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674" r:id="rId2"/>
  </p:sldMasterIdLst>
  <p:notesMasterIdLst>
    <p:notesMasterId r:id="rId59"/>
  </p:notesMasterIdLst>
  <p:sldIdLst>
    <p:sldId id="258" r:id="rId3"/>
    <p:sldId id="259" r:id="rId4"/>
    <p:sldId id="260" r:id="rId5"/>
    <p:sldId id="266" r:id="rId6"/>
    <p:sldId id="267" r:id="rId7"/>
    <p:sldId id="261" r:id="rId8"/>
    <p:sldId id="272" r:id="rId9"/>
    <p:sldId id="268" r:id="rId10"/>
    <p:sldId id="271" r:id="rId11"/>
    <p:sldId id="269" r:id="rId12"/>
    <p:sldId id="270" r:id="rId13"/>
    <p:sldId id="273" r:id="rId14"/>
    <p:sldId id="274" r:id="rId15"/>
    <p:sldId id="275" r:id="rId16"/>
    <p:sldId id="277" r:id="rId17"/>
    <p:sldId id="280" r:id="rId18"/>
    <p:sldId id="279" r:id="rId19"/>
    <p:sldId id="278" r:id="rId20"/>
    <p:sldId id="284" r:id="rId21"/>
    <p:sldId id="285" r:id="rId22"/>
    <p:sldId id="287" r:id="rId23"/>
    <p:sldId id="286" r:id="rId24"/>
    <p:sldId id="290" r:id="rId25"/>
    <p:sldId id="289" r:id="rId26"/>
    <p:sldId id="291" r:id="rId27"/>
    <p:sldId id="288" r:id="rId28"/>
    <p:sldId id="292" r:id="rId29"/>
    <p:sldId id="276" r:id="rId30"/>
    <p:sldId id="281" r:id="rId31"/>
    <p:sldId id="283" r:id="rId32"/>
    <p:sldId id="282" r:id="rId33"/>
    <p:sldId id="293" r:id="rId34"/>
    <p:sldId id="262" r:id="rId35"/>
    <p:sldId id="301" r:id="rId36"/>
    <p:sldId id="302" r:id="rId37"/>
    <p:sldId id="294" r:id="rId38"/>
    <p:sldId id="303" r:id="rId39"/>
    <p:sldId id="304" r:id="rId40"/>
    <p:sldId id="296" r:id="rId41"/>
    <p:sldId id="305" r:id="rId42"/>
    <p:sldId id="297" r:id="rId43"/>
    <p:sldId id="298" r:id="rId44"/>
    <p:sldId id="306" r:id="rId45"/>
    <p:sldId id="299" r:id="rId46"/>
    <p:sldId id="307" r:id="rId47"/>
    <p:sldId id="300" r:id="rId48"/>
    <p:sldId id="308" r:id="rId49"/>
    <p:sldId id="310" r:id="rId50"/>
    <p:sldId id="309" r:id="rId51"/>
    <p:sldId id="263" r:id="rId52"/>
    <p:sldId id="314" r:id="rId53"/>
    <p:sldId id="295" r:id="rId54"/>
    <p:sldId id="311" r:id="rId55"/>
    <p:sldId id="313" r:id="rId56"/>
    <p:sldId id="312" r:id="rId57"/>
    <p:sldId id="265"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25" autoAdjust="0"/>
  </p:normalViewPr>
  <p:slideViewPr>
    <p:cSldViewPr snapToGrid="0">
      <p:cViewPr varScale="1">
        <p:scale>
          <a:sx n="107" d="100"/>
          <a:sy n="107" d="100"/>
        </p:scale>
        <p:origin x="30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BEE425-BF42-4068-87C2-E75EA102A699}" type="datetimeFigureOut">
              <a:rPr lang="zh-CN" altLang="en-US" smtClean="0"/>
              <a:t>2023/5/23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76453-3C94-43D2-B70F-282310072568}" type="slidenum">
              <a:rPr lang="zh-CN" altLang="en-US" smtClean="0"/>
              <a:t>‹#›</a:t>
            </a:fld>
            <a:endParaRPr lang="zh-CN" altLang="en-US"/>
          </a:p>
        </p:txBody>
      </p:sp>
    </p:spTree>
    <p:extLst>
      <p:ext uri="{BB962C8B-B14F-4D97-AF65-F5344CB8AC3E}">
        <p14:creationId xmlns:p14="http://schemas.microsoft.com/office/powerpoint/2010/main" val="297801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4</a:t>
            </a:fld>
            <a:endParaRPr lang="zh-CN" altLang="en-US"/>
          </a:p>
        </p:txBody>
      </p:sp>
    </p:spTree>
    <p:extLst>
      <p:ext uri="{BB962C8B-B14F-4D97-AF65-F5344CB8AC3E}">
        <p14:creationId xmlns:p14="http://schemas.microsoft.com/office/powerpoint/2010/main" val="419077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31</a:t>
            </a:fld>
            <a:endParaRPr lang="zh-CN" altLang="en-US"/>
          </a:p>
        </p:txBody>
      </p:sp>
    </p:spTree>
    <p:extLst>
      <p:ext uri="{BB962C8B-B14F-4D97-AF65-F5344CB8AC3E}">
        <p14:creationId xmlns:p14="http://schemas.microsoft.com/office/powerpoint/2010/main" val="3847961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46</a:t>
            </a:fld>
            <a:endParaRPr lang="zh-CN" altLang="en-US"/>
          </a:p>
        </p:txBody>
      </p:sp>
    </p:spTree>
    <p:extLst>
      <p:ext uri="{BB962C8B-B14F-4D97-AF65-F5344CB8AC3E}">
        <p14:creationId xmlns:p14="http://schemas.microsoft.com/office/powerpoint/2010/main" val="393656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47</a:t>
            </a:fld>
            <a:endParaRPr lang="zh-CN" altLang="en-US"/>
          </a:p>
        </p:txBody>
      </p:sp>
    </p:spTree>
    <p:extLst>
      <p:ext uri="{BB962C8B-B14F-4D97-AF65-F5344CB8AC3E}">
        <p14:creationId xmlns:p14="http://schemas.microsoft.com/office/powerpoint/2010/main" val="270173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48</a:t>
            </a:fld>
            <a:endParaRPr lang="zh-CN" altLang="en-US"/>
          </a:p>
        </p:txBody>
      </p:sp>
    </p:spTree>
    <p:extLst>
      <p:ext uri="{BB962C8B-B14F-4D97-AF65-F5344CB8AC3E}">
        <p14:creationId xmlns:p14="http://schemas.microsoft.com/office/powerpoint/2010/main" val="3340477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D8FCAE-9FB0-4A30-B3FE-9D7E378746EF}"/>
              </a:ext>
            </a:extLst>
          </p:cNvPr>
          <p:cNvSpPr>
            <a:spLocks noGrp="1"/>
          </p:cNvSpPr>
          <p:nvPr>
            <p:ph type="dt" sz="half" idx="10"/>
          </p:nvPr>
        </p:nvSpPr>
        <p:spPr/>
        <p:txBody>
          <a:bodyPr/>
          <a:lstStyle/>
          <a:p>
            <a:fld id="{B6592281-789B-4A6A-9498-E9FB5A873F39}" type="datetime1">
              <a:rPr lang="zh-CN" altLang="en-US" smtClean="0"/>
              <a:t>2023/5/23</a:t>
            </a:fld>
            <a:endParaRPr lang="zh-CN" altLang="en-US"/>
          </a:p>
        </p:txBody>
      </p:sp>
      <p:sp>
        <p:nvSpPr>
          <p:cNvPr id="3" name="页脚占位符 2">
            <a:extLst>
              <a:ext uri="{FF2B5EF4-FFF2-40B4-BE49-F238E27FC236}">
                <a16:creationId xmlns:a16="http://schemas.microsoft.com/office/drawing/2014/main" id="{1D982FBA-F4DB-445D-BAB7-4C15F4CBCCA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BA42403A-59F3-4AA0-8F78-F512440860C2}"/>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/55</a:t>
            </a:r>
            <a:endParaRPr lang="zh-CN" altLang="en-US" dirty="0"/>
          </a:p>
        </p:txBody>
      </p:sp>
    </p:spTree>
    <p:extLst>
      <p:ext uri="{BB962C8B-B14F-4D97-AF65-F5344CB8AC3E}">
        <p14:creationId xmlns:p14="http://schemas.microsoft.com/office/powerpoint/2010/main" val="172229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5515FAD6-2405-41B0-B4C4-C06361762C4D}"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9235"/>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6.1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函数的定义与调用</a:t>
            </a:r>
          </a:p>
        </p:txBody>
      </p:sp>
    </p:spTree>
    <p:extLst>
      <p:ext uri="{BB962C8B-B14F-4D97-AF65-F5344CB8AC3E}">
        <p14:creationId xmlns:p14="http://schemas.microsoft.com/office/powerpoint/2010/main" val="230263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2">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BC42DDB2-CBF1-42B9-B280-BB08A52226FA}"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5944"/>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6.2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函数间的数据传递</a:t>
            </a:r>
          </a:p>
        </p:txBody>
      </p:sp>
    </p:spTree>
    <p:extLst>
      <p:ext uri="{BB962C8B-B14F-4D97-AF65-F5344CB8AC3E}">
        <p14:creationId xmlns:p14="http://schemas.microsoft.com/office/powerpoint/2010/main" val="2008547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3.1">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5ABCE597-68FD-49A6-90BB-C21BDA38ABDD}"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9235"/>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6.3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变量的作用域</a:t>
            </a:r>
          </a:p>
        </p:txBody>
      </p:sp>
    </p:spTree>
    <p:extLst>
      <p:ext uri="{BB962C8B-B14F-4D97-AF65-F5344CB8AC3E}">
        <p14:creationId xmlns:p14="http://schemas.microsoft.com/office/powerpoint/2010/main" val="404775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3.2">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E4B44D38-078D-4D02-B316-01E37D6E0386}"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9235"/>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6.3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变量的生存周期</a:t>
            </a:r>
          </a:p>
        </p:txBody>
      </p:sp>
    </p:spTree>
    <p:extLst>
      <p:ext uri="{BB962C8B-B14F-4D97-AF65-F5344CB8AC3E}">
        <p14:creationId xmlns:p14="http://schemas.microsoft.com/office/powerpoint/2010/main" val="92574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4.1">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A84A1810-8984-4154-BF63-5717EE7C310F}"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9235"/>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6.4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函数的嵌套调用</a:t>
            </a:r>
          </a:p>
        </p:txBody>
      </p:sp>
    </p:spTree>
    <p:extLst>
      <p:ext uri="{BB962C8B-B14F-4D97-AF65-F5344CB8AC3E}">
        <p14:creationId xmlns:p14="http://schemas.microsoft.com/office/powerpoint/2010/main" val="29686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4.2">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9F5ABDA5-B1B0-448E-8302-5C4456DB617F}"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9235"/>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6.4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函数的递归调用</a:t>
            </a:r>
          </a:p>
        </p:txBody>
      </p:sp>
    </p:spTree>
    <p:extLst>
      <p:ext uri="{BB962C8B-B14F-4D97-AF65-F5344CB8AC3E}">
        <p14:creationId xmlns:p14="http://schemas.microsoft.com/office/powerpoint/2010/main" val="1131143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5">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4B508E73-89A3-44A5-ACF3-E9832BEBCBF2}" type="datetime1">
              <a:rPr lang="zh-CN" altLang="en-US" smtClean="0"/>
              <a:t>2023/5/23</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55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537" y="79235"/>
            <a:ext cx="7552128" cy="430887"/>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6.5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案例：掷骰子游戏</a:t>
            </a:r>
          </a:p>
        </p:txBody>
      </p:sp>
    </p:spTree>
    <p:extLst>
      <p:ext uri="{BB962C8B-B14F-4D97-AF65-F5344CB8AC3E}">
        <p14:creationId xmlns:p14="http://schemas.microsoft.com/office/powerpoint/2010/main" val="4121197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74AD4-ABEC-4485-9109-4AE1AAB0B7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83F6B7-5C12-4E4E-9073-580CA6A41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35D7BC1-B809-427C-9F08-510A046694FF}"/>
              </a:ext>
            </a:extLst>
          </p:cNvPr>
          <p:cNvSpPr>
            <a:spLocks noGrp="1"/>
          </p:cNvSpPr>
          <p:nvPr>
            <p:ph type="dt" sz="half" idx="10"/>
          </p:nvPr>
        </p:nvSpPr>
        <p:spPr/>
        <p:txBody>
          <a:bodyPr/>
          <a:lstStyle/>
          <a:p>
            <a:fld id="{0B7849F6-E3B2-4009-B863-58DC3AD9D8B0}" type="datetime1">
              <a:rPr lang="zh-CN" altLang="en-US" smtClean="0"/>
              <a:t>2023/5/23</a:t>
            </a:fld>
            <a:endParaRPr lang="zh-CN" altLang="en-US"/>
          </a:p>
        </p:txBody>
      </p:sp>
      <p:sp>
        <p:nvSpPr>
          <p:cNvPr id="5" name="页脚占位符 4">
            <a:extLst>
              <a:ext uri="{FF2B5EF4-FFF2-40B4-BE49-F238E27FC236}">
                <a16:creationId xmlns:a16="http://schemas.microsoft.com/office/drawing/2014/main" id="{9D4B585E-11DE-411B-9226-2007BA3357C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61E87E3-3726-463C-BE2B-B558CD0AC492}"/>
              </a:ext>
            </a:extLst>
          </p:cNvPr>
          <p:cNvSpPr>
            <a:spLocks noGrp="1"/>
          </p:cNvSpPr>
          <p:nvPr>
            <p:ph type="sldNum" sz="quarter" idx="12"/>
          </p:nvPr>
        </p:nvSpPr>
        <p:spPr/>
        <p:txBody>
          <a:bodyPr/>
          <a:lstStyle>
            <a:lvl1pPr>
              <a:defRPr/>
            </a:lvl1pPr>
          </a:lstStyle>
          <a:p>
            <a:r>
              <a:rPr lang="zh-CN" altLang="en-US" dirty="0"/>
              <a:t>第</a:t>
            </a:r>
            <a:fld id="{2FA56C3F-F0F5-411B-954C-A2CFDC009DCE}" type="slidenum">
              <a:rPr lang="zh-CN" altLang="en-US" smtClean="0">
                <a:solidFill>
                  <a:prstClr val="black">
                    <a:tint val="75000"/>
                  </a:prstClr>
                </a:solidFill>
              </a:rPr>
              <a:pPr/>
              <a:t>‹#›</a:t>
            </a:fld>
            <a:r>
              <a:rPr lang="zh-CN" altLang="en-US" dirty="0"/>
              <a:t>页，共</a:t>
            </a:r>
            <a:r>
              <a:rPr lang="en-US" altLang="zh-CN" dirty="0"/>
              <a:t>30</a:t>
            </a:r>
            <a:r>
              <a:rPr lang="zh-CN" altLang="en-US" dirty="0"/>
              <a:t>页</a:t>
            </a:r>
          </a:p>
        </p:txBody>
      </p:sp>
    </p:spTree>
    <p:extLst>
      <p:ext uri="{BB962C8B-B14F-4D97-AF65-F5344CB8AC3E}">
        <p14:creationId xmlns:p14="http://schemas.microsoft.com/office/powerpoint/2010/main" val="160990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EB9E2-C450-47A8-A070-C84B3E169459}"/>
              </a:ext>
            </a:extLst>
          </p:cNvPr>
          <p:cNvSpPr>
            <a:spLocks noGrp="1"/>
          </p:cNvSpPr>
          <p:nvPr>
            <p:ph type="title"/>
          </p:nvPr>
        </p:nvSpPr>
        <p:spPr>
          <a:xfrm>
            <a:off x="838200" y="838200"/>
            <a:ext cx="10515600" cy="852488"/>
          </a:xfrm>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8FB6C178-61D5-475A-92D0-6FE43A90907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87448E-A19A-4D08-9F63-676999401ACB}"/>
              </a:ext>
            </a:extLst>
          </p:cNvPr>
          <p:cNvSpPr>
            <a:spLocks noGrp="1"/>
          </p:cNvSpPr>
          <p:nvPr>
            <p:ph type="dt" sz="half" idx="10"/>
          </p:nvPr>
        </p:nvSpPr>
        <p:spPr/>
        <p:txBody>
          <a:bodyPr/>
          <a:lstStyle/>
          <a:p>
            <a:fld id="{613B0B95-34F6-4DDE-AD3D-DB1550EA19BC}" type="datetime1">
              <a:rPr lang="zh-CN" altLang="en-US" smtClean="0"/>
              <a:t>2023/5/23</a:t>
            </a:fld>
            <a:endParaRPr lang="zh-CN" altLang="en-US"/>
          </a:p>
        </p:txBody>
      </p:sp>
      <p:sp>
        <p:nvSpPr>
          <p:cNvPr id="5" name="页脚占位符 4">
            <a:extLst>
              <a:ext uri="{FF2B5EF4-FFF2-40B4-BE49-F238E27FC236}">
                <a16:creationId xmlns:a16="http://schemas.microsoft.com/office/drawing/2014/main" id="{2BC7C253-9065-4B49-AC33-40A8A2CD35B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7F778CF-3F9A-4D9C-AEFB-1138D1787388}"/>
              </a:ext>
            </a:extLst>
          </p:cNvPr>
          <p:cNvSpPr>
            <a:spLocks noGrp="1"/>
          </p:cNvSpPr>
          <p:nvPr>
            <p:ph type="sldNum" sz="quarter" idx="12"/>
          </p:nvPr>
        </p:nvSpPr>
        <p:spPr/>
        <p:txBody>
          <a:bodyPr/>
          <a:lstStyle>
            <a:lvl1pPr>
              <a:defRPr/>
            </a:lvl1pPr>
          </a:lstStyle>
          <a:p>
            <a:r>
              <a:rPr lang="zh-CN" altLang="en-US" dirty="0"/>
              <a:t>第</a:t>
            </a:r>
            <a:fld id="{2FA56C3F-F0F5-411B-954C-A2CFDC009DCE}" type="slidenum">
              <a:rPr lang="zh-CN" altLang="en-US" smtClean="0"/>
              <a:pPr/>
              <a:t>‹#›</a:t>
            </a:fld>
            <a:r>
              <a:rPr lang="zh-CN" altLang="en-US" dirty="0"/>
              <a:t>页，共</a:t>
            </a:r>
            <a:r>
              <a:rPr lang="en-US" altLang="zh-CN" dirty="0"/>
              <a:t>30</a:t>
            </a:r>
            <a:r>
              <a:rPr lang="zh-CN" altLang="en-US" dirty="0"/>
              <a:t>页</a:t>
            </a:r>
          </a:p>
        </p:txBody>
      </p:sp>
    </p:spTree>
    <p:extLst>
      <p:ext uri="{BB962C8B-B14F-4D97-AF65-F5344CB8AC3E}">
        <p14:creationId xmlns:p14="http://schemas.microsoft.com/office/powerpoint/2010/main" val="2502593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4B1310-1A44-48D4-892F-24533F54071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12CA674-3E89-404D-AA3A-E868A1B05C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5BBCEA-3375-4D2D-B9E1-379CB790B898}"/>
              </a:ext>
            </a:extLst>
          </p:cNvPr>
          <p:cNvSpPr>
            <a:spLocks noGrp="1"/>
          </p:cNvSpPr>
          <p:nvPr>
            <p:ph type="dt" sz="half" idx="10"/>
          </p:nvPr>
        </p:nvSpPr>
        <p:spPr/>
        <p:txBody>
          <a:bodyPr/>
          <a:lstStyle/>
          <a:p>
            <a:fld id="{F79ADA36-1FB7-4321-A384-983F0CAAFCB4}" type="datetime1">
              <a:rPr lang="zh-CN" altLang="en-US" smtClean="0"/>
              <a:t>2023/5/23</a:t>
            </a:fld>
            <a:endParaRPr lang="zh-CN" altLang="en-US"/>
          </a:p>
        </p:txBody>
      </p:sp>
      <p:sp>
        <p:nvSpPr>
          <p:cNvPr id="5" name="页脚占位符 4">
            <a:extLst>
              <a:ext uri="{FF2B5EF4-FFF2-40B4-BE49-F238E27FC236}">
                <a16:creationId xmlns:a16="http://schemas.microsoft.com/office/drawing/2014/main" id="{75C48294-AC7E-42E0-8D1E-1C99992363A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B0EBAF8-F76E-411F-9A2A-9733F2A8F6F4}"/>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1164882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BAC20-CA2A-4C18-8402-5BA5228319E8}"/>
              </a:ext>
            </a:extLst>
          </p:cNvPr>
          <p:cNvSpPr>
            <a:spLocks noGrp="1"/>
          </p:cNvSpPr>
          <p:nvPr>
            <p:ph type="title"/>
          </p:nvPr>
        </p:nvSpPr>
        <p:spPr>
          <a:xfrm>
            <a:off x="838200" y="838200"/>
            <a:ext cx="10515600" cy="852488"/>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492BEE-0382-41FD-9A45-E74EA7E63300}"/>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BB555AA-23E9-4B88-B631-DFC927C3BF76}"/>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A7E48C7-F411-4AB4-A507-487EE21106E3}"/>
              </a:ext>
            </a:extLst>
          </p:cNvPr>
          <p:cNvSpPr>
            <a:spLocks noGrp="1"/>
          </p:cNvSpPr>
          <p:nvPr>
            <p:ph type="dt" sz="half" idx="10"/>
          </p:nvPr>
        </p:nvSpPr>
        <p:spPr/>
        <p:txBody>
          <a:bodyPr/>
          <a:lstStyle/>
          <a:p>
            <a:fld id="{9135EC20-698B-43AF-B5C7-F16039B5143B}" type="datetime1">
              <a:rPr lang="zh-CN" altLang="en-US" smtClean="0"/>
              <a:t>2023/5/23</a:t>
            </a:fld>
            <a:endParaRPr lang="zh-CN" altLang="en-US"/>
          </a:p>
        </p:txBody>
      </p:sp>
      <p:sp>
        <p:nvSpPr>
          <p:cNvPr id="6" name="页脚占位符 5">
            <a:extLst>
              <a:ext uri="{FF2B5EF4-FFF2-40B4-BE49-F238E27FC236}">
                <a16:creationId xmlns:a16="http://schemas.microsoft.com/office/drawing/2014/main" id="{81D71B4C-5F2B-4E30-8242-5CEFAA0EB7C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02D771C-A0E3-44B3-B5E2-B88352CEB0C7}"/>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2010001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BF824-47E5-4895-AC55-60DAEF4E0A28}"/>
              </a:ext>
            </a:extLst>
          </p:cNvPr>
          <p:cNvSpPr>
            <a:spLocks noGrp="1"/>
          </p:cNvSpPr>
          <p:nvPr>
            <p:ph type="title"/>
          </p:nvPr>
        </p:nvSpPr>
        <p:spPr>
          <a:xfrm>
            <a:off x="839788" y="800100"/>
            <a:ext cx="10515600" cy="823912"/>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E075336-BDB4-47C1-A61C-8B723885C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D30ED25-EC93-42FC-BF5E-F0792C724A7A}"/>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D861F66-EBC8-4197-B543-F620403FAA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AE16E24-B549-438C-8C81-41A92A02326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311A5AA-4A79-45C7-9D86-A03ECF8FA025}"/>
              </a:ext>
            </a:extLst>
          </p:cNvPr>
          <p:cNvSpPr>
            <a:spLocks noGrp="1"/>
          </p:cNvSpPr>
          <p:nvPr>
            <p:ph type="dt" sz="half" idx="10"/>
          </p:nvPr>
        </p:nvSpPr>
        <p:spPr/>
        <p:txBody>
          <a:bodyPr/>
          <a:lstStyle/>
          <a:p>
            <a:fld id="{5D213A12-CA95-441E-849E-3C592698F8B0}" type="datetime1">
              <a:rPr lang="zh-CN" altLang="en-US" smtClean="0"/>
              <a:t>2023/5/23</a:t>
            </a:fld>
            <a:endParaRPr lang="zh-CN" altLang="en-US"/>
          </a:p>
        </p:txBody>
      </p:sp>
      <p:sp>
        <p:nvSpPr>
          <p:cNvPr id="8" name="页脚占位符 7">
            <a:extLst>
              <a:ext uri="{FF2B5EF4-FFF2-40B4-BE49-F238E27FC236}">
                <a16:creationId xmlns:a16="http://schemas.microsoft.com/office/drawing/2014/main" id="{122F7098-7947-4E53-A9AC-CC953797BBC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BCFCE883-2C8A-4773-B3DD-76F5761120A3}"/>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399811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81F315-15CF-4F24-B2C6-0B5210ED2800}"/>
              </a:ext>
            </a:extLst>
          </p:cNvPr>
          <p:cNvSpPr>
            <a:spLocks noGrp="1"/>
          </p:cNvSpPr>
          <p:nvPr>
            <p:ph type="title"/>
          </p:nvPr>
        </p:nvSpPr>
        <p:spPr>
          <a:xfrm>
            <a:off x="838200" y="819150"/>
            <a:ext cx="10515600" cy="871538"/>
          </a:xfrm>
        </p:spPr>
        <p:txBody>
          <a:bodyPr/>
          <a:lstStyle/>
          <a:p>
            <a:r>
              <a:rPr lang="zh-CN" altLang="en-US" dirty="0"/>
              <a:t>单击此处编辑母版标题样式</a:t>
            </a:r>
          </a:p>
        </p:txBody>
      </p:sp>
      <p:sp>
        <p:nvSpPr>
          <p:cNvPr id="3" name="日期占位符 2">
            <a:extLst>
              <a:ext uri="{FF2B5EF4-FFF2-40B4-BE49-F238E27FC236}">
                <a16:creationId xmlns:a16="http://schemas.microsoft.com/office/drawing/2014/main" id="{CA58A7ED-2843-4FFB-9319-3B46B0CCFF20}"/>
              </a:ext>
            </a:extLst>
          </p:cNvPr>
          <p:cNvSpPr>
            <a:spLocks noGrp="1"/>
          </p:cNvSpPr>
          <p:nvPr>
            <p:ph type="dt" sz="half" idx="10"/>
          </p:nvPr>
        </p:nvSpPr>
        <p:spPr/>
        <p:txBody>
          <a:bodyPr/>
          <a:lstStyle/>
          <a:p>
            <a:fld id="{C9564BB8-070F-4EEA-8167-7B5FDD31453E}" type="datetime1">
              <a:rPr lang="zh-CN" altLang="en-US" smtClean="0"/>
              <a:t>2023/5/23</a:t>
            </a:fld>
            <a:endParaRPr lang="zh-CN" altLang="en-US"/>
          </a:p>
        </p:txBody>
      </p:sp>
      <p:sp>
        <p:nvSpPr>
          <p:cNvPr id="4" name="页脚占位符 3">
            <a:extLst>
              <a:ext uri="{FF2B5EF4-FFF2-40B4-BE49-F238E27FC236}">
                <a16:creationId xmlns:a16="http://schemas.microsoft.com/office/drawing/2014/main" id="{4EF55942-357E-4A3E-A232-70DACE9B1FE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B6FB4F34-C7D5-43BB-AED7-6EC34FE60FE6}"/>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4253509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CDAFB-415E-4AC6-9360-019C0E5704CE}"/>
              </a:ext>
            </a:extLst>
          </p:cNvPr>
          <p:cNvSpPr>
            <a:spLocks noGrp="1"/>
          </p:cNvSpPr>
          <p:nvPr>
            <p:ph type="title"/>
          </p:nvPr>
        </p:nvSpPr>
        <p:spPr>
          <a:xfrm>
            <a:off x="839788" y="847724"/>
            <a:ext cx="3932237" cy="1209675"/>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E44F90-2B3F-428E-969E-57B07A694D15}"/>
              </a:ext>
            </a:extLst>
          </p:cNvPr>
          <p:cNvSpPr>
            <a:spLocks noGrp="1"/>
          </p:cNvSpPr>
          <p:nvPr>
            <p:ph idx="1"/>
          </p:nvPr>
        </p:nvSpPr>
        <p:spPr>
          <a:xfrm>
            <a:off x="5183188" y="847725"/>
            <a:ext cx="6172200" cy="50133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7D96DF2-0BD2-45EC-9813-593930721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B66C782-FD0C-48A3-956A-80A343DB0159}"/>
              </a:ext>
            </a:extLst>
          </p:cNvPr>
          <p:cNvSpPr>
            <a:spLocks noGrp="1"/>
          </p:cNvSpPr>
          <p:nvPr>
            <p:ph type="dt" sz="half" idx="10"/>
          </p:nvPr>
        </p:nvSpPr>
        <p:spPr/>
        <p:txBody>
          <a:bodyPr/>
          <a:lstStyle/>
          <a:p>
            <a:fld id="{085A1A2A-F342-41B1-9EA9-05B404165CCA}" type="datetime1">
              <a:rPr lang="zh-CN" altLang="en-US" smtClean="0"/>
              <a:t>2023/5/23</a:t>
            </a:fld>
            <a:endParaRPr lang="zh-CN" altLang="en-US"/>
          </a:p>
        </p:txBody>
      </p:sp>
      <p:sp>
        <p:nvSpPr>
          <p:cNvPr id="6" name="页脚占位符 5">
            <a:extLst>
              <a:ext uri="{FF2B5EF4-FFF2-40B4-BE49-F238E27FC236}">
                <a16:creationId xmlns:a16="http://schemas.microsoft.com/office/drawing/2014/main" id="{474B88A7-4A15-42F8-8937-61508769786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6908464-7DBC-45AC-8201-DE0C2DBB7456}"/>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744141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959B7-240A-440C-A694-FAA58C73D33F}"/>
              </a:ext>
            </a:extLst>
          </p:cNvPr>
          <p:cNvSpPr>
            <a:spLocks noGrp="1"/>
          </p:cNvSpPr>
          <p:nvPr>
            <p:ph type="title"/>
          </p:nvPr>
        </p:nvSpPr>
        <p:spPr>
          <a:xfrm>
            <a:off x="839788" y="987424"/>
            <a:ext cx="3932237" cy="1069975"/>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3E7A531-93E7-47E5-8D8A-7E4689D137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C67025A-5FF7-4210-9C63-3B4C50AF9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80836E2-F1D0-4D62-B64E-9BAA3610E4B9}"/>
              </a:ext>
            </a:extLst>
          </p:cNvPr>
          <p:cNvSpPr>
            <a:spLocks noGrp="1"/>
          </p:cNvSpPr>
          <p:nvPr>
            <p:ph type="dt" sz="half" idx="10"/>
          </p:nvPr>
        </p:nvSpPr>
        <p:spPr/>
        <p:txBody>
          <a:bodyPr/>
          <a:lstStyle/>
          <a:p>
            <a:fld id="{53B4F775-1C6E-4A0A-A189-B6ADBCE7545B}" type="datetime1">
              <a:rPr lang="zh-CN" altLang="en-US" smtClean="0"/>
              <a:t>2023/5/23</a:t>
            </a:fld>
            <a:endParaRPr lang="zh-CN" altLang="en-US"/>
          </a:p>
        </p:txBody>
      </p:sp>
      <p:sp>
        <p:nvSpPr>
          <p:cNvPr id="6" name="页脚占位符 5">
            <a:extLst>
              <a:ext uri="{FF2B5EF4-FFF2-40B4-BE49-F238E27FC236}">
                <a16:creationId xmlns:a16="http://schemas.microsoft.com/office/drawing/2014/main" id="{A1A5121E-A953-4F21-A73A-64F892D894E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C5B3BC5F-3C5E-452A-AF6C-E40B0A85C37D}"/>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1957174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3359D-6FC8-48ED-8BCF-54450B4D13DB}"/>
              </a:ext>
            </a:extLst>
          </p:cNvPr>
          <p:cNvSpPr>
            <a:spLocks noGrp="1"/>
          </p:cNvSpPr>
          <p:nvPr>
            <p:ph type="title"/>
          </p:nvPr>
        </p:nvSpPr>
        <p:spPr>
          <a:xfrm>
            <a:off x="838200" y="819150"/>
            <a:ext cx="10515600" cy="871538"/>
          </a:xfr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0C3A34-15A1-46D5-8CD5-71A387CD5FF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EB48492-6DB5-4CF1-8F9D-5A9CFCC67E5D}"/>
              </a:ext>
            </a:extLst>
          </p:cNvPr>
          <p:cNvSpPr>
            <a:spLocks noGrp="1"/>
          </p:cNvSpPr>
          <p:nvPr>
            <p:ph type="dt" sz="half" idx="10"/>
          </p:nvPr>
        </p:nvSpPr>
        <p:spPr/>
        <p:txBody>
          <a:bodyPr/>
          <a:lstStyle/>
          <a:p>
            <a:fld id="{2B3A4D15-B385-4807-BBAA-BDF1A0A32C36}" type="datetime1">
              <a:rPr lang="zh-CN" altLang="en-US" smtClean="0"/>
              <a:t>2023/5/23</a:t>
            </a:fld>
            <a:endParaRPr lang="zh-CN" altLang="en-US"/>
          </a:p>
        </p:txBody>
      </p:sp>
      <p:sp>
        <p:nvSpPr>
          <p:cNvPr id="5" name="页脚占位符 4">
            <a:extLst>
              <a:ext uri="{FF2B5EF4-FFF2-40B4-BE49-F238E27FC236}">
                <a16:creationId xmlns:a16="http://schemas.microsoft.com/office/drawing/2014/main" id="{8357DAC6-B655-4BF5-A955-6D622CBF7FC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4002F96-4A72-4DD2-B3E9-B893B84887FE}"/>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31682475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51AEE16-01E3-43EC-BC25-37934156E45C}"/>
              </a:ext>
            </a:extLst>
          </p:cNvPr>
          <p:cNvSpPr>
            <a:spLocks noGrp="1"/>
          </p:cNvSpPr>
          <p:nvPr>
            <p:ph type="title" orient="vert"/>
          </p:nvPr>
        </p:nvSpPr>
        <p:spPr>
          <a:xfrm>
            <a:off x="8724900" y="836245"/>
            <a:ext cx="2628900" cy="534071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F88E6E2-76C5-4659-8E75-14D8BFF92885}"/>
              </a:ext>
            </a:extLst>
          </p:cNvPr>
          <p:cNvSpPr>
            <a:spLocks noGrp="1"/>
          </p:cNvSpPr>
          <p:nvPr>
            <p:ph type="body" orient="vert" idx="1"/>
          </p:nvPr>
        </p:nvSpPr>
        <p:spPr>
          <a:xfrm>
            <a:off x="838200" y="836245"/>
            <a:ext cx="7734300" cy="534071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82BD946-8A09-4235-8744-79EC63664F93}"/>
              </a:ext>
            </a:extLst>
          </p:cNvPr>
          <p:cNvSpPr>
            <a:spLocks noGrp="1"/>
          </p:cNvSpPr>
          <p:nvPr>
            <p:ph type="dt" sz="half" idx="10"/>
          </p:nvPr>
        </p:nvSpPr>
        <p:spPr/>
        <p:txBody>
          <a:bodyPr/>
          <a:lstStyle/>
          <a:p>
            <a:fld id="{69A93C20-C1DB-4B16-A966-872294C3713E}" type="datetime1">
              <a:rPr lang="zh-CN" altLang="en-US" smtClean="0"/>
              <a:t>2023/5/23</a:t>
            </a:fld>
            <a:endParaRPr lang="zh-CN" altLang="en-US"/>
          </a:p>
        </p:txBody>
      </p:sp>
      <p:sp>
        <p:nvSpPr>
          <p:cNvPr id="5" name="页脚占位符 4">
            <a:extLst>
              <a:ext uri="{FF2B5EF4-FFF2-40B4-BE49-F238E27FC236}">
                <a16:creationId xmlns:a16="http://schemas.microsoft.com/office/drawing/2014/main" id="{D73F3E54-4815-4109-B7F2-744E4C44363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8D44857-0F28-459B-BA4E-04E04401D7C0}"/>
              </a:ext>
            </a:extLst>
          </p:cNvPr>
          <p:cNvSpPr>
            <a:spLocks noGrp="1"/>
          </p:cNvSpPr>
          <p:nvPr>
            <p:ph type="sldNum" sz="quarter" idx="12"/>
          </p:nvPr>
        </p:nvSpPr>
        <p:spPr/>
        <p:txBody>
          <a:bodyPr/>
          <a:lstStyle/>
          <a:p>
            <a:fld id="{2FA56C3F-F0F5-411B-954C-A2CFDC009DCE}" type="slidenum">
              <a:rPr lang="zh-CN" altLang="en-US" smtClean="0"/>
              <a:t>‹#›</a:t>
            </a:fld>
            <a:endParaRPr lang="zh-CN" altLang="en-US" dirty="0"/>
          </a:p>
        </p:txBody>
      </p:sp>
    </p:spTree>
    <p:extLst>
      <p:ext uri="{BB962C8B-B14F-4D97-AF65-F5344CB8AC3E}">
        <p14:creationId xmlns:p14="http://schemas.microsoft.com/office/powerpoint/2010/main" val="1386360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46A57981-622F-4C85-AAC3-86D82916A7C7}"/>
              </a:ext>
            </a:extLst>
          </p:cNvPr>
          <p:cNvGrpSpPr/>
          <p:nvPr userDrawn="1"/>
        </p:nvGrpSpPr>
        <p:grpSpPr>
          <a:xfrm>
            <a:off x="0" y="1354137"/>
            <a:ext cx="12191999" cy="2904016"/>
            <a:chOff x="1856581" y="1077913"/>
            <a:chExt cx="9145588" cy="2799223"/>
          </a:xfrm>
        </p:grpSpPr>
        <p:grpSp>
          <p:nvGrpSpPr>
            <p:cNvPr id="9" name="组合 8">
              <a:extLst>
                <a:ext uri="{FF2B5EF4-FFF2-40B4-BE49-F238E27FC236}">
                  <a16:creationId xmlns:a16="http://schemas.microsoft.com/office/drawing/2014/main" id="{B5F3B009-7F7D-4A6B-90A7-EAC230DAC673}"/>
                </a:ext>
              </a:extLst>
            </p:cNvPr>
            <p:cNvGrpSpPr/>
            <p:nvPr userDrawn="1"/>
          </p:nvGrpSpPr>
          <p:grpSpPr>
            <a:xfrm>
              <a:off x="1856581" y="1077913"/>
              <a:ext cx="9145588" cy="2798762"/>
              <a:chOff x="0" y="1487488"/>
              <a:chExt cx="9145588" cy="2798762"/>
            </a:xfrm>
          </p:grpSpPr>
          <p:sp>
            <p:nvSpPr>
              <p:cNvPr id="6" name="矩形 4">
                <a:extLst>
                  <a:ext uri="{FF2B5EF4-FFF2-40B4-BE49-F238E27FC236}">
                    <a16:creationId xmlns:a16="http://schemas.microsoft.com/office/drawing/2014/main" id="{3A9F79D7-EE70-44C6-87A7-3A5349DBDB96}"/>
                  </a:ext>
                </a:extLst>
              </p:cNvPr>
              <p:cNvSpPr>
                <a:spLocks noChangeArrowheads="1"/>
              </p:cNvSpPr>
              <p:nvPr userDrawn="1"/>
            </p:nvSpPr>
            <p:spPr bwMode="auto">
              <a:xfrm>
                <a:off x="1588" y="1625600"/>
                <a:ext cx="9144000" cy="2484438"/>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sp>
            <p:nvSpPr>
              <p:cNvPr id="7" name="矩形 5">
                <a:extLst>
                  <a:ext uri="{FF2B5EF4-FFF2-40B4-BE49-F238E27FC236}">
                    <a16:creationId xmlns:a16="http://schemas.microsoft.com/office/drawing/2014/main" id="{EBB45569-6700-4093-9D14-557B47137CDE}"/>
                  </a:ext>
                </a:extLst>
              </p:cNvPr>
              <p:cNvSpPr>
                <a:spLocks noChangeArrowheads="1"/>
              </p:cNvSpPr>
              <p:nvPr userDrawn="1"/>
            </p:nvSpPr>
            <p:spPr bwMode="auto">
              <a:xfrm>
                <a:off x="0" y="4232275"/>
                <a:ext cx="9144000" cy="53975"/>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sp>
            <p:nvSpPr>
              <p:cNvPr id="8" name="矩形 6">
                <a:extLst>
                  <a:ext uri="{FF2B5EF4-FFF2-40B4-BE49-F238E27FC236}">
                    <a16:creationId xmlns:a16="http://schemas.microsoft.com/office/drawing/2014/main" id="{EAA0AD1C-D43A-4CDC-9212-0D5DC7E6024E}"/>
                  </a:ext>
                </a:extLst>
              </p:cNvPr>
              <p:cNvSpPr>
                <a:spLocks noChangeArrowheads="1"/>
              </p:cNvSpPr>
              <p:nvPr userDrawn="1"/>
            </p:nvSpPr>
            <p:spPr bwMode="auto">
              <a:xfrm>
                <a:off x="0" y="1487488"/>
                <a:ext cx="9144000" cy="53975"/>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grpSp>
        <p:sp>
          <p:nvSpPr>
            <p:cNvPr id="10" name="WordArt 8">
              <a:extLst>
                <a:ext uri="{FF2B5EF4-FFF2-40B4-BE49-F238E27FC236}">
                  <a16:creationId xmlns:a16="http://schemas.microsoft.com/office/drawing/2014/main" id="{CB95522C-BFEF-4FEE-99E2-3D87100C4D60}"/>
                </a:ext>
              </a:extLst>
            </p:cNvPr>
            <p:cNvSpPr>
              <a:spLocks noChangeArrowheads="1" noChangeShapeType="1" noTextEdit="1"/>
            </p:cNvSpPr>
            <p:nvPr userDrawn="1"/>
          </p:nvSpPr>
          <p:spPr bwMode="auto">
            <a:xfrm>
              <a:off x="2581568" y="2508711"/>
              <a:ext cx="7848600" cy="1368425"/>
            </a:xfrm>
            <a:prstGeom prst="rect">
              <a:avLst/>
            </a:prstGeom>
          </p:spPr>
          <p:txBody>
            <a:bodyPr spcFirstLastPara="1" wrap="none" fromWordArt="1">
              <a:prstTxWarp prst="textArchUp">
                <a:avLst>
                  <a:gd name="adj" fmla="val 10800000"/>
                </a:avLst>
              </a:prstTxWarp>
            </a:bodyPr>
            <a:lstStyle/>
            <a:p>
              <a:pPr algn="ctr" fontAlgn="base">
                <a:spcBef>
                  <a:spcPct val="0"/>
                </a:spcBef>
                <a:spcAft>
                  <a:spcPct val="0"/>
                </a:spcAft>
                <a:buFont typeface="Arial" pitchFamily="34" charset="0"/>
                <a:buNone/>
                <a:defRPr/>
              </a:pPr>
              <a:r>
                <a:rPr lang="en-US" altLang="zh-CN"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行楷"/>
                  <a:ea typeface="华文行楷"/>
                </a:rPr>
                <a:t>C</a:t>
              </a:r>
              <a:r>
                <a:rPr lang="zh-CN" alt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行楷"/>
                  <a:ea typeface="华文行楷"/>
                </a:rPr>
                <a:t>语言程序设计</a:t>
              </a:r>
            </a:p>
          </p:txBody>
        </p:sp>
      </p:grpSp>
      <p:grpSp>
        <p:nvGrpSpPr>
          <p:cNvPr id="12" name="组合 11">
            <a:extLst>
              <a:ext uri="{FF2B5EF4-FFF2-40B4-BE49-F238E27FC236}">
                <a16:creationId xmlns:a16="http://schemas.microsoft.com/office/drawing/2014/main" id="{57101706-0246-4D72-A2BC-98A80CFACEB4}"/>
              </a:ext>
            </a:extLst>
          </p:cNvPr>
          <p:cNvGrpSpPr/>
          <p:nvPr userDrawn="1"/>
        </p:nvGrpSpPr>
        <p:grpSpPr>
          <a:xfrm>
            <a:off x="-1" y="4685984"/>
            <a:ext cx="12192001" cy="1315043"/>
            <a:chOff x="1637409" y="5066644"/>
            <a:chExt cx="6737987" cy="1315043"/>
          </a:xfrm>
        </p:grpSpPr>
        <p:sp>
          <p:nvSpPr>
            <p:cNvPr id="13" name="TextBox 8">
              <a:extLst>
                <a:ext uri="{FF2B5EF4-FFF2-40B4-BE49-F238E27FC236}">
                  <a16:creationId xmlns:a16="http://schemas.microsoft.com/office/drawing/2014/main" id="{99BD6CD0-C9AC-44D9-B12D-81931EEEE37F}"/>
                </a:ext>
              </a:extLst>
            </p:cNvPr>
            <p:cNvSpPr txBox="1"/>
            <p:nvPr/>
          </p:nvSpPr>
          <p:spPr>
            <a:xfrm>
              <a:off x="1637409" y="5066644"/>
              <a:ext cx="6736816" cy="523220"/>
            </a:xfrm>
            <a:prstGeom prst="rect">
              <a:avLst/>
            </a:prstGeom>
            <a:noFill/>
          </p:spPr>
          <p:txBody>
            <a:bodyPr wrap="square" rtlCol="0">
              <a:spAutoFit/>
            </a:bodyPr>
            <a:lstStyle/>
            <a:p>
              <a:pPr algn="ctr" fontAlgn="base">
                <a:spcBef>
                  <a:spcPct val="0"/>
                </a:spcBef>
                <a:spcAft>
                  <a:spcPct val="0"/>
                </a:spcAft>
                <a:buFont typeface="Arial" pitchFamily="34" charset="0"/>
                <a:buNone/>
              </a:pPr>
              <a:r>
                <a:rPr lang="zh-CN" altLang="en-US" sz="2800" b="1" dirty="0">
                  <a:solidFill>
                    <a:srgbClr val="0000FF"/>
                  </a:solidFill>
                  <a:latin typeface="Arial" pitchFamily="34" charset="0"/>
                  <a:ea typeface="宋体" pitchFamily="2" charset="-122"/>
                </a:rPr>
                <a:t>主讲：吴锦桥</a:t>
              </a:r>
            </a:p>
          </p:txBody>
        </p:sp>
        <p:sp>
          <p:nvSpPr>
            <p:cNvPr id="14" name="TextBox 9">
              <a:extLst>
                <a:ext uri="{FF2B5EF4-FFF2-40B4-BE49-F238E27FC236}">
                  <a16:creationId xmlns:a16="http://schemas.microsoft.com/office/drawing/2014/main" id="{E2549B70-5E95-4C4F-A488-F377B7D57E38}"/>
                </a:ext>
              </a:extLst>
            </p:cNvPr>
            <p:cNvSpPr txBox="1"/>
            <p:nvPr/>
          </p:nvSpPr>
          <p:spPr>
            <a:xfrm>
              <a:off x="1638581" y="5858467"/>
              <a:ext cx="6736815" cy="523220"/>
            </a:xfrm>
            <a:prstGeom prst="rect">
              <a:avLst/>
            </a:prstGeom>
            <a:noFill/>
          </p:spPr>
          <p:txBody>
            <a:bodyPr wrap="square" rtlCol="0">
              <a:spAutoFit/>
            </a:bodyPr>
            <a:lstStyle/>
            <a:p>
              <a:pPr algn="ctr" fontAlgn="base">
                <a:spcBef>
                  <a:spcPct val="0"/>
                </a:spcBef>
                <a:spcAft>
                  <a:spcPct val="0"/>
                </a:spcAft>
                <a:buFont typeface="Arial" pitchFamily="34" charset="0"/>
                <a:buNone/>
              </a:pPr>
              <a:r>
                <a:rPr lang="zh-CN" altLang="en-US" sz="2800" dirty="0">
                  <a:solidFill>
                    <a:srgbClr val="000000"/>
                  </a:solidFill>
                  <a:latin typeface="华文中宋" pitchFamily="2" charset="-122"/>
                  <a:ea typeface="华文中宋" pitchFamily="2" charset="-122"/>
                </a:rPr>
                <a:t>西北农林科技大学 信息工程学院</a:t>
              </a:r>
            </a:p>
          </p:txBody>
        </p:sp>
      </p:grpSp>
      <p:grpSp>
        <p:nvGrpSpPr>
          <p:cNvPr id="2" name="组合 1">
            <a:extLst>
              <a:ext uri="{FF2B5EF4-FFF2-40B4-BE49-F238E27FC236}">
                <a16:creationId xmlns:a16="http://schemas.microsoft.com/office/drawing/2014/main" id="{AAD9F945-ED18-412B-ADFB-CA000B285FB1}"/>
              </a:ext>
            </a:extLst>
          </p:cNvPr>
          <p:cNvGrpSpPr/>
          <p:nvPr userDrawn="1"/>
        </p:nvGrpSpPr>
        <p:grpSpPr>
          <a:xfrm>
            <a:off x="0" y="6567544"/>
            <a:ext cx="12192000" cy="290456"/>
            <a:chOff x="0" y="6567544"/>
            <a:chExt cx="12192000" cy="290456"/>
          </a:xfrm>
        </p:grpSpPr>
        <p:sp>
          <p:nvSpPr>
            <p:cNvPr id="15" name="梯形 14">
              <a:extLst>
                <a:ext uri="{FF2B5EF4-FFF2-40B4-BE49-F238E27FC236}">
                  <a16:creationId xmlns:a16="http://schemas.microsoft.com/office/drawing/2014/main" id="{D7F3770B-929D-4134-ABD8-02B82F6E9969}"/>
                </a:ext>
              </a:extLst>
            </p:cNvPr>
            <p:cNvSpPr/>
            <p:nvPr userDrawn="1"/>
          </p:nvSpPr>
          <p:spPr>
            <a:xfrm>
              <a:off x="3058085" y="6567544"/>
              <a:ext cx="6279777" cy="290456"/>
            </a:xfrm>
            <a:prstGeom prst="trapezoid">
              <a:avLst/>
            </a:prstGeom>
            <a:solidFill>
              <a:srgbClr val="00A3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15">
              <a:extLst>
                <a:ext uri="{FF2B5EF4-FFF2-40B4-BE49-F238E27FC236}">
                  <a16:creationId xmlns:a16="http://schemas.microsoft.com/office/drawing/2014/main" id="{C928126A-0445-4067-A91E-6E9403A4BC26}"/>
                </a:ext>
              </a:extLst>
            </p:cNvPr>
            <p:cNvSpPr/>
            <p:nvPr userDrawn="1"/>
          </p:nvSpPr>
          <p:spPr>
            <a:xfrm>
              <a:off x="0" y="6669741"/>
              <a:ext cx="12192000" cy="188259"/>
            </a:xfrm>
            <a:prstGeom prst="rect">
              <a:avLst/>
            </a:prstGeom>
            <a:solidFill>
              <a:srgbClr val="056A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17" name="矩形 16">
            <a:extLst>
              <a:ext uri="{FF2B5EF4-FFF2-40B4-BE49-F238E27FC236}">
                <a16:creationId xmlns:a16="http://schemas.microsoft.com/office/drawing/2014/main" id="{1DA33834-D47B-4A39-AFBF-0707B98EF227}"/>
              </a:ext>
            </a:extLst>
          </p:cNvPr>
          <p:cNvSpPr/>
          <p:nvPr userDrawn="1"/>
        </p:nvSpPr>
        <p:spPr>
          <a:xfrm>
            <a:off x="0" y="0"/>
            <a:ext cx="12192000" cy="51099"/>
          </a:xfrm>
          <a:prstGeom prst="rect">
            <a:avLst/>
          </a:prstGeom>
          <a:solidFill>
            <a:srgbClr val="00A3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314713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章目录">
    <p:spTree>
      <p:nvGrpSpPr>
        <p:cNvPr id="1" name=""/>
        <p:cNvGrpSpPr/>
        <p:nvPr/>
      </p:nvGrpSpPr>
      <p:grpSpPr>
        <a:xfrm>
          <a:off x="0" y="0"/>
          <a:ext cx="0" cy="0"/>
          <a:chOff x="0" y="0"/>
          <a:chExt cx="0" cy="0"/>
        </a:xfrm>
      </p:grpSpPr>
      <p:sp>
        <p:nvSpPr>
          <p:cNvPr id="69" name="矩形 68">
            <a:extLst>
              <a:ext uri="{FF2B5EF4-FFF2-40B4-BE49-F238E27FC236}">
                <a16:creationId xmlns:a16="http://schemas.microsoft.com/office/drawing/2014/main" id="{A406FEC5-3B86-47F4-9DE8-AD14B42FD340}"/>
              </a:ext>
            </a:extLst>
          </p:cNvPr>
          <p:cNvSpPr/>
          <p:nvPr userDrawn="1"/>
        </p:nvSpPr>
        <p:spPr>
          <a:xfrm rot="10800000">
            <a:off x="1867" y="0"/>
            <a:ext cx="4715435" cy="6858000"/>
          </a:xfrm>
          <a:prstGeom prst="rect">
            <a:avLst/>
          </a:prstGeom>
          <a:gradFill>
            <a:gsLst>
              <a:gs pos="100000">
                <a:srgbClr val="00B0F0">
                  <a:alpha val="0"/>
                </a:srgbClr>
              </a:gs>
              <a:gs pos="0">
                <a:srgbClr val="00B0F0">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Freeform 9">
            <a:extLst>
              <a:ext uri="{FF2B5EF4-FFF2-40B4-BE49-F238E27FC236}">
                <a16:creationId xmlns:a16="http://schemas.microsoft.com/office/drawing/2014/main" id="{D46F347A-A251-4B8B-B4C7-ED6BAEA25E8A}"/>
              </a:ext>
            </a:extLst>
          </p:cNvPr>
          <p:cNvSpPr>
            <a:spLocks noEditPoints="1"/>
          </p:cNvSpPr>
          <p:nvPr userDrawn="1"/>
        </p:nvSpPr>
        <p:spPr bwMode="auto">
          <a:xfrm>
            <a:off x="4318000" y="990600"/>
            <a:ext cx="115888" cy="4679950"/>
          </a:xfrm>
          <a:custGeom>
            <a:avLst/>
            <a:gdLst>
              <a:gd name="T0" fmla="*/ 0 w 153"/>
              <a:gd name="T1" fmla="*/ 0 h 6522"/>
              <a:gd name="T2" fmla="*/ 2147483647 w 153"/>
              <a:gd name="T3" fmla="*/ 0 h 6522"/>
              <a:gd name="T4" fmla="*/ 2147483647 w 153"/>
              <a:gd name="T5" fmla="*/ 2147483647 h 6522"/>
              <a:gd name="T6" fmla="*/ 0 w 153"/>
              <a:gd name="T7" fmla="*/ 2147483647 h 6522"/>
              <a:gd name="T8" fmla="*/ 0 w 153"/>
              <a:gd name="T9" fmla="*/ 0 h 6522"/>
              <a:gd name="T10" fmla="*/ 2147483647 w 153"/>
              <a:gd name="T11" fmla="*/ 0 h 6522"/>
              <a:gd name="T12" fmla="*/ 2147483647 w 153"/>
              <a:gd name="T13" fmla="*/ 0 h 6522"/>
              <a:gd name="T14" fmla="*/ 2147483647 w 153"/>
              <a:gd name="T15" fmla="*/ 2147483647 h 6522"/>
              <a:gd name="T16" fmla="*/ 2147483647 w 153"/>
              <a:gd name="T17" fmla="*/ 2147483647 h 6522"/>
              <a:gd name="T18" fmla="*/ 2147483647 w 153"/>
              <a:gd name="T19" fmla="*/ 0 h 65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rgbClr val="2E2C2C"/>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13" name="Oval 16">
            <a:extLst>
              <a:ext uri="{FF2B5EF4-FFF2-40B4-BE49-F238E27FC236}">
                <a16:creationId xmlns:a16="http://schemas.microsoft.com/office/drawing/2014/main" id="{F942DE91-6A52-4F3E-B751-25D294D1789E}"/>
              </a:ext>
            </a:extLst>
          </p:cNvPr>
          <p:cNvSpPr>
            <a:spLocks noChangeArrowheads="1"/>
          </p:cNvSpPr>
          <p:nvPr userDrawn="1"/>
        </p:nvSpPr>
        <p:spPr bwMode="auto">
          <a:xfrm>
            <a:off x="6627052" y="930536"/>
            <a:ext cx="503236" cy="504825"/>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23" name="Rectangle 2">
            <a:extLst>
              <a:ext uri="{FF2B5EF4-FFF2-40B4-BE49-F238E27FC236}">
                <a16:creationId xmlns:a16="http://schemas.microsoft.com/office/drawing/2014/main" id="{866AD108-1623-41DA-B8B2-0EF3D74F8E58}"/>
              </a:ext>
            </a:extLst>
          </p:cNvPr>
          <p:cNvSpPr txBox="1">
            <a:spLocks noChangeArrowheads="1"/>
          </p:cNvSpPr>
          <p:nvPr userDrawn="1"/>
        </p:nvSpPr>
        <p:spPr>
          <a:xfrm>
            <a:off x="1904390" y="3558216"/>
            <a:ext cx="2254112" cy="470859"/>
          </a:xfrm>
          <a:prstGeom prst="rect">
            <a:avLst/>
          </a:prstGeom>
        </p:spPr>
        <p:txBody>
          <a:bodyPr/>
          <a:lstStyle>
            <a:lvl1pPr marL="227013" indent="-227013" algn="l" rtl="0" eaLnBrk="1" fontAlgn="base" hangingPunct="1">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4213" indent="-227013" algn="l" rtl="0" eaLnBrk="1" fontAlgn="base" hangingPunct="1">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14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5986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4pPr>
            <a:lvl5pPr marL="20558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5pPr>
            <a:lvl6pPr marL="25146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80000"/>
              </a:lnSpc>
              <a:buFont typeface="Arial" pitchFamily="34" charset="0"/>
              <a:buNone/>
              <a:defRPr/>
            </a:pPr>
            <a:r>
              <a:rPr lang="zh-CN" altLang="en-US" sz="3200" b="1" dirty="0">
                <a:solidFill>
                  <a:srgbClr val="000000"/>
                </a:solidFill>
                <a:latin typeface="Calibri"/>
                <a:ea typeface="宋体"/>
              </a:rPr>
              <a:t>第</a:t>
            </a:r>
            <a:r>
              <a:rPr lang="en-US" altLang="zh-CN" sz="3200" b="1" kern="0" dirty="0">
                <a:solidFill>
                  <a:sysClr val="windowText" lastClr="000000"/>
                </a:solidFill>
                <a:latin typeface="微软雅黑" panose="020B0503020204020204" pitchFamily="34" charset="-122"/>
                <a:ea typeface="微软雅黑" panose="020B0503020204020204" pitchFamily="34" charset="-122"/>
              </a:rPr>
              <a:t>6</a:t>
            </a:r>
            <a:r>
              <a:rPr lang="zh-CN" altLang="en-US" sz="3200" b="1" dirty="0">
                <a:solidFill>
                  <a:srgbClr val="000000"/>
                </a:solidFill>
                <a:latin typeface="Calibri"/>
                <a:ea typeface="宋体"/>
              </a:rPr>
              <a:t>章 函数</a:t>
            </a:r>
            <a:endParaRPr lang="en-US" altLang="zh-CN" sz="3200" b="1" dirty="0">
              <a:solidFill>
                <a:srgbClr val="3366FF"/>
              </a:solidFill>
              <a:latin typeface="隶书" pitchFamily="49" charset="-122"/>
              <a:ea typeface="隶书" pitchFamily="49" charset="-122"/>
            </a:endParaRPr>
          </a:p>
        </p:txBody>
      </p:sp>
      <p:grpSp>
        <p:nvGrpSpPr>
          <p:cNvPr id="38" name="组合 37">
            <a:extLst>
              <a:ext uri="{FF2B5EF4-FFF2-40B4-BE49-F238E27FC236}">
                <a16:creationId xmlns:a16="http://schemas.microsoft.com/office/drawing/2014/main" id="{29832B8B-E77D-459B-A122-A63E215FEC28}"/>
              </a:ext>
            </a:extLst>
          </p:cNvPr>
          <p:cNvGrpSpPr/>
          <p:nvPr userDrawn="1"/>
        </p:nvGrpSpPr>
        <p:grpSpPr>
          <a:xfrm>
            <a:off x="4503375" y="977212"/>
            <a:ext cx="5634004" cy="623887"/>
            <a:chOff x="4577557" y="1037605"/>
            <a:chExt cx="5634004" cy="623887"/>
          </a:xfrm>
        </p:grpSpPr>
        <p:sp>
          <p:nvSpPr>
            <p:cNvPr id="39" name="Freeform 10">
              <a:extLst>
                <a:ext uri="{FF2B5EF4-FFF2-40B4-BE49-F238E27FC236}">
                  <a16:creationId xmlns:a16="http://schemas.microsoft.com/office/drawing/2014/main" id="{D94ABC20-F180-44D3-B7BA-04431E5E5C0F}"/>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函数的定义与调用</a:t>
              </a:r>
            </a:p>
            <a:p>
              <a:pPr>
                <a:defRPr/>
              </a:pPr>
              <a:endParaRPr lang="zh-CN" altLang="en-US" sz="3200" kern="0" dirty="0">
                <a:solidFill>
                  <a:srgbClr val="FFFFFF"/>
                </a:solidFill>
                <a:latin typeface="Arial" pitchFamily="34" charset="0"/>
                <a:ea typeface="宋体" pitchFamily="2" charset="-122"/>
              </a:endParaRPr>
            </a:p>
          </p:txBody>
        </p:sp>
        <p:grpSp>
          <p:nvGrpSpPr>
            <p:cNvPr id="40" name="组合 58">
              <a:extLst>
                <a:ext uri="{FF2B5EF4-FFF2-40B4-BE49-F238E27FC236}">
                  <a16:creationId xmlns:a16="http://schemas.microsoft.com/office/drawing/2014/main" id="{A5C29670-9CA9-4E79-9EEC-B9217AF473A9}"/>
                </a:ext>
              </a:extLst>
            </p:cNvPr>
            <p:cNvGrpSpPr>
              <a:grpSpLocks/>
            </p:cNvGrpSpPr>
            <p:nvPr userDrawn="1"/>
          </p:nvGrpSpPr>
          <p:grpSpPr bwMode="auto">
            <a:xfrm>
              <a:off x="4577557" y="1096709"/>
              <a:ext cx="646112" cy="504825"/>
              <a:chOff x="-80820" y="27858"/>
              <a:chExt cx="756178" cy="590582"/>
            </a:xfrm>
          </p:grpSpPr>
          <p:sp>
            <p:nvSpPr>
              <p:cNvPr id="41" name="Oval 16">
                <a:extLst>
                  <a:ext uri="{FF2B5EF4-FFF2-40B4-BE49-F238E27FC236}">
                    <a16:creationId xmlns:a16="http://schemas.microsoft.com/office/drawing/2014/main" id="{DC967EB6-C997-4E3D-8C9C-A7CCAA06A70E}"/>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42" name="TextBox 60">
                <a:extLst>
                  <a:ext uri="{FF2B5EF4-FFF2-40B4-BE49-F238E27FC236}">
                    <a16:creationId xmlns:a16="http://schemas.microsoft.com/office/drawing/2014/main" id="{AE26040D-EBCE-413F-93C8-3B0DFEDFD5C6}"/>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6.1</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3" name="组合 42">
            <a:extLst>
              <a:ext uri="{FF2B5EF4-FFF2-40B4-BE49-F238E27FC236}">
                <a16:creationId xmlns:a16="http://schemas.microsoft.com/office/drawing/2014/main" id="{59D3DAC6-3986-43E5-AEAF-A1BB0DEACD75}"/>
              </a:ext>
            </a:extLst>
          </p:cNvPr>
          <p:cNvGrpSpPr/>
          <p:nvPr userDrawn="1"/>
        </p:nvGrpSpPr>
        <p:grpSpPr>
          <a:xfrm>
            <a:off x="4503375" y="2982946"/>
            <a:ext cx="5634004" cy="623887"/>
            <a:chOff x="4577557" y="1037605"/>
            <a:chExt cx="5634004" cy="623887"/>
          </a:xfrm>
        </p:grpSpPr>
        <p:sp>
          <p:nvSpPr>
            <p:cNvPr id="44" name="Freeform 10">
              <a:extLst>
                <a:ext uri="{FF2B5EF4-FFF2-40B4-BE49-F238E27FC236}">
                  <a16:creationId xmlns:a16="http://schemas.microsoft.com/office/drawing/2014/main" id="{E73125C3-7C2A-4C40-BE23-CB648477AC7F}"/>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变量的作用域和生存周期</a:t>
              </a:r>
            </a:p>
            <a:p>
              <a:pPr>
                <a:defRPr/>
              </a:pPr>
              <a:endParaRPr lang="zh-CN" altLang="en-US" sz="3200" kern="0" dirty="0">
                <a:solidFill>
                  <a:srgbClr val="FFFFFF"/>
                </a:solidFill>
                <a:latin typeface="Arial" pitchFamily="34" charset="0"/>
                <a:ea typeface="宋体" pitchFamily="2" charset="-122"/>
              </a:endParaRPr>
            </a:p>
          </p:txBody>
        </p:sp>
        <p:grpSp>
          <p:nvGrpSpPr>
            <p:cNvPr id="45" name="组合 58">
              <a:extLst>
                <a:ext uri="{FF2B5EF4-FFF2-40B4-BE49-F238E27FC236}">
                  <a16:creationId xmlns:a16="http://schemas.microsoft.com/office/drawing/2014/main" id="{59003EA9-49AB-4922-BA31-6D62EF448EA3}"/>
                </a:ext>
              </a:extLst>
            </p:cNvPr>
            <p:cNvGrpSpPr>
              <a:grpSpLocks/>
            </p:cNvGrpSpPr>
            <p:nvPr userDrawn="1"/>
          </p:nvGrpSpPr>
          <p:grpSpPr bwMode="auto">
            <a:xfrm>
              <a:off x="4577557" y="1096709"/>
              <a:ext cx="646112" cy="504825"/>
              <a:chOff x="-80820" y="27858"/>
              <a:chExt cx="756178" cy="590582"/>
            </a:xfrm>
          </p:grpSpPr>
          <p:sp>
            <p:nvSpPr>
              <p:cNvPr id="46" name="Oval 16">
                <a:extLst>
                  <a:ext uri="{FF2B5EF4-FFF2-40B4-BE49-F238E27FC236}">
                    <a16:creationId xmlns:a16="http://schemas.microsoft.com/office/drawing/2014/main" id="{65B5D404-033B-4504-B22E-F52048E9DFDD}"/>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47" name="TextBox 60">
                <a:extLst>
                  <a:ext uri="{FF2B5EF4-FFF2-40B4-BE49-F238E27FC236}">
                    <a16:creationId xmlns:a16="http://schemas.microsoft.com/office/drawing/2014/main" id="{3BE31F55-8A87-41CD-8BF1-A60F8DBF2637}"/>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6.3</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8" name="组合 47">
            <a:extLst>
              <a:ext uri="{FF2B5EF4-FFF2-40B4-BE49-F238E27FC236}">
                <a16:creationId xmlns:a16="http://schemas.microsoft.com/office/drawing/2014/main" id="{F792780C-9CE0-42EC-B045-F8CBE82ABF40}"/>
              </a:ext>
            </a:extLst>
          </p:cNvPr>
          <p:cNvGrpSpPr/>
          <p:nvPr userDrawn="1"/>
        </p:nvGrpSpPr>
        <p:grpSpPr>
          <a:xfrm>
            <a:off x="4509511" y="1946163"/>
            <a:ext cx="5620512" cy="623887"/>
            <a:chOff x="4557319" y="1009525"/>
            <a:chExt cx="5620512" cy="623887"/>
          </a:xfrm>
        </p:grpSpPr>
        <p:sp>
          <p:nvSpPr>
            <p:cNvPr id="49" name="Freeform 10">
              <a:extLst>
                <a:ext uri="{FF2B5EF4-FFF2-40B4-BE49-F238E27FC236}">
                  <a16:creationId xmlns:a16="http://schemas.microsoft.com/office/drawing/2014/main" id="{04A00366-013D-4D06-BA40-3B2FB9036D5A}"/>
                </a:ext>
              </a:extLst>
            </p:cNvPr>
            <p:cNvSpPr/>
            <p:nvPr userDrawn="1"/>
          </p:nvSpPr>
          <p:spPr bwMode="auto">
            <a:xfrm>
              <a:off x="4557319" y="100952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函数间的数据传递</a:t>
              </a:r>
            </a:p>
            <a:p>
              <a:pPr>
                <a:defRPr/>
              </a:pPr>
              <a:endParaRPr lang="zh-CN" altLang="en-US" sz="3200" kern="0" dirty="0">
                <a:solidFill>
                  <a:srgbClr val="FFFFFF"/>
                </a:solidFill>
                <a:latin typeface="Arial" pitchFamily="34" charset="0"/>
                <a:ea typeface="宋体" pitchFamily="2" charset="-122"/>
              </a:endParaRPr>
            </a:p>
          </p:txBody>
        </p:sp>
        <p:grpSp>
          <p:nvGrpSpPr>
            <p:cNvPr id="50" name="组合 58">
              <a:extLst>
                <a:ext uri="{FF2B5EF4-FFF2-40B4-BE49-F238E27FC236}">
                  <a16:creationId xmlns:a16="http://schemas.microsoft.com/office/drawing/2014/main" id="{53161A28-6C61-43A6-8EA4-15607B719860}"/>
                </a:ext>
              </a:extLst>
            </p:cNvPr>
            <p:cNvGrpSpPr>
              <a:grpSpLocks/>
            </p:cNvGrpSpPr>
            <p:nvPr userDrawn="1"/>
          </p:nvGrpSpPr>
          <p:grpSpPr bwMode="auto">
            <a:xfrm>
              <a:off x="4577557" y="1096709"/>
              <a:ext cx="646112" cy="504825"/>
              <a:chOff x="-80820" y="27858"/>
              <a:chExt cx="756178" cy="590582"/>
            </a:xfrm>
          </p:grpSpPr>
          <p:sp>
            <p:nvSpPr>
              <p:cNvPr id="51" name="Oval 16">
                <a:extLst>
                  <a:ext uri="{FF2B5EF4-FFF2-40B4-BE49-F238E27FC236}">
                    <a16:creationId xmlns:a16="http://schemas.microsoft.com/office/drawing/2014/main" id="{DD29CE8A-EBF4-4208-98EE-994EE4B36E54}"/>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52" name="TextBox 60">
                <a:extLst>
                  <a:ext uri="{FF2B5EF4-FFF2-40B4-BE49-F238E27FC236}">
                    <a16:creationId xmlns:a16="http://schemas.microsoft.com/office/drawing/2014/main" id="{A26075A2-4977-4D86-8EFD-B0504A3442B1}"/>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6.2</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53" name="组合 52">
            <a:extLst>
              <a:ext uri="{FF2B5EF4-FFF2-40B4-BE49-F238E27FC236}">
                <a16:creationId xmlns:a16="http://schemas.microsoft.com/office/drawing/2014/main" id="{A24F53E3-60E3-4124-8888-4E808956FB44}"/>
              </a:ext>
            </a:extLst>
          </p:cNvPr>
          <p:cNvGrpSpPr/>
          <p:nvPr userDrawn="1"/>
        </p:nvGrpSpPr>
        <p:grpSpPr>
          <a:xfrm>
            <a:off x="4508149" y="4029075"/>
            <a:ext cx="5666488" cy="623887"/>
            <a:chOff x="4577557" y="1037605"/>
            <a:chExt cx="5666488" cy="623887"/>
          </a:xfrm>
        </p:grpSpPr>
        <p:sp>
          <p:nvSpPr>
            <p:cNvPr id="54" name="Freeform 10">
              <a:extLst>
                <a:ext uri="{FF2B5EF4-FFF2-40B4-BE49-F238E27FC236}">
                  <a16:creationId xmlns:a16="http://schemas.microsoft.com/office/drawing/2014/main" id="{4732B8E0-0DFF-4E96-A5BF-481059C4052C}"/>
                </a:ext>
              </a:extLst>
            </p:cNvPr>
            <p:cNvSpPr/>
            <p:nvPr userDrawn="1"/>
          </p:nvSpPr>
          <p:spPr bwMode="auto">
            <a:xfrm>
              <a:off x="4591049" y="1037605"/>
              <a:ext cx="5652996"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函数的嵌套调用和递归调用</a:t>
              </a:r>
            </a:p>
            <a:p>
              <a:pPr>
                <a:defRPr/>
              </a:pPr>
              <a:endParaRPr lang="zh-CN" altLang="en-US" sz="3200" kern="0" dirty="0">
                <a:solidFill>
                  <a:srgbClr val="FFFFFF"/>
                </a:solidFill>
                <a:latin typeface="Arial" pitchFamily="34" charset="0"/>
                <a:ea typeface="宋体" pitchFamily="2" charset="-122"/>
              </a:endParaRPr>
            </a:p>
          </p:txBody>
        </p:sp>
        <p:grpSp>
          <p:nvGrpSpPr>
            <p:cNvPr id="55" name="组合 58">
              <a:extLst>
                <a:ext uri="{FF2B5EF4-FFF2-40B4-BE49-F238E27FC236}">
                  <a16:creationId xmlns:a16="http://schemas.microsoft.com/office/drawing/2014/main" id="{90E9BF9A-F17B-43B4-B1E4-6BDE9FA46879}"/>
                </a:ext>
              </a:extLst>
            </p:cNvPr>
            <p:cNvGrpSpPr>
              <a:grpSpLocks/>
            </p:cNvGrpSpPr>
            <p:nvPr userDrawn="1"/>
          </p:nvGrpSpPr>
          <p:grpSpPr bwMode="auto">
            <a:xfrm>
              <a:off x="4577557" y="1096709"/>
              <a:ext cx="646112" cy="504825"/>
              <a:chOff x="-80820" y="27858"/>
              <a:chExt cx="756178" cy="590582"/>
            </a:xfrm>
          </p:grpSpPr>
          <p:sp>
            <p:nvSpPr>
              <p:cNvPr id="56" name="Oval 16">
                <a:extLst>
                  <a:ext uri="{FF2B5EF4-FFF2-40B4-BE49-F238E27FC236}">
                    <a16:creationId xmlns:a16="http://schemas.microsoft.com/office/drawing/2014/main" id="{33397C70-D582-4664-BFFF-3A46DC4F37CB}"/>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57" name="TextBox 60">
                <a:extLst>
                  <a:ext uri="{FF2B5EF4-FFF2-40B4-BE49-F238E27FC236}">
                    <a16:creationId xmlns:a16="http://schemas.microsoft.com/office/drawing/2014/main" id="{2591B598-5DF4-4F50-AE0E-A00FD6763E34}"/>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6.4</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58" name="组合 57">
            <a:extLst>
              <a:ext uri="{FF2B5EF4-FFF2-40B4-BE49-F238E27FC236}">
                <a16:creationId xmlns:a16="http://schemas.microsoft.com/office/drawing/2014/main" id="{9ED3FD84-10C2-4DD1-976E-9E4B2CFFA669}"/>
              </a:ext>
            </a:extLst>
          </p:cNvPr>
          <p:cNvGrpSpPr/>
          <p:nvPr userDrawn="1"/>
        </p:nvGrpSpPr>
        <p:grpSpPr>
          <a:xfrm>
            <a:off x="4508149" y="5046663"/>
            <a:ext cx="5634004" cy="623887"/>
            <a:chOff x="4577557" y="1037605"/>
            <a:chExt cx="5634004" cy="623887"/>
          </a:xfrm>
        </p:grpSpPr>
        <p:sp>
          <p:nvSpPr>
            <p:cNvPr id="59" name="Freeform 10">
              <a:extLst>
                <a:ext uri="{FF2B5EF4-FFF2-40B4-BE49-F238E27FC236}">
                  <a16:creationId xmlns:a16="http://schemas.microsoft.com/office/drawing/2014/main" id="{A5D2941C-3666-4674-A44F-5ED8322DEBA6}"/>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案例：掷骰子游戏</a:t>
              </a:r>
            </a:p>
            <a:p>
              <a:pPr>
                <a:defRPr/>
              </a:pPr>
              <a:endParaRPr lang="zh-CN" altLang="en-US" sz="3200" kern="0" dirty="0">
                <a:solidFill>
                  <a:srgbClr val="FFFFFF"/>
                </a:solidFill>
                <a:latin typeface="Arial" pitchFamily="34" charset="0"/>
                <a:ea typeface="宋体" pitchFamily="2" charset="-122"/>
              </a:endParaRPr>
            </a:p>
          </p:txBody>
        </p:sp>
        <p:grpSp>
          <p:nvGrpSpPr>
            <p:cNvPr id="60" name="组合 58">
              <a:extLst>
                <a:ext uri="{FF2B5EF4-FFF2-40B4-BE49-F238E27FC236}">
                  <a16:creationId xmlns:a16="http://schemas.microsoft.com/office/drawing/2014/main" id="{D7A5A2D9-F643-4267-88EA-AF1A1B351A5C}"/>
                </a:ext>
              </a:extLst>
            </p:cNvPr>
            <p:cNvGrpSpPr>
              <a:grpSpLocks/>
            </p:cNvGrpSpPr>
            <p:nvPr userDrawn="1"/>
          </p:nvGrpSpPr>
          <p:grpSpPr bwMode="auto">
            <a:xfrm>
              <a:off x="4577557" y="1096709"/>
              <a:ext cx="646112" cy="504825"/>
              <a:chOff x="-80820" y="27858"/>
              <a:chExt cx="756178" cy="590582"/>
            </a:xfrm>
          </p:grpSpPr>
          <p:sp>
            <p:nvSpPr>
              <p:cNvPr id="61" name="Oval 16">
                <a:extLst>
                  <a:ext uri="{FF2B5EF4-FFF2-40B4-BE49-F238E27FC236}">
                    <a16:creationId xmlns:a16="http://schemas.microsoft.com/office/drawing/2014/main" id="{77CC0453-D257-4869-B188-605400751F37}"/>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62" name="TextBox 60">
                <a:extLst>
                  <a:ext uri="{FF2B5EF4-FFF2-40B4-BE49-F238E27FC236}">
                    <a16:creationId xmlns:a16="http://schemas.microsoft.com/office/drawing/2014/main" id="{4F7D6541-09B4-4488-8E7D-ED9C1929956A}"/>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6.5</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68" name="组合 67">
            <a:extLst>
              <a:ext uri="{FF2B5EF4-FFF2-40B4-BE49-F238E27FC236}">
                <a16:creationId xmlns:a16="http://schemas.microsoft.com/office/drawing/2014/main" id="{90E7AC5B-1CE7-461E-A939-4AD980DF3D78}"/>
              </a:ext>
            </a:extLst>
          </p:cNvPr>
          <p:cNvGrpSpPr/>
          <p:nvPr userDrawn="1"/>
        </p:nvGrpSpPr>
        <p:grpSpPr>
          <a:xfrm>
            <a:off x="1812726" y="977212"/>
            <a:ext cx="2239963" cy="1047750"/>
            <a:chOff x="988824" y="2510466"/>
            <a:chExt cx="2239963" cy="1047750"/>
          </a:xfrm>
        </p:grpSpPr>
        <p:sp>
          <p:nvSpPr>
            <p:cNvPr id="8" name="Freeform 7">
              <a:extLst>
                <a:ext uri="{FF2B5EF4-FFF2-40B4-BE49-F238E27FC236}">
                  <a16:creationId xmlns:a16="http://schemas.microsoft.com/office/drawing/2014/main" id="{C460FAA0-5572-4ED6-AC94-D5D65C2A05C3}"/>
                </a:ext>
              </a:extLst>
            </p:cNvPr>
            <p:cNvSpPr>
              <a:spLocks noEditPoints="1"/>
            </p:cNvSpPr>
            <p:nvPr userDrawn="1"/>
          </p:nvSpPr>
          <p:spPr bwMode="auto">
            <a:xfrm>
              <a:off x="2077849" y="3331203"/>
              <a:ext cx="1147763" cy="227013"/>
            </a:xfrm>
            <a:custGeom>
              <a:avLst/>
              <a:gdLst>
                <a:gd name="T0" fmla="*/ 2147483647 w 2195"/>
                <a:gd name="T1" fmla="*/ 2147483647 h 445"/>
                <a:gd name="T2" fmla="*/ 2147483647 w 2195"/>
                <a:gd name="T3" fmla="*/ 2147483647 h 445"/>
                <a:gd name="T4" fmla="*/ 2147483647 w 2195"/>
                <a:gd name="T5" fmla="*/ 2147483647 h 445"/>
                <a:gd name="T6" fmla="*/ 2147483647 w 2195"/>
                <a:gd name="T7" fmla="*/ 2147483647 h 445"/>
                <a:gd name="T8" fmla="*/ 2147483647 w 2195"/>
                <a:gd name="T9" fmla="*/ 2147483647 h 445"/>
                <a:gd name="T10" fmla="*/ 2147483647 w 2195"/>
                <a:gd name="T11" fmla="*/ 2147483647 h 445"/>
                <a:gd name="T12" fmla="*/ 2147483647 w 2195"/>
                <a:gd name="T13" fmla="*/ 2147483647 h 445"/>
                <a:gd name="T14" fmla="*/ 2147483647 w 2195"/>
                <a:gd name="T15" fmla="*/ 2147483647 h 445"/>
                <a:gd name="T16" fmla="*/ 2147483647 w 2195"/>
                <a:gd name="T17" fmla="*/ 2147483647 h 445"/>
                <a:gd name="T18" fmla="*/ 2147483647 w 2195"/>
                <a:gd name="T19" fmla="*/ 2147483647 h 445"/>
                <a:gd name="T20" fmla="*/ 2147483647 w 2195"/>
                <a:gd name="T21" fmla="*/ 2147483647 h 445"/>
                <a:gd name="T22" fmla="*/ 2147483647 w 2195"/>
                <a:gd name="T23" fmla="*/ 2147483647 h 445"/>
                <a:gd name="T24" fmla="*/ 2147483647 w 2195"/>
                <a:gd name="T25" fmla="*/ 2147483647 h 445"/>
                <a:gd name="T26" fmla="*/ 2147483647 w 2195"/>
                <a:gd name="T27" fmla="*/ 2147483647 h 445"/>
                <a:gd name="T28" fmla="*/ 2147483647 w 2195"/>
                <a:gd name="T29" fmla="*/ 2147483647 h 445"/>
                <a:gd name="T30" fmla="*/ 2147483647 w 2195"/>
                <a:gd name="T31" fmla="*/ 2147483647 h 445"/>
                <a:gd name="T32" fmla="*/ 2147483647 w 2195"/>
                <a:gd name="T33" fmla="*/ 2147483647 h 445"/>
                <a:gd name="T34" fmla="*/ 2147483647 w 2195"/>
                <a:gd name="T35" fmla="*/ 2147483647 h 445"/>
                <a:gd name="T36" fmla="*/ 2147483647 w 2195"/>
                <a:gd name="T37" fmla="*/ 2147483647 h 445"/>
                <a:gd name="T38" fmla="*/ 2147483647 w 2195"/>
                <a:gd name="T39" fmla="*/ 2147483647 h 445"/>
                <a:gd name="T40" fmla="*/ 2147483647 w 2195"/>
                <a:gd name="T41" fmla="*/ 2147483647 h 445"/>
                <a:gd name="T42" fmla="*/ 2147483647 w 2195"/>
                <a:gd name="T43" fmla="*/ 2147483647 h 445"/>
                <a:gd name="T44" fmla="*/ 2147483647 w 2195"/>
                <a:gd name="T45" fmla="*/ 2147483647 h 445"/>
                <a:gd name="T46" fmla="*/ 2147483647 w 2195"/>
                <a:gd name="T47" fmla="*/ 2147483647 h 445"/>
                <a:gd name="T48" fmla="*/ 2147483647 w 2195"/>
                <a:gd name="T49" fmla="*/ 2147483647 h 445"/>
                <a:gd name="T50" fmla="*/ 2147483647 w 2195"/>
                <a:gd name="T51" fmla="*/ 2147483647 h 445"/>
                <a:gd name="T52" fmla="*/ 2147483647 w 2195"/>
                <a:gd name="T53" fmla="*/ 2147483647 h 445"/>
                <a:gd name="T54" fmla="*/ 2147483647 w 2195"/>
                <a:gd name="T55" fmla="*/ 2147483647 h 445"/>
                <a:gd name="T56" fmla="*/ 2147483647 w 2195"/>
                <a:gd name="T57" fmla="*/ 2147483647 h 445"/>
                <a:gd name="T58" fmla="*/ 2147483647 w 2195"/>
                <a:gd name="T59" fmla="*/ 2147483647 h 445"/>
                <a:gd name="T60" fmla="*/ 2147483647 w 2195"/>
                <a:gd name="T61" fmla="*/ 2147483647 h 445"/>
                <a:gd name="T62" fmla="*/ 2147483647 w 2195"/>
                <a:gd name="T63" fmla="*/ 2147483647 h 445"/>
                <a:gd name="T64" fmla="*/ 2147483647 w 2195"/>
                <a:gd name="T65" fmla="*/ 2147483647 h 445"/>
                <a:gd name="T66" fmla="*/ 2147483647 w 2195"/>
                <a:gd name="T67" fmla="*/ 2147483647 h 445"/>
                <a:gd name="T68" fmla="*/ 2147483647 w 2195"/>
                <a:gd name="T69" fmla="*/ 2147483647 h 445"/>
                <a:gd name="T70" fmla="*/ 2147483647 w 2195"/>
                <a:gd name="T71" fmla="*/ 2147483647 h 445"/>
                <a:gd name="T72" fmla="*/ 2147483647 w 2195"/>
                <a:gd name="T73" fmla="*/ 2147483647 h 445"/>
                <a:gd name="T74" fmla="*/ 2147483647 w 2195"/>
                <a:gd name="T75" fmla="*/ 2147483647 h 445"/>
                <a:gd name="T76" fmla="*/ 2147483647 w 2195"/>
                <a:gd name="T77" fmla="*/ 2147483647 h 445"/>
                <a:gd name="T78" fmla="*/ 2147483647 w 2195"/>
                <a:gd name="T79" fmla="*/ 2147483647 h 445"/>
                <a:gd name="T80" fmla="*/ 2147483647 w 2195"/>
                <a:gd name="T81" fmla="*/ 2147483647 h 445"/>
                <a:gd name="T82" fmla="*/ 2147483647 w 2195"/>
                <a:gd name="T83" fmla="*/ 2147483647 h 445"/>
                <a:gd name="T84" fmla="*/ 2147483647 w 2195"/>
                <a:gd name="T85" fmla="*/ 2147483647 h 445"/>
                <a:gd name="T86" fmla="*/ 2147483647 w 2195"/>
                <a:gd name="T87" fmla="*/ 2147483647 h 445"/>
                <a:gd name="T88" fmla="*/ 2147483647 w 2195"/>
                <a:gd name="T89" fmla="*/ 2147483647 h 445"/>
                <a:gd name="T90" fmla="*/ 2147483647 w 2195"/>
                <a:gd name="T91" fmla="*/ 2147483647 h 445"/>
                <a:gd name="T92" fmla="*/ 2147483647 w 2195"/>
                <a:gd name="T93" fmla="*/ 2147483647 h 445"/>
                <a:gd name="T94" fmla="*/ 2147483647 w 2195"/>
                <a:gd name="T95" fmla="*/ 2147483647 h 445"/>
                <a:gd name="T96" fmla="*/ 2147483647 w 2195"/>
                <a:gd name="T97" fmla="*/ 2147483647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rgbClr val="4D4D4D"/>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9" name="Freeform 8">
              <a:extLst>
                <a:ext uri="{FF2B5EF4-FFF2-40B4-BE49-F238E27FC236}">
                  <a16:creationId xmlns:a16="http://schemas.microsoft.com/office/drawing/2014/main" id="{7AB2CA1C-0244-4212-8B4F-BFADD4B021D8}"/>
                </a:ext>
              </a:extLst>
            </p:cNvPr>
            <p:cNvSpPr>
              <a:spLocks noEditPoints="1"/>
            </p:cNvSpPr>
            <p:nvPr userDrawn="1"/>
          </p:nvSpPr>
          <p:spPr bwMode="auto">
            <a:xfrm>
              <a:off x="2125474" y="2626353"/>
              <a:ext cx="1103313" cy="501650"/>
            </a:xfrm>
            <a:custGeom>
              <a:avLst/>
              <a:gdLst>
                <a:gd name="T0" fmla="*/ 2147483647 w 2109"/>
                <a:gd name="T1" fmla="*/ 0 h 986"/>
                <a:gd name="T2" fmla="*/ 2147483647 w 2109"/>
                <a:gd name="T3" fmla="*/ 2147483647 h 986"/>
                <a:gd name="T4" fmla="*/ 2147483647 w 2109"/>
                <a:gd name="T5" fmla="*/ 2147483647 h 986"/>
                <a:gd name="T6" fmla="*/ 0 w 2109"/>
                <a:gd name="T7" fmla="*/ 2147483647 h 986"/>
                <a:gd name="T8" fmla="*/ 2147483647 w 2109"/>
                <a:gd name="T9" fmla="*/ 2147483647 h 986"/>
                <a:gd name="T10" fmla="*/ 2147483647 w 2109"/>
                <a:gd name="T11" fmla="*/ 2147483647 h 986"/>
                <a:gd name="T12" fmla="*/ 2147483647 w 2109"/>
                <a:gd name="T13" fmla="*/ 2147483647 h 986"/>
                <a:gd name="T14" fmla="*/ 2147483647 w 2109"/>
                <a:gd name="T15" fmla="*/ 2147483647 h 986"/>
                <a:gd name="T16" fmla="*/ 2147483647 w 2109"/>
                <a:gd name="T17" fmla="*/ 2147483647 h 986"/>
                <a:gd name="T18" fmla="*/ 2147483647 w 2109"/>
                <a:gd name="T19" fmla="*/ 2147483647 h 986"/>
                <a:gd name="T20" fmla="*/ 2147483647 w 2109"/>
                <a:gd name="T21" fmla="*/ 2147483647 h 986"/>
                <a:gd name="T22" fmla="*/ 2147483647 w 2109"/>
                <a:gd name="T23" fmla="*/ 2147483647 h 986"/>
                <a:gd name="T24" fmla="*/ 2147483647 w 2109"/>
                <a:gd name="T25" fmla="*/ 2147483647 h 986"/>
                <a:gd name="T26" fmla="*/ 2147483647 w 2109"/>
                <a:gd name="T27" fmla="*/ 2147483647 h 986"/>
                <a:gd name="T28" fmla="*/ 2147483647 w 2109"/>
                <a:gd name="T29" fmla="*/ 2147483647 h 986"/>
                <a:gd name="T30" fmla="*/ 2147483647 w 2109"/>
                <a:gd name="T31" fmla="*/ 2147483647 h 986"/>
                <a:gd name="T32" fmla="*/ 2147483647 w 2109"/>
                <a:gd name="T33" fmla="*/ 2147483647 h 986"/>
                <a:gd name="T34" fmla="*/ 2147483647 w 2109"/>
                <a:gd name="T35" fmla="*/ 2147483647 h 986"/>
                <a:gd name="T36" fmla="*/ 2147483647 w 2109"/>
                <a:gd name="T37" fmla="*/ 2147483647 h 986"/>
                <a:gd name="T38" fmla="*/ 2147483647 w 2109"/>
                <a:gd name="T39" fmla="*/ 2147483647 h 986"/>
                <a:gd name="T40" fmla="*/ 2147483647 w 2109"/>
                <a:gd name="T41" fmla="*/ 2147483647 h 986"/>
                <a:gd name="T42" fmla="*/ 2147483647 w 2109"/>
                <a:gd name="T43" fmla="*/ 2147483647 h 986"/>
                <a:gd name="T44" fmla="*/ 2147483647 w 2109"/>
                <a:gd name="T45" fmla="*/ 2147483647 h 986"/>
                <a:gd name="T46" fmla="*/ 2147483647 w 2109"/>
                <a:gd name="T47" fmla="*/ 2147483647 h 986"/>
                <a:gd name="T48" fmla="*/ 2147483647 w 2109"/>
                <a:gd name="T49" fmla="*/ 2147483647 h 986"/>
                <a:gd name="T50" fmla="*/ 2147483647 w 2109"/>
                <a:gd name="T51" fmla="*/ 2147483647 h 986"/>
                <a:gd name="T52" fmla="*/ 2147483647 w 2109"/>
                <a:gd name="T53" fmla="*/ 2147483647 h 986"/>
                <a:gd name="T54" fmla="*/ 2147483647 w 2109"/>
                <a:gd name="T55" fmla="*/ 2147483647 h 986"/>
                <a:gd name="T56" fmla="*/ 2147483647 w 2109"/>
                <a:gd name="T57" fmla="*/ 2147483647 h 986"/>
                <a:gd name="T58" fmla="*/ 2147483647 w 2109"/>
                <a:gd name="T59" fmla="*/ 2147483647 h 986"/>
                <a:gd name="T60" fmla="*/ 2147483647 w 2109"/>
                <a:gd name="T61" fmla="*/ 2147483647 h 986"/>
                <a:gd name="T62" fmla="*/ 2147483647 w 2109"/>
                <a:gd name="T63" fmla="*/ 2147483647 h 986"/>
                <a:gd name="T64" fmla="*/ 2147483647 w 2109"/>
                <a:gd name="T65" fmla="*/ 2147483647 h 986"/>
                <a:gd name="T66" fmla="*/ 2147483647 w 2109"/>
                <a:gd name="T67" fmla="*/ 2147483647 h 9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rgbClr val="4D4D4D"/>
            </a:solidFill>
            <a:ln w="9525">
              <a:noFill/>
              <a:round/>
            </a:ln>
          </p:spPr>
          <p:txBody>
            <a:bodyPr/>
            <a:lstStyle/>
            <a:p>
              <a:pPr>
                <a:defRPr/>
              </a:pPr>
              <a:endParaRPr lang="zh-CN" altLang="en-US" kern="0" dirty="0">
                <a:solidFill>
                  <a:sysClr val="windowText" lastClr="000000"/>
                </a:solidFill>
                <a:latin typeface="Arial" pitchFamily="34" charset="0"/>
                <a:ea typeface="宋体" pitchFamily="2" charset="-122"/>
              </a:endParaRPr>
            </a:p>
          </p:txBody>
        </p:sp>
        <p:sp>
          <p:nvSpPr>
            <p:cNvPr id="6" name="Rectangle 5">
              <a:extLst>
                <a:ext uri="{FF2B5EF4-FFF2-40B4-BE49-F238E27FC236}">
                  <a16:creationId xmlns:a16="http://schemas.microsoft.com/office/drawing/2014/main" id="{A6CF91E4-2DF6-43CC-853C-8A66141190CC}"/>
                </a:ext>
              </a:extLst>
            </p:cNvPr>
            <p:cNvSpPr>
              <a:spLocks noChangeArrowheads="1"/>
            </p:cNvSpPr>
            <p:nvPr userDrawn="1"/>
          </p:nvSpPr>
          <p:spPr bwMode="auto">
            <a:xfrm>
              <a:off x="988824" y="2510466"/>
              <a:ext cx="973394" cy="1047750"/>
            </a:xfrm>
            <a:prstGeom prst="rect">
              <a:avLst/>
            </a:prstGeom>
            <a:solidFill>
              <a:srgbClr val="024C89"/>
            </a:solidFill>
            <a:ln w="9525">
              <a:noFill/>
              <a:miter lim="800000"/>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7" name="Freeform 6">
              <a:extLst>
                <a:ext uri="{FF2B5EF4-FFF2-40B4-BE49-F238E27FC236}">
                  <a16:creationId xmlns:a16="http://schemas.microsoft.com/office/drawing/2014/main" id="{B9D7DEB2-CFBF-4E7F-8A3C-E9CF23E7D7CF}"/>
                </a:ext>
              </a:extLst>
            </p:cNvPr>
            <p:cNvSpPr/>
            <p:nvPr userDrawn="1"/>
          </p:nvSpPr>
          <p:spPr bwMode="auto">
            <a:xfrm>
              <a:off x="1149559" y="2675367"/>
              <a:ext cx="614363" cy="749300"/>
            </a:xfrm>
            <a:custGeom>
              <a:avLst/>
              <a:gdLst>
                <a:gd name="T0" fmla="*/ 2147483647 w 1173"/>
                <a:gd name="T1" fmla="*/ 2147483647 h 1472"/>
                <a:gd name="T2" fmla="*/ 2147483647 w 1173"/>
                <a:gd name="T3" fmla="*/ 2147483647 h 1472"/>
                <a:gd name="T4" fmla="*/ 2147483647 w 1173"/>
                <a:gd name="T5" fmla="*/ 2147483647 h 1472"/>
                <a:gd name="T6" fmla="*/ 2147483647 w 1173"/>
                <a:gd name="T7" fmla="*/ 2147483647 h 1472"/>
                <a:gd name="T8" fmla="*/ 2147483647 w 1173"/>
                <a:gd name="T9" fmla="*/ 2147483647 h 1472"/>
                <a:gd name="T10" fmla="*/ 2147483647 w 1173"/>
                <a:gd name="T11" fmla="*/ 2147483647 h 1472"/>
                <a:gd name="T12" fmla="*/ 0 w 1173"/>
                <a:gd name="T13" fmla="*/ 2147483647 h 1472"/>
                <a:gd name="T14" fmla="*/ 2147483647 w 1173"/>
                <a:gd name="T15" fmla="*/ 2147483647 h 1472"/>
                <a:gd name="T16" fmla="*/ 2147483647 w 1173"/>
                <a:gd name="T17" fmla="*/ 2147483647 h 1472"/>
                <a:gd name="T18" fmla="*/ 2147483647 w 1173"/>
                <a:gd name="T19" fmla="*/ 2147483647 h 1472"/>
                <a:gd name="T20" fmla="*/ 2147483647 w 1173"/>
                <a:gd name="T21" fmla="*/ 2147483647 h 1472"/>
                <a:gd name="T22" fmla="*/ 2147483647 w 1173"/>
                <a:gd name="T23" fmla="*/ 2147483647 h 1472"/>
                <a:gd name="T24" fmla="*/ 2147483647 w 1173"/>
                <a:gd name="T25" fmla="*/ 2147483647 h 1472"/>
                <a:gd name="T26" fmla="*/ 2147483647 w 1173"/>
                <a:gd name="T27" fmla="*/ 2147483647 h 1472"/>
                <a:gd name="T28" fmla="*/ 2147483647 w 1173"/>
                <a:gd name="T29" fmla="*/ 2147483647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grpSp>
      <p:sp>
        <p:nvSpPr>
          <p:cNvPr id="70" name="矩形 69">
            <a:extLst>
              <a:ext uri="{FF2B5EF4-FFF2-40B4-BE49-F238E27FC236}">
                <a16:creationId xmlns:a16="http://schemas.microsoft.com/office/drawing/2014/main" id="{5D6C1642-EF57-4FCF-B70B-9EB19917F44C}"/>
              </a:ext>
            </a:extLst>
          </p:cNvPr>
          <p:cNvSpPr/>
          <p:nvPr userDrawn="1"/>
        </p:nvSpPr>
        <p:spPr>
          <a:xfrm>
            <a:off x="7476749" y="5022"/>
            <a:ext cx="4715435" cy="6858000"/>
          </a:xfrm>
          <a:prstGeom prst="rect">
            <a:avLst/>
          </a:prstGeom>
          <a:gradFill>
            <a:gsLst>
              <a:gs pos="100000">
                <a:srgbClr val="00B0F0">
                  <a:alpha val="0"/>
                </a:srgbClr>
              </a:gs>
              <a:gs pos="0">
                <a:srgbClr val="00B0F0">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76" name="组合 75">
            <a:extLst>
              <a:ext uri="{FF2B5EF4-FFF2-40B4-BE49-F238E27FC236}">
                <a16:creationId xmlns:a16="http://schemas.microsoft.com/office/drawing/2014/main" id="{79128F3D-440D-4735-B280-F8F3A95DBEF0}"/>
              </a:ext>
            </a:extLst>
          </p:cNvPr>
          <p:cNvGrpSpPr/>
          <p:nvPr userDrawn="1"/>
        </p:nvGrpSpPr>
        <p:grpSpPr>
          <a:xfrm>
            <a:off x="0" y="40018"/>
            <a:ext cx="12192000" cy="769441"/>
            <a:chOff x="0" y="40018"/>
            <a:chExt cx="12192000" cy="769441"/>
          </a:xfrm>
        </p:grpSpPr>
        <p:pic>
          <p:nvPicPr>
            <p:cNvPr id="77" name="图片 76">
              <a:extLst>
                <a:ext uri="{FF2B5EF4-FFF2-40B4-BE49-F238E27FC236}">
                  <a16:creationId xmlns:a16="http://schemas.microsoft.com/office/drawing/2014/main" id="{F7046826-E3C2-4516-8838-F6024486E91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4974" b="35069"/>
            <a:stretch>
              <a:fillRect/>
            </a:stretch>
          </p:blipFill>
          <p:spPr>
            <a:xfrm>
              <a:off x="9699602" y="203601"/>
              <a:ext cx="2336093" cy="505610"/>
            </a:xfrm>
            <a:prstGeom prst="rect">
              <a:avLst/>
            </a:prstGeom>
          </p:spPr>
        </p:pic>
        <p:sp>
          <p:nvSpPr>
            <p:cNvPr id="78" name="文本框 77">
              <a:extLst>
                <a:ext uri="{FF2B5EF4-FFF2-40B4-BE49-F238E27FC236}">
                  <a16:creationId xmlns:a16="http://schemas.microsoft.com/office/drawing/2014/main" id="{0E74CD5A-9833-45E4-9F7F-2C7811B867BE}"/>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79" name="文本框 78">
              <a:extLst>
                <a:ext uri="{FF2B5EF4-FFF2-40B4-BE49-F238E27FC236}">
                  <a16:creationId xmlns:a16="http://schemas.microsoft.com/office/drawing/2014/main" id="{B7D8D081-8C72-41AC-BA3C-DA4104B63229}"/>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nvGrpSpPr>
            <p:cNvPr id="80" name="组合 79">
              <a:extLst>
                <a:ext uri="{FF2B5EF4-FFF2-40B4-BE49-F238E27FC236}">
                  <a16:creationId xmlns:a16="http://schemas.microsoft.com/office/drawing/2014/main" id="{277687D0-C680-4AA6-AE98-5639F0C50311}"/>
                </a:ext>
              </a:extLst>
            </p:cNvPr>
            <p:cNvGrpSpPr/>
            <p:nvPr userDrawn="1"/>
          </p:nvGrpSpPr>
          <p:grpSpPr>
            <a:xfrm>
              <a:off x="0" y="140358"/>
              <a:ext cx="12192000" cy="573208"/>
              <a:chOff x="-750454" y="3752299"/>
              <a:chExt cx="12201236" cy="573208"/>
            </a:xfrm>
          </p:grpSpPr>
          <p:sp>
            <p:nvSpPr>
              <p:cNvPr id="81" name="平行四边形 80">
                <a:extLst>
                  <a:ext uri="{FF2B5EF4-FFF2-40B4-BE49-F238E27FC236}">
                    <a16:creationId xmlns:a16="http://schemas.microsoft.com/office/drawing/2014/main" id="{999CB817-D56E-488F-9D87-F9D19470D6AE}"/>
                  </a:ext>
                </a:extLst>
              </p:cNvPr>
              <p:cNvSpPr/>
              <p:nvPr userDrawn="1"/>
            </p:nvSpPr>
            <p:spPr>
              <a:xfrm>
                <a:off x="786014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平行四边形 81">
                <a:extLst>
                  <a:ext uri="{FF2B5EF4-FFF2-40B4-BE49-F238E27FC236}">
                    <a16:creationId xmlns:a16="http://schemas.microsoft.com/office/drawing/2014/main" id="{352F10E6-4A02-4A03-A65F-57545BCD6B65}"/>
                  </a:ext>
                </a:extLst>
              </p:cNvPr>
              <p:cNvSpPr/>
              <p:nvPr userDrawn="1"/>
            </p:nvSpPr>
            <p:spPr>
              <a:xfrm>
                <a:off x="819151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id="{075B0E75-A6C6-4B7F-A0F1-380D72D98050}"/>
                  </a:ext>
                </a:extLst>
              </p:cNvPr>
              <p:cNvSpPr/>
              <p:nvPr userDrawn="1"/>
            </p:nvSpPr>
            <p:spPr>
              <a:xfrm flipV="1">
                <a:off x="-750454" y="4289506"/>
                <a:ext cx="8856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4632218C-DACA-4F71-8571-397435439B21}"/>
                  </a:ext>
                </a:extLst>
              </p:cNvPr>
              <p:cNvSpPr/>
              <p:nvPr userDrawn="1"/>
            </p:nvSpPr>
            <p:spPr>
              <a:xfrm flipV="1">
                <a:off x="8750782" y="3753688"/>
                <a:ext cx="2700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6498357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BC089EC-55AC-4306-ABB4-631B2FCECEE5}"/>
              </a:ext>
            </a:extLst>
          </p:cNvPr>
          <p:cNvSpPr>
            <a:spLocks noChangeArrowheads="1"/>
          </p:cNvSpPr>
          <p:nvPr userDrawn="1"/>
        </p:nvSpPr>
        <p:spPr bwMode="auto">
          <a:xfrm>
            <a:off x="2650274" y="1556659"/>
            <a:ext cx="6891452" cy="281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ts val="1800"/>
              </a:spcBef>
            </a:pPr>
            <a:r>
              <a:rPr lang="en-US" altLang="zh-CN" sz="5400" b="1" dirty="0">
                <a:solidFill>
                  <a:srgbClr val="FF0000"/>
                </a:solidFill>
                <a:latin typeface="微软雅黑" pitchFamily="34" charset="-122"/>
                <a:ea typeface="微软雅黑" pitchFamily="34" charset="-122"/>
              </a:rPr>
              <a:t>Question</a:t>
            </a:r>
            <a:r>
              <a:rPr lang="zh-CN" altLang="en-US" sz="5400" b="1" dirty="0">
                <a:solidFill>
                  <a:srgbClr val="FF0000"/>
                </a:solidFill>
                <a:latin typeface="微软雅黑" pitchFamily="34" charset="-122"/>
                <a:ea typeface="微软雅黑" pitchFamily="34" charset="-122"/>
              </a:rPr>
              <a:t>？</a:t>
            </a:r>
            <a:endParaRPr lang="en-US" altLang="zh-CN" sz="5400" b="1" dirty="0">
              <a:solidFill>
                <a:srgbClr val="FF0000"/>
              </a:solidFill>
              <a:latin typeface="微软雅黑" pitchFamily="34" charset="-122"/>
              <a:ea typeface="微软雅黑" pitchFamily="34" charset="-122"/>
            </a:endParaRPr>
          </a:p>
          <a:p>
            <a:pPr algn="just">
              <a:spcBef>
                <a:spcPts val="1800"/>
              </a:spcBef>
            </a:pPr>
            <a:r>
              <a:rPr lang="zh-CN" altLang="en-US" sz="5400" b="1" dirty="0">
                <a:solidFill>
                  <a:srgbClr val="FF0000"/>
                </a:solidFill>
                <a:latin typeface="微软雅黑" pitchFamily="34" charset="-122"/>
                <a:ea typeface="微软雅黑" pitchFamily="34" charset="-122"/>
              </a:rPr>
              <a:t>请在班级</a:t>
            </a:r>
            <a:r>
              <a:rPr lang="en-US" altLang="zh-CN" sz="5400" b="1" dirty="0">
                <a:solidFill>
                  <a:srgbClr val="FF0000"/>
                </a:solidFill>
                <a:latin typeface="微软雅黑" pitchFamily="34" charset="-122"/>
                <a:ea typeface="微软雅黑" pitchFamily="34" charset="-122"/>
              </a:rPr>
              <a:t>QQ</a:t>
            </a:r>
            <a:r>
              <a:rPr lang="zh-CN" altLang="en-US" sz="5400" b="1" dirty="0">
                <a:solidFill>
                  <a:srgbClr val="FF0000"/>
                </a:solidFill>
                <a:latin typeface="微软雅黑" pitchFamily="34" charset="-122"/>
                <a:ea typeface="微软雅黑" pitchFamily="34" charset="-122"/>
              </a:rPr>
              <a:t>群或在上机过程中进行提问吧！</a:t>
            </a:r>
            <a:endParaRPr lang="en-US" altLang="zh-CN" sz="5400" b="1" dirty="0">
              <a:solidFill>
                <a:srgbClr val="FF0000"/>
              </a:solidFill>
              <a:latin typeface="微软雅黑" pitchFamily="34" charset="-122"/>
              <a:ea typeface="微软雅黑" pitchFamily="34" charset="-122"/>
            </a:endParaRPr>
          </a:p>
        </p:txBody>
      </p:sp>
      <p:grpSp>
        <p:nvGrpSpPr>
          <p:cNvPr id="4" name="组合 3">
            <a:extLst>
              <a:ext uri="{FF2B5EF4-FFF2-40B4-BE49-F238E27FC236}">
                <a16:creationId xmlns:a16="http://schemas.microsoft.com/office/drawing/2014/main" id="{78A572C4-B2D1-490F-99D9-054A5FA5FCD6}"/>
              </a:ext>
            </a:extLst>
          </p:cNvPr>
          <p:cNvGrpSpPr/>
          <p:nvPr userDrawn="1"/>
        </p:nvGrpSpPr>
        <p:grpSpPr>
          <a:xfrm>
            <a:off x="0" y="40018"/>
            <a:ext cx="12192000" cy="769441"/>
            <a:chOff x="0" y="40018"/>
            <a:chExt cx="12192000" cy="769441"/>
          </a:xfrm>
        </p:grpSpPr>
        <p:pic>
          <p:nvPicPr>
            <p:cNvPr id="5" name="图片 4">
              <a:extLst>
                <a:ext uri="{FF2B5EF4-FFF2-40B4-BE49-F238E27FC236}">
                  <a16:creationId xmlns:a16="http://schemas.microsoft.com/office/drawing/2014/main" id="{52404D27-433D-4218-8491-72B29BA071A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4974" b="35069"/>
            <a:stretch>
              <a:fillRect/>
            </a:stretch>
          </p:blipFill>
          <p:spPr>
            <a:xfrm>
              <a:off x="9699602" y="211519"/>
              <a:ext cx="2336093" cy="505610"/>
            </a:xfrm>
            <a:prstGeom prst="rect">
              <a:avLst/>
            </a:prstGeom>
          </p:spPr>
        </p:pic>
        <p:sp>
          <p:nvSpPr>
            <p:cNvPr id="6" name="文本框 5">
              <a:extLst>
                <a:ext uri="{FF2B5EF4-FFF2-40B4-BE49-F238E27FC236}">
                  <a16:creationId xmlns:a16="http://schemas.microsoft.com/office/drawing/2014/main" id="{06202126-DDD4-4338-BB92-B0FB20218310}"/>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7" name="文本框 6">
              <a:extLst>
                <a:ext uri="{FF2B5EF4-FFF2-40B4-BE49-F238E27FC236}">
                  <a16:creationId xmlns:a16="http://schemas.microsoft.com/office/drawing/2014/main" id="{6EBC7994-DE28-4614-BBB3-1258C611821D}"/>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nvGrpSpPr>
            <p:cNvPr id="8" name="组合 7">
              <a:extLst>
                <a:ext uri="{FF2B5EF4-FFF2-40B4-BE49-F238E27FC236}">
                  <a16:creationId xmlns:a16="http://schemas.microsoft.com/office/drawing/2014/main" id="{79DE37F0-6BDA-4DC2-9F0F-06B7C60DCC0F}"/>
                </a:ext>
              </a:extLst>
            </p:cNvPr>
            <p:cNvGrpSpPr/>
            <p:nvPr userDrawn="1"/>
          </p:nvGrpSpPr>
          <p:grpSpPr>
            <a:xfrm>
              <a:off x="0" y="140358"/>
              <a:ext cx="12192000" cy="573208"/>
              <a:chOff x="-750454" y="3752299"/>
              <a:chExt cx="12201236" cy="573208"/>
            </a:xfrm>
          </p:grpSpPr>
          <p:sp>
            <p:nvSpPr>
              <p:cNvPr id="9" name="平行四边形 8">
                <a:extLst>
                  <a:ext uri="{FF2B5EF4-FFF2-40B4-BE49-F238E27FC236}">
                    <a16:creationId xmlns:a16="http://schemas.microsoft.com/office/drawing/2014/main" id="{8FDA44E1-7425-41B0-ACE1-F3183CE75CBE}"/>
                  </a:ext>
                </a:extLst>
              </p:cNvPr>
              <p:cNvSpPr/>
              <p:nvPr userDrawn="1"/>
            </p:nvSpPr>
            <p:spPr>
              <a:xfrm>
                <a:off x="786014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D92A7CFB-5C2D-4471-9617-5814B155CB7F}"/>
                  </a:ext>
                </a:extLst>
              </p:cNvPr>
              <p:cNvSpPr/>
              <p:nvPr userDrawn="1"/>
            </p:nvSpPr>
            <p:spPr>
              <a:xfrm>
                <a:off x="819151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DDD1E91A-2138-4239-8CDD-3DAEEDA7E6A5}"/>
                  </a:ext>
                </a:extLst>
              </p:cNvPr>
              <p:cNvSpPr/>
              <p:nvPr userDrawn="1"/>
            </p:nvSpPr>
            <p:spPr>
              <a:xfrm flipV="1">
                <a:off x="-750454" y="4289506"/>
                <a:ext cx="8856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2538672-7F3C-4866-B5C4-959756C63A35}"/>
                  </a:ext>
                </a:extLst>
              </p:cNvPr>
              <p:cNvSpPr/>
              <p:nvPr userDrawn="1"/>
            </p:nvSpPr>
            <p:spPr>
              <a:xfrm flipV="1">
                <a:off x="8750782" y="3753688"/>
                <a:ext cx="2700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83212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t="-2000" b="-2000"/>
          </a:stretch>
        </a:blip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A906814-CB77-42CE-8722-740E4FA37C6F}"/>
              </a:ext>
            </a:extLst>
          </p:cNvPr>
          <p:cNvSpPr/>
          <p:nvPr userDrawn="1"/>
        </p:nvSpPr>
        <p:spPr>
          <a:xfrm rot="5400000">
            <a:off x="5731669" y="397669"/>
            <a:ext cx="728662"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 name="标题占位符 1">
            <a:extLst>
              <a:ext uri="{FF2B5EF4-FFF2-40B4-BE49-F238E27FC236}">
                <a16:creationId xmlns:a16="http://schemas.microsoft.com/office/drawing/2014/main" id="{2EDEA523-30CE-4428-B8A6-CB0C805CD447}"/>
              </a:ext>
            </a:extLst>
          </p:cNvPr>
          <p:cNvSpPr>
            <a:spLocks noGrp="1"/>
          </p:cNvSpPr>
          <p:nvPr>
            <p:ph type="title"/>
          </p:nvPr>
        </p:nvSpPr>
        <p:spPr>
          <a:xfrm>
            <a:off x="838200" y="809458"/>
            <a:ext cx="10515600" cy="88122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9C40EFF2-3741-4E9F-9032-7BBA076E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AC8001F3-2526-4AFF-AFF5-E4CAF95025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678D3D-2176-4EFD-ACD1-ED2DBF8C7FF7}" type="datetime1">
              <a:rPr lang="zh-CN" altLang="en-US" smtClean="0"/>
              <a:t>2023/5/23</a:t>
            </a:fld>
            <a:endParaRPr lang="zh-CN" altLang="en-US"/>
          </a:p>
        </p:txBody>
      </p:sp>
      <p:sp>
        <p:nvSpPr>
          <p:cNvPr id="9" name="页脚占位符 8">
            <a:extLst>
              <a:ext uri="{FF2B5EF4-FFF2-40B4-BE49-F238E27FC236}">
                <a16:creationId xmlns:a16="http://schemas.microsoft.com/office/drawing/2014/main" id="{87446182-0BAA-4592-A192-58B1F2766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 name="矩形 11">
            <a:extLst>
              <a:ext uri="{FF2B5EF4-FFF2-40B4-BE49-F238E27FC236}">
                <a16:creationId xmlns:a16="http://schemas.microsoft.com/office/drawing/2014/main" id="{5ACF6331-42CF-49B5-93BA-B5EACB963342}"/>
              </a:ext>
            </a:extLst>
          </p:cNvPr>
          <p:cNvSpPr/>
          <p:nvPr userDrawn="1"/>
        </p:nvSpPr>
        <p:spPr>
          <a:xfrm rot="16200000">
            <a:off x="5645524" y="-5645523"/>
            <a:ext cx="900954"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7" name="图片 6">
            <a:extLst>
              <a:ext uri="{FF2B5EF4-FFF2-40B4-BE49-F238E27FC236}">
                <a16:creationId xmlns:a16="http://schemas.microsoft.com/office/drawing/2014/main" id="{991EA361-28EE-45BA-A8A0-3F4170BADBDF}"/>
              </a:ext>
            </a:extLst>
          </p:cNvPr>
          <p:cNvPicPr>
            <a:picLocks noChangeAspect="1"/>
          </p:cNvPicPr>
          <p:nvPr userDrawn="1"/>
        </p:nvPicPr>
        <p:blipFill rotWithShape="1">
          <a:blip r:embed="rId21" cstate="print">
            <a:extLst>
              <a:ext uri="{28A0092B-C50C-407E-A947-70E740481C1C}">
                <a14:useLocalDpi xmlns:a14="http://schemas.microsoft.com/office/drawing/2010/main" val="0"/>
              </a:ext>
            </a:extLst>
          </a:blip>
          <a:srcRect t="34974" b="35069"/>
          <a:stretch>
            <a:fillRect/>
          </a:stretch>
        </p:blipFill>
        <p:spPr>
          <a:xfrm>
            <a:off x="9870682" y="88314"/>
            <a:ext cx="2336093" cy="505610"/>
          </a:xfrm>
          <a:prstGeom prst="rect">
            <a:avLst/>
          </a:prstGeom>
        </p:spPr>
      </p:pic>
      <p:grpSp>
        <p:nvGrpSpPr>
          <p:cNvPr id="8" name="组合 7">
            <a:extLst>
              <a:ext uri="{FF2B5EF4-FFF2-40B4-BE49-F238E27FC236}">
                <a16:creationId xmlns:a16="http://schemas.microsoft.com/office/drawing/2014/main" id="{32421D17-D471-4FDB-9421-3A1AE3DE6176}"/>
              </a:ext>
            </a:extLst>
          </p:cNvPr>
          <p:cNvGrpSpPr/>
          <p:nvPr userDrawn="1"/>
        </p:nvGrpSpPr>
        <p:grpSpPr>
          <a:xfrm>
            <a:off x="7927286" y="-120332"/>
            <a:ext cx="1406772" cy="769441"/>
            <a:chOff x="156305" y="40018"/>
            <a:chExt cx="1406772" cy="769441"/>
          </a:xfrm>
        </p:grpSpPr>
        <p:sp>
          <p:nvSpPr>
            <p:cNvPr id="10" name="文本框 9">
              <a:extLst>
                <a:ext uri="{FF2B5EF4-FFF2-40B4-BE49-F238E27FC236}">
                  <a16:creationId xmlns:a16="http://schemas.microsoft.com/office/drawing/2014/main" id="{C5EE19C7-A1F4-46A3-92CF-BFD9C4E79590}"/>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11" name="文本框 10">
              <a:extLst>
                <a:ext uri="{FF2B5EF4-FFF2-40B4-BE49-F238E27FC236}">
                  <a16:creationId xmlns:a16="http://schemas.microsoft.com/office/drawing/2014/main" id="{03C31597-CB30-47B3-A5E3-96B442662F67}"/>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grpSp>
        <p:nvGrpSpPr>
          <p:cNvPr id="21" name="组合 20">
            <a:extLst>
              <a:ext uri="{FF2B5EF4-FFF2-40B4-BE49-F238E27FC236}">
                <a16:creationId xmlns:a16="http://schemas.microsoft.com/office/drawing/2014/main" id="{377E9160-0818-4167-A9C5-1B3144D9006A}"/>
              </a:ext>
            </a:extLst>
          </p:cNvPr>
          <p:cNvGrpSpPr/>
          <p:nvPr userDrawn="1"/>
        </p:nvGrpSpPr>
        <p:grpSpPr>
          <a:xfrm>
            <a:off x="3176" y="17435"/>
            <a:ext cx="12188825" cy="568550"/>
            <a:chOff x="-747276" y="3752079"/>
            <a:chExt cx="12198059" cy="568550"/>
          </a:xfrm>
        </p:grpSpPr>
        <p:sp>
          <p:nvSpPr>
            <p:cNvPr id="17" name="平行四边形 16">
              <a:extLst>
                <a:ext uri="{FF2B5EF4-FFF2-40B4-BE49-F238E27FC236}">
                  <a16:creationId xmlns:a16="http://schemas.microsoft.com/office/drawing/2014/main" id="{E5C0772E-2BDB-46E3-BBF3-98B56199E3AA}"/>
                </a:ext>
              </a:extLst>
            </p:cNvPr>
            <p:cNvSpPr/>
            <p:nvPr userDrawn="1"/>
          </p:nvSpPr>
          <p:spPr>
            <a:xfrm>
              <a:off x="8257494" y="3753688"/>
              <a:ext cx="830801" cy="566941"/>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a:extLst>
                <a:ext uri="{FF2B5EF4-FFF2-40B4-BE49-F238E27FC236}">
                  <a16:creationId xmlns:a16="http://schemas.microsoft.com/office/drawing/2014/main" id="{9DD3C377-F1A7-48D3-AE26-705C40158D01}"/>
                </a:ext>
              </a:extLst>
            </p:cNvPr>
            <p:cNvSpPr/>
            <p:nvPr userDrawn="1"/>
          </p:nvSpPr>
          <p:spPr>
            <a:xfrm>
              <a:off x="8592975" y="3752299"/>
              <a:ext cx="828964" cy="568330"/>
            </a:xfrm>
            <a:prstGeom prst="parallelogram">
              <a:avLst>
                <a:gd name="adj" fmla="val 99859"/>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D5F80F0-A7FB-45D8-A02F-17A28AEF4443}"/>
                </a:ext>
              </a:extLst>
            </p:cNvPr>
            <p:cNvSpPr/>
            <p:nvPr userDrawn="1"/>
          </p:nvSpPr>
          <p:spPr>
            <a:xfrm flipV="1">
              <a:off x="-747276" y="4259469"/>
              <a:ext cx="9260548" cy="611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0C81418-DA7F-4965-A6CC-440B3B40C695}"/>
                </a:ext>
              </a:extLst>
            </p:cNvPr>
            <p:cNvSpPr/>
            <p:nvPr userDrawn="1"/>
          </p:nvSpPr>
          <p:spPr>
            <a:xfrm flipV="1">
              <a:off x="9156695" y="3752079"/>
              <a:ext cx="2294088" cy="6294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灯片编号占位符 5">
            <a:extLst>
              <a:ext uri="{FF2B5EF4-FFF2-40B4-BE49-F238E27FC236}">
                <a16:creationId xmlns:a16="http://schemas.microsoft.com/office/drawing/2014/main" id="{3558F14C-64CB-4F88-AFF8-AB0B4D90A2A7}"/>
              </a:ext>
            </a:extLst>
          </p:cNvPr>
          <p:cNvSpPr>
            <a:spLocks noGrp="1"/>
          </p:cNvSpPr>
          <p:nvPr userDrawn="1">
            <p:ph type="sldNum" sz="quarter" idx="4"/>
          </p:nvPr>
        </p:nvSpPr>
        <p:spPr>
          <a:xfrm>
            <a:off x="9448800" y="64992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/20</a:t>
            </a:r>
            <a:endParaRPr lang="zh-CN" altLang="en-US" dirty="0"/>
          </a:p>
        </p:txBody>
      </p:sp>
    </p:spTree>
    <p:extLst>
      <p:ext uri="{BB962C8B-B14F-4D97-AF65-F5344CB8AC3E}">
        <p14:creationId xmlns:p14="http://schemas.microsoft.com/office/powerpoint/2010/main" val="171009755"/>
      </p:ext>
    </p:extLst>
  </p:cSld>
  <p:clrMap bg1="lt1" tx1="dk1" bg2="lt2" tx2="dk2" accent1="accent1" accent2="accent2" accent3="accent3" accent4="accent4" accent5="accent5" accent6="accent6" hlink="hlink" folHlink="folHlink"/>
  <p:sldLayoutIdLst>
    <p:sldLayoutId id="2147483655" r:id="rId1"/>
    <p:sldLayoutId id="2147483661" r:id="rId2"/>
    <p:sldLayoutId id="2147483660" r:id="rId3"/>
    <p:sldLayoutId id="2147483662" r:id="rId4"/>
    <p:sldLayoutId id="2147483702" r:id="rId5"/>
    <p:sldLayoutId id="2147483663" r:id="rId6"/>
    <p:sldLayoutId id="2147483703" r:id="rId7"/>
    <p:sldLayoutId id="2147483664" r:id="rId8"/>
    <p:sldLayoutId id="2147483649" r:id="rId9"/>
    <p:sldLayoutId id="2147483650" r:id="rId10"/>
    <p:sldLayoutId id="2147483651" r:id="rId11"/>
    <p:sldLayoutId id="2147483652" r:id="rId12"/>
    <p:sldLayoutId id="2147483653" r:id="rId13"/>
    <p:sldLayoutId id="2147483654" r:id="rId14"/>
    <p:sldLayoutId id="2147483656" r:id="rId15"/>
    <p:sldLayoutId id="2147483657" r:id="rId16"/>
    <p:sldLayoutId id="2147483658" r:id="rId17"/>
    <p:sldLayoutId id="2147483659"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t="-2000" b="-2000"/>
          </a:stretch>
        </a:blip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5ACF6331-42CF-49B5-93BA-B5EACB963342}"/>
              </a:ext>
            </a:extLst>
          </p:cNvPr>
          <p:cNvSpPr/>
          <p:nvPr userDrawn="1"/>
        </p:nvSpPr>
        <p:spPr>
          <a:xfrm rot="16200000">
            <a:off x="5645523" y="-5645523"/>
            <a:ext cx="900954"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3" name="矩形 12">
            <a:extLst>
              <a:ext uri="{FF2B5EF4-FFF2-40B4-BE49-F238E27FC236}">
                <a16:creationId xmlns:a16="http://schemas.microsoft.com/office/drawing/2014/main" id="{AA906814-CB77-42CE-8722-740E4FA37C6F}"/>
              </a:ext>
            </a:extLst>
          </p:cNvPr>
          <p:cNvSpPr/>
          <p:nvPr userDrawn="1"/>
        </p:nvSpPr>
        <p:spPr>
          <a:xfrm rot="5400000">
            <a:off x="5731669" y="406904"/>
            <a:ext cx="728662"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73082670"/>
      </p:ext>
    </p:extLst>
  </p:cSld>
  <p:clrMap bg1="lt1" tx1="dk1" bg2="lt2" tx2="dk2" accent1="accent1" accent2="accent2" accent3="accent3" accent4="accent4" accent5="accent5" accent6="accent6" hlink="hlink" folHlink="folHlink"/>
  <p:sldLayoutIdLst>
    <p:sldLayoutId id="2147483675" r:id="rId1"/>
    <p:sldLayoutId id="2147483700" r:id="rId2"/>
    <p:sldLayoutId id="214748370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525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49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7610BAA-95D3-4B7B-9AB3-70E9E7E509A6}"/>
              </a:ext>
            </a:extLst>
          </p:cNvPr>
          <p:cNvSpPr/>
          <p:nvPr/>
        </p:nvSpPr>
        <p:spPr>
          <a:xfrm>
            <a:off x="0" y="599746"/>
            <a:ext cx="12158444" cy="1569660"/>
          </a:xfrm>
          <a:prstGeom prst="rect">
            <a:avLst/>
          </a:prstGeom>
        </p:spPr>
        <p:txBody>
          <a:bodyPr wrap="square">
            <a:spAutoFit/>
          </a:bodyPr>
          <a:lstStyle/>
          <a:p>
            <a:pPr marL="0" lvl="1"/>
            <a:r>
              <a:rPr lang="zh-CN" altLang="en-US" sz="2400" b="1" dirty="0">
                <a:solidFill>
                  <a:srgbClr val="FF0000"/>
                </a:solidFill>
                <a:latin typeface="隶书" pitchFamily="49" charset="-122"/>
              </a:rPr>
              <a:t>结构化程序设计</a:t>
            </a:r>
            <a:r>
              <a:rPr lang="zh-CN" altLang="en-US" sz="2400" b="1" dirty="0">
                <a:latin typeface="隶书" pitchFamily="49" charset="-122"/>
              </a:rPr>
              <a:t>：根据程序要解决问题的复杂程度，将一个规模较大的程序功能采用自顶向下、逐步细化的设计方法，划分为若干个功能模块，每一个功能模块又可以继续分为若干个更小的子功能模块，最后再将这些一个个子功能模块像搭积木一样组合起来实现程序的全部功能。在</a:t>
            </a:r>
            <a:r>
              <a:rPr lang="en-US" altLang="zh-CN" sz="2400" b="1" dirty="0">
                <a:latin typeface="隶书" pitchFamily="49" charset="-122"/>
              </a:rPr>
              <a:t>C</a:t>
            </a:r>
            <a:r>
              <a:rPr lang="zh-CN" altLang="en-US" sz="2400" b="1" dirty="0">
                <a:latin typeface="隶书" pitchFamily="49" charset="-122"/>
              </a:rPr>
              <a:t>语言中，这些一个个子功能模块是通过函数来实现的。</a:t>
            </a:r>
            <a:endParaRPr lang="en-US" altLang="zh-CN" sz="2400" b="1" dirty="0">
              <a:latin typeface="隶书" pitchFamily="49" charset="-122"/>
            </a:endParaRPr>
          </a:p>
        </p:txBody>
      </p:sp>
      <p:sp>
        <p:nvSpPr>
          <p:cNvPr id="4" name="矩形 3">
            <a:extLst>
              <a:ext uri="{FF2B5EF4-FFF2-40B4-BE49-F238E27FC236}">
                <a16:creationId xmlns:a16="http://schemas.microsoft.com/office/drawing/2014/main" id="{41A9BD30-7E6B-46DA-840C-3ACCD8FFFA2E}"/>
              </a:ext>
            </a:extLst>
          </p:cNvPr>
          <p:cNvSpPr/>
          <p:nvPr/>
        </p:nvSpPr>
        <p:spPr>
          <a:xfrm>
            <a:off x="4138" y="2387154"/>
            <a:ext cx="12158444" cy="461665"/>
          </a:xfrm>
          <a:prstGeom prst="rect">
            <a:avLst/>
          </a:prstGeom>
        </p:spPr>
        <p:txBody>
          <a:bodyPr wrap="square">
            <a:spAutoFit/>
          </a:bodyPr>
          <a:lstStyle/>
          <a:p>
            <a:pPr marL="0" lvl="1"/>
            <a:r>
              <a:rPr lang="zh-CN" altLang="en-US" sz="2400" b="1" dirty="0">
                <a:solidFill>
                  <a:srgbClr val="FF0000"/>
                </a:solidFill>
                <a:latin typeface="隶书" pitchFamily="49" charset="-122"/>
              </a:rPr>
              <a:t>函数</a:t>
            </a:r>
            <a:r>
              <a:rPr lang="zh-CN" altLang="en-US" sz="2400" b="1" dirty="0">
                <a:latin typeface="隶书" pitchFamily="49" charset="-122"/>
              </a:rPr>
              <a:t>是用来</a:t>
            </a:r>
            <a:r>
              <a:rPr lang="zh-CN" altLang="en-US" sz="2400" b="1" dirty="0">
                <a:solidFill>
                  <a:srgbClr val="00B0F0"/>
                </a:solidFill>
                <a:latin typeface="隶书" pitchFamily="49" charset="-122"/>
              </a:rPr>
              <a:t>完成某个特定功能</a:t>
            </a:r>
            <a:r>
              <a:rPr lang="zh-CN" altLang="en-US" sz="2400" b="1" dirty="0">
                <a:latin typeface="隶书" pitchFamily="49" charset="-122"/>
              </a:rPr>
              <a:t>的、</a:t>
            </a:r>
            <a:r>
              <a:rPr lang="zh-CN" altLang="en-US" sz="2400" b="1" dirty="0">
                <a:solidFill>
                  <a:srgbClr val="00B0F0"/>
                </a:solidFill>
                <a:latin typeface="隶书" pitchFamily="49" charset="-122"/>
              </a:rPr>
              <a:t>可以被重复使用</a:t>
            </a:r>
            <a:r>
              <a:rPr lang="zh-CN" altLang="en-US" sz="2400" b="1" dirty="0">
                <a:latin typeface="隶书" pitchFamily="49" charset="-122"/>
              </a:rPr>
              <a:t>的程序段。</a:t>
            </a:r>
            <a:endParaRPr lang="en-US" altLang="zh-CN" sz="2400" b="1" dirty="0">
              <a:latin typeface="隶书" pitchFamily="49" charset="-122"/>
            </a:endParaRPr>
          </a:p>
        </p:txBody>
      </p:sp>
      <p:sp>
        <p:nvSpPr>
          <p:cNvPr id="5" name="矩形 4">
            <a:extLst>
              <a:ext uri="{FF2B5EF4-FFF2-40B4-BE49-F238E27FC236}">
                <a16:creationId xmlns:a16="http://schemas.microsoft.com/office/drawing/2014/main" id="{BE32B5BE-71CA-4A61-A954-1A6CFC97F40F}"/>
              </a:ext>
            </a:extLst>
          </p:cNvPr>
          <p:cNvSpPr/>
          <p:nvPr/>
        </p:nvSpPr>
        <p:spPr>
          <a:xfrm>
            <a:off x="33556" y="3154539"/>
            <a:ext cx="12158444" cy="1200329"/>
          </a:xfrm>
          <a:prstGeom prst="rect">
            <a:avLst/>
          </a:prstGeom>
        </p:spPr>
        <p:txBody>
          <a:bodyPr wrap="square">
            <a:spAutoFit/>
          </a:bodyPr>
          <a:lstStyle/>
          <a:p>
            <a:pPr marL="0" lvl="1"/>
            <a:r>
              <a:rPr lang="zh-CN" altLang="en-US" sz="2400" b="1" dirty="0">
                <a:latin typeface="隶书" pitchFamily="49" charset="-122"/>
              </a:rPr>
              <a:t>函数是</a:t>
            </a:r>
            <a:r>
              <a:rPr lang="en-US" altLang="zh-CN" sz="2400" b="1" dirty="0">
                <a:latin typeface="隶书" pitchFamily="49" charset="-122"/>
              </a:rPr>
              <a:t>C</a:t>
            </a:r>
            <a:r>
              <a:rPr lang="zh-CN" altLang="en-US" sz="2400" b="1" dirty="0">
                <a:latin typeface="隶书" pitchFamily="49" charset="-122"/>
              </a:rPr>
              <a:t>语言程序的基本组成部分，一个</a:t>
            </a:r>
            <a:r>
              <a:rPr lang="en-US" altLang="zh-CN" sz="2400" b="1" dirty="0">
                <a:latin typeface="隶书" pitchFamily="49" charset="-122"/>
              </a:rPr>
              <a:t>C</a:t>
            </a:r>
            <a:r>
              <a:rPr lang="zh-CN" altLang="en-US" sz="2400" b="1" dirty="0">
                <a:latin typeface="隶书" pitchFamily="49" charset="-122"/>
              </a:rPr>
              <a:t>语言程序的完整功能是通过</a:t>
            </a:r>
            <a:r>
              <a:rPr lang="en-US" altLang="zh-CN" sz="2400" b="1" dirty="0">
                <a:latin typeface="隶书" pitchFamily="49" charset="-122"/>
              </a:rPr>
              <a:t>main</a:t>
            </a:r>
            <a:r>
              <a:rPr lang="zh-CN" altLang="en-US" sz="2400" b="1" dirty="0">
                <a:latin typeface="隶书" pitchFamily="49" charset="-122"/>
              </a:rPr>
              <a:t>函数来实现的。但是当程序要处理的问题比较复杂时，需要将</a:t>
            </a:r>
            <a:r>
              <a:rPr lang="en-US" altLang="zh-CN" sz="2400" b="1" dirty="0">
                <a:latin typeface="隶书" pitchFamily="49" charset="-122"/>
              </a:rPr>
              <a:t>main</a:t>
            </a:r>
            <a:r>
              <a:rPr lang="zh-CN" altLang="en-US" sz="2400" b="1" dirty="0">
                <a:latin typeface="隶书" pitchFamily="49" charset="-122"/>
              </a:rPr>
              <a:t>函数实现的功能进一步分解为一个个函数来实现，最终通过在</a:t>
            </a:r>
            <a:r>
              <a:rPr lang="en-US" altLang="zh-CN" sz="2400" b="1" dirty="0">
                <a:latin typeface="隶书" pitchFamily="49" charset="-122"/>
              </a:rPr>
              <a:t>main</a:t>
            </a:r>
            <a:r>
              <a:rPr lang="zh-CN" altLang="en-US" sz="2400" b="1" dirty="0">
                <a:latin typeface="隶书" pitchFamily="49" charset="-122"/>
              </a:rPr>
              <a:t>函数中调用这些函数来实现程序的复杂功能。</a:t>
            </a:r>
            <a:endParaRPr lang="en-US" altLang="zh-CN" sz="2400" b="1" dirty="0">
              <a:latin typeface="隶书" pitchFamily="49" charset="-122"/>
            </a:endParaRPr>
          </a:p>
        </p:txBody>
      </p:sp>
      <p:sp>
        <p:nvSpPr>
          <p:cNvPr id="6" name="矩形 5">
            <a:extLst>
              <a:ext uri="{FF2B5EF4-FFF2-40B4-BE49-F238E27FC236}">
                <a16:creationId xmlns:a16="http://schemas.microsoft.com/office/drawing/2014/main" id="{3E295A10-9DBD-4C75-9045-FE415CFD2F2E}"/>
              </a:ext>
            </a:extLst>
          </p:cNvPr>
          <p:cNvSpPr/>
          <p:nvPr/>
        </p:nvSpPr>
        <p:spPr>
          <a:xfrm>
            <a:off x="8728" y="4621854"/>
            <a:ext cx="12158444" cy="1200329"/>
          </a:xfrm>
          <a:prstGeom prst="rect">
            <a:avLst/>
          </a:prstGeom>
        </p:spPr>
        <p:txBody>
          <a:bodyPr wrap="square">
            <a:spAutoFit/>
          </a:bodyPr>
          <a:lstStyle/>
          <a:p>
            <a:pPr marL="0" lvl="1"/>
            <a:r>
              <a:rPr lang="zh-CN" altLang="en-US" sz="2400" b="1" dirty="0">
                <a:latin typeface="隶书" pitchFamily="49" charset="-122"/>
              </a:rPr>
              <a:t>从程序员的角度来看，</a:t>
            </a:r>
            <a:r>
              <a:rPr lang="en-US" altLang="zh-CN" sz="2400" b="1" dirty="0">
                <a:latin typeface="隶书" pitchFamily="49" charset="-122"/>
              </a:rPr>
              <a:t>C</a:t>
            </a:r>
            <a:r>
              <a:rPr lang="zh-CN" altLang="en-US" sz="2400" b="1" dirty="0">
                <a:latin typeface="隶书" pitchFamily="49" charset="-122"/>
              </a:rPr>
              <a:t>语言中的</a:t>
            </a:r>
            <a:r>
              <a:rPr lang="zh-CN" altLang="en-US" sz="2400" b="1" dirty="0">
                <a:solidFill>
                  <a:srgbClr val="FF0000"/>
                </a:solidFill>
                <a:latin typeface="隶书" pitchFamily="49" charset="-122"/>
              </a:rPr>
              <a:t>函数分为标准库函数和自定义函数</a:t>
            </a:r>
            <a:r>
              <a:rPr lang="zh-CN" altLang="en-US" sz="2400" b="1" dirty="0">
                <a:latin typeface="隶书" pitchFamily="49" charset="-122"/>
              </a:rPr>
              <a:t>。</a:t>
            </a:r>
            <a:endParaRPr lang="en-US" altLang="zh-CN" sz="2400" b="1" dirty="0">
              <a:latin typeface="隶书" pitchFamily="49" charset="-122"/>
            </a:endParaRPr>
          </a:p>
          <a:p>
            <a:pPr marL="0" lvl="1"/>
            <a:r>
              <a:rPr lang="zh-CN" altLang="en-US" sz="2400" b="1" dirty="0">
                <a:solidFill>
                  <a:srgbClr val="00B0F0"/>
                </a:solidFill>
                <a:latin typeface="隶书" pitchFamily="49" charset="-122"/>
              </a:rPr>
              <a:t>标准库函数</a:t>
            </a:r>
            <a:r>
              <a:rPr lang="zh-CN" altLang="en-US" sz="2400" b="1" dirty="0">
                <a:latin typeface="隶书" pitchFamily="49" charset="-122"/>
              </a:rPr>
              <a:t>：由</a:t>
            </a:r>
            <a:r>
              <a:rPr lang="en-US" altLang="zh-CN" sz="2400" b="1" dirty="0">
                <a:latin typeface="隶书" pitchFamily="49" charset="-122"/>
              </a:rPr>
              <a:t>C</a:t>
            </a:r>
            <a:r>
              <a:rPr lang="zh-CN" altLang="en-US" sz="2400" b="1" dirty="0">
                <a:latin typeface="隶书" pitchFamily="49" charset="-122"/>
              </a:rPr>
              <a:t>语言系统提供的一系列实现通用的特定功能的函数集合。</a:t>
            </a:r>
            <a:endParaRPr lang="en-US" altLang="zh-CN" sz="2400" b="1" dirty="0">
              <a:latin typeface="隶书" pitchFamily="49" charset="-122"/>
            </a:endParaRPr>
          </a:p>
          <a:p>
            <a:pPr marL="0" lvl="1"/>
            <a:r>
              <a:rPr lang="zh-CN" altLang="en-US" sz="2400" b="1" dirty="0">
                <a:solidFill>
                  <a:srgbClr val="00B0F0"/>
                </a:solidFill>
                <a:latin typeface="隶书" pitchFamily="49" charset="-122"/>
              </a:rPr>
              <a:t>自定义函数</a:t>
            </a:r>
            <a:r>
              <a:rPr lang="zh-CN" altLang="en-US" sz="2400" b="1" dirty="0">
                <a:latin typeface="隶书" pitchFamily="49" charset="-122"/>
              </a:rPr>
              <a:t>：由程序员根据实际功能需要定义并编写的全部实现代码。</a:t>
            </a:r>
            <a:endParaRPr lang="en-US" altLang="zh-CN" sz="2400" b="1" dirty="0">
              <a:latin typeface="隶书" pitchFamily="49" charset="-122"/>
            </a:endParaRPr>
          </a:p>
        </p:txBody>
      </p:sp>
      <p:sp>
        <p:nvSpPr>
          <p:cNvPr id="7" name="灯片编号占位符 6">
            <a:extLst>
              <a:ext uri="{FF2B5EF4-FFF2-40B4-BE49-F238E27FC236}">
                <a16:creationId xmlns:a16="http://schemas.microsoft.com/office/drawing/2014/main" id="{96492368-559D-4CAB-9648-C61E8D26406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48984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DAE451F-EB33-48BD-98A6-123CFF4A8E98}"/>
              </a:ext>
            </a:extLst>
          </p:cNvPr>
          <p:cNvSpPr txBox="1"/>
          <p:nvPr/>
        </p:nvSpPr>
        <p:spPr>
          <a:xfrm>
            <a:off x="344175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85C122C2-D776-4EE8-97F9-40F35A259B94}"/>
              </a:ext>
            </a:extLst>
          </p:cNvPr>
          <p:cNvSpPr/>
          <p:nvPr/>
        </p:nvSpPr>
        <p:spPr>
          <a:xfrm>
            <a:off x="16778" y="578901"/>
            <a:ext cx="12158444" cy="830997"/>
          </a:xfrm>
          <a:prstGeom prst="rect">
            <a:avLst/>
          </a:prstGeom>
        </p:spPr>
        <p:txBody>
          <a:bodyPr wrap="square">
            <a:spAutoFit/>
          </a:bodyPr>
          <a:lstStyle/>
          <a:p>
            <a:pPr marL="0" lvl="1"/>
            <a:r>
              <a:rPr lang="zh-CN" altLang="en-US" sz="2400" b="1" dirty="0">
                <a:latin typeface="隶书" pitchFamily="49" charset="-122"/>
              </a:rPr>
              <a:t>对于</a:t>
            </a:r>
            <a:r>
              <a:rPr lang="zh-CN" altLang="en-US" sz="2400" b="1" dirty="0">
                <a:solidFill>
                  <a:srgbClr val="00B0F0"/>
                </a:solidFill>
                <a:latin typeface="隶书" pitchFamily="49" charset="-122"/>
              </a:rPr>
              <a:t>用户自定义函数</a:t>
            </a:r>
            <a:r>
              <a:rPr lang="zh-CN" altLang="en-US" sz="2400" b="1" dirty="0">
                <a:latin typeface="隶书" pitchFamily="49" charset="-122"/>
              </a:rPr>
              <a:t>，</a:t>
            </a:r>
            <a:r>
              <a:rPr lang="zh-CN" altLang="en-US" sz="2400" b="1" dirty="0">
                <a:solidFill>
                  <a:srgbClr val="FF0000"/>
                </a:solidFill>
                <a:latin typeface="隶书" pitchFamily="49" charset="-122"/>
              </a:rPr>
              <a:t>函数的定义</a:t>
            </a:r>
            <a:r>
              <a:rPr lang="zh-CN" altLang="en-US" sz="2400" b="1" dirty="0">
                <a:latin typeface="隶书" pitchFamily="49" charset="-122"/>
              </a:rPr>
              <a:t>是指根据函数要实现的功能完整地给出函数的实现细节，然后通过在主函数</a:t>
            </a:r>
            <a:r>
              <a:rPr lang="en-US" altLang="zh-CN" sz="2400" b="1" dirty="0">
                <a:latin typeface="隶书" pitchFamily="49" charset="-122"/>
              </a:rPr>
              <a:t>main</a:t>
            </a:r>
            <a:r>
              <a:rPr lang="zh-CN" altLang="en-US" sz="2400" b="1" dirty="0">
                <a:latin typeface="隶书" pitchFamily="49" charset="-122"/>
              </a:rPr>
              <a:t>中调用该函数来实现程序要完成的功能。</a:t>
            </a:r>
            <a:endParaRPr lang="en-US" altLang="zh-CN" sz="2400" b="1" dirty="0">
              <a:latin typeface="隶书" pitchFamily="49" charset="-122"/>
            </a:endParaRPr>
          </a:p>
        </p:txBody>
      </p:sp>
      <p:sp>
        <p:nvSpPr>
          <p:cNvPr id="5" name="矩形 4">
            <a:extLst>
              <a:ext uri="{FF2B5EF4-FFF2-40B4-BE49-F238E27FC236}">
                <a16:creationId xmlns:a16="http://schemas.microsoft.com/office/drawing/2014/main" id="{12BA62CE-7BC5-4DCD-932D-A6876D54DD87}"/>
              </a:ext>
            </a:extLst>
          </p:cNvPr>
          <p:cNvSpPr/>
          <p:nvPr/>
        </p:nvSpPr>
        <p:spPr>
          <a:xfrm>
            <a:off x="16778" y="1509851"/>
            <a:ext cx="12158444" cy="1200329"/>
          </a:xfrm>
          <a:prstGeom prst="rect">
            <a:avLst/>
          </a:prstGeom>
        </p:spPr>
        <p:txBody>
          <a:bodyPr wrap="square">
            <a:spAutoFit/>
          </a:bodyPr>
          <a:lstStyle/>
          <a:p>
            <a:pPr marL="0" lvl="1"/>
            <a:r>
              <a:rPr lang="zh-CN" altLang="en-US" sz="2400" b="1" dirty="0">
                <a:solidFill>
                  <a:srgbClr val="FF0000"/>
                </a:solidFill>
                <a:latin typeface="隶书" pitchFamily="49" charset="-122"/>
              </a:rPr>
              <a:t>函数的定义</a:t>
            </a:r>
            <a:r>
              <a:rPr lang="zh-CN" altLang="en-US" sz="2400" b="1" dirty="0">
                <a:latin typeface="隶书" pitchFamily="49" charset="-122"/>
              </a:rPr>
              <a:t>包括</a:t>
            </a:r>
            <a:r>
              <a:rPr lang="zh-CN" altLang="en-US" sz="2400" b="1" dirty="0">
                <a:solidFill>
                  <a:srgbClr val="00B0F0"/>
                </a:solidFill>
                <a:latin typeface="隶书" pitchFamily="49" charset="-122"/>
              </a:rPr>
              <a:t>函数头</a:t>
            </a:r>
            <a:r>
              <a:rPr lang="zh-CN" altLang="en-US" sz="2400" b="1" dirty="0">
                <a:latin typeface="隶书" pitchFamily="49" charset="-122"/>
              </a:rPr>
              <a:t>和</a:t>
            </a:r>
            <a:r>
              <a:rPr lang="zh-CN" altLang="en-US" sz="2400" b="1" dirty="0">
                <a:solidFill>
                  <a:srgbClr val="00B0F0"/>
                </a:solidFill>
                <a:latin typeface="隶书" pitchFamily="49" charset="-122"/>
              </a:rPr>
              <a:t>函数体</a:t>
            </a:r>
            <a:r>
              <a:rPr lang="zh-CN" altLang="en-US" sz="2400" b="1" dirty="0">
                <a:latin typeface="隶书" pitchFamily="49" charset="-122"/>
              </a:rPr>
              <a:t>两部分：</a:t>
            </a:r>
            <a:endParaRPr lang="en-US" altLang="zh-CN" sz="2400" b="1" dirty="0">
              <a:latin typeface="隶书" pitchFamily="49" charset="-122"/>
            </a:endParaRPr>
          </a:p>
          <a:p>
            <a:pPr marL="0" lvl="1"/>
            <a:r>
              <a:rPr lang="zh-CN" altLang="en-US" sz="2400" b="1" dirty="0">
                <a:latin typeface="隶书" pitchFamily="49" charset="-122"/>
              </a:rPr>
              <a:t>    </a:t>
            </a:r>
            <a:r>
              <a:rPr lang="zh-CN" altLang="en-US" sz="2400" b="1" dirty="0">
                <a:solidFill>
                  <a:srgbClr val="FF0000"/>
                </a:solidFill>
                <a:latin typeface="隶书" pitchFamily="49" charset="-122"/>
              </a:rPr>
              <a:t>函数头</a:t>
            </a:r>
            <a:r>
              <a:rPr lang="zh-CN" altLang="en-US" sz="2400" b="1" dirty="0">
                <a:latin typeface="隶书" pitchFamily="49" charset="-122"/>
              </a:rPr>
              <a:t>：函数的</a:t>
            </a:r>
            <a:r>
              <a:rPr lang="zh-CN" altLang="en-US" sz="2400" b="1" dirty="0">
                <a:solidFill>
                  <a:srgbClr val="0070C0"/>
                </a:solidFill>
                <a:latin typeface="隶书" pitchFamily="49" charset="-122"/>
              </a:rPr>
              <a:t>名称</a:t>
            </a:r>
            <a:r>
              <a:rPr lang="zh-CN" altLang="en-US" sz="2400" b="1" dirty="0">
                <a:latin typeface="隶书" pitchFamily="49" charset="-122"/>
              </a:rPr>
              <a:t>、</a:t>
            </a:r>
            <a:r>
              <a:rPr lang="zh-CN" altLang="en-US" sz="2400" b="1" dirty="0">
                <a:solidFill>
                  <a:srgbClr val="0070C0"/>
                </a:solidFill>
                <a:latin typeface="隶书" pitchFamily="49" charset="-122"/>
              </a:rPr>
              <a:t>参数</a:t>
            </a:r>
            <a:r>
              <a:rPr lang="zh-CN" altLang="en-US" sz="2400" b="1" dirty="0">
                <a:latin typeface="隶书" pitchFamily="49" charset="-122"/>
              </a:rPr>
              <a:t>、</a:t>
            </a:r>
            <a:r>
              <a:rPr lang="zh-CN" altLang="en-US" sz="2400" b="1" dirty="0">
                <a:solidFill>
                  <a:srgbClr val="0070C0"/>
                </a:solidFill>
                <a:latin typeface="隶书" pitchFamily="49" charset="-122"/>
              </a:rPr>
              <a:t>返回值类型</a:t>
            </a:r>
            <a:endParaRPr lang="en-US" altLang="zh-CN" sz="2400" b="1" dirty="0">
              <a:solidFill>
                <a:srgbClr val="0070C0"/>
              </a:solidFill>
              <a:latin typeface="隶书" pitchFamily="49" charset="-122"/>
            </a:endParaRPr>
          </a:p>
          <a:p>
            <a:pPr marL="0" lvl="1"/>
            <a:r>
              <a:rPr lang="zh-CN" altLang="en-US" sz="2400" b="1" dirty="0">
                <a:latin typeface="隶书" pitchFamily="49" charset="-122"/>
              </a:rPr>
              <a:t>    </a:t>
            </a:r>
            <a:r>
              <a:rPr lang="zh-CN" altLang="en-US" sz="2400" b="1" dirty="0">
                <a:solidFill>
                  <a:srgbClr val="FF0000"/>
                </a:solidFill>
                <a:latin typeface="隶书" pitchFamily="49" charset="-122"/>
              </a:rPr>
              <a:t>函数体</a:t>
            </a:r>
            <a:r>
              <a:rPr lang="zh-CN" altLang="en-US" sz="2400" b="1" dirty="0">
                <a:latin typeface="隶书" pitchFamily="49" charset="-122"/>
              </a:rPr>
              <a:t>：由一对</a:t>
            </a:r>
            <a:r>
              <a:rPr lang="en-US" altLang="zh-CN" sz="2400" b="1" dirty="0">
                <a:solidFill>
                  <a:srgbClr val="FF0000"/>
                </a:solidFill>
                <a:latin typeface="华文宋体" panose="02010600040101010101" pitchFamily="2" charset="-122"/>
                <a:ea typeface="华文宋体" panose="02010600040101010101" pitchFamily="2" charset="-122"/>
              </a:rPr>
              <a:t>{ }</a:t>
            </a:r>
            <a:r>
              <a:rPr lang="zh-CN" altLang="en-US" sz="2400" b="1" dirty="0">
                <a:latin typeface="隶书" pitchFamily="49" charset="-122"/>
              </a:rPr>
              <a:t>括起来的实现函数要完成功能的全部</a:t>
            </a:r>
            <a:r>
              <a:rPr lang="zh-CN" altLang="en-US" sz="2400" b="1" dirty="0">
                <a:solidFill>
                  <a:srgbClr val="00B0F0"/>
                </a:solidFill>
                <a:latin typeface="隶书" pitchFamily="49" charset="-122"/>
              </a:rPr>
              <a:t>代码段</a:t>
            </a:r>
            <a:r>
              <a:rPr lang="zh-CN" altLang="en-US" sz="2400" b="1" dirty="0">
                <a:latin typeface="隶书" pitchFamily="49" charset="-122"/>
              </a:rPr>
              <a:t>。</a:t>
            </a:r>
            <a:endParaRPr lang="en-US" altLang="zh-CN" sz="2400" b="1" dirty="0">
              <a:latin typeface="隶书" pitchFamily="49" charset="-122"/>
            </a:endParaRPr>
          </a:p>
        </p:txBody>
      </p:sp>
      <p:sp>
        <p:nvSpPr>
          <p:cNvPr id="6" name="Text Box 88">
            <a:extLst>
              <a:ext uri="{FF2B5EF4-FFF2-40B4-BE49-F238E27FC236}">
                <a16:creationId xmlns:a16="http://schemas.microsoft.com/office/drawing/2014/main" id="{5D872F4D-4479-4875-A123-E0065020E2F2}"/>
              </a:ext>
            </a:extLst>
          </p:cNvPr>
          <p:cNvSpPr txBox="1">
            <a:spLocks noChangeArrowheads="1"/>
          </p:cNvSpPr>
          <p:nvPr/>
        </p:nvSpPr>
        <p:spPr bwMode="auto">
          <a:xfrm>
            <a:off x="0" y="2982243"/>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函数定义的一般形式为：</a:t>
            </a:r>
          </a:p>
        </p:txBody>
      </p:sp>
      <p:sp>
        <p:nvSpPr>
          <p:cNvPr id="7" name="Rectangle 2">
            <a:extLst>
              <a:ext uri="{FF2B5EF4-FFF2-40B4-BE49-F238E27FC236}">
                <a16:creationId xmlns:a16="http://schemas.microsoft.com/office/drawing/2014/main" id="{D86526AC-27ED-4DA3-B78F-187313111390}"/>
              </a:ext>
            </a:extLst>
          </p:cNvPr>
          <p:cNvSpPr txBox="1">
            <a:spLocks noChangeArrowheads="1"/>
          </p:cNvSpPr>
          <p:nvPr/>
        </p:nvSpPr>
        <p:spPr>
          <a:xfrm>
            <a:off x="2804706" y="3612230"/>
            <a:ext cx="5144158"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zh-CN" altLang="en-US" b="1" dirty="0">
                <a:solidFill>
                  <a:srgbClr val="0000FF"/>
                </a:solidFill>
                <a:latin typeface="华文隶书" panose="02010800040101010101" pitchFamily="2" charset="-122"/>
                <a:ea typeface="华文隶书" panose="02010800040101010101" pitchFamily="2" charset="-122"/>
              </a:rPr>
              <a:t>返回值类型 </a:t>
            </a:r>
            <a:r>
              <a:rPr lang="zh-CN" altLang="en-US" b="1" dirty="0">
                <a:latin typeface="华文中宋" panose="02010600040101010101" pitchFamily="2" charset="-122"/>
                <a:ea typeface="华文中宋" panose="02010600040101010101" pitchFamily="2" charset="-122"/>
              </a:rPr>
              <a:t>函数名</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参数列表</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语句</a:t>
            </a:r>
            <a:r>
              <a:rPr lang="en-US" altLang="zh-CN" b="1" dirty="0">
                <a:latin typeface="华文隶书" panose="02010800040101010101" pitchFamily="2" charset="-122"/>
                <a:ea typeface="华文隶书" panose="02010800040101010101" pitchFamily="2" charset="-122"/>
              </a:rPr>
              <a:t>1</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华文隶书" panose="02010800040101010101" pitchFamily="2" charset="-122"/>
                <a:ea typeface="华文隶书" panose="02010800040101010101" pitchFamily="2" charset="-122"/>
              </a:rPr>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语句</a:t>
            </a:r>
            <a:r>
              <a:rPr lang="en-US" altLang="zh-CN" b="1" dirty="0">
                <a:latin typeface="华文隶书" panose="02010800040101010101" pitchFamily="2" charset="-122"/>
                <a:ea typeface="华文隶书" panose="02010800040101010101" pitchFamily="2" charset="-122"/>
              </a:rPr>
              <a:t>n</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zh-CN" altLang="en-US" b="1" dirty="0">
              <a:solidFill>
                <a:srgbClr val="FF0000"/>
              </a:solidFill>
            </a:endParaRPr>
          </a:p>
        </p:txBody>
      </p:sp>
      <p:sp>
        <p:nvSpPr>
          <p:cNvPr id="8" name="灯片编号占位符 7">
            <a:extLst>
              <a:ext uri="{FF2B5EF4-FFF2-40B4-BE49-F238E27FC236}">
                <a16:creationId xmlns:a16="http://schemas.microsoft.com/office/drawing/2014/main" id="{DE09810F-454C-4EA7-A520-0057E49F7B1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47381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DAE451F-EB33-48BD-98A6-123CFF4A8E98}"/>
              </a:ext>
            </a:extLst>
          </p:cNvPr>
          <p:cNvSpPr txBox="1"/>
          <p:nvPr/>
        </p:nvSpPr>
        <p:spPr>
          <a:xfrm>
            <a:off x="344175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函数的定义</a:t>
            </a:r>
            <a:endParaRPr lang="zh-CN" altLang="en-US" sz="3200" b="1" dirty="0">
              <a:solidFill>
                <a:srgbClr val="200AC4"/>
              </a:solidFill>
              <a:ea typeface="隶书" pitchFamily="49" charset="-122"/>
            </a:endParaRPr>
          </a:p>
        </p:txBody>
      </p:sp>
      <p:sp>
        <p:nvSpPr>
          <p:cNvPr id="4" name="Rectangle 2">
            <a:extLst>
              <a:ext uri="{FF2B5EF4-FFF2-40B4-BE49-F238E27FC236}">
                <a16:creationId xmlns:a16="http://schemas.microsoft.com/office/drawing/2014/main" id="{B78628C9-AF2F-4E95-82E3-A4C56A6A43DC}"/>
              </a:ext>
            </a:extLst>
          </p:cNvPr>
          <p:cNvSpPr txBox="1">
            <a:spLocks noChangeArrowheads="1"/>
          </p:cNvSpPr>
          <p:nvPr/>
        </p:nvSpPr>
        <p:spPr>
          <a:xfrm>
            <a:off x="293349" y="1198308"/>
            <a:ext cx="4278655"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factorial </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华文隶书" panose="02010800040101010101" pitchFamily="2" charset="-122"/>
                <a:ea typeface="华文隶书" panose="02010800040101010101" pitchFamily="2" charset="-122"/>
              </a:rPr>
              <a:t> n</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 = 1;</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2; i&lt;=n; i++)</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result;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zh-CN" altLang="en-US" b="1" dirty="0">
              <a:solidFill>
                <a:srgbClr val="FF0000"/>
              </a:solidFill>
            </a:endParaRPr>
          </a:p>
        </p:txBody>
      </p:sp>
      <p:sp>
        <p:nvSpPr>
          <p:cNvPr id="5" name="矩形 4">
            <a:extLst>
              <a:ext uri="{FF2B5EF4-FFF2-40B4-BE49-F238E27FC236}">
                <a16:creationId xmlns:a16="http://schemas.microsoft.com/office/drawing/2014/main" id="{FC842392-2C58-4225-A78D-4528F26F54B6}"/>
              </a:ext>
            </a:extLst>
          </p:cNvPr>
          <p:cNvSpPr/>
          <p:nvPr/>
        </p:nvSpPr>
        <p:spPr>
          <a:xfrm>
            <a:off x="16778" y="578901"/>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latin typeface="隶书" pitchFamily="49" charset="-122"/>
              </a:rPr>
              <a:t>6-1】</a:t>
            </a:r>
            <a:r>
              <a:rPr lang="zh-CN" altLang="en-US" sz="2800" b="1" dirty="0">
                <a:latin typeface="隶书" pitchFamily="49" charset="-122"/>
              </a:rPr>
              <a:t>定义一个求整数</a:t>
            </a:r>
            <a:r>
              <a:rPr lang="en-US" altLang="zh-CN" sz="2800" b="1" dirty="0">
                <a:latin typeface="隶书" pitchFamily="49" charset="-122"/>
              </a:rPr>
              <a:t>n</a:t>
            </a:r>
            <a:r>
              <a:rPr lang="zh-CN" altLang="en-US" sz="2800" b="1" dirty="0">
                <a:latin typeface="隶书" pitchFamily="49" charset="-122"/>
              </a:rPr>
              <a:t>的阶乘</a:t>
            </a:r>
            <a:r>
              <a:rPr lang="en-US" altLang="zh-CN" sz="2800" b="1" dirty="0">
                <a:latin typeface="隶书" pitchFamily="49" charset="-122"/>
              </a:rPr>
              <a:t>(n!)</a:t>
            </a:r>
            <a:r>
              <a:rPr lang="zh-CN" altLang="en-US" sz="2800" b="1" dirty="0">
                <a:latin typeface="隶书" pitchFamily="49" charset="-122"/>
              </a:rPr>
              <a:t>的函数。</a:t>
            </a:r>
            <a:endParaRPr lang="en-US" altLang="zh-CN" sz="2800" b="1" dirty="0">
              <a:latin typeface="隶书" pitchFamily="49" charset="-122"/>
            </a:endParaRPr>
          </a:p>
        </p:txBody>
      </p:sp>
      <p:sp>
        <p:nvSpPr>
          <p:cNvPr id="7" name="Text Box 88">
            <a:extLst>
              <a:ext uri="{FF2B5EF4-FFF2-40B4-BE49-F238E27FC236}">
                <a16:creationId xmlns:a16="http://schemas.microsoft.com/office/drawing/2014/main" id="{7760D04E-EBD3-4A9E-953E-0622672E3B32}"/>
              </a:ext>
            </a:extLst>
          </p:cNvPr>
          <p:cNvSpPr txBox="1">
            <a:spLocks noChangeArrowheads="1"/>
          </p:cNvSpPr>
          <p:nvPr/>
        </p:nvSpPr>
        <p:spPr bwMode="auto">
          <a:xfrm>
            <a:off x="4656749" y="1109106"/>
            <a:ext cx="7518473" cy="4588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indent="-457200"/>
            <a:r>
              <a:rPr kumimoji="1" lang="zh-CN" altLang="en-US" sz="2400" dirty="0">
                <a:solidFill>
                  <a:srgbClr val="3333FF"/>
                </a:solidFill>
                <a:latin typeface="等线" panose="02010600030101010101" pitchFamily="2" charset="-122"/>
                <a:ea typeface="等线" panose="02010600030101010101" pitchFamily="2" charset="-122"/>
              </a:rPr>
              <a:t>① </a:t>
            </a:r>
            <a:r>
              <a:rPr kumimoji="1" lang="zh-CN" altLang="en-US" sz="2400" dirty="0">
                <a:solidFill>
                  <a:srgbClr val="FF0000"/>
                </a:solidFill>
                <a:latin typeface="隶书" pitchFamily="49" charset="-122"/>
                <a:ea typeface="隶书" pitchFamily="49" charset="-122"/>
              </a:rPr>
              <a:t>函数名</a:t>
            </a:r>
            <a:r>
              <a:rPr kumimoji="1" lang="zh-CN" altLang="en-US" sz="2400" dirty="0">
                <a:solidFill>
                  <a:srgbClr val="3333FF"/>
                </a:solidFill>
                <a:latin typeface="隶书" pitchFamily="49" charset="-122"/>
                <a:ea typeface="隶书" pitchFamily="49" charset="-122"/>
              </a:rPr>
              <a:t>符合标识符命名规则</a:t>
            </a:r>
            <a:r>
              <a:rPr kumimoji="1" lang="zh-CN" altLang="en-US" sz="2400" dirty="0">
                <a:solidFill>
                  <a:srgbClr val="3333FF"/>
                </a:solidFill>
                <a:ea typeface="隶书" pitchFamily="49" charset="-122"/>
              </a:rPr>
              <a:t>，函数名表示函数在</a:t>
            </a:r>
            <a:endParaRPr kumimoji="1" lang="en-US" altLang="zh-CN" sz="2400" dirty="0">
              <a:solidFill>
                <a:srgbClr val="3333FF"/>
              </a:solidFill>
              <a:ea typeface="隶书" pitchFamily="49" charset="-122"/>
            </a:endParaRPr>
          </a:p>
          <a:p>
            <a:pPr indent="-457200"/>
            <a:r>
              <a:rPr kumimoji="1" lang="en-US" altLang="zh-CN" sz="2400" dirty="0">
                <a:solidFill>
                  <a:srgbClr val="3333FF"/>
                </a:solidFill>
                <a:ea typeface="隶书" pitchFamily="49" charset="-122"/>
              </a:rPr>
              <a:t>  </a:t>
            </a:r>
            <a:r>
              <a:rPr kumimoji="1" lang="zh-CN" altLang="en-US" sz="2400" dirty="0">
                <a:solidFill>
                  <a:srgbClr val="3333FF"/>
                </a:solidFill>
                <a:ea typeface="隶书" pitchFamily="49" charset="-122"/>
              </a:rPr>
              <a:t>  内存中的起始地址。</a:t>
            </a:r>
            <a:endParaRPr kumimoji="1" lang="en-US" altLang="zh-CN" sz="2400" dirty="0">
              <a:solidFill>
                <a:srgbClr val="3333FF"/>
              </a:solidFill>
              <a:ea typeface="隶书" pitchFamily="49" charset="-122"/>
            </a:endParaRPr>
          </a:p>
          <a:p>
            <a:r>
              <a:rPr kumimoji="1" lang="zh-CN" altLang="zh-CN" sz="2400" dirty="0">
                <a:solidFill>
                  <a:srgbClr val="3333FF"/>
                </a:solidFill>
                <a:latin typeface="等线" panose="02010600030101010101" pitchFamily="2" charset="-122"/>
                <a:ea typeface="隶书" pitchFamily="49" charset="-122"/>
              </a:rPr>
              <a:t>②</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FF0000"/>
                </a:solidFill>
                <a:latin typeface="等线" panose="02010600030101010101" pitchFamily="2" charset="-122"/>
                <a:ea typeface="隶书" pitchFamily="49" charset="-122"/>
              </a:rPr>
              <a:t>类型标识符</a:t>
            </a:r>
            <a:r>
              <a:rPr kumimoji="1" lang="zh-CN" altLang="en-US" sz="2400" dirty="0">
                <a:solidFill>
                  <a:srgbClr val="3333FF"/>
                </a:solidFill>
                <a:latin typeface="等线" panose="02010600030101010101" pitchFamily="2" charset="-122"/>
                <a:ea typeface="隶书" pitchFamily="49" charset="-122"/>
              </a:rPr>
              <a:t>为函数返回值的类型。函数可以通过</a:t>
            </a:r>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a:t>
            </a:r>
            <a:r>
              <a:rPr kumimoji="1" lang="en-US" altLang="zh-CN" sz="2400" dirty="0">
                <a:solidFill>
                  <a:srgbClr val="FF0000"/>
                </a:solidFill>
                <a:latin typeface="等线" panose="02010600030101010101" pitchFamily="2" charset="-122"/>
                <a:ea typeface="隶书" pitchFamily="49" charset="-122"/>
              </a:rPr>
              <a:t>return</a:t>
            </a:r>
            <a:r>
              <a:rPr kumimoji="1" lang="zh-CN" altLang="en-US" sz="2400" dirty="0">
                <a:solidFill>
                  <a:srgbClr val="FF0000"/>
                </a:solidFill>
                <a:latin typeface="等线" panose="02010600030101010101" pitchFamily="2" charset="-122"/>
                <a:ea typeface="隶书" pitchFamily="49" charset="-122"/>
              </a:rPr>
              <a:t>语句</a:t>
            </a:r>
            <a:r>
              <a:rPr kumimoji="1" lang="zh-CN" altLang="en-US" sz="2400" dirty="0">
                <a:solidFill>
                  <a:srgbClr val="3333FF"/>
                </a:solidFill>
                <a:latin typeface="等线" panose="02010600030101010101" pitchFamily="2" charset="-122"/>
                <a:ea typeface="隶书" pitchFamily="49" charset="-122"/>
              </a:rPr>
              <a:t>返回一个该类型的值，该值是函数运行</a:t>
            </a:r>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后得到的计算结果。</a:t>
            </a:r>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return</a:t>
            </a:r>
            <a:r>
              <a:rPr kumimoji="1" lang="zh-CN" altLang="en-US" sz="2400" dirty="0">
                <a:solidFill>
                  <a:srgbClr val="3333FF"/>
                </a:solidFill>
                <a:latin typeface="等线" panose="02010600030101010101" pitchFamily="2" charset="-122"/>
                <a:ea typeface="隶书" pitchFamily="49" charset="-122"/>
              </a:rPr>
              <a:t>语句的一般形式为：</a:t>
            </a:r>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a:t>
            </a:r>
          </a:p>
          <a:p>
            <a:endParaRPr kumimoji="1" lang="en-US" altLang="zh-CN" sz="2400" dirty="0">
              <a:solidFill>
                <a:srgbClr val="3333FF"/>
              </a:solidFill>
              <a:latin typeface="等线" panose="02010600030101010101" pitchFamily="2" charset="-122"/>
              <a:ea typeface="隶书" pitchFamily="49" charset="-122"/>
            </a:endParaRPr>
          </a:p>
          <a:p>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return </a:t>
            </a:r>
            <a:r>
              <a:rPr kumimoji="1" lang="zh-CN" altLang="en-US" sz="2400" dirty="0">
                <a:solidFill>
                  <a:srgbClr val="3333FF"/>
                </a:solidFill>
                <a:latin typeface="等线" panose="02010600030101010101" pitchFamily="2" charset="-122"/>
                <a:ea typeface="隶书" pitchFamily="49" charset="-122"/>
              </a:rPr>
              <a:t>语句后的表达式类型必须与函数类型一致，类型不一致时转换为函数返回值类型。</a:t>
            </a:r>
            <a:endParaRPr kumimoji="1" lang="en-US" altLang="zh-CN" sz="2400" dirty="0">
              <a:solidFill>
                <a:srgbClr val="3333FF"/>
              </a:solidFill>
              <a:latin typeface="等线" panose="02010600030101010101" pitchFamily="2" charset="-122"/>
              <a:ea typeface="隶书" pitchFamily="49" charset="-122"/>
            </a:endParaRPr>
          </a:p>
        </p:txBody>
      </p:sp>
      <p:pic>
        <p:nvPicPr>
          <p:cNvPr id="9" name="图片 8">
            <a:extLst>
              <a:ext uri="{FF2B5EF4-FFF2-40B4-BE49-F238E27FC236}">
                <a16:creationId xmlns:a16="http://schemas.microsoft.com/office/drawing/2014/main" id="{EE33C8FD-45ED-4149-A8A2-905BA0102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9706" y="1022577"/>
            <a:ext cx="561086" cy="558595"/>
          </a:xfrm>
          <a:prstGeom prst="rect">
            <a:avLst/>
          </a:prstGeom>
        </p:spPr>
      </p:pic>
      <p:sp>
        <p:nvSpPr>
          <p:cNvPr id="10" name="Rectangle 2">
            <a:extLst>
              <a:ext uri="{FF2B5EF4-FFF2-40B4-BE49-F238E27FC236}">
                <a16:creationId xmlns:a16="http://schemas.microsoft.com/office/drawing/2014/main" id="{6C39E2CB-182E-4BD6-93F3-93CB1E9B5CCD}"/>
              </a:ext>
            </a:extLst>
          </p:cNvPr>
          <p:cNvSpPr txBox="1">
            <a:spLocks noChangeArrowheads="1"/>
          </p:cNvSpPr>
          <p:nvPr/>
        </p:nvSpPr>
        <p:spPr>
          <a:xfrm>
            <a:off x="6803517" y="3869865"/>
            <a:ext cx="2645283" cy="89255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Times New Roman" panose="02020603050405020304" pitchFamily="18" charset="0"/>
                <a:cs typeface="Times New Roman" panose="02020603050405020304" pitchFamily="18" charset="0"/>
              </a:rPr>
              <a:t>return</a:t>
            </a:r>
            <a:r>
              <a:rPr lang="zh-CN" altLang="en-US" b="1" dirty="0">
                <a:solidFill>
                  <a:srgbClr val="0000FF"/>
                </a:solidFill>
                <a:latin typeface="Times New Roman" panose="02020603050405020304" pitchFamily="18" charset="0"/>
                <a:cs typeface="Times New Roman" panose="02020603050405020304" pitchFamily="18" charset="0"/>
              </a:rPr>
              <a:t> </a:t>
            </a:r>
            <a:r>
              <a:rPr kumimoji="1" lang="zh-CN" altLang="en-US" sz="2400" dirty="0">
                <a:latin typeface="Times New Roman" panose="02020603050405020304" pitchFamily="18" charset="0"/>
                <a:ea typeface="隶书" pitchFamily="49" charset="-122"/>
                <a:cs typeface="Times New Roman" panose="02020603050405020304" pitchFamily="18" charset="0"/>
              </a:rPr>
              <a:t>表达式</a:t>
            </a:r>
            <a:r>
              <a:rPr kumimoji="1" lang="en-US" altLang="zh-CN" sz="2400" b="1" dirty="0">
                <a:latin typeface="Times New Roman" panose="02020603050405020304" pitchFamily="18" charset="0"/>
                <a:ea typeface="隶书" pitchFamily="49" charset="-122"/>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0" indent="0">
              <a:lnSpc>
                <a:spcPct val="100000"/>
              </a:lnSpc>
              <a:spcBef>
                <a:spcPct val="0"/>
              </a:spcBef>
              <a:buClr>
                <a:schemeClr val="tx2"/>
              </a:buClr>
              <a:buSzPct val="70000"/>
              <a:buNone/>
            </a:pPr>
            <a:r>
              <a:rPr lang="en-US" altLang="zh-CN" sz="2400" b="1" dirty="0">
                <a:solidFill>
                  <a:srgbClr val="0000FF"/>
                </a:solidFill>
                <a:latin typeface="Times New Roman" panose="02020603050405020304" pitchFamily="18" charset="0"/>
                <a:cs typeface="Times New Roman" panose="02020603050405020304" pitchFamily="18" charset="0"/>
              </a:rPr>
              <a:t>return</a:t>
            </a:r>
            <a:r>
              <a:rPr lang="zh-CN" altLang="en-US" sz="2400" b="1" dirty="0">
                <a:solidFill>
                  <a:srgbClr val="0000FF"/>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ea typeface="隶书" pitchFamily="49" charset="-122"/>
                <a:cs typeface="Times New Roman" panose="02020603050405020304" pitchFamily="18" charset="0"/>
              </a:rPr>
              <a:t>表达式</a:t>
            </a:r>
            <a:r>
              <a:rPr kumimoji="1" lang="en-US" altLang="zh-CN" sz="2400" dirty="0">
                <a:solidFill>
                  <a:srgbClr val="FF0000"/>
                </a:solidFill>
                <a:latin typeface="Times New Roman" panose="02020603050405020304" pitchFamily="18" charset="0"/>
                <a:ea typeface="隶书" pitchFamily="49" charset="-122"/>
                <a:cs typeface="Times New Roman" panose="02020603050405020304" pitchFamily="18" charset="0"/>
              </a:rPr>
              <a:t>)</a:t>
            </a:r>
            <a:r>
              <a:rPr kumimoji="1" lang="en-US" altLang="zh-CN" sz="2400" b="1" dirty="0">
                <a:latin typeface="Times New Roman" panose="02020603050405020304" pitchFamily="18" charset="0"/>
                <a:ea typeface="隶书" pitchFamily="49" charset="-122"/>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A416FDD4-CC2A-46E0-91B5-2BF093E2E3F7}"/>
              </a:ext>
            </a:extLst>
          </p:cNvPr>
          <p:cNvSpPr txBox="1"/>
          <p:nvPr/>
        </p:nvSpPr>
        <p:spPr>
          <a:xfrm>
            <a:off x="5001039" y="5506893"/>
            <a:ext cx="7200943" cy="1200329"/>
          </a:xfrm>
          <a:prstGeom prst="rect">
            <a:avLst/>
          </a:prstGeom>
          <a:noFill/>
        </p:spPr>
        <p:txBody>
          <a:bodyPr wrap="square" rtlCol="0">
            <a:spAutoFit/>
          </a:bodyPr>
          <a:lstStyle/>
          <a:p>
            <a:r>
              <a:rPr kumimoji="1" lang="en-US" altLang="zh-CN" sz="2400" dirty="0">
                <a:solidFill>
                  <a:srgbClr val="FF0000"/>
                </a:solidFill>
                <a:latin typeface="等线" panose="02010600030101010101" pitchFamily="2" charset="-122"/>
                <a:ea typeface="隶书" pitchFamily="49" charset="-122"/>
              </a:rPr>
              <a:t>return </a:t>
            </a:r>
            <a:r>
              <a:rPr kumimoji="1" lang="zh-CN" altLang="en-US" sz="2400" dirty="0">
                <a:solidFill>
                  <a:srgbClr val="FF0000"/>
                </a:solidFill>
                <a:latin typeface="等线" panose="02010600030101010101" pitchFamily="2" charset="-122"/>
                <a:ea typeface="隶书" pitchFamily="49" charset="-122"/>
              </a:rPr>
              <a:t>语句的作用</a:t>
            </a:r>
            <a:r>
              <a:rPr kumimoji="1" lang="zh-CN" altLang="en-US" sz="2400" dirty="0">
                <a:solidFill>
                  <a:srgbClr val="3333FF"/>
                </a:solidFill>
                <a:latin typeface="等线" panose="02010600030101010101" pitchFamily="2" charset="-122"/>
                <a:ea typeface="隶书" pitchFamily="49" charset="-122"/>
              </a:rPr>
              <a:t>：</a:t>
            </a:r>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1</a:t>
            </a:r>
            <a:r>
              <a:rPr kumimoji="1" lang="zh-CN" altLang="en-US" sz="2400" dirty="0">
                <a:solidFill>
                  <a:srgbClr val="3333FF"/>
                </a:solidFill>
                <a:latin typeface="等线" panose="02010600030101010101" pitchFamily="2" charset="-122"/>
                <a:ea typeface="隶书" pitchFamily="49" charset="-122"/>
              </a:rPr>
              <a:t>、将表达式的值返回给调用语句；</a:t>
            </a:r>
            <a:endParaRPr kumimoji="1" lang="en-US" altLang="zh-CN" sz="2400" dirty="0">
              <a:solidFill>
                <a:srgbClr val="3333FF"/>
              </a:solidFill>
              <a:latin typeface="等线" panose="02010600030101010101" pitchFamily="2" charset="-122"/>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    2</a:t>
            </a:r>
            <a:r>
              <a:rPr kumimoji="1" lang="zh-CN" altLang="en-US" sz="2400" dirty="0">
                <a:solidFill>
                  <a:srgbClr val="3333FF"/>
                </a:solidFill>
                <a:latin typeface="等线" panose="02010600030101010101" pitchFamily="2" charset="-122"/>
                <a:ea typeface="隶书" pitchFamily="49" charset="-122"/>
              </a:rPr>
              <a:t>、终止函数的运行并返回到调用函数；  </a:t>
            </a:r>
          </a:p>
        </p:txBody>
      </p:sp>
      <p:sp>
        <p:nvSpPr>
          <p:cNvPr id="6" name="灯片编号占位符 5">
            <a:extLst>
              <a:ext uri="{FF2B5EF4-FFF2-40B4-BE49-F238E27FC236}">
                <a16:creationId xmlns:a16="http://schemas.microsoft.com/office/drawing/2014/main" id="{545B130F-F0FC-4F85-A10F-4DE46A0F7A6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15367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500"/>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10" grpId="0" animBg="1"/>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8">
            <a:extLst>
              <a:ext uri="{FF2B5EF4-FFF2-40B4-BE49-F238E27FC236}">
                <a16:creationId xmlns:a16="http://schemas.microsoft.com/office/drawing/2014/main" id="{93680FCC-A146-4CD1-92AE-AE52BFED1265}"/>
              </a:ext>
            </a:extLst>
          </p:cNvPr>
          <p:cNvSpPr txBox="1">
            <a:spLocks noChangeArrowheads="1"/>
          </p:cNvSpPr>
          <p:nvPr/>
        </p:nvSpPr>
        <p:spPr bwMode="auto">
          <a:xfrm>
            <a:off x="1" y="605076"/>
            <a:ext cx="12192000" cy="53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indent="-457200"/>
            <a:r>
              <a:rPr kumimoji="1" lang="zh-CN" altLang="en-US" sz="2400" dirty="0">
                <a:solidFill>
                  <a:srgbClr val="3333FF"/>
                </a:solidFill>
                <a:latin typeface="等线" panose="02010600030101010101" pitchFamily="2" charset="-122"/>
                <a:ea typeface="等线" panose="02010600030101010101" pitchFamily="2" charset="-122"/>
              </a:rPr>
              <a:t>③ </a:t>
            </a:r>
            <a:r>
              <a:rPr kumimoji="1" lang="zh-CN" altLang="en-US" sz="2400" dirty="0">
                <a:solidFill>
                  <a:srgbClr val="3333FF"/>
                </a:solidFill>
                <a:latin typeface="隶书" pitchFamily="49" charset="-122"/>
                <a:ea typeface="隶书" pitchFamily="49" charset="-122"/>
              </a:rPr>
              <a:t>一个函数最多只能返回一个值，也可以没有返回值，没有返回值的函数返回值类型需定义成</a:t>
            </a:r>
            <a:r>
              <a:rPr kumimoji="1" lang="en-US" altLang="zh-CN" sz="2400" b="1" dirty="0">
                <a:solidFill>
                  <a:srgbClr val="FF0000"/>
                </a:solidFill>
                <a:latin typeface="隶书" pitchFamily="49" charset="-122"/>
                <a:ea typeface="隶书" pitchFamily="49" charset="-122"/>
              </a:rPr>
              <a:t>void</a:t>
            </a:r>
            <a:r>
              <a:rPr kumimoji="1" lang="zh-CN" altLang="en-US" sz="2400" dirty="0">
                <a:solidFill>
                  <a:srgbClr val="FF0000"/>
                </a:solidFill>
                <a:latin typeface="隶书" pitchFamily="49" charset="-122"/>
                <a:ea typeface="隶书" pitchFamily="49" charset="-122"/>
              </a:rPr>
              <a:t>且不能省略</a:t>
            </a:r>
            <a:r>
              <a:rPr kumimoji="1" lang="zh-CN" altLang="en-US" sz="2400" dirty="0">
                <a:solidFill>
                  <a:srgbClr val="3333FF"/>
                </a:solidFill>
                <a:ea typeface="隶书" pitchFamily="49" charset="-122"/>
              </a:rPr>
              <a:t>。</a:t>
            </a:r>
            <a:endParaRPr kumimoji="1" lang="en-US" altLang="zh-CN" sz="2400" dirty="0">
              <a:solidFill>
                <a:srgbClr val="3333FF"/>
              </a:solidFill>
              <a:ea typeface="隶书" pitchFamily="49" charset="-122"/>
            </a:endParaRPr>
          </a:p>
          <a:p>
            <a:pPr indent="-457200"/>
            <a:endParaRPr kumimoji="1" lang="en-US" altLang="zh-CN" sz="2400" dirty="0">
              <a:solidFill>
                <a:srgbClr val="3333FF"/>
              </a:solidFill>
              <a:ea typeface="隶书" pitchFamily="49" charset="-122"/>
            </a:endParaRPr>
          </a:p>
          <a:p>
            <a:pPr indent="-457200"/>
            <a:endParaRPr kumimoji="1" lang="en-US" altLang="zh-CN" sz="2400" dirty="0">
              <a:solidFill>
                <a:srgbClr val="3333FF"/>
              </a:solidFill>
              <a:ea typeface="隶书" pitchFamily="49" charset="-122"/>
            </a:endParaRPr>
          </a:p>
          <a:p>
            <a:pPr indent="-457200"/>
            <a:endParaRPr kumimoji="1" lang="en-US" altLang="zh-CN" sz="2400" dirty="0">
              <a:solidFill>
                <a:srgbClr val="3333FF"/>
              </a:solidFill>
              <a:ea typeface="隶书" pitchFamily="49" charset="-122"/>
            </a:endParaRPr>
          </a:p>
          <a:p>
            <a:pPr indent="-457200"/>
            <a:endParaRPr kumimoji="1" lang="en-US" altLang="zh-CN" sz="2400" dirty="0">
              <a:solidFill>
                <a:srgbClr val="3333FF"/>
              </a:solidFill>
              <a:ea typeface="隶书" pitchFamily="49" charset="-122"/>
            </a:endParaRPr>
          </a:p>
          <a:p>
            <a:r>
              <a:rPr kumimoji="1" lang="en-US" altLang="zh-CN" sz="2400" dirty="0">
                <a:solidFill>
                  <a:srgbClr val="3333FF"/>
                </a:solidFill>
                <a:latin typeface="等线" panose="02010600030101010101" pitchFamily="2" charset="-122"/>
                <a:ea typeface="隶书" pitchFamily="49" charset="-122"/>
              </a:rPr>
              <a:t>④ </a:t>
            </a:r>
            <a:r>
              <a:rPr kumimoji="1" lang="zh-CN" altLang="en-US" sz="2400" dirty="0">
                <a:solidFill>
                  <a:srgbClr val="3333FF"/>
                </a:solidFill>
                <a:latin typeface="等线" panose="02010600030101010101" pitchFamily="2" charset="-122"/>
                <a:ea typeface="隶书" pitchFamily="49" charset="-122"/>
              </a:rPr>
              <a:t>声明或定义函数时的参数列表称为“</a:t>
            </a:r>
            <a:r>
              <a:rPr kumimoji="1" lang="zh-CN" altLang="en-US" sz="2400" dirty="0">
                <a:solidFill>
                  <a:srgbClr val="00B0F0"/>
                </a:solidFill>
                <a:latin typeface="等线" panose="02010600030101010101" pitchFamily="2" charset="-122"/>
                <a:ea typeface="隶书" pitchFamily="49" charset="-122"/>
              </a:rPr>
              <a:t>形式参数</a:t>
            </a:r>
            <a:r>
              <a:rPr kumimoji="1" lang="zh-CN" altLang="en-US" sz="2400" dirty="0">
                <a:solidFill>
                  <a:srgbClr val="3333FF"/>
                </a:solidFill>
                <a:latin typeface="等线" panose="02010600030101010101" pitchFamily="2" charset="-122"/>
                <a:ea typeface="隶书" pitchFamily="49" charset="-122"/>
              </a:rPr>
              <a:t>”，简称“</a:t>
            </a:r>
            <a:r>
              <a:rPr kumimoji="1" lang="zh-CN" altLang="en-US" sz="2400" dirty="0">
                <a:solidFill>
                  <a:srgbClr val="FF0000"/>
                </a:solidFill>
                <a:latin typeface="等线" panose="02010600030101010101" pitchFamily="2" charset="-122"/>
                <a:ea typeface="隶书" pitchFamily="49" charset="-122"/>
              </a:rPr>
              <a:t>形参</a:t>
            </a:r>
            <a:r>
              <a:rPr kumimoji="1" lang="zh-CN" altLang="en-US" sz="2400" dirty="0">
                <a:solidFill>
                  <a:srgbClr val="3333FF"/>
                </a:solidFill>
                <a:latin typeface="等线" panose="02010600030101010101" pitchFamily="2" charset="-122"/>
                <a:ea typeface="隶书" pitchFamily="49" charset="-122"/>
              </a:rPr>
              <a:t>”。调用函数时的参数列表称为“</a:t>
            </a:r>
            <a:r>
              <a:rPr kumimoji="1" lang="zh-CN" altLang="en-US" sz="2400" dirty="0">
                <a:solidFill>
                  <a:srgbClr val="00B0F0"/>
                </a:solidFill>
                <a:latin typeface="等线" panose="02010600030101010101" pitchFamily="2" charset="-122"/>
                <a:ea typeface="隶书" pitchFamily="49" charset="-122"/>
              </a:rPr>
              <a:t>实际参数</a:t>
            </a:r>
            <a:r>
              <a:rPr kumimoji="1" lang="zh-CN" altLang="en-US" sz="2400" dirty="0">
                <a:solidFill>
                  <a:srgbClr val="3333FF"/>
                </a:solidFill>
                <a:latin typeface="等线" panose="02010600030101010101" pitchFamily="2" charset="-122"/>
                <a:ea typeface="隶书" pitchFamily="49" charset="-122"/>
              </a:rPr>
              <a:t>”，简称“</a:t>
            </a:r>
            <a:r>
              <a:rPr kumimoji="1" lang="zh-CN" altLang="en-US" sz="2400" dirty="0">
                <a:solidFill>
                  <a:srgbClr val="FF0000"/>
                </a:solidFill>
                <a:latin typeface="等线" panose="02010600030101010101" pitchFamily="2" charset="-122"/>
                <a:ea typeface="隶书" pitchFamily="49" charset="-122"/>
              </a:rPr>
              <a:t>实参</a:t>
            </a:r>
            <a:r>
              <a:rPr kumimoji="1" lang="zh-CN" altLang="en-US" sz="2400" dirty="0">
                <a:solidFill>
                  <a:srgbClr val="3333FF"/>
                </a:solidFill>
                <a:latin typeface="等线" panose="02010600030101010101" pitchFamily="2" charset="-122"/>
                <a:ea typeface="隶书" pitchFamily="49" charset="-122"/>
              </a:rPr>
              <a:t>”。函数声明中的形参变量名可以省略不写。如果有多个形参变量用逗号隔开，每个形参变量需进行独立声明。</a:t>
            </a:r>
            <a:endParaRPr kumimoji="1" lang="en-US" altLang="zh-CN" sz="2400" dirty="0">
              <a:solidFill>
                <a:srgbClr val="3333FF"/>
              </a:solidFill>
              <a:latin typeface="等线" panose="02010600030101010101" pitchFamily="2" charset="-122"/>
              <a:ea typeface="隶书" pitchFamily="49" charset="-122"/>
            </a:endParaRPr>
          </a:p>
          <a:p>
            <a:r>
              <a:rPr kumimoji="1" lang="zh-CN" altLang="zh-CN" sz="2400" dirty="0">
                <a:solidFill>
                  <a:srgbClr val="3333FF"/>
                </a:solidFill>
                <a:latin typeface="等线" panose="02010600030101010101" pitchFamily="2" charset="-122"/>
                <a:ea typeface="隶书" pitchFamily="49" charset="-122"/>
              </a:rPr>
              <a:t>⑤</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FF0000"/>
                </a:solidFill>
                <a:latin typeface="等线" panose="02010600030101010101" pitchFamily="2" charset="-122"/>
                <a:ea typeface="隶书" pitchFamily="49" charset="-122"/>
              </a:rPr>
              <a:t>函数体</a:t>
            </a:r>
            <a:r>
              <a:rPr kumimoji="1" lang="zh-CN" altLang="en-US" sz="2400" dirty="0">
                <a:solidFill>
                  <a:srgbClr val="3333FF"/>
                </a:solidFill>
                <a:latin typeface="等线" panose="02010600030101010101" pitchFamily="2" charset="-122"/>
                <a:ea typeface="隶书" pitchFamily="49" charset="-122"/>
              </a:rPr>
              <a:t>是函数功能的具体实现部分，包括在一对花括号</a:t>
            </a:r>
            <a:r>
              <a:rPr kumimoji="1" lang="en-US" altLang="zh-CN" sz="2400" dirty="0">
                <a:solidFill>
                  <a:srgbClr val="FF0000"/>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之中。函数体内主要包括声明性语句和功能性语句，</a:t>
            </a:r>
            <a:r>
              <a:rPr kumimoji="1" lang="zh-CN" altLang="en-US" sz="2400" dirty="0">
                <a:solidFill>
                  <a:srgbClr val="FF0000"/>
                </a:solidFill>
                <a:latin typeface="等线" panose="02010600030101010101" pitchFamily="2" charset="-122"/>
                <a:ea typeface="隶书" pitchFamily="49" charset="-122"/>
              </a:rPr>
              <a:t>声明语句</a:t>
            </a:r>
            <a:r>
              <a:rPr kumimoji="1" lang="zh-CN" altLang="en-US" sz="2400" dirty="0">
                <a:solidFill>
                  <a:srgbClr val="3333FF"/>
                </a:solidFill>
                <a:latin typeface="等线" panose="02010600030101010101" pitchFamily="2" charset="-122"/>
                <a:ea typeface="隶书" pitchFamily="49" charset="-122"/>
              </a:rPr>
              <a:t>用来声明所需使用的变量，</a:t>
            </a:r>
            <a:r>
              <a:rPr kumimoji="1" lang="zh-CN" altLang="en-US" sz="2400" dirty="0">
                <a:solidFill>
                  <a:srgbClr val="FF0000"/>
                </a:solidFill>
                <a:latin typeface="等线" panose="02010600030101010101" pitchFamily="2" charset="-122"/>
                <a:ea typeface="隶书" pitchFamily="49" charset="-122"/>
              </a:rPr>
              <a:t>功能性语句</a:t>
            </a:r>
            <a:r>
              <a:rPr kumimoji="1" lang="zh-CN" altLang="en-US" sz="2400" dirty="0">
                <a:solidFill>
                  <a:srgbClr val="3333FF"/>
                </a:solidFill>
                <a:latin typeface="等线" panose="02010600030101010101" pitchFamily="2" charset="-122"/>
                <a:ea typeface="隶书" pitchFamily="49" charset="-122"/>
              </a:rPr>
              <a:t>用来实现函数的计算功能。</a:t>
            </a:r>
            <a:endParaRPr kumimoji="1" lang="en-US" altLang="zh-CN" sz="2400" dirty="0">
              <a:solidFill>
                <a:srgbClr val="3333FF"/>
              </a:solidFill>
              <a:latin typeface="等线" panose="02010600030101010101" pitchFamily="2" charset="-122"/>
              <a:ea typeface="隶书" pitchFamily="49" charset="-122"/>
            </a:endParaRPr>
          </a:p>
          <a:p>
            <a:r>
              <a:rPr kumimoji="1" lang="zh-CN" altLang="zh-CN" sz="2400" dirty="0">
                <a:solidFill>
                  <a:srgbClr val="3333FF"/>
                </a:solidFill>
                <a:latin typeface="等线" panose="02010600030101010101" pitchFamily="2" charset="-122"/>
                <a:ea typeface="隶书" pitchFamily="49" charset="-122"/>
              </a:rPr>
              <a:t>⑥</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FF0000"/>
                </a:solidFill>
                <a:latin typeface="等线" panose="02010600030101010101" pitchFamily="2" charset="-122"/>
                <a:ea typeface="隶书" pitchFamily="49" charset="-122"/>
              </a:rPr>
              <a:t>函数不能嵌套定义</a:t>
            </a:r>
            <a:r>
              <a:rPr kumimoji="1" lang="zh-CN" altLang="en-US" sz="2400" dirty="0">
                <a:solidFill>
                  <a:srgbClr val="3333FF"/>
                </a:solidFill>
                <a:latin typeface="等线" panose="02010600030101010101" pitchFamily="2" charset="-122"/>
                <a:ea typeface="隶书" pitchFamily="49" charset="-122"/>
              </a:rPr>
              <a:t>。</a:t>
            </a:r>
            <a:endParaRPr kumimoji="1" lang="en-US" altLang="zh-CN" sz="2400" dirty="0">
              <a:solidFill>
                <a:srgbClr val="3333FF"/>
              </a:solidFill>
              <a:latin typeface="等线" panose="02010600030101010101" pitchFamily="2" charset="-122"/>
              <a:ea typeface="隶书" pitchFamily="49" charset="-122"/>
            </a:endParaRPr>
          </a:p>
        </p:txBody>
      </p:sp>
      <p:pic>
        <p:nvPicPr>
          <p:cNvPr id="4" name="图片 3">
            <a:extLst>
              <a:ext uri="{FF2B5EF4-FFF2-40B4-BE49-F238E27FC236}">
                <a16:creationId xmlns:a16="http://schemas.microsoft.com/office/drawing/2014/main" id="{E99EB484-BFAA-482F-92D8-08BA383ED6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5077"/>
            <a:ext cx="486193" cy="484034"/>
          </a:xfrm>
          <a:prstGeom prst="rect">
            <a:avLst/>
          </a:prstGeom>
        </p:spPr>
      </p:pic>
      <p:sp>
        <p:nvSpPr>
          <p:cNvPr id="5" name="Rectangle 2">
            <a:extLst>
              <a:ext uri="{FF2B5EF4-FFF2-40B4-BE49-F238E27FC236}">
                <a16:creationId xmlns:a16="http://schemas.microsoft.com/office/drawing/2014/main" id="{EBA6A1B1-720F-420C-A1DF-03A09BE9821E}"/>
              </a:ext>
            </a:extLst>
          </p:cNvPr>
          <p:cNvSpPr txBox="1">
            <a:spLocks noChangeArrowheads="1"/>
          </p:cNvSpPr>
          <p:nvPr/>
        </p:nvSpPr>
        <p:spPr>
          <a:xfrm>
            <a:off x="3714736" y="1667322"/>
            <a:ext cx="4762528" cy="163121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Times New Roman" panose="02020603050405020304" pitchFamily="18" charset="0"/>
                <a:cs typeface="Times New Roman" panose="02020603050405020304" pitchFamily="18" charset="0"/>
              </a:rPr>
              <a:t>void</a:t>
            </a:r>
            <a:r>
              <a:rPr kumimoji="1" lang="en-US" altLang="zh-CN" sz="2400" b="1" dirty="0">
                <a:solidFill>
                  <a:srgbClr val="0000FF"/>
                </a:solidFill>
                <a:latin typeface="Times New Roman" panose="02020603050405020304" pitchFamily="18" charset="0"/>
                <a:ea typeface="隶书" pitchFamily="49" charset="-122"/>
                <a:cs typeface="Times New Roman" panose="02020603050405020304" pitchFamily="18" charset="0"/>
              </a:rPr>
              <a:t> </a:t>
            </a:r>
            <a:r>
              <a:rPr kumimoji="1" lang="en-US" altLang="zh-CN" sz="2400" b="1" dirty="0">
                <a:latin typeface="Times New Roman" panose="02020603050405020304" pitchFamily="18" charset="0"/>
                <a:ea typeface="隶书" pitchFamily="49" charset="-122"/>
                <a:cs typeface="Times New Roman" panose="02020603050405020304" pitchFamily="18" charset="0"/>
              </a:rPr>
              <a:t>print</a:t>
            </a:r>
            <a:r>
              <a:rPr kumimoji="1"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rPr>
              <a:t>( )</a:t>
            </a:r>
          </a:p>
          <a:p>
            <a:pPr marL="0" indent="0">
              <a:lnSpc>
                <a:spcPct val="100000"/>
              </a:lnSpc>
              <a:spcBef>
                <a:spcPct val="0"/>
              </a:spcBef>
              <a:buClr>
                <a:schemeClr val="tx2"/>
              </a:buClr>
              <a:buSzPct val="70000"/>
              <a:buFont typeface="Arial" panose="020B0604020202020204" pitchFamily="34" charset="0"/>
              <a:buNone/>
            </a:pPr>
            <a:r>
              <a:rPr kumimoji="1"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rPr>
              <a:t>{</a:t>
            </a:r>
          </a:p>
          <a:p>
            <a:pPr marL="0" indent="0">
              <a:lnSpc>
                <a:spcPct val="100000"/>
              </a:lnSpc>
              <a:spcBef>
                <a:spcPct val="0"/>
              </a:spcBef>
              <a:buClr>
                <a:schemeClr val="tx2"/>
              </a:buClr>
              <a:buSzPct val="70000"/>
              <a:buNone/>
            </a:pPr>
            <a:r>
              <a:rPr kumimoji="1" lang="en-US" altLang="zh-CN" sz="2400" b="1" dirty="0">
                <a:solidFill>
                  <a:srgbClr val="0000FF"/>
                </a:solidFill>
                <a:latin typeface="Times New Roman" panose="02020603050405020304" pitchFamily="18" charset="0"/>
                <a:ea typeface="隶书" pitchFamily="49" charset="-122"/>
                <a:cs typeface="Times New Roman" panose="02020603050405020304" pitchFamily="18" charset="0"/>
              </a:rPr>
              <a:t>       </a:t>
            </a:r>
            <a:r>
              <a:rPr kumimoji="1" lang="en-US" altLang="zh-CN" sz="2400" b="1" dirty="0">
                <a:latin typeface="Times New Roman" panose="02020603050405020304" pitchFamily="18" charset="0"/>
                <a:ea typeface="隶书" pitchFamily="49" charset="-122"/>
                <a:cs typeface="Times New Roman" panose="02020603050405020304" pitchFamily="18" charset="0"/>
              </a:rPr>
              <a:t>printf</a:t>
            </a:r>
            <a:r>
              <a:rPr kumimoji="1"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rPr>
              <a:t>(</a:t>
            </a:r>
            <a:r>
              <a:rPr lang="en-US" altLang="zh-CN" sz="2400"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kumimoji="1" lang="en-US" altLang="zh-CN" sz="2400" b="1" dirty="0">
                <a:solidFill>
                  <a:srgbClr val="00B050"/>
                </a:solidFill>
                <a:latin typeface="+mn-ea"/>
                <a:cs typeface="Times New Roman" panose="02020603050405020304" pitchFamily="18" charset="0"/>
              </a:rPr>
              <a:t>********</a:t>
            </a:r>
            <a:r>
              <a:rPr lang="en-US" altLang="zh-CN" sz="2400"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kumimoji="1"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rPr>
              <a:t>)</a:t>
            </a:r>
            <a:r>
              <a:rPr kumimoji="1" lang="en-US" altLang="zh-CN" sz="2400" b="1" dirty="0">
                <a:latin typeface="Times New Roman" panose="02020603050405020304" pitchFamily="18" charset="0"/>
                <a:ea typeface="隶书" pitchFamily="49"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kumimoji="1"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rPr>
              <a:t>}</a:t>
            </a:r>
            <a:endParaRPr lang="en-US" altLang="zh-CN" b="1" dirty="0">
              <a:solidFill>
                <a:srgbClr val="FF0000"/>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9DE8C4DE-1C14-4A5F-9283-91BBA71E318E}"/>
              </a:ext>
            </a:extLst>
          </p:cNvPr>
          <p:cNvSpPr txBox="1"/>
          <p:nvPr/>
        </p:nvSpPr>
        <p:spPr>
          <a:xfrm>
            <a:off x="344175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函数的定义</a:t>
            </a:r>
            <a:endParaRPr lang="zh-CN" altLang="en-US" sz="3200" b="1" dirty="0">
              <a:solidFill>
                <a:srgbClr val="200AC4"/>
              </a:solidFill>
              <a:ea typeface="隶书" pitchFamily="49" charset="-122"/>
            </a:endParaRPr>
          </a:p>
        </p:txBody>
      </p:sp>
      <p:sp>
        <p:nvSpPr>
          <p:cNvPr id="7" name="灯片编号占位符 6">
            <a:extLst>
              <a:ext uri="{FF2B5EF4-FFF2-40B4-BE49-F238E27FC236}">
                <a16:creationId xmlns:a16="http://schemas.microsoft.com/office/drawing/2014/main" id="{1ED0A97F-4638-4AD9-A02D-86C73C1074F1}"/>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70617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500"/>
                                        <p:tgtEl>
                                          <p:spTgt spid="3"/>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E280563-CD54-4051-A472-4E68C8829A5C}"/>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函数的声明</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38256C87-D5AF-4307-BD49-8A4319CEBAAD}"/>
              </a:ext>
            </a:extLst>
          </p:cNvPr>
          <p:cNvSpPr/>
          <p:nvPr/>
        </p:nvSpPr>
        <p:spPr>
          <a:xfrm>
            <a:off x="16778" y="578901"/>
            <a:ext cx="12158444" cy="523220"/>
          </a:xfrm>
          <a:prstGeom prst="rect">
            <a:avLst/>
          </a:prstGeom>
        </p:spPr>
        <p:txBody>
          <a:bodyPr wrap="square">
            <a:spAutoFit/>
          </a:bodyPr>
          <a:lstStyle/>
          <a:p>
            <a:pPr marL="0" lvl="1"/>
            <a:r>
              <a:rPr lang="en-US" altLang="zh-CN" sz="2800" b="1" dirty="0">
                <a:latin typeface="隶书" pitchFamily="49" charset="-122"/>
              </a:rPr>
              <a:t>C</a:t>
            </a:r>
            <a:r>
              <a:rPr lang="zh-CN" altLang="en-US" sz="2800" b="1" dirty="0">
                <a:latin typeface="隶书" pitchFamily="49" charset="-122"/>
              </a:rPr>
              <a:t>语言语法规定：函数在第一次使用之前必须进行声明。</a:t>
            </a:r>
            <a:endParaRPr lang="en-US" altLang="zh-CN" sz="2800" b="1" dirty="0">
              <a:latin typeface="隶书" pitchFamily="49" charset="-122"/>
            </a:endParaRPr>
          </a:p>
        </p:txBody>
      </p:sp>
      <p:sp>
        <p:nvSpPr>
          <p:cNvPr id="5" name="矩形 4">
            <a:extLst>
              <a:ext uri="{FF2B5EF4-FFF2-40B4-BE49-F238E27FC236}">
                <a16:creationId xmlns:a16="http://schemas.microsoft.com/office/drawing/2014/main" id="{9A2B45B0-7990-4BD8-914E-E6B49C805D96}"/>
              </a:ext>
            </a:extLst>
          </p:cNvPr>
          <p:cNvSpPr/>
          <p:nvPr/>
        </p:nvSpPr>
        <p:spPr>
          <a:xfrm>
            <a:off x="16778" y="1196518"/>
            <a:ext cx="12158444" cy="523220"/>
          </a:xfrm>
          <a:prstGeom prst="rect">
            <a:avLst/>
          </a:prstGeom>
        </p:spPr>
        <p:txBody>
          <a:bodyPr wrap="square">
            <a:spAutoFit/>
          </a:bodyPr>
          <a:lstStyle/>
          <a:p>
            <a:pPr marL="0" lvl="1"/>
            <a:r>
              <a:rPr lang="zh-CN" altLang="en-US" sz="2800" b="1" dirty="0">
                <a:solidFill>
                  <a:srgbClr val="FF0000"/>
                </a:solidFill>
                <a:latin typeface="隶书" pitchFamily="49" charset="-122"/>
              </a:rPr>
              <a:t>函数声明</a:t>
            </a:r>
            <a:r>
              <a:rPr lang="zh-CN" altLang="en-US" sz="2800" b="1" dirty="0">
                <a:latin typeface="隶书" pitchFamily="49" charset="-122"/>
              </a:rPr>
              <a:t>分为以下两种情况：</a:t>
            </a:r>
            <a:endParaRPr lang="en-US" altLang="zh-CN" sz="2800" b="1" dirty="0">
              <a:latin typeface="隶书" pitchFamily="49" charset="-122"/>
            </a:endParaRPr>
          </a:p>
        </p:txBody>
      </p:sp>
      <p:sp>
        <p:nvSpPr>
          <p:cNvPr id="6" name="Text Box 88">
            <a:extLst>
              <a:ext uri="{FF2B5EF4-FFF2-40B4-BE49-F238E27FC236}">
                <a16:creationId xmlns:a16="http://schemas.microsoft.com/office/drawing/2014/main" id="{9EA004A7-26A0-423E-9BFE-3B1E8EC6EA48}"/>
              </a:ext>
            </a:extLst>
          </p:cNvPr>
          <p:cNvSpPr txBox="1">
            <a:spLocks noChangeArrowheads="1"/>
          </p:cNvSpPr>
          <p:nvPr/>
        </p:nvSpPr>
        <p:spPr bwMode="auto">
          <a:xfrm>
            <a:off x="16778" y="1716805"/>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①</a:t>
            </a:r>
            <a:r>
              <a:rPr kumimoji="1" lang="zh-CN" altLang="en-US" sz="3200" dirty="0">
                <a:ea typeface="隶书" pitchFamily="49" charset="-122"/>
              </a:rPr>
              <a:t>库函数声明：</a:t>
            </a:r>
          </a:p>
        </p:txBody>
      </p:sp>
      <p:sp>
        <p:nvSpPr>
          <p:cNvPr id="7" name="Text Box 88">
            <a:extLst>
              <a:ext uri="{FF2B5EF4-FFF2-40B4-BE49-F238E27FC236}">
                <a16:creationId xmlns:a16="http://schemas.microsoft.com/office/drawing/2014/main" id="{F671E1AB-1553-4A00-9C48-B186F4D259C1}"/>
              </a:ext>
            </a:extLst>
          </p:cNvPr>
          <p:cNvSpPr txBox="1">
            <a:spLocks noChangeArrowheads="1"/>
          </p:cNvSpPr>
          <p:nvPr/>
        </p:nvSpPr>
        <p:spPr bwMode="auto">
          <a:xfrm>
            <a:off x="16778" y="3163805"/>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②</a:t>
            </a:r>
            <a:r>
              <a:rPr kumimoji="1" lang="zh-CN" altLang="en-US" sz="3200" dirty="0">
                <a:latin typeface="隶书" pitchFamily="49" charset="-122"/>
                <a:ea typeface="隶书" pitchFamily="49" charset="-122"/>
              </a:rPr>
              <a:t>用户自定义函数声明</a:t>
            </a:r>
            <a:r>
              <a:rPr kumimoji="1" lang="en-US" altLang="zh-CN" sz="3200" dirty="0">
                <a:latin typeface="隶书" pitchFamily="49" charset="-122"/>
                <a:ea typeface="隶书" pitchFamily="49" charset="-122"/>
              </a:rPr>
              <a:t>(</a:t>
            </a:r>
            <a:r>
              <a:rPr kumimoji="1" lang="zh-CN" altLang="en-US" sz="3200" dirty="0">
                <a:solidFill>
                  <a:srgbClr val="00B0F0"/>
                </a:solidFill>
                <a:latin typeface="隶书" pitchFamily="49" charset="-122"/>
                <a:ea typeface="隶书" pitchFamily="49" charset="-122"/>
              </a:rPr>
              <a:t>函数原型</a:t>
            </a:r>
            <a:r>
              <a:rPr kumimoji="1" lang="en-US" altLang="zh-CN" sz="3200" dirty="0">
                <a:solidFill>
                  <a:srgbClr val="00B0F0"/>
                </a:solidFill>
                <a:latin typeface="隶书" pitchFamily="49" charset="-122"/>
                <a:ea typeface="隶书" pitchFamily="49" charset="-122"/>
              </a:rPr>
              <a:t>/</a:t>
            </a:r>
            <a:r>
              <a:rPr kumimoji="1" lang="zh-CN" altLang="en-US" sz="3200" dirty="0">
                <a:solidFill>
                  <a:srgbClr val="00B0F0"/>
                </a:solidFill>
                <a:latin typeface="隶书" pitchFamily="49" charset="-122"/>
                <a:ea typeface="隶书" pitchFamily="49" charset="-122"/>
              </a:rPr>
              <a:t>接口</a:t>
            </a:r>
            <a:r>
              <a:rPr kumimoji="1" lang="en-US" altLang="zh-CN" sz="3200" dirty="0">
                <a:latin typeface="隶书" pitchFamily="49" charset="-122"/>
                <a:ea typeface="隶书" pitchFamily="49" charset="-122"/>
              </a:rPr>
              <a:t>)</a:t>
            </a:r>
            <a:r>
              <a:rPr kumimoji="1" lang="zh-CN" altLang="en-US" sz="3200" dirty="0">
                <a:ea typeface="隶书" pitchFamily="49" charset="-122"/>
              </a:rPr>
              <a:t>：</a:t>
            </a:r>
          </a:p>
        </p:txBody>
      </p:sp>
      <p:sp>
        <p:nvSpPr>
          <p:cNvPr id="8" name="Rectangle 2">
            <a:extLst>
              <a:ext uri="{FF2B5EF4-FFF2-40B4-BE49-F238E27FC236}">
                <a16:creationId xmlns:a16="http://schemas.microsoft.com/office/drawing/2014/main" id="{92C5566F-A12D-4092-AF3C-CBFB17608C89}"/>
              </a:ext>
            </a:extLst>
          </p:cNvPr>
          <p:cNvSpPr txBox="1">
            <a:spLocks noChangeArrowheads="1"/>
          </p:cNvSpPr>
          <p:nvPr/>
        </p:nvSpPr>
        <p:spPr>
          <a:xfrm>
            <a:off x="1188783" y="2305760"/>
            <a:ext cx="5701302"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en-US" altLang="zh-CN" b="1" dirty="0">
                <a:solidFill>
                  <a:srgbClr val="0070C0"/>
                </a:solidFill>
              </a:rPr>
              <a:t>include</a:t>
            </a:r>
            <a:r>
              <a:rPr lang="en-US" altLang="zh-CN" b="1" dirty="0"/>
              <a:t> </a:t>
            </a:r>
            <a:r>
              <a:rPr lang="en-US" altLang="zh-CN" b="1" dirty="0">
                <a:solidFill>
                  <a:srgbClr val="FF0000"/>
                </a:solidFill>
              </a:rPr>
              <a:t>&lt;</a:t>
            </a:r>
            <a:r>
              <a:rPr lang="zh-CN" altLang="en-US" b="1" dirty="0">
                <a:latin typeface="华文新魏" panose="02010800040101010101" pitchFamily="2" charset="-122"/>
                <a:ea typeface="华文新魏" panose="02010800040101010101" pitchFamily="2" charset="-122"/>
              </a:rPr>
              <a:t>函数所在头文件</a:t>
            </a:r>
            <a:r>
              <a:rPr lang="en-US" altLang="zh-CN" b="1" dirty="0">
                <a:solidFill>
                  <a:srgbClr val="FF0000"/>
                </a:solidFill>
              </a:rPr>
              <a:t>&gt;</a:t>
            </a:r>
            <a:endParaRPr lang="zh-CN" altLang="en-US" b="1" dirty="0">
              <a:solidFill>
                <a:srgbClr val="FF0000"/>
              </a:solidFill>
            </a:endParaRPr>
          </a:p>
        </p:txBody>
      </p:sp>
      <p:sp>
        <p:nvSpPr>
          <p:cNvPr id="10" name="Rectangle 2">
            <a:extLst>
              <a:ext uri="{FF2B5EF4-FFF2-40B4-BE49-F238E27FC236}">
                <a16:creationId xmlns:a16="http://schemas.microsoft.com/office/drawing/2014/main" id="{03A1DA20-6C3D-48CF-8718-50A555054C41}"/>
              </a:ext>
            </a:extLst>
          </p:cNvPr>
          <p:cNvSpPr txBox="1">
            <a:spLocks noChangeArrowheads="1"/>
          </p:cNvSpPr>
          <p:nvPr/>
        </p:nvSpPr>
        <p:spPr>
          <a:xfrm>
            <a:off x="1188782" y="3826430"/>
            <a:ext cx="10128927"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zh-CN" altLang="en-US" b="1" dirty="0">
                <a:solidFill>
                  <a:srgbClr val="0000FF"/>
                </a:solidFill>
                <a:latin typeface="华文隶书" panose="02010800040101010101" pitchFamily="2" charset="-122"/>
                <a:ea typeface="华文隶书" panose="02010800040101010101" pitchFamily="2" charset="-122"/>
              </a:rPr>
              <a:t>函数返回值类型 </a:t>
            </a:r>
            <a:r>
              <a:rPr lang="zh-CN" altLang="en-US" b="1" dirty="0">
                <a:latin typeface="华文中宋" panose="02010600040101010101" pitchFamily="2" charset="-122"/>
                <a:ea typeface="华文中宋" panose="02010600040101010101" pitchFamily="2" charset="-122"/>
              </a:rPr>
              <a:t>函数名</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形参列表</a:t>
            </a:r>
            <a:r>
              <a:rPr lang="en-US" altLang="zh-CN" b="1" dirty="0">
                <a:solidFill>
                  <a:srgbClr val="FF0000"/>
                </a:solidFill>
              </a:rPr>
              <a:t>)</a:t>
            </a:r>
            <a:r>
              <a:rPr lang="zh-CN" altLang="en-US" b="1" dirty="0">
                <a:solidFill>
                  <a:srgbClr val="FF0000"/>
                </a:solidFill>
              </a:rPr>
              <a:t>；</a:t>
            </a:r>
            <a:r>
              <a:rPr lang="en-US" altLang="zh-CN" sz="2400" b="1" dirty="0">
                <a:solidFill>
                  <a:srgbClr val="00B050"/>
                </a:solidFill>
              </a:rPr>
              <a:t>//</a:t>
            </a:r>
            <a:r>
              <a:rPr lang="zh-CN" altLang="en-US" sz="2400" b="1" dirty="0">
                <a:solidFill>
                  <a:srgbClr val="00B050"/>
                </a:solidFill>
              </a:rPr>
              <a:t>形参列表中的</a:t>
            </a:r>
            <a:r>
              <a:rPr lang="zh-CN" altLang="en-US" sz="2400" b="1" dirty="0">
                <a:solidFill>
                  <a:srgbClr val="FF0000"/>
                </a:solidFill>
              </a:rPr>
              <a:t>参数名可以省略</a:t>
            </a:r>
            <a:endParaRPr lang="en-US" altLang="zh-CN" b="1" dirty="0">
              <a:solidFill>
                <a:srgbClr val="FF0000"/>
              </a:solidFill>
            </a:endParaRPr>
          </a:p>
        </p:txBody>
      </p:sp>
      <p:grpSp>
        <p:nvGrpSpPr>
          <p:cNvPr id="13" name="组合 12">
            <a:extLst>
              <a:ext uri="{FF2B5EF4-FFF2-40B4-BE49-F238E27FC236}">
                <a16:creationId xmlns:a16="http://schemas.microsoft.com/office/drawing/2014/main" id="{08D41D93-16F5-4D23-AF4D-642FFE89CA9E}"/>
              </a:ext>
            </a:extLst>
          </p:cNvPr>
          <p:cNvGrpSpPr/>
          <p:nvPr/>
        </p:nvGrpSpPr>
        <p:grpSpPr>
          <a:xfrm>
            <a:off x="44898" y="4780854"/>
            <a:ext cx="12163880" cy="1441621"/>
            <a:chOff x="44898" y="4780854"/>
            <a:chExt cx="12163880" cy="1441621"/>
          </a:xfrm>
        </p:grpSpPr>
        <p:sp>
          <p:nvSpPr>
            <p:cNvPr id="11" name="Text Box 88">
              <a:extLst>
                <a:ext uri="{FF2B5EF4-FFF2-40B4-BE49-F238E27FC236}">
                  <a16:creationId xmlns:a16="http://schemas.microsoft.com/office/drawing/2014/main" id="{19986490-DEBF-4062-822D-7B35230E1ADC}"/>
                </a:ext>
              </a:extLst>
            </p:cNvPr>
            <p:cNvSpPr txBox="1">
              <a:spLocks noChangeArrowheads="1"/>
            </p:cNvSpPr>
            <p:nvPr/>
          </p:nvSpPr>
          <p:spPr bwMode="auto">
            <a:xfrm>
              <a:off x="101942" y="4835299"/>
              <a:ext cx="12106836"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zh-CN" altLang="en-US" sz="2800" dirty="0">
                  <a:solidFill>
                    <a:srgbClr val="FF0000"/>
                  </a:solidFill>
                  <a:ea typeface="隶书" pitchFamily="49" charset="-122"/>
                </a:rPr>
                <a:t>以下两种情况可以省略函数声明</a:t>
              </a:r>
              <a:endParaRPr kumimoji="1" lang="en-US" altLang="zh-CN" sz="2400" dirty="0">
                <a:solidFill>
                  <a:srgbClr val="FF0000"/>
                </a:solidFill>
                <a:ea typeface="隶书" pitchFamily="49" charset="-122"/>
              </a:endParaRPr>
            </a:p>
            <a:p>
              <a:pPr indent="-457200"/>
              <a:r>
                <a:rPr kumimoji="1" lang="zh-CN" altLang="en-US" sz="2800" dirty="0">
                  <a:solidFill>
                    <a:srgbClr val="3333FF"/>
                  </a:solidFill>
                  <a:latin typeface="等线" panose="02010600030101010101" pitchFamily="2" charset="-122"/>
                  <a:ea typeface="等线" panose="02010600030101010101" pitchFamily="2" charset="-122"/>
                </a:rPr>
                <a:t>① </a:t>
              </a:r>
              <a:r>
                <a:rPr kumimoji="1" lang="zh-CN" altLang="en-US" sz="2800" dirty="0">
                  <a:solidFill>
                    <a:srgbClr val="3333FF"/>
                  </a:solidFill>
                  <a:latin typeface="隶书" pitchFamily="49" charset="-122"/>
                  <a:ea typeface="隶书" pitchFamily="49" charset="-122"/>
                </a:rPr>
                <a:t>函数定义位于函数第一次调用之前</a:t>
              </a:r>
              <a:r>
                <a:rPr kumimoji="1" lang="zh-CN" altLang="en-US" sz="2800" dirty="0">
                  <a:solidFill>
                    <a:srgbClr val="3333FF"/>
                  </a:solidFill>
                  <a:ea typeface="隶书" pitchFamily="49" charset="-122"/>
                </a:rPr>
                <a:t>。</a:t>
              </a:r>
              <a:endParaRPr kumimoji="1" lang="en-US" altLang="zh-CN" sz="2800" dirty="0">
                <a:solidFill>
                  <a:srgbClr val="3333FF"/>
                </a:solidFill>
                <a:ea typeface="隶书" pitchFamily="49" charset="-122"/>
              </a:endParaRPr>
            </a:p>
            <a:p>
              <a:r>
                <a:rPr kumimoji="1" lang="zh-CN" altLang="zh-CN" sz="2800" dirty="0">
                  <a:solidFill>
                    <a:srgbClr val="3333FF"/>
                  </a:solidFill>
                  <a:latin typeface="等线" panose="02010600030101010101" pitchFamily="2" charset="-122"/>
                  <a:ea typeface="隶书" pitchFamily="49" charset="-122"/>
                </a:rPr>
                <a:t>②</a:t>
              </a:r>
              <a:r>
                <a:rPr kumimoji="1" lang="en-US" altLang="zh-CN" sz="2800" dirty="0">
                  <a:solidFill>
                    <a:srgbClr val="3333FF"/>
                  </a:solidFill>
                  <a:latin typeface="等线" panose="02010600030101010101" pitchFamily="2" charset="-122"/>
                  <a:ea typeface="隶书" pitchFamily="49" charset="-122"/>
                </a:rPr>
                <a:t> </a:t>
              </a:r>
              <a:r>
                <a:rPr kumimoji="1" lang="zh-CN" altLang="en-US" sz="2800" dirty="0">
                  <a:solidFill>
                    <a:srgbClr val="3333FF"/>
                  </a:solidFill>
                  <a:latin typeface="等线" panose="02010600030101010101" pitchFamily="2" charset="-122"/>
                  <a:ea typeface="隶书" pitchFamily="49" charset="-122"/>
                </a:rPr>
                <a:t>函数声明位于所有函数定义之前。</a:t>
              </a:r>
              <a:endParaRPr kumimoji="1" lang="en-US" altLang="zh-CN" sz="2800" dirty="0">
                <a:solidFill>
                  <a:srgbClr val="3333FF"/>
                </a:solidFill>
                <a:latin typeface="等线" panose="02010600030101010101" pitchFamily="2" charset="-122"/>
                <a:ea typeface="隶书" pitchFamily="49" charset="-122"/>
              </a:endParaRPr>
            </a:p>
          </p:txBody>
        </p:sp>
        <p:pic>
          <p:nvPicPr>
            <p:cNvPr id="12" name="图片 11">
              <a:extLst>
                <a:ext uri="{FF2B5EF4-FFF2-40B4-BE49-F238E27FC236}">
                  <a16:creationId xmlns:a16="http://schemas.microsoft.com/office/drawing/2014/main" id="{66F0E4ED-09B9-489D-A5C0-816BBEC10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98" y="4780854"/>
              <a:ext cx="588765" cy="558595"/>
            </a:xfrm>
            <a:prstGeom prst="rect">
              <a:avLst/>
            </a:prstGeom>
          </p:spPr>
        </p:pic>
      </p:grpSp>
      <p:sp>
        <p:nvSpPr>
          <p:cNvPr id="9" name="灯片编号占位符 8">
            <a:extLst>
              <a:ext uri="{FF2B5EF4-FFF2-40B4-BE49-F238E27FC236}">
                <a16:creationId xmlns:a16="http://schemas.microsoft.com/office/drawing/2014/main" id="{7C8C92A6-BD4D-4E28-B292-E8AD992BC6B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6</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87085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156755E-00AA-4E16-9A9B-0DE3FE9B6EC1}"/>
              </a:ext>
            </a:extLst>
          </p:cNvPr>
          <p:cNvSpPr txBox="1"/>
          <p:nvPr/>
        </p:nvSpPr>
        <p:spPr>
          <a:xfrm>
            <a:off x="3441757" y="-30192"/>
            <a:ext cx="4579296"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函数的调用</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098868CA-29CE-45A9-8E2C-B29BC4A05A6D}"/>
              </a:ext>
            </a:extLst>
          </p:cNvPr>
          <p:cNvSpPr/>
          <p:nvPr/>
        </p:nvSpPr>
        <p:spPr>
          <a:xfrm>
            <a:off x="16778" y="578901"/>
            <a:ext cx="12158444" cy="954107"/>
          </a:xfrm>
          <a:prstGeom prst="rect">
            <a:avLst/>
          </a:prstGeom>
        </p:spPr>
        <p:txBody>
          <a:bodyPr wrap="square">
            <a:spAutoFit/>
          </a:bodyPr>
          <a:lstStyle/>
          <a:p>
            <a:pPr marL="0" lvl="1"/>
            <a:r>
              <a:rPr lang="zh-CN" altLang="en-US" sz="2800" b="1" dirty="0">
                <a:latin typeface="隶书" pitchFamily="49" charset="-122"/>
              </a:rPr>
              <a:t>函数定义好后，还不能在程序中发挥其作用。要实现其功能，必须“使用”它才能发挥它的功能。在程序中使用定义好的函数称为</a:t>
            </a:r>
            <a:r>
              <a:rPr lang="zh-CN" altLang="en-US" sz="2800" b="1" dirty="0">
                <a:solidFill>
                  <a:srgbClr val="FF0000"/>
                </a:solidFill>
                <a:latin typeface="隶书" pitchFamily="49" charset="-122"/>
              </a:rPr>
              <a:t>函数调用</a:t>
            </a:r>
            <a:r>
              <a:rPr lang="zh-CN" altLang="en-US" sz="2800" b="1" dirty="0">
                <a:latin typeface="隶书" pitchFamily="49" charset="-122"/>
              </a:rPr>
              <a:t>。</a:t>
            </a:r>
            <a:endParaRPr lang="en-US" altLang="zh-CN" sz="2800" b="1" dirty="0">
              <a:latin typeface="隶书" pitchFamily="49" charset="-122"/>
            </a:endParaRPr>
          </a:p>
        </p:txBody>
      </p:sp>
      <p:sp>
        <p:nvSpPr>
          <p:cNvPr id="5" name="Text Box 88">
            <a:extLst>
              <a:ext uri="{FF2B5EF4-FFF2-40B4-BE49-F238E27FC236}">
                <a16:creationId xmlns:a16="http://schemas.microsoft.com/office/drawing/2014/main" id="{CA03C742-3B17-410D-A28F-852B863BB619}"/>
              </a:ext>
            </a:extLst>
          </p:cNvPr>
          <p:cNvSpPr txBox="1">
            <a:spLocks noChangeArrowheads="1"/>
          </p:cNvSpPr>
          <p:nvPr/>
        </p:nvSpPr>
        <p:spPr bwMode="auto">
          <a:xfrm>
            <a:off x="325039" y="1848622"/>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函数调用的一般形式为：</a:t>
            </a:r>
          </a:p>
        </p:txBody>
      </p:sp>
      <p:sp>
        <p:nvSpPr>
          <p:cNvPr id="6" name="Rectangle 2">
            <a:extLst>
              <a:ext uri="{FF2B5EF4-FFF2-40B4-BE49-F238E27FC236}">
                <a16:creationId xmlns:a16="http://schemas.microsoft.com/office/drawing/2014/main" id="{7AA858A0-8029-4492-9494-B2BE0258A8B3}"/>
              </a:ext>
            </a:extLst>
          </p:cNvPr>
          <p:cNvSpPr txBox="1">
            <a:spLocks noChangeArrowheads="1"/>
          </p:cNvSpPr>
          <p:nvPr/>
        </p:nvSpPr>
        <p:spPr>
          <a:xfrm>
            <a:off x="4008460" y="2656026"/>
            <a:ext cx="3127745"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zh-CN" altLang="en-US" b="1" dirty="0">
                <a:latin typeface="华文中宋" panose="02010600040101010101" pitchFamily="2" charset="-122"/>
                <a:ea typeface="华文中宋" panose="02010600040101010101" pitchFamily="2" charset="-122"/>
              </a:rPr>
              <a:t>函数名</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实参列表</a:t>
            </a:r>
            <a:r>
              <a:rPr lang="en-US" altLang="zh-CN" b="1" dirty="0">
                <a:solidFill>
                  <a:srgbClr val="FF0000"/>
                </a:solidFill>
              </a:rPr>
              <a:t>)</a:t>
            </a:r>
            <a:r>
              <a:rPr lang="zh-CN" altLang="en-US" b="1" dirty="0"/>
              <a:t>；</a:t>
            </a:r>
            <a:endParaRPr lang="en-US" altLang="zh-CN" b="1" dirty="0"/>
          </a:p>
        </p:txBody>
      </p:sp>
      <p:sp>
        <p:nvSpPr>
          <p:cNvPr id="7" name="Text Box 88">
            <a:extLst>
              <a:ext uri="{FF2B5EF4-FFF2-40B4-BE49-F238E27FC236}">
                <a16:creationId xmlns:a16="http://schemas.microsoft.com/office/drawing/2014/main" id="{6DAB0DDE-07DA-4268-815A-785102180282}"/>
              </a:ext>
            </a:extLst>
          </p:cNvPr>
          <p:cNvSpPr txBox="1">
            <a:spLocks noChangeArrowheads="1"/>
          </p:cNvSpPr>
          <p:nvPr/>
        </p:nvSpPr>
        <p:spPr bwMode="auto">
          <a:xfrm>
            <a:off x="325039" y="3375630"/>
            <a:ext cx="11618041" cy="1571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在调用函数时需要严格遵循该函数声明中的语法格式，即调用函数传递给被调用函数的</a:t>
            </a:r>
            <a:r>
              <a:rPr kumimoji="1" lang="zh-CN" altLang="en-US" sz="3200" dirty="0">
                <a:solidFill>
                  <a:srgbClr val="FF0000"/>
                </a:solidFill>
                <a:ea typeface="隶书" pitchFamily="49" charset="-122"/>
              </a:rPr>
              <a:t>实参个数</a:t>
            </a:r>
            <a:r>
              <a:rPr kumimoji="1" lang="zh-CN" altLang="en-US" sz="3200" dirty="0">
                <a:ea typeface="隶书" pitchFamily="49" charset="-122"/>
              </a:rPr>
              <a:t>、</a:t>
            </a:r>
            <a:r>
              <a:rPr kumimoji="1" lang="zh-CN" altLang="en-US" sz="3200" dirty="0">
                <a:solidFill>
                  <a:srgbClr val="FF0000"/>
                </a:solidFill>
                <a:ea typeface="隶书" pitchFamily="49" charset="-122"/>
              </a:rPr>
              <a:t>类型</a:t>
            </a:r>
            <a:r>
              <a:rPr kumimoji="1" lang="zh-CN" altLang="en-US" sz="3200" dirty="0">
                <a:ea typeface="隶书" pitchFamily="49" charset="-122"/>
              </a:rPr>
              <a:t>、</a:t>
            </a:r>
            <a:r>
              <a:rPr kumimoji="1" lang="zh-CN" altLang="en-US" sz="3200" dirty="0">
                <a:solidFill>
                  <a:srgbClr val="FF0000"/>
                </a:solidFill>
                <a:ea typeface="隶书" pitchFamily="49" charset="-122"/>
              </a:rPr>
              <a:t>顺序</a:t>
            </a:r>
            <a:r>
              <a:rPr kumimoji="1" lang="zh-CN" altLang="en-US" sz="3200" dirty="0">
                <a:ea typeface="隶书" pitchFamily="49" charset="-122"/>
              </a:rPr>
              <a:t>均需要与该函数声明中指明的</a:t>
            </a:r>
            <a:r>
              <a:rPr kumimoji="1" lang="zh-CN" altLang="en-US" sz="3200" dirty="0">
                <a:solidFill>
                  <a:srgbClr val="FF0000"/>
                </a:solidFill>
                <a:ea typeface="隶书" pitchFamily="49" charset="-122"/>
              </a:rPr>
              <a:t>形参个数</a:t>
            </a:r>
            <a:r>
              <a:rPr kumimoji="1" lang="zh-CN" altLang="en-US" sz="3200" dirty="0">
                <a:ea typeface="隶书" pitchFamily="49" charset="-122"/>
              </a:rPr>
              <a:t>、</a:t>
            </a:r>
            <a:r>
              <a:rPr kumimoji="1" lang="zh-CN" altLang="en-US" sz="3200" dirty="0">
                <a:solidFill>
                  <a:srgbClr val="FF0000"/>
                </a:solidFill>
                <a:ea typeface="隶书" pitchFamily="49" charset="-122"/>
              </a:rPr>
              <a:t>类型</a:t>
            </a:r>
            <a:r>
              <a:rPr kumimoji="1" lang="zh-CN" altLang="en-US" sz="3200" dirty="0">
                <a:ea typeface="隶书" pitchFamily="49" charset="-122"/>
              </a:rPr>
              <a:t>、</a:t>
            </a:r>
            <a:r>
              <a:rPr kumimoji="1" lang="zh-CN" altLang="en-US" sz="3200" dirty="0">
                <a:solidFill>
                  <a:srgbClr val="FF0000"/>
                </a:solidFill>
                <a:ea typeface="隶书" pitchFamily="49" charset="-122"/>
              </a:rPr>
              <a:t>顺序</a:t>
            </a:r>
            <a:r>
              <a:rPr kumimoji="1" lang="zh-CN" altLang="en-US" sz="3200" dirty="0">
                <a:ea typeface="隶书" pitchFamily="49" charset="-122"/>
              </a:rPr>
              <a:t>要</a:t>
            </a:r>
            <a:r>
              <a:rPr kumimoji="1" lang="zh-CN" altLang="en-US" sz="3200" dirty="0">
                <a:solidFill>
                  <a:srgbClr val="00B0F0"/>
                </a:solidFill>
                <a:ea typeface="隶书" pitchFamily="49" charset="-122"/>
              </a:rPr>
              <a:t>严格保持一致</a:t>
            </a:r>
            <a:r>
              <a:rPr kumimoji="1" lang="zh-CN" altLang="en-US" sz="3200" dirty="0">
                <a:ea typeface="隶书" pitchFamily="49" charset="-122"/>
              </a:rPr>
              <a:t>。</a:t>
            </a:r>
          </a:p>
        </p:txBody>
      </p:sp>
      <p:sp>
        <p:nvSpPr>
          <p:cNvPr id="8" name="灯片编号占位符 7">
            <a:extLst>
              <a:ext uri="{FF2B5EF4-FFF2-40B4-BE49-F238E27FC236}">
                <a16:creationId xmlns:a16="http://schemas.microsoft.com/office/drawing/2014/main" id="{C2E9F7B8-E15D-4695-BB82-EABCEBB1910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7</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559949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ABABB44-6AEE-407F-BC25-0C40678CDDCA}"/>
              </a:ext>
            </a:extLst>
          </p:cNvPr>
          <p:cNvSpPr txBox="1"/>
          <p:nvPr/>
        </p:nvSpPr>
        <p:spPr>
          <a:xfrm>
            <a:off x="344175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函数的调用</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94280FB7-F24F-4F90-920A-10E14BE921CA}"/>
              </a:ext>
            </a:extLst>
          </p:cNvPr>
          <p:cNvSpPr/>
          <p:nvPr/>
        </p:nvSpPr>
        <p:spPr>
          <a:xfrm>
            <a:off x="16778" y="578901"/>
            <a:ext cx="12158444" cy="523220"/>
          </a:xfrm>
          <a:prstGeom prst="rect">
            <a:avLst/>
          </a:prstGeom>
        </p:spPr>
        <p:txBody>
          <a:bodyPr wrap="square">
            <a:spAutoFit/>
          </a:bodyPr>
          <a:lstStyle/>
          <a:p>
            <a:pPr marL="0" lvl="1"/>
            <a:r>
              <a:rPr lang="zh-CN" altLang="en-US" sz="2800" b="1" dirty="0">
                <a:latin typeface="隶书" pitchFamily="49" charset="-122"/>
              </a:rPr>
              <a:t>在</a:t>
            </a:r>
            <a:r>
              <a:rPr lang="en-US" altLang="zh-CN" sz="2800" b="1" dirty="0">
                <a:latin typeface="隶书" pitchFamily="49" charset="-122"/>
              </a:rPr>
              <a:t>C</a:t>
            </a:r>
            <a:r>
              <a:rPr lang="zh-CN" altLang="en-US" sz="2800" b="1" dirty="0">
                <a:latin typeface="隶书" pitchFamily="49" charset="-122"/>
              </a:rPr>
              <a:t>语言中，函数调用有以下三种方式：</a:t>
            </a:r>
            <a:endParaRPr lang="en-US" altLang="zh-CN" sz="2800" b="1" dirty="0">
              <a:latin typeface="隶书" pitchFamily="49" charset="-122"/>
            </a:endParaRPr>
          </a:p>
        </p:txBody>
      </p:sp>
      <p:sp>
        <p:nvSpPr>
          <p:cNvPr id="5" name="Text Box 88">
            <a:extLst>
              <a:ext uri="{FF2B5EF4-FFF2-40B4-BE49-F238E27FC236}">
                <a16:creationId xmlns:a16="http://schemas.microsoft.com/office/drawing/2014/main" id="{3C4E86D8-7C40-4347-90A2-CF525A24C5EA}"/>
              </a:ext>
            </a:extLst>
          </p:cNvPr>
          <p:cNvSpPr txBox="1">
            <a:spLocks noChangeArrowheads="1"/>
          </p:cNvSpPr>
          <p:nvPr/>
        </p:nvSpPr>
        <p:spPr bwMode="auto">
          <a:xfrm>
            <a:off x="16778" y="1051062"/>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①</a:t>
            </a:r>
            <a:r>
              <a:rPr kumimoji="1" lang="zh-CN" altLang="en-US" sz="3200" dirty="0">
                <a:ea typeface="隶书" pitchFamily="49" charset="-122"/>
              </a:rPr>
              <a:t>函数调用语句：</a:t>
            </a:r>
          </a:p>
        </p:txBody>
      </p:sp>
      <p:sp>
        <p:nvSpPr>
          <p:cNvPr id="6" name="Text Box 88">
            <a:extLst>
              <a:ext uri="{FF2B5EF4-FFF2-40B4-BE49-F238E27FC236}">
                <a16:creationId xmlns:a16="http://schemas.microsoft.com/office/drawing/2014/main" id="{FC83F57A-A362-47ED-9944-94B770C4548B}"/>
              </a:ext>
            </a:extLst>
          </p:cNvPr>
          <p:cNvSpPr txBox="1">
            <a:spLocks noChangeArrowheads="1"/>
          </p:cNvSpPr>
          <p:nvPr/>
        </p:nvSpPr>
        <p:spPr bwMode="auto">
          <a:xfrm>
            <a:off x="16778" y="2818902"/>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②</a:t>
            </a:r>
            <a:r>
              <a:rPr kumimoji="1" lang="zh-CN" altLang="en-US" sz="3200" dirty="0">
                <a:ea typeface="隶书" pitchFamily="49" charset="-122"/>
              </a:rPr>
              <a:t>表达式：</a:t>
            </a:r>
          </a:p>
        </p:txBody>
      </p:sp>
      <p:sp>
        <p:nvSpPr>
          <p:cNvPr id="7" name="Text Box 88">
            <a:extLst>
              <a:ext uri="{FF2B5EF4-FFF2-40B4-BE49-F238E27FC236}">
                <a16:creationId xmlns:a16="http://schemas.microsoft.com/office/drawing/2014/main" id="{DBE53330-2A8F-4EB1-B086-4972C93334A9}"/>
              </a:ext>
            </a:extLst>
          </p:cNvPr>
          <p:cNvSpPr txBox="1">
            <a:spLocks noChangeArrowheads="1"/>
          </p:cNvSpPr>
          <p:nvPr/>
        </p:nvSpPr>
        <p:spPr bwMode="auto">
          <a:xfrm>
            <a:off x="0" y="4586742"/>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③</a:t>
            </a:r>
            <a:r>
              <a:rPr kumimoji="1" lang="zh-CN" altLang="en-US" sz="3200" dirty="0">
                <a:ea typeface="隶书" pitchFamily="49" charset="-122"/>
              </a:rPr>
              <a:t>函数参数：</a:t>
            </a:r>
          </a:p>
        </p:txBody>
      </p:sp>
      <p:sp>
        <p:nvSpPr>
          <p:cNvPr id="8" name="Rectangle 2">
            <a:extLst>
              <a:ext uri="{FF2B5EF4-FFF2-40B4-BE49-F238E27FC236}">
                <a16:creationId xmlns:a16="http://schemas.microsoft.com/office/drawing/2014/main" id="{FCC0D4D4-E3E2-4151-AAC8-D90AF2DA4CF9}"/>
              </a:ext>
            </a:extLst>
          </p:cNvPr>
          <p:cNvSpPr txBox="1">
            <a:spLocks noChangeArrowheads="1"/>
          </p:cNvSpPr>
          <p:nvPr/>
        </p:nvSpPr>
        <p:spPr>
          <a:xfrm>
            <a:off x="1774315" y="1768353"/>
            <a:ext cx="4880165" cy="523220"/>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t>printf</a:t>
            </a:r>
            <a:r>
              <a:rPr lang="en-US" altLang="zh-CN" b="1" dirty="0">
                <a:solidFill>
                  <a:srgbClr val="FF0000"/>
                </a:solidFill>
              </a:rPr>
              <a:t>(</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rPr>
              <a:t>Hello</a:t>
            </a:r>
            <a:r>
              <a:rPr lang="zh-CN" altLang="en-US" b="1" dirty="0">
                <a:solidFill>
                  <a:srgbClr val="00B050"/>
                </a:solidFill>
              </a:rPr>
              <a:t>，</a:t>
            </a:r>
            <a:r>
              <a:rPr lang="en-US" altLang="zh-CN" b="1">
                <a:solidFill>
                  <a:srgbClr val="00B050"/>
                </a:solidFill>
              </a:rPr>
              <a:t>World!</a:t>
            </a:r>
            <a:r>
              <a:rPr lang="en-US" altLang="zh-CN" b="1">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a:solidFill>
                  <a:srgbClr val="FF0000"/>
                </a:solidFill>
              </a:rPr>
              <a:t>)</a:t>
            </a:r>
            <a:r>
              <a:rPr lang="en-US" altLang="zh-CN" b="1"/>
              <a:t>;</a:t>
            </a:r>
            <a:endParaRPr lang="zh-CN" altLang="en-US" b="1" dirty="0"/>
          </a:p>
        </p:txBody>
      </p:sp>
      <p:sp>
        <p:nvSpPr>
          <p:cNvPr id="9" name="Rectangle 2">
            <a:extLst>
              <a:ext uri="{FF2B5EF4-FFF2-40B4-BE49-F238E27FC236}">
                <a16:creationId xmlns:a16="http://schemas.microsoft.com/office/drawing/2014/main" id="{E828F8E8-05F5-4023-BB24-F753688073B3}"/>
              </a:ext>
            </a:extLst>
          </p:cNvPr>
          <p:cNvSpPr txBox="1">
            <a:spLocks noChangeArrowheads="1"/>
          </p:cNvSpPr>
          <p:nvPr/>
        </p:nvSpPr>
        <p:spPr>
          <a:xfrm>
            <a:off x="1774314" y="3506492"/>
            <a:ext cx="4880165" cy="954107"/>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n = 5;</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x = factoria(n);</a:t>
            </a:r>
            <a:endParaRPr lang="zh-CN" altLang="en-US" b="1" dirty="0"/>
          </a:p>
        </p:txBody>
      </p:sp>
      <p:sp>
        <p:nvSpPr>
          <p:cNvPr id="10" name="Rectangle 2">
            <a:extLst>
              <a:ext uri="{FF2B5EF4-FFF2-40B4-BE49-F238E27FC236}">
                <a16:creationId xmlns:a16="http://schemas.microsoft.com/office/drawing/2014/main" id="{E7C1C9E8-365E-4563-AEC8-231E5B7ED283}"/>
              </a:ext>
            </a:extLst>
          </p:cNvPr>
          <p:cNvSpPr txBox="1">
            <a:spLocks noChangeArrowheads="1"/>
          </p:cNvSpPr>
          <p:nvPr/>
        </p:nvSpPr>
        <p:spPr>
          <a:xfrm>
            <a:off x="1774313" y="5173699"/>
            <a:ext cx="4880165" cy="523220"/>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result = max(x, max</a:t>
            </a:r>
            <a:r>
              <a:rPr lang="en-US" altLang="zh-CN" b="1" dirty="0">
                <a:solidFill>
                  <a:srgbClr val="FF0000"/>
                </a:solidFill>
              </a:rPr>
              <a:t>(</a:t>
            </a:r>
            <a:r>
              <a:rPr lang="en-US" altLang="zh-CN" b="1" dirty="0"/>
              <a:t>y, z</a:t>
            </a:r>
            <a:r>
              <a:rPr lang="en-US" altLang="zh-CN" b="1" dirty="0">
                <a:solidFill>
                  <a:srgbClr val="FF0000"/>
                </a:solidFill>
              </a:rPr>
              <a:t>)</a:t>
            </a:r>
            <a:r>
              <a:rPr lang="en-US" altLang="zh-CN" b="1" dirty="0"/>
              <a:t>);</a:t>
            </a:r>
          </a:p>
        </p:txBody>
      </p:sp>
      <p:sp>
        <p:nvSpPr>
          <p:cNvPr id="11" name="灯片编号占位符 10">
            <a:extLst>
              <a:ext uri="{FF2B5EF4-FFF2-40B4-BE49-F238E27FC236}">
                <a16:creationId xmlns:a16="http://schemas.microsoft.com/office/drawing/2014/main" id="{FF12D693-B0FE-4674-BCDF-B2FB79A631B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8</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68223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0FE7590-1EB7-47F5-84EE-327DEA935597}"/>
              </a:ext>
            </a:extLst>
          </p:cNvPr>
          <p:cNvSpPr txBox="1"/>
          <p:nvPr/>
        </p:nvSpPr>
        <p:spPr>
          <a:xfrm>
            <a:off x="3441757" y="-30192"/>
            <a:ext cx="4739717"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函数的调用</a:t>
            </a:r>
            <a:endParaRPr lang="zh-CN" altLang="en-US" sz="3200" b="1" dirty="0">
              <a:solidFill>
                <a:srgbClr val="200AC4"/>
              </a:solidFill>
              <a:ea typeface="隶书" pitchFamily="49" charset="-122"/>
            </a:endParaRPr>
          </a:p>
        </p:txBody>
      </p:sp>
      <p:sp>
        <p:nvSpPr>
          <p:cNvPr id="4" name="Rectangle 2">
            <a:extLst>
              <a:ext uri="{FF2B5EF4-FFF2-40B4-BE49-F238E27FC236}">
                <a16:creationId xmlns:a16="http://schemas.microsoft.com/office/drawing/2014/main" id="{8EC6610A-2900-456F-8E64-D2BEA92DB01F}"/>
              </a:ext>
            </a:extLst>
          </p:cNvPr>
          <p:cNvSpPr txBox="1">
            <a:spLocks noChangeArrowheads="1"/>
          </p:cNvSpPr>
          <p:nvPr/>
        </p:nvSpPr>
        <p:spPr>
          <a:xfrm>
            <a:off x="273029" y="1579308"/>
            <a:ext cx="4278655"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factorial </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华文隶书" panose="02010800040101010101" pitchFamily="2" charset="-122"/>
                <a:ea typeface="华文隶书" panose="02010800040101010101" pitchFamily="2" charset="-122"/>
              </a:rPr>
              <a:t> n</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 = 1;</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2; i&lt;=n; i++)</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 *= i;</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result;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zh-CN" altLang="en-US" b="1" dirty="0">
              <a:solidFill>
                <a:srgbClr val="FF0000"/>
              </a:solidFill>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D6D906D-93EF-4437-B22C-F967AA2188DC}"/>
                  </a:ext>
                </a:extLst>
              </p:cNvPr>
              <p:cNvSpPr/>
              <p:nvPr/>
            </p:nvSpPr>
            <p:spPr>
              <a:xfrm>
                <a:off x="16778" y="578901"/>
                <a:ext cx="12158444" cy="76848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latin typeface="隶书" pitchFamily="49" charset="-122"/>
                  </a:rPr>
                  <a:t>6-2】</a:t>
                </a:r>
                <a:r>
                  <a:rPr lang="zh-CN" altLang="en-US" sz="2800" b="1" dirty="0">
                    <a:latin typeface="隶书" pitchFamily="49" charset="-122"/>
                  </a:rPr>
                  <a:t>编写程序计算组合数</a:t>
                </a:r>
                <a14:m>
                  <m:oMath xmlns:m="http://schemas.openxmlformats.org/officeDocument/2006/math">
                    <m:sSubSup>
                      <m:sSubSupPr>
                        <m:ctrlPr>
                          <a:rPr lang="en-US" altLang="zh-CN" sz="2800" b="1" i="1" dirty="0" smtClean="0">
                            <a:latin typeface="Cambria Math" panose="02040503050406030204" pitchFamily="18" charset="0"/>
                          </a:rPr>
                        </m:ctrlPr>
                      </m:sSubSupPr>
                      <m:e>
                        <m:r>
                          <a:rPr lang="en-US" altLang="zh-CN" sz="2800" b="1" i="1" dirty="0" smtClean="0">
                            <a:latin typeface="Cambria Math" panose="02040503050406030204" pitchFamily="18" charset="0"/>
                          </a:rPr>
                          <m:t>𝑪</m:t>
                        </m:r>
                      </m:e>
                      <m:sub>
                        <m:r>
                          <a:rPr lang="en-US" altLang="zh-CN" sz="2800" b="1" i="1" dirty="0" smtClean="0">
                            <a:latin typeface="Cambria Math" panose="02040503050406030204" pitchFamily="18" charset="0"/>
                          </a:rPr>
                          <m:t>𝑵</m:t>
                        </m:r>
                      </m:sub>
                      <m:sup>
                        <m:r>
                          <a:rPr lang="en-US" altLang="zh-CN" sz="2800" b="1" i="1" dirty="0" smtClean="0">
                            <a:latin typeface="Cambria Math" panose="02040503050406030204" pitchFamily="18" charset="0"/>
                          </a:rPr>
                          <m:t>𝑴</m:t>
                        </m:r>
                      </m:sup>
                    </m:sSubSup>
                    <m:r>
                      <a:rPr lang="en-US" altLang="zh-CN" sz="2800" b="1" i="1" dirty="0" smtClean="0">
                        <a:latin typeface="Cambria Math" panose="02040503050406030204" pitchFamily="18" charset="0"/>
                      </a:rPr>
                      <m:t>=</m:t>
                    </m:r>
                    <m:f>
                      <m:fPr>
                        <m:ctrlPr>
                          <a:rPr lang="en-US" altLang="zh-CN" sz="2800" b="1" i="1" dirty="0" smtClean="0">
                            <a:latin typeface="Cambria Math" panose="02040503050406030204" pitchFamily="18" charset="0"/>
                          </a:rPr>
                        </m:ctrlPr>
                      </m:fPr>
                      <m:num>
                        <m:r>
                          <a:rPr lang="en-US" altLang="zh-CN" sz="2800" b="1" i="1" dirty="0" smtClean="0">
                            <a:latin typeface="Cambria Math" panose="02040503050406030204" pitchFamily="18" charset="0"/>
                          </a:rPr>
                          <m:t>𝑵</m:t>
                        </m:r>
                        <m:r>
                          <a:rPr lang="en-US" altLang="zh-CN" sz="2800" b="1" i="1" dirty="0" smtClean="0">
                            <a:latin typeface="Cambria Math" panose="02040503050406030204" pitchFamily="18" charset="0"/>
                          </a:rPr>
                          <m:t>!</m:t>
                        </m:r>
                      </m:num>
                      <m:den>
                        <m:r>
                          <a:rPr lang="en-US" altLang="zh-CN" sz="2800" b="1" i="1" dirty="0" smtClean="0">
                            <a:latin typeface="Cambria Math" panose="02040503050406030204" pitchFamily="18" charset="0"/>
                          </a:rPr>
                          <m:t>𝑴</m:t>
                        </m:r>
                        <m:r>
                          <a:rPr lang="en-US" altLang="zh-CN" sz="2800" b="1" i="1" dirty="0" smtClean="0">
                            <a:latin typeface="Cambria Math" panose="02040503050406030204" pitchFamily="18" charset="0"/>
                          </a:rPr>
                          <m:t>!</m:t>
                        </m:r>
                        <m:d>
                          <m:dPr>
                            <m:ctrlPr>
                              <a:rPr lang="en-US" altLang="zh-CN" sz="2800" b="1" i="1" dirty="0" smtClean="0">
                                <a:latin typeface="Cambria Math" panose="02040503050406030204" pitchFamily="18" charset="0"/>
                              </a:rPr>
                            </m:ctrlPr>
                          </m:dPr>
                          <m:e>
                            <m:r>
                              <a:rPr lang="en-US" altLang="zh-CN" sz="2800" b="1" i="1" dirty="0" smtClean="0">
                                <a:latin typeface="Cambria Math" panose="02040503050406030204" pitchFamily="18" charset="0"/>
                              </a:rPr>
                              <m:t>𝑵</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𝑴</m:t>
                            </m:r>
                          </m:e>
                        </m:d>
                        <m:r>
                          <a:rPr lang="en-US" altLang="zh-CN" sz="2800" b="1" i="1" dirty="0" smtClean="0">
                            <a:latin typeface="Cambria Math" panose="02040503050406030204" pitchFamily="18" charset="0"/>
                          </a:rPr>
                          <m:t>!</m:t>
                        </m:r>
                      </m:den>
                    </m:f>
                  </m:oMath>
                </a14:m>
                <a:r>
                  <a:rPr lang="zh-CN" altLang="en-US" sz="2800" b="1" dirty="0">
                    <a:latin typeface="隶书" pitchFamily="49" charset="-122"/>
                  </a:rPr>
                  <a:t>的结果。</a:t>
                </a:r>
                <a:endParaRPr lang="en-US" altLang="zh-CN" sz="2800" b="1" dirty="0">
                  <a:latin typeface="隶书" pitchFamily="49" charset="-122"/>
                </a:endParaRPr>
              </a:p>
            </p:txBody>
          </p:sp>
        </mc:Choice>
        <mc:Fallback xmlns="">
          <p:sp>
            <p:nvSpPr>
              <p:cNvPr id="5" name="矩形 4">
                <a:extLst>
                  <a:ext uri="{FF2B5EF4-FFF2-40B4-BE49-F238E27FC236}">
                    <a16:creationId xmlns:a16="http://schemas.microsoft.com/office/drawing/2014/main" id="{1D6D906D-93EF-4437-B22C-F967AA2188DC}"/>
                  </a:ext>
                </a:extLst>
              </p:cNvPr>
              <p:cNvSpPr>
                <a:spLocks noRot="1" noChangeAspect="1" noMove="1" noResize="1" noEditPoints="1" noAdjustHandles="1" noChangeArrowheads="1" noChangeShapeType="1" noTextEdit="1"/>
              </p:cNvSpPr>
              <p:nvPr/>
            </p:nvSpPr>
            <p:spPr>
              <a:xfrm>
                <a:off x="16778" y="578901"/>
                <a:ext cx="12158444" cy="768480"/>
              </a:xfrm>
              <a:prstGeom prst="rect">
                <a:avLst/>
              </a:prstGeom>
              <a:blipFill>
                <a:blip r:embed="rId2"/>
                <a:stretch>
                  <a:fillRect l="-1053" b="-2381"/>
                </a:stretch>
              </a:blipFill>
            </p:spPr>
            <p:txBody>
              <a:bodyPr/>
              <a:lstStyle/>
              <a:p>
                <a:r>
                  <a:rPr lang="zh-CN" altLang="en-US">
                    <a:noFill/>
                  </a:rPr>
                  <a:t> </a:t>
                </a:r>
              </a:p>
            </p:txBody>
          </p:sp>
        </mc:Fallback>
      </mc:AlternateContent>
      <p:sp>
        <p:nvSpPr>
          <p:cNvPr id="6" name="Rectangle 2">
            <a:extLst>
              <a:ext uri="{FF2B5EF4-FFF2-40B4-BE49-F238E27FC236}">
                <a16:creationId xmlns:a16="http://schemas.microsoft.com/office/drawing/2014/main" id="{8D0E8402-49A0-4773-A58A-06F110ADC876}"/>
              </a:ext>
            </a:extLst>
          </p:cNvPr>
          <p:cNvSpPr txBox="1">
            <a:spLocks noChangeArrowheads="1"/>
          </p:cNvSpPr>
          <p:nvPr/>
        </p:nvSpPr>
        <p:spPr>
          <a:xfrm>
            <a:off x="4716491" y="1347381"/>
            <a:ext cx="7458731"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&lt;stdio.h&gt;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 n, x, y, z, q;</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cs typeface="Times New Roman" panose="02020603050405020304" pitchFamily="18" charset="0"/>
              </a:rPr>
              <a:t>%</a:t>
            </a:r>
            <a:r>
              <a:rPr lang="en-US" altLang="zh-CN" b="1"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err="1">
                <a:solidFill>
                  <a:srgbClr val="00B050"/>
                </a:solidFill>
                <a:cs typeface="Times New Roman" panose="02020603050405020304" pitchFamily="18" charset="0"/>
              </a:rPr>
              <a:t>%</a:t>
            </a:r>
            <a:r>
              <a:rPr lang="en-US" altLang="zh-CN" b="1"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factorial(n);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y = </a:t>
            </a:r>
            <a:r>
              <a:rPr lang="en-US" altLang="zh-CN" b="1" dirty="0">
                <a:latin typeface="Times New Roman" panose="02020603050405020304" pitchFamily="18" charset="0"/>
                <a:cs typeface="Times New Roman" panose="02020603050405020304" pitchFamily="18" charset="0"/>
              </a:rPr>
              <a:t>factorial(m);</a:t>
            </a: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z = factorial(n - m);</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q = x / (y </a:t>
            </a:r>
            <a:r>
              <a:rPr lang="en-US" altLang="zh-CN" b="1" dirty="0">
                <a:latin typeface="+mn-ea"/>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z);</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q);</a:t>
            </a:r>
            <a:endParaRPr lang="en-US" altLang="zh-CN" b="1" dirty="0">
              <a:latin typeface="+mn-ea"/>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zh-CN" altLang="en-US" b="1" dirty="0">
              <a:solidFill>
                <a:srgbClr val="FF0000"/>
              </a:solidFill>
            </a:endParaRPr>
          </a:p>
        </p:txBody>
      </p:sp>
      <p:sp>
        <p:nvSpPr>
          <p:cNvPr id="7" name="灯片编号占位符 6">
            <a:extLst>
              <a:ext uri="{FF2B5EF4-FFF2-40B4-BE49-F238E27FC236}">
                <a16:creationId xmlns:a16="http://schemas.microsoft.com/office/drawing/2014/main" id="{69C96CE8-0C55-4F30-A042-66CEBAFAF32F}"/>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9</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10621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up)">
                                      <p:cBhvr>
                                        <p:cTn id="10" dur="500"/>
                                        <p:tgtEl>
                                          <p:spTgt spid="4">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animEffect transition="in" filter="wipe(up)">
                                      <p:cBhvr>
                                        <p:cTn id="13" dur="500"/>
                                        <p:tgtEl>
                                          <p:spTgt spid="4">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wipe(up)">
                                      <p:cBhvr>
                                        <p:cTn id="18" dur="500"/>
                                        <p:tgtEl>
                                          <p:spTgt spid="4">
                                            <p:txEl>
                                              <p:pRg st="2" end="2"/>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wipe(up)">
                                      <p:cBhvr>
                                        <p:cTn id="21" dur="500"/>
                                        <p:tgtEl>
                                          <p:spTgt spid="4">
                                            <p:txEl>
                                              <p:pRg st="3" end="3"/>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wipe(up)">
                                      <p:cBhvr>
                                        <p:cTn id="24" dur="500"/>
                                        <p:tgtEl>
                                          <p:spTgt spid="4">
                                            <p:txEl>
                                              <p:pRg st="4" end="4"/>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up)">
                                      <p:cBhvr>
                                        <p:cTn id="27" dur="500"/>
                                        <p:tgtEl>
                                          <p:spTgt spid="4">
                                            <p:txEl>
                                              <p:pRg st="5" end="5"/>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wipe(up)">
                                      <p:cBhvr>
                                        <p:cTn id="30" dur="500"/>
                                        <p:tgtEl>
                                          <p:spTgt spid="4">
                                            <p:txEl>
                                              <p:pRg st="6" end="6"/>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Effect transition="in" filter="wipe(up)">
                                      <p:cBhvr>
                                        <p:cTn id="33" dur="500"/>
                                        <p:tgtEl>
                                          <p:spTgt spid="4">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6">
                                            <p:txEl>
                                              <p:pRg st="0" end="0"/>
                                            </p:txEl>
                                          </p:spTgt>
                                        </p:tgtEl>
                                        <p:attrNameLst>
                                          <p:attrName>style.visibility</p:attrName>
                                        </p:attrNameLst>
                                      </p:cBhvr>
                                      <p:to>
                                        <p:strVal val="visible"/>
                                      </p:to>
                                    </p:set>
                                    <p:animEffect transition="in" filter="wipe(up)">
                                      <p:cBhvr>
                                        <p:cTn id="38" dur="500"/>
                                        <p:tgtEl>
                                          <p:spTgt spid="6">
                                            <p:txEl>
                                              <p:pRg st="0" end="0"/>
                                            </p:txEl>
                                          </p:spTgt>
                                        </p:tgtEl>
                                      </p:cBhvr>
                                    </p:animEffect>
                                  </p:childTnLst>
                                </p:cTn>
                              </p:par>
                              <p:par>
                                <p:cTn id="39" presetID="22" presetClass="entr" presetSubtype="1" fill="hold" nodeType="with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Effect transition="in" filter="wipe(up)">
                                      <p:cBhvr>
                                        <p:cTn id="41" dur="500"/>
                                        <p:tgtEl>
                                          <p:spTgt spid="6">
                                            <p:txEl>
                                              <p:pRg st="1" end="1"/>
                                            </p:txEl>
                                          </p:spTgt>
                                        </p:tgtEl>
                                      </p:cBhvr>
                                    </p:animEffect>
                                  </p:childTnLst>
                                </p:cTn>
                              </p:par>
                              <p:par>
                                <p:cTn id="42" presetID="22" presetClass="entr" presetSubtype="1" fill="hold" nodeType="withEffect">
                                  <p:stCondLst>
                                    <p:cond delay="0"/>
                                  </p:stCondLst>
                                  <p:childTnLst>
                                    <p:set>
                                      <p:cBhvr>
                                        <p:cTn id="43" dur="1" fill="hold">
                                          <p:stCondLst>
                                            <p:cond delay="0"/>
                                          </p:stCondLst>
                                        </p:cTn>
                                        <p:tgtEl>
                                          <p:spTgt spid="6">
                                            <p:txEl>
                                              <p:pRg st="2" end="2"/>
                                            </p:txEl>
                                          </p:spTgt>
                                        </p:tgtEl>
                                        <p:attrNameLst>
                                          <p:attrName>style.visibility</p:attrName>
                                        </p:attrNameLst>
                                      </p:cBhvr>
                                      <p:to>
                                        <p:strVal val="visible"/>
                                      </p:to>
                                    </p:set>
                                    <p:animEffect transition="in" filter="wipe(up)">
                                      <p:cBhvr>
                                        <p:cTn id="44" dur="500"/>
                                        <p:tgtEl>
                                          <p:spTgt spid="6">
                                            <p:txEl>
                                              <p:pRg st="2" end="2"/>
                                            </p:txEl>
                                          </p:spTgt>
                                        </p:tgtEl>
                                      </p:cBhvr>
                                    </p:animEffect>
                                  </p:childTnLst>
                                </p:cTn>
                              </p:par>
                              <p:par>
                                <p:cTn id="45" presetID="22" presetClass="entr" presetSubtype="1" fill="hold" nodeType="with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animEffect transition="in" filter="wipe(up)">
                                      <p:cBhvr>
                                        <p:cTn id="47" dur="500"/>
                                        <p:tgtEl>
                                          <p:spTgt spid="6">
                                            <p:txEl>
                                              <p:pRg st="11" end="11"/>
                                            </p:txEl>
                                          </p:spTgt>
                                        </p:tgtEl>
                                      </p:cBhvr>
                                    </p:animEffect>
                                  </p:childTnLst>
                                </p:cTn>
                              </p:par>
                              <p:par>
                                <p:cTn id="48" presetID="22" presetClass="entr" presetSubtype="1" fill="hold" nodeType="withEffect">
                                  <p:stCondLst>
                                    <p:cond delay="0"/>
                                  </p:stCondLst>
                                  <p:childTnLst>
                                    <p:set>
                                      <p:cBhvr>
                                        <p:cTn id="49" dur="1" fill="hold">
                                          <p:stCondLst>
                                            <p:cond delay="0"/>
                                          </p:stCondLst>
                                        </p:cTn>
                                        <p:tgtEl>
                                          <p:spTgt spid="6">
                                            <p:txEl>
                                              <p:pRg st="10" end="10"/>
                                            </p:txEl>
                                          </p:spTgt>
                                        </p:tgtEl>
                                        <p:attrNameLst>
                                          <p:attrName>style.visibility</p:attrName>
                                        </p:attrNameLst>
                                      </p:cBhvr>
                                      <p:to>
                                        <p:strVal val="visible"/>
                                      </p:to>
                                    </p:set>
                                    <p:animEffect transition="in" filter="wipe(up)">
                                      <p:cBhvr>
                                        <p:cTn id="50" dur="500"/>
                                        <p:tgtEl>
                                          <p:spTgt spid="6">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Effect transition="in" filter="wipe(up)">
                                      <p:cBhvr>
                                        <p:cTn id="55" dur="500"/>
                                        <p:tgtEl>
                                          <p:spTgt spid="6">
                                            <p:txEl>
                                              <p:pRg st="3" end="3"/>
                                            </p:txEl>
                                          </p:spTgt>
                                        </p:tgtEl>
                                      </p:cBhvr>
                                    </p:animEffect>
                                  </p:childTnLst>
                                </p:cTn>
                              </p:par>
                              <p:par>
                                <p:cTn id="56" presetID="22" presetClass="entr" presetSubtype="1" fill="hold" nodeType="withEffect">
                                  <p:stCondLst>
                                    <p:cond delay="0"/>
                                  </p:stCondLst>
                                  <p:childTnLst>
                                    <p:set>
                                      <p:cBhvr>
                                        <p:cTn id="57" dur="1" fill="hold">
                                          <p:stCondLst>
                                            <p:cond delay="0"/>
                                          </p:stCondLst>
                                        </p:cTn>
                                        <p:tgtEl>
                                          <p:spTgt spid="6">
                                            <p:txEl>
                                              <p:pRg st="4" end="4"/>
                                            </p:txEl>
                                          </p:spTgt>
                                        </p:tgtEl>
                                        <p:attrNameLst>
                                          <p:attrName>style.visibility</p:attrName>
                                        </p:attrNameLst>
                                      </p:cBhvr>
                                      <p:to>
                                        <p:strVal val="visible"/>
                                      </p:to>
                                    </p:set>
                                    <p:animEffect transition="in" filter="wipe(up)">
                                      <p:cBhvr>
                                        <p:cTn id="58" dur="5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Effect transition="in" filter="wipe(up)">
                                      <p:cBhvr>
                                        <p:cTn id="63" dur="500"/>
                                        <p:tgtEl>
                                          <p:spTgt spid="6">
                                            <p:txEl>
                                              <p:pRg st="5" end="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6">
                                            <p:txEl>
                                              <p:pRg st="6" end="6"/>
                                            </p:txEl>
                                          </p:spTgt>
                                        </p:tgtEl>
                                        <p:attrNameLst>
                                          <p:attrName>style.visibility</p:attrName>
                                        </p:attrNameLst>
                                      </p:cBhvr>
                                      <p:to>
                                        <p:strVal val="visible"/>
                                      </p:to>
                                    </p:set>
                                    <p:animEffect transition="in" filter="wipe(up)">
                                      <p:cBhvr>
                                        <p:cTn id="68" dur="500"/>
                                        <p:tgtEl>
                                          <p:spTgt spid="6">
                                            <p:txEl>
                                              <p:pRg st="6" end="6"/>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6">
                                            <p:txEl>
                                              <p:pRg st="7" end="7"/>
                                            </p:txEl>
                                          </p:spTgt>
                                        </p:tgtEl>
                                        <p:attrNameLst>
                                          <p:attrName>style.visibility</p:attrName>
                                        </p:attrNameLst>
                                      </p:cBhvr>
                                      <p:to>
                                        <p:strVal val="visible"/>
                                      </p:to>
                                    </p:set>
                                    <p:animEffect transition="in" filter="wipe(up)">
                                      <p:cBhvr>
                                        <p:cTn id="73" dur="500"/>
                                        <p:tgtEl>
                                          <p:spTgt spid="6">
                                            <p:txEl>
                                              <p:pRg st="7" end="7"/>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6">
                                            <p:txEl>
                                              <p:pRg st="8" end="8"/>
                                            </p:txEl>
                                          </p:spTgt>
                                        </p:tgtEl>
                                        <p:attrNameLst>
                                          <p:attrName>style.visibility</p:attrName>
                                        </p:attrNameLst>
                                      </p:cBhvr>
                                      <p:to>
                                        <p:strVal val="visible"/>
                                      </p:to>
                                    </p:set>
                                    <p:animEffect transition="in" filter="wipe(up)">
                                      <p:cBhvr>
                                        <p:cTn id="78" dur="500"/>
                                        <p:tgtEl>
                                          <p:spTgt spid="6">
                                            <p:txEl>
                                              <p:pRg st="8" end="8"/>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6">
                                            <p:txEl>
                                              <p:pRg st="9" end="9"/>
                                            </p:txEl>
                                          </p:spTgt>
                                        </p:tgtEl>
                                        <p:attrNameLst>
                                          <p:attrName>style.visibility</p:attrName>
                                        </p:attrNameLst>
                                      </p:cBhvr>
                                      <p:to>
                                        <p:strVal val="visible"/>
                                      </p:to>
                                    </p:set>
                                    <p:animEffect transition="in" filter="wipe(up)">
                                      <p:cBhvr>
                                        <p:cTn id="83"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BAD5F0F-DE9A-43A2-8E0F-D5DED8E8691C}"/>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函数调用的执行过程</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AF73A90B-3287-4BCD-B8A8-D27487A0AB1E}"/>
              </a:ext>
            </a:extLst>
          </p:cNvPr>
          <p:cNvSpPr/>
          <p:nvPr/>
        </p:nvSpPr>
        <p:spPr>
          <a:xfrm>
            <a:off x="16778" y="578901"/>
            <a:ext cx="12158444" cy="1384995"/>
          </a:xfrm>
          <a:prstGeom prst="rect">
            <a:avLst/>
          </a:prstGeom>
        </p:spPr>
        <p:txBody>
          <a:bodyPr wrap="square">
            <a:spAutoFit/>
          </a:bodyPr>
          <a:lstStyle/>
          <a:p>
            <a:pPr marL="0" lvl="1"/>
            <a:r>
              <a:rPr lang="zh-CN" altLang="en-US" sz="2800" b="1" dirty="0">
                <a:latin typeface="隶书" pitchFamily="49" charset="-122"/>
              </a:rPr>
              <a:t>程序在执行过程中若遇到函数调用，首先保存当前调用位置，然后将实参值传递给形参，程序执行流程被转移到被调用函数内部，直到遇到</a:t>
            </a:r>
            <a:r>
              <a:rPr lang="en-US" altLang="zh-CN" sz="2800" b="1" dirty="0">
                <a:latin typeface="隶书" pitchFamily="49" charset="-122"/>
              </a:rPr>
              <a:t>return</a:t>
            </a:r>
            <a:r>
              <a:rPr lang="zh-CN" altLang="en-US" sz="2800" b="1" dirty="0">
                <a:latin typeface="隶书" pitchFamily="49" charset="-122"/>
              </a:rPr>
              <a:t>语句或被调用函数执行结束，执行流程才返回到之前保存的调用位置继续执行。</a:t>
            </a:r>
            <a:endParaRPr lang="en-US" altLang="zh-CN" sz="2800" b="1" dirty="0">
              <a:latin typeface="隶书" pitchFamily="49" charset="-122"/>
            </a:endParaRPr>
          </a:p>
        </p:txBody>
      </p:sp>
      <p:sp>
        <p:nvSpPr>
          <p:cNvPr id="5" name="矩形 4">
            <a:extLst>
              <a:ext uri="{FF2B5EF4-FFF2-40B4-BE49-F238E27FC236}">
                <a16:creationId xmlns:a16="http://schemas.microsoft.com/office/drawing/2014/main" id="{F66CFA60-AEBA-41B5-A0B2-C83946E9F8EC}"/>
              </a:ext>
            </a:extLst>
          </p:cNvPr>
          <p:cNvSpPr/>
          <p:nvPr/>
        </p:nvSpPr>
        <p:spPr>
          <a:xfrm>
            <a:off x="-10988" y="2394783"/>
            <a:ext cx="12158444" cy="954107"/>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6-4</a:t>
            </a:r>
            <a:r>
              <a:rPr lang="en-US" altLang="zh-CN" sz="2800" b="1" dirty="0">
                <a:latin typeface="隶书" pitchFamily="49" charset="-122"/>
              </a:rPr>
              <a:t>】</a:t>
            </a:r>
            <a:r>
              <a:rPr lang="zh-CN" altLang="en-US" sz="2800" b="1" dirty="0">
                <a:latin typeface="隶书" pitchFamily="49" charset="-122"/>
              </a:rPr>
              <a:t>编写函数求两个整数的最大值，在主函数中输入数据，调用函数</a:t>
            </a:r>
            <a:r>
              <a:rPr lang="en-US" altLang="zh-CN" sz="2800" b="1" dirty="0">
                <a:latin typeface="隶书" pitchFamily="49" charset="-122"/>
              </a:rPr>
              <a:t>max()</a:t>
            </a:r>
            <a:r>
              <a:rPr lang="zh-CN" altLang="en-US" sz="2800" b="1" dirty="0">
                <a:latin typeface="隶书" pitchFamily="49" charset="-122"/>
              </a:rPr>
              <a:t>求最大值，在主函数中输出结果。</a:t>
            </a:r>
            <a:endParaRPr lang="en-US" altLang="zh-CN" sz="2800" b="1" dirty="0">
              <a:latin typeface="隶书" pitchFamily="49" charset="-122"/>
            </a:endParaRPr>
          </a:p>
        </p:txBody>
      </p:sp>
      <p:sp>
        <p:nvSpPr>
          <p:cNvPr id="6" name="灯片编号占位符 5">
            <a:extLst>
              <a:ext uri="{FF2B5EF4-FFF2-40B4-BE49-F238E27FC236}">
                <a16:creationId xmlns:a16="http://schemas.microsoft.com/office/drawing/2014/main" id="{E6393030-DF75-4645-982E-D30DB6E6D3DF}"/>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10</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22397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613BF3-E171-4F2D-B0D0-BA4CA1FF772C}"/>
              </a:ext>
            </a:extLst>
          </p:cNvPr>
          <p:cNvSpPr txBox="1">
            <a:spLocks noChangeArrowheads="1"/>
          </p:cNvSpPr>
          <p:nvPr/>
        </p:nvSpPr>
        <p:spPr>
          <a:xfrm>
            <a:off x="381098" y="787242"/>
            <a:ext cx="5310281"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y);</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y, z;</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err="1">
                <a:solidFill>
                  <a:srgbClr val="00B050"/>
                </a:solidFill>
                <a:ea typeface="等线" panose="02010600030101010101" pitchFamily="2" charset="-122"/>
                <a:cs typeface="Times New Roman" panose="02020603050405020304" pitchFamily="18" charset="0"/>
              </a:rPr>
              <a:t>%</a:t>
            </a:r>
            <a:r>
              <a:rPr lang="en-US" altLang="zh-CN" b="1"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&amp;x, &amp;y);</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z = max(x, y);</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max=</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z);</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2327DF7C-28A7-4011-B688-22F13634CAA9}"/>
              </a:ext>
            </a:extLst>
          </p:cNvPr>
          <p:cNvSpPr txBox="1">
            <a:spLocks noChangeArrowheads="1"/>
          </p:cNvSpPr>
          <p:nvPr/>
        </p:nvSpPr>
        <p:spPr>
          <a:xfrm>
            <a:off x="6007769" y="3135555"/>
            <a:ext cx="5310281" cy="323678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000"/>
              </a:lnSpc>
              <a:spcBef>
                <a:spcPct val="0"/>
              </a:spcBef>
              <a:buClr>
                <a:schemeClr val="tx2"/>
              </a:buClr>
              <a:buSzPct val="70000"/>
              <a:buFont typeface="Arial" panose="020B0604020202020204" pitchFamily="34" charset="0"/>
              <a:buNone/>
            </a:pP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solidFill>
                  <a:srgbClr val="FF0000"/>
                </a:solidFill>
              </a:rPr>
              <a:t> </a:t>
            </a:r>
            <a:r>
              <a:rPr lang="en-US" altLang="zh-CN" b="1" dirty="0"/>
              <a:t>max</a:t>
            </a:r>
            <a:r>
              <a:rPr lang="en-US" altLang="zh-CN" b="1" dirty="0">
                <a:solidFill>
                  <a:srgbClr val="FF0000"/>
                </a:solidFill>
              </a:rPr>
              <a:t>(</a:t>
            </a:r>
            <a:r>
              <a:rPr lang="en-US" altLang="zh-CN" b="1" dirty="0">
                <a:solidFill>
                  <a:srgbClr val="0000FF"/>
                </a:solidFill>
              </a:rPr>
              <a:t>int</a:t>
            </a:r>
            <a:r>
              <a:rPr lang="en-US" altLang="zh-CN" b="1" dirty="0"/>
              <a:t> a, </a:t>
            </a:r>
            <a:r>
              <a:rPr lang="en-US" altLang="zh-CN" b="1" dirty="0">
                <a:solidFill>
                  <a:srgbClr val="0000FF"/>
                </a:solidFill>
              </a:rPr>
              <a:t>int</a:t>
            </a:r>
            <a:r>
              <a:rPr lang="en-US" altLang="zh-CN" b="1" dirty="0"/>
              <a:t> b</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int</a:t>
            </a:r>
            <a:r>
              <a:rPr lang="en-US" altLang="zh-CN" b="1" dirty="0"/>
              <a:t> max = a;</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(a &lt; b)</a:t>
            </a:r>
          </a:p>
          <a:p>
            <a:pPr marL="0" indent="0">
              <a:lnSpc>
                <a:spcPct val="100000"/>
              </a:lnSpc>
              <a:spcBef>
                <a:spcPct val="0"/>
              </a:spcBef>
              <a:buClr>
                <a:schemeClr val="tx2"/>
              </a:buClr>
              <a:buSzPct val="70000"/>
              <a:buNone/>
            </a:pPr>
            <a:r>
              <a:rPr lang="en-US" altLang="zh-CN" b="1" dirty="0"/>
              <a:t>	    max = b;</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return</a:t>
            </a:r>
            <a:r>
              <a:rPr lang="en-US" altLang="zh-CN" b="1" dirty="0">
                <a:solidFill>
                  <a:srgbClr val="FF0000"/>
                </a:solidFill>
              </a:rPr>
              <a:t> </a:t>
            </a:r>
            <a:r>
              <a:rPr lang="en-US" altLang="zh-CN" b="1" dirty="0"/>
              <a:t>max;</a:t>
            </a:r>
          </a:p>
          <a:p>
            <a:pPr marL="0" indent="0">
              <a:lnSpc>
                <a:spcPct val="100000"/>
              </a:lnSpc>
              <a:spcBef>
                <a:spcPct val="0"/>
              </a:spcBef>
              <a:buClr>
                <a:schemeClr val="tx2"/>
              </a:buClr>
              <a:buSzPct val="70000"/>
              <a:buNone/>
            </a:pPr>
            <a:r>
              <a:rPr lang="en-US" altLang="zh-CN" b="1" dirty="0">
                <a:solidFill>
                  <a:srgbClr val="FF0000"/>
                </a:solidFill>
              </a:rPr>
              <a:t>}</a:t>
            </a:r>
            <a:endParaRPr lang="zh-CN" altLang="en-US" b="1" dirty="0">
              <a:solidFill>
                <a:srgbClr val="FF0000"/>
              </a:solidFill>
            </a:endParaRPr>
          </a:p>
        </p:txBody>
      </p:sp>
      <p:cxnSp>
        <p:nvCxnSpPr>
          <p:cNvPr id="8" name="直接箭头连接符 7">
            <a:extLst>
              <a:ext uri="{FF2B5EF4-FFF2-40B4-BE49-F238E27FC236}">
                <a16:creationId xmlns:a16="http://schemas.microsoft.com/office/drawing/2014/main" id="{38909297-900C-4661-A25F-E917E8D4D340}"/>
              </a:ext>
            </a:extLst>
          </p:cNvPr>
          <p:cNvCxnSpPr/>
          <p:nvPr/>
        </p:nvCxnSpPr>
        <p:spPr>
          <a:xfrm>
            <a:off x="778042" y="2237874"/>
            <a:ext cx="0" cy="186974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4B0DBBA-EADC-428F-8D58-D20BB5E21FC9}"/>
              </a:ext>
            </a:extLst>
          </p:cNvPr>
          <p:cNvCxnSpPr>
            <a:cxnSpLocks/>
          </p:cNvCxnSpPr>
          <p:nvPr/>
        </p:nvCxnSpPr>
        <p:spPr>
          <a:xfrm>
            <a:off x="8959516" y="2908259"/>
            <a:ext cx="0" cy="51047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268E2499-DE6F-4889-BEA0-2BC4BF6C0560}"/>
              </a:ext>
            </a:extLst>
          </p:cNvPr>
          <p:cNvCxnSpPr/>
          <p:nvPr/>
        </p:nvCxnSpPr>
        <p:spPr>
          <a:xfrm>
            <a:off x="2935705" y="3585411"/>
            <a:ext cx="0" cy="36094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FB27C287-F947-451C-8F65-7CA25A57599C}"/>
              </a:ext>
            </a:extLst>
          </p:cNvPr>
          <p:cNvCxnSpPr>
            <a:cxnSpLocks/>
          </p:cNvCxnSpPr>
          <p:nvPr/>
        </p:nvCxnSpPr>
        <p:spPr>
          <a:xfrm>
            <a:off x="8013032" y="2502568"/>
            <a:ext cx="0" cy="916163"/>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57B29E67-9FAB-446C-8743-49280D0BB4A9}"/>
              </a:ext>
            </a:extLst>
          </p:cNvPr>
          <p:cNvCxnSpPr>
            <a:cxnSpLocks/>
          </p:cNvCxnSpPr>
          <p:nvPr/>
        </p:nvCxnSpPr>
        <p:spPr>
          <a:xfrm>
            <a:off x="2558716" y="3429000"/>
            <a:ext cx="0" cy="51735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57AF557-AFB4-4E30-A7C8-6520A406B7B6}"/>
              </a:ext>
            </a:extLst>
          </p:cNvPr>
          <p:cNvCxnSpPr>
            <a:cxnSpLocks/>
          </p:cNvCxnSpPr>
          <p:nvPr/>
        </p:nvCxnSpPr>
        <p:spPr>
          <a:xfrm flipH="1">
            <a:off x="2550695" y="3429000"/>
            <a:ext cx="3232484" cy="1604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56C95A92-8B8B-4CF9-A99D-EF5176A271BE}"/>
              </a:ext>
            </a:extLst>
          </p:cNvPr>
          <p:cNvCxnSpPr>
            <a:cxnSpLocks/>
          </p:cNvCxnSpPr>
          <p:nvPr/>
        </p:nvCxnSpPr>
        <p:spPr>
          <a:xfrm flipH="1" flipV="1">
            <a:off x="5775158" y="2502568"/>
            <a:ext cx="2245896" cy="802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B9B07AE-9384-4838-A23B-91830635A4D4}"/>
              </a:ext>
            </a:extLst>
          </p:cNvPr>
          <p:cNvCxnSpPr>
            <a:cxnSpLocks/>
          </p:cNvCxnSpPr>
          <p:nvPr/>
        </p:nvCxnSpPr>
        <p:spPr>
          <a:xfrm>
            <a:off x="5783179" y="2483396"/>
            <a:ext cx="0" cy="96164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5810431-683D-4F5E-8ABB-05881E99ECC9}"/>
              </a:ext>
            </a:extLst>
          </p:cNvPr>
          <p:cNvCxnSpPr>
            <a:cxnSpLocks/>
          </p:cNvCxnSpPr>
          <p:nvPr/>
        </p:nvCxnSpPr>
        <p:spPr>
          <a:xfrm flipH="1">
            <a:off x="2917407" y="3585411"/>
            <a:ext cx="3027697" cy="1604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A6C7EE9A-9E65-4BEA-BA99-72F12C752675}"/>
              </a:ext>
            </a:extLst>
          </p:cNvPr>
          <p:cNvCxnSpPr>
            <a:cxnSpLocks/>
          </p:cNvCxnSpPr>
          <p:nvPr/>
        </p:nvCxnSpPr>
        <p:spPr>
          <a:xfrm>
            <a:off x="5945104" y="2920916"/>
            <a:ext cx="877" cy="68429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BEE8FD76-A964-4F2F-BB25-F8131146D3EC}"/>
              </a:ext>
            </a:extLst>
          </p:cNvPr>
          <p:cNvCxnSpPr>
            <a:cxnSpLocks/>
          </p:cNvCxnSpPr>
          <p:nvPr/>
        </p:nvCxnSpPr>
        <p:spPr>
          <a:xfrm flipH="1">
            <a:off x="5926931" y="2908259"/>
            <a:ext cx="3053767" cy="1265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E7FF403F-A0B1-482E-B80D-26A4F742041D}"/>
              </a:ext>
            </a:extLst>
          </p:cNvPr>
          <p:cNvCxnSpPr>
            <a:cxnSpLocks/>
          </p:cNvCxnSpPr>
          <p:nvPr/>
        </p:nvCxnSpPr>
        <p:spPr>
          <a:xfrm>
            <a:off x="9448800" y="4371474"/>
            <a:ext cx="0" cy="1411705"/>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B54F7EEE-6B6B-4BB3-8391-7A731919BF0E}"/>
              </a:ext>
            </a:extLst>
          </p:cNvPr>
          <p:cNvCxnSpPr>
            <a:cxnSpLocks/>
          </p:cNvCxnSpPr>
          <p:nvPr/>
        </p:nvCxnSpPr>
        <p:spPr>
          <a:xfrm flipH="1">
            <a:off x="1714251" y="4281990"/>
            <a:ext cx="141396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8BA7D644-90D2-43D9-97C0-2828C4AFE58A}"/>
              </a:ext>
            </a:extLst>
          </p:cNvPr>
          <p:cNvCxnSpPr>
            <a:cxnSpLocks/>
          </p:cNvCxnSpPr>
          <p:nvPr/>
        </p:nvCxnSpPr>
        <p:spPr>
          <a:xfrm flipH="1" flipV="1">
            <a:off x="5838825" y="5706728"/>
            <a:ext cx="896354" cy="426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89F41D27-5B89-40F4-A3B9-40180895F6AA}"/>
              </a:ext>
            </a:extLst>
          </p:cNvPr>
          <p:cNvCxnSpPr>
            <a:cxnSpLocks/>
          </p:cNvCxnSpPr>
          <p:nvPr/>
        </p:nvCxnSpPr>
        <p:spPr>
          <a:xfrm>
            <a:off x="5848665" y="4567238"/>
            <a:ext cx="11594" cy="113949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3181C83-04F2-4F29-9C7E-1689424B6259}"/>
              </a:ext>
            </a:extLst>
          </p:cNvPr>
          <p:cNvCxnSpPr>
            <a:cxnSpLocks/>
          </p:cNvCxnSpPr>
          <p:nvPr/>
        </p:nvCxnSpPr>
        <p:spPr>
          <a:xfrm flipH="1">
            <a:off x="2328863" y="4585535"/>
            <a:ext cx="3531397" cy="802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530DC58A-B3EE-4505-B288-A472BE6A3373}"/>
              </a:ext>
            </a:extLst>
          </p:cNvPr>
          <p:cNvCxnSpPr>
            <a:cxnSpLocks/>
          </p:cNvCxnSpPr>
          <p:nvPr/>
        </p:nvCxnSpPr>
        <p:spPr>
          <a:xfrm flipV="1">
            <a:off x="2328863" y="4300538"/>
            <a:ext cx="0" cy="31472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07F1858-21C5-49CC-90A9-C17F8CF7547A}"/>
              </a:ext>
            </a:extLst>
          </p:cNvPr>
          <p:cNvCxnSpPr>
            <a:cxnSpLocks/>
          </p:cNvCxnSpPr>
          <p:nvPr/>
        </p:nvCxnSpPr>
        <p:spPr>
          <a:xfrm flipH="1">
            <a:off x="769164" y="4873841"/>
            <a:ext cx="8878" cy="65458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5AE9717F-14D3-4F95-A943-07FBE54D80B6}"/>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函数调用的执行过程</a:t>
            </a:r>
            <a:endParaRPr lang="zh-CN" altLang="en-US" sz="3200" b="1" dirty="0">
              <a:solidFill>
                <a:srgbClr val="200AC4"/>
              </a:solidFill>
              <a:ea typeface="隶书" pitchFamily="49" charset="-122"/>
            </a:endParaRPr>
          </a:p>
        </p:txBody>
      </p:sp>
      <p:sp>
        <p:nvSpPr>
          <p:cNvPr id="4" name="灯片编号占位符 3">
            <a:extLst>
              <a:ext uri="{FF2B5EF4-FFF2-40B4-BE49-F238E27FC236}">
                <a16:creationId xmlns:a16="http://schemas.microsoft.com/office/drawing/2014/main" id="{7060A99C-2DFA-40B3-B39F-ADB19F8C48C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11</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99612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00"/>
                                        <p:tgtEl>
                                          <p:spTgt spid="2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wipe(down)">
                                      <p:cBhvr>
                                        <p:cTn id="20" dur="500"/>
                                        <p:tgtEl>
                                          <p:spTgt spid="36"/>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left)">
                                      <p:cBhvr>
                                        <p:cTn id="24" dur="500"/>
                                        <p:tgtEl>
                                          <p:spTgt spid="37"/>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up)">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down)">
                                      <p:cBhvr>
                                        <p:cTn id="33" dur="500"/>
                                        <p:tgtEl>
                                          <p:spTgt spid="21"/>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par>
                          <p:cTn id="38" fill="hold">
                            <p:stCondLst>
                              <p:cond delay="1000"/>
                            </p:stCondLst>
                            <p:childTnLst>
                              <p:par>
                                <p:cTn id="39" presetID="22" presetClass="entr" presetSubtype="4" fill="hold"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wipe(down)">
                                      <p:cBhvr>
                                        <p:cTn id="41" dur="500"/>
                                        <p:tgtEl>
                                          <p:spTgt spid="29"/>
                                        </p:tgtEl>
                                      </p:cBhvr>
                                    </p:animEffect>
                                  </p:childTnLst>
                                </p:cTn>
                              </p:par>
                            </p:childTnLst>
                          </p:cTn>
                        </p:par>
                        <p:par>
                          <p:cTn id="42" fill="hold">
                            <p:stCondLst>
                              <p:cond delay="1500"/>
                            </p:stCondLst>
                            <p:childTnLst>
                              <p:par>
                                <p:cTn id="43" presetID="22" presetClass="entr" presetSubtype="8" fill="hold"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par>
                          <p:cTn id="46" fill="hold">
                            <p:stCondLst>
                              <p:cond delay="2000"/>
                            </p:stCondLst>
                            <p:childTnLst>
                              <p:par>
                                <p:cTn id="47" presetID="22" presetClass="entr" presetSubtype="1"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up)">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wipe(up)">
                                      <p:cBhvr>
                                        <p:cTn id="54" dur="500"/>
                                        <p:tgtEl>
                                          <p:spTgt spid="4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wipe(right)">
                                      <p:cBhvr>
                                        <p:cTn id="59" dur="500"/>
                                        <p:tgtEl>
                                          <p:spTgt spid="51"/>
                                        </p:tgtEl>
                                      </p:cBhvr>
                                    </p:animEffect>
                                  </p:childTnLst>
                                </p:cTn>
                              </p:par>
                            </p:childTnLst>
                          </p:cTn>
                        </p:par>
                        <p:par>
                          <p:cTn id="60" fill="hold">
                            <p:stCondLst>
                              <p:cond delay="500"/>
                            </p:stCondLst>
                            <p:childTnLst>
                              <p:par>
                                <p:cTn id="61" presetID="22" presetClass="entr" presetSubtype="4" fill="hold"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down)">
                                      <p:cBhvr>
                                        <p:cTn id="63" dur="500"/>
                                        <p:tgtEl>
                                          <p:spTgt spid="53"/>
                                        </p:tgtEl>
                                      </p:cBhvr>
                                    </p:animEffect>
                                  </p:childTnLst>
                                </p:cTn>
                              </p:par>
                            </p:childTnLst>
                          </p:cTn>
                        </p:par>
                        <p:par>
                          <p:cTn id="64" fill="hold">
                            <p:stCondLst>
                              <p:cond delay="1000"/>
                            </p:stCondLst>
                            <p:childTnLst>
                              <p:par>
                                <p:cTn id="65" presetID="22" presetClass="entr" presetSubtype="2" fill="hold"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wipe(right)">
                                      <p:cBhvr>
                                        <p:cTn id="67" dur="500"/>
                                        <p:tgtEl>
                                          <p:spTgt spid="55"/>
                                        </p:tgtEl>
                                      </p:cBhvr>
                                    </p:animEffect>
                                  </p:childTnLst>
                                </p:cTn>
                              </p:par>
                            </p:childTnLst>
                          </p:cTn>
                        </p:par>
                        <p:par>
                          <p:cTn id="68" fill="hold">
                            <p:stCondLst>
                              <p:cond delay="1500"/>
                            </p:stCondLst>
                            <p:childTnLst>
                              <p:par>
                                <p:cTn id="69" presetID="22" presetClass="entr" presetSubtype="4" fill="hold" nodeType="after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wipe(down)">
                                      <p:cBhvr>
                                        <p:cTn id="71" dur="500"/>
                                        <p:tgtEl>
                                          <p:spTgt spid="57"/>
                                        </p:tgtEl>
                                      </p:cBhvr>
                                    </p:animEffect>
                                  </p:childTnLst>
                                </p:cTn>
                              </p:par>
                            </p:childTnLst>
                          </p:cTn>
                        </p:par>
                        <p:par>
                          <p:cTn id="72" fill="hold">
                            <p:stCondLst>
                              <p:cond delay="2000"/>
                            </p:stCondLst>
                            <p:childTnLst>
                              <p:par>
                                <p:cTn id="73" presetID="1" presetClass="entr" presetSubtype="0" fill="hold" nodeType="after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66"/>
                                        </p:tgtEl>
                                        <p:attrNameLst>
                                          <p:attrName>style.visibility</p:attrName>
                                        </p:attrNameLst>
                                      </p:cBhvr>
                                      <p:to>
                                        <p:strVal val="visible"/>
                                      </p:to>
                                    </p:set>
                                    <p:animEffect transition="in" filter="wipe(up)">
                                      <p:cBhvr>
                                        <p:cTn id="7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D62D480-BFCE-454F-9455-64617B8AC8F8}"/>
              </a:ext>
            </a:extLst>
          </p:cNvPr>
          <p:cNvSpPr/>
          <p:nvPr/>
        </p:nvSpPr>
        <p:spPr>
          <a:xfrm>
            <a:off x="16778" y="602964"/>
            <a:ext cx="12158444" cy="523220"/>
          </a:xfrm>
          <a:prstGeom prst="rect">
            <a:avLst/>
          </a:prstGeom>
        </p:spPr>
        <p:txBody>
          <a:bodyPr wrap="square">
            <a:spAutoFit/>
          </a:bodyPr>
          <a:lstStyle/>
          <a:p>
            <a:pPr marL="0" lvl="1"/>
            <a:r>
              <a:rPr lang="zh-CN" altLang="en-US" sz="2800" b="1" dirty="0">
                <a:latin typeface="隶书" pitchFamily="49" charset="-122"/>
              </a:rPr>
              <a:t>在函数调用过程中，调用函数与被调用函数之间的</a:t>
            </a:r>
            <a:r>
              <a:rPr lang="zh-CN" altLang="en-US" sz="2800" b="1" dirty="0">
                <a:solidFill>
                  <a:srgbClr val="FF0000"/>
                </a:solidFill>
                <a:latin typeface="隶书" pitchFamily="49" charset="-122"/>
              </a:rPr>
              <a:t>数据传递</a:t>
            </a:r>
            <a:r>
              <a:rPr lang="zh-CN" altLang="en-US" sz="2800" b="1" dirty="0">
                <a:latin typeface="隶书" pitchFamily="49" charset="-122"/>
              </a:rPr>
              <a:t>途径有三种：</a:t>
            </a:r>
            <a:endParaRPr lang="en-US" altLang="zh-CN" sz="2800" b="1" dirty="0">
              <a:latin typeface="隶书" pitchFamily="49" charset="-122"/>
            </a:endParaRPr>
          </a:p>
        </p:txBody>
      </p:sp>
      <p:sp>
        <p:nvSpPr>
          <p:cNvPr id="4" name="Text Box 88">
            <a:extLst>
              <a:ext uri="{FF2B5EF4-FFF2-40B4-BE49-F238E27FC236}">
                <a16:creationId xmlns:a16="http://schemas.microsoft.com/office/drawing/2014/main" id="{CAF7A6A6-C362-4F62-A38A-2B4D39751132}"/>
              </a:ext>
            </a:extLst>
          </p:cNvPr>
          <p:cNvSpPr txBox="1">
            <a:spLocks noChangeArrowheads="1"/>
          </p:cNvSpPr>
          <p:nvPr/>
        </p:nvSpPr>
        <p:spPr bwMode="auto">
          <a:xfrm>
            <a:off x="915135" y="1344540"/>
            <a:ext cx="5094895"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①</a:t>
            </a:r>
            <a:r>
              <a:rPr kumimoji="1" lang="zh-CN" altLang="en-US" sz="3200" dirty="0">
                <a:ea typeface="隶书" pitchFamily="49" charset="-122"/>
              </a:rPr>
              <a:t>函数参数</a:t>
            </a:r>
            <a:r>
              <a:rPr kumimoji="1" lang="en-US" altLang="zh-CN" sz="3200" dirty="0">
                <a:ea typeface="隶书" pitchFamily="49" charset="-122"/>
              </a:rPr>
              <a:t>(</a:t>
            </a:r>
            <a:r>
              <a:rPr kumimoji="1" lang="zh-CN" altLang="en-US" sz="3200" dirty="0">
                <a:ea typeface="隶书" pitchFamily="49" charset="-122"/>
              </a:rPr>
              <a:t>参数传递</a:t>
            </a:r>
            <a:r>
              <a:rPr kumimoji="1" lang="en-US" altLang="zh-CN" sz="3200" dirty="0">
                <a:ea typeface="隶书" pitchFamily="49" charset="-122"/>
              </a:rPr>
              <a:t>)</a:t>
            </a:r>
            <a:endParaRPr kumimoji="1" lang="zh-CN" altLang="en-US" sz="3200" dirty="0">
              <a:ea typeface="隶书" pitchFamily="49" charset="-122"/>
            </a:endParaRPr>
          </a:p>
        </p:txBody>
      </p:sp>
      <p:sp>
        <p:nvSpPr>
          <p:cNvPr id="5" name="Text Box 88">
            <a:extLst>
              <a:ext uri="{FF2B5EF4-FFF2-40B4-BE49-F238E27FC236}">
                <a16:creationId xmlns:a16="http://schemas.microsoft.com/office/drawing/2014/main" id="{86240C37-2246-4860-A7E6-721FEEE747CC}"/>
              </a:ext>
            </a:extLst>
          </p:cNvPr>
          <p:cNvSpPr txBox="1">
            <a:spLocks noChangeArrowheads="1"/>
          </p:cNvSpPr>
          <p:nvPr/>
        </p:nvSpPr>
        <p:spPr bwMode="auto">
          <a:xfrm>
            <a:off x="915136" y="2136265"/>
            <a:ext cx="3841348"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②</a:t>
            </a:r>
            <a:r>
              <a:rPr kumimoji="1" lang="zh-CN" altLang="en-US" sz="3200" dirty="0">
                <a:ea typeface="隶书" pitchFamily="49" charset="-122"/>
              </a:rPr>
              <a:t>函数返回值</a:t>
            </a:r>
          </a:p>
        </p:txBody>
      </p:sp>
      <p:sp>
        <p:nvSpPr>
          <p:cNvPr id="6" name="Text Box 88">
            <a:extLst>
              <a:ext uri="{FF2B5EF4-FFF2-40B4-BE49-F238E27FC236}">
                <a16:creationId xmlns:a16="http://schemas.microsoft.com/office/drawing/2014/main" id="{3A17C80A-2259-4505-9131-62EB6119D031}"/>
              </a:ext>
            </a:extLst>
          </p:cNvPr>
          <p:cNvSpPr txBox="1">
            <a:spLocks noChangeArrowheads="1"/>
          </p:cNvSpPr>
          <p:nvPr/>
        </p:nvSpPr>
        <p:spPr bwMode="auto">
          <a:xfrm>
            <a:off x="915136" y="2927990"/>
            <a:ext cx="385812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③</a:t>
            </a:r>
            <a:r>
              <a:rPr kumimoji="1" lang="zh-CN" altLang="en-US" sz="3200" dirty="0">
                <a:ea typeface="隶书" pitchFamily="49" charset="-122"/>
              </a:rPr>
              <a:t>全局变量</a:t>
            </a:r>
          </a:p>
        </p:txBody>
      </p:sp>
      <p:sp>
        <p:nvSpPr>
          <p:cNvPr id="7" name="灯片编号占位符 6">
            <a:extLst>
              <a:ext uri="{FF2B5EF4-FFF2-40B4-BE49-F238E27FC236}">
                <a16:creationId xmlns:a16="http://schemas.microsoft.com/office/drawing/2014/main" id="{023FF0CD-7B0B-4034-9E8F-2F9A3F1825CF}"/>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12</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14701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2585927-9148-4450-A19F-13A483D3FA7D}"/>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4DDC29D0-719E-4656-B17F-4EDA707A88EF}"/>
              </a:ext>
            </a:extLst>
          </p:cNvPr>
          <p:cNvSpPr/>
          <p:nvPr/>
        </p:nvSpPr>
        <p:spPr>
          <a:xfrm>
            <a:off x="16778" y="602964"/>
            <a:ext cx="12158444" cy="954107"/>
          </a:xfrm>
          <a:prstGeom prst="rect">
            <a:avLst/>
          </a:prstGeom>
        </p:spPr>
        <p:txBody>
          <a:bodyPr wrap="square">
            <a:spAutoFit/>
          </a:bodyPr>
          <a:lstStyle/>
          <a:p>
            <a:pPr marL="0" lvl="1"/>
            <a:r>
              <a:rPr lang="zh-CN" altLang="en-US" sz="2800" b="1" dirty="0">
                <a:solidFill>
                  <a:srgbClr val="FF0000"/>
                </a:solidFill>
                <a:latin typeface="隶书" pitchFamily="49" charset="-122"/>
              </a:rPr>
              <a:t>参数传递</a:t>
            </a:r>
            <a:r>
              <a:rPr lang="zh-CN" altLang="en-US" sz="2800" b="1" dirty="0">
                <a:latin typeface="隶书" pitchFamily="49" charset="-122"/>
              </a:rPr>
              <a:t>：</a:t>
            </a:r>
            <a:r>
              <a:rPr lang="zh-CN" altLang="en-US" sz="2800" b="1" dirty="0">
                <a:solidFill>
                  <a:srgbClr val="00B0F0"/>
                </a:solidFill>
                <a:latin typeface="隶书" pitchFamily="49" charset="-122"/>
              </a:rPr>
              <a:t>形参</a:t>
            </a:r>
            <a:r>
              <a:rPr lang="zh-CN" altLang="en-US" sz="2800" b="1" dirty="0">
                <a:latin typeface="隶书" pitchFamily="49" charset="-122"/>
              </a:rPr>
              <a:t>和</a:t>
            </a:r>
            <a:r>
              <a:rPr lang="zh-CN" altLang="en-US" sz="2800" b="1" dirty="0">
                <a:solidFill>
                  <a:srgbClr val="00B0F0"/>
                </a:solidFill>
                <a:latin typeface="隶书" pitchFamily="49" charset="-122"/>
              </a:rPr>
              <a:t>实参</a:t>
            </a:r>
            <a:r>
              <a:rPr lang="zh-CN" altLang="en-US" sz="2800" b="1" dirty="0">
                <a:latin typeface="隶书" pitchFamily="49" charset="-122"/>
              </a:rPr>
              <a:t>之间进行的数据传递。</a:t>
            </a:r>
            <a:endParaRPr lang="en-US" altLang="zh-CN" sz="2800" b="1" dirty="0">
              <a:latin typeface="隶书" pitchFamily="49" charset="-122"/>
            </a:endParaRPr>
          </a:p>
          <a:p>
            <a:pPr marL="0" lvl="1"/>
            <a:r>
              <a:rPr lang="en-US" altLang="zh-CN" sz="2800" b="1" dirty="0">
                <a:latin typeface="隶书" pitchFamily="49" charset="-122"/>
              </a:rPr>
              <a:t>C</a:t>
            </a:r>
            <a:r>
              <a:rPr lang="zh-CN" altLang="en-US" sz="2800" b="1" dirty="0">
                <a:latin typeface="隶书" pitchFamily="49" charset="-122"/>
              </a:rPr>
              <a:t>语言中具体指：调用函数将</a:t>
            </a:r>
            <a:r>
              <a:rPr lang="zh-CN" altLang="en-US" sz="2800" b="1" dirty="0">
                <a:solidFill>
                  <a:srgbClr val="00B0F0"/>
                </a:solidFill>
                <a:latin typeface="隶书" pitchFamily="49" charset="-122"/>
              </a:rPr>
              <a:t>实参</a:t>
            </a:r>
            <a:r>
              <a:rPr lang="zh-CN" altLang="en-US" sz="2800" b="1" dirty="0">
                <a:latin typeface="隶书" pitchFamily="49" charset="-122"/>
              </a:rPr>
              <a:t>的值</a:t>
            </a:r>
            <a:r>
              <a:rPr lang="zh-CN" altLang="en-US" sz="2800" b="1" dirty="0">
                <a:solidFill>
                  <a:srgbClr val="FF0000"/>
                </a:solidFill>
                <a:latin typeface="隶书" pitchFamily="49" charset="-122"/>
              </a:rPr>
              <a:t>复制到</a:t>
            </a:r>
            <a:r>
              <a:rPr lang="zh-CN" altLang="en-US" sz="2800" b="1" dirty="0">
                <a:latin typeface="隶书" pitchFamily="49" charset="-122"/>
              </a:rPr>
              <a:t>被调用函数对应的</a:t>
            </a:r>
            <a:r>
              <a:rPr lang="zh-CN" altLang="en-US" sz="2800" b="1" dirty="0">
                <a:solidFill>
                  <a:srgbClr val="00B0F0"/>
                </a:solidFill>
                <a:latin typeface="隶书" pitchFamily="49" charset="-122"/>
              </a:rPr>
              <a:t>形参</a:t>
            </a:r>
            <a:r>
              <a:rPr lang="zh-CN" altLang="en-US" sz="2800" b="1" dirty="0">
                <a:latin typeface="隶书" pitchFamily="49" charset="-122"/>
              </a:rPr>
              <a:t>中。</a:t>
            </a:r>
            <a:endParaRPr lang="en-US" altLang="zh-CN" sz="2800" b="1" dirty="0">
              <a:latin typeface="隶书" pitchFamily="49" charset="-122"/>
            </a:endParaRPr>
          </a:p>
        </p:txBody>
      </p:sp>
      <p:sp>
        <p:nvSpPr>
          <p:cNvPr id="5" name="矩形 4">
            <a:extLst>
              <a:ext uri="{FF2B5EF4-FFF2-40B4-BE49-F238E27FC236}">
                <a16:creationId xmlns:a16="http://schemas.microsoft.com/office/drawing/2014/main" id="{F92B54D9-EFD0-4EEC-A1E2-A1A6CD389CE9}"/>
              </a:ext>
            </a:extLst>
          </p:cNvPr>
          <p:cNvSpPr/>
          <p:nvPr/>
        </p:nvSpPr>
        <p:spPr>
          <a:xfrm>
            <a:off x="0" y="1557071"/>
            <a:ext cx="12158444" cy="523220"/>
          </a:xfrm>
          <a:prstGeom prst="rect">
            <a:avLst/>
          </a:prstGeom>
        </p:spPr>
        <p:txBody>
          <a:bodyPr wrap="square">
            <a:spAutoFit/>
          </a:bodyPr>
          <a:lstStyle/>
          <a:p>
            <a:r>
              <a:rPr lang="zh-CN" altLang="en-US" sz="2800" b="1" dirty="0">
                <a:latin typeface="隶书" pitchFamily="49" charset="-122"/>
              </a:rPr>
              <a:t>按照形参和实参的不同类型，</a:t>
            </a:r>
            <a:r>
              <a:rPr lang="zh-CN" altLang="en-US" sz="2800" b="1" dirty="0">
                <a:solidFill>
                  <a:srgbClr val="00B0F0"/>
                </a:solidFill>
                <a:latin typeface="隶书" pitchFamily="49" charset="-122"/>
              </a:rPr>
              <a:t>参数传递主要有以下二种方式</a:t>
            </a:r>
            <a:r>
              <a:rPr lang="zh-CN" altLang="en-US" sz="2800" b="1" dirty="0">
                <a:latin typeface="隶书" pitchFamily="49" charset="-122"/>
              </a:rPr>
              <a:t>：</a:t>
            </a:r>
          </a:p>
        </p:txBody>
      </p:sp>
      <p:sp>
        <p:nvSpPr>
          <p:cNvPr id="6" name="Text Box 88">
            <a:extLst>
              <a:ext uri="{FF2B5EF4-FFF2-40B4-BE49-F238E27FC236}">
                <a16:creationId xmlns:a16="http://schemas.microsoft.com/office/drawing/2014/main" id="{6DA02BB7-4DE9-4B2B-B1BB-D7513F15FA8A}"/>
              </a:ext>
            </a:extLst>
          </p:cNvPr>
          <p:cNvSpPr txBox="1">
            <a:spLocks noChangeArrowheads="1"/>
          </p:cNvSpPr>
          <p:nvPr/>
        </p:nvSpPr>
        <p:spPr bwMode="auto">
          <a:xfrm>
            <a:off x="1243382" y="2200363"/>
            <a:ext cx="3841348"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①</a:t>
            </a:r>
            <a:r>
              <a:rPr kumimoji="1" lang="zh-CN" altLang="en-US" sz="3200" dirty="0">
                <a:ea typeface="隶书" pitchFamily="49" charset="-122"/>
              </a:rPr>
              <a:t>值传递</a:t>
            </a:r>
          </a:p>
        </p:txBody>
      </p:sp>
      <p:sp>
        <p:nvSpPr>
          <p:cNvPr id="7" name="Text Box 88">
            <a:extLst>
              <a:ext uri="{FF2B5EF4-FFF2-40B4-BE49-F238E27FC236}">
                <a16:creationId xmlns:a16="http://schemas.microsoft.com/office/drawing/2014/main" id="{F482A352-E341-4B2B-82E3-44D363974A3C}"/>
              </a:ext>
            </a:extLst>
          </p:cNvPr>
          <p:cNvSpPr txBox="1">
            <a:spLocks noChangeArrowheads="1"/>
          </p:cNvSpPr>
          <p:nvPr/>
        </p:nvSpPr>
        <p:spPr bwMode="auto">
          <a:xfrm>
            <a:off x="1243382" y="2886102"/>
            <a:ext cx="3841348"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latin typeface="等线" panose="02010600030101010101" pitchFamily="2" charset="-122"/>
                <a:ea typeface="等线" panose="02010600030101010101" pitchFamily="2" charset="-122"/>
              </a:rPr>
              <a:t>②</a:t>
            </a:r>
            <a:r>
              <a:rPr kumimoji="1" lang="zh-CN" altLang="en-US" sz="3200" dirty="0">
                <a:ea typeface="隶书" pitchFamily="49" charset="-122"/>
              </a:rPr>
              <a:t>地址传递</a:t>
            </a:r>
          </a:p>
        </p:txBody>
      </p:sp>
      <p:sp>
        <p:nvSpPr>
          <p:cNvPr id="8" name="灯片编号占位符 7">
            <a:extLst>
              <a:ext uri="{FF2B5EF4-FFF2-40B4-BE49-F238E27FC236}">
                <a16:creationId xmlns:a16="http://schemas.microsoft.com/office/drawing/2014/main" id="{30BA1AF3-67DA-4CDA-8FFA-AB18F40DC6B0}"/>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13</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75681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75025B9-F3B3-408C-B0C9-01BF51BBEB54}"/>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值传递</a:t>
            </a:r>
            <a:endParaRPr lang="zh-CN" altLang="en-US" sz="3200" b="1" dirty="0">
              <a:solidFill>
                <a:srgbClr val="200AC4"/>
              </a:solidFill>
              <a:ea typeface="隶书" pitchFamily="49" charset="-122"/>
            </a:endParaRPr>
          </a:p>
        </p:txBody>
      </p:sp>
      <p:sp>
        <p:nvSpPr>
          <p:cNvPr id="5" name="矩形 4">
            <a:extLst>
              <a:ext uri="{FF2B5EF4-FFF2-40B4-BE49-F238E27FC236}">
                <a16:creationId xmlns:a16="http://schemas.microsoft.com/office/drawing/2014/main" id="{1AFFF253-A51C-4B73-937B-60E27E268937}"/>
              </a:ext>
            </a:extLst>
          </p:cNvPr>
          <p:cNvSpPr/>
          <p:nvPr/>
        </p:nvSpPr>
        <p:spPr>
          <a:xfrm>
            <a:off x="867008" y="2082687"/>
            <a:ext cx="5012423" cy="954107"/>
          </a:xfrm>
          <a:prstGeom prst="rect">
            <a:avLst/>
          </a:prstGeom>
        </p:spPr>
        <p:txBody>
          <a:bodyPr wrap="square">
            <a:spAutoFit/>
          </a:bodyPr>
          <a:lstStyle/>
          <a:p>
            <a:pPr marL="0" lvl="1"/>
            <a:r>
              <a:rPr lang="zh-CN" altLang="en-US" sz="2800" b="1" dirty="0">
                <a:solidFill>
                  <a:srgbClr val="00B0F0"/>
                </a:solidFill>
                <a:latin typeface="隶书" pitchFamily="49" charset="-122"/>
              </a:rPr>
              <a:t>实参</a:t>
            </a:r>
            <a:r>
              <a:rPr lang="zh-CN" altLang="en-US" sz="2800" b="1" dirty="0">
                <a:latin typeface="隶书" pitchFamily="49" charset="-122"/>
              </a:rPr>
              <a:t>：常量、变量、表达式</a:t>
            </a:r>
            <a:endParaRPr lang="en-US" altLang="zh-CN" sz="2800" b="1" dirty="0">
              <a:latin typeface="隶书" pitchFamily="49" charset="-122"/>
            </a:endParaRPr>
          </a:p>
          <a:p>
            <a:pPr marL="0" lvl="1"/>
            <a:r>
              <a:rPr lang="zh-CN" altLang="en-US" sz="2800" b="1" dirty="0">
                <a:solidFill>
                  <a:srgbClr val="00B0F0"/>
                </a:solidFill>
                <a:latin typeface="隶书" pitchFamily="49" charset="-122"/>
              </a:rPr>
              <a:t>形参</a:t>
            </a:r>
            <a:r>
              <a:rPr lang="zh-CN" altLang="en-US" sz="2800" b="1" dirty="0">
                <a:latin typeface="隶书" pitchFamily="49" charset="-122"/>
              </a:rPr>
              <a:t>：变量</a:t>
            </a:r>
            <a:endParaRPr lang="en-US" altLang="zh-CN" sz="2800" b="1" dirty="0">
              <a:latin typeface="隶书" pitchFamily="49" charset="-122"/>
            </a:endParaRPr>
          </a:p>
        </p:txBody>
      </p:sp>
      <p:sp>
        <p:nvSpPr>
          <p:cNvPr id="6" name="矩形 5">
            <a:extLst>
              <a:ext uri="{FF2B5EF4-FFF2-40B4-BE49-F238E27FC236}">
                <a16:creationId xmlns:a16="http://schemas.microsoft.com/office/drawing/2014/main" id="{B6D8512C-67AF-4F48-B4F6-34AB533091BC}"/>
              </a:ext>
            </a:extLst>
          </p:cNvPr>
          <p:cNvSpPr/>
          <p:nvPr/>
        </p:nvSpPr>
        <p:spPr>
          <a:xfrm>
            <a:off x="0" y="601403"/>
            <a:ext cx="12158444" cy="1384995"/>
          </a:xfrm>
          <a:prstGeom prst="rect">
            <a:avLst/>
          </a:prstGeom>
        </p:spPr>
        <p:txBody>
          <a:bodyPr wrap="square">
            <a:spAutoFit/>
          </a:bodyPr>
          <a:lstStyle/>
          <a:p>
            <a:r>
              <a:rPr lang="zh-CN" altLang="en-US" sz="2800" b="1" dirty="0">
                <a:latin typeface="隶书" pitchFamily="49" charset="-122"/>
              </a:rPr>
              <a:t>函数调用时，将</a:t>
            </a:r>
            <a:r>
              <a:rPr lang="zh-CN" altLang="en-US" sz="2800" b="1" dirty="0">
                <a:solidFill>
                  <a:srgbClr val="00B0F0"/>
                </a:solidFill>
                <a:latin typeface="隶书" pitchFamily="49" charset="-122"/>
              </a:rPr>
              <a:t>实参</a:t>
            </a:r>
            <a:r>
              <a:rPr lang="zh-CN" altLang="en-US" sz="2800" b="1" dirty="0">
                <a:latin typeface="隶书" pitchFamily="49" charset="-122"/>
              </a:rPr>
              <a:t>的值按照</a:t>
            </a:r>
            <a:r>
              <a:rPr lang="zh-CN" altLang="en-US" sz="2800" b="1" dirty="0">
                <a:solidFill>
                  <a:srgbClr val="00B0F0"/>
                </a:solidFill>
                <a:latin typeface="隶书" pitchFamily="49" charset="-122"/>
              </a:rPr>
              <a:t>从右到左</a:t>
            </a:r>
            <a:r>
              <a:rPr lang="zh-CN" altLang="en-US" sz="2800" b="1" dirty="0">
                <a:latin typeface="隶书" pitchFamily="49" charset="-122"/>
              </a:rPr>
              <a:t>的顺序一一</a:t>
            </a:r>
            <a:r>
              <a:rPr lang="zh-CN" altLang="en-US" sz="2800" b="1" dirty="0">
                <a:solidFill>
                  <a:srgbClr val="00B0F0"/>
                </a:solidFill>
                <a:latin typeface="隶书" pitchFamily="49" charset="-122"/>
              </a:rPr>
              <a:t>复制</a:t>
            </a:r>
            <a:r>
              <a:rPr lang="zh-CN" altLang="en-US" sz="2800" b="1" dirty="0">
                <a:latin typeface="隶书" pitchFamily="49" charset="-122"/>
              </a:rPr>
              <a:t>给对应</a:t>
            </a:r>
            <a:r>
              <a:rPr lang="zh-CN" altLang="en-US" sz="2800" b="1" dirty="0">
                <a:solidFill>
                  <a:srgbClr val="00B0F0"/>
                </a:solidFill>
                <a:latin typeface="隶书" pitchFamily="49" charset="-122"/>
              </a:rPr>
              <a:t>形参</a:t>
            </a:r>
            <a:r>
              <a:rPr lang="zh-CN" altLang="en-US" sz="2800" b="1" dirty="0">
                <a:latin typeface="隶书" pitchFamily="49" charset="-122"/>
              </a:rPr>
              <a:t>，在被调用函数内部对形参的任何改变都不会影响实参的值，这种参数传递方式称为“</a:t>
            </a:r>
            <a:r>
              <a:rPr lang="zh-CN" altLang="en-US" sz="2800" b="1" dirty="0">
                <a:solidFill>
                  <a:srgbClr val="FF0000"/>
                </a:solidFill>
                <a:latin typeface="隶书" pitchFamily="49" charset="-122"/>
              </a:rPr>
              <a:t>值传递</a:t>
            </a:r>
            <a:r>
              <a:rPr lang="zh-CN" altLang="en-US" sz="2800" b="1" dirty="0">
                <a:latin typeface="隶书" pitchFamily="49" charset="-122"/>
              </a:rPr>
              <a:t>”。</a:t>
            </a:r>
          </a:p>
        </p:txBody>
      </p:sp>
      <p:sp>
        <p:nvSpPr>
          <p:cNvPr id="7" name="矩形 6">
            <a:extLst>
              <a:ext uri="{FF2B5EF4-FFF2-40B4-BE49-F238E27FC236}">
                <a16:creationId xmlns:a16="http://schemas.microsoft.com/office/drawing/2014/main" id="{8581D068-941B-44A7-AA9A-4131ECA77BBA}"/>
              </a:ext>
            </a:extLst>
          </p:cNvPr>
          <p:cNvSpPr/>
          <p:nvPr/>
        </p:nvSpPr>
        <p:spPr>
          <a:xfrm>
            <a:off x="16778" y="3212896"/>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6-5</a:t>
            </a:r>
            <a:r>
              <a:rPr lang="en-US" altLang="zh-CN" sz="2800" b="1" dirty="0">
                <a:latin typeface="隶书" pitchFamily="49" charset="-122"/>
              </a:rPr>
              <a:t>】</a:t>
            </a:r>
            <a:r>
              <a:rPr lang="zh-CN" altLang="en-US" sz="2800" b="1" dirty="0">
                <a:latin typeface="隶书" pitchFamily="49" charset="-122"/>
              </a:rPr>
              <a:t>定义交换两个变量值的函数，在主函数中调用。</a:t>
            </a:r>
            <a:endParaRPr lang="en-US" altLang="zh-CN" sz="2800" b="1" dirty="0">
              <a:latin typeface="隶书" pitchFamily="49" charset="-122"/>
            </a:endParaRPr>
          </a:p>
        </p:txBody>
      </p:sp>
      <p:sp>
        <p:nvSpPr>
          <p:cNvPr id="4" name="灯片编号占位符 3">
            <a:extLst>
              <a:ext uri="{FF2B5EF4-FFF2-40B4-BE49-F238E27FC236}">
                <a16:creationId xmlns:a16="http://schemas.microsoft.com/office/drawing/2014/main" id="{A9E1B9C4-A06E-4AF4-9719-FAC93068C6C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14</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26290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75025B9-F3B3-408C-B0C9-01BF51BBEB54}"/>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值传递</a:t>
            </a:r>
            <a:endParaRPr lang="zh-CN" altLang="en-US" sz="3200" b="1" dirty="0">
              <a:solidFill>
                <a:srgbClr val="200AC4"/>
              </a:solidFill>
              <a:ea typeface="隶书" pitchFamily="49" charset="-122"/>
            </a:endParaRPr>
          </a:p>
        </p:txBody>
      </p:sp>
      <p:sp>
        <p:nvSpPr>
          <p:cNvPr id="4" name="Rectangle 2">
            <a:extLst>
              <a:ext uri="{FF2B5EF4-FFF2-40B4-BE49-F238E27FC236}">
                <a16:creationId xmlns:a16="http://schemas.microsoft.com/office/drawing/2014/main" id="{C0881EE4-164F-432F-A196-9FC4EC67851B}"/>
              </a:ext>
            </a:extLst>
          </p:cNvPr>
          <p:cNvSpPr txBox="1">
            <a:spLocks noChangeArrowheads="1"/>
          </p:cNvSpPr>
          <p:nvPr/>
        </p:nvSpPr>
        <p:spPr>
          <a:xfrm>
            <a:off x="381098" y="787242"/>
            <a:ext cx="5310281"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swap(</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10, b = 20;</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err="1">
                <a:latin typeface="Times New Roman" panose="02020603050405020304" pitchFamily="18" charset="0"/>
                <a:ea typeface="等线" panose="02010600030101010101" pitchFamily="2" charset="-122"/>
                <a:cs typeface="Times New Roman" panose="02020603050405020304" pitchFamily="18" charset="0"/>
              </a:rPr>
              <a:t>scanf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&amp;a, &amp;b);</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swap(a, b);</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b);</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5" name="Rectangle 2">
            <a:extLst>
              <a:ext uri="{FF2B5EF4-FFF2-40B4-BE49-F238E27FC236}">
                <a16:creationId xmlns:a16="http://schemas.microsoft.com/office/drawing/2014/main" id="{1E329A20-7186-4826-9A4A-0890B8748A71}"/>
              </a:ext>
            </a:extLst>
          </p:cNvPr>
          <p:cNvSpPr txBox="1">
            <a:spLocks noChangeArrowheads="1"/>
          </p:cNvSpPr>
          <p:nvPr/>
        </p:nvSpPr>
        <p:spPr>
          <a:xfrm>
            <a:off x="6007769" y="3135555"/>
            <a:ext cx="5310281" cy="323678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000"/>
              </a:lnSpc>
              <a:spcBef>
                <a:spcPct val="0"/>
              </a:spcBef>
              <a:buClr>
                <a:schemeClr val="tx2"/>
              </a:buClr>
              <a:buSzPct val="70000"/>
              <a:buFont typeface="Arial" panose="020B0604020202020204" pitchFamily="34" charset="0"/>
              <a:buNone/>
            </a:pP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rPr>
              <a:t>void</a:t>
            </a:r>
            <a:r>
              <a:rPr lang="en-US" altLang="zh-CN" b="1" dirty="0">
                <a:solidFill>
                  <a:srgbClr val="FF0000"/>
                </a:solidFill>
              </a:rPr>
              <a:t> </a:t>
            </a:r>
            <a:r>
              <a:rPr lang="en-US" altLang="zh-CN" b="1" dirty="0"/>
              <a:t>swap</a:t>
            </a:r>
            <a:r>
              <a:rPr lang="en-US" altLang="zh-CN" b="1" dirty="0">
                <a:solidFill>
                  <a:srgbClr val="FF0000"/>
                </a:solidFill>
              </a:rPr>
              <a:t>(</a:t>
            </a:r>
            <a:r>
              <a:rPr lang="en-US" altLang="zh-CN" b="1" dirty="0">
                <a:solidFill>
                  <a:srgbClr val="0000FF"/>
                </a:solidFill>
              </a:rPr>
              <a:t>int</a:t>
            </a:r>
            <a:r>
              <a:rPr lang="en-US" altLang="zh-CN" b="1" dirty="0"/>
              <a:t> x, </a:t>
            </a:r>
            <a:r>
              <a:rPr lang="en-US" altLang="zh-CN" b="1" dirty="0">
                <a:solidFill>
                  <a:srgbClr val="0000FF"/>
                </a:solidFill>
              </a:rPr>
              <a:t>int</a:t>
            </a:r>
            <a:r>
              <a:rPr lang="en-US" altLang="zh-CN" b="1" dirty="0"/>
              <a:t> y</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int </a:t>
            </a:r>
            <a:r>
              <a:rPr lang="en-US" altLang="zh-CN" b="1" dirty="0"/>
              <a:t>temp; </a:t>
            </a:r>
          </a:p>
          <a:p>
            <a:pPr marL="0" indent="0">
              <a:lnSpc>
                <a:spcPct val="100000"/>
              </a:lnSpc>
              <a:spcBef>
                <a:spcPct val="0"/>
              </a:spcBef>
              <a:buClr>
                <a:schemeClr val="tx2"/>
              </a:buClr>
              <a:buSzPct val="70000"/>
              <a:buNone/>
            </a:pPr>
            <a:r>
              <a:rPr lang="en-US" altLang="zh-CN" b="1" dirty="0"/>
              <a:t>       temp = x;</a:t>
            </a:r>
          </a:p>
          <a:p>
            <a:pPr marL="0" indent="0">
              <a:lnSpc>
                <a:spcPct val="100000"/>
              </a:lnSpc>
              <a:spcBef>
                <a:spcPct val="0"/>
              </a:spcBef>
              <a:buClr>
                <a:schemeClr val="tx2"/>
              </a:buClr>
              <a:buSzPct val="70000"/>
              <a:buNone/>
            </a:pPr>
            <a:r>
              <a:rPr lang="en-US" altLang="zh-CN" b="1" dirty="0"/>
              <a:t>       x = y;</a:t>
            </a:r>
          </a:p>
          <a:p>
            <a:pPr marL="0" indent="0">
              <a:lnSpc>
                <a:spcPct val="100000"/>
              </a:lnSpc>
              <a:spcBef>
                <a:spcPct val="0"/>
              </a:spcBef>
              <a:buClr>
                <a:schemeClr val="tx2"/>
              </a:buClr>
              <a:buSzPct val="70000"/>
              <a:buNone/>
            </a:pPr>
            <a:r>
              <a:rPr lang="en-US" altLang="zh-CN" b="1" dirty="0"/>
              <a:t>       y = temp;</a:t>
            </a:r>
          </a:p>
          <a:p>
            <a:pPr marL="0" indent="0">
              <a:lnSpc>
                <a:spcPct val="100000"/>
              </a:lnSpc>
              <a:spcBef>
                <a:spcPct val="0"/>
              </a:spcBef>
              <a:buClr>
                <a:schemeClr val="tx2"/>
              </a:buClr>
              <a:buSzPct val="70000"/>
              <a:buNone/>
            </a:pPr>
            <a:r>
              <a:rPr lang="en-US" altLang="zh-CN" b="1" dirty="0">
                <a:solidFill>
                  <a:srgbClr val="FF0000"/>
                </a:solidFill>
              </a:rPr>
              <a:t>}</a:t>
            </a:r>
            <a:endParaRPr lang="zh-CN" altLang="en-US" b="1" dirty="0">
              <a:solidFill>
                <a:srgbClr val="FF0000"/>
              </a:solidFill>
            </a:endParaRPr>
          </a:p>
        </p:txBody>
      </p:sp>
      <p:grpSp>
        <p:nvGrpSpPr>
          <p:cNvPr id="39" name="组合 38">
            <a:extLst>
              <a:ext uri="{FF2B5EF4-FFF2-40B4-BE49-F238E27FC236}">
                <a16:creationId xmlns:a16="http://schemas.microsoft.com/office/drawing/2014/main" id="{FAE7DBF3-9481-4091-AE0D-3954690EC269}"/>
              </a:ext>
            </a:extLst>
          </p:cNvPr>
          <p:cNvGrpSpPr/>
          <p:nvPr/>
        </p:nvGrpSpPr>
        <p:grpSpPr>
          <a:xfrm>
            <a:off x="9362024" y="902460"/>
            <a:ext cx="2702142" cy="1807584"/>
            <a:chOff x="9362024" y="591740"/>
            <a:chExt cx="2702142" cy="1807584"/>
          </a:xfrm>
        </p:grpSpPr>
        <p:sp>
          <p:nvSpPr>
            <p:cNvPr id="17" name="矩形 16">
              <a:extLst>
                <a:ext uri="{FF2B5EF4-FFF2-40B4-BE49-F238E27FC236}">
                  <a16:creationId xmlns:a16="http://schemas.microsoft.com/office/drawing/2014/main" id="{51F1EC79-5EEF-4843-AAC6-45B6D2D3B29D}"/>
                </a:ext>
              </a:extLst>
            </p:cNvPr>
            <p:cNvSpPr/>
            <p:nvPr/>
          </p:nvSpPr>
          <p:spPr>
            <a:xfrm>
              <a:off x="9854878" y="1039447"/>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18" name="文本框 17">
              <a:extLst>
                <a:ext uri="{FF2B5EF4-FFF2-40B4-BE49-F238E27FC236}">
                  <a16:creationId xmlns:a16="http://schemas.microsoft.com/office/drawing/2014/main" id="{DA982203-BE83-40EE-B63A-711CF859A299}"/>
                </a:ext>
              </a:extLst>
            </p:cNvPr>
            <p:cNvSpPr txBox="1"/>
            <p:nvPr/>
          </p:nvSpPr>
          <p:spPr>
            <a:xfrm>
              <a:off x="9362024" y="954857"/>
              <a:ext cx="492854" cy="584775"/>
            </a:xfrm>
            <a:prstGeom prst="rect">
              <a:avLst/>
            </a:prstGeom>
            <a:noFill/>
          </p:spPr>
          <p:txBody>
            <a:bodyPr wrap="square" rtlCol="0" anchor="ctr">
              <a:spAutoFit/>
            </a:bodyPr>
            <a:lstStyle/>
            <a:p>
              <a:pPr algn="ctr"/>
              <a:r>
                <a:rPr lang="en-US" altLang="zh-CN" sz="3200" dirty="0"/>
                <a:t>a</a:t>
              </a:r>
              <a:endParaRPr lang="zh-CN" altLang="en-US" sz="3200" dirty="0"/>
            </a:p>
          </p:txBody>
        </p:sp>
        <p:sp>
          <p:nvSpPr>
            <p:cNvPr id="19" name="矩形 18">
              <a:extLst>
                <a:ext uri="{FF2B5EF4-FFF2-40B4-BE49-F238E27FC236}">
                  <a16:creationId xmlns:a16="http://schemas.microsoft.com/office/drawing/2014/main" id="{9C3DB47F-A534-465B-B960-2FC4A761C21D}"/>
                </a:ext>
              </a:extLst>
            </p:cNvPr>
            <p:cNvSpPr/>
            <p:nvPr/>
          </p:nvSpPr>
          <p:spPr>
            <a:xfrm>
              <a:off x="9854878" y="1795113"/>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20" name="文本框 19">
              <a:extLst>
                <a:ext uri="{FF2B5EF4-FFF2-40B4-BE49-F238E27FC236}">
                  <a16:creationId xmlns:a16="http://schemas.microsoft.com/office/drawing/2014/main" id="{2778D1D5-2B95-4F95-B216-0F39B61ACF0E}"/>
                </a:ext>
              </a:extLst>
            </p:cNvPr>
            <p:cNvSpPr txBox="1"/>
            <p:nvPr/>
          </p:nvSpPr>
          <p:spPr>
            <a:xfrm>
              <a:off x="9362024" y="1733968"/>
              <a:ext cx="492854" cy="584775"/>
            </a:xfrm>
            <a:prstGeom prst="rect">
              <a:avLst/>
            </a:prstGeom>
            <a:noFill/>
          </p:spPr>
          <p:txBody>
            <a:bodyPr wrap="square" rtlCol="0" anchor="ctr">
              <a:spAutoFit/>
            </a:bodyPr>
            <a:lstStyle/>
            <a:p>
              <a:pPr algn="ctr"/>
              <a:r>
                <a:rPr lang="en-US" altLang="zh-CN" sz="3200" dirty="0"/>
                <a:t>b</a:t>
              </a:r>
              <a:endParaRPr lang="zh-CN" altLang="en-US" sz="3200" dirty="0"/>
            </a:p>
          </p:txBody>
        </p:sp>
        <p:sp>
          <p:nvSpPr>
            <p:cNvPr id="21" name="文本框 20">
              <a:extLst>
                <a:ext uri="{FF2B5EF4-FFF2-40B4-BE49-F238E27FC236}">
                  <a16:creationId xmlns:a16="http://schemas.microsoft.com/office/drawing/2014/main" id="{AB7417FB-E603-43A7-B519-8D14059476BC}"/>
                </a:ext>
              </a:extLst>
            </p:cNvPr>
            <p:cNvSpPr txBox="1"/>
            <p:nvPr/>
          </p:nvSpPr>
          <p:spPr>
            <a:xfrm>
              <a:off x="9411180" y="591740"/>
              <a:ext cx="1268354" cy="369332"/>
            </a:xfrm>
            <a:prstGeom prst="rect">
              <a:avLst/>
            </a:prstGeom>
            <a:noFill/>
          </p:spPr>
          <p:txBody>
            <a:bodyPr wrap="square" rtlCol="0">
              <a:spAutoFit/>
            </a:bodyPr>
            <a:lstStyle/>
            <a:p>
              <a:r>
                <a:rPr lang="en-US" altLang="zh-CN" dirty="0"/>
                <a:t>main()</a:t>
              </a:r>
              <a:r>
                <a:rPr lang="zh-CN" altLang="en-US" dirty="0"/>
                <a:t>函数</a:t>
              </a:r>
            </a:p>
          </p:txBody>
        </p:sp>
        <p:sp>
          <p:nvSpPr>
            <p:cNvPr id="22" name="矩形 21">
              <a:extLst>
                <a:ext uri="{FF2B5EF4-FFF2-40B4-BE49-F238E27FC236}">
                  <a16:creationId xmlns:a16="http://schemas.microsoft.com/office/drawing/2014/main" id="{CD43C26A-4D69-4A54-A49A-FA6EA278ABE1}"/>
                </a:ext>
              </a:extLst>
            </p:cNvPr>
            <p:cNvSpPr/>
            <p:nvPr/>
          </p:nvSpPr>
          <p:spPr>
            <a:xfrm>
              <a:off x="10972963" y="1030519"/>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23" name="文本框 22">
              <a:extLst>
                <a:ext uri="{FF2B5EF4-FFF2-40B4-BE49-F238E27FC236}">
                  <a16:creationId xmlns:a16="http://schemas.microsoft.com/office/drawing/2014/main" id="{AA8C8D65-9C5F-4E1F-B87A-D89738199CE4}"/>
                </a:ext>
              </a:extLst>
            </p:cNvPr>
            <p:cNvSpPr txBox="1"/>
            <p:nvPr/>
          </p:nvSpPr>
          <p:spPr>
            <a:xfrm>
              <a:off x="11571312" y="945928"/>
              <a:ext cx="492854" cy="584775"/>
            </a:xfrm>
            <a:prstGeom prst="rect">
              <a:avLst/>
            </a:prstGeom>
            <a:noFill/>
          </p:spPr>
          <p:txBody>
            <a:bodyPr wrap="square" rtlCol="0" anchor="ctr">
              <a:spAutoFit/>
            </a:bodyPr>
            <a:lstStyle/>
            <a:p>
              <a:pPr algn="ctr"/>
              <a:r>
                <a:rPr lang="en-US" altLang="zh-CN" sz="3200" dirty="0"/>
                <a:t>x</a:t>
              </a:r>
              <a:endParaRPr lang="zh-CN" altLang="en-US" sz="3200" dirty="0"/>
            </a:p>
          </p:txBody>
        </p:sp>
        <p:sp>
          <p:nvSpPr>
            <p:cNvPr id="24" name="矩形 23">
              <a:extLst>
                <a:ext uri="{FF2B5EF4-FFF2-40B4-BE49-F238E27FC236}">
                  <a16:creationId xmlns:a16="http://schemas.microsoft.com/office/drawing/2014/main" id="{E3EC0CC5-373E-4145-8948-FC85A4C59FC3}"/>
                </a:ext>
              </a:extLst>
            </p:cNvPr>
            <p:cNvSpPr/>
            <p:nvPr/>
          </p:nvSpPr>
          <p:spPr>
            <a:xfrm>
              <a:off x="10972963" y="1786185"/>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25" name="文本框 24">
              <a:extLst>
                <a:ext uri="{FF2B5EF4-FFF2-40B4-BE49-F238E27FC236}">
                  <a16:creationId xmlns:a16="http://schemas.microsoft.com/office/drawing/2014/main" id="{C1E59497-FCFA-443C-869A-D14455FA4228}"/>
                </a:ext>
              </a:extLst>
            </p:cNvPr>
            <p:cNvSpPr txBox="1"/>
            <p:nvPr/>
          </p:nvSpPr>
          <p:spPr>
            <a:xfrm>
              <a:off x="11571312" y="1706875"/>
              <a:ext cx="492854" cy="584775"/>
            </a:xfrm>
            <a:prstGeom prst="rect">
              <a:avLst/>
            </a:prstGeom>
            <a:noFill/>
          </p:spPr>
          <p:txBody>
            <a:bodyPr wrap="square" rtlCol="0" anchor="ctr">
              <a:spAutoFit/>
            </a:bodyPr>
            <a:lstStyle/>
            <a:p>
              <a:pPr algn="ctr"/>
              <a:r>
                <a:rPr lang="en-US" altLang="zh-CN" sz="3200" dirty="0"/>
                <a:t>y</a:t>
              </a:r>
              <a:endParaRPr lang="zh-CN" altLang="en-US" sz="3200" dirty="0"/>
            </a:p>
          </p:txBody>
        </p:sp>
        <p:sp>
          <p:nvSpPr>
            <p:cNvPr id="26" name="文本框 25">
              <a:extLst>
                <a:ext uri="{FF2B5EF4-FFF2-40B4-BE49-F238E27FC236}">
                  <a16:creationId xmlns:a16="http://schemas.microsoft.com/office/drawing/2014/main" id="{7AE2AE45-639B-465D-877D-0854E6665F16}"/>
                </a:ext>
              </a:extLst>
            </p:cNvPr>
            <p:cNvSpPr txBox="1"/>
            <p:nvPr/>
          </p:nvSpPr>
          <p:spPr>
            <a:xfrm>
              <a:off x="10728690" y="591740"/>
              <a:ext cx="1331903" cy="369332"/>
            </a:xfrm>
            <a:prstGeom prst="rect">
              <a:avLst/>
            </a:prstGeom>
            <a:noFill/>
          </p:spPr>
          <p:txBody>
            <a:bodyPr wrap="square" rtlCol="0">
              <a:spAutoFit/>
            </a:bodyPr>
            <a:lstStyle/>
            <a:p>
              <a:r>
                <a:rPr lang="en-US" altLang="zh-CN" dirty="0"/>
                <a:t>swap()</a:t>
              </a:r>
              <a:r>
                <a:rPr lang="zh-CN" altLang="en-US" dirty="0"/>
                <a:t>函数</a:t>
              </a:r>
            </a:p>
          </p:txBody>
        </p:sp>
        <p:cxnSp>
          <p:nvCxnSpPr>
            <p:cNvPr id="29" name="直接连接符 28">
              <a:extLst>
                <a:ext uri="{FF2B5EF4-FFF2-40B4-BE49-F238E27FC236}">
                  <a16:creationId xmlns:a16="http://schemas.microsoft.com/office/drawing/2014/main" id="{C47B487E-B89F-4FB6-9474-903F2BF44F2B}"/>
                </a:ext>
              </a:extLst>
            </p:cNvPr>
            <p:cNvCxnSpPr/>
            <p:nvPr/>
          </p:nvCxnSpPr>
          <p:spPr>
            <a:xfrm>
              <a:off x="10728690" y="875590"/>
              <a:ext cx="0" cy="152373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23B7E437-548A-4D2B-BD08-0516C62869F1}"/>
              </a:ext>
            </a:extLst>
          </p:cNvPr>
          <p:cNvGrpSpPr/>
          <p:nvPr/>
        </p:nvGrpSpPr>
        <p:grpSpPr>
          <a:xfrm>
            <a:off x="6007769" y="902460"/>
            <a:ext cx="2702142" cy="1807584"/>
            <a:chOff x="6007769" y="591740"/>
            <a:chExt cx="2702142" cy="1807584"/>
          </a:xfrm>
        </p:grpSpPr>
        <p:sp>
          <p:nvSpPr>
            <p:cNvPr id="7" name="矩形 6">
              <a:extLst>
                <a:ext uri="{FF2B5EF4-FFF2-40B4-BE49-F238E27FC236}">
                  <a16:creationId xmlns:a16="http://schemas.microsoft.com/office/drawing/2014/main" id="{FDCEDB91-01FF-4DD6-9869-98195843D39A}"/>
                </a:ext>
              </a:extLst>
            </p:cNvPr>
            <p:cNvSpPr/>
            <p:nvPr/>
          </p:nvSpPr>
          <p:spPr>
            <a:xfrm>
              <a:off x="6500623" y="1039447"/>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8" name="文本框 7">
              <a:extLst>
                <a:ext uri="{FF2B5EF4-FFF2-40B4-BE49-F238E27FC236}">
                  <a16:creationId xmlns:a16="http://schemas.microsoft.com/office/drawing/2014/main" id="{72774876-AA8F-46E5-A5D6-E67FE4177A90}"/>
                </a:ext>
              </a:extLst>
            </p:cNvPr>
            <p:cNvSpPr txBox="1"/>
            <p:nvPr/>
          </p:nvSpPr>
          <p:spPr>
            <a:xfrm>
              <a:off x="6007769" y="954857"/>
              <a:ext cx="492854" cy="584775"/>
            </a:xfrm>
            <a:prstGeom prst="rect">
              <a:avLst/>
            </a:prstGeom>
            <a:noFill/>
          </p:spPr>
          <p:txBody>
            <a:bodyPr wrap="square" rtlCol="0" anchor="ctr">
              <a:spAutoFit/>
            </a:bodyPr>
            <a:lstStyle/>
            <a:p>
              <a:pPr algn="ctr"/>
              <a:r>
                <a:rPr lang="en-US" altLang="zh-CN" sz="3200" dirty="0"/>
                <a:t>a</a:t>
              </a:r>
              <a:endParaRPr lang="zh-CN" altLang="en-US" sz="3200" dirty="0"/>
            </a:p>
          </p:txBody>
        </p:sp>
        <p:sp>
          <p:nvSpPr>
            <p:cNvPr id="9" name="矩形 8">
              <a:extLst>
                <a:ext uri="{FF2B5EF4-FFF2-40B4-BE49-F238E27FC236}">
                  <a16:creationId xmlns:a16="http://schemas.microsoft.com/office/drawing/2014/main" id="{9697442A-E8AA-4817-8686-7E94DB2A58C1}"/>
                </a:ext>
              </a:extLst>
            </p:cNvPr>
            <p:cNvSpPr/>
            <p:nvPr/>
          </p:nvSpPr>
          <p:spPr>
            <a:xfrm>
              <a:off x="6500623" y="1795113"/>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10" name="文本框 9">
              <a:extLst>
                <a:ext uri="{FF2B5EF4-FFF2-40B4-BE49-F238E27FC236}">
                  <a16:creationId xmlns:a16="http://schemas.microsoft.com/office/drawing/2014/main" id="{5B13A08A-3BE2-4F55-A814-722D87DE0973}"/>
                </a:ext>
              </a:extLst>
            </p:cNvPr>
            <p:cNvSpPr txBox="1"/>
            <p:nvPr/>
          </p:nvSpPr>
          <p:spPr>
            <a:xfrm>
              <a:off x="6007769" y="1733968"/>
              <a:ext cx="492854" cy="584775"/>
            </a:xfrm>
            <a:prstGeom prst="rect">
              <a:avLst/>
            </a:prstGeom>
            <a:noFill/>
          </p:spPr>
          <p:txBody>
            <a:bodyPr wrap="square" rtlCol="0" anchor="ctr">
              <a:spAutoFit/>
            </a:bodyPr>
            <a:lstStyle/>
            <a:p>
              <a:pPr algn="ctr"/>
              <a:r>
                <a:rPr lang="en-US" altLang="zh-CN" sz="3200" dirty="0"/>
                <a:t>b</a:t>
              </a:r>
              <a:endParaRPr lang="zh-CN" altLang="en-US" sz="3200" dirty="0"/>
            </a:p>
          </p:txBody>
        </p:sp>
        <p:sp>
          <p:nvSpPr>
            <p:cNvPr id="11" name="文本框 10">
              <a:extLst>
                <a:ext uri="{FF2B5EF4-FFF2-40B4-BE49-F238E27FC236}">
                  <a16:creationId xmlns:a16="http://schemas.microsoft.com/office/drawing/2014/main" id="{D33824B1-AA54-4774-BDF0-6FA6D92D0A67}"/>
                </a:ext>
              </a:extLst>
            </p:cNvPr>
            <p:cNvSpPr txBox="1"/>
            <p:nvPr/>
          </p:nvSpPr>
          <p:spPr>
            <a:xfrm>
              <a:off x="6056925" y="591740"/>
              <a:ext cx="1268354" cy="369332"/>
            </a:xfrm>
            <a:prstGeom prst="rect">
              <a:avLst/>
            </a:prstGeom>
            <a:noFill/>
          </p:spPr>
          <p:txBody>
            <a:bodyPr wrap="square" rtlCol="0">
              <a:spAutoFit/>
            </a:bodyPr>
            <a:lstStyle/>
            <a:p>
              <a:r>
                <a:rPr lang="en-US" altLang="zh-CN" dirty="0"/>
                <a:t>main()</a:t>
              </a:r>
              <a:r>
                <a:rPr lang="zh-CN" altLang="en-US" dirty="0"/>
                <a:t>函数</a:t>
              </a:r>
            </a:p>
          </p:txBody>
        </p:sp>
        <p:sp>
          <p:nvSpPr>
            <p:cNvPr id="12" name="矩形 11">
              <a:extLst>
                <a:ext uri="{FF2B5EF4-FFF2-40B4-BE49-F238E27FC236}">
                  <a16:creationId xmlns:a16="http://schemas.microsoft.com/office/drawing/2014/main" id="{43236CFD-7DA4-4624-97E9-93242672BF05}"/>
                </a:ext>
              </a:extLst>
            </p:cNvPr>
            <p:cNvSpPr/>
            <p:nvPr/>
          </p:nvSpPr>
          <p:spPr>
            <a:xfrm>
              <a:off x="7618708" y="1030519"/>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13" name="文本框 12">
              <a:extLst>
                <a:ext uri="{FF2B5EF4-FFF2-40B4-BE49-F238E27FC236}">
                  <a16:creationId xmlns:a16="http://schemas.microsoft.com/office/drawing/2014/main" id="{B0AAA37A-2EC5-4FE6-8251-1C0682DEA254}"/>
                </a:ext>
              </a:extLst>
            </p:cNvPr>
            <p:cNvSpPr txBox="1"/>
            <p:nvPr/>
          </p:nvSpPr>
          <p:spPr>
            <a:xfrm>
              <a:off x="8217057" y="945928"/>
              <a:ext cx="492854" cy="584775"/>
            </a:xfrm>
            <a:prstGeom prst="rect">
              <a:avLst/>
            </a:prstGeom>
            <a:noFill/>
          </p:spPr>
          <p:txBody>
            <a:bodyPr wrap="square" rtlCol="0" anchor="ctr">
              <a:spAutoFit/>
            </a:bodyPr>
            <a:lstStyle/>
            <a:p>
              <a:pPr algn="ctr"/>
              <a:r>
                <a:rPr lang="en-US" altLang="zh-CN" sz="3200" dirty="0"/>
                <a:t>x</a:t>
              </a:r>
              <a:endParaRPr lang="zh-CN" altLang="en-US" sz="3200" dirty="0"/>
            </a:p>
          </p:txBody>
        </p:sp>
        <p:sp>
          <p:nvSpPr>
            <p:cNvPr id="14" name="矩形 13">
              <a:extLst>
                <a:ext uri="{FF2B5EF4-FFF2-40B4-BE49-F238E27FC236}">
                  <a16:creationId xmlns:a16="http://schemas.microsoft.com/office/drawing/2014/main" id="{66A2C99D-060A-49CE-9874-A482D40FC985}"/>
                </a:ext>
              </a:extLst>
            </p:cNvPr>
            <p:cNvSpPr/>
            <p:nvPr/>
          </p:nvSpPr>
          <p:spPr>
            <a:xfrm>
              <a:off x="7618708" y="1786185"/>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15" name="文本框 14">
              <a:extLst>
                <a:ext uri="{FF2B5EF4-FFF2-40B4-BE49-F238E27FC236}">
                  <a16:creationId xmlns:a16="http://schemas.microsoft.com/office/drawing/2014/main" id="{D1B25A06-2113-44C1-847E-94F0E1A27569}"/>
                </a:ext>
              </a:extLst>
            </p:cNvPr>
            <p:cNvSpPr txBox="1"/>
            <p:nvPr/>
          </p:nvSpPr>
          <p:spPr>
            <a:xfrm>
              <a:off x="8217057" y="1706875"/>
              <a:ext cx="492854" cy="584775"/>
            </a:xfrm>
            <a:prstGeom prst="rect">
              <a:avLst/>
            </a:prstGeom>
            <a:noFill/>
          </p:spPr>
          <p:txBody>
            <a:bodyPr wrap="square" rtlCol="0" anchor="ctr">
              <a:spAutoFit/>
            </a:bodyPr>
            <a:lstStyle/>
            <a:p>
              <a:pPr algn="ctr"/>
              <a:r>
                <a:rPr lang="en-US" altLang="zh-CN" sz="3200" dirty="0"/>
                <a:t>y</a:t>
              </a:r>
              <a:endParaRPr lang="zh-CN" altLang="en-US" sz="3200" dirty="0"/>
            </a:p>
          </p:txBody>
        </p:sp>
        <p:sp>
          <p:nvSpPr>
            <p:cNvPr id="16" name="文本框 15">
              <a:extLst>
                <a:ext uri="{FF2B5EF4-FFF2-40B4-BE49-F238E27FC236}">
                  <a16:creationId xmlns:a16="http://schemas.microsoft.com/office/drawing/2014/main" id="{CE095DB7-FA45-429A-8DE0-A789627B6148}"/>
                </a:ext>
              </a:extLst>
            </p:cNvPr>
            <p:cNvSpPr txBox="1"/>
            <p:nvPr/>
          </p:nvSpPr>
          <p:spPr>
            <a:xfrm>
              <a:off x="7374435" y="591740"/>
              <a:ext cx="1331903" cy="369332"/>
            </a:xfrm>
            <a:prstGeom prst="rect">
              <a:avLst/>
            </a:prstGeom>
            <a:noFill/>
          </p:spPr>
          <p:txBody>
            <a:bodyPr wrap="square" rtlCol="0">
              <a:spAutoFit/>
            </a:bodyPr>
            <a:lstStyle/>
            <a:p>
              <a:r>
                <a:rPr lang="en-US" altLang="zh-CN" dirty="0"/>
                <a:t>swap()</a:t>
              </a:r>
              <a:r>
                <a:rPr lang="zh-CN" altLang="en-US" dirty="0"/>
                <a:t>函数</a:t>
              </a:r>
            </a:p>
          </p:txBody>
        </p:sp>
        <p:cxnSp>
          <p:nvCxnSpPr>
            <p:cNvPr id="28" name="直接连接符 27">
              <a:extLst>
                <a:ext uri="{FF2B5EF4-FFF2-40B4-BE49-F238E27FC236}">
                  <a16:creationId xmlns:a16="http://schemas.microsoft.com/office/drawing/2014/main" id="{5BD61D1B-6247-4EA3-9C49-C36F7969FEEC}"/>
                </a:ext>
              </a:extLst>
            </p:cNvPr>
            <p:cNvCxnSpPr/>
            <p:nvPr/>
          </p:nvCxnSpPr>
          <p:spPr>
            <a:xfrm>
              <a:off x="7368883" y="875590"/>
              <a:ext cx="0" cy="152373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61E2AA7-DAD4-45C9-863C-EEA6C5DB7764}"/>
                </a:ext>
              </a:extLst>
            </p:cNvPr>
            <p:cNvCxnSpPr>
              <a:cxnSpLocks/>
            </p:cNvCxnSpPr>
            <p:nvPr/>
          </p:nvCxnSpPr>
          <p:spPr>
            <a:xfrm>
              <a:off x="7136861" y="1293312"/>
              <a:ext cx="465972"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E1F6D5C8-F53E-47F6-A717-909D8C450B0F}"/>
                </a:ext>
              </a:extLst>
            </p:cNvPr>
            <p:cNvCxnSpPr>
              <a:cxnSpLocks/>
            </p:cNvCxnSpPr>
            <p:nvPr/>
          </p:nvCxnSpPr>
          <p:spPr>
            <a:xfrm>
              <a:off x="7135897" y="2048962"/>
              <a:ext cx="465972"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40" name="箭头: 右 39">
            <a:extLst>
              <a:ext uri="{FF2B5EF4-FFF2-40B4-BE49-F238E27FC236}">
                <a16:creationId xmlns:a16="http://schemas.microsoft.com/office/drawing/2014/main" id="{821A3E8B-C340-4E77-87C6-857A0CEC79DB}"/>
              </a:ext>
            </a:extLst>
          </p:cNvPr>
          <p:cNvSpPr/>
          <p:nvPr/>
        </p:nvSpPr>
        <p:spPr>
          <a:xfrm>
            <a:off x="8718546" y="1904202"/>
            <a:ext cx="655683" cy="1624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a:extLst>
              <a:ext uri="{FF2B5EF4-FFF2-40B4-BE49-F238E27FC236}">
                <a16:creationId xmlns:a16="http://schemas.microsoft.com/office/drawing/2014/main" id="{B5F48FDE-9E61-458F-9AA9-1979879E662F}"/>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15</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80232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75025B9-F3B3-408C-B0C9-01BF51BBEB54}"/>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4D1C1D1B-C760-45D2-9C8D-7C94E596191B}"/>
              </a:ext>
            </a:extLst>
          </p:cNvPr>
          <p:cNvSpPr/>
          <p:nvPr/>
        </p:nvSpPr>
        <p:spPr>
          <a:xfrm>
            <a:off x="738672" y="1660762"/>
            <a:ext cx="5012423" cy="954107"/>
          </a:xfrm>
          <a:prstGeom prst="rect">
            <a:avLst/>
          </a:prstGeom>
        </p:spPr>
        <p:txBody>
          <a:bodyPr wrap="square">
            <a:spAutoFit/>
          </a:bodyPr>
          <a:lstStyle/>
          <a:p>
            <a:pPr marL="0" lvl="1"/>
            <a:r>
              <a:rPr lang="zh-CN" altLang="en-US" sz="2800" b="1" dirty="0">
                <a:solidFill>
                  <a:srgbClr val="FF0000"/>
                </a:solidFill>
                <a:latin typeface="隶书" pitchFamily="49" charset="-122"/>
              </a:rPr>
              <a:t>实参</a:t>
            </a:r>
            <a:r>
              <a:rPr lang="zh-CN" altLang="en-US" sz="2800" b="1" dirty="0">
                <a:latin typeface="隶书" pitchFamily="49" charset="-122"/>
              </a:rPr>
              <a:t>：对象地址</a:t>
            </a:r>
            <a:endParaRPr lang="en-US" altLang="zh-CN" sz="2800" b="1" dirty="0">
              <a:latin typeface="隶书" pitchFamily="49" charset="-122"/>
            </a:endParaRPr>
          </a:p>
          <a:p>
            <a:pPr marL="0" lvl="1"/>
            <a:r>
              <a:rPr lang="zh-CN" altLang="en-US" sz="2800" b="1" dirty="0">
                <a:solidFill>
                  <a:srgbClr val="FF0000"/>
                </a:solidFill>
                <a:latin typeface="隶书" pitchFamily="49" charset="-122"/>
              </a:rPr>
              <a:t>形参</a:t>
            </a:r>
            <a:r>
              <a:rPr lang="zh-CN" altLang="en-US" sz="2800" b="1" dirty="0">
                <a:latin typeface="隶书" pitchFamily="49" charset="-122"/>
              </a:rPr>
              <a:t>：指针变量</a:t>
            </a:r>
            <a:endParaRPr lang="en-US" altLang="zh-CN" sz="2800" b="1" dirty="0">
              <a:latin typeface="隶书" pitchFamily="49" charset="-122"/>
            </a:endParaRPr>
          </a:p>
        </p:txBody>
      </p:sp>
      <p:sp>
        <p:nvSpPr>
          <p:cNvPr id="6" name="矩形 5">
            <a:extLst>
              <a:ext uri="{FF2B5EF4-FFF2-40B4-BE49-F238E27FC236}">
                <a16:creationId xmlns:a16="http://schemas.microsoft.com/office/drawing/2014/main" id="{282D253E-B65D-428D-8A89-8983F847C1A3}"/>
              </a:ext>
            </a:extLst>
          </p:cNvPr>
          <p:cNvSpPr/>
          <p:nvPr/>
        </p:nvSpPr>
        <p:spPr>
          <a:xfrm>
            <a:off x="0" y="586147"/>
            <a:ext cx="12158444" cy="954107"/>
          </a:xfrm>
          <a:prstGeom prst="rect">
            <a:avLst/>
          </a:prstGeom>
        </p:spPr>
        <p:txBody>
          <a:bodyPr wrap="square">
            <a:spAutoFit/>
          </a:bodyPr>
          <a:lstStyle/>
          <a:p>
            <a:r>
              <a:rPr lang="zh-CN" altLang="en-US" sz="2800" b="1" dirty="0">
                <a:latin typeface="隶书" pitchFamily="49" charset="-122"/>
              </a:rPr>
              <a:t>函数调用时，将</a:t>
            </a:r>
            <a:r>
              <a:rPr lang="zh-CN" altLang="en-US" sz="2800" b="1" dirty="0">
                <a:solidFill>
                  <a:srgbClr val="00B0F0"/>
                </a:solidFill>
                <a:latin typeface="隶书" pitchFamily="49" charset="-122"/>
              </a:rPr>
              <a:t>实参的地址</a:t>
            </a:r>
            <a:r>
              <a:rPr lang="zh-CN" altLang="en-US" sz="2800" b="1" dirty="0">
                <a:solidFill>
                  <a:srgbClr val="FF0000"/>
                </a:solidFill>
                <a:latin typeface="隶书" pitchFamily="49" charset="-122"/>
              </a:rPr>
              <a:t>复制</a:t>
            </a:r>
            <a:r>
              <a:rPr lang="zh-CN" altLang="en-US" sz="2800" b="1" dirty="0">
                <a:latin typeface="隶书" pitchFamily="49" charset="-122"/>
              </a:rPr>
              <a:t>给</a:t>
            </a:r>
            <a:r>
              <a:rPr lang="zh-CN" altLang="en-US" sz="2800" b="1" dirty="0">
                <a:solidFill>
                  <a:srgbClr val="00B0F0"/>
                </a:solidFill>
                <a:latin typeface="隶书" pitchFamily="49" charset="-122"/>
              </a:rPr>
              <a:t>形参</a:t>
            </a:r>
            <a:r>
              <a:rPr lang="zh-CN" altLang="en-US" sz="2800" b="1" dirty="0">
                <a:latin typeface="隶书" pitchFamily="49" charset="-122"/>
              </a:rPr>
              <a:t>，</a:t>
            </a:r>
            <a:r>
              <a:rPr lang="en-US" altLang="zh-CN" sz="2800" b="1" dirty="0">
                <a:solidFill>
                  <a:srgbClr val="FF0000"/>
                </a:solidFill>
                <a:latin typeface="隶书" pitchFamily="49" charset="-122"/>
              </a:rPr>
              <a:t>[</a:t>
            </a:r>
            <a:r>
              <a:rPr lang="zh-CN" altLang="en-US" sz="2800" b="1" dirty="0">
                <a:solidFill>
                  <a:srgbClr val="7030A0"/>
                </a:solidFill>
                <a:latin typeface="隶书" pitchFamily="49" charset="-122"/>
              </a:rPr>
              <a:t>在被调用函数内部可以通过对形参进行寻址操作间接改变实参的值</a:t>
            </a:r>
            <a:r>
              <a:rPr lang="en-US" altLang="zh-CN" sz="2800" b="1" dirty="0">
                <a:solidFill>
                  <a:srgbClr val="FF0000"/>
                </a:solidFill>
                <a:latin typeface="隶书" pitchFamily="49" charset="-122"/>
              </a:rPr>
              <a:t>]</a:t>
            </a:r>
            <a:r>
              <a:rPr lang="zh-CN" altLang="en-US" sz="2800" b="1" dirty="0">
                <a:latin typeface="隶书" pitchFamily="49" charset="-122"/>
              </a:rPr>
              <a:t>，这种参数传递方式称为“</a:t>
            </a:r>
            <a:r>
              <a:rPr lang="zh-CN" altLang="en-US" sz="2800" b="1" dirty="0">
                <a:solidFill>
                  <a:srgbClr val="FF0000"/>
                </a:solidFill>
                <a:latin typeface="隶书" pitchFamily="49" charset="-122"/>
              </a:rPr>
              <a:t>地址传递</a:t>
            </a:r>
            <a:r>
              <a:rPr lang="zh-CN" altLang="en-US" sz="2800" b="1" dirty="0">
                <a:latin typeface="隶书" pitchFamily="49" charset="-122"/>
              </a:rPr>
              <a:t>”。</a:t>
            </a:r>
          </a:p>
        </p:txBody>
      </p:sp>
      <p:sp>
        <p:nvSpPr>
          <p:cNvPr id="7" name="矩形 6">
            <a:extLst>
              <a:ext uri="{FF2B5EF4-FFF2-40B4-BE49-F238E27FC236}">
                <a16:creationId xmlns:a16="http://schemas.microsoft.com/office/drawing/2014/main" id="{788597B9-E02C-4884-B087-6EDF6BC02B27}"/>
              </a:ext>
            </a:extLst>
          </p:cNvPr>
          <p:cNvSpPr/>
          <p:nvPr/>
        </p:nvSpPr>
        <p:spPr>
          <a:xfrm>
            <a:off x="16778" y="2735377"/>
            <a:ext cx="12158444" cy="1508105"/>
          </a:xfrm>
          <a:prstGeom prst="rect">
            <a:avLst/>
          </a:prstGeom>
        </p:spPr>
        <p:txBody>
          <a:bodyPr wrap="square">
            <a:spAutoFit/>
          </a:bodyPr>
          <a:lstStyle/>
          <a:p>
            <a:r>
              <a:rPr lang="zh-CN" altLang="en-US" sz="2800" b="1" dirty="0">
                <a:latin typeface="隶书" pitchFamily="49" charset="-122"/>
              </a:rPr>
              <a:t>根据实参的不同形式，地址传递主要有：</a:t>
            </a:r>
            <a:endParaRPr lang="en-US" altLang="zh-CN" sz="2800" b="1" dirty="0">
              <a:latin typeface="隶书" pitchFamily="49" charset="-122"/>
            </a:endParaRPr>
          </a:p>
          <a:p>
            <a:pPr marL="720000" indent="-514350">
              <a:buFont typeface="+mj-ea"/>
              <a:buAutoNum type="circleNumDbPlain"/>
            </a:pPr>
            <a:r>
              <a:rPr lang="zh-CN" altLang="en-US" sz="3200" b="1" dirty="0">
                <a:latin typeface="隶书" panose="02010509060101010101" pitchFamily="49" charset="-122"/>
                <a:ea typeface="隶书" panose="02010509060101010101" pitchFamily="49" charset="-122"/>
              </a:rPr>
              <a:t>指针作为函数参数</a:t>
            </a:r>
            <a:endParaRPr lang="en-US" altLang="zh-CN" sz="3200" b="1" dirty="0">
              <a:latin typeface="隶书" panose="02010509060101010101" pitchFamily="49" charset="-122"/>
              <a:ea typeface="隶书" panose="02010509060101010101" pitchFamily="49" charset="-122"/>
            </a:endParaRPr>
          </a:p>
          <a:p>
            <a:pPr marL="720000" indent="-514350">
              <a:buFont typeface="+mj-ea"/>
              <a:buAutoNum type="circleNumDbPlain"/>
            </a:pPr>
            <a:r>
              <a:rPr lang="zh-CN" altLang="en-US" sz="3200" b="1" dirty="0">
                <a:latin typeface="隶书" panose="02010509060101010101" pitchFamily="49" charset="-122"/>
                <a:ea typeface="隶书" panose="02010509060101010101" pitchFamily="49" charset="-122"/>
              </a:rPr>
              <a:t>数组作为函数参数</a:t>
            </a:r>
          </a:p>
        </p:txBody>
      </p:sp>
      <p:sp>
        <p:nvSpPr>
          <p:cNvPr id="5" name="灯片编号占位符 4">
            <a:extLst>
              <a:ext uri="{FF2B5EF4-FFF2-40B4-BE49-F238E27FC236}">
                <a16:creationId xmlns:a16="http://schemas.microsoft.com/office/drawing/2014/main" id="{5F5DEC48-2BC8-4C5D-ADEF-25136E39BB3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16</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208919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2CC133D-A26D-4CE7-9278-8B7C68BAC823}"/>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6F27F682-5C16-47B9-8B38-531203301D11}"/>
              </a:ext>
            </a:extLst>
          </p:cNvPr>
          <p:cNvSpPr/>
          <p:nvPr/>
        </p:nvSpPr>
        <p:spPr>
          <a:xfrm>
            <a:off x="-258431" y="598383"/>
            <a:ext cx="12349813"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6-6</a:t>
            </a:r>
            <a:r>
              <a:rPr lang="en-US" altLang="zh-CN" sz="2800" b="1" dirty="0">
                <a:latin typeface="隶书" pitchFamily="49" charset="-122"/>
              </a:rPr>
              <a:t>】</a:t>
            </a:r>
            <a:r>
              <a:rPr lang="zh-CN" altLang="en-US" sz="2800" b="1" dirty="0">
                <a:latin typeface="隶书" pitchFamily="49" charset="-122"/>
              </a:rPr>
              <a:t>定义交换两个变量值的函数，在主函数中调用。</a:t>
            </a:r>
            <a:r>
              <a:rPr lang="en-US" altLang="zh-CN" sz="2800" b="1" dirty="0">
                <a:latin typeface="隶书" pitchFamily="49" charset="-122"/>
              </a:rPr>
              <a:t>(</a:t>
            </a:r>
            <a:r>
              <a:rPr lang="zh-CN" altLang="en-US" sz="2800" b="1" dirty="0">
                <a:solidFill>
                  <a:srgbClr val="0070C0"/>
                </a:solidFill>
                <a:latin typeface="隶书" pitchFamily="49" charset="-122"/>
              </a:rPr>
              <a:t>指针作为函数参数</a:t>
            </a:r>
            <a:r>
              <a:rPr lang="en-US" altLang="zh-CN" sz="2800" b="1" dirty="0">
                <a:latin typeface="隶书" pitchFamily="49" charset="-122"/>
              </a:rPr>
              <a:t>)</a:t>
            </a:r>
          </a:p>
        </p:txBody>
      </p:sp>
      <p:sp>
        <p:nvSpPr>
          <p:cNvPr id="5" name="Rectangle 2">
            <a:extLst>
              <a:ext uri="{FF2B5EF4-FFF2-40B4-BE49-F238E27FC236}">
                <a16:creationId xmlns:a16="http://schemas.microsoft.com/office/drawing/2014/main" id="{79C1E657-CBB5-4B74-8430-AB27D7F6B9CA}"/>
              </a:ext>
            </a:extLst>
          </p:cNvPr>
          <p:cNvSpPr txBox="1">
            <a:spLocks noChangeArrowheads="1"/>
          </p:cNvSpPr>
          <p:nvPr/>
        </p:nvSpPr>
        <p:spPr>
          <a:xfrm>
            <a:off x="318952" y="1302147"/>
            <a:ext cx="5310281"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swap(</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latin typeface="+mn-ea"/>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10, b = 20;</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err="1">
                <a:latin typeface="Times New Roman" panose="02020603050405020304" pitchFamily="18" charset="0"/>
                <a:ea typeface="等线" panose="02010600030101010101" pitchFamily="2" charset="-122"/>
                <a:cs typeface="Times New Roman" panose="02020603050405020304" pitchFamily="18" charset="0"/>
              </a:rPr>
              <a:t>scanf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&amp;a, &amp;b);</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swap(</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%d %d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b);</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B26C2E04-A357-40A3-B5C6-B5D799ACFE9C}"/>
              </a:ext>
            </a:extLst>
          </p:cNvPr>
          <p:cNvSpPr txBox="1">
            <a:spLocks noChangeArrowheads="1"/>
          </p:cNvSpPr>
          <p:nvPr/>
        </p:nvSpPr>
        <p:spPr>
          <a:xfrm>
            <a:off x="5945623" y="3623826"/>
            <a:ext cx="5310281" cy="323678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000"/>
              </a:lnSpc>
              <a:spcBef>
                <a:spcPct val="0"/>
              </a:spcBef>
              <a:buClr>
                <a:schemeClr val="tx2"/>
              </a:buClr>
              <a:buSzPct val="70000"/>
              <a:buFont typeface="Arial" panose="020B0604020202020204" pitchFamily="34" charset="0"/>
              <a:buNone/>
            </a:pP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rPr>
              <a:t>void</a:t>
            </a:r>
            <a:r>
              <a:rPr lang="en-US" altLang="zh-CN" b="1" dirty="0">
                <a:solidFill>
                  <a:srgbClr val="FF0000"/>
                </a:solidFill>
              </a:rPr>
              <a:t> </a:t>
            </a:r>
            <a:r>
              <a:rPr lang="en-US" altLang="zh-CN" b="1" dirty="0"/>
              <a:t>swap</a:t>
            </a:r>
            <a:r>
              <a:rPr lang="en-US" altLang="zh-CN" b="1" dirty="0">
                <a:solidFill>
                  <a:srgbClr val="FF0000"/>
                </a:solidFill>
              </a:rPr>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x, </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y</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int </a:t>
            </a:r>
            <a:r>
              <a:rPr lang="en-US" altLang="zh-CN" b="1" dirty="0"/>
              <a:t>temp; </a:t>
            </a:r>
          </a:p>
          <a:p>
            <a:pPr marL="0" indent="0">
              <a:lnSpc>
                <a:spcPct val="100000"/>
              </a:lnSpc>
              <a:spcBef>
                <a:spcPct val="0"/>
              </a:spcBef>
              <a:buClr>
                <a:schemeClr val="tx2"/>
              </a:buClr>
              <a:buSzPct val="70000"/>
              <a:buNone/>
            </a:pPr>
            <a:r>
              <a:rPr lang="en-US" altLang="zh-CN" b="1" dirty="0"/>
              <a:t>       temp = </a:t>
            </a:r>
            <a:r>
              <a:rPr lang="en-US" altLang="zh-CN" b="1" dirty="0">
                <a:solidFill>
                  <a:srgbClr val="FF0000"/>
                </a:solidFill>
              </a:rPr>
              <a:t>*</a:t>
            </a:r>
            <a:r>
              <a:rPr lang="en-US" altLang="zh-CN" b="1" dirty="0"/>
              <a:t>x;</a:t>
            </a:r>
          </a:p>
          <a:p>
            <a:pPr marL="0" indent="0">
              <a:lnSpc>
                <a:spcPct val="100000"/>
              </a:lnSpc>
              <a:spcBef>
                <a:spcPct val="0"/>
              </a:spcBef>
              <a:buClr>
                <a:schemeClr val="tx2"/>
              </a:buClr>
              <a:buSzPct val="70000"/>
              <a:buNone/>
            </a:pPr>
            <a:r>
              <a:rPr lang="en-US" altLang="zh-CN" b="1" dirty="0"/>
              <a:t>       </a:t>
            </a:r>
            <a:r>
              <a:rPr lang="en-US" altLang="zh-CN" b="1" dirty="0">
                <a:solidFill>
                  <a:srgbClr val="FF0000"/>
                </a:solidFill>
              </a:rPr>
              <a:t>*</a:t>
            </a:r>
            <a:r>
              <a:rPr lang="en-US" altLang="zh-CN" b="1" dirty="0"/>
              <a:t>x = </a:t>
            </a:r>
            <a:r>
              <a:rPr lang="en-US" altLang="zh-CN" b="1" dirty="0">
                <a:solidFill>
                  <a:srgbClr val="FF0000"/>
                </a:solidFill>
              </a:rPr>
              <a:t>*</a:t>
            </a:r>
            <a:r>
              <a:rPr lang="en-US" altLang="zh-CN" b="1" dirty="0"/>
              <a:t>y;</a:t>
            </a:r>
          </a:p>
          <a:p>
            <a:pPr marL="0" indent="0">
              <a:lnSpc>
                <a:spcPct val="100000"/>
              </a:lnSpc>
              <a:spcBef>
                <a:spcPct val="0"/>
              </a:spcBef>
              <a:buClr>
                <a:schemeClr val="tx2"/>
              </a:buClr>
              <a:buSzPct val="70000"/>
              <a:buNone/>
            </a:pPr>
            <a:r>
              <a:rPr lang="en-US" altLang="zh-CN" b="1" dirty="0"/>
              <a:t>       </a:t>
            </a:r>
            <a:r>
              <a:rPr lang="en-US" altLang="zh-CN" b="1" dirty="0">
                <a:solidFill>
                  <a:srgbClr val="FF0000"/>
                </a:solidFill>
              </a:rPr>
              <a:t>*</a:t>
            </a:r>
            <a:r>
              <a:rPr lang="en-US" altLang="zh-CN" b="1" dirty="0"/>
              <a:t>y = temp;</a:t>
            </a:r>
          </a:p>
          <a:p>
            <a:pPr marL="0" indent="0">
              <a:lnSpc>
                <a:spcPct val="100000"/>
              </a:lnSpc>
              <a:spcBef>
                <a:spcPct val="0"/>
              </a:spcBef>
              <a:buClr>
                <a:schemeClr val="tx2"/>
              </a:buClr>
              <a:buSzPct val="70000"/>
              <a:buNone/>
            </a:pPr>
            <a:r>
              <a:rPr lang="en-US" altLang="zh-CN" b="1" dirty="0">
                <a:solidFill>
                  <a:srgbClr val="FF0000"/>
                </a:solidFill>
              </a:rPr>
              <a:t>}</a:t>
            </a:r>
            <a:endParaRPr lang="zh-CN" altLang="en-US" b="1" dirty="0">
              <a:solidFill>
                <a:srgbClr val="FF0000"/>
              </a:solidFill>
            </a:endParaRPr>
          </a:p>
        </p:txBody>
      </p:sp>
      <p:sp>
        <p:nvSpPr>
          <p:cNvPr id="33" name="箭头: 右 32">
            <a:extLst>
              <a:ext uri="{FF2B5EF4-FFF2-40B4-BE49-F238E27FC236}">
                <a16:creationId xmlns:a16="http://schemas.microsoft.com/office/drawing/2014/main" id="{715F280B-1E24-43A5-89FF-9BCAA3890978}"/>
              </a:ext>
            </a:extLst>
          </p:cNvPr>
          <p:cNvSpPr/>
          <p:nvPr/>
        </p:nvSpPr>
        <p:spPr>
          <a:xfrm>
            <a:off x="8656400" y="2419107"/>
            <a:ext cx="655683" cy="1624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3026309A-021A-4193-ABD2-804C5BB4D55D}"/>
              </a:ext>
            </a:extLst>
          </p:cNvPr>
          <p:cNvGrpSpPr/>
          <p:nvPr/>
        </p:nvGrpSpPr>
        <p:grpSpPr>
          <a:xfrm>
            <a:off x="5945623" y="1417365"/>
            <a:ext cx="2702142" cy="1807584"/>
            <a:chOff x="5945623" y="1417365"/>
            <a:chExt cx="2702142" cy="1807584"/>
          </a:xfrm>
        </p:grpSpPr>
        <p:sp>
          <p:nvSpPr>
            <p:cNvPr id="20" name="矩形 19">
              <a:extLst>
                <a:ext uri="{FF2B5EF4-FFF2-40B4-BE49-F238E27FC236}">
                  <a16:creationId xmlns:a16="http://schemas.microsoft.com/office/drawing/2014/main" id="{168EA026-38A2-4D2E-B881-177C80058199}"/>
                </a:ext>
              </a:extLst>
            </p:cNvPr>
            <p:cNvSpPr/>
            <p:nvPr/>
          </p:nvSpPr>
          <p:spPr>
            <a:xfrm>
              <a:off x="6438477" y="1865072"/>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21" name="文本框 20">
              <a:extLst>
                <a:ext uri="{FF2B5EF4-FFF2-40B4-BE49-F238E27FC236}">
                  <a16:creationId xmlns:a16="http://schemas.microsoft.com/office/drawing/2014/main" id="{9EB09DBF-EAFC-4378-B93C-3587F31DAC62}"/>
                </a:ext>
              </a:extLst>
            </p:cNvPr>
            <p:cNvSpPr txBox="1"/>
            <p:nvPr/>
          </p:nvSpPr>
          <p:spPr>
            <a:xfrm>
              <a:off x="5945623" y="1780482"/>
              <a:ext cx="492854" cy="584775"/>
            </a:xfrm>
            <a:prstGeom prst="rect">
              <a:avLst/>
            </a:prstGeom>
            <a:noFill/>
          </p:spPr>
          <p:txBody>
            <a:bodyPr wrap="square" rtlCol="0" anchor="ctr">
              <a:spAutoFit/>
            </a:bodyPr>
            <a:lstStyle/>
            <a:p>
              <a:pPr algn="ctr"/>
              <a:r>
                <a:rPr lang="en-US" altLang="zh-CN" sz="3200" dirty="0"/>
                <a:t>a</a:t>
              </a:r>
              <a:endParaRPr lang="zh-CN" altLang="en-US" sz="3200" dirty="0"/>
            </a:p>
          </p:txBody>
        </p:sp>
        <p:sp>
          <p:nvSpPr>
            <p:cNvPr id="22" name="矩形 21">
              <a:extLst>
                <a:ext uri="{FF2B5EF4-FFF2-40B4-BE49-F238E27FC236}">
                  <a16:creationId xmlns:a16="http://schemas.microsoft.com/office/drawing/2014/main" id="{3B9C4F50-D6BF-4166-9146-0826BE358757}"/>
                </a:ext>
              </a:extLst>
            </p:cNvPr>
            <p:cNvSpPr/>
            <p:nvPr/>
          </p:nvSpPr>
          <p:spPr>
            <a:xfrm>
              <a:off x="6438477" y="2620738"/>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23" name="文本框 22">
              <a:extLst>
                <a:ext uri="{FF2B5EF4-FFF2-40B4-BE49-F238E27FC236}">
                  <a16:creationId xmlns:a16="http://schemas.microsoft.com/office/drawing/2014/main" id="{58876D0A-D6EF-4AEC-9627-5DC6CB3E1B2A}"/>
                </a:ext>
              </a:extLst>
            </p:cNvPr>
            <p:cNvSpPr txBox="1"/>
            <p:nvPr/>
          </p:nvSpPr>
          <p:spPr>
            <a:xfrm>
              <a:off x="5945623" y="2559593"/>
              <a:ext cx="492854" cy="584775"/>
            </a:xfrm>
            <a:prstGeom prst="rect">
              <a:avLst/>
            </a:prstGeom>
            <a:noFill/>
          </p:spPr>
          <p:txBody>
            <a:bodyPr wrap="square" rtlCol="0" anchor="ctr">
              <a:spAutoFit/>
            </a:bodyPr>
            <a:lstStyle/>
            <a:p>
              <a:pPr algn="ctr"/>
              <a:r>
                <a:rPr lang="en-US" altLang="zh-CN" sz="3200" dirty="0"/>
                <a:t>b</a:t>
              </a:r>
              <a:endParaRPr lang="zh-CN" altLang="en-US" sz="3200" dirty="0"/>
            </a:p>
          </p:txBody>
        </p:sp>
        <p:sp>
          <p:nvSpPr>
            <p:cNvPr id="24" name="文本框 23">
              <a:extLst>
                <a:ext uri="{FF2B5EF4-FFF2-40B4-BE49-F238E27FC236}">
                  <a16:creationId xmlns:a16="http://schemas.microsoft.com/office/drawing/2014/main" id="{7644C828-9190-4D49-8C7A-32CA8819740D}"/>
                </a:ext>
              </a:extLst>
            </p:cNvPr>
            <p:cNvSpPr txBox="1"/>
            <p:nvPr/>
          </p:nvSpPr>
          <p:spPr>
            <a:xfrm>
              <a:off x="5994779" y="1417365"/>
              <a:ext cx="1268354" cy="369332"/>
            </a:xfrm>
            <a:prstGeom prst="rect">
              <a:avLst/>
            </a:prstGeom>
            <a:noFill/>
          </p:spPr>
          <p:txBody>
            <a:bodyPr wrap="square" rtlCol="0">
              <a:spAutoFit/>
            </a:bodyPr>
            <a:lstStyle/>
            <a:p>
              <a:r>
                <a:rPr lang="en-US" altLang="zh-CN" dirty="0"/>
                <a:t>main()</a:t>
              </a:r>
              <a:r>
                <a:rPr lang="zh-CN" altLang="en-US" dirty="0"/>
                <a:t>函数</a:t>
              </a:r>
            </a:p>
          </p:txBody>
        </p:sp>
        <p:sp>
          <p:nvSpPr>
            <p:cNvPr id="25" name="矩形 24">
              <a:extLst>
                <a:ext uri="{FF2B5EF4-FFF2-40B4-BE49-F238E27FC236}">
                  <a16:creationId xmlns:a16="http://schemas.microsoft.com/office/drawing/2014/main" id="{889E19F5-56A4-437B-964F-BB60D341BD3D}"/>
                </a:ext>
              </a:extLst>
            </p:cNvPr>
            <p:cNvSpPr/>
            <p:nvPr/>
          </p:nvSpPr>
          <p:spPr>
            <a:xfrm>
              <a:off x="7556562" y="1856144"/>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&amp;a</a:t>
              </a:r>
              <a:endParaRPr lang="zh-CN" altLang="en-US" sz="2400" dirty="0">
                <a:solidFill>
                  <a:schemeClr val="tx1"/>
                </a:solidFill>
              </a:endParaRPr>
            </a:p>
          </p:txBody>
        </p:sp>
        <p:sp>
          <p:nvSpPr>
            <p:cNvPr id="26" name="文本框 25">
              <a:extLst>
                <a:ext uri="{FF2B5EF4-FFF2-40B4-BE49-F238E27FC236}">
                  <a16:creationId xmlns:a16="http://schemas.microsoft.com/office/drawing/2014/main" id="{023B6918-7D79-4ABA-94B8-86D505D85C3D}"/>
                </a:ext>
              </a:extLst>
            </p:cNvPr>
            <p:cNvSpPr txBox="1"/>
            <p:nvPr/>
          </p:nvSpPr>
          <p:spPr>
            <a:xfrm>
              <a:off x="8154911" y="1771553"/>
              <a:ext cx="492854" cy="584775"/>
            </a:xfrm>
            <a:prstGeom prst="rect">
              <a:avLst/>
            </a:prstGeom>
            <a:noFill/>
          </p:spPr>
          <p:txBody>
            <a:bodyPr wrap="square" rtlCol="0" anchor="ctr">
              <a:spAutoFit/>
            </a:bodyPr>
            <a:lstStyle/>
            <a:p>
              <a:pPr algn="ctr"/>
              <a:r>
                <a:rPr lang="en-US" altLang="zh-CN" sz="3200" dirty="0"/>
                <a:t>x</a:t>
              </a:r>
              <a:endParaRPr lang="zh-CN" altLang="en-US" sz="3200" dirty="0"/>
            </a:p>
          </p:txBody>
        </p:sp>
        <p:sp>
          <p:nvSpPr>
            <p:cNvPr id="27" name="矩形 26">
              <a:extLst>
                <a:ext uri="{FF2B5EF4-FFF2-40B4-BE49-F238E27FC236}">
                  <a16:creationId xmlns:a16="http://schemas.microsoft.com/office/drawing/2014/main" id="{E77D416A-4E04-4851-AF1B-2D8CC6C4DAB4}"/>
                </a:ext>
              </a:extLst>
            </p:cNvPr>
            <p:cNvSpPr/>
            <p:nvPr/>
          </p:nvSpPr>
          <p:spPr>
            <a:xfrm>
              <a:off x="7556562" y="2611810"/>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&amp;b</a:t>
              </a:r>
              <a:endParaRPr lang="zh-CN" altLang="en-US" sz="2400" dirty="0">
                <a:solidFill>
                  <a:schemeClr val="tx1"/>
                </a:solidFill>
              </a:endParaRPr>
            </a:p>
          </p:txBody>
        </p:sp>
        <p:sp>
          <p:nvSpPr>
            <p:cNvPr id="28" name="文本框 27">
              <a:extLst>
                <a:ext uri="{FF2B5EF4-FFF2-40B4-BE49-F238E27FC236}">
                  <a16:creationId xmlns:a16="http://schemas.microsoft.com/office/drawing/2014/main" id="{84743195-2182-4FB4-AA40-643D845208D6}"/>
                </a:ext>
              </a:extLst>
            </p:cNvPr>
            <p:cNvSpPr txBox="1"/>
            <p:nvPr/>
          </p:nvSpPr>
          <p:spPr>
            <a:xfrm>
              <a:off x="8154911" y="2532500"/>
              <a:ext cx="492854" cy="584775"/>
            </a:xfrm>
            <a:prstGeom prst="rect">
              <a:avLst/>
            </a:prstGeom>
            <a:noFill/>
          </p:spPr>
          <p:txBody>
            <a:bodyPr wrap="square" rtlCol="0" anchor="ctr">
              <a:spAutoFit/>
            </a:bodyPr>
            <a:lstStyle/>
            <a:p>
              <a:pPr algn="ctr"/>
              <a:r>
                <a:rPr lang="en-US" altLang="zh-CN" sz="3200" dirty="0"/>
                <a:t>y</a:t>
              </a:r>
              <a:endParaRPr lang="zh-CN" altLang="en-US" sz="3200" dirty="0"/>
            </a:p>
          </p:txBody>
        </p:sp>
        <p:sp>
          <p:nvSpPr>
            <p:cNvPr id="29" name="文本框 28">
              <a:extLst>
                <a:ext uri="{FF2B5EF4-FFF2-40B4-BE49-F238E27FC236}">
                  <a16:creationId xmlns:a16="http://schemas.microsoft.com/office/drawing/2014/main" id="{C87C532A-6212-4095-BEAB-89C7201469E9}"/>
                </a:ext>
              </a:extLst>
            </p:cNvPr>
            <p:cNvSpPr txBox="1"/>
            <p:nvPr/>
          </p:nvSpPr>
          <p:spPr>
            <a:xfrm>
              <a:off x="7312289" y="1417365"/>
              <a:ext cx="1331903" cy="369332"/>
            </a:xfrm>
            <a:prstGeom prst="rect">
              <a:avLst/>
            </a:prstGeom>
            <a:noFill/>
          </p:spPr>
          <p:txBody>
            <a:bodyPr wrap="square" rtlCol="0">
              <a:spAutoFit/>
            </a:bodyPr>
            <a:lstStyle/>
            <a:p>
              <a:r>
                <a:rPr lang="en-US" altLang="zh-CN" dirty="0"/>
                <a:t>swap()</a:t>
              </a:r>
              <a:r>
                <a:rPr lang="zh-CN" altLang="en-US" dirty="0"/>
                <a:t>函数</a:t>
              </a:r>
            </a:p>
          </p:txBody>
        </p:sp>
        <p:cxnSp>
          <p:nvCxnSpPr>
            <p:cNvPr id="30" name="直接连接符 29">
              <a:extLst>
                <a:ext uri="{FF2B5EF4-FFF2-40B4-BE49-F238E27FC236}">
                  <a16:creationId xmlns:a16="http://schemas.microsoft.com/office/drawing/2014/main" id="{5A539F7F-7839-4142-8B03-C47B80EC95A7}"/>
                </a:ext>
              </a:extLst>
            </p:cNvPr>
            <p:cNvCxnSpPr/>
            <p:nvPr/>
          </p:nvCxnSpPr>
          <p:spPr>
            <a:xfrm>
              <a:off x="7306737" y="1701215"/>
              <a:ext cx="0" cy="152373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6BD9D92-8C37-44EF-B3FF-D84E3D0346B9}"/>
                </a:ext>
              </a:extLst>
            </p:cNvPr>
            <p:cNvCxnSpPr>
              <a:cxnSpLocks/>
            </p:cNvCxnSpPr>
            <p:nvPr/>
          </p:nvCxnSpPr>
          <p:spPr>
            <a:xfrm>
              <a:off x="7074715" y="2011780"/>
              <a:ext cx="465972"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822A283C-E4EF-40BD-9F4F-DDF431CF3175}"/>
                </a:ext>
              </a:extLst>
            </p:cNvPr>
            <p:cNvCxnSpPr>
              <a:cxnSpLocks/>
            </p:cNvCxnSpPr>
            <p:nvPr/>
          </p:nvCxnSpPr>
          <p:spPr>
            <a:xfrm>
              <a:off x="7073751" y="2788863"/>
              <a:ext cx="465972"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4923975-8966-44F3-AC40-F55F467133BF}"/>
                </a:ext>
              </a:extLst>
            </p:cNvPr>
            <p:cNvCxnSpPr>
              <a:cxnSpLocks/>
            </p:cNvCxnSpPr>
            <p:nvPr/>
          </p:nvCxnSpPr>
          <p:spPr>
            <a:xfrm flipH="1">
              <a:off x="7068471" y="2175238"/>
              <a:ext cx="476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EBB9236A-C6BC-4362-A104-6432A2BFA81C}"/>
                </a:ext>
              </a:extLst>
            </p:cNvPr>
            <p:cNvCxnSpPr>
              <a:cxnSpLocks/>
            </p:cNvCxnSpPr>
            <p:nvPr/>
          </p:nvCxnSpPr>
          <p:spPr>
            <a:xfrm flipH="1">
              <a:off x="7068730" y="2927713"/>
              <a:ext cx="476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60FEBEEF-7FF3-4B5F-85A2-4A272AA30776}"/>
              </a:ext>
            </a:extLst>
          </p:cNvPr>
          <p:cNvGrpSpPr/>
          <p:nvPr/>
        </p:nvGrpSpPr>
        <p:grpSpPr>
          <a:xfrm>
            <a:off x="9299878" y="1417365"/>
            <a:ext cx="2702142" cy="1807584"/>
            <a:chOff x="9299878" y="1417365"/>
            <a:chExt cx="2702142" cy="1807584"/>
          </a:xfrm>
        </p:grpSpPr>
        <p:sp>
          <p:nvSpPr>
            <p:cNvPr id="8" name="矩形 7">
              <a:extLst>
                <a:ext uri="{FF2B5EF4-FFF2-40B4-BE49-F238E27FC236}">
                  <a16:creationId xmlns:a16="http://schemas.microsoft.com/office/drawing/2014/main" id="{07D2C98F-589A-4A17-BE79-36BE47A66C73}"/>
                </a:ext>
              </a:extLst>
            </p:cNvPr>
            <p:cNvSpPr/>
            <p:nvPr/>
          </p:nvSpPr>
          <p:spPr>
            <a:xfrm>
              <a:off x="9792732" y="1865072"/>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9" name="文本框 8">
              <a:extLst>
                <a:ext uri="{FF2B5EF4-FFF2-40B4-BE49-F238E27FC236}">
                  <a16:creationId xmlns:a16="http://schemas.microsoft.com/office/drawing/2014/main" id="{8D4B5D41-F28E-4008-B7DB-675BD9C91CC0}"/>
                </a:ext>
              </a:extLst>
            </p:cNvPr>
            <p:cNvSpPr txBox="1"/>
            <p:nvPr/>
          </p:nvSpPr>
          <p:spPr>
            <a:xfrm>
              <a:off x="9299878" y="1780482"/>
              <a:ext cx="492854" cy="584775"/>
            </a:xfrm>
            <a:prstGeom prst="rect">
              <a:avLst/>
            </a:prstGeom>
            <a:noFill/>
          </p:spPr>
          <p:txBody>
            <a:bodyPr wrap="square" rtlCol="0" anchor="ctr">
              <a:spAutoFit/>
            </a:bodyPr>
            <a:lstStyle/>
            <a:p>
              <a:pPr algn="ctr"/>
              <a:r>
                <a:rPr lang="en-US" altLang="zh-CN" sz="3200" dirty="0"/>
                <a:t>a</a:t>
              </a:r>
              <a:endParaRPr lang="zh-CN" altLang="en-US" sz="3200" dirty="0"/>
            </a:p>
          </p:txBody>
        </p:sp>
        <p:sp>
          <p:nvSpPr>
            <p:cNvPr id="10" name="矩形 9">
              <a:extLst>
                <a:ext uri="{FF2B5EF4-FFF2-40B4-BE49-F238E27FC236}">
                  <a16:creationId xmlns:a16="http://schemas.microsoft.com/office/drawing/2014/main" id="{7F147FAB-A786-4116-ABE6-742159503D2C}"/>
                </a:ext>
              </a:extLst>
            </p:cNvPr>
            <p:cNvSpPr/>
            <p:nvPr/>
          </p:nvSpPr>
          <p:spPr>
            <a:xfrm>
              <a:off x="9792732" y="2620738"/>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11" name="文本框 10">
              <a:extLst>
                <a:ext uri="{FF2B5EF4-FFF2-40B4-BE49-F238E27FC236}">
                  <a16:creationId xmlns:a16="http://schemas.microsoft.com/office/drawing/2014/main" id="{55ADF1E8-EDA6-4E0A-B765-02547CA8ADFC}"/>
                </a:ext>
              </a:extLst>
            </p:cNvPr>
            <p:cNvSpPr txBox="1"/>
            <p:nvPr/>
          </p:nvSpPr>
          <p:spPr>
            <a:xfrm>
              <a:off x="9299878" y="2559593"/>
              <a:ext cx="492854" cy="584775"/>
            </a:xfrm>
            <a:prstGeom prst="rect">
              <a:avLst/>
            </a:prstGeom>
            <a:noFill/>
          </p:spPr>
          <p:txBody>
            <a:bodyPr wrap="square" rtlCol="0" anchor="ctr">
              <a:spAutoFit/>
            </a:bodyPr>
            <a:lstStyle/>
            <a:p>
              <a:pPr algn="ctr"/>
              <a:r>
                <a:rPr lang="en-US" altLang="zh-CN" sz="3200" dirty="0"/>
                <a:t>b</a:t>
              </a:r>
              <a:endParaRPr lang="zh-CN" altLang="en-US" sz="3200" dirty="0"/>
            </a:p>
          </p:txBody>
        </p:sp>
        <p:sp>
          <p:nvSpPr>
            <p:cNvPr id="12" name="文本框 11">
              <a:extLst>
                <a:ext uri="{FF2B5EF4-FFF2-40B4-BE49-F238E27FC236}">
                  <a16:creationId xmlns:a16="http://schemas.microsoft.com/office/drawing/2014/main" id="{235A4F1F-E4AE-489F-A27A-DD657D863A06}"/>
                </a:ext>
              </a:extLst>
            </p:cNvPr>
            <p:cNvSpPr txBox="1"/>
            <p:nvPr/>
          </p:nvSpPr>
          <p:spPr>
            <a:xfrm>
              <a:off x="9349034" y="1417365"/>
              <a:ext cx="1268354" cy="369332"/>
            </a:xfrm>
            <a:prstGeom prst="rect">
              <a:avLst/>
            </a:prstGeom>
            <a:noFill/>
          </p:spPr>
          <p:txBody>
            <a:bodyPr wrap="square" rtlCol="0">
              <a:spAutoFit/>
            </a:bodyPr>
            <a:lstStyle/>
            <a:p>
              <a:r>
                <a:rPr lang="en-US" altLang="zh-CN" dirty="0"/>
                <a:t>main()</a:t>
              </a:r>
              <a:r>
                <a:rPr lang="zh-CN" altLang="en-US" dirty="0"/>
                <a:t>函数</a:t>
              </a:r>
            </a:p>
          </p:txBody>
        </p:sp>
        <p:sp>
          <p:nvSpPr>
            <p:cNvPr id="13" name="矩形 12">
              <a:extLst>
                <a:ext uri="{FF2B5EF4-FFF2-40B4-BE49-F238E27FC236}">
                  <a16:creationId xmlns:a16="http://schemas.microsoft.com/office/drawing/2014/main" id="{187A6931-A5A9-4FA2-83F1-F8BD8819F83D}"/>
                </a:ext>
              </a:extLst>
            </p:cNvPr>
            <p:cNvSpPr/>
            <p:nvPr/>
          </p:nvSpPr>
          <p:spPr>
            <a:xfrm>
              <a:off x="10910817" y="1856144"/>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&amp;a</a:t>
              </a:r>
              <a:endParaRPr lang="zh-CN" altLang="en-US" sz="2400" dirty="0">
                <a:solidFill>
                  <a:schemeClr val="tx1"/>
                </a:solidFill>
              </a:endParaRPr>
            </a:p>
          </p:txBody>
        </p:sp>
        <p:sp>
          <p:nvSpPr>
            <p:cNvPr id="14" name="文本框 13">
              <a:extLst>
                <a:ext uri="{FF2B5EF4-FFF2-40B4-BE49-F238E27FC236}">
                  <a16:creationId xmlns:a16="http://schemas.microsoft.com/office/drawing/2014/main" id="{AA41C2B2-3566-46AA-AF21-297CC5571879}"/>
                </a:ext>
              </a:extLst>
            </p:cNvPr>
            <p:cNvSpPr txBox="1"/>
            <p:nvPr/>
          </p:nvSpPr>
          <p:spPr>
            <a:xfrm>
              <a:off x="11509166" y="1771553"/>
              <a:ext cx="492854" cy="584775"/>
            </a:xfrm>
            <a:prstGeom prst="rect">
              <a:avLst/>
            </a:prstGeom>
            <a:noFill/>
          </p:spPr>
          <p:txBody>
            <a:bodyPr wrap="square" rtlCol="0" anchor="ctr">
              <a:spAutoFit/>
            </a:bodyPr>
            <a:lstStyle/>
            <a:p>
              <a:pPr algn="ctr"/>
              <a:r>
                <a:rPr lang="en-US" altLang="zh-CN" sz="3200" dirty="0"/>
                <a:t>x</a:t>
              </a:r>
              <a:endParaRPr lang="zh-CN" altLang="en-US" sz="3200" dirty="0"/>
            </a:p>
          </p:txBody>
        </p:sp>
        <p:sp>
          <p:nvSpPr>
            <p:cNvPr id="15" name="矩形 14">
              <a:extLst>
                <a:ext uri="{FF2B5EF4-FFF2-40B4-BE49-F238E27FC236}">
                  <a16:creationId xmlns:a16="http://schemas.microsoft.com/office/drawing/2014/main" id="{92E61143-D18A-4A79-BA4E-A4A4FCED291C}"/>
                </a:ext>
              </a:extLst>
            </p:cNvPr>
            <p:cNvSpPr/>
            <p:nvPr/>
          </p:nvSpPr>
          <p:spPr>
            <a:xfrm>
              <a:off x="10910817" y="2611810"/>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&amp;b</a:t>
              </a:r>
              <a:endParaRPr lang="zh-CN" altLang="en-US" sz="2400" dirty="0">
                <a:solidFill>
                  <a:schemeClr val="tx1"/>
                </a:solidFill>
              </a:endParaRPr>
            </a:p>
          </p:txBody>
        </p:sp>
        <p:sp>
          <p:nvSpPr>
            <p:cNvPr id="16" name="文本框 15">
              <a:extLst>
                <a:ext uri="{FF2B5EF4-FFF2-40B4-BE49-F238E27FC236}">
                  <a16:creationId xmlns:a16="http://schemas.microsoft.com/office/drawing/2014/main" id="{ED96C073-956C-4AEB-9D6D-8BF14785CDF4}"/>
                </a:ext>
              </a:extLst>
            </p:cNvPr>
            <p:cNvSpPr txBox="1"/>
            <p:nvPr/>
          </p:nvSpPr>
          <p:spPr>
            <a:xfrm>
              <a:off x="11509166" y="2532500"/>
              <a:ext cx="492854" cy="584775"/>
            </a:xfrm>
            <a:prstGeom prst="rect">
              <a:avLst/>
            </a:prstGeom>
            <a:noFill/>
          </p:spPr>
          <p:txBody>
            <a:bodyPr wrap="square" rtlCol="0" anchor="ctr">
              <a:spAutoFit/>
            </a:bodyPr>
            <a:lstStyle/>
            <a:p>
              <a:pPr algn="ctr"/>
              <a:r>
                <a:rPr lang="en-US" altLang="zh-CN" sz="3200" dirty="0"/>
                <a:t>y</a:t>
              </a:r>
              <a:endParaRPr lang="zh-CN" altLang="en-US" sz="3200" dirty="0"/>
            </a:p>
          </p:txBody>
        </p:sp>
        <p:sp>
          <p:nvSpPr>
            <p:cNvPr id="17" name="文本框 16">
              <a:extLst>
                <a:ext uri="{FF2B5EF4-FFF2-40B4-BE49-F238E27FC236}">
                  <a16:creationId xmlns:a16="http://schemas.microsoft.com/office/drawing/2014/main" id="{F00256C6-CA5B-4E82-8A86-E90DCBB127D0}"/>
                </a:ext>
              </a:extLst>
            </p:cNvPr>
            <p:cNvSpPr txBox="1"/>
            <p:nvPr/>
          </p:nvSpPr>
          <p:spPr>
            <a:xfrm>
              <a:off x="10666544" y="1417365"/>
              <a:ext cx="1331903" cy="369332"/>
            </a:xfrm>
            <a:prstGeom prst="rect">
              <a:avLst/>
            </a:prstGeom>
            <a:noFill/>
          </p:spPr>
          <p:txBody>
            <a:bodyPr wrap="square" rtlCol="0">
              <a:spAutoFit/>
            </a:bodyPr>
            <a:lstStyle/>
            <a:p>
              <a:r>
                <a:rPr lang="en-US" altLang="zh-CN" dirty="0"/>
                <a:t>swap()</a:t>
              </a:r>
              <a:r>
                <a:rPr lang="zh-CN" altLang="en-US" dirty="0"/>
                <a:t>函数</a:t>
              </a:r>
            </a:p>
          </p:txBody>
        </p:sp>
        <p:cxnSp>
          <p:nvCxnSpPr>
            <p:cNvPr id="18" name="直接连接符 17">
              <a:extLst>
                <a:ext uri="{FF2B5EF4-FFF2-40B4-BE49-F238E27FC236}">
                  <a16:creationId xmlns:a16="http://schemas.microsoft.com/office/drawing/2014/main" id="{781E937E-502E-4695-9682-2364B4085E6F}"/>
                </a:ext>
              </a:extLst>
            </p:cNvPr>
            <p:cNvCxnSpPr/>
            <p:nvPr/>
          </p:nvCxnSpPr>
          <p:spPr>
            <a:xfrm>
              <a:off x="10666544" y="1701215"/>
              <a:ext cx="0" cy="152373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E2059B72-D6BF-4BC2-B5F3-42F83E89381A}"/>
                </a:ext>
              </a:extLst>
            </p:cNvPr>
            <p:cNvCxnSpPr>
              <a:cxnSpLocks/>
            </p:cNvCxnSpPr>
            <p:nvPr/>
          </p:nvCxnSpPr>
          <p:spPr>
            <a:xfrm flipH="1">
              <a:off x="10417963" y="2115164"/>
              <a:ext cx="476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99A1E06D-E400-43E8-803D-F57258768BD4}"/>
                </a:ext>
              </a:extLst>
            </p:cNvPr>
            <p:cNvCxnSpPr>
              <a:cxnSpLocks/>
            </p:cNvCxnSpPr>
            <p:nvPr/>
          </p:nvCxnSpPr>
          <p:spPr>
            <a:xfrm flipH="1">
              <a:off x="10417963" y="2870830"/>
              <a:ext cx="476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 name="灯片编号占位符 6">
            <a:extLst>
              <a:ext uri="{FF2B5EF4-FFF2-40B4-BE49-F238E27FC236}">
                <a16:creationId xmlns:a16="http://schemas.microsoft.com/office/drawing/2014/main" id="{5443A49B-3C99-4D3D-A1F2-D39539B9DB2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17</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44360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2CC133D-A26D-4CE7-9278-8B7C68BAC823}"/>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5" name="Rectangle 2">
            <a:extLst>
              <a:ext uri="{FF2B5EF4-FFF2-40B4-BE49-F238E27FC236}">
                <a16:creationId xmlns:a16="http://schemas.microsoft.com/office/drawing/2014/main" id="{79C1E657-CBB5-4B74-8430-AB27D7F6B9CA}"/>
              </a:ext>
            </a:extLst>
          </p:cNvPr>
          <p:cNvSpPr txBox="1">
            <a:spLocks noChangeArrowheads="1"/>
          </p:cNvSpPr>
          <p:nvPr/>
        </p:nvSpPr>
        <p:spPr>
          <a:xfrm>
            <a:off x="318952" y="1302147"/>
            <a:ext cx="5310281"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swap(</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latin typeface="+mn-ea"/>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10, b = 20;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err="1">
                <a:latin typeface="Times New Roman" panose="02020603050405020304" pitchFamily="18" charset="0"/>
                <a:ea typeface="等线" panose="02010600030101010101" pitchFamily="2" charset="-122"/>
                <a:cs typeface="Times New Roman" panose="02020603050405020304" pitchFamily="18" charset="0"/>
              </a:rPr>
              <a:t>scanf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%d %d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&amp;a, &amp;b);</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swap(</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a:t>
            </a:r>
          </a:p>
          <a:p>
            <a:pPr marL="0" indent="0">
              <a:lnSpc>
                <a:spcPct val="100000"/>
              </a:lnSpc>
              <a:spcBef>
                <a:spcPct val="0"/>
              </a:spcBef>
              <a:buClr>
                <a:schemeClr val="tx2"/>
              </a:buClr>
              <a:buSzPct val="70000"/>
              <a:buFont typeface="Arial" panose="020B0604020202020204" pitchFamily="34" charset="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err="1">
                <a:latin typeface="Times New Roman" panose="02020603050405020304" pitchFamily="18" charset="0"/>
                <a:ea typeface="等线" panose="02010600030101010101" pitchFamily="2" charset="-122"/>
                <a:cs typeface="Times New Roman" panose="02020603050405020304" pitchFamily="18" charset="0"/>
              </a:rPr>
              <a:t>printf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%d %d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b);</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B26C2E04-A357-40A3-B5C6-B5D799ACFE9C}"/>
              </a:ext>
            </a:extLst>
          </p:cNvPr>
          <p:cNvSpPr txBox="1">
            <a:spLocks noChangeArrowheads="1"/>
          </p:cNvSpPr>
          <p:nvPr/>
        </p:nvSpPr>
        <p:spPr>
          <a:xfrm>
            <a:off x="5945623" y="3623826"/>
            <a:ext cx="5310281" cy="323678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000"/>
              </a:lnSpc>
              <a:spcBef>
                <a:spcPct val="0"/>
              </a:spcBef>
              <a:buClr>
                <a:schemeClr val="tx2"/>
              </a:buClr>
              <a:buSzPct val="70000"/>
              <a:buFont typeface="Arial" panose="020B0604020202020204" pitchFamily="34" charset="0"/>
              <a:buNone/>
            </a:pP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rPr>
              <a:t>void</a:t>
            </a:r>
            <a:r>
              <a:rPr lang="en-US" altLang="zh-CN" b="1" dirty="0">
                <a:solidFill>
                  <a:srgbClr val="FF0000"/>
                </a:solidFill>
              </a:rPr>
              <a:t> </a:t>
            </a:r>
            <a:r>
              <a:rPr lang="en-US" altLang="zh-CN" b="1" dirty="0"/>
              <a:t>swap</a:t>
            </a:r>
            <a:r>
              <a:rPr lang="en-US" altLang="zh-CN" b="1" dirty="0">
                <a:solidFill>
                  <a:srgbClr val="FF0000"/>
                </a:solidFill>
              </a:rPr>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x, </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y</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int </a:t>
            </a:r>
            <a:r>
              <a:rPr lang="en-US" altLang="zh-CN" b="1" dirty="0">
                <a:solidFill>
                  <a:srgbClr val="FF0000"/>
                </a:solidFill>
              </a:rPr>
              <a:t>*</a:t>
            </a:r>
            <a:r>
              <a:rPr lang="en-US" altLang="zh-CN" b="1" dirty="0"/>
              <a:t>temp; </a:t>
            </a:r>
          </a:p>
          <a:p>
            <a:pPr marL="0" indent="0">
              <a:lnSpc>
                <a:spcPct val="100000"/>
              </a:lnSpc>
              <a:spcBef>
                <a:spcPct val="0"/>
              </a:spcBef>
              <a:buClr>
                <a:schemeClr val="tx2"/>
              </a:buClr>
              <a:buSzPct val="70000"/>
              <a:buNone/>
            </a:pPr>
            <a:r>
              <a:rPr lang="en-US" altLang="zh-CN" b="1" dirty="0"/>
              <a:t>       temp = x;</a:t>
            </a:r>
          </a:p>
          <a:p>
            <a:pPr marL="0" indent="0">
              <a:lnSpc>
                <a:spcPct val="100000"/>
              </a:lnSpc>
              <a:spcBef>
                <a:spcPct val="0"/>
              </a:spcBef>
              <a:buClr>
                <a:schemeClr val="tx2"/>
              </a:buClr>
              <a:buSzPct val="70000"/>
              <a:buNone/>
            </a:pPr>
            <a:r>
              <a:rPr lang="en-US" altLang="zh-CN" b="1" dirty="0"/>
              <a:t>       x = y;</a:t>
            </a:r>
          </a:p>
          <a:p>
            <a:pPr marL="0" indent="0">
              <a:lnSpc>
                <a:spcPct val="100000"/>
              </a:lnSpc>
              <a:spcBef>
                <a:spcPct val="0"/>
              </a:spcBef>
              <a:buClr>
                <a:schemeClr val="tx2"/>
              </a:buClr>
              <a:buSzPct val="70000"/>
              <a:buNone/>
            </a:pPr>
            <a:r>
              <a:rPr lang="en-US" altLang="zh-CN" b="1" dirty="0"/>
              <a:t>       y = temp;</a:t>
            </a:r>
          </a:p>
          <a:p>
            <a:pPr marL="0" indent="0">
              <a:lnSpc>
                <a:spcPct val="100000"/>
              </a:lnSpc>
              <a:spcBef>
                <a:spcPct val="0"/>
              </a:spcBef>
              <a:buClr>
                <a:schemeClr val="tx2"/>
              </a:buClr>
              <a:buSzPct val="70000"/>
              <a:buNone/>
            </a:pPr>
            <a:r>
              <a:rPr lang="en-US" altLang="zh-CN" b="1" dirty="0">
                <a:solidFill>
                  <a:srgbClr val="FF0000"/>
                </a:solidFill>
              </a:rPr>
              <a:t>}</a:t>
            </a:r>
            <a:endParaRPr lang="zh-CN" altLang="en-US" b="1" dirty="0">
              <a:solidFill>
                <a:srgbClr val="FF0000"/>
              </a:solidFill>
            </a:endParaRPr>
          </a:p>
        </p:txBody>
      </p:sp>
      <p:sp>
        <p:nvSpPr>
          <p:cNvPr id="33" name="箭头: 右 32">
            <a:extLst>
              <a:ext uri="{FF2B5EF4-FFF2-40B4-BE49-F238E27FC236}">
                <a16:creationId xmlns:a16="http://schemas.microsoft.com/office/drawing/2014/main" id="{715F280B-1E24-43A5-89FF-9BCAA3890978}"/>
              </a:ext>
            </a:extLst>
          </p:cNvPr>
          <p:cNvSpPr/>
          <p:nvPr/>
        </p:nvSpPr>
        <p:spPr>
          <a:xfrm>
            <a:off x="8656400" y="2419107"/>
            <a:ext cx="655683" cy="1624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27B785C9-F66B-4C5B-B28D-8CEF90053835}"/>
              </a:ext>
            </a:extLst>
          </p:cNvPr>
          <p:cNvGrpSpPr/>
          <p:nvPr/>
        </p:nvGrpSpPr>
        <p:grpSpPr>
          <a:xfrm>
            <a:off x="5945623" y="1417365"/>
            <a:ext cx="2702142" cy="1807584"/>
            <a:chOff x="5945623" y="1417365"/>
            <a:chExt cx="2702142" cy="1807584"/>
          </a:xfrm>
        </p:grpSpPr>
        <p:sp>
          <p:nvSpPr>
            <p:cNvPr id="20" name="矩形 19">
              <a:extLst>
                <a:ext uri="{FF2B5EF4-FFF2-40B4-BE49-F238E27FC236}">
                  <a16:creationId xmlns:a16="http://schemas.microsoft.com/office/drawing/2014/main" id="{168EA026-38A2-4D2E-B881-177C80058199}"/>
                </a:ext>
              </a:extLst>
            </p:cNvPr>
            <p:cNvSpPr/>
            <p:nvPr/>
          </p:nvSpPr>
          <p:spPr>
            <a:xfrm>
              <a:off x="6438477" y="1865072"/>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21" name="文本框 20">
              <a:extLst>
                <a:ext uri="{FF2B5EF4-FFF2-40B4-BE49-F238E27FC236}">
                  <a16:creationId xmlns:a16="http://schemas.microsoft.com/office/drawing/2014/main" id="{9EB09DBF-EAFC-4378-B93C-3587F31DAC62}"/>
                </a:ext>
              </a:extLst>
            </p:cNvPr>
            <p:cNvSpPr txBox="1"/>
            <p:nvPr/>
          </p:nvSpPr>
          <p:spPr>
            <a:xfrm>
              <a:off x="5945623" y="1780482"/>
              <a:ext cx="492854" cy="584775"/>
            </a:xfrm>
            <a:prstGeom prst="rect">
              <a:avLst/>
            </a:prstGeom>
            <a:noFill/>
          </p:spPr>
          <p:txBody>
            <a:bodyPr wrap="square" rtlCol="0" anchor="ctr">
              <a:spAutoFit/>
            </a:bodyPr>
            <a:lstStyle/>
            <a:p>
              <a:pPr algn="ctr"/>
              <a:r>
                <a:rPr lang="en-US" altLang="zh-CN" sz="3200" dirty="0"/>
                <a:t>a</a:t>
              </a:r>
              <a:endParaRPr lang="zh-CN" altLang="en-US" sz="3200" dirty="0"/>
            </a:p>
          </p:txBody>
        </p:sp>
        <p:sp>
          <p:nvSpPr>
            <p:cNvPr id="22" name="矩形 21">
              <a:extLst>
                <a:ext uri="{FF2B5EF4-FFF2-40B4-BE49-F238E27FC236}">
                  <a16:creationId xmlns:a16="http://schemas.microsoft.com/office/drawing/2014/main" id="{3B9C4F50-D6BF-4166-9146-0826BE358757}"/>
                </a:ext>
              </a:extLst>
            </p:cNvPr>
            <p:cNvSpPr/>
            <p:nvPr/>
          </p:nvSpPr>
          <p:spPr>
            <a:xfrm>
              <a:off x="6438477" y="2620738"/>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23" name="文本框 22">
              <a:extLst>
                <a:ext uri="{FF2B5EF4-FFF2-40B4-BE49-F238E27FC236}">
                  <a16:creationId xmlns:a16="http://schemas.microsoft.com/office/drawing/2014/main" id="{58876D0A-D6EF-4AEC-9627-5DC6CB3E1B2A}"/>
                </a:ext>
              </a:extLst>
            </p:cNvPr>
            <p:cNvSpPr txBox="1"/>
            <p:nvPr/>
          </p:nvSpPr>
          <p:spPr>
            <a:xfrm>
              <a:off x="5945623" y="2559593"/>
              <a:ext cx="492854" cy="584775"/>
            </a:xfrm>
            <a:prstGeom prst="rect">
              <a:avLst/>
            </a:prstGeom>
            <a:noFill/>
          </p:spPr>
          <p:txBody>
            <a:bodyPr wrap="square" rtlCol="0" anchor="ctr">
              <a:spAutoFit/>
            </a:bodyPr>
            <a:lstStyle/>
            <a:p>
              <a:pPr algn="ctr"/>
              <a:r>
                <a:rPr lang="en-US" altLang="zh-CN" sz="3200" dirty="0"/>
                <a:t>b</a:t>
              </a:r>
              <a:endParaRPr lang="zh-CN" altLang="en-US" sz="3200" dirty="0"/>
            </a:p>
          </p:txBody>
        </p:sp>
        <p:sp>
          <p:nvSpPr>
            <p:cNvPr id="24" name="文本框 23">
              <a:extLst>
                <a:ext uri="{FF2B5EF4-FFF2-40B4-BE49-F238E27FC236}">
                  <a16:creationId xmlns:a16="http://schemas.microsoft.com/office/drawing/2014/main" id="{7644C828-9190-4D49-8C7A-32CA8819740D}"/>
                </a:ext>
              </a:extLst>
            </p:cNvPr>
            <p:cNvSpPr txBox="1"/>
            <p:nvPr/>
          </p:nvSpPr>
          <p:spPr>
            <a:xfrm>
              <a:off x="5994779" y="1417365"/>
              <a:ext cx="1268354" cy="369332"/>
            </a:xfrm>
            <a:prstGeom prst="rect">
              <a:avLst/>
            </a:prstGeom>
            <a:noFill/>
          </p:spPr>
          <p:txBody>
            <a:bodyPr wrap="square" rtlCol="0">
              <a:spAutoFit/>
            </a:bodyPr>
            <a:lstStyle/>
            <a:p>
              <a:r>
                <a:rPr lang="en-US" altLang="zh-CN" dirty="0"/>
                <a:t>main()</a:t>
              </a:r>
              <a:r>
                <a:rPr lang="zh-CN" altLang="en-US" dirty="0"/>
                <a:t>函数</a:t>
              </a:r>
            </a:p>
          </p:txBody>
        </p:sp>
        <p:sp>
          <p:nvSpPr>
            <p:cNvPr id="25" name="矩形 24">
              <a:extLst>
                <a:ext uri="{FF2B5EF4-FFF2-40B4-BE49-F238E27FC236}">
                  <a16:creationId xmlns:a16="http://schemas.microsoft.com/office/drawing/2014/main" id="{889E19F5-56A4-437B-964F-BB60D341BD3D}"/>
                </a:ext>
              </a:extLst>
            </p:cNvPr>
            <p:cNvSpPr/>
            <p:nvPr/>
          </p:nvSpPr>
          <p:spPr>
            <a:xfrm>
              <a:off x="7556562" y="1856144"/>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&amp;a</a:t>
              </a:r>
              <a:endParaRPr lang="zh-CN" altLang="en-US" sz="2400" dirty="0">
                <a:solidFill>
                  <a:schemeClr val="tx1"/>
                </a:solidFill>
              </a:endParaRPr>
            </a:p>
          </p:txBody>
        </p:sp>
        <p:sp>
          <p:nvSpPr>
            <p:cNvPr id="26" name="文本框 25">
              <a:extLst>
                <a:ext uri="{FF2B5EF4-FFF2-40B4-BE49-F238E27FC236}">
                  <a16:creationId xmlns:a16="http://schemas.microsoft.com/office/drawing/2014/main" id="{023B6918-7D79-4ABA-94B8-86D505D85C3D}"/>
                </a:ext>
              </a:extLst>
            </p:cNvPr>
            <p:cNvSpPr txBox="1"/>
            <p:nvPr/>
          </p:nvSpPr>
          <p:spPr>
            <a:xfrm>
              <a:off x="8154911" y="1771553"/>
              <a:ext cx="492854" cy="584775"/>
            </a:xfrm>
            <a:prstGeom prst="rect">
              <a:avLst/>
            </a:prstGeom>
            <a:noFill/>
          </p:spPr>
          <p:txBody>
            <a:bodyPr wrap="square" rtlCol="0" anchor="ctr">
              <a:spAutoFit/>
            </a:bodyPr>
            <a:lstStyle/>
            <a:p>
              <a:pPr algn="ctr"/>
              <a:r>
                <a:rPr lang="en-US" altLang="zh-CN" sz="3200" dirty="0"/>
                <a:t>x</a:t>
              </a:r>
              <a:endParaRPr lang="zh-CN" altLang="en-US" sz="3200" dirty="0"/>
            </a:p>
          </p:txBody>
        </p:sp>
        <p:sp>
          <p:nvSpPr>
            <p:cNvPr id="27" name="矩形 26">
              <a:extLst>
                <a:ext uri="{FF2B5EF4-FFF2-40B4-BE49-F238E27FC236}">
                  <a16:creationId xmlns:a16="http://schemas.microsoft.com/office/drawing/2014/main" id="{E77D416A-4E04-4851-AF1B-2D8CC6C4DAB4}"/>
                </a:ext>
              </a:extLst>
            </p:cNvPr>
            <p:cNvSpPr/>
            <p:nvPr/>
          </p:nvSpPr>
          <p:spPr>
            <a:xfrm>
              <a:off x="7556562" y="2611810"/>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&amp;b</a:t>
              </a:r>
              <a:endParaRPr lang="zh-CN" altLang="en-US" sz="2400" dirty="0">
                <a:solidFill>
                  <a:schemeClr val="tx1"/>
                </a:solidFill>
              </a:endParaRPr>
            </a:p>
          </p:txBody>
        </p:sp>
        <p:sp>
          <p:nvSpPr>
            <p:cNvPr id="28" name="文本框 27">
              <a:extLst>
                <a:ext uri="{FF2B5EF4-FFF2-40B4-BE49-F238E27FC236}">
                  <a16:creationId xmlns:a16="http://schemas.microsoft.com/office/drawing/2014/main" id="{84743195-2182-4FB4-AA40-643D845208D6}"/>
                </a:ext>
              </a:extLst>
            </p:cNvPr>
            <p:cNvSpPr txBox="1"/>
            <p:nvPr/>
          </p:nvSpPr>
          <p:spPr>
            <a:xfrm>
              <a:off x="8154911" y="2532500"/>
              <a:ext cx="492854" cy="584775"/>
            </a:xfrm>
            <a:prstGeom prst="rect">
              <a:avLst/>
            </a:prstGeom>
            <a:noFill/>
          </p:spPr>
          <p:txBody>
            <a:bodyPr wrap="square" rtlCol="0" anchor="ctr">
              <a:spAutoFit/>
            </a:bodyPr>
            <a:lstStyle/>
            <a:p>
              <a:pPr algn="ctr"/>
              <a:r>
                <a:rPr lang="en-US" altLang="zh-CN" sz="3200" dirty="0"/>
                <a:t>y</a:t>
              </a:r>
              <a:endParaRPr lang="zh-CN" altLang="en-US" sz="3200" dirty="0"/>
            </a:p>
          </p:txBody>
        </p:sp>
        <p:sp>
          <p:nvSpPr>
            <p:cNvPr id="29" name="文本框 28">
              <a:extLst>
                <a:ext uri="{FF2B5EF4-FFF2-40B4-BE49-F238E27FC236}">
                  <a16:creationId xmlns:a16="http://schemas.microsoft.com/office/drawing/2014/main" id="{C87C532A-6212-4095-BEAB-89C7201469E9}"/>
                </a:ext>
              </a:extLst>
            </p:cNvPr>
            <p:cNvSpPr txBox="1"/>
            <p:nvPr/>
          </p:nvSpPr>
          <p:spPr>
            <a:xfrm>
              <a:off x="7312289" y="1417365"/>
              <a:ext cx="1331903" cy="369332"/>
            </a:xfrm>
            <a:prstGeom prst="rect">
              <a:avLst/>
            </a:prstGeom>
            <a:noFill/>
          </p:spPr>
          <p:txBody>
            <a:bodyPr wrap="square" rtlCol="0">
              <a:spAutoFit/>
            </a:bodyPr>
            <a:lstStyle/>
            <a:p>
              <a:r>
                <a:rPr lang="en-US" altLang="zh-CN" dirty="0"/>
                <a:t>swap()</a:t>
              </a:r>
              <a:r>
                <a:rPr lang="zh-CN" altLang="en-US" dirty="0"/>
                <a:t>函数</a:t>
              </a:r>
            </a:p>
          </p:txBody>
        </p:sp>
        <p:cxnSp>
          <p:nvCxnSpPr>
            <p:cNvPr id="30" name="直接连接符 29">
              <a:extLst>
                <a:ext uri="{FF2B5EF4-FFF2-40B4-BE49-F238E27FC236}">
                  <a16:creationId xmlns:a16="http://schemas.microsoft.com/office/drawing/2014/main" id="{5A539F7F-7839-4142-8B03-C47B80EC95A7}"/>
                </a:ext>
              </a:extLst>
            </p:cNvPr>
            <p:cNvCxnSpPr/>
            <p:nvPr/>
          </p:nvCxnSpPr>
          <p:spPr>
            <a:xfrm>
              <a:off x="7306737" y="1701215"/>
              <a:ext cx="0" cy="152373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6BD9D92-8C37-44EF-B3FF-D84E3D0346B9}"/>
                </a:ext>
              </a:extLst>
            </p:cNvPr>
            <p:cNvCxnSpPr>
              <a:cxnSpLocks/>
            </p:cNvCxnSpPr>
            <p:nvPr/>
          </p:nvCxnSpPr>
          <p:spPr>
            <a:xfrm>
              <a:off x="7074715" y="2011780"/>
              <a:ext cx="465972"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822A283C-E4EF-40BD-9F4F-DDF431CF3175}"/>
                </a:ext>
              </a:extLst>
            </p:cNvPr>
            <p:cNvCxnSpPr>
              <a:cxnSpLocks/>
            </p:cNvCxnSpPr>
            <p:nvPr/>
          </p:nvCxnSpPr>
          <p:spPr>
            <a:xfrm>
              <a:off x="7073751" y="2788863"/>
              <a:ext cx="465972"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4923975-8966-44F3-AC40-F55F467133BF}"/>
                </a:ext>
              </a:extLst>
            </p:cNvPr>
            <p:cNvCxnSpPr>
              <a:cxnSpLocks/>
            </p:cNvCxnSpPr>
            <p:nvPr/>
          </p:nvCxnSpPr>
          <p:spPr>
            <a:xfrm flipH="1">
              <a:off x="7068471" y="2175238"/>
              <a:ext cx="476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EBB9236A-C6BC-4362-A104-6432A2BFA81C}"/>
                </a:ext>
              </a:extLst>
            </p:cNvPr>
            <p:cNvCxnSpPr>
              <a:cxnSpLocks/>
            </p:cNvCxnSpPr>
            <p:nvPr/>
          </p:nvCxnSpPr>
          <p:spPr>
            <a:xfrm flipH="1">
              <a:off x="7068730" y="2927713"/>
              <a:ext cx="476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A331D18A-71B8-4FEE-92FC-187020C866A1}"/>
              </a:ext>
            </a:extLst>
          </p:cNvPr>
          <p:cNvGrpSpPr/>
          <p:nvPr/>
        </p:nvGrpSpPr>
        <p:grpSpPr>
          <a:xfrm>
            <a:off x="9299878" y="1417365"/>
            <a:ext cx="2702142" cy="1807584"/>
            <a:chOff x="9299878" y="1417365"/>
            <a:chExt cx="2702142" cy="1807584"/>
          </a:xfrm>
        </p:grpSpPr>
        <p:sp>
          <p:nvSpPr>
            <p:cNvPr id="9" name="文本框 8">
              <a:extLst>
                <a:ext uri="{FF2B5EF4-FFF2-40B4-BE49-F238E27FC236}">
                  <a16:creationId xmlns:a16="http://schemas.microsoft.com/office/drawing/2014/main" id="{8D4B5D41-F28E-4008-B7DB-675BD9C91CC0}"/>
                </a:ext>
              </a:extLst>
            </p:cNvPr>
            <p:cNvSpPr txBox="1"/>
            <p:nvPr/>
          </p:nvSpPr>
          <p:spPr>
            <a:xfrm>
              <a:off x="9299878" y="1780482"/>
              <a:ext cx="492854" cy="584775"/>
            </a:xfrm>
            <a:prstGeom prst="rect">
              <a:avLst/>
            </a:prstGeom>
            <a:noFill/>
          </p:spPr>
          <p:txBody>
            <a:bodyPr wrap="square" rtlCol="0" anchor="ctr">
              <a:spAutoFit/>
            </a:bodyPr>
            <a:lstStyle/>
            <a:p>
              <a:pPr algn="ctr"/>
              <a:r>
                <a:rPr lang="en-US" altLang="zh-CN" sz="3200" dirty="0"/>
                <a:t>a</a:t>
              </a:r>
              <a:endParaRPr lang="zh-CN" altLang="en-US" sz="3200" dirty="0"/>
            </a:p>
          </p:txBody>
        </p:sp>
        <p:sp>
          <p:nvSpPr>
            <p:cNvPr id="11" name="文本框 10">
              <a:extLst>
                <a:ext uri="{FF2B5EF4-FFF2-40B4-BE49-F238E27FC236}">
                  <a16:creationId xmlns:a16="http://schemas.microsoft.com/office/drawing/2014/main" id="{55ADF1E8-EDA6-4E0A-B765-02547CA8ADFC}"/>
                </a:ext>
              </a:extLst>
            </p:cNvPr>
            <p:cNvSpPr txBox="1"/>
            <p:nvPr/>
          </p:nvSpPr>
          <p:spPr>
            <a:xfrm>
              <a:off x="9299878" y="2559593"/>
              <a:ext cx="492854" cy="584775"/>
            </a:xfrm>
            <a:prstGeom prst="rect">
              <a:avLst/>
            </a:prstGeom>
            <a:noFill/>
          </p:spPr>
          <p:txBody>
            <a:bodyPr wrap="square" rtlCol="0" anchor="ctr">
              <a:spAutoFit/>
            </a:bodyPr>
            <a:lstStyle/>
            <a:p>
              <a:pPr algn="ctr"/>
              <a:r>
                <a:rPr lang="en-US" altLang="zh-CN" sz="3200" dirty="0"/>
                <a:t>b</a:t>
              </a:r>
              <a:endParaRPr lang="zh-CN" altLang="en-US" sz="3200" dirty="0"/>
            </a:p>
          </p:txBody>
        </p:sp>
        <p:sp>
          <p:nvSpPr>
            <p:cNvPr id="8" name="矩形 7">
              <a:extLst>
                <a:ext uri="{FF2B5EF4-FFF2-40B4-BE49-F238E27FC236}">
                  <a16:creationId xmlns:a16="http://schemas.microsoft.com/office/drawing/2014/main" id="{07D2C98F-589A-4A17-BE79-36BE47A66C73}"/>
                </a:ext>
              </a:extLst>
            </p:cNvPr>
            <p:cNvSpPr/>
            <p:nvPr/>
          </p:nvSpPr>
          <p:spPr>
            <a:xfrm>
              <a:off x="9792732" y="1865072"/>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10</a:t>
              </a:r>
              <a:endParaRPr lang="zh-CN" altLang="en-US" sz="2400" dirty="0">
                <a:solidFill>
                  <a:schemeClr val="tx1"/>
                </a:solidFill>
              </a:endParaRPr>
            </a:p>
          </p:txBody>
        </p:sp>
        <p:sp>
          <p:nvSpPr>
            <p:cNvPr id="10" name="矩形 9">
              <a:extLst>
                <a:ext uri="{FF2B5EF4-FFF2-40B4-BE49-F238E27FC236}">
                  <a16:creationId xmlns:a16="http://schemas.microsoft.com/office/drawing/2014/main" id="{7F147FAB-A786-4116-ABE6-742159503D2C}"/>
                </a:ext>
              </a:extLst>
            </p:cNvPr>
            <p:cNvSpPr/>
            <p:nvPr/>
          </p:nvSpPr>
          <p:spPr>
            <a:xfrm>
              <a:off x="9792732" y="2620738"/>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20</a:t>
              </a:r>
              <a:endParaRPr lang="zh-CN" altLang="en-US" sz="2400" dirty="0">
                <a:solidFill>
                  <a:schemeClr val="tx1"/>
                </a:solidFill>
              </a:endParaRPr>
            </a:p>
          </p:txBody>
        </p:sp>
        <p:sp>
          <p:nvSpPr>
            <p:cNvPr id="12" name="文本框 11">
              <a:extLst>
                <a:ext uri="{FF2B5EF4-FFF2-40B4-BE49-F238E27FC236}">
                  <a16:creationId xmlns:a16="http://schemas.microsoft.com/office/drawing/2014/main" id="{235A4F1F-E4AE-489F-A27A-DD657D863A06}"/>
                </a:ext>
              </a:extLst>
            </p:cNvPr>
            <p:cNvSpPr txBox="1"/>
            <p:nvPr/>
          </p:nvSpPr>
          <p:spPr>
            <a:xfrm>
              <a:off x="9349034" y="1417365"/>
              <a:ext cx="1268354" cy="369332"/>
            </a:xfrm>
            <a:prstGeom prst="rect">
              <a:avLst/>
            </a:prstGeom>
            <a:noFill/>
          </p:spPr>
          <p:txBody>
            <a:bodyPr wrap="square" rtlCol="0">
              <a:spAutoFit/>
            </a:bodyPr>
            <a:lstStyle/>
            <a:p>
              <a:r>
                <a:rPr lang="en-US" altLang="zh-CN" dirty="0"/>
                <a:t>main()</a:t>
              </a:r>
              <a:r>
                <a:rPr lang="zh-CN" altLang="en-US" dirty="0"/>
                <a:t>函数</a:t>
              </a:r>
            </a:p>
          </p:txBody>
        </p:sp>
        <p:sp>
          <p:nvSpPr>
            <p:cNvPr id="13" name="矩形 12">
              <a:extLst>
                <a:ext uri="{FF2B5EF4-FFF2-40B4-BE49-F238E27FC236}">
                  <a16:creationId xmlns:a16="http://schemas.microsoft.com/office/drawing/2014/main" id="{187A6931-A5A9-4FA2-83F1-F8BD8819F83D}"/>
                </a:ext>
              </a:extLst>
            </p:cNvPr>
            <p:cNvSpPr/>
            <p:nvPr/>
          </p:nvSpPr>
          <p:spPr>
            <a:xfrm>
              <a:off x="10910817" y="1856144"/>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&amp;a</a:t>
              </a:r>
              <a:endParaRPr lang="zh-CN" altLang="en-US" sz="2400" dirty="0">
                <a:solidFill>
                  <a:schemeClr val="tx1"/>
                </a:solidFill>
              </a:endParaRPr>
            </a:p>
          </p:txBody>
        </p:sp>
        <p:sp>
          <p:nvSpPr>
            <p:cNvPr id="14" name="文本框 13">
              <a:extLst>
                <a:ext uri="{FF2B5EF4-FFF2-40B4-BE49-F238E27FC236}">
                  <a16:creationId xmlns:a16="http://schemas.microsoft.com/office/drawing/2014/main" id="{AA41C2B2-3566-46AA-AF21-297CC5571879}"/>
                </a:ext>
              </a:extLst>
            </p:cNvPr>
            <p:cNvSpPr txBox="1"/>
            <p:nvPr/>
          </p:nvSpPr>
          <p:spPr>
            <a:xfrm>
              <a:off x="11509166" y="1771553"/>
              <a:ext cx="492854" cy="584775"/>
            </a:xfrm>
            <a:prstGeom prst="rect">
              <a:avLst/>
            </a:prstGeom>
            <a:noFill/>
          </p:spPr>
          <p:txBody>
            <a:bodyPr wrap="square" rtlCol="0" anchor="ctr">
              <a:spAutoFit/>
            </a:bodyPr>
            <a:lstStyle/>
            <a:p>
              <a:pPr algn="ctr"/>
              <a:r>
                <a:rPr lang="en-US" altLang="zh-CN" sz="3200" dirty="0"/>
                <a:t>x</a:t>
              </a:r>
              <a:endParaRPr lang="zh-CN" altLang="en-US" sz="3200" dirty="0"/>
            </a:p>
          </p:txBody>
        </p:sp>
        <p:sp>
          <p:nvSpPr>
            <p:cNvPr id="15" name="矩形 14">
              <a:extLst>
                <a:ext uri="{FF2B5EF4-FFF2-40B4-BE49-F238E27FC236}">
                  <a16:creationId xmlns:a16="http://schemas.microsoft.com/office/drawing/2014/main" id="{92E61143-D18A-4A79-BA4E-A4A4FCED291C}"/>
                </a:ext>
              </a:extLst>
            </p:cNvPr>
            <p:cNvSpPr/>
            <p:nvPr/>
          </p:nvSpPr>
          <p:spPr>
            <a:xfrm>
              <a:off x="10910817" y="2611810"/>
              <a:ext cx="625231" cy="5001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&amp;b</a:t>
              </a:r>
              <a:endParaRPr lang="zh-CN" altLang="en-US" sz="2400" dirty="0">
                <a:solidFill>
                  <a:schemeClr val="tx1"/>
                </a:solidFill>
              </a:endParaRPr>
            </a:p>
          </p:txBody>
        </p:sp>
        <p:sp>
          <p:nvSpPr>
            <p:cNvPr id="16" name="文本框 15">
              <a:extLst>
                <a:ext uri="{FF2B5EF4-FFF2-40B4-BE49-F238E27FC236}">
                  <a16:creationId xmlns:a16="http://schemas.microsoft.com/office/drawing/2014/main" id="{ED96C073-956C-4AEB-9D6D-8BF14785CDF4}"/>
                </a:ext>
              </a:extLst>
            </p:cNvPr>
            <p:cNvSpPr txBox="1"/>
            <p:nvPr/>
          </p:nvSpPr>
          <p:spPr>
            <a:xfrm>
              <a:off x="11509166" y="2532500"/>
              <a:ext cx="492854" cy="584775"/>
            </a:xfrm>
            <a:prstGeom prst="rect">
              <a:avLst/>
            </a:prstGeom>
            <a:noFill/>
          </p:spPr>
          <p:txBody>
            <a:bodyPr wrap="square" rtlCol="0" anchor="ctr">
              <a:spAutoFit/>
            </a:bodyPr>
            <a:lstStyle/>
            <a:p>
              <a:pPr algn="ctr"/>
              <a:r>
                <a:rPr lang="en-US" altLang="zh-CN" sz="3200" dirty="0"/>
                <a:t>y</a:t>
              </a:r>
              <a:endParaRPr lang="zh-CN" altLang="en-US" sz="3200" dirty="0"/>
            </a:p>
          </p:txBody>
        </p:sp>
        <p:sp>
          <p:nvSpPr>
            <p:cNvPr id="17" name="文本框 16">
              <a:extLst>
                <a:ext uri="{FF2B5EF4-FFF2-40B4-BE49-F238E27FC236}">
                  <a16:creationId xmlns:a16="http://schemas.microsoft.com/office/drawing/2014/main" id="{F00256C6-CA5B-4E82-8A86-E90DCBB127D0}"/>
                </a:ext>
              </a:extLst>
            </p:cNvPr>
            <p:cNvSpPr txBox="1"/>
            <p:nvPr/>
          </p:nvSpPr>
          <p:spPr>
            <a:xfrm>
              <a:off x="10666544" y="1417365"/>
              <a:ext cx="1331903" cy="369332"/>
            </a:xfrm>
            <a:prstGeom prst="rect">
              <a:avLst/>
            </a:prstGeom>
            <a:noFill/>
          </p:spPr>
          <p:txBody>
            <a:bodyPr wrap="square" rtlCol="0">
              <a:spAutoFit/>
            </a:bodyPr>
            <a:lstStyle/>
            <a:p>
              <a:r>
                <a:rPr lang="en-US" altLang="zh-CN" dirty="0"/>
                <a:t>swap()</a:t>
              </a:r>
              <a:r>
                <a:rPr lang="zh-CN" altLang="en-US" dirty="0"/>
                <a:t>函数</a:t>
              </a:r>
            </a:p>
          </p:txBody>
        </p:sp>
        <p:cxnSp>
          <p:nvCxnSpPr>
            <p:cNvPr id="18" name="直接连接符 17">
              <a:extLst>
                <a:ext uri="{FF2B5EF4-FFF2-40B4-BE49-F238E27FC236}">
                  <a16:creationId xmlns:a16="http://schemas.microsoft.com/office/drawing/2014/main" id="{781E937E-502E-4695-9682-2364B4085E6F}"/>
                </a:ext>
              </a:extLst>
            </p:cNvPr>
            <p:cNvCxnSpPr/>
            <p:nvPr/>
          </p:nvCxnSpPr>
          <p:spPr>
            <a:xfrm>
              <a:off x="10666544" y="1701215"/>
              <a:ext cx="0" cy="152373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E2059B72-D6BF-4BC2-B5F3-42F83E89381A}"/>
                </a:ext>
              </a:extLst>
            </p:cNvPr>
            <p:cNvCxnSpPr>
              <a:cxnSpLocks/>
              <a:endCxn id="10" idx="3"/>
            </p:cNvCxnSpPr>
            <p:nvPr/>
          </p:nvCxnSpPr>
          <p:spPr>
            <a:xfrm flipH="1">
              <a:off x="10417963" y="2115164"/>
              <a:ext cx="476014" cy="755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99A1E06D-E400-43E8-803D-F57258768BD4}"/>
                </a:ext>
              </a:extLst>
            </p:cNvPr>
            <p:cNvCxnSpPr>
              <a:cxnSpLocks/>
              <a:endCxn id="8" idx="3"/>
            </p:cNvCxnSpPr>
            <p:nvPr/>
          </p:nvCxnSpPr>
          <p:spPr>
            <a:xfrm flipH="1" flipV="1">
              <a:off x="10417963" y="2115165"/>
              <a:ext cx="476014" cy="755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8" name="矩形 37">
            <a:extLst>
              <a:ext uri="{FF2B5EF4-FFF2-40B4-BE49-F238E27FC236}">
                <a16:creationId xmlns:a16="http://schemas.microsoft.com/office/drawing/2014/main" id="{88491E08-8301-4AE1-8057-80CB7F8D4CB1}"/>
              </a:ext>
            </a:extLst>
          </p:cNvPr>
          <p:cNvSpPr/>
          <p:nvPr/>
        </p:nvSpPr>
        <p:spPr>
          <a:xfrm>
            <a:off x="-258431" y="598383"/>
            <a:ext cx="12349813"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6-6</a:t>
            </a:r>
            <a:r>
              <a:rPr lang="en-US" altLang="zh-CN" sz="2800" b="1" dirty="0">
                <a:latin typeface="隶书" pitchFamily="49" charset="-122"/>
              </a:rPr>
              <a:t>】</a:t>
            </a:r>
            <a:r>
              <a:rPr lang="zh-CN" altLang="en-US" sz="2800" b="1" dirty="0">
                <a:latin typeface="隶书" pitchFamily="49" charset="-122"/>
              </a:rPr>
              <a:t>定义交换两个变量值的函数，在主函数中调用。</a:t>
            </a:r>
            <a:r>
              <a:rPr lang="en-US" altLang="zh-CN" sz="2800" b="1" dirty="0">
                <a:latin typeface="隶书" pitchFamily="49" charset="-122"/>
              </a:rPr>
              <a:t>(</a:t>
            </a:r>
            <a:r>
              <a:rPr lang="zh-CN" altLang="en-US" sz="2800" b="1" dirty="0">
                <a:solidFill>
                  <a:srgbClr val="0070C0"/>
                </a:solidFill>
                <a:latin typeface="隶书" pitchFamily="49" charset="-122"/>
              </a:rPr>
              <a:t>指针作为函数参数</a:t>
            </a:r>
            <a:r>
              <a:rPr lang="en-US" altLang="zh-CN" sz="2800" b="1" dirty="0">
                <a:latin typeface="隶书" pitchFamily="49" charset="-122"/>
              </a:rPr>
              <a:t>)</a:t>
            </a:r>
          </a:p>
        </p:txBody>
      </p:sp>
      <p:sp>
        <p:nvSpPr>
          <p:cNvPr id="4" name="灯片编号占位符 3">
            <a:extLst>
              <a:ext uri="{FF2B5EF4-FFF2-40B4-BE49-F238E27FC236}">
                <a16:creationId xmlns:a16="http://schemas.microsoft.com/office/drawing/2014/main" id="{8E9CF6DD-CB5A-431D-A8A3-B21F32FA0C4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18</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0479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D2AAE47-8446-484B-9213-6D5F38BEC6B3}"/>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7792177F-5925-4300-9C09-A666A856985F}"/>
              </a:ext>
            </a:extLst>
          </p:cNvPr>
          <p:cNvSpPr/>
          <p:nvPr/>
        </p:nvSpPr>
        <p:spPr>
          <a:xfrm>
            <a:off x="7900" y="598383"/>
            <a:ext cx="6088100" cy="1815882"/>
          </a:xfrm>
          <a:prstGeom prst="rect">
            <a:avLst/>
          </a:prstGeom>
        </p:spPr>
        <p:txBody>
          <a:bodyPr wrap="square">
            <a:spAutoFit/>
          </a:bodyPr>
          <a:lstStyle/>
          <a:p>
            <a:pPr marL="0" lvl="1"/>
            <a:r>
              <a:rPr lang="zh-CN" altLang="en-US" sz="2800" b="1" dirty="0">
                <a:solidFill>
                  <a:srgbClr val="0070C0"/>
                </a:solidFill>
                <a:latin typeface="隶书" pitchFamily="49" charset="-122"/>
              </a:rPr>
              <a:t>一维数组作为函数参数</a:t>
            </a:r>
            <a:endParaRPr lang="en-US" altLang="zh-CN" sz="2800" b="1" dirty="0">
              <a:solidFill>
                <a:srgbClr val="0070C0"/>
              </a:solidFill>
              <a:latin typeface="隶书"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实参</a:t>
            </a:r>
            <a:r>
              <a:rPr lang="zh-CN" altLang="en-US" sz="2800" b="1" dirty="0">
                <a:latin typeface="隶书" panose="02010509060101010101" pitchFamily="49" charset="-122"/>
                <a:ea typeface="隶书" panose="02010509060101010101" pitchFamily="49" charset="-122"/>
              </a:rPr>
              <a:t>：数组首元素地址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数组长度</a:t>
            </a:r>
            <a:endParaRPr lang="en-US" altLang="zh-CN" sz="2800" b="1" dirty="0">
              <a:latin typeface="隶书" panose="02010509060101010101" pitchFamily="49" charset="-122"/>
              <a:ea typeface="隶书" panose="02010509060101010101"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形参</a:t>
            </a:r>
            <a:r>
              <a:rPr lang="zh-CN" altLang="en-US" sz="2800" b="1" dirty="0">
                <a:latin typeface="隶书" panose="02010509060101010101" pitchFamily="49" charset="-122"/>
                <a:ea typeface="隶书" panose="02010509060101010101" pitchFamily="49" charset="-122"/>
              </a:rPr>
              <a:t>：指针变量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数组长度</a:t>
            </a:r>
            <a:endParaRPr lang="en-US" altLang="zh-CN" sz="2800" b="1" dirty="0">
              <a:latin typeface="隶书" panose="02010509060101010101" pitchFamily="49" charset="-122"/>
              <a:ea typeface="隶书" panose="02010509060101010101" pitchFamily="49" charset="-122"/>
            </a:endParaRPr>
          </a:p>
          <a:p>
            <a:pPr marL="0" lvl="1"/>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数组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数组长度</a:t>
            </a:r>
            <a:endParaRPr lang="en-US" altLang="zh-CN" sz="28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EDA8786B-5AA8-4D28-88B8-B541579B84FC}"/>
              </a:ext>
            </a:extLst>
          </p:cNvPr>
          <p:cNvSpPr txBox="1">
            <a:spLocks noChangeArrowheads="1"/>
          </p:cNvSpPr>
          <p:nvPr/>
        </p:nvSpPr>
        <p:spPr>
          <a:xfrm>
            <a:off x="212418" y="2456247"/>
            <a:ext cx="5310281" cy="440120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10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p = a, max;</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getMax(a, 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getMax(p, 10);</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getMax(</a:t>
            </a:r>
            <a:r>
              <a:rPr lang="en-US" altLang="zh-CN" b="1" dirty="0">
                <a:solidFill>
                  <a:srgbClr val="FF0000"/>
                </a:solidFill>
                <a:latin typeface="Times New Roman" panose="02020603050405020304" pitchFamily="18" charset="0"/>
                <a:cs typeface="Times New Roman" panose="02020603050405020304" pitchFamily="18" charset="0"/>
              </a:rPr>
              <a:t>&amp;</a:t>
            </a:r>
            <a:r>
              <a:rPr lang="en-US" altLang="zh-CN" b="1" dirty="0">
                <a:latin typeface="Times New Roman" panose="02020603050405020304" pitchFamily="18" charset="0"/>
                <a:cs typeface="Times New Roman" panose="02020603050405020304" pitchFamily="18" charset="0"/>
              </a:rPr>
              <a:t>a</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10);</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4451916C-9782-4744-BF59-35CD50BF5E34}"/>
              </a:ext>
            </a:extLst>
          </p:cNvPr>
          <p:cNvSpPr txBox="1">
            <a:spLocks noChangeArrowheads="1"/>
          </p:cNvSpPr>
          <p:nvPr/>
        </p:nvSpPr>
        <p:spPr>
          <a:xfrm>
            <a:off x="6178858" y="625017"/>
            <a:ext cx="5930285"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getMax(</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a:t>
            </a:r>
            <a:r>
              <a:rPr lang="en-US" altLang="zh-CN" b="1" dirty="0">
                <a:solidFill>
                  <a:srgbClr val="0000FF"/>
                </a:solidFill>
              </a:rPr>
              <a:t>int</a:t>
            </a:r>
            <a:r>
              <a:rPr lang="en-US" altLang="zh-CN" b="1" dirty="0"/>
              <a:t> 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B05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7" name="Rectangle 2">
            <a:extLst>
              <a:ext uri="{FF2B5EF4-FFF2-40B4-BE49-F238E27FC236}">
                <a16:creationId xmlns:a16="http://schemas.microsoft.com/office/drawing/2014/main" id="{4C4147A7-C397-423F-A055-8B9FB0446D3B}"/>
              </a:ext>
            </a:extLst>
          </p:cNvPr>
          <p:cNvSpPr txBox="1">
            <a:spLocks noChangeArrowheads="1"/>
          </p:cNvSpPr>
          <p:nvPr/>
        </p:nvSpPr>
        <p:spPr>
          <a:xfrm>
            <a:off x="6178857" y="2521059"/>
            <a:ext cx="5930285"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getMax(</a:t>
            </a:r>
            <a:r>
              <a:rPr lang="en-US" altLang="zh-CN" b="1" dirty="0">
                <a:solidFill>
                  <a:srgbClr val="0000FF"/>
                </a:solidFill>
              </a:rPr>
              <a:t>int</a:t>
            </a:r>
            <a:r>
              <a:rPr lang="en-US" altLang="zh-CN" b="1" dirty="0"/>
              <a:t> arr</a:t>
            </a:r>
            <a:r>
              <a:rPr lang="en-US" altLang="zh-CN" b="1" dirty="0">
                <a:solidFill>
                  <a:srgbClr val="FF0000"/>
                </a:solidFill>
              </a:rPr>
              <a:t>[ ]</a:t>
            </a:r>
            <a:r>
              <a:rPr lang="en-US" altLang="zh-CN" b="1" dirty="0"/>
              <a:t>, </a:t>
            </a:r>
            <a:r>
              <a:rPr lang="en-US" altLang="zh-CN" b="1" dirty="0">
                <a:solidFill>
                  <a:srgbClr val="0000FF"/>
                </a:solidFill>
              </a:rPr>
              <a:t>int</a:t>
            </a:r>
            <a:r>
              <a:rPr lang="en-US" altLang="zh-CN" b="1" dirty="0"/>
              <a:t> 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B05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grpSp>
        <p:nvGrpSpPr>
          <p:cNvPr id="10" name="组合 9">
            <a:extLst>
              <a:ext uri="{FF2B5EF4-FFF2-40B4-BE49-F238E27FC236}">
                <a16:creationId xmlns:a16="http://schemas.microsoft.com/office/drawing/2014/main" id="{98992A34-7BB7-4066-BB50-EC2CD93A9017}"/>
              </a:ext>
            </a:extLst>
          </p:cNvPr>
          <p:cNvGrpSpPr/>
          <p:nvPr/>
        </p:nvGrpSpPr>
        <p:grpSpPr>
          <a:xfrm>
            <a:off x="5691380" y="4528471"/>
            <a:ext cx="6417763" cy="1442301"/>
            <a:chOff x="5682501" y="4377551"/>
            <a:chExt cx="6523772" cy="1442301"/>
          </a:xfrm>
        </p:grpSpPr>
        <p:sp>
          <p:nvSpPr>
            <p:cNvPr id="9" name="Text Box 88">
              <a:extLst>
                <a:ext uri="{FF2B5EF4-FFF2-40B4-BE49-F238E27FC236}">
                  <a16:creationId xmlns:a16="http://schemas.microsoft.com/office/drawing/2014/main" id="{ED9F9741-AB74-4E8F-BCA3-71C123C2420C}"/>
                </a:ext>
              </a:extLst>
            </p:cNvPr>
            <p:cNvSpPr txBox="1">
              <a:spLocks noChangeArrowheads="1"/>
            </p:cNvSpPr>
            <p:nvPr/>
          </p:nvSpPr>
          <p:spPr bwMode="auto">
            <a:xfrm>
              <a:off x="5699465" y="4432676"/>
              <a:ext cx="6506808"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endParaRPr kumimoji="1" lang="en-US" altLang="zh-CN" sz="2400" dirty="0">
                <a:solidFill>
                  <a:srgbClr val="FF0000"/>
                </a:solidFill>
                <a:ea typeface="隶书" pitchFamily="49" charset="-122"/>
              </a:endParaRPr>
            </a:p>
            <a:p>
              <a:pPr indent="-457200"/>
              <a:r>
                <a:rPr kumimoji="1" lang="zh-CN" altLang="en-US" sz="2800" dirty="0">
                  <a:solidFill>
                    <a:srgbClr val="3333FF"/>
                  </a:solidFill>
                  <a:latin typeface="等线" panose="02010600030101010101" pitchFamily="2" charset="-122"/>
                  <a:ea typeface="等线" panose="02010600030101010101" pitchFamily="2" charset="-122"/>
                </a:rPr>
                <a:t>① </a:t>
              </a:r>
              <a:r>
                <a:rPr kumimoji="1" lang="zh-CN" altLang="en-US" sz="2800" dirty="0">
                  <a:solidFill>
                    <a:srgbClr val="3333FF"/>
                  </a:solidFill>
                  <a:latin typeface="等线" panose="02010600030101010101" pitchFamily="2" charset="-122"/>
                  <a:ea typeface="隶书" pitchFamily="49" charset="-122"/>
                </a:rPr>
                <a:t>形参</a:t>
              </a:r>
              <a:r>
                <a:rPr kumimoji="1" lang="en-US" altLang="zh-CN" sz="2800" dirty="0">
                  <a:solidFill>
                    <a:srgbClr val="3333FF"/>
                  </a:solidFill>
                  <a:latin typeface="等线" panose="02010600030101010101" pitchFamily="2" charset="-122"/>
                  <a:ea typeface="隶书" pitchFamily="49" charset="-122"/>
                </a:rPr>
                <a:t>arr</a:t>
              </a:r>
              <a:r>
                <a:rPr kumimoji="1" lang="zh-CN" altLang="en-US" sz="2800" dirty="0">
                  <a:solidFill>
                    <a:srgbClr val="3333FF"/>
                  </a:solidFill>
                  <a:latin typeface="等线" panose="02010600030101010101" pitchFamily="2" charset="-122"/>
                  <a:ea typeface="隶书" pitchFamily="49" charset="-122"/>
                </a:rPr>
                <a:t>为数组但被编译成</a:t>
              </a:r>
              <a:r>
                <a:rPr kumimoji="1" lang="en-US" altLang="zh-CN" sz="2800" dirty="0">
                  <a:solidFill>
                    <a:srgbClr val="3333FF"/>
                  </a:solidFill>
                  <a:latin typeface="等线" panose="02010600030101010101" pitchFamily="2" charset="-122"/>
                  <a:ea typeface="隶书" pitchFamily="49" charset="-122"/>
                </a:rPr>
                <a:t>int </a:t>
              </a:r>
              <a:r>
                <a:rPr kumimoji="1" lang="en-US" altLang="zh-CN" sz="2800" dirty="0">
                  <a:solidFill>
                    <a:srgbClr val="FF0000"/>
                  </a:solidFill>
                  <a:latin typeface="等线" panose="02010600030101010101" pitchFamily="2" charset="-122"/>
                  <a:ea typeface="隶书" pitchFamily="49" charset="-122"/>
                </a:rPr>
                <a:t>*</a:t>
              </a:r>
              <a:r>
                <a:rPr kumimoji="1" lang="en-US" altLang="zh-CN" sz="2800" dirty="0">
                  <a:solidFill>
                    <a:srgbClr val="3333FF"/>
                  </a:solidFill>
                  <a:latin typeface="等线" panose="02010600030101010101" pitchFamily="2" charset="-122"/>
                  <a:ea typeface="隶书" pitchFamily="49" charset="-122"/>
                </a:rPr>
                <a:t>arr</a:t>
              </a:r>
              <a:r>
                <a:rPr kumimoji="1" lang="zh-CN" altLang="en-US" sz="2800" dirty="0">
                  <a:solidFill>
                    <a:srgbClr val="3333FF"/>
                  </a:solidFill>
                  <a:ea typeface="隶书" pitchFamily="49" charset="-122"/>
                </a:rPr>
                <a:t>。</a:t>
              </a:r>
              <a:endParaRPr kumimoji="1" lang="en-US" altLang="zh-CN" sz="2800" dirty="0">
                <a:solidFill>
                  <a:srgbClr val="3333FF"/>
                </a:solidFill>
                <a:ea typeface="隶书" pitchFamily="49" charset="-122"/>
              </a:endParaRPr>
            </a:p>
            <a:p>
              <a:r>
                <a:rPr kumimoji="1" lang="zh-CN" altLang="zh-CN" sz="2800" dirty="0">
                  <a:solidFill>
                    <a:srgbClr val="3333FF"/>
                  </a:solidFill>
                  <a:latin typeface="等线" panose="02010600030101010101" pitchFamily="2" charset="-122"/>
                  <a:ea typeface="隶书" pitchFamily="49" charset="-122"/>
                </a:rPr>
                <a:t>②</a:t>
              </a:r>
              <a:r>
                <a:rPr kumimoji="1" lang="en-US" altLang="zh-CN" sz="2800" dirty="0">
                  <a:solidFill>
                    <a:srgbClr val="3333FF"/>
                  </a:solidFill>
                  <a:latin typeface="等线" panose="02010600030101010101" pitchFamily="2" charset="-122"/>
                  <a:ea typeface="隶书" pitchFamily="49" charset="-122"/>
                </a:rPr>
                <a:t> arr</a:t>
              </a:r>
              <a:r>
                <a:rPr kumimoji="1" lang="zh-CN" altLang="en-US" sz="2800" dirty="0">
                  <a:solidFill>
                    <a:srgbClr val="3333FF"/>
                  </a:solidFill>
                  <a:latin typeface="等线" panose="02010600030101010101" pitchFamily="2" charset="-122"/>
                  <a:ea typeface="隶书" pitchFamily="49" charset="-122"/>
                </a:rPr>
                <a:t>长度可以省略但方括号不可省略。</a:t>
              </a:r>
              <a:endParaRPr kumimoji="1" lang="en-US" altLang="zh-CN" sz="2800" dirty="0">
                <a:solidFill>
                  <a:srgbClr val="3333FF"/>
                </a:solidFill>
                <a:latin typeface="等线" panose="02010600030101010101" pitchFamily="2" charset="-122"/>
                <a:ea typeface="隶书" pitchFamily="49" charset="-122"/>
              </a:endParaRPr>
            </a:p>
          </p:txBody>
        </p:sp>
        <p:pic>
          <p:nvPicPr>
            <p:cNvPr id="8" name="图片 7">
              <a:extLst>
                <a:ext uri="{FF2B5EF4-FFF2-40B4-BE49-F238E27FC236}">
                  <a16:creationId xmlns:a16="http://schemas.microsoft.com/office/drawing/2014/main" id="{19ED02F0-6C7C-4FDB-B3AF-EE71CAD599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2501" y="4377551"/>
              <a:ext cx="588765" cy="558595"/>
            </a:xfrm>
            <a:prstGeom prst="rect">
              <a:avLst/>
            </a:prstGeom>
          </p:spPr>
        </p:pic>
      </p:grpSp>
      <p:sp>
        <p:nvSpPr>
          <p:cNvPr id="11" name="灯片编号占位符 10">
            <a:extLst>
              <a:ext uri="{FF2B5EF4-FFF2-40B4-BE49-F238E27FC236}">
                <a16:creationId xmlns:a16="http://schemas.microsoft.com/office/drawing/2014/main" id="{C4459C10-E800-4E47-91CC-8754C92EB88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19</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44644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B82D58E-8BD9-4373-8772-06AD49EFE887}"/>
              </a:ext>
            </a:extLst>
          </p:cNvPr>
          <p:cNvSpPr/>
          <p:nvPr/>
        </p:nvSpPr>
        <p:spPr>
          <a:xfrm>
            <a:off x="16778" y="602853"/>
            <a:ext cx="12158444" cy="954107"/>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6-7</a:t>
            </a:r>
            <a:r>
              <a:rPr lang="en-US" altLang="zh-CN" sz="2800" b="1" dirty="0">
                <a:latin typeface="隶书" pitchFamily="49" charset="-122"/>
              </a:rPr>
              <a:t>】</a:t>
            </a:r>
            <a:r>
              <a:rPr lang="zh-CN" altLang="en-US" sz="2800" b="1" dirty="0">
                <a:latin typeface="隶书" pitchFamily="49" charset="-122"/>
              </a:rPr>
              <a:t>定义一个对数组元素从小到大排序的函数，调用该函数实现对主函数中的数组进行排序。</a:t>
            </a:r>
            <a:endParaRPr lang="en-US" altLang="zh-CN" sz="2800" b="1" dirty="0">
              <a:latin typeface="隶书" pitchFamily="49" charset="-122"/>
            </a:endParaRPr>
          </a:p>
        </p:txBody>
      </p:sp>
      <p:sp>
        <p:nvSpPr>
          <p:cNvPr id="4" name="Rectangle 2">
            <a:extLst>
              <a:ext uri="{FF2B5EF4-FFF2-40B4-BE49-F238E27FC236}">
                <a16:creationId xmlns:a16="http://schemas.microsoft.com/office/drawing/2014/main" id="{294E2E97-640F-4C16-A8DA-55B5AA9E4BB9}"/>
              </a:ext>
            </a:extLst>
          </p:cNvPr>
          <p:cNvSpPr txBox="1">
            <a:spLocks noChangeArrowheads="1"/>
          </p:cNvSpPr>
          <p:nvPr/>
        </p:nvSpPr>
        <p:spPr>
          <a:xfrm>
            <a:off x="87801" y="1592472"/>
            <a:ext cx="6135445"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B050"/>
                </a:solidFill>
              </a:rPr>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myArr</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10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p = myArr, max;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max = selectSort(myArr, 10);        </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selectSort(p, 10);</a:t>
            </a: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max = selectSort(</a:t>
            </a:r>
            <a:r>
              <a:rPr lang="en-US" altLang="zh-CN" b="1" dirty="0">
                <a:solidFill>
                  <a:srgbClr val="FF0000"/>
                </a:solidFill>
                <a:latin typeface="Times New Roman" panose="02020603050405020304" pitchFamily="18" charset="0"/>
                <a:cs typeface="Times New Roman" panose="02020603050405020304" pitchFamily="18" charset="0"/>
              </a:rPr>
              <a:t>&amp;</a:t>
            </a:r>
            <a:r>
              <a:rPr lang="en-US" altLang="zh-CN" b="1" dirty="0">
                <a:latin typeface="Times New Roman" panose="02020603050405020304" pitchFamily="18" charset="0"/>
                <a:cs typeface="Times New Roman" panose="02020603050405020304" pitchFamily="18" charset="0"/>
              </a:rPr>
              <a:t>myArr</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10);</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Times New Roman" panose="02020603050405020304" pitchFamily="18" charset="0"/>
                <a:cs typeface="Times New Roman" panose="02020603050405020304" pitchFamily="18" charset="0"/>
              </a:rPr>
              <a:t>        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5" name="Rectangle 2">
            <a:extLst>
              <a:ext uri="{FF2B5EF4-FFF2-40B4-BE49-F238E27FC236}">
                <a16:creationId xmlns:a16="http://schemas.microsoft.com/office/drawing/2014/main" id="{A3C7F39B-6F88-4E2C-8256-9524013AB97E}"/>
              </a:ext>
            </a:extLst>
          </p:cNvPr>
          <p:cNvSpPr txBox="1">
            <a:spLocks noChangeArrowheads="1"/>
          </p:cNvSpPr>
          <p:nvPr/>
        </p:nvSpPr>
        <p:spPr>
          <a:xfrm>
            <a:off x="6462944" y="1601347"/>
            <a:ext cx="5641253"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void</a:t>
            </a:r>
            <a:r>
              <a:rPr lang="en-US" altLang="zh-CN" b="1" dirty="0"/>
              <a:t> selectSort(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a, </a:t>
            </a:r>
            <a:r>
              <a:rPr lang="en-US" altLang="zh-CN" b="1" dirty="0">
                <a:solidFill>
                  <a:srgbClr val="0000FF"/>
                </a:solidFill>
              </a:rPr>
              <a:t>int</a:t>
            </a:r>
            <a:r>
              <a:rPr lang="en-US" altLang="zh-CN" b="1" dirty="0"/>
              <a:t> n)</a:t>
            </a:r>
            <a:endParaRPr lang="en-US" altLang="zh-CN" b="1" dirty="0">
              <a:solidFill>
                <a:srgbClr val="0000FF"/>
              </a:solidFill>
            </a:endParaRPr>
          </a:p>
          <a:p>
            <a:pPr marL="0" indent="0">
              <a:lnSpc>
                <a:spcPct val="100000"/>
              </a:lnSpc>
              <a:spcBef>
                <a:spcPct val="0"/>
              </a:spcBef>
              <a:buClr>
                <a:schemeClr val="tx2"/>
              </a:buClr>
              <a:buSzPct val="70000"/>
              <a:buNone/>
            </a:pPr>
            <a:r>
              <a:rPr lang="en-US" altLang="zh-CN" b="1" dirty="0">
                <a:solidFill>
                  <a:srgbClr val="0000FF"/>
                </a:solidFill>
              </a:rPr>
              <a:t>void</a:t>
            </a:r>
            <a:r>
              <a:rPr lang="en-US" altLang="zh-CN" b="1" dirty="0"/>
              <a:t> selectSort(</a:t>
            </a:r>
            <a:r>
              <a:rPr lang="en-US" altLang="zh-CN" b="1" dirty="0">
                <a:solidFill>
                  <a:srgbClr val="0000FF"/>
                </a:solidFill>
              </a:rPr>
              <a:t>int</a:t>
            </a:r>
            <a:r>
              <a:rPr lang="en-US" altLang="zh-CN" b="1" dirty="0"/>
              <a:t> a</a:t>
            </a:r>
            <a:r>
              <a:rPr lang="en-US" altLang="zh-CN" b="1" dirty="0">
                <a:solidFill>
                  <a:srgbClr val="FF0000"/>
                </a:solidFill>
              </a:rPr>
              <a:t>[ ]</a:t>
            </a:r>
            <a:r>
              <a:rPr lang="en-US" altLang="zh-CN" b="1" dirty="0"/>
              <a:t>, </a:t>
            </a:r>
            <a:r>
              <a:rPr lang="en-US" altLang="zh-CN" b="1" dirty="0">
                <a:solidFill>
                  <a:srgbClr val="0000FF"/>
                </a:solidFill>
              </a:rPr>
              <a:t>int</a:t>
            </a:r>
            <a:r>
              <a:rPr lang="en-US" altLang="zh-CN" b="1" dirty="0"/>
              <a:t> 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n-1; i++){</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int</a:t>
            </a:r>
            <a:r>
              <a:rPr lang="en-US" altLang="zh-CN" b="1" dirty="0"/>
              <a:t> k = i;</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j = i+1; j &lt; n; j++){</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(a[j] &lt; a[k]) k = j;</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(k != i) </a:t>
            </a:r>
            <a:r>
              <a:rPr lang="en-US" altLang="zh-CN" b="1" dirty="0">
                <a:solidFill>
                  <a:srgbClr val="0070C0"/>
                </a:solidFill>
              </a:rPr>
              <a:t>swap</a:t>
            </a:r>
            <a:r>
              <a:rPr lang="en-US" altLang="zh-CN" b="1" dirty="0">
                <a:solidFill>
                  <a:srgbClr val="FF0000"/>
                </a:solidFill>
              </a:rPr>
              <a:t>(</a:t>
            </a:r>
            <a:r>
              <a:rPr lang="en-US" altLang="zh-CN" b="1" dirty="0"/>
              <a:t>a[i], a[k]</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6" name="灯片编号占位符 5">
            <a:extLst>
              <a:ext uri="{FF2B5EF4-FFF2-40B4-BE49-F238E27FC236}">
                <a16:creationId xmlns:a16="http://schemas.microsoft.com/office/drawing/2014/main" id="{FD7484FA-7E0F-4946-AAE2-455BF31F6BF6}"/>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20</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849361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D2AAE47-8446-484B-9213-6D5F38BEC6B3}"/>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7792177F-5925-4300-9C09-A666A856985F}"/>
              </a:ext>
            </a:extLst>
          </p:cNvPr>
          <p:cNvSpPr/>
          <p:nvPr/>
        </p:nvSpPr>
        <p:spPr>
          <a:xfrm>
            <a:off x="7900" y="598383"/>
            <a:ext cx="6088100" cy="1384995"/>
          </a:xfrm>
          <a:prstGeom prst="rect">
            <a:avLst/>
          </a:prstGeom>
        </p:spPr>
        <p:txBody>
          <a:bodyPr wrap="square">
            <a:spAutoFit/>
          </a:bodyPr>
          <a:lstStyle/>
          <a:p>
            <a:pPr marL="0" lvl="1"/>
            <a:r>
              <a:rPr lang="zh-CN" altLang="en-US" sz="2800" b="1" dirty="0">
                <a:solidFill>
                  <a:srgbClr val="0070C0"/>
                </a:solidFill>
                <a:latin typeface="隶书" pitchFamily="49" charset="-122"/>
              </a:rPr>
              <a:t>二维数组作为函数参数</a:t>
            </a:r>
            <a:endParaRPr lang="en-US" altLang="zh-CN" sz="2800" b="1" dirty="0">
              <a:solidFill>
                <a:srgbClr val="0070C0"/>
              </a:solidFill>
              <a:latin typeface="隶书"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实参</a:t>
            </a:r>
            <a:r>
              <a:rPr lang="zh-CN" altLang="en-US" sz="2800" b="1" dirty="0">
                <a:latin typeface="隶书" panose="02010509060101010101" pitchFamily="49" charset="-122"/>
                <a:ea typeface="隶书" panose="02010509060101010101" pitchFamily="49" charset="-122"/>
              </a:rPr>
              <a:t>：数组首元素地址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数组长度</a:t>
            </a:r>
            <a:endParaRPr lang="en-US" altLang="zh-CN" sz="2800" b="1" dirty="0">
              <a:latin typeface="隶书" panose="02010509060101010101" pitchFamily="49" charset="-122"/>
              <a:ea typeface="隶书" panose="02010509060101010101"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形参</a:t>
            </a:r>
            <a:r>
              <a:rPr lang="zh-CN" altLang="en-US" sz="2800" b="1" dirty="0">
                <a:latin typeface="隶书" panose="02010509060101010101" pitchFamily="49" charset="-122"/>
                <a:ea typeface="隶书" panose="02010509060101010101" pitchFamily="49" charset="-122"/>
              </a:rPr>
              <a:t>：指针变量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数组长度</a:t>
            </a:r>
            <a:endParaRPr lang="en-US" altLang="zh-CN" sz="28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EDA8786B-5AA8-4D28-88B8-B541579B84FC}"/>
              </a:ext>
            </a:extLst>
          </p:cNvPr>
          <p:cNvSpPr txBox="1">
            <a:spLocks noChangeArrowheads="1"/>
          </p:cNvSpPr>
          <p:nvPr/>
        </p:nvSpPr>
        <p:spPr>
          <a:xfrm>
            <a:off x="17109" y="1983378"/>
            <a:ext cx="5499225"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3</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getMax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3</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(a</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3</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 3</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Times New Roman" panose="02020603050405020304" pitchFamily="18" charset="0"/>
                <a:cs typeface="Times New Roman" panose="02020603050405020304" pitchFamily="18" charset="0"/>
              </a:rPr>
              <a:t>        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4451916C-9782-4744-BF59-35CD50BF5E34}"/>
              </a:ext>
            </a:extLst>
          </p:cNvPr>
          <p:cNvSpPr txBox="1">
            <a:spLocks noChangeArrowheads="1"/>
          </p:cNvSpPr>
          <p:nvPr/>
        </p:nvSpPr>
        <p:spPr>
          <a:xfrm>
            <a:off x="5915936" y="3226172"/>
            <a:ext cx="6055099"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a:t>
            </a:r>
            <a:r>
              <a:rPr lang="en-US" altLang="zh-CN" b="1" dirty="0">
                <a:solidFill>
                  <a:srgbClr val="0000FF"/>
                </a:solidFill>
              </a:rPr>
              <a:t>int</a:t>
            </a:r>
            <a:r>
              <a:rPr lang="en-US" altLang="zh-CN" b="1" dirty="0"/>
              <a:t> 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B05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5CEE9659-7533-4387-AB07-C75FCB20B63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21</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869905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452DF3-7CB7-4011-ABBC-431ABE85D944}"/>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247D0D22-D4AB-4777-A968-2BFAB93465AE}"/>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6-8</a:t>
            </a:r>
            <a:r>
              <a:rPr lang="en-US" altLang="zh-CN" sz="2800" b="1" dirty="0">
                <a:latin typeface="隶书" pitchFamily="49" charset="-122"/>
              </a:rPr>
              <a:t>】</a:t>
            </a:r>
            <a:r>
              <a:rPr lang="zh-CN" altLang="en-US" sz="2800" b="1" dirty="0">
                <a:latin typeface="隶书" pitchFamily="49" charset="-122"/>
              </a:rPr>
              <a:t>通过函数求二维数组的最大值，在主函数中输出最大值。</a:t>
            </a:r>
            <a:endParaRPr lang="en-US" altLang="zh-CN" sz="2800" b="1" dirty="0">
              <a:latin typeface="隶书" pitchFamily="49" charset="-122"/>
            </a:endParaRPr>
          </a:p>
        </p:txBody>
      </p:sp>
      <p:sp>
        <p:nvSpPr>
          <p:cNvPr id="5" name="Rectangle 2">
            <a:extLst>
              <a:ext uri="{FF2B5EF4-FFF2-40B4-BE49-F238E27FC236}">
                <a16:creationId xmlns:a16="http://schemas.microsoft.com/office/drawing/2014/main" id="{FE7D3D96-A0B2-47F2-AA64-BEEB6C238646}"/>
              </a:ext>
            </a:extLst>
          </p:cNvPr>
          <p:cNvSpPr txBox="1">
            <a:spLocks noChangeArrowheads="1"/>
          </p:cNvSpPr>
          <p:nvPr/>
        </p:nvSpPr>
        <p:spPr>
          <a:xfrm>
            <a:off x="123642" y="1317551"/>
            <a:ext cx="6206137"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myArr</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3</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getMax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myArr</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3</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(a</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3</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 3</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Times New Roman" panose="02020603050405020304" pitchFamily="18" charset="0"/>
                <a:cs typeface="Times New Roman" panose="02020603050405020304" pitchFamily="18" charset="0"/>
              </a:rPr>
              <a:t>        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AD1652AB-AC25-4884-A3BA-08F55BA76753}"/>
              </a:ext>
            </a:extLst>
          </p:cNvPr>
          <p:cNvSpPr txBox="1">
            <a:spLocks noChangeArrowheads="1"/>
          </p:cNvSpPr>
          <p:nvPr/>
        </p:nvSpPr>
        <p:spPr>
          <a:xfrm>
            <a:off x="6578353" y="1317551"/>
            <a:ext cx="5392682" cy="440120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a:t>
            </a:r>
            <a:r>
              <a:rPr lang="en-US" altLang="zh-CN" b="1" dirty="0">
                <a:solidFill>
                  <a:srgbClr val="0000FF"/>
                </a:solidFill>
              </a:rPr>
              <a:t>int</a:t>
            </a:r>
            <a:r>
              <a:rPr lang="en-US" altLang="zh-CN" b="1" dirty="0"/>
              <a:t> 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int</a:t>
            </a:r>
            <a:r>
              <a:rPr lang="en-US" altLang="zh-CN" b="1" dirty="0">
                <a:solidFill>
                  <a:srgbClr val="00B050"/>
                </a:solidFill>
              </a:rPr>
              <a:t> </a:t>
            </a:r>
            <a:r>
              <a:rPr lang="en-US" altLang="zh-CN" b="1" dirty="0"/>
              <a:t>max = </a:t>
            </a:r>
            <a:r>
              <a:rPr lang="en-US" altLang="zh-CN" b="1" dirty="0">
                <a:solidFill>
                  <a:srgbClr val="FF0000"/>
                </a:solidFill>
              </a:rPr>
              <a:t>*</a:t>
            </a:r>
            <a:r>
              <a:rPr lang="en-US" altLang="zh-CN" b="1" dirty="0"/>
              <a:t>p;</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1; i &lt; n; 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 </a:t>
            </a:r>
            <a:r>
              <a:rPr lang="en-US" altLang="zh-CN" b="1" dirty="0">
                <a:solidFill>
                  <a:srgbClr val="FF0000"/>
                </a:solidFill>
              </a:rPr>
              <a:t>*</a:t>
            </a:r>
            <a:r>
              <a:rPr lang="en-US" altLang="zh-CN" b="1" dirty="0"/>
              <a:t>(</a:t>
            </a:r>
            <a:r>
              <a:rPr lang="en-US" altLang="zh-CN" b="1" dirty="0" err="1"/>
              <a:t>p+i</a:t>
            </a:r>
            <a:r>
              <a:rPr lang="en-US" altLang="zh-CN" b="1" dirty="0"/>
              <a:t>) &gt; max )</a:t>
            </a:r>
          </a:p>
          <a:p>
            <a:pPr marL="0" indent="0">
              <a:lnSpc>
                <a:spcPct val="100000"/>
              </a:lnSpc>
              <a:spcBef>
                <a:spcPct val="0"/>
              </a:spcBef>
              <a:buClr>
                <a:schemeClr val="tx2"/>
              </a:buClr>
              <a:buSzPct val="70000"/>
              <a:buNone/>
            </a:pPr>
            <a:r>
              <a:rPr lang="en-US" altLang="zh-CN" b="1" dirty="0"/>
              <a:t>                  max = </a:t>
            </a:r>
            <a:r>
              <a:rPr lang="en-US" altLang="zh-CN" b="1" dirty="0">
                <a:solidFill>
                  <a:srgbClr val="FF0000"/>
                </a:solidFill>
              </a:rPr>
              <a:t>*</a:t>
            </a:r>
            <a:r>
              <a:rPr lang="en-US" altLang="zh-CN" b="1" dirty="0"/>
              <a:t>(p+i);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return</a:t>
            </a:r>
            <a:r>
              <a:rPr lang="en-US" altLang="zh-CN" b="1" dirty="0"/>
              <a:t> max;</a:t>
            </a: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5B1D9E52-6006-4135-B462-8AA844FC1D4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22</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430028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D2AAE47-8446-484B-9213-6D5F38BEC6B3}"/>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7792177F-5925-4300-9C09-A666A856985F}"/>
              </a:ext>
            </a:extLst>
          </p:cNvPr>
          <p:cNvSpPr/>
          <p:nvPr/>
        </p:nvSpPr>
        <p:spPr>
          <a:xfrm>
            <a:off x="7900" y="598383"/>
            <a:ext cx="12184100" cy="1815882"/>
          </a:xfrm>
          <a:prstGeom prst="rect">
            <a:avLst/>
          </a:prstGeom>
        </p:spPr>
        <p:txBody>
          <a:bodyPr wrap="square">
            <a:spAutoFit/>
          </a:bodyPr>
          <a:lstStyle/>
          <a:p>
            <a:pPr marL="0" lvl="1"/>
            <a:r>
              <a:rPr lang="zh-CN" altLang="en-US" sz="2800" b="1" dirty="0">
                <a:solidFill>
                  <a:srgbClr val="0070C0"/>
                </a:solidFill>
                <a:latin typeface="隶书" pitchFamily="49" charset="-122"/>
              </a:rPr>
              <a:t>二维数组作为函数参数</a:t>
            </a:r>
            <a:endParaRPr lang="en-US" altLang="zh-CN" sz="2800" b="1" dirty="0">
              <a:solidFill>
                <a:srgbClr val="0070C0"/>
              </a:solidFill>
              <a:latin typeface="隶书"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实参</a:t>
            </a:r>
            <a:r>
              <a:rPr lang="zh-CN" altLang="en-US" sz="2800" b="1" dirty="0">
                <a:latin typeface="隶书" panose="02010509060101010101" pitchFamily="49" charset="-122"/>
                <a:ea typeface="隶书" panose="02010509060101010101" pitchFamily="49" charset="-122"/>
              </a:rPr>
              <a:t>：数组首行地址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行数</a:t>
            </a:r>
            <a:endParaRPr lang="en-US" altLang="zh-CN" sz="2800" b="1" dirty="0">
              <a:latin typeface="隶书" panose="02010509060101010101" pitchFamily="49" charset="-122"/>
              <a:ea typeface="隶书" panose="02010509060101010101"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形参</a:t>
            </a:r>
            <a:r>
              <a:rPr lang="zh-CN" altLang="en-US" sz="2800" b="1" dirty="0">
                <a:latin typeface="隶书" panose="02010509060101010101" pitchFamily="49" charset="-122"/>
                <a:ea typeface="隶书" panose="02010509060101010101" pitchFamily="49" charset="-122"/>
              </a:rPr>
              <a:t>：行指针变量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行数</a:t>
            </a:r>
            <a:endParaRPr lang="en-US" altLang="zh-CN" sz="2800" b="1" dirty="0">
              <a:latin typeface="隶书" panose="02010509060101010101" pitchFamily="49" charset="-122"/>
              <a:ea typeface="隶书" panose="02010509060101010101" pitchFamily="49" charset="-122"/>
            </a:endParaRPr>
          </a:p>
          <a:p>
            <a:pPr marL="0" lvl="1"/>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二维数组名 </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行数</a:t>
            </a:r>
            <a:endParaRPr lang="en-US" altLang="zh-CN" sz="28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EDA8786B-5AA8-4D28-88B8-B541579B84FC}"/>
              </a:ext>
            </a:extLst>
          </p:cNvPr>
          <p:cNvSpPr txBox="1">
            <a:spLocks noChangeArrowheads="1"/>
          </p:cNvSpPr>
          <p:nvPr/>
        </p:nvSpPr>
        <p:spPr>
          <a:xfrm>
            <a:off x="318952" y="2456247"/>
            <a:ext cx="5310281" cy="440120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3</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p)</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max;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getMax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3);</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(p, 3);</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&amp;</a:t>
            </a:r>
            <a:r>
              <a:rPr lang="en-US" altLang="zh-CN" b="1" dirty="0">
                <a:latin typeface="Times New Roman" panose="02020603050405020304" pitchFamily="18" charset="0"/>
                <a:cs typeface="Times New Roman" panose="02020603050405020304" pitchFamily="18" charset="0"/>
              </a:rPr>
              <a:t>a</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3);</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11" name="Rectangle 2">
            <a:extLst>
              <a:ext uri="{FF2B5EF4-FFF2-40B4-BE49-F238E27FC236}">
                <a16:creationId xmlns:a16="http://schemas.microsoft.com/office/drawing/2014/main" id="{9FC3C277-93F1-45D4-B018-EA0F7B7F7FBA}"/>
              </a:ext>
            </a:extLst>
          </p:cNvPr>
          <p:cNvSpPr txBox="1">
            <a:spLocks noChangeArrowheads="1"/>
          </p:cNvSpPr>
          <p:nvPr/>
        </p:nvSpPr>
        <p:spPr>
          <a:xfrm>
            <a:off x="5980978" y="2694214"/>
            <a:ext cx="6055099"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arr</a:t>
            </a:r>
            <a:r>
              <a:rPr lang="en-US" altLang="zh-CN" b="1" dirty="0">
                <a:solidFill>
                  <a:srgbClr val="FF0000"/>
                </a:solidFill>
              </a:rPr>
              <a:t>[ ][</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B05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12" name="Rectangle 2">
            <a:extLst>
              <a:ext uri="{FF2B5EF4-FFF2-40B4-BE49-F238E27FC236}">
                <a16:creationId xmlns:a16="http://schemas.microsoft.com/office/drawing/2014/main" id="{CFBA6757-C45D-4EA0-8698-C49D4E84FBE6}"/>
              </a:ext>
            </a:extLst>
          </p:cNvPr>
          <p:cNvSpPr txBox="1">
            <a:spLocks noChangeArrowheads="1"/>
          </p:cNvSpPr>
          <p:nvPr/>
        </p:nvSpPr>
        <p:spPr>
          <a:xfrm>
            <a:off x="5980979" y="765301"/>
            <a:ext cx="6055099"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B05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grpSp>
        <p:nvGrpSpPr>
          <p:cNvPr id="13" name="组合 12">
            <a:extLst>
              <a:ext uri="{FF2B5EF4-FFF2-40B4-BE49-F238E27FC236}">
                <a16:creationId xmlns:a16="http://schemas.microsoft.com/office/drawing/2014/main" id="{083B9CD5-EC43-401A-969A-ADE87F431A16}"/>
              </a:ext>
            </a:extLst>
          </p:cNvPr>
          <p:cNvGrpSpPr/>
          <p:nvPr/>
        </p:nvGrpSpPr>
        <p:grpSpPr>
          <a:xfrm>
            <a:off x="5691380" y="4528471"/>
            <a:ext cx="6417763" cy="2304075"/>
            <a:chOff x="5682501" y="4377551"/>
            <a:chExt cx="6523772" cy="2304075"/>
          </a:xfrm>
        </p:grpSpPr>
        <p:sp>
          <p:nvSpPr>
            <p:cNvPr id="14" name="Text Box 88">
              <a:extLst>
                <a:ext uri="{FF2B5EF4-FFF2-40B4-BE49-F238E27FC236}">
                  <a16:creationId xmlns:a16="http://schemas.microsoft.com/office/drawing/2014/main" id="{F3D9A829-E677-490D-85CA-E3866328D104}"/>
                </a:ext>
              </a:extLst>
            </p:cNvPr>
            <p:cNvSpPr txBox="1">
              <a:spLocks noChangeArrowheads="1"/>
            </p:cNvSpPr>
            <p:nvPr/>
          </p:nvSpPr>
          <p:spPr bwMode="auto">
            <a:xfrm>
              <a:off x="5699465" y="4432676"/>
              <a:ext cx="6506808" cy="224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endParaRPr kumimoji="1" lang="en-US" altLang="zh-CN" sz="2400" dirty="0">
                <a:solidFill>
                  <a:srgbClr val="FF0000"/>
                </a:solidFill>
                <a:ea typeface="隶书" pitchFamily="49" charset="-122"/>
              </a:endParaRPr>
            </a:p>
            <a:p>
              <a:pPr indent="-457200"/>
              <a:r>
                <a:rPr kumimoji="1" lang="zh-CN" altLang="en-US" sz="2800" dirty="0">
                  <a:solidFill>
                    <a:srgbClr val="3333FF"/>
                  </a:solidFill>
                  <a:latin typeface="等线" panose="02010600030101010101" pitchFamily="2" charset="-122"/>
                  <a:ea typeface="等线" panose="02010600030101010101" pitchFamily="2" charset="-122"/>
                </a:rPr>
                <a:t>① </a:t>
              </a:r>
              <a:r>
                <a:rPr kumimoji="1" lang="zh-CN" altLang="en-US" sz="2800" dirty="0">
                  <a:solidFill>
                    <a:srgbClr val="3333FF"/>
                  </a:solidFill>
                  <a:latin typeface="等线" panose="02010600030101010101" pitchFamily="2" charset="-122"/>
                  <a:ea typeface="隶书" pitchFamily="49" charset="-122"/>
                </a:rPr>
                <a:t>形参</a:t>
              </a:r>
              <a:r>
                <a:rPr kumimoji="1" lang="en-US" altLang="zh-CN" sz="2800" dirty="0">
                  <a:solidFill>
                    <a:srgbClr val="3333FF"/>
                  </a:solidFill>
                  <a:latin typeface="等线" panose="02010600030101010101" pitchFamily="2" charset="-122"/>
                  <a:ea typeface="隶书" pitchFamily="49" charset="-122"/>
                </a:rPr>
                <a:t>arr</a:t>
              </a:r>
              <a:r>
                <a:rPr kumimoji="1" lang="zh-CN" altLang="en-US" sz="2800" dirty="0">
                  <a:solidFill>
                    <a:srgbClr val="3333FF"/>
                  </a:solidFill>
                  <a:latin typeface="等线" panose="02010600030101010101" pitchFamily="2" charset="-122"/>
                  <a:ea typeface="隶书" pitchFamily="49" charset="-122"/>
                </a:rPr>
                <a:t>为二维数组但被编译成行指针</a:t>
              </a:r>
              <a:endParaRPr kumimoji="1" lang="en-US" altLang="zh-CN" sz="2800" dirty="0">
                <a:solidFill>
                  <a:srgbClr val="3333FF"/>
                </a:solidFill>
                <a:latin typeface="等线" panose="02010600030101010101" pitchFamily="2" charset="-122"/>
                <a:ea typeface="隶书" pitchFamily="49" charset="-122"/>
              </a:endParaRPr>
            </a:p>
            <a:p>
              <a:pPr indent="-457200"/>
              <a:r>
                <a:rPr kumimoji="1" lang="en-US" altLang="zh-CN" sz="2800" dirty="0">
                  <a:solidFill>
                    <a:srgbClr val="3333FF"/>
                  </a:solidFill>
                  <a:latin typeface="等线" panose="02010600030101010101" pitchFamily="2" charset="-122"/>
                  <a:ea typeface="隶书" pitchFamily="49" charset="-122"/>
                </a:rPr>
                <a:t>     int (</a:t>
              </a:r>
              <a:r>
                <a:rPr kumimoji="1" lang="en-US" altLang="zh-CN" sz="2800" dirty="0">
                  <a:solidFill>
                    <a:srgbClr val="FF0000"/>
                  </a:solidFill>
                  <a:latin typeface="等线" panose="02010600030101010101" pitchFamily="2" charset="-122"/>
                  <a:ea typeface="隶书" pitchFamily="49" charset="-122"/>
                </a:rPr>
                <a:t>*</a:t>
              </a:r>
              <a:r>
                <a:rPr kumimoji="1" lang="en-US" altLang="zh-CN" sz="2800" dirty="0">
                  <a:solidFill>
                    <a:srgbClr val="3333FF"/>
                  </a:solidFill>
                  <a:latin typeface="等线" panose="02010600030101010101" pitchFamily="2" charset="-122"/>
                  <a:ea typeface="隶书" pitchFamily="49" charset="-122"/>
                </a:rPr>
                <a:t>arr)[4]</a:t>
              </a:r>
              <a:r>
                <a:rPr kumimoji="1" lang="zh-CN" altLang="en-US" sz="2800" dirty="0">
                  <a:solidFill>
                    <a:srgbClr val="3333FF"/>
                  </a:solidFill>
                  <a:ea typeface="隶书" pitchFamily="49" charset="-122"/>
                </a:rPr>
                <a:t>。</a:t>
              </a:r>
              <a:endParaRPr kumimoji="1" lang="en-US" altLang="zh-CN" sz="2800" dirty="0">
                <a:solidFill>
                  <a:srgbClr val="3333FF"/>
                </a:solidFill>
                <a:ea typeface="隶书" pitchFamily="49" charset="-122"/>
              </a:endParaRPr>
            </a:p>
            <a:p>
              <a:r>
                <a:rPr kumimoji="1" lang="zh-CN" altLang="zh-CN" sz="2800" dirty="0">
                  <a:solidFill>
                    <a:srgbClr val="3333FF"/>
                  </a:solidFill>
                  <a:latin typeface="等线" panose="02010600030101010101" pitchFamily="2" charset="-122"/>
                  <a:ea typeface="隶书" pitchFamily="49" charset="-122"/>
                </a:rPr>
                <a:t>②</a:t>
              </a:r>
              <a:r>
                <a:rPr kumimoji="1" lang="en-US" altLang="zh-CN" sz="2800" dirty="0">
                  <a:solidFill>
                    <a:srgbClr val="3333FF"/>
                  </a:solidFill>
                  <a:latin typeface="等线" panose="02010600030101010101" pitchFamily="2" charset="-122"/>
                  <a:ea typeface="隶书" pitchFamily="49" charset="-122"/>
                </a:rPr>
                <a:t> arr</a:t>
              </a:r>
              <a:r>
                <a:rPr kumimoji="1" lang="zh-CN" altLang="en-US" sz="2800" dirty="0">
                  <a:solidFill>
                    <a:srgbClr val="3333FF"/>
                  </a:solidFill>
                  <a:latin typeface="等线" panose="02010600030101010101" pitchFamily="2" charset="-122"/>
                  <a:ea typeface="隶书" pitchFamily="49" charset="-122"/>
                </a:rPr>
                <a:t>的一维长度可以省略但方括号不可省略。</a:t>
              </a:r>
              <a:endParaRPr kumimoji="1" lang="en-US" altLang="zh-CN" sz="2800" dirty="0">
                <a:solidFill>
                  <a:srgbClr val="3333FF"/>
                </a:solidFill>
                <a:latin typeface="等线" panose="02010600030101010101" pitchFamily="2" charset="-122"/>
                <a:ea typeface="隶书" pitchFamily="49" charset="-122"/>
              </a:endParaRPr>
            </a:p>
          </p:txBody>
        </p:sp>
        <p:pic>
          <p:nvPicPr>
            <p:cNvPr id="15" name="图片 14">
              <a:extLst>
                <a:ext uri="{FF2B5EF4-FFF2-40B4-BE49-F238E27FC236}">
                  <a16:creationId xmlns:a16="http://schemas.microsoft.com/office/drawing/2014/main" id="{DF23AAC4-CDB6-454C-921C-7C244CA98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2501" y="4377551"/>
              <a:ext cx="588765" cy="558595"/>
            </a:xfrm>
            <a:prstGeom prst="rect">
              <a:avLst/>
            </a:prstGeom>
          </p:spPr>
        </p:pic>
      </p:grpSp>
      <p:sp>
        <p:nvSpPr>
          <p:cNvPr id="6" name="灯片编号占位符 5">
            <a:extLst>
              <a:ext uri="{FF2B5EF4-FFF2-40B4-BE49-F238E27FC236}">
                <a16:creationId xmlns:a16="http://schemas.microsoft.com/office/drawing/2014/main" id="{6FDC8381-020A-4C42-9F3B-B7BDC800640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23</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29595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452DF3-7CB7-4011-ABBC-431ABE85D944}"/>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247D0D22-D4AB-4777-A968-2BFAB93465AE}"/>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6-8</a:t>
            </a:r>
            <a:r>
              <a:rPr lang="en-US" altLang="zh-CN" sz="2800" b="1" dirty="0">
                <a:latin typeface="隶书" pitchFamily="49" charset="-122"/>
              </a:rPr>
              <a:t>】</a:t>
            </a:r>
            <a:r>
              <a:rPr lang="zh-CN" altLang="en-US" sz="2800" b="1" dirty="0">
                <a:latin typeface="隶书" pitchFamily="49" charset="-122"/>
              </a:rPr>
              <a:t>通过函数求二维数组的最大值，在主函数中输出最大值。</a:t>
            </a:r>
            <a:endParaRPr lang="en-US" altLang="zh-CN" sz="2800" b="1" dirty="0">
              <a:latin typeface="隶书" pitchFamily="49" charset="-122"/>
            </a:endParaRPr>
          </a:p>
        </p:txBody>
      </p:sp>
      <p:sp>
        <p:nvSpPr>
          <p:cNvPr id="5" name="Rectangle 2">
            <a:extLst>
              <a:ext uri="{FF2B5EF4-FFF2-40B4-BE49-F238E27FC236}">
                <a16:creationId xmlns:a16="http://schemas.microsoft.com/office/drawing/2014/main" id="{F3BB8282-3C92-4089-BA93-E1046357A983}"/>
              </a:ext>
            </a:extLst>
          </p:cNvPr>
          <p:cNvSpPr txBox="1">
            <a:spLocks noChangeArrowheads="1"/>
          </p:cNvSpPr>
          <p:nvPr/>
        </p:nvSpPr>
        <p:spPr>
          <a:xfrm>
            <a:off x="123642" y="1317551"/>
            <a:ext cx="5972358"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myArr</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3</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4</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p)</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4</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myArr;</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getMax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myArr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3);</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(p, 3);</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max = </a:t>
            </a:r>
            <a:r>
              <a:rPr lang="en-US" altLang="zh-CN" b="1" dirty="0">
                <a:solidFill>
                  <a:srgbClr val="0070C0"/>
                </a:solidFill>
                <a:latin typeface="Times New Roman" panose="02020603050405020304" pitchFamily="18" charset="0"/>
                <a:cs typeface="Times New Roman" panose="02020603050405020304" pitchFamily="18" charset="0"/>
              </a:rPr>
              <a:t>getMax</a:t>
            </a:r>
            <a:r>
              <a:rPr lang="en-US" altLang="zh-CN" b="1" dirty="0">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&amp;</a:t>
            </a:r>
            <a:r>
              <a:rPr lang="en-US" altLang="zh-CN" b="1" dirty="0">
                <a:latin typeface="Times New Roman" panose="02020603050405020304" pitchFamily="18" charset="0"/>
                <a:cs typeface="Times New Roman" panose="02020603050405020304" pitchFamily="18" charset="0"/>
              </a:rPr>
              <a:t>myArr</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3);</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Times New Roman" panose="02020603050405020304" pitchFamily="18" charset="0"/>
                <a:cs typeface="Times New Roman" panose="02020603050405020304" pitchFamily="18" charset="0"/>
              </a:rPr>
              <a:t>        return</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ea typeface="华文隶书" panose="02010800040101010101" pitchFamily="2" charset="-122"/>
                <a:cs typeface="Times New Roman" panose="02020603050405020304" pitchFamily="18" charset="0"/>
              </a:rPr>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4A652D3F-28F9-4600-A96D-5C471A2CE7D8}"/>
              </a:ext>
            </a:extLst>
          </p:cNvPr>
          <p:cNvSpPr txBox="1">
            <a:spLocks noChangeArrowheads="1"/>
          </p:cNvSpPr>
          <p:nvPr/>
        </p:nvSpPr>
        <p:spPr>
          <a:xfrm>
            <a:off x="6219642" y="1317551"/>
            <a:ext cx="5972358"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arr</a:t>
            </a:r>
            <a:r>
              <a:rPr lang="en-US" altLang="zh-CN" b="1" dirty="0">
                <a:solidFill>
                  <a:srgbClr val="FF0000"/>
                </a:solidFill>
              </a:rPr>
              <a:t>[ ][</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int</a:t>
            </a:r>
            <a:r>
              <a:rPr lang="en-US" altLang="zh-CN" b="1" dirty="0">
                <a:solidFill>
                  <a:srgbClr val="00B050"/>
                </a:solidFill>
              </a:rPr>
              <a:t> </a:t>
            </a:r>
            <a:r>
              <a:rPr lang="en-US" altLang="zh-CN" b="1" dirty="0"/>
              <a:t>max = arr</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rows; 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j = 0; j &lt; 4; j++)</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 arr</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j</a:t>
            </a:r>
            <a:r>
              <a:rPr lang="en-US" altLang="zh-CN" b="1" dirty="0">
                <a:solidFill>
                  <a:srgbClr val="FF0000"/>
                </a:solidFill>
              </a:rPr>
              <a:t>]</a:t>
            </a:r>
            <a:r>
              <a:rPr lang="en-US" altLang="zh-CN" b="1" dirty="0"/>
              <a:t> &gt; max )</a:t>
            </a:r>
          </a:p>
          <a:p>
            <a:pPr marL="0" indent="0">
              <a:lnSpc>
                <a:spcPct val="100000"/>
              </a:lnSpc>
              <a:spcBef>
                <a:spcPct val="0"/>
              </a:spcBef>
              <a:buClr>
                <a:schemeClr val="tx2"/>
              </a:buClr>
              <a:buSzPct val="70000"/>
              <a:buNone/>
            </a:pPr>
            <a:r>
              <a:rPr lang="en-US" altLang="zh-CN" b="1" dirty="0"/>
              <a:t>                        max = arr</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j</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return</a:t>
            </a:r>
            <a:r>
              <a:rPr lang="en-US" altLang="zh-CN" b="1" dirty="0"/>
              <a:t> max;</a:t>
            </a: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4386E19C-D541-48DC-A3C7-17302BC3454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24</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756004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FDDDE1B-6DE5-46E3-9F62-F8DDA37E2AE0}"/>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E5D29067-6A50-4170-A2C1-11D266FB1E40}"/>
              </a:ext>
            </a:extLst>
          </p:cNvPr>
          <p:cNvSpPr/>
          <p:nvPr/>
        </p:nvSpPr>
        <p:spPr>
          <a:xfrm>
            <a:off x="0" y="607261"/>
            <a:ext cx="12175223" cy="584775"/>
          </a:xfrm>
          <a:prstGeom prst="rect">
            <a:avLst/>
          </a:prstGeom>
        </p:spPr>
        <p:txBody>
          <a:bodyPr wrap="square">
            <a:spAutoFit/>
          </a:bodyPr>
          <a:lstStyle/>
          <a:p>
            <a:pPr marL="0" lvl="1"/>
            <a:r>
              <a:rPr lang="zh-CN" altLang="en-US" sz="2400" b="1" dirty="0">
                <a:latin typeface="隶书" pitchFamily="49" charset="-122"/>
              </a:rPr>
              <a:t>   </a:t>
            </a:r>
            <a:r>
              <a:rPr lang="zh-CN" altLang="en-US" sz="2800" b="1" dirty="0">
                <a:latin typeface="隶书" pitchFamily="49" charset="-122"/>
              </a:rPr>
              <a:t>在上面的</a:t>
            </a:r>
            <a:r>
              <a:rPr lang="en-US" altLang="zh-CN" sz="2800" b="1" dirty="0">
                <a:solidFill>
                  <a:srgbClr val="0070C0"/>
                </a:solidFill>
                <a:latin typeface="Times New Roman" panose="02020603050405020304" pitchFamily="18" charset="0"/>
                <a:cs typeface="Times New Roman" panose="02020603050405020304" pitchFamily="18" charset="0"/>
              </a:rPr>
              <a:t>getMax( )</a:t>
            </a:r>
            <a:r>
              <a:rPr lang="zh-CN" altLang="en-US" sz="2800" b="1" dirty="0">
                <a:latin typeface="隶书" pitchFamily="49" charset="-122"/>
              </a:rPr>
              <a:t>函数体内，元素</a:t>
            </a:r>
            <a:r>
              <a:rPr lang="en-US" altLang="zh-CN" sz="3200" b="1" dirty="0"/>
              <a:t>arr</a:t>
            </a:r>
            <a:r>
              <a:rPr lang="en-US" altLang="zh-CN" sz="3200" b="1" dirty="0">
                <a:solidFill>
                  <a:srgbClr val="FF0000"/>
                </a:solidFill>
              </a:rPr>
              <a:t>[</a:t>
            </a:r>
            <a:r>
              <a:rPr lang="en-US" altLang="zh-CN" sz="3200" b="1" dirty="0"/>
              <a:t>i</a:t>
            </a:r>
            <a:r>
              <a:rPr lang="en-US" altLang="zh-CN" sz="3200" b="1" dirty="0">
                <a:solidFill>
                  <a:srgbClr val="FF0000"/>
                </a:solidFill>
              </a:rPr>
              <a:t>][</a:t>
            </a:r>
            <a:r>
              <a:rPr lang="en-US" altLang="zh-CN" sz="3200" b="1" dirty="0"/>
              <a:t>j</a:t>
            </a:r>
            <a:r>
              <a:rPr lang="en-US" altLang="zh-CN" sz="3200" b="1" dirty="0">
                <a:solidFill>
                  <a:srgbClr val="FF0000"/>
                </a:solidFill>
              </a:rPr>
              <a:t>]</a:t>
            </a:r>
            <a:r>
              <a:rPr lang="zh-CN" altLang="en-US" sz="2800" b="1" dirty="0">
                <a:latin typeface="隶书" pitchFamily="49" charset="-122"/>
              </a:rPr>
              <a:t>其它表示方法还有哪些呢？</a:t>
            </a:r>
            <a:endParaRPr lang="zh-CN" altLang="en-US" sz="2400" b="1" dirty="0">
              <a:latin typeface="隶书" pitchFamily="49" charset="-122"/>
            </a:endParaRPr>
          </a:p>
        </p:txBody>
      </p:sp>
      <p:pic>
        <p:nvPicPr>
          <p:cNvPr id="5" name="图片 4">
            <a:extLst>
              <a:ext uri="{FF2B5EF4-FFF2-40B4-BE49-F238E27FC236}">
                <a16:creationId xmlns:a16="http://schemas.microsoft.com/office/drawing/2014/main" id="{25A393C3-929D-44F2-AC01-F05382C92E3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899" y="598383"/>
            <a:ext cx="546836" cy="546836"/>
          </a:xfrm>
          <a:prstGeom prst="rect">
            <a:avLst/>
          </a:prstGeom>
        </p:spPr>
      </p:pic>
      <p:sp>
        <p:nvSpPr>
          <p:cNvPr id="9" name="Rectangle 2">
            <a:extLst>
              <a:ext uri="{FF2B5EF4-FFF2-40B4-BE49-F238E27FC236}">
                <a16:creationId xmlns:a16="http://schemas.microsoft.com/office/drawing/2014/main" id="{DE34C203-CFB1-4F5F-9C83-BDF7F9125224}"/>
              </a:ext>
            </a:extLst>
          </p:cNvPr>
          <p:cNvSpPr txBox="1">
            <a:spLocks noChangeArrowheads="1"/>
          </p:cNvSpPr>
          <p:nvPr/>
        </p:nvSpPr>
        <p:spPr>
          <a:xfrm>
            <a:off x="3163253" y="1382727"/>
            <a:ext cx="5865493"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int</a:t>
            </a:r>
            <a:r>
              <a:rPr lang="en-US" altLang="zh-CN" b="1" dirty="0">
                <a:solidFill>
                  <a:srgbClr val="00B050"/>
                </a:solidFill>
              </a:rPr>
              <a:t> </a:t>
            </a:r>
            <a:r>
              <a:rPr lang="en-US" altLang="zh-CN" b="1" dirty="0"/>
              <a:t>max = </a:t>
            </a:r>
            <a:r>
              <a:rPr lang="en-US" altLang="zh-CN" b="1" dirty="0">
                <a:solidFill>
                  <a:srgbClr val="FF0000"/>
                </a:solidFill>
              </a:rPr>
              <a:t>*</a:t>
            </a:r>
            <a:r>
              <a:rPr lang="en-US" altLang="zh-CN" b="1" dirty="0"/>
              <a:t>(</a:t>
            </a:r>
            <a:r>
              <a:rPr lang="en-US" altLang="zh-CN" b="1" dirty="0">
                <a:solidFill>
                  <a:srgbClr val="FF0000"/>
                </a:solidFill>
              </a:rPr>
              <a:t>*</a:t>
            </a:r>
            <a:r>
              <a:rPr lang="en-US" altLang="zh-CN" b="1" dirty="0"/>
              <a:t>arr);</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rows; 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j = 0; j &lt; 4; j++)</a:t>
            </a: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solidFill>
                  <a:srgbClr val="0000FF"/>
                </a:solidFill>
              </a:rPr>
              <a:t>                  if</a:t>
            </a:r>
            <a:r>
              <a:rPr lang="en-US" altLang="zh-CN" b="1" dirty="0"/>
              <a:t>( </a:t>
            </a:r>
            <a:r>
              <a:rPr lang="en-US" altLang="zh-CN" b="1" dirty="0">
                <a:solidFill>
                  <a:srgbClr val="FF0000"/>
                </a:solidFill>
              </a:rPr>
              <a:t>*</a:t>
            </a:r>
            <a:r>
              <a:rPr lang="en-US" altLang="zh-CN" b="1" dirty="0"/>
              <a:t>(</a:t>
            </a:r>
            <a:r>
              <a:rPr lang="en-US" altLang="zh-CN" b="1" dirty="0">
                <a:solidFill>
                  <a:srgbClr val="FF0000"/>
                </a:solidFill>
              </a:rPr>
              <a:t>*</a:t>
            </a:r>
            <a:r>
              <a:rPr lang="en-US" altLang="zh-CN" b="1" dirty="0"/>
              <a:t>(</a:t>
            </a:r>
            <a:r>
              <a:rPr lang="en-US" altLang="zh-CN" b="1" dirty="0" err="1"/>
              <a:t>arr+i</a:t>
            </a:r>
            <a:r>
              <a:rPr lang="en-US" altLang="zh-CN" b="1" dirty="0"/>
              <a:t>)+j) &gt; max )</a:t>
            </a:r>
          </a:p>
          <a:p>
            <a:pPr marL="0" indent="0">
              <a:lnSpc>
                <a:spcPct val="100000"/>
              </a:lnSpc>
              <a:spcBef>
                <a:spcPct val="0"/>
              </a:spcBef>
              <a:buClr>
                <a:schemeClr val="tx2"/>
              </a:buClr>
              <a:buSzPct val="70000"/>
              <a:buNone/>
            </a:pPr>
            <a:r>
              <a:rPr lang="en-US" altLang="zh-CN" b="1" dirty="0"/>
              <a:t>                        max = </a:t>
            </a:r>
            <a:r>
              <a:rPr lang="en-US" altLang="zh-CN" b="1" dirty="0">
                <a:solidFill>
                  <a:srgbClr val="FF0000"/>
                </a:solidFill>
              </a:rPr>
              <a:t>*</a:t>
            </a:r>
            <a:r>
              <a:rPr lang="en-US" altLang="zh-CN" b="1" dirty="0"/>
              <a:t>(</a:t>
            </a:r>
            <a:r>
              <a:rPr lang="en-US" altLang="zh-CN" b="1" dirty="0">
                <a:solidFill>
                  <a:srgbClr val="FF0000"/>
                </a:solidFill>
              </a:rPr>
              <a:t>*</a:t>
            </a:r>
            <a:r>
              <a:rPr lang="en-US" altLang="zh-CN" b="1" dirty="0"/>
              <a:t>(</a:t>
            </a:r>
            <a:r>
              <a:rPr lang="en-US" altLang="zh-CN" b="1" dirty="0" err="1"/>
              <a:t>arr+i</a:t>
            </a:r>
            <a:r>
              <a:rPr lang="en-US" altLang="zh-CN" b="1" dirty="0"/>
              <a:t>)+j) ;</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solidFill>
                  <a:srgbClr val="0000FF"/>
                </a:solidFill>
              </a:rPr>
              <a:t>      return</a:t>
            </a:r>
            <a:r>
              <a:rPr lang="en-US" altLang="zh-CN" b="1" dirty="0"/>
              <a:t> max;</a:t>
            </a: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8" name="Rectangle 2">
            <a:extLst>
              <a:ext uri="{FF2B5EF4-FFF2-40B4-BE49-F238E27FC236}">
                <a16:creationId xmlns:a16="http://schemas.microsoft.com/office/drawing/2014/main" id="{86AD3E5F-6545-45B7-B0A3-BFD58E4CFC8F}"/>
              </a:ext>
            </a:extLst>
          </p:cNvPr>
          <p:cNvSpPr txBox="1">
            <a:spLocks noChangeArrowheads="1"/>
          </p:cNvSpPr>
          <p:nvPr/>
        </p:nvSpPr>
        <p:spPr>
          <a:xfrm>
            <a:off x="2974012" y="1382727"/>
            <a:ext cx="5865493"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int</a:t>
            </a:r>
            <a:r>
              <a:rPr lang="en-US" altLang="zh-CN" b="1" dirty="0">
                <a:solidFill>
                  <a:srgbClr val="00B050"/>
                </a:solidFill>
              </a:rPr>
              <a:t> </a:t>
            </a:r>
            <a:r>
              <a:rPr lang="en-US" altLang="zh-CN" b="1" dirty="0"/>
              <a:t>max =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rows; 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j = 0; j &lt; 4; j++)</a:t>
            </a: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solidFill>
                  <a:srgbClr val="0000FF"/>
                </a:solidFill>
              </a:rPr>
              <a:t>                  if</a:t>
            </a:r>
            <a:r>
              <a:rPr lang="en-US" altLang="zh-CN" b="1" dirty="0"/>
              <a:t>( (</a:t>
            </a:r>
            <a:r>
              <a:rPr lang="en-US" altLang="zh-CN" b="1" dirty="0">
                <a:solidFill>
                  <a:srgbClr val="FF0000"/>
                </a:solidFill>
              </a:rPr>
              <a:t>*</a:t>
            </a:r>
            <a:r>
              <a:rPr lang="en-US" altLang="zh-CN" b="1" dirty="0"/>
              <a:t>(</a:t>
            </a:r>
            <a:r>
              <a:rPr lang="en-US" altLang="zh-CN" b="1" dirty="0" err="1"/>
              <a:t>arr+i</a:t>
            </a:r>
            <a:r>
              <a:rPr lang="en-US" altLang="zh-CN" b="1" dirty="0"/>
              <a:t>))</a:t>
            </a:r>
            <a:r>
              <a:rPr lang="en-US" altLang="zh-CN" b="1" dirty="0">
                <a:solidFill>
                  <a:srgbClr val="FF0000"/>
                </a:solidFill>
              </a:rPr>
              <a:t>[</a:t>
            </a:r>
            <a:r>
              <a:rPr lang="en-US" altLang="zh-CN" b="1" dirty="0"/>
              <a:t>j</a:t>
            </a:r>
            <a:r>
              <a:rPr lang="en-US" altLang="zh-CN" b="1" dirty="0">
                <a:solidFill>
                  <a:srgbClr val="FF0000"/>
                </a:solidFill>
              </a:rPr>
              <a:t>]</a:t>
            </a:r>
            <a:r>
              <a:rPr lang="en-US" altLang="zh-CN" b="1" dirty="0"/>
              <a:t> &gt; max )</a:t>
            </a:r>
          </a:p>
          <a:p>
            <a:pPr marL="0" indent="0">
              <a:lnSpc>
                <a:spcPct val="100000"/>
              </a:lnSpc>
              <a:spcBef>
                <a:spcPct val="0"/>
              </a:spcBef>
              <a:buClr>
                <a:schemeClr val="tx2"/>
              </a:buClr>
              <a:buSzPct val="70000"/>
              <a:buNone/>
            </a:pPr>
            <a:r>
              <a:rPr lang="en-US" altLang="zh-CN" b="1" dirty="0"/>
              <a:t>                        max = (</a:t>
            </a:r>
            <a:r>
              <a:rPr lang="en-US" altLang="zh-CN" b="1" dirty="0">
                <a:solidFill>
                  <a:srgbClr val="FF0000"/>
                </a:solidFill>
              </a:rPr>
              <a:t>*</a:t>
            </a:r>
            <a:r>
              <a:rPr lang="en-US" altLang="zh-CN" b="1" dirty="0"/>
              <a:t>(</a:t>
            </a:r>
            <a:r>
              <a:rPr lang="en-US" altLang="zh-CN" b="1" dirty="0" err="1"/>
              <a:t>arr+i</a:t>
            </a:r>
            <a:r>
              <a:rPr lang="en-US" altLang="zh-CN" b="1" dirty="0"/>
              <a:t>))</a:t>
            </a:r>
            <a:r>
              <a:rPr lang="en-US" altLang="zh-CN" b="1" dirty="0">
                <a:solidFill>
                  <a:srgbClr val="FF0000"/>
                </a:solidFill>
              </a:rPr>
              <a:t>[</a:t>
            </a:r>
            <a:r>
              <a:rPr lang="en-US" altLang="zh-CN" b="1" dirty="0"/>
              <a:t>j</a:t>
            </a:r>
            <a:r>
              <a:rPr lang="en-US" altLang="zh-CN" b="1" dirty="0">
                <a:solidFill>
                  <a:srgbClr val="FF0000"/>
                </a:solidFill>
              </a:rPr>
              <a:t>]</a:t>
            </a:r>
            <a:r>
              <a:rPr lang="en-US" altLang="zh-CN" b="1" dirty="0"/>
              <a:t> ;</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solidFill>
                  <a:srgbClr val="0000FF"/>
                </a:solidFill>
              </a:rPr>
              <a:t>      return</a:t>
            </a:r>
            <a:r>
              <a:rPr lang="en-US" altLang="zh-CN" b="1" dirty="0"/>
              <a:t> max;</a:t>
            </a: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16ED1312-7B0B-4529-894A-87B851517E1E}"/>
              </a:ext>
            </a:extLst>
          </p:cNvPr>
          <p:cNvSpPr txBox="1">
            <a:spLocks noChangeArrowheads="1"/>
          </p:cNvSpPr>
          <p:nvPr/>
        </p:nvSpPr>
        <p:spPr>
          <a:xfrm>
            <a:off x="2790844" y="1382727"/>
            <a:ext cx="5865493"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int</a:t>
            </a:r>
            <a:r>
              <a:rPr lang="en-US" altLang="zh-CN" b="1" dirty="0">
                <a:solidFill>
                  <a:srgbClr val="00B050"/>
                </a:solidFill>
              </a:rPr>
              <a:t> </a:t>
            </a:r>
            <a:r>
              <a:rPr lang="en-US" altLang="zh-CN" b="1" dirty="0"/>
              <a:t>max =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rows; 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j = 0; j &lt; 4; j++)</a:t>
            </a: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solidFill>
                  <a:srgbClr val="0000FF"/>
                </a:solidFill>
              </a:rPr>
              <a:t>                  if</a:t>
            </a:r>
            <a:r>
              <a:rPr lang="en-US" altLang="zh-CN" b="1" dirty="0"/>
              <a:t>(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+j) &gt; max )</a:t>
            </a:r>
          </a:p>
          <a:p>
            <a:pPr marL="0" indent="0">
              <a:lnSpc>
                <a:spcPct val="100000"/>
              </a:lnSpc>
              <a:spcBef>
                <a:spcPct val="0"/>
              </a:spcBef>
              <a:buClr>
                <a:schemeClr val="tx2"/>
              </a:buClr>
              <a:buSzPct val="70000"/>
              <a:buNone/>
            </a:pPr>
            <a:r>
              <a:rPr lang="en-US" altLang="zh-CN" b="1" dirty="0"/>
              <a:t>                        max =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+j) ;</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solidFill>
                  <a:srgbClr val="0000FF"/>
                </a:solidFill>
              </a:rPr>
              <a:t>      return</a:t>
            </a:r>
            <a:r>
              <a:rPr lang="en-US" altLang="zh-CN" b="1" dirty="0"/>
              <a:t> max;</a:t>
            </a: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10" name="Rectangle 2">
            <a:extLst>
              <a:ext uri="{FF2B5EF4-FFF2-40B4-BE49-F238E27FC236}">
                <a16:creationId xmlns:a16="http://schemas.microsoft.com/office/drawing/2014/main" id="{7AE1EFDF-184D-4F3D-BC5C-47CC25E8B7F6}"/>
              </a:ext>
            </a:extLst>
          </p:cNvPr>
          <p:cNvSpPr txBox="1">
            <a:spLocks noChangeArrowheads="1"/>
          </p:cNvSpPr>
          <p:nvPr/>
        </p:nvSpPr>
        <p:spPr>
          <a:xfrm>
            <a:off x="2784770" y="1379567"/>
            <a:ext cx="6243975"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getMax</a:t>
            </a:r>
            <a:r>
              <a:rPr lang="en-US" altLang="zh-CN" b="1" dirty="0"/>
              <a:t>(</a:t>
            </a: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arr)</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r>
              <a:rPr lang="en-US" altLang="zh-CN" b="1" dirty="0">
                <a:solidFill>
                  <a:srgbClr val="0000FF"/>
                </a:solidFill>
              </a:rPr>
              <a:t>int</a:t>
            </a:r>
            <a:r>
              <a:rPr lang="en-US" altLang="zh-CN" b="1" dirty="0"/>
              <a:t> rows)</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FF0000"/>
                </a:solidFill>
              </a:rPr>
              <a:t>      </a:t>
            </a:r>
            <a:r>
              <a:rPr lang="en-US" altLang="zh-CN" b="1" dirty="0">
                <a:solidFill>
                  <a:srgbClr val="0000FF"/>
                </a:solidFill>
              </a:rPr>
              <a:t>int</a:t>
            </a:r>
            <a:r>
              <a:rPr lang="en-US" altLang="zh-CN" b="1" dirty="0">
                <a:solidFill>
                  <a:srgbClr val="00B050"/>
                </a:solidFill>
              </a:rPr>
              <a:t> </a:t>
            </a:r>
            <a:r>
              <a:rPr lang="en-US" altLang="zh-CN" b="1" dirty="0"/>
              <a:t>max = arr</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rows; i++)</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j = 0; j &lt; 4; j++)</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 arr</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j</a:t>
            </a:r>
            <a:r>
              <a:rPr lang="en-US" altLang="zh-CN" b="1" dirty="0">
                <a:solidFill>
                  <a:srgbClr val="FF0000"/>
                </a:solidFill>
              </a:rPr>
              <a:t>]</a:t>
            </a:r>
            <a:r>
              <a:rPr lang="en-US" altLang="zh-CN" b="1" dirty="0"/>
              <a:t> &gt; max )</a:t>
            </a:r>
          </a:p>
          <a:p>
            <a:pPr marL="0" indent="0">
              <a:lnSpc>
                <a:spcPct val="100000"/>
              </a:lnSpc>
              <a:spcBef>
                <a:spcPct val="0"/>
              </a:spcBef>
              <a:buClr>
                <a:schemeClr val="tx2"/>
              </a:buClr>
              <a:buSzPct val="70000"/>
              <a:buNone/>
            </a:pPr>
            <a:r>
              <a:rPr lang="en-US" altLang="zh-CN" b="1" dirty="0"/>
              <a:t>                        max = arr</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j</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      }</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return</a:t>
            </a:r>
            <a:r>
              <a:rPr lang="en-US" altLang="zh-CN" b="1" dirty="0"/>
              <a:t> max;</a:t>
            </a: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2F043B25-9EC5-47D0-A663-359A9DAF1E0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25</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92349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10"/>
                                        <p:tgtEl>
                                          <p:spTgt spid="10"/>
                                        </p:tgtEl>
                                      </p:cBhvr>
                                    </p:animEffect>
                                    <p:set>
                                      <p:cBhvr>
                                        <p:cTn id="7" dur="1" fill="hold">
                                          <p:stCondLst>
                                            <p:cond delay="9"/>
                                          </p:stCondLst>
                                        </p:cTn>
                                        <p:tgtEl>
                                          <p:spTgt spid="10"/>
                                        </p:tgtEl>
                                        <p:attrNameLst>
                                          <p:attrName>style.visibility</p:attrName>
                                        </p:attrNameLst>
                                      </p:cBhvr>
                                      <p:to>
                                        <p:strVal val="hidden"/>
                                      </p:to>
                                    </p:set>
                                  </p:childTnLst>
                                </p:cTn>
                              </p:par>
                            </p:childTnLst>
                          </p:cTn>
                        </p:par>
                        <p:par>
                          <p:cTn id="8" fill="hold">
                            <p:stCondLst>
                              <p:cond delay="1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grpId="1" nodeType="clickEffect">
                                  <p:stCondLst>
                                    <p:cond delay="0"/>
                                  </p:stCondLst>
                                  <p:childTnLst>
                                    <p:animEffect transition="out" filter="wipe(down)">
                                      <p:cBhvr>
                                        <p:cTn id="15" dur="10"/>
                                        <p:tgtEl>
                                          <p:spTgt spid="6"/>
                                        </p:tgtEl>
                                      </p:cBhvr>
                                    </p:animEffect>
                                    <p:set>
                                      <p:cBhvr>
                                        <p:cTn id="16" dur="1" fill="hold">
                                          <p:stCondLst>
                                            <p:cond delay="9"/>
                                          </p:stCondLst>
                                        </p:cTn>
                                        <p:tgtEl>
                                          <p:spTgt spid="6"/>
                                        </p:tgtEl>
                                        <p:attrNameLst>
                                          <p:attrName>style.visibility</p:attrName>
                                        </p:attrNameLst>
                                      </p:cBhvr>
                                      <p:to>
                                        <p:strVal val="hidden"/>
                                      </p:to>
                                    </p:set>
                                  </p:childTnLst>
                                </p:cTn>
                              </p:par>
                            </p:childTnLst>
                          </p:cTn>
                        </p:par>
                        <p:par>
                          <p:cTn id="17" fill="hold">
                            <p:stCondLst>
                              <p:cond delay="10"/>
                            </p:stCondLst>
                            <p:childTnLst>
                              <p:par>
                                <p:cTn id="18" presetID="22" presetClass="entr" presetSubtype="1"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grpId="1" nodeType="clickEffect">
                                  <p:stCondLst>
                                    <p:cond delay="0"/>
                                  </p:stCondLst>
                                  <p:childTnLst>
                                    <p:animEffect transition="out" filter="wipe(down)">
                                      <p:cBhvr>
                                        <p:cTn id="24" dur="10"/>
                                        <p:tgtEl>
                                          <p:spTgt spid="8"/>
                                        </p:tgtEl>
                                      </p:cBhvr>
                                    </p:animEffect>
                                    <p:set>
                                      <p:cBhvr>
                                        <p:cTn id="25" dur="1" fill="hold">
                                          <p:stCondLst>
                                            <p:cond delay="9"/>
                                          </p:stCondLst>
                                        </p:cTn>
                                        <p:tgtEl>
                                          <p:spTgt spid="8"/>
                                        </p:tgtEl>
                                        <p:attrNameLst>
                                          <p:attrName>style.visibility</p:attrName>
                                        </p:attrNameLst>
                                      </p:cBhvr>
                                      <p:to>
                                        <p:strVal val="hidden"/>
                                      </p:to>
                                    </p:set>
                                  </p:childTnLst>
                                </p:cTn>
                              </p:par>
                            </p:childTnLst>
                          </p:cTn>
                        </p:par>
                        <p:par>
                          <p:cTn id="26" fill="hold">
                            <p:stCondLst>
                              <p:cond delay="10"/>
                            </p:stCondLst>
                            <p:childTnLst>
                              <p:par>
                                <p:cTn id="27" presetID="22" presetClass="entr" presetSubtype="1"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8" grpId="1" animBg="1"/>
      <p:bldP spid="6" grpId="0" animBg="1"/>
      <p:bldP spid="6" grpId="1"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D2AAE47-8446-484B-9213-6D5F38BEC6B3}"/>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r>
              <a:rPr lang="en-US" altLang="zh-CN" sz="3600" b="1" dirty="0">
                <a:solidFill>
                  <a:srgbClr val="200AC4"/>
                </a:solidFill>
                <a:ea typeface="隶书" pitchFamily="49" charset="-122"/>
              </a:rPr>
              <a:t>－</a:t>
            </a:r>
            <a:r>
              <a:rPr lang="zh-CN" altLang="en-US" sz="3600" b="1" dirty="0">
                <a:solidFill>
                  <a:srgbClr val="200AC4"/>
                </a:solidFill>
                <a:ea typeface="隶书" pitchFamily="49" charset="-122"/>
              </a:rPr>
              <a:t>地址传递</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7792177F-5925-4300-9C09-A666A856985F}"/>
              </a:ext>
            </a:extLst>
          </p:cNvPr>
          <p:cNvSpPr/>
          <p:nvPr/>
        </p:nvSpPr>
        <p:spPr>
          <a:xfrm>
            <a:off x="7900" y="598383"/>
            <a:ext cx="5621333" cy="1384995"/>
          </a:xfrm>
          <a:prstGeom prst="rect">
            <a:avLst/>
          </a:prstGeom>
        </p:spPr>
        <p:txBody>
          <a:bodyPr wrap="square">
            <a:spAutoFit/>
          </a:bodyPr>
          <a:lstStyle/>
          <a:p>
            <a:pPr marL="0" lvl="1"/>
            <a:r>
              <a:rPr lang="zh-CN" altLang="en-US" sz="2800" b="1" dirty="0">
                <a:solidFill>
                  <a:srgbClr val="0070C0"/>
                </a:solidFill>
                <a:latin typeface="隶书" pitchFamily="49" charset="-122"/>
              </a:rPr>
              <a:t>字符数组作为函数参数</a:t>
            </a:r>
            <a:endParaRPr lang="en-US" altLang="zh-CN" sz="2800" b="1" dirty="0">
              <a:solidFill>
                <a:srgbClr val="0070C0"/>
              </a:solidFill>
              <a:latin typeface="隶书"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实参</a:t>
            </a:r>
            <a:r>
              <a:rPr lang="zh-CN" altLang="en-US" sz="2800" b="1" dirty="0">
                <a:latin typeface="隶书" panose="02010509060101010101" pitchFamily="49" charset="-122"/>
                <a:ea typeface="隶书" panose="02010509060101010101" pitchFamily="49" charset="-122"/>
              </a:rPr>
              <a:t>：字符串首地址</a:t>
            </a:r>
            <a:endParaRPr lang="en-US" altLang="zh-CN" sz="2800" b="1" dirty="0">
              <a:latin typeface="隶书" panose="02010509060101010101" pitchFamily="49" charset="-122"/>
              <a:ea typeface="隶书" panose="02010509060101010101" pitchFamily="49" charset="-122"/>
            </a:endParaRPr>
          </a:p>
          <a:p>
            <a:pPr marL="0" lvl="1"/>
            <a:r>
              <a:rPr lang="zh-CN" altLang="en-US" sz="2800" b="1" dirty="0">
                <a:latin typeface="隶书" panose="02010509060101010101" pitchFamily="49" charset="-122"/>
                <a:ea typeface="隶书" panose="02010509060101010101" pitchFamily="49" charset="-122"/>
              </a:rPr>
              <a:t>  </a:t>
            </a:r>
            <a:r>
              <a:rPr lang="zh-CN" altLang="en-US" sz="2800" b="1" dirty="0">
                <a:solidFill>
                  <a:srgbClr val="FF0000"/>
                </a:solidFill>
                <a:latin typeface="隶书" panose="02010509060101010101" pitchFamily="49" charset="-122"/>
                <a:ea typeface="隶书" panose="02010509060101010101" pitchFamily="49" charset="-122"/>
              </a:rPr>
              <a:t>形参</a:t>
            </a:r>
            <a:r>
              <a:rPr lang="zh-CN" altLang="en-US" sz="2800" b="1" dirty="0">
                <a:latin typeface="隶书" panose="02010509060101010101" pitchFamily="49" charset="-122"/>
                <a:ea typeface="隶书" panose="02010509060101010101" pitchFamily="49" charset="-122"/>
              </a:rPr>
              <a:t>：字符指针变量</a:t>
            </a:r>
            <a:endParaRPr lang="en-US" altLang="zh-CN" sz="28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EDA8786B-5AA8-4D28-88B8-B541579B84FC}"/>
              </a:ext>
            </a:extLst>
          </p:cNvPr>
          <p:cNvSpPr txBox="1">
            <a:spLocks noChangeArrowheads="1"/>
          </p:cNvSpPr>
          <p:nvPr/>
        </p:nvSpPr>
        <p:spPr>
          <a:xfrm>
            <a:off x="318952" y="1983378"/>
            <a:ext cx="5310281"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getDigitCount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char</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char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str</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100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count;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gets(str);</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count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getDigitCount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(str);</a:t>
            </a: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count);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12" name="Rectangle 2">
            <a:extLst>
              <a:ext uri="{FF2B5EF4-FFF2-40B4-BE49-F238E27FC236}">
                <a16:creationId xmlns:a16="http://schemas.microsoft.com/office/drawing/2014/main" id="{CFBA6757-C45D-4EA0-8698-C49D4E84FBE6}"/>
              </a:ext>
            </a:extLst>
          </p:cNvPr>
          <p:cNvSpPr txBox="1">
            <a:spLocks noChangeArrowheads="1"/>
          </p:cNvSpPr>
          <p:nvPr/>
        </p:nvSpPr>
        <p:spPr>
          <a:xfrm>
            <a:off x="5973476" y="1983378"/>
            <a:ext cx="6055099" cy="440120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0070C0"/>
                </a:solidFill>
              </a:rPr>
              <a:t>getDigitCount</a:t>
            </a:r>
            <a:r>
              <a:rPr lang="en-US" altLang="zh-CN" b="1" dirty="0"/>
              <a:t>(</a:t>
            </a:r>
            <a:r>
              <a:rPr lang="en-US" altLang="zh-CN" b="1" dirty="0">
                <a:solidFill>
                  <a:srgbClr val="0000FF"/>
                </a:solidFill>
              </a:rPr>
              <a:t>char </a:t>
            </a:r>
            <a:r>
              <a:rPr lang="en-US" altLang="zh-CN" b="1" dirty="0">
                <a:solidFill>
                  <a:srgbClr val="FF0000"/>
                </a:solidFill>
              </a:rPr>
              <a:t>*</a:t>
            </a:r>
            <a:r>
              <a:rPr lang="en-US" altLang="zh-CN" b="1" dirty="0"/>
              <a:t>str)</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int</a:t>
            </a:r>
            <a:r>
              <a:rPr lang="en-US" altLang="zh-CN" b="1" dirty="0"/>
              <a:t> sum = 0;</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while</a:t>
            </a:r>
            <a:r>
              <a:rPr lang="en-US" altLang="zh-CN" b="1" dirty="0"/>
              <a:t>(</a:t>
            </a:r>
            <a:r>
              <a:rPr lang="en-US" altLang="zh-CN" b="1" dirty="0">
                <a:solidFill>
                  <a:srgbClr val="FF0000"/>
                </a:solidFill>
              </a:rPr>
              <a:t>*</a:t>
            </a:r>
            <a:r>
              <a:rPr lang="en-US" altLang="zh-CN" b="1" dirty="0"/>
              <a:t>str != </a:t>
            </a:r>
            <a:r>
              <a:rPr lang="en-US" altLang="zh-CN" b="1" dirty="0">
                <a:solidFill>
                  <a:srgbClr val="00B050"/>
                </a:solidFill>
              </a:rPr>
              <a:t>‘\0’</a:t>
            </a:r>
            <a:r>
              <a:rPr lang="en-US" altLang="zh-CN" b="1" dirty="0"/>
              <a:t>)</a:t>
            </a:r>
          </a:p>
          <a:p>
            <a:pPr marL="0" indent="0">
              <a:lnSpc>
                <a:spcPct val="100000"/>
              </a:lnSpc>
              <a:spcBef>
                <a:spcPct val="0"/>
              </a:spcBef>
              <a:buClr>
                <a:schemeClr val="tx2"/>
              </a:buClr>
              <a:buSzPct val="70000"/>
              <a:buNone/>
            </a:pPr>
            <a:r>
              <a:rPr lang="en-US" altLang="zh-CN" b="1" dirty="0"/>
              <a:t>      </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if</a:t>
            </a:r>
            <a:r>
              <a:rPr lang="en-US" altLang="zh-CN" b="1" dirty="0"/>
              <a:t>(</a:t>
            </a:r>
            <a:r>
              <a:rPr lang="en-US" altLang="zh-CN" b="1" dirty="0">
                <a:solidFill>
                  <a:srgbClr val="FF0000"/>
                </a:solidFill>
              </a:rPr>
              <a:t>*</a:t>
            </a:r>
            <a:r>
              <a:rPr lang="en-US" altLang="zh-CN" b="1" dirty="0"/>
              <a:t>str &gt;= </a:t>
            </a:r>
            <a:r>
              <a:rPr lang="en-US" altLang="zh-CN" b="1" dirty="0">
                <a:solidFill>
                  <a:srgbClr val="00B050"/>
                </a:solidFill>
              </a:rPr>
              <a:t>‘0’</a:t>
            </a:r>
            <a:r>
              <a:rPr lang="en-US" altLang="zh-CN" b="1" dirty="0"/>
              <a:t> &amp;&amp; </a:t>
            </a:r>
            <a:r>
              <a:rPr lang="en-US" altLang="zh-CN" b="1" dirty="0">
                <a:solidFill>
                  <a:srgbClr val="FF0000"/>
                </a:solidFill>
              </a:rPr>
              <a:t>*</a:t>
            </a:r>
            <a:r>
              <a:rPr lang="en-US" altLang="zh-CN" b="1" dirty="0"/>
              <a:t>str &lt;= </a:t>
            </a:r>
            <a:r>
              <a:rPr lang="en-US" altLang="zh-CN" b="1" dirty="0">
                <a:solidFill>
                  <a:srgbClr val="00B050"/>
                </a:solidFill>
              </a:rPr>
              <a:t>‘9’</a:t>
            </a:r>
            <a:r>
              <a:rPr lang="en-US" altLang="zh-CN" b="1" dirty="0"/>
              <a:t>)</a:t>
            </a:r>
          </a:p>
          <a:p>
            <a:pPr marL="0" indent="0">
              <a:lnSpc>
                <a:spcPct val="100000"/>
              </a:lnSpc>
              <a:spcBef>
                <a:spcPct val="0"/>
              </a:spcBef>
              <a:buClr>
                <a:schemeClr val="tx2"/>
              </a:buClr>
              <a:buSzPct val="70000"/>
              <a:buNone/>
            </a:pPr>
            <a:r>
              <a:rPr lang="en-US" altLang="zh-CN" b="1" dirty="0"/>
              <a:t>                  sum++;</a:t>
            </a:r>
          </a:p>
          <a:p>
            <a:pPr marL="0" indent="0">
              <a:lnSpc>
                <a:spcPct val="100000"/>
              </a:lnSpc>
              <a:spcBef>
                <a:spcPct val="0"/>
              </a:spcBef>
              <a:buClr>
                <a:schemeClr val="tx2"/>
              </a:buClr>
              <a:buSzPct val="70000"/>
              <a:buNone/>
            </a:pPr>
            <a:r>
              <a:rPr lang="en-US" altLang="zh-CN" b="1" dirty="0"/>
              <a:t>      </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return</a:t>
            </a:r>
            <a:r>
              <a:rPr lang="en-US" altLang="zh-CN" b="1" dirty="0"/>
              <a:t> sum;</a:t>
            </a: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6" name="灯片编号占位符 5">
            <a:extLst>
              <a:ext uri="{FF2B5EF4-FFF2-40B4-BE49-F238E27FC236}">
                <a16:creationId xmlns:a16="http://schemas.microsoft.com/office/drawing/2014/main" id="{D41B5BE1-6249-47A0-BCA3-FE1F0E17A65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26</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225759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4136A83-338A-47DE-9A73-8A74C169FD07}"/>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参数传递</a:t>
            </a:r>
            <a:endParaRPr lang="zh-CN" altLang="en-US" sz="3200" b="1" dirty="0">
              <a:solidFill>
                <a:srgbClr val="200AC4"/>
              </a:solidFill>
              <a:ea typeface="隶书" pitchFamily="49" charset="-122"/>
            </a:endParaRPr>
          </a:p>
        </p:txBody>
      </p:sp>
      <p:sp>
        <p:nvSpPr>
          <p:cNvPr id="4" name="Text Box 88">
            <a:extLst>
              <a:ext uri="{FF2B5EF4-FFF2-40B4-BE49-F238E27FC236}">
                <a16:creationId xmlns:a16="http://schemas.microsoft.com/office/drawing/2014/main" id="{9FE0EB3C-3523-413B-80E8-512FED840322}"/>
              </a:ext>
            </a:extLst>
          </p:cNvPr>
          <p:cNvSpPr txBox="1">
            <a:spLocks noChangeArrowheads="1"/>
          </p:cNvSpPr>
          <p:nvPr/>
        </p:nvSpPr>
        <p:spPr bwMode="auto">
          <a:xfrm>
            <a:off x="0" y="592076"/>
            <a:ext cx="12192000" cy="3233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a:t>
            </a:r>
            <a:r>
              <a:rPr kumimoji="1" lang="zh-CN" altLang="en-US" sz="3200" dirty="0">
                <a:solidFill>
                  <a:srgbClr val="FF3300"/>
                </a:solidFill>
                <a:ea typeface="隶书" pitchFamily="49" charset="-122"/>
              </a:rPr>
              <a:t>注意</a:t>
            </a:r>
            <a:r>
              <a:rPr kumimoji="1" lang="en-US" altLang="zh-CN" sz="2800" dirty="0">
                <a:solidFill>
                  <a:srgbClr val="3333FF"/>
                </a:solidFill>
                <a:ea typeface="隶书" pitchFamily="49" charset="-122"/>
              </a:rPr>
              <a:t>: </a:t>
            </a:r>
          </a:p>
          <a:p>
            <a:pPr marL="72000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函数被调用时，首先为形参变量分配存储空间，然后将实参值复制到对应形参。</a:t>
            </a:r>
            <a:endParaRPr kumimoji="1" lang="en-US" altLang="zh-CN" sz="2800" dirty="0">
              <a:solidFill>
                <a:srgbClr val="3333FF"/>
              </a:solidFill>
              <a:latin typeface="等线" panose="02010600030101010101" pitchFamily="2" charset="-122"/>
              <a:ea typeface="隶书" pitchFamily="49" charset="-122"/>
            </a:endParaRPr>
          </a:p>
          <a:p>
            <a:pPr marL="72000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函数调用结束时，形参变量占用的存储空间被释放并被立即销毁。</a:t>
            </a:r>
            <a:endParaRPr kumimoji="1" lang="en-US" altLang="zh-CN" sz="2800" dirty="0">
              <a:solidFill>
                <a:srgbClr val="3333FF"/>
              </a:solidFill>
              <a:latin typeface="等线" panose="02010600030101010101" pitchFamily="2" charset="-122"/>
              <a:ea typeface="隶书" pitchFamily="49" charset="-122"/>
            </a:endParaRPr>
          </a:p>
          <a:p>
            <a:pPr marL="72000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形参复制给实参时，数据类型、参数个数和顺序必须一一对应。</a:t>
            </a:r>
            <a:endParaRPr kumimoji="1" lang="en-US" altLang="zh-CN" sz="2800" dirty="0">
              <a:solidFill>
                <a:srgbClr val="3333FF"/>
              </a:solidFill>
              <a:latin typeface="等线" panose="02010600030101010101" pitchFamily="2" charset="-122"/>
              <a:ea typeface="隶书" pitchFamily="49" charset="-122"/>
            </a:endParaRPr>
          </a:p>
          <a:p>
            <a:pPr marL="72000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sym typeface="Wingdings 2" panose="05020102010507070707" pitchFamily="18" charset="2"/>
              </a:rPr>
              <a:t>参数传递为单向传递且形参值的改变不会影响到实参。</a:t>
            </a:r>
            <a:endParaRPr kumimoji="1" lang="en-US" altLang="zh-CN" sz="2800" dirty="0">
              <a:solidFill>
                <a:srgbClr val="3333FF"/>
              </a:solidFill>
              <a:latin typeface="等线" panose="02010600030101010101" pitchFamily="2" charset="-122"/>
              <a:ea typeface="隶书" pitchFamily="49" charset="-122"/>
              <a:sym typeface="Wingdings 2" panose="05020102010507070707" pitchFamily="18" charset="2"/>
            </a:endParaRPr>
          </a:p>
          <a:p>
            <a:pPr marL="72000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sym typeface="Wingdings 2" panose="05020102010507070707" pitchFamily="18" charset="2"/>
              </a:rPr>
              <a:t>参数传递有两种方式：值传递和地址传递。</a:t>
            </a:r>
            <a:endParaRPr kumimoji="1" lang="zh-CN" altLang="en-US" sz="2800" dirty="0">
              <a:solidFill>
                <a:srgbClr val="3333FF"/>
              </a:solidFill>
              <a:latin typeface="等线" panose="02010600030101010101" pitchFamily="2" charset="-122"/>
              <a:ea typeface="隶书" pitchFamily="49" charset="-122"/>
            </a:endParaRPr>
          </a:p>
        </p:txBody>
      </p:sp>
      <p:pic>
        <p:nvPicPr>
          <p:cNvPr id="5" name="图片 4">
            <a:extLst>
              <a:ext uri="{FF2B5EF4-FFF2-40B4-BE49-F238E27FC236}">
                <a16:creationId xmlns:a16="http://schemas.microsoft.com/office/drawing/2014/main" id="{6B71E744-E7B0-4344-98FD-30F415F6DEE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632181"/>
            <a:ext cx="636687" cy="546914"/>
          </a:xfrm>
          <a:prstGeom prst="rect">
            <a:avLst/>
          </a:prstGeom>
        </p:spPr>
      </p:pic>
      <p:sp>
        <p:nvSpPr>
          <p:cNvPr id="6" name="灯片编号占位符 5">
            <a:extLst>
              <a:ext uri="{FF2B5EF4-FFF2-40B4-BE49-F238E27FC236}">
                <a16:creationId xmlns:a16="http://schemas.microsoft.com/office/drawing/2014/main" id="{D2903485-52FE-4DBA-BFE0-DE8B6B2807F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27</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236754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093A966-25FE-42C7-8DE4-6A241F22601D}"/>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函数返回值</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0C8C600E-125E-41C3-96C0-00F8C9729C9B}"/>
              </a:ext>
            </a:extLst>
          </p:cNvPr>
          <p:cNvSpPr/>
          <p:nvPr/>
        </p:nvSpPr>
        <p:spPr>
          <a:xfrm>
            <a:off x="0" y="586147"/>
            <a:ext cx="12158444" cy="2015936"/>
          </a:xfrm>
          <a:prstGeom prst="rect">
            <a:avLst/>
          </a:prstGeom>
        </p:spPr>
        <p:txBody>
          <a:bodyPr wrap="square">
            <a:spAutoFit/>
          </a:bodyPr>
          <a:lstStyle/>
          <a:p>
            <a:pPr>
              <a:spcAft>
                <a:spcPts val="600"/>
              </a:spcAft>
            </a:pPr>
            <a:r>
              <a:rPr lang="zh-CN" altLang="en-US" sz="2800" b="1" dirty="0">
                <a:solidFill>
                  <a:srgbClr val="00B0F0"/>
                </a:solidFill>
                <a:latin typeface="隶书" pitchFamily="49" charset="-122"/>
              </a:rPr>
              <a:t>被调用函数</a:t>
            </a:r>
            <a:r>
              <a:rPr lang="zh-CN" altLang="en-US" sz="2800" b="1" dirty="0">
                <a:latin typeface="隶书" pitchFamily="49" charset="-122"/>
              </a:rPr>
              <a:t>可以通过</a:t>
            </a:r>
            <a:r>
              <a:rPr lang="en-US" altLang="zh-CN" sz="2800" b="1" dirty="0">
                <a:solidFill>
                  <a:srgbClr val="0000FF"/>
                </a:solidFill>
                <a:latin typeface="Times New Roman" panose="02020603050405020304" pitchFamily="18" charset="0"/>
                <a:cs typeface="Times New Roman" panose="02020603050405020304" pitchFamily="18" charset="0"/>
              </a:rPr>
              <a:t>return</a:t>
            </a:r>
            <a:r>
              <a:rPr lang="zh-CN" altLang="en-US" sz="2800" b="1" dirty="0">
                <a:latin typeface="隶书" pitchFamily="49" charset="-122"/>
              </a:rPr>
              <a:t>语句向</a:t>
            </a:r>
            <a:r>
              <a:rPr lang="zh-CN" altLang="en-US" sz="2800" b="1" dirty="0">
                <a:solidFill>
                  <a:srgbClr val="00B0F0"/>
                </a:solidFill>
                <a:latin typeface="隶书" pitchFamily="49" charset="-122"/>
              </a:rPr>
              <a:t>调用函数</a:t>
            </a:r>
            <a:r>
              <a:rPr lang="zh-CN" altLang="en-US" sz="2800" b="1" dirty="0">
                <a:latin typeface="隶书" pitchFamily="49" charset="-122"/>
              </a:rPr>
              <a:t>返回</a:t>
            </a:r>
            <a:r>
              <a:rPr lang="zh-CN" altLang="en-US" sz="2800" b="1" dirty="0">
                <a:solidFill>
                  <a:srgbClr val="FF0000"/>
                </a:solidFill>
                <a:latin typeface="隶书" pitchFamily="49" charset="-122"/>
              </a:rPr>
              <a:t>一个数值</a:t>
            </a:r>
            <a:r>
              <a:rPr lang="zh-CN" altLang="en-US" sz="2800" b="1" dirty="0">
                <a:latin typeface="隶书" pitchFamily="49" charset="-122"/>
              </a:rPr>
              <a:t>。该数值类型可以分为：</a:t>
            </a:r>
            <a:endParaRPr lang="en-US" altLang="zh-CN" sz="2800" b="1" dirty="0">
              <a:latin typeface="隶书" pitchFamily="49" charset="-122"/>
            </a:endParaRPr>
          </a:p>
          <a:p>
            <a:pPr marL="1234350" indent="-514350">
              <a:buFont typeface="+mj-ea"/>
              <a:buAutoNum type="circleNumDbPlain"/>
            </a:pPr>
            <a:r>
              <a:rPr lang="zh-CN" altLang="en-US" sz="3200" b="1" dirty="0">
                <a:solidFill>
                  <a:srgbClr val="FF0000"/>
                </a:solidFill>
                <a:latin typeface="隶书" panose="02010509060101010101" pitchFamily="49" charset="-122"/>
                <a:ea typeface="隶书" panose="02010509060101010101" pitchFamily="49" charset="-122"/>
              </a:rPr>
              <a:t>数值</a:t>
            </a:r>
            <a:r>
              <a:rPr lang="zh-CN" altLang="en-US" sz="3200" b="1" dirty="0">
                <a:latin typeface="隶书" panose="02010509060101010101" pitchFamily="49" charset="-122"/>
                <a:ea typeface="隶书" panose="02010509060101010101" pitchFamily="49" charset="-122"/>
              </a:rPr>
              <a:t>：常量、变量、表达式</a:t>
            </a:r>
            <a:endParaRPr lang="en-US" altLang="zh-CN" sz="3200" b="1" dirty="0">
              <a:latin typeface="隶书" panose="02010509060101010101" pitchFamily="49" charset="-122"/>
              <a:ea typeface="隶书" panose="02010509060101010101" pitchFamily="49" charset="-122"/>
            </a:endParaRPr>
          </a:p>
          <a:p>
            <a:pPr marL="1234350" indent="-514350">
              <a:buFont typeface="+mj-ea"/>
              <a:buAutoNum type="circleNumDbPlain"/>
            </a:pPr>
            <a:r>
              <a:rPr lang="zh-CN" altLang="en-US" sz="3200" b="1" dirty="0">
                <a:solidFill>
                  <a:srgbClr val="FF0000"/>
                </a:solidFill>
                <a:latin typeface="隶书" panose="02010509060101010101" pitchFamily="49" charset="-122"/>
                <a:ea typeface="隶书" panose="02010509060101010101" pitchFamily="49" charset="-122"/>
              </a:rPr>
              <a:t>地址</a:t>
            </a:r>
            <a:r>
              <a:rPr lang="zh-CN" altLang="en-US" sz="3200" b="1" dirty="0">
                <a:latin typeface="隶书" panose="02010509060101010101" pitchFamily="49" charset="-122"/>
                <a:ea typeface="隶书" panose="02010509060101010101" pitchFamily="49" charset="-122"/>
              </a:rPr>
              <a:t>：对象地址</a:t>
            </a:r>
          </a:p>
        </p:txBody>
      </p:sp>
      <p:sp>
        <p:nvSpPr>
          <p:cNvPr id="5" name="文本框 4">
            <a:extLst>
              <a:ext uri="{FF2B5EF4-FFF2-40B4-BE49-F238E27FC236}">
                <a16:creationId xmlns:a16="http://schemas.microsoft.com/office/drawing/2014/main" id="{5C5ED956-FE10-404B-A1BA-F0ED15A34987}"/>
              </a:ext>
            </a:extLst>
          </p:cNvPr>
          <p:cNvSpPr txBox="1"/>
          <p:nvPr/>
        </p:nvSpPr>
        <p:spPr>
          <a:xfrm>
            <a:off x="0" y="2772146"/>
            <a:ext cx="12192000" cy="954107"/>
          </a:xfrm>
          <a:prstGeom prst="rect">
            <a:avLst/>
          </a:prstGeom>
          <a:noFill/>
        </p:spPr>
        <p:txBody>
          <a:bodyPr wrap="square" rtlCol="0">
            <a:spAutoFit/>
          </a:bodyPr>
          <a:lstStyle/>
          <a:p>
            <a:r>
              <a:rPr lang="zh-CN" altLang="en-US" sz="2800" b="1" dirty="0">
                <a:latin typeface="隶书" pitchFamily="49" charset="-122"/>
              </a:rPr>
              <a:t>如果</a:t>
            </a:r>
            <a:r>
              <a:rPr lang="zh-CN" altLang="en-US" sz="2800" b="1" dirty="0">
                <a:solidFill>
                  <a:srgbClr val="00B0F0"/>
                </a:solidFill>
                <a:latin typeface="隶书" pitchFamily="49" charset="-122"/>
              </a:rPr>
              <a:t>函数返回值为某个内存对象的地址</a:t>
            </a:r>
            <a:r>
              <a:rPr lang="zh-CN" altLang="en-US" sz="2800" b="1" dirty="0">
                <a:latin typeface="隶书" pitchFamily="49" charset="-122"/>
              </a:rPr>
              <a:t>，该函数称为</a:t>
            </a:r>
            <a:r>
              <a:rPr lang="zh-CN" altLang="en-US" sz="2800" b="1" dirty="0">
                <a:solidFill>
                  <a:srgbClr val="FF0000"/>
                </a:solidFill>
                <a:latin typeface="隶书" pitchFamily="49" charset="-122"/>
              </a:rPr>
              <a:t>返回指针的函数</a:t>
            </a:r>
            <a:r>
              <a:rPr lang="zh-CN" altLang="en-US" sz="2800" b="1" dirty="0">
                <a:latin typeface="隶书" pitchFamily="49" charset="-122"/>
              </a:rPr>
              <a:t>，其定义格式如下：</a:t>
            </a:r>
          </a:p>
        </p:txBody>
      </p:sp>
      <p:sp>
        <p:nvSpPr>
          <p:cNvPr id="6" name="Rectangle 2">
            <a:extLst>
              <a:ext uri="{FF2B5EF4-FFF2-40B4-BE49-F238E27FC236}">
                <a16:creationId xmlns:a16="http://schemas.microsoft.com/office/drawing/2014/main" id="{9F9AAD9F-824F-4A54-84FD-4FB694FC6CE3}"/>
              </a:ext>
            </a:extLst>
          </p:cNvPr>
          <p:cNvSpPr txBox="1">
            <a:spLocks noChangeArrowheads="1"/>
          </p:cNvSpPr>
          <p:nvPr/>
        </p:nvSpPr>
        <p:spPr>
          <a:xfrm>
            <a:off x="3617506" y="3594197"/>
            <a:ext cx="5144158"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zh-CN" altLang="en-US" b="1" dirty="0">
                <a:solidFill>
                  <a:srgbClr val="0000FF"/>
                </a:solidFill>
                <a:latin typeface="华文隶书" panose="02010800040101010101" pitchFamily="2" charset="-122"/>
                <a:ea typeface="华文隶书" panose="02010800040101010101" pitchFamily="2" charset="-122"/>
              </a:rPr>
              <a:t>返回值类型</a:t>
            </a:r>
            <a:r>
              <a:rPr lang="en-US" altLang="zh-CN" b="1" dirty="0">
                <a:solidFill>
                  <a:srgbClr val="FF0000"/>
                </a:solidFill>
                <a:ea typeface="华文隶书" panose="02010800040101010101" pitchFamily="2" charset="-122"/>
              </a:rPr>
              <a:t>*</a:t>
            </a:r>
            <a:r>
              <a:rPr lang="zh-CN" altLang="en-US" b="1" dirty="0">
                <a:solidFill>
                  <a:srgbClr val="FF0000"/>
                </a:solidFill>
                <a:ea typeface="华文隶书" panose="02010800040101010101" pitchFamily="2" charset="-122"/>
              </a:rPr>
              <a:t> </a:t>
            </a:r>
            <a:r>
              <a:rPr lang="zh-CN" altLang="en-US" b="1" dirty="0">
                <a:latin typeface="华文中宋" panose="02010600040101010101" pitchFamily="2" charset="-122"/>
                <a:ea typeface="华文中宋" panose="02010600040101010101" pitchFamily="2" charset="-122"/>
              </a:rPr>
              <a:t>函数名</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形参列表</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语句</a:t>
            </a:r>
            <a:r>
              <a:rPr lang="en-US" altLang="zh-CN" b="1" dirty="0">
                <a:latin typeface="华文隶书" panose="02010800040101010101" pitchFamily="2" charset="-122"/>
                <a:ea typeface="华文隶书" panose="02010800040101010101" pitchFamily="2" charset="-122"/>
              </a:rPr>
              <a:t>1</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华文隶书" panose="02010800040101010101" pitchFamily="2" charset="-122"/>
                <a:ea typeface="华文隶书" panose="02010800040101010101" pitchFamily="2" charset="-122"/>
              </a:rPr>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语句</a:t>
            </a:r>
            <a:r>
              <a:rPr lang="en-US" altLang="zh-CN" b="1" dirty="0">
                <a:latin typeface="华文隶书" panose="02010800040101010101" pitchFamily="2" charset="-122"/>
                <a:ea typeface="华文隶书" panose="02010800040101010101" pitchFamily="2" charset="-122"/>
              </a:rPr>
              <a:t>n</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zh-CN" altLang="en-US" b="1" dirty="0">
              <a:solidFill>
                <a:srgbClr val="FF0000"/>
              </a:solidFill>
            </a:endParaRPr>
          </a:p>
        </p:txBody>
      </p:sp>
      <p:sp>
        <p:nvSpPr>
          <p:cNvPr id="7" name="灯片编号占位符 6">
            <a:extLst>
              <a:ext uri="{FF2B5EF4-FFF2-40B4-BE49-F238E27FC236}">
                <a16:creationId xmlns:a16="http://schemas.microsoft.com/office/drawing/2014/main" id="{BE84C9A3-24E6-4FB3-AA46-88DFB01DB98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28</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083505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7E20202-CB3A-4C97-9408-617D0824BDF9}"/>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函数返回值</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09C6E812-A1CA-4B37-80BF-B5BB29EB6298}"/>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6-10</a:t>
            </a:r>
            <a:r>
              <a:rPr lang="en-US" altLang="zh-CN" sz="2800" b="1" dirty="0">
                <a:latin typeface="隶书" pitchFamily="49" charset="-122"/>
              </a:rPr>
              <a:t>】</a:t>
            </a:r>
            <a:r>
              <a:rPr lang="zh-CN" altLang="en-US" sz="2800" b="1" dirty="0">
                <a:latin typeface="隶书" pitchFamily="49" charset="-122"/>
              </a:rPr>
              <a:t>编写函数</a:t>
            </a:r>
            <a:r>
              <a:rPr lang="en-US" altLang="zh-CN" sz="2800" b="1" dirty="0">
                <a:solidFill>
                  <a:srgbClr val="0070C0"/>
                </a:solidFill>
                <a:latin typeface="Times New Roman" panose="02020603050405020304" pitchFamily="18" charset="0"/>
                <a:cs typeface="Times New Roman" panose="02020603050405020304" pitchFamily="18" charset="0"/>
              </a:rPr>
              <a:t>max()</a:t>
            </a:r>
            <a:r>
              <a:rPr lang="zh-CN" altLang="en-US" sz="2800" b="1" dirty="0">
                <a:latin typeface="隶书" pitchFamily="49" charset="-122"/>
              </a:rPr>
              <a:t>求两个整数的最大数。</a:t>
            </a:r>
            <a:endParaRPr lang="en-US" altLang="zh-CN" sz="2800" b="1" dirty="0">
              <a:latin typeface="隶书" pitchFamily="49" charset="-122"/>
            </a:endParaRPr>
          </a:p>
        </p:txBody>
      </p:sp>
      <p:sp>
        <p:nvSpPr>
          <p:cNvPr id="5" name="Rectangle 2">
            <a:extLst>
              <a:ext uri="{FF2B5EF4-FFF2-40B4-BE49-F238E27FC236}">
                <a16:creationId xmlns:a16="http://schemas.microsoft.com/office/drawing/2014/main" id="{03228768-77CB-415F-82F0-31804C0A78EB}"/>
              </a:ext>
            </a:extLst>
          </p:cNvPr>
          <p:cNvSpPr txBox="1">
            <a:spLocks noChangeArrowheads="1"/>
          </p:cNvSpPr>
          <p:nvPr/>
        </p:nvSpPr>
        <p:spPr>
          <a:xfrm>
            <a:off x="267177" y="1249184"/>
            <a:ext cx="5310281" cy="440120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ea typeface="等线" panose="02010600030101010101" pitchFamily="2" charset="-122"/>
                <a:cs typeface="Times New Roman" panose="02020603050405020304" pitchFamily="18" charset="0"/>
              </a:rPr>
              <a:t>,</a:t>
            </a:r>
            <a:r>
              <a:rPr lang="en-US" altLang="zh-CN" b="1" dirty="0">
                <a:solidFill>
                  <a:srgbClr val="FF0000"/>
                </a:solidFill>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int</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b, </a:t>
            </a:r>
            <a:r>
              <a:rPr lang="en-US" altLang="zh-CN" b="1" dirty="0">
                <a:solidFill>
                  <a:srgbClr val="FF0000"/>
                </a:solidFill>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pmax;</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err="1">
                <a:solidFill>
                  <a:srgbClr val="00B050"/>
                </a:solidFill>
                <a:ea typeface="等线" panose="02010600030101010101" pitchFamily="2" charset="-122"/>
                <a:cs typeface="Times New Roman" panose="02020603050405020304" pitchFamily="18" charset="0"/>
              </a:rPr>
              <a:t>%</a:t>
            </a:r>
            <a:r>
              <a:rPr lang="en-US" altLang="zh-CN" b="1"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pmax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a:t>
            </a: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max=</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r>
              <a:rPr lang="en-US" altLang="zh-CN" b="1" dirty="0">
                <a:solidFill>
                  <a:srgbClr val="FF0000"/>
                </a:solidFill>
              </a:rPr>
              <a:t>*</a:t>
            </a:r>
            <a:r>
              <a:rPr lang="en-US" altLang="zh-CN" b="1" dirty="0">
                <a:latin typeface="Times New Roman" panose="02020603050405020304" pitchFamily="18" charset="0"/>
                <a:cs typeface="Times New Roman" panose="02020603050405020304" pitchFamily="18" charset="0"/>
              </a:rPr>
              <a:t>pmax);</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Rectangle 2">
            <a:extLst>
              <a:ext uri="{FF2B5EF4-FFF2-40B4-BE49-F238E27FC236}">
                <a16:creationId xmlns:a16="http://schemas.microsoft.com/office/drawing/2014/main" id="{9FD6158D-8E4D-4718-842F-7C4DFA696DAC}"/>
              </a:ext>
            </a:extLst>
          </p:cNvPr>
          <p:cNvSpPr txBox="1">
            <a:spLocks noChangeArrowheads="1"/>
          </p:cNvSpPr>
          <p:nvPr/>
        </p:nvSpPr>
        <p:spPr>
          <a:xfrm>
            <a:off x="5849188" y="2098786"/>
            <a:ext cx="6055099"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cs typeface="Times New Roman" panose="02020603050405020304" pitchFamily="18" charset="0"/>
              </a:rPr>
              <a:t>int</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r>
              <a:rPr lang="en-US" altLang="zh-CN" b="1" dirty="0">
                <a:solidFill>
                  <a:srgbClr val="0070C0"/>
                </a:solidFill>
                <a:latin typeface="Times New Roman" panose="02020603050405020304" pitchFamily="18" charset="0"/>
                <a:cs typeface="Times New Roman" panose="02020603050405020304" pitchFamily="18" charset="0"/>
              </a:rPr>
              <a:t>max</a:t>
            </a:r>
            <a:r>
              <a:rPr lang="en-US" altLang="zh-CN" b="1" dirty="0">
                <a:latin typeface="Times New Roman" panose="02020603050405020304" pitchFamily="18" charset="0"/>
                <a:cs typeface="Times New Roman" panose="02020603050405020304" pitchFamily="18" charset="0"/>
              </a:rPr>
              <a:t>(</a:t>
            </a:r>
            <a:r>
              <a:rPr lang="en-US" altLang="zh-CN" b="1" dirty="0">
                <a:solidFill>
                  <a:srgbClr val="0000FF"/>
                </a:solidFill>
                <a:latin typeface="Times New Roman" panose="02020603050405020304" pitchFamily="18" charset="0"/>
                <a:cs typeface="Times New Roman" panose="02020603050405020304" pitchFamily="18" charset="0"/>
              </a:rPr>
              <a:t>int </a:t>
            </a:r>
            <a:r>
              <a:rPr lang="en-US" altLang="zh-CN" b="1" dirty="0">
                <a:solidFill>
                  <a:srgbClr val="FF0000"/>
                </a:solidFill>
                <a:cs typeface="Times New Roman" panose="02020603050405020304" pitchFamily="18" charset="0"/>
              </a:rPr>
              <a:t>*</a:t>
            </a:r>
            <a:r>
              <a:rPr lang="en-US" altLang="zh-CN" b="1" dirty="0">
                <a:cs typeface="Times New Roman" panose="02020603050405020304" pitchFamily="18" charset="0"/>
              </a:rPr>
              <a:t>px,</a:t>
            </a:r>
            <a:r>
              <a:rPr lang="en-US" altLang="zh-CN" b="1" dirty="0">
                <a:solidFill>
                  <a:srgbClr val="FF0000"/>
                </a:solidFill>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int </a:t>
            </a:r>
            <a:r>
              <a:rPr lang="en-US" altLang="zh-CN" b="1" dirty="0">
                <a:solidFill>
                  <a:srgbClr val="FF0000"/>
                </a:solidFill>
                <a:cs typeface="Times New Roman" panose="02020603050405020304" pitchFamily="18" charset="0"/>
              </a:rPr>
              <a:t>*</a:t>
            </a:r>
            <a:r>
              <a:rPr lang="en-US" altLang="zh-CN" b="1" dirty="0">
                <a:cs typeface="Times New Roman" panose="02020603050405020304" pitchFamily="18" charset="0"/>
              </a:rPr>
              <a:t>py</a:t>
            </a:r>
            <a:r>
              <a:rPr lang="en-US" altLang="zh-CN" b="1" dirty="0">
                <a:latin typeface="Times New Roman" panose="02020603050405020304" pitchFamily="18" charset="0"/>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rPr>
              <a:t>     if</a:t>
            </a:r>
            <a:r>
              <a:rPr lang="en-US" altLang="zh-CN" b="1" dirty="0"/>
              <a:t>(</a:t>
            </a:r>
            <a:r>
              <a:rPr lang="en-US" altLang="zh-CN" b="1" dirty="0">
                <a:solidFill>
                  <a:srgbClr val="FF0000"/>
                </a:solidFill>
              </a:rPr>
              <a:t>*</a:t>
            </a:r>
            <a:r>
              <a:rPr lang="en-US" altLang="zh-CN" b="1" dirty="0"/>
              <a:t>px &gt; </a:t>
            </a:r>
            <a:r>
              <a:rPr lang="en-US" altLang="zh-CN" b="1" dirty="0">
                <a:solidFill>
                  <a:srgbClr val="FF0000"/>
                </a:solidFill>
              </a:rPr>
              <a:t>*</a:t>
            </a:r>
            <a:r>
              <a:rPr lang="en-US" altLang="zh-CN" b="1" dirty="0"/>
              <a:t>py)</a:t>
            </a:r>
          </a:p>
          <a:p>
            <a:pPr marL="0" indent="0">
              <a:lnSpc>
                <a:spcPct val="100000"/>
              </a:lnSpc>
              <a:spcBef>
                <a:spcPct val="0"/>
              </a:spcBef>
              <a:buClr>
                <a:schemeClr val="tx2"/>
              </a:buClr>
              <a:buSzPct val="70000"/>
              <a:buNone/>
            </a:pPr>
            <a:r>
              <a:rPr lang="en-US" altLang="zh-CN" b="1" dirty="0"/>
              <a:t>           </a:t>
            </a:r>
            <a:r>
              <a:rPr lang="en-US" altLang="zh-CN" b="1" dirty="0">
                <a:solidFill>
                  <a:srgbClr val="0000FF"/>
                </a:solidFill>
              </a:rPr>
              <a:t>return</a:t>
            </a:r>
            <a:r>
              <a:rPr lang="en-US" altLang="zh-CN" b="1" dirty="0"/>
              <a:t> px;</a:t>
            </a:r>
          </a:p>
          <a:p>
            <a:pPr marL="0" indent="0">
              <a:lnSpc>
                <a:spcPct val="100000"/>
              </a:lnSpc>
              <a:spcBef>
                <a:spcPct val="0"/>
              </a:spcBef>
              <a:buClr>
                <a:schemeClr val="tx2"/>
              </a:buClr>
              <a:buSzPct val="70000"/>
              <a:buNone/>
            </a:pPr>
            <a:r>
              <a:rPr lang="en-US" altLang="zh-CN" b="1" dirty="0">
                <a:solidFill>
                  <a:srgbClr val="0000FF"/>
                </a:solidFill>
              </a:rPr>
              <a:t>     return</a:t>
            </a:r>
            <a:r>
              <a:rPr lang="en-US" altLang="zh-CN" b="1" dirty="0"/>
              <a:t> py;</a:t>
            </a:r>
          </a:p>
          <a:p>
            <a:pPr marL="0" indent="0">
              <a:lnSpc>
                <a:spcPct val="100000"/>
              </a:lnSpc>
              <a:spcBef>
                <a:spcPct val="0"/>
              </a:spcBef>
              <a:buClr>
                <a:schemeClr val="tx2"/>
              </a:buClr>
              <a:buSzPct val="7000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9B528FD9-550A-449B-A030-F38AAE6F44BF}"/>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29</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987131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4136A83-338A-47DE-9A73-8A74C169FD07}"/>
              </a:ext>
            </a:extLst>
          </p:cNvPr>
          <p:cNvSpPr txBox="1"/>
          <p:nvPr/>
        </p:nvSpPr>
        <p:spPr>
          <a:xfrm>
            <a:off x="3441757" y="-3019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函数设计原则</a:t>
            </a:r>
            <a:endParaRPr lang="zh-CN" altLang="en-US" sz="3200" b="1" dirty="0">
              <a:solidFill>
                <a:srgbClr val="200AC4"/>
              </a:solidFill>
              <a:ea typeface="隶书" pitchFamily="49" charset="-122"/>
            </a:endParaRPr>
          </a:p>
        </p:txBody>
      </p:sp>
      <p:sp>
        <p:nvSpPr>
          <p:cNvPr id="6" name="矩形 5">
            <a:extLst>
              <a:ext uri="{FF2B5EF4-FFF2-40B4-BE49-F238E27FC236}">
                <a16:creationId xmlns:a16="http://schemas.microsoft.com/office/drawing/2014/main" id="{1BC3353E-8BA8-47DF-B8D6-6320B884ED51}"/>
              </a:ext>
            </a:extLst>
          </p:cNvPr>
          <p:cNvSpPr/>
          <p:nvPr/>
        </p:nvSpPr>
        <p:spPr>
          <a:xfrm>
            <a:off x="0" y="586147"/>
            <a:ext cx="12158444" cy="523220"/>
          </a:xfrm>
          <a:prstGeom prst="rect">
            <a:avLst/>
          </a:prstGeom>
        </p:spPr>
        <p:txBody>
          <a:bodyPr wrap="square">
            <a:spAutoFit/>
          </a:bodyPr>
          <a:lstStyle/>
          <a:p>
            <a:r>
              <a:rPr lang="zh-CN" altLang="en-US" sz="2800" b="1" dirty="0">
                <a:latin typeface="隶书" pitchFamily="49" charset="-122"/>
              </a:rPr>
              <a:t>函数适应的情形：</a:t>
            </a:r>
            <a:endParaRPr lang="en-US" altLang="zh-CN" sz="2800" b="1" dirty="0">
              <a:latin typeface="隶书" pitchFamily="49" charset="-122"/>
            </a:endParaRPr>
          </a:p>
        </p:txBody>
      </p:sp>
      <p:sp>
        <p:nvSpPr>
          <p:cNvPr id="7" name="矩形 6">
            <a:extLst>
              <a:ext uri="{FF2B5EF4-FFF2-40B4-BE49-F238E27FC236}">
                <a16:creationId xmlns:a16="http://schemas.microsoft.com/office/drawing/2014/main" id="{3EF5B89B-B493-4E90-BC0C-60B749B87729}"/>
              </a:ext>
            </a:extLst>
          </p:cNvPr>
          <p:cNvSpPr/>
          <p:nvPr/>
        </p:nvSpPr>
        <p:spPr>
          <a:xfrm>
            <a:off x="0" y="2334556"/>
            <a:ext cx="12158444" cy="523220"/>
          </a:xfrm>
          <a:prstGeom prst="rect">
            <a:avLst/>
          </a:prstGeom>
        </p:spPr>
        <p:txBody>
          <a:bodyPr wrap="square">
            <a:spAutoFit/>
          </a:bodyPr>
          <a:lstStyle/>
          <a:p>
            <a:r>
              <a:rPr lang="zh-CN" altLang="en-US" sz="2800" b="1" dirty="0">
                <a:latin typeface="隶书" pitchFamily="49" charset="-122"/>
              </a:rPr>
              <a:t>函数设计原则：</a:t>
            </a:r>
            <a:endParaRPr lang="en-US" altLang="zh-CN" sz="2800" b="1" dirty="0">
              <a:latin typeface="隶书" pitchFamily="49" charset="-122"/>
            </a:endParaRPr>
          </a:p>
        </p:txBody>
      </p:sp>
      <p:sp>
        <p:nvSpPr>
          <p:cNvPr id="8" name="文本框 7">
            <a:extLst>
              <a:ext uri="{FF2B5EF4-FFF2-40B4-BE49-F238E27FC236}">
                <a16:creationId xmlns:a16="http://schemas.microsoft.com/office/drawing/2014/main" id="{09CCCB0D-BF2A-4FE8-A865-5DB19645DDA5}"/>
              </a:ext>
            </a:extLst>
          </p:cNvPr>
          <p:cNvSpPr txBox="1"/>
          <p:nvPr/>
        </p:nvSpPr>
        <p:spPr>
          <a:xfrm>
            <a:off x="476739" y="1062057"/>
            <a:ext cx="4653838" cy="954107"/>
          </a:xfrm>
          <a:prstGeom prst="rect">
            <a:avLst/>
          </a:prstGeom>
          <a:noFill/>
        </p:spPr>
        <p:txBody>
          <a:bodyPr wrap="none" rtlCol="0">
            <a:spAutoFit/>
          </a:bodyPr>
          <a:lstStyle/>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程序需要多次执行的任务</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模块化的功能</a:t>
            </a:r>
          </a:p>
        </p:txBody>
      </p:sp>
      <p:sp>
        <p:nvSpPr>
          <p:cNvPr id="9" name="文本框 8">
            <a:extLst>
              <a:ext uri="{FF2B5EF4-FFF2-40B4-BE49-F238E27FC236}">
                <a16:creationId xmlns:a16="http://schemas.microsoft.com/office/drawing/2014/main" id="{D80FE17B-9186-4313-BC78-576DC52B0014}"/>
              </a:ext>
            </a:extLst>
          </p:cNvPr>
          <p:cNvSpPr txBox="1"/>
          <p:nvPr/>
        </p:nvSpPr>
        <p:spPr>
          <a:xfrm>
            <a:off x="476739" y="2889813"/>
            <a:ext cx="6449201" cy="3539430"/>
          </a:xfrm>
          <a:prstGeom prst="rect">
            <a:avLst/>
          </a:prstGeom>
          <a:noFill/>
        </p:spPr>
        <p:txBody>
          <a:bodyPr wrap="none" rtlCol="0">
            <a:spAutoFit/>
          </a:bodyPr>
          <a:lstStyle/>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函数规模要尽量小</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函数的功能要单一</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只有一个入口和一个出口</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函数内部操作的合法性</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函数调用时有可能出现的异常情况</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函数的返回值与错误类型</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函数的错误处理</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zh-CN" altLang="en-US" sz="2800" dirty="0">
                <a:latin typeface="隶书" panose="02010509060101010101" pitchFamily="49" charset="-122"/>
                <a:ea typeface="隶书" panose="02010509060101010101" pitchFamily="49" charset="-122"/>
              </a:rPr>
              <a:t>函数声明、定义与调用时的类型匹配</a:t>
            </a:r>
          </a:p>
        </p:txBody>
      </p:sp>
      <p:sp>
        <p:nvSpPr>
          <p:cNvPr id="4" name="灯片编号占位符 3">
            <a:extLst>
              <a:ext uri="{FF2B5EF4-FFF2-40B4-BE49-F238E27FC236}">
                <a16:creationId xmlns:a16="http://schemas.microsoft.com/office/drawing/2014/main" id="{9EE808CD-8CEC-4685-B025-F20E0A3AAB5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30</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630508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421222A-8D7B-441C-9DE3-1E43E17272BB}"/>
              </a:ext>
            </a:extLst>
          </p:cNvPr>
          <p:cNvSpPr txBox="1"/>
          <p:nvPr/>
        </p:nvSpPr>
        <p:spPr>
          <a:xfrm>
            <a:off x="0" y="601424"/>
            <a:ext cx="12192000" cy="4278094"/>
          </a:xfrm>
          <a:prstGeom prst="rect">
            <a:avLst/>
          </a:prstGeom>
          <a:noFill/>
        </p:spPr>
        <p:txBody>
          <a:bodyPr wrap="square" rtlCol="0">
            <a:spAutoFit/>
          </a:bodyPr>
          <a:lstStyle/>
          <a:p>
            <a:r>
              <a:rPr lang="zh-CN" altLang="en-US" sz="2800" b="1" dirty="0">
                <a:latin typeface="隶书" pitchFamily="49" charset="-122"/>
              </a:rPr>
              <a:t>变量定义决定了变量的：</a:t>
            </a:r>
            <a:endParaRPr lang="en-US" altLang="zh-CN" sz="2800" b="1" dirty="0">
              <a:latin typeface="隶书" pitchFamily="49" charset="-122"/>
            </a:endParaRPr>
          </a:p>
          <a:p>
            <a:pPr marL="720000" indent="-514350">
              <a:buFont typeface="+mj-ea"/>
              <a:buAutoNum type="circleNumDbPlain"/>
            </a:pPr>
            <a:r>
              <a:rPr lang="zh-CN" altLang="en-US" sz="3200" b="1" dirty="0">
                <a:solidFill>
                  <a:srgbClr val="00B0F0"/>
                </a:solidFill>
                <a:latin typeface="隶书" panose="02010509060101010101" pitchFamily="49" charset="-122"/>
                <a:ea typeface="隶书" panose="02010509060101010101" pitchFamily="49" charset="-122"/>
              </a:rPr>
              <a:t>数据类型</a:t>
            </a:r>
            <a:r>
              <a:rPr lang="zh-CN" altLang="en-US" sz="3200" b="1" dirty="0">
                <a:latin typeface="隶书" panose="02010509060101010101" pitchFamily="49" charset="-122"/>
                <a:ea typeface="隶书" panose="02010509060101010101" pitchFamily="49" charset="-122"/>
              </a:rPr>
              <a:t>：变量占用的</a:t>
            </a:r>
            <a:r>
              <a:rPr lang="zh-CN" altLang="en-US" sz="3200" b="1" dirty="0">
                <a:solidFill>
                  <a:srgbClr val="C00000"/>
                </a:solidFill>
                <a:latin typeface="隶书" panose="02010509060101010101" pitchFamily="49" charset="-122"/>
                <a:ea typeface="隶书" panose="02010509060101010101" pitchFamily="49" charset="-122"/>
              </a:rPr>
              <a:t>字节数</a:t>
            </a:r>
            <a:r>
              <a:rPr lang="zh-CN" altLang="en-US" sz="3200" b="1" dirty="0">
                <a:latin typeface="隶书" panose="02010509060101010101" pitchFamily="49" charset="-122"/>
                <a:ea typeface="隶书" panose="02010509060101010101" pitchFamily="49" charset="-122"/>
              </a:rPr>
              <a:t>及数据的</a:t>
            </a:r>
            <a:r>
              <a:rPr lang="zh-CN" altLang="en-US" sz="3200" b="1" dirty="0">
                <a:solidFill>
                  <a:srgbClr val="C00000"/>
                </a:solidFill>
                <a:latin typeface="隶书" panose="02010509060101010101" pitchFamily="49" charset="-122"/>
                <a:ea typeface="隶书" panose="02010509060101010101" pitchFamily="49" charset="-122"/>
              </a:rPr>
              <a:t>表示方式</a:t>
            </a:r>
            <a:r>
              <a:rPr lang="zh-CN" altLang="en-US" sz="3200" b="1" dirty="0">
                <a:latin typeface="隶书" panose="02010509060101010101" pitchFamily="49" charset="-122"/>
                <a:ea typeface="隶书" panose="02010509060101010101" pitchFamily="49" charset="-122"/>
              </a:rPr>
              <a:t>。</a:t>
            </a:r>
            <a:endParaRPr lang="en-US" altLang="zh-CN" sz="3200" b="1" dirty="0">
              <a:latin typeface="隶书" panose="02010509060101010101" pitchFamily="49" charset="-122"/>
              <a:ea typeface="隶书" panose="02010509060101010101" pitchFamily="49" charset="-122"/>
            </a:endParaRPr>
          </a:p>
          <a:p>
            <a:pPr marL="720000" indent="-514350">
              <a:buFont typeface="+mj-ea"/>
              <a:buAutoNum type="circleNumDbPlain"/>
            </a:pPr>
            <a:r>
              <a:rPr lang="zh-CN" altLang="en-US" sz="3200" b="1" dirty="0">
                <a:solidFill>
                  <a:srgbClr val="00B0F0"/>
                </a:solidFill>
                <a:latin typeface="隶书" panose="02010509060101010101" pitchFamily="49" charset="-122"/>
                <a:ea typeface="隶书" panose="02010509060101010101" pitchFamily="49" charset="-122"/>
              </a:rPr>
              <a:t>作用域</a:t>
            </a:r>
            <a:r>
              <a:rPr lang="zh-CN" altLang="en-US" sz="3200" b="1" dirty="0">
                <a:latin typeface="隶书" panose="02010509060101010101" pitchFamily="49" charset="-122"/>
                <a:ea typeface="隶书" panose="02010509060101010101" pitchFamily="49" charset="-122"/>
              </a:rPr>
              <a:t>：变量的作用范围，即变量起作用的</a:t>
            </a:r>
            <a:r>
              <a:rPr lang="zh-CN" altLang="en-US" sz="3200" b="1" dirty="0">
                <a:solidFill>
                  <a:srgbClr val="C00000"/>
                </a:solidFill>
                <a:latin typeface="隶书" panose="02010509060101010101" pitchFamily="49" charset="-122"/>
                <a:ea typeface="隶书" panose="02010509060101010101" pitchFamily="49" charset="-122"/>
              </a:rPr>
              <a:t>代码范围</a:t>
            </a:r>
            <a:r>
              <a:rPr lang="zh-CN" altLang="en-US" sz="3200" b="1" dirty="0">
                <a:latin typeface="隶书" panose="02010509060101010101" pitchFamily="49" charset="-122"/>
                <a:ea typeface="隶书" panose="02010509060101010101" pitchFamily="49" charset="-122"/>
              </a:rPr>
              <a:t>。作用域由</a:t>
            </a:r>
            <a:r>
              <a:rPr lang="zh-CN" altLang="en-US" sz="3200" b="1" dirty="0">
                <a:solidFill>
                  <a:srgbClr val="C00000"/>
                </a:solidFill>
                <a:latin typeface="隶书" panose="02010509060101010101" pitchFamily="49" charset="-122"/>
                <a:ea typeface="隶书" panose="02010509060101010101" pitchFamily="49" charset="-122"/>
              </a:rPr>
              <a:t>变量定义的位置</a:t>
            </a:r>
            <a:r>
              <a:rPr lang="zh-CN" altLang="en-US" sz="3200" b="1" dirty="0">
                <a:latin typeface="隶书" panose="02010509060101010101" pitchFamily="49" charset="-122"/>
                <a:ea typeface="隶书" panose="02010509060101010101" pitchFamily="49" charset="-122"/>
              </a:rPr>
              <a:t>决定。变量的定义位置有四个：</a:t>
            </a:r>
            <a:r>
              <a:rPr lang="zh-CN" altLang="en-US" sz="3200" b="1" dirty="0">
                <a:solidFill>
                  <a:srgbClr val="92D050"/>
                </a:solidFill>
                <a:latin typeface="隶书" panose="02010509060101010101" pitchFamily="49" charset="-122"/>
                <a:ea typeface="隶书" panose="02010509060101010101" pitchFamily="49" charset="-122"/>
              </a:rPr>
              <a:t>程序块内</a:t>
            </a:r>
            <a:r>
              <a:rPr lang="zh-CN" altLang="en-US" sz="3200" b="1" dirty="0">
                <a:latin typeface="隶书" panose="02010509060101010101" pitchFamily="49" charset="-122"/>
                <a:ea typeface="隶书" panose="02010509060101010101" pitchFamily="49" charset="-122"/>
              </a:rPr>
              <a:t>、</a:t>
            </a:r>
            <a:r>
              <a:rPr lang="zh-CN" altLang="en-US" sz="3200" b="1" dirty="0">
                <a:solidFill>
                  <a:srgbClr val="92D050"/>
                </a:solidFill>
                <a:latin typeface="隶书" panose="02010509060101010101" pitchFamily="49" charset="-122"/>
                <a:ea typeface="隶书" panose="02010509060101010101" pitchFamily="49" charset="-122"/>
              </a:rPr>
              <a:t>函数内部</a:t>
            </a:r>
            <a:r>
              <a:rPr lang="zh-CN" altLang="en-US" sz="3200" b="1" dirty="0">
                <a:latin typeface="隶书" panose="02010509060101010101" pitchFamily="49" charset="-122"/>
                <a:ea typeface="隶书" panose="02010509060101010101" pitchFamily="49" charset="-122"/>
              </a:rPr>
              <a:t>、</a:t>
            </a:r>
            <a:r>
              <a:rPr lang="zh-CN" altLang="en-US" sz="3200" b="1" dirty="0">
                <a:solidFill>
                  <a:srgbClr val="92D050"/>
                </a:solidFill>
                <a:latin typeface="隶书" panose="02010509060101010101" pitchFamily="49" charset="-122"/>
                <a:ea typeface="隶书" panose="02010509060101010101" pitchFamily="49" charset="-122"/>
              </a:rPr>
              <a:t>函数形参</a:t>
            </a:r>
            <a:r>
              <a:rPr lang="zh-CN" altLang="en-US" sz="3200" b="1" dirty="0">
                <a:latin typeface="隶书" panose="02010509060101010101" pitchFamily="49" charset="-122"/>
                <a:ea typeface="隶书" panose="02010509060101010101" pitchFamily="49" charset="-122"/>
              </a:rPr>
              <a:t>、</a:t>
            </a:r>
            <a:r>
              <a:rPr lang="zh-CN" altLang="en-US" sz="3200" b="1" dirty="0">
                <a:solidFill>
                  <a:srgbClr val="92D050"/>
                </a:solidFill>
                <a:latin typeface="隶书" panose="02010509060101010101" pitchFamily="49" charset="-122"/>
                <a:ea typeface="隶书" panose="02010509060101010101" pitchFamily="49" charset="-122"/>
              </a:rPr>
              <a:t>所有函数外部</a:t>
            </a:r>
            <a:r>
              <a:rPr lang="zh-CN" altLang="en-US" sz="3200" b="1" dirty="0">
                <a:latin typeface="隶书" panose="02010509060101010101" pitchFamily="49" charset="-122"/>
                <a:ea typeface="隶书" panose="02010509060101010101" pitchFamily="49" charset="-122"/>
              </a:rPr>
              <a:t>（</a:t>
            </a:r>
            <a:r>
              <a:rPr lang="zh-CN" altLang="en-US" sz="3200" b="1" dirty="0">
                <a:solidFill>
                  <a:srgbClr val="92D050"/>
                </a:solidFill>
                <a:latin typeface="隶书" panose="02010509060101010101" pitchFamily="49" charset="-122"/>
                <a:ea typeface="隶书" panose="02010509060101010101" pitchFamily="49" charset="-122"/>
              </a:rPr>
              <a:t>文件内</a:t>
            </a:r>
            <a:r>
              <a:rPr lang="zh-CN" altLang="en-US" sz="3200" b="1" dirty="0">
                <a:latin typeface="隶书" panose="02010509060101010101" pitchFamily="49" charset="-122"/>
                <a:ea typeface="隶书" panose="02010509060101010101" pitchFamily="49" charset="-122"/>
              </a:rPr>
              <a:t>）。</a:t>
            </a:r>
            <a:endParaRPr lang="en-US" altLang="zh-CN" sz="3200" b="1" dirty="0">
              <a:latin typeface="隶书" panose="02010509060101010101" pitchFamily="49" charset="-122"/>
              <a:ea typeface="隶书" panose="02010509060101010101" pitchFamily="49" charset="-122"/>
            </a:endParaRPr>
          </a:p>
          <a:p>
            <a:pPr marL="720000" indent="-514350">
              <a:spcBef>
                <a:spcPts val="1200"/>
              </a:spcBef>
              <a:buFont typeface="+mj-ea"/>
              <a:buAutoNum type="circleNumDbPlain"/>
            </a:pPr>
            <a:r>
              <a:rPr lang="zh-CN" altLang="en-US" sz="3200" b="1" dirty="0">
                <a:solidFill>
                  <a:srgbClr val="00B0F0"/>
                </a:solidFill>
                <a:latin typeface="隶书" panose="02010509060101010101" pitchFamily="49" charset="-122"/>
                <a:ea typeface="隶书" panose="02010509060101010101" pitchFamily="49" charset="-122"/>
              </a:rPr>
              <a:t>生存期</a:t>
            </a:r>
            <a:r>
              <a:rPr lang="zh-CN" altLang="en-US" sz="3200" b="1" dirty="0">
                <a:latin typeface="隶书" panose="02010509060101010101" pitchFamily="49" charset="-122"/>
                <a:ea typeface="隶书" panose="02010509060101010101" pitchFamily="49" charset="-122"/>
              </a:rPr>
              <a:t>：变量的生存周期，即程序执行时变量存在的时间段</a:t>
            </a:r>
            <a:r>
              <a:rPr lang="en-US" altLang="zh-CN" sz="3200" b="1" dirty="0">
                <a:latin typeface="隶书" panose="02010509060101010101" pitchFamily="49" charset="-122"/>
                <a:ea typeface="隶书" panose="02010509060101010101" pitchFamily="49" charset="-122"/>
              </a:rPr>
              <a:t>(</a:t>
            </a:r>
            <a:r>
              <a:rPr lang="zh-CN" altLang="en-US" sz="3200" b="1" dirty="0">
                <a:latin typeface="隶书" panose="02010509060101010101" pitchFamily="49" charset="-122"/>
                <a:ea typeface="隶书" panose="02010509060101010101" pitchFamily="49" charset="-122"/>
              </a:rPr>
              <a:t>什么时间建立，什么时间消亡</a:t>
            </a:r>
            <a:r>
              <a:rPr lang="en-US" altLang="zh-CN" sz="3200" b="1" dirty="0">
                <a:latin typeface="隶书" panose="02010509060101010101" pitchFamily="49" charset="-122"/>
                <a:ea typeface="隶书" panose="02010509060101010101" pitchFamily="49" charset="-122"/>
              </a:rPr>
              <a:t>)</a:t>
            </a:r>
            <a:r>
              <a:rPr lang="zh-CN" altLang="en-US" sz="3200" b="1" dirty="0">
                <a:latin typeface="隶书" panose="02010509060101010101" pitchFamily="49" charset="-122"/>
                <a:ea typeface="隶书" panose="02010509060101010101" pitchFamily="49" charset="-122"/>
              </a:rPr>
              <a:t>。生存期由</a:t>
            </a:r>
            <a:r>
              <a:rPr lang="zh-CN" altLang="en-US" sz="3200" b="1" dirty="0">
                <a:solidFill>
                  <a:srgbClr val="C00000"/>
                </a:solidFill>
                <a:latin typeface="隶书" panose="02010509060101010101" pitchFamily="49" charset="-122"/>
                <a:ea typeface="隶书" panose="02010509060101010101" pitchFamily="49" charset="-122"/>
              </a:rPr>
              <a:t>变量的存储类型</a:t>
            </a:r>
            <a:r>
              <a:rPr lang="zh-CN" altLang="en-US" sz="3200" b="1" dirty="0">
                <a:latin typeface="隶书" panose="02010509060101010101" pitchFamily="49" charset="-122"/>
                <a:ea typeface="隶书" panose="02010509060101010101" pitchFamily="49" charset="-122"/>
              </a:rPr>
              <a:t>决定。</a:t>
            </a:r>
            <a:endParaRPr lang="en-US" altLang="zh-CN" sz="3200" b="1" dirty="0">
              <a:latin typeface="隶书" panose="02010509060101010101" pitchFamily="49" charset="-122"/>
              <a:ea typeface="隶书" panose="02010509060101010101" pitchFamily="49" charset="-122"/>
            </a:endParaRPr>
          </a:p>
          <a:p>
            <a:pPr marL="205650">
              <a:spcBef>
                <a:spcPts val="1200"/>
              </a:spcBef>
            </a:pPr>
            <a:r>
              <a:rPr lang="zh-CN" altLang="en-US" sz="2800" b="1" dirty="0">
                <a:solidFill>
                  <a:srgbClr val="FF0000"/>
                </a:solidFill>
                <a:latin typeface="隶书" pitchFamily="49" charset="-122"/>
              </a:rPr>
              <a:t>变量的存储类型</a:t>
            </a:r>
            <a:r>
              <a:rPr lang="zh-CN" altLang="en-US" sz="2800" b="1" dirty="0">
                <a:latin typeface="隶书" pitchFamily="49" charset="-122"/>
              </a:rPr>
              <a:t>分为</a:t>
            </a:r>
            <a:r>
              <a:rPr lang="zh-CN" altLang="en-US" sz="3200" b="1" dirty="0">
                <a:latin typeface="隶书" panose="02010509060101010101" pitchFamily="49" charset="-122"/>
                <a:ea typeface="隶书" panose="02010509060101010101" pitchFamily="49" charset="-122"/>
              </a:rPr>
              <a:t>：</a:t>
            </a:r>
            <a:r>
              <a:rPr lang="zh-CN" altLang="en-US" sz="3200" b="1" dirty="0">
                <a:solidFill>
                  <a:srgbClr val="92D050"/>
                </a:solidFill>
                <a:latin typeface="隶书" panose="02010509060101010101" pitchFamily="49" charset="-122"/>
                <a:ea typeface="隶书" panose="02010509060101010101" pitchFamily="49" charset="-122"/>
              </a:rPr>
              <a:t>静态存储变量</a:t>
            </a:r>
            <a:r>
              <a:rPr lang="zh-CN" altLang="en-US" sz="3200" b="1" dirty="0">
                <a:latin typeface="隶书" panose="02010509060101010101" pitchFamily="49" charset="-122"/>
                <a:ea typeface="隶书" panose="02010509060101010101" pitchFamily="49" charset="-122"/>
              </a:rPr>
              <a:t>和</a:t>
            </a:r>
            <a:r>
              <a:rPr lang="zh-CN" altLang="en-US" sz="3200" b="1" dirty="0">
                <a:solidFill>
                  <a:srgbClr val="92D050"/>
                </a:solidFill>
                <a:latin typeface="隶书" panose="02010509060101010101" pitchFamily="49" charset="-122"/>
                <a:ea typeface="隶书" panose="02010509060101010101" pitchFamily="49" charset="-122"/>
              </a:rPr>
              <a:t>动态存储变量</a:t>
            </a:r>
            <a:r>
              <a:rPr lang="zh-CN" altLang="en-US" sz="3200" b="1" dirty="0">
                <a:latin typeface="隶书" panose="02010509060101010101" pitchFamily="49" charset="-122"/>
                <a:ea typeface="隶书" panose="02010509060101010101" pitchFamily="49" charset="-122"/>
              </a:rPr>
              <a:t>。</a:t>
            </a:r>
          </a:p>
        </p:txBody>
      </p:sp>
      <p:grpSp>
        <p:nvGrpSpPr>
          <p:cNvPr id="2" name="组合 1">
            <a:extLst>
              <a:ext uri="{FF2B5EF4-FFF2-40B4-BE49-F238E27FC236}">
                <a16:creationId xmlns:a16="http://schemas.microsoft.com/office/drawing/2014/main" id="{5627BD54-BB57-4746-9ED4-C4AE1CBD4194}"/>
              </a:ext>
            </a:extLst>
          </p:cNvPr>
          <p:cNvGrpSpPr/>
          <p:nvPr/>
        </p:nvGrpSpPr>
        <p:grpSpPr>
          <a:xfrm>
            <a:off x="249118" y="4886199"/>
            <a:ext cx="11854651" cy="1432309"/>
            <a:chOff x="337349" y="4677653"/>
            <a:chExt cx="11854651" cy="1432309"/>
          </a:xfrm>
        </p:grpSpPr>
        <p:sp>
          <p:nvSpPr>
            <p:cNvPr id="5" name="文本框 4">
              <a:extLst>
                <a:ext uri="{FF2B5EF4-FFF2-40B4-BE49-F238E27FC236}">
                  <a16:creationId xmlns:a16="http://schemas.microsoft.com/office/drawing/2014/main" id="{31312B28-3B72-4B26-9DCE-667F77A210E9}"/>
                </a:ext>
              </a:extLst>
            </p:cNvPr>
            <p:cNvSpPr txBox="1"/>
            <p:nvPr/>
          </p:nvSpPr>
          <p:spPr>
            <a:xfrm>
              <a:off x="337349" y="4677653"/>
              <a:ext cx="11854651" cy="523220"/>
            </a:xfrm>
            <a:prstGeom prst="rect">
              <a:avLst/>
            </a:prstGeom>
            <a:noFill/>
          </p:spPr>
          <p:txBody>
            <a:bodyPr wrap="square" rtlCol="0">
              <a:spAutoFit/>
            </a:bodyPr>
            <a:lstStyle/>
            <a:p>
              <a:r>
                <a:rPr lang="zh-CN" altLang="en-US" sz="2800" b="1" dirty="0">
                  <a:solidFill>
                    <a:srgbClr val="0000FF"/>
                  </a:solidFill>
                  <a:latin typeface="隶书" pitchFamily="49" charset="-122"/>
                </a:rPr>
                <a:t>静态存储变量</a:t>
              </a:r>
              <a:r>
                <a:rPr lang="zh-CN" altLang="en-US" sz="2800" b="1" dirty="0">
                  <a:latin typeface="隶书" pitchFamily="49" charset="-122"/>
                </a:rPr>
                <a:t>：在程序运行开始至结束永久性存在并占用固定存储空间。</a:t>
              </a:r>
              <a:endParaRPr lang="en-US" altLang="zh-CN" sz="2800" b="1" dirty="0">
                <a:latin typeface="隶书" pitchFamily="49" charset="-122"/>
              </a:endParaRPr>
            </a:p>
          </p:txBody>
        </p:sp>
        <p:sp>
          <p:nvSpPr>
            <p:cNvPr id="6" name="文本框 5">
              <a:extLst>
                <a:ext uri="{FF2B5EF4-FFF2-40B4-BE49-F238E27FC236}">
                  <a16:creationId xmlns:a16="http://schemas.microsoft.com/office/drawing/2014/main" id="{845D866C-27BE-460A-B08C-BB2AD50727FE}"/>
                </a:ext>
              </a:extLst>
            </p:cNvPr>
            <p:cNvSpPr txBox="1"/>
            <p:nvPr/>
          </p:nvSpPr>
          <p:spPr>
            <a:xfrm>
              <a:off x="337350" y="5155855"/>
              <a:ext cx="11854650" cy="954107"/>
            </a:xfrm>
            <a:prstGeom prst="rect">
              <a:avLst/>
            </a:prstGeom>
            <a:noFill/>
          </p:spPr>
          <p:txBody>
            <a:bodyPr wrap="square" rtlCol="0">
              <a:spAutoFit/>
            </a:bodyPr>
            <a:lstStyle/>
            <a:p>
              <a:r>
                <a:rPr lang="zh-CN" altLang="en-US" sz="2800" b="1" dirty="0">
                  <a:solidFill>
                    <a:srgbClr val="0000FF"/>
                  </a:solidFill>
                  <a:latin typeface="隶书" pitchFamily="49" charset="-122"/>
                </a:rPr>
                <a:t>动态存储变量</a:t>
              </a:r>
              <a:r>
                <a:rPr lang="zh-CN" altLang="en-US" sz="2800" b="1" dirty="0">
                  <a:latin typeface="隶书" pitchFamily="49" charset="-122"/>
                </a:rPr>
                <a:t>：在程序运行期间根据需要临时建立并分配存储空间，使用结束后自动释放占用的存储空间并被立即销毁。</a:t>
              </a:r>
            </a:p>
          </p:txBody>
        </p:sp>
      </p:grpSp>
      <p:sp>
        <p:nvSpPr>
          <p:cNvPr id="4" name="灯片编号占位符 3">
            <a:extLst>
              <a:ext uri="{FF2B5EF4-FFF2-40B4-BE49-F238E27FC236}">
                <a16:creationId xmlns:a16="http://schemas.microsoft.com/office/drawing/2014/main" id="{8101A4DA-155F-415B-8E65-0475666E028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31</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60345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671EFA-0A5E-428F-8EC5-427DB36CC1B7}"/>
              </a:ext>
            </a:extLst>
          </p:cNvPr>
          <p:cNvSpPr txBox="1"/>
          <p:nvPr/>
        </p:nvSpPr>
        <p:spPr>
          <a:xfrm>
            <a:off x="2767050"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局部变量</a:t>
            </a:r>
            <a:endParaRPr lang="zh-CN" altLang="en-US" sz="3200" b="1" dirty="0">
              <a:solidFill>
                <a:srgbClr val="200AC4"/>
              </a:solidFill>
              <a:ea typeface="隶书" pitchFamily="49" charset="-122"/>
            </a:endParaRPr>
          </a:p>
        </p:txBody>
      </p:sp>
      <p:sp>
        <p:nvSpPr>
          <p:cNvPr id="5" name="矩形 4">
            <a:extLst>
              <a:ext uri="{FF2B5EF4-FFF2-40B4-BE49-F238E27FC236}">
                <a16:creationId xmlns:a16="http://schemas.microsoft.com/office/drawing/2014/main" id="{CF9221D9-670F-4BEA-8A07-2B40997A75C2}"/>
              </a:ext>
            </a:extLst>
          </p:cNvPr>
          <p:cNvSpPr/>
          <p:nvPr/>
        </p:nvSpPr>
        <p:spPr>
          <a:xfrm>
            <a:off x="0" y="586147"/>
            <a:ext cx="12158444" cy="1200329"/>
          </a:xfrm>
          <a:prstGeom prst="rect">
            <a:avLst/>
          </a:prstGeom>
        </p:spPr>
        <p:txBody>
          <a:bodyPr wrap="square">
            <a:spAutoFit/>
          </a:bodyPr>
          <a:lstStyle/>
          <a:p>
            <a:r>
              <a:rPr lang="zh-CN" altLang="en-US" sz="3600" dirty="0">
                <a:solidFill>
                  <a:srgbClr val="0070C0"/>
                </a:solidFill>
                <a:latin typeface="隶书" panose="02010509060101010101" pitchFamily="49" charset="-122"/>
                <a:ea typeface="隶书" panose="02010509060101010101" pitchFamily="49" charset="-122"/>
              </a:rPr>
              <a:t>局部变量</a:t>
            </a:r>
            <a:r>
              <a:rPr lang="zh-CN" altLang="en-US" sz="3600" dirty="0">
                <a:latin typeface="隶书" panose="02010509060101010101" pitchFamily="49" charset="-122"/>
                <a:ea typeface="隶书" panose="02010509060101010101" pitchFamily="49" charset="-122"/>
              </a:rPr>
              <a:t>：</a:t>
            </a:r>
            <a:r>
              <a:rPr lang="en-US" altLang="zh-CN" sz="3600" b="1" dirty="0">
                <a:solidFill>
                  <a:srgbClr val="FF0000"/>
                </a:solidFill>
                <a:latin typeface="隶书" panose="02010509060101010101" pitchFamily="49" charset="-122"/>
                <a:ea typeface="隶书" panose="02010509060101010101" pitchFamily="49" charset="-122"/>
              </a:rPr>
              <a:t>{</a:t>
            </a:r>
            <a:r>
              <a:rPr lang="zh-CN" altLang="en-US" sz="3600" dirty="0">
                <a:latin typeface="隶书" panose="02010509060101010101" pitchFamily="49" charset="-122"/>
                <a:ea typeface="隶书" panose="02010509060101010101" pitchFamily="49" charset="-122"/>
              </a:rPr>
              <a:t>程序块</a:t>
            </a:r>
            <a:r>
              <a:rPr lang="en-US" altLang="zh-CN" sz="3600" b="1" dirty="0">
                <a:solidFill>
                  <a:srgbClr val="FF0000"/>
                </a:solidFill>
                <a:latin typeface="隶书" panose="02010509060101010101" pitchFamily="49" charset="-122"/>
                <a:ea typeface="隶书" panose="02010509060101010101" pitchFamily="49" charset="-122"/>
              </a:rPr>
              <a:t>}</a:t>
            </a:r>
            <a:r>
              <a:rPr lang="zh-CN" altLang="en-US" sz="3600" dirty="0">
                <a:latin typeface="隶书" panose="02010509060101010101" pitchFamily="49" charset="-122"/>
                <a:ea typeface="隶书" panose="02010509060101010101" pitchFamily="49" charset="-122"/>
              </a:rPr>
              <a:t>内定义的变量。</a:t>
            </a:r>
            <a:endParaRPr lang="en-US" altLang="zh-CN" sz="3600" dirty="0">
              <a:latin typeface="隶书" panose="02010509060101010101" pitchFamily="49" charset="-122"/>
              <a:ea typeface="隶书" panose="02010509060101010101" pitchFamily="49" charset="-122"/>
            </a:endParaRPr>
          </a:p>
          <a:p>
            <a:r>
              <a:rPr lang="zh-CN" altLang="en-US" sz="3600" dirty="0">
                <a:solidFill>
                  <a:srgbClr val="0070C0"/>
                </a:solidFill>
                <a:latin typeface="隶书" panose="02010509060101010101" pitchFamily="49" charset="-122"/>
                <a:ea typeface="隶书" panose="02010509060101010101" pitchFamily="49" charset="-122"/>
              </a:rPr>
              <a:t>  作用域</a:t>
            </a:r>
            <a:r>
              <a:rPr lang="zh-CN" altLang="en-US" sz="3600" dirty="0">
                <a:latin typeface="隶书" panose="02010509060101010101" pitchFamily="49" charset="-122"/>
                <a:ea typeface="隶书" panose="02010509060101010101" pitchFamily="49" charset="-122"/>
              </a:rPr>
              <a:t>：从变量定义处到程序块结束处</a:t>
            </a:r>
            <a:r>
              <a:rPr lang="en-US" altLang="zh-CN" sz="3600" b="1" dirty="0">
                <a:solidFill>
                  <a:srgbClr val="FF0000"/>
                </a:solidFill>
                <a:latin typeface="隶书" panose="02010509060101010101" pitchFamily="49" charset="-122"/>
                <a:ea typeface="隶书" panose="02010509060101010101" pitchFamily="49" charset="-122"/>
              </a:rPr>
              <a:t>}</a:t>
            </a:r>
            <a:r>
              <a:rPr lang="zh-CN" altLang="en-US" sz="3600" dirty="0">
                <a:latin typeface="隶书" panose="02010509060101010101" pitchFamily="49" charset="-122"/>
                <a:ea typeface="隶书" panose="02010509060101010101" pitchFamily="49" charset="-122"/>
              </a:rPr>
              <a:t>。</a:t>
            </a:r>
            <a:endParaRPr lang="en-US" altLang="zh-CN" sz="3600" dirty="0">
              <a:latin typeface="隶书" panose="02010509060101010101" pitchFamily="49" charset="-122"/>
              <a:ea typeface="隶书" panose="02010509060101010101" pitchFamily="49" charset="-122"/>
            </a:endParaRPr>
          </a:p>
        </p:txBody>
      </p:sp>
      <p:sp>
        <p:nvSpPr>
          <p:cNvPr id="6" name="文本框 5">
            <a:extLst>
              <a:ext uri="{FF2B5EF4-FFF2-40B4-BE49-F238E27FC236}">
                <a16:creationId xmlns:a16="http://schemas.microsoft.com/office/drawing/2014/main" id="{83689BFD-C9BC-47CE-893E-11AF1AA63F80}"/>
              </a:ext>
            </a:extLst>
          </p:cNvPr>
          <p:cNvSpPr txBox="1"/>
          <p:nvPr/>
        </p:nvSpPr>
        <p:spPr>
          <a:xfrm>
            <a:off x="0" y="1880863"/>
            <a:ext cx="12158444" cy="584775"/>
          </a:xfrm>
          <a:prstGeom prst="rect">
            <a:avLst/>
          </a:prstGeom>
          <a:noFill/>
        </p:spPr>
        <p:txBody>
          <a:bodyPr wrap="square" rtlCol="0">
            <a:spAutoFit/>
          </a:bodyPr>
          <a:lstStyle/>
          <a:p>
            <a:r>
              <a:rPr lang="zh-CN" altLang="en-US" sz="2800" b="1" dirty="0">
                <a:solidFill>
                  <a:srgbClr val="0000FF"/>
                </a:solidFill>
                <a:latin typeface="隶书" pitchFamily="49" charset="-122"/>
              </a:rPr>
              <a:t>函数内部定义的局部变量</a:t>
            </a:r>
            <a:r>
              <a:rPr lang="zh-CN" altLang="en-US" sz="2800" b="1" dirty="0">
                <a:latin typeface="隶书" pitchFamily="49" charset="-122"/>
              </a:rPr>
              <a:t>：</a:t>
            </a:r>
            <a:r>
              <a:rPr lang="zh-CN" altLang="en-US" sz="2800" b="1" dirty="0">
                <a:solidFill>
                  <a:srgbClr val="FFC000"/>
                </a:solidFill>
                <a:latin typeface="隶书" pitchFamily="49" charset="-122"/>
              </a:rPr>
              <a:t>作用域</a:t>
            </a:r>
            <a:r>
              <a:rPr lang="zh-CN" altLang="en-US" sz="2800" b="1" dirty="0">
                <a:latin typeface="隶书" pitchFamily="49" charset="-122"/>
              </a:rPr>
              <a:t>从变量定义处到函数体结束标志</a:t>
            </a:r>
            <a:r>
              <a:rPr lang="en-US" altLang="zh-CN" sz="3200" b="1" dirty="0">
                <a:solidFill>
                  <a:srgbClr val="FF0000"/>
                </a:solidFill>
                <a:latin typeface="隶书" panose="02010509060101010101" pitchFamily="49" charset="-122"/>
                <a:ea typeface="隶书" panose="02010509060101010101" pitchFamily="49" charset="-122"/>
              </a:rPr>
              <a:t>}</a:t>
            </a:r>
            <a:r>
              <a:rPr lang="zh-CN" altLang="en-US" sz="2800" b="1" dirty="0">
                <a:latin typeface="隶书" pitchFamily="49" charset="-122"/>
              </a:rPr>
              <a:t>。</a:t>
            </a:r>
            <a:endParaRPr lang="en-US" altLang="zh-CN" sz="2800" b="1" dirty="0">
              <a:latin typeface="隶书" pitchFamily="49" charset="-122"/>
            </a:endParaRPr>
          </a:p>
        </p:txBody>
      </p:sp>
      <p:sp>
        <p:nvSpPr>
          <p:cNvPr id="7" name="文本框 6">
            <a:extLst>
              <a:ext uri="{FF2B5EF4-FFF2-40B4-BE49-F238E27FC236}">
                <a16:creationId xmlns:a16="http://schemas.microsoft.com/office/drawing/2014/main" id="{386B243C-25FB-40DC-9987-A43047CCD9C8}"/>
              </a:ext>
            </a:extLst>
          </p:cNvPr>
          <p:cNvSpPr txBox="1"/>
          <p:nvPr/>
        </p:nvSpPr>
        <p:spPr>
          <a:xfrm>
            <a:off x="8878" y="2428161"/>
            <a:ext cx="12158444" cy="523220"/>
          </a:xfrm>
          <a:prstGeom prst="rect">
            <a:avLst/>
          </a:prstGeom>
          <a:noFill/>
        </p:spPr>
        <p:txBody>
          <a:bodyPr wrap="square" rtlCol="0">
            <a:spAutoFit/>
          </a:bodyPr>
          <a:lstStyle/>
          <a:p>
            <a:r>
              <a:rPr lang="zh-CN" altLang="en-US" sz="2800" b="1" dirty="0">
                <a:solidFill>
                  <a:srgbClr val="0000FF"/>
                </a:solidFill>
                <a:latin typeface="隶书" pitchFamily="49" charset="-122"/>
              </a:rPr>
              <a:t>        函数的形参变量</a:t>
            </a:r>
            <a:r>
              <a:rPr lang="zh-CN" altLang="en-US" sz="2800" b="1" dirty="0">
                <a:latin typeface="隶书" pitchFamily="49" charset="-122"/>
              </a:rPr>
              <a:t>：</a:t>
            </a:r>
            <a:r>
              <a:rPr lang="zh-CN" altLang="en-US" sz="2800" b="1" dirty="0">
                <a:solidFill>
                  <a:srgbClr val="FFC000"/>
                </a:solidFill>
                <a:latin typeface="隶书" pitchFamily="49" charset="-122"/>
              </a:rPr>
              <a:t>作用域</a:t>
            </a:r>
            <a:r>
              <a:rPr lang="zh-CN" altLang="en-US" sz="2800" b="1" dirty="0">
                <a:latin typeface="隶书" pitchFamily="49" charset="-122"/>
              </a:rPr>
              <a:t>为整个函数体内部。</a:t>
            </a:r>
            <a:endParaRPr lang="en-US" altLang="zh-CN" sz="2800" b="1" dirty="0">
              <a:latin typeface="隶书" pitchFamily="49" charset="-122"/>
            </a:endParaRPr>
          </a:p>
        </p:txBody>
      </p:sp>
      <p:sp>
        <p:nvSpPr>
          <p:cNvPr id="8" name="文本框 7">
            <a:extLst>
              <a:ext uri="{FF2B5EF4-FFF2-40B4-BE49-F238E27FC236}">
                <a16:creationId xmlns:a16="http://schemas.microsoft.com/office/drawing/2014/main" id="{CFF9A233-73EA-45C0-975A-03903FFDE382}"/>
              </a:ext>
            </a:extLst>
          </p:cNvPr>
          <p:cNvSpPr txBox="1"/>
          <p:nvPr/>
        </p:nvSpPr>
        <p:spPr>
          <a:xfrm>
            <a:off x="8878" y="2919379"/>
            <a:ext cx="12183122" cy="3600986"/>
          </a:xfrm>
          <a:prstGeom prst="rect">
            <a:avLst/>
          </a:prstGeom>
          <a:noFill/>
        </p:spPr>
        <p:txBody>
          <a:bodyPr wrap="square" rtlCol="0">
            <a:spAutoFit/>
          </a:bodyPr>
          <a:lstStyle/>
          <a:p>
            <a:r>
              <a:rPr lang="zh-CN" altLang="en-US" sz="3600" dirty="0">
                <a:solidFill>
                  <a:srgbClr val="00B0F0"/>
                </a:solidFill>
                <a:latin typeface="隶书" panose="02010509060101010101" pitchFamily="49" charset="-122"/>
                <a:ea typeface="隶书" panose="02010509060101010101" pitchFamily="49" charset="-122"/>
              </a:rPr>
              <a:t>局部变量的特点：</a:t>
            </a:r>
            <a:endParaRPr lang="en-US" altLang="zh-CN" sz="3600" dirty="0">
              <a:solidFill>
                <a:srgbClr val="00B0F0"/>
              </a:solidFill>
              <a:latin typeface="隶书" panose="02010509060101010101" pitchFamily="49" charset="-122"/>
              <a:ea typeface="隶书" panose="02010509060101010101" pitchFamily="49" charset="-122"/>
            </a:endParaRPr>
          </a:p>
          <a:p>
            <a:pPr marL="342900" indent="-342900">
              <a:buFont typeface="+mj-ea"/>
              <a:buAutoNum type="circleNumDbPlain"/>
            </a:pPr>
            <a:r>
              <a:rPr lang="zh-CN" altLang="en-US" sz="3200" dirty="0">
                <a:solidFill>
                  <a:srgbClr val="0070C0"/>
                </a:solidFill>
                <a:latin typeface="隶书" panose="02010509060101010101" pitchFamily="49" charset="-122"/>
                <a:ea typeface="隶书" panose="02010509060101010101" pitchFamily="49" charset="-122"/>
              </a:rPr>
              <a:t>只能在其作用内使用，在作用域外不可见。</a:t>
            </a:r>
            <a:endParaRPr lang="en-US" altLang="zh-CN" sz="3200" dirty="0">
              <a:solidFill>
                <a:srgbClr val="0070C0"/>
              </a:solidFill>
              <a:latin typeface="隶书" panose="02010509060101010101" pitchFamily="49" charset="-122"/>
              <a:ea typeface="隶书" panose="02010509060101010101" pitchFamily="49" charset="-122"/>
            </a:endParaRPr>
          </a:p>
          <a:p>
            <a:pPr marL="342900" indent="-342900">
              <a:buFont typeface="+mj-ea"/>
              <a:buAutoNum type="circleNumDbPlain"/>
            </a:pPr>
            <a:r>
              <a:rPr lang="zh-CN" altLang="en-US" sz="3200" dirty="0">
                <a:solidFill>
                  <a:srgbClr val="0070C0"/>
                </a:solidFill>
                <a:latin typeface="隶书" panose="02010509060101010101" pitchFamily="49" charset="-122"/>
                <a:ea typeface="隶书" panose="02010509060101010101" pitchFamily="49" charset="-122"/>
              </a:rPr>
              <a:t>在程序执行到它所在程序块的定义处时自动创建并为其分配内存空间，一旦程序执行到它所在程序块结束处，自动释放其占用的内存空间并被立即销毁。</a:t>
            </a:r>
            <a:endParaRPr lang="en-US" altLang="zh-CN" sz="3200" dirty="0">
              <a:solidFill>
                <a:srgbClr val="0070C0"/>
              </a:solidFill>
              <a:latin typeface="隶书" panose="02010509060101010101" pitchFamily="49" charset="-122"/>
              <a:ea typeface="隶书" panose="02010509060101010101" pitchFamily="49" charset="-122"/>
            </a:endParaRPr>
          </a:p>
          <a:p>
            <a:pPr marL="342900" indent="-342900">
              <a:buFont typeface="+mj-ea"/>
              <a:buAutoNum type="circleNumDbPlain"/>
            </a:pPr>
            <a:r>
              <a:rPr lang="zh-CN" altLang="en-US" sz="3200" dirty="0">
                <a:solidFill>
                  <a:srgbClr val="0070C0"/>
                </a:solidFill>
                <a:latin typeface="隶书" panose="02010509060101010101" pitchFamily="49" charset="-122"/>
                <a:ea typeface="隶书" panose="02010509060101010101" pitchFamily="49" charset="-122"/>
              </a:rPr>
              <a:t>在不同程序块内可以定义同名的局部变量，它们代表不同的对象，互不影响。</a:t>
            </a:r>
          </a:p>
        </p:txBody>
      </p:sp>
      <p:sp>
        <p:nvSpPr>
          <p:cNvPr id="3" name="灯片编号占位符 2">
            <a:extLst>
              <a:ext uri="{FF2B5EF4-FFF2-40B4-BE49-F238E27FC236}">
                <a16:creationId xmlns:a16="http://schemas.microsoft.com/office/drawing/2014/main" id="{D4D27A29-0163-44C5-8B58-734F0ABA0C13}"/>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32</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190086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671EFA-0A5E-428F-8EC5-427DB36CC1B7}"/>
              </a:ext>
            </a:extLst>
          </p:cNvPr>
          <p:cNvSpPr txBox="1"/>
          <p:nvPr/>
        </p:nvSpPr>
        <p:spPr>
          <a:xfrm>
            <a:off x="2767050"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局部变量</a:t>
            </a:r>
            <a:endParaRPr lang="zh-CN" altLang="en-US" sz="3200" b="1" dirty="0">
              <a:solidFill>
                <a:srgbClr val="200AC4"/>
              </a:solidFill>
              <a:ea typeface="隶书" pitchFamily="49" charset="-122"/>
            </a:endParaRPr>
          </a:p>
        </p:txBody>
      </p:sp>
      <p:sp>
        <p:nvSpPr>
          <p:cNvPr id="9" name="Rectangle 2">
            <a:extLst>
              <a:ext uri="{FF2B5EF4-FFF2-40B4-BE49-F238E27FC236}">
                <a16:creationId xmlns:a16="http://schemas.microsoft.com/office/drawing/2014/main" id="{DF668962-B1A4-4929-8E59-6CD3EDDF7EF0}"/>
              </a:ext>
            </a:extLst>
          </p:cNvPr>
          <p:cNvSpPr txBox="1">
            <a:spLocks noChangeArrowheads="1"/>
          </p:cNvSpPr>
          <p:nvPr/>
        </p:nvSpPr>
        <p:spPr>
          <a:xfrm>
            <a:off x="52067" y="635930"/>
            <a:ext cx="6117914" cy="612475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func1</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func2</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y = 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100;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solidFill>
                <a:srgbClr val="FF0000"/>
              </a:solidFill>
            </a:endParaRPr>
          </a:p>
        </p:txBody>
      </p:sp>
      <p:sp>
        <p:nvSpPr>
          <p:cNvPr id="10" name="Rectangle 2">
            <a:extLst>
              <a:ext uri="{FF2B5EF4-FFF2-40B4-BE49-F238E27FC236}">
                <a16:creationId xmlns:a16="http://schemas.microsoft.com/office/drawing/2014/main" id="{8739BFB3-63DB-4C13-855F-13496D54A05B}"/>
              </a:ext>
            </a:extLst>
          </p:cNvPr>
          <p:cNvSpPr txBox="1">
            <a:spLocks noChangeArrowheads="1"/>
          </p:cNvSpPr>
          <p:nvPr/>
        </p:nvSpPr>
        <p:spPr>
          <a:xfrm>
            <a:off x="6268926" y="635930"/>
            <a:ext cx="5923074" cy="612475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endPar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20;</a:t>
            </a: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d\n</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x);</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x);</a:t>
            </a:r>
          </a:p>
          <a:p>
            <a:pPr marL="0" indent="0">
              <a:lnSpc>
                <a:spcPct val="100000"/>
              </a:lnSpc>
              <a:spcBef>
                <a:spcPct val="0"/>
              </a:spcBef>
              <a:buClr>
                <a:schemeClr val="tx2"/>
              </a:buClr>
              <a:buSzPct val="70000"/>
              <a:buNone/>
            </a:pP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grpSp>
        <p:nvGrpSpPr>
          <p:cNvPr id="12" name="组合 11">
            <a:extLst>
              <a:ext uri="{FF2B5EF4-FFF2-40B4-BE49-F238E27FC236}">
                <a16:creationId xmlns:a16="http://schemas.microsoft.com/office/drawing/2014/main" id="{2F3EB01F-D401-4995-B1F2-C7907048AEF6}"/>
              </a:ext>
            </a:extLst>
          </p:cNvPr>
          <p:cNvGrpSpPr/>
          <p:nvPr/>
        </p:nvGrpSpPr>
        <p:grpSpPr>
          <a:xfrm>
            <a:off x="1996145" y="1802167"/>
            <a:ext cx="3074406" cy="1083076"/>
            <a:chOff x="1996145" y="1802167"/>
            <a:chExt cx="3074406" cy="1083076"/>
          </a:xfrm>
        </p:grpSpPr>
        <p:sp>
          <p:nvSpPr>
            <p:cNvPr id="11" name="文本框 10">
              <a:extLst>
                <a:ext uri="{FF2B5EF4-FFF2-40B4-BE49-F238E27FC236}">
                  <a16:creationId xmlns:a16="http://schemas.microsoft.com/office/drawing/2014/main" id="{D1E50875-A962-458F-9E89-3AA98430A802}"/>
                </a:ext>
              </a:extLst>
            </p:cNvPr>
            <p:cNvSpPr txBox="1"/>
            <p:nvPr/>
          </p:nvSpPr>
          <p:spPr>
            <a:xfrm>
              <a:off x="2287417" y="2096893"/>
              <a:ext cx="2783134" cy="461665"/>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局部变量</a:t>
              </a:r>
              <a:r>
                <a:rPr lang="en-US" altLang="zh-CN" sz="2400" dirty="0">
                  <a:solidFill>
                    <a:srgbClr val="0070C0"/>
                  </a:solidFill>
                  <a:latin typeface="华文新魏" panose="02010800040101010101" pitchFamily="2" charset="-122"/>
                  <a:ea typeface="华文新魏" panose="02010800040101010101" pitchFamily="2" charset="-122"/>
                </a:rPr>
                <a:t>x</a:t>
              </a:r>
              <a:r>
                <a:rPr lang="zh-CN" altLang="en-US" sz="2400" dirty="0">
                  <a:solidFill>
                    <a:srgbClr val="0070C0"/>
                  </a:solidFill>
                  <a:latin typeface="华文新魏" panose="02010800040101010101" pitchFamily="2" charset="-122"/>
                  <a:ea typeface="华文新魏" panose="02010800040101010101" pitchFamily="2" charset="-122"/>
                </a:rPr>
                <a:t>的作用域</a:t>
              </a:r>
            </a:p>
          </p:txBody>
        </p:sp>
        <p:sp>
          <p:nvSpPr>
            <p:cNvPr id="3" name="右大括号 2">
              <a:extLst>
                <a:ext uri="{FF2B5EF4-FFF2-40B4-BE49-F238E27FC236}">
                  <a16:creationId xmlns:a16="http://schemas.microsoft.com/office/drawing/2014/main" id="{700E1C5A-37F6-4D8B-A8D3-EF4FB3B70883}"/>
                </a:ext>
              </a:extLst>
            </p:cNvPr>
            <p:cNvSpPr/>
            <p:nvPr/>
          </p:nvSpPr>
          <p:spPr>
            <a:xfrm>
              <a:off x="1996145" y="1802167"/>
              <a:ext cx="256000" cy="1083076"/>
            </a:xfrm>
            <a:prstGeom prst="rightBrace">
              <a:avLst>
                <a:gd name="adj1" fmla="val 46479"/>
                <a:gd name="adj2" fmla="val 4918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347AF536-E6F9-40D2-8320-3E6C39D5DE32}"/>
              </a:ext>
            </a:extLst>
          </p:cNvPr>
          <p:cNvGrpSpPr/>
          <p:nvPr/>
        </p:nvGrpSpPr>
        <p:grpSpPr>
          <a:xfrm>
            <a:off x="2707207" y="4768789"/>
            <a:ext cx="3561719" cy="1083076"/>
            <a:chOff x="1996145" y="1802167"/>
            <a:chExt cx="3561719" cy="1083076"/>
          </a:xfrm>
        </p:grpSpPr>
        <p:sp>
          <p:nvSpPr>
            <p:cNvPr id="22" name="右大括号 21">
              <a:extLst>
                <a:ext uri="{FF2B5EF4-FFF2-40B4-BE49-F238E27FC236}">
                  <a16:creationId xmlns:a16="http://schemas.microsoft.com/office/drawing/2014/main" id="{8DE2810B-4F8F-461D-836D-8583AD0E1637}"/>
                </a:ext>
              </a:extLst>
            </p:cNvPr>
            <p:cNvSpPr/>
            <p:nvPr/>
          </p:nvSpPr>
          <p:spPr>
            <a:xfrm>
              <a:off x="1996145" y="1802167"/>
              <a:ext cx="256000" cy="1083076"/>
            </a:xfrm>
            <a:prstGeom prst="rightBrace">
              <a:avLst>
                <a:gd name="adj1" fmla="val 46479"/>
                <a:gd name="adj2" fmla="val 4918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C64955F9-83DB-48A0-A4A9-8C6B947852C2}"/>
                </a:ext>
              </a:extLst>
            </p:cNvPr>
            <p:cNvSpPr txBox="1"/>
            <p:nvPr/>
          </p:nvSpPr>
          <p:spPr>
            <a:xfrm>
              <a:off x="2287417" y="2096893"/>
              <a:ext cx="3270447" cy="461665"/>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局部变量</a:t>
              </a:r>
              <a:r>
                <a:rPr lang="en-US" altLang="zh-CN" sz="2400" dirty="0">
                  <a:solidFill>
                    <a:srgbClr val="0070C0"/>
                  </a:solidFill>
                  <a:latin typeface="华文新魏" panose="02010800040101010101" pitchFamily="2" charset="-122"/>
                  <a:ea typeface="华文新魏" panose="02010800040101010101" pitchFamily="2" charset="-122"/>
                </a:rPr>
                <a:t>x</a:t>
              </a:r>
              <a:r>
                <a:rPr lang="zh-CN" altLang="en-US" sz="2400" dirty="0">
                  <a:solidFill>
                    <a:srgbClr val="0070C0"/>
                  </a:solidFill>
                  <a:latin typeface="华文新魏" panose="02010800040101010101" pitchFamily="2" charset="-122"/>
                  <a:ea typeface="华文新魏" panose="02010800040101010101" pitchFamily="2" charset="-122"/>
                </a:rPr>
                <a:t>、</a:t>
              </a:r>
              <a:r>
                <a:rPr lang="en-US" altLang="zh-CN" sz="2400" dirty="0">
                  <a:solidFill>
                    <a:srgbClr val="0070C0"/>
                  </a:solidFill>
                  <a:latin typeface="华文新魏" panose="02010800040101010101" pitchFamily="2" charset="-122"/>
                  <a:ea typeface="华文新魏" panose="02010800040101010101" pitchFamily="2" charset="-122"/>
                </a:rPr>
                <a:t>y</a:t>
              </a:r>
              <a:r>
                <a:rPr lang="zh-CN" altLang="en-US" sz="2400" dirty="0">
                  <a:solidFill>
                    <a:srgbClr val="0070C0"/>
                  </a:solidFill>
                  <a:latin typeface="华文新魏" panose="02010800040101010101" pitchFamily="2" charset="-122"/>
                  <a:ea typeface="华文新魏" panose="02010800040101010101" pitchFamily="2" charset="-122"/>
                </a:rPr>
                <a:t>的作用域</a:t>
              </a:r>
            </a:p>
          </p:txBody>
        </p:sp>
      </p:grpSp>
      <p:sp>
        <p:nvSpPr>
          <p:cNvPr id="5" name="灯片编号占位符 4">
            <a:extLst>
              <a:ext uri="{FF2B5EF4-FFF2-40B4-BE49-F238E27FC236}">
                <a16:creationId xmlns:a16="http://schemas.microsoft.com/office/drawing/2014/main" id="{735B2B5C-6424-47F2-A26C-BD588A46B74B}"/>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33</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6089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9389F9E-D6CD-48C7-9A25-65986C6E0988}"/>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6-11</a:t>
            </a:r>
            <a:r>
              <a:rPr lang="en-US" altLang="zh-CN" sz="2800" b="1" dirty="0">
                <a:latin typeface="隶书" pitchFamily="49" charset="-122"/>
              </a:rPr>
              <a:t>】</a:t>
            </a:r>
            <a:r>
              <a:rPr lang="zh-CN" altLang="en-US" sz="2800" b="1" dirty="0">
                <a:latin typeface="隶书" pitchFamily="49" charset="-122"/>
              </a:rPr>
              <a:t>分析下面程序运行的结果。</a:t>
            </a:r>
            <a:endParaRPr lang="en-US" altLang="zh-CN" sz="2800" b="1" dirty="0">
              <a:latin typeface="隶书" pitchFamily="49" charset="-122"/>
            </a:endParaRPr>
          </a:p>
        </p:txBody>
      </p:sp>
      <p:sp>
        <p:nvSpPr>
          <p:cNvPr id="4" name="Rectangle 2">
            <a:extLst>
              <a:ext uri="{FF2B5EF4-FFF2-40B4-BE49-F238E27FC236}">
                <a16:creationId xmlns:a16="http://schemas.microsoft.com/office/drawing/2014/main" id="{ECFFCA15-B6AD-4591-B597-DE9FF388DA80}"/>
              </a:ext>
            </a:extLst>
          </p:cNvPr>
          <p:cNvSpPr txBox="1">
            <a:spLocks noChangeArrowheads="1"/>
          </p:cNvSpPr>
          <p:nvPr/>
        </p:nvSpPr>
        <p:spPr>
          <a:xfrm>
            <a:off x="347078" y="1124896"/>
            <a:ext cx="5310281" cy="569386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200, y = 100;</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(x &gt; y)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temp = x;</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y;</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y = temp;</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cs typeface="Times New Roman" panose="02020603050405020304" pitchFamily="18" charset="0"/>
              </a:rPr>
              <a:t>        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 </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temp);</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x, y);</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5" name="文本框 4">
            <a:extLst>
              <a:ext uri="{FF2B5EF4-FFF2-40B4-BE49-F238E27FC236}">
                <a16:creationId xmlns:a16="http://schemas.microsoft.com/office/drawing/2014/main" id="{580EC234-9DCE-4507-8303-23337A4F3C83}"/>
              </a:ext>
            </a:extLst>
          </p:cNvPr>
          <p:cNvSpPr txBox="1"/>
          <p:nvPr/>
        </p:nvSpPr>
        <p:spPr>
          <a:xfrm>
            <a:off x="2767050"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局部变量</a:t>
            </a:r>
            <a:endParaRPr lang="zh-CN" altLang="en-US" sz="3200" b="1" dirty="0">
              <a:solidFill>
                <a:srgbClr val="200AC4"/>
              </a:solidFill>
              <a:ea typeface="隶书" pitchFamily="49" charset="-122"/>
            </a:endParaRPr>
          </a:p>
        </p:txBody>
      </p:sp>
      <p:sp>
        <p:nvSpPr>
          <p:cNvPr id="6" name="Rectangle 2">
            <a:extLst>
              <a:ext uri="{FF2B5EF4-FFF2-40B4-BE49-F238E27FC236}">
                <a16:creationId xmlns:a16="http://schemas.microsoft.com/office/drawing/2014/main" id="{1DA38D69-C710-430A-8D11-4AFF1E5AC5FD}"/>
              </a:ext>
            </a:extLst>
          </p:cNvPr>
          <p:cNvSpPr txBox="1">
            <a:spLocks noChangeArrowheads="1"/>
          </p:cNvSpPr>
          <p:nvPr/>
        </p:nvSpPr>
        <p:spPr>
          <a:xfrm>
            <a:off x="5733725" y="1124896"/>
            <a:ext cx="5310281" cy="569386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200, y = 100;</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(x &gt; y)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temp = x;</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x = y;</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y = temp;</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 </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temp);</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printf(</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Malgun Gothic" panose="020B0503020000020004" pitchFamily="34" charset="-127"/>
                <a:ea typeface="Malgun Gothic" panose="020B0503020000020004" pitchFamily="34" charset="-127"/>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x, y);</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139CED08-3752-4193-99DE-A77230FAB49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34</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6873811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78C7132-C96D-4364-8A5E-A6A0D7CB3E5B}"/>
              </a:ext>
            </a:extLst>
          </p:cNvPr>
          <p:cNvSpPr txBox="1"/>
          <p:nvPr/>
        </p:nvSpPr>
        <p:spPr>
          <a:xfrm>
            <a:off x="2767050"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全局变量</a:t>
            </a:r>
            <a:endParaRPr lang="zh-CN" altLang="en-US" sz="3200" b="1" dirty="0">
              <a:solidFill>
                <a:srgbClr val="200AC4"/>
              </a:solidFill>
              <a:ea typeface="隶书" pitchFamily="49" charset="-122"/>
            </a:endParaRPr>
          </a:p>
        </p:txBody>
      </p:sp>
      <p:sp>
        <p:nvSpPr>
          <p:cNvPr id="5" name="矩形 4">
            <a:extLst>
              <a:ext uri="{FF2B5EF4-FFF2-40B4-BE49-F238E27FC236}">
                <a16:creationId xmlns:a16="http://schemas.microsoft.com/office/drawing/2014/main" id="{E3E1991C-E534-4EB8-BE76-B8E53C576D4F}"/>
              </a:ext>
            </a:extLst>
          </p:cNvPr>
          <p:cNvSpPr/>
          <p:nvPr/>
        </p:nvSpPr>
        <p:spPr>
          <a:xfrm>
            <a:off x="0" y="586147"/>
            <a:ext cx="12158444" cy="1200329"/>
          </a:xfrm>
          <a:prstGeom prst="rect">
            <a:avLst/>
          </a:prstGeom>
        </p:spPr>
        <p:txBody>
          <a:bodyPr wrap="square">
            <a:spAutoFit/>
          </a:bodyPr>
          <a:lstStyle/>
          <a:p>
            <a:r>
              <a:rPr lang="zh-CN" altLang="en-US" sz="3600" dirty="0">
                <a:solidFill>
                  <a:srgbClr val="0070C0"/>
                </a:solidFill>
                <a:latin typeface="隶书" panose="02010509060101010101" pitchFamily="49" charset="-122"/>
                <a:ea typeface="隶书" panose="02010509060101010101" pitchFamily="49" charset="-122"/>
              </a:rPr>
              <a:t>全局变量</a:t>
            </a:r>
            <a:r>
              <a:rPr lang="zh-CN" altLang="en-US" sz="3600" dirty="0">
                <a:latin typeface="隶书" panose="02010509060101010101" pitchFamily="49" charset="-122"/>
                <a:ea typeface="隶书" panose="02010509060101010101" pitchFamily="49" charset="-122"/>
              </a:rPr>
              <a:t>：所有函数外定义的变量。</a:t>
            </a:r>
            <a:endParaRPr lang="en-US" altLang="zh-CN" sz="3600" dirty="0">
              <a:latin typeface="隶书" panose="02010509060101010101" pitchFamily="49" charset="-122"/>
              <a:ea typeface="隶书" panose="02010509060101010101" pitchFamily="49" charset="-122"/>
            </a:endParaRPr>
          </a:p>
          <a:p>
            <a:r>
              <a:rPr lang="zh-CN" altLang="en-US" sz="3600" dirty="0">
                <a:solidFill>
                  <a:srgbClr val="0070C0"/>
                </a:solidFill>
                <a:latin typeface="隶书" panose="02010509060101010101" pitchFamily="49" charset="-122"/>
                <a:ea typeface="隶书" panose="02010509060101010101" pitchFamily="49" charset="-122"/>
              </a:rPr>
              <a:t>  作用域</a:t>
            </a:r>
            <a:r>
              <a:rPr lang="zh-CN" altLang="en-US" sz="3600" dirty="0">
                <a:latin typeface="隶书" panose="02010509060101010101" pitchFamily="49" charset="-122"/>
                <a:ea typeface="隶书" panose="02010509060101010101" pitchFamily="49" charset="-122"/>
              </a:rPr>
              <a:t>：从变量定义处开始到其所在源程序文件结尾处。</a:t>
            </a:r>
            <a:endParaRPr lang="en-US" altLang="zh-CN" sz="3600" dirty="0">
              <a:latin typeface="隶书" panose="02010509060101010101" pitchFamily="49" charset="-122"/>
              <a:ea typeface="隶书" panose="02010509060101010101" pitchFamily="49" charset="-122"/>
            </a:endParaRPr>
          </a:p>
        </p:txBody>
      </p:sp>
      <p:sp>
        <p:nvSpPr>
          <p:cNvPr id="7" name="文本框 6">
            <a:extLst>
              <a:ext uri="{FF2B5EF4-FFF2-40B4-BE49-F238E27FC236}">
                <a16:creationId xmlns:a16="http://schemas.microsoft.com/office/drawing/2014/main" id="{13A2DF17-869C-4DFA-AB9C-7B992F5C13A4}"/>
              </a:ext>
            </a:extLst>
          </p:cNvPr>
          <p:cNvSpPr txBox="1"/>
          <p:nvPr/>
        </p:nvSpPr>
        <p:spPr>
          <a:xfrm>
            <a:off x="8878" y="1996098"/>
            <a:ext cx="12183122" cy="2616101"/>
          </a:xfrm>
          <a:prstGeom prst="rect">
            <a:avLst/>
          </a:prstGeom>
          <a:noFill/>
        </p:spPr>
        <p:txBody>
          <a:bodyPr wrap="square" rtlCol="0">
            <a:spAutoFit/>
          </a:bodyPr>
          <a:lstStyle/>
          <a:p>
            <a:r>
              <a:rPr lang="zh-CN" altLang="en-US" sz="3600" dirty="0">
                <a:solidFill>
                  <a:srgbClr val="00B0F0"/>
                </a:solidFill>
                <a:latin typeface="隶书" panose="02010509060101010101" pitchFamily="49" charset="-122"/>
                <a:ea typeface="隶书" panose="02010509060101010101" pitchFamily="49" charset="-122"/>
              </a:rPr>
              <a:t>全局变量的特点：</a:t>
            </a:r>
            <a:endParaRPr lang="en-US" altLang="zh-CN" sz="3600" dirty="0">
              <a:solidFill>
                <a:srgbClr val="00B0F0"/>
              </a:solidFill>
              <a:latin typeface="隶书" panose="02010509060101010101" pitchFamily="49" charset="-122"/>
              <a:ea typeface="隶书" panose="02010509060101010101" pitchFamily="49" charset="-122"/>
            </a:endParaRPr>
          </a:p>
          <a:p>
            <a:pPr marL="342900" indent="-342900">
              <a:buFont typeface="+mj-ea"/>
              <a:buAutoNum type="circleNumDbPlain"/>
            </a:pPr>
            <a:r>
              <a:rPr lang="zh-CN" altLang="en-US" sz="3200" dirty="0">
                <a:solidFill>
                  <a:srgbClr val="0070C0"/>
                </a:solidFill>
                <a:latin typeface="隶书" panose="02010509060101010101" pitchFamily="49" charset="-122"/>
                <a:ea typeface="隶书" panose="02010509060101010101" pitchFamily="49" charset="-122"/>
              </a:rPr>
              <a:t>在不同函数之间共享数据。</a:t>
            </a:r>
            <a:endParaRPr lang="en-US" altLang="zh-CN" sz="3200" dirty="0">
              <a:solidFill>
                <a:srgbClr val="0070C0"/>
              </a:solidFill>
              <a:latin typeface="隶书" panose="02010509060101010101" pitchFamily="49" charset="-122"/>
              <a:ea typeface="隶书" panose="02010509060101010101" pitchFamily="49" charset="-122"/>
            </a:endParaRPr>
          </a:p>
          <a:p>
            <a:pPr marL="342900" indent="-342900">
              <a:buFont typeface="+mj-ea"/>
              <a:buAutoNum type="circleNumDbPlain"/>
            </a:pPr>
            <a:r>
              <a:rPr lang="zh-CN" altLang="en-US" sz="3200" dirty="0">
                <a:solidFill>
                  <a:srgbClr val="0070C0"/>
                </a:solidFill>
                <a:latin typeface="隶书" panose="02010509060101010101" pitchFamily="49" charset="-122"/>
                <a:ea typeface="隶书" panose="02010509060101010101" pitchFamily="49" charset="-122"/>
              </a:rPr>
              <a:t>全局变量在定义时或不进行初始化，系统将自动对其初始化。数值类型全局变量自动初始化为</a:t>
            </a:r>
            <a:r>
              <a:rPr lang="en-US" altLang="zh-CN" sz="3200" dirty="0">
                <a:solidFill>
                  <a:srgbClr val="0070C0"/>
                </a:solidFill>
                <a:latin typeface="隶书" panose="02010509060101010101" pitchFamily="49" charset="-122"/>
                <a:ea typeface="隶书" panose="02010509060101010101" pitchFamily="49" charset="-122"/>
              </a:rPr>
              <a:t>0</a:t>
            </a:r>
            <a:r>
              <a:rPr lang="zh-CN" altLang="en-US" sz="3200" dirty="0">
                <a:solidFill>
                  <a:srgbClr val="0070C0"/>
                </a:solidFill>
                <a:latin typeface="隶书" panose="02010509060101010101" pitchFamily="49" charset="-122"/>
                <a:ea typeface="隶书" panose="02010509060101010101" pitchFamily="49" charset="-122"/>
              </a:rPr>
              <a:t>，字符类型全局变量自动初始化为</a:t>
            </a:r>
            <a:r>
              <a:rPr lang="en-US" altLang="zh-CN" sz="3200" dirty="0">
                <a:solidFill>
                  <a:srgbClr val="00B050"/>
                </a:solidFill>
                <a:latin typeface="Consolas" panose="020B0609020204030204" pitchFamily="49" charset="0"/>
                <a:ea typeface="隶书" panose="02010509060101010101" pitchFamily="49" charset="-122"/>
              </a:rPr>
              <a:t>'</a:t>
            </a:r>
            <a:r>
              <a:rPr lang="en-US" altLang="zh-CN" sz="3200" dirty="0">
                <a:solidFill>
                  <a:srgbClr val="00B050"/>
                </a:solidFill>
                <a:latin typeface="隶书" panose="02010509060101010101" pitchFamily="49" charset="-122"/>
                <a:ea typeface="隶书" panose="02010509060101010101" pitchFamily="49" charset="-122"/>
              </a:rPr>
              <a:t>\0</a:t>
            </a:r>
            <a:r>
              <a:rPr lang="en-US" altLang="zh-CN" sz="3200" dirty="0">
                <a:solidFill>
                  <a:srgbClr val="00B050"/>
                </a:solidFill>
                <a:latin typeface="Consolas" panose="020B0609020204030204" pitchFamily="49" charset="0"/>
                <a:ea typeface="隶书" panose="02010509060101010101" pitchFamily="49" charset="-122"/>
              </a:rPr>
              <a:t>'</a:t>
            </a:r>
            <a:r>
              <a:rPr lang="zh-CN" altLang="en-US" sz="3200" dirty="0">
                <a:solidFill>
                  <a:srgbClr val="0070C0"/>
                </a:solidFill>
                <a:latin typeface="隶书" panose="02010509060101010101" pitchFamily="49" charset="-122"/>
                <a:ea typeface="隶书" panose="02010509060101010101" pitchFamily="49" charset="-122"/>
              </a:rPr>
              <a:t>。</a:t>
            </a:r>
            <a:endParaRPr lang="en-US" altLang="zh-CN" sz="3200" dirty="0">
              <a:solidFill>
                <a:srgbClr val="0070C0"/>
              </a:solidFill>
              <a:latin typeface="隶书" panose="02010509060101010101" pitchFamily="49" charset="-122"/>
              <a:ea typeface="隶书" panose="02010509060101010101" pitchFamily="49" charset="-122"/>
            </a:endParaRPr>
          </a:p>
        </p:txBody>
      </p:sp>
      <p:sp>
        <p:nvSpPr>
          <p:cNvPr id="3" name="灯片编号占位符 2">
            <a:extLst>
              <a:ext uri="{FF2B5EF4-FFF2-40B4-BE49-F238E27FC236}">
                <a16:creationId xmlns:a16="http://schemas.microsoft.com/office/drawing/2014/main" id="{1B0F2092-8253-4A0A-A00A-0DFF9A5424C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35</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4786813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407A2B8-4075-48D0-8A00-27361EBFB8B7}"/>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6-12</a:t>
            </a:r>
            <a:r>
              <a:rPr lang="en-US" altLang="zh-CN" sz="2800" b="1" dirty="0">
                <a:latin typeface="隶书" pitchFamily="49" charset="-122"/>
              </a:rPr>
              <a:t>】</a:t>
            </a:r>
            <a:r>
              <a:rPr lang="zh-CN" altLang="en-US" sz="2800" b="1" dirty="0">
                <a:latin typeface="隶书" pitchFamily="49" charset="-122"/>
              </a:rPr>
              <a:t>编写一个函数，求出</a:t>
            </a:r>
            <a:r>
              <a:rPr lang="en-US" altLang="zh-CN" sz="2800" b="1" dirty="0">
                <a:latin typeface="隶书" pitchFamily="49" charset="-122"/>
              </a:rPr>
              <a:t>10</a:t>
            </a:r>
            <a:r>
              <a:rPr lang="zh-CN" altLang="en-US" sz="2800" b="1" dirty="0">
                <a:latin typeface="隶书" pitchFamily="49" charset="-122"/>
              </a:rPr>
              <a:t>名学生成绩的最高分、最低分和平均值。</a:t>
            </a:r>
            <a:endParaRPr lang="en-US" altLang="zh-CN" sz="2800" b="1" dirty="0">
              <a:latin typeface="隶书" pitchFamily="49" charset="-122"/>
            </a:endParaRPr>
          </a:p>
        </p:txBody>
      </p:sp>
      <p:sp>
        <p:nvSpPr>
          <p:cNvPr id="4" name="Rectangle 2">
            <a:extLst>
              <a:ext uri="{FF2B5EF4-FFF2-40B4-BE49-F238E27FC236}">
                <a16:creationId xmlns:a16="http://schemas.microsoft.com/office/drawing/2014/main" id="{60966986-7C40-404C-80EF-945CBA80D0C1}"/>
              </a:ext>
            </a:extLst>
          </p:cNvPr>
          <p:cNvSpPr txBox="1">
            <a:spLocks noChangeArrowheads="1"/>
          </p:cNvSpPr>
          <p:nvPr/>
        </p:nvSpPr>
        <p:spPr>
          <a:xfrm>
            <a:off x="347078" y="1124896"/>
            <a:ext cx="5310281" cy="569386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min;</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scoreStatics</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score</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10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avg = 0.0</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0; i &lt; 10; 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score</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i</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avg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scoreStatics</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.1f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min, avg);</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5" name="文本框 4">
            <a:extLst>
              <a:ext uri="{FF2B5EF4-FFF2-40B4-BE49-F238E27FC236}">
                <a16:creationId xmlns:a16="http://schemas.microsoft.com/office/drawing/2014/main" id="{E4D3B9F5-DFFB-4EBA-B417-7F46309E04E3}"/>
              </a:ext>
            </a:extLst>
          </p:cNvPr>
          <p:cNvSpPr txBox="1"/>
          <p:nvPr/>
        </p:nvSpPr>
        <p:spPr>
          <a:xfrm>
            <a:off x="2767050"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全局变量</a:t>
            </a:r>
            <a:endParaRPr lang="zh-CN" altLang="en-US" sz="3200" b="1" dirty="0">
              <a:solidFill>
                <a:srgbClr val="200AC4"/>
              </a:solidFill>
              <a:ea typeface="隶书" pitchFamily="49" charset="-122"/>
            </a:endParaRPr>
          </a:p>
        </p:txBody>
      </p:sp>
      <p:sp>
        <p:nvSpPr>
          <p:cNvPr id="6" name="Rectangle 2">
            <a:extLst>
              <a:ext uri="{FF2B5EF4-FFF2-40B4-BE49-F238E27FC236}">
                <a16:creationId xmlns:a16="http://schemas.microsoft.com/office/drawing/2014/main" id="{B31D62C6-DD29-4AF2-9D6A-ED49D4A1E40E}"/>
              </a:ext>
            </a:extLst>
          </p:cNvPr>
          <p:cNvSpPr txBox="1">
            <a:spLocks noChangeArrowheads="1"/>
          </p:cNvSpPr>
          <p:nvPr/>
        </p:nvSpPr>
        <p:spPr>
          <a:xfrm>
            <a:off x="5766976" y="1519745"/>
            <a:ext cx="5854217"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scoreStatics</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 = 0.0</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min =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0; i &lt; n; i++)</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sum +=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 &gt; max) max = s[i];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 &lt; min) min =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 / n;</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5B8DCA87-918B-496B-9B42-8EB82A98BCA1}"/>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36</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4194569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407A2B8-4075-48D0-8A00-27361EBFB8B7}"/>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6-12</a:t>
            </a:r>
            <a:r>
              <a:rPr lang="en-US" altLang="zh-CN" sz="2800" b="1" dirty="0">
                <a:latin typeface="隶书" pitchFamily="49" charset="-122"/>
              </a:rPr>
              <a:t>】</a:t>
            </a:r>
            <a:r>
              <a:rPr lang="zh-CN" altLang="en-US" sz="2800" b="1" dirty="0">
                <a:latin typeface="隶书" pitchFamily="49" charset="-122"/>
              </a:rPr>
              <a:t>编写一个函数，求出</a:t>
            </a:r>
            <a:r>
              <a:rPr lang="en-US" altLang="zh-CN" sz="2800" b="1" dirty="0">
                <a:latin typeface="隶书" pitchFamily="49" charset="-122"/>
              </a:rPr>
              <a:t>10</a:t>
            </a:r>
            <a:r>
              <a:rPr lang="zh-CN" altLang="en-US" sz="2800" b="1" dirty="0">
                <a:latin typeface="隶书" pitchFamily="49" charset="-122"/>
              </a:rPr>
              <a:t>名学生成绩的最高分、最低分和平均值。</a:t>
            </a:r>
            <a:endParaRPr lang="en-US" altLang="zh-CN" sz="2800" b="1" dirty="0">
              <a:latin typeface="隶书" pitchFamily="49" charset="-122"/>
            </a:endParaRPr>
          </a:p>
        </p:txBody>
      </p:sp>
      <p:sp>
        <p:nvSpPr>
          <p:cNvPr id="5" name="文本框 4">
            <a:extLst>
              <a:ext uri="{FF2B5EF4-FFF2-40B4-BE49-F238E27FC236}">
                <a16:creationId xmlns:a16="http://schemas.microsoft.com/office/drawing/2014/main" id="{E4D3B9F5-DFFB-4EBA-B417-7F46309E04E3}"/>
              </a:ext>
            </a:extLst>
          </p:cNvPr>
          <p:cNvSpPr txBox="1"/>
          <p:nvPr/>
        </p:nvSpPr>
        <p:spPr>
          <a:xfrm>
            <a:off x="2767050"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全局变量</a:t>
            </a:r>
            <a:endParaRPr lang="zh-CN" altLang="en-US" sz="3200" b="1" dirty="0">
              <a:solidFill>
                <a:srgbClr val="200AC4"/>
              </a:solidFill>
              <a:ea typeface="隶书" pitchFamily="49" charset="-122"/>
            </a:endParaRPr>
          </a:p>
        </p:txBody>
      </p:sp>
      <p:sp>
        <p:nvSpPr>
          <p:cNvPr id="6" name="Rectangle 2">
            <a:extLst>
              <a:ext uri="{FF2B5EF4-FFF2-40B4-BE49-F238E27FC236}">
                <a16:creationId xmlns:a16="http://schemas.microsoft.com/office/drawing/2014/main" id="{B31D62C6-DD29-4AF2-9D6A-ED49D4A1E40E}"/>
              </a:ext>
            </a:extLst>
          </p:cNvPr>
          <p:cNvSpPr txBox="1">
            <a:spLocks noChangeArrowheads="1"/>
          </p:cNvSpPr>
          <p:nvPr/>
        </p:nvSpPr>
        <p:spPr>
          <a:xfrm>
            <a:off x="6829524" y="1126072"/>
            <a:ext cx="5324296"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scoreStatics</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ea typeface="等线" panose="02010600030101010101" pitchFamily="2" charset="-122"/>
                <a:cs typeface="Times New Roman" panose="02020603050405020304" pitchFamily="18" charset="0"/>
              </a:rPr>
              <a:t>max</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ea typeface="等线" panose="02010600030101010101" pitchFamily="2" charset="-122"/>
                <a:cs typeface="Times New Roman" panose="02020603050405020304" pitchFamily="18" charset="0"/>
              </a:rPr>
              <a:t>min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 = 0.0</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 min = s;</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0; i &lt; n; i++)</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sum +=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 &gt; </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max) max = s+i;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(s+i) &lt; </a:t>
            </a:r>
            <a:r>
              <a:rPr lang="en-US" altLang="zh-CN" b="1" dirty="0">
                <a:solidFill>
                  <a:srgbClr val="FF0000"/>
                </a:solidFill>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min) min = s+i;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 / n;</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4" name="Rectangle 2">
            <a:extLst>
              <a:ext uri="{FF2B5EF4-FFF2-40B4-BE49-F238E27FC236}">
                <a16:creationId xmlns:a16="http://schemas.microsoft.com/office/drawing/2014/main" id="{60966986-7C40-404C-80EF-945CBA80D0C1}"/>
              </a:ext>
            </a:extLst>
          </p:cNvPr>
          <p:cNvSpPr txBox="1">
            <a:spLocks noChangeArrowheads="1"/>
          </p:cNvSpPr>
          <p:nvPr/>
        </p:nvSpPr>
        <p:spPr>
          <a:xfrm>
            <a:off x="16778" y="1126073"/>
            <a:ext cx="6791345"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scoreStatics</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float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float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score</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10</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min, avg = 0.0</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0; i &lt; 10; 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score</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i</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avg =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scoreStatics</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10, &amp;max, &amp;min);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.1f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max, min, avg);</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2892D803-59DF-4C6D-9508-CBD1B4B9D03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37</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228515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77CB852E-52A7-423B-AE80-32CEB8EB47F1}"/>
              </a:ext>
            </a:extLst>
          </p:cNvPr>
          <p:cNvSpPr txBox="1"/>
          <p:nvPr/>
        </p:nvSpPr>
        <p:spPr>
          <a:xfrm>
            <a:off x="0" y="599350"/>
            <a:ext cx="12192000" cy="954107"/>
          </a:xfrm>
          <a:prstGeom prst="rect">
            <a:avLst/>
          </a:prstGeom>
          <a:noFill/>
        </p:spPr>
        <p:txBody>
          <a:bodyPr wrap="square" rtlCol="0">
            <a:spAutoFit/>
          </a:bodyPr>
          <a:lstStyle/>
          <a:p>
            <a:r>
              <a:rPr lang="zh-CN" altLang="en-US" sz="2800" b="1" dirty="0">
                <a:latin typeface="隶书" pitchFamily="49" charset="-122"/>
              </a:rPr>
              <a:t>程序在运行之前需要装载到内存，根据不同的使用目的，程序在内存中的存储区域主要有：</a:t>
            </a:r>
          </a:p>
        </p:txBody>
      </p:sp>
      <p:sp>
        <p:nvSpPr>
          <p:cNvPr id="3" name="文本框 2">
            <a:extLst>
              <a:ext uri="{FF2B5EF4-FFF2-40B4-BE49-F238E27FC236}">
                <a16:creationId xmlns:a16="http://schemas.microsoft.com/office/drawing/2014/main" id="{A1E04A79-D822-4055-A114-72FECEC0B122}"/>
              </a:ext>
            </a:extLst>
          </p:cNvPr>
          <p:cNvSpPr txBox="1"/>
          <p:nvPr/>
        </p:nvSpPr>
        <p:spPr>
          <a:xfrm>
            <a:off x="3141116"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程序内存映像</a:t>
            </a:r>
            <a:endParaRPr lang="zh-CN" altLang="en-US" sz="3200" b="1" dirty="0">
              <a:solidFill>
                <a:srgbClr val="200AC4"/>
              </a:solidFill>
              <a:ea typeface="隶书" pitchFamily="49" charset="-122"/>
            </a:endParaRPr>
          </a:p>
        </p:txBody>
      </p:sp>
      <p:grpSp>
        <p:nvGrpSpPr>
          <p:cNvPr id="34" name="组合 33">
            <a:extLst>
              <a:ext uri="{FF2B5EF4-FFF2-40B4-BE49-F238E27FC236}">
                <a16:creationId xmlns:a16="http://schemas.microsoft.com/office/drawing/2014/main" id="{82D38297-0155-4820-AD4F-B39F76E6F0BE}"/>
              </a:ext>
            </a:extLst>
          </p:cNvPr>
          <p:cNvGrpSpPr/>
          <p:nvPr/>
        </p:nvGrpSpPr>
        <p:grpSpPr>
          <a:xfrm>
            <a:off x="2771398" y="1197731"/>
            <a:ext cx="8014750" cy="5262018"/>
            <a:chOff x="2771398" y="1080165"/>
            <a:chExt cx="8014750" cy="5262018"/>
          </a:xfrm>
        </p:grpSpPr>
        <p:sp>
          <p:nvSpPr>
            <p:cNvPr id="4" name="矩形 3">
              <a:extLst>
                <a:ext uri="{FF2B5EF4-FFF2-40B4-BE49-F238E27FC236}">
                  <a16:creationId xmlns:a16="http://schemas.microsoft.com/office/drawing/2014/main" id="{569BFEBD-A97B-483C-BC0D-B864A3425E98}"/>
                </a:ext>
              </a:extLst>
            </p:cNvPr>
            <p:cNvSpPr/>
            <p:nvPr/>
          </p:nvSpPr>
          <p:spPr>
            <a:xfrm>
              <a:off x="4451466" y="1442258"/>
              <a:ext cx="2352502" cy="45345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89BC56A-084E-4240-ABDD-32DDDE80B946}"/>
                </a:ext>
              </a:extLst>
            </p:cNvPr>
            <p:cNvSpPr/>
            <p:nvPr/>
          </p:nvSpPr>
          <p:spPr>
            <a:xfrm>
              <a:off x="4451466" y="5333983"/>
              <a:ext cx="2352502" cy="6428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隶书" panose="02010509060101010101" pitchFamily="49" charset="-122"/>
                  <a:ea typeface="隶书" panose="02010509060101010101" pitchFamily="49" charset="-122"/>
                </a:rPr>
                <a:t>代码段</a:t>
              </a:r>
            </a:p>
          </p:txBody>
        </p:sp>
        <p:sp>
          <p:nvSpPr>
            <p:cNvPr id="7" name="矩形 6">
              <a:extLst>
                <a:ext uri="{FF2B5EF4-FFF2-40B4-BE49-F238E27FC236}">
                  <a16:creationId xmlns:a16="http://schemas.microsoft.com/office/drawing/2014/main" id="{28B9373B-6470-4E32-91F5-6ECDFFE276BC}"/>
                </a:ext>
              </a:extLst>
            </p:cNvPr>
            <p:cNvSpPr/>
            <p:nvPr/>
          </p:nvSpPr>
          <p:spPr>
            <a:xfrm>
              <a:off x="4451466" y="4789503"/>
              <a:ext cx="2352502" cy="5444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隶书" panose="02010509060101010101" pitchFamily="49" charset="-122"/>
                  <a:ea typeface="隶书" panose="02010509060101010101" pitchFamily="49" charset="-122"/>
                </a:rPr>
                <a:t>常量存储区</a:t>
              </a:r>
            </a:p>
          </p:txBody>
        </p:sp>
        <p:sp>
          <p:nvSpPr>
            <p:cNvPr id="8" name="矩形 7">
              <a:extLst>
                <a:ext uri="{FF2B5EF4-FFF2-40B4-BE49-F238E27FC236}">
                  <a16:creationId xmlns:a16="http://schemas.microsoft.com/office/drawing/2014/main" id="{B87AA05B-57C9-473A-89AB-905B81E4A829}"/>
                </a:ext>
              </a:extLst>
            </p:cNvPr>
            <p:cNvSpPr/>
            <p:nvPr/>
          </p:nvSpPr>
          <p:spPr>
            <a:xfrm>
              <a:off x="4451466" y="4243647"/>
              <a:ext cx="2352502" cy="5444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隶书" panose="02010509060101010101" pitchFamily="49" charset="-122"/>
                  <a:ea typeface="隶书" panose="02010509060101010101" pitchFamily="49" charset="-122"/>
                </a:rPr>
                <a:t>静态存储区</a:t>
              </a:r>
              <a:endParaRPr lang="zh-CN" altLang="en-US" sz="2800" dirty="0">
                <a:latin typeface="隶书" panose="02010509060101010101" pitchFamily="49" charset="-122"/>
                <a:ea typeface="隶书" panose="02010509060101010101" pitchFamily="49" charset="-122"/>
              </a:endParaRPr>
            </a:p>
          </p:txBody>
        </p:sp>
        <p:sp>
          <p:nvSpPr>
            <p:cNvPr id="9" name="矩形 8">
              <a:extLst>
                <a:ext uri="{FF2B5EF4-FFF2-40B4-BE49-F238E27FC236}">
                  <a16:creationId xmlns:a16="http://schemas.microsoft.com/office/drawing/2014/main" id="{04BC5DE3-7E9D-4D76-974B-685E499EA514}"/>
                </a:ext>
              </a:extLst>
            </p:cNvPr>
            <p:cNvSpPr/>
            <p:nvPr/>
          </p:nvSpPr>
          <p:spPr>
            <a:xfrm>
              <a:off x="4451466" y="1440881"/>
              <a:ext cx="2352502" cy="423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隶书" panose="02010509060101010101" pitchFamily="49" charset="-122"/>
                  <a:ea typeface="隶书" panose="02010509060101010101" pitchFamily="49" charset="-122"/>
                </a:rPr>
                <a:t>预留存储区</a:t>
              </a:r>
              <a:endParaRPr lang="zh-CN" altLang="en-US" sz="2800" dirty="0">
                <a:latin typeface="隶书" panose="02010509060101010101" pitchFamily="49" charset="-122"/>
                <a:ea typeface="隶书" panose="02010509060101010101" pitchFamily="49" charset="-122"/>
              </a:endParaRPr>
            </a:p>
          </p:txBody>
        </p:sp>
        <p:sp>
          <p:nvSpPr>
            <p:cNvPr id="10" name="矩形 9">
              <a:extLst>
                <a:ext uri="{FF2B5EF4-FFF2-40B4-BE49-F238E27FC236}">
                  <a16:creationId xmlns:a16="http://schemas.microsoft.com/office/drawing/2014/main" id="{A3C8BC17-3D24-4D25-BB7C-519A0C6E4DD0}"/>
                </a:ext>
              </a:extLst>
            </p:cNvPr>
            <p:cNvSpPr/>
            <p:nvPr/>
          </p:nvSpPr>
          <p:spPr>
            <a:xfrm>
              <a:off x="4451466" y="1861855"/>
              <a:ext cx="2352502" cy="63038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隶书" panose="02010509060101010101" pitchFamily="49" charset="-122"/>
                  <a:ea typeface="隶书" panose="02010509060101010101" pitchFamily="49" charset="-122"/>
                </a:rPr>
                <a:t>栈</a:t>
              </a:r>
              <a:endParaRPr lang="zh-CN" altLang="en-US" sz="2800" dirty="0">
                <a:latin typeface="隶书" panose="02010509060101010101" pitchFamily="49" charset="-122"/>
                <a:ea typeface="隶书" panose="02010509060101010101" pitchFamily="49" charset="-122"/>
              </a:endParaRPr>
            </a:p>
          </p:txBody>
        </p:sp>
        <p:sp>
          <p:nvSpPr>
            <p:cNvPr id="11" name="矩形 10">
              <a:extLst>
                <a:ext uri="{FF2B5EF4-FFF2-40B4-BE49-F238E27FC236}">
                  <a16:creationId xmlns:a16="http://schemas.microsoft.com/office/drawing/2014/main" id="{75C1ABA5-BB89-4740-8FC7-1F6DAF1AA3AA}"/>
                </a:ext>
              </a:extLst>
            </p:cNvPr>
            <p:cNvSpPr/>
            <p:nvPr/>
          </p:nvSpPr>
          <p:spPr>
            <a:xfrm>
              <a:off x="4451466" y="3616239"/>
              <a:ext cx="2352502" cy="63038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隶书" panose="02010509060101010101" pitchFamily="49" charset="-122"/>
                  <a:ea typeface="隶书" panose="02010509060101010101" pitchFamily="49" charset="-122"/>
                </a:rPr>
                <a:t>堆</a:t>
              </a:r>
              <a:endParaRPr lang="zh-CN" altLang="en-US" sz="2800" dirty="0">
                <a:latin typeface="隶书" panose="02010509060101010101" pitchFamily="49" charset="-122"/>
                <a:ea typeface="隶书" panose="02010509060101010101" pitchFamily="49" charset="-122"/>
              </a:endParaRPr>
            </a:p>
          </p:txBody>
        </p:sp>
        <p:sp>
          <p:nvSpPr>
            <p:cNvPr id="12" name="文本框 11">
              <a:extLst>
                <a:ext uri="{FF2B5EF4-FFF2-40B4-BE49-F238E27FC236}">
                  <a16:creationId xmlns:a16="http://schemas.microsoft.com/office/drawing/2014/main" id="{9FE454A2-E48D-4C12-9D46-609F21AECFA8}"/>
                </a:ext>
              </a:extLst>
            </p:cNvPr>
            <p:cNvSpPr txBox="1"/>
            <p:nvPr/>
          </p:nvSpPr>
          <p:spPr>
            <a:xfrm>
              <a:off x="5073719" y="1080165"/>
              <a:ext cx="1107996" cy="369332"/>
            </a:xfrm>
            <a:prstGeom prst="rect">
              <a:avLst/>
            </a:prstGeom>
            <a:noFill/>
          </p:spPr>
          <p:txBody>
            <a:bodyPr wrap="none" rtlCol="0">
              <a:spAutoFit/>
            </a:bodyPr>
            <a:lstStyle/>
            <a:p>
              <a:r>
                <a:rPr lang="zh-CN" altLang="en-US" dirty="0">
                  <a:latin typeface="华文隶书" panose="02010800040101010101" pitchFamily="2" charset="-122"/>
                  <a:ea typeface="华文隶书" panose="02010800040101010101" pitchFamily="2" charset="-122"/>
                </a:rPr>
                <a:t>高地址端</a:t>
              </a:r>
            </a:p>
          </p:txBody>
        </p:sp>
        <p:sp>
          <p:nvSpPr>
            <p:cNvPr id="13" name="文本框 12">
              <a:extLst>
                <a:ext uri="{FF2B5EF4-FFF2-40B4-BE49-F238E27FC236}">
                  <a16:creationId xmlns:a16="http://schemas.microsoft.com/office/drawing/2014/main" id="{61D4E3CC-C7F8-4D4B-8746-3858CF77A081}"/>
                </a:ext>
              </a:extLst>
            </p:cNvPr>
            <p:cNvSpPr txBox="1"/>
            <p:nvPr/>
          </p:nvSpPr>
          <p:spPr>
            <a:xfrm>
              <a:off x="5073719" y="5972851"/>
              <a:ext cx="1107996" cy="369332"/>
            </a:xfrm>
            <a:prstGeom prst="rect">
              <a:avLst/>
            </a:prstGeom>
            <a:noFill/>
          </p:spPr>
          <p:txBody>
            <a:bodyPr wrap="none" rtlCol="0">
              <a:spAutoFit/>
            </a:bodyPr>
            <a:lstStyle/>
            <a:p>
              <a:r>
                <a:rPr lang="zh-CN" altLang="en-US" dirty="0">
                  <a:latin typeface="华文隶书" panose="02010800040101010101" pitchFamily="2" charset="-122"/>
                  <a:ea typeface="华文隶书" panose="02010800040101010101" pitchFamily="2" charset="-122"/>
                </a:rPr>
                <a:t>低地址端</a:t>
              </a:r>
            </a:p>
          </p:txBody>
        </p:sp>
        <p:cxnSp>
          <p:nvCxnSpPr>
            <p:cNvPr id="15" name="直接箭头连接符 14">
              <a:extLst>
                <a:ext uri="{FF2B5EF4-FFF2-40B4-BE49-F238E27FC236}">
                  <a16:creationId xmlns:a16="http://schemas.microsoft.com/office/drawing/2014/main" id="{2EB2B9C4-F138-47C5-A589-54A80FE0E3B0}"/>
                </a:ext>
              </a:extLst>
            </p:cNvPr>
            <p:cNvCxnSpPr>
              <a:cxnSpLocks/>
              <a:stCxn id="10" idx="2"/>
            </p:cNvCxnSpPr>
            <p:nvPr/>
          </p:nvCxnSpPr>
          <p:spPr>
            <a:xfrm>
              <a:off x="5627717" y="2492240"/>
              <a:ext cx="0" cy="416423"/>
            </a:xfrm>
            <a:prstGeom prst="straightConnector1">
              <a:avLst/>
            </a:prstGeom>
            <a:ln w="22225">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5A1551D-6A6C-4D2C-9F41-AFE2FBA643C6}"/>
                </a:ext>
              </a:extLst>
            </p:cNvPr>
            <p:cNvCxnSpPr>
              <a:cxnSpLocks/>
            </p:cNvCxnSpPr>
            <p:nvPr/>
          </p:nvCxnSpPr>
          <p:spPr>
            <a:xfrm flipV="1">
              <a:off x="5627717" y="3217817"/>
              <a:ext cx="0" cy="387532"/>
            </a:xfrm>
            <a:prstGeom prst="straightConnector1">
              <a:avLst/>
            </a:prstGeom>
            <a:ln w="22225">
              <a:headEnd type="none"/>
              <a:tailEnd type="stealth" w="lg" len="lg"/>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0B149F26-98BE-4E4B-B557-3FC0493D3541}"/>
                </a:ext>
              </a:extLst>
            </p:cNvPr>
            <p:cNvGrpSpPr/>
            <p:nvPr/>
          </p:nvGrpSpPr>
          <p:grpSpPr>
            <a:xfrm>
              <a:off x="2771398" y="4788126"/>
              <a:ext cx="1582887" cy="1184725"/>
              <a:chOff x="2771398" y="4788126"/>
              <a:chExt cx="1582887" cy="1184725"/>
            </a:xfrm>
          </p:grpSpPr>
          <p:sp>
            <p:nvSpPr>
              <p:cNvPr id="21" name="左大括号 20">
                <a:extLst>
                  <a:ext uri="{FF2B5EF4-FFF2-40B4-BE49-F238E27FC236}">
                    <a16:creationId xmlns:a16="http://schemas.microsoft.com/office/drawing/2014/main" id="{0610383D-CC67-4A6E-846D-33A344621A52}"/>
                  </a:ext>
                </a:extLst>
              </p:cNvPr>
              <p:cNvSpPr/>
              <p:nvPr/>
            </p:nvSpPr>
            <p:spPr>
              <a:xfrm>
                <a:off x="4101736" y="4788126"/>
                <a:ext cx="252549" cy="1184725"/>
              </a:xfrm>
              <a:prstGeom prst="leftBrace">
                <a:avLst>
                  <a:gd name="adj1" fmla="val 88861"/>
                  <a:gd name="adj2" fmla="val 49265"/>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7790741F-FE37-4DD0-AB0E-B8950EDA3E7C}"/>
                  </a:ext>
                </a:extLst>
              </p:cNvPr>
              <p:cNvSpPr txBox="1"/>
              <p:nvPr/>
            </p:nvSpPr>
            <p:spPr>
              <a:xfrm>
                <a:off x="2771398" y="5191468"/>
                <a:ext cx="1356462" cy="369332"/>
              </a:xfrm>
              <a:prstGeom prst="rect">
                <a:avLst/>
              </a:prstGeom>
              <a:noFill/>
            </p:spPr>
            <p:txBody>
              <a:bodyPr wrap="none" rtlCol="0">
                <a:spAutoFit/>
              </a:bodyPr>
              <a:lstStyle/>
              <a:p>
                <a:r>
                  <a:rPr lang="zh-CN" altLang="en-US" dirty="0">
                    <a:solidFill>
                      <a:srgbClr val="0070C0"/>
                    </a:solidFill>
                  </a:rPr>
                  <a:t>只读存储区</a:t>
                </a:r>
              </a:p>
            </p:txBody>
          </p:sp>
        </p:grpSp>
        <p:grpSp>
          <p:nvGrpSpPr>
            <p:cNvPr id="24" name="组合 23">
              <a:extLst>
                <a:ext uri="{FF2B5EF4-FFF2-40B4-BE49-F238E27FC236}">
                  <a16:creationId xmlns:a16="http://schemas.microsoft.com/office/drawing/2014/main" id="{7762DBBF-7398-4F49-A0A5-98E63DF5C9ED}"/>
                </a:ext>
              </a:extLst>
            </p:cNvPr>
            <p:cNvGrpSpPr/>
            <p:nvPr/>
          </p:nvGrpSpPr>
          <p:grpSpPr>
            <a:xfrm>
              <a:off x="2771398" y="1906330"/>
              <a:ext cx="1582887" cy="2335940"/>
              <a:chOff x="2771398" y="4788126"/>
              <a:chExt cx="1582887" cy="2335940"/>
            </a:xfrm>
          </p:grpSpPr>
          <p:sp>
            <p:nvSpPr>
              <p:cNvPr id="25" name="左大括号 24">
                <a:extLst>
                  <a:ext uri="{FF2B5EF4-FFF2-40B4-BE49-F238E27FC236}">
                    <a16:creationId xmlns:a16="http://schemas.microsoft.com/office/drawing/2014/main" id="{6452EE3B-35F1-44F0-9F54-BF6B1CEB47F2}"/>
                  </a:ext>
                </a:extLst>
              </p:cNvPr>
              <p:cNvSpPr/>
              <p:nvPr/>
            </p:nvSpPr>
            <p:spPr>
              <a:xfrm>
                <a:off x="4101736" y="4788126"/>
                <a:ext cx="252549" cy="2335940"/>
              </a:xfrm>
              <a:prstGeom prst="leftBrace">
                <a:avLst>
                  <a:gd name="adj1" fmla="val 88861"/>
                  <a:gd name="adj2" fmla="val 49265"/>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AC12356-76BC-44E3-9C9F-6F93E91EBC40}"/>
                  </a:ext>
                </a:extLst>
              </p:cNvPr>
              <p:cNvSpPr txBox="1"/>
              <p:nvPr/>
            </p:nvSpPr>
            <p:spPr>
              <a:xfrm>
                <a:off x="2771398" y="5752051"/>
                <a:ext cx="1338828" cy="369332"/>
              </a:xfrm>
              <a:prstGeom prst="rect">
                <a:avLst/>
              </a:prstGeom>
              <a:noFill/>
            </p:spPr>
            <p:txBody>
              <a:bodyPr wrap="none" rtlCol="0">
                <a:spAutoFit/>
              </a:bodyPr>
              <a:lstStyle/>
              <a:p>
                <a:r>
                  <a:rPr lang="zh-CN" altLang="en-US" dirty="0">
                    <a:solidFill>
                      <a:srgbClr val="0070C0"/>
                    </a:solidFill>
                  </a:rPr>
                  <a:t>动态存储区</a:t>
                </a:r>
              </a:p>
            </p:txBody>
          </p:sp>
        </p:grpSp>
        <p:sp>
          <p:nvSpPr>
            <p:cNvPr id="27" name="文本框 26">
              <a:extLst>
                <a:ext uri="{FF2B5EF4-FFF2-40B4-BE49-F238E27FC236}">
                  <a16:creationId xmlns:a16="http://schemas.microsoft.com/office/drawing/2014/main" id="{312B9272-07A7-4912-89C8-8047AAD60A5F}"/>
                </a:ext>
              </a:extLst>
            </p:cNvPr>
            <p:cNvSpPr txBox="1"/>
            <p:nvPr/>
          </p:nvSpPr>
          <p:spPr>
            <a:xfrm>
              <a:off x="6803968" y="1992381"/>
              <a:ext cx="3982180" cy="369332"/>
            </a:xfrm>
            <a:prstGeom prst="rect">
              <a:avLst/>
            </a:prstGeom>
            <a:noFill/>
          </p:spPr>
          <p:txBody>
            <a:bodyPr wrap="none" rtlCol="0">
              <a:spAutoFit/>
            </a:bodyPr>
            <a:lstStyle/>
            <a:p>
              <a:r>
                <a:rPr lang="zh-CN" altLang="en-US" dirty="0">
                  <a:solidFill>
                    <a:srgbClr val="0070C0"/>
                  </a:solidFill>
                </a:rPr>
                <a:t>局部变量、函数参数、函数返回值等</a:t>
              </a:r>
            </a:p>
          </p:txBody>
        </p:sp>
        <p:sp>
          <p:nvSpPr>
            <p:cNvPr id="28" name="文本框 27">
              <a:extLst>
                <a:ext uri="{FF2B5EF4-FFF2-40B4-BE49-F238E27FC236}">
                  <a16:creationId xmlns:a16="http://schemas.microsoft.com/office/drawing/2014/main" id="{1041787B-2ABE-4F8C-B81D-0D7E71B94C80}"/>
                </a:ext>
              </a:extLst>
            </p:cNvPr>
            <p:cNvSpPr txBox="1"/>
            <p:nvPr/>
          </p:nvSpPr>
          <p:spPr>
            <a:xfrm>
              <a:off x="6838220" y="1468190"/>
              <a:ext cx="2492990" cy="369332"/>
            </a:xfrm>
            <a:prstGeom prst="rect">
              <a:avLst/>
            </a:prstGeom>
            <a:noFill/>
          </p:spPr>
          <p:txBody>
            <a:bodyPr wrap="none" rtlCol="0">
              <a:spAutoFit/>
            </a:bodyPr>
            <a:lstStyle/>
            <a:p>
              <a:r>
                <a:rPr lang="zh-CN" altLang="en-US" dirty="0">
                  <a:solidFill>
                    <a:srgbClr val="0070C0"/>
                  </a:solidFill>
                </a:rPr>
                <a:t>命令行参数、环境变量</a:t>
              </a:r>
            </a:p>
          </p:txBody>
        </p:sp>
        <p:sp>
          <p:nvSpPr>
            <p:cNvPr id="29" name="文本框 28">
              <a:extLst>
                <a:ext uri="{FF2B5EF4-FFF2-40B4-BE49-F238E27FC236}">
                  <a16:creationId xmlns:a16="http://schemas.microsoft.com/office/drawing/2014/main" id="{FD1F5F15-F264-48CB-80F0-1BCE20A06919}"/>
                </a:ext>
              </a:extLst>
            </p:cNvPr>
            <p:cNvSpPr txBox="1"/>
            <p:nvPr/>
          </p:nvSpPr>
          <p:spPr>
            <a:xfrm>
              <a:off x="6803968" y="3745810"/>
              <a:ext cx="2680542" cy="369332"/>
            </a:xfrm>
            <a:prstGeom prst="rect">
              <a:avLst/>
            </a:prstGeom>
            <a:noFill/>
          </p:spPr>
          <p:txBody>
            <a:bodyPr wrap="none" rtlCol="0">
              <a:spAutoFit/>
            </a:bodyPr>
            <a:lstStyle/>
            <a:p>
              <a:r>
                <a:rPr lang="en-US" altLang="zh-CN" dirty="0">
                  <a:solidFill>
                    <a:srgbClr val="0070C0"/>
                  </a:solidFill>
                </a:rPr>
                <a:t>malloc</a:t>
              </a:r>
              <a:r>
                <a:rPr lang="zh-CN" altLang="en-US" dirty="0">
                  <a:solidFill>
                    <a:srgbClr val="0070C0"/>
                  </a:solidFill>
                </a:rPr>
                <a:t>等函数分配的内存</a:t>
              </a:r>
            </a:p>
          </p:txBody>
        </p:sp>
        <p:sp>
          <p:nvSpPr>
            <p:cNvPr id="30" name="文本框 29">
              <a:extLst>
                <a:ext uri="{FF2B5EF4-FFF2-40B4-BE49-F238E27FC236}">
                  <a16:creationId xmlns:a16="http://schemas.microsoft.com/office/drawing/2014/main" id="{4528B7CD-3D19-42CB-B315-976FBBF792AE}"/>
                </a:ext>
              </a:extLst>
            </p:cNvPr>
            <p:cNvSpPr txBox="1"/>
            <p:nvPr/>
          </p:nvSpPr>
          <p:spPr>
            <a:xfrm>
              <a:off x="6803968" y="4331220"/>
              <a:ext cx="2262158" cy="369332"/>
            </a:xfrm>
            <a:prstGeom prst="rect">
              <a:avLst/>
            </a:prstGeom>
            <a:noFill/>
          </p:spPr>
          <p:txBody>
            <a:bodyPr wrap="none" rtlCol="0">
              <a:spAutoFit/>
            </a:bodyPr>
            <a:lstStyle/>
            <a:p>
              <a:r>
                <a:rPr lang="zh-CN" altLang="en-US" dirty="0">
                  <a:solidFill>
                    <a:srgbClr val="0070C0"/>
                  </a:solidFill>
                </a:rPr>
                <a:t>全局变量、静态变量</a:t>
              </a:r>
            </a:p>
          </p:txBody>
        </p:sp>
        <p:sp>
          <p:nvSpPr>
            <p:cNvPr id="31" name="文本框 30">
              <a:extLst>
                <a:ext uri="{FF2B5EF4-FFF2-40B4-BE49-F238E27FC236}">
                  <a16:creationId xmlns:a16="http://schemas.microsoft.com/office/drawing/2014/main" id="{9B5A8E2A-A6B8-4158-A5D0-A25785F9F330}"/>
                </a:ext>
              </a:extLst>
            </p:cNvPr>
            <p:cNvSpPr txBox="1"/>
            <p:nvPr/>
          </p:nvSpPr>
          <p:spPr>
            <a:xfrm>
              <a:off x="6803968" y="4872277"/>
              <a:ext cx="1338828" cy="369332"/>
            </a:xfrm>
            <a:prstGeom prst="rect">
              <a:avLst/>
            </a:prstGeom>
            <a:noFill/>
          </p:spPr>
          <p:txBody>
            <a:bodyPr wrap="none" rtlCol="0">
              <a:spAutoFit/>
            </a:bodyPr>
            <a:lstStyle/>
            <a:p>
              <a:r>
                <a:rPr lang="zh-CN" altLang="en-US" dirty="0">
                  <a:solidFill>
                    <a:srgbClr val="0070C0"/>
                  </a:solidFill>
                </a:rPr>
                <a:t>字符串常量</a:t>
              </a:r>
            </a:p>
          </p:txBody>
        </p:sp>
        <p:sp>
          <p:nvSpPr>
            <p:cNvPr id="32" name="文本框 31">
              <a:extLst>
                <a:ext uri="{FF2B5EF4-FFF2-40B4-BE49-F238E27FC236}">
                  <a16:creationId xmlns:a16="http://schemas.microsoft.com/office/drawing/2014/main" id="{40D3F501-A994-4A1E-8364-ADF5C58C7F44}"/>
                </a:ext>
              </a:extLst>
            </p:cNvPr>
            <p:cNvSpPr txBox="1"/>
            <p:nvPr/>
          </p:nvSpPr>
          <p:spPr>
            <a:xfrm>
              <a:off x="6803968" y="5470847"/>
              <a:ext cx="1853392" cy="369332"/>
            </a:xfrm>
            <a:prstGeom prst="rect">
              <a:avLst/>
            </a:prstGeom>
            <a:noFill/>
          </p:spPr>
          <p:txBody>
            <a:bodyPr wrap="none" rtlCol="0">
              <a:spAutoFit/>
            </a:bodyPr>
            <a:lstStyle/>
            <a:p>
              <a:r>
                <a:rPr lang="zh-CN" altLang="en-US" dirty="0">
                  <a:solidFill>
                    <a:srgbClr val="0070C0"/>
                  </a:solidFill>
                </a:rPr>
                <a:t>程序的机器代码</a:t>
              </a:r>
            </a:p>
          </p:txBody>
        </p:sp>
      </p:grpSp>
      <p:sp>
        <p:nvSpPr>
          <p:cNvPr id="35" name="灯片编号占位符 34">
            <a:extLst>
              <a:ext uri="{FF2B5EF4-FFF2-40B4-BE49-F238E27FC236}">
                <a16:creationId xmlns:a16="http://schemas.microsoft.com/office/drawing/2014/main" id="{2D64A731-C014-4624-8139-0563F43F7B6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38</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824160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FC85F7C-FD1F-4C57-97C6-59FE1C98D4E7}"/>
              </a:ext>
            </a:extLst>
          </p:cNvPr>
          <p:cNvSpPr txBox="1"/>
          <p:nvPr/>
        </p:nvSpPr>
        <p:spPr>
          <a:xfrm>
            <a:off x="3141116" y="-31460"/>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程序内存映像</a:t>
            </a:r>
            <a:endParaRPr lang="zh-CN" altLang="en-US" sz="3200" b="1" dirty="0">
              <a:solidFill>
                <a:srgbClr val="200AC4"/>
              </a:solidFill>
              <a:ea typeface="隶书" pitchFamily="49" charset="-122"/>
            </a:endParaRPr>
          </a:p>
        </p:txBody>
      </p:sp>
      <p:sp>
        <p:nvSpPr>
          <p:cNvPr id="4" name="文本框 3">
            <a:extLst>
              <a:ext uri="{FF2B5EF4-FFF2-40B4-BE49-F238E27FC236}">
                <a16:creationId xmlns:a16="http://schemas.microsoft.com/office/drawing/2014/main" id="{546E24C1-E6E7-4734-9F73-8D3FD3523D1D}"/>
              </a:ext>
            </a:extLst>
          </p:cNvPr>
          <p:cNvSpPr txBox="1"/>
          <p:nvPr/>
        </p:nvSpPr>
        <p:spPr>
          <a:xfrm>
            <a:off x="0" y="599350"/>
            <a:ext cx="12192000" cy="2754600"/>
          </a:xfrm>
          <a:prstGeom prst="rect">
            <a:avLst/>
          </a:prstGeom>
          <a:noFill/>
        </p:spPr>
        <p:txBody>
          <a:bodyPr wrap="square" rtlCol="0">
            <a:spAutoFit/>
          </a:bodyPr>
          <a:lstStyle/>
          <a:p>
            <a:pPr>
              <a:spcAft>
                <a:spcPts val="600"/>
              </a:spcAft>
            </a:pPr>
            <a:r>
              <a:rPr lang="zh-CN" altLang="en-US" sz="2800" b="1" dirty="0">
                <a:latin typeface="隶书" pitchFamily="49" charset="-122"/>
              </a:rPr>
              <a:t>变量的生存周期由变量的存储类型决定。</a:t>
            </a:r>
            <a:r>
              <a:rPr lang="en-US" altLang="zh-CN" sz="2800" b="1" dirty="0">
                <a:latin typeface="隶书" pitchFamily="49" charset="-122"/>
              </a:rPr>
              <a:t>C</a:t>
            </a:r>
            <a:r>
              <a:rPr lang="zh-CN" altLang="en-US" sz="2800" b="1" dirty="0">
                <a:latin typeface="隶书" pitchFamily="49" charset="-122"/>
              </a:rPr>
              <a:t>语言中一共有存储类型，分别用如下关键字表示：</a:t>
            </a:r>
            <a:endParaRPr lang="en-US" altLang="zh-CN" sz="2800" b="1" dirty="0">
              <a:latin typeface="隶书" pitchFamily="49" charset="-122"/>
            </a:endParaRPr>
          </a:p>
          <a:p>
            <a:pPr marL="720000" indent="-514350">
              <a:buFont typeface="+mj-ea"/>
              <a:buAutoNum type="circleNumDbPlain"/>
            </a:pPr>
            <a:r>
              <a:rPr lang="en-US" altLang="zh-CN" sz="2800" b="1" dirty="0">
                <a:latin typeface="隶书" pitchFamily="49" charset="-122"/>
              </a:rPr>
              <a:t>   </a:t>
            </a:r>
            <a:r>
              <a:rPr lang="en-US" altLang="zh-CN" sz="2800" dirty="0">
                <a:solidFill>
                  <a:srgbClr val="0000FF"/>
                </a:solidFill>
                <a:latin typeface="Arial Rounded MT Bold" panose="020F0704030504030204" pitchFamily="34" charset="0"/>
                <a:ea typeface="隶书" pitchFamily="49" charset="-122"/>
              </a:rPr>
              <a:t>auto</a:t>
            </a:r>
            <a:r>
              <a:rPr lang="en-US" altLang="zh-CN" sz="2800" b="1" dirty="0">
                <a:latin typeface="隶书" pitchFamily="49" charset="-122"/>
              </a:rPr>
              <a:t>:</a:t>
            </a:r>
            <a:r>
              <a:rPr lang="zh-CN" altLang="en-US" sz="2800" b="1" dirty="0">
                <a:latin typeface="华文隶书" panose="02010800040101010101" pitchFamily="2" charset="-122"/>
                <a:ea typeface="华文隶书" panose="02010800040101010101" pitchFamily="2" charset="-122"/>
              </a:rPr>
              <a:t>自动变量      </a:t>
            </a:r>
            <a:r>
              <a:rPr lang="en-US" altLang="zh-CN" sz="2800" b="1" dirty="0">
                <a:solidFill>
                  <a:srgbClr val="FF0000"/>
                </a:solidFill>
                <a:ea typeface="华文隶书" panose="02010800040101010101" pitchFamily="2" charset="-122"/>
              </a:rPr>
              <a:t>[</a:t>
            </a:r>
            <a:r>
              <a:rPr lang="zh-CN" altLang="en-US" sz="2800" b="1" dirty="0">
                <a:solidFill>
                  <a:srgbClr val="0000FF"/>
                </a:solidFill>
                <a:latin typeface="华文隶书" panose="02010800040101010101" pitchFamily="2" charset="-122"/>
                <a:ea typeface="华文隶书" panose="02010800040101010101" pitchFamily="2" charset="-122"/>
              </a:rPr>
              <a:t>默认</a:t>
            </a:r>
            <a:r>
              <a:rPr lang="en-US" altLang="zh-CN" sz="2800" b="1" dirty="0">
                <a:solidFill>
                  <a:srgbClr val="FF0000"/>
                </a:solidFill>
                <a:ea typeface="华文隶书" panose="02010800040101010101" pitchFamily="2" charset="-122"/>
              </a:rPr>
              <a:t>]</a:t>
            </a:r>
            <a:endParaRPr lang="en-US" altLang="zh-CN" sz="2800" b="1" dirty="0">
              <a:latin typeface="华文隶书" panose="02010800040101010101" pitchFamily="2" charset="-122"/>
              <a:ea typeface="华文隶书" panose="02010800040101010101" pitchFamily="2" charset="-122"/>
            </a:endParaRPr>
          </a:p>
          <a:p>
            <a:pPr marL="720000" indent="-514350">
              <a:buClr>
                <a:schemeClr val="tx1"/>
              </a:buClr>
              <a:buFont typeface="+mj-ea"/>
              <a:buAutoNum type="circleNumDbPlain"/>
            </a:pPr>
            <a:r>
              <a:rPr lang="en-US" altLang="zh-CN" sz="2800" dirty="0">
                <a:solidFill>
                  <a:srgbClr val="0000FF"/>
                </a:solidFill>
                <a:latin typeface="Arial Rounded MT Bold" panose="020F0704030504030204" pitchFamily="34" charset="0"/>
                <a:ea typeface="隶书" pitchFamily="49" charset="-122"/>
              </a:rPr>
              <a:t>register</a:t>
            </a:r>
            <a:r>
              <a:rPr lang="en-US" altLang="zh-CN" sz="2800" b="1" dirty="0">
                <a:latin typeface="隶书" pitchFamily="49" charset="-122"/>
              </a:rPr>
              <a:t>:</a:t>
            </a:r>
            <a:r>
              <a:rPr lang="zh-CN" altLang="en-US" sz="2800" b="1" dirty="0">
                <a:latin typeface="华文隶书" panose="02010800040101010101" pitchFamily="2" charset="-122"/>
                <a:ea typeface="华文隶书" panose="02010800040101010101" pitchFamily="2" charset="-122"/>
              </a:rPr>
              <a:t>寄存器变量</a:t>
            </a:r>
            <a:endParaRPr lang="en-US" altLang="zh-CN" sz="2800" b="1" dirty="0">
              <a:latin typeface="华文隶书" panose="02010800040101010101" pitchFamily="2" charset="-122"/>
              <a:ea typeface="华文隶书" panose="02010800040101010101" pitchFamily="2" charset="-122"/>
            </a:endParaRPr>
          </a:p>
          <a:p>
            <a:pPr marL="720000" indent="-514350">
              <a:buFont typeface="+mj-ea"/>
              <a:buAutoNum type="circleNumDbPlain"/>
            </a:pPr>
            <a:r>
              <a:rPr lang="en-US" altLang="zh-CN" sz="2800" b="1" dirty="0">
                <a:latin typeface="隶书" pitchFamily="49" charset="-122"/>
              </a:rPr>
              <a:t>  </a:t>
            </a:r>
            <a:r>
              <a:rPr lang="en-US" altLang="zh-CN" sz="2800" dirty="0">
                <a:solidFill>
                  <a:srgbClr val="0000FF"/>
                </a:solidFill>
                <a:latin typeface="Arial Rounded MT Bold" panose="020F0704030504030204" pitchFamily="34" charset="0"/>
                <a:ea typeface="隶书" pitchFamily="49" charset="-122"/>
              </a:rPr>
              <a:t>static</a:t>
            </a:r>
            <a:r>
              <a:rPr lang="en-US" altLang="zh-CN" sz="2800" b="1" dirty="0">
                <a:latin typeface="隶书" pitchFamily="49" charset="-122"/>
              </a:rPr>
              <a:t>:</a:t>
            </a:r>
            <a:r>
              <a:rPr lang="zh-CN" altLang="en-US" sz="2800" b="1" dirty="0">
                <a:latin typeface="华文隶书" panose="02010800040101010101" pitchFamily="2" charset="-122"/>
                <a:ea typeface="华文隶书" panose="02010800040101010101" pitchFamily="2" charset="-122"/>
              </a:rPr>
              <a:t>静态变量</a:t>
            </a:r>
            <a:endParaRPr lang="en-US" altLang="zh-CN" sz="2800" b="1" dirty="0">
              <a:latin typeface="华文隶书" panose="02010800040101010101" pitchFamily="2" charset="-122"/>
              <a:ea typeface="华文隶书" panose="02010800040101010101" pitchFamily="2" charset="-122"/>
            </a:endParaRPr>
          </a:p>
          <a:p>
            <a:pPr marL="720000" indent="-514350">
              <a:buFont typeface="+mj-ea"/>
              <a:buAutoNum type="circleNumDbPlain"/>
            </a:pPr>
            <a:r>
              <a:rPr lang="en-US" altLang="zh-CN" sz="2800" b="1" dirty="0">
                <a:latin typeface="隶书" pitchFamily="49" charset="-122"/>
              </a:rPr>
              <a:t> </a:t>
            </a:r>
            <a:r>
              <a:rPr lang="en-US" altLang="zh-CN" sz="2800" dirty="0">
                <a:solidFill>
                  <a:srgbClr val="0000FF"/>
                </a:solidFill>
                <a:latin typeface="Arial Rounded MT Bold" panose="020F0704030504030204" pitchFamily="34" charset="0"/>
                <a:ea typeface="隶书" pitchFamily="49" charset="-122"/>
              </a:rPr>
              <a:t>extern</a:t>
            </a:r>
            <a:r>
              <a:rPr lang="en-US" altLang="zh-CN" sz="2800" b="1" dirty="0">
                <a:latin typeface="隶书" pitchFamily="49" charset="-122"/>
              </a:rPr>
              <a:t>:</a:t>
            </a:r>
            <a:r>
              <a:rPr lang="zh-CN" altLang="en-US" sz="2800" b="1" dirty="0">
                <a:latin typeface="华文隶书" panose="02010800040101010101" pitchFamily="2" charset="-122"/>
                <a:ea typeface="华文隶书" panose="02010800040101010101" pitchFamily="2" charset="-122"/>
              </a:rPr>
              <a:t>外部变量</a:t>
            </a:r>
          </a:p>
        </p:txBody>
      </p:sp>
      <p:sp>
        <p:nvSpPr>
          <p:cNvPr id="5" name="Rectangle 2">
            <a:extLst>
              <a:ext uri="{FF2B5EF4-FFF2-40B4-BE49-F238E27FC236}">
                <a16:creationId xmlns:a16="http://schemas.microsoft.com/office/drawing/2014/main" id="{1FB78C25-03C7-49AB-BAE4-920EE3F459DD}"/>
              </a:ext>
            </a:extLst>
          </p:cNvPr>
          <p:cNvSpPr txBox="1">
            <a:spLocks noChangeArrowheads="1"/>
          </p:cNvSpPr>
          <p:nvPr/>
        </p:nvSpPr>
        <p:spPr>
          <a:xfrm>
            <a:off x="2797176" y="4054071"/>
            <a:ext cx="659764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ea typeface="华文隶书" panose="02010800040101010101" pitchFamily="2" charset="-122"/>
              </a:rPr>
              <a:t>[</a:t>
            </a:r>
            <a:r>
              <a:rPr lang="zh-CN" altLang="en-US" b="1" dirty="0">
                <a:solidFill>
                  <a:srgbClr val="0000FF"/>
                </a:solidFill>
                <a:latin typeface="华文隶书" panose="02010800040101010101" pitchFamily="2" charset="-122"/>
                <a:ea typeface="华文隶书" panose="02010800040101010101" pitchFamily="2" charset="-122"/>
              </a:rPr>
              <a:t>存储类型</a:t>
            </a:r>
            <a:r>
              <a:rPr lang="en-US" altLang="zh-CN" b="1" dirty="0">
                <a:solidFill>
                  <a:srgbClr val="FF0000"/>
                </a:solidFill>
                <a:ea typeface="华文隶书" panose="02010800040101010101" pitchFamily="2" charset="-122"/>
              </a:rPr>
              <a:t>]</a:t>
            </a:r>
            <a:r>
              <a:rPr lang="zh-CN" altLang="en-US" b="1" dirty="0">
                <a:solidFill>
                  <a:srgbClr val="FF0000"/>
                </a:solidFill>
                <a:ea typeface="华文隶书" panose="02010800040101010101" pitchFamily="2" charset="-122"/>
              </a:rPr>
              <a:t> </a:t>
            </a:r>
            <a:r>
              <a:rPr lang="zh-CN" altLang="en-US" b="1" dirty="0">
                <a:solidFill>
                  <a:srgbClr val="0000FF"/>
                </a:solidFill>
                <a:ea typeface="华文隶书" panose="02010800040101010101" pitchFamily="2" charset="-122"/>
              </a:rPr>
              <a:t>数据类型</a:t>
            </a:r>
            <a:r>
              <a:rPr lang="zh-CN" altLang="en-US" b="1" dirty="0">
                <a:latin typeface="华文中宋" panose="02010600040101010101" pitchFamily="2" charset="-122"/>
                <a:ea typeface="华文中宋" panose="02010600040101010101" pitchFamily="2" charset="-122"/>
              </a:rPr>
              <a:t> </a:t>
            </a:r>
            <a:r>
              <a:rPr lang="zh-CN" altLang="en-US" sz="2600" b="1" dirty="0">
                <a:latin typeface="华文中宋" panose="02010600040101010101" pitchFamily="2" charset="-122"/>
                <a:ea typeface="华文中宋" panose="02010600040101010101" pitchFamily="2" charset="-122"/>
              </a:rPr>
              <a:t>变量名列表</a:t>
            </a:r>
            <a:r>
              <a:rPr lang="zh-CN" altLang="en-US" b="1" dirty="0"/>
              <a:t>；</a:t>
            </a:r>
            <a:endParaRPr lang="en-US" altLang="zh-CN" b="1" dirty="0"/>
          </a:p>
        </p:txBody>
      </p:sp>
      <p:sp>
        <p:nvSpPr>
          <p:cNvPr id="6" name="文本框 5">
            <a:extLst>
              <a:ext uri="{FF2B5EF4-FFF2-40B4-BE49-F238E27FC236}">
                <a16:creationId xmlns:a16="http://schemas.microsoft.com/office/drawing/2014/main" id="{499F5BF9-BAB1-4CC2-B600-C24BBB740247}"/>
              </a:ext>
            </a:extLst>
          </p:cNvPr>
          <p:cNvSpPr txBox="1"/>
          <p:nvPr/>
        </p:nvSpPr>
        <p:spPr>
          <a:xfrm>
            <a:off x="0" y="3461540"/>
            <a:ext cx="12192000" cy="523220"/>
          </a:xfrm>
          <a:prstGeom prst="rect">
            <a:avLst/>
          </a:prstGeom>
          <a:noFill/>
        </p:spPr>
        <p:txBody>
          <a:bodyPr wrap="square" rtlCol="0">
            <a:spAutoFit/>
          </a:bodyPr>
          <a:lstStyle/>
          <a:p>
            <a:r>
              <a:rPr lang="en-US" altLang="zh-CN" sz="2800" b="1" dirty="0">
                <a:latin typeface="隶书" pitchFamily="49" charset="-122"/>
              </a:rPr>
              <a:t>C</a:t>
            </a:r>
            <a:r>
              <a:rPr lang="zh-CN" altLang="en-US" sz="2800" b="1" dirty="0">
                <a:latin typeface="隶书" pitchFamily="49" charset="-122"/>
              </a:rPr>
              <a:t>语言中完整的变量声明格式为：</a:t>
            </a:r>
          </a:p>
        </p:txBody>
      </p:sp>
      <p:sp>
        <p:nvSpPr>
          <p:cNvPr id="7" name="文本框 6">
            <a:extLst>
              <a:ext uri="{FF2B5EF4-FFF2-40B4-BE49-F238E27FC236}">
                <a16:creationId xmlns:a16="http://schemas.microsoft.com/office/drawing/2014/main" id="{A33A0DE3-1F0D-46DE-9AE3-009F0A5EF2E9}"/>
              </a:ext>
            </a:extLst>
          </p:cNvPr>
          <p:cNvSpPr txBox="1"/>
          <p:nvPr/>
        </p:nvSpPr>
        <p:spPr>
          <a:xfrm>
            <a:off x="0" y="4646602"/>
            <a:ext cx="12192000" cy="523220"/>
          </a:xfrm>
          <a:prstGeom prst="rect">
            <a:avLst/>
          </a:prstGeom>
          <a:noFill/>
        </p:spPr>
        <p:txBody>
          <a:bodyPr wrap="square" rtlCol="0">
            <a:spAutoFit/>
          </a:bodyPr>
          <a:lstStyle/>
          <a:p>
            <a:r>
              <a:rPr lang="zh-CN" altLang="en-US" sz="2800" b="1" dirty="0">
                <a:latin typeface="隶书" pitchFamily="49" charset="-122"/>
              </a:rPr>
              <a:t>例如：</a:t>
            </a:r>
          </a:p>
        </p:txBody>
      </p:sp>
      <p:sp>
        <p:nvSpPr>
          <p:cNvPr id="8" name="Rectangle 2">
            <a:extLst>
              <a:ext uri="{FF2B5EF4-FFF2-40B4-BE49-F238E27FC236}">
                <a16:creationId xmlns:a16="http://schemas.microsoft.com/office/drawing/2014/main" id="{16C6C287-111F-45CE-8090-2FF2164E1F4B}"/>
              </a:ext>
            </a:extLst>
          </p:cNvPr>
          <p:cNvSpPr txBox="1">
            <a:spLocks noChangeArrowheads="1"/>
          </p:cNvSpPr>
          <p:nvPr/>
        </p:nvSpPr>
        <p:spPr>
          <a:xfrm>
            <a:off x="2797176" y="5230779"/>
            <a:ext cx="6597648"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dirty="0">
                <a:solidFill>
                  <a:srgbClr val="0000FF"/>
                </a:solidFill>
                <a:latin typeface="Arial Rounded MT Bold" panose="020F0704030504030204" pitchFamily="34" charset="0"/>
                <a:ea typeface="隶书" pitchFamily="49" charset="-122"/>
              </a:rPr>
              <a:t>auto</a:t>
            </a:r>
            <a:r>
              <a:rPr lang="en-US" altLang="zh-CN" b="1" dirty="0">
                <a:solidFill>
                  <a:srgbClr val="0000FF"/>
                </a:solidFill>
                <a:ea typeface="华文隶书" panose="02010800040101010101" pitchFamily="2" charset="-122"/>
              </a:rPr>
              <a:t> int</a:t>
            </a:r>
            <a:r>
              <a:rPr lang="zh-CN" altLang="en-US" b="1" dirty="0">
                <a:latin typeface="华文中宋" panose="02010600040101010101" pitchFamily="2" charset="-122"/>
                <a:ea typeface="华文中宋" panose="02010600040101010101" pitchFamily="2" charset="-122"/>
              </a:rPr>
              <a:t> </a:t>
            </a:r>
            <a:r>
              <a:rPr lang="en-US" altLang="zh-CN" b="1" dirty="0">
                <a:latin typeface="华文中宋" panose="02010600040101010101" pitchFamily="2" charset="-122"/>
                <a:ea typeface="华文中宋" panose="02010600040101010101" pitchFamily="2" charset="-122"/>
              </a:rPr>
              <a:t>a</a:t>
            </a:r>
            <a:r>
              <a:rPr lang="zh-CN" altLang="en-US" b="1" dirty="0"/>
              <a:t>；</a:t>
            </a:r>
            <a:endParaRPr lang="en-US" altLang="zh-CN" b="1" dirty="0"/>
          </a:p>
          <a:p>
            <a:pPr marL="0" indent="0">
              <a:lnSpc>
                <a:spcPct val="100000"/>
              </a:lnSpc>
              <a:spcBef>
                <a:spcPct val="0"/>
              </a:spcBef>
              <a:buClr>
                <a:schemeClr val="tx2"/>
              </a:buClr>
              <a:buSzPct val="70000"/>
              <a:buNone/>
            </a:pPr>
            <a:r>
              <a:rPr lang="en-US" altLang="zh-CN" dirty="0">
                <a:solidFill>
                  <a:srgbClr val="0000FF"/>
                </a:solidFill>
                <a:latin typeface="Arial Rounded MT Bold" panose="020F0704030504030204" pitchFamily="34" charset="0"/>
                <a:ea typeface="隶书" pitchFamily="49" charset="-122"/>
              </a:rPr>
              <a:t>register</a:t>
            </a:r>
            <a:r>
              <a:rPr lang="en-US" altLang="zh-CN" b="1" dirty="0">
                <a:solidFill>
                  <a:srgbClr val="0000FF"/>
                </a:solidFill>
                <a:ea typeface="华文隶书" panose="02010800040101010101" pitchFamily="2" charset="-122"/>
              </a:rPr>
              <a:t> int</a:t>
            </a:r>
            <a:r>
              <a:rPr lang="zh-CN" altLang="en-US" b="1" dirty="0">
                <a:latin typeface="华文中宋" panose="02010600040101010101" pitchFamily="2" charset="-122"/>
                <a:ea typeface="华文中宋" panose="02010600040101010101" pitchFamily="2" charset="-122"/>
              </a:rPr>
              <a:t> </a:t>
            </a:r>
            <a:r>
              <a:rPr lang="en-US" altLang="zh-CN" b="1" dirty="0">
                <a:latin typeface="华文中宋" panose="02010600040101010101" pitchFamily="2" charset="-122"/>
                <a:ea typeface="华文中宋" panose="02010600040101010101" pitchFamily="2" charset="-122"/>
              </a:rPr>
              <a:t>i</a:t>
            </a:r>
            <a:r>
              <a:rPr lang="zh-CN" altLang="en-US" b="1" dirty="0"/>
              <a:t>；</a:t>
            </a:r>
            <a:endParaRPr lang="en-US" altLang="zh-CN" b="1" dirty="0"/>
          </a:p>
          <a:p>
            <a:pPr marL="0" indent="0">
              <a:lnSpc>
                <a:spcPct val="100000"/>
              </a:lnSpc>
              <a:spcBef>
                <a:spcPct val="0"/>
              </a:spcBef>
              <a:buClr>
                <a:schemeClr val="tx2"/>
              </a:buClr>
              <a:buSzPct val="70000"/>
              <a:buNone/>
            </a:pPr>
            <a:r>
              <a:rPr lang="en-US" altLang="zh-CN" dirty="0">
                <a:solidFill>
                  <a:srgbClr val="0000FF"/>
                </a:solidFill>
                <a:latin typeface="Arial Rounded MT Bold" panose="020F0704030504030204" pitchFamily="34" charset="0"/>
                <a:ea typeface="隶书" pitchFamily="49" charset="-122"/>
              </a:rPr>
              <a:t>static</a:t>
            </a:r>
            <a:r>
              <a:rPr lang="en-US" altLang="zh-CN" b="1" dirty="0">
                <a:solidFill>
                  <a:srgbClr val="0000FF"/>
                </a:solidFill>
                <a:ea typeface="华文隶书" panose="02010800040101010101" pitchFamily="2" charset="-122"/>
              </a:rPr>
              <a:t> int</a:t>
            </a:r>
            <a:r>
              <a:rPr lang="zh-CN" altLang="en-US" b="1" dirty="0">
                <a:latin typeface="华文中宋" panose="02010600040101010101" pitchFamily="2" charset="-122"/>
                <a:ea typeface="华文中宋" panose="02010600040101010101" pitchFamily="2" charset="-122"/>
              </a:rPr>
              <a:t> </a:t>
            </a:r>
            <a:r>
              <a:rPr lang="en-US" altLang="zh-CN" b="1" dirty="0">
                <a:latin typeface="华文中宋" panose="02010600040101010101" pitchFamily="2" charset="-122"/>
                <a:ea typeface="华文中宋" panose="02010600040101010101" pitchFamily="2" charset="-122"/>
              </a:rPr>
              <a:t>si</a:t>
            </a:r>
            <a:r>
              <a:rPr lang="zh-CN" altLang="en-US" b="1" dirty="0"/>
              <a:t>；</a:t>
            </a:r>
            <a:endParaRPr lang="en-US" altLang="zh-CN" b="1" dirty="0"/>
          </a:p>
        </p:txBody>
      </p:sp>
      <p:grpSp>
        <p:nvGrpSpPr>
          <p:cNvPr id="10" name="组合 9">
            <a:extLst>
              <a:ext uri="{FF2B5EF4-FFF2-40B4-BE49-F238E27FC236}">
                <a16:creationId xmlns:a16="http://schemas.microsoft.com/office/drawing/2014/main" id="{8F7144E7-11BA-426F-AF7D-41F5C38E6ADD}"/>
              </a:ext>
            </a:extLst>
          </p:cNvPr>
          <p:cNvGrpSpPr/>
          <p:nvPr/>
        </p:nvGrpSpPr>
        <p:grpSpPr>
          <a:xfrm>
            <a:off x="5486399" y="1688178"/>
            <a:ext cx="2215700" cy="646331"/>
            <a:chOff x="2048431" y="1786187"/>
            <a:chExt cx="2158356" cy="646331"/>
          </a:xfrm>
        </p:grpSpPr>
        <p:sp>
          <p:nvSpPr>
            <p:cNvPr id="11" name="文本框 10">
              <a:extLst>
                <a:ext uri="{FF2B5EF4-FFF2-40B4-BE49-F238E27FC236}">
                  <a16:creationId xmlns:a16="http://schemas.microsoft.com/office/drawing/2014/main" id="{ECB0D797-6D37-469F-8A4E-FC2538FF0989}"/>
                </a:ext>
              </a:extLst>
            </p:cNvPr>
            <p:cNvSpPr txBox="1"/>
            <p:nvPr/>
          </p:nvSpPr>
          <p:spPr>
            <a:xfrm>
              <a:off x="2228034" y="1879179"/>
              <a:ext cx="1978753" cy="461665"/>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声明局部变量</a:t>
              </a:r>
            </a:p>
          </p:txBody>
        </p:sp>
        <p:sp>
          <p:nvSpPr>
            <p:cNvPr id="12" name="右大括号 11">
              <a:extLst>
                <a:ext uri="{FF2B5EF4-FFF2-40B4-BE49-F238E27FC236}">
                  <a16:creationId xmlns:a16="http://schemas.microsoft.com/office/drawing/2014/main" id="{EB985BD8-BBA5-44B7-B935-0B67CE85FA65}"/>
                </a:ext>
              </a:extLst>
            </p:cNvPr>
            <p:cNvSpPr/>
            <p:nvPr/>
          </p:nvSpPr>
          <p:spPr>
            <a:xfrm>
              <a:off x="2048431" y="1786187"/>
              <a:ext cx="118766" cy="646331"/>
            </a:xfrm>
            <a:prstGeom prst="rightBrace">
              <a:avLst>
                <a:gd name="adj1" fmla="val 91722"/>
                <a:gd name="adj2" fmla="val 50788"/>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
        <p:nvSpPr>
          <p:cNvPr id="13" name="文本框 12">
            <a:extLst>
              <a:ext uri="{FF2B5EF4-FFF2-40B4-BE49-F238E27FC236}">
                <a16:creationId xmlns:a16="http://schemas.microsoft.com/office/drawing/2014/main" id="{1BCA3B32-D2D1-4887-ABAE-3034F0D2FFBF}"/>
              </a:ext>
            </a:extLst>
          </p:cNvPr>
          <p:cNvSpPr txBox="1"/>
          <p:nvPr/>
        </p:nvSpPr>
        <p:spPr>
          <a:xfrm>
            <a:off x="5670775" y="2382564"/>
            <a:ext cx="2954655" cy="461665"/>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声明全局、局部变量</a:t>
            </a:r>
          </a:p>
        </p:txBody>
      </p:sp>
      <p:sp>
        <p:nvSpPr>
          <p:cNvPr id="14" name="文本框 13">
            <a:extLst>
              <a:ext uri="{FF2B5EF4-FFF2-40B4-BE49-F238E27FC236}">
                <a16:creationId xmlns:a16="http://schemas.microsoft.com/office/drawing/2014/main" id="{D22D1945-DD6F-4E8D-BF81-A57A902BD018}"/>
              </a:ext>
            </a:extLst>
          </p:cNvPr>
          <p:cNvSpPr txBox="1"/>
          <p:nvPr/>
        </p:nvSpPr>
        <p:spPr>
          <a:xfrm>
            <a:off x="5670774" y="2742618"/>
            <a:ext cx="2031325" cy="461665"/>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声明全局变量</a:t>
            </a:r>
          </a:p>
        </p:txBody>
      </p:sp>
      <p:sp>
        <p:nvSpPr>
          <p:cNvPr id="15" name="灯片编号占位符 14">
            <a:extLst>
              <a:ext uri="{FF2B5EF4-FFF2-40B4-BE49-F238E27FC236}">
                <a16:creationId xmlns:a16="http://schemas.microsoft.com/office/drawing/2014/main" id="{7E0A76ED-3C0E-4A7C-8A9D-8657DBCF0F5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39</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422920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39916"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auto</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92C663CB-3E7C-4D75-B249-7361096E5972}"/>
              </a:ext>
            </a:extLst>
          </p:cNvPr>
          <p:cNvSpPr/>
          <p:nvPr/>
        </p:nvSpPr>
        <p:spPr>
          <a:xfrm>
            <a:off x="1" y="586147"/>
            <a:ext cx="6731726" cy="2246769"/>
          </a:xfrm>
          <a:prstGeom prst="rect">
            <a:avLst/>
          </a:prstGeom>
        </p:spPr>
        <p:txBody>
          <a:bodyPr wrap="square">
            <a:spAutoFit/>
          </a:bodyPr>
          <a:lstStyle/>
          <a:p>
            <a:r>
              <a:rPr lang="zh-CN" altLang="en-US" sz="2800" dirty="0">
                <a:solidFill>
                  <a:srgbClr val="0070C0"/>
                </a:solidFill>
                <a:latin typeface="隶书" panose="02010509060101010101" pitchFamily="49" charset="-122"/>
                <a:ea typeface="隶书" panose="02010509060101010101" pitchFamily="49" charset="-122"/>
              </a:rPr>
              <a:t>存储空间</a:t>
            </a:r>
            <a:r>
              <a:rPr lang="zh-CN" altLang="en-US" sz="2800" dirty="0">
                <a:latin typeface="隶书" panose="02010509060101010101" pitchFamily="49" charset="-122"/>
                <a:ea typeface="隶书" panose="02010509060101010101" pitchFamily="49" charset="-122"/>
              </a:rPr>
              <a:t>：动态存储区。</a:t>
            </a:r>
            <a:endParaRPr lang="en-US" altLang="zh-CN" sz="2800" dirty="0">
              <a:latin typeface="隶书" panose="02010509060101010101" pitchFamily="49" charset="-122"/>
              <a:ea typeface="隶书" panose="02010509060101010101" pitchFamily="49" charset="-122"/>
            </a:endParaRPr>
          </a:p>
          <a:p>
            <a:r>
              <a:rPr lang="zh-CN" altLang="en-US" sz="2800" dirty="0">
                <a:solidFill>
                  <a:srgbClr val="0070C0"/>
                </a:solidFill>
                <a:latin typeface="隶书" panose="02010509060101010101" pitchFamily="49" charset="-122"/>
                <a:ea typeface="隶书" panose="02010509060101010101" pitchFamily="49" charset="-122"/>
              </a:rPr>
              <a:t>  作用域</a:t>
            </a:r>
            <a:r>
              <a:rPr lang="zh-CN" altLang="en-US" sz="2800" dirty="0">
                <a:latin typeface="隶书" panose="02010509060101010101" pitchFamily="49" charset="-122"/>
                <a:ea typeface="隶书" panose="02010509060101010101" pitchFamily="49" charset="-122"/>
              </a:rPr>
              <a:t>：定义变量的程序块或函数内。</a:t>
            </a:r>
            <a:endParaRPr lang="en-US" altLang="zh-CN" sz="2800" dirty="0">
              <a:latin typeface="隶书" panose="02010509060101010101" pitchFamily="49" charset="-122"/>
              <a:ea typeface="隶书" panose="02010509060101010101" pitchFamily="49" charset="-122"/>
            </a:endParaRPr>
          </a:p>
          <a:p>
            <a:r>
              <a:rPr lang="zh-CN" altLang="en-US" sz="2800" dirty="0">
                <a:solidFill>
                  <a:srgbClr val="0070C0"/>
                </a:solidFill>
                <a:latin typeface="隶书" panose="02010509060101010101" pitchFamily="49" charset="-122"/>
                <a:ea typeface="隶书" panose="02010509060101010101" pitchFamily="49" charset="-122"/>
              </a:rPr>
              <a:t>  生存期</a:t>
            </a:r>
            <a:r>
              <a:rPr lang="zh-CN" altLang="en-US" sz="2800" dirty="0">
                <a:latin typeface="隶书" panose="02010509060101010101" pitchFamily="49" charset="-122"/>
                <a:ea typeface="隶书" panose="02010509060101010101" pitchFamily="49" charset="-122"/>
              </a:rPr>
              <a:t>：程序执行流程进入程序块或函数调用时自动创建，离开程序块或函数调用结束时自动销毁。</a:t>
            </a:r>
            <a:endParaRPr lang="en-US" altLang="zh-CN" sz="2800" dirty="0">
              <a:latin typeface="隶书" panose="02010509060101010101" pitchFamily="49" charset="-122"/>
              <a:ea typeface="隶书" panose="02010509060101010101" pitchFamily="49" charset="-122"/>
            </a:endParaRPr>
          </a:p>
        </p:txBody>
      </p:sp>
      <p:sp>
        <p:nvSpPr>
          <p:cNvPr id="6" name="Rectangle 2">
            <a:extLst>
              <a:ext uri="{FF2B5EF4-FFF2-40B4-BE49-F238E27FC236}">
                <a16:creationId xmlns:a16="http://schemas.microsoft.com/office/drawing/2014/main" id="{64DD6A98-A527-4F23-BA9B-EF9FB61E5D60}"/>
              </a:ext>
            </a:extLst>
          </p:cNvPr>
          <p:cNvSpPr txBox="1">
            <a:spLocks noChangeArrowheads="1"/>
          </p:cNvSpPr>
          <p:nvPr/>
        </p:nvSpPr>
        <p:spPr>
          <a:xfrm>
            <a:off x="6793659" y="643616"/>
            <a:ext cx="5310281" cy="575542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auto 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b;  </a:t>
            </a:r>
            <a:r>
              <a:rPr lang="en-US" altLang="zh-CN" sz="24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在</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main</a:t>
            </a:r>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函数内有效</a:t>
            </a: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 &gt; a)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temp;</a:t>
            </a:r>
            <a:r>
              <a:rPr lang="en-US" altLang="zh-CN" sz="32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4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在</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if</a:t>
            </a:r>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分支块内有效</a:t>
            </a:r>
            <a:endParaRPr lang="en-US" altLang="zh-CN" sz="2000"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temp = a;</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b;</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b = temp;</a:t>
            </a:r>
            <a:endParaRPr lang="en-US" altLang="zh-CN" b="1" dirty="0">
              <a:latin typeface="Times New Roman" panose="02020603050405020304" pitchFamily="18" charset="0"/>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max=</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cs typeface="Times New Roman" panose="02020603050405020304" pitchFamily="18" charset="0"/>
              </a:rPr>
              <a:t>d</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a:t>
            </a:r>
            <a:endParaRPr lang="en-US" altLang="zh-CN"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7" name="灯片编号占位符 6">
            <a:extLst>
              <a:ext uri="{FF2B5EF4-FFF2-40B4-BE49-F238E27FC236}">
                <a16:creationId xmlns:a16="http://schemas.microsoft.com/office/drawing/2014/main" id="{43DAC481-745D-48CF-9725-17B5275BCAA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40</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781221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31036" y="-66972"/>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register</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39130FFB-0713-49FF-9E58-D58073918307}"/>
              </a:ext>
            </a:extLst>
          </p:cNvPr>
          <p:cNvSpPr/>
          <p:nvPr/>
        </p:nvSpPr>
        <p:spPr>
          <a:xfrm>
            <a:off x="1" y="586147"/>
            <a:ext cx="12161519" cy="1815882"/>
          </a:xfrm>
          <a:prstGeom prst="rect">
            <a:avLst/>
          </a:prstGeom>
        </p:spPr>
        <p:txBody>
          <a:bodyPr wrap="square">
            <a:spAutoFit/>
          </a:bodyPr>
          <a:lstStyle/>
          <a:p>
            <a:r>
              <a:rPr lang="zh-CN" altLang="en-US" sz="2800" dirty="0">
                <a:solidFill>
                  <a:srgbClr val="0070C0"/>
                </a:solidFill>
                <a:latin typeface="隶书" panose="02010509060101010101" pitchFamily="49" charset="-122"/>
                <a:ea typeface="隶书" panose="02010509060101010101" pitchFamily="49" charset="-122"/>
              </a:rPr>
              <a:t>存储空间</a:t>
            </a:r>
            <a:r>
              <a:rPr lang="zh-CN" altLang="en-US" sz="2800" dirty="0">
                <a:latin typeface="隶书" panose="02010509060101010101" pitchFamily="49" charset="-122"/>
                <a:ea typeface="隶书" panose="02010509060101010101" pitchFamily="49" charset="-122"/>
              </a:rPr>
              <a:t>：</a:t>
            </a:r>
            <a:r>
              <a:rPr lang="en-US" altLang="zh-CN" sz="2400" dirty="0">
                <a:latin typeface="Arial Rounded MT Bold" panose="020F0704030504030204" pitchFamily="34" charset="0"/>
                <a:ea typeface="隶书" pitchFamily="49" charset="-122"/>
              </a:rPr>
              <a:t>CPU</a:t>
            </a:r>
            <a:r>
              <a:rPr lang="zh-CN" altLang="en-US" sz="2800" dirty="0">
                <a:latin typeface="隶书" panose="02010509060101010101" pitchFamily="49" charset="-122"/>
                <a:ea typeface="隶书" panose="02010509060101010101" pitchFamily="49" charset="-122"/>
              </a:rPr>
              <a:t>寄存器。</a:t>
            </a:r>
            <a:r>
              <a:rPr lang="en-US" altLang="zh-CN" sz="2800" b="1" dirty="0">
                <a:solidFill>
                  <a:srgbClr val="FF0000"/>
                </a:solidFill>
                <a:latin typeface="隶书" panose="02010509060101010101" pitchFamily="49" charset="-122"/>
                <a:ea typeface="隶书" panose="02010509060101010101" pitchFamily="49" charset="-122"/>
              </a:rPr>
              <a:t>[</a:t>
            </a:r>
            <a:r>
              <a:rPr lang="zh-CN" altLang="en-US" sz="2800" dirty="0">
                <a:solidFill>
                  <a:srgbClr val="00B0F0"/>
                </a:solidFill>
                <a:latin typeface="隶书" panose="02010509060101010101" pitchFamily="49" charset="-122"/>
                <a:ea typeface="隶书" panose="02010509060101010101" pitchFamily="49" charset="-122"/>
              </a:rPr>
              <a:t>适用于使用较为频繁的局部变量</a:t>
            </a:r>
            <a:r>
              <a:rPr lang="en-US" altLang="zh-CN" sz="2800" b="1" dirty="0">
                <a:solidFill>
                  <a:srgbClr val="FF0000"/>
                </a:solidFill>
                <a:latin typeface="隶书" panose="02010509060101010101" pitchFamily="49" charset="-122"/>
                <a:ea typeface="隶书" panose="02010509060101010101" pitchFamily="49" charset="-122"/>
              </a:rPr>
              <a:t>]</a:t>
            </a:r>
          </a:p>
          <a:p>
            <a:r>
              <a:rPr lang="zh-CN" altLang="en-US" sz="2800" dirty="0">
                <a:solidFill>
                  <a:srgbClr val="0070C0"/>
                </a:solidFill>
                <a:latin typeface="隶书" panose="02010509060101010101" pitchFamily="49" charset="-122"/>
                <a:ea typeface="隶书" panose="02010509060101010101" pitchFamily="49" charset="-122"/>
              </a:rPr>
              <a:t>  作用域</a:t>
            </a:r>
            <a:r>
              <a:rPr lang="zh-CN" altLang="en-US" sz="2800" dirty="0">
                <a:latin typeface="隶书" panose="02010509060101010101" pitchFamily="49" charset="-122"/>
                <a:ea typeface="隶书" panose="02010509060101010101" pitchFamily="49" charset="-122"/>
              </a:rPr>
              <a:t>：定义变量的程序块或函数内。</a:t>
            </a:r>
            <a:endParaRPr lang="en-US" altLang="zh-CN" sz="2800" dirty="0">
              <a:latin typeface="隶书" panose="02010509060101010101" pitchFamily="49" charset="-122"/>
              <a:ea typeface="隶书" panose="02010509060101010101" pitchFamily="49" charset="-122"/>
            </a:endParaRPr>
          </a:p>
          <a:p>
            <a:r>
              <a:rPr lang="zh-CN" altLang="en-US" sz="2800" dirty="0">
                <a:solidFill>
                  <a:srgbClr val="0070C0"/>
                </a:solidFill>
                <a:latin typeface="隶书" panose="02010509060101010101" pitchFamily="49" charset="-122"/>
                <a:ea typeface="隶书" panose="02010509060101010101" pitchFamily="49" charset="-122"/>
              </a:rPr>
              <a:t>  生存期</a:t>
            </a:r>
            <a:r>
              <a:rPr lang="zh-CN" altLang="en-US" sz="2800" dirty="0">
                <a:latin typeface="隶书" panose="02010509060101010101" pitchFamily="49" charset="-122"/>
                <a:ea typeface="隶书" panose="02010509060101010101" pitchFamily="49" charset="-122"/>
              </a:rPr>
              <a:t>：程序执行流程进入程序块或函数调用时自动创建，离开程序块或函数调用结束时自动销毁。</a:t>
            </a:r>
            <a:endParaRPr lang="en-US" altLang="zh-CN" sz="2800" dirty="0">
              <a:latin typeface="隶书" panose="02010509060101010101" pitchFamily="49" charset="-122"/>
              <a:ea typeface="隶书" panose="02010509060101010101" pitchFamily="49" charset="-122"/>
            </a:endParaRPr>
          </a:p>
        </p:txBody>
      </p:sp>
      <p:grpSp>
        <p:nvGrpSpPr>
          <p:cNvPr id="5" name="组合 4">
            <a:extLst>
              <a:ext uri="{FF2B5EF4-FFF2-40B4-BE49-F238E27FC236}">
                <a16:creationId xmlns:a16="http://schemas.microsoft.com/office/drawing/2014/main" id="{36A66479-B2C4-4FBD-B158-71C58654F57D}"/>
              </a:ext>
            </a:extLst>
          </p:cNvPr>
          <p:cNvGrpSpPr/>
          <p:nvPr/>
        </p:nvGrpSpPr>
        <p:grpSpPr>
          <a:xfrm>
            <a:off x="40546" y="2664671"/>
            <a:ext cx="12151454" cy="3165169"/>
            <a:chOff x="44898" y="4780854"/>
            <a:chExt cx="12163880" cy="3165169"/>
          </a:xfrm>
        </p:grpSpPr>
        <p:sp>
          <p:nvSpPr>
            <p:cNvPr id="6" name="Text Box 88">
              <a:extLst>
                <a:ext uri="{FF2B5EF4-FFF2-40B4-BE49-F238E27FC236}">
                  <a16:creationId xmlns:a16="http://schemas.microsoft.com/office/drawing/2014/main" id="{F82A6F14-4259-4BAB-92DF-15B92892613D}"/>
                </a:ext>
              </a:extLst>
            </p:cNvPr>
            <p:cNvSpPr txBox="1">
              <a:spLocks noChangeArrowheads="1"/>
            </p:cNvSpPr>
            <p:nvPr/>
          </p:nvSpPr>
          <p:spPr bwMode="auto">
            <a:xfrm>
              <a:off x="101942" y="4835299"/>
              <a:ext cx="12106836" cy="311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endParaRPr kumimoji="1" lang="en-US" altLang="zh-CN" sz="2400" dirty="0">
                <a:solidFill>
                  <a:srgbClr val="FF0000"/>
                </a:solidFill>
                <a:ea typeface="隶书" pitchFamily="49" charset="-122"/>
              </a:endParaRPr>
            </a:p>
            <a:p>
              <a:pPr marL="57150" indent="-514350">
                <a:buFont typeface="+mj-ea"/>
                <a:buAutoNum type="circleNumDbPlain"/>
              </a:pPr>
              <a:r>
                <a:rPr kumimoji="1" lang="en-US" altLang="zh-CN" sz="2800" dirty="0">
                  <a:solidFill>
                    <a:srgbClr val="3333FF"/>
                  </a:solidFill>
                  <a:latin typeface="等线" panose="02010600030101010101" pitchFamily="2" charset="-122"/>
                  <a:ea typeface="隶书" pitchFamily="49" charset="-122"/>
                </a:rPr>
                <a:t>register</a:t>
              </a:r>
              <a:r>
                <a:rPr kumimoji="1" lang="zh-CN" altLang="en-US" sz="2800" dirty="0">
                  <a:solidFill>
                    <a:srgbClr val="3333FF"/>
                  </a:solidFill>
                  <a:latin typeface="隶书" pitchFamily="49" charset="-122"/>
                  <a:ea typeface="隶书" pitchFamily="49" charset="-122"/>
                </a:rPr>
                <a:t>存储类型变量的作用域、生存周期及使用方式与</a:t>
              </a:r>
              <a:r>
                <a:rPr kumimoji="1" lang="en-US" altLang="zh-CN" sz="2800" dirty="0">
                  <a:solidFill>
                    <a:srgbClr val="3333FF"/>
                  </a:solidFill>
                  <a:latin typeface="隶书" pitchFamily="49" charset="-122"/>
                  <a:ea typeface="隶书" pitchFamily="49" charset="-122"/>
                </a:rPr>
                <a:t>auto</a:t>
              </a:r>
              <a:r>
                <a:rPr kumimoji="1" lang="zh-CN" altLang="en-US" sz="2800" dirty="0">
                  <a:solidFill>
                    <a:srgbClr val="3333FF"/>
                  </a:solidFill>
                  <a:latin typeface="隶书" pitchFamily="49" charset="-122"/>
                  <a:ea typeface="隶书" pitchFamily="49" charset="-122"/>
                </a:rPr>
                <a:t>完全相同</a:t>
              </a:r>
              <a:r>
                <a:rPr kumimoji="1" lang="zh-CN" altLang="en-US" sz="2800" dirty="0">
                  <a:solidFill>
                    <a:srgbClr val="3333FF"/>
                  </a:solidFill>
                  <a:ea typeface="隶书" pitchFamily="49" charset="-122"/>
                </a:rPr>
                <a:t>。</a:t>
              </a:r>
              <a:endParaRPr kumimoji="1" lang="en-US" altLang="zh-CN" sz="2800" dirty="0">
                <a:solidFill>
                  <a:srgbClr val="3333FF"/>
                </a:solidFill>
                <a:ea typeface="隶书" pitchFamily="49" charset="-122"/>
              </a:endParaRPr>
            </a:p>
            <a:p>
              <a:pPr marL="514350" indent="-514350">
                <a:buFont typeface="+mj-ea"/>
                <a:buAutoNum type="circleNumDbPlain"/>
              </a:pPr>
              <a:r>
                <a:rPr kumimoji="1" lang="en-US" altLang="zh-CN" sz="2800" dirty="0">
                  <a:solidFill>
                    <a:srgbClr val="3333FF"/>
                  </a:solidFill>
                  <a:latin typeface="等线" panose="02010600030101010101" pitchFamily="2" charset="-122"/>
                  <a:ea typeface="隶书" pitchFamily="49" charset="-122"/>
                </a:rPr>
                <a:t>register</a:t>
              </a:r>
              <a:r>
                <a:rPr kumimoji="1" lang="zh-CN" altLang="en-US" sz="2800" dirty="0">
                  <a:solidFill>
                    <a:srgbClr val="3333FF"/>
                  </a:solidFill>
                  <a:latin typeface="等线" panose="02010600030101010101" pitchFamily="2" charset="-122"/>
                  <a:ea typeface="隶书" pitchFamily="49" charset="-122"/>
                </a:rPr>
                <a:t>仅仅只是优化声明，即仅仅只是表示建议编译器尽可能在</a:t>
              </a:r>
              <a:r>
                <a:rPr kumimoji="1" lang="en-US" altLang="zh-CN" sz="2800" dirty="0">
                  <a:solidFill>
                    <a:srgbClr val="3333FF"/>
                  </a:solidFill>
                  <a:latin typeface="等线" panose="02010600030101010101" pitchFamily="2" charset="-122"/>
                  <a:ea typeface="隶书" pitchFamily="49" charset="-122"/>
                </a:rPr>
                <a:t>CPU</a:t>
              </a:r>
              <a:r>
                <a:rPr kumimoji="1" lang="zh-CN" altLang="en-US" sz="2800" dirty="0">
                  <a:solidFill>
                    <a:srgbClr val="3333FF"/>
                  </a:solidFill>
                  <a:latin typeface="等线" panose="02010600030101010101" pitchFamily="2" charset="-122"/>
                  <a:ea typeface="隶书" pitchFamily="49" charset="-122"/>
                </a:rPr>
                <a:t>的寄存器中为变量分配存储空间，若失败则与</a:t>
              </a:r>
              <a:r>
                <a:rPr kumimoji="1" lang="en-US" altLang="zh-CN" sz="2800" dirty="0">
                  <a:solidFill>
                    <a:srgbClr val="3333FF"/>
                  </a:solidFill>
                  <a:latin typeface="等线" panose="02010600030101010101" pitchFamily="2" charset="-122"/>
                  <a:ea typeface="隶书" pitchFamily="49" charset="-122"/>
                </a:rPr>
                <a:t>auto</a:t>
              </a:r>
              <a:r>
                <a:rPr kumimoji="1" lang="zh-CN" altLang="en-US" sz="2800" dirty="0">
                  <a:solidFill>
                    <a:srgbClr val="3333FF"/>
                  </a:solidFill>
                  <a:latin typeface="等线" panose="02010600030101010101" pitchFamily="2" charset="-122"/>
                  <a:ea typeface="隶书" pitchFamily="49" charset="-122"/>
                </a:rPr>
                <a:t>一样在动态存储区中分配存储空间。</a:t>
              </a:r>
              <a:endParaRPr kumimoji="1" lang="en-US" altLang="zh-CN" sz="2800" dirty="0">
                <a:solidFill>
                  <a:srgbClr val="3333FF"/>
                </a:solidFill>
                <a:latin typeface="等线" panose="02010600030101010101" pitchFamily="2" charset="-122"/>
                <a:ea typeface="隶书" pitchFamily="49" charset="-122"/>
              </a:endParaRPr>
            </a:p>
            <a:p>
              <a:pPr marL="51435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寄存器中的</a:t>
              </a:r>
              <a:r>
                <a:rPr kumimoji="1" lang="zh-CN" altLang="en-US" sz="2800" dirty="0">
                  <a:solidFill>
                    <a:srgbClr val="3333FF"/>
                  </a:solidFill>
                  <a:latin typeface="隶书" pitchFamily="49" charset="-122"/>
                  <a:ea typeface="隶书" pitchFamily="49" charset="-122"/>
                </a:rPr>
                <a:t>变量一般只用来存储整形数据。</a:t>
              </a:r>
              <a:endParaRPr kumimoji="1" lang="en-US" altLang="zh-CN" sz="2800" dirty="0">
                <a:solidFill>
                  <a:srgbClr val="3333FF"/>
                </a:solidFill>
                <a:latin typeface="隶书" pitchFamily="49" charset="-122"/>
                <a:ea typeface="隶书" pitchFamily="49" charset="-122"/>
              </a:endParaRPr>
            </a:p>
            <a:p>
              <a:pPr marL="51435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寄存器中的</a:t>
              </a:r>
              <a:r>
                <a:rPr kumimoji="1" lang="zh-CN" altLang="en-US" sz="2800" dirty="0">
                  <a:solidFill>
                    <a:srgbClr val="3333FF"/>
                  </a:solidFill>
                  <a:latin typeface="隶书" pitchFamily="49" charset="-122"/>
                  <a:ea typeface="隶书" pitchFamily="49" charset="-122"/>
                </a:rPr>
                <a:t>变量不能进行取地址操作</a:t>
              </a:r>
              <a:r>
                <a:rPr kumimoji="1" lang="en-US" altLang="zh-CN" sz="2800" b="1" dirty="0">
                  <a:solidFill>
                    <a:srgbClr val="FF0000"/>
                  </a:solidFill>
                  <a:latin typeface="隶书" pitchFamily="49" charset="-122"/>
                  <a:ea typeface="隶书" pitchFamily="49" charset="-122"/>
                </a:rPr>
                <a:t>[</a:t>
              </a:r>
              <a:r>
                <a:rPr kumimoji="1" lang="en-US" altLang="zh-CN" sz="2800" dirty="0">
                  <a:solidFill>
                    <a:srgbClr val="FF0000"/>
                  </a:solidFill>
                  <a:latin typeface="隶书" pitchFamily="49" charset="-122"/>
                  <a:ea typeface="隶书" pitchFamily="49" charset="-122"/>
                </a:rPr>
                <a:t>&amp;</a:t>
              </a:r>
              <a:r>
                <a:rPr kumimoji="1" lang="zh-CN" altLang="en-US" sz="2800" dirty="0">
                  <a:solidFill>
                    <a:srgbClr val="00B0F0"/>
                  </a:solidFill>
                  <a:latin typeface="隶书" pitchFamily="49" charset="-122"/>
                  <a:ea typeface="隶书" pitchFamily="49" charset="-122"/>
                </a:rPr>
                <a:t>运算</a:t>
              </a:r>
              <a:r>
                <a:rPr kumimoji="1" lang="en-US" altLang="zh-CN" sz="2800" b="1" dirty="0">
                  <a:solidFill>
                    <a:srgbClr val="FF0000"/>
                  </a:solidFill>
                  <a:latin typeface="隶书" pitchFamily="49" charset="-122"/>
                  <a:ea typeface="隶书" pitchFamily="49" charset="-122"/>
                </a:rPr>
                <a:t>]</a:t>
              </a:r>
              <a:r>
                <a:rPr kumimoji="1" lang="zh-CN" altLang="en-US" sz="2800" dirty="0">
                  <a:solidFill>
                    <a:srgbClr val="3333FF"/>
                  </a:solidFill>
                  <a:latin typeface="隶书" pitchFamily="49" charset="-122"/>
                  <a:ea typeface="隶书" pitchFamily="49" charset="-122"/>
                </a:rPr>
                <a:t>。</a:t>
              </a:r>
              <a:endParaRPr kumimoji="1" lang="en-US" altLang="zh-CN" sz="2800" dirty="0">
                <a:solidFill>
                  <a:srgbClr val="3333FF"/>
                </a:solidFill>
                <a:latin typeface="等线" panose="02010600030101010101" pitchFamily="2" charset="-122"/>
                <a:ea typeface="隶书" pitchFamily="49" charset="-122"/>
              </a:endParaRPr>
            </a:p>
          </p:txBody>
        </p:sp>
        <p:pic>
          <p:nvPicPr>
            <p:cNvPr id="7" name="图片 6">
              <a:extLst>
                <a:ext uri="{FF2B5EF4-FFF2-40B4-BE49-F238E27FC236}">
                  <a16:creationId xmlns:a16="http://schemas.microsoft.com/office/drawing/2014/main" id="{E9F8ED27-F437-4E83-AE01-8A4C11510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98" y="4780854"/>
              <a:ext cx="588765" cy="558595"/>
            </a:xfrm>
            <a:prstGeom prst="rect">
              <a:avLst/>
            </a:prstGeom>
          </p:spPr>
        </p:pic>
      </p:grpSp>
      <p:sp>
        <p:nvSpPr>
          <p:cNvPr id="8" name="灯片编号占位符 7">
            <a:extLst>
              <a:ext uri="{FF2B5EF4-FFF2-40B4-BE49-F238E27FC236}">
                <a16:creationId xmlns:a16="http://schemas.microsoft.com/office/drawing/2014/main" id="{5949592C-E973-4C10-83A8-8606CC317BB6}"/>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41</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69145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31038"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extern</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2EC29634-512E-4AAE-8E2D-F278439F4581}"/>
              </a:ext>
            </a:extLst>
          </p:cNvPr>
          <p:cNvSpPr/>
          <p:nvPr/>
        </p:nvSpPr>
        <p:spPr>
          <a:xfrm>
            <a:off x="1" y="586147"/>
            <a:ext cx="12161519" cy="1384995"/>
          </a:xfrm>
          <a:prstGeom prst="rect">
            <a:avLst/>
          </a:prstGeom>
        </p:spPr>
        <p:txBody>
          <a:bodyPr wrap="square">
            <a:spAutoFit/>
          </a:bodyPr>
          <a:lstStyle/>
          <a:p>
            <a:r>
              <a:rPr lang="zh-CN" altLang="en-US" sz="2800" dirty="0">
                <a:solidFill>
                  <a:srgbClr val="0070C0"/>
                </a:solidFill>
                <a:latin typeface="隶书" panose="02010509060101010101" pitchFamily="49" charset="-122"/>
                <a:ea typeface="隶书" panose="02010509060101010101" pitchFamily="49" charset="-122"/>
              </a:rPr>
              <a:t>存储空间</a:t>
            </a:r>
            <a:r>
              <a:rPr lang="zh-CN" altLang="en-US" sz="2800" dirty="0">
                <a:latin typeface="隶书" panose="02010509060101010101" pitchFamily="49" charset="-122"/>
                <a:ea typeface="隶书" panose="02010509060101010101" pitchFamily="49" charset="-122"/>
              </a:rPr>
              <a:t>：静态存储区。</a:t>
            </a:r>
            <a:r>
              <a:rPr lang="zh-CN" altLang="en-US" sz="2800" dirty="0">
                <a:solidFill>
                  <a:srgbClr val="0070C0"/>
                </a:solidFill>
                <a:latin typeface="隶书" panose="02010509060101010101" pitchFamily="49" charset="-122"/>
                <a:ea typeface="隶书" panose="02010509060101010101" pitchFamily="49" charset="-122"/>
              </a:rPr>
              <a:t>  </a:t>
            </a:r>
            <a:endParaRPr lang="en-US" altLang="zh-CN" sz="2800" dirty="0">
              <a:solidFill>
                <a:srgbClr val="0070C0"/>
              </a:solidFill>
              <a:latin typeface="隶书" panose="02010509060101010101" pitchFamily="49" charset="-122"/>
              <a:ea typeface="隶书" panose="02010509060101010101" pitchFamily="49" charset="-122"/>
            </a:endParaRPr>
          </a:p>
          <a:p>
            <a:r>
              <a:rPr lang="en-US" altLang="zh-CN" sz="2800" dirty="0">
                <a:solidFill>
                  <a:srgbClr val="0070C0"/>
                </a:solidFill>
                <a:latin typeface="隶书" panose="02010509060101010101" pitchFamily="49" charset="-122"/>
                <a:ea typeface="隶书" panose="02010509060101010101" pitchFamily="49" charset="-122"/>
              </a:rPr>
              <a:t>  </a:t>
            </a:r>
            <a:r>
              <a:rPr lang="zh-CN" altLang="en-US" sz="2800" dirty="0">
                <a:solidFill>
                  <a:srgbClr val="0070C0"/>
                </a:solidFill>
                <a:latin typeface="隶书" panose="02010509060101010101" pitchFamily="49" charset="-122"/>
                <a:ea typeface="隶书" panose="02010509060101010101" pitchFamily="49" charset="-122"/>
              </a:rPr>
              <a:t>作用域</a:t>
            </a:r>
            <a:r>
              <a:rPr lang="zh-CN" altLang="en-US" sz="2800" dirty="0">
                <a:latin typeface="隶书" panose="02010509060101010101" pitchFamily="49" charset="-122"/>
                <a:ea typeface="隶书" panose="02010509060101010101" pitchFamily="49" charset="-122"/>
              </a:rPr>
              <a:t>：声明变量的位置至所在源程序文件、程序块或函数体结束处。</a:t>
            </a:r>
            <a:endParaRPr lang="en-US" altLang="zh-CN" sz="2800" dirty="0">
              <a:latin typeface="隶书" panose="02010509060101010101" pitchFamily="49" charset="-122"/>
              <a:ea typeface="隶书" panose="02010509060101010101" pitchFamily="49" charset="-122"/>
            </a:endParaRPr>
          </a:p>
          <a:p>
            <a:r>
              <a:rPr lang="zh-CN" altLang="en-US" sz="2800" dirty="0">
                <a:solidFill>
                  <a:srgbClr val="0070C0"/>
                </a:solidFill>
                <a:latin typeface="隶书" panose="02010509060101010101" pitchFamily="49" charset="-122"/>
                <a:ea typeface="隶书" panose="02010509060101010101" pitchFamily="49" charset="-122"/>
              </a:rPr>
              <a:t>  生存期</a:t>
            </a:r>
            <a:r>
              <a:rPr lang="zh-CN" altLang="en-US" sz="2800" dirty="0">
                <a:latin typeface="隶书" panose="02010509060101010101" pitchFamily="49" charset="-122"/>
                <a:ea typeface="隶书" panose="02010509060101010101" pitchFamily="49" charset="-122"/>
              </a:rPr>
              <a:t>：程序运行开始至结束的整个过程中。</a:t>
            </a:r>
            <a:endParaRPr lang="en-US" altLang="zh-CN" sz="2800" dirty="0">
              <a:latin typeface="隶书" panose="02010509060101010101" pitchFamily="49" charset="-122"/>
              <a:ea typeface="隶书" panose="02010509060101010101" pitchFamily="49" charset="-122"/>
            </a:endParaRPr>
          </a:p>
        </p:txBody>
      </p:sp>
      <p:grpSp>
        <p:nvGrpSpPr>
          <p:cNvPr id="5" name="组合 4">
            <a:extLst>
              <a:ext uri="{FF2B5EF4-FFF2-40B4-BE49-F238E27FC236}">
                <a16:creationId xmlns:a16="http://schemas.microsoft.com/office/drawing/2014/main" id="{6E53ACCD-094D-44D9-831A-D78AC20DAC7C}"/>
              </a:ext>
            </a:extLst>
          </p:cNvPr>
          <p:cNvGrpSpPr/>
          <p:nvPr/>
        </p:nvGrpSpPr>
        <p:grpSpPr>
          <a:xfrm>
            <a:off x="31834" y="2010331"/>
            <a:ext cx="12160165" cy="1872508"/>
            <a:chOff x="44898" y="4780854"/>
            <a:chExt cx="12163880" cy="1872508"/>
          </a:xfrm>
        </p:grpSpPr>
        <p:sp>
          <p:nvSpPr>
            <p:cNvPr id="6" name="Text Box 88">
              <a:extLst>
                <a:ext uri="{FF2B5EF4-FFF2-40B4-BE49-F238E27FC236}">
                  <a16:creationId xmlns:a16="http://schemas.microsoft.com/office/drawing/2014/main" id="{46D7D98A-CF91-4434-B8E2-EAF52DF2395C}"/>
                </a:ext>
              </a:extLst>
            </p:cNvPr>
            <p:cNvSpPr txBox="1">
              <a:spLocks noChangeArrowheads="1"/>
            </p:cNvSpPr>
            <p:nvPr/>
          </p:nvSpPr>
          <p:spPr bwMode="auto">
            <a:xfrm>
              <a:off x="101942" y="4835299"/>
              <a:ext cx="12106836" cy="1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endParaRPr kumimoji="1" lang="en-US" altLang="zh-CN" sz="2400" dirty="0">
                <a:solidFill>
                  <a:srgbClr val="FF0000"/>
                </a:solidFill>
                <a:ea typeface="隶书" pitchFamily="49" charset="-122"/>
              </a:endParaRPr>
            </a:p>
            <a:p>
              <a:pPr marL="514350" indent="-514350">
                <a:buFont typeface="+mj-ea"/>
                <a:buAutoNum type="circleNumDbPlain"/>
              </a:pPr>
              <a:r>
                <a:rPr kumimoji="1" lang="en-US" altLang="zh-CN" sz="2800" dirty="0">
                  <a:solidFill>
                    <a:srgbClr val="3333FF"/>
                  </a:solidFill>
                  <a:latin typeface="等线" panose="02010600030101010101" pitchFamily="2" charset="-122"/>
                  <a:ea typeface="隶书" pitchFamily="49" charset="-122"/>
                </a:rPr>
                <a:t>extern</a:t>
              </a:r>
              <a:r>
                <a:rPr kumimoji="1" lang="zh-CN" altLang="en-US" sz="2800" dirty="0">
                  <a:solidFill>
                    <a:srgbClr val="3333FF"/>
                  </a:solidFill>
                  <a:latin typeface="隶书" pitchFamily="49" charset="-122"/>
                  <a:ea typeface="隶书" pitchFamily="49" charset="-122"/>
                </a:rPr>
                <a:t>存储类型并不声明存储类型，而是用来对程序中已经定义过的全局变量进行进行作用域扩展。</a:t>
              </a:r>
              <a:endParaRPr kumimoji="1" lang="en-US" altLang="zh-CN" sz="2800" dirty="0">
                <a:solidFill>
                  <a:srgbClr val="3333FF"/>
                </a:solidFill>
                <a:ea typeface="隶书" pitchFamily="49" charset="-122"/>
              </a:endParaRPr>
            </a:p>
            <a:p>
              <a:pPr marL="51435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作用域扩展可以在单个文件内也可以跨文件。</a:t>
              </a:r>
              <a:endParaRPr kumimoji="1" lang="en-US" altLang="zh-CN" sz="2800" dirty="0">
                <a:solidFill>
                  <a:srgbClr val="3333FF"/>
                </a:solidFill>
                <a:latin typeface="等线" panose="02010600030101010101" pitchFamily="2" charset="-122"/>
                <a:ea typeface="隶书" pitchFamily="49" charset="-122"/>
              </a:endParaRPr>
            </a:p>
          </p:txBody>
        </p:sp>
        <p:pic>
          <p:nvPicPr>
            <p:cNvPr id="7" name="图片 6">
              <a:extLst>
                <a:ext uri="{FF2B5EF4-FFF2-40B4-BE49-F238E27FC236}">
                  <a16:creationId xmlns:a16="http://schemas.microsoft.com/office/drawing/2014/main" id="{028A5739-1DB0-44C7-8D64-937BE753AB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98" y="4780854"/>
              <a:ext cx="588765" cy="558595"/>
            </a:xfrm>
            <a:prstGeom prst="rect">
              <a:avLst/>
            </a:prstGeom>
          </p:spPr>
        </p:pic>
      </p:grpSp>
      <p:sp>
        <p:nvSpPr>
          <p:cNvPr id="8" name="灯片编号占位符 7">
            <a:extLst>
              <a:ext uri="{FF2B5EF4-FFF2-40B4-BE49-F238E27FC236}">
                <a16:creationId xmlns:a16="http://schemas.microsoft.com/office/drawing/2014/main" id="{DD542153-8C57-4255-817B-5A133E31FD0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42</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649858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0445DB7F-C241-4811-9D03-BC2263812245}"/>
              </a:ext>
            </a:extLst>
          </p:cNvPr>
          <p:cNvSpPr txBox="1">
            <a:spLocks noChangeArrowheads="1"/>
          </p:cNvSpPr>
          <p:nvPr/>
        </p:nvSpPr>
        <p:spPr>
          <a:xfrm>
            <a:off x="5888997" y="3065065"/>
            <a:ext cx="5675985" cy="378565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b;</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fun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temp;</a:t>
            </a:r>
            <a:r>
              <a:rPr lang="en-US" altLang="zh-CN" sz="44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 </a:t>
            </a:r>
            <a:endParaRPr lang="en-US" altLang="zh-CN" sz="3200"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temp = a;</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b;</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b = temp;</a:t>
            </a:r>
            <a:endParaRPr lang="en-US" altLang="zh-CN" b="1" dirty="0">
              <a:solidFill>
                <a:srgbClr val="FF000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10" name="Rectangle 2">
            <a:extLst>
              <a:ext uri="{FF2B5EF4-FFF2-40B4-BE49-F238E27FC236}">
                <a16:creationId xmlns:a16="http://schemas.microsoft.com/office/drawing/2014/main" id="{FF77376F-4CFC-4A92-AA68-97029F7F171D}"/>
              </a:ext>
            </a:extLst>
          </p:cNvPr>
          <p:cNvSpPr txBox="1">
            <a:spLocks noChangeArrowheads="1"/>
          </p:cNvSpPr>
          <p:nvPr/>
        </p:nvSpPr>
        <p:spPr>
          <a:xfrm>
            <a:off x="16779" y="1126073"/>
            <a:ext cx="5774422" cy="5724644"/>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void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fun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extern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b;</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b = 20;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fun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ts val="360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3" name="文本框 2">
            <a:extLst>
              <a:ext uri="{FF2B5EF4-FFF2-40B4-BE49-F238E27FC236}">
                <a16:creationId xmlns:a16="http://schemas.microsoft.com/office/drawing/2014/main" id="{3313E105-82C0-4225-BEAA-9E44E114D7A9}"/>
              </a:ext>
            </a:extLst>
          </p:cNvPr>
          <p:cNvSpPr txBox="1"/>
          <p:nvPr/>
        </p:nvSpPr>
        <p:spPr>
          <a:xfrm>
            <a:off x="3131038"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extern</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8" name="矩形 7">
            <a:extLst>
              <a:ext uri="{FF2B5EF4-FFF2-40B4-BE49-F238E27FC236}">
                <a16:creationId xmlns:a16="http://schemas.microsoft.com/office/drawing/2014/main" id="{E95573D5-EB68-4E89-ACAD-06F47D3A43B4}"/>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6-14</a:t>
            </a:r>
            <a:r>
              <a:rPr lang="en-US" altLang="zh-CN" sz="2800" b="1" dirty="0">
                <a:latin typeface="隶书" pitchFamily="49" charset="-122"/>
              </a:rPr>
              <a:t>】</a:t>
            </a:r>
            <a:r>
              <a:rPr lang="zh-CN" altLang="en-US" sz="2800" b="1" dirty="0">
                <a:latin typeface="隶书" pitchFamily="49" charset="-122"/>
              </a:rPr>
              <a:t>在同一源程序文件内通过</a:t>
            </a:r>
            <a:r>
              <a:rPr lang="en-US" altLang="zh-CN" sz="2800" b="1" dirty="0">
                <a:latin typeface="隶书" pitchFamily="49" charset="-122"/>
              </a:rPr>
              <a:t>extern</a:t>
            </a:r>
            <a:r>
              <a:rPr lang="zh-CN" altLang="en-US" sz="2800" b="1" dirty="0">
                <a:latin typeface="隶书" pitchFamily="49" charset="-122"/>
              </a:rPr>
              <a:t>扩展全局变量作用域。</a:t>
            </a:r>
            <a:endParaRPr lang="en-US" altLang="zh-CN" sz="2800" b="1" dirty="0">
              <a:latin typeface="隶书" pitchFamily="49" charset="-122"/>
            </a:endParaRPr>
          </a:p>
        </p:txBody>
      </p:sp>
      <p:grpSp>
        <p:nvGrpSpPr>
          <p:cNvPr id="11" name="组合 10">
            <a:extLst>
              <a:ext uri="{FF2B5EF4-FFF2-40B4-BE49-F238E27FC236}">
                <a16:creationId xmlns:a16="http://schemas.microsoft.com/office/drawing/2014/main" id="{E756E5FF-43B5-4D25-BDDE-7925D3270408}"/>
              </a:ext>
            </a:extLst>
          </p:cNvPr>
          <p:cNvGrpSpPr/>
          <p:nvPr/>
        </p:nvGrpSpPr>
        <p:grpSpPr>
          <a:xfrm>
            <a:off x="8613502" y="3240434"/>
            <a:ext cx="2925304" cy="3404205"/>
            <a:chOff x="1996145" y="1802166"/>
            <a:chExt cx="2925304" cy="3404205"/>
          </a:xfrm>
        </p:grpSpPr>
        <p:sp>
          <p:nvSpPr>
            <p:cNvPr id="12" name="右大括号 11">
              <a:extLst>
                <a:ext uri="{FF2B5EF4-FFF2-40B4-BE49-F238E27FC236}">
                  <a16:creationId xmlns:a16="http://schemas.microsoft.com/office/drawing/2014/main" id="{73651810-13F0-498C-A09F-E71AFFF98D98}"/>
                </a:ext>
              </a:extLst>
            </p:cNvPr>
            <p:cNvSpPr/>
            <p:nvPr/>
          </p:nvSpPr>
          <p:spPr>
            <a:xfrm>
              <a:off x="1996145" y="1802166"/>
              <a:ext cx="256000" cy="3404205"/>
            </a:xfrm>
            <a:prstGeom prst="rightBrace">
              <a:avLst>
                <a:gd name="adj1" fmla="val 46479"/>
                <a:gd name="adj2" fmla="val 4918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EB6344AA-FF76-4DEB-AB81-0E9F087C5D49}"/>
                </a:ext>
              </a:extLst>
            </p:cNvPr>
            <p:cNvSpPr txBox="1"/>
            <p:nvPr/>
          </p:nvSpPr>
          <p:spPr>
            <a:xfrm>
              <a:off x="2256937" y="3229008"/>
              <a:ext cx="2664512" cy="461665"/>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变量</a:t>
              </a:r>
              <a:r>
                <a:rPr lang="en-US" altLang="zh-CN" sz="2400" dirty="0">
                  <a:solidFill>
                    <a:srgbClr val="0070C0"/>
                  </a:solidFill>
                  <a:latin typeface="华文新魏" panose="02010800040101010101" pitchFamily="2" charset="-122"/>
                  <a:ea typeface="华文新魏" panose="02010800040101010101" pitchFamily="2" charset="-122"/>
                </a:rPr>
                <a:t>a</a:t>
              </a:r>
              <a:r>
                <a:rPr lang="zh-CN" altLang="en-US" sz="2400" dirty="0">
                  <a:solidFill>
                    <a:srgbClr val="0070C0"/>
                  </a:solidFill>
                  <a:latin typeface="华文新魏" panose="02010800040101010101" pitchFamily="2" charset="-122"/>
                  <a:ea typeface="华文新魏" panose="02010800040101010101" pitchFamily="2" charset="-122"/>
                </a:rPr>
                <a:t>和</a:t>
              </a:r>
              <a:r>
                <a:rPr lang="en-US" altLang="zh-CN" sz="2400" dirty="0">
                  <a:solidFill>
                    <a:srgbClr val="0070C0"/>
                  </a:solidFill>
                  <a:latin typeface="华文新魏" panose="02010800040101010101" pitchFamily="2" charset="-122"/>
                  <a:ea typeface="华文新魏" panose="02010800040101010101" pitchFamily="2" charset="-122"/>
                </a:rPr>
                <a:t>b</a:t>
              </a:r>
              <a:r>
                <a:rPr lang="zh-CN" altLang="en-US" sz="2400" dirty="0">
                  <a:solidFill>
                    <a:srgbClr val="0070C0"/>
                  </a:solidFill>
                  <a:latin typeface="华文新魏" panose="02010800040101010101" pitchFamily="2" charset="-122"/>
                  <a:ea typeface="华文新魏" panose="02010800040101010101" pitchFamily="2" charset="-122"/>
                </a:rPr>
                <a:t>的作用域</a:t>
              </a:r>
            </a:p>
          </p:txBody>
        </p:sp>
      </p:grpSp>
      <p:grpSp>
        <p:nvGrpSpPr>
          <p:cNvPr id="14" name="组合 13">
            <a:extLst>
              <a:ext uri="{FF2B5EF4-FFF2-40B4-BE49-F238E27FC236}">
                <a16:creationId xmlns:a16="http://schemas.microsoft.com/office/drawing/2014/main" id="{891D3309-F486-4CA4-B4BC-853A278514EC}"/>
              </a:ext>
            </a:extLst>
          </p:cNvPr>
          <p:cNvGrpSpPr/>
          <p:nvPr/>
        </p:nvGrpSpPr>
        <p:grpSpPr>
          <a:xfrm>
            <a:off x="3131038" y="3131577"/>
            <a:ext cx="2319855" cy="3404205"/>
            <a:chOff x="1996145" y="1802166"/>
            <a:chExt cx="2319855" cy="3404205"/>
          </a:xfrm>
        </p:grpSpPr>
        <p:sp>
          <p:nvSpPr>
            <p:cNvPr id="15" name="右大括号 14">
              <a:extLst>
                <a:ext uri="{FF2B5EF4-FFF2-40B4-BE49-F238E27FC236}">
                  <a16:creationId xmlns:a16="http://schemas.microsoft.com/office/drawing/2014/main" id="{96ECC25F-F97E-4D02-B140-0D066EB9B552}"/>
                </a:ext>
              </a:extLst>
            </p:cNvPr>
            <p:cNvSpPr/>
            <p:nvPr/>
          </p:nvSpPr>
          <p:spPr>
            <a:xfrm>
              <a:off x="1996145" y="1802166"/>
              <a:ext cx="256000" cy="3404205"/>
            </a:xfrm>
            <a:prstGeom prst="rightBrace">
              <a:avLst>
                <a:gd name="adj1" fmla="val 46479"/>
                <a:gd name="adj2" fmla="val 4918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CA8766C-2F28-491E-ACA8-10252CEA0034}"/>
                </a:ext>
              </a:extLst>
            </p:cNvPr>
            <p:cNvSpPr txBox="1"/>
            <p:nvPr/>
          </p:nvSpPr>
          <p:spPr>
            <a:xfrm>
              <a:off x="2284675" y="3046128"/>
              <a:ext cx="2031325" cy="830997"/>
            </a:xfrm>
            <a:prstGeom prst="rect">
              <a:avLst/>
            </a:prstGeom>
            <a:noFill/>
          </p:spPr>
          <p:txBody>
            <a:bodyPr wrap="none" rtlCol="0">
              <a:spAutoFit/>
            </a:bodyPr>
            <a:lstStyle/>
            <a:p>
              <a:r>
                <a:rPr lang="zh-CN" altLang="en-US" sz="2400" dirty="0">
                  <a:solidFill>
                    <a:srgbClr val="0070C0"/>
                  </a:solidFill>
                  <a:latin typeface="华文新魏" panose="02010800040101010101" pitchFamily="2" charset="-122"/>
                  <a:ea typeface="华文新魏" panose="02010800040101010101" pitchFamily="2" charset="-122"/>
                </a:rPr>
                <a:t>变量</a:t>
              </a:r>
              <a:r>
                <a:rPr lang="en-US" altLang="zh-CN" sz="2400" dirty="0">
                  <a:solidFill>
                    <a:srgbClr val="0070C0"/>
                  </a:solidFill>
                  <a:latin typeface="华文新魏" panose="02010800040101010101" pitchFamily="2" charset="-122"/>
                  <a:ea typeface="华文新魏" panose="02010800040101010101" pitchFamily="2" charset="-122"/>
                </a:rPr>
                <a:t>a</a:t>
              </a:r>
              <a:r>
                <a:rPr lang="zh-CN" altLang="en-US" sz="2400" dirty="0">
                  <a:solidFill>
                    <a:srgbClr val="0070C0"/>
                  </a:solidFill>
                  <a:latin typeface="华文新魏" panose="02010800040101010101" pitchFamily="2" charset="-122"/>
                  <a:ea typeface="华文新魏" panose="02010800040101010101" pitchFamily="2" charset="-122"/>
                </a:rPr>
                <a:t>和</a:t>
              </a:r>
              <a:r>
                <a:rPr lang="en-US" altLang="zh-CN" sz="2400" dirty="0">
                  <a:solidFill>
                    <a:srgbClr val="0070C0"/>
                  </a:solidFill>
                  <a:latin typeface="华文新魏" panose="02010800040101010101" pitchFamily="2" charset="-122"/>
                  <a:ea typeface="华文新魏" panose="02010800040101010101" pitchFamily="2" charset="-122"/>
                </a:rPr>
                <a:t>b</a:t>
              </a:r>
            </a:p>
            <a:p>
              <a:r>
                <a:rPr lang="zh-CN" altLang="en-US" sz="2400" dirty="0">
                  <a:solidFill>
                    <a:srgbClr val="0070C0"/>
                  </a:solidFill>
                  <a:latin typeface="华文新魏" panose="02010800040101010101" pitchFamily="2" charset="-122"/>
                  <a:ea typeface="华文新魏" panose="02010800040101010101" pitchFamily="2" charset="-122"/>
                </a:rPr>
                <a:t>扩展的作用域</a:t>
              </a:r>
            </a:p>
          </p:txBody>
        </p:sp>
      </p:grpSp>
      <p:sp>
        <p:nvSpPr>
          <p:cNvPr id="17" name="灯片编号占位符 16">
            <a:extLst>
              <a:ext uri="{FF2B5EF4-FFF2-40B4-BE49-F238E27FC236}">
                <a16:creationId xmlns:a16="http://schemas.microsoft.com/office/drawing/2014/main" id="{F560E221-DC17-4C75-8E43-FF1F849E1C9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43</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36733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FF77376F-4CFC-4A92-AA68-97029F7F171D}"/>
              </a:ext>
            </a:extLst>
          </p:cNvPr>
          <p:cNvSpPr txBox="1">
            <a:spLocks noChangeArrowheads="1"/>
          </p:cNvSpPr>
          <p:nvPr/>
        </p:nvSpPr>
        <p:spPr>
          <a:xfrm>
            <a:off x="16778" y="1580271"/>
            <a:ext cx="5796192"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power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extern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2;</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for(</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1; i &lt;= 10; 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"2^</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power(i));</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a;</a:t>
            </a:r>
          </a:p>
        </p:txBody>
      </p:sp>
      <p:sp>
        <p:nvSpPr>
          <p:cNvPr id="3" name="文本框 2">
            <a:extLst>
              <a:ext uri="{FF2B5EF4-FFF2-40B4-BE49-F238E27FC236}">
                <a16:creationId xmlns:a16="http://schemas.microsoft.com/office/drawing/2014/main" id="{3313E105-82C0-4225-BEAA-9E44E114D7A9}"/>
              </a:ext>
            </a:extLst>
          </p:cNvPr>
          <p:cNvSpPr txBox="1"/>
          <p:nvPr/>
        </p:nvSpPr>
        <p:spPr>
          <a:xfrm>
            <a:off x="3131038"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extern</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8" name="矩形 7">
            <a:extLst>
              <a:ext uri="{FF2B5EF4-FFF2-40B4-BE49-F238E27FC236}">
                <a16:creationId xmlns:a16="http://schemas.microsoft.com/office/drawing/2014/main" id="{E95573D5-EB68-4E89-ACAD-06F47D3A43B4}"/>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6-15</a:t>
            </a:r>
            <a:r>
              <a:rPr lang="en-US" altLang="zh-CN" sz="2800" b="1" dirty="0">
                <a:latin typeface="隶书" pitchFamily="49" charset="-122"/>
              </a:rPr>
              <a:t>】</a:t>
            </a:r>
            <a:r>
              <a:rPr lang="zh-CN" altLang="en-US" sz="2800" b="1" dirty="0">
                <a:latin typeface="隶书" pitchFamily="49" charset="-122"/>
              </a:rPr>
              <a:t>在不同源程序文件之间通过</a:t>
            </a:r>
            <a:r>
              <a:rPr lang="en-US" altLang="zh-CN" sz="2800" b="1" dirty="0">
                <a:latin typeface="隶书" pitchFamily="49" charset="-122"/>
              </a:rPr>
              <a:t>extern</a:t>
            </a:r>
            <a:r>
              <a:rPr lang="zh-CN" altLang="en-US" sz="2800" b="1" dirty="0">
                <a:latin typeface="隶书" pitchFamily="49" charset="-122"/>
              </a:rPr>
              <a:t>扩展全局变量作用域。</a:t>
            </a:r>
            <a:endParaRPr lang="en-US" altLang="zh-CN" sz="2800" b="1" dirty="0">
              <a:latin typeface="隶书" pitchFamily="49" charset="-122"/>
            </a:endParaRPr>
          </a:p>
        </p:txBody>
      </p:sp>
      <p:sp>
        <p:nvSpPr>
          <p:cNvPr id="9" name="Rectangle 2">
            <a:extLst>
              <a:ext uri="{FF2B5EF4-FFF2-40B4-BE49-F238E27FC236}">
                <a16:creationId xmlns:a16="http://schemas.microsoft.com/office/drawing/2014/main" id="{0445DB7F-C241-4811-9D03-BC2263812245}"/>
              </a:ext>
            </a:extLst>
          </p:cNvPr>
          <p:cNvSpPr txBox="1">
            <a:spLocks noChangeArrowheads="1"/>
          </p:cNvSpPr>
          <p:nvPr/>
        </p:nvSpPr>
        <p:spPr>
          <a:xfrm>
            <a:off x="5893351" y="1580271"/>
            <a:ext cx="5675985" cy="378565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extern 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power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n)</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 = 1;</a:t>
            </a:r>
            <a:r>
              <a:rPr lang="en-US" altLang="zh-CN" sz="44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 </a:t>
            </a:r>
            <a:endParaRPr lang="en-US" altLang="zh-CN" sz="3200" b="1" dirty="0">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1; i &lt;= n; i++) </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p>
          <a:p>
            <a:pPr marL="0" indent="0">
              <a:lnSpc>
                <a:spcPct val="100000"/>
              </a:lnSpc>
              <a:spcBef>
                <a:spcPct val="0"/>
              </a:spcBef>
              <a:buClr>
                <a:schemeClr val="tx2"/>
              </a:buClr>
              <a:buSzPct val="70000"/>
              <a:buFont typeface="Arial" panose="020B0604020202020204" pitchFamily="34" charset="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result;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4" name="文本框 3">
            <a:extLst>
              <a:ext uri="{FF2B5EF4-FFF2-40B4-BE49-F238E27FC236}">
                <a16:creationId xmlns:a16="http://schemas.microsoft.com/office/drawing/2014/main" id="{C8B297EE-FE5F-4B4B-BD32-873E0724271A}"/>
              </a:ext>
            </a:extLst>
          </p:cNvPr>
          <p:cNvSpPr txBox="1"/>
          <p:nvPr/>
        </p:nvSpPr>
        <p:spPr>
          <a:xfrm>
            <a:off x="2243055" y="1188228"/>
            <a:ext cx="1343638" cy="400110"/>
          </a:xfrm>
          <a:prstGeom prst="rect">
            <a:avLst/>
          </a:prstGeom>
          <a:noFill/>
        </p:spPr>
        <p:txBody>
          <a:bodyPr wrap="none" rtlCol="0">
            <a:spAutoFit/>
          </a:bodyPr>
          <a:lstStyle/>
          <a:p>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文件</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file1.c</a:t>
            </a:r>
          </a:p>
        </p:txBody>
      </p:sp>
      <p:sp>
        <p:nvSpPr>
          <p:cNvPr id="17" name="文本框 16">
            <a:extLst>
              <a:ext uri="{FF2B5EF4-FFF2-40B4-BE49-F238E27FC236}">
                <a16:creationId xmlns:a16="http://schemas.microsoft.com/office/drawing/2014/main" id="{F99C6ACF-CD7C-4A21-B77E-30E8CEF62545}"/>
              </a:ext>
            </a:extLst>
          </p:cNvPr>
          <p:cNvSpPr txBox="1"/>
          <p:nvPr/>
        </p:nvSpPr>
        <p:spPr>
          <a:xfrm>
            <a:off x="8059524" y="1180161"/>
            <a:ext cx="1343638" cy="400110"/>
          </a:xfrm>
          <a:prstGeom prst="rect">
            <a:avLst/>
          </a:prstGeom>
          <a:noFill/>
        </p:spPr>
        <p:txBody>
          <a:bodyPr wrap="none" rtlCol="0">
            <a:spAutoFit/>
          </a:bodyPr>
          <a:lstStyle/>
          <a:p>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文件</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file2.c</a:t>
            </a:r>
          </a:p>
        </p:txBody>
      </p:sp>
      <p:sp>
        <p:nvSpPr>
          <p:cNvPr id="5" name="灯片编号占位符 4">
            <a:extLst>
              <a:ext uri="{FF2B5EF4-FFF2-40B4-BE49-F238E27FC236}">
                <a16:creationId xmlns:a16="http://schemas.microsoft.com/office/drawing/2014/main" id="{31C31396-395E-40F7-85AA-4419A61C9B6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44</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231320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22157"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static</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C845095D-37D3-4193-A07C-79BC1C1F38A7}"/>
              </a:ext>
            </a:extLst>
          </p:cNvPr>
          <p:cNvSpPr/>
          <p:nvPr/>
        </p:nvSpPr>
        <p:spPr>
          <a:xfrm>
            <a:off x="1" y="586147"/>
            <a:ext cx="12161519" cy="3539430"/>
          </a:xfrm>
          <a:prstGeom prst="rect">
            <a:avLst/>
          </a:prstGeom>
        </p:spPr>
        <p:txBody>
          <a:bodyPr wrap="square">
            <a:spAutoFit/>
          </a:bodyPr>
          <a:lstStyle/>
          <a:p>
            <a:r>
              <a:rPr lang="zh-CN" altLang="en-US" sz="2800" dirty="0">
                <a:solidFill>
                  <a:srgbClr val="0070C0"/>
                </a:solidFill>
                <a:latin typeface="隶书" panose="02010509060101010101" pitchFamily="49" charset="-122"/>
                <a:ea typeface="隶书" panose="02010509060101010101" pitchFamily="49" charset="-122"/>
              </a:rPr>
              <a:t>存储空间</a:t>
            </a:r>
            <a:r>
              <a:rPr lang="zh-CN" altLang="en-US" sz="2800" dirty="0">
                <a:latin typeface="隶书" panose="02010509060101010101" pitchFamily="49" charset="-122"/>
                <a:ea typeface="隶书" panose="02010509060101010101" pitchFamily="49" charset="-122"/>
              </a:rPr>
              <a:t>：静态存储区。</a:t>
            </a:r>
            <a:r>
              <a:rPr lang="zh-CN" altLang="en-US" sz="2800" dirty="0">
                <a:solidFill>
                  <a:srgbClr val="0070C0"/>
                </a:solidFill>
                <a:latin typeface="隶书" panose="02010509060101010101" pitchFamily="49" charset="-122"/>
                <a:ea typeface="隶书" panose="02010509060101010101" pitchFamily="49" charset="-122"/>
              </a:rPr>
              <a:t>  </a:t>
            </a:r>
            <a:endParaRPr lang="en-US" altLang="zh-CN" sz="2800" dirty="0">
              <a:solidFill>
                <a:srgbClr val="0070C0"/>
              </a:solidFill>
              <a:latin typeface="隶书" panose="02010509060101010101" pitchFamily="49" charset="-122"/>
              <a:ea typeface="隶书" panose="02010509060101010101" pitchFamily="49" charset="-122"/>
            </a:endParaRPr>
          </a:p>
          <a:p>
            <a:r>
              <a:rPr lang="en-US" altLang="zh-CN" sz="2800" dirty="0">
                <a:solidFill>
                  <a:srgbClr val="0070C0"/>
                </a:solidFill>
                <a:latin typeface="隶书" panose="02010509060101010101" pitchFamily="49" charset="-122"/>
                <a:ea typeface="隶书" panose="02010509060101010101" pitchFamily="49" charset="-122"/>
              </a:rPr>
              <a:t>  </a:t>
            </a:r>
            <a:r>
              <a:rPr lang="zh-CN" altLang="en-US" sz="2800" dirty="0">
                <a:solidFill>
                  <a:srgbClr val="0070C0"/>
                </a:solidFill>
                <a:latin typeface="隶书" panose="02010509060101010101" pitchFamily="49" charset="-122"/>
                <a:ea typeface="隶书" panose="02010509060101010101" pitchFamily="49" charset="-122"/>
              </a:rPr>
              <a:t>作用域</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全局静态变量：声明变量的位置至所在源程序文件结尾处。</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      局部静态变量：声明变量的位置至所在程序块或函数体结束处。</a:t>
            </a:r>
            <a:endParaRPr lang="en-US" altLang="zh-CN" sz="2800" dirty="0">
              <a:latin typeface="隶书" panose="02010509060101010101" pitchFamily="49" charset="-122"/>
              <a:ea typeface="隶书" panose="02010509060101010101" pitchFamily="49" charset="-122"/>
            </a:endParaRPr>
          </a:p>
          <a:p>
            <a:r>
              <a:rPr lang="zh-CN" altLang="en-US" sz="2800" dirty="0">
                <a:solidFill>
                  <a:srgbClr val="0070C0"/>
                </a:solidFill>
                <a:latin typeface="隶书" panose="02010509060101010101" pitchFamily="49" charset="-122"/>
                <a:ea typeface="隶书" panose="02010509060101010101" pitchFamily="49" charset="-122"/>
              </a:rPr>
              <a:t>  生存期</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      全局静态变量：程序运行开始至结束的整个过程中。</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      局部静态变量：从程序第一次执行到声明变量的位置开始至整个程序 </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运行结束。</a:t>
            </a:r>
            <a:endParaRPr lang="en-US" altLang="zh-CN" sz="2800" b="1" dirty="0">
              <a:solidFill>
                <a:srgbClr val="FF0000"/>
              </a:solidFill>
              <a:latin typeface="隶书" panose="02010509060101010101" pitchFamily="49" charset="-122"/>
              <a:ea typeface="隶书" panose="02010509060101010101" pitchFamily="49" charset="-122"/>
            </a:endParaRPr>
          </a:p>
        </p:txBody>
      </p:sp>
      <p:grpSp>
        <p:nvGrpSpPr>
          <p:cNvPr id="7" name="组合 6">
            <a:extLst>
              <a:ext uri="{FF2B5EF4-FFF2-40B4-BE49-F238E27FC236}">
                <a16:creationId xmlns:a16="http://schemas.microsoft.com/office/drawing/2014/main" id="{68D578DE-D26A-4046-BF72-1242CF554B01}"/>
              </a:ext>
            </a:extLst>
          </p:cNvPr>
          <p:cNvGrpSpPr/>
          <p:nvPr/>
        </p:nvGrpSpPr>
        <p:grpSpPr>
          <a:xfrm>
            <a:off x="70075" y="4192151"/>
            <a:ext cx="12213366" cy="1431461"/>
            <a:chOff x="64994" y="4344551"/>
            <a:chExt cx="12216045" cy="1431461"/>
          </a:xfrm>
        </p:grpSpPr>
        <p:sp>
          <p:nvSpPr>
            <p:cNvPr id="5" name="Text Box 88">
              <a:extLst>
                <a:ext uri="{FF2B5EF4-FFF2-40B4-BE49-F238E27FC236}">
                  <a16:creationId xmlns:a16="http://schemas.microsoft.com/office/drawing/2014/main" id="{1E3B656B-665F-4437-998A-905B56DA8316}"/>
                </a:ext>
              </a:extLst>
            </p:cNvPr>
            <p:cNvSpPr txBox="1">
              <a:spLocks noChangeArrowheads="1"/>
            </p:cNvSpPr>
            <p:nvPr/>
          </p:nvSpPr>
          <p:spPr bwMode="auto">
            <a:xfrm>
              <a:off x="177901" y="4388836"/>
              <a:ext cx="12103138"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endParaRPr kumimoji="1" lang="en-US" altLang="zh-CN" sz="2400" dirty="0">
                <a:solidFill>
                  <a:srgbClr val="FF0000"/>
                </a:solidFill>
                <a:ea typeface="隶书" pitchFamily="49" charset="-122"/>
              </a:endParaRPr>
            </a:p>
            <a:p>
              <a:pPr marL="51435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局部静态变量一旦创建后一直存在但只在其所属程序块或函数体内可见</a:t>
              </a:r>
              <a:r>
                <a:rPr kumimoji="1" lang="zh-CN" altLang="en-US" sz="2800" dirty="0">
                  <a:solidFill>
                    <a:srgbClr val="3333FF"/>
                  </a:solidFill>
                  <a:latin typeface="隶书" pitchFamily="49" charset="-122"/>
                  <a:ea typeface="隶书" pitchFamily="49" charset="-122"/>
                </a:rPr>
                <a:t>。</a:t>
              </a:r>
              <a:endParaRPr kumimoji="1" lang="en-US" altLang="zh-CN" sz="2800" dirty="0">
                <a:solidFill>
                  <a:srgbClr val="3333FF"/>
                </a:solidFill>
                <a:ea typeface="隶书" pitchFamily="49" charset="-122"/>
              </a:endParaRPr>
            </a:p>
            <a:p>
              <a:pPr marL="514350" indent="-514350">
                <a:buFont typeface="+mj-ea"/>
                <a:buAutoNum type="circleNumDbPlain"/>
              </a:pPr>
              <a:r>
                <a:rPr kumimoji="1" lang="zh-CN" altLang="en-US" sz="2800" dirty="0">
                  <a:solidFill>
                    <a:srgbClr val="3333FF"/>
                  </a:solidFill>
                  <a:latin typeface="等线" panose="02010600030101010101" pitchFamily="2" charset="-122"/>
                  <a:ea typeface="隶书" pitchFamily="49" charset="-122"/>
                </a:rPr>
                <a:t>局部静态变量如果有初始化值则只被初始化一次，默认初始值为</a:t>
              </a:r>
              <a:r>
                <a:rPr kumimoji="1" lang="en-US" altLang="zh-CN" sz="2800" dirty="0">
                  <a:solidFill>
                    <a:srgbClr val="3333FF"/>
                  </a:solidFill>
                  <a:latin typeface="等线" panose="02010600030101010101" pitchFamily="2" charset="-122"/>
                  <a:ea typeface="隶书" pitchFamily="49" charset="-122"/>
                </a:rPr>
                <a:t>0</a:t>
              </a:r>
              <a:r>
                <a:rPr kumimoji="1" lang="zh-CN" altLang="en-US" sz="2800" dirty="0">
                  <a:solidFill>
                    <a:srgbClr val="3333FF"/>
                  </a:solidFill>
                  <a:latin typeface="等线" panose="02010600030101010101" pitchFamily="2" charset="-122"/>
                  <a:ea typeface="隶书" pitchFamily="49" charset="-122"/>
                </a:rPr>
                <a:t>。</a:t>
              </a:r>
              <a:endParaRPr kumimoji="1" lang="en-US" altLang="zh-CN" sz="2800" dirty="0">
                <a:solidFill>
                  <a:srgbClr val="3333FF"/>
                </a:solidFill>
                <a:latin typeface="等线" panose="02010600030101010101" pitchFamily="2" charset="-122"/>
                <a:ea typeface="隶书" pitchFamily="49" charset="-122"/>
              </a:endParaRPr>
            </a:p>
          </p:txBody>
        </p:sp>
        <p:pic>
          <p:nvPicPr>
            <p:cNvPr id="6" name="图片 5">
              <a:extLst>
                <a:ext uri="{FF2B5EF4-FFF2-40B4-BE49-F238E27FC236}">
                  <a16:creationId xmlns:a16="http://schemas.microsoft.com/office/drawing/2014/main" id="{F3BF6A47-2505-42B0-9116-FDFDC1675F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94" y="4344551"/>
              <a:ext cx="588585" cy="558595"/>
            </a:xfrm>
            <a:prstGeom prst="rect">
              <a:avLst/>
            </a:prstGeom>
          </p:spPr>
        </p:pic>
      </p:grpSp>
      <p:sp>
        <p:nvSpPr>
          <p:cNvPr id="8" name="灯片编号占位符 7">
            <a:extLst>
              <a:ext uri="{FF2B5EF4-FFF2-40B4-BE49-F238E27FC236}">
                <a16:creationId xmlns:a16="http://schemas.microsoft.com/office/drawing/2014/main" id="{72CDE241-238D-4AEF-B49D-F042FDBE442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45</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408627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22157"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static</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5" name="Rectangle 2">
            <a:extLst>
              <a:ext uri="{FF2B5EF4-FFF2-40B4-BE49-F238E27FC236}">
                <a16:creationId xmlns:a16="http://schemas.microsoft.com/office/drawing/2014/main" id="{2CEDA18F-FBC3-4FC6-A1F1-3049DFA48A2E}"/>
              </a:ext>
            </a:extLst>
          </p:cNvPr>
          <p:cNvSpPr txBox="1">
            <a:spLocks noChangeArrowheads="1"/>
          </p:cNvSpPr>
          <p:nvPr/>
        </p:nvSpPr>
        <p:spPr>
          <a:xfrm>
            <a:off x="312871" y="1126073"/>
            <a:ext cx="4616181"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endPar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void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print_row</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1; i &lt;= 9; 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print_row</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6" name="矩形 5">
            <a:extLst>
              <a:ext uri="{FF2B5EF4-FFF2-40B4-BE49-F238E27FC236}">
                <a16:creationId xmlns:a16="http://schemas.microsoft.com/office/drawing/2014/main" id="{D1628E50-97F4-4FAF-A88F-609BAF54DB06}"/>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6-16</a:t>
            </a:r>
            <a:r>
              <a:rPr lang="en-US" altLang="zh-CN" sz="2800" b="1" dirty="0">
                <a:latin typeface="隶书" pitchFamily="49" charset="-122"/>
              </a:rPr>
              <a:t>】</a:t>
            </a:r>
            <a:r>
              <a:rPr lang="zh-CN" altLang="en-US" sz="2800" b="1" dirty="0">
                <a:latin typeface="隶书" pitchFamily="49" charset="-122"/>
              </a:rPr>
              <a:t>局部静态变量的使用。</a:t>
            </a:r>
            <a:endParaRPr lang="en-US" altLang="zh-CN" sz="2800" b="1" dirty="0">
              <a:latin typeface="隶书" pitchFamily="49" charset="-122"/>
            </a:endParaRPr>
          </a:p>
        </p:txBody>
      </p:sp>
      <p:sp>
        <p:nvSpPr>
          <p:cNvPr id="7" name="Rectangle 2">
            <a:extLst>
              <a:ext uri="{FF2B5EF4-FFF2-40B4-BE49-F238E27FC236}">
                <a16:creationId xmlns:a16="http://schemas.microsoft.com/office/drawing/2014/main" id="{87820AF1-BE86-4A9A-BBD5-DFD920D5BD26}"/>
              </a:ext>
            </a:extLst>
          </p:cNvPr>
          <p:cNvSpPr txBox="1">
            <a:spLocks noChangeArrowheads="1"/>
          </p:cNvSpPr>
          <p:nvPr/>
        </p:nvSpPr>
        <p:spPr>
          <a:xfrm>
            <a:off x="5273360" y="1128740"/>
            <a:ext cx="6640286"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print_row</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static</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1;</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b = 1; b &lt;= 9; b++)</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ea typeface="等线" panose="02010600030101010101" pitchFamily="2" charset="-122"/>
                <a:cs typeface="Times New Roman" panose="02020603050405020304" pitchFamily="18" charset="0"/>
              </a:rPr>
              <a:t>*%d=%-4d</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b, a</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\n</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grpSp>
        <p:nvGrpSpPr>
          <p:cNvPr id="8" name="组合 7">
            <a:extLst>
              <a:ext uri="{FF2B5EF4-FFF2-40B4-BE49-F238E27FC236}">
                <a16:creationId xmlns:a16="http://schemas.microsoft.com/office/drawing/2014/main" id="{9643B266-D0C5-44EF-B81F-FBEB46659181}"/>
              </a:ext>
            </a:extLst>
          </p:cNvPr>
          <p:cNvGrpSpPr/>
          <p:nvPr/>
        </p:nvGrpSpPr>
        <p:grpSpPr>
          <a:xfrm>
            <a:off x="278354" y="5096391"/>
            <a:ext cx="12160165" cy="579846"/>
            <a:chOff x="44898" y="4780854"/>
            <a:chExt cx="12163880" cy="579846"/>
          </a:xfrm>
        </p:grpSpPr>
        <p:sp>
          <p:nvSpPr>
            <p:cNvPr id="9" name="Text Box 88">
              <a:extLst>
                <a:ext uri="{FF2B5EF4-FFF2-40B4-BE49-F238E27FC236}">
                  <a16:creationId xmlns:a16="http://schemas.microsoft.com/office/drawing/2014/main" id="{9AD931CA-C228-41FB-95C2-C394E7F2A733}"/>
                </a:ext>
              </a:extLst>
            </p:cNvPr>
            <p:cNvSpPr txBox="1">
              <a:spLocks noChangeArrowheads="1"/>
            </p:cNvSpPr>
            <p:nvPr/>
          </p:nvSpPr>
          <p:spPr bwMode="auto">
            <a:xfrm>
              <a:off x="101942" y="4835299"/>
              <a:ext cx="12106836"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zh-CN" altLang="en-US" sz="2800" dirty="0">
                  <a:solidFill>
                    <a:srgbClr val="3333FF"/>
                  </a:solidFill>
                  <a:latin typeface="等线" panose="02010600030101010101" pitchFamily="2" charset="-122"/>
                  <a:ea typeface="隶书" pitchFamily="49" charset="-122"/>
                </a:rPr>
                <a:t>变量</a:t>
              </a:r>
              <a:r>
                <a:rPr kumimoji="1" lang="en-US" altLang="zh-CN" sz="2800" dirty="0">
                  <a:solidFill>
                    <a:srgbClr val="3333FF"/>
                  </a:solidFill>
                  <a:latin typeface="等线" panose="02010600030101010101" pitchFamily="2" charset="-122"/>
                  <a:ea typeface="隶书" pitchFamily="49" charset="-122"/>
                </a:rPr>
                <a:t>a</a:t>
              </a:r>
              <a:r>
                <a:rPr kumimoji="1" lang="zh-CN" altLang="en-US" sz="2800" dirty="0">
                  <a:solidFill>
                    <a:srgbClr val="3333FF"/>
                  </a:solidFill>
                  <a:latin typeface="等线" panose="02010600030101010101" pitchFamily="2" charset="-122"/>
                  <a:ea typeface="隶书" pitchFamily="49" charset="-122"/>
                </a:rPr>
                <a:t>虽然一直都存在但只在</a:t>
              </a:r>
              <a:r>
                <a:rPr kumimoji="1" lang="en-US" altLang="zh-CN" sz="2800" dirty="0">
                  <a:solidFill>
                    <a:srgbClr val="3333FF"/>
                  </a:solidFill>
                  <a:latin typeface="等线" panose="02010600030101010101" pitchFamily="2" charset="-122"/>
                  <a:ea typeface="隶书" pitchFamily="49" charset="-122"/>
                </a:rPr>
                <a:t>print_row()</a:t>
              </a:r>
              <a:r>
                <a:rPr kumimoji="1" lang="zh-CN" altLang="en-US" sz="2800" dirty="0">
                  <a:solidFill>
                    <a:srgbClr val="3333FF"/>
                  </a:solidFill>
                  <a:latin typeface="等线" panose="02010600030101010101" pitchFamily="2" charset="-122"/>
                  <a:ea typeface="隶书" pitchFamily="49" charset="-122"/>
                </a:rPr>
                <a:t>函数中可见</a:t>
              </a:r>
              <a:r>
                <a:rPr kumimoji="1" lang="zh-CN" altLang="en-US" sz="2800" dirty="0">
                  <a:solidFill>
                    <a:srgbClr val="3333FF"/>
                  </a:solidFill>
                  <a:latin typeface="隶书" pitchFamily="49" charset="-122"/>
                  <a:ea typeface="隶书" pitchFamily="49" charset="-122"/>
                </a:rPr>
                <a:t>。</a:t>
              </a:r>
              <a:endParaRPr kumimoji="1" lang="en-US" altLang="zh-CN" sz="2800" dirty="0">
                <a:solidFill>
                  <a:srgbClr val="3333FF"/>
                </a:solidFill>
                <a:ea typeface="隶书" pitchFamily="49" charset="-122"/>
              </a:endParaRPr>
            </a:p>
          </p:txBody>
        </p:sp>
        <p:pic>
          <p:nvPicPr>
            <p:cNvPr id="10" name="图片 9">
              <a:extLst>
                <a:ext uri="{FF2B5EF4-FFF2-40B4-BE49-F238E27FC236}">
                  <a16:creationId xmlns:a16="http://schemas.microsoft.com/office/drawing/2014/main" id="{594872D9-27A1-40DF-B2EA-15744DDAE1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98" y="4780854"/>
              <a:ext cx="588765" cy="558595"/>
            </a:xfrm>
            <a:prstGeom prst="rect">
              <a:avLst/>
            </a:prstGeom>
          </p:spPr>
        </p:pic>
      </p:grpSp>
      <p:sp>
        <p:nvSpPr>
          <p:cNvPr id="11" name="灯片编号占位符 10">
            <a:extLst>
              <a:ext uri="{FF2B5EF4-FFF2-40B4-BE49-F238E27FC236}">
                <a16:creationId xmlns:a16="http://schemas.microsoft.com/office/drawing/2014/main" id="{95A6C7B9-9975-4747-9F5D-DE87141625C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46</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66898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22157"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static</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7" name="Rectangle 2">
            <a:extLst>
              <a:ext uri="{FF2B5EF4-FFF2-40B4-BE49-F238E27FC236}">
                <a16:creationId xmlns:a16="http://schemas.microsoft.com/office/drawing/2014/main" id="{87820AF1-BE86-4A9A-BBD5-DFD920D5BD26}"/>
              </a:ext>
            </a:extLst>
          </p:cNvPr>
          <p:cNvSpPr txBox="1">
            <a:spLocks noChangeArrowheads="1"/>
          </p:cNvSpPr>
          <p:nvPr/>
        </p:nvSpPr>
        <p:spPr>
          <a:xfrm>
            <a:off x="2943497" y="655818"/>
            <a:ext cx="6640286"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print_row</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static</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a = 1;</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for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b = 1; b &lt;= 9; b++)</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solidFill>
                  <a:srgbClr val="00B050"/>
                </a:solidFill>
                <a:ea typeface="等线" panose="02010600030101010101" pitchFamily="2" charset="-122"/>
                <a:cs typeface="Times New Roman" panose="02020603050405020304" pitchFamily="18" charset="0"/>
              </a:rPr>
              <a:t>*%d=%-4d</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 b, a</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b);</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\n</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grpSp>
        <p:nvGrpSpPr>
          <p:cNvPr id="4" name="组合 3">
            <a:extLst>
              <a:ext uri="{FF2B5EF4-FFF2-40B4-BE49-F238E27FC236}">
                <a16:creationId xmlns:a16="http://schemas.microsoft.com/office/drawing/2014/main" id="{02BC303A-0FAA-43B9-A044-666846519F56}"/>
              </a:ext>
            </a:extLst>
          </p:cNvPr>
          <p:cNvGrpSpPr/>
          <p:nvPr/>
        </p:nvGrpSpPr>
        <p:grpSpPr>
          <a:xfrm>
            <a:off x="0" y="4636602"/>
            <a:ext cx="12192000" cy="637261"/>
            <a:chOff x="325120" y="4636602"/>
            <a:chExt cx="14188522" cy="637261"/>
          </a:xfrm>
        </p:grpSpPr>
        <p:sp>
          <p:nvSpPr>
            <p:cNvPr id="11" name="矩形 10">
              <a:extLst>
                <a:ext uri="{FF2B5EF4-FFF2-40B4-BE49-F238E27FC236}">
                  <a16:creationId xmlns:a16="http://schemas.microsoft.com/office/drawing/2014/main" id="{4BD90750-9494-4C18-AC0F-FED5F40F6B81}"/>
                </a:ext>
              </a:extLst>
            </p:cNvPr>
            <p:cNvSpPr/>
            <p:nvPr/>
          </p:nvSpPr>
          <p:spPr>
            <a:xfrm>
              <a:off x="325120" y="4675961"/>
              <a:ext cx="14188522" cy="523220"/>
            </a:xfrm>
            <a:prstGeom prst="rect">
              <a:avLst/>
            </a:prstGeom>
          </p:spPr>
          <p:txBody>
            <a:bodyPr wrap="square">
              <a:spAutoFit/>
            </a:bodyPr>
            <a:lstStyle/>
            <a:p>
              <a:pPr marL="0" lvl="1"/>
              <a:r>
                <a:rPr lang="zh-CN" altLang="en-US" sz="2400" b="1" dirty="0">
                  <a:latin typeface="隶书" pitchFamily="49" charset="-122"/>
                </a:rPr>
                <a:t>    </a:t>
              </a:r>
              <a:r>
                <a:rPr kumimoji="1" lang="zh-CN" altLang="en-US" sz="2800" dirty="0">
                  <a:solidFill>
                    <a:srgbClr val="3333FF"/>
                  </a:solidFill>
                  <a:latin typeface="等线" panose="02010600030101010101" pitchFamily="2" charset="-122"/>
                  <a:ea typeface="隶书" pitchFamily="49" charset="-122"/>
                </a:rPr>
                <a:t>在上面的</a:t>
              </a:r>
              <a:r>
                <a:rPr kumimoji="1" lang="en-US" altLang="zh-CN" sz="2800" dirty="0">
                  <a:solidFill>
                    <a:srgbClr val="3333FF"/>
                  </a:solidFill>
                  <a:latin typeface="等线" panose="02010600030101010101" pitchFamily="2" charset="-122"/>
                  <a:ea typeface="隶书" pitchFamily="49" charset="-122"/>
                </a:rPr>
                <a:t>print_row( )</a:t>
              </a:r>
              <a:r>
                <a:rPr kumimoji="1" lang="zh-CN" altLang="en-US" sz="2800" dirty="0">
                  <a:solidFill>
                    <a:srgbClr val="3333FF"/>
                  </a:solidFill>
                  <a:latin typeface="等线" panose="02010600030101010101" pitchFamily="2" charset="-122"/>
                  <a:ea typeface="隶书" pitchFamily="49" charset="-122"/>
                </a:rPr>
                <a:t>函数体内，可以去掉变量</a:t>
              </a:r>
              <a:r>
                <a:rPr kumimoji="1" lang="en-US" altLang="zh-CN" sz="2800" dirty="0">
                  <a:solidFill>
                    <a:srgbClr val="3333FF"/>
                  </a:solidFill>
                  <a:latin typeface="等线" panose="02010600030101010101" pitchFamily="2" charset="-122"/>
                  <a:ea typeface="隶书" pitchFamily="49" charset="-122"/>
                </a:rPr>
                <a:t>a</a:t>
              </a:r>
              <a:r>
                <a:rPr kumimoji="1" lang="zh-CN" altLang="en-US" sz="2800" dirty="0">
                  <a:solidFill>
                    <a:srgbClr val="3333FF"/>
                  </a:solidFill>
                  <a:latin typeface="等线" panose="02010600030101010101" pitchFamily="2" charset="-122"/>
                  <a:ea typeface="隶书" pitchFamily="49" charset="-122"/>
                </a:rPr>
                <a:t>定义语句前的</a:t>
              </a:r>
              <a:r>
                <a:rPr kumimoji="1" lang="en-US" altLang="zh-CN" sz="2800" dirty="0">
                  <a:solidFill>
                    <a:srgbClr val="3333FF"/>
                  </a:solidFill>
                  <a:latin typeface="等线" panose="02010600030101010101" pitchFamily="2" charset="-122"/>
                  <a:ea typeface="隶书" pitchFamily="49" charset="-122"/>
                </a:rPr>
                <a:t>static</a:t>
              </a:r>
              <a:r>
                <a:rPr kumimoji="1" lang="zh-CN" altLang="en-US" sz="2800" dirty="0">
                  <a:solidFill>
                    <a:srgbClr val="3333FF"/>
                  </a:solidFill>
                  <a:latin typeface="等线" panose="02010600030101010101" pitchFamily="2" charset="-122"/>
                  <a:ea typeface="隶书" pitchFamily="49" charset="-122"/>
                </a:rPr>
                <a:t>吗？</a:t>
              </a:r>
            </a:p>
          </p:txBody>
        </p:sp>
        <p:pic>
          <p:nvPicPr>
            <p:cNvPr id="12" name="图片 11">
              <a:extLst>
                <a:ext uri="{FF2B5EF4-FFF2-40B4-BE49-F238E27FC236}">
                  <a16:creationId xmlns:a16="http://schemas.microsoft.com/office/drawing/2014/main" id="{D583E0A6-4664-460F-A8CD-D62F80C51B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83818" y="4636602"/>
              <a:ext cx="745319" cy="637261"/>
            </a:xfrm>
            <a:prstGeom prst="rect">
              <a:avLst/>
            </a:prstGeom>
          </p:spPr>
        </p:pic>
      </p:grpSp>
      <p:grpSp>
        <p:nvGrpSpPr>
          <p:cNvPr id="13" name="组合 12">
            <a:extLst>
              <a:ext uri="{FF2B5EF4-FFF2-40B4-BE49-F238E27FC236}">
                <a16:creationId xmlns:a16="http://schemas.microsoft.com/office/drawing/2014/main" id="{9B8CA30C-3146-4DE9-8163-13B5CBE85E8E}"/>
              </a:ext>
            </a:extLst>
          </p:cNvPr>
          <p:cNvGrpSpPr/>
          <p:nvPr/>
        </p:nvGrpSpPr>
        <p:grpSpPr>
          <a:xfrm>
            <a:off x="0" y="5213570"/>
            <a:ext cx="12192000" cy="637261"/>
            <a:chOff x="325120" y="4636602"/>
            <a:chExt cx="14188522" cy="637261"/>
          </a:xfrm>
        </p:grpSpPr>
        <p:sp>
          <p:nvSpPr>
            <p:cNvPr id="14" name="矩形 13">
              <a:extLst>
                <a:ext uri="{FF2B5EF4-FFF2-40B4-BE49-F238E27FC236}">
                  <a16:creationId xmlns:a16="http://schemas.microsoft.com/office/drawing/2014/main" id="{D71842F6-650D-45D5-B8C7-C6680DF08CDD}"/>
                </a:ext>
              </a:extLst>
            </p:cNvPr>
            <p:cNvSpPr/>
            <p:nvPr/>
          </p:nvSpPr>
          <p:spPr>
            <a:xfrm>
              <a:off x="325120" y="4675961"/>
              <a:ext cx="14188522" cy="523220"/>
            </a:xfrm>
            <a:prstGeom prst="rect">
              <a:avLst/>
            </a:prstGeom>
          </p:spPr>
          <p:txBody>
            <a:bodyPr wrap="square">
              <a:spAutoFit/>
            </a:bodyPr>
            <a:lstStyle/>
            <a:p>
              <a:pPr marL="0" lvl="1"/>
              <a:r>
                <a:rPr lang="zh-CN" altLang="en-US" sz="2400" b="1" dirty="0">
                  <a:latin typeface="隶书" pitchFamily="49" charset="-122"/>
                </a:rPr>
                <a:t>    </a:t>
              </a:r>
              <a:r>
                <a:rPr kumimoji="1" lang="zh-CN" altLang="en-US" sz="2800" dirty="0">
                  <a:solidFill>
                    <a:srgbClr val="3333FF"/>
                  </a:solidFill>
                  <a:latin typeface="等线" panose="02010600030101010101" pitchFamily="2" charset="-122"/>
                  <a:ea typeface="隶书" pitchFamily="49" charset="-122"/>
                </a:rPr>
                <a:t>如何只保留例</a:t>
              </a:r>
              <a:r>
                <a:rPr kumimoji="1" lang="en-US" altLang="zh-CN" sz="2800" dirty="0">
                  <a:solidFill>
                    <a:srgbClr val="3333FF"/>
                  </a:solidFill>
                  <a:latin typeface="等线" panose="02010600030101010101" pitchFamily="2" charset="-122"/>
                  <a:ea typeface="隶书" pitchFamily="49" charset="-122"/>
                </a:rPr>
                <a:t>6-16</a:t>
              </a:r>
              <a:r>
                <a:rPr kumimoji="1" lang="zh-CN" altLang="en-US" sz="2800" dirty="0">
                  <a:solidFill>
                    <a:srgbClr val="3333FF"/>
                  </a:solidFill>
                  <a:latin typeface="等线" panose="02010600030101010101" pitchFamily="2" charset="-122"/>
                  <a:ea typeface="隶书" pitchFamily="49" charset="-122"/>
                </a:rPr>
                <a:t>运行结果的主对角线以下</a:t>
              </a:r>
              <a:r>
                <a:rPr kumimoji="1" lang="en-US" altLang="zh-CN" sz="2800" dirty="0">
                  <a:solidFill>
                    <a:srgbClr val="3333FF"/>
                  </a:solidFill>
                  <a:latin typeface="等线" panose="02010600030101010101" pitchFamily="2" charset="-122"/>
                  <a:ea typeface="隶书" pitchFamily="49" charset="-122"/>
                </a:rPr>
                <a:t>(</a:t>
              </a:r>
              <a:r>
                <a:rPr kumimoji="1" lang="zh-CN" altLang="en-US" sz="2800" dirty="0">
                  <a:solidFill>
                    <a:srgbClr val="3333FF"/>
                  </a:solidFill>
                  <a:latin typeface="等线" panose="02010600030101010101" pitchFamily="2" charset="-122"/>
                  <a:ea typeface="隶书" pitchFamily="49" charset="-122"/>
                </a:rPr>
                <a:t>上</a:t>
              </a:r>
              <a:r>
                <a:rPr kumimoji="1" lang="en-US" altLang="zh-CN" sz="2800" dirty="0">
                  <a:solidFill>
                    <a:srgbClr val="3333FF"/>
                  </a:solidFill>
                  <a:latin typeface="等线" panose="02010600030101010101" pitchFamily="2" charset="-122"/>
                  <a:ea typeface="隶书" pitchFamily="49" charset="-122"/>
                </a:rPr>
                <a:t>)</a:t>
              </a:r>
              <a:r>
                <a:rPr kumimoji="1" lang="zh-CN" altLang="en-US" sz="2800" dirty="0">
                  <a:solidFill>
                    <a:srgbClr val="3333FF"/>
                  </a:solidFill>
                  <a:latin typeface="等线" panose="02010600030101010101" pitchFamily="2" charset="-122"/>
                  <a:ea typeface="隶书" pitchFamily="49" charset="-122"/>
                </a:rPr>
                <a:t>部分？</a:t>
              </a:r>
            </a:p>
          </p:txBody>
        </p:sp>
        <p:pic>
          <p:nvPicPr>
            <p:cNvPr id="15" name="图片 14">
              <a:extLst>
                <a:ext uri="{FF2B5EF4-FFF2-40B4-BE49-F238E27FC236}">
                  <a16:creationId xmlns:a16="http://schemas.microsoft.com/office/drawing/2014/main" id="{C68F51A3-A297-4065-8F7A-3D02BD787AA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83818" y="4636602"/>
              <a:ext cx="745319" cy="637261"/>
            </a:xfrm>
            <a:prstGeom prst="rect">
              <a:avLst/>
            </a:prstGeom>
          </p:spPr>
        </p:pic>
      </p:grpSp>
      <p:sp>
        <p:nvSpPr>
          <p:cNvPr id="16" name="灯片编号占位符 15">
            <a:extLst>
              <a:ext uri="{FF2B5EF4-FFF2-40B4-BE49-F238E27FC236}">
                <a16:creationId xmlns:a16="http://schemas.microsoft.com/office/drawing/2014/main" id="{63FDC19E-2D59-4DC1-AE2E-AE34B6C78A73}"/>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47</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1857199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313E105-82C0-4225-BEAA-9E44E114D7A9}"/>
              </a:ext>
            </a:extLst>
          </p:cNvPr>
          <p:cNvSpPr txBox="1"/>
          <p:nvPr/>
        </p:nvSpPr>
        <p:spPr>
          <a:xfrm>
            <a:off x="3122157" y="-40338"/>
            <a:ext cx="4563668"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en-US" altLang="zh-CN" sz="3600" b="1" dirty="0">
                <a:solidFill>
                  <a:srgbClr val="200AC4"/>
                </a:solidFill>
                <a:latin typeface="Arial Rounded MT Bold" panose="020F0704030504030204" pitchFamily="34" charset="0"/>
                <a:ea typeface="隶书" pitchFamily="49" charset="-122"/>
              </a:rPr>
              <a:t>static</a:t>
            </a:r>
            <a:r>
              <a:rPr lang="zh-CN" altLang="en-US" sz="3600" b="1" dirty="0">
                <a:solidFill>
                  <a:srgbClr val="200AC4"/>
                </a:solidFill>
                <a:ea typeface="隶书" pitchFamily="49" charset="-122"/>
              </a:rPr>
              <a:t>存储类型</a:t>
            </a:r>
            <a:endParaRPr lang="zh-CN" altLang="en-US" sz="3200" b="1" dirty="0">
              <a:solidFill>
                <a:srgbClr val="200AC4"/>
              </a:solidFill>
              <a:ea typeface="隶书" pitchFamily="49" charset="-122"/>
            </a:endParaRPr>
          </a:p>
        </p:txBody>
      </p:sp>
      <p:sp>
        <p:nvSpPr>
          <p:cNvPr id="5" name="Rectangle 2">
            <a:extLst>
              <a:ext uri="{FF2B5EF4-FFF2-40B4-BE49-F238E27FC236}">
                <a16:creationId xmlns:a16="http://schemas.microsoft.com/office/drawing/2014/main" id="{2CEDA18F-FBC3-4FC6-A1F1-3049DFA48A2E}"/>
              </a:ext>
            </a:extLst>
          </p:cNvPr>
          <p:cNvSpPr txBox="1">
            <a:spLocks noChangeArrowheads="1"/>
          </p:cNvSpPr>
          <p:nvPr/>
        </p:nvSpPr>
        <p:spPr>
          <a:xfrm>
            <a:off x="278354" y="2650073"/>
            <a:ext cx="5340126" cy="1692771"/>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声明</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a:t>
            </a:r>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为全局静态变量且仅在本文件中使用</a:t>
            </a:r>
            <a:endPar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static</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a:t>
            </a:r>
          </a:p>
          <a:p>
            <a:pPr marL="0" indent="0">
              <a:lnSpc>
                <a:spcPct val="100000"/>
              </a:lnSpc>
              <a:spcBef>
                <a:spcPct val="0"/>
              </a:spcBef>
              <a:buClr>
                <a:schemeClr val="tx2"/>
              </a:buClr>
              <a:buSzPct val="70000"/>
              <a:buNone/>
            </a:pP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solidFill>
                <a:srgbClr val="00B050"/>
              </a:solidFill>
            </a:endParaRPr>
          </a:p>
        </p:txBody>
      </p:sp>
      <p:sp>
        <p:nvSpPr>
          <p:cNvPr id="6" name="矩形 5">
            <a:extLst>
              <a:ext uri="{FF2B5EF4-FFF2-40B4-BE49-F238E27FC236}">
                <a16:creationId xmlns:a16="http://schemas.microsoft.com/office/drawing/2014/main" id="{D1628E50-97F4-4FAF-A88F-609BAF54DB06}"/>
              </a:ext>
            </a:extLst>
          </p:cNvPr>
          <p:cNvSpPr/>
          <p:nvPr/>
        </p:nvSpPr>
        <p:spPr>
          <a:xfrm>
            <a:off x="16778" y="602853"/>
            <a:ext cx="12158444" cy="1384995"/>
          </a:xfrm>
          <a:prstGeom prst="rect">
            <a:avLst/>
          </a:prstGeom>
        </p:spPr>
        <p:txBody>
          <a:bodyPr wrap="square">
            <a:spAutoFit/>
          </a:bodyPr>
          <a:lstStyle/>
          <a:p>
            <a:pPr marL="0" lvl="1"/>
            <a:r>
              <a:rPr lang="zh-CN" altLang="en-US" sz="2800" b="1" dirty="0">
                <a:latin typeface="隶书" pitchFamily="49" charset="-122"/>
              </a:rPr>
              <a:t>如果希望在一个文件中定义的全局变量的作用域仅局限于此文件而不能通过</a:t>
            </a:r>
            <a:r>
              <a:rPr lang="en-US" altLang="zh-CN" sz="2800" b="1" dirty="0">
                <a:latin typeface="隶书" pitchFamily="49" charset="-122"/>
              </a:rPr>
              <a:t>extern</a:t>
            </a:r>
            <a:r>
              <a:rPr lang="zh-CN" altLang="en-US" sz="2800" b="1" dirty="0">
                <a:latin typeface="隶书" pitchFamily="49" charset="-122"/>
              </a:rPr>
              <a:t>被其它文件使用，则需要在该全局变量的类型说明符前使用</a:t>
            </a:r>
            <a:r>
              <a:rPr lang="en-US" altLang="zh-CN" sz="2800" b="1" dirty="0">
                <a:latin typeface="隶书" pitchFamily="49" charset="-122"/>
              </a:rPr>
              <a:t>static</a:t>
            </a:r>
            <a:r>
              <a:rPr lang="zh-CN" altLang="en-US" sz="2800" b="1" dirty="0">
                <a:latin typeface="隶书" pitchFamily="49" charset="-122"/>
              </a:rPr>
              <a:t>关键字，这样的全局变量称为“</a:t>
            </a:r>
            <a:r>
              <a:rPr lang="zh-CN" altLang="en-US" sz="2800" b="1" dirty="0">
                <a:solidFill>
                  <a:srgbClr val="00B0F0"/>
                </a:solidFill>
                <a:latin typeface="隶书" pitchFamily="49" charset="-122"/>
              </a:rPr>
              <a:t>全局静态变量</a:t>
            </a:r>
            <a:r>
              <a:rPr lang="zh-CN" altLang="en-US" sz="2800" b="1" dirty="0">
                <a:latin typeface="隶书" pitchFamily="49" charset="-122"/>
              </a:rPr>
              <a:t>”。</a:t>
            </a:r>
            <a:endParaRPr lang="en-US" altLang="zh-CN" sz="2800" b="1" dirty="0">
              <a:latin typeface="隶书" pitchFamily="49" charset="-122"/>
            </a:endParaRPr>
          </a:p>
        </p:txBody>
      </p:sp>
      <p:sp>
        <p:nvSpPr>
          <p:cNvPr id="7" name="Rectangle 2">
            <a:extLst>
              <a:ext uri="{FF2B5EF4-FFF2-40B4-BE49-F238E27FC236}">
                <a16:creationId xmlns:a16="http://schemas.microsoft.com/office/drawing/2014/main" id="{87820AF1-BE86-4A9A-BBD5-DFD920D5BD26}"/>
              </a:ext>
            </a:extLst>
          </p:cNvPr>
          <p:cNvSpPr txBox="1">
            <a:spLocks noChangeArrowheads="1"/>
          </p:cNvSpPr>
          <p:nvPr/>
        </p:nvSpPr>
        <p:spPr>
          <a:xfrm>
            <a:off x="5699760" y="2650073"/>
            <a:ext cx="6107206" cy="175432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sz="2000"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错误！变量</a:t>
            </a:r>
            <a:r>
              <a:rPr lang="en-US" altLang="zh-CN" sz="2000"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a:t>
            </a:r>
            <a:r>
              <a:rPr lang="zh-CN" altLang="en-US" sz="2000"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的作用域仅限于文件</a:t>
            </a:r>
            <a:r>
              <a:rPr lang="en-US" altLang="zh-CN" sz="2000"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file1.c</a:t>
            </a:r>
            <a:endParaRPr lang="en-US" altLang="zh-CN" sz="2800"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extern</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a:t>
            </a:r>
          </a:p>
          <a:p>
            <a:pPr marL="0" indent="0">
              <a:lnSpc>
                <a:spcPct val="100000"/>
              </a:lnSpc>
              <a:spcBef>
                <a:spcPct val="0"/>
              </a:spcBef>
              <a:buClr>
                <a:schemeClr val="tx2"/>
              </a:buClr>
              <a:buSzPct val="70000"/>
              <a:buNone/>
            </a:pP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p>
        </p:txBody>
      </p:sp>
      <p:sp>
        <p:nvSpPr>
          <p:cNvPr id="11" name="文本框 10">
            <a:extLst>
              <a:ext uri="{FF2B5EF4-FFF2-40B4-BE49-F238E27FC236}">
                <a16:creationId xmlns:a16="http://schemas.microsoft.com/office/drawing/2014/main" id="{72B2D5EE-5483-4259-BE83-71493E70D60E}"/>
              </a:ext>
            </a:extLst>
          </p:cNvPr>
          <p:cNvSpPr txBox="1"/>
          <p:nvPr/>
        </p:nvSpPr>
        <p:spPr>
          <a:xfrm>
            <a:off x="1872215" y="2261516"/>
            <a:ext cx="1343638" cy="400110"/>
          </a:xfrm>
          <a:prstGeom prst="rect">
            <a:avLst/>
          </a:prstGeom>
          <a:noFill/>
        </p:spPr>
        <p:txBody>
          <a:bodyPr wrap="none" rtlCol="0">
            <a:spAutoFit/>
          </a:bodyPr>
          <a:lstStyle/>
          <a:p>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文件</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file1.c</a:t>
            </a:r>
          </a:p>
        </p:txBody>
      </p:sp>
      <p:sp>
        <p:nvSpPr>
          <p:cNvPr id="12" name="文本框 11">
            <a:extLst>
              <a:ext uri="{FF2B5EF4-FFF2-40B4-BE49-F238E27FC236}">
                <a16:creationId xmlns:a16="http://schemas.microsoft.com/office/drawing/2014/main" id="{8F12102E-3543-4137-A6CF-8EC60D04BA85}"/>
              </a:ext>
            </a:extLst>
          </p:cNvPr>
          <p:cNvSpPr txBox="1"/>
          <p:nvPr/>
        </p:nvSpPr>
        <p:spPr>
          <a:xfrm>
            <a:off x="8081544" y="2250772"/>
            <a:ext cx="1343638" cy="400110"/>
          </a:xfrm>
          <a:prstGeom prst="rect">
            <a:avLst/>
          </a:prstGeom>
          <a:noFill/>
        </p:spPr>
        <p:txBody>
          <a:bodyPr wrap="none" rtlCol="0">
            <a:spAutoFit/>
          </a:bodyPr>
          <a:lstStyle/>
          <a:p>
            <a:r>
              <a:rPr lang="zh-CN" altLang="en-US"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文件</a:t>
            </a:r>
            <a:r>
              <a:rPr lang="en-US" altLang="zh-CN" sz="2000"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file2.c</a:t>
            </a:r>
          </a:p>
        </p:txBody>
      </p:sp>
      <p:sp>
        <p:nvSpPr>
          <p:cNvPr id="4" name="灯片编号占位符 3">
            <a:extLst>
              <a:ext uri="{FF2B5EF4-FFF2-40B4-BE49-F238E27FC236}">
                <a16:creationId xmlns:a16="http://schemas.microsoft.com/office/drawing/2014/main" id="{12CC6447-C6AE-4C3F-B3BE-1A2BD423317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48</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478271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3288CF7-19F5-4779-ADA3-0FE2D94984CD}"/>
              </a:ext>
            </a:extLst>
          </p:cNvPr>
          <p:cNvSpPr/>
          <p:nvPr/>
        </p:nvSpPr>
        <p:spPr>
          <a:xfrm>
            <a:off x="16778" y="602853"/>
            <a:ext cx="12158444" cy="523220"/>
          </a:xfrm>
          <a:prstGeom prst="rect">
            <a:avLst/>
          </a:prstGeom>
        </p:spPr>
        <p:txBody>
          <a:bodyPr wrap="square">
            <a:spAutoFit/>
          </a:bodyPr>
          <a:lstStyle/>
          <a:p>
            <a:pPr marL="0" lvl="1"/>
            <a:r>
              <a:rPr lang="zh-CN" altLang="en-US" sz="2800" b="1" dirty="0">
                <a:latin typeface="隶书" pitchFamily="49" charset="-122"/>
              </a:rPr>
              <a:t>在函数的定义中调用其它函数称为“</a:t>
            </a:r>
            <a:r>
              <a:rPr lang="zh-CN" altLang="en-US" sz="2800" b="1" dirty="0">
                <a:solidFill>
                  <a:srgbClr val="00B0F0"/>
                </a:solidFill>
                <a:latin typeface="隶书" pitchFamily="49" charset="-122"/>
              </a:rPr>
              <a:t>函数的嵌套调用</a:t>
            </a:r>
            <a:r>
              <a:rPr lang="zh-CN" altLang="en-US" sz="2800" b="1" dirty="0">
                <a:latin typeface="隶书" pitchFamily="49" charset="-122"/>
              </a:rPr>
              <a:t>”。</a:t>
            </a:r>
            <a:endParaRPr lang="en-US" altLang="zh-CN" sz="2800" b="1" dirty="0">
              <a:latin typeface="隶书" pitchFamily="49" charset="-122"/>
            </a:endParaRPr>
          </a:p>
        </p:txBody>
      </p:sp>
      <p:grpSp>
        <p:nvGrpSpPr>
          <p:cNvPr id="51" name="组合 50">
            <a:extLst>
              <a:ext uri="{FF2B5EF4-FFF2-40B4-BE49-F238E27FC236}">
                <a16:creationId xmlns:a16="http://schemas.microsoft.com/office/drawing/2014/main" id="{18D15EB5-83CA-4E3D-B64D-1C638614F56F}"/>
              </a:ext>
            </a:extLst>
          </p:cNvPr>
          <p:cNvGrpSpPr/>
          <p:nvPr/>
        </p:nvGrpSpPr>
        <p:grpSpPr>
          <a:xfrm>
            <a:off x="1986161" y="2019896"/>
            <a:ext cx="7035920" cy="2432128"/>
            <a:chOff x="1915041" y="2212936"/>
            <a:chExt cx="7035920" cy="2432128"/>
          </a:xfrm>
        </p:grpSpPr>
        <p:grpSp>
          <p:nvGrpSpPr>
            <p:cNvPr id="41" name="组合 40">
              <a:extLst>
                <a:ext uri="{FF2B5EF4-FFF2-40B4-BE49-F238E27FC236}">
                  <a16:creationId xmlns:a16="http://schemas.microsoft.com/office/drawing/2014/main" id="{81FE573C-F54D-483E-A127-1DC10C755D1A}"/>
                </a:ext>
              </a:extLst>
            </p:cNvPr>
            <p:cNvGrpSpPr/>
            <p:nvPr/>
          </p:nvGrpSpPr>
          <p:grpSpPr>
            <a:xfrm>
              <a:off x="1915041" y="2212936"/>
              <a:ext cx="7035920" cy="2432128"/>
              <a:chOff x="1564521" y="1701800"/>
              <a:chExt cx="7035920" cy="2432128"/>
            </a:xfrm>
          </p:grpSpPr>
          <p:grpSp>
            <p:nvGrpSpPr>
              <p:cNvPr id="4" name="组合 3">
                <a:extLst>
                  <a:ext uri="{FF2B5EF4-FFF2-40B4-BE49-F238E27FC236}">
                    <a16:creationId xmlns:a16="http://schemas.microsoft.com/office/drawing/2014/main" id="{6D1BC0C7-2792-475A-B815-B5ED6EAF4B15}"/>
                  </a:ext>
                </a:extLst>
              </p:cNvPr>
              <p:cNvGrpSpPr/>
              <p:nvPr/>
            </p:nvGrpSpPr>
            <p:grpSpPr>
              <a:xfrm>
                <a:off x="1564521" y="1701800"/>
                <a:ext cx="1305680" cy="2427048"/>
                <a:chOff x="836261" y="1862250"/>
                <a:chExt cx="1027920" cy="2225443"/>
              </a:xfrm>
            </p:grpSpPr>
            <p:sp>
              <p:nvSpPr>
                <p:cNvPr id="5" name="文本框 4">
                  <a:extLst>
                    <a:ext uri="{FF2B5EF4-FFF2-40B4-BE49-F238E27FC236}">
                      <a16:creationId xmlns:a16="http://schemas.microsoft.com/office/drawing/2014/main" id="{7E49761B-0ADF-48D5-8084-77BAAD283DCC}"/>
                    </a:ext>
                  </a:extLst>
                </p:cNvPr>
                <p:cNvSpPr txBox="1"/>
                <p:nvPr/>
              </p:nvSpPr>
              <p:spPr>
                <a:xfrm>
                  <a:off x="836261" y="1862250"/>
                  <a:ext cx="1027920" cy="338653"/>
                </a:xfrm>
                <a:prstGeom prst="rect">
                  <a:avLst/>
                </a:prstGeom>
                <a:noFill/>
              </p:spPr>
              <p:txBody>
                <a:bodyPr wrap="square" rtlCol="0">
                  <a:spAutoFit/>
                </a:bodyPr>
                <a:lstStyle/>
                <a:p>
                  <a:pPr algn="ctr"/>
                  <a:r>
                    <a:rPr lang="en-US" altLang="zh-CN" dirty="0"/>
                    <a:t>main()</a:t>
                  </a:r>
                  <a:r>
                    <a:rPr lang="zh-CN" altLang="en-US" dirty="0"/>
                    <a:t>函数</a:t>
                  </a:r>
                </a:p>
              </p:txBody>
            </p:sp>
            <p:sp>
              <p:nvSpPr>
                <p:cNvPr id="6" name="文本框 5">
                  <a:extLst>
                    <a:ext uri="{FF2B5EF4-FFF2-40B4-BE49-F238E27FC236}">
                      <a16:creationId xmlns:a16="http://schemas.microsoft.com/office/drawing/2014/main" id="{1F136D45-7CDF-45B8-9532-C6AE51DDA274}"/>
                    </a:ext>
                  </a:extLst>
                </p:cNvPr>
                <p:cNvSpPr txBox="1"/>
                <p:nvPr/>
              </p:nvSpPr>
              <p:spPr>
                <a:xfrm>
                  <a:off x="1009565" y="2794000"/>
                  <a:ext cx="681728" cy="338653"/>
                </a:xfrm>
                <a:prstGeom prst="rect">
                  <a:avLst/>
                </a:prstGeom>
                <a:noFill/>
              </p:spPr>
              <p:txBody>
                <a:bodyPr wrap="none" rtlCol="0">
                  <a:spAutoFit/>
                </a:bodyPr>
                <a:lstStyle/>
                <a:p>
                  <a:pPr algn="ctr"/>
                  <a:r>
                    <a:rPr lang="en-US" altLang="zh-CN" dirty="0"/>
                    <a:t>func1()</a:t>
                  </a:r>
                  <a:endParaRPr lang="zh-CN" altLang="en-US" dirty="0"/>
                </a:p>
              </p:txBody>
            </p:sp>
            <p:sp>
              <p:nvSpPr>
                <p:cNvPr id="7" name="文本框 6">
                  <a:extLst>
                    <a:ext uri="{FF2B5EF4-FFF2-40B4-BE49-F238E27FC236}">
                      <a16:creationId xmlns:a16="http://schemas.microsoft.com/office/drawing/2014/main" id="{D966E5D5-C8FC-4620-992B-00E5E0CAC025}"/>
                    </a:ext>
                  </a:extLst>
                </p:cNvPr>
                <p:cNvSpPr txBox="1"/>
                <p:nvPr/>
              </p:nvSpPr>
              <p:spPr>
                <a:xfrm>
                  <a:off x="1096008" y="3749040"/>
                  <a:ext cx="508836" cy="338653"/>
                </a:xfrm>
                <a:prstGeom prst="rect">
                  <a:avLst/>
                </a:prstGeom>
                <a:noFill/>
              </p:spPr>
              <p:txBody>
                <a:bodyPr wrap="none" rtlCol="0">
                  <a:spAutoFit/>
                </a:bodyPr>
                <a:lstStyle/>
                <a:p>
                  <a:pPr algn="ctr"/>
                  <a:r>
                    <a:rPr lang="zh-CN" altLang="en-US" dirty="0"/>
                    <a:t>结束</a:t>
                  </a:r>
                </a:p>
              </p:txBody>
            </p:sp>
            <p:cxnSp>
              <p:nvCxnSpPr>
                <p:cNvPr id="8" name="直接箭头连接符 7">
                  <a:extLst>
                    <a:ext uri="{FF2B5EF4-FFF2-40B4-BE49-F238E27FC236}">
                      <a16:creationId xmlns:a16="http://schemas.microsoft.com/office/drawing/2014/main" id="{78D153E5-CD55-46D6-AE73-133D6BE8E427}"/>
                    </a:ext>
                  </a:extLst>
                </p:cNvPr>
                <p:cNvCxnSpPr>
                  <a:cxnSpLocks/>
                </p:cNvCxnSpPr>
                <p:nvPr/>
              </p:nvCxnSpPr>
              <p:spPr>
                <a:xfrm>
                  <a:off x="1350428" y="2228612"/>
                  <a:ext cx="0" cy="58570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0E0BC550-2C8A-420B-8C29-B096816A9B78}"/>
                    </a:ext>
                  </a:extLst>
                </p:cNvPr>
                <p:cNvCxnSpPr>
                  <a:cxnSpLocks/>
                </p:cNvCxnSpPr>
                <p:nvPr/>
              </p:nvCxnSpPr>
              <p:spPr>
                <a:xfrm>
                  <a:off x="1350428" y="3163332"/>
                  <a:ext cx="0" cy="58570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cxnSp>
            <p:nvCxnSpPr>
              <p:cNvPr id="11" name="直接箭头连接符 10">
                <a:extLst>
                  <a:ext uri="{FF2B5EF4-FFF2-40B4-BE49-F238E27FC236}">
                    <a16:creationId xmlns:a16="http://schemas.microsoft.com/office/drawing/2014/main" id="{3ED8444F-7186-44AC-9858-289F398DAB1A}"/>
                  </a:ext>
                </a:extLst>
              </p:cNvPr>
              <p:cNvCxnSpPr>
                <a:cxnSpLocks/>
                <a:stCxn id="23" idx="1"/>
                <a:endCxn id="16" idx="2"/>
              </p:cNvCxnSpPr>
              <p:nvPr/>
            </p:nvCxnSpPr>
            <p:spPr>
              <a:xfrm flipH="1" flipV="1">
                <a:off x="4920187" y="3092370"/>
                <a:ext cx="2704510" cy="85181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86DF7D6B-23F9-4158-A0B3-929DE345227F}"/>
                  </a:ext>
                </a:extLst>
              </p:cNvPr>
              <p:cNvGrpSpPr/>
              <p:nvPr/>
            </p:nvGrpSpPr>
            <p:grpSpPr>
              <a:xfrm>
                <a:off x="4267080" y="1706880"/>
                <a:ext cx="1336159" cy="2427048"/>
                <a:chOff x="836260" y="1862250"/>
                <a:chExt cx="1051915" cy="2225443"/>
              </a:xfrm>
            </p:grpSpPr>
            <p:sp>
              <p:nvSpPr>
                <p:cNvPr id="15" name="文本框 14">
                  <a:extLst>
                    <a:ext uri="{FF2B5EF4-FFF2-40B4-BE49-F238E27FC236}">
                      <a16:creationId xmlns:a16="http://schemas.microsoft.com/office/drawing/2014/main" id="{CCB910B5-6E78-4DED-B2AA-C82FCDC609AC}"/>
                    </a:ext>
                  </a:extLst>
                </p:cNvPr>
                <p:cNvSpPr txBox="1"/>
                <p:nvPr/>
              </p:nvSpPr>
              <p:spPr>
                <a:xfrm>
                  <a:off x="836260" y="1862250"/>
                  <a:ext cx="1051915" cy="338653"/>
                </a:xfrm>
                <a:prstGeom prst="rect">
                  <a:avLst/>
                </a:prstGeom>
                <a:noFill/>
              </p:spPr>
              <p:txBody>
                <a:bodyPr wrap="square" rtlCol="0">
                  <a:spAutoFit/>
                </a:bodyPr>
                <a:lstStyle/>
                <a:p>
                  <a:pPr algn="ctr"/>
                  <a:r>
                    <a:rPr lang="zh-CN" altLang="en-US" dirty="0"/>
                    <a:t>函数</a:t>
                  </a:r>
                  <a:r>
                    <a:rPr lang="en-US" altLang="zh-CN" dirty="0"/>
                    <a:t>func1()</a:t>
                  </a:r>
                  <a:endParaRPr lang="zh-CN" altLang="en-US" dirty="0"/>
                </a:p>
              </p:txBody>
            </p:sp>
            <p:sp>
              <p:nvSpPr>
                <p:cNvPr id="16" name="文本框 15">
                  <a:extLst>
                    <a:ext uri="{FF2B5EF4-FFF2-40B4-BE49-F238E27FC236}">
                      <a16:creationId xmlns:a16="http://schemas.microsoft.com/office/drawing/2014/main" id="{8919027B-4B63-4DAE-95B4-BA8930E88325}"/>
                    </a:ext>
                  </a:extLst>
                </p:cNvPr>
                <p:cNvSpPr txBox="1"/>
                <p:nvPr/>
              </p:nvSpPr>
              <p:spPr>
                <a:xfrm>
                  <a:off x="1009565" y="2794000"/>
                  <a:ext cx="681729" cy="338653"/>
                </a:xfrm>
                <a:prstGeom prst="rect">
                  <a:avLst/>
                </a:prstGeom>
                <a:noFill/>
              </p:spPr>
              <p:txBody>
                <a:bodyPr wrap="none" rtlCol="0">
                  <a:spAutoFit/>
                </a:bodyPr>
                <a:lstStyle/>
                <a:p>
                  <a:pPr algn="ctr"/>
                  <a:r>
                    <a:rPr lang="en-US" altLang="zh-CN" dirty="0"/>
                    <a:t>func2()</a:t>
                  </a:r>
                  <a:endParaRPr lang="zh-CN" altLang="en-US" dirty="0"/>
                </a:p>
              </p:txBody>
            </p:sp>
            <p:sp>
              <p:nvSpPr>
                <p:cNvPr id="17" name="文本框 16">
                  <a:extLst>
                    <a:ext uri="{FF2B5EF4-FFF2-40B4-BE49-F238E27FC236}">
                      <a16:creationId xmlns:a16="http://schemas.microsoft.com/office/drawing/2014/main" id="{6BCCF803-3795-4598-8D56-1994D3DD8BFE}"/>
                    </a:ext>
                  </a:extLst>
                </p:cNvPr>
                <p:cNvSpPr txBox="1"/>
                <p:nvPr/>
              </p:nvSpPr>
              <p:spPr>
                <a:xfrm>
                  <a:off x="1096008" y="3749040"/>
                  <a:ext cx="508836" cy="338653"/>
                </a:xfrm>
                <a:prstGeom prst="rect">
                  <a:avLst/>
                </a:prstGeom>
                <a:noFill/>
              </p:spPr>
              <p:txBody>
                <a:bodyPr wrap="none" rtlCol="0">
                  <a:spAutoFit/>
                </a:bodyPr>
                <a:lstStyle/>
                <a:p>
                  <a:pPr algn="ctr"/>
                  <a:r>
                    <a:rPr lang="zh-CN" altLang="en-US" dirty="0"/>
                    <a:t>返回</a:t>
                  </a:r>
                </a:p>
              </p:txBody>
            </p:sp>
            <p:cxnSp>
              <p:nvCxnSpPr>
                <p:cNvPr id="18" name="直接箭头连接符 17">
                  <a:extLst>
                    <a:ext uri="{FF2B5EF4-FFF2-40B4-BE49-F238E27FC236}">
                      <a16:creationId xmlns:a16="http://schemas.microsoft.com/office/drawing/2014/main" id="{3413B407-2F85-4FA5-B11F-D7E00ACB7AC3}"/>
                    </a:ext>
                  </a:extLst>
                </p:cNvPr>
                <p:cNvCxnSpPr>
                  <a:cxnSpLocks/>
                </p:cNvCxnSpPr>
                <p:nvPr/>
              </p:nvCxnSpPr>
              <p:spPr>
                <a:xfrm>
                  <a:off x="1350428" y="2228612"/>
                  <a:ext cx="0" cy="58570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DA0E573-7BCE-45C8-94C1-5D8DBCFBB6B0}"/>
                    </a:ext>
                  </a:extLst>
                </p:cNvPr>
                <p:cNvCxnSpPr>
                  <a:cxnSpLocks/>
                </p:cNvCxnSpPr>
                <p:nvPr/>
              </p:nvCxnSpPr>
              <p:spPr>
                <a:xfrm>
                  <a:off x="1350428" y="3163332"/>
                  <a:ext cx="0" cy="58570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430E31D3-CA3A-4FBC-AB31-D9E0CDADB424}"/>
                  </a:ext>
                </a:extLst>
              </p:cNvPr>
              <p:cNvGrpSpPr/>
              <p:nvPr/>
            </p:nvGrpSpPr>
            <p:grpSpPr>
              <a:xfrm>
                <a:off x="7294761" y="1701800"/>
                <a:ext cx="1305680" cy="2427048"/>
                <a:chOff x="836261" y="1862250"/>
                <a:chExt cx="1027920" cy="2225443"/>
              </a:xfrm>
            </p:grpSpPr>
            <p:sp>
              <p:nvSpPr>
                <p:cNvPr id="21" name="文本框 20">
                  <a:extLst>
                    <a:ext uri="{FF2B5EF4-FFF2-40B4-BE49-F238E27FC236}">
                      <a16:creationId xmlns:a16="http://schemas.microsoft.com/office/drawing/2014/main" id="{9892CDCA-2211-4C71-AFD1-7FF4B63B19FE}"/>
                    </a:ext>
                  </a:extLst>
                </p:cNvPr>
                <p:cNvSpPr txBox="1"/>
                <p:nvPr/>
              </p:nvSpPr>
              <p:spPr>
                <a:xfrm>
                  <a:off x="836261" y="1862250"/>
                  <a:ext cx="1027920" cy="338653"/>
                </a:xfrm>
                <a:prstGeom prst="rect">
                  <a:avLst/>
                </a:prstGeom>
                <a:noFill/>
              </p:spPr>
              <p:txBody>
                <a:bodyPr wrap="square" rtlCol="0">
                  <a:spAutoFit/>
                </a:bodyPr>
                <a:lstStyle/>
                <a:p>
                  <a:pPr algn="ctr"/>
                  <a:r>
                    <a:rPr lang="zh-CN" altLang="en-US" dirty="0"/>
                    <a:t>函数</a:t>
                  </a:r>
                  <a:r>
                    <a:rPr lang="en-US" altLang="zh-CN" dirty="0"/>
                    <a:t>func2()</a:t>
                  </a:r>
                  <a:endParaRPr lang="zh-CN" altLang="en-US" dirty="0"/>
                </a:p>
              </p:txBody>
            </p:sp>
            <p:sp>
              <p:nvSpPr>
                <p:cNvPr id="23" name="文本框 22">
                  <a:extLst>
                    <a:ext uri="{FF2B5EF4-FFF2-40B4-BE49-F238E27FC236}">
                      <a16:creationId xmlns:a16="http://schemas.microsoft.com/office/drawing/2014/main" id="{4F48A015-CDD6-4C49-B77E-9D674726E83D}"/>
                    </a:ext>
                  </a:extLst>
                </p:cNvPr>
                <p:cNvSpPr txBox="1"/>
                <p:nvPr/>
              </p:nvSpPr>
              <p:spPr>
                <a:xfrm>
                  <a:off x="1096009" y="3749040"/>
                  <a:ext cx="508836" cy="338653"/>
                </a:xfrm>
                <a:prstGeom prst="rect">
                  <a:avLst/>
                </a:prstGeom>
                <a:noFill/>
              </p:spPr>
              <p:txBody>
                <a:bodyPr wrap="none" rtlCol="0">
                  <a:spAutoFit/>
                </a:bodyPr>
                <a:lstStyle/>
                <a:p>
                  <a:pPr algn="ctr"/>
                  <a:r>
                    <a:rPr lang="zh-CN" altLang="en-US" dirty="0"/>
                    <a:t>返回</a:t>
                  </a:r>
                </a:p>
              </p:txBody>
            </p:sp>
            <p:cxnSp>
              <p:nvCxnSpPr>
                <p:cNvPr id="25" name="直接箭头连接符 24">
                  <a:extLst>
                    <a:ext uri="{FF2B5EF4-FFF2-40B4-BE49-F238E27FC236}">
                      <a16:creationId xmlns:a16="http://schemas.microsoft.com/office/drawing/2014/main" id="{9D72686F-4110-4126-9FBE-01700340DB89}"/>
                    </a:ext>
                  </a:extLst>
                </p:cNvPr>
                <p:cNvCxnSpPr>
                  <a:cxnSpLocks/>
                  <a:stCxn id="21" idx="2"/>
                </p:cNvCxnSpPr>
                <p:nvPr/>
              </p:nvCxnSpPr>
              <p:spPr>
                <a:xfrm>
                  <a:off x="1350221" y="2200903"/>
                  <a:ext cx="207" cy="1548137"/>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cxnSp>
            <p:nvCxnSpPr>
              <p:cNvPr id="28" name="直接箭头连接符 27">
                <a:extLst>
                  <a:ext uri="{FF2B5EF4-FFF2-40B4-BE49-F238E27FC236}">
                    <a16:creationId xmlns:a16="http://schemas.microsoft.com/office/drawing/2014/main" id="{83AB489E-E0B6-4701-B56F-A89E15BC60B0}"/>
                  </a:ext>
                </a:extLst>
              </p:cNvPr>
              <p:cNvCxnSpPr>
                <a:cxnSpLocks/>
              </p:cNvCxnSpPr>
              <p:nvPr/>
            </p:nvCxnSpPr>
            <p:spPr>
              <a:xfrm flipV="1">
                <a:off x="2324087" y="2045733"/>
                <a:ext cx="2054873" cy="75000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3820B87-3975-4A76-8761-093EDBE29D04}"/>
                  </a:ext>
                </a:extLst>
              </p:cNvPr>
              <p:cNvCxnSpPr>
                <a:cxnSpLocks/>
              </p:cNvCxnSpPr>
              <p:nvPr/>
            </p:nvCxnSpPr>
            <p:spPr>
              <a:xfrm flipV="1">
                <a:off x="5032067" y="2039734"/>
                <a:ext cx="2374309" cy="735684"/>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DC5EDE0-EE23-44F4-BF81-73AF3C6FDAD7}"/>
                  </a:ext>
                </a:extLst>
              </p:cNvPr>
              <p:cNvCxnSpPr>
                <a:cxnSpLocks/>
                <a:stCxn id="17" idx="1"/>
                <a:endCxn id="6" idx="2"/>
              </p:cNvCxnSpPr>
              <p:nvPr/>
            </p:nvCxnSpPr>
            <p:spPr>
              <a:xfrm flipH="1" flipV="1">
                <a:off x="2217625" y="3087290"/>
                <a:ext cx="2379391" cy="86197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7C717CFE-9C28-433C-930E-C98AF2205064}"/>
                </a:ext>
              </a:extLst>
            </p:cNvPr>
            <p:cNvSpPr txBox="1"/>
            <p:nvPr/>
          </p:nvSpPr>
          <p:spPr>
            <a:xfrm>
              <a:off x="2209141" y="2680176"/>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①</a:t>
              </a:r>
              <a:endParaRPr lang="zh-CN" altLang="en-US" dirty="0"/>
            </a:p>
          </p:txBody>
        </p:sp>
        <p:sp>
          <p:nvSpPr>
            <p:cNvPr id="43" name="文本框 42">
              <a:extLst>
                <a:ext uri="{FF2B5EF4-FFF2-40B4-BE49-F238E27FC236}">
                  <a16:creationId xmlns:a16="http://schemas.microsoft.com/office/drawing/2014/main" id="{84A76EBA-5F68-4CA8-BF67-EF4FDB512CBD}"/>
                </a:ext>
              </a:extLst>
            </p:cNvPr>
            <p:cNvSpPr txBox="1"/>
            <p:nvPr/>
          </p:nvSpPr>
          <p:spPr>
            <a:xfrm>
              <a:off x="3220721" y="2680176"/>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②</a:t>
              </a:r>
              <a:endParaRPr lang="zh-CN" altLang="en-US" dirty="0"/>
            </a:p>
          </p:txBody>
        </p:sp>
        <p:sp>
          <p:nvSpPr>
            <p:cNvPr id="44" name="文本框 43">
              <a:extLst>
                <a:ext uri="{FF2B5EF4-FFF2-40B4-BE49-F238E27FC236}">
                  <a16:creationId xmlns:a16="http://schemas.microsoft.com/office/drawing/2014/main" id="{D434626B-54C3-4792-8167-F58E1CE59EEA}"/>
                </a:ext>
              </a:extLst>
            </p:cNvPr>
            <p:cNvSpPr txBox="1"/>
            <p:nvPr/>
          </p:nvSpPr>
          <p:spPr>
            <a:xfrm>
              <a:off x="4913862" y="2680176"/>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③</a:t>
              </a:r>
              <a:endParaRPr lang="zh-CN" altLang="en-US" dirty="0"/>
            </a:p>
          </p:txBody>
        </p:sp>
        <p:sp>
          <p:nvSpPr>
            <p:cNvPr id="45" name="文本框 44">
              <a:extLst>
                <a:ext uri="{FF2B5EF4-FFF2-40B4-BE49-F238E27FC236}">
                  <a16:creationId xmlns:a16="http://schemas.microsoft.com/office/drawing/2014/main" id="{56921DD0-2CC3-4DAC-96F6-163EABDD66AC}"/>
                </a:ext>
              </a:extLst>
            </p:cNvPr>
            <p:cNvSpPr txBox="1"/>
            <p:nvPr/>
          </p:nvSpPr>
          <p:spPr>
            <a:xfrm>
              <a:off x="6183661" y="2627746"/>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④</a:t>
              </a:r>
              <a:endParaRPr lang="zh-CN" altLang="en-US" dirty="0"/>
            </a:p>
          </p:txBody>
        </p:sp>
        <p:sp>
          <p:nvSpPr>
            <p:cNvPr id="46" name="文本框 45">
              <a:extLst>
                <a:ext uri="{FF2B5EF4-FFF2-40B4-BE49-F238E27FC236}">
                  <a16:creationId xmlns:a16="http://schemas.microsoft.com/office/drawing/2014/main" id="{54B7F9C8-6AA4-41E6-A396-0A2D8DC3D537}"/>
                </a:ext>
              </a:extLst>
            </p:cNvPr>
            <p:cNvSpPr txBox="1"/>
            <p:nvPr/>
          </p:nvSpPr>
          <p:spPr>
            <a:xfrm>
              <a:off x="8328843" y="3178349"/>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⑤</a:t>
              </a:r>
              <a:endParaRPr lang="zh-CN" altLang="en-US" dirty="0"/>
            </a:p>
          </p:txBody>
        </p:sp>
        <p:sp>
          <p:nvSpPr>
            <p:cNvPr id="47" name="文本框 46">
              <a:extLst>
                <a:ext uri="{FF2B5EF4-FFF2-40B4-BE49-F238E27FC236}">
                  <a16:creationId xmlns:a16="http://schemas.microsoft.com/office/drawing/2014/main" id="{A9B2E38B-729E-46D8-A036-AF8613E5568C}"/>
                </a:ext>
              </a:extLst>
            </p:cNvPr>
            <p:cNvSpPr txBox="1"/>
            <p:nvPr/>
          </p:nvSpPr>
          <p:spPr>
            <a:xfrm>
              <a:off x="6356909" y="3993653"/>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⑥</a:t>
              </a:r>
              <a:endParaRPr lang="zh-CN" altLang="en-US" dirty="0"/>
            </a:p>
          </p:txBody>
        </p:sp>
        <p:sp>
          <p:nvSpPr>
            <p:cNvPr id="48" name="文本框 47">
              <a:extLst>
                <a:ext uri="{FF2B5EF4-FFF2-40B4-BE49-F238E27FC236}">
                  <a16:creationId xmlns:a16="http://schemas.microsoft.com/office/drawing/2014/main" id="{DB1ECBE2-07E2-4FB6-ADC2-189427D157CD}"/>
                </a:ext>
              </a:extLst>
            </p:cNvPr>
            <p:cNvSpPr txBox="1"/>
            <p:nvPr/>
          </p:nvSpPr>
          <p:spPr>
            <a:xfrm>
              <a:off x="4934447" y="3760625"/>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⑦</a:t>
              </a:r>
              <a:endParaRPr lang="zh-CN" altLang="en-US" dirty="0"/>
            </a:p>
          </p:txBody>
        </p:sp>
        <p:sp>
          <p:nvSpPr>
            <p:cNvPr id="49" name="文本框 48">
              <a:extLst>
                <a:ext uri="{FF2B5EF4-FFF2-40B4-BE49-F238E27FC236}">
                  <a16:creationId xmlns:a16="http://schemas.microsoft.com/office/drawing/2014/main" id="{064B433A-BEBB-4D95-B080-D6B41D527F66}"/>
                </a:ext>
              </a:extLst>
            </p:cNvPr>
            <p:cNvSpPr txBox="1"/>
            <p:nvPr/>
          </p:nvSpPr>
          <p:spPr>
            <a:xfrm>
              <a:off x="3520253" y="4004012"/>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⑧</a:t>
              </a:r>
              <a:endParaRPr lang="zh-CN" altLang="en-US" dirty="0"/>
            </a:p>
          </p:txBody>
        </p:sp>
        <p:sp>
          <p:nvSpPr>
            <p:cNvPr id="50" name="文本框 49">
              <a:extLst>
                <a:ext uri="{FF2B5EF4-FFF2-40B4-BE49-F238E27FC236}">
                  <a16:creationId xmlns:a16="http://schemas.microsoft.com/office/drawing/2014/main" id="{BD4A2F87-4BF1-4326-84E7-AC64A00BEC81}"/>
                </a:ext>
              </a:extLst>
            </p:cNvPr>
            <p:cNvSpPr txBox="1"/>
            <p:nvPr/>
          </p:nvSpPr>
          <p:spPr>
            <a:xfrm>
              <a:off x="2220326" y="3701433"/>
              <a:ext cx="386080" cy="369332"/>
            </a:xfrm>
            <a:prstGeom prst="rect">
              <a:avLst/>
            </a:prstGeom>
            <a:noFill/>
          </p:spPr>
          <p:txBody>
            <a:bodyPr wrap="square" rtlCol="0">
              <a:spAutoFit/>
            </a:bodyPr>
            <a:lstStyle/>
            <a:p>
              <a:pPr algn="ctr"/>
              <a:r>
                <a:rPr lang="zh-CN" altLang="en-US" dirty="0">
                  <a:latin typeface="等线" panose="02010600030101010101" pitchFamily="2" charset="-122"/>
                  <a:ea typeface="等线" panose="02010600030101010101" pitchFamily="2" charset="-122"/>
                </a:rPr>
                <a:t>⑨</a:t>
              </a:r>
              <a:endParaRPr lang="zh-CN" altLang="en-US" dirty="0"/>
            </a:p>
          </p:txBody>
        </p:sp>
      </p:grpSp>
      <p:sp>
        <p:nvSpPr>
          <p:cNvPr id="52" name="灯片编号占位符 51">
            <a:extLst>
              <a:ext uri="{FF2B5EF4-FFF2-40B4-BE49-F238E27FC236}">
                <a16:creationId xmlns:a16="http://schemas.microsoft.com/office/drawing/2014/main" id="{1CEE9CF8-25E9-4B6E-B889-D9485AFC1F3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49</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327978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EC30B66-2996-43FD-9713-0A2B2CAAE620}"/>
              </a:ext>
            </a:extLst>
          </p:cNvPr>
          <p:cNvSpPr txBox="1">
            <a:spLocks noChangeArrowheads="1"/>
          </p:cNvSpPr>
          <p:nvPr/>
        </p:nvSpPr>
        <p:spPr>
          <a:xfrm>
            <a:off x="1096465" y="1295350"/>
            <a:ext cx="4888412"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sof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sum;</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 =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sof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"result=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sum);</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4" name="矩形 3">
            <a:extLst>
              <a:ext uri="{FF2B5EF4-FFF2-40B4-BE49-F238E27FC236}">
                <a16:creationId xmlns:a16="http://schemas.microsoft.com/office/drawing/2014/main" id="{046C4DC0-E2B4-4407-8E57-1FC99674A985}"/>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6-17</a:t>
            </a:r>
            <a:r>
              <a:rPr lang="en-US" altLang="zh-CN" sz="2800" b="1" dirty="0">
                <a:latin typeface="隶书" pitchFamily="49" charset="-122"/>
              </a:rPr>
              <a:t>】</a:t>
            </a:r>
            <a:r>
              <a:rPr lang="zh-CN" altLang="en-US" sz="2800" b="1" dirty="0">
                <a:latin typeface="隶书" pitchFamily="49" charset="-122"/>
              </a:rPr>
              <a:t>编程求和</a:t>
            </a:r>
            <a:r>
              <a:rPr lang="en-US" altLang="zh-CN" sz="2800" b="1" dirty="0">
                <a:latin typeface="隶书" pitchFamily="49" charset="-122"/>
              </a:rPr>
              <a:t>1! + 2! + … + n!</a:t>
            </a:r>
            <a:r>
              <a:rPr lang="zh-CN" altLang="en-US" sz="2800" b="1" dirty="0">
                <a:latin typeface="隶书" pitchFamily="49" charset="-122"/>
              </a:rPr>
              <a:t>。</a:t>
            </a:r>
            <a:endParaRPr lang="en-US" altLang="zh-CN" sz="2800" b="1" dirty="0">
              <a:latin typeface="隶书" pitchFamily="49" charset="-122"/>
            </a:endParaRPr>
          </a:p>
        </p:txBody>
      </p:sp>
      <p:sp>
        <p:nvSpPr>
          <p:cNvPr id="5" name="Rectangle 2">
            <a:extLst>
              <a:ext uri="{FF2B5EF4-FFF2-40B4-BE49-F238E27FC236}">
                <a16:creationId xmlns:a16="http://schemas.microsoft.com/office/drawing/2014/main" id="{1281C720-B603-4237-A9FB-3A3045E2F81A}"/>
              </a:ext>
            </a:extLst>
          </p:cNvPr>
          <p:cNvSpPr txBox="1">
            <a:spLocks noChangeArrowheads="1"/>
          </p:cNvSpPr>
          <p:nvPr/>
        </p:nvSpPr>
        <p:spPr>
          <a:xfrm>
            <a:off x="6780348" y="602853"/>
            <a:ext cx="4616181"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sof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 </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sum = 0;</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endPar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for(</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1; i &lt;= m; 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 +=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(i);</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sum;</a:t>
            </a:r>
            <a:endPar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6" name="Rectangle 2">
            <a:extLst>
              <a:ext uri="{FF2B5EF4-FFF2-40B4-BE49-F238E27FC236}">
                <a16:creationId xmlns:a16="http://schemas.microsoft.com/office/drawing/2014/main" id="{9564F8A8-13B8-470B-9FA9-909F9AAB4273}"/>
              </a:ext>
            </a:extLst>
          </p:cNvPr>
          <p:cNvSpPr txBox="1">
            <a:spLocks noChangeArrowheads="1"/>
          </p:cNvSpPr>
          <p:nvPr/>
        </p:nvSpPr>
        <p:spPr>
          <a:xfrm>
            <a:off x="6780348" y="3749457"/>
            <a:ext cx="4616181"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fa = 1;</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endPar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for(</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 = 1; i &lt;= n; i++)</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fa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i;</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fa;</a:t>
            </a:r>
            <a:endPar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7" name="灯片编号占位符 6">
            <a:extLst>
              <a:ext uri="{FF2B5EF4-FFF2-40B4-BE49-F238E27FC236}">
                <a16:creationId xmlns:a16="http://schemas.microsoft.com/office/drawing/2014/main" id="{F4419949-C8D2-4183-AFE6-C5BF9D883BC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50</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1253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0C2072C-7954-45B4-B56F-34C8141215FE}"/>
              </a:ext>
            </a:extLst>
          </p:cNvPr>
          <p:cNvSpPr/>
          <p:nvPr/>
        </p:nvSpPr>
        <p:spPr>
          <a:xfrm>
            <a:off x="16778" y="602853"/>
            <a:ext cx="12158444" cy="523220"/>
          </a:xfrm>
          <a:prstGeom prst="rect">
            <a:avLst/>
          </a:prstGeom>
        </p:spPr>
        <p:txBody>
          <a:bodyPr wrap="square">
            <a:spAutoFit/>
          </a:bodyPr>
          <a:lstStyle/>
          <a:p>
            <a:pPr marL="0" lvl="1"/>
            <a:r>
              <a:rPr lang="zh-CN" altLang="en-US" sz="2800" b="1" dirty="0">
                <a:latin typeface="隶书" pitchFamily="49" charset="-122"/>
              </a:rPr>
              <a:t>在函数的定义中调用它自身的过程称为“</a:t>
            </a:r>
            <a:r>
              <a:rPr lang="zh-CN" altLang="en-US" sz="2800" b="1" dirty="0">
                <a:solidFill>
                  <a:srgbClr val="00B0F0"/>
                </a:solidFill>
                <a:latin typeface="隶书" pitchFamily="49" charset="-122"/>
              </a:rPr>
              <a:t>函数的递归调用</a:t>
            </a:r>
            <a:r>
              <a:rPr lang="zh-CN" altLang="en-US" sz="2800" b="1" dirty="0">
                <a:latin typeface="隶书" pitchFamily="49" charset="-122"/>
              </a:rPr>
              <a:t>”。</a:t>
            </a:r>
            <a:endParaRPr lang="en-US" altLang="zh-CN" sz="2800" b="1" dirty="0">
              <a:latin typeface="隶书" pitchFamily="49" charset="-122"/>
            </a:endParaRPr>
          </a:p>
        </p:txBody>
      </p:sp>
      <p:sp>
        <p:nvSpPr>
          <p:cNvPr id="4" name="矩形 3">
            <a:extLst>
              <a:ext uri="{FF2B5EF4-FFF2-40B4-BE49-F238E27FC236}">
                <a16:creationId xmlns:a16="http://schemas.microsoft.com/office/drawing/2014/main" id="{EC9D53A0-F062-446F-BDF5-C6375F82C50E}"/>
              </a:ext>
            </a:extLst>
          </p:cNvPr>
          <p:cNvSpPr/>
          <p:nvPr/>
        </p:nvSpPr>
        <p:spPr>
          <a:xfrm>
            <a:off x="33556" y="1430873"/>
            <a:ext cx="12158444" cy="1384995"/>
          </a:xfrm>
          <a:prstGeom prst="rect">
            <a:avLst/>
          </a:prstGeom>
        </p:spPr>
        <p:txBody>
          <a:bodyPr wrap="square">
            <a:spAutoFit/>
          </a:bodyPr>
          <a:lstStyle/>
          <a:p>
            <a:pPr marL="0" lvl="1"/>
            <a:r>
              <a:rPr lang="zh-CN" altLang="en-US" sz="2800" b="1" dirty="0">
                <a:solidFill>
                  <a:srgbClr val="00B0F0"/>
                </a:solidFill>
                <a:latin typeface="隶书" pitchFamily="49" charset="-122"/>
              </a:rPr>
              <a:t>递归调用</a:t>
            </a:r>
            <a:r>
              <a:rPr lang="zh-CN" altLang="en-US" sz="2800" b="1" dirty="0">
                <a:latin typeface="隶书" pitchFamily="49" charset="-122"/>
              </a:rPr>
              <a:t>的实质是问题分解，即把复杂问题分解为规模较小的同类问题的子问题，再把这些子问题进一步分解为更小的小问题，直到每个小问题都可以直接求解。</a:t>
            </a:r>
            <a:endParaRPr lang="en-US" altLang="zh-CN" sz="2800" b="1" dirty="0">
              <a:latin typeface="隶书" pitchFamily="49" charset="-122"/>
            </a:endParaRPr>
          </a:p>
        </p:txBody>
      </p:sp>
      <p:sp>
        <p:nvSpPr>
          <p:cNvPr id="5" name="矩形 4">
            <a:extLst>
              <a:ext uri="{FF2B5EF4-FFF2-40B4-BE49-F238E27FC236}">
                <a16:creationId xmlns:a16="http://schemas.microsoft.com/office/drawing/2014/main" id="{88BD4BCA-6C4B-40B8-98F8-4094FF3266CD}"/>
              </a:ext>
            </a:extLst>
          </p:cNvPr>
          <p:cNvSpPr/>
          <p:nvPr/>
        </p:nvSpPr>
        <p:spPr>
          <a:xfrm>
            <a:off x="33556" y="3156228"/>
            <a:ext cx="12158444" cy="1384995"/>
          </a:xfrm>
          <a:prstGeom prst="rect">
            <a:avLst/>
          </a:prstGeom>
        </p:spPr>
        <p:txBody>
          <a:bodyPr wrap="square">
            <a:spAutoFit/>
          </a:bodyPr>
          <a:lstStyle/>
          <a:p>
            <a:pPr marL="0" lvl="1"/>
            <a:r>
              <a:rPr lang="zh-CN" altLang="en-US" sz="2800" b="1" dirty="0">
                <a:solidFill>
                  <a:srgbClr val="00B0F0"/>
                </a:solidFill>
                <a:latin typeface="隶书" pitchFamily="49" charset="-122"/>
              </a:rPr>
              <a:t>实现函数递归调用</a:t>
            </a:r>
            <a:r>
              <a:rPr lang="zh-CN" altLang="en-US" sz="2800" b="1" dirty="0">
                <a:latin typeface="隶书" pitchFamily="49" charset="-122"/>
              </a:rPr>
              <a:t>的两个必备要素：</a:t>
            </a:r>
            <a:endParaRPr lang="en-US" altLang="zh-CN" sz="2800" b="1" dirty="0">
              <a:latin typeface="隶书" pitchFamily="49" charset="-122"/>
            </a:endParaRPr>
          </a:p>
          <a:p>
            <a:pPr marL="720000" lvl="1" indent="-514350">
              <a:buFont typeface="+mj-ea"/>
              <a:buAutoNum type="circleNumDbPlain"/>
            </a:pPr>
            <a:r>
              <a:rPr lang="zh-CN" altLang="en-US" sz="2800" b="1" dirty="0">
                <a:latin typeface="隶书" panose="02010509060101010101" pitchFamily="49" charset="-122"/>
                <a:ea typeface="隶书" panose="02010509060101010101" pitchFamily="49" charset="-122"/>
              </a:rPr>
              <a:t>具备递归结束条件及结束时的值</a:t>
            </a:r>
            <a:endParaRPr lang="en-US" altLang="zh-CN" sz="2800" b="1" dirty="0">
              <a:latin typeface="隶书" panose="02010509060101010101" pitchFamily="49" charset="-122"/>
              <a:ea typeface="隶书" panose="02010509060101010101" pitchFamily="49" charset="-122"/>
            </a:endParaRPr>
          </a:p>
          <a:p>
            <a:pPr marL="720000" lvl="1" indent="-514350">
              <a:buFont typeface="+mj-ea"/>
              <a:buAutoNum type="circleNumDbPlain"/>
            </a:pPr>
            <a:r>
              <a:rPr lang="zh-CN" altLang="en-US" sz="2800" b="1" dirty="0">
                <a:latin typeface="隶书" panose="02010509060101010101" pitchFamily="49" charset="-122"/>
                <a:ea typeface="隶书" panose="02010509060101010101" pitchFamily="49" charset="-122"/>
              </a:rPr>
              <a:t>能用递归形式表示且递归向终止条件发展。</a:t>
            </a:r>
            <a:endParaRPr lang="en-US" altLang="zh-CN" sz="2800" b="1" dirty="0">
              <a:latin typeface="隶书" panose="02010509060101010101" pitchFamily="49" charset="-122"/>
              <a:ea typeface="隶书" panose="02010509060101010101" pitchFamily="49" charset="-122"/>
            </a:endParaRPr>
          </a:p>
        </p:txBody>
      </p:sp>
      <p:sp>
        <p:nvSpPr>
          <p:cNvPr id="6" name="灯片编号占位符 5">
            <a:extLst>
              <a:ext uri="{FF2B5EF4-FFF2-40B4-BE49-F238E27FC236}">
                <a16:creationId xmlns:a16="http://schemas.microsoft.com/office/drawing/2014/main" id="{88EAB00F-87D0-4376-BD22-60DCFF6C9C2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51</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5264656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50C8DA4-6C09-4AB8-AD73-F505A99DC134}"/>
              </a:ext>
            </a:extLst>
          </p:cNvPr>
          <p:cNvSpPr txBox="1">
            <a:spLocks noChangeArrowheads="1"/>
          </p:cNvSpPr>
          <p:nvPr/>
        </p:nvSpPr>
        <p:spPr>
          <a:xfrm>
            <a:off x="1359351" y="1278473"/>
            <a:ext cx="4616181"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reverse</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x);</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reverse</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(x);</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4" name="矩形 3">
            <a:extLst>
              <a:ext uri="{FF2B5EF4-FFF2-40B4-BE49-F238E27FC236}">
                <a16:creationId xmlns:a16="http://schemas.microsoft.com/office/drawing/2014/main" id="{9E8F846B-A177-4FAE-8FEB-FC6CCCDB2635}"/>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6-18</a:t>
            </a:r>
            <a:r>
              <a:rPr lang="en-US" altLang="zh-CN" sz="2800" b="1" dirty="0">
                <a:latin typeface="隶书" pitchFamily="49" charset="-122"/>
              </a:rPr>
              <a:t>】</a:t>
            </a:r>
            <a:r>
              <a:rPr lang="zh-CN" altLang="en-US" sz="2800" b="1" dirty="0">
                <a:latin typeface="隶书" pitchFamily="49" charset="-122"/>
              </a:rPr>
              <a:t>利用递归将一个整数各位上的数字逆序输出。</a:t>
            </a:r>
            <a:endParaRPr lang="en-US" altLang="zh-CN" sz="2800" b="1" dirty="0">
              <a:latin typeface="隶书" pitchFamily="49" charset="-122"/>
            </a:endParaRPr>
          </a:p>
        </p:txBody>
      </p:sp>
      <p:sp>
        <p:nvSpPr>
          <p:cNvPr id="5" name="Rectangle 2">
            <a:extLst>
              <a:ext uri="{FF2B5EF4-FFF2-40B4-BE49-F238E27FC236}">
                <a16:creationId xmlns:a16="http://schemas.microsoft.com/office/drawing/2014/main" id="{45B9A5AC-9224-41E3-900A-BAD9E0CF9282}"/>
              </a:ext>
            </a:extLst>
          </p:cNvPr>
          <p:cNvSpPr txBox="1">
            <a:spLocks noChangeArrowheads="1"/>
          </p:cNvSpPr>
          <p:nvPr/>
        </p:nvSpPr>
        <p:spPr>
          <a:xfrm>
            <a:off x="6204219" y="1709360"/>
            <a:ext cx="4616181"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void</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reverse</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&gt; 0)</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a:t>
            </a:r>
            <a:r>
              <a:rPr lang="en-US" altLang="zh-CN" b="1" dirty="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10);</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reverse</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(x);</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6" name="灯片编号占位符 5">
            <a:extLst>
              <a:ext uri="{FF2B5EF4-FFF2-40B4-BE49-F238E27FC236}">
                <a16:creationId xmlns:a16="http://schemas.microsoft.com/office/drawing/2014/main" id="{FF35C30C-CFC4-4D13-BB0B-AF031D56FBB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52</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248940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984A0AD8-C941-40F8-A5ED-D5AF50961464}"/>
              </a:ext>
            </a:extLst>
          </p:cNvPr>
          <p:cNvGrpSpPr/>
          <p:nvPr/>
        </p:nvGrpSpPr>
        <p:grpSpPr>
          <a:xfrm>
            <a:off x="56288" y="1838960"/>
            <a:ext cx="1643399" cy="2279412"/>
            <a:chOff x="528728" y="1838960"/>
            <a:chExt cx="1643399" cy="2279412"/>
          </a:xfrm>
        </p:grpSpPr>
        <p:sp>
          <p:nvSpPr>
            <p:cNvPr id="3" name="文本框 2">
              <a:extLst>
                <a:ext uri="{FF2B5EF4-FFF2-40B4-BE49-F238E27FC236}">
                  <a16:creationId xmlns:a16="http://schemas.microsoft.com/office/drawing/2014/main" id="{D8E12AEF-B515-4486-9F94-E6F5AEB24279}"/>
                </a:ext>
              </a:extLst>
            </p:cNvPr>
            <p:cNvSpPr txBox="1"/>
            <p:nvPr/>
          </p:nvSpPr>
          <p:spPr>
            <a:xfrm>
              <a:off x="716280" y="1838960"/>
              <a:ext cx="1268296" cy="369332"/>
            </a:xfrm>
            <a:prstGeom prst="rect">
              <a:avLst/>
            </a:prstGeom>
            <a:noFill/>
          </p:spPr>
          <p:txBody>
            <a:bodyPr wrap="none" rtlCol="0">
              <a:spAutoFit/>
            </a:bodyPr>
            <a:lstStyle/>
            <a:p>
              <a:r>
                <a:rPr lang="en-US" altLang="zh-CN" dirty="0"/>
                <a:t>main()</a:t>
              </a:r>
              <a:r>
                <a:rPr lang="zh-CN" altLang="en-US" dirty="0"/>
                <a:t>函数</a:t>
              </a:r>
            </a:p>
          </p:txBody>
        </p:sp>
        <p:sp>
          <p:nvSpPr>
            <p:cNvPr id="4" name="文本框 3">
              <a:extLst>
                <a:ext uri="{FF2B5EF4-FFF2-40B4-BE49-F238E27FC236}">
                  <a16:creationId xmlns:a16="http://schemas.microsoft.com/office/drawing/2014/main" id="{97F9728F-70B7-4B28-81EC-D3C645F4D064}"/>
                </a:ext>
              </a:extLst>
            </p:cNvPr>
            <p:cNvSpPr txBox="1"/>
            <p:nvPr/>
          </p:nvSpPr>
          <p:spPr>
            <a:xfrm>
              <a:off x="528728" y="2794000"/>
              <a:ext cx="1643399" cy="369332"/>
            </a:xfrm>
            <a:prstGeom prst="rect">
              <a:avLst/>
            </a:prstGeom>
            <a:noFill/>
          </p:spPr>
          <p:txBody>
            <a:bodyPr wrap="none" rtlCol="0">
              <a:spAutoFit/>
            </a:bodyPr>
            <a:lstStyle/>
            <a:p>
              <a:r>
                <a:rPr lang="en-US" altLang="zh-CN" dirty="0"/>
                <a:t>reverse(12345)</a:t>
              </a:r>
              <a:endParaRPr lang="zh-CN" altLang="en-US" dirty="0"/>
            </a:p>
          </p:txBody>
        </p:sp>
        <p:sp>
          <p:nvSpPr>
            <p:cNvPr id="5" name="文本框 4">
              <a:extLst>
                <a:ext uri="{FF2B5EF4-FFF2-40B4-BE49-F238E27FC236}">
                  <a16:creationId xmlns:a16="http://schemas.microsoft.com/office/drawing/2014/main" id="{F2B8330A-1D6E-44B2-8E1A-B1376F92A30A}"/>
                </a:ext>
              </a:extLst>
            </p:cNvPr>
            <p:cNvSpPr txBox="1"/>
            <p:nvPr/>
          </p:nvSpPr>
          <p:spPr>
            <a:xfrm>
              <a:off x="1027261" y="3749040"/>
              <a:ext cx="646331" cy="369332"/>
            </a:xfrm>
            <a:prstGeom prst="rect">
              <a:avLst/>
            </a:prstGeom>
            <a:noFill/>
          </p:spPr>
          <p:txBody>
            <a:bodyPr wrap="none" rtlCol="0">
              <a:spAutoFit/>
            </a:bodyPr>
            <a:lstStyle/>
            <a:p>
              <a:r>
                <a:rPr lang="zh-CN" altLang="en-US" dirty="0"/>
                <a:t>结束</a:t>
              </a:r>
            </a:p>
          </p:txBody>
        </p:sp>
        <p:cxnSp>
          <p:nvCxnSpPr>
            <p:cNvPr id="7" name="直接箭头连接符 6">
              <a:extLst>
                <a:ext uri="{FF2B5EF4-FFF2-40B4-BE49-F238E27FC236}">
                  <a16:creationId xmlns:a16="http://schemas.microsoft.com/office/drawing/2014/main" id="{58227E93-1F3F-455D-B22F-6F3AC7BE9276}"/>
                </a:ext>
              </a:extLst>
            </p:cNvPr>
            <p:cNvCxnSpPr>
              <a:cxnSpLocks/>
            </p:cNvCxnSpPr>
            <p:nvPr/>
          </p:nvCxnSpPr>
          <p:spPr>
            <a:xfrm>
              <a:off x="1350428" y="2228612"/>
              <a:ext cx="0" cy="58570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A97DE1F3-5CF8-4B62-8CD8-C6993A3458C5}"/>
                </a:ext>
              </a:extLst>
            </p:cNvPr>
            <p:cNvCxnSpPr>
              <a:cxnSpLocks/>
            </p:cNvCxnSpPr>
            <p:nvPr/>
          </p:nvCxnSpPr>
          <p:spPr>
            <a:xfrm>
              <a:off x="1350428" y="3163332"/>
              <a:ext cx="0" cy="58570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BF2AF326-B10A-4541-9D92-50ACCEEA5C00}"/>
              </a:ext>
            </a:extLst>
          </p:cNvPr>
          <p:cNvGrpSpPr/>
          <p:nvPr/>
        </p:nvGrpSpPr>
        <p:grpSpPr>
          <a:xfrm>
            <a:off x="2022444" y="1862852"/>
            <a:ext cx="1643399" cy="2279412"/>
            <a:chOff x="2022444" y="1862852"/>
            <a:chExt cx="1643399" cy="2279412"/>
          </a:xfrm>
        </p:grpSpPr>
        <p:sp>
          <p:nvSpPr>
            <p:cNvPr id="11" name="文本框 10">
              <a:extLst>
                <a:ext uri="{FF2B5EF4-FFF2-40B4-BE49-F238E27FC236}">
                  <a16:creationId xmlns:a16="http://schemas.microsoft.com/office/drawing/2014/main" id="{8B4545DD-1501-489C-9E55-B457B67F0801}"/>
                </a:ext>
              </a:extLst>
            </p:cNvPr>
            <p:cNvSpPr txBox="1"/>
            <p:nvPr/>
          </p:nvSpPr>
          <p:spPr>
            <a:xfrm>
              <a:off x="2022444" y="1862852"/>
              <a:ext cx="1643399" cy="369332"/>
            </a:xfrm>
            <a:prstGeom prst="rect">
              <a:avLst/>
            </a:prstGeom>
            <a:noFill/>
          </p:spPr>
          <p:txBody>
            <a:bodyPr wrap="none" rtlCol="0">
              <a:spAutoFit/>
            </a:bodyPr>
            <a:lstStyle/>
            <a:p>
              <a:r>
                <a:rPr lang="en-US" altLang="zh-CN" dirty="0"/>
                <a:t>reverse(12345)</a:t>
              </a:r>
              <a:endParaRPr lang="zh-CN" altLang="en-US" dirty="0"/>
            </a:p>
          </p:txBody>
        </p:sp>
        <p:sp>
          <p:nvSpPr>
            <p:cNvPr id="12" name="文本框 11">
              <a:extLst>
                <a:ext uri="{FF2B5EF4-FFF2-40B4-BE49-F238E27FC236}">
                  <a16:creationId xmlns:a16="http://schemas.microsoft.com/office/drawing/2014/main" id="{D2945E11-F196-40D1-AC38-83726740931B}"/>
                </a:ext>
              </a:extLst>
            </p:cNvPr>
            <p:cNvSpPr txBox="1"/>
            <p:nvPr/>
          </p:nvSpPr>
          <p:spPr>
            <a:xfrm>
              <a:off x="2083812" y="2960132"/>
              <a:ext cx="1521570" cy="369332"/>
            </a:xfrm>
            <a:prstGeom prst="rect">
              <a:avLst/>
            </a:prstGeom>
            <a:noFill/>
          </p:spPr>
          <p:txBody>
            <a:bodyPr wrap="none" rtlCol="0">
              <a:spAutoFit/>
            </a:bodyPr>
            <a:lstStyle/>
            <a:p>
              <a:r>
                <a:rPr lang="en-US" altLang="zh-CN" dirty="0"/>
                <a:t>reverse(1234)</a:t>
              </a:r>
              <a:endParaRPr lang="zh-CN" altLang="en-US" dirty="0"/>
            </a:p>
          </p:txBody>
        </p:sp>
        <p:sp>
          <p:nvSpPr>
            <p:cNvPr id="13" name="文本框 12">
              <a:extLst>
                <a:ext uri="{FF2B5EF4-FFF2-40B4-BE49-F238E27FC236}">
                  <a16:creationId xmlns:a16="http://schemas.microsoft.com/office/drawing/2014/main" id="{BFE0A125-B562-4E5D-A9B2-7B7560A6D5B6}"/>
                </a:ext>
              </a:extLst>
            </p:cNvPr>
            <p:cNvSpPr txBox="1"/>
            <p:nvPr/>
          </p:nvSpPr>
          <p:spPr>
            <a:xfrm>
              <a:off x="2521385" y="3772932"/>
              <a:ext cx="646331" cy="369332"/>
            </a:xfrm>
            <a:prstGeom prst="rect">
              <a:avLst/>
            </a:prstGeom>
            <a:noFill/>
          </p:spPr>
          <p:txBody>
            <a:bodyPr wrap="none" rtlCol="0">
              <a:spAutoFit/>
            </a:bodyPr>
            <a:lstStyle/>
            <a:p>
              <a:r>
                <a:rPr lang="zh-CN" altLang="en-US" dirty="0"/>
                <a:t>返回</a:t>
              </a:r>
            </a:p>
          </p:txBody>
        </p:sp>
        <p:cxnSp>
          <p:nvCxnSpPr>
            <p:cNvPr id="14" name="直接箭头连接符 13">
              <a:extLst>
                <a:ext uri="{FF2B5EF4-FFF2-40B4-BE49-F238E27FC236}">
                  <a16:creationId xmlns:a16="http://schemas.microsoft.com/office/drawing/2014/main" id="{87A3E93E-4108-457F-A54B-3039CAA25CF5}"/>
                </a:ext>
              </a:extLst>
            </p:cNvPr>
            <p:cNvCxnSpPr>
              <a:cxnSpLocks/>
            </p:cNvCxnSpPr>
            <p:nvPr/>
          </p:nvCxnSpPr>
          <p:spPr>
            <a:xfrm>
              <a:off x="2844552" y="2252504"/>
              <a:ext cx="0" cy="45005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5EFF35C2-047A-406A-8302-C67853C66741}"/>
                </a:ext>
              </a:extLst>
            </p:cNvPr>
            <p:cNvCxnSpPr>
              <a:cxnSpLocks/>
            </p:cNvCxnSpPr>
            <p:nvPr/>
          </p:nvCxnSpPr>
          <p:spPr>
            <a:xfrm>
              <a:off x="2844550" y="3342640"/>
              <a:ext cx="2" cy="43029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1AA478F8-6A8D-4E92-8F08-CF4118CFABE3}"/>
                </a:ext>
              </a:extLst>
            </p:cNvPr>
            <p:cNvSpPr txBox="1"/>
            <p:nvPr/>
          </p:nvSpPr>
          <p:spPr>
            <a:xfrm>
              <a:off x="2465507" y="2646680"/>
              <a:ext cx="768159" cy="369332"/>
            </a:xfrm>
            <a:prstGeom prst="rect">
              <a:avLst/>
            </a:prstGeom>
            <a:noFill/>
          </p:spPr>
          <p:txBody>
            <a:bodyPr wrap="none" rtlCol="0">
              <a:spAutoFit/>
            </a:bodyPr>
            <a:lstStyle/>
            <a:p>
              <a:r>
                <a:rPr lang="zh-CN" altLang="en-US" dirty="0"/>
                <a:t>输出</a:t>
              </a:r>
              <a:r>
                <a:rPr lang="en-US" altLang="zh-CN" dirty="0"/>
                <a:t>5</a:t>
              </a:r>
              <a:endParaRPr lang="zh-CN" altLang="en-US" dirty="0"/>
            </a:p>
          </p:txBody>
        </p:sp>
      </p:grpSp>
      <p:grpSp>
        <p:nvGrpSpPr>
          <p:cNvPr id="20" name="组合 19">
            <a:extLst>
              <a:ext uri="{FF2B5EF4-FFF2-40B4-BE49-F238E27FC236}">
                <a16:creationId xmlns:a16="http://schemas.microsoft.com/office/drawing/2014/main" id="{4A69BF80-3087-4183-B585-5B2E92D86F80}"/>
              </a:ext>
            </a:extLst>
          </p:cNvPr>
          <p:cNvGrpSpPr/>
          <p:nvPr/>
        </p:nvGrpSpPr>
        <p:grpSpPr>
          <a:xfrm>
            <a:off x="3902044" y="1838960"/>
            <a:ext cx="1521570" cy="2279412"/>
            <a:chOff x="2088484" y="1862852"/>
            <a:chExt cx="1521570" cy="2279412"/>
          </a:xfrm>
        </p:grpSpPr>
        <p:sp>
          <p:nvSpPr>
            <p:cNvPr id="21" name="文本框 20">
              <a:extLst>
                <a:ext uri="{FF2B5EF4-FFF2-40B4-BE49-F238E27FC236}">
                  <a16:creationId xmlns:a16="http://schemas.microsoft.com/office/drawing/2014/main" id="{91734D54-420D-4501-808C-8EDFCE2CDCCA}"/>
                </a:ext>
              </a:extLst>
            </p:cNvPr>
            <p:cNvSpPr txBox="1"/>
            <p:nvPr/>
          </p:nvSpPr>
          <p:spPr>
            <a:xfrm>
              <a:off x="2088484" y="1862852"/>
              <a:ext cx="1521570" cy="369332"/>
            </a:xfrm>
            <a:prstGeom prst="rect">
              <a:avLst/>
            </a:prstGeom>
            <a:noFill/>
          </p:spPr>
          <p:txBody>
            <a:bodyPr wrap="none" rtlCol="0">
              <a:spAutoFit/>
            </a:bodyPr>
            <a:lstStyle/>
            <a:p>
              <a:r>
                <a:rPr lang="en-US" altLang="zh-CN" dirty="0"/>
                <a:t>reverse(1234)</a:t>
              </a:r>
              <a:endParaRPr lang="zh-CN" altLang="en-US" dirty="0"/>
            </a:p>
          </p:txBody>
        </p:sp>
        <p:sp>
          <p:nvSpPr>
            <p:cNvPr id="22" name="文本框 21">
              <a:extLst>
                <a:ext uri="{FF2B5EF4-FFF2-40B4-BE49-F238E27FC236}">
                  <a16:creationId xmlns:a16="http://schemas.microsoft.com/office/drawing/2014/main" id="{CE456DB6-E7E1-4293-9B7C-94FB8B856E38}"/>
                </a:ext>
              </a:extLst>
            </p:cNvPr>
            <p:cNvSpPr txBox="1"/>
            <p:nvPr/>
          </p:nvSpPr>
          <p:spPr>
            <a:xfrm>
              <a:off x="2144772" y="2960132"/>
              <a:ext cx="1399742" cy="369332"/>
            </a:xfrm>
            <a:prstGeom prst="rect">
              <a:avLst/>
            </a:prstGeom>
            <a:noFill/>
          </p:spPr>
          <p:txBody>
            <a:bodyPr wrap="none" rtlCol="0">
              <a:spAutoFit/>
            </a:bodyPr>
            <a:lstStyle/>
            <a:p>
              <a:r>
                <a:rPr lang="en-US" altLang="zh-CN" dirty="0"/>
                <a:t>reverse(123)</a:t>
              </a:r>
              <a:endParaRPr lang="zh-CN" altLang="en-US" dirty="0"/>
            </a:p>
          </p:txBody>
        </p:sp>
        <p:sp>
          <p:nvSpPr>
            <p:cNvPr id="23" name="文本框 22">
              <a:extLst>
                <a:ext uri="{FF2B5EF4-FFF2-40B4-BE49-F238E27FC236}">
                  <a16:creationId xmlns:a16="http://schemas.microsoft.com/office/drawing/2014/main" id="{97249379-FF4A-4F2C-8142-5C48B4E23BA5}"/>
                </a:ext>
              </a:extLst>
            </p:cNvPr>
            <p:cNvSpPr txBox="1"/>
            <p:nvPr/>
          </p:nvSpPr>
          <p:spPr>
            <a:xfrm>
              <a:off x="2521385" y="3772932"/>
              <a:ext cx="646331" cy="369332"/>
            </a:xfrm>
            <a:prstGeom prst="rect">
              <a:avLst/>
            </a:prstGeom>
            <a:noFill/>
          </p:spPr>
          <p:txBody>
            <a:bodyPr wrap="none" rtlCol="0">
              <a:spAutoFit/>
            </a:bodyPr>
            <a:lstStyle/>
            <a:p>
              <a:r>
                <a:rPr lang="zh-CN" altLang="en-US" dirty="0"/>
                <a:t>返回</a:t>
              </a:r>
            </a:p>
          </p:txBody>
        </p:sp>
        <p:cxnSp>
          <p:nvCxnSpPr>
            <p:cNvPr id="24" name="直接箭头连接符 23">
              <a:extLst>
                <a:ext uri="{FF2B5EF4-FFF2-40B4-BE49-F238E27FC236}">
                  <a16:creationId xmlns:a16="http://schemas.microsoft.com/office/drawing/2014/main" id="{AB61470D-A4E0-44C6-9AAD-B199C4C2544F}"/>
                </a:ext>
              </a:extLst>
            </p:cNvPr>
            <p:cNvCxnSpPr>
              <a:cxnSpLocks/>
            </p:cNvCxnSpPr>
            <p:nvPr/>
          </p:nvCxnSpPr>
          <p:spPr>
            <a:xfrm>
              <a:off x="2844552" y="2252504"/>
              <a:ext cx="0" cy="45005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4317731B-73B4-4BA8-A419-DB3334607547}"/>
                </a:ext>
              </a:extLst>
            </p:cNvPr>
            <p:cNvCxnSpPr>
              <a:cxnSpLocks/>
            </p:cNvCxnSpPr>
            <p:nvPr/>
          </p:nvCxnSpPr>
          <p:spPr>
            <a:xfrm>
              <a:off x="2844550" y="3342640"/>
              <a:ext cx="2" cy="43029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D5FAE8AF-18F0-4FB0-94FF-1F987EEED743}"/>
                </a:ext>
              </a:extLst>
            </p:cNvPr>
            <p:cNvSpPr txBox="1"/>
            <p:nvPr/>
          </p:nvSpPr>
          <p:spPr>
            <a:xfrm>
              <a:off x="2465507" y="2646680"/>
              <a:ext cx="768159" cy="369332"/>
            </a:xfrm>
            <a:prstGeom prst="rect">
              <a:avLst/>
            </a:prstGeom>
            <a:noFill/>
          </p:spPr>
          <p:txBody>
            <a:bodyPr wrap="none" rtlCol="0">
              <a:spAutoFit/>
            </a:bodyPr>
            <a:lstStyle/>
            <a:p>
              <a:r>
                <a:rPr lang="zh-CN" altLang="en-US" dirty="0"/>
                <a:t>输出</a:t>
              </a:r>
              <a:r>
                <a:rPr lang="en-US" altLang="zh-CN" dirty="0"/>
                <a:t>4</a:t>
              </a:r>
              <a:endParaRPr lang="zh-CN" altLang="en-US" dirty="0"/>
            </a:p>
          </p:txBody>
        </p:sp>
      </p:grpSp>
      <p:grpSp>
        <p:nvGrpSpPr>
          <p:cNvPr id="28" name="组合 27">
            <a:extLst>
              <a:ext uri="{FF2B5EF4-FFF2-40B4-BE49-F238E27FC236}">
                <a16:creationId xmlns:a16="http://schemas.microsoft.com/office/drawing/2014/main" id="{9C8A2F8B-A7F3-4BE6-85F7-379793D38F27}"/>
              </a:ext>
            </a:extLst>
          </p:cNvPr>
          <p:cNvGrpSpPr/>
          <p:nvPr/>
        </p:nvGrpSpPr>
        <p:grpSpPr>
          <a:xfrm>
            <a:off x="5688284" y="1838960"/>
            <a:ext cx="1399742" cy="2279412"/>
            <a:chOff x="2144364" y="1862852"/>
            <a:chExt cx="1399742" cy="2279412"/>
          </a:xfrm>
        </p:grpSpPr>
        <p:sp>
          <p:nvSpPr>
            <p:cNvPr id="29" name="文本框 28">
              <a:extLst>
                <a:ext uri="{FF2B5EF4-FFF2-40B4-BE49-F238E27FC236}">
                  <a16:creationId xmlns:a16="http://schemas.microsoft.com/office/drawing/2014/main" id="{8E227660-0961-41FC-BF48-8D4BC4492959}"/>
                </a:ext>
              </a:extLst>
            </p:cNvPr>
            <p:cNvSpPr txBox="1"/>
            <p:nvPr/>
          </p:nvSpPr>
          <p:spPr>
            <a:xfrm>
              <a:off x="2144364" y="1862852"/>
              <a:ext cx="1399742" cy="369332"/>
            </a:xfrm>
            <a:prstGeom prst="rect">
              <a:avLst/>
            </a:prstGeom>
            <a:noFill/>
          </p:spPr>
          <p:txBody>
            <a:bodyPr wrap="none" rtlCol="0">
              <a:spAutoFit/>
            </a:bodyPr>
            <a:lstStyle/>
            <a:p>
              <a:r>
                <a:rPr lang="en-US" altLang="zh-CN" dirty="0"/>
                <a:t>reverse(123)</a:t>
              </a:r>
              <a:endParaRPr lang="zh-CN" altLang="en-US" dirty="0"/>
            </a:p>
          </p:txBody>
        </p:sp>
        <p:sp>
          <p:nvSpPr>
            <p:cNvPr id="30" name="文本框 29">
              <a:extLst>
                <a:ext uri="{FF2B5EF4-FFF2-40B4-BE49-F238E27FC236}">
                  <a16:creationId xmlns:a16="http://schemas.microsoft.com/office/drawing/2014/main" id="{7C2FE7F4-A841-4497-B374-D55D6E1677FD}"/>
                </a:ext>
              </a:extLst>
            </p:cNvPr>
            <p:cNvSpPr txBox="1"/>
            <p:nvPr/>
          </p:nvSpPr>
          <p:spPr>
            <a:xfrm>
              <a:off x="2205732" y="2960132"/>
              <a:ext cx="1277914" cy="369332"/>
            </a:xfrm>
            <a:prstGeom prst="rect">
              <a:avLst/>
            </a:prstGeom>
            <a:noFill/>
          </p:spPr>
          <p:txBody>
            <a:bodyPr wrap="none" rtlCol="0">
              <a:spAutoFit/>
            </a:bodyPr>
            <a:lstStyle/>
            <a:p>
              <a:r>
                <a:rPr lang="en-US" altLang="zh-CN" dirty="0"/>
                <a:t>reverse(12)</a:t>
              </a:r>
              <a:endParaRPr lang="zh-CN" altLang="en-US" dirty="0"/>
            </a:p>
          </p:txBody>
        </p:sp>
        <p:sp>
          <p:nvSpPr>
            <p:cNvPr id="31" name="文本框 30">
              <a:extLst>
                <a:ext uri="{FF2B5EF4-FFF2-40B4-BE49-F238E27FC236}">
                  <a16:creationId xmlns:a16="http://schemas.microsoft.com/office/drawing/2014/main" id="{A41E747D-8374-4F14-894E-EC89267E229F}"/>
                </a:ext>
              </a:extLst>
            </p:cNvPr>
            <p:cNvSpPr txBox="1"/>
            <p:nvPr/>
          </p:nvSpPr>
          <p:spPr>
            <a:xfrm>
              <a:off x="2521385" y="3772932"/>
              <a:ext cx="646331" cy="369332"/>
            </a:xfrm>
            <a:prstGeom prst="rect">
              <a:avLst/>
            </a:prstGeom>
            <a:noFill/>
          </p:spPr>
          <p:txBody>
            <a:bodyPr wrap="none" rtlCol="0">
              <a:spAutoFit/>
            </a:bodyPr>
            <a:lstStyle/>
            <a:p>
              <a:r>
                <a:rPr lang="zh-CN" altLang="en-US" dirty="0"/>
                <a:t>返回</a:t>
              </a:r>
            </a:p>
          </p:txBody>
        </p:sp>
        <p:cxnSp>
          <p:nvCxnSpPr>
            <p:cNvPr id="32" name="直接箭头连接符 31">
              <a:extLst>
                <a:ext uri="{FF2B5EF4-FFF2-40B4-BE49-F238E27FC236}">
                  <a16:creationId xmlns:a16="http://schemas.microsoft.com/office/drawing/2014/main" id="{EC81B0B7-2819-4A97-B34E-1394260CABA6}"/>
                </a:ext>
              </a:extLst>
            </p:cNvPr>
            <p:cNvCxnSpPr>
              <a:cxnSpLocks/>
            </p:cNvCxnSpPr>
            <p:nvPr/>
          </p:nvCxnSpPr>
          <p:spPr>
            <a:xfrm>
              <a:off x="2844552" y="2252504"/>
              <a:ext cx="0" cy="45005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513B83C-19A2-4D85-8189-1B8BD2F2C367}"/>
                </a:ext>
              </a:extLst>
            </p:cNvPr>
            <p:cNvCxnSpPr>
              <a:cxnSpLocks/>
            </p:cNvCxnSpPr>
            <p:nvPr/>
          </p:nvCxnSpPr>
          <p:spPr>
            <a:xfrm>
              <a:off x="2844550" y="3342640"/>
              <a:ext cx="2" cy="43029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3C5E4349-A89E-4EF8-9F27-04BA6271B0E5}"/>
                </a:ext>
              </a:extLst>
            </p:cNvPr>
            <p:cNvSpPr txBox="1"/>
            <p:nvPr/>
          </p:nvSpPr>
          <p:spPr>
            <a:xfrm>
              <a:off x="2465507" y="2646680"/>
              <a:ext cx="768159" cy="369332"/>
            </a:xfrm>
            <a:prstGeom prst="rect">
              <a:avLst/>
            </a:prstGeom>
            <a:noFill/>
          </p:spPr>
          <p:txBody>
            <a:bodyPr wrap="none" rtlCol="0">
              <a:spAutoFit/>
            </a:bodyPr>
            <a:lstStyle/>
            <a:p>
              <a:r>
                <a:rPr lang="zh-CN" altLang="en-US" dirty="0"/>
                <a:t>输出</a:t>
              </a:r>
              <a:r>
                <a:rPr lang="en-US" altLang="zh-CN" dirty="0"/>
                <a:t>3</a:t>
              </a:r>
              <a:endParaRPr lang="zh-CN" altLang="en-US" dirty="0"/>
            </a:p>
          </p:txBody>
        </p:sp>
      </p:grpSp>
      <p:grpSp>
        <p:nvGrpSpPr>
          <p:cNvPr id="35" name="组合 34">
            <a:extLst>
              <a:ext uri="{FF2B5EF4-FFF2-40B4-BE49-F238E27FC236}">
                <a16:creationId xmlns:a16="http://schemas.microsoft.com/office/drawing/2014/main" id="{50DB06E0-DA98-418B-A9D6-E7A2ECA3DDBC}"/>
              </a:ext>
            </a:extLst>
          </p:cNvPr>
          <p:cNvGrpSpPr/>
          <p:nvPr/>
        </p:nvGrpSpPr>
        <p:grpSpPr>
          <a:xfrm>
            <a:off x="7480695" y="1838960"/>
            <a:ext cx="1277914" cy="2279412"/>
            <a:chOff x="2195164" y="1862852"/>
            <a:chExt cx="1277914" cy="2279412"/>
          </a:xfrm>
        </p:grpSpPr>
        <p:sp>
          <p:nvSpPr>
            <p:cNvPr id="36" name="文本框 35">
              <a:extLst>
                <a:ext uri="{FF2B5EF4-FFF2-40B4-BE49-F238E27FC236}">
                  <a16:creationId xmlns:a16="http://schemas.microsoft.com/office/drawing/2014/main" id="{39442B67-B1EB-49D5-B79B-187EE55A04AF}"/>
                </a:ext>
              </a:extLst>
            </p:cNvPr>
            <p:cNvSpPr txBox="1"/>
            <p:nvPr/>
          </p:nvSpPr>
          <p:spPr>
            <a:xfrm>
              <a:off x="2195164" y="1862852"/>
              <a:ext cx="1277914" cy="369332"/>
            </a:xfrm>
            <a:prstGeom prst="rect">
              <a:avLst/>
            </a:prstGeom>
            <a:noFill/>
          </p:spPr>
          <p:txBody>
            <a:bodyPr wrap="none" rtlCol="0">
              <a:spAutoFit/>
            </a:bodyPr>
            <a:lstStyle/>
            <a:p>
              <a:r>
                <a:rPr lang="en-US" altLang="zh-CN" dirty="0"/>
                <a:t>reverse(12)</a:t>
              </a:r>
              <a:endParaRPr lang="zh-CN" altLang="en-US" dirty="0"/>
            </a:p>
          </p:txBody>
        </p:sp>
        <p:sp>
          <p:nvSpPr>
            <p:cNvPr id="37" name="文本框 36">
              <a:extLst>
                <a:ext uri="{FF2B5EF4-FFF2-40B4-BE49-F238E27FC236}">
                  <a16:creationId xmlns:a16="http://schemas.microsoft.com/office/drawing/2014/main" id="{EF662195-3C72-4D70-87E1-C0A410EAB105}"/>
                </a:ext>
              </a:extLst>
            </p:cNvPr>
            <p:cNvSpPr txBox="1"/>
            <p:nvPr/>
          </p:nvSpPr>
          <p:spPr>
            <a:xfrm>
              <a:off x="2261612" y="2960132"/>
              <a:ext cx="1156086" cy="369332"/>
            </a:xfrm>
            <a:prstGeom prst="rect">
              <a:avLst/>
            </a:prstGeom>
            <a:noFill/>
          </p:spPr>
          <p:txBody>
            <a:bodyPr wrap="none" rtlCol="0">
              <a:spAutoFit/>
            </a:bodyPr>
            <a:lstStyle/>
            <a:p>
              <a:r>
                <a:rPr lang="en-US" altLang="zh-CN" dirty="0"/>
                <a:t>reverse(1)</a:t>
              </a:r>
              <a:endParaRPr lang="zh-CN" altLang="en-US" dirty="0"/>
            </a:p>
          </p:txBody>
        </p:sp>
        <p:sp>
          <p:nvSpPr>
            <p:cNvPr id="38" name="文本框 37">
              <a:extLst>
                <a:ext uri="{FF2B5EF4-FFF2-40B4-BE49-F238E27FC236}">
                  <a16:creationId xmlns:a16="http://schemas.microsoft.com/office/drawing/2014/main" id="{F607C8AF-1159-464E-B463-070179C714DB}"/>
                </a:ext>
              </a:extLst>
            </p:cNvPr>
            <p:cNvSpPr txBox="1"/>
            <p:nvPr/>
          </p:nvSpPr>
          <p:spPr>
            <a:xfrm>
              <a:off x="2521385" y="3772932"/>
              <a:ext cx="646331" cy="369332"/>
            </a:xfrm>
            <a:prstGeom prst="rect">
              <a:avLst/>
            </a:prstGeom>
            <a:noFill/>
          </p:spPr>
          <p:txBody>
            <a:bodyPr wrap="none" rtlCol="0">
              <a:spAutoFit/>
            </a:bodyPr>
            <a:lstStyle/>
            <a:p>
              <a:r>
                <a:rPr lang="zh-CN" altLang="en-US" dirty="0"/>
                <a:t>返回</a:t>
              </a:r>
            </a:p>
          </p:txBody>
        </p:sp>
        <p:cxnSp>
          <p:nvCxnSpPr>
            <p:cNvPr id="39" name="直接箭头连接符 38">
              <a:extLst>
                <a:ext uri="{FF2B5EF4-FFF2-40B4-BE49-F238E27FC236}">
                  <a16:creationId xmlns:a16="http://schemas.microsoft.com/office/drawing/2014/main" id="{F14B2E26-C505-4A90-9A91-912EB03C5826}"/>
                </a:ext>
              </a:extLst>
            </p:cNvPr>
            <p:cNvCxnSpPr>
              <a:cxnSpLocks/>
            </p:cNvCxnSpPr>
            <p:nvPr/>
          </p:nvCxnSpPr>
          <p:spPr>
            <a:xfrm>
              <a:off x="2844552" y="2252504"/>
              <a:ext cx="0" cy="45005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90E72587-3D9E-4724-99EB-6640DFBB5219}"/>
                </a:ext>
              </a:extLst>
            </p:cNvPr>
            <p:cNvCxnSpPr>
              <a:cxnSpLocks/>
            </p:cNvCxnSpPr>
            <p:nvPr/>
          </p:nvCxnSpPr>
          <p:spPr>
            <a:xfrm>
              <a:off x="2844550" y="3342640"/>
              <a:ext cx="2" cy="43029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FF52E6A3-11FB-4169-91A5-738620AA9AE0}"/>
                </a:ext>
              </a:extLst>
            </p:cNvPr>
            <p:cNvSpPr txBox="1"/>
            <p:nvPr/>
          </p:nvSpPr>
          <p:spPr>
            <a:xfrm>
              <a:off x="2465507" y="2646680"/>
              <a:ext cx="768159" cy="369332"/>
            </a:xfrm>
            <a:prstGeom prst="rect">
              <a:avLst/>
            </a:prstGeom>
            <a:noFill/>
          </p:spPr>
          <p:txBody>
            <a:bodyPr wrap="none" rtlCol="0">
              <a:spAutoFit/>
            </a:bodyPr>
            <a:lstStyle/>
            <a:p>
              <a:r>
                <a:rPr lang="zh-CN" altLang="en-US" dirty="0"/>
                <a:t>输出</a:t>
              </a:r>
              <a:r>
                <a:rPr lang="en-US" altLang="zh-CN" dirty="0"/>
                <a:t>2</a:t>
              </a:r>
              <a:endParaRPr lang="zh-CN" altLang="en-US" dirty="0"/>
            </a:p>
          </p:txBody>
        </p:sp>
      </p:grpSp>
      <p:grpSp>
        <p:nvGrpSpPr>
          <p:cNvPr id="42" name="组合 41">
            <a:extLst>
              <a:ext uri="{FF2B5EF4-FFF2-40B4-BE49-F238E27FC236}">
                <a16:creationId xmlns:a16="http://schemas.microsoft.com/office/drawing/2014/main" id="{FE008916-FF92-4561-8358-746DB55B656D}"/>
              </a:ext>
            </a:extLst>
          </p:cNvPr>
          <p:cNvGrpSpPr/>
          <p:nvPr/>
        </p:nvGrpSpPr>
        <p:grpSpPr>
          <a:xfrm>
            <a:off x="9219708" y="1838960"/>
            <a:ext cx="1156494" cy="2279412"/>
            <a:chOff x="2266284" y="1862852"/>
            <a:chExt cx="1156494" cy="2279412"/>
          </a:xfrm>
        </p:grpSpPr>
        <p:sp>
          <p:nvSpPr>
            <p:cNvPr id="43" name="文本框 42">
              <a:extLst>
                <a:ext uri="{FF2B5EF4-FFF2-40B4-BE49-F238E27FC236}">
                  <a16:creationId xmlns:a16="http://schemas.microsoft.com/office/drawing/2014/main" id="{3D12A13B-EB6F-4A7C-9750-F3388B1A92A2}"/>
                </a:ext>
              </a:extLst>
            </p:cNvPr>
            <p:cNvSpPr txBox="1"/>
            <p:nvPr/>
          </p:nvSpPr>
          <p:spPr>
            <a:xfrm>
              <a:off x="2266284" y="1862852"/>
              <a:ext cx="1156086" cy="369332"/>
            </a:xfrm>
            <a:prstGeom prst="rect">
              <a:avLst/>
            </a:prstGeom>
            <a:noFill/>
          </p:spPr>
          <p:txBody>
            <a:bodyPr wrap="none" rtlCol="0">
              <a:spAutoFit/>
            </a:bodyPr>
            <a:lstStyle/>
            <a:p>
              <a:r>
                <a:rPr lang="en-US" altLang="zh-CN" dirty="0"/>
                <a:t>reverse(1)</a:t>
              </a:r>
              <a:endParaRPr lang="zh-CN" altLang="en-US" dirty="0"/>
            </a:p>
          </p:txBody>
        </p:sp>
        <p:sp>
          <p:nvSpPr>
            <p:cNvPr id="44" name="文本框 43">
              <a:extLst>
                <a:ext uri="{FF2B5EF4-FFF2-40B4-BE49-F238E27FC236}">
                  <a16:creationId xmlns:a16="http://schemas.microsoft.com/office/drawing/2014/main" id="{6A9A5800-1B19-44C9-8D8A-13452B2B7072}"/>
                </a:ext>
              </a:extLst>
            </p:cNvPr>
            <p:cNvSpPr txBox="1"/>
            <p:nvPr/>
          </p:nvSpPr>
          <p:spPr>
            <a:xfrm>
              <a:off x="2266692" y="2960132"/>
              <a:ext cx="1156086" cy="369332"/>
            </a:xfrm>
            <a:prstGeom prst="rect">
              <a:avLst/>
            </a:prstGeom>
            <a:noFill/>
          </p:spPr>
          <p:txBody>
            <a:bodyPr wrap="none" rtlCol="0">
              <a:spAutoFit/>
            </a:bodyPr>
            <a:lstStyle/>
            <a:p>
              <a:r>
                <a:rPr lang="en-US" altLang="zh-CN" dirty="0"/>
                <a:t>reverse(0)</a:t>
              </a:r>
              <a:endParaRPr lang="zh-CN" altLang="en-US" dirty="0"/>
            </a:p>
          </p:txBody>
        </p:sp>
        <p:sp>
          <p:nvSpPr>
            <p:cNvPr id="45" name="文本框 44">
              <a:extLst>
                <a:ext uri="{FF2B5EF4-FFF2-40B4-BE49-F238E27FC236}">
                  <a16:creationId xmlns:a16="http://schemas.microsoft.com/office/drawing/2014/main" id="{E64132C9-3D2C-405F-98DA-5EFF2249102E}"/>
                </a:ext>
              </a:extLst>
            </p:cNvPr>
            <p:cNvSpPr txBox="1"/>
            <p:nvPr/>
          </p:nvSpPr>
          <p:spPr>
            <a:xfrm>
              <a:off x="2521385" y="3772932"/>
              <a:ext cx="646331" cy="369332"/>
            </a:xfrm>
            <a:prstGeom prst="rect">
              <a:avLst/>
            </a:prstGeom>
            <a:noFill/>
          </p:spPr>
          <p:txBody>
            <a:bodyPr wrap="none" rtlCol="0">
              <a:spAutoFit/>
            </a:bodyPr>
            <a:lstStyle/>
            <a:p>
              <a:r>
                <a:rPr lang="zh-CN" altLang="en-US" dirty="0"/>
                <a:t>返回</a:t>
              </a:r>
            </a:p>
          </p:txBody>
        </p:sp>
        <p:cxnSp>
          <p:nvCxnSpPr>
            <p:cNvPr id="46" name="直接箭头连接符 45">
              <a:extLst>
                <a:ext uri="{FF2B5EF4-FFF2-40B4-BE49-F238E27FC236}">
                  <a16:creationId xmlns:a16="http://schemas.microsoft.com/office/drawing/2014/main" id="{6191B2CB-4ED0-493D-AB75-79E00FDFCB65}"/>
                </a:ext>
              </a:extLst>
            </p:cNvPr>
            <p:cNvCxnSpPr>
              <a:cxnSpLocks/>
            </p:cNvCxnSpPr>
            <p:nvPr/>
          </p:nvCxnSpPr>
          <p:spPr>
            <a:xfrm>
              <a:off x="2844552" y="2252504"/>
              <a:ext cx="0" cy="45005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299191B2-ACFD-407C-88EB-2697CF9843DC}"/>
                </a:ext>
              </a:extLst>
            </p:cNvPr>
            <p:cNvCxnSpPr>
              <a:cxnSpLocks/>
            </p:cNvCxnSpPr>
            <p:nvPr/>
          </p:nvCxnSpPr>
          <p:spPr>
            <a:xfrm>
              <a:off x="2844550" y="3342640"/>
              <a:ext cx="2" cy="430292"/>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D684DD49-FE25-4E82-90B2-124DDB9FE427}"/>
                </a:ext>
              </a:extLst>
            </p:cNvPr>
            <p:cNvSpPr txBox="1"/>
            <p:nvPr/>
          </p:nvSpPr>
          <p:spPr>
            <a:xfrm>
              <a:off x="2465507" y="2646680"/>
              <a:ext cx="768159" cy="369332"/>
            </a:xfrm>
            <a:prstGeom prst="rect">
              <a:avLst/>
            </a:prstGeom>
            <a:noFill/>
          </p:spPr>
          <p:txBody>
            <a:bodyPr wrap="none" rtlCol="0">
              <a:spAutoFit/>
            </a:bodyPr>
            <a:lstStyle/>
            <a:p>
              <a:r>
                <a:rPr lang="zh-CN" altLang="en-US" dirty="0"/>
                <a:t>输出</a:t>
              </a:r>
              <a:r>
                <a:rPr lang="en-US" altLang="zh-CN" dirty="0"/>
                <a:t>1</a:t>
              </a:r>
              <a:endParaRPr lang="zh-CN" altLang="en-US" dirty="0"/>
            </a:p>
          </p:txBody>
        </p:sp>
      </p:grpSp>
      <p:sp>
        <p:nvSpPr>
          <p:cNvPr id="50" name="文本框 49">
            <a:extLst>
              <a:ext uri="{FF2B5EF4-FFF2-40B4-BE49-F238E27FC236}">
                <a16:creationId xmlns:a16="http://schemas.microsoft.com/office/drawing/2014/main" id="{A4D75CAC-B22D-44BD-931D-2836F737E30E}"/>
              </a:ext>
            </a:extLst>
          </p:cNvPr>
          <p:cNvSpPr txBox="1"/>
          <p:nvPr/>
        </p:nvSpPr>
        <p:spPr>
          <a:xfrm>
            <a:off x="10926588" y="1838960"/>
            <a:ext cx="1156086" cy="369332"/>
          </a:xfrm>
          <a:prstGeom prst="rect">
            <a:avLst/>
          </a:prstGeom>
          <a:noFill/>
        </p:spPr>
        <p:txBody>
          <a:bodyPr wrap="none" rtlCol="0">
            <a:spAutoFit/>
          </a:bodyPr>
          <a:lstStyle/>
          <a:p>
            <a:r>
              <a:rPr lang="en-US" altLang="zh-CN" dirty="0"/>
              <a:t>reverse(0)</a:t>
            </a:r>
            <a:endParaRPr lang="zh-CN" altLang="en-US" dirty="0"/>
          </a:p>
        </p:txBody>
      </p:sp>
      <p:sp>
        <p:nvSpPr>
          <p:cNvPr id="52" name="文本框 51">
            <a:extLst>
              <a:ext uri="{FF2B5EF4-FFF2-40B4-BE49-F238E27FC236}">
                <a16:creationId xmlns:a16="http://schemas.microsoft.com/office/drawing/2014/main" id="{0183EA69-9246-41AB-A751-A51F79681BCA}"/>
              </a:ext>
            </a:extLst>
          </p:cNvPr>
          <p:cNvSpPr txBox="1"/>
          <p:nvPr/>
        </p:nvSpPr>
        <p:spPr>
          <a:xfrm>
            <a:off x="11181689" y="3749040"/>
            <a:ext cx="646331" cy="369332"/>
          </a:xfrm>
          <a:prstGeom prst="rect">
            <a:avLst/>
          </a:prstGeom>
          <a:noFill/>
        </p:spPr>
        <p:txBody>
          <a:bodyPr wrap="none" rtlCol="0">
            <a:spAutoFit/>
          </a:bodyPr>
          <a:lstStyle/>
          <a:p>
            <a:r>
              <a:rPr lang="zh-CN" altLang="en-US" dirty="0"/>
              <a:t>返回</a:t>
            </a:r>
          </a:p>
        </p:txBody>
      </p:sp>
      <p:cxnSp>
        <p:nvCxnSpPr>
          <p:cNvPr id="53" name="直接箭头连接符 52">
            <a:extLst>
              <a:ext uri="{FF2B5EF4-FFF2-40B4-BE49-F238E27FC236}">
                <a16:creationId xmlns:a16="http://schemas.microsoft.com/office/drawing/2014/main" id="{9790AE8A-6F53-4E6F-9B85-867D3D20C702}"/>
              </a:ext>
            </a:extLst>
          </p:cNvPr>
          <p:cNvCxnSpPr>
            <a:cxnSpLocks/>
            <a:endCxn id="52" idx="0"/>
          </p:cNvCxnSpPr>
          <p:nvPr/>
        </p:nvCxnSpPr>
        <p:spPr>
          <a:xfrm flipH="1">
            <a:off x="11504855" y="2228612"/>
            <a:ext cx="2" cy="152042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4C208543-A499-41D3-8ABA-85A5148D9755}"/>
              </a:ext>
            </a:extLst>
          </p:cNvPr>
          <p:cNvCxnSpPr>
            <a:cxnSpLocks/>
          </p:cNvCxnSpPr>
          <p:nvPr/>
        </p:nvCxnSpPr>
        <p:spPr>
          <a:xfrm flipV="1">
            <a:off x="990430" y="2199026"/>
            <a:ext cx="1134819" cy="615294"/>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DA81A5BD-B37C-40B9-8BEE-C19D3A3FB1BF}"/>
              </a:ext>
            </a:extLst>
          </p:cNvPr>
          <p:cNvCxnSpPr>
            <a:cxnSpLocks/>
          </p:cNvCxnSpPr>
          <p:nvPr/>
        </p:nvCxnSpPr>
        <p:spPr>
          <a:xfrm flipV="1">
            <a:off x="3080754" y="2146271"/>
            <a:ext cx="937408" cy="869741"/>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00A3966D-0004-4E16-B1E7-39D67D3988CD}"/>
              </a:ext>
            </a:extLst>
          </p:cNvPr>
          <p:cNvCxnSpPr>
            <a:cxnSpLocks/>
          </p:cNvCxnSpPr>
          <p:nvPr/>
        </p:nvCxnSpPr>
        <p:spPr>
          <a:xfrm flipV="1">
            <a:off x="4882497" y="2125673"/>
            <a:ext cx="937408" cy="869741"/>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5F63FF8B-8196-4C72-BBED-CB5124CBB6CA}"/>
              </a:ext>
            </a:extLst>
          </p:cNvPr>
          <p:cNvCxnSpPr>
            <a:cxnSpLocks/>
          </p:cNvCxnSpPr>
          <p:nvPr/>
        </p:nvCxnSpPr>
        <p:spPr>
          <a:xfrm flipV="1">
            <a:off x="6624108" y="2148449"/>
            <a:ext cx="937408" cy="869741"/>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C7A62487-829E-4629-8E8F-D169816CA1F6}"/>
              </a:ext>
            </a:extLst>
          </p:cNvPr>
          <p:cNvCxnSpPr>
            <a:cxnSpLocks/>
          </p:cNvCxnSpPr>
          <p:nvPr/>
        </p:nvCxnSpPr>
        <p:spPr>
          <a:xfrm flipV="1">
            <a:off x="8389768" y="2125673"/>
            <a:ext cx="937408" cy="869741"/>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1D8AD941-F8C9-4DB3-B8BC-4F3A9E87D6E2}"/>
              </a:ext>
            </a:extLst>
          </p:cNvPr>
          <p:cNvCxnSpPr>
            <a:cxnSpLocks/>
          </p:cNvCxnSpPr>
          <p:nvPr/>
        </p:nvCxnSpPr>
        <p:spPr>
          <a:xfrm flipV="1">
            <a:off x="10086944" y="2127459"/>
            <a:ext cx="937408" cy="869741"/>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682AC1BF-4A86-456B-BC6C-A37D8E837704}"/>
              </a:ext>
            </a:extLst>
          </p:cNvPr>
          <p:cNvCxnSpPr>
            <a:cxnSpLocks/>
            <a:stCxn id="52" idx="1"/>
          </p:cNvCxnSpPr>
          <p:nvPr/>
        </p:nvCxnSpPr>
        <p:spPr>
          <a:xfrm flipH="1" flipV="1">
            <a:off x="10097661" y="3285700"/>
            <a:ext cx="1084028" cy="64800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4CA4568B-F535-49A9-94EF-81A4CD2A18A3}"/>
              </a:ext>
            </a:extLst>
          </p:cNvPr>
          <p:cNvCxnSpPr>
            <a:cxnSpLocks/>
          </p:cNvCxnSpPr>
          <p:nvPr/>
        </p:nvCxnSpPr>
        <p:spPr>
          <a:xfrm flipH="1" flipV="1">
            <a:off x="8421998" y="3288603"/>
            <a:ext cx="1084028" cy="64800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98E143B6-8815-4F31-B651-592FBC3B20F2}"/>
              </a:ext>
            </a:extLst>
          </p:cNvPr>
          <p:cNvCxnSpPr>
            <a:cxnSpLocks/>
            <a:stCxn id="38" idx="1"/>
          </p:cNvCxnSpPr>
          <p:nvPr/>
        </p:nvCxnSpPr>
        <p:spPr>
          <a:xfrm flipH="1" flipV="1">
            <a:off x="6678264" y="3265938"/>
            <a:ext cx="1128652" cy="667768"/>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029334A2-7EEC-418D-88A6-BAD9227CB9AF}"/>
              </a:ext>
            </a:extLst>
          </p:cNvPr>
          <p:cNvCxnSpPr>
            <a:cxnSpLocks/>
            <a:stCxn id="31" idx="1"/>
          </p:cNvCxnSpPr>
          <p:nvPr/>
        </p:nvCxnSpPr>
        <p:spPr>
          <a:xfrm flipH="1" flipV="1">
            <a:off x="4884451" y="3285140"/>
            <a:ext cx="1180854" cy="64856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370E19AA-DF27-40B1-96D9-D3314BC2A4C0}"/>
              </a:ext>
            </a:extLst>
          </p:cNvPr>
          <p:cNvCxnSpPr>
            <a:cxnSpLocks/>
            <a:stCxn id="23" idx="1"/>
          </p:cNvCxnSpPr>
          <p:nvPr/>
        </p:nvCxnSpPr>
        <p:spPr>
          <a:xfrm flipH="1" flipV="1">
            <a:off x="3114923" y="3309032"/>
            <a:ext cx="1220022" cy="624674"/>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9CCD0589-AB74-420F-B18C-65144A6DB958}"/>
              </a:ext>
            </a:extLst>
          </p:cNvPr>
          <p:cNvCxnSpPr>
            <a:cxnSpLocks/>
            <a:stCxn id="13" idx="1"/>
          </p:cNvCxnSpPr>
          <p:nvPr/>
        </p:nvCxnSpPr>
        <p:spPr>
          <a:xfrm flipH="1" flipV="1">
            <a:off x="1007953" y="3127772"/>
            <a:ext cx="1513432" cy="829826"/>
          </a:xfrm>
          <a:prstGeom prst="straightConnector1">
            <a:avLst/>
          </a:prstGeom>
          <a:ln w="28575">
            <a:tailEnd type="stealth" w="lg" len="lg"/>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DC017CD3-65B1-4325-8EB3-9C7710757BBF}"/>
              </a:ext>
            </a:extLst>
          </p:cNvPr>
          <p:cNvSpPr/>
          <p:nvPr/>
        </p:nvSpPr>
        <p:spPr>
          <a:xfrm>
            <a:off x="4515489" y="1048008"/>
            <a:ext cx="2965206" cy="584775"/>
          </a:xfrm>
          <a:prstGeom prst="rect">
            <a:avLst/>
          </a:prstGeom>
        </p:spPr>
        <p:txBody>
          <a:bodyPr wrap="square">
            <a:spAutoFit/>
          </a:bodyPr>
          <a:lstStyle/>
          <a:p>
            <a:pPr marL="0" lvl="1"/>
            <a:r>
              <a:rPr lang="zh-CN" altLang="en-US" sz="3200" b="1" dirty="0">
                <a:solidFill>
                  <a:srgbClr val="00B0F0"/>
                </a:solidFill>
                <a:latin typeface="华文隶书" panose="02010800040101010101" pitchFamily="2" charset="-122"/>
                <a:ea typeface="华文隶书" panose="02010800040101010101" pitchFamily="2" charset="-122"/>
              </a:rPr>
              <a:t>递归执行过程</a:t>
            </a:r>
            <a:endParaRPr lang="en-US" altLang="zh-CN" sz="3200" b="1" dirty="0">
              <a:solidFill>
                <a:srgbClr val="00B0F0"/>
              </a:solidFill>
              <a:latin typeface="华文隶书" panose="02010800040101010101" pitchFamily="2" charset="-122"/>
              <a:ea typeface="华文隶书" panose="02010800040101010101" pitchFamily="2" charset="-122"/>
            </a:endParaRPr>
          </a:p>
        </p:txBody>
      </p:sp>
      <p:sp>
        <p:nvSpPr>
          <p:cNvPr id="82" name="灯片编号占位符 81">
            <a:extLst>
              <a:ext uri="{FF2B5EF4-FFF2-40B4-BE49-F238E27FC236}">
                <a16:creationId xmlns:a16="http://schemas.microsoft.com/office/drawing/2014/main" id="{59B1865F-77C1-4A3E-8AAD-3A32301E17D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53</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1724291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50C8DA4-6C09-4AB8-AD73-F505A99DC134}"/>
              </a:ext>
            </a:extLst>
          </p:cNvPr>
          <p:cNvSpPr txBox="1">
            <a:spLocks noChangeArrowheads="1"/>
          </p:cNvSpPr>
          <p:nvPr/>
        </p:nvSpPr>
        <p:spPr>
          <a:xfrm>
            <a:off x="228600" y="1278473"/>
            <a:ext cx="5746933" cy="397031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include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&lt;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stdio.h</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&gt;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main</a:t>
            </a:r>
            <a:r>
              <a:rPr lang="en-US" altLang="zh-CN" b="1" dirty="0">
                <a:solidFill>
                  <a:srgbClr val="FF0000"/>
                </a:solidFill>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scanf(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&amp;</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printf(</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 = </a:t>
            </a:r>
            <a:r>
              <a:rPr lang="en-US" altLang="zh-CN" b="1" dirty="0">
                <a:solidFill>
                  <a:srgbClr val="00B050"/>
                </a:solidFill>
                <a:ea typeface="等线" panose="02010600030101010101" pitchFamily="2" charset="-122"/>
                <a:cs typeface="Times New Roman" panose="02020603050405020304" pitchFamily="18" charset="0"/>
              </a:rPr>
              <a:t>%</a:t>
            </a:r>
            <a:r>
              <a:rPr lang="en-US" altLang="zh-CN" b="1"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(n));</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4" name="矩形 3">
            <a:extLst>
              <a:ext uri="{FF2B5EF4-FFF2-40B4-BE49-F238E27FC236}">
                <a16:creationId xmlns:a16="http://schemas.microsoft.com/office/drawing/2014/main" id="{9E8F846B-A177-4FAE-8FEB-FC6CCCDB2635}"/>
              </a:ext>
            </a:extLst>
          </p:cNvPr>
          <p:cNvSpPr/>
          <p:nvPr/>
        </p:nvSpPr>
        <p:spPr>
          <a:xfrm>
            <a:off x="16778" y="602853"/>
            <a:ext cx="12158444" cy="523220"/>
          </a:xfrm>
          <a:prstGeom prst="rect">
            <a:avLst/>
          </a:prstGeom>
        </p:spPr>
        <p:txBody>
          <a:bodyPr wrap="square">
            <a:spAutoFit/>
          </a:bodyPr>
          <a:lstStyle/>
          <a:p>
            <a:pPr marL="0" lvl="1"/>
            <a:r>
              <a:rPr lang="en-US" altLang="zh-CN" sz="2800" b="1" dirty="0">
                <a:latin typeface="隶书" pitchFamily="49" charset="-122"/>
              </a:rPr>
              <a:t>【</a:t>
            </a:r>
            <a:r>
              <a:rPr lang="zh-CN" altLang="en-US" sz="2800" b="1" dirty="0">
                <a:latin typeface="隶书" pitchFamily="49" charset="-122"/>
              </a:rPr>
              <a:t>例</a:t>
            </a:r>
            <a:r>
              <a:rPr lang="en-US" altLang="zh-CN" sz="2800" b="1" dirty="0">
                <a:solidFill>
                  <a:srgbClr val="0070C0"/>
                </a:solidFill>
                <a:latin typeface="隶书" pitchFamily="49" charset="-122"/>
              </a:rPr>
              <a:t>6-19</a:t>
            </a:r>
            <a:r>
              <a:rPr lang="en-US" altLang="zh-CN" sz="2800" b="1" dirty="0">
                <a:latin typeface="隶书" pitchFamily="49" charset="-122"/>
              </a:rPr>
              <a:t>】</a:t>
            </a:r>
            <a:r>
              <a:rPr lang="zh-CN" altLang="en-US" sz="2800" b="1" dirty="0">
                <a:latin typeface="隶书" pitchFamily="49" charset="-122"/>
              </a:rPr>
              <a:t>利用递归求</a:t>
            </a:r>
            <a:r>
              <a:rPr lang="en-US" altLang="zh-CN" sz="2800" b="1" dirty="0">
                <a:latin typeface="隶书" pitchFamily="49" charset="-122"/>
              </a:rPr>
              <a:t>n!</a:t>
            </a:r>
            <a:r>
              <a:rPr lang="zh-CN" altLang="en-US" sz="2800" b="1" dirty="0">
                <a:latin typeface="隶书" pitchFamily="49" charset="-122"/>
              </a:rPr>
              <a:t>。</a:t>
            </a:r>
            <a:endParaRPr lang="en-US" altLang="zh-CN" sz="2800" b="1" dirty="0">
              <a:latin typeface="隶书" pitchFamily="49" charset="-122"/>
            </a:endParaRPr>
          </a:p>
        </p:txBody>
      </p:sp>
      <p:sp>
        <p:nvSpPr>
          <p:cNvPr id="5" name="Rectangle 2">
            <a:extLst>
              <a:ext uri="{FF2B5EF4-FFF2-40B4-BE49-F238E27FC236}">
                <a16:creationId xmlns:a16="http://schemas.microsoft.com/office/drawing/2014/main" id="{45B9A5AC-9224-41E3-900A-BAD9E0CF9282}"/>
              </a:ext>
            </a:extLst>
          </p:cNvPr>
          <p:cNvSpPr txBox="1">
            <a:spLocks noChangeArrowheads="1"/>
          </p:cNvSpPr>
          <p:nvPr/>
        </p:nvSpPr>
        <p:spPr>
          <a:xfrm>
            <a:off x="6168659" y="1493917"/>
            <a:ext cx="5759181"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a:t>
            </a:r>
            <a:r>
              <a:rPr lang="zh-CN" altLang="en-US"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int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 </a:t>
            </a:r>
          </a:p>
          <a:p>
            <a:pPr marL="0" indent="0">
              <a:lnSpc>
                <a:spcPct val="100000"/>
              </a:lnSpc>
              <a:spcBef>
                <a:spcPct val="0"/>
              </a:spcBef>
              <a:buClr>
                <a:schemeClr val="tx2"/>
              </a:buClr>
              <a:buSzPct val="70000"/>
              <a:buNone/>
            </a:pP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if</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 == 0)</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return</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 1;</a:t>
            </a:r>
          </a:p>
          <a:p>
            <a:pPr marL="0" indent="0">
              <a:lnSpc>
                <a:spcPct val="100000"/>
              </a:lnSpc>
              <a:spcBef>
                <a:spcPct val="0"/>
              </a:spcBef>
              <a:buClr>
                <a:schemeClr val="tx2"/>
              </a:buClr>
              <a:buSzPct val="70000"/>
              <a:buNone/>
            </a:pP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else</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等线" panose="02010600030101010101" pitchFamily="2" charset="-122"/>
                <a:cs typeface="Times New Roman" panose="02020603050405020304" pitchFamily="18" charset="0"/>
              </a:rPr>
              <a:t>return</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FF0000"/>
                </a:solidFill>
                <a:ea typeface="等线" panose="0201060003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solidFill>
                  <a:srgbClr val="00B0F0"/>
                </a:solidFill>
                <a:latin typeface="Times New Roman" panose="02020603050405020304" pitchFamily="18" charset="0"/>
                <a:ea typeface="等线" panose="02010600030101010101" pitchFamily="2" charset="-122"/>
                <a:cs typeface="Times New Roman" panose="02020603050405020304" pitchFamily="18" charset="0"/>
              </a:rPr>
              <a:t>factor</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(m-1);</a:t>
            </a:r>
          </a:p>
          <a:p>
            <a:pPr marL="0" indent="0">
              <a:lnSpc>
                <a:spcPct val="100000"/>
              </a:lnSpc>
              <a:spcBef>
                <a:spcPct val="0"/>
              </a:spcBef>
              <a:buClr>
                <a:schemeClr val="tx2"/>
              </a:buClr>
              <a:buSzPct val="70000"/>
              <a:buNone/>
            </a:pPr>
            <a:r>
              <a:rPr lang="en-US" altLang="zh-CN" b="1"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endParaRPr lang="en-US" altLang="zh-CN" b="1" dirty="0"/>
          </a:p>
        </p:txBody>
      </p:sp>
      <p:sp>
        <p:nvSpPr>
          <p:cNvPr id="6" name="灯片编号占位符 5">
            <a:extLst>
              <a:ext uri="{FF2B5EF4-FFF2-40B4-BE49-F238E27FC236}">
                <a16:creationId xmlns:a16="http://schemas.microsoft.com/office/drawing/2014/main" id="{989DEEEA-EBB0-4A7D-976B-D2607CDA75E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54</a:t>
            </a:fld>
            <a:r>
              <a:rPr lang="en-US" altLang="zh-CN">
                <a:solidFill>
                  <a:prstClr val="black">
                    <a:tint val="75000"/>
                  </a:prstClr>
                </a:solidFill>
              </a:rPr>
              <a:t>/ 55</a:t>
            </a:r>
            <a:endParaRPr lang="zh-CN" altLang="en-US" dirty="0"/>
          </a:p>
        </p:txBody>
      </p:sp>
    </p:spTree>
    <p:extLst>
      <p:ext uri="{BB962C8B-B14F-4D97-AF65-F5344CB8AC3E}">
        <p14:creationId xmlns:p14="http://schemas.microsoft.com/office/powerpoint/2010/main" val="31484685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00245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面和目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5108</TotalTime>
  <Words>6729</Words>
  <Application>Microsoft Office PowerPoint</Application>
  <PresentationFormat>宽屏</PresentationFormat>
  <Paragraphs>1013</Paragraphs>
  <Slides>56</Slides>
  <Notes>5</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56</vt:i4>
      </vt:variant>
    </vt:vector>
  </HeadingPairs>
  <TitlesOfParts>
    <vt:vector size="76" baseType="lpstr">
      <vt:lpstr>Malgun Gothic</vt:lpstr>
      <vt:lpstr>等线</vt:lpstr>
      <vt:lpstr>等线 Light</vt:lpstr>
      <vt:lpstr>华文行楷</vt:lpstr>
      <vt:lpstr>华文隶书</vt:lpstr>
      <vt:lpstr>华文宋体</vt:lpstr>
      <vt:lpstr>华文新魏</vt:lpstr>
      <vt:lpstr>华文中宋</vt:lpstr>
      <vt:lpstr>隶书</vt:lpstr>
      <vt:lpstr>宋体</vt:lpstr>
      <vt:lpstr>微软雅黑</vt:lpstr>
      <vt:lpstr>Arial</vt:lpstr>
      <vt:lpstr>Arial Rounded MT Bold</vt:lpstr>
      <vt:lpstr>Calibri</vt:lpstr>
      <vt:lpstr>Cambria Math</vt:lpstr>
      <vt:lpstr>Consolas</vt:lpstr>
      <vt:lpstr>Times New Roman</vt:lpstr>
      <vt:lpstr>Wingdings 2</vt:lpstr>
      <vt:lpstr>Office 主题​​</vt:lpstr>
      <vt:lpstr>封面和目录​​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WJQ</dc:creator>
  <cp:lastModifiedBy>WJQ</cp:lastModifiedBy>
  <cp:revision>209</cp:revision>
  <dcterms:created xsi:type="dcterms:W3CDTF">2022-05-18T03:53:29Z</dcterms:created>
  <dcterms:modified xsi:type="dcterms:W3CDTF">2023-05-23T11:00:19Z</dcterms:modified>
</cp:coreProperties>
</file>