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handoutMasterIdLst>
    <p:handoutMasterId r:id="rId39"/>
  </p:handoutMasterIdLst>
  <p:sldIdLst>
    <p:sldId id="256" r:id="rId2"/>
    <p:sldId id="297" r:id="rId3"/>
    <p:sldId id="298" r:id="rId4"/>
    <p:sldId id="300" r:id="rId5"/>
    <p:sldId id="302" r:id="rId6"/>
    <p:sldId id="301" r:id="rId7"/>
    <p:sldId id="281" r:id="rId8"/>
    <p:sldId id="304" r:id="rId9"/>
    <p:sldId id="306" r:id="rId10"/>
    <p:sldId id="267" r:id="rId11"/>
    <p:sldId id="285" r:id="rId12"/>
    <p:sldId id="259" r:id="rId13"/>
    <p:sldId id="275" r:id="rId14"/>
    <p:sldId id="261" r:id="rId15"/>
    <p:sldId id="269" r:id="rId16"/>
    <p:sldId id="307" r:id="rId17"/>
    <p:sldId id="288" r:id="rId18"/>
    <p:sldId id="263" r:id="rId19"/>
    <p:sldId id="308" r:id="rId20"/>
    <p:sldId id="270" r:id="rId21"/>
    <p:sldId id="289" r:id="rId22"/>
    <p:sldId id="310" r:id="rId23"/>
    <p:sldId id="311" r:id="rId24"/>
    <p:sldId id="290" r:id="rId25"/>
    <p:sldId id="312" r:id="rId26"/>
    <p:sldId id="313" r:id="rId27"/>
    <p:sldId id="265" r:id="rId28"/>
    <p:sldId id="314" r:id="rId29"/>
    <p:sldId id="291" r:id="rId30"/>
    <p:sldId id="315" r:id="rId31"/>
    <p:sldId id="317" r:id="rId32"/>
    <p:sldId id="318" r:id="rId33"/>
    <p:sldId id="319" r:id="rId34"/>
    <p:sldId id="320" r:id="rId35"/>
    <p:sldId id="325" r:id="rId36"/>
    <p:sldId id="326" r:id="rId37"/>
  </p:sldIdLst>
  <p:sldSz cx="9144000" cy="6858000" type="screen4x3"/>
  <p:notesSz cx="9928225" cy="6797675"/>
  <p:defaultTextStyle>
    <a:defPPr>
      <a:defRPr lang="en-US"/>
    </a:defPPr>
    <a:lvl1pPr algn="l" rtl="0" fontAlgn="base">
      <a:spcBef>
        <a:spcPct val="5000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5000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5000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5000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5000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2176">
          <p15:clr>
            <a:srgbClr val="A4A3A4"/>
          </p15:clr>
        </p15:guide>
        <p15:guide id="2" pos="2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0"/>
      </p:ext>
    </p:extLst>
  </p:showPr>
  <p:clrMru>
    <a:srgbClr val="D60093"/>
    <a:srgbClr val="FFCCFF"/>
    <a:srgbClr val="0000FF"/>
    <a:srgbClr val="FF3300"/>
    <a:srgbClr val="CCFFFF"/>
    <a:srgbClr val="00FF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1160" autoAdjust="0"/>
    <p:restoredTop sz="92597" autoAdjust="0"/>
  </p:normalViewPr>
  <p:slideViewPr>
    <p:cSldViewPr snapToGrid="0">
      <p:cViewPr varScale="1">
        <p:scale>
          <a:sx n="105" d="100"/>
          <a:sy n="105" d="100"/>
        </p:scale>
        <p:origin x="-2022" y="-90"/>
      </p:cViewPr>
      <p:guideLst>
        <p:guide orient="horz" pos="2176"/>
        <p:guide pos="28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4"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4"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5" Type="http://schemas.openxmlformats.org/officeDocument/2006/relationships/image" Target="../media/image58.wmf"/><Relationship Id="rId4" Type="http://schemas.openxmlformats.org/officeDocument/2006/relationships/image" Target="../media/image5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 Id="rId5" Type="http://schemas.openxmlformats.org/officeDocument/2006/relationships/image" Target="../media/image75.wmf"/><Relationship Id="rId4" Type="http://schemas.openxmlformats.org/officeDocument/2006/relationships/image" Target="../media/image7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 Id="rId4" Type="http://schemas.openxmlformats.org/officeDocument/2006/relationships/image" Target="../media/image8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 Id="rId4" Type="http://schemas.openxmlformats.org/officeDocument/2006/relationships/image" Target="../media/image94.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 Id="rId4" Type="http://schemas.openxmlformats.org/officeDocument/2006/relationships/image" Target="../media/image11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3.wmf"/><Relationship Id="rId7" Type="http://schemas.openxmlformats.org/officeDocument/2006/relationships/image" Target="../media/image124.wmf"/><Relationship Id="rId2" Type="http://schemas.openxmlformats.org/officeDocument/2006/relationships/image" Target="../media/image120.wmf"/><Relationship Id="rId1" Type="http://schemas.openxmlformats.org/officeDocument/2006/relationships/image" Target="../media/image119.wmf"/><Relationship Id="rId6" Type="http://schemas.openxmlformats.org/officeDocument/2006/relationships/image" Target="../media/image123.wmf"/><Relationship Id="rId5" Type="http://schemas.openxmlformats.org/officeDocument/2006/relationships/image" Target="../media/image122.wmf"/><Relationship Id="rId4" Type="http://schemas.openxmlformats.org/officeDocument/2006/relationships/image" Target="../media/image1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3313" cy="34021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2594" y="0"/>
            <a:ext cx="4303313" cy="340210"/>
          </a:xfrm>
          <a:prstGeom prst="rect">
            <a:avLst/>
          </a:prstGeom>
        </p:spPr>
        <p:txBody>
          <a:bodyPr vert="horz" lIns="91440" tIns="45720" rIns="91440" bIns="45720" rtlCol="0"/>
          <a:lstStyle>
            <a:lvl1pPr algn="r">
              <a:defRPr sz="1200"/>
            </a:lvl1pPr>
          </a:lstStyle>
          <a:p>
            <a:fld id="{9129F434-6A35-4D18-881C-774C5F0C08FE}" type="datetimeFigureOut">
              <a:rPr lang="zh-CN" altLang="en-US" smtClean="0"/>
              <a:pPr/>
              <a:t>2023/3/31 Friday</a:t>
            </a:fld>
            <a:endParaRPr lang="zh-CN" altLang="en-US"/>
          </a:p>
        </p:txBody>
      </p:sp>
      <p:sp>
        <p:nvSpPr>
          <p:cNvPr id="4" name="页脚占位符 3"/>
          <p:cNvSpPr>
            <a:spLocks noGrp="1"/>
          </p:cNvSpPr>
          <p:nvPr>
            <p:ph type="ftr" sz="quarter" idx="2"/>
          </p:nvPr>
        </p:nvSpPr>
        <p:spPr>
          <a:xfrm>
            <a:off x="0" y="6456378"/>
            <a:ext cx="4303313" cy="34021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2594" y="6456378"/>
            <a:ext cx="4303313" cy="340210"/>
          </a:xfrm>
          <a:prstGeom prst="rect">
            <a:avLst/>
          </a:prstGeom>
        </p:spPr>
        <p:txBody>
          <a:bodyPr vert="horz" lIns="91440" tIns="45720" rIns="91440" bIns="45720" rtlCol="0" anchor="b"/>
          <a:lstStyle>
            <a:lvl1pPr algn="r">
              <a:defRPr sz="1200"/>
            </a:lvl1pPr>
          </a:lstStyle>
          <a:p>
            <a:fld id="{5090B5FD-0058-418E-BD07-5C55E36D6CC4}"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1" y="0"/>
            <a:ext cx="4302231" cy="3398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a:defRPr/>
            </a:pPr>
            <a:endParaRPr lang="zh-CN" altLang="en-US"/>
          </a:p>
        </p:txBody>
      </p:sp>
      <p:sp>
        <p:nvSpPr>
          <p:cNvPr id="15363" name="Rectangle 3"/>
          <p:cNvSpPr>
            <a:spLocks noGrp="1" noChangeArrowheads="1"/>
          </p:cNvSpPr>
          <p:nvPr>
            <p:ph type="dt" idx="1"/>
          </p:nvPr>
        </p:nvSpPr>
        <p:spPr bwMode="auto">
          <a:xfrm>
            <a:off x="5625995" y="0"/>
            <a:ext cx="4302231" cy="3398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57348" name="Rectangle 4"/>
          <p:cNvSpPr>
            <a:spLocks noGrp="1" noRot="1" noChangeAspect="1" noChangeArrowheads="1" noTextEdit="1"/>
          </p:cNvSpPr>
          <p:nvPr>
            <p:ph type="sldImg" idx="2"/>
          </p:nvPr>
        </p:nvSpPr>
        <p:spPr bwMode="auto">
          <a:xfrm>
            <a:off x="3264429" y="509588"/>
            <a:ext cx="3399367" cy="2549525"/>
          </a:xfrm>
          <a:prstGeom prst="rect">
            <a:avLst/>
          </a:prstGeom>
          <a:noFill/>
          <a:ln w="9525">
            <a:solidFill>
              <a:srgbClr val="000000"/>
            </a:solidFill>
            <a:miter lim="800000"/>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sp>
      <p:sp>
        <p:nvSpPr>
          <p:cNvPr id="15365" name="Rectangle 5"/>
          <p:cNvSpPr>
            <a:spLocks noGrp="1" noChangeArrowheads="1"/>
          </p:cNvSpPr>
          <p:nvPr>
            <p:ph type="body" sz="quarter" idx="3"/>
          </p:nvPr>
        </p:nvSpPr>
        <p:spPr bwMode="auto">
          <a:xfrm>
            <a:off x="1323764" y="3228896"/>
            <a:ext cx="7280699" cy="30589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5366" name="Rectangle 6"/>
          <p:cNvSpPr>
            <a:spLocks noGrp="1" noChangeArrowheads="1"/>
          </p:cNvSpPr>
          <p:nvPr>
            <p:ph type="ftr" sz="quarter" idx="4"/>
          </p:nvPr>
        </p:nvSpPr>
        <p:spPr bwMode="auto">
          <a:xfrm>
            <a:off x="1" y="6457792"/>
            <a:ext cx="4302231" cy="3398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a:defRPr/>
            </a:pPr>
            <a:endParaRPr lang="en-US" altLang="zh-CN"/>
          </a:p>
        </p:txBody>
      </p:sp>
      <p:sp>
        <p:nvSpPr>
          <p:cNvPr id="15367" name="Rectangle 7"/>
          <p:cNvSpPr>
            <a:spLocks noGrp="1" noChangeArrowheads="1"/>
          </p:cNvSpPr>
          <p:nvPr>
            <p:ph type="sldNum" sz="quarter" idx="5"/>
          </p:nvPr>
        </p:nvSpPr>
        <p:spPr bwMode="auto">
          <a:xfrm>
            <a:off x="5625995" y="6457792"/>
            <a:ext cx="4302231" cy="3398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9FA7F628-CB49-4261-964C-A9F30364C808}"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9546CDA-462A-4273-8A30-ED3533EE827D}" type="slidenum">
              <a:rPr lang="zh-CN" altLang="en-US" sz="1200" smtClean="0"/>
              <a:pPr eaLnBrk="1" hangingPunct="1"/>
              <a:t>1</a:t>
            </a:fld>
            <a:endParaRPr lang="en-US" altLang="zh-CN" sz="1200" smtClean="0"/>
          </a:p>
        </p:txBody>
      </p:sp>
      <p:sp>
        <p:nvSpPr>
          <p:cNvPr id="58371" name="Rectangle 2"/>
          <p:cNvSpPr>
            <a:spLocks noGrp="1" noRot="1" noChangeAspect="1" noChangeArrowheads="1" noTextEdit="1"/>
          </p:cNvSpPr>
          <p:nvPr>
            <p:ph type="sldImg"/>
          </p:nvPr>
        </p:nvSpPr>
        <p:spPr>
          <a:xfrm>
            <a:off x="3263900" y="509588"/>
            <a:ext cx="3400425" cy="2549525"/>
          </a:xfrm>
        </p:spPr>
      </p:sp>
      <p:sp>
        <p:nvSpPr>
          <p:cNvPr id="58372"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263900" y="509588"/>
            <a:ext cx="3400425" cy="2549525"/>
          </a:xfrm>
        </p:spPr>
      </p:sp>
      <p:sp>
        <p:nvSpPr>
          <p:cNvPr id="3" name="备注占位符 2"/>
          <p:cNvSpPr>
            <a:spLocks noGrp="1"/>
          </p:cNvSpPr>
          <p:nvPr>
            <p:ph type="body" idx="1"/>
          </p:nvPr>
        </p:nvSpPr>
        <p:spPr/>
        <p:txBody>
          <a:bodyPr>
            <a:normAutofit/>
          </a:bodyPr>
          <a:lstStyle/>
          <a:p>
            <a:r>
              <a:rPr lang="zh-CN" altLang="en-US" sz="1200" b="1" dirty="0" smtClean="0"/>
              <a:t>机械零件的同一被测要素既有尺寸公差要求</a:t>
            </a:r>
            <a:r>
              <a:rPr lang="en-US" altLang="zh-CN" sz="1200" b="1" dirty="0" smtClean="0"/>
              <a:t>,</a:t>
            </a:r>
            <a:r>
              <a:rPr lang="zh-CN" altLang="en-US" sz="1200" b="1" dirty="0" smtClean="0"/>
              <a:t>又有几何公差要求</a:t>
            </a:r>
            <a:r>
              <a:rPr lang="en-US" altLang="zh-CN" sz="1200" b="1" dirty="0" smtClean="0"/>
              <a:t>,</a:t>
            </a:r>
            <a:r>
              <a:rPr lang="zh-CN" altLang="en-US" sz="1200" b="1" dirty="0" smtClean="0"/>
              <a:t>处理两者之间关系应遵循的独立原则和相关公差要求。独立原则是指同一要素的尺寸公差和几何公差彼此无关的公差要求</a:t>
            </a:r>
            <a:r>
              <a:rPr lang="en-US" altLang="zh-CN" sz="1200" b="1" dirty="0" smtClean="0"/>
              <a:t>;</a:t>
            </a:r>
            <a:r>
              <a:rPr lang="zh-CN" altLang="en-US" sz="1200" b="1" dirty="0" smtClean="0"/>
              <a:t>相关公差要求是指同一要素的尺寸公差和几何公差相互有关的公差要求</a:t>
            </a:r>
            <a:r>
              <a:rPr lang="en-US" altLang="zh-CN" sz="1200" b="1" dirty="0" smtClean="0"/>
              <a:t>,</a:t>
            </a:r>
            <a:r>
              <a:rPr lang="zh-CN" altLang="en-US" sz="1200" b="1" dirty="0" smtClean="0"/>
              <a:t>而相关公差要求又分为包容要求、最大实体要求、最小实体要求和可逆要求。设计时</a:t>
            </a:r>
            <a:r>
              <a:rPr lang="en-US" altLang="zh-CN" sz="1200" b="1" dirty="0" smtClean="0"/>
              <a:t>,</a:t>
            </a:r>
            <a:r>
              <a:rPr lang="zh-CN" altLang="en-US" sz="1200" b="1" dirty="0" smtClean="0"/>
              <a:t>根据使用要求选用独立原则或不同的相关公差要求。</a:t>
            </a:r>
            <a:endParaRPr lang="zh-CN" altLang="en-US" dirty="0"/>
          </a:p>
        </p:txBody>
      </p:sp>
      <p:sp>
        <p:nvSpPr>
          <p:cNvPr id="4" name="灯片编号占位符 3"/>
          <p:cNvSpPr>
            <a:spLocks noGrp="1"/>
          </p:cNvSpPr>
          <p:nvPr>
            <p:ph type="sldNum" sz="quarter" idx="10"/>
          </p:nvPr>
        </p:nvSpPr>
        <p:spPr/>
        <p:txBody>
          <a:bodyPr/>
          <a:lstStyle/>
          <a:p>
            <a:pPr>
              <a:defRPr/>
            </a:pPr>
            <a:fld id="{9FA7F628-CB49-4261-964C-A9F30364C808}" type="slidenum">
              <a:rPr lang="zh-CN" altLang="en-US" smtClean="0"/>
              <a:pPr>
                <a:defRPr/>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263900" y="509588"/>
            <a:ext cx="3400425" cy="2549525"/>
          </a:xfrm>
        </p:spPr>
      </p:sp>
      <p:sp>
        <p:nvSpPr>
          <p:cNvPr id="3" name="文本占位符 2"/>
          <p:cNvSpPr>
            <a:spLocks noGrp="1"/>
          </p:cNvSpPr>
          <p:nvPr>
            <p:ph type="body" idx="3"/>
          </p:nvPr>
        </p:nvSpPr>
        <p:spPr/>
        <p:txBody>
          <a:bodyPr/>
          <a:lstStyle/>
          <a:p>
            <a:r>
              <a:rPr lang="zh-CN" altLang="en-US" b="1" dirty="0">
                <a:sym typeface="+mn-ea"/>
              </a:rPr>
              <a:t>有几何误差的孔体外作用尺寸小于其实际尺寸。有几何误差的轴体外作用尺寸大于其实际尺寸。</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263900" y="509588"/>
            <a:ext cx="3400425" cy="2549525"/>
          </a:xfrm>
        </p:spPr>
      </p:sp>
      <p:sp>
        <p:nvSpPr>
          <p:cNvPr id="3" name="文本占位符 2"/>
          <p:cNvSpPr>
            <a:spLocks noGrp="1"/>
          </p:cNvSpPr>
          <p:nvPr>
            <p:ph type="body" idx="3"/>
          </p:nvPr>
        </p:nvSpPr>
        <p:spPr/>
        <p:txBody>
          <a:bodyPr/>
          <a:lstStyle/>
          <a:p>
            <a:pPr eaLnBrk="1" hangingPunct="1">
              <a:lnSpc>
                <a:spcPct val="120000"/>
              </a:lnSpc>
              <a:spcBef>
                <a:spcPct val="0"/>
              </a:spcBef>
            </a:pPr>
            <a:r>
              <a:rPr lang="zh-CN" altLang="en-US" b="1" dirty="0">
                <a:sym typeface="+mn-ea"/>
              </a:rPr>
              <a:t>有几何误差的孔体内作用尺寸大于其实际尺寸。有几何误差的轴体内作用尺寸小于其实际尺寸</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263900" y="509588"/>
            <a:ext cx="3400425" cy="2549525"/>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263900" y="509588"/>
            <a:ext cx="3400425" cy="2549525"/>
          </a:xfrm>
        </p:spPr>
      </p:sp>
      <p:sp>
        <p:nvSpPr>
          <p:cNvPr id="3" name="备注占位符 2"/>
          <p:cNvSpPr>
            <a:spLocks noGrp="1"/>
          </p:cNvSpPr>
          <p:nvPr>
            <p:ph type="body" idx="1"/>
          </p:nvPr>
        </p:nvSpPr>
        <p:spPr/>
        <p:txBody>
          <a:bodyPr>
            <a:normAutofit/>
          </a:bodyPr>
          <a:lstStyle/>
          <a:p>
            <a:r>
              <a:rPr lang="zh-CN" altLang="en-US" sz="1200" b="1" dirty="0" smtClean="0"/>
              <a:t>可逆要求应用于最小实体要求时，尺寸公差可以补偿给几何公差，几何公差也可以补偿给尺寸公差。</a:t>
            </a:r>
            <a:endParaRPr lang="zh-CN" altLang="en-US" dirty="0"/>
          </a:p>
        </p:txBody>
      </p:sp>
      <p:sp>
        <p:nvSpPr>
          <p:cNvPr id="4" name="灯片编号占位符 3"/>
          <p:cNvSpPr>
            <a:spLocks noGrp="1"/>
          </p:cNvSpPr>
          <p:nvPr>
            <p:ph type="sldNum" sz="quarter" idx="10"/>
          </p:nvPr>
        </p:nvSpPr>
        <p:spPr/>
        <p:txBody>
          <a:bodyPr/>
          <a:lstStyle/>
          <a:p>
            <a:pPr>
              <a:defRPr/>
            </a:pPr>
            <a:fld id="{9FA7F628-CB49-4261-964C-A9F30364C808}" type="slidenum">
              <a:rPr lang="zh-CN" altLang="en-US" smtClean="0"/>
              <a:pPr>
                <a:defRPr/>
              </a:pPr>
              <a:t>33</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609600" indent="0" algn="ctr">
              <a:buNone/>
              <a:defRPr/>
            </a:lvl2pPr>
            <a:lvl3pPr marL="1219200" indent="0" algn="ctr">
              <a:buNone/>
              <a:defRPr/>
            </a:lvl3pPr>
            <a:lvl4pPr marL="1828800" indent="0" algn="ctr">
              <a:buNone/>
              <a:defRPr/>
            </a:lvl4pPr>
            <a:lvl5pPr marL="2438400" indent="0" algn="ctr">
              <a:buNone/>
              <a:defRPr/>
            </a:lvl5pPr>
            <a:lvl6pPr marL="3048000" indent="0" algn="ctr">
              <a:buNone/>
              <a:defRPr/>
            </a:lvl6pPr>
            <a:lvl7pPr marL="3657600" indent="0" algn="ctr">
              <a:buNone/>
              <a:defRPr/>
            </a:lvl7pPr>
            <a:lvl8pPr marL="4267200" indent="0" algn="ctr">
              <a:buNone/>
              <a:defRPr/>
            </a:lvl8pPr>
            <a:lvl9pPr marL="48768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614A37C-66F0-4A3E-977F-A2977F1C6FE6}" type="slidenum">
              <a:rPr lang="zh-CN" altLang="en-US"/>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4AB25C7-5096-45FA-99D3-5922A47DFF53}" type="slidenum">
              <a:rPr lang="zh-CN" altLang="en-US"/>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5335"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665"/>
            </a:lvl1pPr>
            <a:lvl2pPr marL="609600" indent="0">
              <a:buNone/>
              <a:defRPr sz="2400"/>
            </a:lvl2pPr>
            <a:lvl3pPr marL="1219200" indent="0">
              <a:buNone/>
              <a:defRPr sz="2135"/>
            </a:lvl3pPr>
            <a:lvl4pPr marL="1828800" indent="0">
              <a:buNone/>
              <a:defRPr sz="1865"/>
            </a:lvl4pPr>
            <a:lvl5pPr marL="2438400" indent="0">
              <a:buNone/>
              <a:defRPr sz="1865"/>
            </a:lvl5pPr>
            <a:lvl6pPr marL="3048000" indent="0">
              <a:buNone/>
              <a:defRPr sz="1865"/>
            </a:lvl6pPr>
            <a:lvl7pPr marL="3657600" indent="0">
              <a:buNone/>
              <a:defRPr sz="1865"/>
            </a:lvl7pPr>
            <a:lvl8pPr marL="4267200" indent="0">
              <a:buNone/>
              <a:defRPr sz="1865"/>
            </a:lvl8pPr>
            <a:lvl9pPr marL="4876800" indent="0">
              <a:buNone/>
              <a:defRPr sz="1865"/>
            </a:lvl9pPr>
          </a:lstStyle>
          <a:p>
            <a:pPr lvl="0"/>
            <a:r>
              <a:rPr lang="zh-CN" altLang="en-US" smtClean="0"/>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F83F985-4A7A-4443-B29B-5E6CA28E2611}" type="slidenum">
              <a:rPr lang="zh-CN" altLang="en-US"/>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33D16AC-84A7-458E-A2EF-13611051CEE9}" type="slidenum">
              <a:rPr lang="zh-CN" altLang="en-US"/>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3"/>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smtClean="0"/>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D25C31F5-FF21-4725-B74F-2D504959164F}" type="slidenum">
              <a:rPr lang="zh-CN" altLang="en-US"/>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11B070EA-D8F3-4664-9210-E687A998655A}"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9A9AD9A6-E1B3-465F-8DA4-CCF25C9FD19A}" type="slidenum">
              <a:rPr lang="zh-CN" altLang="en-US"/>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49"/>
            <a:ext cx="3008313" cy="1162051"/>
          </a:xfrm>
        </p:spPr>
        <p:txBody>
          <a:bodyPr anchor="b"/>
          <a:lstStyle>
            <a:lvl1pPr algn="l">
              <a:defRPr sz="2665"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1"/>
            <a:ext cx="5111750" cy="5853113"/>
          </a:xfr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1"/>
            <a:ext cx="3008313" cy="4691063"/>
          </a:xfr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79622EA-1519-48C7-8310-AEA305EE95D2}"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9"/>
          </a:xfrm>
        </p:spPr>
        <p:txBody>
          <a:bodyPr anchor="b"/>
          <a:lstStyle>
            <a:lvl1pPr algn="l">
              <a:defRPr sz="2665"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pPr lvl="0"/>
            <a:endParaRPr lang="zh-CN" altLang="en-US" noProof="0" smtClean="0"/>
          </a:p>
        </p:txBody>
      </p:sp>
      <p:sp>
        <p:nvSpPr>
          <p:cNvPr id="4" name="文本占位符 3"/>
          <p:cNvSpPr>
            <a:spLocks noGrp="1"/>
          </p:cNvSpPr>
          <p:nvPr>
            <p:ph type="body" sz="half" idx="2"/>
          </p:nvPr>
        </p:nvSpPr>
        <p:spPr>
          <a:xfrm>
            <a:off x="1792288" y="5367337"/>
            <a:ext cx="5486400" cy="804863"/>
          </a:xfr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440DEF0-289B-44B8-B85A-D1F9B28543E8}" type="slidenum">
              <a:rPr lang="zh-CN" altLang="en-US"/>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C0C7DD2-C771-447C-BC38-38573F3C2056}"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02BAF6D-8EEE-4BE8-8C9B-367A1CDEB1F8}" type="slidenum">
              <a:rPr lang="zh-CN" altLang="en-US"/>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FD2C70E4-29EC-4F3E-890D-93941C68D1A1}"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spcBef>
                <a:spcPct val="0"/>
              </a:spcBef>
              <a:defRPr kumimoji="0" sz="1865"/>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spcBef>
                <a:spcPct val="0"/>
              </a:spcBef>
              <a:defRPr kumimoji="0" sz="1865"/>
            </a:lvl1pPr>
          </a:lstStyle>
          <a:p>
            <a:pPr>
              <a:defRPr/>
            </a:pPr>
            <a:endParaRPr lang="en-US" altLang="zh-CN"/>
          </a:p>
        </p:txBody>
      </p:sp>
      <p:sp>
        <p:nvSpPr>
          <p:cNvPr id="1030" name="Rectangle 6"/>
          <p:cNvSpPr>
            <a:spLocks noGrp="1" noChangeArrowheads="1"/>
          </p:cNvSpPr>
          <p:nvPr>
            <p:ph type="sldNum" sz="quarter" idx="4"/>
          </p:nvPr>
        </p:nvSpPr>
        <p:spPr bwMode="auto">
          <a:xfrm>
            <a:off x="7086600" y="152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defRPr kumimoji="0" sz="2665" b="1">
                <a:solidFill>
                  <a:srgbClr val="0000FF"/>
                </a:solidFill>
              </a:defRPr>
            </a:lvl1pPr>
          </a:lstStyle>
          <a:p>
            <a:pPr>
              <a:defRPr/>
            </a:pPr>
            <a:fld id="{7BE3E608-1AE6-425B-A79B-B7320B1CA64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kumimoji="1" sz="5865">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457200" indent="-457200" algn="l" rtl="0" eaLnBrk="0" fontAlgn="base" hangingPunct="0">
        <a:spcBef>
          <a:spcPts val="130"/>
        </a:spcBef>
        <a:spcAft>
          <a:spcPct val="0"/>
        </a:spcAft>
        <a:buChar char="•"/>
        <a:defRPr kumimoji="1" sz="4265">
          <a:solidFill>
            <a:schemeClr val="tx1"/>
          </a:solidFill>
          <a:latin typeface="+mn-lt"/>
          <a:ea typeface="+mn-ea"/>
          <a:cs typeface="+mn-cs"/>
        </a:defRPr>
      </a:lvl1pPr>
      <a:lvl2pPr marL="990600" indent="-381000" algn="l" rtl="0" eaLnBrk="0" fontAlgn="base" hangingPunct="0">
        <a:spcBef>
          <a:spcPts val="130"/>
        </a:spcBef>
        <a:spcAft>
          <a:spcPct val="0"/>
        </a:spcAft>
        <a:buChar char="–"/>
        <a:defRPr kumimoji="1" sz="3735">
          <a:solidFill>
            <a:schemeClr val="tx1"/>
          </a:solidFill>
          <a:latin typeface="+mn-lt"/>
          <a:ea typeface="+mn-ea"/>
        </a:defRPr>
      </a:lvl2pPr>
      <a:lvl3pPr marL="1524000" indent="-304800" algn="l" rtl="0" eaLnBrk="0" fontAlgn="base" hangingPunct="0">
        <a:spcBef>
          <a:spcPts val="130"/>
        </a:spcBef>
        <a:spcAft>
          <a:spcPct val="0"/>
        </a:spcAft>
        <a:buChar char="•"/>
        <a:defRPr kumimoji="1" sz="3200">
          <a:solidFill>
            <a:schemeClr val="tx1"/>
          </a:solidFill>
          <a:latin typeface="+mn-lt"/>
          <a:ea typeface="+mn-ea"/>
        </a:defRPr>
      </a:lvl3pPr>
      <a:lvl4pPr marL="2133600" indent="-304800" algn="l" rtl="0" eaLnBrk="0" fontAlgn="base" hangingPunct="0">
        <a:spcBef>
          <a:spcPts val="130"/>
        </a:spcBef>
        <a:spcAft>
          <a:spcPct val="0"/>
        </a:spcAft>
        <a:buChar char="–"/>
        <a:defRPr kumimoji="1" sz="2665">
          <a:solidFill>
            <a:schemeClr val="tx1"/>
          </a:solidFill>
          <a:latin typeface="+mn-lt"/>
          <a:ea typeface="+mn-ea"/>
        </a:defRPr>
      </a:lvl4pPr>
      <a:lvl5pPr marL="2743200" indent="-304800" algn="l" rtl="0" eaLnBrk="0" fontAlgn="base" hangingPunct="0">
        <a:spcBef>
          <a:spcPts val="130"/>
        </a:spcBef>
        <a:spcAft>
          <a:spcPct val="0"/>
        </a:spcAft>
        <a:buChar char="»"/>
        <a:defRPr kumimoji="1" sz="2665">
          <a:solidFill>
            <a:schemeClr val="tx1"/>
          </a:solidFill>
          <a:latin typeface="+mn-lt"/>
          <a:ea typeface="+mn-ea"/>
        </a:defRPr>
      </a:lvl5pPr>
      <a:lvl6pPr marL="3352800" indent="-304800" algn="l" rtl="0" fontAlgn="base">
        <a:spcBef>
          <a:spcPts val="130"/>
        </a:spcBef>
        <a:spcAft>
          <a:spcPct val="0"/>
        </a:spcAft>
        <a:buChar char="»"/>
        <a:defRPr kumimoji="1" sz="2665">
          <a:solidFill>
            <a:schemeClr val="tx1"/>
          </a:solidFill>
          <a:latin typeface="+mn-lt"/>
          <a:ea typeface="+mn-ea"/>
        </a:defRPr>
      </a:lvl6pPr>
      <a:lvl7pPr marL="3962400" indent="-304800" algn="l" rtl="0" fontAlgn="base">
        <a:spcBef>
          <a:spcPts val="130"/>
        </a:spcBef>
        <a:spcAft>
          <a:spcPct val="0"/>
        </a:spcAft>
        <a:buChar char="»"/>
        <a:defRPr kumimoji="1" sz="2665">
          <a:solidFill>
            <a:schemeClr val="tx1"/>
          </a:solidFill>
          <a:latin typeface="+mn-lt"/>
          <a:ea typeface="+mn-ea"/>
        </a:defRPr>
      </a:lvl7pPr>
      <a:lvl8pPr marL="4572000" indent="-304800" algn="l" rtl="0" fontAlgn="base">
        <a:spcBef>
          <a:spcPts val="130"/>
        </a:spcBef>
        <a:spcAft>
          <a:spcPct val="0"/>
        </a:spcAft>
        <a:buChar char="»"/>
        <a:defRPr kumimoji="1" sz="2665">
          <a:solidFill>
            <a:schemeClr val="tx1"/>
          </a:solidFill>
          <a:latin typeface="+mn-lt"/>
          <a:ea typeface="+mn-ea"/>
        </a:defRPr>
      </a:lvl8pPr>
      <a:lvl9pPr marL="5181600" indent="-304800" algn="l" rtl="0" fontAlgn="base">
        <a:spcBef>
          <a:spcPts val="130"/>
        </a:spcBef>
        <a:spcAft>
          <a:spcPct val="0"/>
        </a:spcAft>
        <a:buChar char="»"/>
        <a:defRPr kumimoji="1" sz="2665">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30.xml"/><Relationship Id="rId3" Type="http://schemas.openxmlformats.org/officeDocument/2006/relationships/slide" Target="slide2.xml"/><Relationship Id="rId7" Type="http://schemas.openxmlformats.org/officeDocument/2006/relationships/slide" Target="slide20.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slide" Target="slide15.xml"/><Relationship Id="rId5" Type="http://schemas.openxmlformats.org/officeDocument/2006/relationships/slide" Target="slide14.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png"/><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9.png"/><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9.png"/><Relationship Id="rId7"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22.png"/><Relationship Id="rId11" Type="http://schemas.openxmlformats.org/officeDocument/2006/relationships/oleObject" Target="../embeddings/oleObject12.bin"/><Relationship Id="rId5" Type="http://schemas.openxmlformats.org/officeDocument/2006/relationships/image" Target="../media/image21.png"/><Relationship Id="rId10" Type="http://schemas.openxmlformats.org/officeDocument/2006/relationships/oleObject" Target="../embeddings/oleObject11.bin"/><Relationship Id="rId4" Type="http://schemas.openxmlformats.org/officeDocument/2006/relationships/image" Target="../media/image20.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oleObject" Target="../embeddings/oleObject13.bin"/><Relationship Id="rId7" Type="http://schemas.openxmlformats.org/officeDocument/2006/relationships/oleObject" Target="../embeddings/oleObject16.bin"/><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28.png"/><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oleObject" Target="../embeddings/oleObject21.bin"/><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oleObject" Target="../embeddings/oleObject20.bin"/><Relationship Id="rId5" Type="http://schemas.openxmlformats.org/officeDocument/2006/relationships/oleObject" Target="../embeddings/oleObject19.bin"/><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25.bin"/><Relationship Id="rId5" Type="http://schemas.openxmlformats.org/officeDocument/2006/relationships/oleObject" Target="../embeddings/oleObject24.bin"/><Relationship Id="rId4" Type="http://schemas.openxmlformats.org/officeDocument/2006/relationships/oleObject" Target="../embeddings/oleObject23.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53.png"/><Relationship Id="rId4" Type="http://schemas.openxmlformats.org/officeDocument/2006/relationships/oleObject" Target="../embeddings/oleObject27.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oleObject" Target="../embeddings/oleObject28.bin"/><Relationship Id="rId7" Type="http://schemas.openxmlformats.org/officeDocument/2006/relationships/oleObject" Target="../embeddings/oleObject31.bin"/><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oleObject" Target="../embeddings/oleObject30.bin"/><Relationship Id="rId5" Type="http://schemas.openxmlformats.org/officeDocument/2006/relationships/oleObject" Target="../embeddings/oleObject29.bin"/><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 Id="rId5" Type="http://schemas.openxmlformats.org/officeDocument/2006/relationships/image" Target="../media/image63.png"/><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66.png"/><Relationship Id="rId4" Type="http://schemas.openxmlformats.org/officeDocument/2006/relationships/oleObject" Target="../embeddings/oleObject34.bin"/></Relationships>
</file>

<file path=ppt/slides/_rels/slide22.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66.png"/><Relationship Id="rId2" Type="http://schemas.openxmlformats.org/officeDocument/2006/relationships/slideLayout" Target="../slideLayouts/slideLayout12.xml"/><Relationship Id="rId1" Type="http://schemas.openxmlformats.org/officeDocument/2006/relationships/vmlDrawing" Target="../drawings/vmlDrawing14.vml"/><Relationship Id="rId6" Type="http://schemas.openxmlformats.org/officeDocument/2006/relationships/oleObject" Target="../embeddings/oleObject36.bin"/><Relationship Id="rId5" Type="http://schemas.openxmlformats.org/officeDocument/2006/relationships/oleObject" Target="../embeddings/oleObject35.bin"/><Relationship Id="rId4" Type="http://schemas.openxmlformats.org/officeDocument/2006/relationships/image" Target="../media/image70.png"/></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76.png"/><Relationship Id="rId7" Type="http://schemas.openxmlformats.org/officeDocument/2006/relationships/image" Target="../media/image77.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39.bin"/><Relationship Id="rId5" Type="http://schemas.openxmlformats.org/officeDocument/2006/relationships/oleObject" Target="../embeddings/oleObject38.bin"/><Relationship Id="rId4" Type="http://schemas.openxmlformats.org/officeDocument/2006/relationships/oleObject" Target="../embeddings/oleObject37.bin"/><Relationship Id="rId9" Type="http://schemas.openxmlformats.org/officeDocument/2006/relationships/oleObject" Target="../embeddings/oleObject41.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notesSlide" Target="../notesSlides/notesSlide5.xml"/><Relationship Id="rId7"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43.bin"/><Relationship Id="rId5" Type="http://schemas.openxmlformats.org/officeDocument/2006/relationships/image" Target="../media/image82.png"/><Relationship Id="rId4" Type="http://schemas.openxmlformats.org/officeDocument/2006/relationships/oleObject" Target="../embeddings/oleObject42.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oleObject" Target="../embeddings/oleObject46.bin"/><Relationship Id="rId7"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89.png"/><Relationship Id="rId5" Type="http://schemas.openxmlformats.org/officeDocument/2006/relationships/oleObject" Target="../embeddings/oleObject48.bin"/><Relationship Id="rId4" Type="http://schemas.openxmlformats.org/officeDocument/2006/relationships/oleObject" Target="../embeddings/oleObject47.bin"/><Relationship Id="rId9" Type="http://schemas.openxmlformats.org/officeDocument/2006/relationships/oleObject" Target="../embeddings/oleObject51.bin"/></Relationships>
</file>

<file path=ppt/slides/_rels/slide2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image" Target="../media/image95.png"/><Relationship Id="rId7" Type="http://schemas.openxmlformats.org/officeDocument/2006/relationships/image" Target="../media/image96.png"/><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54.bin"/><Relationship Id="rId5" Type="http://schemas.openxmlformats.org/officeDocument/2006/relationships/oleObject" Target="../embeddings/oleObject53.bin"/><Relationship Id="rId4" Type="http://schemas.openxmlformats.org/officeDocument/2006/relationships/oleObject" Target="../embeddings/oleObject52.bin"/></Relationships>
</file>

<file path=ppt/slides/_rels/slide2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57.bin"/><Relationship Id="rId5" Type="http://schemas.openxmlformats.org/officeDocument/2006/relationships/oleObject" Target="../embeddings/oleObject56.bin"/><Relationship Id="rId4" Type="http://schemas.openxmlformats.org/officeDocument/2006/relationships/image" Target="../media/image9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png"/></Relationships>
</file>

<file path=ppt/slides/_rels/slide31.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oleObject" Target="../embeddings/oleObject58.bin"/><Relationship Id="rId7" Type="http://schemas.openxmlformats.org/officeDocument/2006/relationships/image" Target="../media/image108.png"/><Relationship Id="rId2" Type="http://schemas.openxmlformats.org/officeDocument/2006/relationships/slideLayout" Target="../slideLayouts/slideLayout12.xml"/><Relationship Id="rId1" Type="http://schemas.openxmlformats.org/officeDocument/2006/relationships/vmlDrawing" Target="../drawings/vmlDrawing20.vml"/><Relationship Id="rId6" Type="http://schemas.openxmlformats.org/officeDocument/2006/relationships/image" Target="../media/image107.png"/><Relationship Id="rId5" Type="http://schemas.openxmlformats.org/officeDocument/2006/relationships/oleObject" Target="../embeddings/oleObject60.bin"/><Relationship Id="rId4" Type="http://schemas.openxmlformats.org/officeDocument/2006/relationships/oleObject" Target="../embeddings/oleObject59.bin"/></Relationships>
</file>

<file path=ppt/slides/_rels/slide32.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oleObject" Target="../embeddings/oleObject61.bin"/><Relationship Id="rId7" Type="http://schemas.openxmlformats.org/officeDocument/2006/relationships/oleObject" Target="../embeddings/oleObject64.bin"/><Relationship Id="rId12" Type="http://schemas.openxmlformats.org/officeDocument/2006/relationships/image" Target="../media/image118.png"/><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14.png"/><Relationship Id="rId11" Type="http://schemas.openxmlformats.org/officeDocument/2006/relationships/image" Target="../media/image107.png"/><Relationship Id="rId5" Type="http://schemas.openxmlformats.org/officeDocument/2006/relationships/oleObject" Target="../embeddings/oleObject63.bin"/><Relationship Id="rId10" Type="http://schemas.openxmlformats.org/officeDocument/2006/relationships/image" Target="../media/image117.png"/><Relationship Id="rId4" Type="http://schemas.openxmlformats.org/officeDocument/2006/relationships/oleObject" Target="../embeddings/oleObject62.bin"/><Relationship Id="rId9" Type="http://schemas.openxmlformats.org/officeDocument/2006/relationships/image" Target="../media/image116.png"/></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68.bin"/><Relationship Id="rId3" Type="http://schemas.openxmlformats.org/officeDocument/2006/relationships/notesSlide" Target="../notesSlides/notesSlide6.xml"/><Relationship Id="rId7"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125.png"/><Relationship Id="rId11" Type="http://schemas.openxmlformats.org/officeDocument/2006/relationships/oleObject" Target="../embeddings/oleObject71.bin"/><Relationship Id="rId5" Type="http://schemas.openxmlformats.org/officeDocument/2006/relationships/oleObject" Target="../embeddings/oleObject66.bin"/><Relationship Id="rId10" Type="http://schemas.openxmlformats.org/officeDocument/2006/relationships/oleObject" Target="../embeddings/oleObject70.bin"/><Relationship Id="rId4" Type="http://schemas.openxmlformats.org/officeDocument/2006/relationships/oleObject" Target="../embeddings/oleObject65.bin"/><Relationship Id="rId9" Type="http://schemas.openxmlformats.org/officeDocument/2006/relationships/oleObject" Target="../embeddings/oleObject69.bin"/></Relationships>
</file>

<file path=ppt/slides/_rels/slide3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132"/>
          <p:cNvSpPr txBox="1">
            <a:spLocks noChangeArrowheads="1"/>
          </p:cNvSpPr>
          <p:nvPr/>
        </p:nvSpPr>
        <p:spPr bwMode="auto">
          <a:xfrm>
            <a:off x="1634293" y="602506"/>
            <a:ext cx="5627145" cy="584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54564" tIns="77281" rIns="154564" bIns="7728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2800" b="1" dirty="0">
                <a:latin typeface="宋体" panose="02010600030101010101" pitchFamily="2" charset="-122"/>
              </a:rPr>
              <a:t>第4章 几何精度精度设计与</a:t>
            </a:r>
            <a:r>
              <a:rPr kumimoji="0" lang="zh-CN" altLang="en-US" sz="2800" b="1" dirty="0" smtClean="0">
                <a:latin typeface="宋体" panose="02010600030101010101" pitchFamily="2" charset="-122"/>
              </a:rPr>
              <a:t>检测</a:t>
            </a:r>
            <a:endParaRPr kumimoji="0" lang="zh-CN" altLang="en-US" sz="2800" dirty="0">
              <a:latin typeface="宋体" panose="02010600030101010101" pitchFamily="2" charset="-122"/>
            </a:endParaRPr>
          </a:p>
        </p:txBody>
      </p:sp>
      <p:sp>
        <p:nvSpPr>
          <p:cNvPr id="2052" name="Text Box 133">
            <a:hlinkClick r:id="rId3" action="ppaction://hlinksldjump"/>
          </p:cNvPr>
          <p:cNvSpPr txBox="1">
            <a:spLocks noChangeArrowheads="1"/>
          </p:cNvSpPr>
          <p:nvPr/>
        </p:nvSpPr>
        <p:spPr bwMode="auto">
          <a:xfrm>
            <a:off x="722863" y="1590655"/>
            <a:ext cx="683600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chemeClr val="accent5">
                    <a:lumMod val="50000"/>
                  </a:schemeClr>
                </a:solidFill>
                <a:latin typeface="宋体" panose="02010600030101010101" pitchFamily="2" charset="-122"/>
              </a:rPr>
              <a:t>4.3 </a:t>
            </a:r>
            <a:r>
              <a:rPr lang="zh-CN" altLang="en-US" b="1" dirty="0" smtClean="0">
                <a:solidFill>
                  <a:schemeClr val="accent5">
                    <a:lumMod val="50000"/>
                  </a:schemeClr>
                </a:solidFill>
                <a:latin typeface="宋体" panose="02010600030101010101" pitchFamily="2" charset="-122"/>
              </a:rPr>
              <a:t>独立原则与相关公差要求</a:t>
            </a:r>
            <a:endParaRPr lang="zh-CN" altLang="en-US" b="1" dirty="0">
              <a:solidFill>
                <a:schemeClr val="accent5">
                  <a:lumMod val="50000"/>
                </a:schemeClr>
              </a:solidFill>
              <a:latin typeface="宋体" panose="02010600030101010101" pitchFamily="2" charset="-122"/>
            </a:endParaRPr>
          </a:p>
        </p:txBody>
      </p:sp>
      <p:sp>
        <p:nvSpPr>
          <p:cNvPr id="2053" name="Text Box 134">
            <a:hlinkClick r:id="rId4" action="ppaction://hlinksldjump"/>
          </p:cNvPr>
          <p:cNvSpPr txBox="1">
            <a:spLocks noChangeArrowheads="1"/>
          </p:cNvSpPr>
          <p:nvPr/>
        </p:nvSpPr>
        <p:spPr bwMode="auto">
          <a:xfrm>
            <a:off x="1043538" y="2238592"/>
            <a:ext cx="6868879"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smtClean="0">
                <a:latin typeface="宋体" panose="02010600030101010101" pitchFamily="2" charset="-122"/>
              </a:rPr>
              <a:t>4.3.1 </a:t>
            </a:r>
            <a:r>
              <a:rPr lang="zh-CN" altLang="en-US" b="1" dirty="0" smtClean="0">
                <a:latin typeface="宋体" panose="02010600030101010101" pitchFamily="2" charset="-122"/>
              </a:rPr>
              <a:t>有关公差原则和规则的一些术语和定义 </a:t>
            </a:r>
            <a:endParaRPr lang="zh-CN" altLang="en-US" b="1" dirty="0">
              <a:latin typeface="宋体" panose="02010600030101010101" pitchFamily="2" charset="-122"/>
            </a:endParaRPr>
          </a:p>
        </p:txBody>
      </p:sp>
      <p:sp>
        <p:nvSpPr>
          <p:cNvPr id="2054" name="Text Box 135">
            <a:hlinkClick r:id="rId5" action="ppaction://hlinksldjump"/>
          </p:cNvPr>
          <p:cNvSpPr txBox="1">
            <a:spLocks noChangeArrowheads="1"/>
          </p:cNvSpPr>
          <p:nvPr/>
        </p:nvSpPr>
        <p:spPr bwMode="auto">
          <a:xfrm>
            <a:off x="1043538" y="2754212"/>
            <a:ext cx="666113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4.3.2 </a:t>
            </a:r>
            <a:r>
              <a:rPr lang="zh-CN" altLang="en-US" b="1" dirty="0">
                <a:latin typeface="宋体" panose="02010600030101010101" pitchFamily="2" charset="-122"/>
              </a:rPr>
              <a:t>独立</a:t>
            </a:r>
            <a:r>
              <a:rPr lang="zh-CN" altLang="en-US" b="1" dirty="0" smtClean="0">
                <a:latin typeface="宋体" panose="02010600030101010101" pitchFamily="2" charset="-122"/>
              </a:rPr>
              <a:t>原则</a:t>
            </a:r>
            <a:endParaRPr lang="en-US" altLang="zh-CN" b="1" dirty="0">
              <a:latin typeface="宋体" panose="02010600030101010101" pitchFamily="2" charset="-122"/>
            </a:endParaRPr>
          </a:p>
        </p:txBody>
      </p:sp>
      <p:sp>
        <p:nvSpPr>
          <p:cNvPr id="2055" name="Text Box 136">
            <a:hlinkClick r:id="rId6" action="ppaction://hlinksldjump"/>
          </p:cNvPr>
          <p:cNvSpPr txBox="1">
            <a:spLocks noChangeArrowheads="1"/>
          </p:cNvSpPr>
          <p:nvPr/>
        </p:nvSpPr>
        <p:spPr bwMode="auto">
          <a:xfrm>
            <a:off x="1043538" y="3282820"/>
            <a:ext cx="6423139"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4.3.3 </a:t>
            </a:r>
            <a:r>
              <a:rPr lang="zh-CN" altLang="en-US" b="1" dirty="0">
                <a:latin typeface="宋体" panose="02010600030101010101" pitchFamily="2" charset="-122"/>
              </a:rPr>
              <a:t>包容要求（</a:t>
            </a:r>
            <a:r>
              <a:rPr lang="en-US" altLang="zh-CN" b="1" dirty="0">
                <a:latin typeface="宋体" panose="02010600030101010101" pitchFamily="2" charset="-122"/>
              </a:rPr>
              <a:t>ER</a:t>
            </a:r>
            <a:r>
              <a:rPr lang="en-US" altLang="zh-CN" b="1" dirty="0" smtClean="0">
                <a:latin typeface="宋体" panose="02010600030101010101" pitchFamily="2" charset="-122"/>
              </a:rPr>
              <a:t>）</a:t>
            </a:r>
            <a:endParaRPr lang="zh-CN" altLang="en-US" dirty="0"/>
          </a:p>
        </p:txBody>
      </p:sp>
      <p:sp>
        <p:nvSpPr>
          <p:cNvPr id="2056" name="Text Box 137">
            <a:hlinkClick r:id="rId7" action="ppaction://hlinksldjump"/>
          </p:cNvPr>
          <p:cNvSpPr txBox="1">
            <a:spLocks noChangeArrowheads="1"/>
          </p:cNvSpPr>
          <p:nvPr/>
        </p:nvSpPr>
        <p:spPr bwMode="auto">
          <a:xfrm>
            <a:off x="1043537" y="3783572"/>
            <a:ext cx="6579608"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4.3.4 </a:t>
            </a:r>
            <a:r>
              <a:rPr lang="zh-CN" altLang="en-US" b="1" dirty="0">
                <a:latin typeface="宋体" panose="02010600030101010101" pitchFamily="2" charset="-122"/>
              </a:rPr>
              <a:t>最大实体要求（</a:t>
            </a:r>
            <a:r>
              <a:rPr lang="en-US" altLang="zh-CN" b="1" dirty="0">
                <a:latin typeface="宋体" panose="02010600030101010101" pitchFamily="2" charset="-122"/>
              </a:rPr>
              <a:t>MMR）</a:t>
            </a:r>
            <a:r>
              <a:rPr lang="en-US" altLang="zh-CN" dirty="0"/>
              <a:t> </a:t>
            </a:r>
            <a:endParaRPr lang="zh-CN" altLang="en-US" b="1" dirty="0"/>
          </a:p>
        </p:txBody>
      </p:sp>
      <p:sp>
        <p:nvSpPr>
          <p:cNvPr id="2060" name="Text Box 143">
            <a:hlinkClick r:id="rId8" action="ppaction://hlinksldjump"/>
          </p:cNvPr>
          <p:cNvSpPr txBox="1">
            <a:spLocks noChangeArrowheads="1"/>
          </p:cNvSpPr>
          <p:nvPr/>
        </p:nvSpPr>
        <p:spPr bwMode="auto">
          <a:xfrm>
            <a:off x="1065053" y="4288149"/>
            <a:ext cx="6579608"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4.3.5 </a:t>
            </a:r>
            <a:r>
              <a:rPr lang="zh-CN" altLang="en-US" b="1" dirty="0">
                <a:latin typeface="宋体" panose="02010600030101010101" pitchFamily="2" charset="-122"/>
              </a:rPr>
              <a:t>最小实体要求（</a:t>
            </a:r>
            <a:r>
              <a:rPr lang="en-US" altLang="zh-CN" b="1" dirty="0">
                <a:latin typeface="宋体" panose="02010600030101010101" pitchFamily="2" charset="-122"/>
              </a:rPr>
              <a:t>LMR）</a:t>
            </a:r>
            <a:r>
              <a:rPr lang="en-US" altLang="zh-CN" dirty="0"/>
              <a:t> </a:t>
            </a:r>
            <a:endParaRPr lang="zh-CN" altLang="en-US" b="1" dirty="0"/>
          </a:p>
        </p:txBody>
      </p:sp>
      <p:cxnSp>
        <p:nvCxnSpPr>
          <p:cNvPr id="9" name="直接连接符 8"/>
          <p:cNvCxnSpPr/>
          <p:nvPr/>
        </p:nvCxnSpPr>
        <p:spPr bwMode="auto">
          <a:xfrm flipV="1">
            <a:off x="205007" y="1352721"/>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left)">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wipe(left)">
                                      <p:cBhvr>
                                        <p:cTn id="12" dur="500"/>
                                        <p:tgtEl>
                                          <p:spTgt spid="2052"/>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053"/>
                                        </p:tgtEl>
                                        <p:attrNameLst>
                                          <p:attrName>style.visibility</p:attrName>
                                        </p:attrNameLst>
                                      </p:cBhvr>
                                      <p:to>
                                        <p:strVal val="visible"/>
                                      </p:to>
                                    </p:set>
                                    <p:animEffect transition="in" filter="wipe(left)">
                                      <p:cBhvr>
                                        <p:cTn id="15" dur="500"/>
                                        <p:tgtEl>
                                          <p:spTgt spid="2053"/>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054"/>
                                        </p:tgtEl>
                                        <p:attrNameLst>
                                          <p:attrName>style.visibility</p:attrName>
                                        </p:attrNameLst>
                                      </p:cBhvr>
                                      <p:to>
                                        <p:strVal val="visible"/>
                                      </p:to>
                                    </p:set>
                                    <p:animEffect transition="in" filter="wipe(left)">
                                      <p:cBhvr>
                                        <p:cTn id="18" dur="500"/>
                                        <p:tgtEl>
                                          <p:spTgt spid="205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055"/>
                                        </p:tgtEl>
                                        <p:attrNameLst>
                                          <p:attrName>style.visibility</p:attrName>
                                        </p:attrNameLst>
                                      </p:cBhvr>
                                      <p:to>
                                        <p:strVal val="visible"/>
                                      </p:to>
                                    </p:set>
                                    <p:animEffect transition="in" filter="wipe(left)">
                                      <p:cBhvr>
                                        <p:cTn id="21" dur="500"/>
                                        <p:tgtEl>
                                          <p:spTgt spid="2055"/>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056"/>
                                        </p:tgtEl>
                                        <p:attrNameLst>
                                          <p:attrName>style.visibility</p:attrName>
                                        </p:attrNameLst>
                                      </p:cBhvr>
                                      <p:to>
                                        <p:strVal val="visible"/>
                                      </p:to>
                                    </p:set>
                                    <p:animEffect transition="in" filter="wipe(left)">
                                      <p:cBhvr>
                                        <p:cTn id="24" dur="500"/>
                                        <p:tgtEl>
                                          <p:spTgt spid="2056"/>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060"/>
                                        </p:tgtEl>
                                        <p:attrNameLst>
                                          <p:attrName>style.visibility</p:attrName>
                                        </p:attrNameLst>
                                      </p:cBhvr>
                                      <p:to>
                                        <p:strVal val="visible"/>
                                      </p:to>
                                    </p:set>
                                    <p:animEffect transition="in" filter="wipe(left)">
                                      <p:cBhvr>
                                        <p:cTn id="27" dur="5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bldLvl="0" animBg="1"/>
      <p:bldP spid="2052" grpId="0" bldLvl="0" animBg="1"/>
      <p:bldP spid="2053" grpId="0" bldLvl="0" animBg="1"/>
      <p:bldP spid="2054" grpId="0" bldLvl="0" animBg="1"/>
      <p:bldP spid="2055" grpId="0" bldLvl="0" animBg="1"/>
      <p:bldP spid="2056" grpId="0" bldLvl="0" animBg="1"/>
      <p:bldP spid="2060"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Text Box 4"/>
          <p:cNvSpPr txBox="1">
            <a:spLocks noChangeArrowheads="1"/>
          </p:cNvSpPr>
          <p:nvPr/>
        </p:nvSpPr>
        <p:spPr bwMode="auto">
          <a:xfrm>
            <a:off x="437743" y="336422"/>
            <a:ext cx="61849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宋体" panose="02010600030101010101" pitchFamily="2" charset="-122"/>
              </a:rPr>
              <a:t>4.3 公差</a:t>
            </a:r>
            <a:r>
              <a:rPr lang="zh-CN" altLang="en-US" b="1" dirty="0" smtClean="0">
                <a:latin typeface="宋体" panose="02010600030101010101" pitchFamily="2" charset="-122"/>
              </a:rPr>
              <a:t>原则和相关公差</a:t>
            </a:r>
            <a:r>
              <a:rPr lang="zh-CN" altLang="en-US" b="1" dirty="0">
                <a:latin typeface="宋体" panose="02010600030101010101" pitchFamily="2" charset="-122"/>
              </a:rPr>
              <a:t>要求 </a:t>
            </a:r>
          </a:p>
        </p:txBody>
      </p:sp>
      <p:sp>
        <p:nvSpPr>
          <p:cNvPr id="81925" name="Text Box 5"/>
          <p:cNvSpPr txBox="1">
            <a:spLocks noChangeArrowheads="1"/>
          </p:cNvSpPr>
          <p:nvPr/>
        </p:nvSpPr>
        <p:spPr bwMode="auto">
          <a:xfrm>
            <a:off x="417369" y="1237199"/>
            <a:ext cx="235917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   </a:t>
            </a:r>
            <a:r>
              <a:rPr lang="zh-CN" altLang="en-US" b="1" dirty="0"/>
              <a:t>公差原则 </a:t>
            </a:r>
            <a:r>
              <a:rPr lang="zh-CN" altLang="en-US" b="1" dirty="0">
                <a:cs typeface="Times New Roman" panose="02020603050405020304" pitchFamily="18" charset="0"/>
              </a:rPr>
              <a:t>—</a:t>
            </a:r>
          </a:p>
        </p:txBody>
      </p:sp>
      <p:sp>
        <p:nvSpPr>
          <p:cNvPr id="81926" name="Text Box 6"/>
          <p:cNvSpPr txBox="1">
            <a:spLocks noChangeArrowheads="1"/>
          </p:cNvSpPr>
          <p:nvPr/>
        </p:nvSpPr>
        <p:spPr bwMode="auto">
          <a:xfrm>
            <a:off x="933206" y="1698749"/>
            <a:ext cx="2929497" cy="1052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b="1" dirty="0" smtClean="0"/>
              <a:t>处理 </a:t>
            </a:r>
            <a:r>
              <a:rPr lang="en-US" altLang="zh-CN" b="1" i="1" dirty="0">
                <a:solidFill>
                  <a:srgbClr val="FF3300"/>
                </a:solidFill>
              </a:rPr>
              <a:t>t</a:t>
            </a:r>
            <a:r>
              <a:rPr lang="zh-CN" altLang="en-US" b="1" baseline="-30000" dirty="0">
                <a:solidFill>
                  <a:srgbClr val="FF3300"/>
                </a:solidFill>
              </a:rPr>
              <a:t>几何</a:t>
            </a:r>
            <a:r>
              <a:rPr lang="zh-CN" altLang="en-US" b="1" dirty="0"/>
              <a:t>和 </a:t>
            </a:r>
            <a:r>
              <a:rPr lang="en-US" altLang="zh-CN" b="1" i="1" dirty="0">
                <a:solidFill>
                  <a:srgbClr val="FF3300"/>
                </a:solidFill>
              </a:rPr>
              <a:t>T</a:t>
            </a:r>
            <a:r>
              <a:rPr lang="zh-CN" altLang="en-US" b="1" baseline="-30000" dirty="0">
                <a:solidFill>
                  <a:srgbClr val="FF3300"/>
                </a:solidFill>
              </a:rPr>
              <a:t>尺</a:t>
            </a:r>
            <a:r>
              <a:rPr lang="zh-CN" altLang="en-US" b="1" dirty="0"/>
              <a:t>之间</a:t>
            </a:r>
            <a:r>
              <a:rPr lang="zh-CN" altLang="en-US" b="1" dirty="0" smtClean="0"/>
              <a:t>关系</a:t>
            </a:r>
            <a:r>
              <a:rPr lang="zh-CN" altLang="en-US" b="1" dirty="0"/>
              <a:t>应遵循的原则。</a:t>
            </a:r>
          </a:p>
        </p:txBody>
      </p:sp>
      <p:sp>
        <p:nvSpPr>
          <p:cNvPr id="3082" name="Rectangle 13"/>
          <p:cNvSpPr>
            <a:spLocks noChangeArrowheads="1"/>
          </p:cNvSpPr>
          <p:nvPr/>
        </p:nvSpPr>
        <p:spPr bwMode="auto">
          <a:xfrm>
            <a:off x="5134296" y="4141929"/>
            <a:ext cx="434975" cy="988219"/>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nvGrpSpPr>
          <p:cNvPr id="12" name="组合 11"/>
          <p:cNvGrpSpPr/>
          <p:nvPr/>
        </p:nvGrpSpPr>
        <p:grpSpPr>
          <a:xfrm>
            <a:off x="4448175" y="1363980"/>
            <a:ext cx="3488055" cy="1781810"/>
            <a:chOff x="733302" y="2087939"/>
            <a:chExt cx="3757736" cy="2348444"/>
          </a:xfrm>
        </p:grpSpPr>
        <p:pic>
          <p:nvPicPr>
            <p:cNvPr id="3081" name="Picture 12"/>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xmlns="" val="0"/>
                </a:ext>
              </a:extLst>
            </a:blip>
            <a:srcRect/>
            <a:stretch>
              <a:fillRect/>
            </a:stretch>
          </p:blipFill>
          <p:spPr bwMode="auto">
            <a:xfrm>
              <a:off x="733302" y="2087939"/>
              <a:ext cx="3757736" cy="23484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8" name="直接连接符 7"/>
            <p:cNvCxnSpPr/>
            <p:nvPr/>
          </p:nvCxnSpPr>
          <p:spPr bwMode="auto">
            <a:xfrm>
              <a:off x="2853485" y="2904565"/>
              <a:ext cx="163755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25" name="Group 34"/>
          <p:cNvGrpSpPr/>
          <p:nvPr/>
        </p:nvGrpSpPr>
        <p:grpSpPr bwMode="auto">
          <a:xfrm>
            <a:off x="1081522" y="3434554"/>
            <a:ext cx="2138363" cy="1425179"/>
            <a:chOff x="238" y="397"/>
            <a:chExt cx="1347" cy="1197"/>
          </a:xfrm>
        </p:grpSpPr>
        <p:sp>
          <p:nvSpPr>
            <p:cNvPr id="26" name="Text Box 4"/>
            <p:cNvSpPr txBox="1">
              <a:spLocks noChangeArrowheads="1"/>
            </p:cNvSpPr>
            <p:nvPr/>
          </p:nvSpPr>
          <p:spPr bwMode="auto">
            <a:xfrm>
              <a:off x="238" y="631"/>
              <a:ext cx="1098" cy="82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pPr>
              <a:r>
                <a:rPr lang="en-US" altLang="zh-CN" b="1" i="1" dirty="0">
                  <a:solidFill>
                    <a:srgbClr val="FF3300"/>
                  </a:solidFill>
                </a:rPr>
                <a:t>t</a:t>
              </a:r>
              <a:r>
                <a:rPr lang="zh-CN" altLang="en-US" b="1" baseline="-30000" dirty="0" smtClean="0">
                  <a:solidFill>
                    <a:srgbClr val="FF3300"/>
                  </a:solidFill>
                </a:rPr>
                <a:t>几何</a:t>
              </a:r>
              <a:r>
                <a:rPr lang="zh-CN" altLang="en-US" b="1" dirty="0" smtClean="0"/>
                <a:t>和</a:t>
              </a:r>
              <a:r>
                <a:rPr lang="en-US" altLang="zh-CN" b="1" i="1" dirty="0" smtClean="0">
                  <a:solidFill>
                    <a:srgbClr val="FF3300"/>
                  </a:solidFill>
                </a:rPr>
                <a:t>T</a:t>
              </a:r>
              <a:r>
                <a:rPr lang="zh-CN" altLang="en-US" b="1" baseline="-30000" dirty="0" smtClean="0">
                  <a:solidFill>
                    <a:srgbClr val="FF3300"/>
                  </a:solidFill>
                </a:rPr>
                <a:t>尺</a:t>
              </a:r>
              <a:r>
                <a:rPr lang="zh-CN" altLang="en-US" b="1" dirty="0" smtClean="0"/>
                <a:t>之间的关系</a:t>
              </a:r>
              <a:r>
                <a:rPr lang="zh-CN" altLang="en-US" b="1" dirty="0"/>
                <a:t>：</a:t>
              </a:r>
            </a:p>
          </p:txBody>
        </p:sp>
        <p:sp>
          <p:nvSpPr>
            <p:cNvPr id="27" name="AutoShape 5"/>
            <p:cNvSpPr/>
            <p:nvPr/>
          </p:nvSpPr>
          <p:spPr bwMode="auto">
            <a:xfrm>
              <a:off x="1381" y="397"/>
              <a:ext cx="204" cy="1197"/>
            </a:xfrm>
            <a:prstGeom prst="leftBrace">
              <a:avLst>
                <a:gd name="adj1" fmla="val 48897"/>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sp>
        <p:nvSpPr>
          <p:cNvPr id="28" name="Text Box 6"/>
          <p:cNvSpPr txBox="1">
            <a:spLocks noChangeArrowheads="1"/>
          </p:cNvSpPr>
          <p:nvPr/>
        </p:nvSpPr>
        <p:spPr bwMode="auto">
          <a:xfrm>
            <a:off x="3197873" y="3308348"/>
            <a:ext cx="3608388"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无</a:t>
            </a:r>
            <a:r>
              <a:rPr lang="zh-CN" altLang="en-US" sz="2000" dirty="0"/>
              <a:t>：</a:t>
            </a:r>
            <a:r>
              <a:rPr lang="zh-CN" altLang="en-US" sz="2000" b="1" dirty="0"/>
              <a:t>独立原则</a:t>
            </a:r>
            <a:r>
              <a:rPr lang="zh-CN" altLang="en-US" sz="2000" dirty="0"/>
              <a:t> </a:t>
            </a:r>
          </a:p>
        </p:txBody>
      </p:sp>
      <p:grpSp>
        <p:nvGrpSpPr>
          <p:cNvPr id="29" name="Group 35"/>
          <p:cNvGrpSpPr/>
          <p:nvPr/>
        </p:nvGrpSpPr>
        <p:grpSpPr bwMode="auto">
          <a:xfrm>
            <a:off x="3194033" y="4053679"/>
            <a:ext cx="1347488" cy="1435894"/>
            <a:chOff x="1651" y="917"/>
            <a:chExt cx="906" cy="1206"/>
          </a:xfrm>
        </p:grpSpPr>
        <p:sp>
          <p:nvSpPr>
            <p:cNvPr id="30" name="Text Box 7"/>
            <p:cNvSpPr txBox="1">
              <a:spLocks noChangeArrowheads="1"/>
            </p:cNvSpPr>
            <p:nvPr/>
          </p:nvSpPr>
          <p:spPr bwMode="auto">
            <a:xfrm>
              <a:off x="1651" y="1330"/>
              <a:ext cx="906" cy="3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有： </a:t>
              </a:r>
            </a:p>
          </p:txBody>
        </p:sp>
        <p:sp>
          <p:nvSpPr>
            <p:cNvPr id="31" name="AutoShape 8"/>
            <p:cNvSpPr/>
            <p:nvPr/>
          </p:nvSpPr>
          <p:spPr bwMode="auto">
            <a:xfrm>
              <a:off x="2039" y="917"/>
              <a:ext cx="261" cy="1206"/>
            </a:xfrm>
            <a:prstGeom prst="leftBrace">
              <a:avLst>
                <a:gd name="adj1" fmla="val 38506"/>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sp>
        <p:nvSpPr>
          <p:cNvPr id="32" name="Text Box 9"/>
          <p:cNvSpPr txBox="1">
            <a:spLocks noChangeArrowheads="1"/>
          </p:cNvSpPr>
          <p:nvPr/>
        </p:nvSpPr>
        <p:spPr bwMode="auto">
          <a:xfrm>
            <a:off x="4240060" y="3859607"/>
            <a:ext cx="1433153"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t>包容要求</a:t>
            </a:r>
            <a:r>
              <a:rPr lang="zh-CN" altLang="en-US" sz="2000"/>
              <a:t> </a:t>
            </a:r>
          </a:p>
        </p:txBody>
      </p:sp>
      <p:sp>
        <p:nvSpPr>
          <p:cNvPr id="33" name="Text Box 11"/>
          <p:cNvSpPr txBox="1">
            <a:spLocks noChangeArrowheads="1"/>
          </p:cNvSpPr>
          <p:nvPr/>
        </p:nvSpPr>
        <p:spPr bwMode="auto">
          <a:xfrm>
            <a:off x="4209326" y="4350304"/>
            <a:ext cx="1857178"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最大实体要求 </a:t>
            </a:r>
          </a:p>
        </p:txBody>
      </p:sp>
      <p:sp>
        <p:nvSpPr>
          <p:cNvPr id="34" name="Text Box 12"/>
          <p:cNvSpPr txBox="1">
            <a:spLocks noChangeArrowheads="1"/>
          </p:cNvSpPr>
          <p:nvPr/>
        </p:nvSpPr>
        <p:spPr bwMode="auto">
          <a:xfrm>
            <a:off x="4217008" y="4832237"/>
            <a:ext cx="1977315"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最小实体要求</a:t>
            </a:r>
            <a:r>
              <a:rPr lang="zh-CN" altLang="en-US" sz="2000" dirty="0"/>
              <a:t> </a:t>
            </a:r>
          </a:p>
        </p:txBody>
      </p:sp>
      <p:sp>
        <p:nvSpPr>
          <p:cNvPr id="35" name="Text Box 13"/>
          <p:cNvSpPr txBox="1">
            <a:spLocks noChangeArrowheads="1"/>
          </p:cNvSpPr>
          <p:nvPr/>
        </p:nvSpPr>
        <p:spPr bwMode="auto">
          <a:xfrm>
            <a:off x="4209582" y="5311534"/>
            <a:ext cx="1501978"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可逆要求</a:t>
            </a:r>
            <a:r>
              <a:rPr lang="zh-CN" altLang="en-US" sz="2000" dirty="0"/>
              <a:t> </a:t>
            </a:r>
          </a:p>
        </p:txBody>
      </p:sp>
      <p:grpSp>
        <p:nvGrpSpPr>
          <p:cNvPr id="36" name="Group 31"/>
          <p:cNvGrpSpPr/>
          <p:nvPr/>
        </p:nvGrpSpPr>
        <p:grpSpPr bwMode="auto">
          <a:xfrm>
            <a:off x="6608381" y="4320072"/>
            <a:ext cx="360000" cy="360000"/>
            <a:chOff x="4004" y="1149"/>
            <a:chExt cx="390" cy="384"/>
          </a:xfrm>
        </p:grpSpPr>
        <p:sp>
          <p:nvSpPr>
            <p:cNvPr id="37" name="Oval 15"/>
            <p:cNvSpPr>
              <a:spLocks noChangeArrowheads="1"/>
            </p:cNvSpPr>
            <p:nvPr/>
          </p:nvSpPr>
          <p:spPr bwMode="auto">
            <a:xfrm>
              <a:off x="4004" y="1149"/>
              <a:ext cx="390" cy="384"/>
            </a:xfrm>
            <a:prstGeom prst="ellipse">
              <a:avLst/>
            </a:prstGeom>
            <a:solidFill>
              <a:srgbClr val="FFFFFF"/>
            </a:solidFill>
            <a:ln w="19050">
              <a:solidFill>
                <a:srgbClr val="000000"/>
              </a:solidFill>
              <a:rou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p>
              <a:endParaRPr lang="zh-CN" altLang="en-US" sz="2000"/>
            </a:p>
          </p:txBody>
        </p:sp>
        <p:sp>
          <p:nvSpPr>
            <p:cNvPr id="38" name="WordArt 16"/>
            <p:cNvSpPr>
              <a:spLocks noChangeArrowheads="1" noChangeShapeType="1" noTextEdit="1"/>
            </p:cNvSpPr>
            <p:nvPr/>
          </p:nvSpPr>
          <p:spPr bwMode="auto">
            <a:xfrm>
              <a:off x="4080" y="1230"/>
              <a:ext cx="234" cy="230"/>
            </a:xfrm>
            <a:prstGeom prst="rect">
              <a:avLst/>
            </a:prstGeom>
          </p:spPr>
          <p:txBody>
            <a:bodyPr wrap="none" fromWordArt="1">
              <a:prstTxWarp prst="textPlain">
                <a:avLst>
                  <a:gd name="adj" fmla="val 50000"/>
                </a:avLst>
              </a:prstTxWarp>
            </a:bodyPr>
            <a:lstStyle/>
            <a:p>
              <a:pPr algn="ctr"/>
              <a:r>
                <a:rPr lang="en-US" altLang="zh-CN" sz="2000" kern="10" dirty="0">
                  <a:ln w="9525">
                    <a:solidFill>
                      <a:srgbClr val="000000"/>
                    </a:solidFill>
                    <a:round/>
                  </a:ln>
                  <a:solidFill>
                    <a:srgbClr val="000000"/>
                  </a:solidFill>
                  <a:latin typeface="宋体" panose="02010600030101010101" pitchFamily="2" charset="-122"/>
                  <a:ea typeface="宋体" panose="02010600030101010101" pitchFamily="2" charset="-122"/>
                </a:rPr>
                <a:t>M</a:t>
              </a:r>
              <a:endParaRPr lang="zh-CN" altLang="en-US" sz="2000" kern="10" dirty="0">
                <a:ln w="9525">
                  <a:solidFill>
                    <a:srgbClr val="000000"/>
                  </a:solidFill>
                  <a:round/>
                </a:ln>
                <a:solidFill>
                  <a:srgbClr val="000000"/>
                </a:solidFill>
                <a:latin typeface="宋体" panose="02010600030101010101" pitchFamily="2" charset="-122"/>
                <a:ea typeface="宋体" panose="02010600030101010101" pitchFamily="2" charset="-122"/>
              </a:endParaRPr>
            </a:p>
          </p:txBody>
        </p:sp>
      </p:grpSp>
      <p:grpSp>
        <p:nvGrpSpPr>
          <p:cNvPr id="39" name="Group 29"/>
          <p:cNvGrpSpPr/>
          <p:nvPr/>
        </p:nvGrpSpPr>
        <p:grpSpPr bwMode="auto">
          <a:xfrm>
            <a:off x="6109608" y="3832457"/>
            <a:ext cx="359720" cy="360077"/>
            <a:chOff x="3748" y="647"/>
            <a:chExt cx="329" cy="352"/>
          </a:xfrm>
        </p:grpSpPr>
        <p:sp>
          <p:nvSpPr>
            <p:cNvPr id="40" name="Oval 18"/>
            <p:cNvSpPr>
              <a:spLocks noChangeArrowheads="1"/>
            </p:cNvSpPr>
            <p:nvPr/>
          </p:nvSpPr>
          <p:spPr bwMode="auto">
            <a:xfrm>
              <a:off x="3748" y="647"/>
              <a:ext cx="329" cy="352"/>
            </a:xfrm>
            <a:prstGeom prst="ellipse">
              <a:avLst/>
            </a:prstGeom>
            <a:solidFill>
              <a:srgbClr val="FFFFFF"/>
            </a:solidFill>
            <a:ln w="19050">
              <a:solidFill>
                <a:srgbClr val="000000"/>
              </a:solidFill>
              <a:rou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p>
              <a:endParaRPr lang="zh-CN" altLang="en-US" sz="2000"/>
            </a:p>
          </p:txBody>
        </p:sp>
        <p:sp>
          <p:nvSpPr>
            <p:cNvPr id="41" name="WordArt 19"/>
            <p:cNvSpPr>
              <a:spLocks noChangeArrowheads="1" noChangeShapeType="1" noTextEdit="1"/>
            </p:cNvSpPr>
            <p:nvPr/>
          </p:nvSpPr>
          <p:spPr bwMode="auto">
            <a:xfrm>
              <a:off x="3813" y="709"/>
              <a:ext cx="198" cy="211"/>
            </a:xfrm>
            <a:prstGeom prst="rect">
              <a:avLst/>
            </a:prstGeom>
          </p:spPr>
          <p:txBody>
            <a:bodyPr wrap="none" fromWordArt="1">
              <a:prstTxWarp prst="textPlain">
                <a:avLst>
                  <a:gd name="adj" fmla="val 50000"/>
                </a:avLst>
              </a:prstTxWarp>
            </a:bodyPr>
            <a:lstStyle/>
            <a:p>
              <a:pPr algn="ctr"/>
              <a:r>
                <a:rPr lang="en-US" altLang="zh-CN" sz="2000" kern="10" dirty="0">
                  <a:ln w="9525">
                    <a:solidFill>
                      <a:srgbClr val="000000"/>
                    </a:solidFill>
                    <a:round/>
                  </a:ln>
                  <a:solidFill>
                    <a:srgbClr val="000000"/>
                  </a:solidFill>
                  <a:latin typeface="宋体" panose="02010600030101010101" pitchFamily="2" charset="-122"/>
                  <a:ea typeface="宋体" panose="02010600030101010101" pitchFamily="2" charset="-122"/>
                </a:rPr>
                <a:t>E</a:t>
              </a:r>
              <a:endParaRPr lang="zh-CN" altLang="en-US" sz="2000" kern="10" dirty="0">
                <a:ln w="9525">
                  <a:solidFill>
                    <a:srgbClr val="000000"/>
                  </a:solidFill>
                  <a:round/>
                </a:ln>
                <a:solidFill>
                  <a:srgbClr val="000000"/>
                </a:solidFill>
                <a:latin typeface="宋体" panose="02010600030101010101" pitchFamily="2" charset="-122"/>
                <a:ea typeface="宋体" panose="02010600030101010101" pitchFamily="2" charset="-122"/>
              </a:endParaRPr>
            </a:p>
          </p:txBody>
        </p:sp>
      </p:grpSp>
      <p:grpSp>
        <p:nvGrpSpPr>
          <p:cNvPr id="42" name="Group 33"/>
          <p:cNvGrpSpPr/>
          <p:nvPr/>
        </p:nvGrpSpPr>
        <p:grpSpPr bwMode="auto">
          <a:xfrm>
            <a:off x="6601894" y="4812065"/>
            <a:ext cx="360000" cy="360000"/>
            <a:chOff x="3837" y="1544"/>
            <a:chExt cx="379" cy="384"/>
          </a:xfrm>
        </p:grpSpPr>
        <p:sp>
          <p:nvSpPr>
            <p:cNvPr id="43" name="Oval 21"/>
            <p:cNvSpPr>
              <a:spLocks noChangeArrowheads="1"/>
            </p:cNvSpPr>
            <p:nvPr/>
          </p:nvSpPr>
          <p:spPr bwMode="auto">
            <a:xfrm>
              <a:off x="3837" y="1544"/>
              <a:ext cx="379" cy="384"/>
            </a:xfrm>
            <a:prstGeom prst="ellipse">
              <a:avLst/>
            </a:prstGeom>
            <a:solidFill>
              <a:srgbClr val="FFFFFF"/>
            </a:solidFill>
            <a:ln w="19050">
              <a:solidFill>
                <a:srgbClr val="000000"/>
              </a:solidFill>
              <a:rou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p>
              <a:endParaRPr lang="zh-CN" altLang="en-US" sz="2000"/>
            </a:p>
          </p:txBody>
        </p:sp>
        <p:sp>
          <p:nvSpPr>
            <p:cNvPr id="44" name="WordArt 22"/>
            <p:cNvSpPr>
              <a:spLocks noChangeArrowheads="1" noChangeShapeType="1" noTextEdit="1"/>
            </p:cNvSpPr>
            <p:nvPr/>
          </p:nvSpPr>
          <p:spPr bwMode="auto">
            <a:xfrm>
              <a:off x="3925" y="1630"/>
              <a:ext cx="227" cy="230"/>
            </a:xfrm>
            <a:prstGeom prst="rect">
              <a:avLst/>
            </a:prstGeom>
          </p:spPr>
          <p:txBody>
            <a:bodyPr wrap="none" fromWordArt="1">
              <a:prstTxWarp prst="textPlain">
                <a:avLst>
                  <a:gd name="adj" fmla="val 50000"/>
                </a:avLst>
              </a:prstTxWarp>
            </a:bodyPr>
            <a:lstStyle/>
            <a:p>
              <a:pPr algn="ctr"/>
              <a:r>
                <a:rPr lang="en-US" altLang="zh-CN" sz="2000" kern="10" dirty="0">
                  <a:ln w="9525">
                    <a:solidFill>
                      <a:srgbClr val="000000"/>
                    </a:solidFill>
                    <a:round/>
                  </a:ln>
                  <a:solidFill>
                    <a:srgbClr val="000000"/>
                  </a:solidFill>
                  <a:latin typeface="宋体" panose="02010600030101010101" pitchFamily="2" charset="-122"/>
                  <a:ea typeface="宋体" panose="02010600030101010101" pitchFamily="2" charset="-122"/>
                </a:rPr>
                <a:t>L</a:t>
              </a:r>
              <a:endParaRPr lang="zh-CN" altLang="en-US" sz="2000" kern="10" dirty="0">
                <a:ln w="9525">
                  <a:solidFill>
                    <a:srgbClr val="000000"/>
                  </a:solidFill>
                  <a:round/>
                </a:ln>
                <a:solidFill>
                  <a:srgbClr val="000000"/>
                </a:solidFill>
                <a:latin typeface="宋体" panose="02010600030101010101" pitchFamily="2" charset="-122"/>
                <a:ea typeface="宋体" panose="02010600030101010101" pitchFamily="2" charset="-122"/>
              </a:endParaRPr>
            </a:p>
          </p:txBody>
        </p:sp>
      </p:grpSp>
      <p:grpSp>
        <p:nvGrpSpPr>
          <p:cNvPr id="45" name="Group 32"/>
          <p:cNvGrpSpPr/>
          <p:nvPr/>
        </p:nvGrpSpPr>
        <p:grpSpPr bwMode="auto">
          <a:xfrm>
            <a:off x="6168573" y="5347891"/>
            <a:ext cx="360000" cy="360000"/>
            <a:chOff x="3589" y="2004"/>
            <a:chExt cx="357" cy="376"/>
          </a:xfrm>
        </p:grpSpPr>
        <p:sp>
          <p:nvSpPr>
            <p:cNvPr id="46" name="Oval 24"/>
            <p:cNvSpPr>
              <a:spLocks noChangeArrowheads="1"/>
            </p:cNvSpPr>
            <p:nvPr/>
          </p:nvSpPr>
          <p:spPr bwMode="auto">
            <a:xfrm>
              <a:off x="3589" y="2004"/>
              <a:ext cx="357" cy="376"/>
            </a:xfrm>
            <a:prstGeom prst="ellipse">
              <a:avLst/>
            </a:prstGeom>
            <a:solidFill>
              <a:srgbClr val="FFFFFF"/>
            </a:solidFill>
            <a:ln w="19050">
              <a:solidFill>
                <a:srgbClr val="000000"/>
              </a:solidFill>
              <a:rou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p>
              <a:endParaRPr lang="zh-CN" altLang="en-US" sz="2000"/>
            </a:p>
          </p:txBody>
        </p:sp>
        <p:sp>
          <p:nvSpPr>
            <p:cNvPr id="47" name="WordArt 25"/>
            <p:cNvSpPr>
              <a:spLocks noChangeArrowheads="1" noChangeShapeType="1" noTextEdit="1"/>
            </p:cNvSpPr>
            <p:nvPr/>
          </p:nvSpPr>
          <p:spPr bwMode="auto">
            <a:xfrm>
              <a:off x="3651" y="2083"/>
              <a:ext cx="214" cy="226"/>
            </a:xfrm>
            <a:prstGeom prst="rect">
              <a:avLst/>
            </a:prstGeom>
          </p:spPr>
          <p:txBody>
            <a:bodyPr wrap="none" fromWordArt="1">
              <a:prstTxWarp prst="textPlain">
                <a:avLst>
                  <a:gd name="adj" fmla="val 50000"/>
                </a:avLst>
              </a:prstTxWarp>
            </a:bodyPr>
            <a:lstStyle/>
            <a:p>
              <a:pPr algn="ctr"/>
              <a:r>
                <a:rPr lang="en-US" altLang="zh-CN" sz="2000" kern="10" dirty="0">
                  <a:ln w="9525">
                    <a:solidFill>
                      <a:srgbClr val="000000"/>
                    </a:solidFill>
                    <a:round/>
                  </a:ln>
                  <a:solidFill>
                    <a:srgbClr val="000000"/>
                  </a:solidFill>
                  <a:latin typeface="宋体" panose="02010600030101010101" pitchFamily="2" charset="-122"/>
                  <a:ea typeface="宋体" panose="02010600030101010101" pitchFamily="2" charset="-122"/>
                </a:rPr>
                <a:t>R</a:t>
              </a:r>
              <a:endParaRPr lang="zh-CN" altLang="en-US" sz="2000" kern="10" dirty="0">
                <a:ln w="9525">
                  <a:solidFill>
                    <a:srgbClr val="000000"/>
                  </a:solidFill>
                  <a:round/>
                </a:ln>
                <a:solidFill>
                  <a:srgbClr val="000000"/>
                </a:solidFill>
                <a:latin typeface="宋体" panose="02010600030101010101" pitchFamily="2" charset="-122"/>
                <a:ea typeface="宋体" panose="02010600030101010101" pitchFamily="2" charset="-122"/>
              </a:endParaRPr>
            </a:p>
          </p:txBody>
        </p:sp>
      </p:grpSp>
      <p:cxnSp>
        <p:nvCxnSpPr>
          <p:cNvPr id="49" name="直接连接符 48"/>
          <p:cNvCxnSpPr/>
          <p:nvPr/>
        </p:nvCxnSpPr>
        <p:spPr bwMode="auto">
          <a:xfrm flipV="1">
            <a:off x="194249" y="965446"/>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1924">
                                            <p:txEl>
                                              <p:pRg st="0" end="0"/>
                                            </p:txEl>
                                          </p:spTgt>
                                        </p:tgtEl>
                                        <p:attrNameLst>
                                          <p:attrName>style.visibility</p:attrName>
                                        </p:attrNameLst>
                                      </p:cBhvr>
                                      <p:to>
                                        <p:strVal val="visible"/>
                                      </p:to>
                                    </p:set>
                                    <p:animEffect transition="in" filter="wipe(left)">
                                      <p:cBhvr>
                                        <p:cTn id="7" dur="300"/>
                                        <p:tgtEl>
                                          <p:spTgt spid="819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81925"/>
                                        </p:tgtEl>
                                        <p:attrNameLst>
                                          <p:attrName>style.visibility</p:attrName>
                                        </p:attrNameLst>
                                      </p:cBhvr>
                                      <p:to>
                                        <p:strVal val="visible"/>
                                      </p:to>
                                    </p:set>
                                    <p:animEffect transition="in" filter="wipe(left)">
                                      <p:cBhvr>
                                        <p:cTn id="12" dur="300"/>
                                        <p:tgtEl>
                                          <p:spTgt spid="8192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1+#ppt_w/2"/>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81926"/>
                                        </p:tgtEl>
                                        <p:attrNameLst>
                                          <p:attrName>style.visibility</p:attrName>
                                        </p:attrNameLst>
                                      </p:cBhvr>
                                      <p:to>
                                        <p:strVal val="visible"/>
                                      </p:to>
                                    </p:set>
                                    <p:animEffect transition="in" filter="wipe(left)">
                                      <p:cBhvr>
                                        <p:cTn id="23" dur="300"/>
                                        <p:tgtEl>
                                          <p:spTgt spid="81926"/>
                                        </p:tgtEl>
                                      </p:cBhvr>
                                    </p:animEffect>
                                  </p:childTnLst>
                                </p:cTn>
                              </p:par>
                            </p:childTnLst>
                          </p:cTn>
                        </p:par>
                        <p:par>
                          <p:cTn id="24" fill="hold">
                            <p:stCondLst>
                              <p:cond delay="6300"/>
                            </p:stCondLst>
                            <p:childTnLst>
                              <p:par>
                                <p:cTn id="25" presetID="22" presetClass="entr" presetSubtype="8" fill="hold"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20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28"/>
                                        </p:tgtEl>
                                        <p:attrNameLst>
                                          <p:attrName>style.visibility</p:attrName>
                                        </p:attrNameLst>
                                      </p:cBhvr>
                                      <p:to>
                                        <p:strVal val="visible"/>
                                      </p:to>
                                    </p:set>
                                    <p:animEffect transition="in" filter="wipe(left)">
                                      <p:cBhvr>
                                        <p:cTn id="32" dur="3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20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32"/>
                                        </p:tgtEl>
                                        <p:attrNameLst>
                                          <p:attrName>style.visibility</p:attrName>
                                        </p:attrNameLst>
                                      </p:cBhvr>
                                      <p:to>
                                        <p:strVal val="visible"/>
                                      </p:to>
                                    </p:set>
                                    <p:animEffect transition="in" filter="wipe(left)">
                                      <p:cBhvr>
                                        <p:cTn id="42" dur="3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barn(outHorizontal)">
                                      <p:cBhvr>
                                        <p:cTn id="47" dur="5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33"/>
                                        </p:tgtEl>
                                        <p:attrNameLst>
                                          <p:attrName>style.visibility</p:attrName>
                                        </p:attrNameLst>
                                      </p:cBhvr>
                                      <p:to>
                                        <p:strVal val="visible"/>
                                      </p:to>
                                    </p:set>
                                    <p:animEffect transition="in" filter="wipe(left)">
                                      <p:cBhvr>
                                        <p:cTn id="52" dur="300"/>
                                        <p:tgtEl>
                                          <p:spTgt spid="33"/>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42" fill="hold"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barn(outHorizontal)">
                                      <p:cBhvr>
                                        <p:cTn id="57" dur="500"/>
                                        <p:tgtEl>
                                          <p:spTgt spid="3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wd">
                                    <p:tmPct val="100000"/>
                                  </p:iterate>
                                  <p:childTnLst>
                                    <p:set>
                                      <p:cBhvr>
                                        <p:cTn id="61" dur="1" fill="hold">
                                          <p:stCondLst>
                                            <p:cond delay="0"/>
                                          </p:stCondLst>
                                        </p:cTn>
                                        <p:tgtEl>
                                          <p:spTgt spid="34"/>
                                        </p:tgtEl>
                                        <p:attrNameLst>
                                          <p:attrName>style.visibility</p:attrName>
                                        </p:attrNameLst>
                                      </p:cBhvr>
                                      <p:to>
                                        <p:strVal val="visible"/>
                                      </p:to>
                                    </p:set>
                                    <p:animEffect transition="in" filter="wipe(left)">
                                      <p:cBhvr>
                                        <p:cTn id="62" dur="300"/>
                                        <p:tgtEl>
                                          <p:spTgt spid="34"/>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42" fill="hold" nodeType="click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barn(outHorizontal)">
                                      <p:cBhvr>
                                        <p:cTn id="67" dur="500"/>
                                        <p:tgtEl>
                                          <p:spTgt spid="4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iterate type="wd">
                                    <p:tmPct val="100000"/>
                                  </p:iterate>
                                  <p:childTnLst>
                                    <p:set>
                                      <p:cBhvr>
                                        <p:cTn id="71" dur="1" fill="hold">
                                          <p:stCondLst>
                                            <p:cond delay="0"/>
                                          </p:stCondLst>
                                        </p:cTn>
                                        <p:tgtEl>
                                          <p:spTgt spid="35"/>
                                        </p:tgtEl>
                                        <p:attrNameLst>
                                          <p:attrName>style.visibility</p:attrName>
                                        </p:attrNameLst>
                                      </p:cBhvr>
                                      <p:to>
                                        <p:strVal val="visible"/>
                                      </p:to>
                                    </p:set>
                                    <p:animEffect transition="in" filter="wipe(left)">
                                      <p:cBhvr>
                                        <p:cTn id="72" dur="300"/>
                                        <p:tgtEl>
                                          <p:spTgt spid="35"/>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42" fill="hold" nodeType="click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barn(outHorizontal)">
                                      <p:cBhvr>
                                        <p:cTn id="7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build="p" autoUpdateAnimBg="0"/>
      <p:bldP spid="81925" grpId="0" bldLvl="0" animBg="1" autoUpdateAnimBg="0"/>
      <p:bldP spid="81926" grpId="0" bldLvl="0" animBg="1" autoUpdateAnimBg="0"/>
      <p:bldP spid="28" grpId="0" bldLvl="0" animBg="1" autoUpdateAnimBg="0"/>
      <p:bldP spid="32" grpId="0" bldLvl="0" animBg="1" autoUpdateAnimBg="0"/>
      <p:bldP spid="33" grpId="0" bldLvl="0" animBg="1" autoUpdateAnimBg="0"/>
      <p:bldP spid="34" grpId="0" bldLvl="0" animBg="1" autoUpdateAnimBg="0"/>
      <p:bldP spid="35" grpId="0" bldLvl="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Text Box 4"/>
          <p:cNvSpPr txBox="1">
            <a:spLocks noChangeArrowheads="1"/>
          </p:cNvSpPr>
          <p:nvPr/>
        </p:nvSpPr>
        <p:spPr bwMode="auto">
          <a:xfrm>
            <a:off x="377248" y="381388"/>
            <a:ext cx="751205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4.3.1 </a:t>
            </a:r>
            <a:r>
              <a:rPr lang="zh-CN" altLang="en-US" b="1" dirty="0">
                <a:latin typeface="宋体" panose="02010600030101010101" pitchFamily="2" charset="-122"/>
              </a:rPr>
              <a:t>有关公差原则的一些术语和定义 </a:t>
            </a:r>
          </a:p>
        </p:txBody>
      </p:sp>
      <p:sp>
        <p:nvSpPr>
          <p:cNvPr id="82949" name="Text Box 5"/>
          <p:cNvSpPr txBox="1">
            <a:spLocks noChangeArrowheads="1"/>
          </p:cNvSpPr>
          <p:nvPr/>
        </p:nvSpPr>
        <p:spPr bwMode="auto">
          <a:xfrm>
            <a:off x="463550" y="1059868"/>
            <a:ext cx="42360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  </a:t>
            </a:r>
            <a:r>
              <a:rPr lang="en-US" altLang="zh-CN" b="1" dirty="0"/>
              <a:t>1.  </a:t>
            </a:r>
            <a:r>
              <a:rPr lang="zh-CN" altLang="en-US" b="1" dirty="0">
                <a:latin typeface="宋体" panose="02010600030101010101" pitchFamily="2" charset="-122"/>
              </a:rPr>
              <a:t>体外作用尺寸</a:t>
            </a:r>
            <a:r>
              <a:rPr lang="zh-CN" altLang="en-US" b="1" dirty="0"/>
              <a:t>（</a:t>
            </a:r>
            <a:r>
              <a:rPr lang="en-US" altLang="zh-CN" b="1" dirty="0" smtClean="0"/>
              <a:t>EFS）</a:t>
            </a:r>
            <a:endParaRPr lang="en-US" altLang="zh-CN" b="1" dirty="0"/>
          </a:p>
        </p:txBody>
      </p:sp>
      <p:sp>
        <p:nvSpPr>
          <p:cNvPr id="82950" name="Text Box 6"/>
          <p:cNvSpPr txBox="1">
            <a:spLocks noChangeArrowheads="1"/>
          </p:cNvSpPr>
          <p:nvPr/>
        </p:nvSpPr>
        <p:spPr bwMode="auto">
          <a:xfrm>
            <a:off x="623570" y="1391285"/>
            <a:ext cx="8067040" cy="11988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lang="en-US" altLang="zh-CN" sz="2000" b="1" dirty="0"/>
              <a:t>      </a:t>
            </a:r>
            <a:r>
              <a:rPr lang="zh-CN" altLang="en-US" sz="2000" b="1" dirty="0"/>
              <a:t>被测要素在给定长度上，与实际内表面（</a:t>
            </a:r>
            <a:r>
              <a:rPr lang="zh-CN" altLang="en-US" sz="2000" b="1" dirty="0">
                <a:solidFill>
                  <a:srgbClr val="0000FF"/>
                </a:solidFill>
              </a:rPr>
              <a:t>孔</a:t>
            </a:r>
            <a:r>
              <a:rPr lang="zh-CN" altLang="en-US" sz="2000" b="1" dirty="0"/>
              <a:t>）</a:t>
            </a:r>
            <a:r>
              <a:rPr lang="zh-CN" altLang="en-US" sz="2000" b="1" dirty="0">
                <a:solidFill>
                  <a:srgbClr val="FF3300"/>
                </a:solidFill>
              </a:rPr>
              <a:t>体外</a:t>
            </a:r>
            <a:r>
              <a:rPr lang="zh-CN" altLang="en-US" sz="2000" b="1" dirty="0"/>
              <a:t>相接的最</a:t>
            </a:r>
            <a:r>
              <a:rPr lang="zh-CN" altLang="en-US" sz="2000" b="1" dirty="0">
                <a:solidFill>
                  <a:srgbClr val="0000FF"/>
                </a:solidFill>
              </a:rPr>
              <a:t>大</a:t>
            </a:r>
            <a:r>
              <a:rPr lang="zh-CN" altLang="en-US" sz="2000" b="1" dirty="0"/>
              <a:t>理想面（最大理想轴）或与外表面（轴）的</a:t>
            </a:r>
            <a:r>
              <a:rPr lang="zh-CN" altLang="en-US" sz="2000" b="1" dirty="0">
                <a:solidFill>
                  <a:srgbClr val="FF3300"/>
                </a:solidFill>
                <a:sym typeface="+mn-ea"/>
              </a:rPr>
              <a:t>体外</a:t>
            </a:r>
            <a:r>
              <a:rPr lang="zh-CN" altLang="en-US" sz="2000" b="1" dirty="0">
                <a:sym typeface="+mn-ea"/>
              </a:rPr>
              <a:t>相接的最</a:t>
            </a:r>
            <a:r>
              <a:rPr lang="zh-CN" altLang="en-US" sz="2000" b="1" dirty="0">
                <a:solidFill>
                  <a:srgbClr val="0000FF"/>
                </a:solidFill>
                <a:sym typeface="+mn-ea"/>
              </a:rPr>
              <a:t>小</a:t>
            </a:r>
            <a:r>
              <a:rPr lang="zh-CN" altLang="en-US" sz="2000" b="1" dirty="0">
                <a:sym typeface="+mn-ea"/>
              </a:rPr>
              <a:t>理想面（最小理想孔）的</a:t>
            </a:r>
            <a:r>
              <a:rPr lang="zh-CN" altLang="en-US" sz="2000" b="1" dirty="0"/>
              <a:t>直径或宽度。 孔：</a:t>
            </a:r>
            <a:r>
              <a:rPr lang="en-US" altLang="zh-CN" sz="2000" b="1" dirty="0"/>
              <a:t>D</a:t>
            </a:r>
            <a:r>
              <a:rPr lang="en-US" altLang="zh-CN" sz="2000" b="1" baseline="-25000" dirty="0"/>
              <a:t>fe</a:t>
            </a:r>
            <a:r>
              <a:rPr lang="zh-CN" altLang="en-US" sz="2000" b="1" dirty="0"/>
              <a:t>，轴：</a:t>
            </a:r>
            <a:r>
              <a:rPr lang="en-US" altLang="zh-CN" sz="2000" b="1" dirty="0"/>
              <a:t>d</a:t>
            </a:r>
            <a:r>
              <a:rPr lang="en-US" altLang="zh-CN" sz="2000" b="1" baseline="-25000" dirty="0"/>
              <a:t>fe</a:t>
            </a:r>
          </a:p>
        </p:txBody>
      </p:sp>
      <p:graphicFrame>
        <p:nvGraphicFramePr>
          <p:cNvPr id="82984" name="Object 40"/>
          <p:cNvGraphicFramePr>
            <a:graphicFrameLocks noChangeAspect="1"/>
          </p:cNvGraphicFramePr>
          <p:nvPr/>
        </p:nvGraphicFramePr>
        <p:xfrm>
          <a:off x="1278255" y="2643505"/>
          <a:ext cx="3016250" cy="551815"/>
        </p:xfrm>
        <a:graphic>
          <a:graphicData uri="http://schemas.openxmlformats.org/presentationml/2006/ole">
            <p:oleObj spid="_x0000_s1029" name="公式" r:id="rId4" imgW="22250400" imgH="5486400" progId="">
              <p:embed/>
            </p:oleObj>
          </a:graphicData>
        </a:graphic>
      </p:graphicFrame>
      <p:grpSp>
        <p:nvGrpSpPr>
          <p:cNvPr id="83008" name="Group 64"/>
          <p:cNvGrpSpPr/>
          <p:nvPr/>
        </p:nvGrpSpPr>
        <p:grpSpPr bwMode="auto">
          <a:xfrm>
            <a:off x="1112520" y="3359150"/>
            <a:ext cx="3338195" cy="3020695"/>
            <a:chOff x="3046" y="1396"/>
            <a:chExt cx="2589" cy="2525"/>
          </a:xfrm>
        </p:grpSpPr>
        <p:pic>
          <p:nvPicPr>
            <p:cNvPr id="5130" name="Picture 2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046" y="1396"/>
              <a:ext cx="2589" cy="2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132" name="Line 28"/>
            <p:cNvSpPr>
              <a:spLocks noChangeShapeType="1"/>
            </p:cNvSpPr>
            <p:nvPr/>
          </p:nvSpPr>
          <p:spPr bwMode="auto">
            <a:xfrm>
              <a:off x="3571" y="3292"/>
              <a:ext cx="483" cy="0"/>
            </a:xfrm>
            <a:prstGeom prst="line">
              <a:avLst/>
            </a:prstGeom>
            <a:noFill/>
            <a:ln w="952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133" name="Line 30"/>
            <p:cNvSpPr>
              <a:spLocks noChangeShapeType="1"/>
            </p:cNvSpPr>
            <p:nvPr/>
          </p:nvSpPr>
          <p:spPr bwMode="auto">
            <a:xfrm>
              <a:off x="3662" y="3179"/>
              <a:ext cx="0" cy="113"/>
            </a:xfrm>
            <a:prstGeom prst="line">
              <a:avLst/>
            </a:prstGeom>
            <a:noFill/>
            <a:ln w="9525">
              <a:solidFill>
                <a:srgbClr val="D60093"/>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134" name="Line 32"/>
            <p:cNvSpPr>
              <a:spLocks noChangeShapeType="1"/>
            </p:cNvSpPr>
            <p:nvPr/>
          </p:nvSpPr>
          <p:spPr bwMode="auto">
            <a:xfrm flipH="1" flipV="1">
              <a:off x="3662" y="3374"/>
              <a:ext cx="0" cy="134"/>
            </a:xfrm>
            <a:prstGeom prst="line">
              <a:avLst/>
            </a:prstGeom>
            <a:noFill/>
            <a:ln w="9525">
              <a:solidFill>
                <a:srgbClr val="D60093"/>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135" name="Line 33"/>
            <p:cNvSpPr>
              <a:spLocks noChangeShapeType="1"/>
            </p:cNvSpPr>
            <p:nvPr/>
          </p:nvSpPr>
          <p:spPr bwMode="auto">
            <a:xfrm>
              <a:off x="4414" y="2830"/>
              <a:ext cx="0" cy="554"/>
            </a:xfrm>
            <a:prstGeom prst="line">
              <a:avLst/>
            </a:prstGeom>
            <a:noFill/>
            <a:ln w="28575">
              <a:solidFill>
                <a:srgbClr val="D60093"/>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136" name="Rectangle 34"/>
            <p:cNvSpPr>
              <a:spLocks noChangeArrowheads="1"/>
            </p:cNvSpPr>
            <p:nvPr/>
          </p:nvSpPr>
          <p:spPr bwMode="auto">
            <a:xfrm>
              <a:off x="5137" y="2870"/>
              <a:ext cx="318" cy="380"/>
            </a:xfrm>
            <a:prstGeom prst="rect">
              <a:avLst/>
            </a:prstGeom>
            <a:noFill/>
            <a:ln w="38100">
              <a:solidFill>
                <a:srgbClr val="92D05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37" name="Line 42"/>
            <p:cNvSpPr>
              <a:spLocks noChangeShapeType="1"/>
            </p:cNvSpPr>
            <p:nvPr/>
          </p:nvSpPr>
          <p:spPr bwMode="auto">
            <a:xfrm>
              <a:off x="3970" y="3302"/>
              <a:ext cx="1440" cy="0"/>
            </a:xfrm>
            <a:prstGeom prst="line">
              <a:avLst/>
            </a:prstGeom>
            <a:noFill/>
            <a:ln w="38100">
              <a:solidFill>
                <a:srgbClr val="92D05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138" name="Line 43"/>
            <p:cNvSpPr>
              <a:spLocks noChangeShapeType="1"/>
            </p:cNvSpPr>
            <p:nvPr/>
          </p:nvSpPr>
          <p:spPr bwMode="auto">
            <a:xfrm>
              <a:off x="3950" y="2828"/>
              <a:ext cx="1440" cy="0"/>
            </a:xfrm>
            <a:prstGeom prst="line">
              <a:avLst/>
            </a:prstGeom>
            <a:noFill/>
            <a:ln w="38100">
              <a:solidFill>
                <a:srgbClr val="92D05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5139" name="Group 48"/>
            <p:cNvGrpSpPr>
              <a:grpSpLocks noChangeAspect="1"/>
            </p:cNvGrpSpPr>
            <p:nvPr/>
          </p:nvGrpSpPr>
          <p:grpSpPr bwMode="auto">
            <a:xfrm rot="-5400000">
              <a:off x="4042" y="2909"/>
              <a:ext cx="343" cy="321"/>
              <a:chOff x="1234" y="3111"/>
              <a:chExt cx="343" cy="321"/>
            </a:xfrm>
          </p:grpSpPr>
          <p:sp>
            <p:nvSpPr>
              <p:cNvPr id="5144" name="AutoShape 47"/>
              <p:cNvSpPr>
                <a:spLocks noChangeAspect="1" noChangeArrowheads="1" noTextEdit="1"/>
              </p:cNvSpPr>
              <p:nvPr/>
            </p:nvSpPr>
            <p:spPr bwMode="auto">
              <a:xfrm>
                <a:off x="1234" y="3135"/>
                <a:ext cx="343" cy="291"/>
              </a:xfrm>
              <a:prstGeom prst="rect">
                <a:avLst/>
              </a:prstGeom>
              <a:solidFill>
                <a:srgbClr val="FF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5145" name="Rectangle 49"/>
              <p:cNvSpPr>
                <a:spLocks noChangeArrowheads="1"/>
              </p:cNvSpPr>
              <p:nvPr/>
            </p:nvSpPr>
            <p:spPr bwMode="auto">
              <a:xfrm>
                <a:off x="1428" y="3205"/>
                <a:ext cx="100" cy="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zh-CN" sz="1900" i="1" dirty="0">
                    <a:solidFill>
                      <a:srgbClr val="000000"/>
                    </a:solidFill>
                  </a:rPr>
                  <a:t>a</a:t>
                </a:r>
                <a:endParaRPr lang="en-US" altLang="zh-CN" dirty="0"/>
              </a:p>
            </p:txBody>
          </p:sp>
          <p:sp>
            <p:nvSpPr>
              <p:cNvPr id="5146" name="Rectangle 50"/>
              <p:cNvSpPr>
                <a:spLocks noChangeArrowheads="1"/>
              </p:cNvSpPr>
              <p:nvPr/>
            </p:nvSpPr>
            <p:spPr bwMode="auto">
              <a:xfrm>
                <a:off x="1264" y="3111"/>
                <a:ext cx="307" cy="2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zh-CN" i="1" dirty="0">
                    <a:solidFill>
                      <a:srgbClr val="000000"/>
                    </a:solidFill>
                  </a:rPr>
                  <a:t>D</a:t>
                </a:r>
                <a:endParaRPr lang="en-US" altLang="zh-CN" dirty="0"/>
              </a:p>
            </p:txBody>
          </p:sp>
        </p:grpSp>
        <p:grpSp>
          <p:nvGrpSpPr>
            <p:cNvPr id="5140" name="Group 61"/>
            <p:cNvGrpSpPr>
              <a:grpSpLocks noChangeAspect="1"/>
            </p:cNvGrpSpPr>
            <p:nvPr/>
          </p:nvGrpSpPr>
          <p:grpSpPr bwMode="auto">
            <a:xfrm rot="-5400000">
              <a:off x="3477" y="3542"/>
              <a:ext cx="326" cy="258"/>
              <a:chOff x="2018" y="3551"/>
              <a:chExt cx="326" cy="258"/>
            </a:xfrm>
          </p:grpSpPr>
          <p:sp>
            <p:nvSpPr>
              <p:cNvPr id="5141" name="AutoShape 60"/>
              <p:cNvSpPr>
                <a:spLocks noChangeAspect="1" noChangeArrowheads="1" noTextEdit="1"/>
              </p:cNvSpPr>
              <p:nvPr/>
            </p:nvSpPr>
            <p:spPr bwMode="auto">
              <a:xfrm>
                <a:off x="2018" y="3551"/>
                <a:ext cx="326" cy="258"/>
              </a:xfrm>
              <a:prstGeom prst="rect">
                <a:avLst/>
              </a:prstGeom>
              <a:solidFill>
                <a:srgbClr val="FF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5143" name="Rectangle 63"/>
              <p:cNvSpPr>
                <a:spLocks noChangeArrowheads="1"/>
              </p:cNvSpPr>
              <p:nvPr/>
            </p:nvSpPr>
            <p:spPr bwMode="auto">
              <a:xfrm>
                <a:off x="2047" y="3580"/>
                <a:ext cx="282" cy="191"/>
              </a:xfrm>
              <a:prstGeom prst="rect">
                <a:avLst/>
              </a:prstGeom>
              <a:solidFill>
                <a:srgbClr val="FF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zh-CN" sz="1600" i="1" dirty="0">
                    <a:solidFill>
                      <a:srgbClr val="000000"/>
                    </a:solidFill>
                  </a:rPr>
                  <a:t>f</a:t>
                </a:r>
                <a:r>
                  <a:rPr lang="zh-CN" altLang="en-US" sz="1600" i="1" baseline="-25000" dirty="0">
                    <a:solidFill>
                      <a:srgbClr val="000000"/>
                    </a:solidFill>
                  </a:rPr>
                  <a:t>几何</a:t>
                </a:r>
              </a:p>
            </p:txBody>
          </p:sp>
        </p:grpSp>
      </p:grpSp>
      <p:cxnSp>
        <p:nvCxnSpPr>
          <p:cNvPr id="27" name="直接连接符 26"/>
          <p:cNvCxnSpPr/>
          <p:nvPr/>
        </p:nvCxnSpPr>
        <p:spPr bwMode="auto">
          <a:xfrm flipV="1">
            <a:off x="188713" y="960345"/>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aphicFrame>
        <p:nvGraphicFramePr>
          <p:cNvPr id="83987" name="Object 19"/>
          <p:cNvGraphicFramePr>
            <a:graphicFrameLocks noChangeAspect="1"/>
          </p:cNvGraphicFramePr>
          <p:nvPr/>
        </p:nvGraphicFramePr>
        <p:xfrm>
          <a:off x="4625340" y="2654423"/>
          <a:ext cx="3016250" cy="543437"/>
        </p:xfrm>
        <a:graphic>
          <a:graphicData uri="http://schemas.openxmlformats.org/presentationml/2006/ole">
            <p:oleObj spid="_x0000_s1030" name="公式" r:id="rId6" imgW="21945600" imgH="5486400" progId="">
              <p:embed/>
            </p:oleObj>
          </a:graphicData>
        </a:graphic>
      </p:graphicFrame>
      <p:grpSp>
        <p:nvGrpSpPr>
          <p:cNvPr id="6" name="组合 5"/>
          <p:cNvGrpSpPr/>
          <p:nvPr/>
        </p:nvGrpSpPr>
        <p:grpSpPr>
          <a:xfrm>
            <a:off x="5107941" y="3374390"/>
            <a:ext cx="2686654" cy="2973144"/>
            <a:chOff x="8044" y="5314"/>
            <a:chExt cx="4345" cy="4623"/>
          </a:xfrm>
        </p:grpSpPr>
        <p:grpSp>
          <p:nvGrpSpPr>
            <p:cNvPr id="83999" name="Group 31"/>
            <p:cNvGrpSpPr/>
            <p:nvPr/>
          </p:nvGrpSpPr>
          <p:grpSpPr bwMode="auto">
            <a:xfrm>
              <a:off x="8044" y="5314"/>
              <a:ext cx="4345" cy="4623"/>
              <a:chOff x="3023" y="1262"/>
              <a:chExt cx="1835" cy="2336"/>
            </a:xfrm>
          </p:grpSpPr>
          <p:pic>
            <p:nvPicPr>
              <p:cNvPr id="6155" name="Picture 20"/>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3023" y="1262"/>
                <a:ext cx="1835" cy="23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157" name="Rectangle 23"/>
              <p:cNvSpPr>
                <a:spLocks noChangeArrowheads="1"/>
              </p:cNvSpPr>
              <p:nvPr/>
            </p:nvSpPr>
            <p:spPr bwMode="auto">
              <a:xfrm>
                <a:off x="3244" y="2607"/>
                <a:ext cx="206" cy="308"/>
              </a:xfrm>
              <a:prstGeom prst="rect">
                <a:avLst/>
              </a:prstGeom>
              <a:noFill/>
              <a:ln w="38100">
                <a:solidFill>
                  <a:srgbClr val="92D05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sp>
            <p:nvSpPr>
              <p:cNvPr id="6158" name="Line 24"/>
              <p:cNvSpPr>
                <a:spLocks noChangeShapeType="1"/>
              </p:cNvSpPr>
              <p:nvPr/>
            </p:nvSpPr>
            <p:spPr bwMode="auto">
              <a:xfrm>
                <a:off x="3959" y="2508"/>
                <a:ext cx="0" cy="430"/>
              </a:xfrm>
              <a:prstGeom prst="line">
                <a:avLst/>
              </a:prstGeom>
              <a:noFill/>
              <a:ln w="28575">
                <a:solidFill>
                  <a:srgbClr val="D60093"/>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2000"/>
              </a:p>
            </p:txBody>
          </p:sp>
          <p:sp>
            <p:nvSpPr>
              <p:cNvPr id="6159" name="Line 25"/>
              <p:cNvSpPr>
                <a:spLocks noChangeShapeType="1"/>
              </p:cNvSpPr>
              <p:nvPr/>
            </p:nvSpPr>
            <p:spPr bwMode="auto">
              <a:xfrm>
                <a:off x="3958" y="3009"/>
                <a:ext cx="0" cy="196"/>
              </a:xfrm>
              <a:prstGeom prst="line">
                <a:avLst/>
              </a:prstGeom>
              <a:noFill/>
              <a:ln w="28575">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2000"/>
              </a:p>
            </p:txBody>
          </p:sp>
          <p:sp>
            <p:nvSpPr>
              <p:cNvPr id="6160" name="Line 29"/>
              <p:cNvSpPr>
                <a:spLocks noChangeShapeType="1"/>
              </p:cNvSpPr>
              <p:nvPr/>
            </p:nvSpPr>
            <p:spPr bwMode="auto">
              <a:xfrm>
                <a:off x="3281" y="2507"/>
                <a:ext cx="1111" cy="0"/>
              </a:xfrm>
              <a:prstGeom prst="line">
                <a:avLst/>
              </a:prstGeom>
              <a:noFill/>
              <a:ln w="38100">
                <a:solidFill>
                  <a:srgbClr val="92D05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2000"/>
              </a:p>
            </p:txBody>
          </p:sp>
          <p:sp>
            <p:nvSpPr>
              <p:cNvPr id="6161" name="Line 30"/>
              <p:cNvSpPr>
                <a:spLocks noChangeShapeType="1"/>
              </p:cNvSpPr>
              <p:nvPr/>
            </p:nvSpPr>
            <p:spPr bwMode="auto">
              <a:xfrm>
                <a:off x="3292" y="3004"/>
                <a:ext cx="1111" cy="0"/>
              </a:xfrm>
              <a:prstGeom prst="line">
                <a:avLst/>
              </a:prstGeom>
              <a:noFill/>
              <a:ln w="38100">
                <a:solidFill>
                  <a:srgbClr val="92D05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2000"/>
              </a:p>
            </p:txBody>
          </p:sp>
        </p:grpSp>
        <p:sp>
          <p:nvSpPr>
            <p:cNvPr id="4" name="Rectangle 63"/>
            <p:cNvSpPr>
              <a:spLocks noChangeArrowheads="1"/>
            </p:cNvSpPr>
            <p:nvPr/>
          </p:nvSpPr>
          <p:spPr bwMode="auto">
            <a:xfrm rot="-5400000">
              <a:off x="10262" y="8949"/>
              <a:ext cx="531" cy="388"/>
            </a:xfrm>
            <a:prstGeom prst="rect">
              <a:avLst/>
            </a:prstGeom>
            <a:solidFill>
              <a:srgbClr val="FF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zh-CN" sz="1600" i="1">
                  <a:solidFill>
                    <a:srgbClr val="000000"/>
                  </a:solidFill>
                </a:rPr>
                <a:t>f</a:t>
              </a:r>
              <a:r>
                <a:rPr lang="zh-CN" altLang="en-US" sz="1600" i="1" baseline="-25000">
                  <a:solidFill>
                    <a:srgbClr val="000000"/>
                  </a:solidFill>
                </a:rPr>
                <a:t>几何</a:t>
              </a:r>
            </a:p>
          </p:txBody>
        </p:sp>
        <p:sp>
          <p:nvSpPr>
            <p:cNvPr id="5" name="Rectangle 50"/>
            <p:cNvSpPr>
              <a:spLocks noChangeArrowheads="1"/>
            </p:cNvSpPr>
            <p:nvPr/>
          </p:nvSpPr>
          <p:spPr bwMode="auto">
            <a:xfrm rot="16200000">
              <a:off x="9636" y="7915"/>
              <a:ext cx="578" cy="582"/>
            </a:xfrm>
            <a:prstGeom prst="rect">
              <a:avLst/>
            </a:prstGeom>
            <a:solidFill>
              <a:srgbClr val="FF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zh-CN" i="1" dirty="0" err="1"/>
                <a:t>d</a:t>
              </a:r>
              <a:r>
                <a:rPr lang="en-US" altLang="zh-CN" baseline="-25000" dirty="0" err="1"/>
                <a:t>a</a:t>
              </a:r>
              <a:endParaRPr lang="en-US" altLang="zh-CN" baseline="-25000" dirty="0"/>
            </a:p>
          </p:txBody>
        </p:sp>
      </p:grpSp>
      <p:sp>
        <p:nvSpPr>
          <p:cNvPr id="7" name="文本框 6"/>
          <p:cNvSpPr txBox="1"/>
          <p:nvPr/>
        </p:nvSpPr>
        <p:spPr>
          <a:xfrm>
            <a:off x="3988435" y="6345555"/>
            <a:ext cx="1685290" cy="306705"/>
          </a:xfrm>
          <a:prstGeom prst="rect">
            <a:avLst/>
          </a:prstGeom>
          <a:noFill/>
        </p:spPr>
        <p:txBody>
          <a:bodyPr wrap="square" rtlCol="0">
            <a:spAutoFit/>
          </a:bodyPr>
          <a:lstStyle/>
          <a:p>
            <a:r>
              <a:rPr lang="zh-CN" altLang="en-US" sz="1400" b="1" dirty="0"/>
              <a:t>单一要素作用尺寸</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2948">
                                            <p:txEl>
                                              <p:pRg st="0" end="0"/>
                                            </p:txEl>
                                          </p:spTgt>
                                        </p:tgtEl>
                                        <p:attrNameLst>
                                          <p:attrName>style.visibility</p:attrName>
                                        </p:attrNameLst>
                                      </p:cBhvr>
                                      <p:to>
                                        <p:strVal val="visible"/>
                                      </p:to>
                                    </p:set>
                                    <p:animEffect transition="in" filter="wipe(left)">
                                      <p:cBhvr>
                                        <p:cTn id="7" dur="300"/>
                                        <p:tgtEl>
                                          <p:spTgt spid="829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82949">
                                            <p:txEl>
                                              <p:pRg st="0" end="0"/>
                                            </p:txEl>
                                          </p:spTgt>
                                        </p:tgtEl>
                                        <p:attrNameLst>
                                          <p:attrName>style.visibility</p:attrName>
                                        </p:attrNameLst>
                                      </p:cBhvr>
                                      <p:to>
                                        <p:strVal val="visible"/>
                                      </p:to>
                                    </p:set>
                                    <p:animEffect transition="in" filter="wipe(left)">
                                      <p:cBhvr>
                                        <p:cTn id="12" dur="300"/>
                                        <p:tgtEl>
                                          <p:spTgt spid="8294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6" fill="hold" nodeType="clickEffect">
                                  <p:stCondLst>
                                    <p:cond delay="0"/>
                                  </p:stCondLst>
                                  <p:childTnLst>
                                    <p:set>
                                      <p:cBhvr>
                                        <p:cTn id="16" dur="1" fill="hold">
                                          <p:stCondLst>
                                            <p:cond delay="0"/>
                                          </p:stCondLst>
                                        </p:cTn>
                                        <p:tgtEl>
                                          <p:spTgt spid="83008"/>
                                        </p:tgtEl>
                                        <p:attrNameLst>
                                          <p:attrName>style.visibility</p:attrName>
                                        </p:attrNameLst>
                                      </p:cBhvr>
                                      <p:to>
                                        <p:strVal val="visible"/>
                                      </p:to>
                                    </p:set>
                                    <p:anim calcmode="lin" valueType="num">
                                      <p:cBhvr additive="base">
                                        <p:cTn id="17" dur="2000" fill="hold"/>
                                        <p:tgtEl>
                                          <p:spTgt spid="83008"/>
                                        </p:tgtEl>
                                        <p:attrNameLst>
                                          <p:attrName>ppt_x</p:attrName>
                                        </p:attrNameLst>
                                      </p:cBhvr>
                                      <p:tavLst>
                                        <p:tav tm="0">
                                          <p:val>
                                            <p:strVal val="1+#ppt_w/2"/>
                                          </p:val>
                                        </p:tav>
                                        <p:tav tm="100000">
                                          <p:val>
                                            <p:strVal val="#ppt_x"/>
                                          </p:val>
                                        </p:tav>
                                      </p:tavLst>
                                    </p:anim>
                                    <p:anim calcmode="lin" valueType="num">
                                      <p:cBhvr additive="base">
                                        <p:cTn id="18" dur="2000" fill="hold"/>
                                        <p:tgtEl>
                                          <p:spTgt spid="8300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82950"/>
                                        </p:tgtEl>
                                        <p:attrNameLst>
                                          <p:attrName>style.visibility</p:attrName>
                                        </p:attrNameLst>
                                      </p:cBhvr>
                                      <p:to>
                                        <p:strVal val="visible"/>
                                      </p:to>
                                    </p:set>
                                    <p:animEffect transition="in" filter="wipe(left)">
                                      <p:cBhvr>
                                        <p:cTn id="23" dur="300"/>
                                        <p:tgtEl>
                                          <p:spTgt spid="8295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83987"/>
                                        </p:tgtEl>
                                        <p:attrNameLst>
                                          <p:attrName>style.visibility</p:attrName>
                                        </p:attrNameLst>
                                      </p:cBhvr>
                                      <p:to>
                                        <p:strVal val="visible"/>
                                      </p:to>
                                    </p:set>
                                    <p:animEffect transition="in" filter="blinds(horizontal)">
                                      <p:cBhvr>
                                        <p:cTn id="28" dur="2000"/>
                                        <p:tgtEl>
                                          <p:spTgt spid="83987"/>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82984"/>
                                        </p:tgtEl>
                                        <p:attrNameLst>
                                          <p:attrName>style.visibility</p:attrName>
                                        </p:attrNameLst>
                                      </p:cBhvr>
                                      <p:to>
                                        <p:strVal val="visible"/>
                                      </p:to>
                                    </p:set>
                                    <p:animEffect transition="in" filter="blinds(horizontal)">
                                      <p:cBhvr>
                                        <p:cTn id="33" dur="500"/>
                                        <p:tgtEl>
                                          <p:spTgt spid="829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build="p" autoUpdateAnimBg="0"/>
      <p:bldP spid="82949" grpId="0" build="p" autoUpdateAnimBg="0"/>
      <p:bldP spid="82950" grpId="0" bldLvl="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Text Box 4"/>
          <p:cNvSpPr txBox="1">
            <a:spLocks noChangeArrowheads="1"/>
          </p:cNvSpPr>
          <p:nvPr/>
        </p:nvSpPr>
        <p:spPr bwMode="auto">
          <a:xfrm>
            <a:off x="531962" y="1528177"/>
            <a:ext cx="8120262" cy="8299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t>        对于</a:t>
            </a:r>
            <a:r>
              <a:rPr lang="zh-CN" altLang="en-US" sz="2000" b="1" dirty="0">
                <a:solidFill>
                  <a:srgbClr val="FF0000"/>
                </a:solidFill>
              </a:rPr>
              <a:t>关联要素</a:t>
            </a:r>
            <a:r>
              <a:rPr lang="zh-CN" altLang="en-US" sz="2000" b="1" dirty="0"/>
              <a:t>，体现其体外作用尺寸理想面的轴线（或中心平面）必须与基准保持图样上规定的方向或位置关系。</a:t>
            </a:r>
          </a:p>
        </p:txBody>
      </p:sp>
      <p:grpSp>
        <p:nvGrpSpPr>
          <p:cNvPr id="85004" name="Group 12"/>
          <p:cNvGrpSpPr/>
          <p:nvPr/>
        </p:nvGrpSpPr>
        <p:grpSpPr bwMode="auto">
          <a:xfrm>
            <a:off x="1129030" y="2543175"/>
            <a:ext cx="7050405" cy="3057525"/>
            <a:chOff x="541" y="1203"/>
            <a:chExt cx="4679" cy="2215"/>
          </a:xfrm>
        </p:grpSpPr>
        <p:grpSp>
          <p:nvGrpSpPr>
            <p:cNvPr id="7174" name="Group 10"/>
            <p:cNvGrpSpPr/>
            <p:nvPr/>
          </p:nvGrpSpPr>
          <p:grpSpPr bwMode="auto">
            <a:xfrm>
              <a:off x="541" y="1203"/>
              <a:ext cx="4679" cy="2215"/>
              <a:chOff x="541" y="1243"/>
              <a:chExt cx="4679" cy="2215"/>
            </a:xfrm>
          </p:grpSpPr>
          <p:pic>
            <p:nvPicPr>
              <p:cNvPr id="7176"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41" y="1243"/>
                <a:ext cx="4679" cy="22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178" name="Line 7"/>
              <p:cNvSpPr>
                <a:spLocks noChangeShapeType="1"/>
              </p:cNvSpPr>
              <p:nvPr/>
            </p:nvSpPr>
            <p:spPr bwMode="auto">
              <a:xfrm>
                <a:off x="3415" y="2376"/>
                <a:ext cx="0" cy="134"/>
              </a:xfrm>
              <a:prstGeom prst="line">
                <a:avLst/>
              </a:prstGeom>
              <a:noFill/>
              <a:ln w="38100">
                <a:solidFill>
                  <a:srgbClr val="D60093"/>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7179" name="Line 8"/>
              <p:cNvSpPr>
                <a:spLocks noChangeShapeType="1"/>
              </p:cNvSpPr>
              <p:nvPr/>
            </p:nvSpPr>
            <p:spPr bwMode="auto">
              <a:xfrm>
                <a:off x="3312" y="2510"/>
                <a:ext cx="103" cy="0"/>
              </a:xfrm>
              <a:prstGeom prst="line">
                <a:avLst/>
              </a:prstGeom>
              <a:noFill/>
              <a:ln w="38100">
                <a:solidFill>
                  <a:srgbClr val="D60093"/>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7175" name="Line 11"/>
            <p:cNvSpPr>
              <a:spLocks noChangeShapeType="1"/>
            </p:cNvSpPr>
            <p:nvPr/>
          </p:nvSpPr>
          <p:spPr bwMode="auto">
            <a:xfrm>
              <a:off x="5103" y="1810"/>
              <a:ext cx="0" cy="1019"/>
            </a:xfrm>
            <a:prstGeom prst="line">
              <a:avLst/>
            </a:prstGeom>
            <a:noFill/>
            <a:ln w="38100">
              <a:solidFill>
                <a:srgbClr val="D60093"/>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85005" name="AutoShape 13"/>
          <p:cNvSpPr>
            <a:spLocks noChangeArrowheads="1"/>
          </p:cNvSpPr>
          <p:nvPr/>
        </p:nvSpPr>
        <p:spPr bwMode="auto">
          <a:xfrm>
            <a:off x="5488940" y="5565775"/>
            <a:ext cx="2165985" cy="665480"/>
          </a:xfrm>
          <a:prstGeom prst="wedgeEllipseCallout">
            <a:avLst>
              <a:gd name="adj1" fmla="val 60427"/>
              <a:gd name="adj2" fmla="val -235127"/>
            </a:avLst>
          </a:prstGeom>
          <a:noFill/>
          <a:ln w="38100">
            <a:solidFill>
              <a:srgbClr val="D60093"/>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1600" b="1" dirty="0"/>
              <a:t>关联要素体外作用尺寸</a:t>
            </a:r>
          </a:p>
        </p:txBody>
      </p:sp>
      <p:sp>
        <p:nvSpPr>
          <p:cNvPr id="82948" name="Text Box 4"/>
          <p:cNvSpPr txBox="1">
            <a:spLocks noChangeArrowheads="1"/>
          </p:cNvSpPr>
          <p:nvPr/>
        </p:nvSpPr>
        <p:spPr bwMode="auto">
          <a:xfrm>
            <a:off x="355732" y="406153"/>
            <a:ext cx="751205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4.3.1 </a:t>
            </a:r>
            <a:r>
              <a:rPr lang="zh-CN" altLang="en-US" b="1" dirty="0">
                <a:latin typeface="宋体" panose="02010600030101010101" pitchFamily="2" charset="-122"/>
              </a:rPr>
              <a:t>有关公差原则的一些术语和定义 </a:t>
            </a:r>
          </a:p>
        </p:txBody>
      </p:sp>
      <p:sp>
        <p:nvSpPr>
          <p:cNvPr id="82949" name="Text Box 5"/>
          <p:cNvSpPr txBox="1">
            <a:spLocks noChangeArrowheads="1"/>
          </p:cNvSpPr>
          <p:nvPr/>
        </p:nvSpPr>
        <p:spPr bwMode="auto">
          <a:xfrm>
            <a:off x="463550" y="1124982"/>
            <a:ext cx="42360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  </a:t>
            </a:r>
            <a:r>
              <a:rPr lang="en-US" altLang="zh-CN" b="1" dirty="0"/>
              <a:t>1.  </a:t>
            </a:r>
            <a:r>
              <a:rPr lang="zh-CN" altLang="en-US" b="1" dirty="0">
                <a:latin typeface="宋体" panose="02010600030101010101" pitchFamily="2" charset="-122"/>
              </a:rPr>
              <a:t>体外作用尺寸</a:t>
            </a:r>
            <a:r>
              <a:rPr lang="zh-CN" altLang="en-US" b="1" dirty="0"/>
              <a:t>（</a:t>
            </a:r>
            <a:r>
              <a:rPr lang="en-US" altLang="zh-CN" b="1" dirty="0" smtClean="0"/>
              <a:t>EFS）</a:t>
            </a:r>
            <a:endParaRPr lang="en-US" altLang="zh-CN" b="1" dirty="0"/>
          </a:p>
        </p:txBody>
      </p:sp>
      <p:cxnSp>
        <p:nvCxnSpPr>
          <p:cNvPr id="27" name="直接连接符 26"/>
          <p:cNvCxnSpPr/>
          <p:nvPr/>
        </p:nvCxnSpPr>
        <p:spPr bwMode="auto">
          <a:xfrm flipV="1">
            <a:off x="188713" y="960345"/>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4996"/>
                                        </p:tgtEl>
                                        <p:attrNameLst>
                                          <p:attrName>style.visibility</p:attrName>
                                        </p:attrNameLst>
                                      </p:cBhvr>
                                      <p:to>
                                        <p:strVal val="visible"/>
                                      </p:to>
                                    </p:set>
                                    <p:animEffect transition="in" filter="wipe(left)">
                                      <p:cBhvr>
                                        <p:cTn id="7" dur="2000"/>
                                        <p:tgtEl>
                                          <p:spTgt spid="8499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5004"/>
                                        </p:tgtEl>
                                        <p:attrNameLst>
                                          <p:attrName>style.visibility</p:attrName>
                                        </p:attrNameLst>
                                      </p:cBhvr>
                                      <p:to>
                                        <p:strVal val="visible"/>
                                      </p:to>
                                    </p:set>
                                    <p:anim calcmode="lin" valueType="num">
                                      <p:cBhvr additive="base">
                                        <p:cTn id="12" dur="2000" fill="hold"/>
                                        <p:tgtEl>
                                          <p:spTgt spid="85004"/>
                                        </p:tgtEl>
                                        <p:attrNameLst>
                                          <p:attrName>ppt_x</p:attrName>
                                        </p:attrNameLst>
                                      </p:cBhvr>
                                      <p:tavLst>
                                        <p:tav tm="0">
                                          <p:val>
                                            <p:strVal val="#ppt_x"/>
                                          </p:val>
                                        </p:tav>
                                        <p:tav tm="100000">
                                          <p:val>
                                            <p:strVal val="#ppt_x"/>
                                          </p:val>
                                        </p:tav>
                                      </p:tavLst>
                                    </p:anim>
                                    <p:anim calcmode="lin" valueType="num">
                                      <p:cBhvr additive="base">
                                        <p:cTn id="13" dur="2000" fill="hold"/>
                                        <p:tgtEl>
                                          <p:spTgt spid="850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85005"/>
                                        </p:tgtEl>
                                        <p:attrNameLst>
                                          <p:attrName>style.visibility</p:attrName>
                                        </p:attrNameLst>
                                      </p:cBhvr>
                                      <p:to>
                                        <p:strVal val="visible"/>
                                      </p:to>
                                    </p:set>
                                    <p:animEffect transition="in" filter="wipe(down)">
                                      <p:cBhvr>
                                        <p:cTn id="18" dur="2000"/>
                                        <p:tgtEl>
                                          <p:spTgt spid="85005"/>
                                        </p:tgtEl>
                                      </p:cBhvr>
                                    </p:animEffect>
                                  </p:childTnLst>
                                </p:cTn>
                              </p:par>
                            </p:childTnLst>
                          </p:cTn>
                        </p:par>
                        <p:par>
                          <p:cTn id="19" fill="hold">
                            <p:stCondLst>
                              <p:cond delay="2000"/>
                            </p:stCondLst>
                            <p:childTnLst>
                              <p:par>
                                <p:cTn id="20" presetID="22" presetClass="entr" presetSubtype="8" fill="hold" grpId="0" nodeType="afterEffect">
                                  <p:stCondLst>
                                    <p:cond delay="0"/>
                                  </p:stCondLst>
                                  <p:iterate type="wd">
                                    <p:tmPct val="100000"/>
                                  </p:iterate>
                                  <p:childTnLst>
                                    <p:set>
                                      <p:cBhvr>
                                        <p:cTn id="21" dur="1" fill="hold">
                                          <p:stCondLst>
                                            <p:cond delay="0"/>
                                          </p:stCondLst>
                                        </p:cTn>
                                        <p:tgtEl>
                                          <p:spTgt spid="82948">
                                            <p:txEl>
                                              <p:pRg st="0" end="0"/>
                                            </p:txEl>
                                          </p:spTgt>
                                        </p:tgtEl>
                                        <p:attrNameLst>
                                          <p:attrName>style.visibility</p:attrName>
                                        </p:attrNameLst>
                                      </p:cBhvr>
                                      <p:to>
                                        <p:strVal val="visible"/>
                                      </p:to>
                                    </p:set>
                                    <p:animEffect transition="in" filter="wipe(left)">
                                      <p:cBhvr>
                                        <p:cTn id="22" dur="300"/>
                                        <p:tgtEl>
                                          <p:spTgt spid="8294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82949">
                                            <p:txEl>
                                              <p:pRg st="0" end="0"/>
                                            </p:txEl>
                                          </p:spTgt>
                                        </p:tgtEl>
                                        <p:attrNameLst>
                                          <p:attrName>style.visibility</p:attrName>
                                        </p:attrNameLst>
                                      </p:cBhvr>
                                      <p:to>
                                        <p:strVal val="visible"/>
                                      </p:to>
                                    </p:set>
                                    <p:animEffect transition="in" filter="wipe(left)">
                                      <p:cBhvr>
                                        <p:cTn id="27" dur="300"/>
                                        <p:tgtEl>
                                          <p:spTgt spid="829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bldLvl="0" animBg="1"/>
      <p:bldP spid="85005" grpId="0" bldLvl="0" animBg="1"/>
      <p:bldP spid="82948" grpId="0" build="p" autoUpdateAnimBg="0"/>
      <p:bldP spid="82949"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Text Box 4"/>
          <p:cNvSpPr txBox="1">
            <a:spLocks noChangeArrowheads="1"/>
          </p:cNvSpPr>
          <p:nvPr/>
        </p:nvSpPr>
        <p:spPr bwMode="auto">
          <a:xfrm>
            <a:off x="385909" y="438032"/>
            <a:ext cx="6278562"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2</a:t>
            </a:r>
            <a:r>
              <a:rPr lang="zh-CN" altLang="en-US" b="1" dirty="0"/>
              <a:t>. </a:t>
            </a:r>
            <a:r>
              <a:rPr lang="zh-CN" altLang="en-US" b="1" dirty="0">
                <a:latin typeface="宋体" panose="02010600030101010101" pitchFamily="2" charset="-122"/>
              </a:rPr>
              <a:t>体内作用尺寸</a:t>
            </a:r>
            <a:r>
              <a:rPr lang="zh-CN" altLang="en-US" b="1" dirty="0"/>
              <a:t>(</a:t>
            </a:r>
            <a:r>
              <a:rPr lang="en-US" altLang="zh-CN" b="1" dirty="0"/>
              <a:t>IFS) </a:t>
            </a:r>
            <a:endParaRPr lang="zh-CN" altLang="en-US" b="1" dirty="0"/>
          </a:p>
        </p:txBody>
      </p:sp>
      <p:sp>
        <p:nvSpPr>
          <p:cNvPr id="88069" name="Text Box 5"/>
          <p:cNvSpPr txBox="1">
            <a:spLocks noChangeArrowheads="1"/>
          </p:cNvSpPr>
          <p:nvPr/>
        </p:nvSpPr>
        <p:spPr bwMode="auto">
          <a:xfrm>
            <a:off x="386378" y="1118522"/>
            <a:ext cx="8236478" cy="8915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30000"/>
              </a:lnSpc>
              <a:spcBef>
                <a:spcPct val="0"/>
              </a:spcBef>
            </a:pPr>
            <a:r>
              <a:rPr lang="zh-CN" altLang="en-US" sz="2000" dirty="0"/>
              <a:t>      </a:t>
            </a:r>
            <a:r>
              <a:rPr lang="zh-CN" altLang="en-US" sz="2000" b="1" dirty="0"/>
              <a:t>被测要素在给定长度上，与实际内表面（孔）</a:t>
            </a:r>
            <a:r>
              <a:rPr lang="zh-CN" altLang="en-US" sz="2000" b="1" dirty="0">
                <a:solidFill>
                  <a:srgbClr val="FF3300"/>
                </a:solidFill>
              </a:rPr>
              <a:t>体内</a:t>
            </a:r>
            <a:r>
              <a:rPr lang="zh-CN" altLang="en-US" sz="2000" b="1" dirty="0"/>
              <a:t>相接的最小理想面或</a:t>
            </a:r>
            <a:r>
              <a:rPr lang="zh-CN" altLang="en-US" sz="2000" b="1" dirty="0">
                <a:sym typeface="+mn-ea"/>
              </a:rPr>
              <a:t>与实际外表面（轴）</a:t>
            </a:r>
            <a:r>
              <a:rPr lang="zh-CN" altLang="en-US" sz="2000" b="1" dirty="0">
                <a:solidFill>
                  <a:srgbClr val="FF3300"/>
                </a:solidFill>
                <a:sym typeface="+mn-ea"/>
              </a:rPr>
              <a:t>体内</a:t>
            </a:r>
            <a:r>
              <a:rPr lang="zh-CN" altLang="en-US" sz="2000" b="1" dirty="0">
                <a:sym typeface="+mn-ea"/>
              </a:rPr>
              <a:t>相接的最大理想面</a:t>
            </a:r>
            <a:r>
              <a:rPr lang="zh-CN" altLang="en-US" sz="2000" b="1" dirty="0"/>
              <a:t>的直径或宽度。 </a:t>
            </a:r>
          </a:p>
        </p:txBody>
      </p:sp>
      <p:graphicFrame>
        <p:nvGraphicFramePr>
          <p:cNvPr id="88082" name="Object 18"/>
          <p:cNvGraphicFramePr>
            <a:graphicFrameLocks noChangeAspect="1"/>
          </p:cNvGraphicFramePr>
          <p:nvPr/>
        </p:nvGraphicFramePr>
        <p:xfrm>
          <a:off x="1655445" y="2180892"/>
          <a:ext cx="2617470" cy="476885"/>
        </p:xfrm>
        <a:graphic>
          <a:graphicData uri="http://schemas.openxmlformats.org/presentationml/2006/ole">
            <p:oleObj spid="_x0000_s2053" name="公式" r:id="rId4" imgW="29870400" imgH="5486400" progId="">
              <p:embed/>
            </p:oleObj>
          </a:graphicData>
        </a:graphic>
      </p:graphicFrame>
      <p:grpSp>
        <p:nvGrpSpPr>
          <p:cNvPr id="88091" name="Group 27"/>
          <p:cNvGrpSpPr/>
          <p:nvPr/>
        </p:nvGrpSpPr>
        <p:grpSpPr bwMode="auto">
          <a:xfrm>
            <a:off x="953748" y="2837618"/>
            <a:ext cx="3680396" cy="3225125"/>
            <a:chOff x="3082" y="1526"/>
            <a:chExt cx="2589" cy="2525"/>
          </a:xfrm>
        </p:grpSpPr>
        <p:sp>
          <p:nvSpPr>
            <p:cNvPr id="8208" name="Line 23"/>
            <p:cNvSpPr>
              <a:spLocks noChangeShapeType="1"/>
            </p:cNvSpPr>
            <p:nvPr/>
          </p:nvSpPr>
          <p:spPr bwMode="auto">
            <a:xfrm>
              <a:off x="3425" y="3487"/>
              <a:ext cx="1481" cy="0"/>
            </a:xfrm>
            <a:prstGeom prst="line">
              <a:avLst/>
            </a:prstGeom>
            <a:noFill/>
            <a:ln w="38100">
              <a:solidFill>
                <a:srgbClr val="D60093"/>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8209" name="Group 22"/>
            <p:cNvGrpSpPr/>
            <p:nvPr/>
          </p:nvGrpSpPr>
          <p:grpSpPr bwMode="auto">
            <a:xfrm>
              <a:off x="3082" y="1526"/>
              <a:ext cx="2589" cy="2525"/>
              <a:chOff x="3182" y="1556"/>
              <a:chExt cx="2589" cy="2525"/>
            </a:xfrm>
          </p:grpSpPr>
          <p:pic>
            <p:nvPicPr>
              <p:cNvPr id="8212" name="Picture 10"/>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182" y="1556"/>
                <a:ext cx="2589" cy="2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214" name="Line 12"/>
              <p:cNvSpPr>
                <a:spLocks noChangeShapeType="1"/>
              </p:cNvSpPr>
              <p:nvPr/>
            </p:nvSpPr>
            <p:spPr bwMode="auto">
              <a:xfrm>
                <a:off x="3707" y="3428"/>
                <a:ext cx="483" cy="0"/>
              </a:xfrm>
              <a:prstGeom prst="line">
                <a:avLst/>
              </a:prstGeom>
              <a:noFill/>
              <a:ln w="952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8215" name="Line 15"/>
              <p:cNvSpPr>
                <a:spLocks noChangeShapeType="1"/>
              </p:cNvSpPr>
              <p:nvPr/>
            </p:nvSpPr>
            <p:spPr bwMode="auto">
              <a:xfrm>
                <a:off x="4538" y="2975"/>
                <a:ext cx="7" cy="554"/>
              </a:xfrm>
              <a:prstGeom prst="line">
                <a:avLst/>
              </a:prstGeom>
              <a:noFill/>
              <a:ln w="28575">
                <a:solidFill>
                  <a:srgbClr val="D60093"/>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8216" name="Rectangle 16"/>
              <p:cNvSpPr>
                <a:spLocks noChangeArrowheads="1"/>
              </p:cNvSpPr>
              <p:nvPr/>
            </p:nvSpPr>
            <p:spPr bwMode="auto">
              <a:xfrm>
                <a:off x="3424" y="2998"/>
                <a:ext cx="312" cy="363"/>
              </a:xfrm>
              <a:prstGeom prst="rect">
                <a:avLst/>
              </a:prstGeom>
              <a:noFill/>
              <a:ln w="38100">
                <a:solidFill>
                  <a:srgbClr val="92D05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8217" name="Line 19"/>
              <p:cNvSpPr>
                <a:spLocks noChangeShapeType="1"/>
              </p:cNvSpPr>
              <p:nvPr/>
            </p:nvSpPr>
            <p:spPr bwMode="auto">
              <a:xfrm>
                <a:off x="3735" y="2983"/>
                <a:ext cx="782" cy="0"/>
              </a:xfrm>
              <a:prstGeom prst="line">
                <a:avLst/>
              </a:prstGeom>
              <a:noFill/>
              <a:ln w="952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8218" name="Line 20"/>
              <p:cNvSpPr>
                <a:spLocks noChangeShapeType="1"/>
              </p:cNvSpPr>
              <p:nvPr/>
            </p:nvSpPr>
            <p:spPr bwMode="auto">
              <a:xfrm>
                <a:off x="3795" y="2602"/>
                <a:ext cx="0" cy="257"/>
              </a:xfrm>
              <a:prstGeom prst="line">
                <a:avLst/>
              </a:prstGeom>
              <a:noFill/>
              <a:ln w="28575">
                <a:solidFill>
                  <a:srgbClr val="D60093"/>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8219" name="Line 21"/>
              <p:cNvSpPr>
                <a:spLocks noChangeShapeType="1"/>
              </p:cNvSpPr>
              <p:nvPr/>
            </p:nvSpPr>
            <p:spPr bwMode="auto">
              <a:xfrm>
                <a:off x="3795" y="2983"/>
                <a:ext cx="0" cy="206"/>
              </a:xfrm>
              <a:prstGeom prst="line">
                <a:avLst/>
              </a:prstGeom>
              <a:noFill/>
              <a:ln w="28575">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8210" name="Line 24"/>
            <p:cNvSpPr>
              <a:spLocks noChangeShapeType="1"/>
            </p:cNvSpPr>
            <p:nvPr/>
          </p:nvSpPr>
          <p:spPr bwMode="auto">
            <a:xfrm>
              <a:off x="3404" y="2856"/>
              <a:ext cx="1481" cy="0"/>
            </a:xfrm>
            <a:prstGeom prst="line">
              <a:avLst/>
            </a:prstGeom>
            <a:noFill/>
            <a:ln w="38100">
              <a:solidFill>
                <a:srgbClr val="92D05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8211" name="Line 26"/>
            <p:cNvSpPr>
              <a:spLocks noChangeShapeType="1"/>
            </p:cNvSpPr>
            <p:nvPr/>
          </p:nvSpPr>
          <p:spPr bwMode="auto">
            <a:xfrm>
              <a:off x="3415" y="3499"/>
              <a:ext cx="1481" cy="0"/>
            </a:xfrm>
            <a:prstGeom prst="line">
              <a:avLst/>
            </a:prstGeom>
            <a:noFill/>
            <a:ln w="38100">
              <a:solidFill>
                <a:srgbClr val="92D05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cxnSp>
        <p:nvCxnSpPr>
          <p:cNvPr id="28" name="直接连接符 27"/>
          <p:cNvCxnSpPr/>
          <p:nvPr/>
        </p:nvCxnSpPr>
        <p:spPr bwMode="auto">
          <a:xfrm flipV="1">
            <a:off x="169049" y="975278"/>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aphicFrame>
        <p:nvGraphicFramePr>
          <p:cNvPr id="89093" name="Object 5"/>
          <p:cNvGraphicFramePr>
            <a:graphicFrameLocks noChangeAspect="1"/>
          </p:cNvGraphicFramePr>
          <p:nvPr/>
        </p:nvGraphicFramePr>
        <p:xfrm>
          <a:off x="4686935" y="2175177"/>
          <a:ext cx="2465705" cy="481330"/>
        </p:xfrm>
        <a:graphic>
          <a:graphicData uri="http://schemas.openxmlformats.org/presentationml/2006/ole">
            <p:oleObj spid="_x0000_s2054" name="公式" r:id="rId6" imgW="27736800" imgH="5486400" progId="">
              <p:embed/>
            </p:oleObj>
          </a:graphicData>
        </a:graphic>
      </p:graphicFrame>
      <p:grpSp>
        <p:nvGrpSpPr>
          <p:cNvPr id="17" name="组合 16"/>
          <p:cNvGrpSpPr/>
          <p:nvPr/>
        </p:nvGrpSpPr>
        <p:grpSpPr>
          <a:xfrm>
            <a:off x="5127625" y="2793168"/>
            <a:ext cx="3061335" cy="3202940"/>
            <a:chOff x="5407025" y="2051051"/>
            <a:chExt cx="2940051" cy="3660775"/>
          </a:xfrm>
        </p:grpSpPr>
        <p:grpSp>
          <p:nvGrpSpPr>
            <p:cNvPr id="89105" name="Group 17"/>
            <p:cNvGrpSpPr/>
            <p:nvPr/>
          </p:nvGrpSpPr>
          <p:grpSpPr bwMode="auto">
            <a:xfrm>
              <a:off x="5407025" y="2051051"/>
              <a:ext cx="2940051" cy="3660775"/>
              <a:chOff x="3406" y="1292"/>
              <a:chExt cx="1852" cy="2306"/>
            </a:xfrm>
          </p:grpSpPr>
          <p:pic>
            <p:nvPicPr>
              <p:cNvPr id="9231" name="Picture 7"/>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3406" y="1292"/>
                <a:ext cx="1835" cy="23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233" name="Rectangle 9"/>
              <p:cNvSpPr>
                <a:spLocks noChangeArrowheads="1"/>
              </p:cNvSpPr>
              <p:nvPr/>
            </p:nvSpPr>
            <p:spPr bwMode="auto">
              <a:xfrm>
                <a:off x="5046" y="2635"/>
                <a:ext cx="212" cy="281"/>
              </a:xfrm>
              <a:prstGeom prst="rect">
                <a:avLst/>
              </a:prstGeom>
              <a:noFill/>
              <a:ln w="38100">
                <a:solidFill>
                  <a:srgbClr val="92D05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9234" name="Line 10"/>
              <p:cNvSpPr>
                <a:spLocks noChangeShapeType="1"/>
              </p:cNvSpPr>
              <p:nvPr/>
            </p:nvSpPr>
            <p:spPr bwMode="auto">
              <a:xfrm>
                <a:off x="4349" y="2516"/>
                <a:ext cx="0" cy="415"/>
              </a:xfrm>
              <a:prstGeom prst="line">
                <a:avLst/>
              </a:prstGeom>
              <a:noFill/>
              <a:ln w="28575">
                <a:solidFill>
                  <a:srgbClr val="D60093"/>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9236" name="Line 15"/>
              <p:cNvSpPr>
                <a:spLocks noChangeShapeType="1"/>
              </p:cNvSpPr>
              <p:nvPr/>
            </p:nvSpPr>
            <p:spPr bwMode="auto">
              <a:xfrm>
                <a:off x="3771" y="2604"/>
                <a:ext cx="1437" cy="0"/>
              </a:xfrm>
              <a:prstGeom prst="line">
                <a:avLst/>
              </a:prstGeom>
              <a:noFill/>
              <a:ln w="38100">
                <a:solidFill>
                  <a:srgbClr val="92D05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9237" name="Line 16"/>
              <p:cNvSpPr>
                <a:spLocks noChangeShapeType="1"/>
              </p:cNvSpPr>
              <p:nvPr/>
            </p:nvSpPr>
            <p:spPr bwMode="auto">
              <a:xfrm>
                <a:off x="3778" y="2949"/>
                <a:ext cx="1437" cy="0"/>
              </a:xfrm>
              <a:prstGeom prst="line">
                <a:avLst/>
              </a:prstGeom>
              <a:noFill/>
              <a:ln w="38100">
                <a:solidFill>
                  <a:srgbClr val="92D05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cxnSp>
          <p:nvCxnSpPr>
            <p:cNvPr id="12" name="直接箭头连接符 11"/>
            <p:cNvCxnSpPr/>
            <p:nvPr/>
          </p:nvCxnSpPr>
          <p:spPr bwMode="auto">
            <a:xfrm>
              <a:off x="6082741" y="3663715"/>
              <a:ext cx="0" cy="329167"/>
            </a:xfrm>
            <a:prstGeom prst="straightConnector1">
              <a:avLst/>
            </a:prstGeom>
            <a:solidFill>
              <a:schemeClr val="accent1"/>
            </a:solidFill>
            <a:ln w="28575" cap="flat" cmpd="sng" algn="ctr">
              <a:solidFill>
                <a:srgbClr val="D60093"/>
              </a:solidFill>
              <a:prstDash val="solid"/>
              <a:round/>
              <a:headEnd type="none" w="med" len="med"/>
              <a:tailEnd type="triangl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3" name="直接箭头连接符 32"/>
            <p:cNvCxnSpPr/>
            <p:nvPr/>
          </p:nvCxnSpPr>
          <p:spPr bwMode="auto">
            <a:xfrm>
              <a:off x="6082741" y="4127612"/>
              <a:ext cx="0" cy="329167"/>
            </a:xfrm>
            <a:prstGeom prst="straightConnector1">
              <a:avLst/>
            </a:prstGeom>
            <a:solidFill>
              <a:schemeClr val="accent1"/>
            </a:solidFill>
            <a:ln w="28575" cap="flat" cmpd="sng" algn="ctr">
              <a:solidFill>
                <a:srgbClr val="D60093"/>
              </a:solidFill>
              <a:prstDash val="solid"/>
              <a:round/>
              <a:headEnd type="triangl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43" name="Rectangle 50"/>
          <p:cNvSpPr>
            <a:spLocks noChangeArrowheads="1"/>
          </p:cNvSpPr>
          <p:nvPr/>
        </p:nvSpPr>
        <p:spPr bwMode="auto">
          <a:xfrm rot="16200000">
            <a:off x="2482048" y="4809200"/>
            <a:ext cx="367269" cy="307777"/>
          </a:xfrm>
          <a:prstGeom prst="rect">
            <a:avLst/>
          </a:prstGeom>
          <a:solidFill>
            <a:srgbClr val="FF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zh-CN" sz="2000" i="1" dirty="0" err="1" smtClean="0">
                <a:solidFill>
                  <a:srgbClr val="000000"/>
                </a:solidFill>
              </a:rPr>
              <a:t>D</a:t>
            </a:r>
            <a:r>
              <a:rPr lang="en-US" altLang="zh-CN" sz="2000" i="1" baseline="-25000" dirty="0" err="1" smtClean="0">
                <a:solidFill>
                  <a:srgbClr val="000000"/>
                </a:solidFill>
              </a:rPr>
              <a:t>a</a:t>
            </a:r>
            <a:endParaRPr lang="en-US" altLang="zh-CN" sz="2000" baseline="-25000" dirty="0"/>
          </a:p>
        </p:txBody>
      </p:sp>
      <p:sp>
        <p:nvSpPr>
          <p:cNvPr id="44" name="Rectangle 63"/>
          <p:cNvSpPr>
            <a:spLocks noChangeArrowheads="1"/>
          </p:cNvSpPr>
          <p:nvPr/>
        </p:nvSpPr>
        <p:spPr bwMode="auto">
          <a:xfrm rot="16200000">
            <a:off x="1508611" y="4198716"/>
            <a:ext cx="337361" cy="246271"/>
          </a:xfrm>
          <a:prstGeom prst="rect">
            <a:avLst/>
          </a:prstGeom>
          <a:solidFill>
            <a:srgbClr val="FF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zh-CN" sz="1600" i="1" dirty="0">
                <a:solidFill>
                  <a:srgbClr val="000000"/>
                </a:solidFill>
              </a:rPr>
              <a:t>f</a:t>
            </a:r>
            <a:r>
              <a:rPr lang="zh-CN" altLang="en-US" sz="1600" i="1" baseline="-25000" dirty="0">
                <a:solidFill>
                  <a:srgbClr val="000000"/>
                </a:solidFill>
              </a:rPr>
              <a:t>几何</a:t>
            </a:r>
          </a:p>
        </p:txBody>
      </p:sp>
      <p:sp>
        <p:nvSpPr>
          <p:cNvPr id="45" name="Rectangle 63"/>
          <p:cNvSpPr>
            <a:spLocks noChangeArrowheads="1"/>
          </p:cNvSpPr>
          <p:nvPr/>
        </p:nvSpPr>
        <p:spPr bwMode="auto">
          <a:xfrm rot="16200000">
            <a:off x="5505155" y="4152892"/>
            <a:ext cx="341497" cy="239913"/>
          </a:xfrm>
          <a:prstGeom prst="rect">
            <a:avLst/>
          </a:prstGeom>
          <a:solidFill>
            <a:srgbClr val="FF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zh-CN" sz="1600" i="1" dirty="0">
                <a:solidFill>
                  <a:srgbClr val="000000"/>
                </a:solidFill>
              </a:rPr>
              <a:t>f</a:t>
            </a:r>
            <a:r>
              <a:rPr lang="zh-CN" altLang="en-US" sz="1600" i="1" baseline="-25000" dirty="0">
                <a:solidFill>
                  <a:srgbClr val="000000"/>
                </a:solidFill>
              </a:rPr>
              <a:t>几何</a:t>
            </a:r>
          </a:p>
        </p:txBody>
      </p:sp>
      <p:sp>
        <p:nvSpPr>
          <p:cNvPr id="46" name="Rectangle 50"/>
          <p:cNvSpPr>
            <a:spLocks noChangeArrowheads="1"/>
          </p:cNvSpPr>
          <p:nvPr/>
        </p:nvSpPr>
        <p:spPr bwMode="auto">
          <a:xfrm rot="16200000">
            <a:off x="6289348" y="4644548"/>
            <a:ext cx="371723" cy="359869"/>
          </a:xfrm>
          <a:prstGeom prst="rect">
            <a:avLst/>
          </a:prstGeom>
          <a:solidFill>
            <a:srgbClr val="FFCC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zh-CN" i="1" dirty="0" err="1"/>
              <a:t>d</a:t>
            </a:r>
            <a:r>
              <a:rPr lang="en-US" altLang="zh-CN" baseline="-25000" dirty="0" err="1"/>
              <a:t>a</a:t>
            </a:r>
            <a:endParaRPr lang="en-US" altLang="zh-CN" baseline="-25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8068">
                                            <p:txEl>
                                              <p:pRg st="0" end="0"/>
                                            </p:txEl>
                                          </p:spTgt>
                                        </p:tgtEl>
                                        <p:attrNameLst>
                                          <p:attrName>style.visibility</p:attrName>
                                        </p:attrNameLst>
                                      </p:cBhvr>
                                      <p:to>
                                        <p:strVal val="visible"/>
                                      </p:to>
                                    </p:set>
                                    <p:animEffect transition="in" filter="wipe(left)">
                                      <p:cBhvr>
                                        <p:cTn id="7" dur="300"/>
                                        <p:tgtEl>
                                          <p:spTgt spid="880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6" fill="hold" nodeType="clickEffect">
                                  <p:stCondLst>
                                    <p:cond delay="0"/>
                                  </p:stCondLst>
                                  <p:childTnLst>
                                    <p:set>
                                      <p:cBhvr>
                                        <p:cTn id="11" dur="1" fill="hold">
                                          <p:stCondLst>
                                            <p:cond delay="0"/>
                                          </p:stCondLst>
                                        </p:cTn>
                                        <p:tgtEl>
                                          <p:spTgt spid="88091"/>
                                        </p:tgtEl>
                                        <p:attrNameLst>
                                          <p:attrName>style.visibility</p:attrName>
                                        </p:attrNameLst>
                                      </p:cBhvr>
                                      <p:to>
                                        <p:strVal val="visible"/>
                                      </p:to>
                                    </p:set>
                                    <p:anim calcmode="lin" valueType="num">
                                      <p:cBhvr additive="base">
                                        <p:cTn id="12" dur="2000" fill="hold"/>
                                        <p:tgtEl>
                                          <p:spTgt spid="88091"/>
                                        </p:tgtEl>
                                        <p:attrNameLst>
                                          <p:attrName>ppt_x</p:attrName>
                                        </p:attrNameLst>
                                      </p:cBhvr>
                                      <p:tavLst>
                                        <p:tav tm="0">
                                          <p:val>
                                            <p:strVal val="1+#ppt_w/2"/>
                                          </p:val>
                                        </p:tav>
                                        <p:tav tm="100000">
                                          <p:val>
                                            <p:strVal val="#ppt_x"/>
                                          </p:val>
                                        </p:tav>
                                      </p:tavLst>
                                    </p:anim>
                                    <p:anim calcmode="lin" valueType="num">
                                      <p:cBhvr additive="base">
                                        <p:cTn id="13" dur="2000" fill="hold"/>
                                        <p:tgtEl>
                                          <p:spTgt spid="8809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88069"/>
                                        </p:tgtEl>
                                        <p:attrNameLst>
                                          <p:attrName>style.visibility</p:attrName>
                                        </p:attrNameLst>
                                      </p:cBhvr>
                                      <p:to>
                                        <p:strVal val="visible"/>
                                      </p:to>
                                    </p:set>
                                    <p:animEffect transition="in" filter="wipe(left)">
                                      <p:cBhvr>
                                        <p:cTn id="18" dur="300"/>
                                        <p:tgtEl>
                                          <p:spTgt spid="8806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8082"/>
                                        </p:tgtEl>
                                        <p:attrNameLst>
                                          <p:attrName>style.visibility</p:attrName>
                                        </p:attrNameLst>
                                      </p:cBhvr>
                                      <p:to>
                                        <p:strVal val="visible"/>
                                      </p:to>
                                    </p:set>
                                    <p:animEffect transition="in" filter="blinds(horizontal)">
                                      <p:cBhvr>
                                        <p:cTn id="23" dur="2000"/>
                                        <p:tgtEl>
                                          <p:spTgt spid="8808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89093"/>
                                        </p:tgtEl>
                                        <p:attrNameLst>
                                          <p:attrName>style.visibility</p:attrName>
                                        </p:attrNameLst>
                                      </p:cBhvr>
                                      <p:to>
                                        <p:strVal val="visible"/>
                                      </p:to>
                                    </p:set>
                                    <p:animEffect transition="in" filter="blinds(horizontal)">
                                      <p:cBhvr>
                                        <p:cTn id="28" dur="2000"/>
                                        <p:tgtEl>
                                          <p:spTgt spid="8909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1+#ppt_w/2"/>
                                          </p:val>
                                        </p:tav>
                                        <p:tav tm="100000">
                                          <p:val>
                                            <p:strVal val="#ppt_x"/>
                                          </p:val>
                                        </p:tav>
                                      </p:tavLst>
                                    </p:anim>
                                    <p:anim calcmode="lin" valueType="num">
                                      <p:cBhvr additive="base">
                                        <p:cTn id="34"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build="p" autoUpdateAnimBg="0"/>
      <p:bldP spid="88069" grpId="0" bldLvl="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Text Box 4"/>
          <p:cNvSpPr txBox="1">
            <a:spLocks noChangeArrowheads="1"/>
          </p:cNvSpPr>
          <p:nvPr/>
        </p:nvSpPr>
        <p:spPr bwMode="auto">
          <a:xfrm>
            <a:off x="332296" y="300219"/>
            <a:ext cx="7526337"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3.</a:t>
            </a:r>
            <a:r>
              <a:rPr lang="zh-CN" altLang="en-US" b="1" dirty="0">
                <a:latin typeface="宋体" panose="02010600030101010101" pitchFamily="2" charset="-122"/>
              </a:rPr>
              <a:t>最大实体状态（</a:t>
            </a:r>
            <a:r>
              <a:rPr lang="en-US" altLang="zh-CN" b="1" dirty="0">
                <a:solidFill>
                  <a:srgbClr val="FF3300"/>
                </a:solidFill>
              </a:rPr>
              <a:t>MMC</a:t>
            </a:r>
            <a:r>
              <a:rPr lang="en-US" altLang="zh-CN" b="1" dirty="0">
                <a:latin typeface="宋体" panose="02010600030101010101" pitchFamily="2" charset="-122"/>
              </a:rPr>
              <a:t>）</a:t>
            </a:r>
            <a:r>
              <a:rPr lang="zh-CN" altLang="en-US" b="1" dirty="0"/>
              <a:t>和</a:t>
            </a:r>
            <a:r>
              <a:rPr lang="zh-CN" altLang="en-US" b="1" dirty="0" smtClean="0"/>
              <a:t>最大实体尺寸</a:t>
            </a:r>
            <a:r>
              <a:rPr lang="en-US" altLang="zh-CN" b="1" dirty="0" smtClean="0"/>
              <a:t>(</a:t>
            </a:r>
            <a:r>
              <a:rPr lang="en-US" altLang="zh-CN" b="1" dirty="0" smtClean="0">
                <a:solidFill>
                  <a:srgbClr val="FF3300"/>
                </a:solidFill>
              </a:rPr>
              <a:t>MMS</a:t>
            </a:r>
            <a:r>
              <a:rPr lang="en-US" altLang="zh-CN" b="1" dirty="0"/>
              <a:t>)</a:t>
            </a:r>
            <a:endParaRPr lang="zh-CN" altLang="en-US" b="1" dirty="0"/>
          </a:p>
        </p:txBody>
      </p:sp>
      <p:sp>
        <p:nvSpPr>
          <p:cNvPr id="86022" name="Text Box 6"/>
          <p:cNvSpPr txBox="1">
            <a:spLocks noChangeArrowheads="1"/>
          </p:cNvSpPr>
          <p:nvPr/>
        </p:nvSpPr>
        <p:spPr bwMode="auto">
          <a:xfrm>
            <a:off x="282575" y="1562133"/>
            <a:ext cx="8655050" cy="8299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pPr>
            <a:r>
              <a:rPr lang="zh-CN" altLang="en-US" sz="2000" dirty="0"/>
              <a:t>        </a:t>
            </a:r>
            <a:r>
              <a:rPr lang="zh-CN" altLang="en-US" sz="2000" b="1" dirty="0" smtClean="0"/>
              <a:t>实际要素</a:t>
            </a:r>
            <a:r>
              <a:rPr lang="zh-CN" altLang="en-US" sz="2000" b="1" dirty="0"/>
              <a:t>在给定长度上处处位于尺寸公差带内，并具有</a:t>
            </a:r>
            <a:r>
              <a:rPr lang="zh-CN" altLang="en-US" sz="2000" b="1" dirty="0">
                <a:solidFill>
                  <a:srgbClr val="FF3300"/>
                </a:solidFill>
              </a:rPr>
              <a:t>实体最大</a:t>
            </a:r>
            <a:r>
              <a:rPr lang="zh-CN" altLang="en-US" sz="2000" b="1" dirty="0"/>
              <a:t>（即材料最多，重量最重）的状态。 </a:t>
            </a:r>
          </a:p>
        </p:txBody>
      </p:sp>
      <p:sp>
        <p:nvSpPr>
          <p:cNvPr id="86023" name="Text Box 7"/>
          <p:cNvSpPr txBox="1">
            <a:spLocks noChangeArrowheads="1"/>
          </p:cNvSpPr>
          <p:nvPr/>
        </p:nvSpPr>
        <p:spPr bwMode="auto">
          <a:xfrm>
            <a:off x="262912" y="1116194"/>
            <a:ext cx="464237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（1）</a:t>
            </a:r>
            <a:r>
              <a:rPr lang="zh-CN" altLang="en-US" b="1" dirty="0"/>
              <a:t>最大实体状态（</a:t>
            </a:r>
            <a:r>
              <a:rPr lang="en-US" altLang="zh-CN" b="1" dirty="0">
                <a:solidFill>
                  <a:srgbClr val="FF3300"/>
                </a:solidFill>
              </a:rPr>
              <a:t>MMC</a:t>
            </a:r>
            <a:r>
              <a:rPr lang="zh-CN" altLang="en-US" b="1" dirty="0" smtClean="0"/>
              <a:t>）</a:t>
            </a:r>
            <a:endParaRPr lang="zh-CN" altLang="en-US" dirty="0">
              <a:cs typeface="Times New Roman" panose="02020603050405020304" pitchFamily="18" charset="0"/>
            </a:endParaRPr>
          </a:p>
        </p:txBody>
      </p:sp>
      <p:sp>
        <p:nvSpPr>
          <p:cNvPr id="86024" name="Text Box 8"/>
          <p:cNvSpPr txBox="1">
            <a:spLocks noChangeArrowheads="1"/>
          </p:cNvSpPr>
          <p:nvPr/>
        </p:nvSpPr>
        <p:spPr bwMode="auto">
          <a:xfrm rot="-5400000">
            <a:off x="4791585" y="3398121"/>
            <a:ext cx="74657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err="1">
                <a:solidFill>
                  <a:srgbClr val="FF3300"/>
                </a:solidFill>
              </a:rPr>
              <a:t>d</a:t>
            </a:r>
            <a:r>
              <a:rPr lang="en-US" altLang="zh-CN" b="1" baseline="-25000" dirty="0" err="1">
                <a:solidFill>
                  <a:srgbClr val="FF3300"/>
                </a:solidFill>
              </a:rPr>
              <a:t>max</a:t>
            </a:r>
            <a:endParaRPr lang="en-US" altLang="zh-CN" b="1" baseline="-25000" dirty="0">
              <a:solidFill>
                <a:srgbClr val="FF3300"/>
              </a:solidFill>
            </a:endParaRPr>
          </a:p>
        </p:txBody>
      </p:sp>
      <p:sp>
        <p:nvSpPr>
          <p:cNvPr id="86025" name="Text Box 9"/>
          <p:cNvSpPr txBox="1">
            <a:spLocks noChangeArrowheads="1"/>
          </p:cNvSpPr>
          <p:nvPr/>
        </p:nvSpPr>
        <p:spPr bwMode="auto">
          <a:xfrm rot="-5400000">
            <a:off x="2899750" y="3251151"/>
            <a:ext cx="73406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err="1">
                <a:solidFill>
                  <a:srgbClr val="FF3300"/>
                </a:solidFill>
              </a:rPr>
              <a:t>D</a:t>
            </a:r>
            <a:r>
              <a:rPr lang="en-US" altLang="zh-CN" b="1" baseline="-25000" dirty="0" err="1">
                <a:solidFill>
                  <a:srgbClr val="FF3300"/>
                </a:solidFill>
              </a:rPr>
              <a:t>min</a:t>
            </a:r>
            <a:endParaRPr lang="en-US" altLang="zh-CN" b="1" baseline="-25000" dirty="0">
              <a:solidFill>
                <a:srgbClr val="FF3300"/>
              </a:solidFill>
            </a:endParaRPr>
          </a:p>
        </p:txBody>
      </p:sp>
      <p:grpSp>
        <p:nvGrpSpPr>
          <p:cNvPr id="86026" name="Group 10"/>
          <p:cNvGrpSpPr/>
          <p:nvPr/>
        </p:nvGrpSpPr>
        <p:grpSpPr bwMode="auto">
          <a:xfrm>
            <a:off x="2062165" y="2518174"/>
            <a:ext cx="2757488" cy="597694"/>
            <a:chOff x="1299" y="1338"/>
            <a:chExt cx="1737" cy="502"/>
          </a:xfrm>
        </p:grpSpPr>
        <p:sp>
          <p:nvSpPr>
            <p:cNvPr id="10332" name="AutoShape 11"/>
            <p:cNvSpPr>
              <a:spLocks noChangeArrowheads="1"/>
            </p:cNvSpPr>
            <p:nvPr/>
          </p:nvSpPr>
          <p:spPr bwMode="auto">
            <a:xfrm>
              <a:off x="2284" y="1338"/>
              <a:ext cx="752" cy="345"/>
            </a:xfrm>
            <a:prstGeom prst="wedgeRoundRectCallout">
              <a:avLst>
                <a:gd name="adj1" fmla="val 230051"/>
                <a:gd name="adj2" fmla="val 92028"/>
                <a:gd name="adj3" fmla="val 16667"/>
              </a:avLst>
            </a:prstGeom>
            <a:solidFill>
              <a:schemeClr val="bg1"/>
            </a:solidFill>
            <a:ln w="57150">
              <a:solidFill>
                <a:srgbClr val="FF3300"/>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b="1"/>
                <a:t>MMC</a:t>
              </a:r>
            </a:p>
          </p:txBody>
        </p:sp>
        <p:sp>
          <p:nvSpPr>
            <p:cNvPr id="10333" name="Line 12"/>
            <p:cNvSpPr>
              <a:spLocks noChangeShapeType="1"/>
            </p:cNvSpPr>
            <p:nvPr/>
          </p:nvSpPr>
          <p:spPr bwMode="auto">
            <a:xfrm flipH="1">
              <a:off x="1299" y="1486"/>
              <a:ext cx="969" cy="354"/>
            </a:xfrm>
            <a:prstGeom prst="line">
              <a:avLst/>
            </a:prstGeom>
            <a:noFill/>
            <a:ln w="57150">
              <a:solidFill>
                <a:srgbClr val="FF33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86029" name="Group 13"/>
          <p:cNvGrpSpPr/>
          <p:nvPr/>
        </p:nvGrpSpPr>
        <p:grpSpPr bwMode="auto">
          <a:xfrm>
            <a:off x="688975" y="2774774"/>
            <a:ext cx="3498850" cy="1799608"/>
            <a:chOff x="434" y="1554"/>
            <a:chExt cx="2204" cy="1511"/>
          </a:xfrm>
        </p:grpSpPr>
        <p:grpSp>
          <p:nvGrpSpPr>
            <p:cNvPr id="10293" name="Group 14"/>
            <p:cNvGrpSpPr/>
            <p:nvPr/>
          </p:nvGrpSpPr>
          <p:grpSpPr bwMode="auto">
            <a:xfrm>
              <a:off x="434" y="1554"/>
              <a:ext cx="2204" cy="1511"/>
              <a:chOff x="693" y="1544"/>
              <a:chExt cx="2204" cy="1511"/>
            </a:xfrm>
          </p:grpSpPr>
          <p:grpSp>
            <p:nvGrpSpPr>
              <p:cNvPr id="10295" name="Group 15"/>
              <p:cNvGrpSpPr/>
              <p:nvPr/>
            </p:nvGrpSpPr>
            <p:grpSpPr bwMode="auto">
              <a:xfrm>
                <a:off x="811" y="1544"/>
                <a:ext cx="2086" cy="1225"/>
                <a:chOff x="3699" y="2427"/>
                <a:chExt cx="1773" cy="1128"/>
              </a:xfrm>
            </p:grpSpPr>
            <p:sp>
              <p:nvSpPr>
                <p:cNvPr id="10300" name="Line 16"/>
                <p:cNvSpPr>
                  <a:spLocks noChangeShapeType="1"/>
                </p:cNvSpPr>
                <p:nvPr/>
              </p:nvSpPr>
              <p:spPr bwMode="auto">
                <a:xfrm>
                  <a:off x="3708" y="2718"/>
                  <a:ext cx="1179" cy="0"/>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01" name="Line 17"/>
                <p:cNvSpPr>
                  <a:spLocks noChangeShapeType="1"/>
                </p:cNvSpPr>
                <p:nvPr/>
              </p:nvSpPr>
              <p:spPr bwMode="auto">
                <a:xfrm>
                  <a:off x="3699" y="3312"/>
                  <a:ext cx="1179" cy="0"/>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02" name="Line 18"/>
                <p:cNvSpPr>
                  <a:spLocks noChangeShapeType="1"/>
                </p:cNvSpPr>
                <p:nvPr/>
              </p:nvSpPr>
              <p:spPr bwMode="auto">
                <a:xfrm>
                  <a:off x="3717" y="2430"/>
                  <a:ext cx="0" cy="1107"/>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03" name="Line 19"/>
                <p:cNvSpPr>
                  <a:spLocks noChangeShapeType="1"/>
                </p:cNvSpPr>
                <p:nvPr/>
              </p:nvSpPr>
              <p:spPr bwMode="auto">
                <a:xfrm>
                  <a:off x="4878" y="2448"/>
                  <a:ext cx="0" cy="1107"/>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04" name="Line 20"/>
                <p:cNvSpPr>
                  <a:spLocks noChangeShapeType="1"/>
                </p:cNvSpPr>
                <p:nvPr/>
              </p:nvSpPr>
              <p:spPr bwMode="auto">
                <a:xfrm>
                  <a:off x="3708" y="2565"/>
                  <a:ext cx="1179" cy="0"/>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05" name="Line 21"/>
                <p:cNvSpPr>
                  <a:spLocks noChangeShapeType="1"/>
                </p:cNvSpPr>
                <p:nvPr/>
              </p:nvSpPr>
              <p:spPr bwMode="auto">
                <a:xfrm flipV="1">
                  <a:off x="4113" y="2583"/>
                  <a:ext cx="203" cy="11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06" name="Line 22"/>
                <p:cNvSpPr>
                  <a:spLocks noChangeShapeType="1"/>
                </p:cNvSpPr>
                <p:nvPr/>
              </p:nvSpPr>
              <p:spPr bwMode="auto">
                <a:xfrm flipV="1">
                  <a:off x="3798" y="2574"/>
                  <a:ext cx="203" cy="11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07" name="Line 23"/>
                <p:cNvSpPr>
                  <a:spLocks noChangeShapeType="1"/>
                </p:cNvSpPr>
                <p:nvPr/>
              </p:nvSpPr>
              <p:spPr bwMode="auto">
                <a:xfrm flipV="1">
                  <a:off x="4392" y="2574"/>
                  <a:ext cx="203" cy="11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08" name="Line 24"/>
                <p:cNvSpPr>
                  <a:spLocks noChangeShapeType="1"/>
                </p:cNvSpPr>
                <p:nvPr/>
              </p:nvSpPr>
              <p:spPr bwMode="auto">
                <a:xfrm flipV="1">
                  <a:off x="4671" y="2592"/>
                  <a:ext cx="203" cy="11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09" name="Arc 25"/>
                <p:cNvSpPr/>
                <p:nvPr/>
              </p:nvSpPr>
              <p:spPr bwMode="auto">
                <a:xfrm>
                  <a:off x="3699" y="2440"/>
                  <a:ext cx="1185" cy="27"/>
                </a:xfrm>
                <a:custGeom>
                  <a:avLst/>
                  <a:gdLst>
                    <a:gd name="T0" fmla="*/ 0 w 21148"/>
                    <a:gd name="T1" fmla="*/ 0 h 21600"/>
                    <a:gd name="T2" fmla="*/ 0 w 21148"/>
                    <a:gd name="T3" fmla="*/ 0 h 21600"/>
                    <a:gd name="T4" fmla="*/ 0 w 21148"/>
                    <a:gd name="T5" fmla="*/ 0 h 21600"/>
                    <a:gd name="T6" fmla="*/ 0 60000 65536"/>
                    <a:gd name="T7" fmla="*/ 0 60000 65536"/>
                    <a:gd name="T8" fmla="*/ 0 60000 65536"/>
                  </a:gdLst>
                  <a:ahLst/>
                  <a:cxnLst>
                    <a:cxn ang="T6">
                      <a:pos x="T0" y="T1"/>
                    </a:cxn>
                    <a:cxn ang="T7">
                      <a:pos x="T2" y="T3"/>
                    </a:cxn>
                    <a:cxn ang="T8">
                      <a:pos x="T4" y="T5"/>
                    </a:cxn>
                  </a:cxnLst>
                  <a:rect l="0" t="0" r="r" b="b"/>
                  <a:pathLst>
                    <a:path w="21148" h="21600" fill="none" extrusionOk="0">
                      <a:moveTo>
                        <a:pt x="-1" y="0"/>
                      </a:moveTo>
                      <a:cubicBezTo>
                        <a:pt x="10234" y="0"/>
                        <a:pt x="19064" y="7182"/>
                        <a:pt x="21147" y="17203"/>
                      </a:cubicBezTo>
                    </a:path>
                    <a:path w="21148" h="21600" stroke="0" extrusionOk="0">
                      <a:moveTo>
                        <a:pt x="-1" y="0"/>
                      </a:moveTo>
                      <a:cubicBezTo>
                        <a:pt x="10234" y="0"/>
                        <a:pt x="19064" y="7182"/>
                        <a:pt x="21147" y="17203"/>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310" name="Arc 26"/>
                <p:cNvSpPr/>
                <p:nvPr/>
              </p:nvSpPr>
              <p:spPr bwMode="auto">
                <a:xfrm>
                  <a:off x="3717" y="3520"/>
                  <a:ext cx="1185" cy="27"/>
                </a:xfrm>
                <a:custGeom>
                  <a:avLst/>
                  <a:gdLst>
                    <a:gd name="T0" fmla="*/ 0 w 21148"/>
                    <a:gd name="T1" fmla="*/ 0 h 21600"/>
                    <a:gd name="T2" fmla="*/ 0 w 21148"/>
                    <a:gd name="T3" fmla="*/ 0 h 21600"/>
                    <a:gd name="T4" fmla="*/ 0 w 21148"/>
                    <a:gd name="T5" fmla="*/ 0 h 21600"/>
                    <a:gd name="T6" fmla="*/ 0 60000 65536"/>
                    <a:gd name="T7" fmla="*/ 0 60000 65536"/>
                    <a:gd name="T8" fmla="*/ 0 60000 65536"/>
                  </a:gdLst>
                  <a:ahLst/>
                  <a:cxnLst>
                    <a:cxn ang="T6">
                      <a:pos x="T0" y="T1"/>
                    </a:cxn>
                    <a:cxn ang="T7">
                      <a:pos x="T2" y="T3"/>
                    </a:cxn>
                    <a:cxn ang="T8">
                      <a:pos x="T4" y="T5"/>
                    </a:cxn>
                  </a:cxnLst>
                  <a:rect l="0" t="0" r="r" b="b"/>
                  <a:pathLst>
                    <a:path w="21148" h="21600" fill="none" extrusionOk="0">
                      <a:moveTo>
                        <a:pt x="-1" y="0"/>
                      </a:moveTo>
                      <a:cubicBezTo>
                        <a:pt x="10234" y="0"/>
                        <a:pt x="19064" y="7182"/>
                        <a:pt x="21147" y="17203"/>
                      </a:cubicBezTo>
                    </a:path>
                    <a:path w="21148" h="21600" stroke="0" extrusionOk="0">
                      <a:moveTo>
                        <a:pt x="-1" y="0"/>
                      </a:moveTo>
                      <a:cubicBezTo>
                        <a:pt x="10234" y="0"/>
                        <a:pt x="19064" y="7182"/>
                        <a:pt x="21147" y="17203"/>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311" name="Line 27"/>
                <p:cNvSpPr>
                  <a:spLocks noChangeShapeType="1"/>
                </p:cNvSpPr>
                <p:nvPr/>
              </p:nvSpPr>
              <p:spPr bwMode="auto">
                <a:xfrm flipV="1">
                  <a:off x="3762" y="3339"/>
                  <a:ext cx="162" cy="1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12" name="Line 28"/>
                <p:cNvSpPr>
                  <a:spLocks noChangeShapeType="1"/>
                </p:cNvSpPr>
                <p:nvPr/>
              </p:nvSpPr>
              <p:spPr bwMode="auto">
                <a:xfrm flipV="1">
                  <a:off x="3987" y="3321"/>
                  <a:ext cx="162" cy="1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13" name="Line 29"/>
                <p:cNvSpPr>
                  <a:spLocks noChangeShapeType="1"/>
                </p:cNvSpPr>
                <p:nvPr/>
              </p:nvSpPr>
              <p:spPr bwMode="auto">
                <a:xfrm flipV="1">
                  <a:off x="4212" y="3330"/>
                  <a:ext cx="162" cy="1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14" name="Line 30"/>
                <p:cNvSpPr>
                  <a:spLocks noChangeShapeType="1"/>
                </p:cNvSpPr>
                <p:nvPr/>
              </p:nvSpPr>
              <p:spPr bwMode="auto">
                <a:xfrm flipV="1">
                  <a:off x="4437" y="3321"/>
                  <a:ext cx="162" cy="1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15" name="Line 31"/>
                <p:cNvSpPr>
                  <a:spLocks noChangeShapeType="1"/>
                </p:cNvSpPr>
                <p:nvPr/>
              </p:nvSpPr>
              <p:spPr bwMode="auto">
                <a:xfrm flipV="1">
                  <a:off x="4626" y="3330"/>
                  <a:ext cx="162" cy="1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16" name="Line 32"/>
                <p:cNvSpPr>
                  <a:spLocks noChangeShapeType="1"/>
                </p:cNvSpPr>
                <p:nvPr/>
              </p:nvSpPr>
              <p:spPr bwMode="auto">
                <a:xfrm flipV="1">
                  <a:off x="3825" y="2439"/>
                  <a:ext cx="144"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17" name="Line 33"/>
                <p:cNvSpPr>
                  <a:spLocks noChangeShapeType="1"/>
                </p:cNvSpPr>
                <p:nvPr/>
              </p:nvSpPr>
              <p:spPr bwMode="auto">
                <a:xfrm flipV="1">
                  <a:off x="4239" y="2448"/>
                  <a:ext cx="144"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18" name="Line 34"/>
                <p:cNvSpPr>
                  <a:spLocks noChangeShapeType="1"/>
                </p:cNvSpPr>
                <p:nvPr/>
              </p:nvSpPr>
              <p:spPr bwMode="auto">
                <a:xfrm flipV="1">
                  <a:off x="4032" y="2427"/>
                  <a:ext cx="144"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19" name="Line 35"/>
                <p:cNvSpPr>
                  <a:spLocks noChangeShapeType="1"/>
                </p:cNvSpPr>
                <p:nvPr/>
              </p:nvSpPr>
              <p:spPr bwMode="auto">
                <a:xfrm flipV="1">
                  <a:off x="4455" y="2448"/>
                  <a:ext cx="144"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20" name="Line 36"/>
                <p:cNvSpPr>
                  <a:spLocks noChangeShapeType="1"/>
                </p:cNvSpPr>
                <p:nvPr/>
              </p:nvSpPr>
              <p:spPr bwMode="auto">
                <a:xfrm flipV="1">
                  <a:off x="4653" y="2457"/>
                  <a:ext cx="144"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21" name="Line 37"/>
                <p:cNvSpPr>
                  <a:spLocks noChangeShapeType="1"/>
                </p:cNvSpPr>
                <p:nvPr/>
              </p:nvSpPr>
              <p:spPr bwMode="auto">
                <a:xfrm>
                  <a:off x="3762" y="2574"/>
                  <a:ext cx="225"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22" name="Line 38"/>
                <p:cNvSpPr>
                  <a:spLocks noChangeShapeType="1"/>
                </p:cNvSpPr>
                <p:nvPr/>
              </p:nvSpPr>
              <p:spPr bwMode="auto">
                <a:xfrm>
                  <a:off x="3987" y="2565"/>
                  <a:ext cx="225"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23" name="Line 39"/>
                <p:cNvSpPr>
                  <a:spLocks noChangeShapeType="1"/>
                </p:cNvSpPr>
                <p:nvPr/>
              </p:nvSpPr>
              <p:spPr bwMode="auto">
                <a:xfrm>
                  <a:off x="4176" y="2565"/>
                  <a:ext cx="225"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24" name="Line 40"/>
                <p:cNvSpPr>
                  <a:spLocks noChangeShapeType="1"/>
                </p:cNvSpPr>
                <p:nvPr/>
              </p:nvSpPr>
              <p:spPr bwMode="auto">
                <a:xfrm>
                  <a:off x="4392" y="2574"/>
                  <a:ext cx="225"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25" name="Line 41"/>
                <p:cNvSpPr>
                  <a:spLocks noChangeShapeType="1"/>
                </p:cNvSpPr>
                <p:nvPr/>
              </p:nvSpPr>
              <p:spPr bwMode="auto">
                <a:xfrm>
                  <a:off x="4617" y="2565"/>
                  <a:ext cx="225"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26" name="Line 42"/>
                <p:cNvSpPr>
                  <a:spLocks noChangeShapeType="1"/>
                </p:cNvSpPr>
                <p:nvPr/>
              </p:nvSpPr>
              <p:spPr bwMode="auto">
                <a:xfrm>
                  <a:off x="4878" y="2574"/>
                  <a:ext cx="59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27" name="Line 43"/>
                <p:cNvSpPr>
                  <a:spLocks noChangeShapeType="1"/>
                </p:cNvSpPr>
                <p:nvPr/>
              </p:nvSpPr>
              <p:spPr bwMode="auto">
                <a:xfrm>
                  <a:off x="4878" y="3312"/>
                  <a:ext cx="59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28" name="Line 44"/>
                <p:cNvSpPr>
                  <a:spLocks noChangeShapeType="1"/>
                </p:cNvSpPr>
                <p:nvPr/>
              </p:nvSpPr>
              <p:spPr bwMode="auto">
                <a:xfrm>
                  <a:off x="4905" y="2709"/>
                  <a:ext cx="306"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29" name="Line 45"/>
                <p:cNvSpPr>
                  <a:spLocks noChangeShapeType="1"/>
                </p:cNvSpPr>
                <p:nvPr/>
              </p:nvSpPr>
              <p:spPr bwMode="auto">
                <a:xfrm>
                  <a:off x="5400" y="2574"/>
                  <a:ext cx="0" cy="747"/>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30" name="Line 46"/>
                <p:cNvSpPr>
                  <a:spLocks noChangeShapeType="1"/>
                </p:cNvSpPr>
                <p:nvPr/>
              </p:nvSpPr>
              <p:spPr bwMode="auto">
                <a:xfrm>
                  <a:off x="5112" y="2718"/>
                  <a:ext cx="0" cy="594"/>
                </a:xfrm>
                <a:prstGeom prst="line">
                  <a:avLst/>
                </a:prstGeom>
                <a:noFill/>
                <a:ln w="38100">
                  <a:solidFill>
                    <a:srgbClr val="FF33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331" name="Text Box 47"/>
                <p:cNvSpPr txBox="1">
                  <a:spLocks noChangeArrowheads="1"/>
                </p:cNvSpPr>
                <p:nvPr/>
              </p:nvSpPr>
              <p:spPr bwMode="auto">
                <a:xfrm rot="16200000">
                  <a:off x="4914" y="2881"/>
                  <a:ext cx="593" cy="2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t>D</a:t>
                  </a:r>
                  <a:r>
                    <a:rPr lang="en-US" altLang="zh-CN" b="1" baseline="-25000"/>
                    <a:t>max</a:t>
                  </a:r>
                </a:p>
              </p:txBody>
            </p:sp>
          </p:grpSp>
          <p:sp>
            <p:nvSpPr>
              <p:cNvPr id="10296" name="Line 48"/>
              <p:cNvSpPr>
                <a:spLocks noChangeShapeType="1"/>
              </p:cNvSpPr>
              <p:nvPr/>
            </p:nvSpPr>
            <p:spPr bwMode="auto">
              <a:xfrm>
                <a:off x="820" y="2704"/>
                <a:ext cx="0" cy="283"/>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97" name="Line 49"/>
              <p:cNvSpPr>
                <a:spLocks noChangeShapeType="1"/>
              </p:cNvSpPr>
              <p:nvPr/>
            </p:nvSpPr>
            <p:spPr bwMode="auto">
              <a:xfrm>
                <a:off x="2187" y="2772"/>
                <a:ext cx="0" cy="283"/>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98" name="Line 50"/>
              <p:cNvSpPr>
                <a:spLocks noChangeShapeType="1"/>
              </p:cNvSpPr>
              <p:nvPr/>
            </p:nvSpPr>
            <p:spPr bwMode="auto">
              <a:xfrm>
                <a:off x="810" y="2920"/>
                <a:ext cx="1377"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99" name="Line 51"/>
              <p:cNvSpPr>
                <a:spLocks noChangeShapeType="1"/>
              </p:cNvSpPr>
              <p:nvPr/>
            </p:nvSpPr>
            <p:spPr bwMode="auto">
              <a:xfrm>
                <a:off x="693" y="2158"/>
                <a:ext cx="1601" cy="0"/>
              </a:xfrm>
              <a:prstGeom prst="line">
                <a:avLst/>
              </a:prstGeom>
              <a:noFill/>
              <a:ln w="28575">
                <a:solidFill>
                  <a:schemeClr val="tx1"/>
                </a:solidFill>
                <a:prstDash val="lg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10294" name="Text Box 52"/>
            <p:cNvSpPr txBox="1">
              <a:spLocks noChangeArrowheads="1"/>
            </p:cNvSpPr>
            <p:nvPr/>
          </p:nvSpPr>
          <p:spPr bwMode="auto">
            <a:xfrm>
              <a:off x="1065" y="2120"/>
              <a:ext cx="340" cy="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孔</a:t>
              </a:r>
            </a:p>
          </p:txBody>
        </p:sp>
      </p:grpSp>
      <p:sp>
        <p:nvSpPr>
          <p:cNvPr id="86069" name="Line 53"/>
          <p:cNvSpPr>
            <a:spLocks noChangeShapeType="1"/>
          </p:cNvSpPr>
          <p:nvPr/>
        </p:nvSpPr>
        <p:spPr bwMode="auto">
          <a:xfrm>
            <a:off x="882651" y="3144441"/>
            <a:ext cx="2170113" cy="0"/>
          </a:xfrm>
          <a:prstGeom prst="line">
            <a:avLst/>
          </a:prstGeom>
          <a:noFill/>
          <a:ln w="7620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86071" name="Group 55"/>
          <p:cNvGrpSpPr/>
          <p:nvPr/>
        </p:nvGrpSpPr>
        <p:grpSpPr bwMode="auto">
          <a:xfrm>
            <a:off x="5226051" y="2209801"/>
            <a:ext cx="3292474" cy="2297906"/>
            <a:chOff x="3292" y="1079"/>
            <a:chExt cx="2074" cy="1930"/>
          </a:xfrm>
        </p:grpSpPr>
        <p:sp>
          <p:nvSpPr>
            <p:cNvPr id="10259" name="Line 56"/>
            <p:cNvSpPr>
              <a:spLocks noChangeShapeType="1"/>
            </p:cNvSpPr>
            <p:nvPr/>
          </p:nvSpPr>
          <p:spPr bwMode="auto">
            <a:xfrm>
              <a:off x="4896" y="1838"/>
              <a:ext cx="244" cy="15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10260" name="Group 57"/>
            <p:cNvGrpSpPr/>
            <p:nvPr/>
          </p:nvGrpSpPr>
          <p:grpSpPr bwMode="auto">
            <a:xfrm>
              <a:off x="3292" y="1079"/>
              <a:ext cx="2074" cy="1930"/>
              <a:chOff x="3292" y="1079"/>
              <a:chExt cx="2074" cy="1930"/>
            </a:xfrm>
          </p:grpSpPr>
          <p:grpSp>
            <p:nvGrpSpPr>
              <p:cNvPr id="10261" name="Group 58"/>
              <p:cNvGrpSpPr/>
              <p:nvPr/>
            </p:nvGrpSpPr>
            <p:grpSpPr bwMode="auto">
              <a:xfrm>
                <a:off x="3292" y="1079"/>
                <a:ext cx="2074" cy="1930"/>
                <a:chOff x="3292" y="1079"/>
                <a:chExt cx="2074" cy="1930"/>
              </a:xfrm>
            </p:grpSpPr>
            <p:grpSp>
              <p:nvGrpSpPr>
                <p:cNvPr id="10268" name="Group 59"/>
                <p:cNvGrpSpPr/>
                <p:nvPr/>
              </p:nvGrpSpPr>
              <p:grpSpPr bwMode="auto">
                <a:xfrm>
                  <a:off x="3292" y="1079"/>
                  <a:ext cx="2074" cy="1930"/>
                  <a:chOff x="3292" y="999"/>
                  <a:chExt cx="2074" cy="1930"/>
                </a:xfrm>
              </p:grpSpPr>
              <p:grpSp>
                <p:nvGrpSpPr>
                  <p:cNvPr id="10270" name="Group 60"/>
                  <p:cNvGrpSpPr/>
                  <p:nvPr/>
                </p:nvGrpSpPr>
                <p:grpSpPr bwMode="auto">
                  <a:xfrm>
                    <a:off x="3292" y="999"/>
                    <a:ext cx="2074" cy="1632"/>
                    <a:chOff x="3510" y="510"/>
                    <a:chExt cx="2074" cy="1632"/>
                  </a:xfrm>
                </p:grpSpPr>
                <p:sp>
                  <p:nvSpPr>
                    <p:cNvPr id="10274" name="Line 61"/>
                    <p:cNvSpPr>
                      <a:spLocks noChangeShapeType="1"/>
                    </p:cNvSpPr>
                    <p:nvPr/>
                  </p:nvSpPr>
                  <p:spPr bwMode="auto">
                    <a:xfrm>
                      <a:off x="3510" y="2142"/>
                      <a:ext cx="540"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10275" name="Group 62"/>
                    <p:cNvGrpSpPr/>
                    <p:nvPr/>
                  </p:nvGrpSpPr>
                  <p:grpSpPr bwMode="auto">
                    <a:xfrm>
                      <a:off x="3537" y="510"/>
                      <a:ext cx="2047" cy="1623"/>
                      <a:chOff x="3456" y="429"/>
                      <a:chExt cx="2047" cy="1623"/>
                    </a:xfrm>
                  </p:grpSpPr>
                  <p:sp>
                    <p:nvSpPr>
                      <p:cNvPr id="10276" name="Line 63"/>
                      <p:cNvSpPr>
                        <a:spLocks noChangeShapeType="1"/>
                      </p:cNvSpPr>
                      <p:nvPr/>
                    </p:nvSpPr>
                    <p:spPr bwMode="auto">
                      <a:xfrm>
                        <a:off x="3708" y="1323"/>
                        <a:ext cx="270"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10277" name="Group 64"/>
                      <p:cNvGrpSpPr/>
                      <p:nvPr/>
                    </p:nvGrpSpPr>
                    <p:grpSpPr bwMode="auto">
                      <a:xfrm>
                        <a:off x="3456" y="429"/>
                        <a:ext cx="2047" cy="1623"/>
                        <a:chOff x="3456" y="438"/>
                        <a:chExt cx="2047" cy="1623"/>
                      </a:xfrm>
                    </p:grpSpPr>
                    <p:sp>
                      <p:nvSpPr>
                        <p:cNvPr id="10278" name="Line 65"/>
                        <p:cNvSpPr>
                          <a:spLocks noChangeShapeType="1"/>
                        </p:cNvSpPr>
                        <p:nvPr/>
                      </p:nvSpPr>
                      <p:spPr bwMode="auto">
                        <a:xfrm>
                          <a:off x="3456" y="1197"/>
                          <a:ext cx="540"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10279" name="Group 66"/>
                        <p:cNvGrpSpPr/>
                        <p:nvPr/>
                      </p:nvGrpSpPr>
                      <p:grpSpPr bwMode="auto">
                        <a:xfrm>
                          <a:off x="3893" y="1206"/>
                          <a:ext cx="1610" cy="855"/>
                          <a:chOff x="3884" y="1134"/>
                          <a:chExt cx="1610" cy="855"/>
                        </a:xfrm>
                      </p:grpSpPr>
                      <p:sp>
                        <p:nvSpPr>
                          <p:cNvPr id="10285" name="Rectangle 67"/>
                          <p:cNvSpPr>
                            <a:spLocks noChangeArrowheads="1"/>
                          </p:cNvSpPr>
                          <p:nvPr/>
                        </p:nvSpPr>
                        <p:spPr bwMode="auto">
                          <a:xfrm>
                            <a:off x="3978" y="1134"/>
                            <a:ext cx="1350" cy="855"/>
                          </a:xfrm>
                          <a:prstGeom prst="rect">
                            <a:avLst/>
                          </a:prstGeom>
                          <a:solidFill>
                            <a:schemeClr val="bg1"/>
                          </a:solidFill>
                          <a:ln w="38100">
                            <a:solidFill>
                              <a:schemeClr val="tx1"/>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86" name="Line 68"/>
                          <p:cNvSpPr>
                            <a:spLocks noChangeShapeType="1"/>
                          </p:cNvSpPr>
                          <p:nvPr/>
                        </p:nvSpPr>
                        <p:spPr bwMode="auto">
                          <a:xfrm>
                            <a:off x="3884" y="1566"/>
                            <a:ext cx="1610" cy="0"/>
                          </a:xfrm>
                          <a:prstGeom prst="line">
                            <a:avLst/>
                          </a:prstGeom>
                          <a:noFill/>
                          <a:ln w="38100">
                            <a:solidFill>
                              <a:schemeClr val="tx1"/>
                            </a:solidFill>
                            <a:prstDash val="lg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87" name="Line 69"/>
                          <p:cNvSpPr>
                            <a:spLocks noChangeShapeType="1"/>
                          </p:cNvSpPr>
                          <p:nvPr/>
                        </p:nvSpPr>
                        <p:spPr bwMode="auto">
                          <a:xfrm>
                            <a:off x="3960" y="1269"/>
                            <a:ext cx="1386" cy="0"/>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88" name="Line 70"/>
                          <p:cNvSpPr>
                            <a:spLocks noChangeShapeType="1"/>
                          </p:cNvSpPr>
                          <p:nvPr/>
                        </p:nvSpPr>
                        <p:spPr bwMode="auto">
                          <a:xfrm flipV="1">
                            <a:off x="4104" y="1143"/>
                            <a:ext cx="126" cy="108"/>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89" name="Line 71"/>
                          <p:cNvSpPr>
                            <a:spLocks noChangeShapeType="1"/>
                          </p:cNvSpPr>
                          <p:nvPr/>
                        </p:nvSpPr>
                        <p:spPr bwMode="auto">
                          <a:xfrm flipV="1">
                            <a:off x="4356" y="1143"/>
                            <a:ext cx="126" cy="108"/>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90" name="Line 72"/>
                          <p:cNvSpPr>
                            <a:spLocks noChangeShapeType="1"/>
                          </p:cNvSpPr>
                          <p:nvPr/>
                        </p:nvSpPr>
                        <p:spPr bwMode="auto">
                          <a:xfrm flipV="1">
                            <a:off x="4644" y="1152"/>
                            <a:ext cx="126" cy="108"/>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91" name="Line 73"/>
                          <p:cNvSpPr>
                            <a:spLocks noChangeShapeType="1"/>
                          </p:cNvSpPr>
                          <p:nvPr/>
                        </p:nvSpPr>
                        <p:spPr bwMode="auto">
                          <a:xfrm flipV="1">
                            <a:off x="4923" y="1152"/>
                            <a:ext cx="126" cy="108"/>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92" name="Line 74"/>
                          <p:cNvSpPr>
                            <a:spLocks noChangeShapeType="1"/>
                          </p:cNvSpPr>
                          <p:nvPr/>
                        </p:nvSpPr>
                        <p:spPr bwMode="auto">
                          <a:xfrm flipV="1">
                            <a:off x="5166" y="1161"/>
                            <a:ext cx="126" cy="108"/>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10280" name="Line 75"/>
                        <p:cNvSpPr>
                          <a:spLocks noChangeShapeType="1"/>
                        </p:cNvSpPr>
                        <p:nvPr/>
                      </p:nvSpPr>
                      <p:spPr bwMode="auto">
                        <a:xfrm>
                          <a:off x="3807" y="1314"/>
                          <a:ext cx="0" cy="729"/>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81" name="Line 76"/>
                        <p:cNvSpPr>
                          <a:spLocks noChangeShapeType="1"/>
                        </p:cNvSpPr>
                        <p:nvPr/>
                      </p:nvSpPr>
                      <p:spPr bwMode="auto">
                        <a:xfrm>
                          <a:off x="3582" y="1179"/>
                          <a:ext cx="0" cy="873"/>
                        </a:xfrm>
                        <a:prstGeom prst="line">
                          <a:avLst/>
                        </a:prstGeom>
                        <a:noFill/>
                        <a:ln w="38100">
                          <a:solidFill>
                            <a:srgbClr val="FF33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10282" name="Group 77"/>
                        <p:cNvGrpSpPr/>
                        <p:nvPr/>
                      </p:nvGrpSpPr>
                      <p:grpSpPr bwMode="auto">
                        <a:xfrm>
                          <a:off x="3505" y="438"/>
                          <a:ext cx="311" cy="876"/>
                          <a:chOff x="3505" y="339"/>
                          <a:chExt cx="311" cy="876"/>
                        </a:xfrm>
                      </p:grpSpPr>
                      <p:sp>
                        <p:nvSpPr>
                          <p:cNvPr id="10283" name="Text Box 78"/>
                          <p:cNvSpPr txBox="1">
                            <a:spLocks noChangeArrowheads="1"/>
                          </p:cNvSpPr>
                          <p:nvPr/>
                        </p:nvSpPr>
                        <p:spPr bwMode="auto">
                          <a:xfrm rot="16200000">
                            <a:off x="3370" y="473"/>
                            <a:ext cx="559" cy="2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t>d</a:t>
                            </a:r>
                            <a:r>
                              <a:rPr lang="en-US" altLang="zh-CN" b="1" baseline="-25000"/>
                              <a:t>min</a:t>
                            </a:r>
                          </a:p>
                        </p:txBody>
                      </p:sp>
                      <p:sp>
                        <p:nvSpPr>
                          <p:cNvPr id="10284" name="Line 79"/>
                          <p:cNvSpPr>
                            <a:spLocks noChangeShapeType="1"/>
                          </p:cNvSpPr>
                          <p:nvPr/>
                        </p:nvSpPr>
                        <p:spPr bwMode="auto">
                          <a:xfrm flipV="1">
                            <a:off x="3816" y="441"/>
                            <a:ext cx="0" cy="774"/>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grpSp>
              </p:grpSp>
              <p:sp>
                <p:nvSpPr>
                  <p:cNvPr id="10271" name="Line 80"/>
                  <p:cNvSpPr>
                    <a:spLocks noChangeShapeType="1"/>
                  </p:cNvSpPr>
                  <p:nvPr/>
                </p:nvSpPr>
                <p:spPr bwMode="auto">
                  <a:xfrm>
                    <a:off x="3847" y="2597"/>
                    <a:ext cx="0" cy="332"/>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72" name="Line 81"/>
                  <p:cNvSpPr>
                    <a:spLocks noChangeShapeType="1"/>
                  </p:cNvSpPr>
                  <p:nvPr/>
                </p:nvSpPr>
                <p:spPr bwMode="auto">
                  <a:xfrm>
                    <a:off x="5194" y="2555"/>
                    <a:ext cx="0" cy="332"/>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73" name="Line 82"/>
                  <p:cNvSpPr>
                    <a:spLocks noChangeShapeType="1"/>
                  </p:cNvSpPr>
                  <p:nvPr/>
                </p:nvSpPr>
                <p:spPr bwMode="auto">
                  <a:xfrm>
                    <a:off x="3827" y="2802"/>
                    <a:ext cx="1386"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10269" name="Text Box 83"/>
                <p:cNvSpPr txBox="1">
                  <a:spLocks noChangeArrowheads="1"/>
                </p:cNvSpPr>
                <p:nvPr/>
              </p:nvSpPr>
              <p:spPr bwMode="auto">
                <a:xfrm>
                  <a:off x="4327" y="2259"/>
                  <a:ext cx="340" cy="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00"/>
                      </a:solidFill>
                    </a:rPr>
                    <a:t>轴</a:t>
                  </a:r>
                </a:p>
              </p:txBody>
            </p:sp>
          </p:grpSp>
          <p:sp>
            <p:nvSpPr>
              <p:cNvPr id="10262" name="Line 84"/>
              <p:cNvSpPr>
                <a:spLocks noChangeShapeType="1"/>
              </p:cNvSpPr>
              <p:nvPr/>
            </p:nvSpPr>
            <p:spPr bwMode="auto">
              <a:xfrm>
                <a:off x="3875" y="1827"/>
                <a:ext cx="244" cy="15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63" name="Line 85"/>
              <p:cNvSpPr>
                <a:spLocks noChangeShapeType="1"/>
              </p:cNvSpPr>
              <p:nvPr/>
            </p:nvSpPr>
            <p:spPr bwMode="auto">
              <a:xfrm>
                <a:off x="4050" y="1821"/>
                <a:ext cx="244" cy="15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64" name="Line 86"/>
              <p:cNvSpPr>
                <a:spLocks noChangeShapeType="1"/>
              </p:cNvSpPr>
              <p:nvPr/>
            </p:nvSpPr>
            <p:spPr bwMode="auto">
              <a:xfrm>
                <a:off x="4242" y="1815"/>
                <a:ext cx="244" cy="15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65" name="Line 87"/>
              <p:cNvSpPr>
                <a:spLocks noChangeShapeType="1"/>
              </p:cNvSpPr>
              <p:nvPr/>
            </p:nvSpPr>
            <p:spPr bwMode="auto">
              <a:xfrm>
                <a:off x="4459" y="1821"/>
                <a:ext cx="244" cy="15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66" name="Line 88"/>
              <p:cNvSpPr>
                <a:spLocks noChangeShapeType="1"/>
              </p:cNvSpPr>
              <p:nvPr/>
            </p:nvSpPr>
            <p:spPr bwMode="auto">
              <a:xfrm>
                <a:off x="4680" y="1833"/>
                <a:ext cx="244" cy="15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67" name="Line 89"/>
              <p:cNvSpPr>
                <a:spLocks noChangeShapeType="1"/>
              </p:cNvSpPr>
              <p:nvPr/>
            </p:nvSpPr>
            <p:spPr bwMode="auto">
              <a:xfrm>
                <a:off x="4896" y="1838"/>
                <a:ext cx="244" cy="15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grpSp>
        <p:nvGrpSpPr>
          <p:cNvPr id="86114" name="Group 98"/>
          <p:cNvGrpSpPr/>
          <p:nvPr/>
        </p:nvGrpSpPr>
        <p:grpSpPr bwMode="auto">
          <a:xfrm>
            <a:off x="3609975" y="3198019"/>
            <a:ext cx="3276600" cy="1388268"/>
            <a:chOff x="2274" y="2120"/>
            <a:chExt cx="2064" cy="1166"/>
          </a:xfrm>
        </p:grpSpPr>
        <p:sp>
          <p:nvSpPr>
            <p:cNvPr id="10257" name="AutoShape 91"/>
            <p:cNvSpPr>
              <a:spLocks noChangeArrowheads="1"/>
            </p:cNvSpPr>
            <p:nvPr/>
          </p:nvSpPr>
          <p:spPr bwMode="auto">
            <a:xfrm>
              <a:off x="2274" y="2932"/>
              <a:ext cx="1238" cy="354"/>
            </a:xfrm>
            <a:prstGeom prst="wedgeRoundRectCallout">
              <a:avLst>
                <a:gd name="adj1" fmla="val -154497"/>
                <a:gd name="adj2" fmla="val -297164"/>
                <a:gd name="adj3" fmla="val 16667"/>
              </a:avLst>
            </a:prstGeom>
            <a:noFill/>
            <a:ln w="57150">
              <a:solidFill>
                <a:schemeClr val="accent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000" b="1" dirty="0">
                  <a:solidFill>
                    <a:srgbClr val="FF3300"/>
                  </a:solidFill>
                </a:rPr>
                <a:t>尺寸公差带</a:t>
              </a:r>
            </a:p>
          </p:txBody>
        </p:sp>
        <p:sp>
          <p:nvSpPr>
            <p:cNvPr id="10258" name="Line 92"/>
            <p:cNvSpPr>
              <a:spLocks noChangeShapeType="1"/>
            </p:cNvSpPr>
            <p:nvPr/>
          </p:nvSpPr>
          <p:spPr bwMode="auto">
            <a:xfrm flipV="1">
              <a:off x="3152" y="2120"/>
              <a:ext cx="1186" cy="802"/>
            </a:xfrm>
            <a:prstGeom prst="line">
              <a:avLst/>
            </a:prstGeom>
            <a:noFill/>
            <a:ln w="38100">
              <a:solidFill>
                <a:schemeClr val="accent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86110" name="Text Box 94"/>
          <p:cNvSpPr txBox="1">
            <a:spLocks noChangeArrowheads="1"/>
          </p:cNvSpPr>
          <p:nvPr/>
        </p:nvSpPr>
        <p:spPr bwMode="auto">
          <a:xfrm>
            <a:off x="292039" y="4766310"/>
            <a:ext cx="8629769"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（2）</a:t>
            </a:r>
            <a:r>
              <a:rPr lang="zh-CN" altLang="en-US" b="1" dirty="0"/>
              <a:t>最大实体尺寸（</a:t>
            </a:r>
            <a:r>
              <a:rPr lang="en-US" altLang="zh-CN" b="1" dirty="0">
                <a:solidFill>
                  <a:srgbClr val="FF3300"/>
                </a:solidFill>
              </a:rPr>
              <a:t>MMS</a:t>
            </a:r>
            <a:r>
              <a:rPr lang="en-US" altLang="zh-CN" b="1" dirty="0"/>
              <a:t> </a:t>
            </a:r>
            <a:r>
              <a:rPr lang="zh-CN" altLang="en-US" b="1" dirty="0"/>
              <a:t>）是指在</a:t>
            </a:r>
            <a:r>
              <a:rPr lang="en-US" altLang="zh-CN" b="1" dirty="0">
                <a:solidFill>
                  <a:srgbClr val="FF3300"/>
                </a:solidFill>
              </a:rPr>
              <a:t>MMC</a:t>
            </a:r>
            <a:r>
              <a:rPr lang="zh-CN" altLang="en-US" b="1" dirty="0">
                <a:solidFill>
                  <a:srgbClr val="FF3300"/>
                </a:solidFill>
              </a:rPr>
              <a:t>状态</a:t>
            </a:r>
            <a:r>
              <a:rPr lang="zh-CN" altLang="en-US" b="1" dirty="0"/>
              <a:t>下的极限尺寸。</a:t>
            </a:r>
          </a:p>
        </p:txBody>
      </p:sp>
      <p:graphicFrame>
        <p:nvGraphicFramePr>
          <p:cNvPr id="86111" name="Object 95"/>
          <p:cNvGraphicFramePr>
            <a:graphicFrameLocks noGrp="1" noChangeAspect="1"/>
          </p:cNvGraphicFramePr>
          <p:nvPr>
            <p:ph/>
          </p:nvPr>
        </p:nvGraphicFramePr>
        <p:xfrm>
          <a:off x="1377315" y="5371465"/>
          <a:ext cx="2962275" cy="470535"/>
        </p:xfrm>
        <a:graphic>
          <a:graphicData uri="http://schemas.openxmlformats.org/presentationml/2006/ole">
            <p:oleObj spid="_x0000_s3077" name="公式" r:id="rId3" imgW="24384000" imgH="5181600" progId="">
              <p:embed/>
            </p:oleObj>
          </a:graphicData>
        </a:graphic>
      </p:graphicFrame>
      <p:graphicFrame>
        <p:nvGraphicFramePr>
          <p:cNvPr id="86113" name="Object 97"/>
          <p:cNvGraphicFramePr>
            <a:graphicFrameLocks noChangeAspect="1"/>
          </p:cNvGraphicFramePr>
          <p:nvPr/>
        </p:nvGraphicFramePr>
        <p:xfrm>
          <a:off x="4706619" y="5361206"/>
          <a:ext cx="2748429" cy="481429"/>
        </p:xfrm>
        <a:graphic>
          <a:graphicData uri="http://schemas.openxmlformats.org/presentationml/2006/ole">
            <p:oleObj spid="_x0000_s3078" name="公式" r:id="rId4" imgW="23469600" imgH="5486400" progId="">
              <p:embed/>
            </p:oleObj>
          </a:graphicData>
        </a:graphic>
      </p:graphicFrame>
      <p:cxnSp>
        <p:nvCxnSpPr>
          <p:cNvPr id="94" name="直接连接符 93"/>
          <p:cNvCxnSpPr/>
          <p:nvPr/>
        </p:nvCxnSpPr>
        <p:spPr bwMode="auto">
          <a:xfrm flipV="1">
            <a:off x="178882" y="935949"/>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95" name="Line 54"/>
          <p:cNvSpPr>
            <a:spLocks noChangeShapeType="1"/>
          </p:cNvSpPr>
          <p:nvPr/>
        </p:nvSpPr>
        <p:spPr bwMode="auto">
          <a:xfrm>
            <a:off x="6067948" y="3109921"/>
            <a:ext cx="2216150" cy="0"/>
          </a:xfrm>
          <a:prstGeom prst="line">
            <a:avLst/>
          </a:prstGeom>
          <a:noFill/>
          <a:ln w="7620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6020">
                                            <p:txEl>
                                              <p:pRg st="0" end="0"/>
                                            </p:txEl>
                                          </p:spTgt>
                                        </p:tgtEl>
                                        <p:attrNameLst>
                                          <p:attrName>style.visibility</p:attrName>
                                        </p:attrNameLst>
                                      </p:cBhvr>
                                      <p:to>
                                        <p:strVal val="visible"/>
                                      </p:to>
                                    </p:set>
                                    <p:animEffect transition="in" filter="wipe(left)">
                                      <p:cBhvr>
                                        <p:cTn id="7" dur="300"/>
                                        <p:tgtEl>
                                          <p:spTgt spid="860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86023"/>
                                        </p:tgtEl>
                                        <p:attrNameLst>
                                          <p:attrName>style.visibility</p:attrName>
                                        </p:attrNameLst>
                                      </p:cBhvr>
                                      <p:to>
                                        <p:strVal val="visible"/>
                                      </p:to>
                                    </p:set>
                                    <p:animEffect transition="in" filter="wipe(left)">
                                      <p:cBhvr>
                                        <p:cTn id="12" dur="300"/>
                                        <p:tgtEl>
                                          <p:spTgt spid="860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86022"/>
                                        </p:tgtEl>
                                        <p:attrNameLst>
                                          <p:attrName>style.visibility</p:attrName>
                                        </p:attrNameLst>
                                      </p:cBhvr>
                                      <p:to>
                                        <p:strVal val="visible"/>
                                      </p:to>
                                    </p:set>
                                    <p:animEffect transition="in" filter="wipe(left)">
                                      <p:cBhvr>
                                        <p:cTn id="17" dur="300"/>
                                        <p:tgtEl>
                                          <p:spTgt spid="8602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86029"/>
                                        </p:tgtEl>
                                        <p:attrNameLst>
                                          <p:attrName>style.visibility</p:attrName>
                                        </p:attrNameLst>
                                      </p:cBhvr>
                                      <p:to>
                                        <p:strVal val="visible"/>
                                      </p:to>
                                    </p:set>
                                    <p:anim calcmode="lin" valueType="num">
                                      <p:cBhvr additive="base">
                                        <p:cTn id="22" dur="500" fill="hold"/>
                                        <p:tgtEl>
                                          <p:spTgt spid="86029"/>
                                        </p:tgtEl>
                                        <p:attrNameLst>
                                          <p:attrName>ppt_x</p:attrName>
                                        </p:attrNameLst>
                                      </p:cBhvr>
                                      <p:tavLst>
                                        <p:tav tm="0">
                                          <p:val>
                                            <p:strVal val="0-#ppt_w/2"/>
                                          </p:val>
                                        </p:tav>
                                        <p:tav tm="100000">
                                          <p:val>
                                            <p:strVal val="#ppt_x"/>
                                          </p:val>
                                        </p:tav>
                                      </p:tavLst>
                                    </p:anim>
                                    <p:anim calcmode="lin" valueType="num">
                                      <p:cBhvr additive="base">
                                        <p:cTn id="23" dur="500" fill="hold"/>
                                        <p:tgtEl>
                                          <p:spTgt spid="8602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86071"/>
                                        </p:tgtEl>
                                        <p:attrNameLst>
                                          <p:attrName>style.visibility</p:attrName>
                                        </p:attrNameLst>
                                      </p:cBhvr>
                                      <p:to>
                                        <p:strVal val="visible"/>
                                      </p:to>
                                    </p:set>
                                    <p:anim calcmode="lin" valueType="num">
                                      <p:cBhvr additive="base">
                                        <p:cTn id="28" dur="500" fill="hold"/>
                                        <p:tgtEl>
                                          <p:spTgt spid="86071"/>
                                        </p:tgtEl>
                                        <p:attrNameLst>
                                          <p:attrName>ppt_x</p:attrName>
                                        </p:attrNameLst>
                                      </p:cBhvr>
                                      <p:tavLst>
                                        <p:tav tm="0">
                                          <p:val>
                                            <p:strVal val="1+#ppt_w/2"/>
                                          </p:val>
                                        </p:tav>
                                        <p:tav tm="100000">
                                          <p:val>
                                            <p:strVal val="#ppt_x"/>
                                          </p:val>
                                        </p:tav>
                                      </p:tavLst>
                                    </p:anim>
                                    <p:anim calcmode="lin" valueType="num">
                                      <p:cBhvr additive="base">
                                        <p:cTn id="29" dur="500" fill="hold"/>
                                        <p:tgtEl>
                                          <p:spTgt spid="86071"/>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86114"/>
                                        </p:tgtEl>
                                        <p:attrNameLst>
                                          <p:attrName>style.visibility</p:attrName>
                                        </p:attrNameLst>
                                      </p:cBhvr>
                                      <p:to>
                                        <p:strVal val="visible"/>
                                      </p:to>
                                    </p:set>
                                    <p:animEffect transition="in" filter="wipe(down)">
                                      <p:cBhvr>
                                        <p:cTn id="34" dur="2000"/>
                                        <p:tgtEl>
                                          <p:spTgt spid="86114"/>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86069"/>
                                        </p:tgtEl>
                                        <p:attrNameLst>
                                          <p:attrName>style.visibility</p:attrName>
                                        </p:attrNameLst>
                                      </p:cBhvr>
                                      <p:to>
                                        <p:strVal val="visible"/>
                                      </p:to>
                                    </p:set>
                                    <p:anim calcmode="lin" valueType="num">
                                      <p:cBhvr>
                                        <p:cTn id="39" dur="500" fill="hold"/>
                                        <p:tgtEl>
                                          <p:spTgt spid="86069"/>
                                        </p:tgtEl>
                                        <p:attrNameLst>
                                          <p:attrName>ppt_x</p:attrName>
                                        </p:attrNameLst>
                                      </p:cBhvr>
                                      <p:tavLst>
                                        <p:tav tm="0">
                                          <p:val>
                                            <p:strVal val="#ppt_x-#ppt_w/2"/>
                                          </p:val>
                                        </p:tav>
                                        <p:tav tm="100000">
                                          <p:val>
                                            <p:strVal val="#ppt_x"/>
                                          </p:val>
                                        </p:tav>
                                      </p:tavLst>
                                    </p:anim>
                                    <p:anim calcmode="lin" valueType="num">
                                      <p:cBhvr>
                                        <p:cTn id="40" dur="500" fill="hold"/>
                                        <p:tgtEl>
                                          <p:spTgt spid="86069"/>
                                        </p:tgtEl>
                                        <p:attrNameLst>
                                          <p:attrName>ppt_y</p:attrName>
                                        </p:attrNameLst>
                                      </p:cBhvr>
                                      <p:tavLst>
                                        <p:tav tm="0">
                                          <p:val>
                                            <p:strVal val="#ppt_y"/>
                                          </p:val>
                                        </p:tav>
                                        <p:tav tm="100000">
                                          <p:val>
                                            <p:strVal val="#ppt_y"/>
                                          </p:val>
                                        </p:tav>
                                      </p:tavLst>
                                    </p:anim>
                                    <p:anim calcmode="lin" valueType="num">
                                      <p:cBhvr>
                                        <p:cTn id="41" dur="500" fill="hold"/>
                                        <p:tgtEl>
                                          <p:spTgt spid="86069"/>
                                        </p:tgtEl>
                                        <p:attrNameLst>
                                          <p:attrName>ppt_w</p:attrName>
                                        </p:attrNameLst>
                                      </p:cBhvr>
                                      <p:tavLst>
                                        <p:tav tm="0">
                                          <p:val>
                                            <p:fltVal val="0"/>
                                          </p:val>
                                        </p:tav>
                                        <p:tav tm="100000">
                                          <p:val>
                                            <p:strVal val="#ppt_w"/>
                                          </p:val>
                                        </p:tav>
                                      </p:tavLst>
                                    </p:anim>
                                    <p:anim calcmode="lin" valueType="num">
                                      <p:cBhvr>
                                        <p:cTn id="42" dur="500" fill="hold"/>
                                        <p:tgtEl>
                                          <p:spTgt spid="86069"/>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86026"/>
                                        </p:tgtEl>
                                        <p:attrNameLst>
                                          <p:attrName>style.visibility</p:attrName>
                                        </p:attrNameLst>
                                      </p:cBhvr>
                                      <p:to>
                                        <p:strVal val="visible"/>
                                      </p:to>
                                    </p:set>
                                    <p:animEffect transition="in" filter="barn(outHorizontal)">
                                      <p:cBhvr>
                                        <p:cTn id="47" dur="500"/>
                                        <p:tgtEl>
                                          <p:spTgt spid="860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86025"/>
                                        </p:tgtEl>
                                        <p:attrNameLst>
                                          <p:attrName>style.visibility</p:attrName>
                                        </p:attrNameLst>
                                      </p:cBhvr>
                                      <p:to>
                                        <p:strVal val="visible"/>
                                      </p:to>
                                    </p:set>
                                    <p:animEffect transition="in" filter="wipe(left)">
                                      <p:cBhvr>
                                        <p:cTn id="52" dur="300"/>
                                        <p:tgtEl>
                                          <p:spTgt spid="860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86024"/>
                                        </p:tgtEl>
                                        <p:attrNameLst>
                                          <p:attrName>style.visibility</p:attrName>
                                        </p:attrNameLst>
                                      </p:cBhvr>
                                      <p:to>
                                        <p:strVal val="visible"/>
                                      </p:to>
                                    </p:set>
                                    <p:animEffect transition="in" filter="wipe(left)">
                                      <p:cBhvr>
                                        <p:cTn id="57" dur="300"/>
                                        <p:tgtEl>
                                          <p:spTgt spid="8602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wd">
                                    <p:tmPct val="100000"/>
                                  </p:iterate>
                                  <p:childTnLst>
                                    <p:set>
                                      <p:cBhvr>
                                        <p:cTn id="61" dur="1" fill="hold">
                                          <p:stCondLst>
                                            <p:cond delay="0"/>
                                          </p:stCondLst>
                                        </p:cTn>
                                        <p:tgtEl>
                                          <p:spTgt spid="86110"/>
                                        </p:tgtEl>
                                        <p:attrNameLst>
                                          <p:attrName>style.visibility</p:attrName>
                                        </p:attrNameLst>
                                      </p:cBhvr>
                                      <p:to>
                                        <p:strVal val="visible"/>
                                      </p:to>
                                    </p:set>
                                    <p:animEffect transition="in" filter="wipe(left)">
                                      <p:cBhvr>
                                        <p:cTn id="62" dur="300"/>
                                        <p:tgtEl>
                                          <p:spTgt spid="8611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86111"/>
                                        </p:tgtEl>
                                        <p:attrNameLst>
                                          <p:attrName>style.visibility</p:attrName>
                                        </p:attrNameLst>
                                      </p:cBhvr>
                                      <p:to>
                                        <p:strVal val="visible"/>
                                      </p:to>
                                    </p:set>
                                    <p:animEffect transition="in" filter="wipe(left)">
                                      <p:cBhvr>
                                        <p:cTn id="67" dur="2000"/>
                                        <p:tgtEl>
                                          <p:spTgt spid="8611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86113"/>
                                        </p:tgtEl>
                                        <p:attrNameLst>
                                          <p:attrName>style.visibility</p:attrName>
                                        </p:attrNameLst>
                                      </p:cBhvr>
                                      <p:to>
                                        <p:strVal val="visible"/>
                                      </p:to>
                                    </p:set>
                                    <p:animEffect transition="in" filter="wipe(left)">
                                      <p:cBhvr>
                                        <p:cTn id="72" dur="2000"/>
                                        <p:tgtEl>
                                          <p:spTgt spid="86113"/>
                                        </p:tgtEl>
                                      </p:cBhvr>
                                    </p:animEffect>
                                  </p:childTnLst>
                                </p:cTn>
                              </p:par>
                            </p:childTnLst>
                          </p:cTn>
                        </p:par>
                      </p:childTnLst>
                    </p:cTn>
                  </p:par>
                  <p:par>
                    <p:cTn id="73" fill="hold">
                      <p:stCondLst>
                        <p:cond delay="indefinite"/>
                      </p:stCondLst>
                      <p:childTnLst>
                        <p:par>
                          <p:cTn id="74" fill="hold">
                            <p:stCondLst>
                              <p:cond delay="0"/>
                            </p:stCondLst>
                            <p:childTnLst>
                              <p:par>
                                <p:cTn id="75" presetID="17" presetClass="entr" presetSubtype="8" fill="hold" grpId="0" nodeType="clickEffect">
                                  <p:stCondLst>
                                    <p:cond delay="0"/>
                                  </p:stCondLst>
                                  <p:childTnLst>
                                    <p:set>
                                      <p:cBhvr>
                                        <p:cTn id="76" dur="1" fill="hold">
                                          <p:stCondLst>
                                            <p:cond delay="0"/>
                                          </p:stCondLst>
                                        </p:cTn>
                                        <p:tgtEl>
                                          <p:spTgt spid="95"/>
                                        </p:tgtEl>
                                        <p:attrNameLst>
                                          <p:attrName>style.visibility</p:attrName>
                                        </p:attrNameLst>
                                      </p:cBhvr>
                                      <p:to>
                                        <p:strVal val="visible"/>
                                      </p:to>
                                    </p:set>
                                    <p:anim calcmode="lin" valueType="num">
                                      <p:cBhvr>
                                        <p:cTn id="77" dur="500" fill="hold"/>
                                        <p:tgtEl>
                                          <p:spTgt spid="95"/>
                                        </p:tgtEl>
                                        <p:attrNameLst>
                                          <p:attrName>ppt_x</p:attrName>
                                        </p:attrNameLst>
                                      </p:cBhvr>
                                      <p:tavLst>
                                        <p:tav tm="0">
                                          <p:val>
                                            <p:strVal val="#ppt_x-#ppt_w/2"/>
                                          </p:val>
                                        </p:tav>
                                        <p:tav tm="100000">
                                          <p:val>
                                            <p:strVal val="#ppt_x"/>
                                          </p:val>
                                        </p:tav>
                                      </p:tavLst>
                                    </p:anim>
                                    <p:anim calcmode="lin" valueType="num">
                                      <p:cBhvr>
                                        <p:cTn id="78" dur="500" fill="hold"/>
                                        <p:tgtEl>
                                          <p:spTgt spid="95"/>
                                        </p:tgtEl>
                                        <p:attrNameLst>
                                          <p:attrName>ppt_y</p:attrName>
                                        </p:attrNameLst>
                                      </p:cBhvr>
                                      <p:tavLst>
                                        <p:tav tm="0">
                                          <p:val>
                                            <p:strVal val="#ppt_y"/>
                                          </p:val>
                                        </p:tav>
                                        <p:tav tm="100000">
                                          <p:val>
                                            <p:strVal val="#ppt_y"/>
                                          </p:val>
                                        </p:tav>
                                      </p:tavLst>
                                    </p:anim>
                                    <p:anim calcmode="lin" valueType="num">
                                      <p:cBhvr>
                                        <p:cTn id="79" dur="500" fill="hold"/>
                                        <p:tgtEl>
                                          <p:spTgt spid="95"/>
                                        </p:tgtEl>
                                        <p:attrNameLst>
                                          <p:attrName>ppt_w</p:attrName>
                                        </p:attrNameLst>
                                      </p:cBhvr>
                                      <p:tavLst>
                                        <p:tav tm="0">
                                          <p:val>
                                            <p:fltVal val="0"/>
                                          </p:val>
                                        </p:tav>
                                        <p:tav tm="100000">
                                          <p:val>
                                            <p:strVal val="#ppt_w"/>
                                          </p:val>
                                        </p:tav>
                                      </p:tavLst>
                                    </p:anim>
                                    <p:anim calcmode="lin" valueType="num">
                                      <p:cBhvr>
                                        <p:cTn id="80" dur="500" fill="hold"/>
                                        <p:tgtEl>
                                          <p:spTgt spid="9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build="p" autoUpdateAnimBg="0"/>
      <p:bldP spid="86022" grpId="0" bldLvl="0" animBg="1" autoUpdateAnimBg="0"/>
      <p:bldP spid="86023" grpId="0" bldLvl="0" animBg="1" autoUpdateAnimBg="0"/>
      <p:bldP spid="86024" grpId="0" bldLvl="0" animBg="1" autoUpdateAnimBg="0"/>
      <p:bldP spid="86025" grpId="0" bldLvl="0" animBg="1" autoUpdateAnimBg="0"/>
      <p:bldP spid="86069" grpId="0" bldLvl="0" animBg="1"/>
      <p:bldP spid="86110" grpId="0" bldLvl="0" animBg="1" autoUpdateAnimBg="0"/>
      <p:bldP spid="95"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
          <p:cNvSpPr txBox="1">
            <a:spLocks noChangeArrowheads="1"/>
          </p:cNvSpPr>
          <p:nvPr/>
        </p:nvSpPr>
        <p:spPr bwMode="auto">
          <a:xfrm>
            <a:off x="399862" y="360060"/>
            <a:ext cx="77343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4. </a:t>
            </a:r>
            <a:r>
              <a:rPr lang="zh-CN" altLang="en-US" b="1" dirty="0">
                <a:latin typeface="宋体" panose="02010600030101010101" pitchFamily="2" charset="-122"/>
              </a:rPr>
              <a:t>最小实体状态</a:t>
            </a:r>
            <a:r>
              <a:rPr lang="zh-CN" altLang="en-US" b="1" dirty="0"/>
              <a:t>（</a:t>
            </a:r>
            <a:r>
              <a:rPr lang="en-US" altLang="zh-CN" b="1" dirty="0"/>
              <a:t>LMC）</a:t>
            </a:r>
            <a:r>
              <a:rPr lang="zh-CN" altLang="en-US" b="1" dirty="0"/>
              <a:t>和最小实体尺寸（</a:t>
            </a:r>
            <a:r>
              <a:rPr lang="en-US" altLang="zh-CN" b="1" dirty="0"/>
              <a:t>LMS）</a:t>
            </a:r>
            <a:r>
              <a:rPr lang="en-US" altLang="zh-CN" dirty="0"/>
              <a:t> </a:t>
            </a:r>
            <a:endParaRPr lang="zh-CN" altLang="en-US" dirty="0"/>
          </a:p>
        </p:txBody>
      </p:sp>
      <p:sp>
        <p:nvSpPr>
          <p:cNvPr id="49157" name="Text Box 5"/>
          <p:cNvSpPr txBox="1">
            <a:spLocks noChangeArrowheads="1"/>
          </p:cNvSpPr>
          <p:nvPr/>
        </p:nvSpPr>
        <p:spPr bwMode="auto">
          <a:xfrm>
            <a:off x="589280" y="1506220"/>
            <a:ext cx="7928610" cy="8299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0"/>
              </a:spcBef>
            </a:pPr>
            <a:r>
              <a:rPr lang="zh-CN" altLang="en-US" sz="2000" b="1" dirty="0" smtClean="0"/>
              <a:t>    实际要素</a:t>
            </a:r>
            <a:r>
              <a:rPr lang="zh-CN" altLang="en-US" sz="2000" b="1" dirty="0"/>
              <a:t>在给定长度上处处位于尺寸公差带内，并具有</a:t>
            </a:r>
            <a:r>
              <a:rPr lang="zh-CN" altLang="en-US" sz="2000" b="1" dirty="0">
                <a:solidFill>
                  <a:srgbClr val="FF3300"/>
                </a:solidFill>
              </a:rPr>
              <a:t>实体最小</a:t>
            </a:r>
            <a:r>
              <a:rPr lang="en-US" altLang="zh-CN" sz="2000" b="1" dirty="0"/>
              <a:t>（</a:t>
            </a:r>
            <a:r>
              <a:rPr lang="zh-CN" altLang="en-US" sz="2000" b="1" dirty="0"/>
              <a:t>即材料最少，重量最轻）的状态。 </a:t>
            </a:r>
          </a:p>
        </p:txBody>
      </p:sp>
      <p:sp>
        <p:nvSpPr>
          <p:cNvPr id="49161" name="Text Box 9"/>
          <p:cNvSpPr txBox="1">
            <a:spLocks noChangeArrowheads="1"/>
          </p:cNvSpPr>
          <p:nvPr/>
        </p:nvSpPr>
        <p:spPr bwMode="auto">
          <a:xfrm>
            <a:off x="541279" y="1060566"/>
            <a:ext cx="587851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(1) </a:t>
            </a:r>
            <a:r>
              <a:rPr lang="zh-CN" altLang="en-US" b="1" dirty="0"/>
              <a:t>最小实体尺寸（</a:t>
            </a:r>
            <a:r>
              <a:rPr lang="en-US" altLang="zh-CN" b="1" dirty="0">
                <a:solidFill>
                  <a:srgbClr val="FF3300"/>
                </a:solidFill>
              </a:rPr>
              <a:t>LMC</a:t>
            </a:r>
            <a:r>
              <a:rPr lang="zh-CN" altLang="en-US" b="1" dirty="0" smtClean="0"/>
              <a:t>）</a:t>
            </a:r>
            <a:endParaRPr lang="zh-CN" altLang="en-US" b="1" dirty="0">
              <a:cs typeface="Times New Roman" panose="02020603050405020304" pitchFamily="18" charset="0"/>
            </a:endParaRPr>
          </a:p>
        </p:txBody>
      </p:sp>
      <p:sp>
        <p:nvSpPr>
          <p:cNvPr id="49198" name="Text Box 46"/>
          <p:cNvSpPr txBox="1">
            <a:spLocks noChangeArrowheads="1"/>
          </p:cNvSpPr>
          <p:nvPr/>
        </p:nvSpPr>
        <p:spPr bwMode="auto">
          <a:xfrm rot="-5400000">
            <a:off x="3273163" y="3316834"/>
            <a:ext cx="76644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solidFill>
                  <a:srgbClr val="FF3300"/>
                </a:solidFill>
              </a:rPr>
              <a:t>D</a:t>
            </a:r>
            <a:r>
              <a:rPr lang="en-US" altLang="zh-CN" b="1" baseline="-25000">
                <a:solidFill>
                  <a:srgbClr val="FF3300"/>
                </a:solidFill>
              </a:rPr>
              <a:t>max</a:t>
            </a:r>
          </a:p>
        </p:txBody>
      </p:sp>
      <p:sp>
        <p:nvSpPr>
          <p:cNvPr id="49227" name="Text Box 75"/>
          <p:cNvSpPr txBox="1">
            <a:spLocks noChangeArrowheads="1"/>
          </p:cNvSpPr>
          <p:nvPr/>
        </p:nvSpPr>
        <p:spPr bwMode="auto">
          <a:xfrm rot="-5400000">
            <a:off x="4813136" y="3365590"/>
            <a:ext cx="74549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FF33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err="1">
                <a:solidFill>
                  <a:srgbClr val="FF3300"/>
                </a:solidFill>
              </a:rPr>
              <a:t>d</a:t>
            </a:r>
            <a:r>
              <a:rPr lang="en-US" altLang="zh-CN" b="1" baseline="-25000" dirty="0" err="1">
                <a:solidFill>
                  <a:srgbClr val="FF3300"/>
                </a:solidFill>
              </a:rPr>
              <a:t>min</a:t>
            </a:r>
            <a:endParaRPr lang="en-US" altLang="zh-CN" b="1" baseline="-25000" dirty="0">
              <a:solidFill>
                <a:srgbClr val="FF3300"/>
              </a:solidFill>
            </a:endParaRPr>
          </a:p>
        </p:txBody>
      </p:sp>
      <p:grpSp>
        <p:nvGrpSpPr>
          <p:cNvPr id="49253" name="Group 101"/>
          <p:cNvGrpSpPr/>
          <p:nvPr/>
        </p:nvGrpSpPr>
        <p:grpSpPr bwMode="auto">
          <a:xfrm>
            <a:off x="1118908" y="2895204"/>
            <a:ext cx="2938463" cy="2028825"/>
            <a:chOff x="654" y="2257"/>
            <a:chExt cx="1851" cy="1704"/>
          </a:xfrm>
        </p:grpSpPr>
        <p:grpSp>
          <p:nvGrpSpPr>
            <p:cNvPr id="11317" name="Group 95"/>
            <p:cNvGrpSpPr/>
            <p:nvPr/>
          </p:nvGrpSpPr>
          <p:grpSpPr bwMode="auto">
            <a:xfrm>
              <a:off x="654" y="2257"/>
              <a:ext cx="1851" cy="1495"/>
              <a:chOff x="654" y="2107"/>
              <a:chExt cx="1851" cy="1495"/>
            </a:xfrm>
          </p:grpSpPr>
          <p:grpSp>
            <p:nvGrpSpPr>
              <p:cNvPr id="11319" name="Group 86"/>
              <p:cNvGrpSpPr/>
              <p:nvPr/>
            </p:nvGrpSpPr>
            <p:grpSpPr bwMode="auto">
              <a:xfrm>
                <a:off x="732" y="2107"/>
                <a:ext cx="1773" cy="1134"/>
                <a:chOff x="3573" y="837"/>
                <a:chExt cx="1773" cy="1134"/>
              </a:xfrm>
            </p:grpSpPr>
            <p:sp>
              <p:nvSpPr>
                <p:cNvPr id="11324" name="Line 15"/>
                <p:cNvSpPr>
                  <a:spLocks noChangeShapeType="1"/>
                </p:cNvSpPr>
                <p:nvPr/>
              </p:nvSpPr>
              <p:spPr bwMode="auto">
                <a:xfrm>
                  <a:off x="3582" y="1134"/>
                  <a:ext cx="1179" cy="0"/>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25" name="Line 16"/>
                <p:cNvSpPr>
                  <a:spLocks noChangeShapeType="1"/>
                </p:cNvSpPr>
                <p:nvPr/>
              </p:nvSpPr>
              <p:spPr bwMode="auto">
                <a:xfrm>
                  <a:off x="3573" y="1728"/>
                  <a:ext cx="1179" cy="0"/>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26" name="Line 17"/>
                <p:cNvSpPr>
                  <a:spLocks noChangeShapeType="1"/>
                </p:cNvSpPr>
                <p:nvPr/>
              </p:nvSpPr>
              <p:spPr bwMode="auto">
                <a:xfrm>
                  <a:off x="3591" y="846"/>
                  <a:ext cx="0" cy="1107"/>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27" name="Line 18"/>
                <p:cNvSpPr>
                  <a:spLocks noChangeShapeType="1"/>
                </p:cNvSpPr>
                <p:nvPr/>
              </p:nvSpPr>
              <p:spPr bwMode="auto">
                <a:xfrm>
                  <a:off x="4752" y="864"/>
                  <a:ext cx="0" cy="1107"/>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28" name="Line 19"/>
                <p:cNvSpPr>
                  <a:spLocks noChangeShapeType="1"/>
                </p:cNvSpPr>
                <p:nvPr/>
              </p:nvSpPr>
              <p:spPr bwMode="auto">
                <a:xfrm>
                  <a:off x="3582" y="981"/>
                  <a:ext cx="1179" cy="0"/>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29" name="Line 20"/>
                <p:cNvSpPr>
                  <a:spLocks noChangeShapeType="1"/>
                </p:cNvSpPr>
                <p:nvPr/>
              </p:nvSpPr>
              <p:spPr bwMode="auto">
                <a:xfrm flipV="1">
                  <a:off x="3987" y="999"/>
                  <a:ext cx="203" cy="11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30" name="Line 21"/>
                <p:cNvSpPr>
                  <a:spLocks noChangeShapeType="1"/>
                </p:cNvSpPr>
                <p:nvPr/>
              </p:nvSpPr>
              <p:spPr bwMode="auto">
                <a:xfrm flipV="1">
                  <a:off x="3672" y="990"/>
                  <a:ext cx="203" cy="11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31" name="Line 22"/>
                <p:cNvSpPr>
                  <a:spLocks noChangeShapeType="1"/>
                </p:cNvSpPr>
                <p:nvPr/>
              </p:nvSpPr>
              <p:spPr bwMode="auto">
                <a:xfrm flipV="1">
                  <a:off x="4266" y="990"/>
                  <a:ext cx="203" cy="11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32" name="Line 23"/>
                <p:cNvSpPr>
                  <a:spLocks noChangeShapeType="1"/>
                </p:cNvSpPr>
                <p:nvPr/>
              </p:nvSpPr>
              <p:spPr bwMode="auto">
                <a:xfrm flipV="1">
                  <a:off x="4545" y="1008"/>
                  <a:ext cx="203" cy="11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33" name="Arc 24"/>
                <p:cNvSpPr/>
                <p:nvPr/>
              </p:nvSpPr>
              <p:spPr bwMode="auto">
                <a:xfrm>
                  <a:off x="3573" y="856"/>
                  <a:ext cx="1185" cy="27"/>
                </a:xfrm>
                <a:custGeom>
                  <a:avLst/>
                  <a:gdLst>
                    <a:gd name="T0" fmla="*/ 0 w 21148"/>
                    <a:gd name="T1" fmla="*/ 0 h 21600"/>
                    <a:gd name="T2" fmla="*/ 0 w 21148"/>
                    <a:gd name="T3" fmla="*/ 0 h 21600"/>
                    <a:gd name="T4" fmla="*/ 0 w 21148"/>
                    <a:gd name="T5" fmla="*/ 0 h 21600"/>
                    <a:gd name="T6" fmla="*/ 0 60000 65536"/>
                    <a:gd name="T7" fmla="*/ 0 60000 65536"/>
                    <a:gd name="T8" fmla="*/ 0 60000 65536"/>
                  </a:gdLst>
                  <a:ahLst/>
                  <a:cxnLst>
                    <a:cxn ang="T6">
                      <a:pos x="T0" y="T1"/>
                    </a:cxn>
                    <a:cxn ang="T7">
                      <a:pos x="T2" y="T3"/>
                    </a:cxn>
                    <a:cxn ang="T8">
                      <a:pos x="T4" y="T5"/>
                    </a:cxn>
                  </a:cxnLst>
                  <a:rect l="0" t="0" r="r" b="b"/>
                  <a:pathLst>
                    <a:path w="21148" h="21600" fill="none" extrusionOk="0">
                      <a:moveTo>
                        <a:pt x="-1" y="0"/>
                      </a:moveTo>
                      <a:cubicBezTo>
                        <a:pt x="10234" y="0"/>
                        <a:pt x="19064" y="7182"/>
                        <a:pt x="21147" y="17203"/>
                      </a:cubicBezTo>
                    </a:path>
                    <a:path w="21148" h="21600" stroke="0" extrusionOk="0">
                      <a:moveTo>
                        <a:pt x="-1" y="0"/>
                      </a:moveTo>
                      <a:cubicBezTo>
                        <a:pt x="10234" y="0"/>
                        <a:pt x="19064" y="7182"/>
                        <a:pt x="21147" y="17203"/>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334" name="Arc 25"/>
                <p:cNvSpPr/>
                <p:nvPr/>
              </p:nvSpPr>
              <p:spPr bwMode="auto">
                <a:xfrm>
                  <a:off x="3581" y="1943"/>
                  <a:ext cx="1185" cy="0"/>
                </a:xfrm>
                <a:custGeom>
                  <a:avLst/>
                  <a:gdLst>
                    <a:gd name="T0" fmla="*/ 0 w 21148"/>
                    <a:gd name="T1" fmla="*/ 0 h 21600"/>
                    <a:gd name="T2" fmla="*/ 0 w 21148"/>
                    <a:gd name="T3" fmla="*/ 0 h 21600"/>
                    <a:gd name="T4" fmla="*/ 0 w 21148"/>
                    <a:gd name="T5" fmla="*/ 0 h 21600"/>
                    <a:gd name="T6" fmla="*/ 0 60000 65536"/>
                    <a:gd name="T7" fmla="*/ 0 60000 65536"/>
                    <a:gd name="T8" fmla="*/ 0 60000 65536"/>
                  </a:gdLst>
                  <a:ahLst/>
                  <a:cxnLst>
                    <a:cxn ang="T6">
                      <a:pos x="T0" y="T1"/>
                    </a:cxn>
                    <a:cxn ang="T7">
                      <a:pos x="T2" y="T3"/>
                    </a:cxn>
                    <a:cxn ang="T8">
                      <a:pos x="T4" y="T5"/>
                    </a:cxn>
                  </a:cxnLst>
                  <a:rect l="0" t="0" r="r" b="b"/>
                  <a:pathLst>
                    <a:path w="21148" h="21600" fill="none" extrusionOk="0">
                      <a:moveTo>
                        <a:pt x="-1" y="0"/>
                      </a:moveTo>
                      <a:cubicBezTo>
                        <a:pt x="10234" y="0"/>
                        <a:pt x="19064" y="7182"/>
                        <a:pt x="21147" y="17203"/>
                      </a:cubicBezTo>
                    </a:path>
                    <a:path w="21148" h="21600" stroke="0" extrusionOk="0">
                      <a:moveTo>
                        <a:pt x="-1" y="0"/>
                      </a:moveTo>
                      <a:cubicBezTo>
                        <a:pt x="10234" y="0"/>
                        <a:pt x="19064" y="7182"/>
                        <a:pt x="21147" y="17203"/>
                      </a:cubicBezTo>
                      <a:lnTo>
                        <a:pt x="0" y="21600"/>
                      </a:lnTo>
                      <a:lnTo>
                        <a:pt x="-1" y="0"/>
                      </a:lnTo>
                      <a:close/>
                    </a:path>
                  </a:pathLst>
                </a:cu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335" name="Line 26"/>
                <p:cNvSpPr>
                  <a:spLocks noChangeShapeType="1"/>
                </p:cNvSpPr>
                <p:nvPr/>
              </p:nvSpPr>
              <p:spPr bwMode="auto">
                <a:xfrm flipV="1">
                  <a:off x="3636" y="1755"/>
                  <a:ext cx="162" cy="1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36" name="Line 27"/>
                <p:cNvSpPr>
                  <a:spLocks noChangeShapeType="1"/>
                </p:cNvSpPr>
                <p:nvPr/>
              </p:nvSpPr>
              <p:spPr bwMode="auto">
                <a:xfrm flipV="1">
                  <a:off x="3861" y="1737"/>
                  <a:ext cx="162" cy="1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37" name="Line 28"/>
                <p:cNvSpPr>
                  <a:spLocks noChangeShapeType="1"/>
                </p:cNvSpPr>
                <p:nvPr/>
              </p:nvSpPr>
              <p:spPr bwMode="auto">
                <a:xfrm flipV="1">
                  <a:off x="4086" y="1746"/>
                  <a:ext cx="162" cy="1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38" name="Line 29"/>
                <p:cNvSpPr>
                  <a:spLocks noChangeShapeType="1"/>
                </p:cNvSpPr>
                <p:nvPr/>
              </p:nvSpPr>
              <p:spPr bwMode="auto">
                <a:xfrm flipV="1">
                  <a:off x="4311" y="1737"/>
                  <a:ext cx="162" cy="1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39" name="Line 30"/>
                <p:cNvSpPr>
                  <a:spLocks noChangeShapeType="1"/>
                </p:cNvSpPr>
                <p:nvPr/>
              </p:nvSpPr>
              <p:spPr bwMode="auto">
                <a:xfrm flipV="1">
                  <a:off x="4500" y="1746"/>
                  <a:ext cx="162" cy="1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40" name="Line 31"/>
                <p:cNvSpPr>
                  <a:spLocks noChangeShapeType="1"/>
                </p:cNvSpPr>
                <p:nvPr/>
              </p:nvSpPr>
              <p:spPr bwMode="auto">
                <a:xfrm flipV="1">
                  <a:off x="3699" y="855"/>
                  <a:ext cx="144"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41" name="Line 32"/>
                <p:cNvSpPr>
                  <a:spLocks noChangeShapeType="1"/>
                </p:cNvSpPr>
                <p:nvPr/>
              </p:nvSpPr>
              <p:spPr bwMode="auto">
                <a:xfrm flipV="1">
                  <a:off x="4113" y="864"/>
                  <a:ext cx="144"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42" name="Line 33"/>
                <p:cNvSpPr>
                  <a:spLocks noChangeShapeType="1"/>
                </p:cNvSpPr>
                <p:nvPr/>
              </p:nvSpPr>
              <p:spPr bwMode="auto">
                <a:xfrm flipV="1">
                  <a:off x="3906" y="837"/>
                  <a:ext cx="144"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43" name="Line 34"/>
                <p:cNvSpPr>
                  <a:spLocks noChangeShapeType="1"/>
                </p:cNvSpPr>
                <p:nvPr/>
              </p:nvSpPr>
              <p:spPr bwMode="auto">
                <a:xfrm flipV="1">
                  <a:off x="4329" y="864"/>
                  <a:ext cx="144"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44" name="Line 35"/>
                <p:cNvSpPr>
                  <a:spLocks noChangeShapeType="1"/>
                </p:cNvSpPr>
                <p:nvPr/>
              </p:nvSpPr>
              <p:spPr bwMode="auto">
                <a:xfrm flipV="1">
                  <a:off x="4527" y="873"/>
                  <a:ext cx="144"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45" name="Line 36"/>
                <p:cNvSpPr>
                  <a:spLocks noChangeShapeType="1"/>
                </p:cNvSpPr>
                <p:nvPr/>
              </p:nvSpPr>
              <p:spPr bwMode="auto">
                <a:xfrm>
                  <a:off x="3636" y="990"/>
                  <a:ext cx="225"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46" name="Line 37"/>
                <p:cNvSpPr>
                  <a:spLocks noChangeShapeType="1"/>
                </p:cNvSpPr>
                <p:nvPr/>
              </p:nvSpPr>
              <p:spPr bwMode="auto">
                <a:xfrm>
                  <a:off x="3861" y="981"/>
                  <a:ext cx="225"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47" name="Line 38"/>
                <p:cNvSpPr>
                  <a:spLocks noChangeShapeType="1"/>
                </p:cNvSpPr>
                <p:nvPr/>
              </p:nvSpPr>
              <p:spPr bwMode="auto">
                <a:xfrm>
                  <a:off x="4050" y="981"/>
                  <a:ext cx="225"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48" name="Line 39"/>
                <p:cNvSpPr>
                  <a:spLocks noChangeShapeType="1"/>
                </p:cNvSpPr>
                <p:nvPr/>
              </p:nvSpPr>
              <p:spPr bwMode="auto">
                <a:xfrm>
                  <a:off x="4266" y="990"/>
                  <a:ext cx="225"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49" name="Line 40"/>
                <p:cNvSpPr>
                  <a:spLocks noChangeShapeType="1"/>
                </p:cNvSpPr>
                <p:nvPr/>
              </p:nvSpPr>
              <p:spPr bwMode="auto">
                <a:xfrm>
                  <a:off x="4491" y="981"/>
                  <a:ext cx="225" cy="12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50" name="Line 41"/>
                <p:cNvSpPr>
                  <a:spLocks noChangeShapeType="1"/>
                </p:cNvSpPr>
                <p:nvPr/>
              </p:nvSpPr>
              <p:spPr bwMode="auto">
                <a:xfrm>
                  <a:off x="4752" y="990"/>
                  <a:ext cx="59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51" name="Line 42"/>
                <p:cNvSpPr>
                  <a:spLocks noChangeShapeType="1"/>
                </p:cNvSpPr>
                <p:nvPr/>
              </p:nvSpPr>
              <p:spPr bwMode="auto">
                <a:xfrm>
                  <a:off x="4752" y="1728"/>
                  <a:ext cx="59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52" name="Line 43"/>
                <p:cNvSpPr>
                  <a:spLocks noChangeShapeType="1"/>
                </p:cNvSpPr>
                <p:nvPr/>
              </p:nvSpPr>
              <p:spPr bwMode="auto">
                <a:xfrm>
                  <a:off x="4779" y="1125"/>
                  <a:ext cx="306"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53" name="Line 44"/>
                <p:cNvSpPr>
                  <a:spLocks noChangeShapeType="1"/>
                </p:cNvSpPr>
                <p:nvPr/>
              </p:nvSpPr>
              <p:spPr bwMode="auto">
                <a:xfrm>
                  <a:off x="5274" y="990"/>
                  <a:ext cx="0" cy="747"/>
                </a:xfrm>
                <a:prstGeom prst="line">
                  <a:avLst/>
                </a:prstGeom>
                <a:noFill/>
                <a:ln w="38100">
                  <a:solidFill>
                    <a:srgbClr val="FF33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54" name="Line 45"/>
                <p:cNvSpPr>
                  <a:spLocks noChangeShapeType="1"/>
                </p:cNvSpPr>
                <p:nvPr/>
              </p:nvSpPr>
              <p:spPr bwMode="auto">
                <a:xfrm>
                  <a:off x="4986" y="1134"/>
                  <a:ext cx="0" cy="594"/>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55" name="Text Box 47"/>
                <p:cNvSpPr txBox="1">
                  <a:spLocks noChangeArrowheads="1"/>
                </p:cNvSpPr>
                <p:nvPr/>
              </p:nvSpPr>
              <p:spPr bwMode="auto">
                <a:xfrm rot="16200000">
                  <a:off x="4513" y="1301"/>
                  <a:ext cx="598" cy="2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t>D</a:t>
                  </a:r>
                  <a:r>
                    <a:rPr lang="en-US" altLang="zh-CN" baseline="-25000"/>
                    <a:t>min</a:t>
                  </a:r>
                </a:p>
              </p:txBody>
            </p:sp>
          </p:grpSp>
          <p:sp>
            <p:nvSpPr>
              <p:cNvPr id="11320" name="Line 88"/>
              <p:cNvSpPr>
                <a:spLocks noChangeShapeType="1"/>
              </p:cNvSpPr>
              <p:nvPr/>
            </p:nvSpPr>
            <p:spPr bwMode="auto">
              <a:xfrm>
                <a:off x="654" y="2685"/>
                <a:ext cx="1357" cy="0"/>
              </a:xfrm>
              <a:prstGeom prst="line">
                <a:avLst/>
              </a:prstGeom>
              <a:noFill/>
              <a:ln w="28575">
                <a:solidFill>
                  <a:schemeClr val="tx1"/>
                </a:solidFill>
                <a:prstDash val="lg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21" name="Line 89"/>
              <p:cNvSpPr>
                <a:spLocks noChangeShapeType="1"/>
              </p:cNvSpPr>
              <p:nvPr/>
            </p:nvSpPr>
            <p:spPr bwMode="auto">
              <a:xfrm>
                <a:off x="737" y="3153"/>
                <a:ext cx="0" cy="449"/>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22" name="Line 90"/>
              <p:cNvSpPr>
                <a:spLocks noChangeShapeType="1"/>
              </p:cNvSpPr>
              <p:nvPr/>
            </p:nvSpPr>
            <p:spPr bwMode="auto">
              <a:xfrm>
                <a:off x="1918" y="3141"/>
                <a:ext cx="0" cy="449"/>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23" name="Line 93"/>
              <p:cNvSpPr>
                <a:spLocks noChangeShapeType="1"/>
              </p:cNvSpPr>
              <p:nvPr/>
            </p:nvSpPr>
            <p:spPr bwMode="auto">
              <a:xfrm>
                <a:off x="723" y="3446"/>
                <a:ext cx="1181"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11318" name="Text Box 100"/>
            <p:cNvSpPr txBox="1">
              <a:spLocks noChangeArrowheads="1"/>
            </p:cNvSpPr>
            <p:nvPr/>
          </p:nvSpPr>
          <p:spPr bwMode="auto">
            <a:xfrm>
              <a:off x="1113" y="3626"/>
              <a:ext cx="276" cy="3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FF3300"/>
                  </a:solidFill>
                </a:rPr>
                <a:t>孔</a:t>
              </a:r>
            </a:p>
          </p:txBody>
        </p:sp>
      </p:grpSp>
      <p:sp>
        <p:nvSpPr>
          <p:cNvPr id="49263" name="Line 111"/>
          <p:cNvSpPr>
            <a:spLocks noChangeShapeType="1"/>
          </p:cNvSpPr>
          <p:nvPr/>
        </p:nvSpPr>
        <p:spPr bwMode="auto">
          <a:xfrm>
            <a:off x="1248374" y="3067844"/>
            <a:ext cx="1908000" cy="0"/>
          </a:xfrm>
          <a:prstGeom prst="line">
            <a:avLst/>
          </a:prstGeom>
          <a:noFill/>
          <a:ln w="5715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49273" name="Group 121"/>
          <p:cNvGrpSpPr/>
          <p:nvPr/>
        </p:nvGrpSpPr>
        <p:grpSpPr bwMode="auto">
          <a:xfrm>
            <a:off x="4541557" y="3029742"/>
            <a:ext cx="3525838" cy="1777603"/>
            <a:chOff x="2810" y="2370"/>
            <a:chExt cx="2221" cy="1493"/>
          </a:xfrm>
        </p:grpSpPr>
        <p:grpSp>
          <p:nvGrpSpPr>
            <p:cNvPr id="11286" name="Group 103"/>
            <p:cNvGrpSpPr/>
            <p:nvPr/>
          </p:nvGrpSpPr>
          <p:grpSpPr bwMode="auto">
            <a:xfrm>
              <a:off x="2810" y="2370"/>
              <a:ext cx="2221" cy="1493"/>
              <a:chOff x="2810" y="2370"/>
              <a:chExt cx="2221" cy="1493"/>
            </a:xfrm>
          </p:grpSpPr>
          <p:grpSp>
            <p:nvGrpSpPr>
              <p:cNvPr id="11295" name="Group 96"/>
              <p:cNvGrpSpPr/>
              <p:nvPr/>
            </p:nvGrpSpPr>
            <p:grpSpPr bwMode="auto">
              <a:xfrm>
                <a:off x="2810" y="2370"/>
                <a:ext cx="2221" cy="1264"/>
                <a:chOff x="2930" y="2170"/>
                <a:chExt cx="2221" cy="1264"/>
              </a:xfrm>
            </p:grpSpPr>
            <p:grpSp>
              <p:nvGrpSpPr>
                <p:cNvPr id="11297" name="Group 85"/>
                <p:cNvGrpSpPr/>
                <p:nvPr/>
              </p:nvGrpSpPr>
              <p:grpSpPr bwMode="auto">
                <a:xfrm>
                  <a:off x="2930" y="2170"/>
                  <a:ext cx="2221" cy="891"/>
                  <a:chOff x="3350" y="2961"/>
                  <a:chExt cx="2221" cy="891"/>
                </a:xfrm>
              </p:grpSpPr>
              <p:sp>
                <p:nvSpPr>
                  <p:cNvPr id="11301" name="Text Box 56"/>
                  <p:cNvSpPr txBox="1">
                    <a:spLocks noChangeArrowheads="1"/>
                  </p:cNvSpPr>
                  <p:nvPr/>
                </p:nvSpPr>
                <p:spPr bwMode="auto">
                  <a:xfrm rot="16200000">
                    <a:off x="3168" y="3227"/>
                    <a:ext cx="654" cy="2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t>d</a:t>
                    </a:r>
                    <a:r>
                      <a:rPr lang="en-US" altLang="zh-CN" b="1" baseline="-25000"/>
                      <a:t>max</a:t>
                    </a:r>
                  </a:p>
                </p:txBody>
              </p:sp>
              <p:grpSp>
                <p:nvGrpSpPr>
                  <p:cNvPr id="11302" name="Group 83"/>
                  <p:cNvGrpSpPr/>
                  <p:nvPr/>
                </p:nvGrpSpPr>
                <p:grpSpPr bwMode="auto">
                  <a:xfrm>
                    <a:off x="3537" y="2961"/>
                    <a:ext cx="2034" cy="891"/>
                    <a:chOff x="3537" y="2961"/>
                    <a:chExt cx="2034" cy="891"/>
                  </a:xfrm>
                </p:grpSpPr>
                <p:sp>
                  <p:nvSpPr>
                    <p:cNvPr id="11303" name="Line 58"/>
                    <p:cNvSpPr>
                      <a:spLocks noChangeShapeType="1"/>
                    </p:cNvSpPr>
                    <p:nvPr/>
                  </p:nvSpPr>
                  <p:spPr bwMode="auto">
                    <a:xfrm>
                      <a:off x="3537" y="3852"/>
                      <a:ext cx="540"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04" name="Line 60"/>
                    <p:cNvSpPr>
                      <a:spLocks noChangeShapeType="1"/>
                    </p:cNvSpPr>
                    <p:nvPr/>
                  </p:nvSpPr>
                  <p:spPr bwMode="auto">
                    <a:xfrm>
                      <a:off x="3816" y="3114"/>
                      <a:ext cx="270"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05" name="Line 62"/>
                    <p:cNvSpPr>
                      <a:spLocks noChangeShapeType="1"/>
                    </p:cNvSpPr>
                    <p:nvPr/>
                  </p:nvSpPr>
                  <p:spPr bwMode="auto">
                    <a:xfrm>
                      <a:off x="3564" y="2979"/>
                      <a:ext cx="540"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11306" name="Group 63"/>
                    <p:cNvGrpSpPr/>
                    <p:nvPr/>
                  </p:nvGrpSpPr>
                  <p:grpSpPr bwMode="auto">
                    <a:xfrm>
                      <a:off x="3861" y="2988"/>
                      <a:ext cx="1710" cy="855"/>
                      <a:chOff x="3744" y="1134"/>
                      <a:chExt cx="1710" cy="855"/>
                    </a:xfrm>
                  </p:grpSpPr>
                  <p:sp>
                    <p:nvSpPr>
                      <p:cNvPr id="11309" name="Rectangle 64"/>
                      <p:cNvSpPr>
                        <a:spLocks noChangeArrowheads="1"/>
                      </p:cNvSpPr>
                      <p:nvPr/>
                    </p:nvSpPr>
                    <p:spPr bwMode="auto">
                      <a:xfrm>
                        <a:off x="3978" y="1134"/>
                        <a:ext cx="1350" cy="855"/>
                      </a:xfrm>
                      <a:prstGeom prst="rect">
                        <a:avLst/>
                      </a:prstGeom>
                      <a:solidFill>
                        <a:schemeClr val="bg1"/>
                      </a:solidFill>
                      <a:ln w="38100">
                        <a:solidFill>
                          <a:schemeClr val="tx1"/>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310" name="Line 65"/>
                      <p:cNvSpPr>
                        <a:spLocks noChangeShapeType="1"/>
                      </p:cNvSpPr>
                      <p:nvPr/>
                    </p:nvSpPr>
                    <p:spPr bwMode="auto">
                      <a:xfrm>
                        <a:off x="3744" y="1566"/>
                        <a:ext cx="1710" cy="0"/>
                      </a:xfrm>
                      <a:prstGeom prst="line">
                        <a:avLst/>
                      </a:prstGeom>
                      <a:noFill/>
                      <a:ln w="38100">
                        <a:solidFill>
                          <a:schemeClr val="tx1"/>
                        </a:solidFill>
                        <a:prstDash val="lg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11" name="Line 66"/>
                      <p:cNvSpPr>
                        <a:spLocks noChangeShapeType="1"/>
                      </p:cNvSpPr>
                      <p:nvPr/>
                    </p:nvSpPr>
                    <p:spPr bwMode="auto">
                      <a:xfrm>
                        <a:off x="3960" y="1269"/>
                        <a:ext cx="1386" cy="0"/>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12" name="Line 67"/>
                      <p:cNvSpPr>
                        <a:spLocks noChangeShapeType="1"/>
                      </p:cNvSpPr>
                      <p:nvPr/>
                    </p:nvSpPr>
                    <p:spPr bwMode="auto">
                      <a:xfrm flipV="1">
                        <a:off x="4104" y="1143"/>
                        <a:ext cx="126" cy="108"/>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13" name="Line 68"/>
                      <p:cNvSpPr>
                        <a:spLocks noChangeShapeType="1"/>
                      </p:cNvSpPr>
                      <p:nvPr/>
                    </p:nvSpPr>
                    <p:spPr bwMode="auto">
                      <a:xfrm flipV="1">
                        <a:off x="4356" y="1143"/>
                        <a:ext cx="126" cy="108"/>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14" name="Line 69"/>
                      <p:cNvSpPr>
                        <a:spLocks noChangeShapeType="1"/>
                      </p:cNvSpPr>
                      <p:nvPr/>
                    </p:nvSpPr>
                    <p:spPr bwMode="auto">
                      <a:xfrm flipV="1">
                        <a:off x="4644" y="1152"/>
                        <a:ext cx="126" cy="108"/>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15" name="Line 70"/>
                      <p:cNvSpPr>
                        <a:spLocks noChangeShapeType="1"/>
                      </p:cNvSpPr>
                      <p:nvPr/>
                    </p:nvSpPr>
                    <p:spPr bwMode="auto">
                      <a:xfrm flipV="1">
                        <a:off x="4923" y="1152"/>
                        <a:ext cx="126" cy="108"/>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16" name="Line 71"/>
                      <p:cNvSpPr>
                        <a:spLocks noChangeShapeType="1"/>
                      </p:cNvSpPr>
                      <p:nvPr/>
                    </p:nvSpPr>
                    <p:spPr bwMode="auto">
                      <a:xfrm flipV="1">
                        <a:off x="5166" y="1161"/>
                        <a:ext cx="126" cy="108"/>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11307" name="Line 72"/>
                    <p:cNvSpPr>
                      <a:spLocks noChangeShapeType="1"/>
                    </p:cNvSpPr>
                    <p:nvPr/>
                  </p:nvSpPr>
                  <p:spPr bwMode="auto">
                    <a:xfrm>
                      <a:off x="3916" y="3121"/>
                      <a:ext cx="0" cy="729"/>
                    </a:xfrm>
                    <a:prstGeom prst="line">
                      <a:avLst/>
                    </a:prstGeom>
                    <a:noFill/>
                    <a:ln w="38100">
                      <a:solidFill>
                        <a:srgbClr val="FF33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08" name="Line 73"/>
                    <p:cNvSpPr>
                      <a:spLocks noChangeShapeType="1"/>
                    </p:cNvSpPr>
                    <p:nvPr/>
                  </p:nvSpPr>
                  <p:spPr bwMode="auto">
                    <a:xfrm>
                      <a:off x="3690" y="2961"/>
                      <a:ext cx="0" cy="873"/>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sp>
              <p:nvSpPr>
                <p:cNvPr id="11298" name="Line 91"/>
                <p:cNvSpPr>
                  <a:spLocks noChangeShapeType="1"/>
                </p:cNvSpPr>
                <p:nvPr/>
              </p:nvSpPr>
              <p:spPr bwMode="auto">
                <a:xfrm>
                  <a:off x="3670" y="2985"/>
                  <a:ext cx="0" cy="449"/>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299" name="Line 92"/>
                <p:cNvSpPr>
                  <a:spLocks noChangeShapeType="1"/>
                </p:cNvSpPr>
                <p:nvPr/>
              </p:nvSpPr>
              <p:spPr bwMode="auto">
                <a:xfrm>
                  <a:off x="5026" y="2983"/>
                  <a:ext cx="0" cy="449"/>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300" name="Line 94"/>
                <p:cNvSpPr>
                  <a:spLocks noChangeShapeType="1"/>
                </p:cNvSpPr>
                <p:nvPr/>
              </p:nvSpPr>
              <p:spPr bwMode="auto">
                <a:xfrm>
                  <a:off x="3680" y="3289"/>
                  <a:ext cx="1337" cy="2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11296" name="Text Box 102"/>
              <p:cNvSpPr txBox="1">
                <a:spLocks noChangeArrowheads="1"/>
              </p:cNvSpPr>
              <p:nvPr/>
            </p:nvSpPr>
            <p:spPr bwMode="auto">
              <a:xfrm>
                <a:off x="3974" y="3528"/>
                <a:ext cx="276" cy="3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FF3300"/>
                    </a:solidFill>
                  </a:rPr>
                  <a:t>轴</a:t>
                </a:r>
              </a:p>
            </p:txBody>
          </p:sp>
        </p:grpSp>
        <p:sp>
          <p:nvSpPr>
            <p:cNvPr id="11287" name="Line 113"/>
            <p:cNvSpPr>
              <a:spLocks noChangeShapeType="1"/>
            </p:cNvSpPr>
            <p:nvPr/>
          </p:nvSpPr>
          <p:spPr bwMode="auto">
            <a:xfrm>
              <a:off x="3596" y="2397"/>
              <a:ext cx="151" cy="11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288" name="Line 114"/>
            <p:cNvSpPr>
              <a:spLocks noChangeShapeType="1"/>
            </p:cNvSpPr>
            <p:nvPr/>
          </p:nvSpPr>
          <p:spPr bwMode="auto">
            <a:xfrm>
              <a:off x="3747" y="2398"/>
              <a:ext cx="151" cy="11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289" name="Line 115"/>
            <p:cNvSpPr>
              <a:spLocks noChangeShapeType="1"/>
            </p:cNvSpPr>
            <p:nvPr/>
          </p:nvSpPr>
          <p:spPr bwMode="auto">
            <a:xfrm>
              <a:off x="3910" y="2403"/>
              <a:ext cx="151" cy="11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290" name="Line 116"/>
            <p:cNvSpPr>
              <a:spLocks noChangeShapeType="1"/>
            </p:cNvSpPr>
            <p:nvPr/>
          </p:nvSpPr>
          <p:spPr bwMode="auto">
            <a:xfrm>
              <a:off x="4078" y="2396"/>
              <a:ext cx="151" cy="11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291" name="Line 117"/>
            <p:cNvSpPr>
              <a:spLocks noChangeShapeType="1"/>
            </p:cNvSpPr>
            <p:nvPr/>
          </p:nvSpPr>
          <p:spPr bwMode="auto">
            <a:xfrm>
              <a:off x="4229" y="2396"/>
              <a:ext cx="151" cy="11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292" name="Line 118"/>
            <p:cNvSpPr>
              <a:spLocks noChangeShapeType="1"/>
            </p:cNvSpPr>
            <p:nvPr/>
          </p:nvSpPr>
          <p:spPr bwMode="auto">
            <a:xfrm>
              <a:off x="4404" y="2396"/>
              <a:ext cx="151" cy="11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293" name="Line 119"/>
            <p:cNvSpPr>
              <a:spLocks noChangeShapeType="1"/>
            </p:cNvSpPr>
            <p:nvPr/>
          </p:nvSpPr>
          <p:spPr bwMode="auto">
            <a:xfrm>
              <a:off x="4578" y="2396"/>
              <a:ext cx="151" cy="11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294" name="Line 120"/>
            <p:cNvSpPr>
              <a:spLocks noChangeShapeType="1"/>
            </p:cNvSpPr>
            <p:nvPr/>
          </p:nvSpPr>
          <p:spPr bwMode="auto">
            <a:xfrm>
              <a:off x="4753" y="2385"/>
              <a:ext cx="151" cy="116"/>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49279" name="Group 127"/>
          <p:cNvGrpSpPr/>
          <p:nvPr/>
        </p:nvGrpSpPr>
        <p:grpSpPr bwMode="auto">
          <a:xfrm>
            <a:off x="3506507" y="3104752"/>
            <a:ext cx="3179763" cy="1513283"/>
            <a:chOff x="2158" y="2393"/>
            <a:chExt cx="2003" cy="1271"/>
          </a:xfrm>
        </p:grpSpPr>
        <p:sp>
          <p:nvSpPr>
            <p:cNvPr id="11284" name="AutoShape 105"/>
            <p:cNvSpPr>
              <a:spLocks noChangeArrowheads="1"/>
            </p:cNvSpPr>
            <p:nvPr/>
          </p:nvSpPr>
          <p:spPr bwMode="auto">
            <a:xfrm>
              <a:off x="2158" y="3326"/>
              <a:ext cx="1266" cy="338"/>
            </a:xfrm>
            <a:prstGeom prst="wedgeRoundRectCallout">
              <a:avLst>
                <a:gd name="adj1" fmla="val -118575"/>
                <a:gd name="adj2" fmla="val -294542"/>
                <a:gd name="adj3" fmla="val 16667"/>
              </a:avLst>
            </a:prstGeom>
            <a:noFill/>
            <a:ln w="57150">
              <a:solidFill>
                <a:srgbClr val="FF330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000" b="1" dirty="0">
                  <a:solidFill>
                    <a:srgbClr val="FF3300"/>
                  </a:solidFill>
                </a:rPr>
                <a:t>尺寸公差带</a:t>
              </a:r>
            </a:p>
          </p:txBody>
        </p:sp>
        <p:sp>
          <p:nvSpPr>
            <p:cNvPr id="11285" name="Line 122"/>
            <p:cNvSpPr>
              <a:spLocks noChangeShapeType="1"/>
            </p:cNvSpPr>
            <p:nvPr/>
          </p:nvSpPr>
          <p:spPr bwMode="auto">
            <a:xfrm flipV="1">
              <a:off x="3136" y="2393"/>
              <a:ext cx="1025" cy="923"/>
            </a:xfrm>
            <a:prstGeom prst="line">
              <a:avLst/>
            </a:prstGeom>
            <a:noFill/>
            <a:ln w="38100">
              <a:solidFill>
                <a:srgbClr val="FF33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49277" name="Group 125"/>
          <p:cNvGrpSpPr/>
          <p:nvPr/>
        </p:nvGrpSpPr>
        <p:grpSpPr bwMode="auto">
          <a:xfrm>
            <a:off x="4065311" y="2318947"/>
            <a:ext cx="2000251" cy="895352"/>
            <a:chOff x="2510" y="1773"/>
            <a:chExt cx="1260" cy="752"/>
          </a:xfrm>
        </p:grpSpPr>
        <p:sp>
          <p:nvSpPr>
            <p:cNvPr id="11282" name="AutoShape 97"/>
            <p:cNvSpPr>
              <a:spLocks noChangeArrowheads="1"/>
            </p:cNvSpPr>
            <p:nvPr/>
          </p:nvSpPr>
          <p:spPr bwMode="auto">
            <a:xfrm>
              <a:off x="2510" y="1773"/>
              <a:ext cx="732" cy="384"/>
            </a:xfrm>
            <a:prstGeom prst="wedgeRoundRectCallout">
              <a:avLst>
                <a:gd name="adj1" fmla="val -201093"/>
                <a:gd name="adj2" fmla="val 103125"/>
                <a:gd name="adj3" fmla="val 16667"/>
              </a:avLst>
            </a:prstGeom>
            <a:solidFill>
              <a:schemeClr val="bg1"/>
            </a:solidFill>
            <a:ln w="57150">
              <a:solidFill>
                <a:srgbClr val="FF3300"/>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b="1"/>
                <a:t>LMC</a:t>
              </a:r>
            </a:p>
          </p:txBody>
        </p:sp>
        <p:sp>
          <p:nvSpPr>
            <p:cNvPr id="11283" name="Line 124"/>
            <p:cNvSpPr>
              <a:spLocks noChangeShapeType="1"/>
            </p:cNvSpPr>
            <p:nvPr/>
          </p:nvSpPr>
          <p:spPr bwMode="auto">
            <a:xfrm>
              <a:off x="3252" y="1908"/>
              <a:ext cx="518" cy="617"/>
            </a:xfrm>
            <a:prstGeom prst="line">
              <a:avLst/>
            </a:prstGeom>
            <a:noFill/>
            <a:ln w="38100">
              <a:solidFill>
                <a:srgbClr val="FF3300"/>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49278" name="Line 126"/>
          <p:cNvSpPr>
            <a:spLocks noChangeShapeType="1"/>
          </p:cNvSpPr>
          <p:nvPr/>
        </p:nvSpPr>
        <p:spPr bwMode="auto">
          <a:xfrm>
            <a:off x="5725479" y="3221435"/>
            <a:ext cx="2143125" cy="0"/>
          </a:xfrm>
          <a:prstGeom prst="line">
            <a:avLst/>
          </a:prstGeom>
          <a:noFill/>
          <a:ln w="5715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9281" name="Text Box 129"/>
          <p:cNvSpPr txBox="1">
            <a:spLocks noChangeArrowheads="1"/>
          </p:cNvSpPr>
          <p:nvPr/>
        </p:nvSpPr>
        <p:spPr bwMode="auto">
          <a:xfrm>
            <a:off x="579339" y="4925715"/>
            <a:ext cx="819719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(2)  </a:t>
            </a:r>
            <a:r>
              <a:rPr lang="zh-CN" altLang="en-US" b="1" dirty="0"/>
              <a:t>最小实体尺寸（</a:t>
            </a:r>
            <a:r>
              <a:rPr lang="en-US" altLang="zh-CN" b="1" dirty="0">
                <a:solidFill>
                  <a:srgbClr val="FF3300"/>
                </a:solidFill>
              </a:rPr>
              <a:t>LMS</a:t>
            </a:r>
            <a:r>
              <a:rPr lang="zh-CN" altLang="en-US" b="1" dirty="0"/>
              <a:t>） 是指在</a:t>
            </a:r>
            <a:r>
              <a:rPr lang="en-US" altLang="zh-CN" b="1" dirty="0">
                <a:solidFill>
                  <a:srgbClr val="FF3300"/>
                </a:solidFill>
              </a:rPr>
              <a:t>LMC</a:t>
            </a:r>
            <a:r>
              <a:rPr lang="zh-CN" altLang="en-US" b="1" dirty="0">
                <a:solidFill>
                  <a:srgbClr val="FF3300"/>
                </a:solidFill>
              </a:rPr>
              <a:t>状态</a:t>
            </a:r>
            <a:r>
              <a:rPr lang="zh-CN" altLang="en-US" b="1" dirty="0"/>
              <a:t>下的极限尺寸</a:t>
            </a:r>
            <a:r>
              <a:rPr lang="en-US" altLang="zh-CN" b="1" dirty="0"/>
              <a:t>。</a:t>
            </a:r>
            <a:endParaRPr lang="zh-CN" altLang="en-US" b="1" dirty="0">
              <a:cs typeface="Times New Roman" panose="02020603050405020304" pitchFamily="18" charset="0"/>
            </a:endParaRPr>
          </a:p>
        </p:txBody>
      </p:sp>
      <p:graphicFrame>
        <p:nvGraphicFramePr>
          <p:cNvPr id="49282" name="Object 130"/>
          <p:cNvGraphicFramePr>
            <a:graphicFrameLocks noChangeAspect="1"/>
          </p:cNvGraphicFramePr>
          <p:nvPr/>
        </p:nvGraphicFramePr>
        <p:xfrm>
          <a:off x="4738258" y="5453380"/>
          <a:ext cx="2205527" cy="506356"/>
        </p:xfrm>
        <a:graphic>
          <a:graphicData uri="http://schemas.openxmlformats.org/presentationml/2006/ole">
            <p:oleObj spid="_x0000_s4101" name="公式" r:id="rId3" imgW="21336000" imgH="5181600" progId="">
              <p:embed/>
            </p:oleObj>
          </a:graphicData>
        </a:graphic>
      </p:graphicFrame>
      <p:graphicFrame>
        <p:nvGraphicFramePr>
          <p:cNvPr id="49283" name="Object 131"/>
          <p:cNvGraphicFramePr>
            <a:graphicFrameLocks noChangeAspect="1"/>
          </p:cNvGraphicFramePr>
          <p:nvPr/>
        </p:nvGraphicFramePr>
        <p:xfrm>
          <a:off x="1892522" y="5453379"/>
          <a:ext cx="2361681" cy="495599"/>
        </p:xfrm>
        <a:graphic>
          <a:graphicData uri="http://schemas.openxmlformats.org/presentationml/2006/ole">
            <p:oleObj spid="_x0000_s4102" name="公式" r:id="rId4" imgW="24079200" imgH="5486400" progId="">
              <p:embed/>
            </p:oleObj>
          </a:graphicData>
        </a:graphic>
      </p:graphicFrame>
      <p:cxnSp>
        <p:nvCxnSpPr>
          <p:cNvPr id="92" name="直接连接符 91"/>
          <p:cNvCxnSpPr/>
          <p:nvPr/>
        </p:nvCxnSpPr>
        <p:spPr bwMode="auto">
          <a:xfrm flipV="1">
            <a:off x="159216" y="975278"/>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wipe(left)">
                                      <p:cBhvr>
                                        <p:cTn id="7" dur="300"/>
                                        <p:tgtEl>
                                          <p:spTgt spid="491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49161"/>
                                        </p:tgtEl>
                                        <p:attrNameLst>
                                          <p:attrName>style.visibility</p:attrName>
                                        </p:attrNameLst>
                                      </p:cBhvr>
                                      <p:to>
                                        <p:strVal val="visible"/>
                                      </p:to>
                                    </p:set>
                                    <p:animEffect transition="in" filter="wipe(left)">
                                      <p:cBhvr>
                                        <p:cTn id="12" dur="300"/>
                                        <p:tgtEl>
                                          <p:spTgt spid="4916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9253"/>
                                        </p:tgtEl>
                                        <p:attrNameLst>
                                          <p:attrName>style.visibility</p:attrName>
                                        </p:attrNameLst>
                                      </p:cBhvr>
                                      <p:to>
                                        <p:strVal val="visible"/>
                                      </p:to>
                                    </p:set>
                                    <p:anim calcmode="lin" valueType="num">
                                      <p:cBhvr additive="base">
                                        <p:cTn id="17" dur="500" fill="hold"/>
                                        <p:tgtEl>
                                          <p:spTgt spid="49253"/>
                                        </p:tgtEl>
                                        <p:attrNameLst>
                                          <p:attrName>ppt_x</p:attrName>
                                        </p:attrNameLst>
                                      </p:cBhvr>
                                      <p:tavLst>
                                        <p:tav tm="0">
                                          <p:val>
                                            <p:strVal val="0-#ppt_w/2"/>
                                          </p:val>
                                        </p:tav>
                                        <p:tav tm="100000">
                                          <p:val>
                                            <p:strVal val="#ppt_x"/>
                                          </p:val>
                                        </p:tav>
                                      </p:tavLst>
                                    </p:anim>
                                    <p:anim calcmode="lin" valueType="num">
                                      <p:cBhvr additive="base">
                                        <p:cTn id="18" dur="500" fill="hold"/>
                                        <p:tgtEl>
                                          <p:spTgt spid="4925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49273"/>
                                        </p:tgtEl>
                                        <p:attrNameLst>
                                          <p:attrName>style.visibility</p:attrName>
                                        </p:attrNameLst>
                                      </p:cBhvr>
                                      <p:to>
                                        <p:strVal val="visible"/>
                                      </p:to>
                                    </p:set>
                                    <p:anim calcmode="lin" valueType="num">
                                      <p:cBhvr additive="base">
                                        <p:cTn id="23" dur="500" fill="hold"/>
                                        <p:tgtEl>
                                          <p:spTgt spid="49273"/>
                                        </p:tgtEl>
                                        <p:attrNameLst>
                                          <p:attrName>ppt_x</p:attrName>
                                        </p:attrNameLst>
                                      </p:cBhvr>
                                      <p:tavLst>
                                        <p:tav tm="0">
                                          <p:val>
                                            <p:strVal val="1+#ppt_w/2"/>
                                          </p:val>
                                        </p:tav>
                                        <p:tav tm="100000">
                                          <p:val>
                                            <p:strVal val="#ppt_x"/>
                                          </p:val>
                                        </p:tav>
                                      </p:tavLst>
                                    </p:anim>
                                    <p:anim calcmode="lin" valueType="num">
                                      <p:cBhvr additive="base">
                                        <p:cTn id="24" dur="500" fill="hold"/>
                                        <p:tgtEl>
                                          <p:spTgt spid="49273"/>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49279"/>
                                        </p:tgtEl>
                                        <p:attrNameLst>
                                          <p:attrName>style.visibility</p:attrName>
                                        </p:attrNameLst>
                                      </p:cBhvr>
                                      <p:to>
                                        <p:strVal val="visible"/>
                                      </p:to>
                                    </p:set>
                                    <p:animEffect transition="in" filter="wipe(down)">
                                      <p:cBhvr>
                                        <p:cTn id="29" dur="2000"/>
                                        <p:tgtEl>
                                          <p:spTgt spid="4927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iterate type="wd">
                                    <p:tmPct val="100000"/>
                                  </p:iterate>
                                  <p:childTnLst>
                                    <p:set>
                                      <p:cBhvr>
                                        <p:cTn id="33" dur="1" fill="hold">
                                          <p:stCondLst>
                                            <p:cond delay="0"/>
                                          </p:stCondLst>
                                        </p:cTn>
                                        <p:tgtEl>
                                          <p:spTgt spid="49157"/>
                                        </p:tgtEl>
                                        <p:attrNameLst>
                                          <p:attrName>style.visibility</p:attrName>
                                        </p:attrNameLst>
                                      </p:cBhvr>
                                      <p:to>
                                        <p:strVal val="visible"/>
                                      </p:to>
                                    </p:set>
                                    <p:animEffect transition="in" filter="wipe(left)">
                                      <p:cBhvr>
                                        <p:cTn id="34" dur="300"/>
                                        <p:tgtEl>
                                          <p:spTgt spid="49157"/>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49263"/>
                                        </p:tgtEl>
                                        <p:attrNameLst>
                                          <p:attrName>style.visibility</p:attrName>
                                        </p:attrNameLst>
                                      </p:cBhvr>
                                      <p:to>
                                        <p:strVal val="visible"/>
                                      </p:to>
                                    </p:set>
                                    <p:anim calcmode="lin" valueType="num">
                                      <p:cBhvr>
                                        <p:cTn id="39" dur="500" fill="hold"/>
                                        <p:tgtEl>
                                          <p:spTgt spid="49263"/>
                                        </p:tgtEl>
                                        <p:attrNameLst>
                                          <p:attrName>ppt_x</p:attrName>
                                        </p:attrNameLst>
                                      </p:cBhvr>
                                      <p:tavLst>
                                        <p:tav tm="0">
                                          <p:val>
                                            <p:strVal val="#ppt_x-#ppt_w/2"/>
                                          </p:val>
                                        </p:tav>
                                        <p:tav tm="100000">
                                          <p:val>
                                            <p:strVal val="#ppt_x"/>
                                          </p:val>
                                        </p:tav>
                                      </p:tavLst>
                                    </p:anim>
                                    <p:anim calcmode="lin" valueType="num">
                                      <p:cBhvr>
                                        <p:cTn id="40" dur="500" fill="hold"/>
                                        <p:tgtEl>
                                          <p:spTgt spid="49263"/>
                                        </p:tgtEl>
                                        <p:attrNameLst>
                                          <p:attrName>ppt_y</p:attrName>
                                        </p:attrNameLst>
                                      </p:cBhvr>
                                      <p:tavLst>
                                        <p:tav tm="0">
                                          <p:val>
                                            <p:strVal val="#ppt_y"/>
                                          </p:val>
                                        </p:tav>
                                        <p:tav tm="100000">
                                          <p:val>
                                            <p:strVal val="#ppt_y"/>
                                          </p:val>
                                        </p:tav>
                                      </p:tavLst>
                                    </p:anim>
                                    <p:anim calcmode="lin" valueType="num">
                                      <p:cBhvr>
                                        <p:cTn id="41" dur="500" fill="hold"/>
                                        <p:tgtEl>
                                          <p:spTgt spid="49263"/>
                                        </p:tgtEl>
                                        <p:attrNameLst>
                                          <p:attrName>ppt_w</p:attrName>
                                        </p:attrNameLst>
                                      </p:cBhvr>
                                      <p:tavLst>
                                        <p:tav tm="0">
                                          <p:val>
                                            <p:fltVal val="0"/>
                                          </p:val>
                                        </p:tav>
                                        <p:tav tm="100000">
                                          <p:val>
                                            <p:strVal val="#ppt_w"/>
                                          </p:val>
                                        </p:tav>
                                      </p:tavLst>
                                    </p:anim>
                                    <p:anim calcmode="lin" valueType="num">
                                      <p:cBhvr>
                                        <p:cTn id="42" dur="500" fill="hold"/>
                                        <p:tgtEl>
                                          <p:spTgt spid="49263"/>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9198"/>
                                        </p:tgtEl>
                                        <p:attrNameLst>
                                          <p:attrName>style.visibility</p:attrName>
                                        </p:attrNameLst>
                                      </p:cBhvr>
                                      <p:to>
                                        <p:strVal val="visible"/>
                                      </p:to>
                                    </p:set>
                                    <p:animEffect transition="in" filter="wipe(left)">
                                      <p:cBhvr>
                                        <p:cTn id="47" dur="500"/>
                                        <p:tgtEl>
                                          <p:spTgt spid="4919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49227"/>
                                        </p:tgtEl>
                                        <p:attrNameLst>
                                          <p:attrName>style.visibility</p:attrName>
                                        </p:attrNameLst>
                                      </p:cBhvr>
                                      <p:to>
                                        <p:strVal val="visible"/>
                                      </p:to>
                                    </p:set>
                                    <p:animEffect transition="in" filter="wipe(left)">
                                      <p:cBhvr>
                                        <p:cTn id="52" dur="300"/>
                                        <p:tgtEl>
                                          <p:spTgt spid="49227"/>
                                        </p:tgtEl>
                                      </p:cBhvr>
                                    </p:animEffect>
                                  </p:childTnLst>
                                </p:cTn>
                              </p:par>
                            </p:childTnLst>
                          </p:cTn>
                        </p:par>
                      </p:childTnLst>
                    </p:cTn>
                  </p:par>
                  <p:par>
                    <p:cTn id="53" fill="hold">
                      <p:stCondLst>
                        <p:cond delay="indefinite"/>
                      </p:stCondLst>
                      <p:childTnLst>
                        <p:par>
                          <p:cTn id="54" fill="hold">
                            <p:stCondLst>
                              <p:cond delay="0"/>
                            </p:stCondLst>
                            <p:childTnLst>
                              <p:par>
                                <p:cTn id="55" presetID="17" presetClass="entr" presetSubtype="8" fill="hold" grpId="0" nodeType="clickEffect">
                                  <p:stCondLst>
                                    <p:cond delay="0"/>
                                  </p:stCondLst>
                                  <p:childTnLst>
                                    <p:set>
                                      <p:cBhvr>
                                        <p:cTn id="56" dur="1" fill="hold">
                                          <p:stCondLst>
                                            <p:cond delay="0"/>
                                          </p:stCondLst>
                                        </p:cTn>
                                        <p:tgtEl>
                                          <p:spTgt spid="49278"/>
                                        </p:tgtEl>
                                        <p:attrNameLst>
                                          <p:attrName>style.visibility</p:attrName>
                                        </p:attrNameLst>
                                      </p:cBhvr>
                                      <p:to>
                                        <p:strVal val="visible"/>
                                      </p:to>
                                    </p:set>
                                    <p:anim calcmode="lin" valueType="num">
                                      <p:cBhvr>
                                        <p:cTn id="57" dur="500" fill="hold"/>
                                        <p:tgtEl>
                                          <p:spTgt spid="49278"/>
                                        </p:tgtEl>
                                        <p:attrNameLst>
                                          <p:attrName>ppt_x</p:attrName>
                                        </p:attrNameLst>
                                      </p:cBhvr>
                                      <p:tavLst>
                                        <p:tav tm="0">
                                          <p:val>
                                            <p:strVal val="#ppt_x-#ppt_w/2"/>
                                          </p:val>
                                        </p:tav>
                                        <p:tav tm="100000">
                                          <p:val>
                                            <p:strVal val="#ppt_x"/>
                                          </p:val>
                                        </p:tav>
                                      </p:tavLst>
                                    </p:anim>
                                    <p:anim calcmode="lin" valueType="num">
                                      <p:cBhvr>
                                        <p:cTn id="58" dur="500" fill="hold"/>
                                        <p:tgtEl>
                                          <p:spTgt spid="49278"/>
                                        </p:tgtEl>
                                        <p:attrNameLst>
                                          <p:attrName>ppt_y</p:attrName>
                                        </p:attrNameLst>
                                      </p:cBhvr>
                                      <p:tavLst>
                                        <p:tav tm="0">
                                          <p:val>
                                            <p:strVal val="#ppt_y"/>
                                          </p:val>
                                        </p:tav>
                                        <p:tav tm="100000">
                                          <p:val>
                                            <p:strVal val="#ppt_y"/>
                                          </p:val>
                                        </p:tav>
                                      </p:tavLst>
                                    </p:anim>
                                    <p:anim calcmode="lin" valueType="num">
                                      <p:cBhvr>
                                        <p:cTn id="59" dur="500" fill="hold"/>
                                        <p:tgtEl>
                                          <p:spTgt spid="49278"/>
                                        </p:tgtEl>
                                        <p:attrNameLst>
                                          <p:attrName>ppt_w</p:attrName>
                                        </p:attrNameLst>
                                      </p:cBhvr>
                                      <p:tavLst>
                                        <p:tav tm="0">
                                          <p:val>
                                            <p:fltVal val="0"/>
                                          </p:val>
                                        </p:tav>
                                        <p:tav tm="100000">
                                          <p:val>
                                            <p:strVal val="#ppt_w"/>
                                          </p:val>
                                        </p:tav>
                                      </p:tavLst>
                                    </p:anim>
                                    <p:anim calcmode="lin" valueType="num">
                                      <p:cBhvr>
                                        <p:cTn id="60" dur="500" fill="hold"/>
                                        <p:tgtEl>
                                          <p:spTgt spid="49278"/>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17" presetClass="entr" presetSubtype="1" fill="hold" nodeType="clickEffect">
                                  <p:stCondLst>
                                    <p:cond delay="0"/>
                                  </p:stCondLst>
                                  <p:childTnLst>
                                    <p:set>
                                      <p:cBhvr>
                                        <p:cTn id="64" dur="1" fill="hold">
                                          <p:stCondLst>
                                            <p:cond delay="0"/>
                                          </p:stCondLst>
                                        </p:cTn>
                                        <p:tgtEl>
                                          <p:spTgt spid="49277"/>
                                        </p:tgtEl>
                                        <p:attrNameLst>
                                          <p:attrName>style.visibility</p:attrName>
                                        </p:attrNameLst>
                                      </p:cBhvr>
                                      <p:to>
                                        <p:strVal val="visible"/>
                                      </p:to>
                                    </p:set>
                                    <p:anim calcmode="lin" valueType="num">
                                      <p:cBhvr>
                                        <p:cTn id="65" dur="500" fill="hold"/>
                                        <p:tgtEl>
                                          <p:spTgt spid="49277"/>
                                        </p:tgtEl>
                                        <p:attrNameLst>
                                          <p:attrName>ppt_x</p:attrName>
                                        </p:attrNameLst>
                                      </p:cBhvr>
                                      <p:tavLst>
                                        <p:tav tm="0">
                                          <p:val>
                                            <p:strVal val="#ppt_x"/>
                                          </p:val>
                                        </p:tav>
                                        <p:tav tm="100000">
                                          <p:val>
                                            <p:strVal val="#ppt_x"/>
                                          </p:val>
                                        </p:tav>
                                      </p:tavLst>
                                    </p:anim>
                                    <p:anim calcmode="lin" valueType="num">
                                      <p:cBhvr>
                                        <p:cTn id="66" dur="500" fill="hold"/>
                                        <p:tgtEl>
                                          <p:spTgt spid="49277"/>
                                        </p:tgtEl>
                                        <p:attrNameLst>
                                          <p:attrName>ppt_y</p:attrName>
                                        </p:attrNameLst>
                                      </p:cBhvr>
                                      <p:tavLst>
                                        <p:tav tm="0">
                                          <p:val>
                                            <p:strVal val="#ppt_y-#ppt_h/2"/>
                                          </p:val>
                                        </p:tav>
                                        <p:tav tm="100000">
                                          <p:val>
                                            <p:strVal val="#ppt_y"/>
                                          </p:val>
                                        </p:tav>
                                      </p:tavLst>
                                    </p:anim>
                                    <p:anim calcmode="lin" valueType="num">
                                      <p:cBhvr>
                                        <p:cTn id="67" dur="500" fill="hold"/>
                                        <p:tgtEl>
                                          <p:spTgt spid="49277"/>
                                        </p:tgtEl>
                                        <p:attrNameLst>
                                          <p:attrName>ppt_w</p:attrName>
                                        </p:attrNameLst>
                                      </p:cBhvr>
                                      <p:tavLst>
                                        <p:tav tm="0">
                                          <p:val>
                                            <p:strVal val="#ppt_w"/>
                                          </p:val>
                                        </p:tav>
                                        <p:tav tm="100000">
                                          <p:val>
                                            <p:strVal val="#ppt_w"/>
                                          </p:val>
                                        </p:tav>
                                      </p:tavLst>
                                    </p:anim>
                                    <p:anim calcmode="lin" valueType="num">
                                      <p:cBhvr>
                                        <p:cTn id="68" dur="500" fill="hold"/>
                                        <p:tgtEl>
                                          <p:spTgt spid="49277"/>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iterate type="wd">
                                    <p:tmPct val="100000"/>
                                  </p:iterate>
                                  <p:childTnLst>
                                    <p:set>
                                      <p:cBhvr>
                                        <p:cTn id="72" dur="1" fill="hold">
                                          <p:stCondLst>
                                            <p:cond delay="0"/>
                                          </p:stCondLst>
                                        </p:cTn>
                                        <p:tgtEl>
                                          <p:spTgt spid="49281"/>
                                        </p:tgtEl>
                                        <p:attrNameLst>
                                          <p:attrName>style.visibility</p:attrName>
                                        </p:attrNameLst>
                                      </p:cBhvr>
                                      <p:to>
                                        <p:strVal val="visible"/>
                                      </p:to>
                                    </p:set>
                                    <p:animEffect transition="in" filter="wipe(left)">
                                      <p:cBhvr>
                                        <p:cTn id="73" dur="300"/>
                                        <p:tgtEl>
                                          <p:spTgt spid="4928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49283"/>
                                        </p:tgtEl>
                                        <p:attrNameLst>
                                          <p:attrName>style.visibility</p:attrName>
                                        </p:attrNameLst>
                                      </p:cBhvr>
                                      <p:to>
                                        <p:strVal val="visible"/>
                                      </p:to>
                                    </p:set>
                                    <p:animEffect transition="in" filter="wipe(left)">
                                      <p:cBhvr>
                                        <p:cTn id="78" dur="2000"/>
                                        <p:tgtEl>
                                          <p:spTgt spid="4928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49282"/>
                                        </p:tgtEl>
                                        <p:attrNameLst>
                                          <p:attrName>style.visibility</p:attrName>
                                        </p:attrNameLst>
                                      </p:cBhvr>
                                      <p:to>
                                        <p:strVal val="visible"/>
                                      </p:to>
                                    </p:set>
                                    <p:animEffect transition="in" filter="wipe(left)">
                                      <p:cBhvr>
                                        <p:cTn id="83" dur="2000"/>
                                        <p:tgtEl>
                                          <p:spTgt spid="49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autoUpdateAnimBg="0"/>
      <p:bldP spid="49157" grpId="0" bldLvl="0" animBg="1" autoUpdateAnimBg="0"/>
      <p:bldP spid="49161" grpId="0" bldLvl="0" animBg="1" autoUpdateAnimBg="0"/>
      <p:bldP spid="49198" grpId="0" bldLvl="0" animBg="1" autoUpdateAnimBg="0"/>
      <p:bldP spid="49227" grpId="0" bldLvl="0" animBg="1" autoUpdateAnimBg="0"/>
      <p:bldP spid="49263" grpId="0" bldLvl="0" animBg="1"/>
      <p:bldP spid="49278" grpId="0" bldLvl="0" animBg="1"/>
      <p:bldP spid="49281" grpId="0" bldLvl="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Text Box 4"/>
          <p:cNvSpPr txBox="1">
            <a:spLocks noChangeArrowheads="1"/>
          </p:cNvSpPr>
          <p:nvPr/>
        </p:nvSpPr>
        <p:spPr bwMode="auto">
          <a:xfrm>
            <a:off x="364585" y="503919"/>
            <a:ext cx="8191500" cy="4597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2875"/>
              </a:lnSpc>
            </a:pPr>
            <a:r>
              <a:rPr lang="zh-CN" altLang="en-US" b="1" dirty="0"/>
              <a:t>5. </a:t>
            </a:r>
            <a:r>
              <a:rPr lang="zh-CN" altLang="en-US" b="1" dirty="0">
                <a:latin typeface="宋体" panose="02010600030101010101" pitchFamily="2" charset="-122"/>
              </a:rPr>
              <a:t>最大实体实效状态</a:t>
            </a:r>
            <a:r>
              <a:rPr lang="zh-CN" altLang="en-US" b="1" dirty="0"/>
              <a:t>(</a:t>
            </a:r>
            <a:r>
              <a:rPr lang="en-US" altLang="zh-CN" b="1" dirty="0"/>
              <a:t>MMVC)</a:t>
            </a:r>
            <a:r>
              <a:rPr lang="zh-CN" altLang="en-US" b="1" dirty="0"/>
              <a:t>和最大</a:t>
            </a:r>
            <a:r>
              <a:rPr lang="zh-CN" altLang="en-US" b="1" dirty="0" smtClean="0"/>
              <a:t>实体实效</a:t>
            </a:r>
            <a:r>
              <a:rPr lang="zh-CN" altLang="en-US" b="1" dirty="0"/>
              <a:t>尺寸(</a:t>
            </a:r>
            <a:r>
              <a:rPr lang="en-US" altLang="zh-CN" b="1" dirty="0"/>
              <a:t>MMVS)</a:t>
            </a:r>
            <a:endParaRPr lang="zh-CN" altLang="en-US" b="1" dirty="0"/>
          </a:p>
        </p:txBody>
      </p:sp>
      <p:sp>
        <p:nvSpPr>
          <p:cNvPr id="91141" name="Text Box 5"/>
          <p:cNvSpPr txBox="1">
            <a:spLocks noChangeArrowheads="1"/>
          </p:cNvSpPr>
          <p:nvPr/>
        </p:nvSpPr>
        <p:spPr bwMode="auto">
          <a:xfrm>
            <a:off x="272828" y="1242843"/>
            <a:ext cx="8457535" cy="8915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000" b="1" dirty="0">
                <a:latin typeface="宋体" panose="02010600030101010101" pitchFamily="2" charset="-122"/>
              </a:rPr>
              <a:t>   （</a:t>
            </a:r>
            <a:r>
              <a:rPr lang="en-US" altLang="zh-CN" sz="2000" b="1" dirty="0">
                <a:latin typeface="宋体" panose="02010600030101010101" pitchFamily="2" charset="-122"/>
              </a:rPr>
              <a:t>1</a:t>
            </a:r>
            <a:r>
              <a:rPr lang="zh-CN" altLang="en-US" sz="2000" b="1" dirty="0">
                <a:latin typeface="宋体" panose="02010600030101010101" pitchFamily="2" charset="-122"/>
              </a:rPr>
              <a:t>）</a:t>
            </a:r>
            <a:r>
              <a:rPr lang="en-US" altLang="zh-CN" sz="2000" b="1" dirty="0" smtClean="0">
                <a:solidFill>
                  <a:srgbClr val="D60093"/>
                </a:solidFill>
              </a:rPr>
              <a:t>MMVC: </a:t>
            </a:r>
            <a:r>
              <a:rPr lang="zh-CN" altLang="en-US" sz="2000" b="1" dirty="0" smtClean="0">
                <a:latin typeface="宋体" panose="02010600030101010101" pitchFamily="2" charset="-122"/>
              </a:rPr>
              <a:t>实际要素</a:t>
            </a:r>
            <a:r>
              <a:rPr lang="zh-CN" altLang="en-US" sz="2000" b="1" dirty="0">
                <a:latin typeface="宋体" panose="02010600030101010101" pitchFamily="2" charset="-122"/>
              </a:rPr>
              <a:t>在给定长度上处于最大实体状态</a:t>
            </a:r>
            <a:r>
              <a:rPr lang="en-US" altLang="zh-CN" sz="2000" b="1" dirty="0">
                <a:latin typeface="宋体" panose="02010600030101010101" pitchFamily="2" charset="-122"/>
              </a:rPr>
              <a:t>MMC，</a:t>
            </a:r>
            <a:r>
              <a:rPr lang="zh-CN" altLang="en-US" sz="2000" b="1" dirty="0">
                <a:latin typeface="宋体" panose="02010600030101010101" pitchFamily="2" charset="-122"/>
              </a:rPr>
              <a:t>且其中心要素</a:t>
            </a:r>
            <a:r>
              <a:rPr lang="zh-CN" altLang="en-US" sz="2000" b="1" dirty="0" smtClean="0">
                <a:latin typeface="宋体" panose="02010600030101010101" pitchFamily="2" charset="-122"/>
              </a:rPr>
              <a:t>的</a:t>
            </a:r>
            <a:r>
              <a:rPr lang="en-US" altLang="zh-CN" sz="2000" b="1" i="1" dirty="0" smtClean="0">
                <a:solidFill>
                  <a:srgbClr val="FF3300"/>
                </a:solidFill>
              </a:rPr>
              <a:t>f</a:t>
            </a:r>
            <a:r>
              <a:rPr lang="zh-CN" altLang="en-US" sz="2000" b="1" baseline="-30000" dirty="0">
                <a:solidFill>
                  <a:srgbClr val="FF3300"/>
                </a:solidFill>
                <a:latin typeface="宋体" panose="02010600030101010101" pitchFamily="2" charset="-122"/>
              </a:rPr>
              <a:t>几何</a:t>
            </a:r>
            <a:r>
              <a:rPr lang="zh-CN" altLang="en-US" sz="2000" b="1" dirty="0">
                <a:solidFill>
                  <a:srgbClr val="FF3300"/>
                </a:solidFill>
              </a:rPr>
              <a:t>=  </a:t>
            </a:r>
            <a:r>
              <a:rPr lang="en-US" altLang="zh-CN" sz="2000" b="1" i="1" dirty="0">
                <a:solidFill>
                  <a:srgbClr val="FF3300"/>
                </a:solidFill>
              </a:rPr>
              <a:t>t</a:t>
            </a:r>
            <a:r>
              <a:rPr lang="zh-CN" altLang="en-US" sz="2000" b="1" baseline="-30000" dirty="0" smtClean="0">
                <a:solidFill>
                  <a:srgbClr val="FF3300"/>
                </a:solidFill>
                <a:latin typeface="宋体" panose="02010600030101010101" pitchFamily="2" charset="-122"/>
              </a:rPr>
              <a:t>几何</a:t>
            </a:r>
            <a:r>
              <a:rPr lang="zh-CN" altLang="en-US" sz="2000" b="1" dirty="0" smtClean="0">
                <a:latin typeface="宋体" panose="02010600030101010101" pitchFamily="2" charset="-122"/>
              </a:rPr>
              <a:t>时</a:t>
            </a:r>
            <a:r>
              <a:rPr lang="zh-CN" altLang="en-US" sz="2000" b="1" dirty="0">
                <a:latin typeface="宋体" panose="02010600030101010101" pitchFamily="2" charset="-122"/>
              </a:rPr>
              <a:t>综合极限</a:t>
            </a:r>
            <a:r>
              <a:rPr lang="zh-CN" altLang="en-US" sz="2000" b="1" dirty="0" smtClean="0">
                <a:latin typeface="宋体" panose="02010600030101010101" pitchFamily="2" charset="-122"/>
              </a:rPr>
              <a:t>状态。</a:t>
            </a:r>
            <a:r>
              <a:rPr lang="zh-CN" altLang="en-US" sz="2000" b="1" dirty="0" smtClean="0"/>
              <a:t> </a:t>
            </a:r>
            <a:endParaRPr lang="zh-CN" altLang="en-US" sz="2000" b="1" dirty="0"/>
          </a:p>
        </p:txBody>
      </p:sp>
      <p:sp>
        <p:nvSpPr>
          <p:cNvPr id="91164" name="Text Box 28"/>
          <p:cNvSpPr txBox="1">
            <a:spLocks noChangeArrowheads="1"/>
          </p:cNvSpPr>
          <p:nvPr/>
        </p:nvSpPr>
        <p:spPr bwMode="auto">
          <a:xfrm>
            <a:off x="365126" y="4326871"/>
            <a:ext cx="8328025"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a:t>    （</a:t>
            </a:r>
            <a:r>
              <a:rPr lang="en-US" altLang="zh-CN" sz="2000" dirty="0"/>
              <a:t>2</a:t>
            </a:r>
            <a:r>
              <a:rPr lang="zh-CN" altLang="en-US" sz="2000" dirty="0"/>
              <a:t>）</a:t>
            </a:r>
            <a:r>
              <a:rPr lang="en-US" altLang="zh-CN" sz="2000" b="1" dirty="0" smtClean="0">
                <a:solidFill>
                  <a:srgbClr val="D60093"/>
                </a:solidFill>
              </a:rPr>
              <a:t>MMVS: </a:t>
            </a:r>
            <a:r>
              <a:rPr lang="zh-CN" altLang="en-US" sz="2000" b="1" dirty="0" smtClean="0"/>
              <a:t>在</a:t>
            </a:r>
            <a:r>
              <a:rPr lang="zh-CN" altLang="en-US" sz="2000" b="1" dirty="0"/>
              <a:t>最大实体实效状态（</a:t>
            </a:r>
            <a:r>
              <a:rPr lang="en-US" altLang="zh-CN" sz="2000" b="1" dirty="0"/>
              <a:t>MMVC</a:t>
            </a:r>
            <a:r>
              <a:rPr lang="zh-CN" altLang="en-US" sz="2000" b="1" dirty="0"/>
              <a:t>）下的体外作用尺寸。</a:t>
            </a:r>
            <a:endParaRPr lang="en-US" altLang="zh-CN" sz="2000" b="1" dirty="0"/>
          </a:p>
        </p:txBody>
      </p:sp>
      <p:pic>
        <p:nvPicPr>
          <p:cNvPr id="12315" name="Picture 27"/>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83341" y="2362299"/>
            <a:ext cx="6650955" cy="16193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extBox 2"/>
          <p:cNvSpPr txBox="1">
            <a:spLocks noRot="1" noChangeAspect="1" noMove="1" noResize="1" noEditPoints="1" noAdjustHandles="1" noChangeArrowheads="1" noChangeShapeType="1" noTextEdit="1"/>
          </p:cNvSpPr>
          <p:nvPr/>
        </p:nvSpPr>
        <p:spPr bwMode="auto">
          <a:xfrm>
            <a:off x="6127082" y="2457150"/>
            <a:ext cx="1715169" cy="300022"/>
          </a:xfrm>
          <a:prstGeom prst="rect">
            <a:avLst/>
          </a:prstGeom>
          <a:blipFill rotWithShape="1">
            <a:blip r:embed="rId4" cstate="print"/>
            <a:stretch>
              <a:fillRect t="-7576" r="-3915" b="-25758"/>
            </a:stretch>
          </a:blipFill>
        </p:spPr>
        <p:txBody>
          <a:bodyPr/>
          <a:lstStyle/>
          <a:p>
            <a:pPr>
              <a:defRPr/>
            </a:pPr>
            <a:r>
              <a:rPr lang="zh-CN" altLang="en-US">
                <a:noFill/>
              </a:rPr>
              <a:t> </a:t>
            </a:r>
          </a:p>
        </p:txBody>
      </p:sp>
      <p:sp>
        <p:nvSpPr>
          <p:cNvPr id="27" name="TextBox 26"/>
          <p:cNvSpPr txBox="1">
            <a:spLocks noRot="1" noChangeAspect="1" noMove="1" noResize="1" noEditPoints="1" noAdjustHandles="1" noChangeArrowheads="1" noChangeShapeType="1" noTextEdit="1"/>
          </p:cNvSpPr>
          <p:nvPr/>
        </p:nvSpPr>
        <p:spPr bwMode="auto">
          <a:xfrm>
            <a:off x="3285044" y="2277823"/>
            <a:ext cx="1824368" cy="300022"/>
          </a:xfrm>
          <a:prstGeom prst="rect">
            <a:avLst/>
          </a:prstGeom>
          <a:blipFill rotWithShape="1">
            <a:blip r:embed="rId5" cstate="print"/>
            <a:stretch>
              <a:fillRect t="-7692" r="-3344" b="-27692"/>
            </a:stretch>
          </a:blipFill>
        </p:spPr>
        <p:txBody>
          <a:bodyPr/>
          <a:lstStyle/>
          <a:p>
            <a:pPr>
              <a:defRPr/>
            </a:pPr>
            <a:r>
              <a:rPr lang="zh-CN" altLang="en-US">
                <a:noFill/>
              </a:rPr>
              <a:t> </a:t>
            </a:r>
          </a:p>
        </p:txBody>
      </p:sp>
      <p:sp>
        <p:nvSpPr>
          <p:cNvPr id="28" name="TextBox 27"/>
          <p:cNvSpPr txBox="1">
            <a:spLocks noRot="1" noChangeAspect="1" noMove="1" noResize="1" noEditPoints="1" noAdjustHandles="1" noChangeArrowheads="1" noChangeShapeType="1" noTextEdit="1"/>
          </p:cNvSpPr>
          <p:nvPr/>
        </p:nvSpPr>
        <p:spPr bwMode="auto">
          <a:xfrm>
            <a:off x="5273220" y="2264569"/>
            <a:ext cx="1715169" cy="300022"/>
          </a:xfrm>
          <a:prstGeom prst="rect">
            <a:avLst/>
          </a:prstGeom>
          <a:blipFill rotWithShape="1">
            <a:blip r:embed="rId6" cstate="print"/>
            <a:stretch>
              <a:fillRect l="-356" t="-7692" b="-27692"/>
            </a:stretch>
          </a:blipFill>
        </p:spPr>
        <p:txBody>
          <a:bodyPr/>
          <a:lstStyle/>
          <a:p>
            <a:pPr>
              <a:defRPr/>
            </a:pPr>
            <a:r>
              <a:rPr lang="zh-CN" altLang="en-US">
                <a:noFill/>
              </a:rPr>
              <a:t> </a:t>
            </a:r>
          </a:p>
        </p:txBody>
      </p:sp>
      <p:cxnSp>
        <p:nvCxnSpPr>
          <p:cNvPr id="12320" name="直接连接符 4"/>
          <p:cNvCxnSpPr>
            <a:cxnSpLocks noChangeShapeType="1"/>
          </p:cNvCxnSpPr>
          <p:nvPr/>
        </p:nvCxnSpPr>
        <p:spPr bwMode="auto">
          <a:xfrm>
            <a:off x="3793805" y="2614551"/>
            <a:ext cx="1037422" cy="0"/>
          </a:xfrm>
          <a:prstGeom prst="line">
            <a:avLst/>
          </a:prstGeom>
          <a:noFill/>
          <a:ln w="9525" algn="ctr">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321" name="直接连接符 30"/>
          <p:cNvCxnSpPr>
            <a:cxnSpLocks noChangeShapeType="1"/>
          </p:cNvCxnSpPr>
          <p:nvPr/>
        </p:nvCxnSpPr>
        <p:spPr bwMode="auto">
          <a:xfrm>
            <a:off x="5324261" y="2601297"/>
            <a:ext cx="936000" cy="0"/>
          </a:xfrm>
          <a:prstGeom prst="line">
            <a:avLst/>
          </a:prstGeom>
          <a:noFill/>
          <a:ln w="9525" algn="ctr">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322" name="直接连接符 8"/>
          <p:cNvCxnSpPr>
            <a:cxnSpLocks noChangeShapeType="1"/>
          </p:cNvCxnSpPr>
          <p:nvPr/>
        </p:nvCxnSpPr>
        <p:spPr bwMode="auto">
          <a:xfrm flipV="1">
            <a:off x="5327154" y="2613689"/>
            <a:ext cx="0" cy="216000"/>
          </a:xfrm>
          <a:prstGeom prst="line">
            <a:avLst/>
          </a:prstGeom>
          <a:noFill/>
          <a:ln w="9525" algn="ctr">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323" name="直接连接符 10"/>
          <p:cNvCxnSpPr>
            <a:cxnSpLocks noChangeShapeType="1"/>
          </p:cNvCxnSpPr>
          <p:nvPr/>
        </p:nvCxnSpPr>
        <p:spPr bwMode="auto">
          <a:xfrm>
            <a:off x="6619419" y="2773410"/>
            <a:ext cx="1105668" cy="0"/>
          </a:xfrm>
          <a:prstGeom prst="line">
            <a:avLst/>
          </a:prstGeom>
          <a:noFill/>
          <a:ln w="9525" algn="ctr">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2" name="Line 33"/>
          <p:cNvSpPr>
            <a:spLocks noChangeShapeType="1"/>
          </p:cNvSpPr>
          <p:nvPr/>
        </p:nvSpPr>
        <p:spPr bwMode="auto">
          <a:xfrm>
            <a:off x="5325035" y="3093713"/>
            <a:ext cx="0" cy="468000"/>
          </a:xfrm>
          <a:prstGeom prst="line">
            <a:avLst/>
          </a:prstGeom>
          <a:noFill/>
          <a:ln w="57150">
            <a:solidFill>
              <a:srgbClr val="D60093"/>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3" name="Line 34"/>
          <p:cNvSpPr>
            <a:spLocks noChangeShapeType="1"/>
          </p:cNvSpPr>
          <p:nvPr/>
        </p:nvSpPr>
        <p:spPr bwMode="auto">
          <a:xfrm>
            <a:off x="4662170" y="3005438"/>
            <a:ext cx="0" cy="612000"/>
          </a:xfrm>
          <a:prstGeom prst="line">
            <a:avLst/>
          </a:prstGeom>
          <a:noFill/>
          <a:ln w="57150">
            <a:solidFill>
              <a:srgbClr val="D60093"/>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4" name="Rectangle 35"/>
          <p:cNvSpPr>
            <a:spLocks noChangeArrowheads="1"/>
          </p:cNvSpPr>
          <p:nvPr/>
        </p:nvSpPr>
        <p:spPr bwMode="auto">
          <a:xfrm>
            <a:off x="3630613" y="2323897"/>
            <a:ext cx="1492250" cy="313134"/>
          </a:xfrm>
          <a:prstGeom prst="rect">
            <a:avLst/>
          </a:prstGeom>
          <a:noFill/>
          <a:ln w="38100">
            <a:solidFill>
              <a:srgbClr val="D60093"/>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5" name="Rectangle 36"/>
          <p:cNvSpPr>
            <a:spLocks noChangeArrowheads="1"/>
          </p:cNvSpPr>
          <p:nvPr/>
        </p:nvSpPr>
        <p:spPr bwMode="auto">
          <a:xfrm>
            <a:off x="6575426" y="2494157"/>
            <a:ext cx="1279525" cy="316706"/>
          </a:xfrm>
          <a:prstGeom prst="rect">
            <a:avLst/>
          </a:prstGeom>
          <a:noFill/>
          <a:ln w="38100">
            <a:solidFill>
              <a:srgbClr val="D60093"/>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nvGrpSpPr>
          <p:cNvPr id="91168" name="组合 91167"/>
          <p:cNvGrpSpPr/>
          <p:nvPr/>
        </p:nvGrpSpPr>
        <p:grpSpPr bwMode="auto">
          <a:xfrm>
            <a:off x="3811797" y="3384746"/>
            <a:ext cx="3347023" cy="600075"/>
            <a:chOff x="3833274" y="3334511"/>
            <a:chExt cx="3347304" cy="801008"/>
          </a:xfrm>
        </p:grpSpPr>
        <p:cxnSp>
          <p:nvCxnSpPr>
            <p:cNvPr id="12309" name="直接连接符 15"/>
            <p:cNvCxnSpPr>
              <a:cxnSpLocks noChangeShapeType="1"/>
            </p:cNvCxnSpPr>
            <p:nvPr/>
          </p:nvCxnSpPr>
          <p:spPr bwMode="auto">
            <a:xfrm>
              <a:off x="5103163" y="3334511"/>
              <a:ext cx="0" cy="759819"/>
            </a:xfrm>
            <a:prstGeom prst="line">
              <a:avLst/>
            </a:prstGeom>
            <a:noFill/>
            <a:ln w="19050" algn="ctr">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310" name="直接连接符 48"/>
            <p:cNvCxnSpPr>
              <a:cxnSpLocks noChangeShapeType="1"/>
            </p:cNvCxnSpPr>
            <p:nvPr/>
          </p:nvCxnSpPr>
          <p:spPr bwMode="auto">
            <a:xfrm>
              <a:off x="7169380" y="3375701"/>
              <a:ext cx="0" cy="759818"/>
            </a:xfrm>
            <a:prstGeom prst="line">
              <a:avLst/>
            </a:prstGeom>
            <a:noFill/>
            <a:ln w="19050" algn="ctr">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12311" name="组合 24"/>
            <p:cNvGrpSpPr/>
            <p:nvPr/>
          </p:nvGrpSpPr>
          <p:grpSpPr bwMode="auto">
            <a:xfrm>
              <a:off x="3833274" y="3564303"/>
              <a:ext cx="3347304" cy="532310"/>
              <a:chOff x="3833274" y="3564303"/>
              <a:chExt cx="3347304" cy="532310"/>
            </a:xfrm>
          </p:grpSpPr>
          <p:cxnSp>
            <p:nvCxnSpPr>
              <p:cNvPr id="12312" name="直接连接符 18"/>
              <p:cNvCxnSpPr>
                <a:cxnSpLocks noChangeShapeType="1"/>
              </p:cNvCxnSpPr>
              <p:nvPr/>
            </p:nvCxnSpPr>
            <p:spPr bwMode="auto">
              <a:xfrm>
                <a:off x="5092403" y="3982961"/>
                <a:ext cx="2088175" cy="0"/>
              </a:xfrm>
              <a:prstGeom prst="line">
                <a:avLst/>
              </a:prstGeom>
              <a:noFill/>
              <a:ln w="9525" algn="ctr">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313" name="直接连接符 20"/>
              <p:cNvCxnSpPr>
                <a:cxnSpLocks noChangeShapeType="1"/>
              </p:cNvCxnSpPr>
              <p:nvPr/>
            </p:nvCxnSpPr>
            <p:spPr bwMode="auto">
              <a:xfrm>
                <a:off x="4012442" y="3985145"/>
                <a:ext cx="1206180" cy="0"/>
              </a:xfrm>
              <a:prstGeom prst="line">
                <a:avLst/>
              </a:prstGeom>
              <a:noFill/>
              <a:ln w="9525" algn="ctr">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2314" name="TextBox 22"/>
              <p:cNvSpPr txBox="1">
                <a:spLocks noChangeArrowheads="1"/>
              </p:cNvSpPr>
              <p:nvPr/>
            </p:nvSpPr>
            <p:spPr bwMode="auto">
              <a:xfrm>
                <a:off x="3833274" y="3564303"/>
                <a:ext cx="1315364" cy="532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b="1" dirty="0">
                    <a:solidFill>
                      <a:srgbClr val="FF0000"/>
                    </a:solidFill>
                  </a:rPr>
                  <a:t>给定长度</a:t>
                </a:r>
              </a:p>
            </p:txBody>
          </p:sp>
        </p:grpSp>
      </p:grpSp>
      <p:cxnSp>
        <p:nvCxnSpPr>
          <p:cNvPr id="91172" name="直接连接符 91171"/>
          <p:cNvCxnSpPr>
            <a:cxnSpLocks noChangeShapeType="1"/>
          </p:cNvCxnSpPr>
          <p:nvPr/>
        </p:nvCxnSpPr>
        <p:spPr bwMode="auto">
          <a:xfrm>
            <a:off x="5335791" y="2617223"/>
            <a:ext cx="936000" cy="0"/>
          </a:xfrm>
          <a:prstGeom prst="line">
            <a:avLst/>
          </a:prstGeom>
          <a:noFill/>
          <a:ln w="38100" algn="ctr">
            <a:solidFill>
              <a:srgbClr val="C000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aphicFrame>
        <p:nvGraphicFramePr>
          <p:cNvPr id="5" name="对象 4"/>
          <p:cNvGraphicFramePr>
            <a:graphicFrameLocks noChangeAspect="1"/>
          </p:cNvGraphicFramePr>
          <p:nvPr/>
        </p:nvGraphicFramePr>
        <p:xfrm>
          <a:off x="4903208" y="4858940"/>
          <a:ext cx="2462530" cy="399415"/>
        </p:xfrm>
        <a:graphic>
          <a:graphicData uri="http://schemas.openxmlformats.org/presentationml/2006/ole">
            <p:oleObj spid="_x0000_s5127" name="公式" r:id="rId7" imgW="25908000" imgH="5486400" progId="">
              <p:embed/>
            </p:oleObj>
          </a:graphicData>
        </a:graphic>
      </p:graphicFrame>
      <p:graphicFrame>
        <p:nvGraphicFramePr>
          <p:cNvPr id="38" name="对象 37"/>
          <p:cNvGraphicFramePr>
            <a:graphicFrameLocks noChangeAspect="1"/>
          </p:cNvGraphicFramePr>
          <p:nvPr/>
        </p:nvGraphicFramePr>
        <p:xfrm>
          <a:off x="4904161" y="5377585"/>
          <a:ext cx="2456815" cy="409575"/>
        </p:xfrm>
        <a:graphic>
          <a:graphicData uri="http://schemas.openxmlformats.org/presentationml/2006/ole">
            <p:oleObj spid="_x0000_s5128" name="公式" r:id="rId8" imgW="24688800" imgH="5486400" progId="">
              <p:embed/>
            </p:oleObj>
          </a:graphicData>
        </a:graphic>
      </p:graphicFrame>
      <p:cxnSp>
        <p:nvCxnSpPr>
          <p:cNvPr id="36" name="直接连接符 35"/>
          <p:cNvCxnSpPr/>
          <p:nvPr/>
        </p:nvCxnSpPr>
        <p:spPr bwMode="auto">
          <a:xfrm flipV="1">
            <a:off x="169049" y="1112930"/>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41" name="组合 40"/>
          <p:cNvGrpSpPr/>
          <p:nvPr/>
        </p:nvGrpSpPr>
        <p:grpSpPr>
          <a:xfrm>
            <a:off x="1314451" y="4789984"/>
            <a:ext cx="2608043" cy="505281"/>
            <a:chOff x="1314451" y="4674570"/>
            <a:chExt cx="2608043" cy="505281"/>
          </a:xfrm>
        </p:grpSpPr>
        <p:pic>
          <p:nvPicPr>
            <p:cNvPr id="12306" name="Picture 31" descr="C:\Documents and Settings\Administrator\桌面\2015年第9版资料\2015年第9版图\j4b20b.tif"/>
            <p:cNvPicPr>
              <a:picLocks noChangeAspect="1" noChangeArrowheads="1"/>
            </p:cNvPicPr>
            <p:nvPr/>
          </p:nvPicPr>
          <p:blipFill>
            <a:blip r:embed="rId9" cstate="print">
              <a:extLst>
                <a:ext uri="{28A0092B-C50C-407E-A947-70E740481C1C}">
                  <a14:useLocalDpi xmlns:a14="http://schemas.microsoft.com/office/drawing/2010/main" xmlns="" val="0"/>
                </a:ext>
              </a:extLst>
            </a:blip>
            <a:srcRect/>
            <a:stretch>
              <a:fillRect/>
            </a:stretch>
          </p:blipFill>
          <p:spPr bwMode="auto">
            <a:xfrm>
              <a:off x="3470835" y="4711851"/>
              <a:ext cx="451659" cy="46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37" name="对象 36"/>
            <p:cNvGraphicFramePr>
              <a:graphicFrameLocks noChangeAspect="1"/>
            </p:cNvGraphicFramePr>
            <p:nvPr/>
          </p:nvGraphicFramePr>
          <p:xfrm>
            <a:off x="1314451" y="4674570"/>
            <a:ext cx="2130970" cy="499857"/>
          </p:xfrm>
          <a:graphic>
            <a:graphicData uri="http://schemas.openxmlformats.org/presentationml/2006/ole">
              <p:oleObj spid="_x0000_s5129" name="Equation" r:id="rId10" imgW="24688800" imgH="5791200" progId="Equation.DSMT4">
                <p:embed/>
              </p:oleObj>
            </a:graphicData>
          </a:graphic>
        </p:graphicFrame>
      </p:grpSp>
      <p:grpSp>
        <p:nvGrpSpPr>
          <p:cNvPr id="46" name="组合 45"/>
          <p:cNvGrpSpPr/>
          <p:nvPr/>
        </p:nvGrpSpPr>
        <p:grpSpPr>
          <a:xfrm>
            <a:off x="1345117" y="5306801"/>
            <a:ext cx="2575261" cy="523763"/>
            <a:chOff x="1345117" y="5191387"/>
            <a:chExt cx="2575261" cy="523763"/>
          </a:xfrm>
        </p:grpSpPr>
        <p:graphicFrame>
          <p:nvGraphicFramePr>
            <p:cNvPr id="39" name="对象 38"/>
            <p:cNvGraphicFramePr>
              <a:graphicFrameLocks noChangeAspect="1"/>
            </p:cNvGraphicFramePr>
            <p:nvPr/>
          </p:nvGraphicFramePr>
          <p:xfrm>
            <a:off x="1345117" y="5191387"/>
            <a:ext cx="2025650" cy="500063"/>
          </p:xfrm>
          <a:graphic>
            <a:graphicData uri="http://schemas.openxmlformats.org/presentationml/2006/ole">
              <p:oleObj spid="_x0000_s5130" name="Equation" r:id="rId11" imgW="23469600" imgH="5791200" progId="Equation.DSMT4">
                <p:embed/>
              </p:oleObj>
            </a:graphicData>
          </a:graphic>
        </p:graphicFrame>
        <p:pic>
          <p:nvPicPr>
            <p:cNvPr id="40" name="Picture 31" descr="C:\Documents and Settings\Administrator\桌面\2015年第9版资料\2015年第9版图\j4b20b.tif"/>
            <p:cNvPicPr>
              <a:picLocks noChangeAspect="1" noChangeArrowheads="1"/>
            </p:cNvPicPr>
            <p:nvPr/>
          </p:nvPicPr>
          <p:blipFill>
            <a:blip r:embed="rId9" cstate="print">
              <a:extLst>
                <a:ext uri="{28A0092B-C50C-407E-A947-70E740481C1C}">
                  <a14:useLocalDpi xmlns:a14="http://schemas.microsoft.com/office/drawing/2010/main" xmlns="" val="0"/>
                </a:ext>
              </a:extLst>
            </a:blip>
            <a:srcRect/>
            <a:stretch>
              <a:fillRect/>
            </a:stretch>
          </p:blipFill>
          <p:spPr bwMode="auto">
            <a:xfrm>
              <a:off x="3481593" y="5260490"/>
              <a:ext cx="438785" cy="454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1140">
                                            <p:txEl>
                                              <p:pRg st="0" end="0"/>
                                            </p:txEl>
                                          </p:spTgt>
                                        </p:tgtEl>
                                        <p:attrNameLst>
                                          <p:attrName>style.visibility</p:attrName>
                                        </p:attrNameLst>
                                      </p:cBhvr>
                                      <p:to>
                                        <p:strVal val="visible"/>
                                      </p:to>
                                    </p:set>
                                    <p:animEffect transition="in" filter="wipe(left)">
                                      <p:cBhvr>
                                        <p:cTn id="7" dur="300"/>
                                        <p:tgtEl>
                                          <p:spTgt spid="911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91141"/>
                                        </p:tgtEl>
                                        <p:attrNameLst>
                                          <p:attrName>style.visibility</p:attrName>
                                        </p:attrNameLst>
                                      </p:cBhvr>
                                      <p:to>
                                        <p:strVal val="visible"/>
                                      </p:to>
                                    </p:set>
                                    <p:animEffect transition="in" filter="wipe(left)">
                                      <p:cBhvr>
                                        <p:cTn id="12" dur="300"/>
                                        <p:tgtEl>
                                          <p:spTgt spid="911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315"/>
                                        </p:tgtEl>
                                        <p:attrNameLst>
                                          <p:attrName>style.visibility</p:attrName>
                                        </p:attrNameLst>
                                      </p:cBhvr>
                                      <p:to>
                                        <p:strVal val="visible"/>
                                      </p:to>
                                    </p:set>
                                    <p:animEffect transition="in" filter="wipe(left)">
                                      <p:cBhvr>
                                        <p:cTn id="17" dur="500"/>
                                        <p:tgtEl>
                                          <p:spTgt spid="1231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wipe(left)">
                                      <p:cBhvr>
                                        <p:cTn id="20" dur="500"/>
                                        <p:tgtEl>
                                          <p:spTgt spid="27"/>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500"/>
                                        <p:tgtEl>
                                          <p:spTgt spid="28"/>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par>
                                <p:cTn id="27" presetID="22" presetClass="entr" presetSubtype="8" fill="hold" nodeType="withEffect">
                                  <p:stCondLst>
                                    <p:cond delay="0"/>
                                  </p:stCondLst>
                                  <p:childTnLst>
                                    <p:set>
                                      <p:cBhvr>
                                        <p:cTn id="28" dur="1" fill="hold">
                                          <p:stCondLst>
                                            <p:cond delay="0"/>
                                          </p:stCondLst>
                                        </p:cTn>
                                        <p:tgtEl>
                                          <p:spTgt spid="12322"/>
                                        </p:tgtEl>
                                        <p:attrNameLst>
                                          <p:attrName>style.visibility</p:attrName>
                                        </p:attrNameLst>
                                      </p:cBhvr>
                                      <p:to>
                                        <p:strVal val="visible"/>
                                      </p:to>
                                    </p:set>
                                    <p:animEffect transition="in" filter="wipe(left)">
                                      <p:cBhvr>
                                        <p:cTn id="29" dur="500"/>
                                        <p:tgtEl>
                                          <p:spTgt spid="1232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91168"/>
                                        </p:tgtEl>
                                        <p:attrNameLst>
                                          <p:attrName>style.visibility</p:attrName>
                                        </p:attrNameLst>
                                      </p:cBhvr>
                                      <p:to>
                                        <p:strVal val="visible"/>
                                      </p:to>
                                    </p:set>
                                    <p:animEffect transition="in" filter="wipe(down)">
                                      <p:cBhvr>
                                        <p:cTn id="34" dur="2000"/>
                                        <p:tgtEl>
                                          <p:spTgt spid="9116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wipe(down)">
                                      <p:cBhvr>
                                        <p:cTn id="39" dur="2000"/>
                                        <p:tgtEl>
                                          <p:spTgt spid="42"/>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grpId="0" nodeType="clickEffect">
                                  <p:stCondLst>
                                    <p:cond delay="0"/>
                                  </p:stCondLst>
                                  <p:childTnLst>
                                    <p:set>
                                      <p:cBhvr>
                                        <p:cTn id="43" dur="1" fill="hold">
                                          <p:stCondLst>
                                            <p:cond delay="0"/>
                                          </p:stCondLst>
                                        </p:cTn>
                                        <p:tgtEl>
                                          <p:spTgt spid="45"/>
                                        </p:tgtEl>
                                        <p:attrNameLst>
                                          <p:attrName>style.visibility</p:attrName>
                                        </p:attrNameLst>
                                      </p:cBhvr>
                                      <p:to>
                                        <p:strVal val="visible"/>
                                      </p:to>
                                    </p:set>
                                    <p:anim calcmode="lin" valueType="num">
                                      <p:cBhvr>
                                        <p:cTn id="44" dur="1000" fill="hold"/>
                                        <p:tgtEl>
                                          <p:spTgt spid="45"/>
                                        </p:tgtEl>
                                        <p:attrNameLst>
                                          <p:attrName>ppt_w</p:attrName>
                                        </p:attrNameLst>
                                      </p:cBhvr>
                                      <p:tavLst>
                                        <p:tav tm="0">
                                          <p:val>
                                            <p:fltVal val="0"/>
                                          </p:val>
                                        </p:tav>
                                        <p:tav tm="100000">
                                          <p:val>
                                            <p:strVal val="#ppt_w"/>
                                          </p:val>
                                        </p:tav>
                                      </p:tavLst>
                                    </p:anim>
                                    <p:anim calcmode="lin" valueType="num">
                                      <p:cBhvr>
                                        <p:cTn id="45" dur="1000" fill="hold"/>
                                        <p:tgtEl>
                                          <p:spTgt spid="45"/>
                                        </p:tgtEl>
                                        <p:attrNameLst>
                                          <p:attrName>ppt_h</p:attrName>
                                        </p:attrNameLst>
                                      </p:cBhvr>
                                      <p:tavLst>
                                        <p:tav tm="0">
                                          <p:val>
                                            <p:fltVal val="0"/>
                                          </p:val>
                                        </p:tav>
                                        <p:tav tm="100000">
                                          <p:val>
                                            <p:strVal val="#ppt_h"/>
                                          </p:val>
                                        </p:tav>
                                      </p:tavLst>
                                    </p:anim>
                                    <p:anim calcmode="lin" valueType="num">
                                      <p:cBhvr>
                                        <p:cTn id="46" dur="1000" fill="hold"/>
                                        <p:tgtEl>
                                          <p:spTgt spid="45"/>
                                        </p:tgtEl>
                                        <p:attrNameLst>
                                          <p:attrName>style.rotation</p:attrName>
                                        </p:attrNameLst>
                                      </p:cBhvr>
                                      <p:tavLst>
                                        <p:tav tm="0">
                                          <p:val>
                                            <p:fltVal val="90"/>
                                          </p:val>
                                        </p:tav>
                                        <p:tav tm="100000">
                                          <p:val>
                                            <p:fltVal val="0"/>
                                          </p:val>
                                        </p:tav>
                                      </p:tavLst>
                                    </p:anim>
                                    <p:animEffect transition="in" filter="fade">
                                      <p:cBhvr>
                                        <p:cTn id="47" dur="1000"/>
                                        <p:tgtEl>
                                          <p:spTgt spid="4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91172"/>
                                        </p:tgtEl>
                                        <p:attrNameLst>
                                          <p:attrName>style.visibility</p:attrName>
                                        </p:attrNameLst>
                                      </p:cBhvr>
                                      <p:to>
                                        <p:strVal val="visible"/>
                                      </p:to>
                                    </p:set>
                                    <p:animEffect transition="in" filter="wipe(down)">
                                      <p:cBhvr>
                                        <p:cTn id="52" dur="3250"/>
                                        <p:tgtEl>
                                          <p:spTgt spid="9117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down)">
                                      <p:cBhvr>
                                        <p:cTn id="57" dur="275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31" presetClass="entr" presetSubtype="0" fill="hold" grpId="0" nodeType="clickEffect">
                                  <p:stCondLst>
                                    <p:cond delay="0"/>
                                  </p:stCondLst>
                                  <p:childTnLst>
                                    <p:set>
                                      <p:cBhvr>
                                        <p:cTn id="61" dur="1" fill="hold">
                                          <p:stCondLst>
                                            <p:cond delay="0"/>
                                          </p:stCondLst>
                                        </p:cTn>
                                        <p:tgtEl>
                                          <p:spTgt spid="44"/>
                                        </p:tgtEl>
                                        <p:attrNameLst>
                                          <p:attrName>style.visibility</p:attrName>
                                        </p:attrNameLst>
                                      </p:cBhvr>
                                      <p:to>
                                        <p:strVal val="visible"/>
                                      </p:to>
                                    </p:set>
                                    <p:anim calcmode="lin" valueType="num">
                                      <p:cBhvr>
                                        <p:cTn id="62" dur="1000" fill="hold"/>
                                        <p:tgtEl>
                                          <p:spTgt spid="44"/>
                                        </p:tgtEl>
                                        <p:attrNameLst>
                                          <p:attrName>ppt_w</p:attrName>
                                        </p:attrNameLst>
                                      </p:cBhvr>
                                      <p:tavLst>
                                        <p:tav tm="0">
                                          <p:val>
                                            <p:fltVal val="0"/>
                                          </p:val>
                                        </p:tav>
                                        <p:tav tm="100000">
                                          <p:val>
                                            <p:strVal val="#ppt_w"/>
                                          </p:val>
                                        </p:tav>
                                      </p:tavLst>
                                    </p:anim>
                                    <p:anim calcmode="lin" valueType="num">
                                      <p:cBhvr>
                                        <p:cTn id="63" dur="1000" fill="hold"/>
                                        <p:tgtEl>
                                          <p:spTgt spid="44"/>
                                        </p:tgtEl>
                                        <p:attrNameLst>
                                          <p:attrName>ppt_h</p:attrName>
                                        </p:attrNameLst>
                                      </p:cBhvr>
                                      <p:tavLst>
                                        <p:tav tm="0">
                                          <p:val>
                                            <p:fltVal val="0"/>
                                          </p:val>
                                        </p:tav>
                                        <p:tav tm="100000">
                                          <p:val>
                                            <p:strVal val="#ppt_h"/>
                                          </p:val>
                                        </p:tav>
                                      </p:tavLst>
                                    </p:anim>
                                    <p:anim calcmode="lin" valueType="num">
                                      <p:cBhvr>
                                        <p:cTn id="64" dur="1000" fill="hold"/>
                                        <p:tgtEl>
                                          <p:spTgt spid="44"/>
                                        </p:tgtEl>
                                        <p:attrNameLst>
                                          <p:attrName>style.rotation</p:attrName>
                                        </p:attrNameLst>
                                      </p:cBhvr>
                                      <p:tavLst>
                                        <p:tav tm="0">
                                          <p:val>
                                            <p:fltVal val="90"/>
                                          </p:val>
                                        </p:tav>
                                        <p:tav tm="100000">
                                          <p:val>
                                            <p:fltVal val="0"/>
                                          </p:val>
                                        </p:tav>
                                      </p:tavLst>
                                    </p:anim>
                                    <p:animEffect transition="in" filter="fade">
                                      <p:cBhvr>
                                        <p:cTn id="65" dur="1000"/>
                                        <p:tgtEl>
                                          <p:spTgt spid="4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91164"/>
                                        </p:tgtEl>
                                        <p:attrNameLst>
                                          <p:attrName>style.visibility</p:attrName>
                                        </p:attrNameLst>
                                      </p:cBhvr>
                                      <p:to>
                                        <p:strVal val="visible"/>
                                      </p:to>
                                    </p:set>
                                    <p:animEffect transition="in" filter="wipe(left)">
                                      <p:cBhvr>
                                        <p:cTn id="70" dur="2000"/>
                                        <p:tgtEl>
                                          <p:spTgt spid="9116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wipe(left)">
                                      <p:cBhvr>
                                        <p:cTn id="75" dur="500"/>
                                        <p:tgtEl>
                                          <p:spTgt spid="41"/>
                                        </p:tgtEl>
                                      </p:cBhvr>
                                    </p:animEffect>
                                  </p:childTnLst>
                                </p:cTn>
                              </p:par>
                              <p:par>
                                <p:cTn id="76" presetID="22" presetClass="entr" presetSubtype="8" fill="hold" nodeType="with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wipe(left)">
                                      <p:cBhvr>
                                        <p:cTn id="78" dur="500"/>
                                        <p:tgtEl>
                                          <p:spTgt spid="4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wipe(left)">
                                      <p:cBhvr>
                                        <p:cTn id="83" dur="500"/>
                                        <p:tgtEl>
                                          <p:spTgt spid="5"/>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wipe(left)">
                                      <p:cBhvr>
                                        <p:cTn id="8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build="p" autoUpdateAnimBg="0"/>
      <p:bldP spid="91141" grpId="0" bldLvl="0" animBg="1" autoUpdateAnimBg="0"/>
      <p:bldP spid="91164" grpId="0" bldLvl="0" animBg="1"/>
      <p:bldP spid="3" grpId="0" animBg="1"/>
      <p:bldP spid="27" grpId="0" animBg="1"/>
      <p:bldP spid="28" grpId="0" animBg="1"/>
      <p:bldP spid="42" grpId="0" bldLvl="0" animBg="1"/>
      <p:bldP spid="43" grpId="0" bldLvl="0" animBg="1"/>
      <p:bldP spid="44" grpId="0" bldLvl="0" animBg="1"/>
      <p:bldP spid="45"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Text Box 4"/>
          <p:cNvSpPr txBox="1">
            <a:spLocks noChangeArrowheads="1"/>
          </p:cNvSpPr>
          <p:nvPr/>
        </p:nvSpPr>
        <p:spPr bwMode="auto">
          <a:xfrm>
            <a:off x="381974" y="431045"/>
            <a:ext cx="84582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6</a:t>
            </a:r>
            <a:r>
              <a:rPr lang="zh-CN" altLang="en-US" b="1" dirty="0">
                <a:latin typeface="宋体" panose="02010600030101010101" pitchFamily="2" charset="-122"/>
              </a:rPr>
              <a:t>.最小实体实效状态(</a:t>
            </a:r>
            <a:r>
              <a:rPr lang="en-US" altLang="zh-CN" b="1" dirty="0"/>
              <a:t>LMVC</a:t>
            </a:r>
            <a:r>
              <a:rPr lang="en-US" altLang="zh-CN" b="1" dirty="0">
                <a:latin typeface="宋体" panose="02010600030101010101" pitchFamily="2" charset="-122"/>
              </a:rPr>
              <a:t>)</a:t>
            </a:r>
            <a:r>
              <a:rPr lang="zh-CN" altLang="en-US" b="1" dirty="0"/>
              <a:t>和最小实体实效尺寸(</a:t>
            </a:r>
            <a:r>
              <a:rPr lang="en-US" altLang="zh-CN" b="1" dirty="0"/>
              <a:t>LMVS)</a:t>
            </a:r>
            <a:endParaRPr lang="zh-CN" altLang="en-US" b="1" dirty="0"/>
          </a:p>
        </p:txBody>
      </p:sp>
      <p:graphicFrame>
        <p:nvGraphicFramePr>
          <p:cNvPr id="93194" name="Object 10"/>
          <p:cNvGraphicFramePr>
            <a:graphicFrameLocks noChangeAspect="1"/>
          </p:cNvGraphicFramePr>
          <p:nvPr/>
        </p:nvGraphicFramePr>
        <p:xfrm>
          <a:off x="2882641" y="4944589"/>
          <a:ext cx="2606675" cy="447040"/>
        </p:xfrm>
        <a:graphic>
          <a:graphicData uri="http://schemas.openxmlformats.org/presentationml/2006/ole">
            <p:oleObj spid="_x0000_s6151" name="公式" r:id="rId3" imgW="24079200" imgH="5486400" progId="">
              <p:embed/>
            </p:oleObj>
          </a:graphicData>
        </a:graphic>
      </p:graphicFrame>
      <p:graphicFrame>
        <p:nvGraphicFramePr>
          <p:cNvPr id="93195" name="Object 11"/>
          <p:cNvGraphicFramePr>
            <a:graphicFrameLocks noChangeAspect="1"/>
          </p:cNvGraphicFramePr>
          <p:nvPr/>
        </p:nvGraphicFramePr>
        <p:xfrm>
          <a:off x="2823845" y="3724119"/>
          <a:ext cx="2394585" cy="394335"/>
        </p:xfrm>
        <a:graphic>
          <a:graphicData uri="http://schemas.openxmlformats.org/presentationml/2006/ole">
            <p:oleObj spid="_x0000_s6152" name="公式" r:id="rId4" imgW="25603200" imgH="5486400" progId="">
              <p:embed/>
            </p:oleObj>
          </a:graphicData>
        </a:graphic>
      </p:graphicFrame>
      <p:sp>
        <p:nvSpPr>
          <p:cNvPr id="93197" name="Text Box 13"/>
          <p:cNvSpPr txBox="1">
            <a:spLocks noChangeArrowheads="1"/>
          </p:cNvSpPr>
          <p:nvPr/>
        </p:nvSpPr>
        <p:spPr bwMode="auto">
          <a:xfrm>
            <a:off x="807919" y="2433051"/>
            <a:ext cx="7510048"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a:t>
            </a:r>
            <a:r>
              <a:rPr lang="en-US" altLang="zh-CN" sz="2000" b="1" dirty="0"/>
              <a:t>2</a:t>
            </a:r>
            <a:r>
              <a:rPr lang="zh-CN" altLang="en-US" sz="2000" b="1" dirty="0"/>
              <a:t>）</a:t>
            </a:r>
            <a:r>
              <a:rPr lang="en-US" altLang="zh-CN" sz="2000" b="1" dirty="0">
                <a:solidFill>
                  <a:srgbClr val="D60093"/>
                </a:solidFill>
              </a:rPr>
              <a:t>LMVS</a:t>
            </a:r>
            <a:r>
              <a:rPr lang="en-US" altLang="zh-CN" sz="2000" b="1" dirty="0"/>
              <a:t> </a:t>
            </a:r>
            <a:r>
              <a:rPr lang="en-US" altLang="zh-CN" sz="2000" b="1" dirty="0" smtClean="0"/>
              <a:t>—</a:t>
            </a:r>
            <a:r>
              <a:rPr lang="zh-CN" altLang="en-US" sz="2000" b="1" dirty="0" smtClean="0"/>
              <a:t>在</a:t>
            </a:r>
            <a:r>
              <a:rPr lang="zh-CN" altLang="en-US" sz="2000" b="1" dirty="0"/>
              <a:t>最小实体实效状态</a:t>
            </a:r>
            <a:r>
              <a:rPr lang="en-US" altLang="zh-CN" sz="2000" b="1" dirty="0">
                <a:solidFill>
                  <a:srgbClr val="FF3300"/>
                </a:solidFill>
              </a:rPr>
              <a:t>LMVC</a:t>
            </a:r>
            <a:r>
              <a:rPr lang="zh-CN" altLang="en-US" sz="2000" b="1" dirty="0"/>
              <a:t>下体内</a:t>
            </a:r>
            <a:r>
              <a:rPr lang="zh-CN" altLang="en-US" sz="2000" b="1" dirty="0" smtClean="0"/>
              <a:t>作用</a:t>
            </a:r>
            <a:r>
              <a:rPr lang="zh-CN" altLang="en-US" sz="2000" b="1" dirty="0"/>
              <a:t>尺寸。</a:t>
            </a:r>
            <a:endParaRPr lang="en-US" altLang="zh-CN" sz="2000" b="1" dirty="0"/>
          </a:p>
        </p:txBody>
      </p:sp>
      <p:sp>
        <p:nvSpPr>
          <p:cNvPr id="93199" name="Text Box 15"/>
          <p:cNvSpPr txBox="1">
            <a:spLocks noChangeArrowheads="1"/>
          </p:cNvSpPr>
          <p:nvPr/>
        </p:nvSpPr>
        <p:spPr bwMode="auto">
          <a:xfrm>
            <a:off x="317444" y="1343635"/>
            <a:ext cx="8142678" cy="8915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000" b="1" dirty="0">
                <a:latin typeface="宋体" panose="02010600030101010101" pitchFamily="2" charset="-122"/>
              </a:rPr>
              <a:t>    （</a:t>
            </a:r>
            <a:r>
              <a:rPr lang="en-US" altLang="zh-CN" sz="2000" b="1" dirty="0">
                <a:latin typeface="宋体" panose="02010600030101010101" pitchFamily="2" charset="-122"/>
              </a:rPr>
              <a:t>1</a:t>
            </a:r>
            <a:r>
              <a:rPr lang="zh-CN" altLang="en-US" sz="2000" b="1" dirty="0">
                <a:latin typeface="宋体" panose="02010600030101010101" pitchFamily="2" charset="-122"/>
              </a:rPr>
              <a:t>）</a:t>
            </a:r>
            <a:r>
              <a:rPr lang="en-US" altLang="zh-CN" sz="2000" b="1" dirty="0" smtClean="0">
                <a:solidFill>
                  <a:srgbClr val="D60093"/>
                </a:solidFill>
              </a:rPr>
              <a:t>LMVC</a:t>
            </a:r>
            <a:r>
              <a:rPr lang="en-US" altLang="zh-CN" sz="2000" b="1" dirty="0" smtClean="0"/>
              <a:t> —</a:t>
            </a:r>
            <a:r>
              <a:rPr lang="zh-CN" altLang="en-US" sz="2000" b="1" dirty="0" smtClean="0">
                <a:latin typeface="宋体" panose="02010600030101010101" pitchFamily="2" charset="-122"/>
              </a:rPr>
              <a:t>实际要素</a:t>
            </a:r>
            <a:r>
              <a:rPr lang="zh-CN" altLang="en-US" sz="2000" b="1" dirty="0">
                <a:latin typeface="宋体" panose="02010600030101010101" pitchFamily="2" charset="-122"/>
              </a:rPr>
              <a:t>在给定长度上处于最小实体状态</a:t>
            </a:r>
            <a:r>
              <a:rPr lang="en-US" altLang="zh-CN" sz="2000" b="1" dirty="0">
                <a:latin typeface="宋体" panose="02010600030101010101" pitchFamily="2" charset="-122"/>
              </a:rPr>
              <a:t>LMC</a:t>
            </a:r>
            <a:r>
              <a:rPr lang="zh-CN" altLang="en-US" sz="2000" b="1" dirty="0">
                <a:latin typeface="宋体" panose="02010600030101010101" pitchFamily="2" charset="-122"/>
              </a:rPr>
              <a:t>且其中心要素的 </a:t>
            </a:r>
            <a:r>
              <a:rPr lang="en-US" altLang="zh-CN" sz="2000" b="1" i="1" dirty="0">
                <a:solidFill>
                  <a:srgbClr val="FF3300"/>
                </a:solidFill>
              </a:rPr>
              <a:t>f</a:t>
            </a:r>
            <a:r>
              <a:rPr lang="zh-CN" altLang="en-US" sz="2000" b="1" baseline="-30000" dirty="0">
                <a:solidFill>
                  <a:srgbClr val="FF3300"/>
                </a:solidFill>
                <a:latin typeface="宋体" panose="02010600030101010101" pitchFamily="2" charset="-122"/>
              </a:rPr>
              <a:t>几何</a:t>
            </a:r>
            <a:r>
              <a:rPr lang="zh-CN" altLang="en-US" sz="2000" b="1" dirty="0">
                <a:solidFill>
                  <a:srgbClr val="FF3300"/>
                </a:solidFill>
              </a:rPr>
              <a:t>=  </a:t>
            </a:r>
            <a:r>
              <a:rPr lang="en-US" altLang="zh-CN" sz="2000" b="1" i="1" dirty="0">
                <a:solidFill>
                  <a:srgbClr val="FF3300"/>
                </a:solidFill>
              </a:rPr>
              <a:t>t</a:t>
            </a:r>
            <a:r>
              <a:rPr lang="zh-CN" altLang="en-US" sz="2000" b="1" baseline="-30000" dirty="0">
                <a:solidFill>
                  <a:srgbClr val="FF3300"/>
                </a:solidFill>
                <a:latin typeface="宋体" panose="02010600030101010101" pitchFamily="2" charset="-122"/>
              </a:rPr>
              <a:t>几何 </a:t>
            </a:r>
            <a:r>
              <a:rPr lang="zh-CN" altLang="en-US" sz="2000" b="1" dirty="0">
                <a:latin typeface="宋体" panose="02010600030101010101" pitchFamily="2" charset="-122"/>
              </a:rPr>
              <a:t>时综合极限状态。</a:t>
            </a:r>
            <a:r>
              <a:rPr lang="zh-CN" altLang="en-US" sz="2000" b="1" dirty="0"/>
              <a:t> </a:t>
            </a:r>
          </a:p>
        </p:txBody>
      </p:sp>
      <p:graphicFrame>
        <p:nvGraphicFramePr>
          <p:cNvPr id="13324" name="Object 18"/>
          <p:cNvGraphicFramePr>
            <a:graphicFrameLocks noChangeAspect="1"/>
          </p:cNvGraphicFramePr>
          <p:nvPr/>
        </p:nvGraphicFramePr>
        <p:xfrm>
          <a:off x="2245360" y="4297524"/>
          <a:ext cx="3269615" cy="477520"/>
        </p:xfrm>
        <a:graphic>
          <a:graphicData uri="http://schemas.openxmlformats.org/presentationml/2006/ole">
            <p:oleObj spid="_x0000_s6153" name="公式" r:id="rId5" imgW="31089600" imgH="5486400" progId="">
              <p:embed/>
            </p:oleObj>
          </a:graphicData>
        </a:graphic>
      </p:graphicFrame>
      <p:pic>
        <p:nvPicPr>
          <p:cNvPr id="13325" name="Picture 15" descr="C:\Documents and Settings\Administrator\桌面\2015年第9版资料\2015年第9版图\j4b20c.tif"/>
          <p:cNvPicPr>
            <a:picLocks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292090" y="4314034"/>
            <a:ext cx="540000" cy="540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13322" name="Object 16"/>
          <p:cNvGraphicFramePr>
            <a:graphicFrameLocks noChangeAspect="1"/>
          </p:cNvGraphicFramePr>
          <p:nvPr/>
        </p:nvGraphicFramePr>
        <p:xfrm>
          <a:off x="2265680" y="3096739"/>
          <a:ext cx="2502535" cy="431800"/>
        </p:xfrm>
        <a:graphic>
          <a:graphicData uri="http://schemas.openxmlformats.org/presentationml/2006/ole">
            <p:oleObj spid="_x0000_s6154" name="公式" r:id="rId7" imgW="30784800" imgH="5486400" progId="">
              <p:embed/>
            </p:oleObj>
          </a:graphicData>
        </a:graphic>
      </p:graphicFrame>
      <p:pic>
        <p:nvPicPr>
          <p:cNvPr id="13323" name="Picture 15" descr="C:\Documents and Settings\Administrator\桌面\2015年第9版资料\2015年第9版图\j4b20c.tif"/>
          <p:cNvPicPr>
            <a:picLocks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4780280" y="3070069"/>
            <a:ext cx="540000" cy="540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14" name="直接连接符 13"/>
          <p:cNvCxnSpPr/>
          <p:nvPr/>
        </p:nvCxnSpPr>
        <p:spPr bwMode="auto">
          <a:xfrm flipV="1">
            <a:off x="159217" y="1017393"/>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3188">
                                            <p:txEl>
                                              <p:pRg st="0" end="0"/>
                                            </p:txEl>
                                          </p:spTgt>
                                        </p:tgtEl>
                                        <p:attrNameLst>
                                          <p:attrName>style.visibility</p:attrName>
                                        </p:attrNameLst>
                                      </p:cBhvr>
                                      <p:to>
                                        <p:strVal val="visible"/>
                                      </p:to>
                                    </p:set>
                                    <p:animEffect transition="in" filter="wipe(left)">
                                      <p:cBhvr>
                                        <p:cTn id="7" dur="300"/>
                                        <p:tgtEl>
                                          <p:spTgt spid="931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93199"/>
                                        </p:tgtEl>
                                        <p:attrNameLst>
                                          <p:attrName>style.visibility</p:attrName>
                                        </p:attrNameLst>
                                      </p:cBhvr>
                                      <p:to>
                                        <p:strVal val="visible"/>
                                      </p:to>
                                    </p:set>
                                    <p:animEffect transition="in" filter="wipe(left)">
                                      <p:cBhvr>
                                        <p:cTn id="12" dur="300"/>
                                        <p:tgtEl>
                                          <p:spTgt spid="931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93197"/>
                                        </p:tgtEl>
                                        <p:attrNameLst>
                                          <p:attrName>style.visibility</p:attrName>
                                        </p:attrNameLst>
                                      </p:cBhvr>
                                      <p:to>
                                        <p:strVal val="visible"/>
                                      </p:to>
                                    </p:set>
                                    <p:animEffect transition="in" filter="wipe(left)">
                                      <p:cBhvr>
                                        <p:cTn id="17" dur="300"/>
                                        <p:tgtEl>
                                          <p:spTgt spid="931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3195"/>
                                        </p:tgtEl>
                                        <p:attrNameLst>
                                          <p:attrName>style.visibility</p:attrName>
                                        </p:attrNameLst>
                                      </p:cBhvr>
                                      <p:to>
                                        <p:strVal val="visible"/>
                                      </p:to>
                                    </p:set>
                                    <p:animEffect transition="in" filter="wipe(left)">
                                      <p:cBhvr>
                                        <p:cTn id="22" dur="500"/>
                                        <p:tgtEl>
                                          <p:spTgt spid="9319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3194"/>
                                        </p:tgtEl>
                                        <p:attrNameLst>
                                          <p:attrName>style.visibility</p:attrName>
                                        </p:attrNameLst>
                                      </p:cBhvr>
                                      <p:to>
                                        <p:strVal val="visible"/>
                                      </p:to>
                                    </p:set>
                                    <p:animEffect transition="in" filter="wipe(left)">
                                      <p:cBhvr>
                                        <p:cTn id="27" dur="500"/>
                                        <p:tgtEl>
                                          <p:spTgt spid="93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build="p" autoUpdateAnimBg="0"/>
      <p:bldP spid="93197" grpId="0" bldLvl="0" animBg="1" autoUpdateAnimBg="0"/>
      <p:bldP spid="93199" grpId="0" bldLvl="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Text Box 4"/>
          <p:cNvSpPr txBox="1">
            <a:spLocks noChangeArrowheads="1"/>
          </p:cNvSpPr>
          <p:nvPr/>
        </p:nvSpPr>
        <p:spPr bwMode="auto">
          <a:xfrm>
            <a:off x="486893" y="437499"/>
            <a:ext cx="2284412"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7. </a:t>
            </a:r>
            <a:r>
              <a:rPr lang="zh-CN" altLang="en-US" b="1" dirty="0">
                <a:latin typeface="宋体" panose="02010600030101010101" pitchFamily="2" charset="-122"/>
              </a:rPr>
              <a:t>边界</a:t>
            </a:r>
            <a:r>
              <a:rPr lang="zh-CN" altLang="en-US" b="1" dirty="0"/>
              <a:t> </a:t>
            </a:r>
          </a:p>
        </p:txBody>
      </p:sp>
      <p:sp>
        <p:nvSpPr>
          <p:cNvPr id="19461" name="Text Box 5"/>
          <p:cNvSpPr txBox="1">
            <a:spLocks noChangeArrowheads="1"/>
          </p:cNvSpPr>
          <p:nvPr/>
        </p:nvSpPr>
        <p:spPr bwMode="auto">
          <a:xfrm>
            <a:off x="437623" y="1405535"/>
            <a:ext cx="8266111" cy="8915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000" b="1" dirty="0"/>
              <a:t>          边界是设计给定的具有理想形状的极限包容面（既包括内表面，也包括外表面）。</a:t>
            </a:r>
          </a:p>
        </p:txBody>
      </p:sp>
      <p:sp>
        <p:nvSpPr>
          <p:cNvPr id="19462" name="Text Box 6"/>
          <p:cNvSpPr txBox="1">
            <a:spLocks noChangeArrowheads="1"/>
          </p:cNvSpPr>
          <p:nvPr/>
        </p:nvSpPr>
        <p:spPr bwMode="auto">
          <a:xfrm>
            <a:off x="1054247" y="2394036"/>
            <a:ext cx="7760978"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t>单一要素的边界没有方向和位置的约束。</a:t>
            </a:r>
          </a:p>
        </p:txBody>
      </p:sp>
      <p:sp>
        <p:nvSpPr>
          <p:cNvPr id="19493" name="Line 37"/>
          <p:cNvSpPr>
            <a:spLocks noChangeShapeType="1"/>
          </p:cNvSpPr>
          <p:nvPr/>
        </p:nvSpPr>
        <p:spPr bwMode="auto">
          <a:xfrm>
            <a:off x="4886325" y="3707606"/>
            <a:ext cx="2700338" cy="0"/>
          </a:xfrm>
          <a:prstGeom prst="line">
            <a:avLst/>
          </a:prstGeom>
          <a:noFill/>
          <a:ln w="3810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9494" name="Line 38"/>
          <p:cNvSpPr>
            <a:spLocks noChangeShapeType="1"/>
          </p:cNvSpPr>
          <p:nvPr/>
        </p:nvSpPr>
        <p:spPr bwMode="auto">
          <a:xfrm>
            <a:off x="4900614" y="4832747"/>
            <a:ext cx="2700337" cy="0"/>
          </a:xfrm>
          <a:prstGeom prst="line">
            <a:avLst/>
          </a:prstGeom>
          <a:noFill/>
          <a:ln w="3810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19497" name="Group 41"/>
          <p:cNvGrpSpPr/>
          <p:nvPr/>
        </p:nvGrpSpPr>
        <p:grpSpPr bwMode="auto">
          <a:xfrm>
            <a:off x="4274786" y="3252469"/>
            <a:ext cx="4463553" cy="2125663"/>
            <a:chOff x="2646" y="1560"/>
            <a:chExt cx="2871" cy="1811"/>
          </a:xfrm>
        </p:grpSpPr>
        <p:pic>
          <p:nvPicPr>
            <p:cNvPr id="14351" name="Picture 3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46" y="1560"/>
              <a:ext cx="2871" cy="18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4352" name="Line 39"/>
            <p:cNvSpPr>
              <a:spLocks noChangeShapeType="1"/>
            </p:cNvSpPr>
            <p:nvPr/>
          </p:nvSpPr>
          <p:spPr bwMode="auto">
            <a:xfrm>
              <a:off x="3109" y="1800"/>
              <a:ext cx="0" cy="1197"/>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4353" name="Line 40"/>
            <p:cNvSpPr>
              <a:spLocks noChangeShapeType="1"/>
            </p:cNvSpPr>
            <p:nvPr/>
          </p:nvSpPr>
          <p:spPr bwMode="auto">
            <a:xfrm>
              <a:off x="4770" y="1872"/>
              <a:ext cx="0" cy="1134"/>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19502" name="Group 46"/>
          <p:cNvGrpSpPr/>
          <p:nvPr/>
        </p:nvGrpSpPr>
        <p:grpSpPr bwMode="auto">
          <a:xfrm>
            <a:off x="621911" y="3464719"/>
            <a:ext cx="3376613" cy="1688306"/>
            <a:chOff x="204" y="2190"/>
            <a:chExt cx="2127" cy="1418"/>
          </a:xfrm>
        </p:grpSpPr>
        <p:pic>
          <p:nvPicPr>
            <p:cNvPr id="14347" name="Picture 3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04" y="2190"/>
              <a:ext cx="2127" cy="14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nvGrpSpPr>
            <p:cNvPr id="14348" name="Group 43"/>
            <p:cNvGrpSpPr/>
            <p:nvPr/>
          </p:nvGrpSpPr>
          <p:grpSpPr bwMode="auto">
            <a:xfrm rot="-5400000">
              <a:off x="231" y="2283"/>
              <a:ext cx="281" cy="212"/>
              <a:chOff x="3748" y="703"/>
              <a:chExt cx="400" cy="302"/>
            </a:xfrm>
          </p:grpSpPr>
          <p:sp>
            <p:nvSpPr>
              <p:cNvPr id="14349" name="Oval 44"/>
              <p:cNvSpPr>
                <a:spLocks noChangeArrowheads="1"/>
              </p:cNvSpPr>
              <p:nvPr/>
            </p:nvSpPr>
            <p:spPr bwMode="auto">
              <a:xfrm>
                <a:off x="3748" y="703"/>
                <a:ext cx="400" cy="302"/>
              </a:xfrm>
              <a:prstGeom prst="ellipse">
                <a:avLst/>
              </a:prstGeom>
              <a:solidFill>
                <a:srgbClr val="FFFFFF"/>
              </a:solidFill>
              <a:ln w="19050">
                <a:solidFill>
                  <a:srgbClr val="000000"/>
                </a:solidFill>
                <a:rou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p>
                <a:endParaRPr lang="zh-CN" altLang="en-US"/>
              </a:p>
            </p:txBody>
          </p:sp>
          <p:sp>
            <p:nvSpPr>
              <p:cNvPr id="14350" name="WordArt 45"/>
              <p:cNvSpPr>
                <a:spLocks noChangeArrowheads="1" noChangeShapeType="1" noTextEdit="1"/>
              </p:cNvSpPr>
              <p:nvPr/>
            </p:nvSpPr>
            <p:spPr bwMode="auto">
              <a:xfrm>
                <a:off x="3813" y="738"/>
                <a:ext cx="257" cy="211"/>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ln>
                    <a:solidFill>
                      <a:srgbClr val="000000"/>
                    </a:solidFill>
                    <a:latin typeface="宋体" panose="02010600030101010101" pitchFamily="2" charset="-122"/>
                    <a:ea typeface="宋体" panose="02010600030101010101" pitchFamily="2" charset="-122"/>
                  </a:rPr>
                  <a:t>E</a:t>
                </a:r>
                <a:endParaRPr lang="zh-CN" altLang="en-US" sz="3600" kern="10">
                  <a:ln w="9525">
                    <a:solidFill>
                      <a:srgbClr val="000000"/>
                    </a:solidFill>
                    <a:round/>
                  </a:ln>
                  <a:solidFill>
                    <a:srgbClr val="000000"/>
                  </a:solidFill>
                  <a:latin typeface="宋体" panose="02010600030101010101" pitchFamily="2" charset="-122"/>
                  <a:ea typeface="宋体" panose="02010600030101010101" pitchFamily="2" charset="-122"/>
                </a:endParaRPr>
              </a:p>
            </p:txBody>
          </p:sp>
        </p:grpSp>
      </p:grpSp>
      <p:cxnSp>
        <p:nvCxnSpPr>
          <p:cNvPr id="17" name="直接连接符 16"/>
          <p:cNvCxnSpPr/>
          <p:nvPr/>
        </p:nvCxnSpPr>
        <p:spPr bwMode="auto">
          <a:xfrm flipV="1">
            <a:off x="178881" y="1049307"/>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9460"/>
                                        </p:tgtEl>
                                        <p:attrNameLst>
                                          <p:attrName>style.visibility</p:attrName>
                                        </p:attrNameLst>
                                      </p:cBhvr>
                                      <p:to>
                                        <p:strVal val="visible"/>
                                      </p:to>
                                    </p:set>
                                    <p:animEffect transition="in" filter="wipe(left)">
                                      <p:cBhvr>
                                        <p:cTn id="7" dur="300"/>
                                        <p:tgtEl>
                                          <p:spTgt spid="194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9461"/>
                                        </p:tgtEl>
                                        <p:attrNameLst>
                                          <p:attrName>style.visibility</p:attrName>
                                        </p:attrNameLst>
                                      </p:cBhvr>
                                      <p:to>
                                        <p:strVal val="visible"/>
                                      </p:to>
                                    </p:set>
                                    <p:animEffect transition="in" filter="wipe(left)">
                                      <p:cBhvr>
                                        <p:cTn id="12" dur="300"/>
                                        <p:tgtEl>
                                          <p:spTgt spid="194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9462"/>
                                        </p:tgtEl>
                                        <p:attrNameLst>
                                          <p:attrName>style.visibility</p:attrName>
                                        </p:attrNameLst>
                                      </p:cBhvr>
                                      <p:to>
                                        <p:strVal val="visible"/>
                                      </p:to>
                                    </p:set>
                                    <p:animEffect transition="in" filter="wipe(left)">
                                      <p:cBhvr>
                                        <p:cTn id="17" dur="300"/>
                                        <p:tgtEl>
                                          <p:spTgt spid="1946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9502"/>
                                        </p:tgtEl>
                                        <p:attrNameLst>
                                          <p:attrName>style.visibility</p:attrName>
                                        </p:attrNameLst>
                                      </p:cBhvr>
                                      <p:to>
                                        <p:strVal val="visible"/>
                                      </p:to>
                                    </p:set>
                                    <p:anim calcmode="lin" valueType="num">
                                      <p:cBhvr additive="base">
                                        <p:cTn id="22" dur="500" fill="hold"/>
                                        <p:tgtEl>
                                          <p:spTgt spid="19502"/>
                                        </p:tgtEl>
                                        <p:attrNameLst>
                                          <p:attrName>ppt_x</p:attrName>
                                        </p:attrNameLst>
                                      </p:cBhvr>
                                      <p:tavLst>
                                        <p:tav tm="0">
                                          <p:val>
                                            <p:strVal val="0-#ppt_w/2"/>
                                          </p:val>
                                        </p:tav>
                                        <p:tav tm="100000">
                                          <p:val>
                                            <p:strVal val="#ppt_x"/>
                                          </p:val>
                                        </p:tav>
                                      </p:tavLst>
                                    </p:anim>
                                    <p:anim calcmode="lin" valueType="num">
                                      <p:cBhvr additive="base">
                                        <p:cTn id="23" dur="500" fill="hold"/>
                                        <p:tgtEl>
                                          <p:spTgt spid="1950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19497"/>
                                        </p:tgtEl>
                                        <p:attrNameLst>
                                          <p:attrName>style.visibility</p:attrName>
                                        </p:attrNameLst>
                                      </p:cBhvr>
                                      <p:to>
                                        <p:strVal val="visible"/>
                                      </p:to>
                                    </p:set>
                                    <p:anim calcmode="lin" valueType="num">
                                      <p:cBhvr additive="base">
                                        <p:cTn id="28" dur="500" fill="hold"/>
                                        <p:tgtEl>
                                          <p:spTgt spid="19497"/>
                                        </p:tgtEl>
                                        <p:attrNameLst>
                                          <p:attrName>ppt_x</p:attrName>
                                        </p:attrNameLst>
                                      </p:cBhvr>
                                      <p:tavLst>
                                        <p:tav tm="0">
                                          <p:val>
                                            <p:strVal val="1+#ppt_w/2"/>
                                          </p:val>
                                        </p:tav>
                                        <p:tav tm="100000">
                                          <p:val>
                                            <p:strVal val="#ppt_x"/>
                                          </p:val>
                                        </p:tav>
                                      </p:tavLst>
                                    </p:anim>
                                    <p:anim calcmode="lin" valueType="num">
                                      <p:cBhvr additive="base">
                                        <p:cTn id="29" dur="500" fill="hold"/>
                                        <p:tgtEl>
                                          <p:spTgt spid="19497"/>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7" presetClass="entr" presetSubtype="8" fill="hold" grpId="0" nodeType="clickEffect">
                                  <p:stCondLst>
                                    <p:cond delay="0"/>
                                  </p:stCondLst>
                                  <p:childTnLst>
                                    <p:set>
                                      <p:cBhvr>
                                        <p:cTn id="33" dur="1" fill="hold">
                                          <p:stCondLst>
                                            <p:cond delay="0"/>
                                          </p:stCondLst>
                                        </p:cTn>
                                        <p:tgtEl>
                                          <p:spTgt spid="19493"/>
                                        </p:tgtEl>
                                        <p:attrNameLst>
                                          <p:attrName>style.visibility</p:attrName>
                                        </p:attrNameLst>
                                      </p:cBhvr>
                                      <p:to>
                                        <p:strVal val="visible"/>
                                      </p:to>
                                    </p:set>
                                    <p:anim calcmode="lin" valueType="num">
                                      <p:cBhvr>
                                        <p:cTn id="34" dur="500" fill="hold"/>
                                        <p:tgtEl>
                                          <p:spTgt spid="19493"/>
                                        </p:tgtEl>
                                        <p:attrNameLst>
                                          <p:attrName>ppt_x</p:attrName>
                                        </p:attrNameLst>
                                      </p:cBhvr>
                                      <p:tavLst>
                                        <p:tav tm="0">
                                          <p:val>
                                            <p:strVal val="#ppt_x-#ppt_w/2"/>
                                          </p:val>
                                        </p:tav>
                                        <p:tav tm="100000">
                                          <p:val>
                                            <p:strVal val="#ppt_x"/>
                                          </p:val>
                                        </p:tav>
                                      </p:tavLst>
                                    </p:anim>
                                    <p:anim calcmode="lin" valueType="num">
                                      <p:cBhvr>
                                        <p:cTn id="35" dur="500" fill="hold"/>
                                        <p:tgtEl>
                                          <p:spTgt spid="19493"/>
                                        </p:tgtEl>
                                        <p:attrNameLst>
                                          <p:attrName>ppt_y</p:attrName>
                                        </p:attrNameLst>
                                      </p:cBhvr>
                                      <p:tavLst>
                                        <p:tav tm="0">
                                          <p:val>
                                            <p:strVal val="#ppt_y"/>
                                          </p:val>
                                        </p:tav>
                                        <p:tav tm="100000">
                                          <p:val>
                                            <p:strVal val="#ppt_y"/>
                                          </p:val>
                                        </p:tav>
                                      </p:tavLst>
                                    </p:anim>
                                    <p:anim calcmode="lin" valueType="num">
                                      <p:cBhvr>
                                        <p:cTn id="36" dur="500" fill="hold"/>
                                        <p:tgtEl>
                                          <p:spTgt spid="19493"/>
                                        </p:tgtEl>
                                        <p:attrNameLst>
                                          <p:attrName>ppt_w</p:attrName>
                                        </p:attrNameLst>
                                      </p:cBhvr>
                                      <p:tavLst>
                                        <p:tav tm="0">
                                          <p:val>
                                            <p:fltVal val="0"/>
                                          </p:val>
                                        </p:tav>
                                        <p:tav tm="100000">
                                          <p:val>
                                            <p:strVal val="#ppt_w"/>
                                          </p:val>
                                        </p:tav>
                                      </p:tavLst>
                                    </p:anim>
                                    <p:anim calcmode="lin" valueType="num">
                                      <p:cBhvr>
                                        <p:cTn id="37" dur="500" fill="hold"/>
                                        <p:tgtEl>
                                          <p:spTgt spid="19493"/>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7" presetClass="entr" presetSubtype="8" fill="hold" grpId="0" nodeType="clickEffect">
                                  <p:stCondLst>
                                    <p:cond delay="0"/>
                                  </p:stCondLst>
                                  <p:childTnLst>
                                    <p:set>
                                      <p:cBhvr>
                                        <p:cTn id="41" dur="1" fill="hold">
                                          <p:stCondLst>
                                            <p:cond delay="0"/>
                                          </p:stCondLst>
                                        </p:cTn>
                                        <p:tgtEl>
                                          <p:spTgt spid="19494"/>
                                        </p:tgtEl>
                                        <p:attrNameLst>
                                          <p:attrName>style.visibility</p:attrName>
                                        </p:attrNameLst>
                                      </p:cBhvr>
                                      <p:to>
                                        <p:strVal val="visible"/>
                                      </p:to>
                                    </p:set>
                                    <p:anim calcmode="lin" valueType="num">
                                      <p:cBhvr>
                                        <p:cTn id="42" dur="500" fill="hold"/>
                                        <p:tgtEl>
                                          <p:spTgt spid="19494"/>
                                        </p:tgtEl>
                                        <p:attrNameLst>
                                          <p:attrName>ppt_x</p:attrName>
                                        </p:attrNameLst>
                                      </p:cBhvr>
                                      <p:tavLst>
                                        <p:tav tm="0">
                                          <p:val>
                                            <p:strVal val="#ppt_x-#ppt_w/2"/>
                                          </p:val>
                                        </p:tav>
                                        <p:tav tm="100000">
                                          <p:val>
                                            <p:strVal val="#ppt_x"/>
                                          </p:val>
                                        </p:tav>
                                      </p:tavLst>
                                    </p:anim>
                                    <p:anim calcmode="lin" valueType="num">
                                      <p:cBhvr>
                                        <p:cTn id="43" dur="500" fill="hold"/>
                                        <p:tgtEl>
                                          <p:spTgt spid="19494"/>
                                        </p:tgtEl>
                                        <p:attrNameLst>
                                          <p:attrName>ppt_y</p:attrName>
                                        </p:attrNameLst>
                                      </p:cBhvr>
                                      <p:tavLst>
                                        <p:tav tm="0">
                                          <p:val>
                                            <p:strVal val="#ppt_y"/>
                                          </p:val>
                                        </p:tav>
                                        <p:tav tm="100000">
                                          <p:val>
                                            <p:strVal val="#ppt_y"/>
                                          </p:val>
                                        </p:tav>
                                      </p:tavLst>
                                    </p:anim>
                                    <p:anim calcmode="lin" valueType="num">
                                      <p:cBhvr>
                                        <p:cTn id="44" dur="500" fill="hold"/>
                                        <p:tgtEl>
                                          <p:spTgt spid="19494"/>
                                        </p:tgtEl>
                                        <p:attrNameLst>
                                          <p:attrName>ppt_w</p:attrName>
                                        </p:attrNameLst>
                                      </p:cBhvr>
                                      <p:tavLst>
                                        <p:tav tm="0">
                                          <p:val>
                                            <p:fltVal val="0"/>
                                          </p:val>
                                        </p:tav>
                                        <p:tav tm="100000">
                                          <p:val>
                                            <p:strVal val="#ppt_w"/>
                                          </p:val>
                                        </p:tav>
                                      </p:tavLst>
                                    </p:anim>
                                    <p:anim calcmode="lin" valueType="num">
                                      <p:cBhvr>
                                        <p:cTn id="45" dur="500" fill="hold"/>
                                        <p:tgtEl>
                                          <p:spTgt spid="1949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ldLvl="0" animBg="1" autoUpdateAnimBg="0"/>
      <p:bldP spid="19461" grpId="0" bldLvl="0" animBg="1" autoUpdateAnimBg="0"/>
      <p:bldP spid="19462" grpId="0" bldLvl="0" animBg="1" autoUpdateAnimBg="0"/>
      <p:bldP spid="19493" grpId="0" bldLvl="0" animBg="1"/>
      <p:bldP spid="19494"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Text Box 4"/>
          <p:cNvSpPr txBox="1">
            <a:spLocks noChangeArrowheads="1"/>
          </p:cNvSpPr>
          <p:nvPr/>
        </p:nvSpPr>
        <p:spPr bwMode="auto">
          <a:xfrm>
            <a:off x="500063" y="1286495"/>
            <a:ext cx="803275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dirty="0"/>
              <a:t>          </a:t>
            </a:r>
            <a:r>
              <a:rPr lang="zh-CN" altLang="en-US" sz="2000" b="1" dirty="0"/>
              <a:t>关联要素的边界应与基准保持图样上给定的方向或位置关系。</a:t>
            </a:r>
          </a:p>
        </p:txBody>
      </p:sp>
      <p:grpSp>
        <p:nvGrpSpPr>
          <p:cNvPr id="57425" name="Group 81"/>
          <p:cNvGrpSpPr/>
          <p:nvPr/>
        </p:nvGrpSpPr>
        <p:grpSpPr bwMode="auto">
          <a:xfrm>
            <a:off x="4179890" y="2071688"/>
            <a:ext cx="3024188" cy="2162175"/>
            <a:chOff x="2903" y="1100"/>
            <a:chExt cx="1905" cy="1816"/>
          </a:xfrm>
        </p:grpSpPr>
        <p:sp>
          <p:nvSpPr>
            <p:cNvPr id="15389" name="Text Box 62"/>
            <p:cNvSpPr txBox="1">
              <a:spLocks noChangeArrowheads="1"/>
            </p:cNvSpPr>
            <p:nvPr/>
          </p:nvSpPr>
          <p:spPr bwMode="auto">
            <a:xfrm>
              <a:off x="3817" y="1100"/>
              <a:ext cx="232" cy="3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t>A</a:t>
              </a:r>
            </a:p>
          </p:txBody>
        </p:sp>
        <p:grpSp>
          <p:nvGrpSpPr>
            <p:cNvPr id="15390" name="Group 51"/>
            <p:cNvGrpSpPr/>
            <p:nvPr/>
          </p:nvGrpSpPr>
          <p:grpSpPr bwMode="auto">
            <a:xfrm>
              <a:off x="3011" y="1575"/>
              <a:ext cx="1458" cy="1008"/>
              <a:chOff x="3276" y="1359"/>
              <a:chExt cx="1458" cy="1008"/>
            </a:xfrm>
          </p:grpSpPr>
          <p:sp>
            <p:nvSpPr>
              <p:cNvPr id="15406" name="Rectangle 46"/>
              <p:cNvSpPr>
                <a:spLocks noChangeArrowheads="1"/>
              </p:cNvSpPr>
              <p:nvPr/>
            </p:nvSpPr>
            <p:spPr bwMode="auto">
              <a:xfrm>
                <a:off x="3276" y="1359"/>
                <a:ext cx="576" cy="1008"/>
              </a:xfrm>
              <a:prstGeom prst="rect">
                <a:avLst/>
              </a:prstGeom>
              <a:noFill/>
              <a:ln w="57150">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5407" name="Line 48"/>
              <p:cNvSpPr>
                <a:spLocks noChangeShapeType="1"/>
              </p:cNvSpPr>
              <p:nvPr/>
            </p:nvSpPr>
            <p:spPr bwMode="auto">
              <a:xfrm>
                <a:off x="3843" y="2160"/>
                <a:ext cx="675" cy="183"/>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408" name="Line 49"/>
              <p:cNvSpPr>
                <a:spLocks noChangeShapeType="1"/>
              </p:cNvSpPr>
              <p:nvPr/>
            </p:nvSpPr>
            <p:spPr bwMode="auto">
              <a:xfrm>
                <a:off x="3843" y="1566"/>
                <a:ext cx="883" cy="238"/>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409" name="Line 50"/>
              <p:cNvSpPr>
                <a:spLocks noChangeShapeType="1"/>
              </p:cNvSpPr>
              <p:nvPr/>
            </p:nvSpPr>
            <p:spPr bwMode="auto">
              <a:xfrm flipH="1">
                <a:off x="4509" y="1791"/>
                <a:ext cx="225" cy="540"/>
              </a:xfrm>
              <a:prstGeom prst="line">
                <a:avLst/>
              </a:prstGeom>
              <a:noFill/>
              <a:ln w="5715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15391" name="Line 54"/>
            <p:cNvSpPr>
              <a:spLocks noChangeShapeType="1"/>
            </p:cNvSpPr>
            <p:nvPr/>
          </p:nvSpPr>
          <p:spPr bwMode="auto">
            <a:xfrm>
              <a:off x="2903" y="2124"/>
              <a:ext cx="1746" cy="0"/>
            </a:xfrm>
            <a:prstGeom prst="line">
              <a:avLst/>
            </a:prstGeom>
            <a:noFill/>
            <a:ln w="28575">
              <a:solidFill>
                <a:schemeClr val="tx1"/>
              </a:solidFill>
              <a:prstDash val="lg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92" name="Line 55"/>
            <p:cNvSpPr>
              <a:spLocks noChangeShapeType="1"/>
            </p:cNvSpPr>
            <p:nvPr/>
          </p:nvSpPr>
          <p:spPr bwMode="auto">
            <a:xfrm>
              <a:off x="3524" y="2088"/>
              <a:ext cx="981" cy="263"/>
            </a:xfrm>
            <a:prstGeom prst="line">
              <a:avLst/>
            </a:prstGeom>
            <a:noFill/>
            <a:ln w="28575">
              <a:solidFill>
                <a:schemeClr val="tx1"/>
              </a:solidFill>
              <a:prstDash val="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93" name="Line 56"/>
            <p:cNvSpPr>
              <a:spLocks noChangeShapeType="1"/>
            </p:cNvSpPr>
            <p:nvPr/>
          </p:nvSpPr>
          <p:spPr bwMode="auto">
            <a:xfrm>
              <a:off x="3596" y="1773"/>
              <a:ext cx="882" cy="0"/>
            </a:xfrm>
            <a:prstGeom prst="line">
              <a:avLst/>
            </a:prstGeom>
            <a:noFill/>
            <a:ln w="5715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94" name="Line 59"/>
            <p:cNvSpPr>
              <a:spLocks noChangeShapeType="1"/>
            </p:cNvSpPr>
            <p:nvPr/>
          </p:nvSpPr>
          <p:spPr bwMode="auto">
            <a:xfrm>
              <a:off x="3587" y="2558"/>
              <a:ext cx="882" cy="0"/>
            </a:xfrm>
            <a:prstGeom prst="line">
              <a:avLst/>
            </a:prstGeom>
            <a:noFill/>
            <a:ln w="5715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95" name="Line 60"/>
            <p:cNvSpPr>
              <a:spLocks noChangeShapeType="1"/>
            </p:cNvSpPr>
            <p:nvPr/>
          </p:nvSpPr>
          <p:spPr bwMode="auto">
            <a:xfrm>
              <a:off x="4469" y="1584"/>
              <a:ext cx="0" cy="108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96" name="Line 61"/>
            <p:cNvSpPr>
              <a:spLocks noChangeShapeType="1"/>
            </p:cNvSpPr>
            <p:nvPr/>
          </p:nvSpPr>
          <p:spPr bwMode="auto">
            <a:xfrm flipV="1">
              <a:off x="3587" y="1449"/>
              <a:ext cx="297" cy="171"/>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97" name="Line 63"/>
            <p:cNvSpPr>
              <a:spLocks noChangeShapeType="1"/>
            </p:cNvSpPr>
            <p:nvPr/>
          </p:nvSpPr>
          <p:spPr bwMode="auto">
            <a:xfrm>
              <a:off x="4469" y="2547"/>
              <a:ext cx="32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98" name="Line 64"/>
            <p:cNvSpPr>
              <a:spLocks noChangeShapeType="1"/>
            </p:cNvSpPr>
            <p:nvPr/>
          </p:nvSpPr>
          <p:spPr bwMode="auto">
            <a:xfrm>
              <a:off x="4478" y="1782"/>
              <a:ext cx="324"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99" name="Line 65"/>
            <p:cNvSpPr>
              <a:spLocks noChangeShapeType="1"/>
            </p:cNvSpPr>
            <p:nvPr/>
          </p:nvSpPr>
          <p:spPr bwMode="auto">
            <a:xfrm>
              <a:off x="4685" y="1782"/>
              <a:ext cx="0" cy="774"/>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400" name="Line 66"/>
            <p:cNvSpPr>
              <a:spLocks noChangeShapeType="1"/>
            </p:cNvSpPr>
            <p:nvPr/>
          </p:nvSpPr>
          <p:spPr bwMode="auto">
            <a:xfrm>
              <a:off x="3587" y="2583"/>
              <a:ext cx="0" cy="333"/>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401" name="Arc 67"/>
            <p:cNvSpPr/>
            <p:nvPr/>
          </p:nvSpPr>
          <p:spPr bwMode="auto">
            <a:xfrm rot="2743190">
              <a:off x="3704" y="2505"/>
              <a:ext cx="102" cy="369"/>
            </a:xfrm>
            <a:custGeom>
              <a:avLst/>
              <a:gdLst>
                <a:gd name="T0" fmla="*/ 0 w 22066"/>
                <a:gd name="T1" fmla="*/ 0 h 43200"/>
                <a:gd name="T2" fmla="*/ 0 w 22066"/>
                <a:gd name="T3" fmla="*/ 0 h 43200"/>
                <a:gd name="T4" fmla="*/ 0 w 22066"/>
                <a:gd name="T5" fmla="*/ 0 h 43200"/>
                <a:gd name="T6" fmla="*/ 0 60000 65536"/>
                <a:gd name="T7" fmla="*/ 0 60000 65536"/>
                <a:gd name="T8" fmla="*/ 0 60000 65536"/>
              </a:gdLst>
              <a:ahLst/>
              <a:cxnLst>
                <a:cxn ang="T6">
                  <a:pos x="T0" y="T1"/>
                </a:cxn>
                <a:cxn ang="T7">
                  <a:pos x="T2" y="T3"/>
                </a:cxn>
                <a:cxn ang="T8">
                  <a:pos x="T4" y="T5"/>
                </a:cxn>
              </a:cxnLst>
              <a:rect l="0" t="0" r="r" b="b"/>
              <a:pathLst>
                <a:path w="22066" h="43200" fill="none" extrusionOk="0">
                  <a:moveTo>
                    <a:pt x="465" y="0"/>
                  </a:moveTo>
                  <a:cubicBezTo>
                    <a:pt x="12395" y="0"/>
                    <a:pt x="22066" y="9670"/>
                    <a:pt x="22066" y="21600"/>
                  </a:cubicBezTo>
                  <a:cubicBezTo>
                    <a:pt x="22066" y="33529"/>
                    <a:pt x="12395" y="43200"/>
                    <a:pt x="466" y="43200"/>
                  </a:cubicBezTo>
                  <a:cubicBezTo>
                    <a:pt x="310" y="43200"/>
                    <a:pt x="155" y="43198"/>
                    <a:pt x="0" y="43194"/>
                  </a:cubicBezTo>
                </a:path>
                <a:path w="22066" h="43200" stroke="0" extrusionOk="0">
                  <a:moveTo>
                    <a:pt x="465" y="0"/>
                  </a:moveTo>
                  <a:cubicBezTo>
                    <a:pt x="12395" y="0"/>
                    <a:pt x="22066" y="9670"/>
                    <a:pt x="22066" y="21600"/>
                  </a:cubicBezTo>
                  <a:cubicBezTo>
                    <a:pt x="22066" y="33529"/>
                    <a:pt x="12395" y="43200"/>
                    <a:pt x="466" y="43200"/>
                  </a:cubicBezTo>
                  <a:cubicBezTo>
                    <a:pt x="310" y="43200"/>
                    <a:pt x="155" y="43198"/>
                    <a:pt x="0" y="43194"/>
                  </a:cubicBezTo>
                  <a:lnTo>
                    <a:pt x="466" y="21600"/>
                  </a:lnTo>
                  <a:lnTo>
                    <a:pt x="465" y="0"/>
                  </a:lnTo>
                  <a:close/>
                </a:path>
              </a:pathLst>
            </a:custGeom>
            <a:noFill/>
            <a:ln w="28575">
              <a:solidFill>
                <a:schemeClr val="tx1"/>
              </a:solidFill>
              <a:round/>
              <a:headEnd type="triangl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402" name="Object 69"/>
            <p:cNvGraphicFramePr>
              <a:graphicFrameLocks noChangeAspect="1"/>
            </p:cNvGraphicFramePr>
            <p:nvPr/>
          </p:nvGraphicFramePr>
          <p:xfrm>
            <a:off x="3808" y="2672"/>
            <a:ext cx="269" cy="227"/>
          </p:xfrm>
          <a:graphic>
            <a:graphicData uri="http://schemas.openxmlformats.org/presentationml/2006/ole">
              <p:oleObj spid="_x0000_s7172" name="Equation" r:id="rId3" imgW="5791200" imgH="4876800" progId="">
                <p:embed/>
              </p:oleObj>
            </a:graphicData>
          </a:graphic>
        </p:graphicFrame>
        <p:sp>
          <p:nvSpPr>
            <p:cNvPr id="15403" name="Line 70"/>
            <p:cNvSpPr>
              <a:spLocks noChangeShapeType="1"/>
            </p:cNvSpPr>
            <p:nvPr/>
          </p:nvSpPr>
          <p:spPr bwMode="auto">
            <a:xfrm flipV="1">
              <a:off x="4091" y="1404"/>
              <a:ext cx="203" cy="351"/>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404" name="Line 71"/>
            <p:cNvSpPr>
              <a:spLocks noChangeShapeType="1"/>
            </p:cNvSpPr>
            <p:nvPr/>
          </p:nvSpPr>
          <p:spPr bwMode="auto">
            <a:xfrm>
              <a:off x="4289" y="1413"/>
              <a:ext cx="396" cy="0"/>
            </a:xfrm>
            <a:prstGeom prst="line">
              <a:avLst/>
            </a:prstGeom>
            <a:noFill/>
            <a:ln w="381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405" name="Text Box 72"/>
            <p:cNvSpPr txBox="1">
              <a:spLocks noChangeArrowheads="1"/>
            </p:cNvSpPr>
            <p:nvPr/>
          </p:nvSpPr>
          <p:spPr bwMode="auto">
            <a:xfrm>
              <a:off x="4168" y="1104"/>
              <a:ext cx="640" cy="3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rPr>
                <a:t>MMVB</a:t>
              </a:r>
            </a:p>
          </p:txBody>
        </p:sp>
      </p:grpSp>
      <p:sp>
        <p:nvSpPr>
          <p:cNvPr id="57419" name="Text Box 75"/>
          <p:cNvSpPr txBox="1">
            <a:spLocks noChangeArrowheads="1"/>
          </p:cNvSpPr>
          <p:nvPr/>
        </p:nvSpPr>
        <p:spPr bwMode="auto">
          <a:xfrm>
            <a:off x="936059" y="4955612"/>
            <a:ext cx="5260748"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smtClean="0">
                <a:latin typeface="宋体" panose="02010600030101010101" pitchFamily="2" charset="-122"/>
              </a:rPr>
              <a:t>理想</a:t>
            </a:r>
            <a:r>
              <a:rPr lang="zh-CN" altLang="en-US" sz="2000" b="1" dirty="0">
                <a:latin typeface="宋体" panose="02010600030101010101" pitchFamily="2" charset="-122"/>
              </a:rPr>
              <a:t>形状的极限包容面的直径或宽度。</a:t>
            </a:r>
            <a:r>
              <a:rPr lang="zh-CN" altLang="en-US" sz="2000" b="1" dirty="0"/>
              <a:t> </a:t>
            </a:r>
          </a:p>
        </p:txBody>
      </p:sp>
      <p:sp>
        <p:nvSpPr>
          <p:cNvPr id="57420" name="Text Box 76"/>
          <p:cNvSpPr txBox="1">
            <a:spLocks noChangeArrowheads="1"/>
          </p:cNvSpPr>
          <p:nvPr/>
        </p:nvSpPr>
        <p:spPr bwMode="auto">
          <a:xfrm>
            <a:off x="692644" y="4476660"/>
            <a:ext cx="2876590"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a:latin typeface="宋体" panose="02010600030101010101" pitchFamily="2" charset="-122"/>
              </a:rPr>
              <a:t> </a:t>
            </a:r>
            <a:r>
              <a:rPr lang="zh-CN" altLang="en-US" sz="2000" b="1" dirty="0">
                <a:latin typeface="宋体" panose="02010600030101010101" pitchFamily="2" charset="-122"/>
              </a:rPr>
              <a:t>边界尺寸</a:t>
            </a:r>
            <a:r>
              <a:rPr lang="zh-CN" altLang="en-US" sz="2000" b="1" dirty="0"/>
              <a:t>（</a:t>
            </a:r>
            <a:r>
              <a:rPr lang="en-US" altLang="zh-CN" sz="2000" b="1" dirty="0"/>
              <a:t>BS）</a:t>
            </a:r>
            <a:r>
              <a:rPr lang="en-US" altLang="zh-CN" sz="2000" b="1" dirty="0">
                <a:cs typeface="Times New Roman" panose="02020603050405020304" pitchFamily="18" charset="0"/>
              </a:rPr>
              <a:t>—</a:t>
            </a:r>
            <a:endParaRPr lang="zh-CN" altLang="en-US" sz="2000" b="1" dirty="0">
              <a:cs typeface="Times New Roman" panose="02020603050405020304" pitchFamily="18" charset="0"/>
            </a:endParaRPr>
          </a:p>
        </p:txBody>
      </p:sp>
      <p:sp>
        <p:nvSpPr>
          <p:cNvPr id="57426" name="AutoShape 82"/>
          <p:cNvSpPr>
            <a:spLocks noChangeArrowheads="1"/>
          </p:cNvSpPr>
          <p:nvPr/>
        </p:nvSpPr>
        <p:spPr bwMode="auto">
          <a:xfrm>
            <a:off x="7485063" y="2914650"/>
            <a:ext cx="1147762" cy="1177578"/>
          </a:xfrm>
          <a:prstGeom prst="wedgeRoundRectCallout">
            <a:avLst>
              <a:gd name="adj1" fmla="val -89556"/>
              <a:gd name="adj2" fmla="val -13222"/>
              <a:gd name="adj3" fmla="val 16667"/>
            </a:avLst>
          </a:prstGeom>
          <a:noFill/>
          <a:ln w="57150">
            <a:solidFill>
              <a:srgbClr val="FF330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b="1"/>
              <a:t>边界尺寸(</a:t>
            </a:r>
            <a:r>
              <a:rPr lang="en-US" altLang="zh-CN" b="1">
                <a:solidFill>
                  <a:srgbClr val="FF3300"/>
                </a:solidFill>
              </a:rPr>
              <a:t>BS</a:t>
            </a:r>
            <a:r>
              <a:rPr lang="en-US" altLang="zh-CN" b="1"/>
              <a:t>)</a:t>
            </a:r>
          </a:p>
        </p:txBody>
      </p:sp>
      <p:sp>
        <p:nvSpPr>
          <p:cNvPr id="57427" name="Rectangle 83"/>
          <p:cNvSpPr>
            <a:spLocks noChangeArrowheads="1"/>
          </p:cNvSpPr>
          <p:nvPr/>
        </p:nvSpPr>
        <p:spPr bwMode="auto">
          <a:xfrm>
            <a:off x="5514975" y="3937398"/>
            <a:ext cx="590550" cy="359569"/>
          </a:xfrm>
          <a:prstGeom prst="rect">
            <a:avLst/>
          </a:prstGeom>
          <a:noFill/>
          <a:ln w="57150">
            <a:solidFill>
              <a:srgbClr val="FF330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nvGrpSpPr>
          <p:cNvPr id="57437" name="Group 93"/>
          <p:cNvGrpSpPr/>
          <p:nvPr/>
        </p:nvGrpSpPr>
        <p:grpSpPr bwMode="auto">
          <a:xfrm>
            <a:off x="742951" y="2351485"/>
            <a:ext cx="3171825" cy="1699022"/>
            <a:chOff x="468" y="1255"/>
            <a:chExt cx="1998" cy="1427"/>
          </a:xfrm>
        </p:grpSpPr>
        <p:sp>
          <p:nvSpPr>
            <p:cNvPr id="15371" name="Rectangle 7"/>
            <p:cNvSpPr>
              <a:spLocks noChangeArrowheads="1"/>
            </p:cNvSpPr>
            <p:nvPr/>
          </p:nvSpPr>
          <p:spPr bwMode="auto">
            <a:xfrm>
              <a:off x="594" y="1561"/>
              <a:ext cx="576" cy="981"/>
            </a:xfrm>
            <a:prstGeom prst="rect">
              <a:avLst/>
            </a:prstGeom>
            <a:noFill/>
            <a:ln w="38100">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5372" name="Rectangle 8"/>
            <p:cNvSpPr>
              <a:spLocks noChangeArrowheads="1"/>
            </p:cNvSpPr>
            <p:nvPr/>
          </p:nvSpPr>
          <p:spPr bwMode="auto">
            <a:xfrm>
              <a:off x="1170" y="1714"/>
              <a:ext cx="1017" cy="639"/>
            </a:xfrm>
            <a:prstGeom prst="rect">
              <a:avLst/>
            </a:prstGeom>
            <a:noFill/>
            <a:ln w="38100">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5373" name="Line 9"/>
            <p:cNvSpPr>
              <a:spLocks noChangeShapeType="1"/>
            </p:cNvSpPr>
            <p:nvPr/>
          </p:nvSpPr>
          <p:spPr bwMode="auto">
            <a:xfrm>
              <a:off x="468" y="2038"/>
              <a:ext cx="1998" cy="0"/>
            </a:xfrm>
            <a:prstGeom prst="line">
              <a:avLst/>
            </a:prstGeom>
            <a:noFill/>
            <a:ln w="28575">
              <a:solidFill>
                <a:schemeClr val="tx1"/>
              </a:solidFill>
              <a:prstDash val="lg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74" name="Line 15"/>
            <p:cNvSpPr>
              <a:spLocks noChangeShapeType="1"/>
            </p:cNvSpPr>
            <p:nvPr/>
          </p:nvSpPr>
          <p:spPr bwMode="auto">
            <a:xfrm>
              <a:off x="2187" y="1723"/>
              <a:ext cx="243"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75" name="Line 16"/>
            <p:cNvSpPr>
              <a:spLocks noChangeShapeType="1"/>
            </p:cNvSpPr>
            <p:nvPr/>
          </p:nvSpPr>
          <p:spPr bwMode="auto">
            <a:xfrm>
              <a:off x="2187" y="2353"/>
              <a:ext cx="243"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76" name="Line 17"/>
            <p:cNvSpPr>
              <a:spLocks noChangeShapeType="1"/>
            </p:cNvSpPr>
            <p:nvPr/>
          </p:nvSpPr>
          <p:spPr bwMode="auto">
            <a:xfrm>
              <a:off x="2331" y="1723"/>
              <a:ext cx="0" cy="612"/>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77" name="Line 18"/>
            <p:cNvSpPr>
              <a:spLocks noChangeShapeType="1"/>
            </p:cNvSpPr>
            <p:nvPr/>
          </p:nvSpPr>
          <p:spPr bwMode="auto">
            <a:xfrm>
              <a:off x="2331" y="1399"/>
              <a:ext cx="0" cy="324"/>
            </a:xfrm>
            <a:prstGeom prst="line">
              <a:avLst/>
            </a:prstGeom>
            <a:noFill/>
            <a:ln w="28575">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378" name="Line 19"/>
            <p:cNvSpPr>
              <a:spLocks noChangeShapeType="1"/>
            </p:cNvSpPr>
            <p:nvPr/>
          </p:nvSpPr>
          <p:spPr bwMode="auto">
            <a:xfrm>
              <a:off x="2034" y="1399"/>
              <a:ext cx="297"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15379" name="Group 44"/>
            <p:cNvGrpSpPr/>
            <p:nvPr/>
          </p:nvGrpSpPr>
          <p:grpSpPr bwMode="auto">
            <a:xfrm>
              <a:off x="1062" y="1255"/>
              <a:ext cx="969" cy="261"/>
              <a:chOff x="3258" y="1413"/>
              <a:chExt cx="969" cy="261"/>
            </a:xfrm>
          </p:grpSpPr>
          <p:sp>
            <p:nvSpPr>
              <p:cNvPr id="15386" name="Rectangle 41"/>
              <p:cNvSpPr>
                <a:spLocks noChangeArrowheads="1"/>
              </p:cNvSpPr>
              <p:nvPr/>
            </p:nvSpPr>
            <p:spPr bwMode="auto">
              <a:xfrm>
                <a:off x="3258" y="1413"/>
                <a:ext cx="324" cy="261"/>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a:t>⊥</a:t>
                </a:r>
              </a:p>
            </p:txBody>
          </p:sp>
          <p:sp>
            <p:nvSpPr>
              <p:cNvPr id="15387" name="Rectangle 42"/>
              <p:cNvSpPr>
                <a:spLocks noChangeArrowheads="1"/>
              </p:cNvSpPr>
              <p:nvPr/>
            </p:nvSpPr>
            <p:spPr bwMode="auto">
              <a:xfrm>
                <a:off x="3903" y="1413"/>
                <a:ext cx="324" cy="261"/>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i="1"/>
                  <a:t>A</a:t>
                </a:r>
              </a:p>
            </p:txBody>
          </p:sp>
          <mc:AlternateContent xmlns:mc="http://schemas.openxmlformats.org/markup-compatibility/2006">
            <mc:Choice xmlns:a14="http://schemas.microsoft.com/office/drawing/2010/main" xmlns="" Requires="a14">
              <p:sp>
                <p:nvSpPr>
                  <p:cNvPr id="15388" name="Rectangle 43"/>
                  <p:cNvSpPr>
                    <a:spLocks noChangeArrowheads="1"/>
                  </p:cNvSpPr>
                  <p:nvPr/>
                </p:nvSpPr>
                <p:spPr bwMode="auto">
                  <a:xfrm>
                    <a:off x="3585" y="1413"/>
                    <a:ext cx="324" cy="261"/>
                  </a:xfrm>
                  <a:prstGeom prst="rect">
                    <a:avLst/>
                  </a:prstGeom>
                  <a:noFill/>
                  <a:ln w="28575">
                    <a:solidFill>
                      <a:schemeClr val="tx1"/>
                    </a:solidFill>
                    <a:miter lim="800000"/>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wrap="none" anchor="ctr"/>
                  <a:lstStyle/>
                  <a:p>
                    <a:pPr algn="ctr"/>
                    <a14:m>
                      <m:oMath xmlns:m="http://schemas.openxmlformats.org/officeDocument/2006/math">
                        <m:r>
                          <a:rPr lang="en-US" altLang="zh-CN" i="1" dirty="0" smtClean="0">
                            <a:latin typeface="Cambria Math" panose="02040503050406030204"/>
                            <a:ea typeface="Cambria Math" panose="02040503050406030204"/>
                          </a:rPr>
                          <m:t>∅</m:t>
                        </m:r>
                      </m:oMath>
                    </a14:m>
                    <a:r>
                      <a:rPr lang="en-US" altLang="zh-CN" i="1" dirty="0" err="1"/>
                      <a:t>t</a:t>
                    </a:r>
                    <a:endParaRPr lang="en-US" altLang="zh-CN" i="1" dirty="0"/>
                  </a:p>
                </p:txBody>
              </p:sp>
            </mc:Choice>
            <mc:Fallback>
              <p:sp>
                <p:nvSpPr>
                  <p:cNvPr id="15388" name="Rectangle 43"/>
                  <p:cNvSpPr>
                    <a:spLocks noRot="1" noChangeAspect="1" noMove="1" noResize="1" noEditPoints="1" noAdjustHandles="1" noChangeArrowheads="1" noChangeShapeType="1" noTextEdit="1"/>
                  </p:cNvSpPr>
                  <p:nvPr/>
                </p:nvSpPr>
                <p:spPr bwMode="auto">
                  <a:xfrm>
                    <a:off x="3585" y="1413"/>
                    <a:ext cx="324" cy="261"/>
                  </a:xfrm>
                  <a:prstGeom prst="rect">
                    <a:avLst/>
                  </a:prstGeom>
                  <a:blipFill rotWithShape="1">
                    <a:blip r:embed="rId4"/>
                  </a:blip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zh-CN" altLang="en-US">
                        <a:noFill/>
                      </a:rPr>
                      <a:t> </a:t>
                    </a:r>
                  </a:p>
                </p:txBody>
              </p:sp>
            </mc:Fallback>
          </mc:AlternateContent>
        </p:grpSp>
        <p:grpSp>
          <p:nvGrpSpPr>
            <p:cNvPr id="15380" name="Group 90"/>
            <p:cNvGrpSpPr/>
            <p:nvPr/>
          </p:nvGrpSpPr>
          <p:grpSpPr bwMode="auto">
            <a:xfrm>
              <a:off x="1185" y="2384"/>
              <a:ext cx="672" cy="236"/>
              <a:chOff x="4881" y="896"/>
              <a:chExt cx="672" cy="236"/>
            </a:xfrm>
          </p:grpSpPr>
          <p:sp>
            <p:nvSpPr>
              <p:cNvPr id="15382" name="Line 86"/>
              <p:cNvSpPr>
                <a:spLocks noChangeShapeType="1"/>
              </p:cNvSpPr>
              <p:nvPr/>
            </p:nvSpPr>
            <p:spPr bwMode="auto">
              <a:xfrm rot="-5400000">
                <a:off x="5115" y="926"/>
                <a:ext cx="0" cy="162"/>
              </a:xfrm>
              <a:prstGeom prst="line">
                <a:avLst/>
              </a:prstGeom>
              <a:noFill/>
              <a:ln w="127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15383" name="Group 89"/>
              <p:cNvGrpSpPr/>
              <p:nvPr/>
            </p:nvGrpSpPr>
            <p:grpSpPr bwMode="auto">
              <a:xfrm>
                <a:off x="4881" y="896"/>
                <a:ext cx="672" cy="236"/>
                <a:chOff x="4881" y="896"/>
                <a:chExt cx="672" cy="236"/>
              </a:xfrm>
            </p:grpSpPr>
            <p:sp>
              <p:nvSpPr>
                <p:cNvPr id="15384" name="AutoShape 84"/>
                <p:cNvSpPr>
                  <a:spLocks noChangeArrowheads="1"/>
                </p:cNvSpPr>
                <p:nvPr/>
              </p:nvSpPr>
              <p:spPr bwMode="auto">
                <a:xfrm rot="16200000" flipV="1">
                  <a:off x="4865" y="912"/>
                  <a:ext cx="236" cy="204"/>
                </a:xfrm>
                <a:prstGeom prst="triangle">
                  <a:avLst>
                    <a:gd name="adj" fmla="val 50028"/>
                  </a:avLst>
                </a:prstGeom>
                <a:solidFill>
                  <a:schemeClr val="tx2"/>
                </a:solidFill>
                <a:ln w="9525">
                  <a:solidFill>
                    <a:schemeClr val="tx1"/>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5385" name="Rectangle 87"/>
                <p:cNvSpPr>
                  <a:spLocks noChangeArrowheads="1"/>
                </p:cNvSpPr>
                <p:nvPr/>
              </p:nvSpPr>
              <p:spPr bwMode="auto">
                <a:xfrm>
                  <a:off x="5349" y="905"/>
                  <a:ext cx="204" cy="204"/>
                </a:xfrm>
                <a:prstGeom prst="rect">
                  <a:avLst/>
                </a:prstGeom>
                <a:noFill/>
                <a:ln w="12700">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i="1"/>
                    <a:t>A</a:t>
                  </a:r>
                </a:p>
              </p:txBody>
            </p:sp>
          </p:grpSp>
        </p:grpSp>
        <p:sp>
          <p:nvSpPr>
            <p:cNvPr id="15381" name="Line 91"/>
            <p:cNvSpPr>
              <a:spLocks noChangeShapeType="1"/>
            </p:cNvSpPr>
            <p:nvPr/>
          </p:nvSpPr>
          <p:spPr bwMode="auto">
            <a:xfrm>
              <a:off x="1163" y="2538"/>
              <a:ext cx="0" cy="144"/>
            </a:xfrm>
            <a:prstGeom prst="line">
              <a:avLst/>
            </a:prstGeom>
            <a:noFill/>
            <a:ln w="127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49" name="Text Box 4"/>
          <p:cNvSpPr txBox="1">
            <a:spLocks noChangeArrowheads="1"/>
          </p:cNvSpPr>
          <p:nvPr/>
        </p:nvSpPr>
        <p:spPr bwMode="auto">
          <a:xfrm>
            <a:off x="486893" y="437499"/>
            <a:ext cx="2284412"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7. </a:t>
            </a:r>
            <a:r>
              <a:rPr lang="zh-CN" altLang="en-US" b="1" dirty="0">
                <a:latin typeface="宋体" panose="02010600030101010101" pitchFamily="2" charset="-122"/>
              </a:rPr>
              <a:t>边界</a:t>
            </a:r>
            <a:r>
              <a:rPr lang="zh-CN" altLang="en-US" b="1" dirty="0"/>
              <a:t> </a:t>
            </a:r>
          </a:p>
        </p:txBody>
      </p:sp>
      <p:cxnSp>
        <p:nvCxnSpPr>
          <p:cNvPr id="50" name="直接连接符 49"/>
          <p:cNvCxnSpPr/>
          <p:nvPr/>
        </p:nvCxnSpPr>
        <p:spPr bwMode="auto">
          <a:xfrm flipV="1">
            <a:off x="178881" y="1049307"/>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7348"/>
                                        </p:tgtEl>
                                        <p:attrNameLst>
                                          <p:attrName>style.visibility</p:attrName>
                                        </p:attrNameLst>
                                      </p:cBhvr>
                                      <p:to>
                                        <p:strVal val="visible"/>
                                      </p:to>
                                    </p:set>
                                    <p:animEffect transition="in" filter="wipe(left)">
                                      <p:cBhvr>
                                        <p:cTn id="7" dur="300"/>
                                        <p:tgtEl>
                                          <p:spTgt spid="5734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7437"/>
                                        </p:tgtEl>
                                        <p:attrNameLst>
                                          <p:attrName>style.visibility</p:attrName>
                                        </p:attrNameLst>
                                      </p:cBhvr>
                                      <p:to>
                                        <p:strVal val="visible"/>
                                      </p:to>
                                    </p:set>
                                    <p:anim calcmode="lin" valueType="num">
                                      <p:cBhvr additive="base">
                                        <p:cTn id="12" dur="500" fill="hold"/>
                                        <p:tgtEl>
                                          <p:spTgt spid="57437"/>
                                        </p:tgtEl>
                                        <p:attrNameLst>
                                          <p:attrName>ppt_x</p:attrName>
                                        </p:attrNameLst>
                                      </p:cBhvr>
                                      <p:tavLst>
                                        <p:tav tm="0">
                                          <p:val>
                                            <p:strVal val="0-#ppt_w/2"/>
                                          </p:val>
                                        </p:tav>
                                        <p:tav tm="100000">
                                          <p:val>
                                            <p:strVal val="#ppt_x"/>
                                          </p:val>
                                        </p:tav>
                                      </p:tavLst>
                                    </p:anim>
                                    <p:anim calcmode="lin" valueType="num">
                                      <p:cBhvr additive="base">
                                        <p:cTn id="13" dur="500" fill="hold"/>
                                        <p:tgtEl>
                                          <p:spTgt spid="5743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57425"/>
                                        </p:tgtEl>
                                        <p:attrNameLst>
                                          <p:attrName>style.visibility</p:attrName>
                                        </p:attrNameLst>
                                      </p:cBhvr>
                                      <p:to>
                                        <p:strVal val="visible"/>
                                      </p:to>
                                    </p:set>
                                    <p:anim calcmode="lin" valueType="num">
                                      <p:cBhvr additive="base">
                                        <p:cTn id="18" dur="500" fill="hold"/>
                                        <p:tgtEl>
                                          <p:spTgt spid="57425"/>
                                        </p:tgtEl>
                                        <p:attrNameLst>
                                          <p:attrName>ppt_x</p:attrName>
                                        </p:attrNameLst>
                                      </p:cBhvr>
                                      <p:tavLst>
                                        <p:tav tm="0">
                                          <p:val>
                                            <p:strVal val="1+#ppt_w/2"/>
                                          </p:val>
                                        </p:tav>
                                        <p:tav tm="100000">
                                          <p:val>
                                            <p:strVal val="#ppt_x"/>
                                          </p:val>
                                        </p:tav>
                                      </p:tavLst>
                                    </p:anim>
                                    <p:anim calcmode="lin" valueType="num">
                                      <p:cBhvr additive="base">
                                        <p:cTn id="19" dur="500" fill="hold"/>
                                        <p:tgtEl>
                                          <p:spTgt spid="5742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42" fill="hold" grpId="0" nodeType="clickEffect">
                                  <p:stCondLst>
                                    <p:cond delay="0"/>
                                  </p:stCondLst>
                                  <p:childTnLst>
                                    <p:set>
                                      <p:cBhvr>
                                        <p:cTn id="23" dur="1" fill="hold">
                                          <p:stCondLst>
                                            <p:cond delay="0"/>
                                          </p:stCondLst>
                                        </p:cTn>
                                        <p:tgtEl>
                                          <p:spTgt spid="57427"/>
                                        </p:tgtEl>
                                        <p:attrNameLst>
                                          <p:attrName>style.visibility</p:attrName>
                                        </p:attrNameLst>
                                      </p:cBhvr>
                                      <p:to>
                                        <p:strVal val="visible"/>
                                      </p:to>
                                    </p:set>
                                    <p:animEffect transition="in" filter="barn(outHorizontal)">
                                      <p:cBhvr>
                                        <p:cTn id="24" dur="500"/>
                                        <p:tgtEl>
                                          <p:spTgt spid="5742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iterate type="wd">
                                    <p:tmPct val="100000"/>
                                  </p:iterate>
                                  <p:childTnLst>
                                    <p:set>
                                      <p:cBhvr>
                                        <p:cTn id="28" dur="1" fill="hold">
                                          <p:stCondLst>
                                            <p:cond delay="0"/>
                                          </p:stCondLst>
                                        </p:cTn>
                                        <p:tgtEl>
                                          <p:spTgt spid="57420"/>
                                        </p:tgtEl>
                                        <p:attrNameLst>
                                          <p:attrName>style.visibility</p:attrName>
                                        </p:attrNameLst>
                                      </p:cBhvr>
                                      <p:to>
                                        <p:strVal val="visible"/>
                                      </p:to>
                                    </p:set>
                                    <p:animEffect transition="in" filter="wipe(left)">
                                      <p:cBhvr>
                                        <p:cTn id="29" dur="300"/>
                                        <p:tgtEl>
                                          <p:spTgt spid="5742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iterate type="wd">
                                    <p:tmPct val="100000"/>
                                  </p:iterate>
                                  <p:childTnLst>
                                    <p:set>
                                      <p:cBhvr>
                                        <p:cTn id="33" dur="1" fill="hold">
                                          <p:stCondLst>
                                            <p:cond delay="0"/>
                                          </p:stCondLst>
                                        </p:cTn>
                                        <p:tgtEl>
                                          <p:spTgt spid="57419"/>
                                        </p:tgtEl>
                                        <p:attrNameLst>
                                          <p:attrName>style.visibility</p:attrName>
                                        </p:attrNameLst>
                                      </p:cBhvr>
                                      <p:to>
                                        <p:strVal val="visible"/>
                                      </p:to>
                                    </p:set>
                                    <p:animEffect transition="in" filter="wipe(left)">
                                      <p:cBhvr>
                                        <p:cTn id="34" dur="300"/>
                                        <p:tgtEl>
                                          <p:spTgt spid="57419"/>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2" fill="hold" grpId="0" nodeType="clickEffect">
                                  <p:stCondLst>
                                    <p:cond delay="0"/>
                                  </p:stCondLst>
                                  <p:childTnLst>
                                    <p:set>
                                      <p:cBhvr>
                                        <p:cTn id="38" dur="1" fill="hold">
                                          <p:stCondLst>
                                            <p:cond delay="0"/>
                                          </p:stCondLst>
                                        </p:cTn>
                                        <p:tgtEl>
                                          <p:spTgt spid="57426"/>
                                        </p:tgtEl>
                                        <p:attrNameLst>
                                          <p:attrName>style.visibility</p:attrName>
                                        </p:attrNameLst>
                                      </p:cBhvr>
                                      <p:to>
                                        <p:strVal val="visible"/>
                                      </p:to>
                                    </p:set>
                                    <p:anim calcmode="lin" valueType="num">
                                      <p:cBhvr>
                                        <p:cTn id="39" dur="500" fill="hold"/>
                                        <p:tgtEl>
                                          <p:spTgt spid="57426"/>
                                        </p:tgtEl>
                                        <p:attrNameLst>
                                          <p:attrName>ppt_x</p:attrName>
                                        </p:attrNameLst>
                                      </p:cBhvr>
                                      <p:tavLst>
                                        <p:tav tm="0">
                                          <p:val>
                                            <p:strVal val="#ppt_x+#ppt_w/2"/>
                                          </p:val>
                                        </p:tav>
                                        <p:tav tm="100000">
                                          <p:val>
                                            <p:strVal val="#ppt_x"/>
                                          </p:val>
                                        </p:tav>
                                      </p:tavLst>
                                    </p:anim>
                                    <p:anim calcmode="lin" valueType="num">
                                      <p:cBhvr>
                                        <p:cTn id="40" dur="500" fill="hold"/>
                                        <p:tgtEl>
                                          <p:spTgt spid="57426"/>
                                        </p:tgtEl>
                                        <p:attrNameLst>
                                          <p:attrName>ppt_y</p:attrName>
                                        </p:attrNameLst>
                                      </p:cBhvr>
                                      <p:tavLst>
                                        <p:tav tm="0">
                                          <p:val>
                                            <p:strVal val="#ppt_y"/>
                                          </p:val>
                                        </p:tav>
                                        <p:tav tm="100000">
                                          <p:val>
                                            <p:strVal val="#ppt_y"/>
                                          </p:val>
                                        </p:tav>
                                      </p:tavLst>
                                    </p:anim>
                                    <p:anim calcmode="lin" valueType="num">
                                      <p:cBhvr>
                                        <p:cTn id="41" dur="500" fill="hold"/>
                                        <p:tgtEl>
                                          <p:spTgt spid="57426"/>
                                        </p:tgtEl>
                                        <p:attrNameLst>
                                          <p:attrName>ppt_w</p:attrName>
                                        </p:attrNameLst>
                                      </p:cBhvr>
                                      <p:tavLst>
                                        <p:tav tm="0">
                                          <p:val>
                                            <p:fltVal val="0"/>
                                          </p:val>
                                        </p:tav>
                                        <p:tav tm="100000">
                                          <p:val>
                                            <p:strVal val="#ppt_w"/>
                                          </p:val>
                                        </p:tav>
                                      </p:tavLst>
                                    </p:anim>
                                    <p:anim calcmode="lin" valueType="num">
                                      <p:cBhvr>
                                        <p:cTn id="42" dur="500" fill="hold"/>
                                        <p:tgtEl>
                                          <p:spTgt spid="57426"/>
                                        </p:tgtEl>
                                        <p:attrNameLst>
                                          <p:attrName>ppt_h</p:attrName>
                                        </p:attrNameLst>
                                      </p:cBhvr>
                                      <p:tavLst>
                                        <p:tav tm="0">
                                          <p:val>
                                            <p:strVal val="#ppt_h"/>
                                          </p:val>
                                        </p:tav>
                                        <p:tav tm="100000">
                                          <p:val>
                                            <p:strVal val="#ppt_h"/>
                                          </p:val>
                                        </p:tav>
                                      </p:tavLst>
                                    </p:anim>
                                  </p:childTnLst>
                                </p:cTn>
                              </p:par>
                            </p:childTnLst>
                          </p:cTn>
                        </p:par>
                        <p:par>
                          <p:cTn id="43" fill="hold">
                            <p:stCondLst>
                              <p:cond delay="500"/>
                            </p:stCondLst>
                            <p:childTnLst>
                              <p:par>
                                <p:cTn id="44" presetID="22" presetClass="entr" presetSubtype="8" fill="hold" grpId="0" nodeType="afterEffect">
                                  <p:stCondLst>
                                    <p:cond delay="0"/>
                                  </p:stCondLst>
                                  <p:iterate type="wd">
                                    <p:tmPct val="100000"/>
                                  </p:iterate>
                                  <p:childTnLst>
                                    <p:set>
                                      <p:cBhvr>
                                        <p:cTn id="45" dur="1" fill="hold">
                                          <p:stCondLst>
                                            <p:cond delay="0"/>
                                          </p:stCondLst>
                                        </p:cTn>
                                        <p:tgtEl>
                                          <p:spTgt spid="49"/>
                                        </p:tgtEl>
                                        <p:attrNameLst>
                                          <p:attrName>style.visibility</p:attrName>
                                        </p:attrNameLst>
                                      </p:cBhvr>
                                      <p:to>
                                        <p:strVal val="visible"/>
                                      </p:to>
                                    </p:set>
                                    <p:animEffect transition="in" filter="wipe(left)">
                                      <p:cBhvr>
                                        <p:cTn id="46" dur="3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bldLvl="0" animBg="1" autoUpdateAnimBg="0"/>
      <p:bldP spid="57419" grpId="0" bldLvl="0" animBg="1" autoUpdateAnimBg="0"/>
      <p:bldP spid="57420" grpId="0" bldLvl="0" animBg="1" autoUpdateAnimBg="0"/>
      <p:bldP spid="57426" grpId="0" bldLvl="0" animBg="1" autoUpdateAnimBg="0"/>
      <p:bldP spid="57427" grpId="0" bldLvl="0" animBg="1"/>
      <p:bldP spid="49" grpId="0" bldLvl="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3"/>
          <p:cNvSpPr txBox="1">
            <a:spLocks noChangeArrowheads="1"/>
          </p:cNvSpPr>
          <p:nvPr/>
        </p:nvSpPr>
        <p:spPr bwMode="auto">
          <a:xfrm>
            <a:off x="501793" y="1128436"/>
            <a:ext cx="482282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latin typeface="宋体" panose="02010600030101010101" pitchFamily="2" charset="-122"/>
              </a:rPr>
              <a:t>按边界尺寸可分 :</a:t>
            </a:r>
            <a:r>
              <a:rPr lang="zh-CN" altLang="en-US" sz="2000" b="1" dirty="0"/>
              <a:t> </a:t>
            </a:r>
          </a:p>
        </p:txBody>
      </p:sp>
      <p:sp>
        <p:nvSpPr>
          <p:cNvPr id="8196" name="Text Box 4"/>
          <p:cNvSpPr txBox="1">
            <a:spLocks noChangeArrowheads="1"/>
          </p:cNvSpPr>
          <p:nvPr/>
        </p:nvSpPr>
        <p:spPr bwMode="auto">
          <a:xfrm>
            <a:off x="802564" y="2027152"/>
            <a:ext cx="751582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pPr>
            <a:r>
              <a:rPr lang="zh-CN" altLang="en-US" sz="2000" b="1" dirty="0" smtClean="0"/>
              <a:t>具有</a:t>
            </a:r>
            <a:r>
              <a:rPr lang="zh-CN" altLang="en-US" sz="2000" b="1" dirty="0"/>
              <a:t>理想形状且边界尺寸（</a:t>
            </a:r>
            <a:r>
              <a:rPr lang="en-US" altLang="zh-CN" sz="2000" b="1" dirty="0"/>
              <a:t>BS）</a:t>
            </a:r>
            <a:r>
              <a:rPr lang="zh-CN" altLang="en-US" sz="2000" b="1" dirty="0"/>
              <a:t>为</a:t>
            </a:r>
            <a:r>
              <a:rPr lang="zh-CN" altLang="en-US" sz="2000" b="1" dirty="0">
                <a:solidFill>
                  <a:srgbClr val="D60093"/>
                </a:solidFill>
              </a:rPr>
              <a:t>最大实体尺寸</a:t>
            </a:r>
            <a:r>
              <a:rPr lang="en-US" altLang="zh-CN" sz="2000" b="1" dirty="0"/>
              <a:t>MMS</a:t>
            </a:r>
            <a:r>
              <a:rPr lang="zh-CN" altLang="en-US" sz="2000" b="1" dirty="0"/>
              <a:t>的包容面。 </a:t>
            </a:r>
          </a:p>
        </p:txBody>
      </p:sp>
      <p:sp>
        <p:nvSpPr>
          <p:cNvPr id="8226" name="Text Box 34"/>
          <p:cNvSpPr txBox="1">
            <a:spLocks noChangeArrowheads="1"/>
          </p:cNvSpPr>
          <p:nvPr/>
        </p:nvSpPr>
        <p:spPr bwMode="auto">
          <a:xfrm>
            <a:off x="404813" y="1577534"/>
            <a:ext cx="7065962"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（1）最大实体边界（</a:t>
            </a:r>
            <a:r>
              <a:rPr lang="en-US" altLang="zh-CN" sz="2000" b="1" dirty="0">
                <a:solidFill>
                  <a:srgbClr val="FF3300"/>
                </a:solidFill>
              </a:rPr>
              <a:t>MMB</a:t>
            </a:r>
            <a:r>
              <a:rPr lang="en-US" altLang="zh-CN" sz="2000" b="1" dirty="0"/>
              <a:t>）</a:t>
            </a:r>
            <a:r>
              <a:rPr lang="en-US" altLang="zh-CN" sz="2000" b="1" dirty="0">
                <a:cs typeface="Times New Roman" panose="02020603050405020304" pitchFamily="18" charset="0"/>
              </a:rPr>
              <a:t>—</a:t>
            </a:r>
            <a:endParaRPr lang="zh-CN" altLang="en-US" sz="2000" b="1" dirty="0">
              <a:cs typeface="Times New Roman" panose="02020603050405020304" pitchFamily="18" charset="0"/>
            </a:endParaRPr>
          </a:p>
        </p:txBody>
      </p:sp>
      <p:sp>
        <p:nvSpPr>
          <p:cNvPr id="8241" name="Rectangle 49"/>
          <p:cNvSpPr>
            <a:spLocks noChangeArrowheads="1"/>
          </p:cNvSpPr>
          <p:nvPr/>
        </p:nvSpPr>
        <p:spPr bwMode="auto">
          <a:xfrm>
            <a:off x="7811566" y="2992605"/>
            <a:ext cx="1031222" cy="366584"/>
          </a:xfrm>
          <a:prstGeom prst="rect">
            <a:avLst/>
          </a:prstGeom>
          <a:noFill/>
          <a:ln w="38100">
            <a:solidFill>
              <a:srgbClr val="FF330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8242" name="Line 50"/>
          <p:cNvSpPr>
            <a:spLocks noChangeShapeType="1"/>
          </p:cNvSpPr>
          <p:nvPr/>
        </p:nvSpPr>
        <p:spPr bwMode="auto">
          <a:xfrm>
            <a:off x="5090049" y="3260580"/>
            <a:ext cx="2743200" cy="0"/>
          </a:xfrm>
          <a:prstGeom prst="line">
            <a:avLst/>
          </a:prstGeom>
          <a:noFill/>
          <a:ln w="3810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8243" name="Line 51"/>
          <p:cNvSpPr>
            <a:spLocks noChangeShapeType="1"/>
          </p:cNvSpPr>
          <p:nvPr/>
        </p:nvSpPr>
        <p:spPr bwMode="auto">
          <a:xfrm>
            <a:off x="5104337" y="4396437"/>
            <a:ext cx="2743200" cy="0"/>
          </a:xfrm>
          <a:prstGeom prst="line">
            <a:avLst/>
          </a:prstGeom>
          <a:noFill/>
          <a:ln w="3810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8246" name="Group 54"/>
          <p:cNvGrpSpPr/>
          <p:nvPr/>
        </p:nvGrpSpPr>
        <p:grpSpPr bwMode="auto">
          <a:xfrm>
            <a:off x="4040713" y="2754173"/>
            <a:ext cx="4823589" cy="2243838"/>
            <a:chOff x="2525" y="1618"/>
            <a:chExt cx="3114" cy="1811"/>
          </a:xfrm>
        </p:grpSpPr>
        <p:pic>
          <p:nvPicPr>
            <p:cNvPr id="16399" name="Picture 4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25" y="1618"/>
              <a:ext cx="3114" cy="18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6400" name="Line 52"/>
            <p:cNvSpPr>
              <a:spLocks noChangeShapeType="1"/>
            </p:cNvSpPr>
            <p:nvPr/>
          </p:nvSpPr>
          <p:spPr bwMode="auto">
            <a:xfrm flipH="1">
              <a:off x="3195" y="1701"/>
              <a:ext cx="9" cy="1314"/>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6401" name="Line 53"/>
            <p:cNvSpPr>
              <a:spLocks noChangeShapeType="1"/>
            </p:cNvSpPr>
            <p:nvPr/>
          </p:nvSpPr>
          <p:spPr bwMode="auto">
            <a:xfrm>
              <a:off x="4905" y="1800"/>
              <a:ext cx="0" cy="1278"/>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8250" name="Group 58"/>
          <p:cNvGrpSpPr/>
          <p:nvPr/>
        </p:nvGrpSpPr>
        <p:grpSpPr bwMode="auto">
          <a:xfrm>
            <a:off x="548212" y="2969337"/>
            <a:ext cx="3163177" cy="1689037"/>
            <a:chOff x="325" y="1853"/>
            <a:chExt cx="2127" cy="1292"/>
          </a:xfrm>
        </p:grpSpPr>
        <p:pic>
          <p:nvPicPr>
            <p:cNvPr id="16395" name="Picture 4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25" y="1853"/>
              <a:ext cx="2127" cy="12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nvGrpSpPr>
            <p:cNvPr id="16396" name="Group 55"/>
            <p:cNvGrpSpPr/>
            <p:nvPr/>
          </p:nvGrpSpPr>
          <p:grpSpPr bwMode="auto">
            <a:xfrm rot="-5400000">
              <a:off x="346" y="1877"/>
              <a:ext cx="284" cy="272"/>
              <a:chOff x="3748" y="647"/>
              <a:chExt cx="400" cy="382"/>
            </a:xfrm>
          </p:grpSpPr>
          <p:sp>
            <p:nvSpPr>
              <p:cNvPr id="16397" name="Oval 56"/>
              <p:cNvSpPr>
                <a:spLocks noChangeArrowheads="1"/>
              </p:cNvSpPr>
              <p:nvPr/>
            </p:nvSpPr>
            <p:spPr bwMode="auto">
              <a:xfrm>
                <a:off x="3748" y="647"/>
                <a:ext cx="400" cy="382"/>
              </a:xfrm>
              <a:prstGeom prst="ellipse">
                <a:avLst/>
              </a:prstGeom>
              <a:solidFill>
                <a:srgbClr val="FFFFFF"/>
              </a:solidFill>
              <a:ln w="19050">
                <a:solidFill>
                  <a:srgbClr val="000000"/>
                </a:solidFill>
                <a:rou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p>
                <a:endParaRPr lang="zh-CN" altLang="en-US"/>
              </a:p>
            </p:txBody>
          </p:sp>
          <p:sp>
            <p:nvSpPr>
              <p:cNvPr id="16398" name="WordArt 57"/>
              <p:cNvSpPr>
                <a:spLocks noChangeArrowheads="1" noChangeShapeType="1" noTextEdit="1"/>
              </p:cNvSpPr>
              <p:nvPr/>
            </p:nvSpPr>
            <p:spPr bwMode="auto">
              <a:xfrm>
                <a:off x="3813" y="738"/>
                <a:ext cx="257" cy="211"/>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ln>
                    <a:solidFill>
                      <a:srgbClr val="000000"/>
                    </a:solidFill>
                    <a:latin typeface="宋体" panose="02010600030101010101" pitchFamily="2" charset="-122"/>
                    <a:ea typeface="宋体" panose="02010600030101010101" pitchFamily="2" charset="-122"/>
                  </a:rPr>
                  <a:t>E</a:t>
                </a:r>
                <a:endParaRPr lang="zh-CN" altLang="en-US" sz="3600" kern="10">
                  <a:ln w="9525">
                    <a:solidFill>
                      <a:srgbClr val="000000"/>
                    </a:solidFill>
                    <a:round/>
                  </a:ln>
                  <a:solidFill>
                    <a:srgbClr val="000000"/>
                  </a:solidFill>
                  <a:latin typeface="宋体" panose="02010600030101010101" pitchFamily="2" charset="-122"/>
                  <a:ea typeface="宋体" panose="02010600030101010101" pitchFamily="2" charset="-122"/>
                </a:endParaRPr>
              </a:p>
            </p:txBody>
          </p:sp>
        </p:grpSp>
      </p:grpSp>
      <p:cxnSp>
        <p:nvCxnSpPr>
          <p:cNvPr id="18" name="直接连接符 17"/>
          <p:cNvCxnSpPr/>
          <p:nvPr/>
        </p:nvCxnSpPr>
        <p:spPr bwMode="auto">
          <a:xfrm flipV="1">
            <a:off x="169049" y="99031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9" name="Text Box 4"/>
          <p:cNvSpPr txBox="1">
            <a:spLocks noChangeArrowheads="1"/>
          </p:cNvSpPr>
          <p:nvPr/>
        </p:nvSpPr>
        <p:spPr bwMode="auto">
          <a:xfrm>
            <a:off x="486893" y="437499"/>
            <a:ext cx="2284412"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7. </a:t>
            </a:r>
            <a:r>
              <a:rPr lang="zh-CN" altLang="en-US" b="1" dirty="0">
                <a:latin typeface="宋体" panose="02010600030101010101" pitchFamily="2" charset="-122"/>
              </a:rPr>
              <a:t>边界</a:t>
            </a:r>
            <a:r>
              <a:rPr lang="zh-CN" altLang="en-US" b="1" dirty="0"/>
              <a:t> </a:t>
            </a:r>
          </a:p>
        </p:txBody>
      </p:sp>
      <p:sp>
        <p:nvSpPr>
          <p:cNvPr id="20" name="Text Box 4"/>
          <p:cNvSpPr txBox="1">
            <a:spLocks noChangeArrowheads="1"/>
          </p:cNvSpPr>
          <p:nvPr/>
        </p:nvSpPr>
        <p:spPr bwMode="auto">
          <a:xfrm>
            <a:off x="836732" y="5598663"/>
            <a:ext cx="7020019" cy="5219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pPr>
            <a:r>
              <a:rPr lang="zh-CN" altLang="en-US" sz="2000" b="1" dirty="0" smtClean="0"/>
              <a:t>具有</a:t>
            </a:r>
            <a:r>
              <a:rPr lang="zh-CN" altLang="en-US" sz="2000" b="1" dirty="0"/>
              <a:t>理想</a:t>
            </a:r>
            <a:r>
              <a:rPr lang="zh-CN" altLang="en-US" sz="2000" b="1" dirty="0" smtClean="0"/>
              <a:t>形状且边界</a:t>
            </a:r>
            <a:r>
              <a:rPr lang="zh-CN" altLang="en-US" sz="2000" b="1" dirty="0"/>
              <a:t>尺寸</a:t>
            </a:r>
            <a:r>
              <a:rPr lang="en-US" altLang="zh-CN" sz="2000" b="1" dirty="0"/>
              <a:t>BS </a:t>
            </a:r>
            <a:r>
              <a:rPr lang="zh-CN" altLang="en-US" sz="2000" b="1" dirty="0"/>
              <a:t>为最小实体尺寸</a:t>
            </a:r>
            <a:r>
              <a:rPr lang="en-US" altLang="zh-CN" sz="2000" b="1" dirty="0"/>
              <a:t>LMS</a:t>
            </a:r>
            <a:r>
              <a:rPr lang="zh-CN" altLang="en-US" sz="2000" b="1" dirty="0"/>
              <a:t>的包容面。 </a:t>
            </a:r>
          </a:p>
        </p:txBody>
      </p:sp>
      <p:sp>
        <p:nvSpPr>
          <p:cNvPr id="21" name="Text Box 6"/>
          <p:cNvSpPr txBox="1">
            <a:spLocks noChangeArrowheads="1"/>
          </p:cNvSpPr>
          <p:nvPr/>
        </p:nvSpPr>
        <p:spPr bwMode="auto">
          <a:xfrm>
            <a:off x="359304" y="5083792"/>
            <a:ext cx="773588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smtClean="0"/>
              <a:t>（</a:t>
            </a:r>
            <a:r>
              <a:rPr lang="en-US" altLang="zh-CN" sz="2000" b="1" dirty="0" smtClean="0"/>
              <a:t>2</a:t>
            </a:r>
            <a:r>
              <a:rPr lang="zh-CN" altLang="en-US" sz="2000" b="1" dirty="0" smtClean="0"/>
              <a:t>）</a:t>
            </a:r>
            <a:r>
              <a:rPr lang="zh-CN" altLang="en-US" sz="2000" b="1" dirty="0"/>
              <a:t>最小实体边界（ </a:t>
            </a:r>
            <a:r>
              <a:rPr lang="en-US" altLang="zh-CN" sz="2000" b="1" dirty="0"/>
              <a:t>LMB ）</a:t>
            </a:r>
            <a:r>
              <a:rPr lang="en-US" altLang="zh-CN" sz="2000" b="1" dirty="0">
                <a:cs typeface="Times New Roman" panose="02020603050405020304" pitchFamily="18" charset="0"/>
              </a:rPr>
              <a:t>—</a:t>
            </a:r>
            <a:endParaRPr lang="zh-CN" altLang="en-US" sz="2000" b="1" dirty="0">
              <a:cs typeface="Times New Roman" panose="02020603050405020304" pitchFamily="18" charset="0"/>
            </a:endParaRPr>
          </a:p>
        </p:txBody>
      </p:sp>
      <p:cxnSp>
        <p:nvCxnSpPr>
          <p:cNvPr id="22" name="直接连接符 21"/>
          <p:cNvCxnSpPr/>
          <p:nvPr/>
        </p:nvCxnSpPr>
        <p:spPr bwMode="auto">
          <a:xfrm flipV="1">
            <a:off x="4982511" y="3358863"/>
            <a:ext cx="2880000" cy="635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 name="直接连接符 22"/>
          <p:cNvCxnSpPr/>
          <p:nvPr/>
        </p:nvCxnSpPr>
        <p:spPr bwMode="auto">
          <a:xfrm flipV="1">
            <a:off x="4982510" y="4303025"/>
            <a:ext cx="2880000" cy="6350"/>
          </a:xfrm>
          <a:prstGeom prst="line">
            <a:avLst/>
          </a:prstGeom>
          <a:solidFill>
            <a:schemeClr val="accent1"/>
          </a:solidFill>
          <a:ln w="381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TextBox 23"/>
          <p:cNvSpPr txBox="1"/>
          <p:nvPr/>
        </p:nvSpPr>
        <p:spPr>
          <a:xfrm>
            <a:off x="7892249" y="4021579"/>
            <a:ext cx="905522" cy="461665"/>
          </a:xfrm>
          <a:prstGeom prst="rect">
            <a:avLst/>
          </a:prstGeom>
          <a:noFill/>
          <a:ln w="38100">
            <a:solidFill>
              <a:schemeClr val="accent1"/>
            </a:solidFill>
          </a:ln>
        </p:spPr>
        <p:txBody>
          <a:bodyPr wrap="square" rtlCol="0">
            <a:spAutoFit/>
          </a:bodyPr>
          <a:lstStyle/>
          <a:p>
            <a:r>
              <a:rPr lang="en-US" altLang="zh-CN" dirty="0" smtClean="0"/>
              <a:t>LMB</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9"/>
                                        </p:tgtEl>
                                        <p:attrNameLst>
                                          <p:attrName>style.visibility</p:attrName>
                                        </p:attrNameLst>
                                      </p:cBhvr>
                                      <p:to>
                                        <p:strVal val="visible"/>
                                      </p:to>
                                    </p:set>
                                    <p:animEffect transition="in" filter="wipe(left)">
                                      <p:cBhvr>
                                        <p:cTn id="7" dur="300"/>
                                        <p:tgtEl>
                                          <p:spTgt spid="19"/>
                                        </p:tgtEl>
                                      </p:cBhvr>
                                    </p:animEffect>
                                  </p:childTnLst>
                                </p:cTn>
                              </p:par>
                            </p:childTnLst>
                          </p:cTn>
                        </p:par>
                        <p:par>
                          <p:cTn id="8" fill="hold">
                            <p:stCondLst>
                              <p:cond delay="9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8195"/>
                                        </p:tgtEl>
                                        <p:attrNameLst>
                                          <p:attrName>style.visibility</p:attrName>
                                        </p:attrNameLst>
                                      </p:cBhvr>
                                      <p:to>
                                        <p:strVal val="visible"/>
                                      </p:to>
                                    </p:set>
                                    <p:animEffect transition="in" filter="wipe(left)">
                                      <p:cBhvr>
                                        <p:cTn id="11" dur="300"/>
                                        <p:tgtEl>
                                          <p:spTgt spid="819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wd">
                                    <p:tmPct val="100000"/>
                                  </p:iterate>
                                  <p:childTnLst>
                                    <p:set>
                                      <p:cBhvr>
                                        <p:cTn id="15" dur="1" fill="hold">
                                          <p:stCondLst>
                                            <p:cond delay="0"/>
                                          </p:stCondLst>
                                        </p:cTn>
                                        <p:tgtEl>
                                          <p:spTgt spid="8226">
                                            <p:txEl>
                                              <p:pRg st="0" end="0"/>
                                            </p:txEl>
                                          </p:spTgt>
                                        </p:tgtEl>
                                        <p:attrNameLst>
                                          <p:attrName>style.visibility</p:attrName>
                                        </p:attrNameLst>
                                      </p:cBhvr>
                                      <p:to>
                                        <p:strVal val="visible"/>
                                      </p:to>
                                    </p:set>
                                    <p:animEffect transition="in" filter="wipe(left)">
                                      <p:cBhvr>
                                        <p:cTn id="16" dur="300"/>
                                        <p:tgtEl>
                                          <p:spTgt spid="822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wd">
                                    <p:tmPct val="100000"/>
                                  </p:iterate>
                                  <p:childTnLst>
                                    <p:set>
                                      <p:cBhvr>
                                        <p:cTn id="20" dur="1" fill="hold">
                                          <p:stCondLst>
                                            <p:cond delay="0"/>
                                          </p:stCondLst>
                                        </p:cTn>
                                        <p:tgtEl>
                                          <p:spTgt spid="8196"/>
                                        </p:tgtEl>
                                        <p:attrNameLst>
                                          <p:attrName>style.visibility</p:attrName>
                                        </p:attrNameLst>
                                      </p:cBhvr>
                                      <p:to>
                                        <p:strVal val="visible"/>
                                      </p:to>
                                    </p:set>
                                    <p:animEffect transition="in" filter="wipe(left)">
                                      <p:cBhvr>
                                        <p:cTn id="21" dur="300"/>
                                        <p:tgtEl>
                                          <p:spTgt spid="8196"/>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8250"/>
                                        </p:tgtEl>
                                        <p:attrNameLst>
                                          <p:attrName>style.visibility</p:attrName>
                                        </p:attrNameLst>
                                      </p:cBhvr>
                                      <p:to>
                                        <p:strVal val="visible"/>
                                      </p:to>
                                    </p:set>
                                    <p:anim calcmode="lin" valueType="num">
                                      <p:cBhvr additive="base">
                                        <p:cTn id="26" dur="500" fill="hold"/>
                                        <p:tgtEl>
                                          <p:spTgt spid="8250"/>
                                        </p:tgtEl>
                                        <p:attrNameLst>
                                          <p:attrName>ppt_x</p:attrName>
                                        </p:attrNameLst>
                                      </p:cBhvr>
                                      <p:tavLst>
                                        <p:tav tm="0">
                                          <p:val>
                                            <p:strVal val="0-#ppt_w/2"/>
                                          </p:val>
                                        </p:tav>
                                        <p:tav tm="100000">
                                          <p:val>
                                            <p:strVal val="#ppt_x"/>
                                          </p:val>
                                        </p:tav>
                                      </p:tavLst>
                                    </p:anim>
                                    <p:anim calcmode="lin" valueType="num">
                                      <p:cBhvr additive="base">
                                        <p:cTn id="27" dur="500" fill="hold"/>
                                        <p:tgtEl>
                                          <p:spTgt spid="8250"/>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8246"/>
                                        </p:tgtEl>
                                        <p:attrNameLst>
                                          <p:attrName>style.visibility</p:attrName>
                                        </p:attrNameLst>
                                      </p:cBhvr>
                                      <p:to>
                                        <p:strVal val="visible"/>
                                      </p:to>
                                    </p:set>
                                    <p:anim calcmode="lin" valueType="num">
                                      <p:cBhvr additive="base">
                                        <p:cTn id="32" dur="500" fill="hold"/>
                                        <p:tgtEl>
                                          <p:spTgt spid="8246"/>
                                        </p:tgtEl>
                                        <p:attrNameLst>
                                          <p:attrName>ppt_x</p:attrName>
                                        </p:attrNameLst>
                                      </p:cBhvr>
                                      <p:tavLst>
                                        <p:tav tm="0">
                                          <p:val>
                                            <p:strVal val="1+#ppt_w/2"/>
                                          </p:val>
                                        </p:tav>
                                        <p:tav tm="100000">
                                          <p:val>
                                            <p:strVal val="#ppt_x"/>
                                          </p:val>
                                        </p:tav>
                                      </p:tavLst>
                                    </p:anim>
                                    <p:anim calcmode="lin" valueType="num">
                                      <p:cBhvr additive="base">
                                        <p:cTn id="33" dur="500" fill="hold"/>
                                        <p:tgtEl>
                                          <p:spTgt spid="8246"/>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7" presetClass="entr" presetSubtype="8" fill="hold" grpId="0" nodeType="clickEffect">
                                  <p:stCondLst>
                                    <p:cond delay="0"/>
                                  </p:stCondLst>
                                  <p:childTnLst>
                                    <p:set>
                                      <p:cBhvr>
                                        <p:cTn id="37" dur="1" fill="hold">
                                          <p:stCondLst>
                                            <p:cond delay="0"/>
                                          </p:stCondLst>
                                        </p:cTn>
                                        <p:tgtEl>
                                          <p:spTgt spid="8242"/>
                                        </p:tgtEl>
                                        <p:attrNameLst>
                                          <p:attrName>style.visibility</p:attrName>
                                        </p:attrNameLst>
                                      </p:cBhvr>
                                      <p:to>
                                        <p:strVal val="visible"/>
                                      </p:to>
                                    </p:set>
                                    <p:anim calcmode="lin" valueType="num">
                                      <p:cBhvr>
                                        <p:cTn id="38" dur="500" fill="hold"/>
                                        <p:tgtEl>
                                          <p:spTgt spid="8242"/>
                                        </p:tgtEl>
                                        <p:attrNameLst>
                                          <p:attrName>ppt_x</p:attrName>
                                        </p:attrNameLst>
                                      </p:cBhvr>
                                      <p:tavLst>
                                        <p:tav tm="0">
                                          <p:val>
                                            <p:strVal val="#ppt_x-#ppt_w/2"/>
                                          </p:val>
                                        </p:tav>
                                        <p:tav tm="100000">
                                          <p:val>
                                            <p:strVal val="#ppt_x"/>
                                          </p:val>
                                        </p:tav>
                                      </p:tavLst>
                                    </p:anim>
                                    <p:anim calcmode="lin" valueType="num">
                                      <p:cBhvr>
                                        <p:cTn id="39" dur="500" fill="hold"/>
                                        <p:tgtEl>
                                          <p:spTgt spid="8242"/>
                                        </p:tgtEl>
                                        <p:attrNameLst>
                                          <p:attrName>ppt_y</p:attrName>
                                        </p:attrNameLst>
                                      </p:cBhvr>
                                      <p:tavLst>
                                        <p:tav tm="0">
                                          <p:val>
                                            <p:strVal val="#ppt_y"/>
                                          </p:val>
                                        </p:tav>
                                        <p:tav tm="100000">
                                          <p:val>
                                            <p:strVal val="#ppt_y"/>
                                          </p:val>
                                        </p:tav>
                                      </p:tavLst>
                                    </p:anim>
                                    <p:anim calcmode="lin" valueType="num">
                                      <p:cBhvr>
                                        <p:cTn id="40" dur="500" fill="hold"/>
                                        <p:tgtEl>
                                          <p:spTgt spid="8242"/>
                                        </p:tgtEl>
                                        <p:attrNameLst>
                                          <p:attrName>ppt_w</p:attrName>
                                        </p:attrNameLst>
                                      </p:cBhvr>
                                      <p:tavLst>
                                        <p:tav tm="0">
                                          <p:val>
                                            <p:fltVal val="0"/>
                                          </p:val>
                                        </p:tav>
                                        <p:tav tm="100000">
                                          <p:val>
                                            <p:strVal val="#ppt_w"/>
                                          </p:val>
                                        </p:tav>
                                      </p:tavLst>
                                    </p:anim>
                                    <p:anim calcmode="lin" valueType="num">
                                      <p:cBhvr>
                                        <p:cTn id="41" dur="500" fill="hold"/>
                                        <p:tgtEl>
                                          <p:spTgt spid="8242"/>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7" presetClass="entr" presetSubtype="8" fill="hold" grpId="0" nodeType="clickEffect">
                                  <p:stCondLst>
                                    <p:cond delay="0"/>
                                  </p:stCondLst>
                                  <p:childTnLst>
                                    <p:set>
                                      <p:cBhvr>
                                        <p:cTn id="45" dur="1" fill="hold">
                                          <p:stCondLst>
                                            <p:cond delay="0"/>
                                          </p:stCondLst>
                                        </p:cTn>
                                        <p:tgtEl>
                                          <p:spTgt spid="8243"/>
                                        </p:tgtEl>
                                        <p:attrNameLst>
                                          <p:attrName>style.visibility</p:attrName>
                                        </p:attrNameLst>
                                      </p:cBhvr>
                                      <p:to>
                                        <p:strVal val="visible"/>
                                      </p:to>
                                    </p:set>
                                    <p:anim calcmode="lin" valueType="num">
                                      <p:cBhvr>
                                        <p:cTn id="46" dur="500" fill="hold"/>
                                        <p:tgtEl>
                                          <p:spTgt spid="8243"/>
                                        </p:tgtEl>
                                        <p:attrNameLst>
                                          <p:attrName>ppt_x</p:attrName>
                                        </p:attrNameLst>
                                      </p:cBhvr>
                                      <p:tavLst>
                                        <p:tav tm="0">
                                          <p:val>
                                            <p:strVal val="#ppt_x-#ppt_w/2"/>
                                          </p:val>
                                        </p:tav>
                                        <p:tav tm="100000">
                                          <p:val>
                                            <p:strVal val="#ppt_x"/>
                                          </p:val>
                                        </p:tav>
                                      </p:tavLst>
                                    </p:anim>
                                    <p:anim calcmode="lin" valueType="num">
                                      <p:cBhvr>
                                        <p:cTn id="47" dur="500" fill="hold"/>
                                        <p:tgtEl>
                                          <p:spTgt spid="8243"/>
                                        </p:tgtEl>
                                        <p:attrNameLst>
                                          <p:attrName>ppt_y</p:attrName>
                                        </p:attrNameLst>
                                      </p:cBhvr>
                                      <p:tavLst>
                                        <p:tav tm="0">
                                          <p:val>
                                            <p:strVal val="#ppt_y"/>
                                          </p:val>
                                        </p:tav>
                                        <p:tav tm="100000">
                                          <p:val>
                                            <p:strVal val="#ppt_y"/>
                                          </p:val>
                                        </p:tav>
                                      </p:tavLst>
                                    </p:anim>
                                    <p:anim calcmode="lin" valueType="num">
                                      <p:cBhvr>
                                        <p:cTn id="48" dur="500" fill="hold"/>
                                        <p:tgtEl>
                                          <p:spTgt spid="8243"/>
                                        </p:tgtEl>
                                        <p:attrNameLst>
                                          <p:attrName>ppt_w</p:attrName>
                                        </p:attrNameLst>
                                      </p:cBhvr>
                                      <p:tavLst>
                                        <p:tav tm="0">
                                          <p:val>
                                            <p:fltVal val="0"/>
                                          </p:val>
                                        </p:tav>
                                        <p:tav tm="100000">
                                          <p:val>
                                            <p:strVal val="#ppt_w"/>
                                          </p:val>
                                        </p:tav>
                                      </p:tavLst>
                                    </p:anim>
                                    <p:anim calcmode="lin" valueType="num">
                                      <p:cBhvr>
                                        <p:cTn id="49" dur="500" fill="hold"/>
                                        <p:tgtEl>
                                          <p:spTgt spid="8243"/>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8241"/>
                                        </p:tgtEl>
                                        <p:attrNameLst>
                                          <p:attrName>style.visibility</p:attrName>
                                        </p:attrNameLst>
                                      </p:cBhvr>
                                      <p:to>
                                        <p:strVal val="visible"/>
                                      </p:to>
                                    </p:set>
                                    <p:animEffect transition="in" filter="wipe(left)">
                                      <p:cBhvr>
                                        <p:cTn id="54" dur="500"/>
                                        <p:tgtEl>
                                          <p:spTgt spid="8241"/>
                                        </p:tgtEl>
                                      </p:cBhvr>
                                    </p:animEffect>
                                  </p:childTnLst>
                                </p:cTn>
                              </p:par>
                            </p:childTnLst>
                          </p:cTn>
                        </p:par>
                        <p:par>
                          <p:cTn id="55" fill="hold">
                            <p:stCondLst>
                              <p:cond delay="500"/>
                            </p:stCondLst>
                            <p:childTnLst>
                              <p:par>
                                <p:cTn id="56" presetID="22" presetClass="entr" presetSubtype="8" fill="hold" grpId="0" nodeType="afterEffect">
                                  <p:stCondLst>
                                    <p:cond delay="0"/>
                                  </p:stCondLst>
                                  <p:iterate type="wd">
                                    <p:tmPct val="100000"/>
                                  </p:iterate>
                                  <p:childTnLst>
                                    <p:set>
                                      <p:cBhvr>
                                        <p:cTn id="57" dur="1" fill="hold">
                                          <p:stCondLst>
                                            <p:cond delay="0"/>
                                          </p:stCondLst>
                                        </p:cTn>
                                        <p:tgtEl>
                                          <p:spTgt spid="21">
                                            <p:txEl>
                                              <p:pRg st="0" end="0"/>
                                            </p:txEl>
                                          </p:spTgt>
                                        </p:tgtEl>
                                        <p:attrNameLst>
                                          <p:attrName>style.visibility</p:attrName>
                                        </p:attrNameLst>
                                      </p:cBhvr>
                                      <p:to>
                                        <p:strVal val="visible"/>
                                      </p:to>
                                    </p:set>
                                    <p:animEffect transition="in" filter="wipe(left)">
                                      <p:cBhvr>
                                        <p:cTn id="58" dur="300"/>
                                        <p:tgtEl>
                                          <p:spTgt spid="21">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iterate type="wd">
                                    <p:tmPct val="100000"/>
                                  </p:iterate>
                                  <p:childTnLst>
                                    <p:set>
                                      <p:cBhvr>
                                        <p:cTn id="62" dur="1" fill="hold">
                                          <p:stCondLst>
                                            <p:cond delay="0"/>
                                          </p:stCondLst>
                                        </p:cTn>
                                        <p:tgtEl>
                                          <p:spTgt spid="20"/>
                                        </p:tgtEl>
                                        <p:attrNameLst>
                                          <p:attrName>style.visibility</p:attrName>
                                        </p:attrNameLst>
                                      </p:cBhvr>
                                      <p:to>
                                        <p:strVal val="visible"/>
                                      </p:to>
                                    </p:set>
                                    <p:animEffect transition="in" filter="wipe(left)">
                                      <p:cBhvr>
                                        <p:cTn id="63" dur="3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wipe(left)">
                                      <p:cBhvr>
                                        <p:cTn id="68" dur="500"/>
                                        <p:tgtEl>
                                          <p:spTgt spid="22"/>
                                        </p:tgtEl>
                                      </p:cBhvr>
                                    </p:animEffect>
                                  </p:childTnLst>
                                </p:cTn>
                              </p:par>
                              <p:par>
                                <p:cTn id="69" presetID="22" presetClass="entr" presetSubtype="8"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wipe(left)">
                                      <p:cBhvr>
                                        <p:cTn id="71" dur="500"/>
                                        <p:tgtEl>
                                          <p:spTgt spid="23"/>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wipe(left)">
                                      <p:cBhvr>
                                        <p:cTn id="7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ldLvl="0" animBg="1" autoUpdateAnimBg="0"/>
      <p:bldP spid="8196" grpId="0" bldLvl="0" animBg="1" autoUpdateAnimBg="0"/>
      <p:bldP spid="8226" grpId="0" build="p" autoUpdateAnimBg="0"/>
      <p:bldP spid="8241" grpId="0" bldLvl="0" animBg="1"/>
      <p:bldP spid="8242" grpId="0" bldLvl="0" animBg="1"/>
      <p:bldP spid="8243" grpId="0" bldLvl="0" animBg="1"/>
      <p:bldP spid="19" grpId="0" bldLvl="0" animBg="1" autoUpdateAnimBg="0"/>
      <p:bldP spid="20" grpId="0" bldLvl="0" animBg="1" autoUpdateAnimBg="0"/>
      <p:bldP spid="21" grpId="0" build="p" autoUpdateAnimBg="0"/>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 Box 4"/>
          <p:cNvSpPr txBox="1">
            <a:spLocks noChangeArrowheads="1"/>
          </p:cNvSpPr>
          <p:nvPr/>
        </p:nvSpPr>
        <p:spPr bwMode="auto">
          <a:xfrm>
            <a:off x="673100" y="1415537"/>
            <a:ext cx="7878445" cy="5219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40000"/>
              </a:lnSpc>
            </a:pPr>
            <a:r>
              <a:rPr lang="zh-CN" altLang="en-US" sz="2000" b="1" dirty="0" smtClean="0"/>
              <a:t>有</a:t>
            </a:r>
            <a:r>
              <a:rPr lang="zh-CN" altLang="en-US" sz="2000" b="1" dirty="0"/>
              <a:t>理想形状</a:t>
            </a:r>
            <a:r>
              <a:rPr lang="zh-CN" altLang="en-US" sz="2000" b="1" dirty="0" smtClean="0"/>
              <a:t>且边界尺寸</a:t>
            </a:r>
            <a:r>
              <a:rPr lang="en-US" altLang="zh-CN" sz="2000" b="1" dirty="0" smtClean="0"/>
              <a:t>BS</a:t>
            </a:r>
            <a:r>
              <a:rPr lang="zh-CN" altLang="en-US" sz="2000" b="1" dirty="0"/>
              <a:t>为最大实体实效尺寸</a:t>
            </a:r>
            <a:r>
              <a:rPr lang="en-US" altLang="zh-CN" sz="2000" b="1" dirty="0"/>
              <a:t>MMVS</a:t>
            </a:r>
            <a:r>
              <a:rPr lang="zh-CN" altLang="en-US" sz="2000" b="1" dirty="0"/>
              <a:t>的包容面。 </a:t>
            </a:r>
          </a:p>
        </p:txBody>
      </p:sp>
      <p:sp>
        <p:nvSpPr>
          <p:cNvPr id="36869" name="Text Box 5"/>
          <p:cNvSpPr txBox="1">
            <a:spLocks noChangeArrowheads="1"/>
          </p:cNvSpPr>
          <p:nvPr/>
        </p:nvSpPr>
        <p:spPr bwMode="auto">
          <a:xfrm>
            <a:off x="307208" y="1006312"/>
            <a:ext cx="626451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smtClean="0"/>
              <a:t>（</a:t>
            </a:r>
            <a:r>
              <a:rPr lang="en-US" altLang="zh-CN" b="1" dirty="0" smtClean="0"/>
              <a:t>3</a:t>
            </a:r>
            <a:r>
              <a:rPr lang="zh-CN" altLang="en-US" b="1" dirty="0" smtClean="0"/>
              <a:t>）</a:t>
            </a:r>
            <a:r>
              <a:rPr lang="zh-CN" altLang="en-US" b="1" dirty="0"/>
              <a:t>最大实体实效边界（</a:t>
            </a:r>
            <a:r>
              <a:rPr lang="en-US" altLang="zh-CN" b="1" dirty="0">
                <a:solidFill>
                  <a:srgbClr val="FF3300"/>
                </a:solidFill>
              </a:rPr>
              <a:t>MMVB</a:t>
            </a:r>
            <a:r>
              <a:rPr lang="en-US" altLang="zh-CN" b="1" dirty="0"/>
              <a:t>）</a:t>
            </a:r>
            <a:r>
              <a:rPr lang="en-US" altLang="zh-CN" b="1" dirty="0">
                <a:cs typeface="Times New Roman" panose="02020603050405020304" pitchFamily="18" charset="0"/>
              </a:rPr>
              <a:t>— </a:t>
            </a:r>
            <a:endParaRPr lang="zh-CN" altLang="en-US" b="1" dirty="0">
              <a:cs typeface="Times New Roman" panose="02020603050405020304" pitchFamily="18" charset="0"/>
            </a:endParaRPr>
          </a:p>
        </p:txBody>
      </p:sp>
      <p:pic>
        <p:nvPicPr>
          <p:cNvPr id="17429" name="Picture 2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6331" y="2093773"/>
            <a:ext cx="3970650" cy="20439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prstDash val="solid"/>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430" name="Picture 2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53039" y="2166053"/>
            <a:ext cx="4246880" cy="21033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prstDash val="solid"/>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3" name="Line 17"/>
          <p:cNvSpPr>
            <a:spLocks noChangeShapeType="1"/>
          </p:cNvSpPr>
          <p:nvPr/>
        </p:nvSpPr>
        <p:spPr bwMode="auto">
          <a:xfrm>
            <a:off x="5430212" y="3316894"/>
            <a:ext cx="2664000" cy="0"/>
          </a:xfrm>
          <a:prstGeom prst="line">
            <a:avLst/>
          </a:prstGeom>
          <a:noFill/>
          <a:ln w="3810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4" name="Line 17"/>
          <p:cNvSpPr>
            <a:spLocks noChangeShapeType="1"/>
          </p:cNvSpPr>
          <p:nvPr/>
        </p:nvSpPr>
        <p:spPr bwMode="auto">
          <a:xfrm>
            <a:off x="5416765" y="4146150"/>
            <a:ext cx="2772000" cy="0"/>
          </a:xfrm>
          <a:prstGeom prst="line">
            <a:avLst/>
          </a:prstGeom>
          <a:noFill/>
          <a:ln w="38100">
            <a:solidFill>
              <a:srgbClr val="FF3300"/>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5" name="Rectangle 19"/>
          <p:cNvSpPr>
            <a:spLocks noChangeArrowheads="1"/>
          </p:cNvSpPr>
          <p:nvPr/>
        </p:nvSpPr>
        <p:spPr bwMode="auto">
          <a:xfrm>
            <a:off x="5886234" y="2785591"/>
            <a:ext cx="824865" cy="353695"/>
          </a:xfrm>
          <a:prstGeom prst="rect">
            <a:avLst/>
          </a:prstGeom>
          <a:noFill/>
          <a:ln w="38100">
            <a:solidFill>
              <a:srgbClr val="FF330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cxnSp>
        <p:nvCxnSpPr>
          <p:cNvPr id="10" name="直接连接符 9"/>
          <p:cNvCxnSpPr/>
          <p:nvPr/>
        </p:nvCxnSpPr>
        <p:spPr bwMode="auto">
          <a:xfrm flipV="1">
            <a:off x="169049" y="9477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1" name="Text Box 4"/>
          <p:cNvSpPr txBox="1">
            <a:spLocks noChangeArrowheads="1"/>
          </p:cNvSpPr>
          <p:nvPr/>
        </p:nvSpPr>
        <p:spPr bwMode="auto">
          <a:xfrm>
            <a:off x="486893" y="437499"/>
            <a:ext cx="2284412"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7. </a:t>
            </a:r>
            <a:r>
              <a:rPr lang="zh-CN" altLang="en-US" b="1" dirty="0">
                <a:latin typeface="宋体" panose="02010600030101010101" pitchFamily="2" charset="-122"/>
              </a:rPr>
              <a:t>边界</a:t>
            </a:r>
            <a:r>
              <a:rPr lang="zh-CN" altLang="en-US" b="1" dirty="0"/>
              <a:t> </a:t>
            </a:r>
          </a:p>
        </p:txBody>
      </p:sp>
      <p:sp>
        <p:nvSpPr>
          <p:cNvPr id="12" name="Text Box 5"/>
          <p:cNvSpPr txBox="1">
            <a:spLocks noChangeArrowheads="1"/>
          </p:cNvSpPr>
          <p:nvPr/>
        </p:nvSpPr>
        <p:spPr bwMode="auto">
          <a:xfrm>
            <a:off x="655109" y="4960610"/>
            <a:ext cx="7610475" cy="9531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40000"/>
              </a:lnSpc>
            </a:pPr>
            <a:r>
              <a:rPr lang="zh-CN" altLang="en-US" sz="2000" b="1" dirty="0"/>
              <a:t>        </a:t>
            </a:r>
            <a:r>
              <a:rPr lang="zh-CN" altLang="en-US" sz="2000" b="1" dirty="0" smtClean="0"/>
              <a:t>具有</a:t>
            </a:r>
            <a:r>
              <a:rPr lang="zh-CN" altLang="en-US" sz="2000" b="1" dirty="0"/>
              <a:t>理想形状且边界尺寸</a:t>
            </a:r>
            <a:r>
              <a:rPr lang="en-US" altLang="zh-CN" sz="2000" b="1" dirty="0"/>
              <a:t>BS</a:t>
            </a:r>
            <a:r>
              <a:rPr lang="zh-CN" altLang="en-US" sz="2000" b="1" dirty="0"/>
              <a:t>为最小实体实效尺寸</a:t>
            </a:r>
            <a:r>
              <a:rPr lang="en-US" altLang="zh-CN" sz="2000" b="1" dirty="0"/>
              <a:t>LMVS</a:t>
            </a:r>
            <a:r>
              <a:rPr lang="zh-CN" altLang="en-US" sz="2000" b="1" dirty="0"/>
              <a:t>的包容面。 </a:t>
            </a:r>
          </a:p>
        </p:txBody>
      </p:sp>
      <p:sp>
        <p:nvSpPr>
          <p:cNvPr id="13" name="Text Box 7"/>
          <p:cNvSpPr txBox="1">
            <a:spLocks noChangeArrowheads="1"/>
          </p:cNvSpPr>
          <p:nvPr/>
        </p:nvSpPr>
        <p:spPr bwMode="auto">
          <a:xfrm>
            <a:off x="459592" y="4556177"/>
            <a:ext cx="702945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（4）最小实体实效边界（ </a:t>
            </a:r>
            <a:r>
              <a:rPr lang="en-US" altLang="zh-CN" b="1" dirty="0"/>
              <a:t>LMVB ）</a:t>
            </a:r>
            <a:r>
              <a:rPr lang="en-US" altLang="zh-CN" b="1" dirty="0">
                <a:cs typeface="Times New Roman" panose="02020603050405020304" pitchFamily="18" charset="0"/>
              </a:rPr>
              <a:t>—</a:t>
            </a:r>
            <a:endParaRPr lang="zh-CN" altLang="en-US" b="1" dirty="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36869">
                                            <p:txEl>
                                              <p:pRg st="0" end="0"/>
                                            </p:txEl>
                                          </p:spTgt>
                                        </p:tgtEl>
                                        <p:attrNameLst>
                                          <p:attrName>style.visibility</p:attrName>
                                        </p:attrNameLst>
                                      </p:cBhvr>
                                      <p:to>
                                        <p:strVal val="visible"/>
                                      </p:to>
                                    </p:set>
                                    <p:animEffect transition="in" filter="wipe(left)">
                                      <p:cBhvr>
                                        <p:cTn id="7" dur="300"/>
                                        <p:tgtEl>
                                          <p:spTgt spid="368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36868"/>
                                        </p:tgtEl>
                                        <p:attrNameLst>
                                          <p:attrName>style.visibility</p:attrName>
                                        </p:attrNameLst>
                                      </p:cBhvr>
                                      <p:to>
                                        <p:strVal val="visible"/>
                                      </p:to>
                                    </p:set>
                                    <p:animEffect transition="in" filter="wipe(left)">
                                      <p:cBhvr>
                                        <p:cTn id="12" dur="300"/>
                                        <p:tgtEl>
                                          <p:spTgt spid="3686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7429"/>
                                        </p:tgtEl>
                                        <p:attrNameLst>
                                          <p:attrName>style.visibility</p:attrName>
                                        </p:attrNameLst>
                                      </p:cBhvr>
                                      <p:to>
                                        <p:strVal val="visible"/>
                                      </p:to>
                                    </p:set>
                                    <p:anim calcmode="lin" valueType="num">
                                      <p:cBhvr additive="base">
                                        <p:cTn id="17" dur="500" fill="hold"/>
                                        <p:tgtEl>
                                          <p:spTgt spid="17429"/>
                                        </p:tgtEl>
                                        <p:attrNameLst>
                                          <p:attrName>ppt_x</p:attrName>
                                        </p:attrNameLst>
                                      </p:cBhvr>
                                      <p:tavLst>
                                        <p:tav tm="0">
                                          <p:val>
                                            <p:strVal val="1+#ppt_w/2"/>
                                          </p:val>
                                        </p:tav>
                                        <p:tav tm="100000">
                                          <p:val>
                                            <p:strVal val="#ppt_x"/>
                                          </p:val>
                                        </p:tav>
                                      </p:tavLst>
                                    </p:anim>
                                    <p:anim calcmode="lin" valueType="num">
                                      <p:cBhvr additive="base">
                                        <p:cTn id="18" dur="500" fill="hold"/>
                                        <p:tgtEl>
                                          <p:spTgt spid="17429"/>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7430"/>
                                        </p:tgtEl>
                                        <p:attrNameLst>
                                          <p:attrName>style.visibility</p:attrName>
                                        </p:attrNameLst>
                                      </p:cBhvr>
                                      <p:to>
                                        <p:strVal val="visible"/>
                                      </p:to>
                                    </p:set>
                                    <p:anim calcmode="lin" valueType="num">
                                      <p:cBhvr additive="base">
                                        <p:cTn id="23" dur="500" fill="hold"/>
                                        <p:tgtEl>
                                          <p:spTgt spid="17430"/>
                                        </p:tgtEl>
                                        <p:attrNameLst>
                                          <p:attrName>ppt_x</p:attrName>
                                        </p:attrNameLst>
                                      </p:cBhvr>
                                      <p:tavLst>
                                        <p:tav tm="0">
                                          <p:val>
                                            <p:strVal val="#ppt_x"/>
                                          </p:val>
                                        </p:tav>
                                        <p:tav tm="100000">
                                          <p:val>
                                            <p:strVal val="#ppt_x"/>
                                          </p:val>
                                        </p:tav>
                                      </p:tavLst>
                                    </p:anim>
                                    <p:anim calcmode="lin" valueType="num">
                                      <p:cBhvr additive="base">
                                        <p:cTn id="24" dur="500" fill="hold"/>
                                        <p:tgtEl>
                                          <p:spTgt spid="1743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8"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p:cTn id="29" dur="500" fill="hold"/>
                                        <p:tgtEl>
                                          <p:spTgt spid="24"/>
                                        </p:tgtEl>
                                        <p:attrNameLst>
                                          <p:attrName>ppt_x</p:attrName>
                                        </p:attrNameLst>
                                      </p:cBhvr>
                                      <p:tavLst>
                                        <p:tav tm="0">
                                          <p:val>
                                            <p:strVal val="#ppt_x-#ppt_w/2"/>
                                          </p:val>
                                        </p:tav>
                                        <p:tav tm="100000">
                                          <p:val>
                                            <p:strVal val="#ppt_x"/>
                                          </p:val>
                                        </p:tav>
                                      </p:tavLst>
                                    </p:anim>
                                    <p:anim calcmode="lin" valueType="num">
                                      <p:cBhvr>
                                        <p:cTn id="30" dur="500" fill="hold"/>
                                        <p:tgtEl>
                                          <p:spTgt spid="24"/>
                                        </p:tgtEl>
                                        <p:attrNameLst>
                                          <p:attrName>ppt_y</p:attrName>
                                        </p:attrNameLst>
                                      </p:cBhvr>
                                      <p:tavLst>
                                        <p:tav tm="0">
                                          <p:val>
                                            <p:strVal val="#ppt_y"/>
                                          </p:val>
                                        </p:tav>
                                        <p:tav tm="100000">
                                          <p:val>
                                            <p:strVal val="#ppt_y"/>
                                          </p:val>
                                        </p:tav>
                                      </p:tavLst>
                                    </p:anim>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p:cTn id="37" dur="500" fill="hold"/>
                                        <p:tgtEl>
                                          <p:spTgt spid="23"/>
                                        </p:tgtEl>
                                        <p:attrNameLst>
                                          <p:attrName>ppt_x</p:attrName>
                                        </p:attrNameLst>
                                      </p:cBhvr>
                                      <p:tavLst>
                                        <p:tav tm="0">
                                          <p:val>
                                            <p:strVal val="#ppt_x-#ppt_w/2"/>
                                          </p:val>
                                        </p:tav>
                                        <p:tav tm="100000">
                                          <p:val>
                                            <p:strVal val="#ppt_x"/>
                                          </p:val>
                                        </p:tav>
                                      </p:tavLst>
                                    </p:anim>
                                    <p:anim calcmode="lin" valueType="num">
                                      <p:cBhvr>
                                        <p:cTn id="38" dur="500" fill="hold"/>
                                        <p:tgtEl>
                                          <p:spTgt spid="23"/>
                                        </p:tgtEl>
                                        <p:attrNameLst>
                                          <p:attrName>ppt_y</p:attrName>
                                        </p:attrNameLst>
                                      </p:cBhvr>
                                      <p:tavLst>
                                        <p:tav tm="0">
                                          <p:val>
                                            <p:strVal val="#ppt_y"/>
                                          </p:val>
                                        </p:tav>
                                        <p:tav tm="100000">
                                          <p:val>
                                            <p:strVal val="#ppt_y"/>
                                          </p:val>
                                        </p:tav>
                                      </p:tavLst>
                                    </p:anim>
                                    <p:anim calcmode="lin" valueType="num">
                                      <p:cBhvr>
                                        <p:cTn id="39" dur="500" fill="hold"/>
                                        <p:tgtEl>
                                          <p:spTgt spid="23"/>
                                        </p:tgtEl>
                                        <p:attrNameLst>
                                          <p:attrName>ppt_w</p:attrName>
                                        </p:attrNameLst>
                                      </p:cBhvr>
                                      <p:tavLst>
                                        <p:tav tm="0">
                                          <p:val>
                                            <p:fltVal val="0"/>
                                          </p:val>
                                        </p:tav>
                                        <p:tav tm="100000">
                                          <p:val>
                                            <p:strVal val="#ppt_w"/>
                                          </p:val>
                                        </p:tav>
                                      </p:tavLst>
                                    </p:anim>
                                    <p:anim calcmode="lin" valueType="num">
                                      <p:cBhvr>
                                        <p:cTn id="40"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8"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p:cTn id="45" dur="500" fill="hold"/>
                                        <p:tgtEl>
                                          <p:spTgt spid="25"/>
                                        </p:tgtEl>
                                        <p:attrNameLst>
                                          <p:attrName>ppt_x</p:attrName>
                                        </p:attrNameLst>
                                      </p:cBhvr>
                                      <p:tavLst>
                                        <p:tav tm="0">
                                          <p:val>
                                            <p:strVal val="#ppt_x-#ppt_w/2"/>
                                          </p:val>
                                        </p:tav>
                                        <p:tav tm="100000">
                                          <p:val>
                                            <p:strVal val="#ppt_x"/>
                                          </p:val>
                                        </p:tav>
                                      </p:tavLst>
                                    </p:anim>
                                    <p:anim calcmode="lin" valueType="num">
                                      <p:cBhvr>
                                        <p:cTn id="46" dur="500" fill="hold"/>
                                        <p:tgtEl>
                                          <p:spTgt spid="25"/>
                                        </p:tgtEl>
                                        <p:attrNameLst>
                                          <p:attrName>ppt_y</p:attrName>
                                        </p:attrNameLst>
                                      </p:cBhvr>
                                      <p:tavLst>
                                        <p:tav tm="0">
                                          <p:val>
                                            <p:strVal val="#ppt_y"/>
                                          </p:val>
                                        </p:tav>
                                        <p:tav tm="100000">
                                          <p:val>
                                            <p:strVal val="#ppt_y"/>
                                          </p:val>
                                        </p:tav>
                                      </p:tavLst>
                                    </p:anim>
                                    <p:anim calcmode="lin" valueType="num">
                                      <p:cBhvr>
                                        <p:cTn id="47" dur="500" fill="hold"/>
                                        <p:tgtEl>
                                          <p:spTgt spid="25"/>
                                        </p:tgtEl>
                                        <p:attrNameLst>
                                          <p:attrName>ppt_w</p:attrName>
                                        </p:attrNameLst>
                                      </p:cBhvr>
                                      <p:tavLst>
                                        <p:tav tm="0">
                                          <p:val>
                                            <p:fltVal val="0"/>
                                          </p:val>
                                        </p:tav>
                                        <p:tav tm="100000">
                                          <p:val>
                                            <p:strVal val="#ppt_w"/>
                                          </p:val>
                                        </p:tav>
                                      </p:tavLst>
                                    </p:anim>
                                    <p:anim calcmode="lin" valueType="num">
                                      <p:cBhvr>
                                        <p:cTn id="48" dur="500" fill="hold"/>
                                        <p:tgtEl>
                                          <p:spTgt spid="25"/>
                                        </p:tgtEl>
                                        <p:attrNameLst>
                                          <p:attrName>ppt_h</p:attrName>
                                        </p:attrNameLst>
                                      </p:cBhvr>
                                      <p:tavLst>
                                        <p:tav tm="0">
                                          <p:val>
                                            <p:strVal val="#ppt_h"/>
                                          </p:val>
                                        </p:tav>
                                        <p:tav tm="100000">
                                          <p:val>
                                            <p:strVal val="#ppt_h"/>
                                          </p:val>
                                        </p:tav>
                                      </p:tavLst>
                                    </p:anim>
                                  </p:childTnLst>
                                </p:cTn>
                              </p:par>
                            </p:childTnLst>
                          </p:cTn>
                        </p:par>
                        <p:par>
                          <p:cTn id="49" fill="hold">
                            <p:stCondLst>
                              <p:cond delay="500"/>
                            </p:stCondLst>
                            <p:childTnLst>
                              <p:par>
                                <p:cTn id="50" presetID="22" presetClass="entr" presetSubtype="8" fill="hold" grpId="0" nodeType="afterEffect">
                                  <p:stCondLst>
                                    <p:cond delay="0"/>
                                  </p:stCondLst>
                                  <p:iterate type="wd">
                                    <p:tmPct val="100000"/>
                                  </p:iterate>
                                  <p:childTnLst>
                                    <p:set>
                                      <p:cBhvr>
                                        <p:cTn id="51" dur="1" fill="hold">
                                          <p:stCondLst>
                                            <p:cond delay="0"/>
                                          </p:stCondLst>
                                        </p:cTn>
                                        <p:tgtEl>
                                          <p:spTgt spid="11"/>
                                        </p:tgtEl>
                                        <p:attrNameLst>
                                          <p:attrName>style.visibility</p:attrName>
                                        </p:attrNameLst>
                                      </p:cBhvr>
                                      <p:to>
                                        <p:strVal val="visible"/>
                                      </p:to>
                                    </p:set>
                                    <p:animEffect transition="in" filter="wipe(left)">
                                      <p:cBhvr>
                                        <p:cTn id="52" dur="3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13">
                                            <p:txEl>
                                              <p:pRg st="0" end="0"/>
                                            </p:txEl>
                                          </p:spTgt>
                                        </p:tgtEl>
                                        <p:attrNameLst>
                                          <p:attrName>style.visibility</p:attrName>
                                        </p:attrNameLst>
                                      </p:cBhvr>
                                      <p:to>
                                        <p:strVal val="visible"/>
                                      </p:to>
                                    </p:set>
                                    <p:animEffect transition="in" filter="wipe(left)">
                                      <p:cBhvr>
                                        <p:cTn id="57" dur="300"/>
                                        <p:tgtEl>
                                          <p:spTgt spid="13">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wd">
                                    <p:tmPct val="100000"/>
                                  </p:iterate>
                                  <p:childTnLst>
                                    <p:set>
                                      <p:cBhvr>
                                        <p:cTn id="61" dur="1" fill="hold">
                                          <p:stCondLst>
                                            <p:cond delay="0"/>
                                          </p:stCondLst>
                                        </p:cTn>
                                        <p:tgtEl>
                                          <p:spTgt spid="12"/>
                                        </p:tgtEl>
                                        <p:attrNameLst>
                                          <p:attrName>style.visibility</p:attrName>
                                        </p:attrNameLst>
                                      </p:cBhvr>
                                      <p:to>
                                        <p:strVal val="visible"/>
                                      </p:to>
                                    </p:set>
                                    <p:animEffect transition="in" filter="wipe(left)">
                                      <p:cBhvr>
                                        <p:cTn id="62"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bldLvl="0" animBg="1" autoUpdateAnimBg="0"/>
      <p:bldP spid="36869" grpId="0" build="p" autoUpdateAnimBg="0"/>
      <p:bldP spid="23" grpId="0" bldLvl="0" animBg="1"/>
      <p:bldP spid="24" grpId="0" bldLvl="0" animBg="1"/>
      <p:bldP spid="25" grpId="0" bldLvl="0" animBg="1"/>
      <p:bldP spid="11" grpId="0" bldLvl="0" animBg="1" autoUpdateAnimBg="0"/>
      <p:bldP spid="12" grpId="0" bldLvl="0" animBg="1" autoUpdateAnimBg="0"/>
      <p:bldP spid="13"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358616" y="404813"/>
            <a:ext cx="3748088"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4.3.2 </a:t>
            </a:r>
            <a:r>
              <a:rPr lang="zh-CN" altLang="en-US" b="1" dirty="0">
                <a:latin typeface="宋体" panose="02010600030101010101" pitchFamily="2" charset="-122"/>
              </a:rPr>
              <a:t>独立原则 </a:t>
            </a:r>
          </a:p>
        </p:txBody>
      </p:sp>
      <p:sp>
        <p:nvSpPr>
          <p:cNvPr id="10244" name="Text Box 4"/>
          <p:cNvSpPr txBox="1">
            <a:spLocks noChangeArrowheads="1"/>
          </p:cNvSpPr>
          <p:nvPr/>
        </p:nvSpPr>
        <p:spPr bwMode="auto">
          <a:xfrm>
            <a:off x="518613" y="1142075"/>
            <a:ext cx="7884924" cy="8299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0"/>
              </a:spcBef>
            </a:pPr>
            <a:r>
              <a:rPr lang="zh-CN" altLang="en-US" sz="2000" b="1" dirty="0"/>
              <a:t>        图样上对某要素的</a:t>
            </a:r>
            <a:r>
              <a:rPr lang="en-US" altLang="zh-CN" sz="2000" b="1" i="1" dirty="0"/>
              <a:t>t</a:t>
            </a:r>
            <a:r>
              <a:rPr lang="zh-CN" altLang="en-US" sz="2000" b="1" baseline="-30000" dirty="0"/>
              <a:t>几何</a:t>
            </a:r>
            <a:r>
              <a:rPr lang="zh-CN" altLang="en-US" sz="2000" b="1" dirty="0"/>
              <a:t>与</a:t>
            </a:r>
            <a:r>
              <a:rPr lang="en-US" altLang="zh-CN" sz="2000" b="1" i="1" dirty="0"/>
              <a:t>T</a:t>
            </a:r>
            <a:r>
              <a:rPr lang="zh-CN" altLang="en-US" sz="2000" b="1" baseline="-30000" dirty="0"/>
              <a:t>尺</a:t>
            </a:r>
            <a:r>
              <a:rPr lang="zh-CN" altLang="en-US" sz="2000" b="1" dirty="0">
                <a:solidFill>
                  <a:srgbClr val="FF3300"/>
                </a:solidFill>
              </a:rPr>
              <a:t>各自独立</a:t>
            </a:r>
            <a:r>
              <a:rPr lang="zh-CN" altLang="en-US" sz="2000" b="1" dirty="0"/>
              <a:t>，彼此无关，分别满足各自公差要求</a:t>
            </a:r>
            <a:r>
              <a:rPr lang="zh-CN" altLang="en-US" sz="2000" b="1" dirty="0" smtClean="0"/>
              <a:t>。</a:t>
            </a:r>
            <a:endParaRPr lang="zh-CN" altLang="en-US" sz="2000" dirty="0"/>
          </a:p>
        </p:txBody>
      </p:sp>
      <p:sp>
        <p:nvSpPr>
          <p:cNvPr id="10269" name="Rectangle 29"/>
          <p:cNvSpPr>
            <a:spLocks noChangeArrowheads="1"/>
          </p:cNvSpPr>
          <p:nvPr/>
        </p:nvSpPr>
        <p:spPr bwMode="auto">
          <a:xfrm>
            <a:off x="796032" y="4590879"/>
            <a:ext cx="5862184"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just">
              <a:lnSpc>
                <a:spcPct val="120000"/>
              </a:lnSpc>
            </a:pPr>
            <a:r>
              <a:rPr lang="zh-CN" altLang="en-US" sz="2000" b="1" dirty="0">
                <a:solidFill>
                  <a:srgbClr val="FF3300"/>
                </a:solidFill>
              </a:rPr>
              <a:t>应用</a:t>
            </a:r>
            <a:r>
              <a:rPr lang="zh-CN" altLang="en-US" sz="2000" b="1" dirty="0"/>
              <a:t>：独立原则应用于有特殊功能要求的要素。</a:t>
            </a:r>
          </a:p>
        </p:txBody>
      </p:sp>
      <p:sp>
        <p:nvSpPr>
          <p:cNvPr id="10270" name="Rectangle 30"/>
          <p:cNvSpPr>
            <a:spLocks noChangeArrowheads="1"/>
          </p:cNvSpPr>
          <p:nvPr/>
        </p:nvSpPr>
        <p:spPr bwMode="auto">
          <a:xfrm>
            <a:off x="783648" y="5059427"/>
            <a:ext cx="7758113" cy="8299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pPr>
            <a:r>
              <a:rPr lang="zh-CN" altLang="en-US" sz="2000" b="1" dirty="0">
                <a:solidFill>
                  <a:srgbClr val="FF3300"/>
                </a:solidFill>
              </a:rPr>
              <a:t>检测</a:t>
            </a:r>
            <a:r>
              <a:rPr lang="zh-CN" altLang="en-US" sz="2000" b="1" dirty="0"/>
              <a:t>：对于实际尺寸用两点法测量，其几何误差用</a:t>
            </a:r>
            <a:r>
              <a:rPr lang="zh-CN" altLang="en-US" sz="2000" b="1" dirty="0" smtClean="0"/>
              <a:t>普通计量</a:t>
            </a:r>
            <a:r>
              <a:rPr lang="zh-CN" altLang="en-US" sz="2000" b="1" dirty="0"/>
              <a:t>器具或专用量具测量。 </a:t>
            </a:r>
          </a:p>
        </p:txBody>
      </p:sp>
      <p:graphicFrame>
        <p:nvGraphicFramePr>
          <p:cNvPr id="23562" name="Object 33"/>
          <p:cNvGraphicFramePr>
            <a:graphicFrameLocks noChangeAspect="1"/>
          </p:cNvGraphicFramePr>
          <p:nvPr/>
        </p:nvGraphicFramePr>
        <p:xfrm>
          <a:off x="742952" y="2169218"/>
          <a:ext cx="3144048" cy="887239"/>
        </p:xfrm>
        <a:graphic>
          <a:graphicData uri="http://schemas.openxmlformats.org/presentationml/2006/ole">
            <p:oleObj spid="_x0000_s8196" name="公式" r:id="rId3" imgW="30784800" imgH="11582400" progId="">
              <p:embed/>
            </p:oleObj>
          </a:graphicData>
        </a:graphic>
      </p:graphicFrame>
      <p:pic>
        <p:nvPicPr>
          <p:cNvPr id="23567" name="Picture 15"/>
          <p:cNvPicPr>
            <a:picLocks noChangeAspect="1" noChangeArrowheads="1"/>
          </p:cNvPicPr>
          <p:nvPr/>
        </p:nvPicPr>
        <p:blipFill>
          <a:blip r:embed="rId4" cstate="print">
            <a:duotone>
              <a:schemeClr val="accent2">
                <a:shade val="45000"/>
                <a:satMod val="135000"/>
              </a:schemeClr>
              <a:prstClr val="white"/>
            </a:duotone>
            <a:lum contrast="10000"/>
            <a:extLst>
              <a:ext uri="{28A0092B-C50C-407E-A947-70E740481C1C}">
                <a14:useLocalDpi xmlns:a14="http://schemas.microsoft.com/office/drawing/2010/main" xmlns="" val="0"/>
              </a:ext>
            </a:extLst>
          </a:blip>
          <a:srcRect b="13500"/>
          <a:stretch>
            <a:fillRect/>
          </a:stretch>
        </p:blipFill>
        <p:spPr bwMode="auto">
          <a:xfrm>
            <a:off x="4458372" y="1834367"/>
            <a:ext cx="3756660" cy="24149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12" name="直接连接符 11"/>
          <p:cNvCxnSpPr/>
          <p:nvPr/>
        </p:nvCxnSpPr>
        <p:spPr bwMode="auto">
          <a:xfrm flipV="1">
            <a:off x="205244" y="102210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Box 12"/>
          <p:cNvSpPr txBox="1"/>
          <p:nvPr/>
        </p:nvSpPr>
        <p:spPr>
          <a:xfrm>
            <a:off x="987399" y="3195608"/>
            <a:ext cx="2554942" cy="1322070"/>
          </a:xfrm>
          <a:prstGeom prst="rect">
            <a:avLst/>
          </a:prstGeom>
          <a:noFill/>
        </p:spPr>
        <p:txBody>
          <a:bodyPr wrap="square" rtlCol="0">
            <a:spAutoFit/>
          </a:bodyPr>
          <a:lstStyle/>
          <a:p>
            <a:r>
              <a:rPr lang="zh-CN" altLang="en-US" sz="2000" b="1" dirty="0" smtClean="0"/>
              <a:t>即：</a:t>
            </a:r>
            <a:r>
              <a:rPr lang="en-US" altLang="zh-CN" sz="2000" b="1" i="1" dirty="0" smtClean="0"/>
              <a:t>f</a:t>
            </a:r>
            <a:r>
              <a:rPr lang="zh-CN" altLang="en-US" sz="2000" b="1" baseline="-25000" dirty="0" smtClean="0"/>
              <a:t>尺寸 </a:t>
            </a:r>
            <a:r>
              <a:rPr lang="zh-CN" altLang="en-US" sz="2000" b="1" dirty="0" smtClean="0"/>
              <a:t>≤ </a:t>
            </a:r>
            <a:r>
              <a:rPr lang="en-US" altLang="zh-CN" sz="2000" b="1" dirty="0" smtClean="0"/>
              <a:t>0.04</a:t>
            </a:r>
          </a:p>
          <a:p>
            <a:r>
              <a:rPr lang="en-US" altLang="zh-CN" sz="2000" b="1" i="1" dirty="0" smtClean="0"/>
              <a:t>        f</a:t>
            </a:r>
            <a:r>
              <a:rPr lang="zh-CN" altLang="en-US" sz="2000" b="1" baseline="-25000" dirty="0" smtClean="0"/>
              <a:t>圆度 </a:t>
            </a:r>
            <a:r>
              <a:rPr lang="zh-CN" altLang="en-US" sz="2000" b="1" dirty="0" smtClean="0"/>
              <a:t>≤ </a:t>
            </a:r>
            <a:r>
              <a:rPr lang="en-US" altLang="zh-CN" sz="2000" b="1" dirty="0" smtClean="0"/>
              <a:t>0.008</a:t>
            </a:r>
          </a:p>
          <a:p>
            <a:r>
              <a:rPr lang="en-US" altLang="zh-CN" sz="2000" b="1" i="1" dirty="0" smtClean="0"/>
              <a:t>       f</a:t>
            </a:r>
            <a:r>
              <a:rPr lang="zh-CN" altLang="en-US" sz="2000" b="1" baseline="-25000" dirty="0" smtClean="0"/>
              <a:t>直线度 </a:t>
            </a:r>
            <a:r>
              <a:rPr lang="zh-CN" altLang="en-US" sz="2000" b="1" dirty="0" smtClean="0"/>
              <a:t>≤ </a:t>
            </a:r>
            <a:r>
              <a:rPr lang="en-US" altLang="zh-CN" sz="2000" b="1" dirty="0" smtClean="0"/>
              <a:t>0.015</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wipe(left)">
                                      <p:cBhvr>
                                        <p:cTn id="7" dur="300"/>
                                        <p:tgtEl>
                                          <p:spTgt spid="102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0244"/>
                                        </p:tgtEl>
                                        <p:attrNameLst>
                                          <p:attrName>style.visibility</p:attrName>
                                        </p:attrNameLst>
                                      </p:cBhvr>
                                      <p:to>
                                        <p:strVal val="visible"/>
                                      </p:to>
                                    </p:set>
                                    <p:animEffect transition="in" filter="wipe(left)">
                                      <p:cBhvr>
                                        <p:cTn id="12" dur="300"/>
                                        <p:tgtEl>
                                          <p:spTgt spid="1024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567"/>
                                        </p:tgtEl>
                                        <p:attrNameLst>
                                          <p:attrName>style.visibility</p:attrName>
                                        </p:attrNameLst>
                                      </p:cBhvr>
                                      <p:to>
                                        <p:strVal val="visible"/>
                                      </p:to>
                                    </p:set>
                                    <p:anim calcmode="lin" valueType="num">
                                      <p:cBhvr additive="base">
                                        <p:cTn id="17" dur="2500" fill="hold"/>
                                        <p:tgtEl>
                                          <p:spTgt spid="23567"/>
                                        </p:tgtEl>
                                        <p:attrNameLst>
                                          <p:attrName>ppt_x</p:attrName>
                                        </p:attrNameLst>
                                      </p:cBhvr>
                                      <p:tavLst>
                                        <p:tav tm="0">
                                          <p:val>
                                            <p:strVal val="#ppt_x"/>
                                          </p:val>
                                        </p:tav>
                                        <p:tav tm="100000">
                                          <p:val>
                                            <p:strVal val="#ppt_x"/>
                                          </p:val>
                                        </p:tav>
                                      </p:tavLst>
                                    </p:anim>
                                    <p:anim calcmode="lin" valueType="num">
                                      <p:cBhvr additive="base">
                                        <p:cTn id="18" dur="2500" fill="hold"/>
                                        <p:tgtEl>
                                          <p:spTgt spid="2356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23562"/>
                                        </p:tgtEl>
                                        <p:attrNameLst>
                                          <p:attrName>style.visibility</p:attrName>
                                        </p:attrNameLst>
                                      </p:cBhvr>
                                      <p:to>
                                        <p:strVal val="visible"/>
                                      </p:to>
                                    </p:set>
                                    <p:anim calcmode="lin" valueType="num">
                                      <p:cBhvr>
                                        <p:cTn id="23" dur="2250" fill="hold"/>
                                        <p:tgtEl>
                                          <p:spTgt spid="23562"/>
                                        </p:tgtEl>
                                        <p:attrNameLst>
                                          <p:attrName>ppt_w</p:attrName>
                                        </p:attrNameLst>
                                      </p:cBhvr>
                                      <p:tavLst>
                                        <p:tav tm="0">
                                          <p:val>
                                            <p:fltVal val="0"/>
                                          </p:val>
                                        </p:tav>
                                        <p:tav tm="100000">
                                          <p:val>
                                            <p:strVal val="#ppt_w"/>
                                          </p:val>
                                        </p:tav>
                                      </p:tavLst>
                                    </p:anim>
                                    <p:anim calcmode="lin" valueType="num">
                                      <p:cBhvr>
                                        <p:cTn id="24" dur="2250" fill="hold"/>
                                        <p:tgtEl>
                                          <p:spTgt spid="23562"/>
                                        </p:tgtEl>
                                        <p:attrNameLst>
                                          <p:attrName>ppt_h</p:attrName>
                                        </p:attrNameLst>
                                      </p:cBhvr>
                                      <p:tavLst>
                                        <p:tav tm="0">
                                          <p:val>
                                            <p:fltVal val="0"/>
                                          </p:val>
                                        </p:tav>
                                        <p:tav tm="100000">
                                          <p:val>
                                            <p:strVal val="#ppt_h"/>
                                          </p:val>
                                        </p:tav>
                                      </p:tavLst>
                                    </p:anim>
                                    <p:anim calcmode="lin" valueType="num">
                                      <p:cBhvr>
                                        <p:cTn id="25" dur="2250" fill="hold"/>
                                        <p:tgtEl>
                                          <p:spTgt spid="23562"/>
                                        </p:tgtEl>
                                        <p:attrNameLst>
                                          <p:attrName>style.rotation</p:attrName>
                                        </p:attrNameLst>
                                      </p:cBhvr>
                                      <p:tavLst>
                                        <p:tav tm="0">
                                          <p:val>
                                            <p:fltVal val="90"/>
                                          </p:val>
                                        </p:tav>
                                        <p:tav tm="100000">
                                          <p:val>
                                            <p:fltVal val="0"/>
                                          </p:val>
                                        </p:tav>
                                      </p:tavLst>
                                    </p:anim>
                                    <p:animEffect transition="in" filter="fade">
                                      <p:cBhvr>
                                        <p:cTn id="26" dur="2250"/>
                                        <p:tgtEl>
                                          <p:spTgt spid="2356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10269"/>
                                        </p:tgtEl>
                                        <p:attrNameLst>
                                          <p:attrName>style.visibility</p:attrName>
                                        </p:attrNameLst>
                                      </p:cBhvr>
                                      <p:to>
                                        <p:strVal val="visible"/>
                                      </p:to>
                                    </p:set>
                                    <p:animEffect transition="in" filter="wipe(left)">
                                      <p:cBhvr>
                                        <p:cTn id="31" dur="300"/>
                                        <p:tgtEl>
                                          <p:spTgt spid="1026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10270"/>
                                        </p:tgtEl>
                                        <p:attrNameLst>
                                          <p:attrName>style.visibility</p:attrName>
                                        </p:attrNameLst>
                                      </p:cBhvr>
                                      <p:to>
                                        <p:strVal val="visible"/>
                                      </p:to>
                                    </p:set>
                                    <p:animEffect transition="in" filter="wipe(left)">
                                      <p:cBhvr>
                                        <p:cTn id="36" dur="300"/>
                                        <p:tgtEl>
                                          <p:spTgt spid="10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uild="p" autoUpdateAnimBg="0"/>
      <p:bldP spid="10244" grpId="0" bldLvl="0" animBg="1" autoUpdateAnimBg="0"/>
      <p:bldP spid="10269" grpId="0" bldLvl="0" animBg="1" autoUpdateAnimBg="0"/>
      <p:bldP spid="10270"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p:cNvSpPr txBox="1">
            <a:spLocks noChangeArrowheads="1"/>
          </p:cNvSpPr>
          <p:nvPr/>
        </p:nvSpPr>
        <p:spPr bwMode="auto">
          <a:xfrm>
            <a:off x="444607" y="351680"/>
            <a:ext cx="428307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4.3.3 </a:t>
            </a:r>
            <a:r>
              <a:rPr lang="zh-CN" altLang="en-US" b="1" dirty="0">
                <a:latin typeface="宋体" panose="02010600030101010101" pitchFamily="2" charset="-122"/>
              </a:rPr>
              <a:t>包容要求（</a:t>
            </a:r>
            <a:r>
              <a:rPr lang="en-US" altLang="zh-CN" b="1" dirty="0">
                <a:latin typeface="宋体" panose="02010600030101010101" pitchFamily="2" charset="-122"/>
              </a:rPr>
              <a:t>ER）</a:t>
            </a:r>
            <a:endParaRPr lang="zh-CN" altLang="en-US" b="1" dirty="0"/>
          </a:p>
        </p:txBody>
      </p:sp>
      <p:grpSp>
        <p:nvGrpSpPr>
          <p:cNvPr id="24624" name="Group 48"/>
          <p:cNvGrpSpPr/>
          <p:nvPr/>
        </p:nvGrpSpPr>
        <p:grpSpPr bwMode="auto">
          <a:xfrm>
            <a:off x="2980055" y="2607660"/>
            <a:ext cx="3474338" cy="1396169"/>
            <a:chOff x="192" y="2337"/>
            <a:chExt cx="2459" cy="1195"/>
          </a:xfrm>
        </p:grpSpPr>
        <p:pic>
          <p:nvPicPr>
            <p:cNvPr id="24599" name="Picture 41"/>
            <p:cNvPicPr>
              <a:picLocks noChangeAspect="1" noChangeArrowheads="1"/>
            </p:cNvPicPr>
            <p:nvPr/>
          </p:nvPicPr>
          <p:blipFill>
            <a:blip r:embed="rId2" cstate="print">
              <a:extLst>
                <a:ext uri="{28A0092B-C50C-407E-A947-70E740481C1C}">
                  <a14:useLocalDpi xmlns:a14="http://schemas.microsoft.com/office/drawing/2010/main" xmlns="" val="0"/>
                </a:ext>
              </a:extLst>
            </a:blip>
            <a:srcRect b="27341"/>
            <a:stretch>
              <a:fillRect/>
            </a:stretch>
          </p:blipFill>
          <p:spPr bwMode="auto">
            <a:xfrm>
              <a:off x="192" y="2337"/>
              <a:ext cx="1693" cy="11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4600" name="Text Box 42"/>
            <p:cNvSpPr txBox="1">
              <a:spLocks noChangeArrowheads="1"/>
            </p:cNvSpPr>
            <p:nvPr/>
          </p:nvSpPr>
          <p:spPr bwMode="auto">
            <a:xfrm>
              <a:off x="1913" y="2843"/>
              <a:ext cx="738" cy="28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t>包容要求</a:t>
              </a:r>
            </a:p>
          </p:txBody>
        </p:sp>
      </p:grpSp>
      <p:grpSp>
        <p:nvGrpSpPr>
          <p:cNvPr id="24621" name="Group 45"/>
          <p:cNvGrpSpPr/>
          <p:nvPr/>
        </p:nvGrpSpPr>
        <p:grpSpPr bwMode="auto">
          <a:xfrm>
            <a:off x="274533" y="1054761"/>
            <a:ext cx="8434917" cy="829865"/>
            <a:chOff x="278" y="681"/>
            <a:chExt cx="4967" cy="697"/>
          </a:xfrm>
        </p:grpSpPr>
        <p:sp>
          <p:nvSpPr>
            <p:cNvPr id="24597" name="Text Box 5"/>
            <p:cNvSpPr txBox="1">
              <a:spLocks noChangeArrowheads="1"/>
            </p:cNvSpPr>
            <p:nvPr/>
          </p:nvSpPr>
          <p:spPr bwMode="auto">
            <a:xfrm>
              <a:off x="278" y="681"/>
              <a:ext cx="4967" cy="6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t>        包容要求用于单一要素的一种相关要求。图样</a:t>
              </a:r>
              <a:r>
                <a:rPr lang="zh-CN" altLang="en-US" sz="2000" b="1" dirty="0" smtClean="0"/>
                <a:t>上应</a:t>
              </a:r>
              <a:r>
                <a:rPr lang="zh-CN" altLang="en-US" sz="2000" b="1" dirty="0"/>
                <a:t>在</a:t>
              </a:r>
              <a:r>
                <a:rPr lang="zh-CN" altLang="en-US" sz="2000" b="1" dirty="0">
                  <a:solidFill>
                    <a:srgbClr val="FF0000"/>
                  </a:solidFill>
                </a:rPr>
                <a:t>尺寸极限偏差</a:t>
              </a:r>
              <a:r>
                <a:rPr lang="zh-CN" altLang="en-US" sz="2000" b="1" dirty="0"/>
                <a:t>或</a:t>
              </a:r>
              <a:r>
                <a:rPr lang="zh-CN" altLang="en-US" sz="2000" b="1" dirty="0">
                  <a:solidFill>
                    <a:srgbClr val="FF0000"/>
                  </a:solidFill>
                </a:rPr>
                <a:t>尺寸公差带代号</a:t>
              </a:r>
              <a:r>
                <a:rPr lang="zh-CN" altLang="en-US" sz="2000" b="1" dirty="0"/>
                <a:t>后加注</a:t>
              </a:r>
              <a:r>
                <a:rPr lang="zh-CN" altLang="en-US" sz="2000" b="1" dirty="0" smtClean="0"/>
                <a:t>符号        </a:t>
              </a:r>
              <a:r>
                <a:rPr lang="zh-CN" altLang="en-US" sz="2000" b="1" dirty="0"/>
                <a:t>。</a:t>
              </a:r>
            </a:p>
          </p:txBody>
        </p:sp>
        <p:pic>
          <p:nvPicPr>
            <p:cNvPr id="24598" name="Picture 44"/>
            <p:cNvPicPr>
              <a:picLocks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138" y="1003"/>
              <a:ext cx="254" cy="363"/>
            </a:xfrm>
            <a:prstGeom prst="rect">
              <a:avLst/>
            </a:prstGeom>
            <a:solidFill>
              <a:srgbClr val="FFCCFF"/>
            </a:solidFill>
            <a:ln>
              <a:noFill/>
            </a:ln>
            <a:effectLst/>
            <a:extLst>
              <a:ext uri="{91240B29-F687-4F45-9708-019B960494DF}">
                <a14:hiddenLine xmlns:a14="http://schemas.microsoft.com/office/drawing/2010/main" xmlns="" w="9525">
                  <a:solidFill>
                    <a:srgbClr val="D60093"/>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sp>
        <p:nvSpPr>
          <p:cNvPr id="24622" name="Text Box 46"/>
          <p:cNvSpPr txBox="1">
            <a:spLocks noChangeArrowheads="1"/>
          </p:cNvSpPr>
          <p:nvPr/>
        </p:nvSpPr>
        <p:spPr bwMode="auto">
          <a:xfrm>
            <a:off x="407032" y="1877804"/>
            <a:ext cx="8170334" cy="7067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smtClean="0"/>
              <a:t>      含义：实际要素应</a:t>
            </a:r>
            <a:r>
              <a:rPr lang="zh-CN" altLang="en-US" sz="2000" b="1" dirty="0" smtClean="0">
                <a:solidFill>
                  <a:srgbClr val="FF0000"/>
                </a:solidFill>
              </a:rPr>
              <a:t>遵守最大实体</a:t>
            </a:r>
            <a:r>
              <a:rPr lang="zh-CN" altLang="en-US" sz="2000" b="1" dirty="0" smtClean="0">
                <a:solidFill>
                  <a:srgbClr val="FF0000"/>
                </a:solidFill>
                <a:latin typeface="宋体" panose="02010600030101010101" pitchFamily="2" charset="-122"/>
              </a:rPr>
              <a:t>边界</a:t>
            </a:r>
            <a:r>
              <a:rPr lang="zh-CN" altLang="en-US" sz="2000" b="1" dirty="0" smtClean="0">
                <a:latin typeface="宋体" panose="02010600030101010101" pitchFamily="2" charset="-122"/>
              </a:rPr>
              <a:t>（</a:t>
            </a:r>
            <a:r>
              <a:rPr lang="en-US" altLang="zh-CN" sz="2000" b="1" dirty="0" smtClean="0">
                <a:latin typeface="宋体" panose="02010600030101010101" pitchFamily="2" charset="-122"/>
              </a:rPr>
              <a:t>MMB</a:t>
            </a:r>
            <a:r>
              <a:rPr lang="zh-CN" altLang="en-US" sz="2000" b="1" dirty="0" smtClean="0">
                <a:latin typeface="宋体" panose="02010600030101010101" pitchFamily="2" charset="-122"/>
              </a:rPr>
              <a:t>），即其</a:t>
            </a:r>
            <a:r>
              <a:rPr lang="zh-CN" altLang="en-US" sz="2000" b="1" dirty="0" smtClean="0">
                <a:solidFill>
                  <a:srgbClr val="FF0000"/>
                </a:solidFill>
                <a:latin typeface="宋体" panose="02010600030101010101" pitchFamily="2" charset="-122"/>
              </a:rPr>
              <a:t>体外作用</a:t>
            </a:r>
            <a:r>
              <a:rPr lang="zh-CN" altLang="en-US" sz="2000" b="1" dirty="0" smtClean="0">
                <a:solidFill>
                  <a:srgbClr val="FF0000"/>
                </a:solidFill>
              </a:rPr>
              <a:t>尺寸</a:t>
            </a:r>
            <a:r>
              <a:rPr lang="zh-CN" altLang="en-US" sz="2000" b="1" dirty="0" smtClean="0">
                <a:solidFill>
                  <a:srgbClr val="FF0000"/>
                </a:solidFill>
                <a:latin typeface="宋体" panose="02010600030101010101" pitchFamily="2" charset="-122"/>
              </a:rPr>
              <a:t>应不超出最大实体尺寸</a:t>
            </a:r>
            <a:r>
              <a:rPr lang="zh-CN" altLang="en-US" sz="2000" b="1" dirty="0" smtClean="0">
                <a:latin typeface="宋体" panose="02010600030101010101" pitchFamily="2" charset="-122"/>
              </a:rPr>
              <a:t>（</a:t>
            </a:r>
            <a:r>
              <a:rPr lang="en-US" altLang="zh-CN" sz="2000" b="1" dirty="0" smtClean="0">
                <a:latin typeface="宋体" panose="02010600030101010101" pitchFamily="2" charset="-122"/>
              </a:rPr>
              <a:t>MMS</a:t>
            </a:r>
            <a:r>
              <a:rPr lang="zh-CN" altLang="en-US" sz="2000" b="1" dirty="0" smtClean="0">
                <a:latin typeface="宋体" panose="02010600030101010101" pitchFamily="2" charset="-122"/>
              </a:rPr>
              <a:t>）</a:t>
            </a:r>
            <a:r>
              <a:rPr lang="en-US" altLang="zh-CN" sz="2000" b="1" dirty="0" smtClean="0">
                <a:latin typeface="宋体" panose="02010600030101010101" pitchFamily="2" charset="-122"/>
              </a:rPr>
              <a:t>,</a:t>
            </a:r>
            <a:r>
              <a:rPr lang="zh-CN" altLang="en-US" sz="2000" b="1" dirty="0" smtClean="0">
                <a:latin typeface="宋体" panose="02010600030101010101" pitchFamily="2" charset="-122"/>
              </a:rPr>
              <a:t>其</a:t>
            </a:r>
            <a:r>
              <a:rPr lang="zh-CN" altLang="en-US" sz="2000" b="1" dirty="0" smtClean="0">
                <a:solidFill>
                  <a:srgbClr val="FF0000"/>
                </a:solidFill>
                <a:latin typeface="宋体" panose="02010600030101010101" pitchFamily="2" charset="-122"/>
              </a:rPr>
              <a:t>实际尺寸不超出最小实体尺寸</a:t>
            </a:r>
            <a:r>
              <a:rPr lang="zh-CN" altLang="en-US" sz="2000" b="1" dirty="0" smtClean="0">
                <a:latin typeface="宋体" panose="02010600030101010101" pitchFamily="2" charset="-122"/>
              </a:rPr>
              <a:t>（</a:t>
            </a:r>
            <a:r>
              <a:rPr lang="en-US" altLang="zh-CN" sz="2000" b="1" dirty="0" smtClean="0">
                <a:latin typeface="宋体" panose="02010600030101010101" pitchFamily="2" charset="-122"/>
              </a:rPr>
              <a:t>LMS</a:t>
            </a:r>
            <a:r>
              <a:rPr lang="zh-CN" altLang="en-US" sz="2000" b="1" dirty="0" smtClean="0">
                <a:latin typeface="宋体" panose="02010600030101010101" pitchFamily="2" charset="-122"/>
              </a:rPr>
              <a:t>）</a:t>
            </a:r>
            <a:endParaRPr lang="zh-CN" altLang="en-US" sz="2000" b="1" dirty="0">
              <a:latin typeface="宋体" panose="02010600030101010101" pitchFamily="2" charset="-122"/>
            </a:endParaRPr>
          </a:p>
        </p:txBody>
      </p:sp>
      <p:grpSp>
        <p:nvGrpSpPr>
          <p:cNvPr id="24638" name="Group 62"/>
          <p:cNvGrpSpPr/>
          <p:nvPr/>
        </p:nvGrpSpPr>
        <p:grpSpPr bwMode="auto">
          <a:xfrm>
            <a:off x="667796" y="4091989"/>
            <a:ext cx="3904204" cy="2515357"/>
            <a:chOff x="1914" y="2553"/>
            <a:chExt cx="2046" cy="1827"/>
          </a:xfrm>
        </p:grpSpPr>
        <p:grpSp>
          <p:nvGrpSpPr>
            <p:cNvPr id="24592" name="Group 52"/>
            <p:cNvGrpSpPr/>
            <p:nvPr/>
          </p:nvGrpSpPr>
          <p:grpSpPr bwMode="auto">
            <a:xfrm>
              <a:off x="1914" y="2553"/>
              <a:ext cx="2046" cy="1827"/>
              <a:chOff x="1914" y="2553"/>
              <a:chExt cx="2046" cy="1827"/>
            </a:xfrm>
          </p:grpSpPr>
          <p:pic>
            <p:nvPicPr>
              <p:cNvPr id="24595" name="Picture 47"/>
              <p:cNvPicPr>
                <a:picLocks noChangeAspect="1" noChangeArrowheads="1"/>
              </p:cNvPicPr>
              <p:nvPr/>
            </p:nvPicPr>
            <p:blipFill>
              <a:blip r:embed="rId4" cstate="print">
                <a:extLst>
                  <a:ext uri="{28A0092B-C50C-407E-A947-70E740481C1C}">
                    <a14:useLocalDpi xmlns:a14="http://schemas.microsoft.com/office/drawing/2010/main" xmlns="" val="0"/>
                  </a:ext>
                </a:extLst>
              </a:blip>
              <a:srcRect b="7358"/>
              <a:stretch>
                <a:fillRect/>
              </a:stretch>
            </p:blipFill>
            <p:spPr bwMode="auto">
              <a:xfrm>
                <a:off x="1914" y="2553"/>
                <a:ext cx="2046" cy="15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4596" name="Text Box 51"/>
              <p:cNvSpPr txBox="1">
                <a:spLocks noChangeArrowheads="1"/>
              </p:cNvSpPr>
              <p:nvPr/>
            </p:nvSpPr>
            <p:spPr bwMode="auto">
              <a:xfrm>
                <a:off x="2293" y="4135"/>
                <a:ext cx="1063" cy="24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t>圆柱表面有形状误差</a:t>
                </a:r>
                <a:endParaRPr lang="en-US" altLang="zh-CN" sz="1600" b="1"/>
              </a:p>
            </p:txBody>
          </p:sp>
        </p:grpSp>
        <p:sp>
          <p:nvSpPr>
            <p:cNvPr id="24593" name="Line 58"/>
            <p:cNvSpPr>
              <a:spLocks noChangeShapeType="1"/>
            </p:cNvSpPr>
            <p:nvPr/>
          </p:nvSpPr>
          <p:spPr bwMode="auto">
            <a:xfrm>
              <a:off x="2011" y="2885"/>
              <a:ext cx="1496" cy="0"/>
            </a:xfrm>
            <a:prstGeom prst="line">
              <a:avLst/>
            </a:prstGeom>
            <a:noFill/>
            <a:ln w="57150">
              <a:solidFill>
                <a:srgbClr val="D60093"/>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 name="Line 59"/>
            <p:cNvSpPr>
              <a:spLocks noChangeShapeType="1"/>
            </p:cNvSpPr>
            <p:nvPr/>
          </p:nvSpPr>
          <p:spPr bwMode="auto">
            <a:xfrm>
              <a:off x="2037" y="3674"/>
              <a:ext cx="1496" cy="0"/>
            </a:xfrm>
            <a:prstGeom prst="line">
              <a:avLst/>
            </a:prstGeom>
            <a:noFill/>
            <a:ln w="57150">
              <a:solidFill>
                <a:srgbClr val="D60093"/>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24639" name="Group 63"/>
          <p:cNvGrpSpPr/>
          <p:nvPr/>
        </p:nvGrpSpPr>
        <p:grpSpPr bwMode="auto">
          <a:xfrm>
            <a:off x="4919120" y="4083051"/>
            <a:ext cx="3445939" cy="2509686"/>
            <a:chOff x="3823" y="2725"/>
            <a:chExt cx="1806" cy="1765"/>
          </a:xfrm>
        </p:grpSpPr>
        <p:grpSp>
          <p:nvGrpSpPr>
            <p:cNvPr id="24587" name="Group 54"/>
            <p:cNvGrpSpPr/>
            <p:nvPr/>
          </p:nvGrpSpPr>
          <p:grpSpPr bwMode="auto">
            <a:xfrm>
              <a:off x="3823" y="2725"/>
              <a:ext cx="1806" cy="1765"/>
              <a:chOff x="3823" y="2725"/>
              <a:chExt cx="1806" cy="1765"/>
            </a:xfrm>
          </p:grpSpPr>
          <p:pic>
            <p:nvPicPr>
              <p:cNvPr id="24590" name="Picture 49"/>
              <p:cNvPicPr>
                <a:picLocks noChangeAspect="1" noChangeArrowheads="1"/>
              </p:cNvPicPr>
              <p:nvPr/>
            </p:nvPicPr>
            <p:blipFill>
              <a:blip r:embed="rId5" cstate="print">
                <a:extLst>
                  <a:ext uri="{28A0092B-C50C-407E-A947-70E740481C1C}">
                    <a14:useLocalDpi xmlns:a14="http://schemas.microsoft.com/office/drawing/2010/main" xmlns="" val="0"/>
                  </a:ext>
                </a:extLst>
              </a:blip>
              <a:srcRect b="13582"/>
              <a:stretch>
                <a:fillRect/>
              </a:stretch>
            </p:blipFill>
            <p:spPr bwMode="auto">
              <a:xfrm>
                <a:off x="3823" y="2725"/>
                <a:ext cx="1806" cy="15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4591" name="Text Box 53"/>
              <p:cNvSpPr txBox="1">
                <a:spLocks noChangeArrowheads="1"/>
              </p:cNvSpPr>
              <p:nvPr/>
            </p:nvSpPr>
            <p:spPr bwMode="auto">
              <a:xfrm>
                <a:off x="4074" y="4253"/>
                <a:ext cx="1140" cy="237"/>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t>圆柱轴线有形状误差</a:t>
                </a:r>
              </a:p>
            </p:txBody>
          </p:sp>
        </p:grpSp>
        <p:sp>
          <p:nvSpPr>
            <p:cNvPr id="24588" name="Line 60"/>
            <p:cNvSpPr>
              <a:spLocks noChangeShapeType="1"/>
            </p:cNvSpPr>
            <p:nvPr/>
          </p:nvSpPr>
          <p:spPr bwMode="auto">
            <a:xfrm>
              <a:off x="3931" y="3091"/>
              <a:ext cx="1476" cy="0"/>
            </a:xfrm>
            <a:prstGeom prst="line">
              <a:avLst/>
            </a:prstGeom>
            <a:noFill/>
            <a:ln w="57150">
              <a:solidFill>
                <a:srgbClr val="D60093"/>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4589" name="Line 61"/>
            <p:cNvSpPr>
              <a:spLocks noChangeShapeType="1"/>
            </p:cNvSpPr>
            <p:nvPr/>
          </p:nvSpPr>
          <p:spPr bwMode="auto">
            <a:xfrm>
              <a:off x="3911" y="3804"/>
              <a:ext cx="1476" cy="0"/>
            </a:xfrm>
            <a:prstGeom prst="line">
              <a:avLst/>
            </a:prstGeom>
            <a:noFill/>
            <a:ln w="57150">
              <a:solidFill>
                <a:srgbClr val="D60093"/>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cxnSp>
        <p:nvCxnSpPr>
          <p:cNvPr id="23" name="直接连接符 22"/>
          <p:cNvCxnSpPr/>
          <p:nvPr/>
        </p:nvCxnSpPr>
        <p:spPr bwMode="auto">
          <a:xfrm flipV="1">
            <a:off x="243344" y="927489"/>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24580">
                                            <p:txEl>
                                              <p:pRg st="0" end="0"/>
                                            </p:txEl>
                                          </p:spTgt>
                                        </p:tgtEl>
                                        <p:attrNameLst>
                                          <p:attrName>style.visibility</p:attrName>
                                        </p:attrNameLst>
                                      </p:cBhvr>
                                      <p:to>
                                        <p:strVal val="visible"/>
                                      </p:to>
                                    </p:set>
                                    <p:animEffect transition="in" filter="wipe(left)">
                                      <p:cBhvr>
                                        <p:cTn id="7" dur="300"/>
                                        <p:tgtEl>
                                          <p:spTgt spid="245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24624"/>
                                        </p:tgtEl>
                                        <p:attrNameLst>
                                          <p:attrName>style.visibility</p:attrName>
                                        </p:attrNameLst>
                                      </p:cBhvr>
                                      <p:to>
                                        <p:strVal val="visible"/>
                                      </p:to>
                                    </p:set>
                                    <p:anim calcmode="lin" valueType="num">
                                      <p:cBhvr additive="base">
                                        <p:cTn id="12" dur="500" fill="hold"/>
                                        <p:tgtEl>
                                          <p:spTgt spid="24624"/>
                                        </p:tgtEl>
                                        <p:attrNameLst>
                                          <p:attrName>ppt_x</p:attrName>
                                        </p:attrNameLst>
                                      </p:cBhvr>
                                      <p:tavLst>
                                        <p:tav tm="0">
                                          <p:val>
                                            <p:strVal val="0-#ppt_w/2"/>
                                          </p:val>
                                        </p:tav>
                                        <p:tav tm="100000">
                                          <p:val>
                                            <p:strVal val="#ppt_x"/>
                                          </p:val>
                                        </p:tav>
                                      </p:tavLst>
                                    </p:anim>
                                    <p:anim calcmode="lin" valueType="num">
                                      <p:cBhvr additive="base">
                                        <p:cTn id="13" dur="500" fill="hold"/>
                                        <p:tgtEl>
                                          <p:spTgt spid="2462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4621"/>
                                        </p:tgtEl>
                                        <p:attrNameLst>
                                          <p:attrName>style.visibility</p:attrName>
                                        </p:attrNameLst>
                                      </p:cBhvr>
                                      <p:to>
                                        <p:strVal val="visible"/>
                                      </p:to>
                                    </p:set>
                                    <p:animEffect transition="in" filter="wipe(left)">
                                      <p:cBhvr>
                                        <p:cTn id="18" dur="2000"/>
                                        <p:tgtEl>
                                          <p:spTgt spid="2462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24622"/>
                                        </p:tgtEl>
                                        <p:attrNameLst>
                                          <p:attrName>style.visibility</p:attrName>
                                        </p:attrNameLst>
                                      </p:cBhvr>
                                      <p:to>
                                        <p:strVal val="visible"/>
                                      </p:to>
                                    </p:set>
                                    <p:animEffect transition="in" filter="wipe(left)">
                                      <p:cBhvr>
                                        <p:cTn id="23" dur="300"/>
                                        <p:tgtEl>
                                          <p:spTgt spid="24622"/>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4638"/>
                                        </p:tgtEl>
                                        <p:attrNameLst>
                                          <p:attrName>style.visibility</p:attrName>
                                        </p:attrNameLst>
                                      </p:cBhvr>
                                      <p:to>
                                        <p:strVal val="visible"/>
                                      </p:to>
                                    </p:set>
                                    <p:anim calcmode="lin" valueType="num">
                                      <p:cBhvr additive="base">
                                        <p:cTn id="28" dur="2000" fill="hold"/>
                                        <p:tgtEl>
                                          <p:spTgt spid="24638"/>
                                        </p:tgtEl>
                                        <p:attrNameLst>
                                          <p:attrName>ppt_x</p:attrName>
                                        </p:attrNameLst>
                                      </p:cBhvr>
                                      <p:tavLst>
                                        <p:tav tm="0">
                                          <p:val>
                                            <p:strVal val="#ppt_x"/>
                                          </p:val>
                                        </p:tav>
                                        <p:tav tm="100000">
                                          <p:val>
                                            <p:strVal val="#ppt_x"/>
                                          </p:val>
                                        </p:tav>
                                      </p:tavLst>
                                    </p:anim>
                                    <p:anim calcmode="lin" valueType="num">
                                      <p:cBhvr additive="base">
                                        <p:cTn id="29" dur="2000" fill="hold"/>
                                        <p:tgtEl>
                                          <p:spTgt spid="2463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6" fill="hold" nodeType="clickEffect">
                                  <p:stCondLst>
                                    <p:cond delay="0"/>
                                  </p:stCondLst>
                                  <p:childTnLst>
                                    <p:set>
                                      <p:cBhvr>
                                        <p:cTn id="33" dur="1" fill="hold">
                                          <p:stCondLst>
                                            <p:cond delay="0"/>
                                          </p:stCondLst>
                                        </p:cTn>
                                        <p:tgtEl>
                                          <p:spTgt spid="24639"/>
                                        </p:tgtEl>
                                        <p:attrNameLst>
                                          <p:attrName>style.visibility</p:attrName>
                                        </p:attrNameLst>
                                      </p:cBhvr>
                                      <p:to>
                                        <p:strVal val="visible"/>
                                      </p:to>
                                    </p:set>
                                    <p:anim calcmode="lin" valueType="num">
                                      <p:cBhvr additive="base">
                                        <p:cTn id="34" dur="2000" fill="hold"/>
                                        <p:tgtEl>
                                          <p:spTgt spid="24639"/>
                                        </p:tgtEl>
                                        <p:attrNameLst>
                                          <p:attrName>ppt_x</p:attrName>
                                        </p:attrNameLst>
                                      </p:cBhvr>
                                      <p:tavLst>
                                        <p:tav tm="0">
                                          <p:val>
                                            <p:strVal val="1+#ppt_w/2"/>
                                          </p:val>
                                        </p:tav>
                                        <p:tav tm="100000">
                                          <p:val>
                                            <p:strVal val="#ppt_x"/>
                                          </p:val>
                                        </p:tav>
                                      </p:tavLst>
                                    </p:anim>
                                    <p:anim calcmode="lin" valueType="num">
                                      <p:cBhvr additive="base">
                                        <p:cTn id="35" dur="2000" fill="hold"/>
                                        <p:tgtEl>
                                          <p:spTgt spid="246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build="p" autoUpdateAnimBg="0"/>
      <p:bldP spid="24622" grpId="0" bldLvl="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Text Box 4"/>
          <p:cNvSpPr txBox="1">
            <a:spLocks noChangeArrowheads="1"/>
          </p:cNvSpPr>
          <p:nvPr/>
        </p:nvSpPr>
        <p:spPr bwMode="auto">
          <a:xfrm>
            <a:off x="557680" y="939465"/>
            <a:ext cx="461803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smtClean="0">
                <a:latin typeface="宋体" panose="02010600030101010101" pitchFamily="2" charset="-122"/>
              </a:rPr>
              <a:t>1.</a:t>
            </a:r>
            <a:r>
              <a:rPr lang="zh-CN" altLang="en-US" b="1" dirty="0">
                <a:latin typeface="宋体" panose="02010600030101010101" pitchFamily="2" charset="-122"/>
              </a:rPr>
              <a:t>包容要求的动态公差带图</a:t>
            </a:r>
          </a:p>
        </p:txBody>
      </p:sp>
      <p:grpSp>
        <p:nvGrpSpPr>
          <p:cNvPr id="96261" name="Group 5"/>
          <p:cNvGrpSpPr/>
          <p:nvPr/>
        </p:nvGrpSpPr>
        <p:grpSpPr bwMode="auto">
          <a:xfrm>
            <a:off x="1003935" y="3480403"/>
            <a:ext cx="2687955" cy="2081974"/>
            <a:chOff x="192" y="2108"/>
            <a:chExt cx="1693" cy="1469"/>
          </a:xfrm>
        </p:grpSpPr>
        <p:pic>
          <p:nvPicPr>
            <p:cNvPr id="25618" name="Picture 6"/>
            <p:cNvPicPr>
              <a:picLocks noChangeAspect="1" noChangeArrowheads="1"/>
            </p:cNvPicPr>
            <p:nvPr/>
          </p:nvPicPr>
          <p:blipFill>
            <a:blip r:embed="rId3" cstate="print">
              <a:extLst>
                <a:ext uri="{28A0092B-C50C-407E-A947-70E740481C1C}">
                  <a14:useLocalDpi xmlns:a14="http://schemas.microsoft.com/office/drawing/2010/main" xmlns="" val="0"/>
                </a:ext>
              </a:extLst>
            </a:blip>
            <a:srcRect b="17843"/>
            <a:stretch>
              <a:fillRect/>
            </a:stretch>
          </p:blipFill>
          <p:spPr bwMode="auto">
            <a:xfrm>
              <a:off x="192" y="2108"/>
              <a:ext cx="1693" cy="12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5619" name="Text Box 7"/>
            <p:cNvSpPr txBox="1">
              <a:spLocks noChangeArrowheads="1"/>
            </p:cNvSpPr>
            <p:nvPr/>
          </p:nvSpPr>
          <p:spPr bwMode="auto">
            <a:xfrm>
              <a:off x="809" y="3361"/>
              <a:ext cx="606" cy="21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a:t>包容要求</a:t>
              </a:r>
            </a:p>
          </p:txBody>
        </p:sp>
      </p:grpSp>
      <p:sp>
        <p:nvSpPr>
          <p:cNvPr id="96267" name="Text Box 11"/>
          <p:cNvSpPr txBox="1">
            <a:spLocks noChangeArrowheads="1"/>
          </p:cNvSpPr>
          <p:nvPr/>
        </p:nvSpPr>
        <p:spPr bwMode="auto">
          <a:xfrm>
            <a:off x="719878" y="1369184"/>
            <a:ext cx="8064500" cy="8299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smtClean="0">
                <a:latin typeface="宋体" panose="02010600030101010101" pitchFamily="2" charset="-122"/>
              </a:rPr>
              <a:t>     包容</a:t>
            </a:r>
            <a:r>
              <a:rPr lang="zh-CN" altLang="en-US" sz="2000" b="1" dirty="0">
                <a:latin typeface="宋体" panose="02010600030101010101" pitchFamily="2" charset="-122"/>
              </a:rPr>
              <a:t>要求的动态公差带图</a:t>
            </a:r>
            <a:r>
              <a:rPr lang="zh-CN" altLang="en-US" sz="2000" b="1" dirty="0" smtClean="0">
                <a:latin typeface="宋体" panose="02010600030101010101" pitchFamily="2" charset="-122"/>
              </a:rPr>
              <a:t>，表示</a:t>
            </a:r>
            <a:r>
              <a:rPr lang="zh-CN" altLang="en-US" sz="2000" b="1" dirty="0">
                <a:latin typeface="宋体" panose="02010600030101010101" pitchFamily="2" charset="-122"/>
              </a:rPr>
              <a:t>圆柱</a:t>
            </a:r>
            <a:r>
              <a:rPr lang="zh-CN" altLang="en-US" sz="2000" b="1" dirty="0">
                <a:solidFill>
                  <a:srgbClr val="FF0000"/>
                </a:solidFill>
                <a:latin typeface="宋体" panose="02010600030101010101" pitchFamily="2" charset="-122"/>
              </a:rPr>
              <a:t>轴线直线度误差允许值</a:t>
            </a:r>
            <a:r>
              <a:rPr lang="en-US" altLang="zh-CN" sz="2000" b="1" i="1" dirty="0">
                <a:solidFill>
                  <a:srgbClr val="FF0000"/>
                </a:solidFill>
                <a:latin typeface="宋体" panose="02010600030101010101" pitchFamily="2" charset="-122"/>
              </a:rPr>
              <a:t>t</a:t>
            </a:r>
            <a:r>
              <a:rPr lang="zh-CN" altLang="en-US" sz="2000" b="1" dirty="0">
                <a:latin typeface="宋体" panose="02010600030101010101" pitchFamily="2" charset="-122"/>
              </a:rPr>
              <a:t>随圆柱实际尺寸</a:t>
            </a:r>
            <a:r>
              <a:rPr lang="en-US" altLang="zh-CN" sz="2000" b="1" i="1" dirty="0" err="1">
                <a:latin typeface="宋体" panose="02010600030101010101" pitchFamily="2" charset="-122"/>
              </a:rPr>
              <a:t>d</a:t>
            </a:r>
            <a:r>
              <a:rPr lang="en-US" altLang="zh-CN" sz="2000" b="1" baseline="-25000" dirty="0" err="1">
                <a:latin typeface="宋体" panose="02010600030101010101" pitchFamily="2" charset="-122"/>
              </a:rPr>
              <a:t>a</a:t>
            </a:r>
            <a:r>
              <a:rPr lang="zh-CN" altLang="en-US" sz="2000" b="1" dirty="0">
                <a:latin typeface="宋体" panose="02010600030101010101" pitchFamily="2" charset="-122"/>
              </a:rPr>
              <a:t>变化的规律。</a:t>
            </a:r>
            <a:endParaRPr lang="zh-CN" altLang="en-US" sz="2000" b="1" baseline="-25000" dirty="0">
              <a:latin typeface="宋体" panose="02010600030101010101" pitchFamily="2" charset="-122"/>
            </a:endParaRPr>
          </a:p>
        </p:txBody>
      </p:sp>
      <p:grpSp>
        <p:nvGrpSpPr>
          <p:cNvPr id="96290" name="Group 34"/>
          <p:cNvGrpSpPr/>
          <p:nvPr/>
        </p:nvGrpSpPr>
        <p:grpSpPr bwMode="auto">
          <a:xfrm>
            <a:off x="4079924" y="3150870"/>
            <a:ext cx="4034106" cy="3065135"/>
            <a:chOff x="103" y="622"/>
            <a:chExt cx="2448" cy="2420"/>
          </a:xfrm>
        </p:grpSpPr>
        <p:pic>
          <p:nvPicPr>
            <p:cNvPr id="25614" name="Picture 22"/>
            <p:cNvPicPr>
              <a:picLocks noChangeAspect="1" noChangeArrowheads="1"/>
            </p:cNvPicPr>
            <p:nvPr/>
          </p:nvPicPr>
          <p:blipFill>
            <a:blip r:embed="rId4" cstate="print">
              <a:extLst>
                <a:ext uri="{28A0092B-C50C-407E-A947-70E740481C1C}">
                  <a14:useLocalDpi xmlns:a14="http://schemas.microsoft.com/office/drawing/2010/main" xmlns="" val="0"/>
                </a:ext>
              </a:extLst>
            </a:blip>
            <a:srcRect b="8188"/>
            <a:stretch>
              <a:fillRect/>
            </a:stretch>
          </p:blipFill>
          <p:spPr bwMode="auto">
            <a:xfrm>
              <a:off x="170" y="622"/>
              <a:ext cx="2381" cy="20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5615" name="Text Box 31"/>
            <p:cNvSpPr txBox="1">
              <a:spLocks noChangeArrowheads="1"/>
            </p:cNvSpPr>
            <p:nvPr/>
          </p:nvSpPr>
          <p:spPr bwMode="auto">
            <a:xfrm>
              <a:off x="1068" y="2800"/>
              <a:ext cx="772" cy="242"/>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a:t>动态公差带图</a:t>
              </a:r>
            </a:p>
          </p:txBody>
        </p:sp>
        <p:sp>
          <p:nvSpPr>
            <p:cNvPr id="25616" name="Text Box 32"/>
            <p:cNvSpPr txBox="1">
              <a:spLocks noChangeArrowheads="1"/>
            </p:cNvSpPr>
            <p:nvPr/>
          </p:nvSpPr>
          <p:spPr bwMode="auto">
            <a:xfrm>
              <a:off x="316" y="2283"/>
              <a:ext cx="236" cy="3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t>0</a:t>
              </a:r>
            </a:p>
          </p:txBody>
        </p:sp>
        <p:sp>
          <p:nvSpPr>
            <p:cNvPr id="25617" name="Text Box 33"/>
            <p:cNvSpPr txBox="1">
              <a:spLocks noChangeArrowheads="1"/>
            </p:cNvSpPr>
            <p:nvPr/>
          </p:nvSpPr>
          <p:spPr bwMode="auto">
            <a:xfrm>
              <a:off x="103" y="1665"/>
              <a:ext cx="434" cy="3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t>0.02</a:t>
              </a:r>
            </a:p>
          </p:txBody>
        </p:sp>
      </p:grpSp>
      <p:sp>
        <p:nvSpPr>
          <p:cNvPr id="96291" name="AutoShape 35"/>
          <p:cNvSpPr>
            <a:spLocks noChangeArrowheads="1"/>
          </p:cNvSpPr>
          <p:nvPr/>
        </p:nvSpPr>
        <p:spPr bwMode="auto">
          <a:xfrm>
            <a:off x="6614160" y="3059430"/>
            <a:ext cx="996950" cy="868680"/>
          </a:xfrm>
          <a:prstGeom prst="wedgeEllipseCallout">
            <a:avLst>
              <a:gd name="adj1" fmla="val -218535"/>
              <a:gd name="adj2" fmla="val 32821"/>
            </a:avLst>
          </a:prstGeom>
          <a:noFill/>
          <a:ln w="57150">
            <a:solidFill>
              <a:srgbClr val="FF330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000" b="1"/>
              <a:t>尺寸公差</a:t>
            </a:r>
          </a:p>
        </p:txBody>
      </p:sp>
      <p:graphicFrame>
        <p:nvGraphicFramePr>
          <p:cNvPr id="96292" name="Object 36"/>
          <p:cNvGraphicFramePr>
            <a:graphicFrameLocks noGrp="1" noChangeAspect="1"/>
          </p:cNvGraphicFramePr>
          <p:nvPr>
            <p:ph/>
          </p:nvPr>
        </p:nvGraphicFramePr>
        <p:xfrm>
          <a:off x="781368" y="2208562"/>
          <a:ext cx="3925887" cy="365522"/>
        </p:xfrm>
        <a:graphic>
          <a:graphicData uri="http://schemas.openxmlformats.org/presentationml/2006/ole">
            <p:oleObj spid="_x0000_s9222" name="公式" r:id="rId5" imgW="44196000" imgH="5486400" progId="">
              <p:embed/>
            </p:oleObj>
          </a:graphicData>
        </a:graphic>
      </p:graphicFrame>
      <p:graphicFrame>
        <p:nvGraphicFramePr>
          <p:cNvPr id="96294" name="Object 38"/>
          <p:cNvGraphicFramePr>
            <a:graphicFrameLocks noChangeAspect="1"/>
          </p:cNvGraphicFramePr>
          <p:nvPr/>
        </p:nvGraphicFramePr>
        <p:xfrm>
          <a:off x="4924744" y="2226734"/>
          <a:ext cx="3684587" cy="322660"/>
        </p:xfrm>
        <a:graphic>
          <a:graphicData uri="http://schemas.openxmlformats.org/presentationml/2006/ole">
            <p:oleObj spid="_x0000_s9223" name="公式" r:id="rId6" imgW="46939200" imgH="5486400" progId="">
              <p:embed/>
            </p:oleObj>
          </a:graphicData>
        </a:graphic>
      </p:graphicFrame>
      <p:graphicFrame>
        <p:nvGraphicFramePr>
          <p:cNvPr id="96295" name="Object 39"/>
          <p:cNvGraphicFramePr>
            <a:graphicFrameLocks noChangeAspect="1"/>
          </p:cNvGraphicFramePr>
          <p:nvPr/>
        </p:nvGraphicFramePr>
        <p:xfrm>
          <a:off x="773431" y="2652749"/>
          <a:ext cx="5216230" cy="362215"/>
        </p:xfrm>
        <a:graphic>
          <a:graphicData uri="http://schemas.openxmlformats.org/presentationml/2006/ole">
            <p:oleObj spid="_x0000_s9224" name="公式" r:id="rId7" imgW="62484000" imgH="5791200" progId="">
              <p:embed/>
            </p:oleObj>
          </a:graphicData>
        </a:graphic>
      </p:graphicFrame>
      <p:sp>
        <p:nvSpPr>
          <p:cNvPr id="96296" name="Line 40"/>
          <p:cNvSpPr>
            <a:spLocks noChangeShapeType="1"/>
          </p:cNvSpPr>
          <p:nvPr/>
        </p:nvSpPr>
        <p:spPr bwMode="auto">
          <a:xfrm>
            <a:off x="6093460" y="5834380"/>
            <a:ext cx="783590" cy="5715"/>
          </a:xfrm>
          <a:prstGeom prst="line">
            <a:avLst/>
          </a:prstGeom>
          <a:noFill/>
          <a:ln w="57150">
            <a:solidFill>
              <a:srgbClr val="D60093"/>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96298" name="Line 42"/>
          <p:cNvSpPr>
            <a:spLocks noChangeShapeType="1"/>
          </p:cNvSpPr>
          <p:nvPr/>
        </p:nvSpPr>
        <p:spPr bwMode="auto">
          <a:xfrm>
            <a:off x="6428240" y="4651623"/>
            <a:ext cx="0" cy="828000"/>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96299" name="Line 43"/>
          <p:cNvSpPr>
            <a:spLocks noChangeShapeType="1"/>
          </p:cNvSpPr>
          <p:nvPr/>
        </p:nvSpPr>
        <p:spPr bwMode="auto">
          <a:xfrm>
            <a:off x="4711692" y="4671382"/>
            <a:ext cx="1728000" cy="0"/>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0" name="TextBox 19"/>
          <p:cNvSpPr txBox="1"/>
          <p:nvPr/>
        </p:nvSpPr>
        <p:spPr>
          <a:xfrm>
            <a:off x="6052185" y="5464175"/>
            <a:ext cx="817245" cy="368300"/>
          </a:xfrm>
          <a:prstGeom prst="rect">
            <a:avLst/>
          </a:prstGeom>
          <a:noFill/>
        </p:spPr>
        <p:txBody>
          <a:bodyPr wrap="square" rtlCol="0">
            <a:spAutoFit/>
          </a:bodyPr>
          <a:lstStyle/>
          <a:p>
            <a:r>
              <a:rPr lang="en-US" altLang="zh-CN" sz="1800" dirty="0" smtClean="0"/>
              <a:t>149.98</a:t>
            </a:r>
          </a:p>
        </p:txBody>
      </p:sp>
      <p:cxnSp>
        <p:nvCxnSpPr>
          <p:cNvPr id="21" name="直接连接符 20"/>
          <p:cNvCxnSpPr/>
          <p:nvPr/>
        </p:nvCxnSpPr>
        <p:spPr bwMode="auto">
          <a:xfrm flipV="1">
            <a:off x="222389" y="90018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2" name="Text Box 4"/>
          <p:cNvSpPr txBox="1">
            <a:spLocks noChangeArrowheads="1"/>
          </p:cNvSpPr>
          <p:nvPr/>
        </p:nvSpPr>
        <p:spPr bwMode="auto">
          <a:xfrm>
            <a:off x="478791" y="351680"/>
            <a:ext cx="428307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4.3.3 </a:t>
            </a:r>
            <a:r>
              <a:rPr lang="zh-CN" altLang="en-US" b="1" dirty="0">
                <a:latin typeface="宋体" panose="02010600030101010101" pitchFamily="2" charset="-122"/>
              </a:rPr>
              <a:t>包容要求（</a:t>
            </a:r>
            <a:r>
              <a:rPr lang="en-US" altLang="zh-CN" b="1" dirty="0">
                <a:latin typeface="宋体" panose="02010600030101010101" pitchFamily="2" charset="-122"/>
              </a:rPr>
              <a:t>ER）</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6260"/>
                                        </p:tgtEl>
                                        <p:attrNameLst>
                                          <p:attrName>style.visibility</p:attrName>
                                        </p:attrNameLst>
                                      </p:cBhvr>
                                      <p:to>
                                        <p:strVal val="visible"/>
                                      </p:to>
                                    </p:set>
                                    <p:animEffect transition="in" filter="wipe(left)">
                                      <p:cBhvr>
                                        <p:cTn id="7" dur="300"/>
                                        <p:tgtEl>
                                          <p:spTgt spid="9626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96261"/>
                                        </p:tgtEl>
                                        <p:attrNameLst>
                                          <p:attrName>style.visibility</p:attrName>
                                        </p:attrNameLst>
                                      </p:cBhvr>
                                      <p:to>
                                        <p:strVal val="visible"/>
                                      </p:to>
                                    </p:set>
                                    <p:anim calcmode="lin" valueType="num">
                                      <p:cBhvr additive="base">
                                        <p:cTn id="12" dur="500" fill="hold"/>
                                        <p:tgtEl>
                                          <p:spTgt spid="96261"/>
                                        </p:tgtEl>
                                        <p:attrNameLst>
                                          <p:attrName>ppt_x</p:attrName>
                                        </p:attrNameLst>
                                      </p:cBhvr>
                                      <p:tavLst>
                                        <p:tav tm="0">
                                          <p:val>
                                            <p:strVal val="0-#ppt_w/2"/>
                                          </p:val>
                                        </p:tav>
                                        <p:tav tm="100000">
                                          <p:val>
                                            <p:strVal val="#ppt_x"/>
                                          </p:val>
                                        </p:tav>
                                      </p:tavLst>
                                    </p:anim>
                                    <p:anim calcmode="lin" valueType="num">
                                      <p:cBhvr additive="base">
                                        <p:cTn id="13" dur="500" fill="hold"/>
                                        <p:tgtEl>
                                          <p:spTgt spid="9626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6" fill="hold" nodeType="clickEffect">
                                  <p:stCondLst>
                                    <p:cond delay="0"/>
                                  </p:stCondLst>
                                  <p:childTnLst>
                                    <p:set>
                                      <p:cBhvr>
                                        <p:cTn id="17" dur="1" fill="hold">
                                          <p:stCondLst>
                                            <p:cond delay="0"/>
                                          </p:stCondLst>
                                        </p:cTn>
                                        <p:tgtEl>
                                          <p:spTgt spid="96290"/>
                                        </p:tgtEl>
                                        <p:attrNameLst>
                                          <p:attrName>style.visibility</p:attrName>
                                        </p:attrNameLst>
                                      </p:cBhvr>
                                      <p:to>
                                        <p:strVal val="visible"/>
                                      </p:to>
                                    </p:set>
                                    <p:anim calcmode="lin" valueType="num">
                                      <p:cBhvr additive="base">
                                        <p:cTn id="18" dur="2000" fill="hold"/>
                                        <p:tgtEl>
                                          <p:spTgt spid="96290"/>
                                        </p:tgtEl>
                                        <p:attrNameLst>
                                          <p:attrName>ppt_x</p:attrName>
                                        </p:attrNameLst>
                                      </p:cBhvr>
                                      <p:tavLst>
                                        <p:tav tm="0">
                                          <p:val>
                                            <p:strVal val="1+#ppt_w/2"/>
                                          </p:val>
                                        </p:tav>
                                        <p:tav tm="100000">
                                          <p:val>
                                            <p:strVal val="#ppt_x"/>
                                          </p:val>
                                        </p:tav>
                                      </p:tavLst>
                                    </p:anim>
                                    <p:anim calcmode="lin" valueType="num">
                                      <p:cBhvr additive="base">
                                        <p:cTn id="19" dur="2000" fill="hold"/>
                                        <p:tgtEl>
                                          <p:spTgt spid="9629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iterate type="wd">
                                    <p:tmPct val="100000"/>
                                  </p:iterate>
                                  <p:childTnLst>
                                    <p:set>
                                      <p:cBhvr>
                                        <p:cTn id="23" dur="1" fill="hold">
                                          <p:stCondLst>
                                            <p:cond delay="0"/>
                                          </p:stCondLst>
                                        </p:cTn>
                                        <p:tgtEl>
                                          <p:spTgt spid="96267"/>
                                        </p:tgtEl>
                                        <p:attrNameLst>
                                          <p:attrName>style.visibility</p:attrName>
                                        </p:attrNameLst>
                                      </p:cBhvr>
                                      <p:to>
                                        <p:strVal val="visible"/>
                                      </p:to>
                                    </p:set>
                                    <p:animEffect transition="in" filter="wipe(left)">
                                      <p:cBhvr>
                                        <p:cTn id="24" dur="300"/>
                                        <p:tgtEl>
                                          <p:spTgt spid="9626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96292"/>
                                        </p:tgtEl>
                                        <p:attrNameLst>
                                          <p:attrName>style.visibility</p:attrName>
                                        </p:attrNameLst>
                                      </p:cBhvr>
                                      <p:to>
                                        <p:strVal val="visible"/>
                                      </p:to>
                                    </p:set>
                                    <p:animEffect transition="in" filter="wipe(left)">
                                      <p:cBhvr>
                                        <p:cTn id="29" dur="2000"/>
                                        <p:tgtEl>
                                          <p:spTgt spid="9629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6296"/>
                                        </p:tgtEl>
                                        <p:attrNameLst>
                                          <p:attrName>style.visibility</p:attrName>
                                        </p:attrNameLst>
                                      </p:cBhvr>
                                      <p:to>
                                        <p:strVal val="visible"/>
                                      </p:to>
                                    </p:set>
                                    <p:animEffect transition="in" filter="wipe(left)">
                                      <p:cBhvr>
                                        <p:cTn id="34" dur="3000"/>
                                        <p:tgtEl>
                                          <p:spTgt spid="9629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96294"/>
                                        </p:tgtEl>
                                        <p:attrNameLst>
                                          <p:attrName>style.visibility</p:attrName>
                                        </p:attrNameLst>
                                      </p:cBhvr>
                                      <p:to>
                                        <p:strVal val="visible"/>
                                      </p:to>
                                    </p:set>
                                    <p:animEffect transition="in" filter="wipe(left)">
                                      <p:cBhvr>
                                        <p:cTn id="39" dur="2000"/>
                                        <p:tgtEl>
                                          <p:spTgt spid="9629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96298"/>
                                        </p:tgtEl>
                                        <p:attrNameLst>
                                          <p:attrName>style.visibility</p:attrName>
                                        </p:attrNameLst>
                                      </p:cBhvr>
                                      <p:to>
                                        <p:strVal val="visible"/>
                                      </p:to>
                                    </p:set>
                                    <p:animEffect transition="in" filter="wipe(down)">
                                      <p:cBhvr>
                                        <p:cTn id="44" dur="2000"/>
                                        <p:tgtEl>
                                          <p:spTgt spid="9629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96299"/>
                                        </p:tgtEl>
                                        <p:attrNameLst>
                                          <p:attrName>style.visibility</p:attrName>
                                        </p:attrNameLst>
                                      </p:cBhvr>
                                      <p:to>
                                        <p:strVal val="visible"/>
                                      </p:to>
                                    </p:set>
                                    <p:animEffect transition="in" filter="wipe(right)">
                                      <p:cBhvr>
                                        <p:cTn id="49" dur="2000"/>
                                        <p:tgtEl>
                                          <p:spTgt spid="9629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96295"/>
                                        </p:tgtEl>
                                        <p:attrNameLst>
                                          <p:attrName>style.visibility</p:attrName>
                                        </p:attrNameLst>
                                      </p:cBhvr>
                                      <p:to>
                                        <p:strVal val="visible"/>
                                      </p:to>
                                    </p:set>
                                    <p:animEffect transition="in" filter="wipe(left)">
                                      <p:cBhvr>
                                        <p:cTn id="54" dur="1000"/>
                                        <p:tgtEl>
                                          <p:spTgt spid="96295"/>
                                        </p:tgtEl>
                                      </p:cBhvr>
                                    </p:animEffect>
                                  </p:childTnLst>
                                </p:cTn>
                              </p:par>
                            </p:childTnLst>
                          </p:cTn>
                        </p:par>
                      </p:childTnLst>
                    </p:cTn>
                  </p:par>
                  <p:par>
                    <p:cTn id="55" fill="hold">
                      <p:stCondLst>
                        <p:cond delay="indefinite"/>
                      </p:stCondLst>
                      <p:childTnLst>
                        <p:par>
                          <p:cTn id="56" fill="hold">
                            <p:stCondLst>
                              <p:cond delay="0"/>
                            </p:stCondLst>
                            <p:childTnLst>
                              <p:par>
                                <p:cTn id="57" presetID="17" presetClass="entr" presetSubtype="2" fill="hold" grpId="0" nodeType="clickEffect">
                                  <p:stCondLst>
                                    <p:cond delay="0"/>
                                  </p:stCondLst>
                                  <p:childTnLst>
                                    <p:set>
                                      <p:cBhvr>
                                        <p:cTn id="58" dur="1" fill="hold">
                                          <p:stCondLst>
                                            <p:cond delay="0"/>
                                          </p:stCondLst>
                                        </p:cTn>
                                        <p:tgtEl>
                                          <p:spTgt spid="96291"/>
                                        </p:tgtEl>
                                        <p:attrNameLst>
                                          <p:attrName>style.visibility</p:attrName>
                                        </p:attrNameLst>
                                      </p:cBhvr>
                                      <p:to>
                                        <p:strVal val="visible"/>
                                      </p:to>
                                    </p:set>
                                    <p:anim calcmode="lin" valueType="num">
                                      <p:cBhvr>
                                        <p:cTn id="59" dur="500" fill="hold"/>
                                        <p:tgtEl>
                                          <p:spTgt spid="96291"/>
                                        </p:tgtEl>
                                        <p:attrNameLst>
                                          <p:attrName>ppt_x</p:attrName>
                                        </p:attrNameLst>
                                      </p:cBhvr>
                                      <p:tavLst>
                                        <p:tav tm="0">
                                          <p:val>
                                            <p:strVal val="#ppt_x+#ppt_w/2"/>
                                          </p:val>
                                        </p:tav>
                                        <p:tav tm="100000">
                                          <p:val>
                                            <p:strVal val="#ppt_x"/>
                                          </p:val>
                                        </p:tav>
                                      </p:tavLst>
                                    </p:anim>
                                    <p:anim calcmode="lin" valueType="num">
                                      <p:cBhvr>
                                        <p:cTn id="60" dur="500" fill="hold"/>
                                        <p:tgtEl>
                                          <p:spTgt spid="96291"/>
                                        </p:tgtEl>
                                        <p:attrNameLst>
                                          <p:attrName>ppt_y</p:attrName>
                                        </p:attrNameLst>
                                      </p:cBhvr>
                                      <p:tavLst>
                                        <p:tav tm="0">
                                          <p:val>
                                            <p:strVal val="#ppt_y"/>
                                          </p:val>
                                        </p:tav>
                                        <p:tav tm="100000">
                                          <p:val>
                                            <p:strVal val="#ppt_y"/>
                                          </p:val>
                                        </p:tav>
                                      </p:tavLst>
                                    </p:anim>
                                    <p:anim calcmode="lin" valueType="num">
                                      <p:cBhvr>
                                        <p:cTn id="61" dur="500" fill="hold"/>
                                        <p:tgtEl>
                                          <p:spTgt spid="96291"/>
                                        </p:tgtEl>
                                        <p:attrNameLst>
                                          <p:attrName>ppt_w</p:attrName>
                                        </p:attrNameLst>
                                      </p:cBhvr>
                                      <p:tavLst>
                                        <p:tav tm="0">
                                          <p:val>
                                            <p:fltVal val="0"/>
                                          </p:val>
                                        </p:tav>
                                        <p:tav tm="100000">
                                          <p:val>
                                            <p:strVal val="#ppt_w"/>
                                          </p:val>
                                        </p:tav>
                                      </p:tavLst>
                                    </p:anim>
                                    <p:anim calcmode="lin" valueType="num">
                                      <p:cBhvr>
                                        <p:cTn id="62" dur="500" fill="hold"/>
                                        <p:tgtEl>
                                          <p:spTgt spid="96291"/>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checkerboard(across)">
                                      <p:cBhvr>
                                        <p:cTn id="67" dur="500"/>
                                        <p:tgtEl>
                                          <p:spTgt spid="20"/>
                                        </p:tgtEl>
                                      </p:cBhvr>
                                    </p:animEffect>
                                  </p:childTnLst>
                                </p:cTn>
                              </p:par>
                            </p:childTnLst>
                          </p:cTn>
                        </p:par>
                        <p:par>
                          <p:cTn id="68" fill="hold">
                            <p:stCondLst>
                              <p:cond delay="500"/>
                            </p:stCondLst>
                            <p:childTnLst>
                              <p:par>
                                <p:cTn id="69" presetID="22" presetClass="entr" presetSubtype="8" fill="hold" grpId="0" nodeType="afterEffect">
                                  <p:stCondLst>
                                    <p:cond delay="0"/>
                                  </p:stCondLst>
                                  <p:iterate type="wd">
                                    <p:tmPct val="100000"/>
                                  </p:iterate>
                                  <p:childTnLst>
                                    <p:set>
                                      <p:cBhvr>
                                        <p:cTn id="70" dur="1" fill="hold">
                                          <p:stCondLst>
                                            <p:cond delay="0"/>
                                          </p:stCondLst>
                                        </p:cTn>
                                        <p:tgtEl>
                                          <p:spTgt spid="22">
                                            <p:txEl>
                                              <p:pRg st="0" end="0"/>
                                            </p:txEl>
                                          </p:spTgt>
                                        </p:tgtEl>
                                        <p:attrNameLst>
                                          <p:attrName>style.visibility</p:attrName>
                                        </p:attrNameLst>
                                      </p:cBhvr>
                                      <p:to>
                                        <p:strVal val="visible"/>
                                      </p:to>
                                    </p:set>
                                    <p:animEffect transition="in" filter="wipe(left)">
                                      <p:cBhvr>
                                        <p:cTn id="71" dur="3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bldLvl="0" animBg="1" autoUpdateAnimBg="0"/>
      <p:bldP spid="96267" grpId="0" bldLvl="0" animBg="1" autoUpdateAnimBg="0"/>
      <p:bldP spid="96291" grpId="0" bldLvl="0" animBg="1" autoUpdateAnimBg="0"/>
      <p:bldP spid="96296" grpId="0" bldLvl="0" animBg="1"/>
      <p:bldP spid="96298" grpId="0" bldLvl="0" animBg="1"/>
      <p:bldP spid="96299" grpId="0" bldLvl="0" animBg="1"/>
      <p:bldP spid="20" grpId="0"/>
      <p:bldP spid="20" grpId="1"/>
      <p:bldP spid="22"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03" name="Text Box 15"/>
          <p:cNvSpPr txBox="1">
            <a:spLocks noChangeArrowheads="1"/>
          </p:cNvSpPr>
          <p:nvPr/>
        </p:nvSpPr>
        <p:spPr bwMode="auto">
          <a:xfrm>
            <a:off x="633450" y="1121038"/>
            <a:ext cx="633751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smtClean="0"/>
              <a:t>对</a:t>
            </a:r>
            <a:r>
              <a:rPr lang="zh-CN" altLang="en-US" sz="2000" b="1" dirty="0"/>
              <a:t>轴、孔有包容要求时，其合格条件由以下公式给出</a:t>
            </a:r>
          </a:p>
        </p:txBody>
      </p:sp>
      <p:graphicFrame>
        <p:nvGraphicFramePr>
          <p:cNvPr id="63504" name="Object 16"/>
          <p:cNvGraphicFramePr>
            <a:graphicFrameLocks noChangeAspect="1"/>
          </p:cNvGraphicFramePr>
          <p:nvPr/>
        </p:nvGraphicFramePr>
        <p:xfrm>
          <a:off x="1383030" y="1659304"/>
          <a:ext cx="4828540" cy="1002665"/>
        </p:xfrm>
        <a:graphic>
          <a:graphicData uri="http://schemas.openxmlformats.org/presentationml/2006/ole">
            <p:oleObj spid="_x0000_s10247" name="公式" r:id="rId3" imgW="42367200" imgH="11582400" progId="">
              <p:embed/>
            </p:oleObj>
          </a:graphicData>
        </a:graphic>
      </p:graphicFrame>
      <p:graphicFrame>
        <p:nvGraphicFramePr>
          <p:cNvPr id="63505" name="Object 17"/>
          <p:cNvGraphicFramePr>
            <a:graphicFrameLocks noChangeAspect="1"/>
          </p:cNvGraphicFramePr>
          <p:nvPr/>
        </p:nvGraphicFramePr>
        <p:xfrm>
          <a:off x="1913890" y="2886124"/>
          <a:ext cx="4897120" cy="918210"/>
        </p:xfrm>
        <a:graphic>
          <a:graphicData uri="http://schemas.openxmlformats.org/presentationml/2006/ole">
            <p:oleObj spid="_x0000_s10248" name="公式" r:id="rId4" imgW="46939200" imgH="11582400" progId="">
              <p:embed/>
            </p:oleObj>
          </a:graphicData>
        </a:graphic>
      </p:graphicFrame>
      <p:graphicFrame>
        <p:nvGraphicFramePr>
          <p:cNvPr id="63506" name="Object 18"/>
          <p:cNvGraphicFramePr>
            <a:graphicFrameLocks noChangeAspect="1"/>
          </p:cNvGraphicFramePr>
          <p:nvPr/>
        </p:nvGraphicFramePr>
        <p:xfrm>
          <a:off x="1383030" y="3928794"/>
          <a:ext cx="4828540" cy="989330"/>
        </p:xfrm>
        <a:graphic>
          <a:graphicData uri="http://schemas.openxmlformats.org/presentationml/2006/ole">
            <p:oleObj spid="_x0000_s10249" name="公式" r:id="rId5" imgW="42976800" imgH="11582400" progId="">
              <p:embed/>
            </p:oleObj>
          </a:graphicData>
        </a:graphic>
      </p:graphicFrame>
      <p:graphicFrame>
        <p:nvGraphicFramePr>
          <p:cNvPr id="63507" name="Object 19"/>
          <p:cNvGraphicFramePr>
            <a:graphicFrameLocks noChangeAspect="1"/>
          </p:cNvGraphicFramePr>
          <p:nvPr/>
        </p:nvGraphicFramePr>
        <p:xfrm>
          <a:off x="1956922" y="5061634"/>
          <a:ext cx="4970780" cy="926465"/>
        </p:xfrm>
        <a:graphic>
          <a:graphicData uri="http://schemas.openxmlformats.org/presentationml/2006/ole">
            <p:oleObj spid="_x0000_s10250" name="公式" r:id="rId6" imgW="47244000" imgH="11582400" progId="">
              <p:embed/>
            </p:oleObj>
          </a:graphicData>
        </a:graphic>
      </p:graphicFrame>
      <p:cxnSp>
        <p:nvCxnSpPr>
          <p:cNvPr id="8" name="直接连接符 7"/>
          <p:cNvCxnSpPr/>
          <p:nvPr/>
        </p:nvCxnSpPr>
        <p:spPr bwMode="auto">
          <a:xfrm flipV="1">
            <a:off x="205879" y="89502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9" name="Text Box 4"/>
          <p:cNvSpPr txBox="1">
            <a:spLocks noChangeArrowheads="1"/>
          </p:cNvSpPr>
          <p:nvPr/>
        </p:nvSpPr>
        <p:spPr bwMode="auto">
          <a:xfrm>
            <a:off x="478791" y="351680"/>
            <a:ext cx="428307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4.3.3 </a:t>
            </a:r>
            <a:r>
              <a:rPr lang="zh-CN" altLang="en-US" b="1" dirty="0">
                <a:latin typeface="宋体" panose="02010600030101010101" pitchFamily="2" charset="-122"/>
              </a:rPr>
              <a:t>包容要求（</a:t>
            </a:r>
            <a:r>
              <a:rPr lang="en-US" altLang="zh-CN" b="1" dirty="0">
                <a:latin typeface="宋体" panose="02010600030101010101" pitchFamily="2" charset="-122"/>
              </a:rPr>
              <a:t>ER）</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503"/>
                                        </p:tgtEl>
                                        <p:attrNameLst>
                                          <p:attrName>style.visibility</p:attrName>
                                        </p:attrNameLst>
                                      </p:cBhvr>
                                      <p:to>
                                        <p:strVal val="visible"/>
                                      </p:to>
                                    </p:set>
                                    <p:animEffect transition="in" filter="wipe(left)">
                                      <p:cBhvr>
                                        <p:cTn id="7" dur="2000"/>
                                        <p:tgtEl>
                                          <p:spTgt spid="635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3504"/>
                                        </p:tgtEl>
                                        <p:attrNameLst>
                                          <p:attrName>style.visibility</p:attrName>
                                        </p:attrNameLst>
                                      </p:cBhvr>
                                      <p:to>
                                        <p:strVal val="visible"/>
                                      </p:to>
                                    </p:set>
                                    <p:animEffect transition="in" filter="wipe(left)">
                                      <p:cBhvr>
                                        <p:cTn id="12" dur="2000"/>
                                        <p:tgtEl>
                                          <p:spTgt spid="635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3505"/>
                                        </p:tgtEl>
                                        <p:attrNameLst>
                                          <p:attrName>style.visibility</p:attrName>
                                        </p:attrNameLst>
                                      </p:cBhvr>
                                      <p:to>
                                        <p:strVal val="visible"/>
                                      </p:to>
                                    </p:set>
                                    <p:animEffect transition="in" filter="wipe(left)">
                                      <p:cBhvr>
                                        <p:cTn id="17" dur="2000"/>
                                        <p:tgtEl>
                                          <p:spTgt spid="6350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3506"/>
                                        </p:tgtEl>
                                        <p:attrNameLst>
                                          <p:attrName>style.visibility</p:attrName>
                                        </p:attrNameLst>
                                      </p:cBhvr>
                                      <p:to>
                                        <p:strVal val="visible"/>
                                      </p:to>
                                    </p:set>
                                    <p:animEffect transition="in" filter="wipe(left)">
                                      <p:cBhvr>
                                        <p:cTn id="22" dur="2000"/>
                                        <p:tgtEl>
                                          <p:spTgt spid="6350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3507"/>
                                        </p:tgtEl>
                                        <p:attrNameLst>
                                          <p:attrName>style.visibility</p:attrName>
                                        </p:attrNameLst>
                                      </p:cBhvr>
                                      <p:to>
                                        <p:strVal val="visible"/>
                                      </p:to>
                                    </p:set>
                                    <p:animEffect transition="in" filter="wipe(left)">
                                      <p:cBhvr>
                                        <p:cTn id="27" dur="2000"/>
                                        <p:tgtEl>
                                          <p:spTgt spid="63507"/>
                                        </p:tgtEl>
                                      </p:cBhvr>
                                    </p:animEffect>
                                  </p:childTnLst>
                                </p:cTn>
                              </p:par>
                            </p:childTnLst>
                          </p:cTn>
                        </p:par>
                        <p:par>
                          <p:cTn id="28" fill="hold">
                            <p:stCondLst>
                              <p:cond delay="2000"/>
                            </p:stCondLst>
                            <p:childTnLst>
                              <p:par>
                                <p:cTn id="29" presetID="22" presetClass="entr" presetSubtype="8" fill="hold" grpId="0" nodeType="afterEffect">
                                  <p:stCondLst>
                                    <p:cond delay="0"/>
                                  </p:stCondLst>
                                  <p:iterate type="wd">
                                    <p:tmPct val="100000"/>
                                  </p:iterate>
                                  <p:childTnLst>
                                    <p:set>
                                      <p:cBhvr>
                                        <p:cTn id="30" dur="1" fill="hold">
                                          <p:stCondLst>
                                            <p:cond delay="0"/>
                                          </p:stCondLst>
                                        </p:cTn>
                                        <p:tgtEl>
                                          <p:spTgt spid="9">
                                            <p:txEl>
                                              <p:pRg st="0" end="0"/>
                                            </p:txEl>
                                          </p:spTgt>
                                        </p:tgtEl>
                                        <p:attrNameLst>
                                          <p:attrName>style.visibility</p:attrName>
                                        </p:attrNameLst>
                                      </p:cBhvr>
                                      <p:to>
                                        <p:strVal val="visible"/>
                                      </p:to>
                                    </p:set>
                                    <p:animEffect transition="in" filter="wipe(left)">
                                      <p:cBhvr>
                                        <p:cTn id="31" dur="3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3" grpId="0" bldLvl="0" animBg="1"/>
      <p:bldP spid="9"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0" name="Text Box 12"/>
          <p:cNvSpPr txBox="1">
            <a:spLocks noChangeArrowheads="1"/>
          </p:cNvSpPr>
          <p:nvPr/>
        </p:nvSpPr>
        <p:spPr bwMode="auto">
          <a:xfrm>
            <a:off x="975538" y="1363636"/>
            <a:ext cx="2338705"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其合格条件为</a:t>
            </a:r>
          </a:p>
        </p:txBody>
      </p:sp>
      <p:graphicFrame>
        <p:nvGraphicFramePr>
          <p:cNvPr id="12303" name="Object 15"/>
          <p:cNvGraphicFramePr>
            <a:graphicFrameLocks noChangeAspect="1"/>
          </p:cNvGraphicFramePr>
          <p:nvPr/>
        </p:nvGraphicFramePr>
        <p:xfrm>
          <a:off x="1468275" y="2234090"/>
          <a:ext cx="2148205" cy="1094105"/>
        </p:xfrm>
        <a:graphic>
          <a:graphicData uri="http://schemas.openxmlformats.org/presentationml/2006/ole">
            <p:oleObj spid="_x0000_s11269" name="公式" r:id="rId3" imgW="23774400" imgH="16154400" progId="">
              <p:embed/>
            </p:oleObj>
          </a:graphicData>
        </a:graphic>
      </p:graphicFrame>
      <p:graphicFrame>
        <p:nvGraphicFramePr>
          <p:cNvPr id="12304" name="Object 16"/>
          <p:cNvGraphicFramePr>
            <a:graphicFrameLocks noChangeAspect="1"/>
          </p:cNvGraphicFramePr>
          <p:nvPr/>
        </p:nvGraphicFramePr>
        <p:xfrm>
          <a:off x="1122547" y="3957955"/>
          <a:ext cx="4953635" cy="395605"/>
        </p:xfrm>
        <a:graphic>
          <a:graphicData uri="http://schemas.openxmlformats.org/presentationml/2006/ole">
            <p:oleObj spid="_x0000_s11270" name="公式" r:id="rId4" imgW="51511200" imgH="5486400" progId="">
              <p:embed/>
            </p:oleObj>
          </a:graphicData>
        </a:graphic>
      </p:graphicFrame>
      <p:sp>
        <p:nvSpPr>
          <p:cNvPr id="12308" name="Text Box 20"/>
          <p:cNvSpPr txBox="1">
            <a:spLocks noChangeArrowheads="1"/>
          </p:cNvSpPr>
          <p:nvPr/>
        </p:nvSpPr>
        <p:spPr bwMode="auto">
          <a:xfrm>
            <a:off x="1071191" y="4618990"/>
            <a:ext cx="6010275"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FF3300"/>
                </a:solidFill>
              </a:rPr>
              <a:t>应用</a:t>
            </a:r>
            <a:r>
              <a:rPr lang="zh-CN" altLang="en-US" sz="2000" b="1" dirty="0"/>
              <a:t>：包容要求应用于有配合性质要求的要素。       </a:t>
            </a:r>
          </a:p>
        </p:txBody>
      </p:sp>
      <p:sp>
        <p:nvSpPr>
          <p:cNvPr id="12309" name="Text Box 21"/>
          <p:cNvSpPr txBox="1">
            <a:spLocks noChangeArrowheads="1"/>
          </p:cNvSpPr>
          <p:nvPr/>
        </p:nvSpPr>
        <p:spPr bwMode="auto">
          <a:xfrm>
            <a:off x="1069286" y="5125085"/>
            <a:ext cx="5927090"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FF3300"/>
                </a:solidFill>
              </a:rPr>
              <a:t>检测</a:t>
            </a:r>
            <a:r>
              <a:rPr lang="zh-CN" altLang="en-US" sz="2000" b="1" dirty="0"/>
              <a:t>：包容要求一般用</a:t>
            </a:r>
            <a:r>
              <a:rPr lang="zh-CN" altLang="en-US" sz="2000" b="1" dirty="0" smtClean="0"/>
              <a:t>光滑极限</a:t>
            </a:r>
            <a:r>
              <a:rPr lang="zh-CN" altLang="en-US" sz="2000" b="1" dirty="0"/>
              <a:t>量规检验。</a:t>
            </a:r>
          </a:p>
        </p:txBody>
      </p:sp>
      <p:grpSp>
        <p:nvGrpSpPr>
          <p:cNvPr id="12337" name="Group 49"/>
          <p:cNvGrpSpPr/>
          <p:nvPr/>
        </p:nvGrpSpPr>
        <p:grpSpPr bwMode="auto">
          <a:xfrm>
            <a:off x="4511040" y="1170663"/>
            <a:ext cx="3153970" cy="2505271"/>
            <a:chOff x="2685" y="2"/>
            <a:chExt cx="2471" cy="2415"/>
          </a:xfrm>
        </p:grpSpPr>
        <p:pic>
          <p:nvPicPr>
            <p:cNvPr id="27658" name="Picture 47"/>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685" y="2"/>
              <a:ext cx="2471" cy="24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7659" name="Text Box 48"/>
            <p:cNvSpPr txBox="1">
              <a:spLocks noChangeArrowheads="1"/>
            </p:cNvSpPr>
            <p:nvPr/>
          </p:nvSpPr>
          <p:spPr bwMode="auto">
            <a:xfrm>
              <a:off x="3280" y="1990"/>
              <a:ext cx="1443" cy="34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smtClean="0"/>
                <a:t>（</a:t>
              </a:r>
              <a:r>
                <a:rPr lang="en-US" altLang="zh-CN" sz="1800" b="1" dirty="0" smtClean="0"/>
                <a:t>a</a:t>
              </a:r>
              <a:r>
                <a:rPr lang="zh-CN" altLang="en-US" sz="1800" b="1" dirty="0" smtClean="0"/>
                <a:t>）</a:t>
              </a:r>
              <a:r>
                <a:rPr lang="en-US" altLang="zh-CN" sz="1800" b="1" dirty="0" smtClean="0"/>
                <a:t> </a:t>
              </a:r>
              <a:r>
                <a:rPr lang="zh-CN" altLang="en-US" sz="1800" b="1" dirty="0"/>
                <a:t>包容要求</a:t>
              </a:r>
            </a:p>
          </p:txBody>
        </p:sp>
      </p:grpSp>
      <p:sp>
        <p:nvSpPr>
          <p:cNvPr id="11" name="Text Box 4"/>
          <p:cNvSpPr txBox="1">
            <a:spLocks noChangeArrowheads="1"/>
          </p:cNvSpPr>
          <p:nvPr/>
        </p:nvSpPr>
        <p:spPr bwMode="auto">
          <a:xfrm>
            <a:off x="478791" y="351680"/>
            <a:ext cx="428307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4.3.3 </a:t>
            </a:r>
            <a:r>
              <a:rPr lang="zh-CN" altLang="en-US" b="1" dirty="0">
                <a:latin typeface="宋体" panose="02010600030101010101" pitchFamily="2" charset="-122"/>
              </a:rPr>
              <a:t>包容要求（</a:t>
            </a:r>
            <a:r>
              <a:rPr lang="en-US" altLang="zh-CN" b="1" dirty="0">
                <a:latin typeface="宋体" panose="02010600030101010101" pitchFamily="2" charset="-122"/>
              </a:rPr>
              <a:t>ER）</a:t>
            </a:r>
            <a:endParaRPr lang="zh-CN" altLang="en-US" b="1" dirty="0"/>
          </a:p>
        </p:txBody>
      </p:sp>
      <p:cxnSp>
        <p:nvCxnSpPr>
          <p:cNvPr id="12" name="直接连接符 11"/>
          <p:cNvCxnSpPr/>
          <p:nvPr/>
        </p:nvCxnSpPr>
        <p:spPr bwMode="auto">
          <a:xfrm flipV="1">
            <a:off x="205879" y="89502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2337"/>
                                        </p:tgtEl>
                                        <p:attrNameLst>
                                          <p:attrName>style.visibility</p:attrName>
                                        </p:attrNameLst>
                                      </p:cBhvr>
                                      <p:to>
                                        <p:strVal val="visible"/>
                                      </p:to>
                                    </p:set>
                                    <p:anim calcmode="lin" valueType="num">
                                      <p:cBhvr additive="base">
                                        <p:cTn id="7" dur="2000" fill="hold"/>
                                        <p:tgtEl>
                                          <p:spTgt spid="12337"/>
                                        </p:tgtEl>
                                        <p:attrNameLst>
                                          <p:attrName>ppt_x</p:attrName>
                                        </p:attrNameLst>
                                      </p:cBhvr>
                                      <p:tavLst>
                                        <p:tav tm="0">
                                          <p:val>
                                            <p:strVal val="1+#ppt_w/2"/>
                                          </p:val>
                                        </p:tav>
                                        <p:tav tm="100000">
                                          <p:val>
                                            <p:strVal val="#ppt_x"/>
                                          </p:val>
                                        </p:tav>
                                      </p:tavLst>
                                    </p:anim>
                                    <p:anim calcmode="lin" valueType="num">
                                      <p:cBhvr additive="base">
                                        <p:cTn id="8" dur="2000" fill="hold"/>
                                        <p:tgtEl>
                                          <p:spTgt spid="123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12300"/>
                                        </p:tgtEl>
                                        <p:attrNameLst>
                                          <p:attrName>style.visibility</p:attrName>
                                        </p:attrNameLst>
                                      </p:cBhvr>
                                      <p:to>
                                        <p:strVal val="visible"/>
                                      </p:to>
                                    </p:set>
                                    <p:animEffect transition="in" filter="wipe(left)">
                                      <p:cBhvr>
                                        <p:cTn id="13" dur="300"/>
                                        <p:tgtEl>
                                          <p:spTgt spid="1230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2303"/>
                                        </p:tgtEl>
                                        <p:attrNameLst>
                                          <p:attrName>style.visibility</p:attrName>
                                        </p:attrNameLst>
                                      </p:cBhvr>
                                      <p:to>
                                        <p:strVal val="visible"/>
                                      </p:to>
                                    </p:set>
                                    <p:animEffect transition="in" filter="wipe(left)">
                                      <p:cBhvr>
                                        <p:cTn id="18" dur="500"/>
                                        <p:tgtEl>
                                          <p:spTgt spid="1230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2304"/>
                                        </p:tgtEl>
                                        <p:attrNameLst>
                                          <p:attrName>style.visibility</p:attrName>
                                        </p:attrNameLst>
                                      </p:cBhvr>
                                      <p:to>
                                        <p:strVal val="visible"/>
                                      </p:to>
                                    </p:set>
                                    <p:animEffect transition="in" filter="wipe(left)">
                                      <p:cBhvr>
                                        <p:cTn id="23" dur="500"/>
                                        <p:tgtEl>
                                          <p:spTgt spid="1230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12308"/>
                                        </p:tgtEl>
                                        <p:attrNameLst>
                                          <p:attrName>style.visibility</p:attrName>
                                        </p:attrNameLst>
                                      </p:cBhvr>
                                      <p:to>
                                        <p:strVal val="visible"/>
                                      </p:to>
                                    </p:set>
                                    <p:animEffect transition="in" filter="wipe(left)">
                                      <p:cBhvr>
                                        <p:cTn id="28" dur="300"/>
                                        <p:tgtEl>
                                          <p:spTgt spid="1230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12309"/>
                                        </p:tgtEl>
                                        <p:attrNameLst>
                                          <p:attrName>style.visibility</p:attrName>
                                        </p:attrNameLst>
                                      </p:cBhvr>
                                      <p:to>
                                        <p:strVal val="visible"/>
                                      </p:to>
                                    </p:set>
                                    <p:animEffect transition="in" filter="wipe(left)">
                                      <p:cBhvr>
                                        <p:cTn id="33" dur="300"/>
                                        <p:tgtEl>
                                          <p:spTgt spid="12309"/>
                                        </p:tgtEl>
                                      </p:cBhvr>
                                    </p:animEffect>
                                  </p:childTnLst>
                                </p:cTn>
                              </p:par>
                            </p:childTnLst>
                          </p:cTn>
                        </p:par>
                        <p:par>
                          <p:cTn id="34" fill="hold">
                            <p:stCondLst>
                              <p:cond delay="5700"/>
                            </p:stCondLst>
                            <p:childTnLst>
                              <p:par>
                                <p:cTn id="35" presetID="22" presetClass="entr" presetSubtype="8" fill="hold" grpId="0" nodeType="afterEffect">
                                  <p:stCondLst>
                                    <p:cond delay="0"/>
                                  </p:stCondLst>
                                  <p:iterate type="wd">
                                    <p:tmPct val="100000"/>
                                  </p:iterate>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wipe(left)">
                                      <p:cBhvr>
                                        <p:cTn id="37" dur="3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0" grpId="0" bldLvl="0" animBg="1" autoUpdateAnimBg="0"/>
      <p:bldP spid="12308" grpId="0" bldLvl="0" animBg="1" autoUpdateAnimBg="0"/>
      <p:bldP spid="12309" grpId="0" bldLvl="0" animBg="1" autoUpdateAnimBg="0"/>
      <p:bldP spid="11"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16" name="Group 12"/>
          <p:cNvGrpSpPr/>
          <p:nvPr/>
        </p:nvGrpSpPr>
        <p:grpSpPr bwMode="auto">
          <a:xfrm>
            <a:off x="182874" y="750998"/>
            <a:ext cx="8204127" cy="1187057"/>
            <a:chOff x="153" y="150"/>
            <a:chExt cx="5347" cy="997"/>
          </a:xfrm>
        </p:grpSpPr>
        <p:sp>
          <p:nvSpPr>
            <p:cNvPr id="28682" name="Text Box 4"/>
            <p:cNvSpPr txBox="1">
              <a:spLocks noChangeArrowheads="1"/>
            </p:cNvSpPr>
            <p:nvPr/>
          </p:nvSpPr>
          <p:spPr bwMode="auto">
            <a:xfrm>
              <a:off x="153" y="150"/>
              <a:ext cx="5347" cy="3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smtClean="0"/>
                <a:t>        例    </a:t>
              </a:r>
              <a:r>
                <a:rPr lang="en-US" altLang="zh-CN" sz="2000" b="1" dirty="0" smtClean="0"/>
                <a:t> </a:t>
              </a:r>
              <a:r>
                <a:rPr lang="zh-CN" altLang="en-US" sz="2000" b="1" dirty="0"/>
                <a:t>按尺寸                     加工一个轴，加工后测得轴</a:t>
              </a:r>
              <a:r>
                <a:rPr lang="zh-CN" altLang="en-US" sz="2000" b="1" dirty="0" smtClean="0"/>
                <a:t>的实际尺寸</a:t>
              </a:r>
              <a:r>
                <a:rPr lang="zh-CN" altLang="en-US" sz="2000" dirty="0" smtClean="0"/>
                <a:t>             </a:t>
              </a:r>
              <a:endParaRPr lang="zh-CN" altLang="en-US" sz="2000" dirty="0"/>
            </a:p>
          </p:txBody>
        </p:sp>
        <p:graphicFrame>
          <p:nvGraphicFramePr>
            <p:cNvPr id="28683" name="Object 6"/>
            <p:cNvGraphicFramePr>
              <a:graphicFrameLocks noChangeAspect="1"/>
            </p:cNvGraphicFramePr>
            <p:nvPr/>
          </p:nvGraphicFramePr>
          <p:xfrm>
            <a:off x="899" y="862"/>
            <a:ext cx="2355" cy="285"/>
          </p:xfrm>
          <a:graphic>
            <a:graphicData uri="http://schemas.openxmlformats.org/presentationml/2006/ole">
              <p:oleObj spid="_x0000_s12296" name="公式" r:id="rId3" imgW="35356800" imgH="4876800" progId="">
                <p:embed/>
              </p:oleObj>
            </a:graphicData>
          </a:graphic>
        </p:graphicFrame>
        <p:pic>
          <p:nvPicPr>
            <p:cNvPr id="28684" name="Picture 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026" y="215"/>
              <a:ext cx="235" cy="2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28685" name="Object 9"/>
            <p:cNvGraphicFramePr>
              <a:graphicFrameLocks noChangeAspect="1"/>
            </p:cNvGraphicFramePr>
            <p:nvPr/>
          </p:nvGraphicFramePr>
          <p:xfrm>
            <a:off x="905" y="519"/>
            <a:ext cx="4095" cy="305"/>
          </p:xfrm>
          <a:graphic>
            <a:graphicData uri="http://schemas.openxmlformats.org/presentationml/2006/ole">
              <p:oleObj spid="_x0000_s12297" name="公式" r:id="rId5" imgW="81076800" imgH="5486400" progId="">
                <p:embed/>
              </p:oleObj>
            </a:graphicData>
          </a:graphic>
        </p:graphicFrame>
        <p:graphicFrame>
          <p:nvGraphicFramePr>
            <p:cNvPr id="28686" name="Object 10"/>
            <p:cNvGraphicFramePr>
              <a:graphicFrameLocks noChangeAspect="1"/>
            </p:cNvGraphicFramePr>
            <p:nvPr/>
          </p:nvGraphicFramePr>
          <p:xfrm>
            <a:off x="1430" y="175"/>
            <a:ext cx="739" cy="300"/>
          </p:xfrm>
          <a:graphic>
            <a:graphicData uri="http://schemas.openxmlformats.org/presentationml/2006/ole">
              <p:oleObj spid="_x0000_s12298" name="公式" r:id="rId6" imgW="12496800" imgH="5791200" progId="">
                <p:embed/>
              </p:oleObj>
            </a:graphicData>
          </a:graphic>
        </p:graphicFrame>
      </p:grpSp>
      <p:graphicFrame>
        <p:nvGraphicFramePr>
          <p:cNvPr id="98315" name="Object 11"/>
          <p:cNvGraphicFramePr>
            <a:graphicFrameLocks noChangeAspect="1"/>
          </p:cNvGraphicFramePr>
          <p:nvPr/>
        </p:nvGraphicFramePr>
        <p:xfrm>
          <a:off x="3394049" y="2667612"/>
          <a:ext cx="3620441" cy="382552"/>
        </p:xfrm>
        <a:graphic>
          <a:graphicData uri="http://schemas.openxmlformats.org/presentationml/2006/ole">
            <p:oleObj spid="_x0000_s12299" name="公式" r:id="rId7" imgW="42976800" imgH="5486400" progId="">
              <p:embed/>
            </p:oleObj>
          </a:graphicData>
        </a:graphic>
      </p:graphicFrame>
      <p:sp>
        <p:nvSpPr>
          <p:cNvPr id="98317" name="Text Box 13"/>
          <p:cNvSpPr txBox="1">
            <a:spLocks noChangeArrowheads="1"/>
          </p:cNvSpPr>
          <p:nvPr/>
        </p:nvSpPr>
        <p:spPr bwMode="auto">
          <a:xfrm>
            <a:off x="741423" y="2084139"/>
            <a:ext cx="4375150"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解   按包容要求来</a:t>
            </a:r>
            <a:r>
              <a:rPr lang="zh-CN" altLang="en-US" sz="2000" b="1" dirty="0" smtClean="0"/>
              <a:t>判断</a:t>
            </a:r>
            <a:endParaRPr lang="zh-CN" altLang="en-US" sz="2000" b="1" dirty="0"/>
          </a:p>
        </p:txBody>
      </p:sp>
      <p:sp>
        <p:nvSpPr>
          <p:cNvPr id="98318" name="Text Box 14"/>
          <p:cNvSpPr txBox="1">
            <a:spLocks noChangeArrowheads="1"/>
          </p:cNvSpPr>
          <p:nvPr/>
        </p:nvSpPr>
        <p:spPr bwMode="auto">
          <a:xfrm>
            <a:off x="1155529" y="2625710"/>
            <a:ext cx="4375150"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依题意可得</a:t>
            </a:r>
          </a:p>
        </p:txBody>
      </p:sp>
      <p:graphicFrame>
        <p:nvGraphicFramePr>
          <p:cNvPr id="98324" name="Object 20"/>
          <p:cNvGraphicFramePr>
            <a:graphicFrameLocks noChangeAspect="1"/>
          </p:cNvGraphicFramePr>
          <p:nvPr/>
        </p:nvGraphicFramePr>
        <p:xfrm>
          <a:off x="1111885" y="3311593"/>
          <a:ext cx="6873875" cy="1381760"/>
        </p:xfrm>
        <a:graphic>
          <a:graphicData uri="http://schemas.openxmlformats.org/presentationml/2006/ole">
            <p:oleObj spid="_x0000_s12300" name="公式" r:id="rId8" imgW="52730400" imgH="17068800" progId="">
              <p:embed/>
            </p:oleObj>
          </a:graphicData>
        </a:graphic>
      </p:graphicFrame>
      <p:sp>
        <p:nvSpPr>
          <p:cNvPr id="98325" name="Text Box 21"/>
          <p:cNvSpPr txBox="1">
            <a:spLocks noChangeArrowheads="1"/>
          </p:cNvSpPr>
          <p:nvPr/>
        </p:nvSpPr>
        <p:spPr bwMode="auto">
          <a:xfrm>
            <a:off x="568326" y="4982200"/>
            <a:ext cx="8258175" cy="8299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t>        可见满足要求，即</a:t>
            </a:r>
            <a:r>
              <a:rPr lang="zh-CN" altLang="en-US" sz="2000" b="1" dirty="0">
                <a:solidFill>
                  <a:srgbClr val="FF0000"/>
                </a:solidFill>
              </a:rPr>
              <a:t>体外作用尺寸不超出轴最大实体尺寸</a:t>
            </a:r>
            <a:r>
              <a:rPr lang="zh-CN" altLang="en-US" sz="2000" b="1" dirty="0"/>
              <a:t>和</a:t>
            </a:r>
            <a:r>
              <a:rPr lang="zh-CN" altLang="en-US" sz="2000" b="1" dirty="0">
                <a:solidFill>
                  <a:srgbClr val="FF0000"/>
                </a:solidFill>
              </a:rPr>
              <a:t>实际尺寸不超出其最小实体尺寸</a:t>
            </a:r>
            <a:r>
              <a:rPr lang="zh-CN" altLang="en-US" sz="2000" b="1" dirty="0"/>
              <a:t>。</a:t>
            </a:r>
          </a:p>
        </p:txBody>
      </p:sp>
      <p:cxnSp>
        <p:nvCxnSpPr>
          <p:cNvPr id="14" name="直接连接符 13"/>
          <p:cNvCxnSpPr/>
          <p:nvPr/>
        </p:nvCxnSpPr>
        <p:spPr bwMode="auto">
          <a:xfrm flipV="1">
            <a:off x="205879" y="484816"/>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8316"/>
                                        </p:tgtEl>
                                        <p:attrNameLst>
                                          <p:attrName>style.visibility</p:attrName>
                                        </p:attrNameLst>
                                      </p:cBhvr>
                                      <p:to>
                                        <p:strVal val="visible"/>
                                      </p:to>
                                    </p:set>
                                    <p:animEffect transition="in" filter="wipe(left)">
                                      <p:cBhvr>
                                        <p:cTn id="7" dur="2000"/>
                                        <p:tgtEl>
                                          <p:spTgt spid="983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317"/>
                                        </p:tgtEl>
                                        <p:attrNameLst>
                                          <p:attrName>style.visibility</p:attrName>
                                        </p:attrNameLst>
                                      </p:cBhvr>
                                      <p:to>
                                        <p:strVal val="visible"/>
                                      </p:to>
                                    </p:set>
                                    <p:animEffect transition="in" filter="wipe(left)">
                                      <p:cBhvr>
                                        <p:cTn id="12" dur="2000"/>
                                        <p:tgtEl>
                                          <p:spTgt spid="983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8318"/>
                                        </p:tgtEl>
                                        <p:attrNameLst>
                                          <p:attrName>style.visibility</p:attrName>
                                        </p:attrNameLst>
                                      </p:cBhvr>
                                      <p:to>
                                        <p:strVal val="visible"/>
                                      </p:to>
                                    </p:set>
                                    <p:animEffect transition="in" filter="wipe(left)">
                                      <p:cBhvr>
                                        <p:cTn id="17" dur="2000"/>
                                        <p:tgtEl>
                                          <p:spTgt spid="983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8315"/>
                                        </p:tgtEl>
                                        <p:attrNameLst>
                                          <p:attrName>style.visibility</p:attrName>
                                        </p:attrNameLst>
                                      </p:cBhvr>
                                      <p:to>
                                        <p:strVal val="visible"/>
                                      </p:to>
                                    </p:set>
                                    <p:animEffect transition="in" filter="wipe(left)">
                                      <p:cBhvr>
                                        <p:cTn id="22" dur="2000"/>
                                        <p:tgtEl>
                                          <p:spTgt spid="983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8324"/>
                                        </p:tgtEl>
                                        <p:attrNameLst>
                                          <p:attrName>style.visibility</p:attrName>
                                        </p:attrNameLst>
                                      </p:cBhvr>
                                      <p:to>
                                        <p:strVal val="visible"/>
                                      </p:to>
                                    </p:set>
                                    <p:animEffect transition="in" filter="wipe(left)">
                                      <p:cBhvr>
                                        <p:cTn id="27" dur="2000"/>
                                        <p:tgtEl>
                                          <p:spTgt spid="983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8325"/>
                                        </p:tgtEl>
                                        <p:attrNameLst>
                                          <p:attrName>style.visibility</p:attrName>
                                        </p:attrNameLst>
                                      </p:cBhvr>
                                      <p:to>
                                        <p:strVal val="visible"/>
                                      </p:to>
                                    </p:set>
                                    <p:animEffect transition="in" filter="wipe(left)">
                                      <p:cBhvr>
                                        <p:cTn id="32" dur="2000"/>
                                        <p:tgtEl>
                                          <p:spTgt spid="98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7" grpId="0" bldLvl="0" animBg="1"/>
      <p:bldP spid="98318" grpId="0" bldLvl="0" animBg="1"/>
      <p:bldP spid="98325"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4"/>
          <p:cNvSpPr txBox="1">
            <a:spLocks noChangeArrowheads="1"/>
          </p:cNvSpPr>
          <p:nvPr/>
        </p:nvSpPr>
        <p:spPr bwMode="auto">
          <a:xfrm>
            <a:off x="377558" y="448689"/>
            <a:ext cx="640715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4.3.4 </a:t>
            </a:r>
            <a:r>
              <a:rPr lang="zh-CN" altLang="en-US" b="1" dirty="0">
                <a:latin typeface="宋体" panose="02010600030101010101" pitchFamily="2" charset="-122"/>
              </a:rPr>
              <a:t>最大实体要求（</a:t>
            </a:r>
            <a:r>
              <a:rPr lang="en-US" altLang="zh-CN" b="1" dirty="0">
                <a:latin typeface="宋体" panose="02010600030101010101" pitchFamily="2" charset="-122"/>
              </a:rPr>
              <a:t>MMR）</a:t>
            </a:r>
            <a:r>
              <a:rPr lang="en-US" altLang="zh-CN" dirty="0"/>
              <a:t> </a:t>
            </a:r>
            <a:endParaRPr lang="zh-CN" altLang="en-US" dirty="0"/>
          </a:p>
        </p:txBody>
      </p:sp>
      <p:sp>
        <p:nvSpPr>
          <p:cNvPr id="26629" name="Text Box 5"/>
          <p:cNvSpPr txBox="1">
            <a:spLocks noChangeArrowheads="1"/>
          </p:cNvSpPr>
          <p:nvPr/>
        </p:nvSpPr>
        <p:spPr bwMode="auto">
          <a:xfrm>
            <a:off x="673424" y="1118275"/>
            <a:ext cx="7793614" cy="20916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000" b="1" dirty="0"/>
              <a:t>       最大实体要求</a:t>
            </a:r>
            <a:r>
              <a:rPr lang="zh-CN" altLang="en-US" sz="2000" b="1" dirty="0">
                <a:solidFill>
                  <a:srgbClr val="FF3300"/>
                </a:solidFill>
              </a:rPr>
              <a:t>适用于中心要素有几何公差要求</a:t>
            </a:r>
            <a:r>
              <a:rPr lang="zh-CN" altLang="en-US" sz="2000" b="1" dirty="0"/>
              <a:t>的情况。它是控制实际被测要素处于其</a:t>
            </a:r>
            <a:r>
              <a:rPr lang="zh-CN" altLang="en-US" sz="2000" b="1" dirty="0">
                <a:solidFill>
                  <a:srgbClr val="FF3300"/>
                </a:solidFill>
              </a:rPr>
              <a:t>最大实体实效边界</a:t>
            </a:r>
            <a:r>
              <a:rPr lang="zh-CN" altLang="en-US" sz="2000" b="1" dirty="0"/>
              <a:t>之内的一种相关公差要求</a:t>
            </a:r>
            <a:r>
              <a:rPr lang="zh-CN" altLang="en-US" sz="2000" b="1" dirty="0" smtClean="0"/>
              <a:t>。</a:t>
            </a:r>
            <a:endParaRPr lang="en-US" altLang="zh-CN" sz="2000" b="1" dirty="0" smtClean="0"/>
          </a:p>
          <a:p>
            <a:pPr eaLnBrk="1" hangingPunct="1">
              <a:lnSpc>
                <a:spcPct val="150000"/>
              </a:lnSpc>
            </a:pPr>
            <a:r>
              <a:rPr lang="en-US" altLang="zh-CN" sz="2000" b="1" dirty="0" smtClean="0"/>
              <a:t>      </a:t>
            </a:r>
            <a:r>
              <a:rPr lang="zh-CN" altLang="en-US" sz="2000" b="1" dirty="0" smtClean="0"/>
              <a:t>当</a:t>
            </a:r>
            <a:r>
              <a:rPr lang="zh-CN" altLang="en-US" sz="2000" b="1" dirty="0"/>
              <a:t>实际尺寸偏离最大实体尺寸时，允许其中心</a:t>
            </a:r>
            <a:r>
              <a:rPr lang="zh-CN" altLang="en-US" sz="2000" b="1" dirty="0" smtClean="0"/>
              <a:t>要素的</a:t>
            </a:r>
            <a:r>
              <a:rPr lang="zh-CN" altLang="en-US" sz="2000" b="1" dirty="0"/>
              <a:t>几何误差值超出给定几何公差值，即</a:t>
            </a:r>
            <a:r>
              <a:rPr lang="zh-CN" altLang="en-US" sz="2000" b="1" dirty="0">
                <a:solidFill>
                  <a:srgbClr val="FF3300"/>
                </a:solidFill>
              </a:rPr>
              <a:t>只允许</a:t>
            </a:r>
            <a:r>
              <a:rPr lang="zh-CN" altLang="en-US" sz="2000" b="1" dirty="0" smtClean="0">
                <a:solidFill>
                  <a:srgbClr val="FF3300"/>
                </a:solidFill>
              </a:rPr>
              <a:t>尺寸公差补偿给</a:t>
            </a:r>
            <a:r>
              <a:rPr lang="zh-CN" altLang="en-US" sz="2000" b="1" dirty="0">
                <a:solidFill>
                  <a:srgbClr val="FF3300"/>
                </a:solidFill>
              </a:rPr>
              <a:t>几何公差</a:t>
            </a:r>
            <a:r>
              <a:rPr lang="zh-CN" altLang="en-US" sz="2000" b="1" dirty="0">
                <a:solidFill>
                  <a:srgbClr val="D60093"/>
                </a:solidFill>
              </a:rPr>
              <a:t>。</a:t>
            </a:r>
          </a:p>
        </p:txBody>
      </p:sp>
      <p:cxnSp>
        <p:nvCxnSpPr>
          <p:cNvPr id="6" name="直接连接符 5"/>
          <p:cNvCxnSpPr/>
          <p:nvPr/>
        </p:nvCxnSpPr>
        <p:spPr bwMode="auto">
          <a:xfrm flipV="1">
            <a:off x="169049" y="101067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 Box 22"/>
          <p:cNvSpPr txBox="1">
            <a:spLocks noChangeArrowheads="1"/>
          </p:cNvSpPr>
          <p:nvPr/>
        </p:nvSpPr>
        <p:spPr bwMode="auto">
          <a:xfrm>
            <a:off x="437821" y="3335750"/>
            <a:ext cx="55276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latin typeface="宋体" panose="02010600030101010101" pitchFamily="2" charset="-122"/>
              </a:rPr>
              <a:t>1.最大实体要求的图样</a:t>
            </a:r>
            <a:r>
              <a:rPr lang="zh-CN" altLang="en-US" sz="2000" b="1" dirty="0" smtClean="0">
                <a:latin typeface="宋体" panose="02010600030101010101" pitchFamily="2" charset="-122"/>
              </a:rPr>
              <a:t>标注</a:t>
            </a:r>
            <a:endParaRPr lang="zh-CN" altLang="en-US" sz="2000" b="1" dirty="0">
              <a:latin typeface="宋体" panose="02010600030101010101" pitchFamily="2" charset="-122"/>
            </a:endParaRPr>
          </a:p>
        </p:txBody>
      </p:sp>
      <p:pic>
        <p:nvPicPr>
          <p:cNvPr id="10" name="Picture 37"/>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49794" y="3949905"/>
            <a:ext cx="2359576" cy="6436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 name="Picture 39"/>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390783" y="3933464"/>
            <a:ext cx="2478494" cy="6600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41"/>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398011" y="4826154"/>
            <a:ext cx="2652692" cy="574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9" name="Picture 43"/>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362004" y="4822026"/>
            <a:ext cx="2663319" cy="6105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26628"/>
                                        </p:tgtEl>
                                        <p:attrNameLst>
                                          <p:attrName>style.visibility</p:attrName>
                                        </p:attrNameLst>
                                      </p:cBhvr>
                                      <p:to>
                                        <p:strVal val="visible"/>
                                      </p:to>
                                    </p:set>
                                    <p:animEffect transition="in" filter="wipe(left)">
                                      <p:cBhvr>
                                        <p:cTn id="7" dur="300"/>
                                        <p:tgtEl>
                                          <p:spTgt spid="266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6629"/>
                                        </p:tgtEl>
                                        <p:attrNameLst>
                                          <p:attrName>style.visibility</p:attrName>
                                        </p:attrNameLst>
                                      </p:cBhvr>
                                      <p:to>
                                        <p:strVal val="visible"/>
                                      </p:to>
                                    </p:set>
                                    <p:animEffect transition="in" filter="wipe(left)">
                                      <p:cBhvr>
                                        <p:cTn id="12" dur="300"/>
                                        <p:tgtEl>
                                          <p:spTgt spid="266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bldLvl="0" animBg="1" autoUpdateAnimBg="0"/>
      <p:bldP spid="26629" grpId="0" bldLvl="0" animBg="1" autoUpdateAnimBg="0"/>
      <p:bldP spid="7"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Text Box 1028"/>
          <p:cNvSpPr txBox="1">
            <a:spLocks noChangeArrowheads="1"/>
          </p:cNvSpPr>
          <p:nvPr/>
        </p:nvSpPr>
        <p:spPr bwMode="auto">
          <a:xfrm>
            <a:off x="398194" y="1203778"/>
            <a:ext cx="8420789" cy="11068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pPr>
            <a:r>
              <a:rPr lang="zh-CN" altLang="en-US" sz="2000" b="1" dirty="0"/>
              <a:t>         用</a:t>
            </a:r>
            <a:r>
              <a:rPr lang="zh-CN" altLang="en-US" sz="2000" b="1" dirty="0">
                <a:solidFill>
                  <a:srgbClr val="FF0000"/>
                </a:solidFill>
                <a:latin typeface="宋体" panose="02010600030101010101" pitchFamily="2" charset="-122"/>
              </a:rPr>
              <a:t>最大实体实效边界</a:t>
            </a:r>
            <a:r>
              <a:rPr lang="zh-CN" altLang="en-US" sz="2000" b="1" dirty="0">
                <a:latin typeface="宋体" panose="02010600030101010101" pitchFamily="2" charset="-122"/>
              </a:rPr>
              <a:t>（</a:t>
            </a:r>
            <a:r>
              <a:rPr lang="en-US" altLang="zh-CN" sz="2000" b="1" dirty="0"/>
              <a:t>MMVB</a:t>
            </a:r>
            <a:r>
              <a:rPr lang="zh-CN" altLang="en-US" sz="2000" b="1" dirty="0"/>
              <a:t>）</a:t>
            </a:r>
            <a:r>
              <a:rPr lang="zh-CN" altLang="en-US" sz="2000" b="1" dirty="0">
                <a:latin typeface="宋体" panose="02010600030101010101" pitchFamily="2" charset="-122"/>
              </a:rPr>
              <a:t>控制被测要素的实际尺寸和几何误差的综合结果，要求</a:t>
            </a:r>
            <a:r>
              <a:rPr lang="zh-CN" altLang="en-US" sz="2000" b="1" dirty="0">
                <a:solidFill>
                  <a:srgbClr val="D60093"/>
                </a:solidFill>
                <a:latin typeface="宋体" panose="02010600030101010101" pitchFamily="2" charset="-122"/>
              </a:rPr>
              <a:t>体外作用尺寸（</a:t>
            </a:r>
            <a:r>
              <a:rPr lang="en-US" altLang="zh-CN" sz="2000" b="1" dirty="0">
                <a:solidFill>
                  <a:srgbClr val="D60093"/>
                </a:solidFill>
                <a:latin typeface="宋体" panose="02010600030101010101" pitchFamily="2" charset="-122"/>
              </a:rPr>
              <a:t>EFS</a:t>
            </a:r>
            <a:r>
              <a:rPr lang="zh-CN" altLang="en-US" sz="2000" b="1" dirty="0">
                <a:solidFill>
                  <a:srgbClr val="D60093"/>
                </a:solidFill>
                <a:latin typeface="宋体" panose="02010600030101010101" pitchFamily="2" charset="-122"/>
              </a:rPr>
              <a:t>）不超出最大实体实效尺寸（</a:t>
            </a:r>
            <a:r>
              <a:rPr lang="en-US" altLang="zh-CN" sz="2000" b="1" dirty="0">
                <a:solidFill>
                  <a:srgbClr val="D60093"/>
                </a:solidFill>
                <a:latin typeface="宋体" panose="02010600030101010101" pitchFamily="2" charset="-122"/>
              </a:rPr>
              <a:t>MMVS</a:t>
            </a:r>
            <a:r>
              <a:rPr lang="zh-CN" altLang="en-US" sz="2000" b="1" dirty="0">
                <a:solidFill>
                  <a:srgbClr val="D60093"/>
                </a:solidFill>
                <a:latin typeface="宋体" panose="02010600030101010101" pitchFamily="2" charset="-122"/>
              </a:rPr>
              <a:t>）</a:t>
            </a:r>
            <a:r>
              <a:rPr lang="en-US" altLang="zh-CN" sz="2000" b="1" dirty="0">
                <a:latin typeface="宋体" panose="02010600030101010101" pitchFamily="2" charset="-122"/>
              </a:rPr>
              <a:t>,</a:t>
            </a:r>
            <a:r>
              <a:rPr lang="zh-CN" altLang="en-US" sz="2000" b="1" dirty="0"/>
              <a:t>并且</a:t>
            </a:r>
            <a:r>
              <a:rPr lang="zh-CN" altLang="en-US" sz="2000" b="1" dirty="0">
                <a:solidFill>
                  <a:srgbClr val="D60093"/>
                </a:solidFill>
              </a:rPr>
              <a:t>实际尺寸不超出其极限尺寸</a:t>
            </a:r>
            <a:r>
              <a:rPr lang="zh-CN" altLang="en-US" sz="2000" b="1" dirty="0"/>
              <a:t>。</a:t>
            </a:r>
            <a:endParaRPr lang="en-US" altLang="zh-CN" sz="2000" b="1" dirty="0">
              <a:latin typeface="宋体" panose="02010600030101010101" pitchFamily="2" charset="-122"/>
            </a:endParaRPr>
          </a:p>
        </p:txBody>
      </p:sp>
      <p:sp>
        <p:nvSpPr>
          <p:cNvPr id="65543" name="Text Box 1031"/>
          <p:cNvSpPr txBox="1">
            <a:spLocks noChangeArrowheads="1"/>
          </p:cNvSpPr>
          <p:nvPr/>
        </p:nvSpPr>
        <p:spPr bwMode="auto">
          <a:xfrm>
            <a:off x="488945" y="466579"/>
            <a:ext cx="65913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cs typeface="Times New Roman" panose="02020603050405020304" pitchFamily="18" charset="0"/>
              </a:rPr>
              <a:t>2.</a:t>
            </a:r>
            <a:r>
              <a:rPr lang="zh-CN" altLang="en-US" b="1" dirty="0">
                <a:latin typeface="宋体" panose="02010600030101010101" pitchFamily="2" charset="-122"/>
              </a:rPr>
              <a:t> 最大实体要求的含义</a:t>
            </a:r>
          </a:p>
        </p:txBody>
      </p:sp>
      <p:sp>
        <p:nvSpPr>
          <p:cNvPr id="65555" name="Text Box 1043"/>
          <p:cNvSpPr txBox="1">
            <a:spLocks noChangeArrowheads="1"/>
          </p:cNvSpPr>
          <p:nvPr/>
        </p:nvSpPr>
        <p:spPr bwMode="auto">
          <a:xfrm>
            <a:off x="483235" y="2444115"/>
            <a:ext cx="346732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3. 合格性的判据</a:t>
            </a:r>
            <a:endParaRPr lang="en-US" altLang="zh-CN" b="1" dirty="0"/>
          </a:p>
        </p:txBody>
      </p:sp>
      <p:sp>
        <p:nvSpPr>
          <p:cNvPr id="65562" name="Text Box 1050"/>
          <p:cNvSpPr txBox="1">
            <a:spLocks noChangeArrowheads="1"/>
          </p:cNvSpPr>
          <p:nvPr/>
        </p:nvSpPr>
        <p:spPr bwMode="auto">
          <a:xfrm>
            <a:off x="236062" y="2920061"/>
            <a:ext cx="583125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t>        对轴、孔有最大实体要求时，其合格</a:t>
            </a:r>
            <a:r>
              <a:rPr lang="zh-CN" altLang="en-US" sz="2000" b="1" dirty="0" smtClean="0"/>
              <a:t>性判断</a:t>
            </a:r>
            <a:endParaRPr lang="zh-CN" altLang="en-US" sz="2000" b="1" dirty="0"/>
          </a:p>
        </p:txBody>
      </p:sp>
      <p:cxnSp>
        <p:nvCxnSpPr>
          <p:cNvPr id="9" name="直接连接符 8"/>
          <p:cNvCxnSpPr/>
          <p:nvPr/>
        </p:nvCxnSpPr>
        <p:spPr bwMode="auto">
          <a:xfrm flipV="1">
            <a:off x="169049" y="102845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aphicFrame>
        <p:nvGraphicFramePr>
          <p:cNvPr id="2" name="对象 1">
            <a:hlinkClick r:id="" action="ppaction://ole?verb=0"/>
          </p:cNvPr>
          <p:cNvGraphicFramePr>
            <a:graphicFrameLocks noChangeAspect="1"/>
          </p:cNvGraphicFramePr>
          <p:nvPr/>
        </p:nvGraphicFramePr>
        <p:xfrm>
          <a:off x="1884680" y="3493135"/>
          <a:ext cx="4311015" cy="1010920"/>
        </p:xfrm>
        <a:graphic>
          <a:graphicData uri="http://schemas.openxmlformats.org/presentationml/2006/ole">
            <p:oleObj spid="_x0000_s13317" r:id="rId3" imgW="52730400" imgH="11582400" progId="">
              <p:embed/>
            </p:oleObj>
          </a:graphicData>
        </a:graphic>
      </p:graphicFrame>
      <p:graphicFrame>
        <p:nvGraphicFramePr>
          <p:cNvPr id="3" name="对象 2">
            <a:hlinkClick r:id="" action="ppaction://ole?verb=0"/>
          </p:cNvPr>
          <p:cNvGraphicFramePr>
            <a:graphicFrameLocks noChangeAspect="1"/>
          </p:cNvGraphicFramePr>
          <p:nvPr/>
        </p:nvGraphicFramePr>
        <p:xfrm>
          <a:off x="1884680" y="4774565"/>
          <a:ext cx="4638675" cy="915670"/>
        </p:xfrm>
        <a:graphic>
          <a:graphicData uri="http://schemas.openxmlformats.org/presentationml/2006/ole">
            <p:oleObj spid="_x0000_s13318" r:id="rId4" imgW="54559200" imgH="11582400" progId="">
              <p:embed/>
            </p:oleObj>
          </a:graphicData>
        </a:graphic>
      </p:graphicFrame>
      <p:pic>
        <p:nvPicPr>
          <p:cNvPr id="33803" name="Picture 10" descr="C:\Documents and Settings\Administrator\桌面\2015年第9版资料\2015年第9版图\j4b20b.tif"/>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137910" y="3517900"/>
            <a:ext cx="481965" cy="4756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pic>
      <p:pic>
        <p:nvPicPr>
          <p:cNvPr id="4" name="Picture 10" descr="C:\Documents and Settings\Administrator\桌面\2015年第9版资料\2015年第9版图\j4b20b.tif"/>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444615" y="4810125"/>
            <a:ext cx="465455" cy="4597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5543"/>
                                        </p:tgtEl>
                                        <p:attrNameLst>
                                          <p:attrName>style.visibility</p:attrName>
                                        </p:attrNameLst>
                                      </p:cBhvr>
                                      <p:to>
                                        <p:strVal val="visible"/>
                                      </p:to>
                                    </p:set>
                                    <p:animEffect transition="in" filter="wipe(left)">
                                      <p:cBhvr>
                                        <p:cTn id="7" dur="300"/>
                                        <p:tgtEl>
                                          <p:spTgt spid="655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5540"/>
                                        </p:tgtEl>
                                        <p:attrNameLst>
                                          <p:attrName>style.visibility</p:attrName>
                                        </p:attrNameLst>
                                      </p:cBhvr>
                                      <p:to>
                                        <p:strVal val="visible"/>
                                      </p:to>
                                    </p:set>
                                    <p:animEffect transition="in" filter="wipe(left)">
                                      <p:cBhvr>
                                        <p:cTn id="12" dur="300"/>
                                        <p:tgtEl>
                                          <p:spTgt spid="655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5555"/>
                                        </p:tgtEl>
                                        <p:attrNameLst>
                                          <p:attrName>style.visibility</p:attrName>
                                        </p:attrNameLst>
                                      </p:cBhvr>
                                      <p:to>
                                        <p:strVal val="visible"/>
                                      </p:to>
                                    </p:set>
                                    <p:animEffect transition="in" filter="wipe(left)">
                                      <p:cBhvr>
                                        <p:cTn id="17" dur="300"/>
                                        <p:tgtEl>
                                          <p:spTgt spid="655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5562"/>
                                        </p:tgtEl>
                                        <p:attrNameLst>
                                          <p:attrName>style.visibility</p:attrName>
                                        </p:attrNameLst>
                                      </p:cBhvr>
                                      <p:to>
                                        <p:strVal val="visible"/>
                                      </p:to>
                                    </p:set>
                                    <p:animEffect transition="in" filter="wipe(left)">
                                      <p:cBhvr>
                                        <p:cTn id="22" dur="300"/>
                                        <p:tgtEl>
                                          <p:spTgt spid="65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bldLvl="0" animBg="1" autoUpdateAnimBg="0"/>
      <p:bldP spid="65543" grpId="0" bldLvl="0" animBg="1" autoUpdateAnimBg="0"/>
      <p:bldP spid="65555" grpId="0" bldLvl="0" animBg="1" autoUpdateAnimBg="0"/>
      <p:bldP spid="65562" grpId="0" bldLvl="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Text Box 4"/>
          <p:cNvSpPr txBox="1">
            <a:spLocks noChangeArrowheads="1"/>
          </p:cNvSpPr>
          <p:nvPr/>
        </p:nvSpPr>
        <p:spPr bwMode="auto">
          <a:xfrm>
            <a:off x="444245" y="424275"/>
            <a:ext cx="7231063"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4. </a:t>
            </a:r>
            <a:r>
              <a:rPr lang="zh-CN" altLang="en-US" b="1" dirty="0"/>
              <a:t>最大实体要求应用示例</a:t>
            </a:r>
            <a:endParaRPr lang="en-US" altLang="zh-CN" b="1" dirty="0"/>
          </a:p>
        </p:txBody>
      </p:sp>
      <p:sp>
        <p:nvSpPr>
          <p:cNvPr id="102405" name="Text Box 5"/>
          <p:cNvSpPr txBox="1">
            <a:spLocks noChangeArrowheads="1"/>
          </p:cNvSpPr>
          <p:nvPr/>
        </p:nvSpPr>
        <p:spPr bwMode="auto">
          <a:xfrm>
            <a:off x="755022" y="1126655"/>
            <a:ext cx="5118659"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smtClean="0"/>
              <a:t>最大</a:t>
            </a:r>
            <a:r>
              <a:rPr lang="zh-CN" altLang="en-US" sz="2000" b="1" dirty="0"/>
              <a:t>实体要求应用于单一</a:t>
            </a:r>
            <a:r>
              <a:rPr lang="zh-CN" altLang="en-US" sz="2000" b="1" dirty="0" smtClean="0"/>
              <a:t>要素</a:t>
            </a:r>
            <a:endParaRPr lang="en-US" altLang="zh-CN" sz="2000" b="1" dirty="0"/>
          </a:p>
        </p:txBody>
      </p:sp>
      <p:pic>
        <p:nvPicPr>
          <p:cNvPr id="102407" name="Picture 7"/>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83590" y="3890349"/>
            <a:ext cx="3457575" cy="19402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408" name="Picture 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279900" y="3747987"/>
            <a:ext cx="4090377" cy="21149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102410" name="Object 10"/>
          <p:cNvGraphicFramePr>
            <a:graphicFrameLocks noGrp="1" noChangeAspect="1"/>
          </p:cNvGraphicFramePr>
          <p:nvPr>
            <p:ph/>
          </p:nvPr>
        </p:nvGraphicFramePr>
        <p:xfrm>
          <a:off x="1001053" y="1667436"/>
          <a:ext cx="6494531" cy="393194"/>
        </p:xfrm>
        <a:graphic>
          <a:graphicData uri="http://schemas.openxmlformats.org/presentationml/2006/ole">
            <p:oleObj spid="_x0000_s14341" name="公式" r:id="rId5" imgW="67970400" imgH="5486400" progId="">
              <p:embed/>
            </p:oleObj>
          </a:graphicData>
        </a:graphic>
      </p:graphicFrame>
      <p:sp>
        <p:nvSpPr>
          <p:cNvPr id="102412" name="Text Box 12"/>
          <p:cNvSpPr txBox="1">
            <a:spLocks noChangeArrowheads="1"/>
          </p:cNvSpPr>
          <p:nvPr/>
        </p:nvSpPr>
        <p:spPr bwMode="auto">
          <a:xfrm>
            <a:off x="444443" y="2152879"/>
            <a:ext cx="7873523" cy="8299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t>         轴的边界为最大实体实效边界（</a:t>
            </a:r>
            <a:r>
              <a:rPr lang="en-US" altLang="zh-CN" sz="2000" b="1" dirty="0">
                <a:solidFill>
                  <a:srgbClr val="D60093"/>
                </a:solidFill>
              </a:rPr>
              <a:t>MMVB</a:t>
            </a:r>
            <a:r>
              <a:rPr lang="zh-CN" altLang="en-US" sz="2000" b="1" dirty="0"/>
              <a:t>）</a:t>
            </a:r>
            <a:r>
              <a:rPr lang="en-US" altLang="zh-CN" sz="2000" b="1" dirty="0" smtClean="0"/>
              <a:t>, </a:t>
            </a:r>
            <a:r>
              <a:rPr lang="zh-CN" altLang="en-US" sz="2000" b="1" dirty="0" smtClean="0"/>
              <a:t>其</a:t>
            </a:r>
            <a:r>
              <a:rPr lang="zh-CN" altLang="en-US" sz="2000" b="1" dirty="0"/>
              <a:t>边界尺寸 （</a:t>
            </a:r>
            <a:r>
              <a:rPr lang="en-US" altLang="zh-CN" sz="2000" b="1" dirty="0">
                <a:solidFill>
                  <a:srgbClr val="D60093"/>
                </a:solidFill>
              </a:rPr>
              <a:t>BS</a:t>
            </a:r>
            <a:r>
              <a:rPr lang="zh-CN" altLang="en-US" sz="2000" b="1" dirty="0"/>
              <a:t>）为最大实体实效尺寸（</a:t>
            </a:r>
            <a:r>
              <a:rPr lang="en-US" altLang="zh-CN" sz="2000" b="1" dirty="0">
                <a:solidFill>
                  <a:srgbClr val="D60093"/>
                </a:solidFill>
              </a:rPr>
              <a:t>MMVS</a:t>
            </a:r>
            <a:r>
              <a:rPr lang="zh-CN" altLang="en-US" sz="2000" b="1" dirty="0"/>
              <a:t>）</a:t>
            </a:r>
            <a:endParaRPr lang="en-US" altLang="zh-CN" sz="2000" b="1" dirty="0"/>
          </a:p>
        </p:txBody>
      </p:sp>
      <p:grpSp>
        <p:nvGrpSpPr>
          <p:cNvPr id="2" name="组合 1"/>
          <p:cNvGrpSpPr/>
          <p:nvPr/>
        </p:nvGrpSpPr>
        <p:grpSpPr bwMode="auto">
          <a:xfrm>
            <a:off x="1278255" y="3087037"/>
            <a:ext cx="5267325" cy="441325"/>
            <a:chOff x="819944" y="2761633"/>
            <a:chExt cx="7181850" cy="609600"/>
          </a:xfrm>
        </p:grpSpPr>
        <p:graphicFrame>
          <p:nvGraphicFramePr>
            <p:cNvPr id="33802" name="Object 16"/>
            <p:cNvGraphicFramePr>
              <a:graphicFrameLocks noChangeAspect="1"/>
            </p:cNvGraphicFramePr>
            <p:nvPr/>
          </p:nvGraphicFramePr>
          <p:xfrm>
            <a:off x="819944" y="2761633"/>
            <a:ext cx="7181850" cy="609600"/>
          </p:xfrm>
          <a:graphic>
            <a:graphicData uri="http://schemas.openxmlformats.org/presentationml/2006/ole">
              <p:oleObj spid="_x0000_s14342" name="公式" r:id="rId6" imgW="64617600" imgH="5486400" progId="">
                <p:embed/>
              </p:oleObj>
            </a:graphicData>
          </a:graphic>
        </p:graphicFrame>
        <p:pic>
          <p:nvPicPr>
            <p:cNvPr id="33803" name="Picture 10" descr="C:\Documents and Settings\Administrator\桌面\2015年第9版资料\2015年第9版图\j4b20b.tif"/>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3842509" y="2766312"/>
              <a:ext cx="600143" cy="6001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pic>
      </p:grpSp>
      <p:cxnSp>
        <p:nvCxnSpPr>
          <p:cNvPr id="12" name="直接连接符 11"/>
          <p:cNvCxnSpPr/>
          <p:nvPr/>
        </p:nvCxnSpPr>
        <p:spPr bwMode="auto">
          <a:xfrm flipV="1">
            <a:off x="205879" y="986512"/>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2404"/>
                                        </p:tgtEl>
                                        <p:attrNameLst>
                                          <p:attrName>style.visibility</p:attrName>
                                        </p:attrNameLst>
                                      </p:cBhvr>
                                      <p:to>
                                        <p:strVal val="visible"/>
                                      </p:to>
                                    </p:set>
                                    <p:animEffect transition="in" filter="wipe(left)">
                                      <p:cBhvr>
                                        <p:cTn id="7" dur="2000"/>
                                        <p:tgtEl>
                                          <p:spTgt spid="1024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05"/>
                                        </p:tgtEl>
                                        <p:attrNameLst>
                                          <p:attrName>style.visibility</p:attrName>
                                        </p:attrNameLst>
                                      </p:cBhvr>
                                      <p:to>
                                        <p:strVal val="visible"/>
                                      </p:to>
                                    </p:set>
                                    <p:animEffect transition="in" filter="wipe(left)">
                                      <p:cBhvr>
                                        <p:cTn id="12" dur="2000"/>
                                        <p:tgtEl>
                                          <p:spTgt spid="10240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2" fill="hold" nodeType="clickEffect">
                                  <p:stCondLst>
                                    <p:cond delay="0"/>
                                  </p:stCondLst>
                                  <p:childTnLst>
                                    <p:set>
                                      <p:cBhvr>
                                        <p:cTn id="16" dur="1" fill="hold">
                                          <p:stCondLst>
                                            <p:cond delay="0"/>
                                          </p:stCondLst>
                                        </p:cTn>
                                        <p:tgtEl>
                                          <p:spTgt spid="102407"/>
                                        </p:tgtEl>
                                        <p:attrNameLst>
                                          <p:attrName>style.visibility</p:attrName>
                                        </p:attrNameLst>
                                      </p:cBhvr>
                                      <p:to>
                                        <p:strVal val="visible"/>
                                      </p:to>
                                    </p:set>
                                    <p:anim calcmode="lin" valueType="num">
                                      <p:cBhvr additive="base">
                                        <p:cTn id="17" dur="500" fill="hold"/>
                                        <p:tgtEl>
                                          <p:spTgt spid="102407"/>
                                        </p:tgtEl>
                                        <p:attrNameLst>
                                          <p:attrName>ppt_x</p:attrName>
                                        </p:attrNameLst>
                                      </p:cBhvr>
                                      <p:tavLst>
                                        <p:tav tm="0">
                                          <p:val>
                                            <p:strVal val="0-#ppt_w/2"/>
                                          </p:val>
                                        </p:tav>
                                        <p:tav tm="100000">
                                          <p:val>
                                            <p:strVal val="#ppt_x"/>
                                          </p:val>
                                        </p:tav>
                                      </p:tavLst>
                                    </p:anim>
                                    <p:anim calcmode="lin" valueType="num">
                                      <p:cBhvr additive="base">
                                        <p:cTn id="18" dur="500" fill="hold"/>
                                        <p:tgtEl>
                                          <p:spTgt spid="10240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nodeType="clickEffect">
                                  <p:stCondLst>
                                    <p:cond delay="0"/>
                                  </p:stCondLst>
                                  <p:childTnLst>
                                    <p:set>
                                      <p:cBhvr>
                                        <p:cTn id="22" dur="1" fill="hold">
                                          <p:stCondLst>
                                            <p:cond delay="0"/>
                                          </p:stCondLst>
                                        </p:cTn>
                                        <p:tgtEl>
                                          <p:spTgt spid="102408"/>
                                        </p:tgtEl>
                                        <p:attrNameLst>
                                          <p:attrName>style.visibility</p:attrName>
                                        </p:attrNameLst>
                                      </p:cBhvr>
                                      <p:to>
                                        <p:strVal val="visible"/>
                                      </p:to>
                                    </p:set>
                                    <p:anim calcmode="lin" valueType="num">
                                      <p:cBhvr additive="base">
                                        <p:cTn id="23" dur="2000" fill="hold"/>
                                        <p:tgtEl>
                                          <p:spTgt spid="102408"/>
                                        </p:tgtEl>
                                        <p:attrNameLst>
                                          <p:attrName>ppt_x</p:attrName>
                                        </p:attrNameLst>
                                      </p:cBhvr>
                                      <p:tavLst>
                                        <p:tav tm="0">
                                          <p:val>
                                            <p:strVal val="1+#ppt_w/2"/>
                                          </p:val>
                                        </p:tav>
                                        <p:tav tm="100000">
                                          <p:val>
                                            <p:strVal val="#ppt_x"/>
                                          </p:val>
                                        </p:tav>
                                      </p:tavLst>
                                    </p:anim>
                                    <p:anim calcmode="lin" valueType="num">
                                      <p:cBhvr additive="base">
                                        <p:cTn id="24" dur="2000" fill="hold"/>
                                        <p:tgtEl>
                                          <p:spTgt spid="10240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2410"/>
                                        </p:tgtEl>
                                        <p:attrNameLst>
                                          <p:attrName>style.visibility</p:attrName>
                                        </p:attrNameLst>
                                      </p:cBhvr>
                                      <p:to>
                                        <p:strVal val="visible"/>
                                      </p:to>
                                    </p:set>
                                    <p:animEffect transition="in" filter="wipe(left)">
                                      <p:cBhvr>
                                        <p:cTn id="29" dur="2000"/>
                                        <p:tgtEl>
                                          <p:spTgt spid="1024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2412"/>
                                        </p:tgtEl>
                                        <p:attrNameLst>
                                          <p:attrName>style.visibility</p:attrName>
                                        </p:attrNameLst>
                                      </p:cBhvr>
                                      <p:to>
                                        <p:strVal val="visible"/>
                                      </p:to>
                                    </p:set>
                                    <p:animEffect transition="in" filter="wipe(left)">
                                      <p:cBhvr>
                                        <p:cTn id="34" dur="2000"/>
                                        <p:tgtEl>
                                          <p:spTgt spid="1024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left)">
                                      <p:cBhvr>
                                        <p:cTn id="39"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bldLvl="0" animBg="1"/>
      <p:bldP spid="102405" grpId="0" bldLvl="0" animBg="1"/>
      <p:bldP spid="102412"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8"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24931" y="909479"/>
            <a:ext cx="3338195" cy="19913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103434" name="Object 10"/>
          <p:cNvGraphicFramePr>
            <a:graphicFrameLocks noChangeAspect="1"/>
          </p:cNvGraphicFramePr>
          <p:nvPr/>
        </p:nvGraphicFramePr>
        <p:xfrm>
          <a:off x="1029937" y="3219048"/>
          <a:ext cx="4497200" cy="411555"/>
        </p:xfrm>
        <a:graphic>
          <a:graphicData uri="http://schemas.openxmlformats.org/presentationml/2006/ole">
            <p:oleObj spid="_x0000_s15368" name="公式" r:id="rId4" imgW="47548800" imgH="5791200" progId="">
              <p:embed/>
            </p:oleObj>
          </a:graphicData>
        </a:graphic>
      </p:graphicFrame>
      <p:graphicFrame>
        <p:nvGraphicFramePr>
          <p:cNvPr id="103442" name="Object 18"/>
          <p:cNvGraphicFramePr>
            <a:graphicFrameLocks noChangeAspect="1"/>
          </p:cNvGraphicFramePr>
          <p:nvPr/>
        </p:nvGraphicFramePr>
        <p:xfrm>
          <a:off x="1010821" y="3677850"/>
          <a:ext cx="6517757" cy="392964"/>
        </p:xfrm>
        <a:graphic>
          <a:graphicData uri="http://schemas.openxmlformats.org/presentationml/2006/ole">
            <p:oleObj spid="_x0000_s15369" name="公式" r:id="rId5" imgW="72237600" imgH="5791200" progId="">
              <p:embed/>
            </p:oleObj>
          </a:graphicData>
        </a:graphic>
      </p:graphicFrame>
      <p:graphicFrame>
        <p:nvGraphicFramePr>
          <p:cNvPr id="103443" name="Object 19"/>
          <p:cNvGraphicFramePr>
            <a:graphicFrameLocks noChangeAspect="1"/>
          </p:cNvGraphicFramePr>
          <p:nvPr/>
        </p:nvGraphicFramePr>
        <p:xfrm>
          <a:off x="997690" y="4084132"/>
          <a:ext cx="7188939" cy="786869"/>
        </p:xfrm>
        <a:graphic>
          <a:graphicData uri="http://schemas.openxmlformats.org/presentationml/2006/ole">
            <p:oleObj spid="_x0000_s15370" name="公式" r:id="rId6" imgW="75285600" imgH="10972800" progId="">
              <p:embed/>
            </p:oleObj>
          </a:graphicData>
        </a:graphic>
      </p:graphicFrame>
      <p:grpSp>
        <p:nvGrpSpPr>
          <p:cNvPr id="27" name="组合 26"/>
          <p:cNvGrpSpPr/>
          <p:nvPr/>
        </p:nvGrpSpPr>
        <p:grpSpPr>
          <a:xfrm>
            <a:off x="4189466" y="877094"/>
            <a:ext cx="4265295" cy="2287270"/>
            <a:chOff x="4529138" y="3887788"/>
            <a:chExt cx="4265612" cy="2643187"/>
          </a:xfrm>
        </p:grpSpPr>
        <p:grpSp>
          <p:nvGrpSpPr>
            <p:cNvPr id="103456" name="Group 32"/>
            <p:cNvGrpSpPr/>
            <p:nvPr/>
          </p:nvGrpSpPr>
          <p:grpSpPr bwMode="auto">
            <a:xfrm>
              <a:off x="4529138" y="3887788"/>
              <a:ext cx="3976687" cy="2643187"/>
              <a:chOff x="3022" y="2443"/>
              <a:chExt cx="2505" cy="1665"/>
            </a:xfrm>
          </p:grpSpPr>
          <p:grpSp>
            <p:nvGrpSpPr>
              <p:cNvPr id="34830" name="Group 27"/>
              <p:cNvGrpSpPr/>
              <p:nvPr/>
            </p:nvGrpSpPr>
            <p:grpSpPr bwMode="auto">
              <a:xfrm>
                <a:off x="3218" y="2443"/>
                <a:ext cx="2309" cy="1665"/>
                <a:chOff x="3086" y="2493"/>
                <a:chExt cx="2309" cy="1665"/>
              </a:xfrm>
            </p:grpSpPr>
            <p:grpSp>
              <p:nvGrpSpPr>
                <p:cNvPr id="34832" name="Group 16"/>
                <p:cNvGrpSpPr/>
                <p:nvPr/>
              </p:nvGrpSpPr>
              <p:grpSpPr bwMode="auto">
                <a:xfrm>
                  <a:off x="3086" y="2493"/>
                  <a:ext cx="2309" cy="1665"/>
                  <a:chOff x="3105" y="2485"/>
                  <a:chExt cx="2309" cy="1665"/>
                </a:xfrm>
              </p:grpSpPr>
              <p:pic>
                <p:nvPicPr>
                  <p:cNvPr id="34839" name="Picture 7"/>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3105" y="2485"/>
                    <a:ext cx="2309" cy="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4840" name="Line 8"/>
                  <p:cNvSpPr>
                    <a:spLocks noChangeShapeType="1"/>
                  </p:cNvSpPr>
                  <p:nvPr/>
                </p:nvSpPr>
                <p:spPr bwMode="auto">
                  <a:xfrm flipH="1">
                    <a:off x="4386" y="2925"/>
                    <a:ext cx="0" cy="949"/>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4841" name="Line 11"/>
                  <p:cNvSpPr>
                    <a:spLocks noChangeShapeType="1"/>
                  </p:cNvSpPr>
                  <p:nvPr/>
                </p:nvSpPr>
                <p:spPr bwMode="auto">
                  <a:xfrm>
                    <a:off x="4030" y="2930"/>
                    <a:ext cx="354" cy="0"/>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4842" name="Line 14"/>
                  <p:cNvSpPr>
                    <a:spLocks noChangeShapeType="1"/>
                  </p:cNvSpPr>
                  <p:nvPr/>
                </p:nvSpPr>
                <p:spPr bwMode="auto">
                  <a:xfrm>
                    <a:off x="3537" y="2920"/>
                    <a:ext cx="485" cy="0"/>
                  </a:xfrm>
                  <a:prstGeom prst="line">
                    <a:avLst/>
                  </a:prstGeom>
                  <a:noFill/>
                  <a:ln w="9525">
                    <a:solidFill>
                      <a:schemeClr val="tx1"/>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34833" name="Line 21"/>
                <p:cNvSpPr>
                  <a:spLocks noChangeShapeType="1"/>
                </p:cNvSpPr>
                <p:nvPr/>
              </p:nvSpPr>
              <p:spPr bwMode="auto">
                <a:xfrm>
                  <a:off x="4881" y="3191"/>
                  <a:ext cx="0" cy="681"/>
                </a:xfrm>
                <a:prstGeom prst="line">
                  <a:avLst/>
                </a:prstGeom>
                <a:noFill/>
                <a:ln w="57150">
                  <a:solidFill>
                    <a:schemeClr val="accent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4834" name="Line 22"/>
                <p:cNvSpPr>
                  <a:spLocks noChangeShapeType="1"/>
                </p:cNvSpPr>
                <p:nvPr/>
              </p:nvSpPr>
              <p:spPr bwMode="auto">
                <a:xfrm>
                  <a:off x="3990" y="3193"/>
                  <a:ext cx="899" cy="0"/>
                </a:xfrm>
                <a:prstGeom prst="line">
                  <a:avLst/>
                </a:prstGeom>
                <a:noFill/>
                <a:ln w="57150">
                  <a:solidFill>
                    <a:schemeClr val="accent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4835" name="Line 23"/>
                <p:cNvSpPr>
                  <a:spLocks noChangeShapeType="1"/>
                </p:cNvSpPr>
                <p:nvPr/>
              </p:nvSpPr>
              <p:spPr bwMode="auto">
                <a:xfrm>
                  <a:off x="3527" y="3184"/>
                  <a:ext cx="475" cy="0"/>
                </a:xfrm>
                <a:prstGeom prst="line">
                  <a:avLst/>
                </a:prstGeom>
                <a:noFill/>
                <a:ln w="9525">
                  <a:solidFill>
                    <a:schemeClr val="accent1"/>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4836" name="Line 24"/>
                <p:cNvSpPr>
                  <a:spLocks noChangeShapeType="1"/>
                </p:cNvSpPr>
                <p:nvPr/>
              </p:nvSpPr>
              <p:spPr bwMode="auto">
                <a:xfrm>
                  <a:off x="3527" y="2929"/>
                  <a:ext cx="485" cy="0"/>
                </a:xfrm>
                <a:prstGeom prst="line">
                  <a:avLst/>
                </a:prstGeom>
                <a:noFill/>
                <a:ln w="38100">
                  <a:solidFill>
                    <a:srgbClr val="D60093"/>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4837" name="Line 25"/>
                <p:cNvSpPr>
                  <a:spLocks noChangeShapeType="1"/>
                </p:cNvSpPr>
                <p:nvPr/>
              </p:nvSpPr>
              <p:spPr bwMode="auto">
                <a:xfrm>
                  <a:off x="4004" y="2745"/>
                  <a:ext cx="0" cy="1127"/>
                </a:xfrm>
                <a:prstGeom prst="line">
                  <a:avLst/>
                </a:prstGeom>
                <a:noFill/>
                <a:ln w="57150">
                  <a:solidFill>
                    <a:schemeClr val="accent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4838" name="Line 26"/>
                <p:cNvSpPr>
                  <a:spLocks noChangeShapeType="1"/>
                </p:cNvSpPr>
                <p:nvPr/>
              </p:nvSpPr>
              <p:spPr bwMode="auto">
                <a:xfrm>
                  <a:off x="3527" y="2769"/>
                  <a:ext cx="485" cy="0"/>
                </a:xfrm>
                <a:prstGeom prst="line">
                  <a:avLst/>
                </a:prstGeom>
                <a:noFill/>
                <a:ln w="9525">
                  <a:solidFill>
                    <a:schemeClr val="accent1"/>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34831" name="Text Box 31"/>
              <p:cNvSpPr txBox="1">
                <a:spLocks noChangeArrowheads="1"/>
              </p:cNvSpPr>
              <p:nvPr/>
            </p:nvSpPr>
            <p:spPr bwMode="auto">
              <a:xfrm>
                <a:off x="3022" y="2764"/>
                <a:ext cx="641" cy="2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en-US" altLang="zh-CN" sz="1800" b="1"/>
                  <a:t>0.12</a:t>
                </a:r>
              </a:p>
            </p:txBody>
          </p:sp>
        </p:grpSp>
        <p:sp>
          <p:nvSpPr>
            <p:cNvPr id="103457" name="AutoShape 33"/>
            <p:cNvSpPr>
              <a:spLocks noChangeArrowheads="1"/>
            </p:cNvSpPr>
            <p:nvPr/>
          </p:nvSpPr>
          <p:spPr bwMode="auto">
            <a:xfrm>
              <a:off x="7769225" y="4449763"/>
              <a:ext cx="1025525" cy="609600"/>
            </a:xfrm>
            <a:prstGeom prst="wedgeEllipseCallout">
              <a:avLst>
                <a:gd name="adj1" fmla="val -127088"/>
                <a:gd name="adj2" fmla="val 204167"/>
              </a:avLst>
            </a:prstGeom>
            <a:noFill/>
            <a:ln w="38100">
              <a:solidFill>
                <a:srgbClr val="D60093"/>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sz="1800" b="1"/>
                <a:t>19.98</a:t>
              </a:r>
            </a:p>
          </p:txBody>
        </p:sp>
      </p:grpSp>
      <p:graphicFrame>
        <p:nvGraphicFramePr>
          <p:cNvPr id="103459" name="Object 35"/>
          <p:cNvGraphicFramePr>
            <a:graphicFrameLocks noChangeAspect="1"/>
          </p:cNvGraphicFramePr>
          <p:nvPr/>
        </p:nvGraphicFramePr>
        <p:xfrm>
          <a:off x="1502420" y="5564212"/>
          <a:ext cx="3261784" cy="486590"/>
        </p:xfrm>
        <a:graphic>
          <a:graphicData uri="http://schemas.openxmlformats.org/presentationml/2006/ole">
            <p:oleObj spid="_x0000_s15371" name="公式" r:id="rId8" imgW="29260800" imgH="5791200" progId="">
              <p:embed/>
            </p:oleObj>
          </a:graphicData>
        </a:graphic>
      </p:graphicFrame>
      <p:grpSp>
        <p:nvGrpSpPr>
          <p:cNvPr id="103462" name="Group 38"/>
          <p:cNvGrpSpPr/>
          <p:nvPr/>
        </p:nvGrpSpPr>
        <p:grpSpPr bwMode="auto">
          <a:xfrm>
            <a:off x="1233286" y="4923061"/>
            <a:ext cx="6017367" cy="623463"/>
            <a:chOff x="337" y="1809"/>
            <a:chExt cx="3897" cy="468"/>
          </a:xfrm>
        </p:grpSpPr>
        <p:graphicFrame>
          <p:nvGraphicFramePr>
            <p:cNvPr id="34828" name="Object 34"/>
            <p:cNvGraphicFramePr>
              <a:graphicFrameLocks noChangeAspect="1"/>
            </p:cNvGraphicFramePr>
            <p:nvPr/>
          </p:nvGraphicFramePr>
          <p:xfrm>
            <a:off x="337" y="1891"/>
            <a:ext cx="3897" cy="315"/>
          </p:xfrm>
          <a:graphic>
            <a:graphicData uri="http://schemas.openxmlformats.org/presentationml/2006/ole">
              <p:oleObj spid="_x0000_s15372" name="公式" r:id="rId9" imgW="71932800" imgH="5791200" progId="">
                <p:embed/>
              </p:oleObj>
            </a:graphicData>
          </a:graphic>
        </p:graphicFrame>
        <p:sp>
          <p:nvSpPr>
            <p:cNvPr id="34829" name="AutoShape 36"/>
            <p:cNvSpPr>
              <a:spLocks noChangeArrowheads="1"/>
            </p:cNvSpPr>
            <p:nvPr/>
          </p:nvSpPr>
          <p:spPr bwMode="auto">
            <a:xfrm>
              <a:off x="3164" y="1809"/>
              <a:ext cx="706" cy="468"/>
            </a:xfrm>
            <a:prstGeom prst="rightArrow">
              <a:avLst>
                <a:gd name="adj1" fmla="val 50000"/>
                <a:gd name="adj2" fmla="val 37714"/>
              </a:avLst>
            </a:prstGeom>
            <a:noFill/>
            <a:ln w="38100">
              <a:solidFill>
                <a:srgbClr val="D60093"/>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sz="2000" b="1"/>
                <a:t>补偿</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103428"/>
                                        </p:tgtEl>
                                        <p:attrNameLst>
                                          <p:attrName>style.visibility</p:attrName>
                                        </p:attrNameLst>
                                      </p:cBhvr>
                                      <p:to>
                                        <p:strVal val="visible"/>
                                      </p:to>
                                    </p:set>
                                    <p:anim calcmode="lin" valueType="num">
                                      <p:cBhvr additive="base">
                                        <p:cTn id="7" dur="2000" fill="hold"/>
                                        <p:tgtEl>
                                          <p:spTgt spid="103428"/>
                                        </p:tgtEl>
                                        <p:attrNameLst>
                                          <p:attrName>ppt_x</p:attrName>
                                        </p:attrNameLst>
                                      </p:cBhvr>
                                      <p:tavLst>
                                        <p:tav tm="0">
                                          <p:val>
                                            <p:strVal val="0-#ppt_w/2"/>
                                          </p:val>
                                        </p:tav>
                                        <p:tav tm="100000">
                                          <p:val>
                                            <p:strVal val="#ppt_x"/>
                                          </p:val>
                                        </p:tav>
                                      </p:tavLst>
                                    </p:anim>
                                    <p:anim calcmode="lin" valueType="num">
                                      <p:cBhvr additive="base">
                                        <p:cTn id="8" dur="2000" fill="hold"/>
                                        <p:tgtEl>
                                          <p:spTgt spid="1034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03434"/>
                                        </p:tgtEl>
                                        <p:attrNameLst>
                                          <p:attrName>style.visibility</p:attrName>
                                        </p:attrNameLst>
                                      </p:cBhvr>
                                      <p:to>
                                        <p:strVal val="visible"/>
                                      </p:to>
                                    </p:set>
                                    <p:animEffect transition="in" filter="wipe(left)">
                                      <p:cBhvr>
                                        <p:cTn id="13" dur="2000"/>
                                        <p:tgtEl>
                                          <p:spTgt spid="10343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03442"/>
                                        </p:tgtEl>
                                        <p:attrNameLst>
                                          <p:attrName>style.visibility</p:attrName>
                                        </p:attrNameLst>
                                      </p:cBhvr>
                                      <p:to>
                                        <p:strVal val="visible"/>
                                      </p:to>
                                    </p:set>
                                    <p:animEffect transition="in" filter="wipe(left)">
                                      <p:cBhvr>
                                        <p:cTn id="18" dur="2000"/>
                                        <p:tgtEl>
                                          <p:spTgt spid="10344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03443"/>
                                        </p:tgtEl>
                                        <p:attrNameLst>
                                          <p:attrName>style.visibility</p:attrName>
                                        </p:attrNameLst>
                                      </p:cBhvr>
                                      <p:to>
                                        <p:strVal val="visible"/>
                                      </p:to>
                                    </p:set>
                                    <p:animEffect transition="in" filter="wipe(left)">
                                      <p:cBhvr>
                                        <p:cTn id="23" dur="2000"/>
                                        <p:tgtEl>
                                          <p:spTgt spid="10344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03462"/>
                                        </p:tgtEl>
                                        <p:attrNameLst>
                                          <p:attrName>style.visibility</p:attrName>
                                        </p:attrNameLst>
                                      </p:cBhvr>
                                      <p:to>
                                        <p:strVal val="visible"/>
                                      </p:to>
                                    </p:set>
                                    <p:animEffect transition="in" filter="wipe(left)">
                                      <p:cBhvr>
                                        <p:cTn id="28" dur="2000"/>
                                        <p:tgtEl>
                                          <p:spTgt spid="10346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03459"/>
                                        </p:tgtEl>
                                        <p:attrNameLst>
                                          <p:attrName>style.visibility</p:attrName>
                                        </p:attrNameLst>
                                      </p:cBhvr>
                                      <p:to>
                                        <p:strVal val="visible"/>
                                      </p:to>
                                    </p:set>
                                    <p:animEffect transition="in" filter="wipe(left)">
                                      <p:cBhvr>
                                        <p:cTn id="33" dur="2000"/>
                                        <p:tgtEl>
                                          <p:spTgt spid="103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9" name="Text Box 5"/>
          <p:cNvSpPr txBox="1">
            <a:spLocks noChangeArrowheads="1"/>
          </p:cNvSpPr>
          <p:nvPr/>
        </p:nvSpPr>
        <p:spPr bwMode="auto">
          <a:xfrm>
            <a:off x="415653" y="1198998"/>
            <a:ext cx="8359245" cy="755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pPr>
            <a:r>
              <a:rPr lang="zh-CN" altLang="en-US" sz="1800" b="1" dirty="0"/>
              <a:t>        可逆要求（</a:t>
            </a:r>
            <a:r>
              <a:rPr lang="en-US" altLang="zh-CN" sz="1800" b="1" dirty="0"/>
              <a:t>RR)</a:t>
            </a:r>
            <a:r>
              <a:rPr lang="zh-CN" altLang="en-US" sz="1800" b="1" dirty="0"/>
              <a:t>用于最大实体要求</a:t>
            </a:r>
            <a:r>
              <a:rPr lang="en-US" altLang="zh-CN" sz="1800" b="1" dirty="0"/>
              <a:t>(MMR</a:t>
            </a:r>
            <a:r>
              <a:rPr lang="en-US" altLang="zh-CN" sz="1800" b="1" dirty="0" smtClean="0"/>
              <a:t>)</a:t>
            </a:r>
            <a:r>
              <a:rPr lang="zh-CN" altLang="en-US" sz="1800" b="1" dirty="0" smtClean="0"/>
              <a:t> </a:t>
            </a:r>
            <a:r>
              <a:rPr lang="en-US" altLang="zh-CN" sz="1800" b="1" dirty="0" smtClean="0"/>
              <a:t>。</a:t>
            </a:r>
            <a:r>
              <a:rPr lang="zh-CN" altLang="en-US" sz="1800" b="1" dirty="0">
                <a:solidFill>
                  <a:srgbClr val="FF3300"/>
                </a:solidFill>
              </a:rPr>
              <a:t>可逆要求不能单独使用</a:t>
            </a:r>
            <a:r>
              <a:rPr lang="zh-CN" altLang="en-US" sz="1800" b="1" dirty="0"/>
              <a:t>，只能与最大实体</a:t>
            </a:r>
            <a:r>
              <a:rPr lang="zh-CN" altLang="en-US" sz="1800" b="1" dirty="0" smtClean="0"/>
              <a:t>要求或最小</a:t>
            </a:r>
            <a:r>
              <a:rPr lang="zh-CN" altLang="en-US" sz="1800" b="1" dirty="0"/>
              <a:t>实体要求一起使用，也没有自己的边界。</a:t>
            </a:r>
          </a:p>
        </p:txBody>
      </p:sp>
      <p:sp>
        <p:nvSpPr>
          <p:cNvPr id="67610" name="Text Box 26"/>
          <p:cNvSpPr txBox="1">
            <a:spLocks noChangeArrowheads="1"/>
          </p:cNvSpPr>
          <p:nvPr/>
        </p:nvSpPr>
        <p:spPr bwMode="auto">
          <a:xfrm>
            <a:off x="392113" y="421481"/>
            <a:ext cx="7046912"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5.  </a:t>
            </a:r>
            <a:r>
              <a:rPr lang="zh-CN" altLang="en-US" b="1" dirty="0"/>
              <a:t>可逆要求（</a:t>
            </a:r>
            <a:r>
              <a:rPr lang="en-US" altLang="zh-CN" b="1" dirty="0"/>
              <a:t>RR</a:t>
            </a:r>
            <a:r>
              <a:rPr lang="zh-CN" altLang="en-US" b="1" dirty="0"/>
              <a:t>）用于最大实体要求（</a:t>
            </a:r>
            <a:r>
              <a:rPr lang="en-US" altLang="zh-CN" b="1" dirty="0"/>
              <a:t>MMR</a:t>
            </a:r>
            <a:r>
              <a:rPr lang="zh-CN" altLang="en-US" b="1" dirty="0"/>
              <a:t>）</a:t>
            </a:r>
          </a:p>
        </p:txBody>
      </p:sp>
      <p:grpSp>
        <p:nvGrpSpPr>
          <p:cNvPr id="67681" name="Group 97"/>
          <p:cNvGrpSpPr/>
          <p:nvPr/>
        </p:nvGrpSpPr>
        <p:grpSpPr bwMode="auto">
          <a:xfrm>
            <a:off x="602358" y="4300213"/>
            <a:ext cx="3748088" cy="1557337"/>
            <a:chOff x="453" y="834"/>
            <a:chExt cx="2361" cy="1308"/>
          </a:xfrm>
        </p:grpSpPr>
        <p:sp>
          <p:nvSpPr>
            <p:cNvPr id="35858" name="Rectangle 30"/>
            <p:cNvSpPr>
              <a:spLocks noChangeArrowheads="1"/>
            </p:cNvSpPr>
            <p:nvPr/>
          </p:nvSpPr>
          <p:spPr bwMode="auto">
            <a:xfrm>
              <a:off x="928" y="1041"/>
              <a:ext cx="1485" cy="387"/>
            </a:xfrm>
            <a:prstGeom prst="rect">
              <a:avLst/>
            </a:prstGeom>
            <a:noFill/>
            <a:ln w="9525">
              <a:solidFill>
                <a:schemeClr val="bg1"/>
              </a:solidFill>
              <a:miter lim="800000"/>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nvGrpSpPr>
            <p:cNvPr id="35859" name="Group 36"/>
            <p:cNvGrpSpPr/>
            <p:nvPr/>
          </p:nvGrpSpPr>
          <p:grpSpPr bwMode="auto">
            <a:xfrm>
              <a:off x="1153" y="834"/>
              <a:ext cx="1016" cy="225"/>
              <a:chOff x="1251" y="693"/>
              <a:chExt cx="1016" cy="225"/>
            </a:xfrm>
          </p:grpSpPr>
          <p:sp>
            <p:nvSpPr>
              <p:cNvPr id="35876" name="Rectangle 32"/>
              <p:cNvSpPr>
                <a:spLocks noChangeArrowheads="1"/>
              </p:cNvSpPr>
              <p:nvPr/>
            </p:nvSpPr>
            <p:spPr bwMode="auto">
              <a:xfrm>
                <a:off x="1251" y="693"/>
                <a:ext cx="261" cy="225"/>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a:t>－</a:t>
                </a:r>
              </a:p>
            </p:txBody>
          </p:sp>
          <p:sp>
            <p:nvSpPr>
              <p:cNvPr id="35877" name="Rectangle 33"/>
              <p:cNvSpPr>
                <a:spLocks noChangeArrowheads="1"/>
              </p:cNvSpPr>
              <p:nvPr/>
            </p:nvSpPr>
            <p:spPr bwMode="auto">
              <a:xfrm>
                <a:off x="1519" y="693"/>
                <a:ext cx="748" cy="225"/>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zh-CN" sz="1600" i="1" dirty="0"/>
                  <a:t>Φ</a:t>
                </a:r>
                <a:r>
                  <a:rPr lang="en-US" altLang="zh-CN" sz="1600" dirty="0"/>
                  <a:t>0.1</a:t>
                </a:r>
              </a:p>
            </p:txBody>
          </p:sp>
          <p:sp>
            <p:nvSpPr>
              <p:cNvPr id="35878" name="Oval 34"/>
              <p:cNvSpPr>
                <a:spLocks noChangeArrowheads="1"/>
              </p:cNvSpPr>
              <p:nvPr/>
            </p:nvSpPr>
            <p:spPr bwMode="auto">
              <a:xfrm flipV="1">
                <a:off x="1842" y="702"/>
                <a:ext cx="159" cy="212"/>
              </a:xfrm>
              <a:prstGeom prst="ellipse">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p>
                <a:pPr algn="ctr"/>
                <a:r>
                  <a:rPr lang="en-US" altLang="zh-CN" sz="2000"/>
                  <a:t>M</a:t>
                </a:r>
              </a:p>
            </p:txBody>
          </p:sp>
          <p:sp>
            <p:nvSpPr>
              <p:cNvPr id="35879" name="Oval 35"/>
              <p:cNvSpPr>
                <a:spLocks noChangeArrowheads="1"/>
              </p:cNvSpPr>
              <p:nvPr/>
            </p:nvSpPr>
            <p:spPr bwMode="auto">
              <a:xfrm flipV="1">
                <a:off x="2038" y="703"/>
                <a:ext cx="159" cy="212"/>
              </a:xfrm>
              <a:prstGeom prst="ellipse">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p>
                <a:pPr algn="ctr"/>
                <a:r>
                  <a:rPr lang="en-US" altLang="zh-CN" sz="2000"/>
                  <a:t>R</a:t>
                </a:r>
              </a:p>
            </p:txBody>
          </p:sp>
        </p:grpSp>
        <p:sp>
          <p:nvSpPr>
            <p:cNvPr id="35860" name="Rectangle 39"/>
            <p:cNvSpPr>
              <a:spLocks noChangeArrowheads="1"/>
            </p:cNvSpPr>
            <p:nvPr/>
          </p:nvSpPr>
          <p:spPr bwMode="auto">
            <a:xfrm>
              <a:off x="1072" y="1248"/>
              <a:ext cx="1467" cy="504"/>
            </a:xfrm>
            <a:prstGeom prst="rect">
              <a:avLst/>
            </a:prstGeom>
            <a:solidFill>
              <a:schemeClr val="bg1"/>
            </a:solidFill>
            <a:ln w="38100">
              <a:solidFill>
                <a:schemeClr val="tx1"/>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35861" name="Line 40"/>
            <p:cNvSpPr>
              <a:spLocks noChangeShapeType="1"/>
            </p:cNvSpPr>
            <p:nvPr/>
          </p:nvSpPr>
          <p:spPr bwMode="auto">
            <a:xfrm>
              <a:off x="910" y="1491"/>
              <a:ext cx="1818" cy="0"/>
            </a:xfrm>
            <a:prstGeom prst="line">
              <a:avLst/>
            </a:prstGeom>
            <a:noFill/>
            <a:ln w="28575">
              <a:solidFill>
                <a:schemeClr val="tx1"/>
              </a:solidFill>
              <a:prstDash val="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2" name="Line 41"/>
            <p:cNvSpPr>
              <a:spLocks noChangeShapeType="1"/>
            </p:cNvSpPr>
            <p:nvPr/>
          </p:nvSpPr>
          <p:spPr bwMode="auto">
            <a:xfrm>
              <a:off x="714" y="1241"/>
              <a:ext cx="477"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3" name="Line 42"/>
            <p:cNvSpPr>
              <a:spLocks noChangeShapeType="1"/>
            </p:cNvSpPr>
            <p:nvPr/>
          </p:nvSpPr>
          <p:spPr bwMode="auto">
            <a:xfrm>
              <a:off x="735" y="1759"/>
              <a:ext cx="477"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4" name="Line 43"/>
            <p:cNvSpPr>
              <a:spLocks noChangeShapeType="1"/>
            </p:cNvSpPr>
            <p:nvPr/>
          </p:nvSpPr>
          <p:spPr bwMode="auto">
            <a:xfrm flipV="1">
              <a:off x="823" y="942"/>
              <a:ext cx="0" cy="297"/>
            </a:xfrm>
            <a:prstGeom prst="line">
              <a:avLst/>
            </a:prstGeom>
            <a:noFill/>
            <a:ln w="28575">
              <a:solidFill>
                <a:schemeClr val="tx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5" name="Line 44"/>
            <p:cNvSpPr>
              <a:spLocks noChangeShapeType="1"/>
            </p:cNvSpPr>
            <p:nvPr/>
          </p:nvSpPr>
          <p:spPr bwMode="auto">
            <a:xfrm>
              <a:off x="820" y="942"/>
              <a:ext cx="317"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6" name="Line 45"/>
            <p:cNvSpPr>
              <a:spLocks noChangeShapeType="1"/>
            </p:cNvSpPr>
            <p:nvPr/>
          </p:nvSpPr>
          <p:spPr bwMode="auto">
            <a:xfrm>
              <a:off x="820" y="1239"/>
              <a:ext cx="0" cy="513"/>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7" name="Text Box 48"/>
            <p:cNvSpPr txBox="1">
              <a:spLocks noChangeArrowheads="1"/>
            </p:cNvSpPr>
            <p:nvPr/>
          </p:nvSpPr>
          <p:spPr bwMode="auto">
            <a:xfrm>
              <a:off x="699" y="1884"/>
              <a:ext cx="2115" cy="2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1400" b="1" dirty="0">
                  <a:latin typeface="宋体" panose="02010600030101010101" pitchFamily="2" charset="-122"/>
                </a:rPr>
                <a:t>可逆要求用于最大实体要求的图样标注</a:t>
              </a:r>
            </a:p>
          </p:txBody>
        </p:sp>
        <p:grpSp>
          <p:nvGrpSpPr>
            <p:cNvPr id="35868" name="Group 96"/>
            <p:cNvGrpSpPr/>
            <p:nvPr/>
          </p:nvGrpSpPr>
          <p:grpSpPr bwMode="auto">
            <a:xfrm rot="-5400000">
              <a:off x="257" y="1340"/>
              <a:ext cx="645" cy="252"/>
              <a:chOff x="2687" y="2252"/>
              <a:chExt cx="645" cy="252"/>
            </a:xfrm>
          </p:grpSpPr>
          <p:sp>
            <p:nvSpPr>
              <p:cNvPr id="35869" name="AutoShape 88"/>
              <p:cNvSpPr>
                <a:spLocks noChangeAspect="1" noChangeArrowheads="1" noTextEdit="1"/>
              </p:cNvSpPr>
              <p:nvPr/>
            </p:nvSpPr>
            <p:spPr bwMode="auto">
              <a:xfrm>
                <a:off x="2711" y="2252"/>
                <a:ext cx="546"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35870" name="Rectangle 90"/>
              <p:cNvSpPr>
                <a:spLocks noChangeArrowheads="1"/>
              </p:cNvSpPr>
              <p:nvPr/>
            </p:nvSpPr>
            <p:spPr bwMode="auto">
              <a:xfrm>
                <a:off x="3002" y="2269"/>
                <a:ext cx="64" cy="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a:t>
                </a:r>
                <a:endParaRPr lang="en-US" altLang="zh-CN"/>
              </a:p>
            </p:txBody>
          </p:sp>
          <p:sp>
            <p:nvSpPr>
              <p:cNvPr id="35871" name="Rectangle 91"/>
              <p:cNvSpPr>
                <a:spLocks noChangeArrowheads="1"/>
              </p:cNvSpPr>
              <p:nvPr/>
            </p:nvSpPr>
            <p:spPr bwMode="auto">
              <a:xfrm>
                <a:off x="2986" y="2269"/>
                <a:ext cx="32" cy="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zh-CN" altLang="en-US" sz="1200">
                    <a:solidFill>
                      <a:srgbClr val="000000"/>
                    </a:solidFill>
                  </a:rPr>
                  <a:t> </a:t>
                </a:r>
                <a:endParaRPr lang="zh-CN" altLang="en-US"/>
              </a:p>
            </p:txBody>
          </p:sp>
          <p:sp>
            <p:nvSpPr>
              <p:cNvPr id="35872" name="Rectangle 92"/>
              <p:cNvSpPr>
                <a:spLocks noChangeArrowheads="1"/>
              </p:cNvSpPr>
              <p:nvPr/>
            </p:nvSpPr>
            <p:spPr bwMode="auto">
              <a:xfrm>
                <a:off x="3001" y="2386"/>
                <a:ext cx="331" cy="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-0.033</a:t>
                </a:r>
                <a:endParaRPr lang="en-US" altLang="zh-CN"/>
              </a:p>
            </p:txBody>
          </p:sp>
          <p:sp>
            <p:nvSpPr>
              <p:cNvPr id="35874" name="Rectangle 94"/>
              <p:cNvSpPr>
                <a:spLocks noChangeArrowheads="1"/>
              </p:cNvSpPr>
              <p:nvPr/>
            </p:nvSpPr>
            <p:spPr bwMode="auto">
              <a:xfrm>
                <a:off x="2810" y="2323"/>
                <a:ext cx="149" cy="1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400">
                    <a:solidFill>
                      <a:srgbClr val="000000"/>
                    </a:solidFill>
                  </a:rPr>
                  <a:t>20</a:t>
                </a:r>
              </a:p>
            </p:txBody>
          </p:sp>
          <p:sp>
            <p:nvSpPr>
              <p:cNvPr id="35875" name="Rectangle 95"/>
              <p:cNvSpPr>
                <a:spLocks noChangeArrowheads="1"/>
              </p:cNvSpPr>
              <p:nvPr/>
            </p:nvSpPr>
            <p:spPr bwMode="auto">
              <a:xfrm>
                <a:off x="2687" y="2275"/>
                <a:ext cx="110"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Symbol" panose="05050102010706020507" pitchFamily="18" charset="2"/>
                  </a:rPr>
                  <a:t>f</a:t>
                </a:r>
                <a:endParaRPr lang="en-US" altLang="zh-CN"/>
              </a:p>
            </p:txBody>
          </p:sp>
        </p:grpSp>
      </p:grpSp>
      <p:graphicFrame>
        <p:nvGraphicFramePr>
          <p:cNvPr id="67687" name="Object 103"/>
          <p:cNvGraphicFramePr>
            <a:graphicFrameLocks noChangeAspect="1"/>
          </p:cNvGraphicFramePr>
          <p:nvPr/>
        </p:nvGraphicFramePr>
        <p:xfrm>
          <a:off x="752475" y="2479040"/>
          <a:ext cx="7211060" cy="403860"/>
        </p:xfrm>
        <a:graphic>
          <a:graphicData uri="http://schemas.openxmlformats.org/presentationml/2006/ole">
            <p:oleObj spid="_x0000_s16391" name="公式" r:id="rId4" imgW="80162400" imgH="5791200" progId="">
              <p:embed/>
            </p:oleObj>
          </a:graphicData>
        </a:graphic>
      </p:graphicFrame>
      <p:grpSp>
        <p:nvGrpSpPr>
          <p:cNvPr id="67691" name="Group 107"/>
          <p:cNvGrpSpPr/>
          <p:nvPr/>
        </p:nvGrpSpPr>
        <p:grpSpPr bwMode="auto">
          <a:xfrm>
            <a:off x="4770439" y="3475435"/>
            <a:ext cx="3676650" cy="2918220"/>
            <a:chOff x="3005" y="2199"/>
            <a:chExt cx="2316" cy="2451"/>
          </a:xfrm>
        </p:grpSpPr>
        <p:pic>
          <p:nvPicPr>
            <p:cNvPr id="35854" name="Picture 98"/>
            <p:cNvPicPr>
              <a:picLocks noChangeAspect="1" noChangeArrowheads="1"/>
            </p:cNvPicPr>
            <p:nvPr/>
          </p:nvPicPr>
          <p:blipFill>
            <a:blip r:embed="rId5" cstate="print">
              <a:extLst>
                <a:ext uri="{28A0092B-C50C-407E-A947-70E740481C1C}">
                  <a14:useLocalDpi xmlns:a14="http://schemas.microsoft.com/office/drawing/2010/main" xmlns="" val="0"/>
                </a:ext>
              </a:extLst>
            </a:blip>
            <a:srcRect b="7593"/>
            <a:stretch>
              <a:fillRect/>
            </a:stretch>
          </p:blipFill>
          <p:spPr bwMode="auto">
            <a:xfrm>
              <a:off x="3005" y="2199"/>
              <a:ext cx="2316" cy="21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5855" name="Text Box 99"/>
            <p:cNvSpPr txBox="1">
              <a:spLocks noChangeArrowheads="1"/>
            </p:cNvSpPr>
            <p:nvPr/>
          </p:nvSpPr>
          <p:spPr bwMode="auto">
            <a:xfrm>
              <a:off x="3767" y="4392"/>
              <a:ext cx="736" cy="25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t>动态公差图</a:t>
              </a:r>
            </a:p>
          </p:txBody>
        </p:sp>
        <p:sp>
          <p:nvSpPr>
            <p:cNvPr id="35856" name="Line 104"/>
            <p:cNvSpPr>
              <a:spLocks noChangeShapeType="1"/>
            </p:cNvSpPr>
            <p:nvPr/>
          </p:nvSpPr>
          <p:spPr bwMode="auto">
            <a:xfrm>
              <a:off x="3665" y="2820"/>
              <a:ext cx="0" cy="1330"/>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57" name="Line 105"/>
            <p:cNvSpPr>
              <a:spLocks noChangeShapeType="1"/>
            </p:cNvSpPr>
            <p:nvPr/>
          </p:nvSpPr>
          <p:spPr bwMode="auto">
            <a:xfrm>
              <a:off x="3497" y="2844"/>
              <a:ext cx="159" cy="0"/>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aphicFrame>
        <p:nvGraphicFramePr>
          <p:cNvPr id="67690" name="Object 106"/>
          <p:cNvGraphicFramePr>
            <a:graphicFrameLocks noChangeAspect="1"/>
          </p:cNvGraphicFramePr>
          <p:nvPr/>
        </p:nvGraphicFramePr>
        <p:xfrm>
          <a:off x="755015" y="2945130"/>
          <a:ext cx="7767320" cy="403860"/>
        </p:xfrm>
        <a:graphic>
          <a:graphicData uri="http://schemas.openxmlformats.org/presentationml/2006/ole">
            <p:oleObj spid="_x0000_s16392" name="公式" r:id="rId6" imgW="86563200" imgH="5791200" progId="">
              <p:embed/>
            </p:oleObj>
          </a:graphicData>
        </a:graphic>
      </p:graphicFrame>
      <p:grpSp>
        <p:nvGrpSpPr>
          <p:cNvPr id="67695" name="Group 111"/>
          <p:cNvGrpSpPr/>
          <p:nvPr/>
        </p:nvGrpSpPr>
        <p:grpSpPr bwMode="auto">
          <a:xfrm>
            <a:off x="1638301" y="3480197"/>
            <a:ext cx="2166937" cy="457200"/>
            <a:chOff x="930" y="2203"/>
            <a:chExt cx="1365" cy="384"/>
          </a:xfrm>
        </p:grpSpPr>
        <p:sp>
          <p:nvSpPr>
            <p:cNvPr id="35852" name="AutoShape 108"/>
            <p:cNvSpPr>
              <a:spLocks noChangeArrowheads="1"/>
            </p:cNvSpPr>
            <p:nvPr/>
          </p:nvSpPr>
          <p:spPr bwMode="auto">
            <a:xfrm>
              <a:off x="930" y="2203"/>
              <a:ext cx="1365" cy="384"/>
            </a:xfrm>
            <a:prstGeom prst="wedgeEllipseCallout">
              <a:avLst>
                <a:gd name="adj1" fmla="val 124520"/>
                <a:gd name="adj2" fmla="val 111440"/>
              </a:avLst>
            </a:prstGeom>
            <a:noFill/>
            <a:ln w="38100">
              <a:solidFill>
                <a:srgbClr val="D60093"/>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a:p>
          </p:txBody>
        </p:sp>
        <p:graphicFrame>
          <p:nvGraphicFramePr>
            <p:cNvPr id="35853" name="Object 110"/>
            <p:cNvGraphicFramePr>
              <a:graphicFrameLocks noChangeAspect="1"/>
            </p:cNvGraphicFramePr>
            <p:nvPr/>
          </p:nvGraphicFramePr>
          <p:xfrm>
            <a:off x="1095" y="2285"/>
            <a:ext cx="945" cy="244"/>
          </p:xfrm>
          <a:graphic>
            <a:graphicData uri="http://schemas.openxmlformats.org/presentationml/2006/ole">
              <p:oleObj spid="_x0000_s16393" name="公式" r:id="rId7" imgW="21336000" imgH="5486400" progId="">
                <p:embed/>
              </p:oleObj>
            </a:graphicData>
          </a:graphic>
        </p:graphicFrame>
      </p:grpSp>
      <p:graphicFrame>
        <p:nvGraphicFramePr>
          <p:cNvPr id="67696" name="Object 112"/>
          <p:cNvGraphicFramePr>
            <a:graphicFrameLocks noChangeAspect="1"/>
          </p:cNvGraphicFramePr>
          <p:nvPr/>
        </p:nvGraphicFramePr>
        <p:xfrm>
          <a:off x="765175" y="2041525"/>
          <a:ext cx="3357880" cy="396240"/>
        </p:xfrm>
        <a:graphic>
          <a:graphicData uri="http://schemas.openxmlformats.org/presentationml/2006/ole">
            <p:oleObj spid="_x0000_s16394" name="公式" r:id="rId8" imgW="38404800" imgH="5791200" progId="">
              <p:embed/>
            </p:oleObj>
          </a:graphicData>
        </a:graphic>
      </p:graphicFrame>
      <p:cxnSp>
        <p:nvCxnSpPr>
          <p:cNvPr id="39" name="直接连接符 38"/>
          <p:cNvCxnSpPr/>
          <p:nvPr/>
        </p:nvCxnSpPr>
        <p:spPr bwMode="auto">
          <a:xfrm flipV="1">
            <a:off x="205879" y="102337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67610"/>
                                        </p:tgtEl>
                                        <p:attrNameLst>
                                          <p:attrName>style.visibility</p:attrName>
                                        </p:attrNameLst>
                                      </p:cBhvr>
                                      <p:to>
                                        <p:strVal val="visible"/>
                                      </p:to>
                                    </p:set>
                                    <p:animEffect transition="in" filter="wipe(left)">
                                      <p:cBhvr>
                                        <p:cTn id="7" dur="300"/>
                                        <p:tgtEl>
                                          <p:spTgt spid="676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7589"/>
                                        </p:tgtEl>
                                        <p:attrNameLst>
                                          <p:attrName>style.visibility</p:attrName>
                                        </p:attrNameLst>
                                      </p:cBhvr>
                                      <p:to>
                                        <p:strVal val="visible"/>
                                      </p:to>
                                    </p:set>
                                    <p:animEffect transition="in" filter="wipe(left)">
                                      <p:cBhvr>
                                        <p:cTn id="12" dur="300"/>
                                        <p:tgtEl>
                                          <p:spTgt spid="6758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2" fill="hold" nodeType="clickEffect">
                                  <p:stCondLst>
                                    <p:cond delay="0"/>
                                  </p:stCondLst>
                                  <p:childTnLst>
                                    <p:set>
                                      <p:cBhvr>
                                        <p:cTn id="16" dur="1" fill="hold">
                                          <p:stCondLst>
                                            <p:cond delay="0"/>
                                          </p:stCondLst>
                                        </p:cTn>
                                        <p:tgtEl>
                                          <p:spTgt spid="67681"/>
                                        </p:tgtEl>
                                        <p:attrNameLst>
                                          <p:attrName>style.visibility</p:attrName>
                                        </p:attrNameLst>
                                      </p:cBhvr>
                                      <p:to>
                                        <p:strVal val="visible"/>
                                      </p:to>
                                    </p:set>
                                    <p:anim calcmode="lin" valueType="num">
                                      <p:cBhvr additive="base">
                                        <p:cTn id="17" dur="2000" fill="hold"/>
                                        <p:tgtEl>
                                          <p:spTgt spid="67681"/>
                                        </p:tgtEl>
                                        <p:attrNameLst>
                                          <p:attrName>ppt_x</p:attrName>
                                        </p:attrNameLst>
                                      </p:cBhvr>
                                      <p:tavLst>
                                        <p:tav tm="0">
                                          <p:val>
                                            <p:strVal val="0-#ppt_w/2"/>
                                          </p:val>
                                        </p:tav>
                                        <p:tav tm="100000">
                                          <p:val>
                                            <p:strVal val="#ppt_x"/>
                                          </p:val>
                                        </p:tav>
                                      </p:tavLst>
                                    </p:anim>
                                    <p:anim calcmode="lin" valueType="num">
                                      <p:cBhvr additive="base">
                                        <p:cTn id="18" dur="2000" fill="hold"/>
                                        <p:tgtEl>
                                          <p:spTgt spid="6768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nodeType="clickEffect">
                                  <p:stCondLst>
                                    <p:cond delay="0"/>
                                  </p:stCondLst>
                                  <p:childTnLst>
                                    <p:set>
                                      <p:cBhvr>
                                        <p:cTn id="22" dur="1" fill="hold">
                                          <p:stCondLst>
                                            <p:cond delay="0"/>
                                          </p:stCondLst>
                                        </p:cTn>
                                        <p:tgtEl>
                                          <p:spTgt spid="67691"/>
                                        </p:tgtEl>
                                        <p:attrNameLst>
                                          <p:attrName>style.visibility</p:attrName>
                                        </p:attrNameLst>
                                      </p:cBhvr>
                                      <p:to>
                                        <p:strVal val="visible"/>
                                      </p:to>
                                    </p:set>
                                    <p:anim calcmode="lin" valueType="num">
                                      <p:cBhvr additive="base">
                                        <p:cTn id="23" dur="500" fill="hold"/>
                                        <p:tgtEl>
                                          <p:spTgt spid="67691"/>
                                        </p:tgtEl>
                                        <p:attrNameLst>
                                          <p:attrName>ppt_x</p:attrName>
                                        </p:attrNameLst>
                                      </p:cBhvr>
                                      <p:tavLst>
                                        <p:tav tm="0">
                                          <p:val>
                                            <p:strVal val="1+#ppt_w/2"/>
                                          </p:val>
                                        </p:tav>
                                        <p:tav tm="100000">
                                          <p:val>
                                            <p:strVal val="#ppt_x"/>
                                          </p:val>
                                        </p:tav>
                                      </p:tavLst>
                                    </p:anim>
                                    <p:anim calcmode="lin" valueType="num">
                                      <p:cBhvr additive="base">
                                        <p:cTn id="24" dur="500" fill="hold"/>
                                        <p:tgtEl>
                                          <p:spTgt spid="6769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67696"/>
                                        </p:tgtEl>
                                        <p:attrNameLst>
                                          <p:attrName>style.visibility</p:attrName>
                                        </p:attrNameLst>
                                      </p:cBhvr>
                                      <p:to>
                                        <p:strVal val="visible"/>
                                      </p:to>
                                    </p:set>
                                    <p:animEffect transition="in" filter="wipe(left)">
                                      <p:cBhvr>
                                        <p:cTn id="29" dur="2000"/>
                                        <p:tgtEl>
                                          <p:spTgt spid="6769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67687"/>
                                        </p:tgtEl>
                                        <p:attrNameLst>
                                          <p:attrName>style.visibility</p:attrName>
                                        </p:attrNameLst>
                                      </p:cBhvr>
                                      <p:to>
                                        <p:strVal val="visible"/>
                                      </p:to>
                                    </p:set>
                                    <p:animEffect transition="in" filter="wipe(left)">
                                      <p:cBhvr>
                                        <p:cTn id="34" dur="2000"/>
                                        <p:tgtEl>
                                          <p:spTgt spid="6768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67695"/>
                                        </p:tgtEl>
                                        <p:attrNameLst>
                                          <p:attrName>style.visibility</p:attrName>
                                        </p:attrNameLst>
                                      </p:cBhvr>
                                      <p:to>
                                        <p:strVal val="visible"/>
                                      </p:to>
                                    </p:set>
                                    <p:animEffect transition="in" filter="wipe(left)">
                                      <p:cBhvr>
                                        <p:cTn id="39" dur="2000"/>
                                        <p:tgtEl>
                                          <p:spTgt spid="6769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67690"/>
                                        </p:tgtEl>
                                        <p:attrNameLst>
                                          <p:attrName>style.visibility</p:attrName>
                                        </p:attrNameLst>
                                      </p:cBhvr>
                                      <p:to>
                                        <p:strVal val="visible"/>
                                      </p:to>
                                    </p:set>
                                    <p:animEffect transition="in" filter="wipe(left)">
                                      <p:cBhvr>
                                        <p:cTn id="44" dur="2000"/>
                                        <p:tgtEl>
                                          <p:spTgt spid="67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9" grpId="0" bldLvl="0" animBg="1" autoUpdateAnimBg="0"/>
      <p:bldP spid="67610" grpId="0" bldLvl="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542" name="Group 46"/>
          <p:cNvGrpSpPr/>
          <p:nvPr/>
        </p:nvGrpSpPr>
        <p:grpSpPr bwMode="auto">
          <a:xfrm>
            <a:off x="1002665" y="3310890"/>
            <a:ext cx="3595370" cy="565785"/>
            <a:chOff x="128" y="1707"/>
            <a:chExt cx="2433" cy="549"/>
          </a:xfrm>
        </p:grpSpPr>
        <p:graphicFrame>
          <p:nvGraphicFramePr>
            <p:cNvPr id="36907" name="Object 4"/>
            <p:cNvGraphicFramePr>
              <a:graphicFrameLocks noChangeAspect="1"/>
            </p:cNvGraphicFramePr>
            <p:nvPr/>
          </p:nvGraphicFramePr>
          <p:xfrm>
            <a:off x="128" y="1707"/>
            <a:ext cx="686" cy="496"/>
          </p:xfrm>
          <a:graphic>
            <a:graphicData uri="http://schemas.openxmlformats.org/presentationml/2006/ole">
              <p:oleObj spid="_x0000_s17417" name="Equation" r:id="rId3" imgW="6400800" imgH="5791200" progId="">
                <p:embed/>
              </p:oleObj>
            </a:graphicData>
          </a:graphic>
        </p:graphicFrame>
        <p:sp>
          <p:nvSpPr>
            <p:cNvPr id="36908" name="AutoShape 5"/>
            <p:cNvSpPr>
              <a:spLocks noChangeArrowheads="1"/>
            </p:cNvSpPr>
            <p:nvPr/>
          </p:nvSpPr>
          <p:spPr bwMode="auto">
            <a:xfrm>
              <a:off x="724" y="1779"/>
              <a:ext cx="1179" cy="477"/>
            </a:xfrm>
            <a:prstGeom prst="leftRightArrow">
              <a:avLst>
                <a:gd name="adj1" fmla="val 50000"/>
                <a:gd name="adj2" fmla="val 49434"/>
              </a:avLst>
            </a:prstGeom>
            <a:noFill/>
            <a:ln w="57150">
              <a:solidFill>
                <a:srgbClr val="FF330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b="1"/>
                <a:t>补偿</a:t>
              </a:r>
            </a:p>
          </p:txBody>
        </p:sp>
        <p:graphicFrame>
          <p:nvGraphicFramePr>
            <p:cNvPr id="36909" name="Object 6"/>
            <p:cNvGraphicFramePr>
              <a:graphicFrameLocks noChangeAspect="1"/>
            </p:cNvGraphicFramePr>
            <p:nvPr/>
          </p:nvGraphicFramePr>
          <p:xfrm>
            <a:off x="2023" y="1774"/>
            <a:ext cx="538" cy="443"/>
          </p:xfrm>
          <a:graphic>
            <a:graphicData uri="http://schemas.openxmlformats.org/presentationml/2006/ole">
              <p:oleObj spid="_x0000_s17418" name="Equation" r:id="rId4" imgW="7010400" imgH="5791200" progId="">
                <p:embed/>
              </p:oleObj>
            </a:graphicData>
          </a:graphic>
        </p:graphicFrame>
      </p:grpSp>
      <p:graphicFrame>
        <p:nvGraphicFramePr>
          <p:cNvPr id="106532" name="Object 36"/>
          <p:cNvGraphicFramePr>
            <a:graphicFrameLocks noChangeAspect="1"/>
          </p:cNvGraphicFramePr>
          <p:nvPr/>
        </p:nvGraphicFramePr>
        <p:xfrm>
          <a:off x="667387" y="1475027"/>
          <a:ext cx="7781604" cy="382190"/>
        </p:xfrm>
        <a:graphic>
          <a:graphicData uri="http://schemas.openxmlformats.org/presentationml/2006/ole">
            <p:oleObj spid="_x0000_s17419" name="公式" r:id="rId5" imgW="89306400" imgH="5791200" progId="">
              <p:embed/>
            </p:oleObj>
          </a:graphicData>
        </a:graphic>
      </p:graphicFrame>
      <p:grpSp>
        <p:nvGrpSpPr>
          <p:cNvPr id="106535" name="Group 39"/>
          <p:cNvGrpSpPr/>
          <p:nvPr/>
        </p:nvGrpSpPr>
        <p:grpSpPr bwMode="auto">
          <a:xfrm>
            <a:off x="4754245" y="3306445"/>
            <a:ext cx="3662045" cy="2895754"/>
            <a:chOff x="3005" y="2199"/>
            <a:chExt cx="2489" cy="2432"/>
          </a:xfrm>
        </p:grpSpPr>
        <p:grpSp>
          <p:nvGrpSpPr>
            <p:cNvPr id="36878" name="Group 30"/>
            <p:cNvGrpSpPr/>
            <p:nvPr/>
          </p:nvGrpSpPr>
          <p:grpSpPr bwMode="auto">
            <a:xfrm>
              <a:off x="3005" y="2199"/>
              <a:ext cx="2489" cy="2432"/>
              <a:chOff x="3005" y="2199"/>
              <a:chExt cx="2489" cy="2432"/>
            </a:xfrm>
          </p:grpSpPr>
          <p:pic>
            <p:nvPicPr>
              <p:cNvPr id="36881" name="Picture 31"/>
              <p:cNvPicPr>
                <a:picLocks noChangeAspect="1" noChangeArrowheads="1"/>
              </p:cNvPicPr>
              <p:nvPr/>
            </p:nvPicPr>
            <p:blipFill>
              <a:blip r:embed="rId6" cstate="print">
                <a:extLst>
                  <a:ext uri="{28A0092B-C50C-407E-A947-70E740481C1C}">
                    <a14:useLocalDpi xmlns:a14="http://schemas.microsoft.com/office/drawing/2010/main" xmlns="" val="0"/>
                  </a:ext>
                </a:extLst>
              </a:blip>
              <a:srcRect b="7996"/>
              <a:stretch>
                <a:fillRect/>
              </a:stretch>
            </p:blipFill>
            <p:spPr bwMode="auto">
              <a:xfrm>
                <a:off x="3005" y="2199"/>
                <a:ext cx="2489" cy="21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6882" name="Text Box 32"/>
              <p:cNvSpPr txBox="1">
                <a:spLocks noChangeArrowheads="1"/>
              </p:cNvSpPr>
              <p:nvPr/>
            </p:nvSpPr>
            <p:spPr bwMode="auto">
              <a:xfrm>
                <a:off x="3845" y="4373"/>
                <a:ext cx="743" cy="25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a:t>动态公差图</a:t>
                </a:r>
              </a:p>
            </p:txBody>
          </p:sp>
        </p:grpSp>
        <p:sp>
          <p:nvSpPr>
            <p:cNvPr id="36879" name="Line 37"/>
            <p:cNvSpPr>
              <a:spLocks noChangeShapeType="1"/>
            </p:cNvSpPr>
            <p:nvPr/>
          </p:nvSpPr>
          <p:spPr bwMode="auto">
            <a:xfrm>
              <a:off x="3551" y="3574"/>
              <a:ext cx="807" cy="0"/>
            </a:xfrm>
            <a:prstGeom prst="line">
              <a:avLst/>
            </a:prstGeom>
            <a:noFill/>
            <a:ln w="57150">
              <a:solidFill>
                <a:schemeClr val="accent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6880" name="Line 38"/>
            <p:cNvSpPr>
              <a:spLocks noChangeShapeType="1"/>
            </p:cNvSpPr>
            <p:nvPr/>
          </p:nvSpPr>
          <p:spPr bwMode="auto">
            <a:xfrm>
              <a:off x="4331" y="3591"/>
              <a:ext cx="0" cy="544"/>
            </a:xfrm>
            <a:prstGeom prst="line">
              <a:avLst/>
            </a:prstGeom>
            <a:noFill/>
            <a:ln w="57150">
              <a:solidFill>
                <a:schemeClr val="accent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aphicFrame>
        <p:nvGraphicFramePr>
          <p:cNvPr id="106536" name="Object 40"/>
          <p:cNvGraphicFramePr>
            <a:graphicFrameLocks noChangeAspect="1"/>
          </p:cNvGraphicFramePr>
          <p:nvPr/>
        </p:nvGraphicFramePr>
        <p:xfrm>
          <a:off x="676593" y="1875712"/>
          <a:ext cx="7877561" cy="353615"/>
        </p:xfrm>
        <a:graphic>
          <a:graphicData uri="http://schemas.openxmlformats.org/presentationml/2006/ole">
            <p:oleObj spid="_x0000_s17420" name="公式" r:id="rId7" imgW="95402400" imgH="5791200" progId="">
              <p:embed/>
            </p:oleObj>
          </a:graphicData>
        </a:graphic>
      </p:graphicFrame>
      <p:grpSp>
        <p:nvGrpSpPr>
          <p:cNvPr id="106540" name="Group 44"/>
          <p:cNvGrpSpPr/>
          <p:nvPr/>
        </p:nvGrpSpPr>
        <p:grpSpPr bwMode="auto">
          <a:xfrm>
            <a:off x="6671945" y="3931920"/>
            <a:ext cx="1976755" cy="483870"/>
            <a:chOff x="4274" y="2507"/>
            <a:chExt cx="1245" cy="424"/>
          </a:xfrm>
        </p:grpSpPr>
        <p:sp>
          <p:nvSpPr>
            <p:cNvPr id="36876" name="AutoShape 41"/>
            <p:cNvSpPr>
              <a:spLocks noChangeArrowheads="1"/>
            </p:cNvSpPr>
            <p:nvPr/>
          </p:nvSpPr>
          <p:spPr bwMode="auto">
            <a:xfrm>
              <a:off x="4274" y="2507"/>
              <a:ext cx="1243" cy="424"/>
            </a:xfrm>
            <a:prstGeom prst="wedgeEllipseCallout">
              <a:avLst>
                <a:gd name="adj1" fmla="val -44143"/>
                <a:gd name="adj2" fmla="val 272719"/>
              </a:avLst>
            </a:prstGeom>
            <a:noFill/>
            <a:ln w="38100">
              <a:solidFill>
                <a:srgbClr val="FF330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a:p>
          </p:txBody>
        </p:sp>
        <p:graphicFrame>
          <p:nvGraphicFramePr>
            <p:cNvPr id="36877" name="Object 43"/>
            <p:cNvGraphicFramePr>
              <a:graphicFrameLocks noChangeAspect="1"/>
            </p:cNvGraphicFramePr>
            <p:nvPr/>
          </p:nvGraphicFramePr>
          <p:xfrm>
            <a:off x="4306" y="2602"/>
            <a:ext cx="1213" cy="261"/>
          </p:xfrm>
          <a:graphic>
            <a:graphicData uri="http://schemas.openxmlformats.org/presentationml/2006/ole">
              <p:oleObj spid="_x0000_s17421" name="公式" r:id="rId8" imgW="27127200" imgH="5791200" progId="">
                <p:embed/>
              </p:oleObj>
            </a:graphicData>
          </a:graphic>
        </p:graphicFrame>
      </p:grpSp>
      <p:sp>
        <p:nvSpPr>
          <p:cNvPr id="106541" name="Text Box 45"/>
          <p:cNvSpPr txBox="1">
            <a:spLocks noChangeArrowheads="1"/>
          </p:cNvSpPr>
          <p:nvPr/>
        </p:nvSpPr>
        <p:spPr bwMode="auto">
          <a:xfrm>
            <a:off x="509203" y="2308989"/>
            <a:ext cx="8054654" cy="829945"/>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lnRef>
          <a:fillRef idx="1">
            <a:schemeClr val="lt1"/>
          </a:fillRef>
          <a:effectRef idx="0">
            <a:schemeClr val="accent6"/>
          </a:effectRef>
          <a:fontRef idx="minor">
            <a:schemeClr val="dk1"/>
          </a:fontRef>
        </p:style>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smtClean="0"/>
              <a:t>        可逆</a:t>
            </a:r>
            <a:r>
              <a:rPr lang="zh-CN" altLang="en-US" sz="2000" b="1" dirty="0"/>
              <a:t>要求应用于最大实体要求时，</a:t>
            </a:r>
            <a:r>
              <a:rPr lang="zh-CN" altLang="en-US" sz="2000" b="1" dirty="0">
                <a:solidFill>
                  <a:srgbClr val="FF3300"/>
                </a:solidFill>
              </a:rPr>
              <a:t>尺寸公差可以补偿给几何公差</a:t>
            </a:r>
            <a:r>
              <a:rPr lang="zh-CN" altLang="en-US" sz="2000" b="1" dirty="0"/>
              <a:t>，</a:t>
            </a:r>
            <a:r>
              <a:rPr lang="zh-CN" altLang="en-US" sz="2000" b="1" dirty="0">
                <a:solidFill>
                  <a:srgbClr val="FF3300"/>
                </a:solidFill>
              </a:rPr>
              <a:t>几何公差也可以补偿给尺寸公差</a:t>
            </a:r>
            <a:r>
              <a:rPr lang="zh-CN" altLang="en-US" sz="2000" b="1" dirty="0"/>
              <a:t>。</a:t>
            </a:r>
          </a:p>
        </p:txBody>
      </p:sp>
      <p:graphicFrame>
        <p:nvGraphicFramePr>
          <p:cNvPr id="106545" name="Object 49"/>
          <p:cNvGraphicFramePr>
            <a:graphicFrameLocks noChangeAspect="1"/>
          </p:cNvGraphicFramePr>
          <p:nvPr/>
        </p:nvGraphicFramePr>
        <p:xfrm>
          <a:off x="681034" y="1083794"/>
          <a:ext cx="4695825" cy="382191"/>
        </p:xfrm>
        <a:graphic>
          <a:graphicData uri="http://schemas.openxmlformats.org/presentationml/2006/ole">
            <p:oleObj spid="_x0000_s17422" name="公式" r:id="rId9" imgW="51206400" imgH="5791200" progId="">
              <p:embed/>
            </p:oleObj>
          </a:graphicData>
        </a:graphic>
      </p:graphicFrame>
      <p:sp>
        <p:nvSpPr>
          <p:cNvPr id="67610" name="Text Box 26"/>
          <p:cNvSpPr txBox="1">
            <a:spLocks noChangeArrowheads="1"/>
          </p:cNvSpPr>
          <p:nvPr/>
        </p:nvSpPr>
        <p:spPr bwMode="auto">
          <a:xfrm>
            <a:off x="392113" y="421481"/>
            <a:ext cx="7046912"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5.  </a:t>
            </a:r>
            <a:r>
              <a:rPr lang="zh-CN" altLang="en-US" b="1" dirty="0"/>
              <a:t>可逆要求（</a:t>
            </a:r>
            <a:r>
              <a:rPr lang="en-US" altLang="zh-CN" b="1" dirty="0"/>
              <a:t>RR</a:t>
            </a:r>
            <a:r>
              <a:rPr lang="zh-CN" altLang="en-US" b="1" dirty="0"/>
              <a:t>）用于最大实体要求（</a:t>
            </a:r>
            <a:r>
              <a:rPr lang="en-US" altLang="zh-CN" b="1" dirty="0"/>
              <a:t>MMR</a:t>
            </a:r>
            <a:r>
              <a:rPr lang="zh-CN" altLang="en-US" b="1" dirty="0"/>
              <a:t>）</a:t>
            </a:r>
          </a:p>
        </p:txBody>
      </p:sp>
      <p:cxnSp>
        <p:nvCxnSpPr>
          <p:cNvPr id="39" name="直接连接符 38"/>
          <p:cNvCxnSpPr/>
          <p:nvPr/>
        </p:nvCxnSpPr>
        <p:spPr bwMode="auto">
          <a:xfrm flipV="1">
            <a:off x="205879" y="961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67681" name="Group 97"/>
          <p:cNvGrpSpPr/>
          <p:nvPr/>
        </p:nvGrpSpPr>
        <p:grpSpPr bwMode="auto">
          <a:xfrm>
            <a:off x="679770" y="4262335"/>
            <a:ext cx="3609975" cy="1557337"/>
            <a:chOff x="454" y="834"/>
            <a:chExt cx="2274" cy="1308"/>
          </a:xfrm>
        </p:grpSpPr>
        <p:sp>
          <p:nvSpPr>
            <p:cNvPr id="35858" name="Rectangle 30"/>
            <p:cNvSpPr>
              <a:spLocks noChangeArrowheads="1"/>
            </p:cNvSpPr>
            <p:nvPr/>
          </p:nvSpPr>
          <p:spPr bwMode="auto">
            <a:xfrm>
              <a:off x="928" y="1041"/>
              <a:ext cx="1485" cy="387"/>
            </a:xfrm>
            <a:prstGeom prst="rect">
              <a:avLst/>
            </a:prstGeom>
            <a:noFill/>
            <a:ln w="9525">
              <a:solidFill>
                <a:schemeClr val="bg1"/>
              </a:solidFill>
              <a:miter lim="800000"/>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nvGrpSpPr>
            <p:cNvPr id="35859" name="Group 36"/>
            <p:cNvGrpSpPr/>
            <p:nvPr/>
          </p:nvGrpSpPr>
          <p:grpSpPr bwMode="auto">
            <a:xfrm>
              <a:off x="1153" y="834"/>
              <a:ext cx="1016" cy="225"/>
              <a:chOff x="1251" y="693"/>
              <a:chExt cx="1016" cy="225"/>
            </a:xfrm>
          </p:grpSpPr>
          <p:sp>
            <p:nvSpPr>
              <p:cNvPr id="35876" name="Rectangle 32"/>
              <p:cNvSpPr>
                <a:spLocks noChangeArrowheads="1"/>
              </p:cNvSpPr>
              <p:nvPr/>
            </p:nvSpPr>
            <p:spPr bwMode="auto">
              <a:xfrm>
                <a:off x="1251" y="693"/>
                <a:ext cx="261" cy="225"/>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a:t>－</a:t>
                </a:r>
              </a:p>
            </p:txBody>
          </p:sp>
          <p:sp>
            <p:nvSpPr>
              <p:cNvPr id="35877" name="Rectangle 33"/>
              <p:cNvSpPr>
                <a:spLocks noChangeArrowheads="1"/>
              </p:cNvSpPr>
              <p:nvPr/>
            </p:nvSpPr>
            <p:spPr bwMode="auto">
              <a:xfrm>
                <a:off x="1519" y="693"/>
                <a:ext cx="748" cy="225"/>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zh-CN" sz="1600" i="1" dirty="0"/>
                  <a:t>Φ</a:t>
                </a:r>
                <a:r>
                  <a:rPr lang="en-US" altLang="zh-CN" sz="1600" dirty="0"/>
                  <a:t>0.1</a:t>
                </a:r>
              </a:p>
            </p:txBody>
          </p:sp>
          <p:sp>
            <p:nvSpPr>
              <p:cNvPr id="35878" name="Oval 34"/>
              <p:cNvSpPr>
                <a:spLocks noChangeArrowheads="1"/>
              </p:cNvSpPr>
              <p:nvPr/>
            </p:nvSpPr>
            <p:spPr bwMode="auto">
              <a:xfrm flipV="1">
                <a:off x="1842" y="702"/>
                <a:ext cx="159" cy="212"/>
              </a:xfrm>
              <a:prstGeom prst="ellipse">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p>
                <a:pPr algn="ctr"/>
                <a:r>
                  <a:rPr lang="en-US" altLang="zh-CN" sz="2000"/>
                  <a:t>M</a:t>
                </a:r>
              </a:p>
            </p:txBody>
          </p:sp>
          <p:sp>
            <p:nvSpPr>
              <p:cNvPr id="35879" name="Oval 35"/>
              <p:cNvSpPr>
                <a:spLocks noChangeArrowheads="1"/>
              </p:cNvSpPr>
              <p:nvPr/>
            </p:nvSpPr>
            <p:spPr bwMode="auto">
              <a:xfrm flipV="1">
                <a:off x="2038" y="703"/>
                <a:ext cx="159" cy="212"/>
              </a:xfrm>
              <a:prstGeom prst="ellipse">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p>
                <a:pPr algn="ctr"/>
                <a:r>
                  <a:rPr lang="en-US" altLang="zh-CN" sz="2000"/>
                  <a:t>R</a:t>
                </a:r>
              </a:p>
            </p:txBody>
          </p:sp>
        </p:grpSp>
        <p:sp>
          <p:nvSpPr>
            <p:cNvPr id="35860" name="Rectangle 39"/>
            <p:cNvSpPr>
              <a:spLocks noChangeArrowheads="1"/>
            </p:cNvSpPr>
            <p:nvPr/>
          </p:nvSpPr>
          <p:spPr bwMode="auto">
            <a:xfrm>
              <a:off x="1072" y="1248"/>
              <a:ext cx="1467" cy="504"/>
            </a:xfrm>
            <a:prstGeom prst="rect">
              <a:avLst/>
            </a:prstGeom>
            <a:solidFill>
              <a:schemeClr val="bg1"/>
            </a:solidFill>
            <a:ln w="38100">
              <a:solidFill>
                <a:schemeClr val="tx1"/>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35861" name="Line 40"/>
            <p:cNvSpPr>
              <a:spLocks noChangeShapeType="1"/>
            </p:cNvSpPr>
            <p:nvPr/>
          </p:nvSpPr>
          <p:spPr bwMode="auto">
            <a:xfrm>
              <a:off x="910" y="1491"/>
              <a:ext cx="1818" cy="0"/>
            </a:xfrm>
            <a:prstGeom prst="line">
              <a:avLst/>
            </a:prstGeom>
            <a:noFill/>
            <a:ln w="28575">
              <a:solidFill>
                <a:schemeClr val="tx1"/>
              </a:solidFill>
              <a:prstDash val="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2" name="Line 41"/>
            <p:cNvSpPr>
              <a:spLocks noChangeShapeType="1"/>
            </p:cNvSpPr>
            <p:nvPr/>
          </p:nvSpPr>
          <p:spPr bwMode="auto">
            <a:xfrm>
              <a:off x="714" y="1241"/>
              <a:ext cx="477"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3" name="Line 42"/>
            <p:cNvSpPr>
              <a:spLocks noChangeShapeType="1"/>
            </p:cNvSpPr>
            <p:nvPr/>
          </p:nvSpPr>
          <p:spPr bwMode="auto">
            <a:xfrm>
              <a:off x="735" y="1752"/>
              <a:ext cx="477"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4" name="Line 43"/>
            <p:cNvSpPr>
              <a:spLocks noChangeShapeType="1"/>
            </p:cNvSpPr>
            <p:nvPr/>
          </p:nvSpPr>
          <p:spPr bwMode="auto">
            <a:xfrm flipV="1">
              <a:off x="823" y="942"/>
              <a:ext cx="0" cy="297"/>
            </a:xfrm>
            <a:prstGeom prst="line">
              <a:avLst/>
            </a:prstGeom>
            <a:noFill/>
            <a:ln w="28575">
              <a:solidFill>
                <a:schemeClr val="tx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5" name="Line 44"/>
            <p:cNvSpPr>
              <a:spLocks noChangeShapeType="1"/>
            </p:cNvSpPr>
            <p:nvPr/>
          </p:nvSpPr>
          <p:spPr bwMode="auto">
            <a:xfrm>
              <a:off x="820" y="949"/>
              <a:ext cx="317"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6" name="Line 45"/>
            <p:cNvSpPr>
              <a:spLocks noChangeShapeType="1"/>
            </p:cNvSpPr>
            <p:nvPr/>
          </p:nvSpPr>
          <p:spPr bwMode="auto">
            <a:xfrm>
              <a:off x="820" y="1239"/>
              <a:ext cx="0" cy="513"/>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5867" name="Text Box 48"/>
            <p:cNvSpPr txBox="1">
              <a:spLocks noChangeArrowheads="1"/>
            </p:cNvSpPr>
            <p:nvPr/>
          </p:nvSpPr>
          <p:spPr bwMode="auto">
            <a:xfrm>
              <a:off x="614" y="1884"/>
              <a:ext cx="2078" cy="2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1400" b="1">
                  <a:latin typeface="宋体" panose="02010600030101010101" pitchFamily="2" charset="-122"/>
                </a:rPr>
                <a:t>可逆要求用于最大实体要求的图样标注</a:t>
              </a:r>
            </a:p>
          </p:txBody>
        </p:sp>
        <p:grpSp>
          <p:nvGrpSpPr>
            <p:cNvPr id="35868" name="Group 96"/>
            <p:cNvGrpSpPr/>
            <p:nvPr/>
          </p:nvGrpSpPr>
          <p:grpSpPr bwMode="auto">
            <a:xfrm rot="-5400000">
              <a:off x="257" y="1340"/>
              <a:ext cx="645" cy="252"/>
              <a:chOff x="2687" y="2252"/>
              <a:chExt cx="645" cy="252"/>
            </a:xfrm>
          </p:grpSpPr>
          <p:sp>
            <p:nvSpPr>
              <p:cNvPr id="35869" name="AutoShape 88"/>
              <p:cNvSpPr>
                <a:spLocks noChangeAspect="1" noChangeArrowheads="1" noTextEdit="1"/>
              </p:cNvSpPr>
              <p:nvPr/>
            </p:nvSpPr>
            <p:spPr bwMode="auto">
              <a:xfrm>
                <a:off x="2711" y="2252"/>
                <a:ext cx="546"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35870" name="Rectangle 90"/>
              <p:cNvSpPr>
                <a:spLocks noChangeArrowheads="1"/>
              </p:cNvSpPr>
              <p:nvPr/>
            </p:nvSpPr>
            <p:spPr bwMode="auto">
              <a:xfrm>
                <a:off x="3002" y="2269"/>
                <a:ext cx="64" cy="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a:t>
                </a:r>
                <a:endParaRPr lang="en-US" altLang="zh-CN"/>
              </a:p>
            </p:txBody>
          </p:sp>
          <p:sp>
            <p:nvSpPr>
              <p:cNvPr id="35871" name="Rectangle 91"/>
              <p:cNvSpPr>
                <a:spLocks noChangeArrowheads="1"/>
              </p:cNvSpPr>
              <p:nvPr/>
            </p:nvSpPr>
            <p:spPr bwMode="auto">
              <a:xfrm>
                <a:off x="2986" y="2269"/>
                <a:ext cx="32" cy="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zh-CN" altLang="en-US" sz="1200">
                    <a:solidFill>
                      <a:srgbClr val="000000"/>
                    </a:solidFill>
                  </a:rPr>
                  <a:t> </a:t>
                </a:r>
                <a:endParaRPr lang="zh-CN" altLang="en-US"/>
              </a:p>
            </p:txBody>
          </p:sp>
          <p:sp>
            <p:nvSpPr>
              <p:cNvPr id="35872" name="Rectangle 92"/>
              <p:cNvSpPr>
                <a:spLocks noChangeArrowheads="1"/>
              </p:cNvSpPr>
              <p:nvPr/>
            </p:nvSpPr>
            <p:spPr bwMode="auto">
              <a:xfrm>
                <a:off x="3001" y="2386"/>
                <a:ext cx="331" cy="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-0.033</a:t>
                </a:r>
                <a:endParaRPr lang="en-US" altLang="zh-CN"/>
              </a:p>
            </p:txBody>
          </p:sp>
          <p:sp>
            <p:nvSpPr>
              <p:cNvPr id="35874" name="Rectangle 94"/>
              <p:cNvSpPr>
                <a:spLocks noChangeArrowheads="1"/>
              </p:cNvSpPr>
              <p:nvPr/>
            </p:nvSpPr>
            <p:spPr bwMode="auto">
              <a:xfrm>
                <a:off x="2810" y="2323"/>
                <a:ext cx="149" cy="1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400">
                    <a:solidFill>
                      <a:srgbClr val="000000"/>
                    </a:solidFill>
                  </a:rPr>
                  <a:t>20</a:t>
                </a:r>
              </a:p>
            </p:txBody>
          </p:sp>
          <p:sp>
            <p:nvSpPr>
              <p:cNvPr id="35875" name="Rectangle 95"/>
              <p:cNvSpPr>
                <a:spLocks noChangeArrowheads="1"/>
              </p:cNvSpPr>
              <p:nvPr/>
            </p:nvSpPr>
            <p:spPr bwMode="auto">
              <a:xfrm>
                <a:off x="2687" y="2275"/>
                <a:ext cx="110"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Symbol" panose="05050102010706020507" pitchFamily="18" charset="2"/>
                  </a:rPr>
                  <a:t>f</a:t>
                </a:r>
                <a:endParaRPr lang="en-US" altLang="zh-CN"/>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106535"/>
                                        </p:tgtEl>
                                        <p:attrNameLst>
                                          <p:attrName>style.visibility</p:attrName>
                                        </p:attrNameLst>
                                      </p:cBhvr>
                                      <p:to>
                                        <p:strVal val="visible"/>
                                      </p:to>
                                    </p:set>
                                    <p:anim calcmode="lin" valueType="num">
                                      <p:cBhvr additive="base">
                                        <p:cTn id="7" dur="500" fill="hold"/>
                                        <p:tgtEl>
                                          <p:spTgt spid="106535"/>
                                        </p:tgtEl>
                                        <p:attrNameLst>
                                          <p:attrName>ppt_x</p:attrName>
                                        </p:attrNameLst>
                                      </p:cBhvr>
                                      <p:tavLst>
                                        <p:tav tm="0">
                                          <p:val>
                                            <p:strVal val="1+#ppt_w/2"/>
                                          </p:val>
                                        </p:tav>
                                        <p:tav tm="100000">
                                          <p:val>
                                            <p:strVal val="#ppt_x"/>
                                          </p:val>
                                        </p:tav>
                                      </p:tavLst>
                                    </p:anim>
                                    <p:anim calcmode="lin" valueType="num">
                                      <p:cBhvr additive="base">
                                        <p:cTn id="8" dur="500" fill="hold"/>
                                        <p:tgtEl>
                                          <p:spTgt spid="1065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06545"/>
                                        </p:tgtEl>
                                        <p:attrNameLst>
                                          <p:attrName>style.visibility</p:attrName>
                                        </p:attrNameLst>
                                      </p:cBhvr>
                                      <p:to>
                                        <p:strVal val="visible"/>
                                      </p:to>
                                    </p:set>
                                    <p:animEffect transition="in" filter="wipe(left)">
                                      <p:cBhvr>
                                        <p:cTn id="13" dur="2000"/>
                                        <p:tgtEl>
                                          <p:spTgt spid="10654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06532"/>
                                        </p:tgtEl>
                                        <p:attrNameLst>
                                          <p:attrName>style.visibility</p:attrName>
                                        </p:attrNameLst>
                                      </p:cBhvr>
                                      <p:to>
                                        <p:strVal val="visible"/>
                                      </p:to>
                                    </p:set>
                                    <p:animEffect transition="in" filter="wipe(left)">
                                      <p:cBhvr>
                                        <p:cTn id="18" dur="2000"/>
                                        <p:tgtEl>
                                          <p:spTgt spid="10653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06540"/>
                                        </p:tgtEl>
                                        <p:attrNameLst>
                                          <p:attrName>style.visibility</p:attrName>
                                        </p:attrNameLst>
                                      </p:cBhvr>
                                      <p:to>
                                        <p:strVal val="visible"/>
                                      </p:to>
                                    </p:set>
                                    <p:animEffect transition="in" filter="wipe(up)">
                                      <p:cBhvr>
                                        <p:cTn id="23" dur="2000"/>
                                        <p:tgtEl>
                                          <p:spTgt spid="10654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06536"/>
                                        </p:tgtEl>
                                        <p:attrNameLst>
                                          <p:attrName>style.visibility</p:attrName>
                                        </p:attrNameLst>
                                      </p:cBhvr>
                                      <p:to>
                                        <p:strVal val="visible"/>
                                      </p:to>
                                    </p:set>
                                    <p:animEffect transition="in" filter="wipe(left)">
                                      <p:cBhvr>
                                        <p:cTn id="28" dur="2000"/>
                                        <p:tgtEl>
                                          <p:spTgt spid="10653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6541"/>
                                        </p:tgtEl>
                                        <p:attrNameLst>
                                          <p:attrName>style.visibility</p:attrName>
                                        </p:attrNameLst>
                                      </p:cBhvr>
                                      <p:to>
                                        <p:strVal val="visible"/>
                                      </p:to>
                                    </p:set>
                                    <p:animEffect transition="in" filter="wipe(left)">
                                      <p:cBhvr>
                                        <p:cTn id="33" dur="2000"/>
                                        <p:tgtEl>
                                          <p:spTgt spid="10654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06542"/>
                                        </p:tgtEl>
                                        <p:attrNameLst>
                                          <p:attrName>style.visibility</p:attrName>
                                        </p:attrNameLst>
                                      </p:cBhvr>
                                      <p:to>
                                        <p:strVal val="visible"/>
                                      </p:to>
                                    </p:set>
                                    <p:animEffect transition="in" filter="wipe(left)">
                                      <p:cBhvr>
                                        <p:cTn id="38" dur="2000"/>
                                        <p:tgtEl>
                                          <p:spTgt spid="10654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wd">
                                    <p:tmPct val="100000"/>
                                  </p:iterate>
                                  <p:childTnLst>
                                    <p:set>
                                      <p:cBhvr>
                                        <p:cTn id="42" dur="1" fill="hold">
                                          <p:stCondLst>
                                            <p:cond delay="0"/>
                                          </p:stCondLst>
                                        </p:cTn>
                                        <p:tgtEl>
                                          <p:spTgt spid="67610"/>
                                        </p:tgtEl>
                                        <p:attrNameLst>
                                          <p:attrName>style.visibility</p:attrName>
                                        </p:attrNameLst>
                                      </p:cBhvr>
                                      <p:to>
                                        <p:strVal val="visible"/>
                                      </p:to>
                                    </p:set>
                                    <p:animEffect transition="in" filter="wipe(left)">
                                      <p:cBhvr>
                                        <p:cTn id="43" dur="300"/>
                                        <p:tgtEl>
                                          <p:spTgt spid="67610"/>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12" fill="hold" nodeType="clickEffect">
                                  <p:stCondLst>
                                    <p:cond delay="0"/>
                                  </p:stCondLst>
                                  <p:childTnLst>
                                    <p:set>
                                      <p:cBhvr>
                                        <p:cTn id="47" dur="1" fill="hold">
                                          <p:stCondLst>
                                            <p:cond delay="0"/>
                                          </p:stCondLst>
                                        </p:cTn>
                                        <p:tgtEl>
                                          <p:spTgt spid="67681"/>
                                        </p:tgtEl>
                                        <p:attrNameLst>
                                          <p:attrName>style.visibility</p:attrName>
                                        </p:attrNameLst>
                                      </p:cBhvr>
                                      <p:to>
                                        <p:strVal val="visible"/>
                                      </p:to>
                                    </p:set>
                                    <p:anim calcmode="lin" valueType="num">
                                      <p:cBhvr additive="base">
                                        <p:cTn id="48" dur="2000" fill="hold"/>
                                        <p:tgtEl>
                                          <p:spTgt spid="67681"/>
                                        </p:tgtEl>
                                        <p:attrNameLst>
                                          <p:attrName>ppt_x</p:attrName>
                                        </p:attrNameLst>
                                      </p:cBhvr>
                                      <p:tavLst>
                                        <p:tav tm="0">
                                          <p:val>
                                            <p:strVal val="0-#ppt_w/2"/>
                                          </p:val>
                                        </p:tav>
                                        <p:tav tm="100000">
                                          <p:val>
                                            <p:strVal val="#ppt_x"/>
                                          </p:val>
                                        </p:tav>
                                      </p:tavLst>
                                    </p:anim>
                                    <p:anim calcmode="lin" valueType="num">
                                      <p:cBhvr additive="base">
                                        <p:cTn id="49" dur="2000" fill="hold"/>
                                        <p:tgtEl>
                                          <p:spTgt spid="676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41" grpId="0" bldLvl="0" animBg="1"/>
      <p:bldP spid="67610" grpId="0" bldLvl="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524" name="Group 4"/>
          <p:cNvGrpSpPr/>
          <p:nvPr/>
        </p:nvGrpSpPr>
        <p:grpSpPr bwMode="auto">
          <a:xfrm>
            <a:off x="754063" y="3812983"/>
            <a:ext cx="3736975" cy="2175833"/>
            <a:chOff x="460" y="834"/>
            <a:chExt cx="2354" cy="1308"/>
          </a:xfrm>
        </p:grpSpPr>
        <p:sp>
          <p:nvSpPr>
            <p:cNvPr id="37905" name="Rectangle 5"/>
            <p:cNvSpPr>
              <a:spLocks noChangeArrowheads="1"/>
            </p:cNvSpPr>
            <p:nvPr/>
          </p:nvSpPr>
          <p:spPr bwMode="auto">
            <a:xfrm>
              <a:off x="928" y="1041"/>
              <a:ext cx="1485" cy="387"/>
            </a:xfrm>
            <a:prstGeom prst="rect">
              <a:avLst/>
            </a:prstGeom>
            <a:noFill/>
            <a:ln w="9525">
              <a:solidFill>
                <a:schemeClr val="bg1"/>
              </a:solidFill>
              <a:miter lim="800000"/>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nvGrpSpPr>
            <p:cNvPr id="37906" name="Group 6"/>
            <p:cNvGrpSpPr/>
            <p:nvPr/>
          </p:nvGrpSpPr>
          <p:grpSpPr bwMode="auto">
            <a:xfrm>
              <a:off x="1153" y="834"/>
              <a:ext cx="1449" cy="225"/>
              <a:chOff x="1251" y="693"/>
              <a:chExt cx="1449" cy="225"/>
            </a:xfrm>
          </p:grpSpPr>
          <p:sp>
            <p:nvSpPr>
              <p:cNvPr id="37923" name="Rectangle 7"/>
              <p:cNvSpPr>
                <a:spLocks noChangeArrowheads="1"/>
              </p:cNvSpPr>
              <p:nvPr/>
            </p:nvSpPr>
            <p:spPr bwMode="auto">
              <a:xfrm>
                <a:off x="1251" y="693"/>
                <a:ext cx="378" cy="225"/>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a:t>－</a:t>
                </a:r>
              </a:p>
            </p:txBody>
          </p:sp>
          <p:sp>
            <p:nvSpPr>
              <p:cNvPr id="37924" name="Rectangle 8"/>
              <p:cNvSpPr>
                <a:spLocks noChangeArrowheads="1"/>
              </p:cNvSpPr>
              <p:nvPr/>
            </p:nvSpPr>
            <p:spPr bwMode="auto">
              <a:xfrm>
                <a:off x="1629" y="693"/>
                <a:ext cx="1071" cy="225"/>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zh-CN" i="1">
                    <a:latin typeface="Swis721 BT" pitchFamily="34" charset="0"/>
                  </a:rPr>
                  <a:t>Φ</a:t>
                </a:r>
                <a:r>
                  <a:rPr lang="en-US" altLang="zh-CN"/>
                  <a:t>0.1</a:t>
                </a:r>
              </a:p>
            </p:txBody>
          </p:sp>
          <p:sp>
            <p:nvSpPr>
              <p:cNvPr id="37925" name="Oval 9"/>
              <p:cNvSpPr>
                <a:spLocks noChangeArrowheads="1"/>
              </p:cNvSpPr>
              <p:nvPr/>
            </p:nvSpPr>
            <p:spPr bwMode="auto">
              <a:xfrm flipV="1">
                <a:off x="2124" y="702"/>
                <a:ext cx="204" cy="195"/>
              </a:xfrm>
              <a:prstGeom prst="ellipse">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p>
                <a:pPr algn="ctr"/>
                <a:r>
                  <a:rPr lang="en-US" altLang="zh-CN" dirty="0"/>
                  <a:t>M</a:t>
                </a:r>
              </a:p>
            </p:txBody>
          </p:sp>
          <p:sp>
            <p:nvSpPr>
              <p:cNvPr id="37926" name="Oval 10"/>
              <p:cNvSpPr>
                <a:spLocks noChangeArrowheads="1"/>
              </p:cNvSpPr>
              <p:nvPr/>
            </p:nvSpPr>
            <p:spPr bwMode="auto">
              <a:xfrm flipV="1">
                <a:off x="2385" y="705"/>
                <a:ext cx="204" cy="195"/>
              </a:xfrm>
              <a:prstGeom prst="ellipse">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p>
                <a:pPr algn="ctr"/>
                <a:r>
                  <a:rPr lang="en-US" altLang="zh-CN"/>
                  <a:t>R</a:t>
                </a:r>
              </a:p>
            </p:txBody>
          </p:sp>
        </p:grpSp>
        <p:sp>
          <p:nvSpPr>
            <p:cNvPr id="37907" name="Rectangle 11"/>
            <p:cNvSpPr>
              <a:spLocks noChangeArrowheads="1"/>
            </p:cNvSpPr>
            <p:nvPr/>
          </p:nvSpPr>
          <p:spPr bwMode="auto">
            <a:xfrm>
              <a:off x="1072" y="1248"/>
              <a:ext cx="1467" cy="504"/>
            </a:xfrm>
            <a:prstGeom prst="rect">
              <a:avLst/>
            </a:prstGeom>
            <a:solidFill>
              <a:schemeClr val="bg1"/>
            </a:solidFill>
            <a:ln w="38100">
              <a:solidFill>
                <a:schemeClr val="tx1"/>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37908" name="Line 12"/>
            <p:cNvSpPr>
              <a:spLocks noChangeShapeType="1"/>
            </p:cNvSpPr>
            <p:nvPr/>
          </p:nvSpPr>
          <p:spPr bwMode="auto">
            <a:xfrm>
              <a:off x="910" y="1491"/>
              <a:ext cx="1818" cy="0"/>
            </a:xfrm>
            <a:prstGeom prst="line">
              <a:avLst/>
            </a:prstGeom>
            <a:noFill/>
            <a:ln w="28575">
              <a:solidFill>
                <a:schemeClr val="tx1"/>
              </a:solidFill>
              <a:prstDash val="dashDot"/>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7909" name="Line 13"/>
            <p:cNvSpPr>
              <a:spLocks noChangeShapeType="1"/>
            </p:cNvSpPr>
            <p:nvPr/>
          </p:nvSpPr>
          <p:spPr bwMode="auto">
            <a:xfrm>
              <a:off x="714" y="1248"/>
              <a:ext cx="477"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7910" name="Line 14"/>
            <p:cNvSpPr>
              <a:spLocks noChangeShapeType="1"/>
            </p:cNvSpPr>
            <p:nvPr/>
          </p:nvSpPr>
          <p:spPr bwMode="auto">
            <a:xfrm>
              <a:off x="735" y="1752"/>
              <a:ext cx="477"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7911" name="Line 15"/>
            <p:cNvSpPr>
              <a:spLocks noChangeShapeType="1"/>
            </p:cNvSpPr>
            <p:nvPr/>
          </p:nvSpPr>
          <p:spPr bwMode="auto">
            <a:xfrm flipV="1">
              <a:off x="824" y="942"/>
              <a:ext cx="0" cy="297"/>
            </a:xfrm>
            <a:prstGeom prst="line">
              <a:avLst/>
            </a:prstGeom>
            <a:noFill/>
            <a:ln w="28575">
              <a:solidFill>
                <a:schemeClr val="tx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7912" name="Line 16"/>
            <p:cNvSpPr>
              <a:spLocks noChangeShapeType="1"/>
            </p:cNvSpPr>
            <p:nvPr/>
          </p:nvSpPr>
          <p:spPr bwMode="auto">
            <a:xfrm>
              <a:off x="815" y="942"/>
              <a:ext cx="340" cy="0"/>
            </a:xfrm>
            <a:prstGeom prst="line">
              <a:avLst/>
            </a:prstGeom>
            <a:noFill/>
            <a:ln w="2857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7913" name="Line 17"/>
            <p:cNvSpPr>
              <a:spLocks noChangeShapeType="1"/>
            </p:cNvSpPr>
            <p:nvPr/>
          </p:nvSpPr>
          <p:spPr bwMode="auto">
            <a:xfrm>
              <a:off x="820" y="1239"/>
              <a:ext cx="0" cy="513"/>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7914" name="Text Box 18"/>
            <p:cNvSpPr txBox="1">
              <a:spLocks noChangeArrowheads="1"/>
            </p:cNvSpPr>
            <p:nvPr/>
          </p:nvSpPr>
          <p:spPr bwMode="auto">
            <a:xfrm>
              <a:off x="699" y="1884"/>
              <a:ext cx="2115" cy="2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1400" b="1" dirty="0">
                  <a:latin typeface="宋体" panose="02010600030101010101" pitchFamily="2" charset="-122"/>
                </a:rPr>
                <a:t>可逆要求用于最大实体要求的图样标注</a:t>
              </a:r>
            </a:p>
          </p:txBody>
        </p:sp>
        <p:grpSp>
          <p:nvGrpSpPr>
            <p:cNvPr id="37915" name="Group 19"/>
            <p:cNvGrpSpPr/>
            <p:nvPr/>
          </p:nvGrpSpPr>
          <p:grpSpPr bwMode="auto">
            <a:xfrm rot="-5400000">
              <a:off x="226" y="1287"/>
              <a:ext cx="719" cy="252"/>
              <a:chOff x="2709" y="2252"/>
              <a:chExt cx="719" cy="252"/>
            </a:xfrm>
          </p:grpSpPr>
          <p:sp>
            <p:nvSpPr>
              <p:cNvPr id="37916" name="AutoShape 20"/>
              <p:cNvSpPr>
                <a:spLocks noChangeAspect="1" noChangeArrowheads="1" noTextEdit="1"/>
              </p:cNvSpPr>
              <p:nvPr/>
            </p:nvSpPr>
            <p:spPr bwMode="auto">
              <a:xfrm>
                <a:off x="2711" y="2252"/>
                <a:ext cx="546"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37917" name="Rectangle 21"/>
              <p:cNvSpPr>
                <a:spLocks noChangeArrowheads="1"/>
              </p:cNvSpPr>
              <p:nvPr/>
            </p:nvSpPr>
            <p:spPr bwMode="auto">
              <a:xfrm>
                <a:off x="3002" y="2269"/>
                <a:ext cx="64" cy="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0</a:t>
                </a:r>
                <a:endParaRPr lang="en-US" altLang="zh-CN"/>
              </a:p>
            </p:txBody>
          </p:sp>
          <p:sp>
            <p:nvSpPr>
              <p:cNvPr id="37918" name="Rectangle 22"/>
              <p:cNvSpPr>
                <a:spLocks noChangeArrowheads="1"/>
              </p:cNvSpPr>
              <p:nvPr/>
            </p:nvSpPr>
            <p:spPr bwMode="auto">
              <a:xfrm>
                <a:off x="2986" y="2269"/>
                <a:ext cx="32" cy="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zh-CN" altLang="en-US" sz="1200">
                    <a:solidFill>
                      <a:srgbClr val="000000"/>
                    </a:solidFill>
                  </a:rPr>
                  <a:t> </a:t>
                </a:r>
                <a:endParaRPr lang="zh-CN" altLang="en-US"/>
              </a:p>
            </p:txBody>
          </p:sp>
          <p:sp>
            <p:nvSpPr>
              <p:cNvPr id="37919" name="Rectangle 23"/>
              <p:cNvSpPr>
                <a:spLocks noChangeArrowheads="1"/>
              </p:cNvSpPr>
              <p:nvPr/>
            </p:nvSpPr>
            <p:spPr bwMode="auto">
              <a:xfrm>
                <a:off x="3067" y="2373"/>
                <a:ext cx="361" cy="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zh-CN" sz="1200" dirty="0">
                    <a:solidFill>
                      <a:srgbClr val="000000"/>
                    </a:solidFill>
                  </a:rPr>
                  <a:t>0.033</a:t>
                </a:r>
                <a:endParaRPr lang="en-US" altLang="zh-CN" dirty="0"/>
              </a:p>
            </p:txBody>
          </p:sp>
          <p:sp>
            <p:nvSpPr>
              <p:cNvPr id="37920" name="Rectangle 24"/>
              <p:cNvSpPr>
                <a:spLocks noChangeArrowheads="1"/>
              </p:cNvSpPr>
              <p:nvPr/>
            </p:nvSpPr>
            <p:spPr bwMode="auto">
              <a:xfrm>
                <a:off x="2982" y="2380"/>
                <a:ext cx="43" cy="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1200">
                    <a:solidFill>
                      <a:srgbClr val="000000"/>
                    </a:solidFill>
                  </a:rPr>
                  <a:t>-</a:t>
                </a:r>
                <a:endParaRPr lang="en-US" altLang="zh-CN"/>
              </a:p>
            </p:txBody>
          </p:sp>
          <p:sp>
            <p:nvSpPr>
              <p:cNvPr id="37921" name="Rectangle 25"/>
              <p:cNvSpPr>
                <a:spLocks noChangeArrowheads="1"/>
              </p:cNvSpPr>
              <p:nvPr/>
            </p:nvSpPr>
            <p:spPr bwMode="auto">
              <a:xfrm>
                <a:off x="2796" y="2281"/>
                <a:ext cx="213"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a:solidFill>
                      <a:srgbClr val="000000"/>
                    </a:solidFill>
                  </a:rPr>
                  <a:t>20</a:t>
                </a:r>
                <a:endParaRPr lang="en-US" altLang="zh-CN"/>
              </a:p>
            </p:txBody>
          </p:sp>
          <p:sp>
            <p:nvSpPr>
              <p:cNvPr id="37922" name="Rectangle 26"/>
              <p:cNvSpPr>
                <a:spLocks noChangeArrowheads="1"/>
              </p:cNvSpPr>
              <p:nvPr/>
            </p:nvSpPr>
            <p:spPr bwMode="auto">
              <a:xfrm>
                <a:off x="2709" y="2263"/>
                <a:ext cx="111"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Symbol" panose="05050102010706020507" pitchFamily="18" charset="2"/>
                  </a:rPr>
                  <a:t>f</a:t>
                </a:r>
                <a:endParaRPr lang="en-US" altLang="zh-CN"/>
              </a:p>
            </p:txBody>
          </p:sp>
        </p:grpSp>
      </p:grpSp>
      <p:grpSp>
        <p:nvGrpSpPr>
          <p:cNvPr id="107547" name="Group 27"/>
          <p:cNvGrpSpPr/>
          <p:nvPr/>
        </p:nvGrpSpPr>
        <p:grpSpPr bwMode="auto">
          <a:xfrm>
            <a:off x="4704369" y="3171706"/>
            <a:ext cx="3716354" cy="2957511"/>
            <a:chOff x="3005" y="2199"/>
            <a:chExt cx="2430" cy="2484"/>
          </a:xfrm>
        </p:grpSpPr>
        <p:grpSp>
          <p:nvGrpSpPr>
            <p:cNvPr id="37898" name="Group 28"/>
            <p:cNvGrpSpPr/>
            <p:nvPr/>
          </p:nvGrpSpPr>
          <p:grpSpPr bwMode="auto">
            <a:xfrm>
              <a:off x="3005" y="2199"/>
              <a:ext cx="2430" cy="2484"/>
              <a:chOff x="3005" y="2199"/>
              <a:chExt cx="2430" cy="2484"/>
            </a:xfrm>
          </p:grpSpPr>
          <p:pic>
            <p:nvPicPr>
              <p:cNvPr id="37901" name="Picture 29"/>
              <p:cNvPicPr>
                <a:picLocks noChangeAspect="1" noChangeArrowheads="1"/>
              </p:cNvPicPr>
              <p:nvPr/>
            </p:nvPicPr>
            <p:blipFill>
              <a:blip r:embed="rId2" cstate="print">
                <a:extLst>
                  <a:ext uri="{28A0092B-C50C-407E-A947-70E740481C1C}">
                    <a14:useLocalDpi xmlns:a14="http://schemas.microsoft.com/office/drawing/2010/main" xmlns="" val="0"/>
                  </a:ext>
                </a:extLst>
              </a:blip>
              <a:srcRect b="7411"/>
              <a:stretch>
                <a:fillRect/>
              </a:stretch>
            </p:blipFill>
            <p:spPr bwMode="auto">
              <a:xfrm>
                <a:off x="3005" y="2199"/>
                <a:ext cx="2430" cy="22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7902" name="Text Box 30"/>
              <p:cNvSpPr txBox="1">
                <a:spLocks noChangeArrowheads="1"/>
              </p:cNvSpPr>
              <p:nvPr/>
            </p:nvSpPr>
            <p:spPr bwMode="auto">
              <a:xfrm>
                <a:off x="3749" y="4424"/>
                <a:ext cx="926" cy="259"/>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smtClean="0"/>
                  <a:t>动态</a:t>
                </a:r>
                <a:r>
                  <a:rPr lang="zh-CN" altLang="en-US" sz="1400" b="1" dirty="0"/>
                  <a:t>公差图</a:t>
                </a:r>
              </a:p>
            </p:txBody>
          </p:sp>
          <p:sp>
            <p:nvSpPr>
              <p:cNvPr id="37903" name="Line 31"/>
              <p:cNvSpPr>
                <a:spLocks noChangeShapeType="1"/>
              </p:cNvSpPr>
              <p:nvPr/>
            </p:nvSpPr>
            <p:spPr bwMode="auto">
              <a:xfrm>
                <a:off x="3699" y="2835"/>
                <a:ext cx="0" cy="1330"/>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7904" name="Line 32"/>
              <p:cNvSpPr>
                <a:spLocks noChangeShapeType="1"/>
              </p:cNvSpPr>
              <p:nvPr/>
            </p:nvSpPr>
            <p:spPr bwMode="auto">
              <a:xfrm>
                <a:off x="3524" y="2849"/>
                <a:ext cx="188" cy="0"/>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37899" name="Line 33"/>
            <p:cNvSpPr>
              <a:spLocks noChangeShapeType="1"/>
            </p:cNvSpPr>
            <p:nvPr/>
          </p:nvSpPr>
          <p:spPr bwMode="auto">
            <a:xfrm>
              <a:off x="3544" y="3560"/>
              <a:ext cx="758" cy="0"/>
            </a:xfrm>
            <a:prstGeom prst="line">
              <a:avLst/>
            </a:prstGeom>
            <a:noFill/>
            <a:ln w="57150">
              <a:solidFill>
                <a:schemeClr val="accent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7900" name="Line 34"/>
            <p:cNvSpPr>
              <a:spLocks noChangeShapeType="1"/>
            </p:cNvSpPr>
            <p:nvPr/>
          </p:nvSpPr>
          <p:spPr bwMode="auto">
            <a:xfrm>
              <a:off x="4275" y="3578"/>
              <a:ext cx="0" cy="605"/>
            </a:xfrm>
            <a:prstGeom prst="line">
              <a:avLst/>
            </a:prstGeom>
            <a:noFill/>
            <a:ln w="57150">
              <a:solidFill>
                <a:schemeClr val="accent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107555" name="Text Box 35"/>
          <p:cNvSpPr txBox="1">
            <a:spLocks noChangeArrowheads="1"/>
          </p:cNvSpPr>
          <p:nvPr/>
        </p:nvSpPr>
        <p:spPr bwMode="auto">
          <a:xfrm>
            <a:off x="379413" y="427078"/>
            <a:ext cx="82296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6. </a:t>
            </a:r>
            <a:r>
              <a:rPr lang="zh-CN" altLang="en-US" b="1" dirty="0"/>
              <a:t>可逆要求用于最大实体要求时的合格性判断</a:t>
            </a:r>
            <a:r>
              <a:rPr lang="en-US" altLang="zh-CN" b="1" dirty="0"/>
              <a:t> </a:t>
            </a:r>
          </a:p>
        </p:txBody>
      </p:sp>
      <p:sp>
        <p:nvSpPr>
          <p:cNvPr id="2" name="TextBox 1"/>
          <p:cNvSpPr txBox="1">
            <a:spLocks noChangeArrowheads="1"/>
          </p:cNvSpPr>
          <p:nvPr/>
        </p:nvSpPr>
        <p:spPr bwMode="auto">
          <a:xfrm>
            <a:off x="797618" y="1589029"/>
            <a:ext cx="839081" cy="3987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对轴：</a:t>
            </a:r>
          </a:p>
        </p:txBody>
      </p:sp>
      <p:sp>
        <p:nvSpPr>
          <p:cNvPr id="40" name="TextBox 39"/>
          <p:cNvSpPr txBox="1">
            <a:spLocks noChangeArrowheads="1"/>
          </p:cNvSpPr>
          <p:nvPr/>
        </p:nvSpPr>
        <p:spPr bwMode="auto">
          <a:xfrm>
            <a:off x="802627" y="2529183"/>
            <a:ext cx="1092200" cy="3987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对孔：</a:t>
            </a:r>
          </a:p>
        </p:txBody>
      </p:sp>
      <p:cxnSp>
        <p:nvCxnSpPr>
          <p:cNvPr id="39" name="直接连接符 38"/>
          <p:cNvCxnSpPr/>
          <p:nvPr/>
        </p:nvCxnSpPr>
        <p:spPr bwMode="auto">
          <a:xfrm flipV="1">
            <a:off x="169049" y="101829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1" name="TextBox 40"/>
          <p:cNvSpPr txBox="1"/>
          <p:nvPr/>
        </p:nvSpPr>
        <p:spPr>
          <a:xfrm>
            <a:off x="1959431" y="1744837"/>
            <a:ext cx="2090056" cy="460375"/>
          </a:xfrm>
          <a:prstGeom prst="rect">
            <a:avLst/>
          </a:prstGeom>
          <a:noFill/>
        </p:spPr>
        <p:txBody>
          <a:bodyPr wrap="square" rtlCol="0">
            <a:spAutoFit/>
          </a:bodyPr>
          <a:lstStyle/>
          <a:p>
            <a:r>
              <a:rPr lang="en-US" altLang="zh-CN" b="1" i="1" dirty="0" err="1" smtClean="0">
                <a:solidFill>
                  <a:srgbClr val="0000FF"/>
                </a:solidFill>
              </a:rPr>
              <a:t>d</a:t>
            </a:r>
            <a:r>
              <a:rPr lang="en-US" altLang="zh-CN" b="1" baseline="-25000" dirty="0" err="1" smtClean="0">
                <a:solidFill>
                  <a:srgbClr val="0000FF"/>
                </a:solidFill>
              </a:rPr>
              <a:t>a</a:t>
            </a:r>
            <a:r>
              <a:rPr lang="en-US" altLang="zh-CN" b="1" dirty="0" smtClean="0">
                <a:solidFill>
                  <a:srgbClr val="0000FF"/>
                </a:solidFill>
              </a:rPr>
              <a:t> ≥ </a:t>
            </a:r>
            <a:r>
              <a:rPr lang="en-US" altLang="zh-CN" b="1" i="1" dirty="0" err="1" smtClean="0">
                <a:solidFill>
                  <a:srgbClr val="0000FF"/>
                </a:solidFill>
              </a:rPr>
              <a:t>d</a:t>
            </a:r>
            <a:r>
              <a:rPr lang="en-US" altLang="zh-CN" b="1" baseline="-25000" dirty="0" err="1" smtClean="0">
                <a:solidFill>
                  <a:srgbClr val="0000FF"/>
                </a:solidFill>
              </a:rPr>
              <a:t>L</a:t>
            </a:r>
            <a:r>
              <a:rPr lang="en-US" altLang="zh-CN" b="1" dirty="0" smtClean="0">
                <a:solidFill>
                  <a:srgbClr val="0000FF"/>
                </a:solidFill>
              </a:rPr>
              <a:t> = </a:t>
            </a:r>
            <a:r>
              <a:rPr lang="en-US" altLang="zh-CN" b="1" i="1" dirty="0" err="1" smtClean="0">
                <a:solidFill>
                  <a:srgbClr val="0000FF"/>
                </a:solidFill>
              </a:rPr>
              <a:t>d</a:t>
            </a:r>
            <a:r>
              <a:rPr lang="en-US" altLang="zh-CN" b="1" baseline="-25000" dirty="0" err="1" smtClean="0">
                <a:solidFill>
                  <a:srgbClr val="0000FF"/>
                </a:solidFill>
              </a:rPr>
              <a:t>min</a:t>
            </a:r>
            <a:endParaRPr lang="zh-CN" altLang="en-US" b="1" baseline="-25000" dirty="0">
              <a:solidFill>
                <a:srgbClr val="0000FF"/>
              </a:solidFill>
            </a:endParaRPr>
          </a:p>
        </p:txBody>
      </p:sp>
      <p:sp>
        <p:nvSpPr>
          <p:cNvPr id="42" name="TextBox 41"/>
          <p:cNvSpPr txBox="1"/>
          <p:nvPr/>
        </p:nvSpPr>
        <p:spPr>
          <a:xfrm>
            <a:off x="1947905" y="1306846"/>
            <a:ext cx="4702629" cy="460375"/>
          </a:xfrm>
          <a:prstGeom prst="rect">
            <a:avLst/>
          </a:prstGeom>
          <a:noFill/>
        </p:spPr>
        <p:txBody>
          <a:bodyPr wrap="square" rtlCol="0">
            <a:spAutoFit/>
          </a:bodyPr>
          <a:lstStyle/>
          <a:p>
            <a:r>
              <a:rPr lang="en-US" altLang="zh-CN" b="1" i="1" dirty="0" err="1" smtClean="0">
                <a:solidFill>
                  <a:srgbClr val="0000FF"/>
                </a:solidFill>
              </a:rPr>
              <a:t>d</a:t>
            </a:r>
            <a:r>
              <a:rPr lang="en-US" altLang="zh-CN" b="1" baseline="-25000" dirty="0" err="1" smtClean="0">
                <a:solidFill>
                  <a:srgbClr val="0000FF"/>
                </a:solidFill>
              </a:rPr>
              <a:t>fe</a:t>
            </a:r>
            <a:r>
              <a:rPr lang="en-US" altLang="zh-CN" b="1" dirty="0" smtClean="0">
                <a:solidFill>
                  <a:srgbClr val="0000FF"/>
                </a:solidFill>
              </a:rPr>
              <a:t> = </a:t>
            </a:r>
            <a:r>
              <a:rPr lang="en-US" altLang="zh-CN" b="1" i="1" dirty="0" err="1" smtClean="0">
                <a:solidFill>
                  <a:srgbClr val="0000FF"/>
                </a:solidFill>
              </a:rPr>
              <a:t>d</a:t>
            </a:r>
            <a:r>
              <a:rPr lang="en-US" altLang="zh-CN" b="1" baseline="-25000" dirty="0" err="1" smtClean="0">
                <a:solidFill>
                  <a:srgbClr val="0000FF"/>
                </a:solidFill>
              </a:rPr>
              <a:t>a</a:t>
            </a:r>
            <a:r>
              <a:rPr lang="en-US" altLang="zh-CN" b="1" dirty="0" smtClean="0">
                <a:solidFill>
                  <a:srgbClr val="0000FF"/>
                </a:solidFill>
              </a:rPr>
              <a:t> + </a:t>
            </a:r>
            <a:r>
              <a:rPr lang="en-US" altLang="zh-CN" b="1" i="1" dirty="0" smtClean="0">
                <a:solidFill>
                  <a:srgbClr val="0000FF"/>
                </a:solidFill>
              </a:rPr>
              <a:t>f</a:t>
            </a:r>
            <a:r>
              <a:rPr lang="zh-CN" altLang="en-US" b="1" baseline="-25000" dirty="0" smtClean="0">
                <a:solidFill>
                  <a:srgbClr val="0000FF"/>
                </a:solidFill>
              </a:rPr>
              <a:t>几何</a:t>
            </a:r>
            <a:r>
              <a:rPr lang="zh-CN" altLang="en-US" b="1" dirty="0" smtClean="0">
                <a:solidFill>
                  <a:srgbClr val="0000FF"/>
                </a:solidFill>
              </a:rPr>
              <a:t> ≤ </a:t>
            </a:r>
            <a:r>
              <a:rPr lang="en-US" altLang="zh-CN" b="1" i="1" dirty="0" err="1" smtClean="0">
                <a:solidFill>
                  <a:srgbClr val="0000FF"/>
                </a:solidFill>
              </a:rPr>
              <a:t>d</a:t>
            </a:r>
            <a:r>
              <a:rPr lang="en-US" altLang="zh-CN" b="1" baseline="-25000" dirty="0" err="1" smtClean="0">
                <a:solidFill>
                  <a:srgbClr val="0000FF"/>
                </a:solidFill>
              </a:rPr>
              <a:t>MV</a:t>
            </a:r>
            <a:r>
              <a:rPr lang="en-US" altLang="zh-CN" b="1" dirty="0" smtClean="0">
                <a:solidFill>
                  <a:srgbClr val="0000FF"/>
                </a:solidFill>
              </a:rPr>
              <a:t> = </a:t>
            </a:r>
            <a:r>
              <a:rPr lang="en-US" altLang="zh-CN" b="1" i="1" dirty="0" err="1" smtClean="0">
                <a:solidFill>
                  <a:srgbClr val="0000FF"/>
                </a:solidFill>
              </a:rPr>
              <a:t>d</a:t>
            </a:r>
            <a:r>
              <a:rPr lang="en-US" altLang="zh-CN" b="1" baseline="-25000" dirty="0" err="1" smtClean="0">
                <a:solidFill>
                  <a:srgbClr val="0000FF"/>
                </a:solidFill>
              </a:rPr>
              <a:t>max</a:t>
            </a:r>
            <a:r>
              <a:rPr lang="en-US" altLang="zh-CN" b="1" dirty="0" smtClean="0">
                <a:solidFill>
                  <a:srgbClr val="0000FF"/>
                </a:solidFill>
              </a:rPr>
              <a:t> + </a:t>
            </a:r>
            <a:r>
              <a:rPr lang="en-US" altLang="zh-CN" b="1" i="1" dirty="0" smtClean="0">
                <a:solidFill>
                  <a:srgbClr val="0000FF"/>
                </a:solidFill>
              </a:rPr>
              <a:t>t</a:t>
            </a:r>
            <a:r>
              <a:rPr lang="zh-CN" altLang="en-US" b="1" baseline="-25000" dirty="0" smtClean="0">
                <a:solidFill>
                  <a:srgbClr val="0000FF"/>
                </a:solidFill>
              </a:rPr>
              <a:t>几何</a:t>
            </a:r>
            <a:endParaRPr lang="zh-CN" altLang="en-US" b="1" baseline="-25000" dirty="0">
              <a:solidFill>
                <a:srgbClr val="0000FF"/>
              </a:solidFill>
            </a:endParaRPr>
          </a:p>
        </p:txBody>
      </p:sp>
      <p:sp>
        <p:nvSpPr>
          <p:cNvPr id="45" name="Oval 9"/>
          <p:cNvSpPr>
            <a:spLocks noChangeArrowheads="1"/>
          </p:cNvSpPr>
          <p:nvPr/>
        </p:nvSpPr>
        <p:spPr bwMode="auto">
          <a:xfrm flipV="1">
            <a:off x="6281685" y="1447835"/>
            <a:ext cx="288000" cy="288000"/>
          </a:xfrm>
          <a:prstGeom prst="ellipse">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p>
            <a:pPr algn="ctr"/>
            <a:r>
              <a:rPr lang="en-US" altLang="zh-CN" sz="2000" dirty="0"/>
              <a:t>M</a:t>
            </a:r>
          </a:p>
        </p:txBody>
      </p:sp>
      <p:sp>
        <p:nvSpPr>
          <p:cNvPr id="46" name="Oval 10"/>
          <p:cNvSpPr>
            <a:spLocks noChangeArrowheads="1"/>
          </p:cNvSpPr>
          <p:nvPr/>
        </p:nvSpPr>
        <p:spPr bwMode="auto">
          <a:xfrm flipV="1">
            <a:off x="6663286" y="1454170"/>
            <a:ext cx="288000" cy="288000"/>
          </a:xfrm>
          <a:prstGeom prst="ellipse">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p>
            <a:pPr algn="ctr"/>
            <a:r>
              <a:rPr lang="en-US" altLang="zh-CN" sz="2000" dirty="0"/>
              <a:t>R</a:t>
            </a:r>
          </a:p>
        </p:txBody>
      </p:sp>
      <p:sp>
        <p:nvSpPr>
          <p:cNvPr id="47" name="左大括号 46"/>
          <p:cNvSpPr/>
          <p:nvPr/>
        </p:nvSpPr>
        <p:spPr bwMode="auto">
          <a:xfrm>
            <a:off x="1713539" y="1445159"/>
            <a:ext cx="249732" cy="656985"/>
          </a:xfrm>
          <a:prstGeom prst="leftBrace">
            <a:avLst/>
          </a:pr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5000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48" name="TextBox 47"/>
          <p:cNvSpPr txBox="1"/>
          <p:nvPr/>
        </p:nvSpPr>
        <p:spPr>
          <a:xfrm>
            <a:off x="1959430" y="2823003"/>
            <a:ext cx="2090056" cy="460375"/>
          </a:xfrm>
          <a:prstGeom prst="rect">
            <a:avLst/>
          </a:prstGeom>
          <a:noFill/>
        </p:spPr>
        <p:txBody>
          <a:bodyPr wrap="square" rtlCol="0">
            <a:spAutoFit/>
          </a:bodyPr>
          <a:lstStyle/>
          <a:p>
            <a:r>
              <a:rPr lang="en-US" altLang="zh-CN" b="1" i="1" dirty="0" err="1" smtClean="0">
                <a:solidFill>
                  <a:srgbClr val="FF0000"/>
                </a:solidFill>
              </a:rPr>
              <a:t>D</a:t>
            </a:r>
            <a:r>
              <a:rPr lang="en-US" altLang="zh-CN" b="1" baseline="-25000" dirty="0" err="1" smtClean="0">
                <a:solidFill>
                  <a:srgbClr val="FF0000"/>
                </a:solidFill>
              </a:rPr>
              <a:t>a</a:t>
            </a:r>
            <a:r>
              <a:rPr lang="en-US" altLang="zh-CN" b="1" dirty="0" smtClean="0">
                <a:solidFill>
                  <a:srgbClr val="FF0000"/>
                </a:solidFill>
              </a:rPr>
              <a:t> </a:t>
            </a:r>
            <a:r>
              <a:rPr lang="zh-CN" altLang="en-US" b="1" dirty="0" smtClean="0">
                <a:solidFill>
                  <a:srgbClr val="FF0000"/>
                </a:solidFill>
              </a:rPr>
              <a:t>≤ </a:t>
            </a:r>
            <a:r>
              <a:rPr lang="en-US" altLang="zh-CN" b="1" i="1" dirty="0" smtClean="0">
                <a:solidFill>
                  <a:srgbClr val="FF0000"/>
                </a:solidFill>
              </a:rPr>
              <a:t>D</a:t>
            </a:r>
            <a:r>
              <a:rPr lang="en-US" altLang="zh-CN" b="1" baseline="-25000" dirty="0" smtClean="0">
                <a:solidFill>
                  <a:srgbClr val="FF0000"/>
                </a:solidFill>
              </a:rPr>
              <a:t>L</a:t>
            </a:r>
            <a:r>
              <a:rPr lang="en-US" altLang="zh-CN" b="1" dirty="0" smtClean="0">
                <a:solidFill>
                  <a:srgbClr val="FF0000"/>
                </a:solidFill>
              </a:rPr>
              <a:t> = </a:t>
            </a:r>
            <a:r>
              <a:rPr lang="en-US" altLang="zh-CN" b="1" i="1" dirty="0" err="1" smtClean="0">
                <a:solidFill>
                  <a:srgbClr val="FF0000"/>
                </a:solidFill>
              </a:rPr>
              <a:t>D</a:t>
            </a:r>
            <a:r>
              <a:rPr lang="en-US" altLang="zh-CN" b="1" baseline="-25000" dirty="0" err="1" smtClean="0">
                <a:solidFill>
                  <a:srgbClr val="FF0000"/>
                </a:solidFill>
              </a:rPr>
              <a:t>max</a:t>
            </a:r>
            <a:endParaRPr lang="zh-CN" altLang="en-US" b="1" baseline="-25000" dirty="0">
              <a:solidFill>
                <a:srgbClr val="FF0000"/>
              </a:solidFill>
            </a:endParaRPr>
          </a:p>
        </p:txBody>
      </p:sp>
      <p:sp>
        <p:nvSpPr>
          <p:cNvPr id="49" name="TextBox 48"/>
          <p:cNvSpPr txBox="1"/>
          <p:nvPr/>
        </p:nvSpPr>
        <p:spPr>
          <a:xfrm>
            <a:off x="1947904" y="2385012"/>
            <a:ext cx="4702629" cy="460375"/>
          </a:xfrm>
          <a:prstGeom prst="rect">
            <a:avLst/>
          </a:prstGeom>
          <a:noFill/>
        </p:spPr>
        <p:txBody>
          <a:bodyPr wrap="square" rtlCol="0">
            <a:spAutoFit/>
          </a:bodyPr>
          <a:lstStyle/>
          <a:p>
            <a:r>
              <a:rPr lang="en-US" altLang="zh-CN" b="1" i="1" dirty="0" err="1" smtClean="0">
                <a:solidFill>
                  <a:srgbClr val="FF0000"/>
                </a:solidFill>
              </a:rPr>
              <a:t>D</a:t>
            </a:r>
            <a:r>
              <a:rPr lang="en-US" altLang="zh-CN" b="1" baseline="-25000" dirty="0" err="1" smtClean="0">
                <a:solidFill>
                  <a:srgbClr val="FF0000"/>
                </a:solidFill>
              </a:rPr>
              <a:t>fe</a:t>
            </a:r>
            <a:r>
              <a:rPr lang="en-US" altLang="zh-CN" b="1" dirty="0" smtClean="0">
                <a:solidFill>
                  <a:srgbClr val="FF0000"/>
                </a:solidFill>
              </a:rPr>
              <a:t> = </a:t>
            </a:r>
            <a:r>
              <a:rPr lang="en-US" altLang="zh-CN" b="1" i="1" dirty="0" err="1" smtClean="0">
                <a:solidFill>
                  <a:srgbClr val="FF0000"/>
                </a:solidFill>
              </a:rPr>
              <a:t>D</a:t>
            </a:r>
            <a:r>
              <a:rPr lang="en-US" altLang="zh-CN" b="1" baseline="-25000" dirty="0" err="1" smtClean="0">
                <a:solidFill>
                  <a:srgbClr val="FF0000"/>
                </a:solidFill>
              </a:rPr>
              <a:t>a</a:t>
            </a:r>
            <a:r>
              <a:rPr lang="en-US" altLang="zh-CN" b="1" dirty="0" smtClean="0">
                <a:solidFill>
                  <a:srgbClr val="FF0000"/>
                </a:solidFill>
              </a:rPr>
              <a:t> - </a:t>
            </a:r>
            <a:r>
              <a:rPr lang="en-US" altLang="zh-CN" b="1" i="1" dirty="0" smtClean="0">
                <a:solidFill>
                  <a:srgbClr val="FF0000"/>
                </a:solidFill>
              </a:rPr>
              <a:t>f</a:t>
            </a:r>
            <a:r>
              <a:rPr lang="zh-CN" altLang="en-US" b="1" baseline="-25000" dirty="0" smtClean="0">
                <a:solidFill>
                  <a:srgbClr val="FF0000"/>
                </a:solidFill>
              </a:rPr>
              <a:t>几何</a:t>
            </a:r>
            <a:r>
              <a:rPr lang="zh-CN" altLang="en-US" b="1" dirty="0" smtClean="0">
                <a:solidFill>
                  <a:srgbClr val="FF0000"/>
                </a:solidFill>
              </a:rPr>
              <a:t> </a:t>
            </a:r>
            <a:r>
              <a:rPr lang="en-US" altLang="zh-CN" b="1" dirty="0" smtClean="0">
                <a:solidFill>
                  <a:srgbClr val="FF0000"/>
                </a:solidFill>
              </a:rPr>
              <a:t>≥</a:t>
            </a:r>
            <a:r>
              <a:rPr lang="zh-CN" altLang="en-US" b="1" dirty="0" smtClean="0">
                <a:solidFill>
                  <a:srgbClr val="FF0000"/>
                </a:solidFill>
              </a:rPr>
              <a:t> </a:t>
            </a:r>
            <a:r>
              <a:rPr lang="en-US" altLang="zh-CN" b="1" i="1" dirty="0" smtClean="0">
                <a:solidFill>
                  <a:srgbClr val="FF0000"/>
                </a:solidFill>
              </a:rPr>
              <a:t>D</a:t>
            </a:r>
            <a:r>
              <a:rPr lang="en-US" altLang="zh-CN" b="1" baseline="-25000" dirty="0" smtClean="0">
                <a:solidFill>
                  <a:srgbClr val="FF0000"/>
                </a:solidFill>
              </a:rPr>
              <a:t>MV</a:t>
            </a:r>
            <a:r>
              <a:rPr lang="en-US" altLang="zh-CN" b="1" dirty="0" smtClean="0">
                <a:solidFill>
                  <a:srgbClr val="FF0000"/>
                </a:solidFill>
              </a:rPr>
              <a:t> = </a:t>
            </a:r>
            <a:r>
              <a:rPr lang="en-US" altLang="zh-CN" b="1" i="1" dirty="0" err="1" smtClean="0">
                <a:solidFill>
                  <a:srgbClr val="FF0000"/>
                </a:solidFill>
              </a:rPr>
              <a:t>D</a:t>
            </a:r>
            <a:r>
              <a:rPr lang="en-US" altLang="zh-CN" b="1" baseline="-25000" dirty="0" err="1" smtClean="0">
                <a:solidFill>
                  <a:srgbClr val="FF0000"/>
                </a:solidFill>
              </a:rPr>
              <a:t>min</a:t>
            </a:r>
            <a:r>
              <a:rPr lang="en-US" altLang="zh-CN" b="1" dirty="0" smtClean="0">
                <a:solidFill>
                  <a:srgbClr val="FF0000"/>
                </a:solidFill>
              </a:rPr>
              <a:t> - </a:t>
            </a:r>
            <a:r>
              <a:rPr lang="en-US" altLang="zh-CN" b="1" i="1" dirty="0" smtClean="0">
                <a:solidFill>
                  <a:srgbClr val="FF0000"/>
                </a:solidFill>
              </a:rPr>
              <a:t>t</a:t>
            </a:r>
            <a:r>
              <a:rPr lang="zh-CN" altLang="en-US" b="1" baseline="-25000" dirty="0" smtClean="0">
                <a:solidFill>
                  <a:srgbClr val="FF0000"/>
                </a:solidFill>
              </a:rPr>
              <a:t>几何</a:t>
            </a:r>
            <a:endParaRPr lang="zh-CN" altLang="en-US" b="1" baseline="-25000" dirty="0">
              <a:solidFill>
                <a:srgbClr val="FF0000"/>
              </a:solidFill>
            </a:endParaRPr>
          </a:p>
        </p:txBody>
      </p:sp>
      <p:sp>
        <p:nvSpPr>
          <p:cNvPr id="50" name="Oval 9"/>
          <p:cNvSpPr>
            <a:spLocks noChangeArrowheads="1"/>
          </p:cNvSpPr>
          <p:nvPr/>
        </p:nvSpPr>
        <p:spPr bwMode="auto">
          <a:xfrm flipV="1">
            <a:off x="6389262" y="2526001"/>
            <a:ext cx="288000" cy="288000"/>
          </a:xfrm>
          <a:prstGeom prst="ellipse">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p>
            <a:pPr algn="ctr"/>
            <a:r>
              <a:rPr lang="en-US" altLang="zh-CN" sz="2000" dirty="0"/>
              <a:t>M</a:t>
            </a:r>
          </a:p>
        </p:txBody>
      </p:sp>
      <p:sp>
        <p:nvSpPr>
          <p:cNvPr id="51" name="Oval 10"/>
          <p:cNvSpPr>
            <a:spLocks noChangeArrowheads="1"/>
          </p:cNvSpPr>
          <p:nvPr/>
        </p:nvSpPr>
        <p:spPr bwMode="auto">
          <a:xfrm flipV="1">
            <a:off x="6770861" y="2532336"/>
            <a:ext cx="288000" cy="288000"/>
          </a:xfrm>
          <a:prstGeom prst="ellipse">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p>
            <a:pPr algn="ctr"/>
            <a:r>
              <a:rPr lang="en-US" altLang="zh-CN" sz="2000" dirty="0"/>
              <a:t>R</a:t>
            </a:r>
          </a:p>
        </p:txBody>
      </p:sp>
      <p:sp>
        <p:nvSpPr>
          <p:cNvPr id="52" name="左大括号 51"/>
          <p:cNvSpPr/>
          <p:nvPr/>
        </p:nvSpPr>
        <p:spPr bwMode="auto">
          <a:xfrm>
            <a:off x="1713538" y="2523325"/>
            <a:ext cx="249732" cy="656985"/>
          </a:xfrm>
          <a:prstGeom prst="leftBrace">
            <a:avLst/>
          </a:pr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5000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07555"/>
                                        </p:tgtEl>
                                        <p:attrNameLst>
                                          <p:attrName>style.visibility</p:attrName>
                                        </p:attrNameLst>
                                      </p:cBhvr>
                                      <p:to>
                                        <p:strVal val="visible"/>
                                      </p:to>
                                    </p:set>
                                    <p:animEffect transition="in" filter="wipe(left)">
                                      <p:cBhvr>
                                        <p:cTn id="7" dur="300"/>
                                        <p:tgtEl>
                                          <p:spTgt spid="10755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107524"/>
                                        </p:tgtEl>
                                        <p:attrNameLst>
                                          <p:attrName>style.visibility</p:attrName>
                                        </p:attrNameLst>
                                      </p:cBhvr>
                                      <p:to>
                                        <p:strVal val="visible"/>
                                      </p:to>
                                    </p:set>
                                    <p:anim calcmode="lin" valueType="num">
                                      <p:cBhvr additive="base">
                                        <p:cTn id="12" dur="2000" fill="hold"/>
                                        <p:tgtEl>
                                          <p:spTgt spid="107524"/>
                                        </p:tgtEl>
                                        <p:attrNameLst>
                                          <p:attrName>ppt_x</p:attrName>
                                        </p:attrNameLst>
                                      </p:cBhvr>
                                      <p:tavLst>
                                        <p:tav tm="0">
                                          <p:val>
                                            <p:strVal val="0-#ppt_w/2"/>
                                          </p:val>
                                        </p:tav>
                                        <p:tav tm="100000">
                                          <p:val>
                                            <p:strVal val="#ppt_x"/>
                                          </p:val>
                                        </p:tav>
                                      </p:tavLst>
                                    </p:anim>
                                    <p:anim calcmode="lin" valueType="num">
                                      <p:cBhvr additive="base">
                                        <p:cTn id="13" dur="2000" fill="hold"/>
                                        <p:tgtEl>
                                          <p:spTgt spid="10752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6" fill="hold" nodeType="clickEffect">
                                  <p:stCondLst>
                                    <p:cond delay="0"/>
                                  </p:stCondLst>
                                  <p:childTnLst>
                                    <p:set>
                                      <p:cBhvr>
                                        <p:cTn id="17" dur="1" fill="hold">
                                          <p:stCondLst>
                                            <p:cond delay="0"/>
                                          </p:stCondLst>
                                        </p:cTn>
                                        <p:tgtEl>
                                          <p:spTgt spid="107547"/>
                                        </p:tgtEl>
                                        <p:attrNameLst>
                                          <p:attrName>style.visibility</p:attrName>
                                        </p:attrNameLst>
                                      </p:cBhvr>
                                      <p:to>
                                        <p:strVal val="visible"/>
                                      </p:to>
                                    </p:set>
                                    <p:anim calcmode="lin" valueType="num">
                                      <p:cBhvr additive="base">
                                        <p:cTn id="18" dur="500" fill="hold"/>
                                        <p:tgtEl>
                                          <p:spTgt spid="107547"/>
                                        </p:tgtEl>
                                        <p:attrNameLst>
                                          <p:attrName>ppt_x</p:attrName>
                                        </p:attrNameLst>
                                      </p:cBhvr>
                                      <p:tavLst>
                                        <p:tav tm="0">
                                          <p:val>
                                            <p:strVal val="1+#ppt_w/2"/>
                                          </p:val>
                                        </p:tav>
                                        <p:tav tm="100000">
                                          <p:val>
                                            <p:strVal val="#ppt_x"/>
                                          </p:val>
                                        </p:tav>
                                      </p:tavLst>
                                    </p:anim>
                                    <p:anim calcmode="lin" valueType="num">
                                      <p:cBhvr additive="base">
                                        <p:cTn id="19" dur="500" fill="hold"/>
                                        <p:tgtEl>
                                          <p:spTgt spid="10754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wipe(left)">
                                      <p:cBhvr>
                                        <p:cTn id="2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55" grpId="0" bldLvl="0" animBg="1" autoUpdateAnimBg="0"/>
      <p:bldP spid="2" grpId="0"/>
      <p:bldP spid="4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6" name="Text Box 20"/>
          <p:cNvSpPr txBox="1">
            <a:spLocks noChangeArrowheads="1"/>
          </p:cNvSpPr>
          <p:nvPr/>
        </p:nvSpPr>
        <p:spPr bwMode="auto">
          <a:xfrm>
            <a:off x="367031" y="400130"/>
            <a:ext cx="8202613"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7.  </a:t>
            </a:r>
            <a:r>
              <a:rPr lang="zh-CN" altLang="en-US" b="1" dirty="0"/>
              <a:t>最大实体要求</a:t>
            </a:r>
            <a:r>
              <a:rPr lang="zh-CN" altLang="en-US" b="1" dirty="0">
                <a:latin typeface="宋体" panose="02010600030101010101" pitchFamily="2" charset="-122"/>
              </a:rPr>
              <a:t>应用于被测要素，其几何公差值为</a:t>
            </a:r>
            <a:r>
              <a:rPr lang="zh-CN" altLang="en-US" b="1" dirty="0">
                <a:solidFill>
                  <a:srgbClr val="FF3300"/>
                </a:solidFill>
                <a:latin typeface="宋体" panose="02010600030101010101" pitchFamily="2" charset="-122"/>
              </a:rPr>
              <a:t>零</a:t>
            </a:r>
            <a:endParaRPr lang="zh-CN" altLang="en-US" b="1" dirty="0"/>
          </a:p>
        </p:txBody>
      </p:sp>
      <p:sp>
        <p:nvSpPr>
          <p:cNvPr id="14382" name="Text Box 46"/>
          <p:cNvSpPr txBox="1">
            <a:spLocks noChangeArrowheads="1"/>
          </p:cNvSpPr>
          <p:nvPr/>
        </p:nvSpPr>
        <p:spPr bwMode="auto">
          <a:xfrm>
            <a:off x="644202" y="1128654"/>
            <a:ext cx="7722135" cy="7067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       最大实体要求</a:t>
            </a:r>
            <a:r>
              <a:rPr lang="zh-CN" altLang="en-US" sz="2000" b="1" dirty="0">
                <a:latin typeface="宋体" panose="02010600030101010101" pitchFamily="2" charset="-122"/>
              </a:rPr>
              <a:t>应用于被测要素，且几何公差值为</a:t>
            </a:r>
            <a:r>
              <a:rPr lang="zh-CN" altLang="en-US" sz="2000" b="1" dirty="0">
                <a:solidFill>
                  <a:srgbClr val="FF3300"/>
                </a:solidFill>
                <a:latin typeface="宋体" panose="02010600030101010101" pitchFamily="2" charset="-122"/>
              </a:rPr>
              <a:t>零</a:t>
            </a:r>
            <a:r>
              <a:rPr lang="zh-CN" altLang="en-US" sz="2000" b="1" dirty="0">
                <a:latin typeface="宋体" panose="02010600030101010101" pitchFamily="2" charset="-122"/>
              </a:rPr>
              <a:t>时，则称为</a:t>
            </a:r>
            <a:r>
              <a:rPr lang="zh-CN" altLang="en-US" sz="2000" b="1" dirty="0"/>
              <a:t>“</a:t>
            </a:r>
            <a:r>
              <a:rPr lang="zh-CN" altLang="en-US" sz="2000" b="1" dirty="0">
                <a:solidFill>
                  <a:srgbClr val="FF0000"/>
                </a:solidFill>
                <a:latin typeface="宋体" panose="02010600030101010101" pitchFamily="2" charset="-122"/>
              </a:rPr>
              <a:t>零几何公差</a:t>
            </a:r>
            <a:r>
              <a:rPr lang="zh-CN" altLang="en-US" sz="2000" b="1" dirty="0"/>
              <a:t>”</a:t>
            </a:r>
            <a:r>
              <a:rPr lang="zh-CN" altLang="en-US" sz="2000" b="1" dirty="0">
                <a:latin typeface="宋体" panose="02010600030101010101" pitchFamily="2" charset="-122"/>
              </a:rPr>
              <a:t>。</a:t>
            </a:r>
            <a:endParaRPr lang="zh-CN" altLang="en-US" sz="2000" b="1" dirty="0"/>
          </a:p>
        </p:txBody>
      </p:sp>
      <p:grpSp>
        <p:nvGrpSpPr>
          <p:cNvPr id="14387" name="Group 51"/>
          <p:cNvGrpSpPr/>
          <p:nvPr/>
        </p:nvGrpSpPr>
        <p:grpSpPr bwMode="auto">
          <a:xfrm>
            <a:off x="880517" y="1949377"/>
            <a:ext cx="3170237" cy="2831449"/>
            <a:chOff x="371" y="2322"/>
            <a:chExt cx="1720" cy="1664"/>
          </a:xfrm>
        </p:grpSpPr>
        <p:pic>
          <p:nvPicPr>
            <p:cNvPr id="38932" name="Picture 47"/>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71" y="2322"/>
              <a:ext cx="1720" cy="16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8933" name="Text Box 50"/>
            <p:cNvSpPr txBox="1">
              <a:spLocks noChangeArrowheads="1"/>
            </p:cNvSpPr>
            <p:nvPr/>
          </p:nvSpPr>
          <p:spPr bwMode="auto">
            <a:xfrm>
              <a:off x="599" y="3805"/>
              <a:ext cx="1001" cy="181"/>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smtClean="0"/>
                <a:t>零</a:t>
              </a:r>
              <a:r>
                <a:rPr lang="zh-CN" altLang="en-US" sz="1400" b="1" dirty="0"/>
                <a:t>几何公差标注</a:t>
              </a:r>
            </a:p>
          </p:txBody>
        </p:sp>
      </p:grpSp>
      <p:graphicFrame>
        <p:nvGraphicFramePr>
          <p:cNvPr id="14389" name="Object 53"/>
          <p:cNvGraphicFramePr>
            <a:graphicFrameLocks noChangeAspect="1"/>
          </p:cNvGraphicFramePr>
          <p:nvPr/>
        </p:nvGraphicFramePr>
        <p:xfrm>
          <a:off x="792294" y="4955673"/>
          <a:ext cx="4712230" cy="386229"/>
        </p:xfrm>
        <a:graphic>
          <a:graphicData uri="http://schemas.openxmlformats.org/presentationml/2006/ole">
            <p:oleObj spid="_x0000_s18439" name="公式" r:id="rId4" imgW="53035200" imgH="5791200" progId="">
              <p:embed/>
            </p:oleObj>
          </a:graphicData>
        </a:graphic>
      </p:graphicFrame>
      <p:graphicFrame>
        <p:nvGraphicFramePr>
          <p:cNvPr id="14390" name="Object 54"/>
          <p:cNvGraphicFramePr>
            <a:graphicFrameLocks noChangeAspect="1"/>
          </p:cNvGraphicFramePr>
          <p:nvPr/>
        </p:nvGraphicFramePr>
        <p:xfrm>
          <a:off x="784704" y="5816960"/>
          <a:ext cx="6199187" cy="377792"/>
        </p:xfrm>
        <a:graphic>
          <a:graphicData uri="http://schemas.openxmlformats.org/presentationml/2006/ole">
            <p:oleObj spid="_x0000_s18440" name="公式" r:id="rId5" imgW="71323200" imgH="5791200" progId="">
              <p:embed/>
            </p:oleObj>
          </a:graphicData>
        </a:graphic>
      </p:graphicFrame>
      <p:graphicFrame>
        <p:nvGraphicFramePr>
          <p:cNvPr id="14391" name="Object 55"/>
          <p:cNvGraphicFramePr>
            <a:graphicFrameLocks noChangeAspect="1"/>
          </p:cNvGraphicFramePr>
          <p:nvPr/>
        </p:nvGraphicFramePr>
        <p:xfrm>
          <a:off x="786991" y="5382943"/>
          <a:ext cx="7557028" cy="382136"/>
        </p:xfrm>
        <a:graphic>
          <a:graphicData uri="http://schemas.openxmlformats.org/presentationml/2006/ole">
            <p:oleObj spid="_x0000_s18441" name="公式" r:id="rId6" imgW="85953600" imgH="5791200" progId="">
              <p:embed/>
            </p:oleObj>
          </a:graphicData>
        </a:graphic>
      </p:graphicFrame>
      <p:grpSp>
        <p:nvGrpSpPr>
          <p:cNvPr id="14395" name="Group 59"/>
          <p:cNvGrpSpPr/>
          <p:nvPr/>
        </p:nvGrpSpPr>
        <p:grpSpPr bwMode="auto">
          <a:xfrm>
            <a:off x="4471409" y="1808149"/>
            <a:ext cx="3729038" cy="2994420"/>
            <a:chOff x="3216" y="2153"/>
            <a:chExt cx="2349" cy="2515"/>
          </a:xfrm>
        </p:grpSpPr>
        <p:grpSp>
          <p:nvGrpSpPr>
            <p:cNvPr id="38926" name="Group 52"/>
            <p:cNvGrpSpPr/>
            <p:nvPr/>
          </p:nvGrpSpPr>
          <p:grpSpPr bwMode="auto">
            <a:xfrm>
              <a:off x="3216" y="2153"/>
              <a:ext cx="2349" cy="2515"/>
              <a:chOff x="3216" y="1999"/>
              <a:chExt cx="2349" cy="2515"/>
            </a:xfrm>
          </p:grpSpPr>
          <p:pic>
            <p:nvPicPr>
              <p:cNvPr id="38930" name="Picture 48"/>
              <p:cNvPicPr>
                <a:picLocks noChangeAspect="1" noChangeArrowheads="1"/>
              </p:cNvPicPr>
              <p:nvPr/>
            </p:nvPicPr>
            <p:blipFill>
              <a:blip r:embed="rId7" cstate="print">
                <a:extLst>
                  <a:ext uri="{28A0092B-C50C-407E-A947-70E740481C1C}">
                    <a14:useLocalDpi xmlns:a14="http://schemas.microsoft.com/office/drawing/2010/main" xmlns="" val="0"/>
                  </a:ext>
                </a:extLst>
              </a:blip>
              <a:srcRect b="5469"/>
              <a:stretch>
                <a:fillRect/>
              </a:stretch>
            </p:blipFill>
            <p:spPr bwMode="auto">
              <a:xfrm>
                <a:off x="3216" y="1999"/>
                <a:ext cx="2349" cy="22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8931" name="Text Box 49"/>
              <p:cNvSpPr txBox="1">
                <a:spLocks noChangeArrowheads="1"/>
              </p:cNvSpPr>
              <p:nvPr/>
            </p:nvSpPr>
            <p:spPr bwMode="auto">
              <a:xfrm>
                <a:off x="4142" y="4255"/>
                <a:ext cx="707" cy="259"/>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smtClean="0"/>
                  <a:t>动态公差图</a:t>
                </a:r>
                <a:endParaRPr lang="zh-CN" altLang="en-US" sz="1400" b="1" dirty="0"/>
              </a:p>
            </p:txBody>
          </p:sp>
        </p:grpSp>
        <p:sp>
          <p:nvSpPr>
            <p:cNvPr id="38927" name="Line 56"/>
            <p:cNvSpPr>
              <a:spLocks noChangeShapeType="1"/>
            </p:cNvSpPr>
            <p:nvPr/>
          </p:nvSpPr>
          <p:spPr bwMode="auto">
            <a:xfrm>
              <a:off x="4490" y="3488"/>
              <a:ext cx="0" cy="695"/>
            </a:xfrm>
            <a:prstGeom prst="line">
              <a:avLst/>
            </a:prstGeom>
            <a:noFill/>
            <a:ln w="57150">
              <a:solidFill>
                <a:srgbClr val="FF3300"/>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8928" name="Line 57"/>
            <p:cNvSpPr>
              <a:spLocks noChangeShapeType="1"/>
            </p:cNvSpPr>
            <p:nvPr/>
          </p:nvSpPr>
          <p:spPr bwMode="auto">
            <a:xfrm>
              <a:off x="3618" y="3505"/>
              <a:ext cx="862" cy="0"/>
            </a:xfrm>
            <a:prstGeom prst="line">
              <a:avLst/>
            </a:prstGeom>
            <a:noFill/>
            <a:ln w="57150">
              <a:solidFill>
                <a:srgbClr val="FF3300"/>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8929" name="Text Box 58"/>
            <p:cNvSpPr txBox="1">
              <a:spLocks noChangeArrowheads="1"/>
            </p:cNvSpPr>
            <p:nvPr/>
          </p:nvSpPr>
          <p:spPr bwMode="auto">
            <a:xfrm>
              <a:off x="3245" y="3336"/>
              <a:ext cx="367" cy="3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dirty="0">
                  <a:solidFill>
                    <a:srgbClr val="D60093"/>
                  </a:solidFill>
                </a:rPr>
                <a:t>0.02</a:t>
              </a:r>
            </a:p>
          </p:txBody>
        </p:sp>
      </p:grpSp>
      <p:grpSp>
        <p:nvGrpSpPr>
          <p:cNvPr id="14399" name="Group 63"/>
          <p:cNvGrpSpPr/>
          <p:nvPr/>
        </p:nvGrpSpPr>
        <p:grpSpPr bwMode="auto">
          <a:xfrm>
            <a:off x="6818630" y="2633345"/>
            <a:ext cx="1139190" cy="385445"/>
            <a:chOff x="4436" y="2577"/>
            <a:chExt cx="808" cy="384"/>
          </a:xfrm>
        </p:grpSpPr>
        <p:sp>
          <p:nvSpPr>
            <p:cNvPr id="38924" name="AutoShape 61"/>
            <p:cNvSpPr>
              <a:spLocks noChangeArrowheads="1"/>
            </p:cNvSpPr>
            <p:nvPr/>
          </p:nvSpPr>
          <p:spPr bwMode="auto">
            <a:xfrm>
              <a:off x="4436" y="2577"/>
              <a:ext cx="808" cy="384"/>
            </a:xfrm>
            <a:prstGeom prst="wedgeRoundRectCallout">
              <a:avLst>
                <a:gd name="adj1" fmla="val -72262"/>
                <a:gd name="adj2" fmla="val 334613"/>
                <a:gd name="adj3" fmla="val 16667"/>
              </a:avLst>
            </a:prstGeom>
            <a:noFill/>
            <a:ln w="38100">
              <a:solidFill>
                <a:srgbClr val="FF3300"/>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a:p>
          </p:txBody>
        </p:sp>
        <p:graphicFrame>
          <p:nvGraphicFramePr>
            <p:cNvPr id="38925" name="Object 62"/>
            <p:cNvGraphicFramePr>
              <a:graphicFrameLocks noChangeAspect="1"/>
            </p:cNvGraphicFramePr>
            <p:nvPr/>
          </p:nvGraphicFramePr>
          <p:xfrm>
            <a:off x="4552" y="2615"/>
            <a:ext cx="660" cy="286"/>
          </p:xfrm>
          <a:graphic>
            <a:graphicData uri="http://schemas.openxmlformats.org/presentationml/2006/ole">
              <p:oleObj spid="_x0000_s18442" name="公式" r:id="rId8" imgW="11277600" imgH="4876800" progId="">
                <p:embed/>
              </p:oleObj>
            </a:graphicData>
          </a:graphic>
        </p:graphicFrame>
      </p:grpSp>
      <p:cxnSp>
        <p:nvCxnSpPr>
          <p:cNvPr id="21" name="直接连接符 20"/>
          <p:cNvCxnSpPr/>
          <p:nvPr/>
        </p:nvCxnSpPr>
        <p:spPr bwMode="auto">
          <a:xfrm flipV="1">
            <a:off x="258584" y="979559"/>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356"/>
                                        </p:tgtEl>
                                        <p:attrNameLst>
                                          <p:attrName>style.visibility</p:attrName>
                                        </p:attrNameLst>
                                      </p:cBhvr>
                                      <p:to>
                                        <p:strVal val="visible"/>
                                      </p:to>
                                    </p:set>
                                    <p:animEffect transition="in" filter="wipe(left)">
                                      <p:cBhvr>
                                        <p:cTn id="7" dur="300"/>
                                        <p:tgtEl>
                                          <p:spTgt spid="143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4382"/>
                                        </p:tgtEl>
                                        <p:attrNameLst>
                                          <p:attrName>style.visibility</p:attrName>
                                        </p:attrNameLst>
                                      </p:cBhvr>
                                      <p:to>
                                        <p:strVal val="visible"/>
                                      </p:to>
                                    </p:set>
                                    <p:animEffect transition="in" filter="wipe(left)">
                                      <p:cBhvr>
                                        <p:cTn id="12" dur="300"/>
                                        <p:tgtEl>
                                          <p:spTgt spid="1438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2" fill="hold" nodeType="clickEffect">
                                  <p:stCondLst>
                                    <p:cond delay="0"/>
                                  </p:stCondLst>
                                  <p:childTnLst>
                                    <p:set>
                                      <p:cBhvr>
                                        <p:cTn id="16" dur="1" fill="hold">
                                          <p:stCondLst>
                                            <p:cond delay="0"/>
                                          </p:stCondLst>
                                        </p:cTn>
                                        <p:tgtEl>
                                          <p:spTgt spid="14387"/>
                                        </p:tgtEl>
                                        <p:attrNameLst>
                                          <p:attrName>style.visibility</p:attrName>
                                        </p:attrNameLst>
                                      </p:cBhvr>
                                      <p:to>
                                        <p:strVal val="visible"/>
                                      </p:to>
                                    </p:set>
                                    <p:anim calcmode="lin" valueType="num">
                                      <p:cBhvr additive="base">
                                        <p:cTn id="17" dur="2000" fill="hold"/>
                                        <p:tgtEl>
                                          <p:spTgt spid="14387"/>
                                        </p:tgtEl>
                                        <p:attrNameLst>
                                          <p:attrName>ppt_x</p:attrName>
                                        </p:attrNameLst>
                                      </p:cBhvr>
                                      <p:tavLst>
                                        <p:tav tm="0">
                                          <p:val>
                                            <p:strVal val="0-#ppt_w/2"/>
                                          </p:val>
                                        </p:tav>
                                        <p:tav tm="100000">
                                          <p:val>
                                            <p:strVal val="#ppt_x"/>
                                          </p:val>
                                        </p:tav>
                                      </p:tavLst>
                                    </p:anim>
                                    <p:anim calcmode="lin" valueType="num">
                                      <p:cBhvr additive="base">
                                        <p:cTn id="18" dur="2000" fill="hold"/>
                                        <p:tgtEl>
                                          <p:spTgt spid="1438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nodeType="clickEffect">
                                  <p:stCondLst>
                                    <p:cond delay="0"/>
                                  </p:stCondLst>
                                  <p:childTnLst>
                                    <p:set>
                                      <p:cBhvr>
                                        <p:cTn id="22" dur="1" fill="hold">
                                          <p:stCondLst>
                                            <p:cond delay="0"/>
                                          </p:stCondLst>
                                        </p:cTn>
                                        <p:tgtEl>
                                          <p:spTgt spid="14395"/>
                                        </p:tgtEl>
                                        <p:attrNameLst>
                                          <p:attrName>style.visibility</p:attrName>
                                        </p:attrNameLst>
                                      </p:cBhvr>
                                      <p:to>
                                        <p:strVal val="visible"/>
                                      </p:to>
                                    </p:set>
                                    <p:anim calcmode="lin" valueType="num">
                                      <p:cBhvr additive="base">
                                        <p:cTn id="23" dur="2000" fill="hold"/>
                                        <p:tgtEl>
                                          <p:spTgt spid="14395"/>
                                        </p:tgtEl>
                                        <p:attrNameLst>
                                          <p:attrName>ppt_x</p:attrName>
                                        </p:attrNameLst>
                                      </p:cBhvr>
                                      <p:tavLst>
                                        <p:tav tm="0">
                                          <p:val>
                                            <p:strVal val="1+#ppt_w/2"/>
                                          </p:val>
                                        </p:tav>
                                        <p:tav tm="100000">
                                          <p:val>
                                            <p:strVal val="#ppt_x"/>
                                          </p:val>
                                        </p:tav>
                                      </p:tavLst>
                                    </p:anim>
                                    <p:anim calcmode="lin" valueType="num">
                                      <p:cBhvr additive="base">
                                        <p:cTn id="24" dur="2000" fill="hold"/>
                                        <p:tgtEl>
                                          <p:spTgt spid="1439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4389"/>
                                        </p:tgtEl>
                                        <p:attrNameLst>
                                          <p:attrName>style.visibility</p:attrName>
                                        </p:attrNameLst>
                                      </p:cBhvr>
                                      <p:to>
                                        <p:strVal val="visible"/>
                                      </p:to>
                                    </p:set>
                                    <p:animEffect transition="in" filter="wipe(left)">
                                      <p:cBhvr>
                                        <p:cTn id="29" dur="2000"/>
                                        <p:tgtEl>
                                          <p:spTgt spid="1438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4391"/>
                                        </p:tgtEl>
                                        <p:attrNameLst>
                                          <p:attrName>style.visibility</p:attrName>
                                        </p:attrNameLst>
                                      </p:cBhvr>
                                      <p:to>
                                        <p:strVal val="visible"/>
                                      </p:to>
                                    </p:set>
                                    <p:animEffect transition="in" filter="wipe(left)">
                                      <p:cBhvr>
                                        <p:cTn id="34" dur="2000"/>
                                        <p:tgtEl>
                                          <p:spTgt spid="1439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4399"/>
                                        </p:tgtEl>
                                        <p:attrNameLst>
                                          <p:attrName>style.visibility</p:attrName>
                                        </p:attrNameLst>
                                      </p:cBhvr>
                                      <p:to>
                                        <p:strVal val="visible"/>
                                      </p:to>
                                    </p:set>
                                    <p:animEffect transition="in" filter="wipe(up)">
                                      <p:cBhvr>
                                        <p:cTn id="39" dur="2000"/>
                                        <p:tgtEl>
                                          <p:spTgt spid="1439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4390"/>
                                        </p:tgtEl>
                                        <p:attrNameLst>
                                          <p:attrName>style.visibility</p:attrName>
                                        </p:attrNameLst>
                                      </p:cBhvr>
                                      <p:to>
                                        <p:strVal val="visible"/>
                                      </p:to>
                                    </p:set>
                                    <p:animEffect transition="in" filter="wipe(left)">
                                      <p:cBhvr>
                                        <p:cTn id="44" dur="2000"/>
                                        <p:tgtEl>
                                          <p:spTgt spid="14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6" grpId="0" bldLvl="0" animBg="1" autoUpdateAnimBg="0"/>
      <p:bldP spid="14382" grpId="0" bldLvl="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548" name="Group 4"/>
          <p:cNvGrpSpPr/>
          <p:nvPr/>
        </p:nvGrpSpPr>
        <p:grpSpPr bwMode="auto">
          <a:xfrm>
            <a:off x="1421700" y="3540450"/>
            <a:ext cx="2956430" cy="2616440"/>
            <a:chOff x="371" y="2402"/>
            <a:chExt cx="1604" cy="1993"/>
          </a:xfrm>
        </p:grpSpPr>
        <p:pic>
          <p:nvPicPr>
            <p:cNvPr id="39950"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b="6432"/>
            <a:stretch>
              <a:fillRect/>
            </a:stretch>
          </p:blipFill>
          <p:spPr bwMode="auto">
            <a:xfrm>
              <a:off x="371" y="2402"/>
              <a:ext cx="1604" cy="17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9951" name="Text Box 6"/>
            <p:cNvSpPr txBox="1">
              <a:spLocks noChangeArrowheads="1"/>
            </p:cNvSpPr>
            <p:nvPr/>
          </p:nvSpPr>
          <p:spPr bwMode="auto">
            <a:xfrm>
              <a:off x="671" y="4161"/>
              <a:ext cx="955" cy="234"/>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smtClean="0"/>
                <a:t>零</a:t>
              </a:r>
              <a:r>
                <a:rPr lang="zh-CN" altLang="en-US" sz="1400" b="1" dirty="0"/>
                <a:t>几何公差标注</a:t>
              </a:r>
            </a:p>
          </p:txBody>
        </p:sp>
      </p:grpSp>
      <p:grpSp>
        <p:nvGrpSpPr>
          <p:cNvPr id="108551" name="Group 7"/>
          <p:cNvGrpSpPr/>
          <p:nvPr/>
        </p:nvGrpSpPr>
        <p:grpSpPr bwMode="auto">
          <a:xfrm>
            <a:off x="4634971" y="3496765"/>
            <a:ext cx="3424237" cy="2809991"/>
            <a:chOff x="3171" y="2203"/>
            <a:chExt cx="2157" cy="2250"/>
          </a:xfrm>
        </p:grpSpPr>
        <p:grpSp>
          <p:nvGrpSpPr>
            <p:cNvPr id="39944" name="Group 8"/>
            <p:cNvGrpSpPr/>
            <p:nvPr/>
          </p:nvGrpSpPr>
          <p:grpSpPr bwMode="auto">
            <a:xfrm>
              <a:off x="3171" y="2203"/>
              <a:ext cx="2157" cy="2250"/>
              <a:chOff x="3171" y="2049"/>
              <a:chExt cx="2157" cy="2250"/>
            </a:xfrm>
          </p:grpSpPr>
          <p:pic>
            <p:nvPicPr>
              <p:cNvPr id="39948" name="Picture 9"/>
              <p:cNvPicPr>
                <a:picLocks noChangeAspect="1" noChangeArrowheads="1"/>
              </p:cNvPicPr>
              <p:nvPr/>
            </p:nvPicPr>
            <p:blipFill>
              <a:blip r:embed="rId4" cstate="print">
                <a:extLst>
                  <a:ext uri="{28A0092B-C50C-407E-A947-70E740481C1C}">
                    <a14:useLocalDpi xmlns:a14="http://schemas.microsoft.com/office/drawing/2010/main" xmlns="" val="0"/>
                  </a:ext>
                </a:extLst>
              </a:blip>
              <a:srcRect b="5650"/>
              <a:stretch>
                <a:fillRect/>
              </a:stretch>
            </p:blipFill>
            <p:spPr bwMode="auto">
              <a:xfrm>
                <a:off x="3171" y="2049"/>
                <a:ext cx="2157" cy="19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9949" name="Text Box 10"/>
              <p:cNvSpPr txBox="1">
                <a:spLocks noChangeArrowheads="1"/>
              </p:cNvSpPr>
              <p:nvPr/>
            </p:nvSpPr>
            <p:spPr bwMode="auto">
              <a:xfrm>
                <a:off x="3933" y="4053"/>
                <a:ext cx="787" cy="24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smtClean="0"/>
                  <a:t>动态公差图</a:t>
                </a:r>
              </a:p>
            </p:txBody>
          </p:sp>
        </p:grpSp>
        <p:sp>
          <p:nvSpPr>
            <p:cNvPr id="39945" name="Line 11"/>
            <p:cNvSpPr>
              <a:spLocks noChangeShapeType="1"/>
            </p:cNvSpPr>
            <p:nvPr/>
          </p:nvSpPr>
          <p:spPr bwMode="auto">
            <a:xfrm>
              <a:off x="4379" y="3426"/>
              <a:ext cx="0" cy="548"/>
            </a:xfrm>
            <a:prstGeom prst="line">
              <a:avLst/>
            </a:prstGeom>
            <a:noFill/>
            <a:ln w="57150">
              <a:solidFill>
                <a:srgbClr val="FF3300"/>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9946" name="Line 12"/>
            <p:cNvSpPr>
              <a:spLocks noChangeShapeType="1"/>
            </p:cNvSpPr>
            <p:nvPr/>
          </p:nvSpPr>
          <p:spPr bwMode="auto">
            <a:xfrm>
              <a:off x="3536" y="3448"/>
              <a:ext cx="838" cy="0"/>
            </a:xfrm>
            <a:prstGeom prst="line">
              <a:avLst/>
            </a:prstGeom>
            <a:noFill/>
            <a:ln w="57150">
              <a:solidFill>
                <a:srgbClr val="FF3300"/>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9947" name="Text Box 13"/>
            <p:cNvSpPr txBox="1">
              <a:spLocks noChangeArrowheads="1"/>
            </p:cNvSpPr>
            <p:nvPr/>
          </p:nvSpPr>
          <p:spPr bwMode="auto">
            <a:xfrm>
              <a:off x="3194" y="3285"/>
              <a:ext cx="367" cy="2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dirty="0">
                  <a:solidFill>
                    <a:srgbClr val="D60093"/>
                  </a:solidFill>
                </a:rPr>
                <a:t>0.02</a:t>
              </a:r>
            </a:p>
          </p:txBody>
        </p:sp>
      </p:grpSp>
      <p:sp>
        <p:nvSpPr>
          <p:cNvPr id="108558" name="Text Box 14"/>
          <p:cNvSpPr txBox="1">
            <a:spLocks noChangeArrowheads="1"/>
          </p:cNvSpPr>
          <p:nvPr/>
        </p:nvSpPr>
        <p:spPr bwMode="auto">
          <a:xfrm>
            <a:off x="1095252" y="1035372"/>
            <a:ext cx="173837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smtClean="0">
                <a:solidFill>
                  <a:srgbClr val="FF3300"/>
                </a:solidFill>
                <a:latin typeface="宋体" panose="02010600030101010101" pitchFamily="2" charset="-122"/>
              </a:rPr>
              <a:t>合格</a:t>
            </a:r>
            <a:r>
              <a:rPr lang="zh-CN" altLang="en-US" sz="2000" b="1" dirty="0">
                <a:solidFill>
                  <a:srgbClr val="FF3300"/>
                </a:solidFill>
                <a:latin typeface="宋体" panose="02010600030101010101" pitchFamily="2" charset="-122"/>
              </a:rPr>
              <a:t>性</a:t>
            </a:r>
            <a:r>
              <a:rPr lang="zh-CN" altLang="en-US" sz="2000" b="1" dirty="0" smtClean="0">
                <a:solidFill>
                  <a:srgbClr val="FF3300"/>
                </a:solidFill>
                <a:latin typeface="宋体" panose="02010600030101010101" pitchFamily="2" charset="-122"/>
              </a:rPr>
              <a:t>判断</a:t>
            </a:r>
            <a:endParaRPr lang="en-US" altLang="zh-CN" sz="2000" b="1" dirty="0"/>
          </a:p>
        </p:txBody>
      </p:sp>
      <p:graphicFrame>
        <p:nvGraphicFramePr>
          <p:cNvPr id="108559" name="Object 15"/>
          <p:cNvGraphicFramePr>
            <a:graphicFrameLocks noChangeAspect="1"/>
          </p:cNvGraphicFramePr>
          <p:nvPr/>
        </p:nvGraphicFramePr>
        <p:xfrm>
          <a:off x="1927860" y="1553210"/>
          <a:ext cx="5273675" cy="815340"/>
        </p:xfrm>
        <a:graphic>
          <a:graphicData uri="http://schemas.openxmlformats.org/presentationml/2006/ole">
            <p:oleObj spid="_x0000_s19461" name="公式" r:id="rId5" imgW="54864000" imgH="11582400" progId="">
              <p:embed/>
            </p:oleObj>
          </a:graphicData>
        </a:graphic>
      </p:graphicFrame>
      <p:graphicFrame>
        <p:nvGraphicFramePr>
          <p:cNvPr id="108560" name="Object 16"/>
          <p:cNvGraphicFramePr>
            <a:graphicFrameLocks noChangeAspect="1"/>
          </p:cNvGraphicFramePr>
          <p:nvPr/>
        </p:nvGraphicFramePr>
        <p:xfrm>
          <a:off x="1998345" y="2517775"/>
          <a:ext cx="4946650" cy="746760"/>
        </p:xfrm>
        <a:graphic>
          <a:graphicData uri="http://schemas.openxmlformats.org/presentationml/2006/ole">
            <p:oleObj spid="_x0000_s19462" name="公式" r:id="rId6" imgW="56083200" imgH="11582400" progId="">
              <p:embed/>
            </p:oleObj>
          </a:graphicData>
        </a:graphic>
      </p:graphicFrame>
      <p:sp>
        <p:nvSpPr>
          <p:cNvPr id="16" name="Text Box 20"/>
          <p:cNvSpPr txBox="1">
            <a:spLocks noChangeArrowheads="1"/>
          </p:cNvSpPr>
          <p:nvPr/>
        </p:nvSpPr>
        <p:spPr bwMode="auto">
          <a:xfrm>
            <a:off x="388547" y="400130"/>
            <a:ext cx="8202613"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7.  </a:t>
            </a:r>
            <a:r>
              <a:rPr lang="zh-CN" altLang="en-US" b="1" dirty="0"/>
              <a:t>最大实体要求</a:t>
            </a:r>
            <a:r>
              <a:rPr lang="zh-CN" altLang="en-US" b="1" dirty="0">
                <a:latin typeface="宋体" panose="02010600030101010101" pitchFamily="2" charset="-122"/>
              </a:rPr>
              <a:t>应用于被测要素，其几何公差值为</a:t>
            </a:r>
            <a:r>
              <a:rPr lang="zh-CN" altLang="en-US" b="1" dirty="0">
                <a:solidFill>
                  <a:srgbClr val="FF3300"/>
                </a:solidFill>
                <a:latin typeface="宋体" panose="02010600030101010101" pitchFamily="2" charset="-122"/>
              </a:rPr>
              <a:t>零</a:t>
            </a:r>
            <a:endParaRPr lang="zh-CN" altLang="en-US" b="1" dirty="0"/>
          </a:p>
        </p:txBody>
      </p:sp>
      <p:cxnSp>
        <p:nvCxnSpPr>
          <p:cNvPr id="17" name="直接连接符 16"/>
          <p:cNvCxnSpPr/>
          <p:nvPr/>
        </p:nvCxnSpPr>
        <p:spPr bwMode="auto">
          <a:xfrm flipV="1">
            <a:off x="258584" y="979559"/>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08558"/>
                                        </p:tgtEl>
                                        <p:attrNameLst>
                                          <p:attrName>style.visibility</p:attrName>
                                        </p:attrNameLst>
                                      </p:cBhvr>
                                      <p:to>
                                        <p:strVal val="visible"/>
                                      </p:to>
                                    </p:set>
                                    <p:animEffect transition="in" filter="wipe(left)">
                                      <p:cBhvr>
                                        <p:cTn id="7" dur="300"/>
                                        <p:tgtEl>
                                          <p:spTgt spid="10855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nodeType="clickEffect">
                                  <p:stCondLst>
                                    <p:cond delay="0"/>
                                  </p:stCondLst>
                                  <p:childTnLst>
                                    <p:set>
                                      <p:cBhvr>
                                        <p:cTn id="11" dur="1" fill="hold">
                                          <p:stCondLst>
                                            <p:cond delay="0"/>
                                          </p:stCondLst>
                                        </p:cTn>
                                        <p:tgtEl>
                                          <p:spTgt spid="108548"/>
                                        </p:tgtEl>
                                        <p:attrNameLst>
                                          <p:attrName>style.visibility</p:attrName>
                                        </p:attrNameLst>
                                      </p:cBhvr>
                                      <p:to>
                                        <p:strVal val="visible"/>
                                      </p:to>
                                    </p:set>
                                    <p:anim calcmode="lin" valueType="num">
                                      <p:cBhvr additive="base">
                                        <p:cTn id="12" dur="2000" fill="hold"/>
                                        <p:tgtEl>
                                          <p:spTgt spid="108548"/>
                                        </p:tgtEl>
                                        <p:attrNameLst>
                                          <p:attrName>ppt_x</p:attrName>
                                        </p:attrNameLst>
                                      </p:cBhvr>
                                      <p:tavLst>
                                        <p:tav tm="0">
                                          <p:val>
                                            <p:strVal val="0-#ppt_w/2"/>
                                          </p:val>
                                        </p:tav>
                                        <p:tav tm="100000">
                                          <p:val>
                                            <p:strVal val="#ppt_x"/>
                                          </p:val>
                                        </p:tav>
                                      </p:tavLst>
                                    </p:anim>
                                    <p:anim calcmode="lin" valueType="num">
                                      <p:cBhvr additive="base">
                                        <p:cTn id="13" dur="2000" fill="hold"/>
                                        <p:tgtEl>
                                          <p:spTgt spid="10854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6" fill="hold" nodeType="clickEffect">
                                  <p:stCondLst>
                                    <p:cond delay="0"/>
                                  </p:stCondLst>
                                  <p:childTnLst>
                                    <p:set>
                                      <p:cBhvr>
                                        <p:cTn id="17" dur="1" fill="hold">
                                          <p:stCondLst>
                                            <p:cond delay="0"/>
                                          </p:stCondLst>
                                        </p:cTn>
                                        <p:tgtEl>
                                          <p:spTgt spid="108551"/>
                                        </p:tgtEl>
                                        <p:attrNameLst>
                                          <p:attrName>style.visibility</p:attrName>
                                        </p:attrNameLst>
                                      </p:cBhvr>
                                      <p:to>
                                        <p:strVal val="visible"/>
                                      </p:to>
                                    </p:set>
                                    <p:anim calcmode="lin" valueType="num">
                                      <p:cBhvr additive="base">
                                        <p:cTn id="18" dur="2000" fill="hold"/>
                                        <p:tgtEl>
                                          <p:spTgt spid="108551"/>
                                        </p:tgtEl>
                                        <p:attrNameLst>
                                          <p:attrName>ppt_x</p:attrName>
                                        </p:attrNameLst>
                                      </p:cBhvr>
                                      <p:tavLst>
                                        <p:tav tm="0">
                                          <p:val>
                                            <p:strVal val="1+#ppt_w/2"/>
                                          </p:val>
                                        </p:tav>
                                        <p:tav tm="100000">
                                          <p:val>
                                            <p:strVal val="#ppt_x"/>
                                          </p:val>
                                        </p:tav>
                                      </p:tavLst>
                                    </p:anim>
                                    <p:anim calcmode="lin" valueType="num">
                                      <p:cBhvr additive="base">
                                        <p:cTn id="19" dur="2000" fill="hold"/>
                                        <p:tgtEl>
                                          <p:spTgt spid="10855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08559"/>
                                        </p:tgtEl>
                                        <p:attrNameLst>
                                          <p:attrName>style.visibility</p:attrName>
                                        </p:attrNameLst>
                                      </p:cBhvr>
                                      <p:to>
                                        <p:strVal val="visible"/>
                                      </p:to>
                                    </p:set>
                                    <p:animEffect transition="in" filter="wipe(left)">
                                      <p:cBhvr>
                                        <p:cTn id="24" dur="2000"/>
                                        <p:tgtEl>
                                          <p:spTgt spid="10855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8560"/>
                                        </p:tgtEl>
                                        <p:attrNameLst>
                                          <p:attrName>style.visibility</p:attrName>
                                        </p:attrNameLst>
                                      </p:cBhvr>
                                      <p:to>
                                        <p:strVal val="visible"/>
                                      </p:to>
                                    </p:set>
                                    <p:animEffect transition="in" filter="wipe(left)">
                                      <p:cBhvr>
                                        <p:cTn id="29" dur="2000"/>
                                        <p:tgtEl>
                                          <p:spTgt spid="108560"/>
                                        </p:tgtEl>
                                      </p:cBhvr>
                                    </p:animEffect>
                                  </p:childTnLst>
                                </p:cTn>
                              </p:par>
                            </p:childTnLst>
                          </p:cTn>
                        </p:par>
                        <p:par>
                          <p:cTn id="30" fill="hold">
                            <p:stCondLst>
                              <p:cond delay="2000"/>
                            </p:stCondLst>
                            <p:childTnLst>
                              <p:par>
                                <p:cTn id="31" presetID="22" presetClass="entr" presetSubtype="8" fill="hold" grpId="0" nodeType="afterEffect">
                                  <p:stCondLst>
                                    <p:cond delay="0"/>
                                  </p:stCondLst>
                                  <p:iterate type="wd">
                                    <p:tmPct val="100000"/>
                                  </p:iterate>
                                  <p:childTnLst>
                                    <p:set>
                                      <p:cBhvr>
                                        <p:cTn id="32" dur="1" fill="hold">
                                          <p:stCondLst>
                                            <p:cond delay="0"/>
                                          </p:stCondLst>
                                        </p:cTn>
                                        <p:tgtEl>
                                          <p:spTgt spid="16"/>
                                        </p:tgtEl>
                                        <p:attrNameLst>
                                          <p:attrName>style.visibility</p:attrName>
                                        </p:attrNameLst>
                                      </p:cBhvr>
                                      <p:to>
                                        <p:strVal val="visible"/>
                                      </p:to>
                                    </p:set>
                                    <p:animEffect transition="in" filter="wipe(left)">
                                      <p:cBhvr>
                                        <p:cTn id="33"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8" grpId="0" bldLvl="0" animBg="1" autoUpdateAnimBg="0"/>
      <p:bldP spid="16" grpId="0" bldLvl="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Text Box 5"/>
          <p:cNvSpPr txBox="1">
            <a:spLocks noChangeArrowheads="1"/>
          </p:cNvSpPr>
          <p:nvPr/>
        </p:nvSpPr>
        <p:spPr bwMode="auto">
          <a:xfrm>
            <a:off x="808110" y="1848801"/>
            <a:ext cx="7636643" cy="19380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000" b="1" dirty="0"/>
              <a:t>        最大实体要求用于只要求</a:t>
            </a:r>
            <a:r>
              <a:rPr lang="zh-CN" altLang="en-US" sz="2000" b="1" dirty="0">
                <a:solidFill>
                  <a:srgbClr val="0000FF"/>
                </a:solidFill>
              </a:rPr>
              <a:t>可装配性</a:t>
            </a:r>
            <a:r>
              <a:rPr lang="zh-CN" altLang="en-US" sz="2000" b="1" dirty="0"/>
              <a:t>的要素，这样可以充分利用图样上给出的公差。当被测实际要素偏离最大实体状态时，几何公差可以得到尺寸公差的补偿，从而提高零件的合格率，故有显著的经济效益。</a:t>
            </a:r>
            <a:r>
              <a:rPr lang="en-US" altLang="zh-CN" sz="2000" b="1" dirty="0"/>
              <a:t> </a:t>
            </a:r>
          </a:p>
        </p:txBody>
      </p:sp>
      <p:sp>
        <p:nvSpPr>
          <p:cNvPr id="69638" name="Text Box 6"/>
          <p:cNvSpPr txBox="1">
            <a:spLocks noChangeArrowheads="1"/>
          </p:cNvSpPr>
          <p:nvPr/>
        </p:nvSpPr>
        <p:spPr bwMode="auto">
          <a:xfrm>
            <a:off x="1011322" y="4456184"/>
            <a:ext cx="6745709"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采用最大实体要求的要素验收时一般用</a:t>
            </a:r>
            <a:r>
              <a:rPr lang="zh-CN" altLang="en-US" sz="2000" b="1" dirty="0">
                <a:solidFill>
                  <a:srgbClr val="0000FF"/>
                </a:solidFill>
              </a:rPr>
              <a:t>功能量规</a:t>
            </a:r>
            <a:r>
              <a:rPr lang="zh-CN" altLang="en-US" sz="2000" b="1" dirty="0"/>
              <a:t>来检验。</a:t>
            </a:r>
          </a:p>
        </p:txBody>
      </p:sp>
      <p:sp>
        <p:nvSpPr>
          <p:cNvPr id="69639" name="Rectangle 7"/>
          <p:cNvSpPr>
            <a:spLocks noChangeArrowheads="1"/>
          </p:cNvSpPr>
          <p:nvPr/>
        </p:nvSpPr>
        <p:spPr bwMode="auto">
          <a:xfrm>
            <a:off x="1275822" y="1454163"/>
            <a:ext cx="5997575"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zh-CN" altLang="en-US" sz="2000" b="1" dirty="0">
                <a:solidFill>
                  <a:srgbClr val="FF3300"/>
                </a:solidFill>
              </a:rPr>
              <a:t>最大实体要求的应用</a:t>
            </a:r>
            <a:r>
              <a:rPr lang="zh-CN" altLang="en-US" sz="2000" b="1" dirty="0"/>
              <a:t>：</a:t>
            </a:r>
          </a:p>
        </p:txBody>
      </p:sp>
      <p:sp>
        <p:nvSpPr>
          <p:cNvPr id="69640" name="Rectangle 8"/>
          <p:cNvSpPr>
            <a:spLocks noChangeArrowheads="1"/>
          </p:cNvSpPr>
          <p:nvPr/>
        </p:nvSpPr>
        <p:spPr bwMode="auto">
          <a:xfrm>
            <a:off x="1248901" y="3931033"/>
            <a:ext cx="5856287" cy="3987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zh-CN" altLang="en-US" sz="2000" b="1" dirty="0">
                <a:solidFill>
                  <a:srgbClr val="FF3300"/>
                </a:solidFill>
              </a:rPr>
              <a:t>最大实体要求的检测</a:t>
            </a:r>
            <a:r>
              <a:rPr lang="zh-CN" altLang="en-US" sz="2000" b="1" dirty="0"/>
              <a:t>：</a:t>
            </a:r>
          </a:p>
        </p:txBody>
      </p:sp>
      <p:cxnSp>
        <p:nvCxnSpPr>
          <p:cNvPr id="6" name="直接连接符 5"/>
          <p:cNvCxnSpPr/>
          <p:nvPr/>
        </p:nvCxnSpPr>
        <p:spPr bwMode="auto">
          <a:xfrm flipV="1">
            <a:off x="258584" y="979559"/>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矩形 6"/>
          <p:cNvSpPr/>
          <p:nvPr/>
        </p:nvSpPr>
        <p:spPr>
          <a:xfrm>
            <a:off x="547908" y="330680"/>
            <a:ext cx="3660108" cy="461665"/>
          </a:xfrm>
          <a:prstGeom prst="rect">
            <a:avLst/>
          </a:prstGeom>
        </p:spPr>
        <p:txBody>
          <a:bodyPr wrap="square">
            <a:spAutoFit/>
          </a:bodyPr>
          <a:lstStyle/>
          <a:p>
            <a:r>
              <a:rPr lang="en-US" altLang="zh-CN" b="1" dirty="0" smtClean="0"/>
              <a:t>8. </a:t>
            </a:r>
            <a:r>
              <a:rPr lang="zh-CN" altLang="en-US" b="1" dirty="0" smtClean="0"/>
              <a:t>最大实体要求应用</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69639"/>
                                        </p:tgtEl>
                                        <p:attrNameLst>
                                          <p:attrName>style.visibility</p:attrName>
                                        </p:attrNameLst>
                                      </p:cBhvr>
                                      <p:to>
                                        <p:strVal val="visible"/>
                                      </p:to>
                                    </p:set>
                                    <p:animEffect transition="in" filter="wipe(left)">
                                      <p:cBhvr>
                                        <p:cTn id="7" dur="300"/>
                                        <p:tgtEl>
                                          <p:spTgt spid="696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9637"/>
                                        </p:tgtEl>
                                        <p:attrNameLst>
                                          <p:attrName>style.visibility</p:attrName>
                                        </p:attrNameLst>
                                      </p:cBhvr>
                                      <p:to>
                                        <p:strVal val="visible"/>
                                      </p:to>
                                    </p:set>
                                    <p:animEffect transition="in" filter="wipe(left)">
                                      <p:cBhvr>
                                        <p:cTn id="12" dur="300"/>
                                        <p:tgtEl>
                                          <p:spTgt spid="696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9640"/>
                                        </p:tgtEl>
                                        <p:attrNameLst>
                                          <p:attrName>style.visibility</p:attrName>
                                        </p:attrNameLst>
                                      </p:cBhvr>
                                      <p:to>
                                        <p:strVal val="visible"/>
                                      </p:to>
                                    </p:set>
                                    <p:animEffect transition="in" filter="wipe(left)">
                                      <p:cBhvr>
                                        <p:cTn id="17" dur="300"/>
                                        <p:tgtEl>
                                          <p:spTgt spid="696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9638"/>
                                        </p:tgtEl>
                                        <p:attrNameLst>
                                          <p:attrName>style.visibility</p:attrName>
                                        </p:attrNameLst>
                                      </p:cBhvr>
                                      <p:to>
                                        <p:strVal val="visible"/>
                                      </p:to>
                                    </p:set>
                                    <p:animEffect transition="in" filter="wipe(left)">
                                      <p:cBhvr>
                                        <p:cTn id="22" dur="300"/>
                                        <p:tgtEl>
                                          <p:spTgt spid="69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7" grpId="0" bldLvl="0" animBg="1" autoUpdateAnimBg="0"/>
      <p:bldP spid="69638" grpId="0" bldLvl="0" animBg="1" autoUpdateAnimBg="0"/>
      <p:bldP spid="69639" grpId="0" bldLvl="0" animBg="1" autoUpdateAnimBg="0"/>
      <p:bldP spid="69640"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Text Box 4"/>
          <p:cNvSpPr txBox="1">
            <a:spLocks noChangeArrowheads="1"/>
          </p:cNvSpPr>
          <p:nvPr/>
        </p:nvSpPr>
        <p:spPr bwMode="auto">
          <a:xfrm>
            <a:off x="378442" y="528991"/>
            <a:ext cx="520493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4.3.5 </a:t>
            </a:r>
            <a:r>
              <a:rPr lang="zh-CN" altLang="en-US" b="1" dirty="0">
                <a:latin typeface="宋体" panose="02010600030101010101" pitchFamily="2" charset="-122"/>
              </a:rPr>
              <a:t>最小实体要求（</a:t>
            </a:r>
            <a:r>
              <a:rPr lang="en-US" altLang="zh-CN" b="1" dirty="0">
                <a:latin typeface="宋体" panose="02010600030101010101" pitchFamily="2" charset="-122"/>
              </a:rPr>
              <a:t>LMR）</a:t>
            </a:r>
            <a:endParaRPr lang="zh-CN" altLang="en-US" b="1" dirty="0"/>
          </a:p>
        </p:txBody>
      </p:sp>
      <p:sp>
        <p:nvSpPr>
          <p:cNvPr id="109573" name="Text Box 5"/>
          <p:cNvSpPr txBox="1">
            <a:spLocks noChangeArrowheads="1"/>
          </p:cNvSpPr>
          <p:nvPr/>
        </p:nvSpPr>
        <p:spPr bwMode="auto">
          <a:xfrm>
            <a:off x="733501" y="1269722"/>
            <a:ext cx="7765040" cy="17235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t>       最小实体要求</a:t>
            </a:r>
            <a:r>
              <a:rPr lang="zh-CN" altLang="en-US" sz="2000" b="1" dirty="0">
                <a:solidFill>
                  <a:srgbClr val="D60093"/>
                </a:solidFill>
              </a:rPr>
              <a:t>适用于中心要素</a:t>
            </a:r>
            <a:r>
              <a:rPr lang="zh-CN" altLang="en-US" sz="2000" b="1" dirty="0"/>
              <a:t>有几何公差要求的情况。它是控制实际被测要素处于其</a:t>
            </a:r>
            <a:r>
              <a:rPr lang="zh-CN" altLang="en-US" sz="2000" b="1" dirty="0">
                <a:solidFill>
                  <a:srgbClr val="D60093"/>
                </a:solidFill>
              </a:rPr>
              <a:t>最小实体实效边界</a:t>
            </a:r>
            <a:r>
              <a:rPr lang="zh-CN" altLang="en-US" sz="2000" b="1" dirty="0"/>
              <a:t>之内的一种相关公差要求</a:t>
            </a:r>
            <a:r>
              <a:rPr lang="zh-CN" altLang="en-US" sz="2000" b="1" dirty="0" smtClean="0"/>
              <a:t>。</a:t>
            </a:r>
            <a:endParaRPr lang="en-US" altLang="zh-CN" sz="2000" b="1" dirty="0" smtClean="0"/>
          </a:p>
          <a:p>
            <a:pPr eaLnBrk="1" hangingPunct="1">
              <a:lnSpc>
                <a:spcPct val="120000"/>
              </a:lnSpc>
            </a:pPr>
            <a:r>
              <a:rPr lang="en-US" altLang="zh-CN" sz="2000" b="1" dirty="0" smtClean="0"/>
              <a:t>       </a:t>
            </a:r>
            <a:r>
              <a:rPr lang="zh-CN" altLang="en-US" sz="2000" b="1" dirty="0" smtClean="0"/>
              <a:t>当</a:t>
            </a:r>
            <a:r>
              <a:rPr lang="zh-CN" altLang="en-US" sz="2000" b="1" dirty="0"/>
              <a:t>实际尺寸偏离最小实体尺寸时，允许其中心要素的的</a:t>
            </a:r>
            <a:r>
              <a:rPr lang="zh-CN" altLang="en-US" sz="2000" b="1" dirty="0">
                <a:solidFill>
                  <a:srgbClr val="D60093"/>
                </a:solidFill>
              </a:rPr>
              <a:t>几何误差值超出给定几何公差值</a:t>
            </a:r>
            <a:r>
              <a:rPr lang="zh-CN" altLang="en-US" sz="2000" b="1" dirty="0"/>
              <a:t>，即</a:t>
            </a:r>
            <a:r>
              <a:rPr lang="zh-CN" altLang="en-US" sz="2000" b="1" dirty="0">
                <a:solidFill>
                  <a:srgbClr val="D60093"/>
                </a:solidFill>
              </a:rPr>
              <a:t>只允许</a:t>
            </a:r>
            <a:r>
              <a:rPr lang="zh-CN" altLang="en-US" sz="2000" b="1" dirty="0" smtClean="0">
                <a:solidFill>
                  <a:srgbClr val="D60093"/>
                </a:solidFill>
              </a:rPr>
              <a:t>尺寸公差补偿</a:t>
            </a:r>
            <a:r>
              <a:rPr lang="zh-CN" altLang="en-US" sz="2000" b="1" dirty="0">
                <a:solidFill>
                  <a:srgbClr val="D60093"/>
                </a:solidFill>
              </a:rPr>
              <a:t>给几何公差。</a:t>
            </a:r>
          </a:p>
        </p:txBody>
      </p:sp>
      <p:cxnSp>
        <p:nvCxnSpPr>
          <p:cNvPr id="5" name="直接连接符 4"/>
          <p:cNvCxnSpPr/>
          <p:nvPr/>
        </p:nvCxnSpPr>
        <p:spPr bwMode="auto">
          <a:xfrm flipV="1">
            <a:off x="169049" y="1065919"/>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 name="矩形 5"/>
          <p:cNvSpPr/>
          <p:nvPr/>
        </p:nvSpPr>
        <p:spPr>
          <a:xfrm>
            <a:off x="793787" y="3090592"/>
            <a:ext cx="3898824" cy="461665"/>
          </a:xfrm>
          <a:prstGeom prst="rect">
            <a:avLst/>
          </a:prstGeom>
        </p:spPr>
        <p:txBody>
          <a:bodyPr wrap="none">
            <a:spAutoFit/>
          </a:bodyPr>
          <a:lstStyle/>
          <a:p>
            <a:pPr eaLnBrk="1" hangingPunct="1"/>
            <a:r>
              <a:rPr lang="zh-CN" altLang="en-US" b="1" dirty="0" smtClean="0">
                <a:latin typeface="宋体" panose="02010600030101010101" pitchFamily="2" charset="-122"/>
              </a:rPr>
              <a:t>1.最小实体要求的图样标注</a:t>
            </a:r>
            <a:endParaRPr lang="zh-CN" altLang="en-US" b="1" dirty="0">
              <a:latin typeface="宋体" panose="02010600030101010101" pitchFamily="2" charset="-122"/>
            </a:endParaRPr>
          </a:p>
        </p:txBody>
      </p:sp>
      <p:pic>
        <p:nvPicPr>
          <p:cNvPr id="7" name="Picture 19"/>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80675" y="3797451"/>
            <a:ext cx="2288894" cy="5680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 name="Picture 20"/>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522653" y="3795536"/>
            <a:ext cx="2351484" cy="549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 name="Picture 21"/>
          <p:cNvPicPr>
            <a:picLocks noChangeAspect="1" noChangeArrowheads="1"/>
          </p:cNvPicPr>
          <p:nvPr/>
        </p:nvPicPr>
        <p:blipFill>
          <a:blip r:embed="rId4" cstate="print">
            <a:extLst>
              <a:ext uri="{28A0092B-C50C-407E-A947-70E740481C1C}">
                <a14:useLocalDpi xmlns:a14="http://schemas.microsoft.com/office/drawing/2010/main" xmlns="" val="0"/>
              </a:ext>
            </a:extLst>
          </a:blip>
          <a:srcRect r="4969"/>
          <a:stretch>
            <a:fillRect/>
          </a:stretch>
        </p:blipFill>
        <p:spPr bwMode="auto">
          <a:xfrm>
            <a:off x="1658107" y="4713992"/>
            <a:ext cx="2686079" cy="5572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 name="Picture 22"/>
          <p:cNvPicPr>
            <a:picLocks noChangeAspect="1" noChangeArrowheads="1"/>
          </p:cNvPicPr>
          <p:nvPr/>
        </p:nvPicPr>
        <p:blipFill>
          <a:blip r:embed="rId5" cstate="print">
            <a:extLst>
              <a:ext uri="{28A0092B-C50C-407E-A947-70E740481C1C}">
                <a14:useLocalDpi xmlns:a14="http://schemas.microsoft.com/office/drawing/2010/main" xmlns="" val="0"/>
              </a:ext>
            </a:extLst>
          </a:blip>
          <a:srcRect t="15292"/>
          <a:stretch>
            <a:fillRect/>
          </a:stretch>
        </p:blipFill>
        <p:spPr bwMode="auto">
          <a:xfrm>
            <a:off x="4605143" y="4722608"/>
            <a:ext cx="2611174" cy="5593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9572"/>
                                        </p:tgtEl>
                                        <p:attrNameLst>
                                          <p:attrName>style.visibility</p:attrName>
                                        </p:attrNameLst>
                                      </p:cBhvr>
                                      <p:to>
                                        <p:strVal val="visible"/>
                                      </p:to>
                                    </p:set>
                                    <p:animEffect transition="in" filter="wipe(left)">
                                      <p:cBhvr>
                                        <p:cTn id="7" dur="2000"/>
                                        <p:tgtEl>
                                          <p:spTgt spid="1095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09573"/>
                                        </p:tgtEl>
                                        <p:attrNameLst>
                                          <p:attrName>style.visibility</p:attrName>
                                        </p:attrNameLst>
                                      </p:cBhvr>
                                      <p:to>
                                        <p:strVal val="visible"/>
                                      </p:to>
                                    </p:set>
                                    <p:animEffect transition="in" filter="wipe(left)">
                                      <p:cBhvr>
                                        <p:cTn id="12" dur="300"/>
                                        <p:tgtEl>
                                          <p:spTgt spid="109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ldLvl="0" animBg="1"/>
      <p:bldP spid="109573" grpId="0" bldLvl="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Text Box 4"/>
          <p:cNvSpPr txBox="1">
            <a:spLocks noChangeArrowheads="1"/>
          </p:cNvSpPr>
          <p:nvPr/>
        </p:nvSpPr>
        <p:spPr bwMode="auto">
          <a:xfrm>
            <a:off x="300372" y="412080"/>
            <a:ext cx="7231063"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smtClean="0"/>
              <a:t>2. </a:t>
            </a:r>
            <a:r>
              <a:rPr lang="zh-CN" altLang="en-US" b="1" dirty="0"/>
              <a:t>最小实体要求应用示例</a:t>
            </a:r>
            <a:endParaRPr lang="en-US" altLang="zh-CN" b="1" dirty="0"/>
          </a:p>
        </p:txBody>
      </p:sp>
      <p:graphicFrame>
        <p:nvGraphicFramePr>
          <p:cNvPr id="111630" name="Object 14"/>
          <p:cNvGraphicFramePr>
            <a:graphicFrameLocks noChangeAspect="1"/>
          </p:cNvGraphicFramePr>
          <p:nvPr/>
        </p:nvGraphicFramePr>
        <p:xfrm>
          <a:off x="537066" y="4356849"/>
          <a:ext cx="4307466" cy="365986"/>
        </p:xfrm>
        <a:graphic>
          <a:graphicData uri="http://schemas.openxmlformats.org/presentationml/2006/ole">
            <p:oleObj spid="_x0000_s20486" name="公式" r:id="rId3" imgW="51206400" imgH="5791200" progId="">
              <p:embed/>
            </p:oleObj>
          </a:graphicData>
        </a:graphic>
      </p:graphicFrame>
      <p:graphicFrame>
        <p:nvGraphicFramePr>
          <p:cNvPr id="111631" name="Object 15"/>
          <p:cNvGraphicFramePr>
            <a:graphicFrameLocks noChangeAspect="1"/>
          </p:cNvGraphicFramePr>
          <p:nvPr/>
        </p:nvGraphicFramePr>
        <p:xfrm>
          <a:off x="514000" y="5195754"/>
          <a:ext cx="5771209" cy="699438"/>
        </p:xfrm>
        <a:graphic>
          <a:graphicData uri="http://schemas.openxmlformats.org/presentationml/2006/ole">
            <p:oleObj spid="_x0000_s20487" name="公式" r:id="rId4" imgW="67970400" imgH="10972800" progId="">
              <p:embed/>
            </p:oleObj>
          </a:graphicData>
        </a:graphic>
      </p:graphicFrame>
      <p:graphicFrame>
        <p:nvGraphicFramePr>
          <p:cNvPr id="111632" name="Object 16"/>
          <p:cNvGraphicFramePr>
            <a:graphicFrameLocks noGrp="1" noChangeAspect="1"/>
          </p:cNvGraphicFramePr>
          <p:nvPr>
            <p:ph/>
          </p:nvPr>
        </p:nvGraphicFramePr>
        <p:xfrm>
          <a:off x="510293" y="4788580"/>
          <a:ext cx="5735110" cy="349301"/>
        </p:xfrm>
        <a:graphic>
          <a:graphicData uri="http://schemas.openxmlformats.org/presentationml/2006/ole">
            <p:oleObj spid="_x0000_s20488" name="公式" r:id="rId5" imgW="71323200" imgH="5791200" progId="">
              <p:embed/>
            </p:oleObj>
          </a:graphicData>
        </a:graphic>
      </p:graphicFrame>
      <p:grpSp>
        <p:nvGrpSpPr>
          <p:cNvPr id="111636" name="Group 20"/>
          <p:cNvGrpSpPr/>
          <p:nvPr/>
        </p:nvGrpSpPr>
        <p:grpSpPr bwMode="auto">
          <a:xfrm>
            <a:off x="1403535" y="1208892"/>
            <a:ext cx="2654935" cy="2755341"/>
            <a:chOff x="1607" y="2062"/>
            <a:chExt cx="1780" cy="2184"/>
          </a:xfrm>
        </p:grpSpPr>
        <p:grpSp>
          <p:nvGrpSpPr>
            <p:cNvPr id="44055" name="Group 11"/>
            <p:cNvGrpSpPr/>
            <p:nvPr/>
          </p:nvGrpSpPr>
          <p:grpSpPr bwMode="auto">
            <a:xfrm>
              <a:off x="1607" y="2062"/>
              <a:ext cx="1780" cy="2184"/>
              <a:chOff x="537" y="2042"/>
              <a:chExt cx="1780" cy="2184"/>
            </a:xfrm>
          </p:grpSpPr>
          <p:pic>
            <p:nvPicPr>
              <p:cNvPr id="44058" name="Picture 8"/>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37" y="2042"/>
                <a:ext cx="1780" cy="19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4059" name="Text Box 10"/>
              <p:cNvSpPr txBox="1">
                <a:spLocks noChangeArrowheads="1"/>
              </p:cNvSpPr>
              <p:nvPr/>
            </p:nvSpPr>
            <p:spPr bwMode="auto">
              <a:xfrm>
                <a:off x="833" y="3983"/>
                <a:ext cx="865" cy="2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smtClean="0"/>
                  <a:t>最小</a:t>
                </a:r>
                <a:r>
                  <a:rPr lang="zh-CN" altLang="en-US" sz="1400" b="1" dirty="0"/>
                  <a:t>实体要求</a:t>
                </a:r>
                <a:endParaRPr lang="en-US" altLang="zh-CN" sz="1400" b="1" dirty="0"/>
              </a:p>
            </p:txBody>
          </p:sp>
        </p:grpSp>
        <p:pic>
          <p:nvPicPr>
            <p:cNvPr id="44056" name="Picture 18"/>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2973" y="2204"/>
              <a:ext cx="188" cy="2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4057" name="Line 19"/>
            <p:cNvSpPr>
              <a:spLocks noChangeShapeType="1"/>
            </p:cNvSpPr>
            <p:nvPr/>
          </p:nvSpPr>
          <p:spPr bwMode="auto">
            <a:xfrm>
              <a:off x="3167" y="2204"/>
              <a:ext cx="0" cy="192"/>
            </a:xfrm>
            <a:prstGeom prst="line">
              <a:avLst/>
            </a:prstGeom>
            <a:noFill/>
            <a:ln w="952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111647" name="Group 31"/>
          <p:cNvGrpSpPr/>
          <p:nvPr/>
        </p:nvGrpSpPr>
        <p:grpSpPr bwMode="auto">
          <a:xfrm>
            <a:off x="4555196" y="1137888"/>
            <a:ext cx="3499368" cy="2948914"/>
            <a:chOff x="3713" y="2123"/>
            <a:chExt cx="1909" cy="2234"/>
          </a:xfrm>
        </p:grpSpPr>
        <p:grpSp>
          <p:nvGrpSpPr>
            <p:cNvPr id="44043" name="Group 29"/>
            <p:cNvGrpSpPr/>
            <p:nvPr/>
          </p:nvGrpSpPr>
          <p:grpSpPr bwMode="auto">
            <a:xfrm>
              <a:off x="3713" y="2123"/>
              <a:ext cx="1909" cy="2234"/>
              <a:chOff x="3483" y="2033"/>
              <a:chExt cx="1909" cy="2234"/>
            </a:xfrm>
          </p:grpSpPr>
          <p:grpSp>
            <p:nvGrpSpPr>
              <p:cNvPr id="44045" name="Group 13"/>
              <p:cNvGrpSpPr/>
              <p:nvPr/>
            </p:nvGrpSpPr>
            <p:grpSpPr bwMode="auto">
              <a:xfrm>
                <a:off x="3483" y="2033"/>
                <a:ext cx="1909" cy="2234"/>
                <a:chOff x="3303" y="2033"/>
                <a:chExt cx="1909" cy="2234"/>
              </a:xfrm>
            </p:grpSpPr>
            <p:pic>
              <p:nvPicPr>
                <p:cNvPr id="44053" name="Picture 9"/>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3303" y="2033"/>
                  <a:ext cx="1909" cy="19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4054" name="Text Box 12"/>
                <p:cNvSpPr txBox="1">
                  <a:spLocks noChangeArrowheads="1"/>
                </p:cNvSpPr>
                <p:nvPr/>
              </p:nvSpPr>
              <p:spPr bwMode="auto">
                <a:xfrm>
                  <a:off x="3998" y="4035"/>
                  <a:ext cx="630" cy="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smtClean="0"/>
                    <a:t>动态</a:t>
                  </a:r>
                  <a:r>
                    <a:rPr lang="zh-CN" altLang="en-US" sz="1400" b="1" dirty="0"/>
                    <a:t>公差图</a:t>
                  </a:r>
                </a:p>
              </p:txBody>
            </p:sp>
          </p:grpSp>
          <p:sp>
            <p:nvSpPr>
              <p:cNvPr id="44046" name="Line 21"/>
              <p:cNvSpPr>
                <a:spLocks noChangeShapeType="1"/>
              </p:cNvSpPr>
              <p:nvPr/>
            </p:nvSpPr>
            <p:spPr bwMode="auto">
              <a:xfrm>
                <a:off x="4151" y="3380"/>
                <a:ext cx="0" cy="409"/>
              </a:xfrm>
              <a:prstGeom prst="line">
                <a:avLst/>
              </a:prstGeom>
              <a:noFill/>
              <a:ln w="57150">
                <a:solidFill>
                  <a:schemeClr val="accent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4047" name="Line 22"/>
              <p:cNvSpPr>
                <a:spLocks noChangeShapeType="1"/>
              </p:cNvSpPr>
              <p:nvPr/>
            </p:nvSpPr>
            <p:spPr bwMode="auto">
              <a:xfrm>
                <a:off x="3833" y="3367"/>
                <a:ext cx="324" cy="0"/>
              </a:xfrm>
              <a:prstGeom prst="line">
                <a:avLst/>
              </a:prstGeom>
              <a:noFill/>
              <a:ln w="38100">
                <a:solidFill>
                  <a:schemeClr val="accent1"/>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4048" name="Line 23"/>
              <p:cNvSpPr>
                <a:spLocks noChangeShapeType="1"/>
              </p:cNvSpPr>
              <p:nvPr/>
            </p:nvSpPr>
            <p:spPr bwMode="auto">
              <a:xfrm>
                <a:off x="4579" y="3021"/>
                <a:ext cx="0" cy="764"/>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4049" name="Line 24"/>
              <p:cNvSpPr>
                <a:spLocks noChangeShapeType="1"/>
              </p:cNvSpPr>
              <p:nvPr/>
            </p:nvSpPr>
            <p:spPr bwMode="auto">
              <a:xfrm>
                <a:off x="3822" y="3032"/>
                <a:ext cx="758" cy="0"/>
              </a:xfrm>
              <a:prstGeom prst="line">
                <a:avLst/>
              </a:prstGeom>
              <a:noFill/>
              <a:ln w="38100">
                <a:solidFill>
                  <a:srgbClr val="D60093"/>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4050" name="Text Box 26"/>
              <p:cNvSpPr txBox="1">
                <a:spLocks noChangeArrowheads="1"/>
              </p:cNvSpPr>
              <p:nvPr/>
            </p:nvSpPr>
            <p:spPr bwMode="auto">
              <a:xfrm>
                <a:off x="4428" y="3756"/>
                <a:ext cx="338" cy="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en-US" altLang="zh-CN" sz="1800" b="1" dirty="0">
                    <a:solidFill>
                      <a:srgbClr val="D60093"/>
                    </a:solidFill>
                  </a:rPr>
                  <a:t>19.9</a:t>
                </a:r>
              </a:p>
            </p:txBody>
          </p:sp>
          <p:sp>
            <p:nvSpPr>
              <p:cNvPr id="44051" name="Line 27"/>
              <p:cNvSpPr>
                <a:spLocks noChangeShapeType="1"/>
              </p:cNvSpPr>
              <p:nvPr/>
            </p:nvSpPr>
            <p:spPr bwMode="auto">
              <a:xfrm>
                <a:off x="4993" y="2674"/>
                <a:ext cx="0" cy="1118"/>
              </a:xfrm>
              <a:prstGeom prst="line">
                <a:avLst/>
              </a:prstGeom>
              <a:noFill/>
              <a:ln w="57150">
                <a:solidFill>
                  <a:schemeClr val="accent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4052" name="Line 28"/>
              <p:cNvSpPr>
                <a:spLocks noChangeShapeType="1"/>
              </p:cNvSpPr>
              <p:nvPr/>
            </p:nvSpPr>
            <p:spPr bwMode="auto">
              <a:xfrm>
                <a:off x="3838" y="2690"/>
                <a:ext cx="1159" cy="0"/>
              </a:xfrm>
              <a:prstGeom prst="line">
                <a:avLst/>
              </a:prstGeom>
              <a:noFill/>
              <a:ln w="57150">
                <a:solidFill>
                  <a:schemeClr val="accent1"/>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44044" name="Text Box 30"/>
            <p:cNvSpPr txBox="1">
              <a:spLocks noChangeArrowheads="1"/>
            </p:cNvSpPr>
            <p:nvPr/>
          </p:nvSpPr>
          <p:spPr bwMode="auto">
            <a:xfrm>
              <a:off x="3802" y="2990"/>
              <a:ext cx="261" cy="2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en-US" altLang="zh-CN" sz="1800" b="1" dirty="0">
                  <a:solidFill>
                    <a:srgbClr val="D60093"/>
                  </a:solidFill>
                </a:rPr>
                <a:t>0.2</a:t>
              </a:r>
            </a:p>
          </p:txBody>
        </p:sp>
      </p:grpSp>
      <p:sp>
        <p:nvSpPr>
          <p:cNvPr id="111648" name="Text Box 32"/>
          <p:cNvSpPr txBox="1">
            <a:spLocks noChangeArrowheads="1"/>
          </p:cNvSpPr>
          <p:nvPr/>
        </p:nvSpPr>
        <p:spPr bwMode="auto">
          <a:xfrm>
            <a:off x="6328462" y="4450798"/>
            <a:ext cx="2369609" cy="1445260"/>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pPr>
            <a:r>
              <a:rPr lang="zh-CN" altLang="en-US" sz="2000" b="1" dirty="0" smtClean="0"/>
              <a:t>当</a:t>
            </a:r>
            <a:r>
              <a:rPr lang="zh-CN" altLang="en-US" sz="2000" b="1" dirty="0"/>
              <a:t>实际尺寸偏离最小实体尺寸时，</a:t>
            </a:r>
            <a:r>
              <a:rPr lang="zh-CN" altLang="en-US" sz="2000" b="1" dirty="0">
                <a:solidFill>
                  <a:srgbClr val="FF0000"/>
                </a:solidFill>
              </a:rPr>
              <a:t>几何公差可以得到尺寸公差的补偿。</a:t>
            </a:r>
          </a:p>
        </p:txBody>
      </p:sp>
      <p:cxnSp>
        <p:nvCxnSpPr>
          <p:cNvPr id="27" name="直接连接符 26"/>
          <p:cNvCxnSpPr/>
          <p:nvPr/>
        </p:nvCxnSpPr>
        <p:spPr bwMode="auto">
          <a:xfrm flipV="1">
            <a:off x="169049" y="975290"/>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1620"/>
                                        </p:tgtEl>
                                        <p:attrNameLst>
                                          <p:attrName>style.visibility</p:attrName>
                                        </p:attrNameLst>
                                      </p:cBhvr>
                                      <p:to>
                                        <p:strVal val="visible"/>
                                      </p:to>
                                    </p:set>
                                    <p:animEffect transition="in" filter="wipe(left)">
                                      <p:cBhvr>
                                        <p:cTn id="7" dur="2000"/>
                                        <p:tgtEl>
                                          <p:spTgt spid="11162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1636"/>
                                        </p:tgtEl>
                                        <p:attrNameLst>
                                          <p:attrName>style.visibility</p:attrName>
                                        </p:attrNameLst>
                                      </p:cBhvr>
                                      <p:to>
                                        <p:strVal val="visible"/>
                                      </p:to>
                                    </p:set>
                                    <p:anim calcmode="lin" valueType="num">
                                      <p:cBhvr additive="base">
                                        <p:cTn id="12" dur="2000" fill="hold"/>
                                        <p:tgtEl>
                                          <p:spTgt spid="111636"/>
                                        </p:tgtEl>
                                        <p:attrNameLst>
                                          <p:attrName>ppt_x</p:attrName>
                                        </p:attrNameLst>
                                      </p:cBhvr>
                                      <p:tavLst>
                                        <p:tav tm="0">
                                          <p:val>
                                            <p:strVal val="#ppt_x"/>
                                          </p:val>
                                        </p:tav>
                                        <p:tav tm="100000">
                                          <p:val>
                                            <p:strVal val="#ppt_x"/>
                                          </p:val>
                                        </p:tav>
                                      </p:tavLst>
                                    </p:anim>
                                    <p:anim calcmode="lin" valueType="num">
                                      <p:cBhvr additive="base">
                                        <p:cTn id="13" dur="2000" fill="hold"/>
                                        <p:tgtEl>
                                          <p:spTgt spid="11163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111647"/>
                                        </p:tgtEl>
                                        <p:attrNameLst>
                                          <p:attrName>style.visibility</p:attrName>
                                        </p:attrNameLst>
                                      </p:cBhvr>
                                      <p:to>
                                        <p:strVal val="visible"/>
                                      </p:to>
                                    </p:set>
                                    <p:anim calcmode="lin" valueType="num">
                                      <p:cBhvr additive="base">
                                        <p:cTn id="18" dur="2000" fill="hold"/>
                                        <p:tgtEl>
                                          <p:spTgt spid="111647"/>
                                        </p:tgtEl>
                                        <p:attrNameLst>
                                          <p:attrName>ppt_x</p:attrName>
                                        </p:attrNameLst>
                                      </p:cBhvr>
                                      <p:tavLst>
                                        <p:tav tm="0">
                                          <p:val>
                                            <p:strVal val="1+#ppt_w/2"/>
                                          </p:val>
                                        </p:tav>
                                        <p:tav tm="100000">
                                          <p:val>
                                            <p:strVal val="#ppt_x"/>
                                          </p:val>
                                        </p:tav>
                                      </p:tavLst>
                                    </p:anim>
                                    <p:anim calcmode="lin" valueType="num">
                                      <p:cBhvr additive="base">
                                        <p:cTn id="19" dur="2000" fill="hold"/>
                                        <p:tgtEl>
                                          <p:spTgt spid="11164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11630"/>
                                        </p:tgtEl>
                                        <p:attrNameLst>
                                          <p:attrName>style.visibility</p:attrName>
                                        </p:attrNameLst>
                                      </p:cBhvr>
                                      <p:to>
                                        <p:strVal val="visible"/>
                                      </p:to>
                                    </p:set>
                                    <p:animEffect transition="in" filter="wipe(left)">
                                      <p:cBhvr>
                                        <p:cTn id="24" dur="2000"/>
                                        <p:tgtEl>
                                          <p:spTgt spid="11163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1632"/>
                                        </p:tgtEl>
                                        <p:attrNameLst>
                                          <p:attrName>style.visibility</p:attrName>
                                        </p:attrNameLst>
                                      </p:cBhvr>
                                      <p:to>
                                        <p:strVal val="visible"/>
                                      </p:to>
                                    </p:set>
                                    <p:animEffect transition="in" filter="wipe(left)">
                                      <p:cBhvr>
                                        <p:cTn id="29" dur="2000"/>
                                        <p:tgtEl>
                                          <p:spTgt spid="11163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11631"/>
                                        </p:tgtEl>
                                        <p:attrNameLst>
                                          <p:attrName>style.visibility</p:attrName>
                                        </p:attrNameLst>
                                      </p:cBhvr>
                                      <p:to>
                                        <p:strVal val="visible"/>
                                      </p:to>
                                    </p:set>
                                    <p:animEffect transition="in" filter="wipe(left)">
                                      <p:cBhvr>
                                        <p:cTn id="34" dur="2000"/>
                                        <p:tgtEl>
                                          <p:spTgt spid="11163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1648"/>
                                        </p:tgtEl>
                                        <p:attrNameLst>
                                          <p:attrName>style.visibility</p:attrName>
                                        </p:attrNameLst>
                                      </p:cBhvr>
                                      <p:to>
                                        <p:strVal val="visible"/>
                                      </p:to>
                                    </p:set>
                                    <p:animEffect transition="in" filter="wipe(left)">
                                      <p:cBhvr>
                                        <p:cTn id="39" dur="2000"/>
                                        <p:tgtEl>
                                          <p:spTgt spid="111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bldLvl="0" animBg="1"/>
      <p:bldP spid="111648"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3" name="Text Box 13"/>
          <p:cNvSpPr txBox="1">
            <a:spLocks noChangeArrowheads="1"/>
          </p:cNvSpPr>
          <p:nvPr/>
        </p:nvSpPr>
        <p:spPr bwMode="auto">
          <a:xfrm>
            <a:off x="368901" y="408489"/>
            <a:ext cx="7046912"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smtClean="0"/>
              <a:t>3.  </a:t>
            </a:r>
            <a:r>
              <a:rPr lang="zh-CN" altLang="en-US" b="1" dirty="0"/>
              <a:t>可逆要求（</a:t>
            </a:r>
            <a:r>
              <a:rPr lang="en-US" altLang="zh-CN" b="1" dirty="0"/>
              <a:t>RR</a:t>
            </a:r>
            <a:r>
              <a:rPr lang="zh-CN" altLang="en-US" b="1" dirty="0"/>
              <a:t>）用于最小实体要求（</a:t>
            </a:r>
            <a:r>
              <a:rPr lang="en-US" altLang="zh-CN" b="1" dirty="0"/>
              <a:t>LMR</a:t>
            </a:r>
            <a:r>
              <a:rPr lang="zh-CN" altLang="en-US" b="1" dirty="0"/>
              <a:t>）</a:t>
            </a:r>
          </a:p>
        </p:txBody>
      </p:sp>
      <p:graphicFrame>
        <p:nvGraphicFramePr>
          <p:cNvPr id="112655" name="Object 15"/>
          <p:cNvGraphicFramePr>
            <a:graphicFrameLocks noChangeAspect="1"/>
          </p:cNvGraphicFramePr>
          <p:nvPr/>
        </p:nvGraphicFramePr>
        <p:xfrm>
          <a:off x="682571" y="1866619"/>
          <a:ext cx="7448794" cy="410103"/>
        </p:xfrm>
        <a:graphic>
          <a:graphicData uri="http://schemas.openxmlformats.org/presentationml/2006/ole">
            <p:oleObj spid="_x0000_s21511" name="公式" r:id="rId3" imgW="78943200" imgH="5791200" progId="">
              <p:embed/>
            </p:oleObj>
          </a:graphicData>
        </a:graphic>
      </p:graphicFrame>
      <p:graphicFrame>
        <p:nvGraphicFramePr>
          <p:cNvPr id="112656" name="Object 16"/>
          <p:cNvGraphicFramePr>
            <a:graphicFrameLocks noChangeAspect="1"/>
          </p:cNvGraphicFramePr>
          <p:nvPr/>
        </p:nvGraphicFramePr>
        <p:xfrm>
          <a:off x="689026" y="2397561"/>
          <a:ext cx="7827498" cy="407482"/>
        </p:xfrm>
        <a:graphic>
          <a:graphicData uri="http://schemas.openxmlformats.org/presentationml/2006/ole">
            <p:oleObj spid="_x0000_s21512" name="公式" r:id="rId4" imgW="83515200" imgH="5791200" progId="">
              <p:embed/>
            </p:oleObj>
          </a:graphicData>
        </a:graphic>
      </p:graphicFrame>
      <p:graphicFrame>
        <p:nvGraphicFramePr>
          <p:cNvPr id="112661" name="Object 21"/>
          <p:cNvGraphicFramePr>
            <a:graphicFrameLocks noChangeAspect="1"/>
          </p:cNvGraphicFramePr>
          <p:nvPr/>
        </p:nvGraphicFramePr>
        <p:xfrm>
          <a:off x="678426" y="1322621"/>
          <a:ext cx="4519848" cy="418642"/>
        </p:xfrm>
        <a:graphic>
          <a:graphicData uri="http://schemas.openxmlformats.org/presentationml/2006/ole">
            <p:oleObj spid="_x0000_s21513" name="公式" r:id="rId5" imgW="46939200" imgH="5791200" progId="">
              <p:embed/>
            </p:oleObj>
          </a:graphicData>
        </a:graphic>
      </p:graphicFrame>
      <p:grpSp>
        <p:nvGrpSpPr>
          <p:cNvPr id="112665" name="Group 25"/>
          <p:cNvGrpSpPr/>
          <p:nvPr/>
        </p:nvGrpSpPr>
        <p:grpSpPr bwMode="auto">
          <a:xfrm>
            <a:off x="4494748" y="3084923"/>
            <a:ext cx="3614738" cy="2995927"/>
            <a:chOff x="3095" y="2061"/>
            <a:chExt cx="2277" cy="2253"/>
          </a:xfrm>
        </p:grpSpPr>
        <p:grpSp>
          <p:nvGrpSpPr>
            <p:cNvPr id="45079" name="Group 22"/>
            <p:cNvGrpSpPr/>
            <p:nvPr/>
          </p:nvGrpSpPr>
          <p:grpSpPr bwMode="auto">
            <a:xfrm>
              <a:off x="3418" y="2061"/>
              <a:ext cx="1954" cy="2253"/>
              <a:chOff x="3418" y="2061"/>
              <a:chExt cx="1954" cy="2253"/>
            </a:xfrm>
          </p:grpSpPr>
          <p:grpSp>
            <p:nvGrpSpPr>
              <p:cNvPr id="45082" name="Group 18"/>
              <p:cNvGrpSpPr/>
              <p:nvPr/>
            </p:nvGrpSpPr>
            <p:grpSpPr bwMode="auto">
              <a:xfrm>
                <a:off x="3418" y="2061"/>
                <a:ext cx="1954" cy="2253"/>
                <a:chOff x="3418" y="2061"/>
                <a:chExt cx="1954" cy="2253"/>
              </a:xfrm>
            </p:grpSpPr>
            <p:pic>
              <p:nvPicPr>
                <p:cNvPr id="45085" name="Picture 4"/>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3418" y="2061"/>
                  <a:ext cx="1954" cy="1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5086" name="Text Box 17"/>
                <p:cNvSpPr txBox="1">
                  <a:spLocks noChangeArrowheads="1"/>
                </p:cNvSpPr>
                <p:nvPr/>
              </p:nvSpPr>
              <p:spPr bwMode="auto">
                <a:xfrm>
                  <a:off x="3751" y="4083"/>
                  <a:ext cx="1130"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smtClean="0"/>
                    <a:t>可逆</a:t>
                  </a:r>
                  <a:r>
                    <a:rPr lang="zh-CN" altLang="en-US" sz="1400" b="1" dirty="0"/>
                    <a:t>要求动态公差图</a:t>
                  </a:r>
                  <a:endParaRPr lang="en-US" altLang="zh-CN" sz="1400" b="1" dirty="0"/>
                </a:p>
              </p:txBody>
            </p:sp>
          </p:grpSp>
          <p:sp>
            <p:nvSpPr>
              <p:cNvPr id="45083" name="Line 19"/>
              <p:cNvSpPr>
                <a:spLocks noChangeShapeType="1"/>
              </p:cNvSpPr>
              <p:nvPr/>
            </p:nvSpPr>
            <p:spPr bwMode="auto">
              <a:xfrm>
                <a:off x="4518" y="3042"/>
                <a:ext cx="0" cy="812"/>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5084" name="Line 20"/>
              <p:cNvSpPr>
                <a:spLocks noChangeShapeType="1"/>
              </p:cNvSpPr>
              <p:nvPr/>
            </p:nvSpPr>
            <p:spPr bwMode="auto">
              <a:xfrm>
                <a:off x="4135" y="3045"/>
                <a:ext cx="390" cy="0"/>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45080" name="Text Box 23"/>
            <p:cNvSpPr txBox="1">
              <a:spLocks noChangeArrowheads="1"/>
            </p:cNvSpPr>
            <p:nvPr/>
          </p:nvSpPr>
          <p:spPr bwMode="auto">
            <a:xfrm>
              <a:off x="4425" y="3803"/>
              <a:ext cx="301" cy="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dirty="0" err="1">
                  <a:solidFill>
                    <a:srgbClr val="D60093"/>
                  </a:solidFill>
                </a:rPr>
                <a:t>d</a:t>
              </a:r>
              <a:r>
                <a:rPr lang="en-US" altLang="zh-CN" sz="2000" b="1" baseline="-25000" dirty="0" err="1">
                  <a:solidFill>
                    <a:srgbClr val="D60093"/>
                  </a:solidFill>
                </a:rPr>
                <a:t>a</a:t>
              </a:r>
              <a:endParaRPr lang="en-US" altLang="zh-CN" sz="2000" b="1" baseline="-25000" dirty="0">
                <a:solidFill>
                  <a:srgbClr val="D60093"/>
                </a:solidFill>
              </a:endParaRPr>
            </a:p>
          </p:txBody>
        </p:sp>
        <p:graphicFrame>
          <p:nvGraphicFramePr>
            <p:cNvPr id="45081" name="Object 24"/>
            <p:cNvGraphicFramePr>
              <a:graphicFrameLocks noChangeAspect="1"/>
            </p:cNvGraphicFramePr>
            <p:nvPr/>
          </p:nvGraphicFramePr>
          <p:xfrm>
            <a:off x="3095" y="2930"/>
            <a:ext cx="1049" cy="277"/>
          </p:xfrm>
          <a:graphic>
            <a:graphicData uri="http://schemas.openxmlformats.org/presentationml/2006/ole">
              <p:oleObj spid="_x0000_s21514" name="公式" r:id="rId7" imgW="20726400" imgH="5486400" progId="">
                <p:embed/>
              </p:oleObj>
            </a:graphicData>
          </a:graphic>
        </p:graphicFrame>
      </p:grpSp>
      <p:grpSp>
        <p:nvGrpSpPr>
          <p:cNvPr id="112686" name="Group 46"/>
          <p:cNvGrpSpPr/>
          <p:nvPr/>
        </p:nvGrpSpPr>
        <p:grpSpPr bwMode="auto">
          <a:xfrm>
            <a:off x="5516738" y="1322054"/>
            <a:ext cx="2473619" cy="396478"/>
            <a:chOff x="631" y="915"/>
            <a:chExt cx="1645" cy="333"/>
          </a:xfrm>
        </p:grpSpPr>
        <p:sp>
          <p:nvSpPr>
            <p:cNvPr id="45073" name="Rectangle 32"/>
            <p:cNvSpPr>
              <a:spLocks noChangeArrowheads="1"/>
            </p:cNvSpPr>
            <p:nvPr/>
          </p:nvSpPr>
          <p:spPr bwMode="auto">
            <a:xfrm>
              <a:off x="631" y="921"/>
              <a:ext cx="1645" cy="322"/>
            </a:xfrm>
            <a:prstGeom prst="rect">
              <a:avLst/>
            </a:prstGeom>
            <a:noFill/>
            <a:ln w="952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dirty="0" smtClean="0"/>
                <a:t>                            </a:t>
              </a:r>
              <a:r>
                <a:rPr lang="en-US" altLang="zh-CN" sz="2000" i="1" dirty="0" smtClean="0"/>
                <a:t>A</a:t>
              </a:r>
              <a:endParaRPr lang="en-US" altLang="zh-CN" sz="2000" i="1" dirty="0"/>
            </a:p>
          </p:txBody>
        </p:sp>
        <p:pic>
          <p:nvPicPr>
            <p:cNvPr id="45074" name="Picture 33"/>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692" y="973"/>
              <a:ext cx="180" cy="1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5075" name="Picture 34"/>
            <p:cNvPicPr>
              <a:picLocks noChangeAspect="1" noChangeArrowheads="1"/>
            </p:cNvPicPr>
            <p:nvPr/>
          </p:nvPicPr>
          <p:blipFill>
            <a:blip r:embed="rId9" cstate="print">
              <a:extLst>
                <a:ext uri="{28A0092B-C50C-407E-A947-70E740481C1C}">
                  <a14:useLocalDpi xmlns:a14="http://schemas.microsoft.com/office/drawing/2010/main" xmlns="" val="0"/>
                </a:ext>
              </a:extLst>
            </a:blip>
            <a:srcRect/>
            <a:stretch>
              <a:fillRect/>
            </a:stretch>
          </p:blipFill>
          <p:spPr bwMode="auto">
            <a:xfrm>
              <a:off x="1447" y="932"/>
              <a:ext cx="233" cy="3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5076" name="Picture 35"/>
            <p:cNvPicPr>
              <a:picLocks noChangeAspect="1" noChangeArrowheads="1"/>
            </p:cNvPicPr>
            <p:nvPr/>
          </p:nvPicPr>
          <p:blipFill>
            <a:blip r:embed="rId10" cstate="print">
              <a:extLst>
                <a:ext uri="{28A0092B-C50C-407E-A947-70E740481C1C}">
                  <a14:useLocalDpi xmlns:a14="http://schemas.microsoft.com/office/drawing/2010/main" xmlns="" val="0"/>
                </a:ext>
              </a:extLst>
            </a:blip>
            <a:srcRect/>
            <a:stretch>
              <a:fillRect/>
            </a:stretch>
          </p:blipFill>
          <p:spPr bwMode="auto">
            <a:xfrm>
              <a:off x="1679" y="930"/>
              <a:ext cx="225" cy="2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5077" name="Line 36"/>
            <p:cNvSpPr>
              <a:spLocks noChangeShapeType="1"/>
            </p:cNvSpPr>
            <p:nvPr/>
          </p:nvSpPr>
          <p:spPr bwMode="auto">
            <a:xfrm>
              <a:off x="955" y="915"/>
              <a:ext cx="0" cy="333"/>
            </a:xfrm>
            <a:prstGeom prst="line">
              <a:avLst/>
            </a:prstGeom>
            <a:noFill/>
            <a:ln w="952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5078" name="Line 37"/>
            <p:cNvSpPr>
              <a:spLocks noChangeShapeType="1"/>
            </p:cNvSpPr>
            <p:nvPr/>
          </p:nvSpPr>
          <p:spPr bwMode="auto">
            <a:xfrm>
              <a:off x="2001" y="925"/>
              <a:ext cx="0" cy="302"/>
            </a:xfrm>
            <a:prstGeom prst="line">
              <a:avLst/>
            </a:prstGeom>
            <a:noFill/>
            <a:ln w="952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112680" name="Group 40"/>
          <p:cNvGrpSpPr/>
          <p:nvPr/>
        </p:nvGrpSpPr>
        <p:grpSpPr bwMode="auto">
          <a:xfrm>
            <a:off x="1300390" y="3028335"/>
            <a:ext cx="2825750" cy="2880847"/>
            <a:chOff x="1607" y="2235"/>
            <a:chExt cx="1780" cy="2009"/>
          </a:xfrm>
        </p:grpSpPr>
        <p:grpSp>
          <p:nvGrpSpPr>
            <p:cNvPr id="45067" name="Group 41"/>
            <p:cNvGrpSpPr/>
            <p:nvPr/>
          </p:nvGrpSpPr>
          <p:grpSpPr bwMode="auto">
            <a:xfrm>
              <a:off x="1607" y="2235"/>
              <a:ext cx="1780" cy="2009"/>
              <a:chOff x="537" y="2215"/>
              <a:chExt cx="1780" cy="2009"/>
            </a:xfrm>
          </p:grpSpPr>
          <p:pic>
            <p:nvPicPr>
              <p:cNvPr id="45070" name="Picture 42"/>
              <p:cNvPicPr>
                <a:picLocks noChangeAspect="1" noChangeArrowheads="1"/>
              </p:cNvPicPr>
              <p:nvPr/>
            </p:nvPicPr>
            <p:blipFill>
              <a:blip r:embed="rId11" cstate="print">
                <a:extLst>
                  <a:ext uri="{28A0092B-C50C-407E-A947-70E740481C1C}">
                    <a14:useLocalDpi xmlns:a14="http://schemas.microsoft.com/office/drawing/2010/main" xmlns="" val="0"/>
                  </a:ext>
                </a:extLst>
              </a:blip>
              <a:srcRect/>
              <a:stretch>
                <a:fillRect/>
              </a:stretch>
            </p:blipFill>
            <p:spPr bwMode="auto">
              <a:xfrm>
                <a:off x="537" y="2215"/>
                <a:ext cx="1780" cy="18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5071" name="Text Box 43"/>
              <p:cNvSpPr txBox="1">
                <a:spLocks noChangeArrowheads="1"/>
              </p:cNvSpPr>
              <p:nvPr/>
            </p:nvSpPr>
            <p:spPr bwMode="auto">
              <a:xfrm>
                <a:off x="878" y="4010"/>
                <a:ext cx="842" cy="2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smtClean="0"/>
                  <a:t>最小</a:t>
                </a:r>
                <a:r>
                  <a:rPr lang="zh-CN" altLang="en-US" sz="1400" b="1" dirty="0"/>
                  <a:t>实体要求</a:t>
                </a:r>
                <a:endParaRPr lang="en-US" altLang="zh-CN" sz="1400" b="1" dirty="0"/>
              </a:p>
            </p:txBody>
          </p:sp>
        </p:grpSp>
        <p:pic>
          <p:nvPicPr>
            <p:cNvPr id="45068" name="Picture 44"/>
            <p:cNvPicPr>
              <a:picLocks noChangeAspect="1" noChangeArrowheads="1"/>
            </p:cNvPicPr>
            <p:nvPr/>
          </p:nvPicPr>
          <p:blipFill>
            <a:blip r:embed="rId12" cstate="print">
              <a:extLst>
                <a:ext uri="{28A0092B-C50C-407E-A947-70E740481C1C}">
                  <a14:useLocalDpi xmlns:a14="http://schemas.microsoft.com/office/drawing/2010/main" xmlns="" val="0"/>
                </a:ext>
              </a:extLst>
            </a:blip>
            <a:srcRect/>
            <a:stretch>
              <a:fillRect/>
            </a:stretch>
          </p:blipFill>
          <p:spPr bwMode="auto">
            <a:xfrm>
              <a:off x="2966" y="2353"/>
              <a:ext cx="211" cy="2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5069" name="Line 45"/>
            <p:cNvSpPr>
              <a:spLocks noChangeShapeType="1"/>
            </p:cNvSpPr>
            <p:nvPr/>
          </p:nvSpPr>
          <p:spPr bwMode="auto">
            <a:xfrm>
              <a:off x="3173" y="2355"/>
              <a:ext cx="0" cy="192"/>
            </a:xfrm>
            <a:prstGeom prst="line">
              <a:avLst/>
            </a:prstGeom>
            <a:noFill/>
            <a:ln w="9525">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cxnSp>
        <p:nvCxnSpPr>
          <p:cNvPr id="31" name="直接连接符 30"/>
          <p:cNvCxnSpPr/>
          <p:nvPr/>
        </p:nvCxnSpPr>
        <p:spPr bwMode="auto">
          <a:xfrm flipV="1">
            <a:off x="169049" y="955626"/>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2" name="TextBox 31"/>
          <p:cNvSpPr txBox="1"/>
          <p:nvPr/>
        </p:nvSpPr>
        <p:spPr>
          <a:xfrm>
            <a:off x="6081502" y="1319898"/>
            <a:ext cx="741509" cy="398780"/>
          </a:xfrm>
          <a:prstGeom prst="rect">
            <a:avLst/>
          </a:prstGeom>
          <a:noFill/>
        </p:spPr>
        <p:txBody>
          <a:bodyPr wrap="square" rtlCol="0">
            <a:spAutoFit/>
          </a:bodyPr>
          <a:lstStyle/>
          <a:p>
            <a:r>
              <a:rPr lang="el-GR" altLang="zh-CN" sz="2000" dirty="0" smtClean="0"/>
              <a:t>Φ</a:t>
            </a:r>
            <a:r>
              <a:rPr lang="en-US" altLang="zh-CN" sz="2000" dirty="0" smtClean="0"/>
              <a:t>0.1</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2653"/>
                                        </p:tgtEl>
                                        <p:attrNameLst>
                                          <p:attrName>style.visibility</p:attrName>
                                        </p:attrNameLst>
                                      </p:cBhvr>
                                      <p:to>
                                        <p:strVal val="visible"/>
                                      </p:to>
                                    </p:set>
                                    <p:animEffect transition="in" filter="wipe(left)">
                                      <p:cBhvr>
                                        <p:cTn id="7" dur="300"/>
                                        <p:tgtEl>
                                          <p:spTgt spid="11265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2680"/>
                                        </p:tgtEl>
                                        <p:attrNameLst>
                                          <p:attrName>style.visibility</p:attrName>
                                        </p:attrNameLst>
                                      </p:cBhvr>
                                      <p:to>
                                        <p:strVal val="visible"/>
                                      </p:to>
                                    </p:set>
                                    <p:anim calcmode="lin" valueType="num">
                                      <p:cBhvr additive="base">
                                        <p:cTn id="12" dur="2000" fill="hold"/>
                                        <p:tgtEl>
                                          <p:spTgt spid="112680"/>
                                        </p:tgtEl>
                                        <p:attrNameLst>
                                          <p:attrName>ppt_x</p:attrName>
                                        </p:attrNameLst>
                                      </p:cBhvr>
                                      <p:tavLst>
                                        <p:tav tm="0">
                                          <p:val>
                                            <p:strVal val="#ppt_x"/>
                                          </p:val>
                                        </p:tav>
                                        <p:tav tm="100000">
                                          <p:val>
                                            <p:strVal val="#ppt_x"/>
                                          </p:val>
                                        </p:tav>
                                      </p:tavLst>
                                    </p:anim>
                                    <p:anim calcmode="lin" valueType="num">
                                      <p:cBhvr additive="base">
                                        <p:cTn id="13" dur="2000" fill="hold"/>
                                        <p:tgtEl>
                                          <p:spTgt spid="11268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6" fill="hold" nodeType="clickEffect">
                                  <p:stCondLst>
                                    <p:cond delay="0"/>
                                  </p:stCondLst>
                                  <p:childTnLst>
                                    <p:set>
                                      <p:cBhvr>
                                        <p:cTn id="17" dur="1" fill="hold">
                                          <p:stCondLst>
                                            <p:cond delay="0"/>
                                          </p:stCondLst>
                                        </p:cTn>
                                        <p:tgtEl>
                                          <p:spTgt spid="112665"/>
                                        </p:tgtEl>
                                        <p:attrNameLst>
                                          <p:attrName>style.visibility</p:attrName>
                                        </p:attrNameLst>
                                      </p:cBhvr>
                                      <p:to>
                                        <p:strVal val="visible"/>
                                      </p:to>
                                    </p:set>
                                    <p:anim calcmode="lin" valueType="num">
                                      <p:cBhvr additive="base">
                                        <p:cTn id="18" dur="2000" fill="hold"/>
                                        <p:tgtEl>
                                          <p:spTgt spid="112665"/>
                                        </p:tgtEl>
                                        <p:attrNameLst>
                                          <p:attrName>ppt_x</p:attrName>
                                        </p:attrNameLst>
                                      </p:cBhvr>
                                      <p:tavLst>
                                        <p:tav tm="0">
                                          <p:val>
                                            <p:strVal val="1+#ppt_w/2"/>
                                          </p:val>
                                        </p:tav>
                                        <p:tav tm="100000">
                                          <p:val>
                                            <p:strVal val="#ppt_x"/>
                                          </p:val>
                                        </p:tav>
                                      </p:tavLst>
                                    </p:anim>
                                    <p:anim calcmode="lin" valueType="num">
                                      <p:cBhvr additive="base">
                                        <p:cTn id="19" dur="2000" fill="hold"/>
                                        <p:tgtEl>
                                          <p:spTgt spid="11266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12686"/>
                                        </p:tgtEl>
                                        <p:attrNameLst>
                                          <p:attrName>style.visibility</p:attrName>
                                        </p:attrNameLst>
                                      </p:cBhvr>
                                      <p:to>
                                        <p:strVal val="visible"/>
                                      </p:to>
                                    </p:set>
                                    <p:animEffect transition="in" filter="wipe(left)">
                                      <p:cBhvr>
                                        <p:cTn id="24" dur="2000"/>
                                        <p:tgtEl>
                                          <p:spTgt spid="11268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2661"/>
                                        </p:tgtEl>
                                        <p:attrNameLst>
                                          <p:attrName>style.visibility</p:attrName>
                                        </p:attrNameLst>
                                      </p:cBhvr>
                                      <p:to>
                                        <p:strVal val="visible"/>
                                      </p:to>
                                    </p:set>
                                    <p:animEffect transition="in" filter="wipe(left)">
                                      <p:cBhvr>
                                        <p:cTn id="29" dur="2000"/>
                                        <p:tgtEl>
                                          <p:spTgt spid="11266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12655"/>
                                        </p:tgtEl>
                                        <p:attrNameLst>
                                          <p:attrName>style.visibility</p:attrName>
                                        </p:attrNameLst>
                                      </p:cBhvr>
                                      <p:to>
                                        <p:strVal val="visible"/>
                                      </p:to>
                                    </p:set>
                                    <p:animEffect transition="in" filter="wipe(left)">
                                      <p:cBhvr>
                                        <p:cTn id="34" dur="2000"/>
                                        <p:tgtEl>
                                          <p:spTgt spid="11265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12656"/>
                                        </p:tgtEl>
                                        <p:attrNameLst>
                                          <p:attrName>style.visibility</p:attrName>
                                        </p:attrNameLst>
                                      </p:cBhvr>
                                      <p:to>
                                        <p:strVal val="visible"/>
                                      </p:to>
                                    </p:set>
                                    <p:animEffect transition="in" filter="wipe(left)">
                                      <p:cBhvr>
                                        <p:cTn id="39" dur="2000"/>
                                        <p:tgtEl>
                                          <p:spTgt spid="112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53" grpId="0" bldLvl="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669" name="Object 5"/>
          <p:cNvGraphicFramePr>
            <a:graphicFrameLocks noChangeAspect="1"/>
          </p:cNvGraphicFramePr>
          <p:nvPr/>
        </p:nvGraphicFramePr>
        <p:xfrm>
          <a:off x="602934" y="1495425"/>
          <a:ext cx="8299450" cy="382191"/>
        </p:xfrm>
        <a:graphic>
          <a:graphicData uri="http://schemas.openxmlformats.org/presentationml/2006/ole">
            <p:oleObj spid="_x0000_s22538" name="公式" r:id="rId4" imgW="90525600" imgH="5791200" progId="">
              <p:embed/>
            </p:oleObj>
          </a:graphicData>
        </a:graphic>
      </p:graphicFrame>
      <p:graphicFrame>
        <p:nvGraphicFramePr>
          <p:cNvPr id="113670" name="Object 6"/>
          <p:cNvGraphicFramePr>
            <a:graphicFrameLocks noChangeAspect="1"/>
          </p:cNvGraphicFramePr>
          <p:nvPr/>
        </p:nvGraphicFramePr>
        <p:xfrm>
          <a:off x="596900" y="1938338"/>
          <a:ext cx="8229600" cy="364331"/>
        </p:xfrm>
        <a:graphic>
          <a:graphicData uri="http://schemas.openxmlformats.org/presentationml/2006/ole">
            <p:oleObj spid="_x0000_s22539" name="公式" r:id="rId5" imgW="94183200" imgH="5791200" progId="">
              <p:embed/>
            </p:oleObj>
          </a:graphicData>
        </a:graphic>
      </p:graphicFrame>
      <p:grpSp>
        <p:nvGrpSpPr>
          <p:cNvPr id="113697" name="Group 33"/>
          <p:cNvGrpSpPr/>
          <p:nvPr/>
        </p:nvGrpSpPr>
        <p:grpSpPr bwMode="auto">
          <a:xfrm>
            <a:off x="4518734" y="2787589"/>
            <a:ext cx="3871447" cy="3267190"/>
            <a:chOff x="3171" y="2116"/>
            <a:chExt cx="2240" cy="2408"/>
          </a:xfrm>
        </p:grpSpPr>
        <p:grpSp>
          <p:nvGrpSpPr>
            <p:cNvPr id="46095" name="Group 14"/>
            <p:cNvGrpSpPr/>
            <p:nvPr/>
          </p:nvGrpSpPr>
          <p:grpSpPr bwMode="auto">
            <a:xfrm>
              <a:off x="3171" y="2116"/>
              <a:ext cx="2240" cy="2408"/>
              <a:chOff x="3171" y="2126"/>
              <a:chExt cx="2240" cy="2408"/>
            </a:xfrm>
          </p:grpSpPr>
          <p:grpSp>
            <p:nvGrpSpPr>
              <p:cNvPr id="46099" name="Group 15"/>
              <p:cNvGrpSpPr/>
              <p:nvPr/>
            </p:nvGrpSpPr>
            <p:grpSpPr bwMode="auto">
              <a:xfrm>
                <a:off x="3418" y="2126"/>
                <a:ext cx="1993" cy="2408"/>
                <a:chOff x="3418" y="2126"/>
                <a:chExt cx="1993" cy="2408"/>
              </a:xfrm>
            </p:grpSpPr>
            <p:grpSp>
              <p:nvGrpSpPr>
                <p:cNvPr id="46102" name="Group 16"/>
                <p:cNvGrpSpPr/>
                <p:nvPr/>
              </p:nvGrpSpPr>
              <p:grpSpPr bwMode="auto">
                <a:xfrm>
                  <a:off x="3418" y="2126"/>
                  <a:ext cx="1993" cy="2408"/>
                  <a:chOff x="3418" y="2126"/>
                  <a:chExt cx="1993" cy="2408"/>
                </a:xfrm>
              </p:grpSpPr>
              <p:pic>
                <p:nvPicPr>
                  <p:cNvPr id="46105" name="Picture 17"/>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3418" y="2126"/>
                    <a:ext cx="1993" cy="20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6106" name="Text Box 18"/>
                  <p:cNvSpPr txBox="1">
                    <a:spLocks noChangeArrowheads="1"/>
                  </p:cNvSpPr>
                  <p:nvPr/>
                </p:nvSpPr>
                <p:spPr bwMode="auto">
                  <a:xfrm>
                    <a:off x="3828" y="4296"/>
                    <a:ext cx="1106" cy="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smtClean="0"/>
                      <a:t>可逆</a:t>
                    </a:r>
                    <a:r>
                      <a:rPr lang="zh-CN" altLang="en-US" sz="1400" b="1" dirty="0"/>
                      <a:t>要求动态公差图</a:t>
                    </a:r>
                    <a:endParaRPr lang="en-US" altLang="zh-CN" sz="1400" b="1" dirty="0"/>
                  </a:p>
                </p:txBody>
              </p:sp>
            </p:grpSp>
            <p:sp>
              <p:nvSpPr>
                <p:cNvPr id="46103" name="Line 19"/>
                <p:cNvSpPr>
                  <a:spLocks noChangeShapeType="1"/>
                </p:cNvSpPr>
                <p:nvPr/>
              </p:nvSpPr>
              <p:spPr bwMode="auto">
                <a:xfrm>
                  <a:off x="4545" y="3167"/>
                  <a:ext cx="0" cy="864"/>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6104" name="Line 20"/>
                <p:cNvSpPr>
                  <a:spLocks noChangeShapeType="1"/>
                </p:cNvSpPr>
                <p:nvPr/>
              </p:nvSpPr>
              <p:spPr bwMode="auto">
                <a:xfrm>
                  <a:off x="4148" y="3170"/>
                  <a:ext cx="390" cy="0"/>
                </a:xfrm>
                <a:prstGeom prst="line">
                  <a:avLst/>
                </a:prstGeom>
                <a:noFill/>
                <a:ln w="38100">
                  <a:solidFill>
                    <a:srgbClr val="D60093"/>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46100" name="Text Box 21"/>
              <p:cNvSpPr txBox="1">
                <a:spLocks noChangeArrowheads="1"/>
              </p:cNvSpPr>
              <p:nvPr/>
            </p:nvSpPr>
            <p:spPr bwMode="auto">
              <a:xfrm>
                <a:off x="4449" y="3988"/>
                <a:ext cx="294" cy="3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dirty="0" err="1">
                    <a:solidFill>
                      <a:srgbClr val="D60093"/>
                    </a:solidFill>
                  </a:rPr>
                  <a:t>d</a:t>
                </a:r>
                <a:r>
                  <a:rPr lang="en-US" altLang="zh-CN" sz="2000" b="1" baseline="-25000" dirty="0" err="1">
                    <a:solidFill>
                      <a:srgbClr val="D60093"/>
                    </a:solidFill>
                  </a:rPr>
                  <a:t>a</a:t>
                </a:r>
                <a:endParaRPr lang="en-US" altLang="zh-CN" sz="2000" b="1" baseline="-25000" dirty="0">
                  <a:solidFill>
                    <a:srgbClr val="D60093"/>
                  </a:solidFill>
                </a:endParaRPr>
              </a:p>
            </p:txBody>
          </p:sp>
          <p:graphicFrame>
            <p:nvGraphicFramePr>
              <p:cNvPr id="46101" name="Object 22"/>
              <p:cNvGraphicFramePr>
                <a:graphicFrameLocks noChangeAspect="1"/>
              </p:cNvGraphicFramePr>
              <p:nvPr/>
            </p:nvGraphicFramePr>
            <p:xfrm>
              <a:off x="3171" y="3015"/>
              <a:ext cx="920" cy="243"/>
            </p:xfrm>
            <a:graphic>
              <a:graphicData uri="http://schemas.openxmlformats.org/presentationml/2006/ole">
                <p:oleObj spid="_x0000_s22540" name="公式" r:id="rId7" imgW="20726400" imgH="5486400" progId="">
                  <p:embed/>
                </p:oleObj>
              </a:graphicData>
            </a:graphic>
          </p:graphicFrame>
        </p:grpSp>
        <p:sp>
          <p:nvSpPr>
            <p:cNvPr id="46096" name="Line 24"/>
            <p:cNvSpPr>
              <a:spLocks noChangeShapeType="1"/>
            </p:cNvSpPr>
            <p:nvPr/>
          </p:nvSpPr>
          <p:spPr bwMode="auto">
            <a:xfrm>
              <a:off x="3923" y="3830"/>
              <a:ext cx="234" cy="0"/>
            </a:xfrm>
            <a:prstGeom prst="line">
              <a:avLst/>
            </a:prstGeom>
            <a:noFill/>
            <a:ln w="38100">
              <a:solidFill>
                <a:schemeClr val="accent1"/>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6097" name="Line 25"/>
            <p:cNvSpPr>
              <a:spLocks noChangeShapeType="1"/>
            </p:cNvSpPr>
            <p:nvPr/>
          </p:nvSpPr>
          <p:spPr bwMode="auto">
            <a:xfrm>
              <a:off x="3944" y="3850"/>
              <a:ext cx="0" cy="195"/>
            </a:xfrm>
            <a:prstGeom prst="line">
              <a:avLst/>
            </a:prstGeom>
            <a:noFill/>
            <a:ln w="38100">
              <a:solidFill>
                <a:schemeClr val="accent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aphicFrame>
          <p:nvGraphicFramePr>
            <p:cNvPr id="46098" name="Object 27"/>
            <p:cNvGraphicFramePr>
              <a:graphicFrameLocks noChangeAspect="1"/>
            </p:cNvGraphicFramePr>
            <p:nvPr/>
          </p:nvGraphicFramePr>
          <p:xfrm>
            <a:off x="4216" y="3514"/>
            <a:ext cx="307" cy="233"/>
          </p:xfrm>
          <a:graphic>
            <a:graphicData uri="http://schemas.openxmlformats.org/presentationml/2006/ole">
              <p:oleObj spid="_x0000_s22541" name="公式" r:id="rId8" imgW="7315200" imgH="5791200" progId="">
                <p:embed/>
              </p:oleObj>
            </a:graphicData>
          </a:graphic>
        </p:graphicFrame>
      </p:grpSp>
      <p:graphicFrame>
        <p:nvGraphicFramePr>
          <p:cNvPr id="113695" name="Object 31"/>
          <p:cNvGraphicFramePr>
            <a:graphicFrameLocks noChangeAspect="1"/>
          </p:cNvGraphicFramePr>
          <p:nvPr/>
        </p:nvGraphicFramePr>
        <p:xfrm>
          <a:off x="612652" y="1049286"/>
          <a:ext cx="4862513" cy="382190"/>
        </p:xfrm>
        <a:graphic>
          <a:graphicData uri="http://schemas.openxmlformats.org/presentationml/2006/ole">
            <p:oleObj spid="_x0000_s22542" name="公式" r:id="rId9" imgW="53035200" imgH="5791200" progId="">
              <p:embed/>
            </p:oleObj>
          </a:graphicData>
        </a:graphic>
      </p:graphicFrame>
      <p:grpSp>
        <p:nvGrpSpPr>
          <p:cNvPr id="113698" name="Group 34"/>
          <p:cNvGrpSpPr/>
          <p:nvPr/>
        </p:nvGrpSpPr>
        <p:grpSpPr bwMode="auto">
          <a:xfrm>
            <a:off x="2721725" y="4811356"/>
            <a:ext cx="1703387" cy="400050"/>
            <a:chOff x="1898" y="3445"/>
            <a:chExt cx="1073" cy="336"/>
          </a:xfrm>
        </p:grpSpPr>
        <p:graphicFrame>
          <p:nvGraphicFramePr>
            <p:cNvPr id="46093" name="Object 35"/>
            <p:cNvGraphicFramePr>
              <a:graphicFrameLocks noChangeAspect="1"/>
            </p:cNvGraphicFramePr>
            <p:nvPr/>
          </p:nvGraphicFramePr>
          <p:xfrm>
            <a:off x="1898" y="3514"/>
            <a:ext cx="1073" cy="239"/>
          </p:xfrm>
          <a:graphic>
            <a:graphicData uri="http://schemas.openxmlformats.org/presentationml/2006/ole">
              <p:oleObj spid="_x0000_s22543" name="公式" r:id="rId10" imgW="24993600" imgH="5791200" progId="">
                <p:embed/>
              </p:oleObj>
            </a:graphicData>
          </a:graphic>
        </p:graphicFrame>
        <p:sp>
          <p:nvSpPr>
            <p:cNvPr id="46094" name="AutoShape 36"/>
            <p:cNvSpPr>
              <a:spLocks noChangeArrowheads="1"/>
            </p:cNvSpPr>
            <p:nvPr/>
          </p:nvSpPr>
          <p:spPr bwMode="auto">
            <a:xfrm>
              <a:off x="1904" y="3445"/>
              <a:ext cx="1035" cy="336"/>
            </a:xfrm>
            <a:prstGeom prst="wedgeRoundRectCallout">
              <a:avLst>
                <a:gd name="adj1" fmla="val 132563"/>
                <a:gd name="adj2" fmla="val 84013"/>
                <a:gd name="adj3" fmla="val 16667"/>
              </a:avLst>
            </a:prstGeom>
            <a:noFill/>
            <a:ln w="38100">
              <a:solidFill>
                <a:schemeClr val="accent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en-US"/>
            </a:p>
          </p:txBody>
        </p:sp>
      </p:grpSp>
      <p:grpSp>
        <p:nvGrpSpPr>
          <p:cNvPr id="113703" name="Group 39"/>
          <p:cNvGrpSpPr/>
          <p:nvPr/>
        </p:nvGrpSpPr>
        <p:grpSpPr bwMode="auto">
          <a:xfrm>
            <a:off x="650855" y="2640956"/>
            <a:ext cx="4106862" cy="620316"/>
            <a:chOff x="351" y="2173"/>
            <a:chExt cx="2587" cy="521"/>
          </a:xfrm>
        </p:grpSpPr>
        <p:graphicFrame>
          <p:nvGraphicFramePr>
            <p:cNvPr id="46091" name="Object 37"/>
            <p:cNvGraphicFramePr>
              <a:graphicFrameLocks noChangeAspect="1"/>
            </p:cNvGraphicFramePr>
            <p:nvPr/>
          </p:nvGraphicFramePr>
          <p:xfrm>
            <a:off x="351" y="2222"/>
            <a:ext cx="2587" cy="429"/>
          </p:xfrm>
          <a:graphic>
            <a:graphicData uri="http://schemas.openxmlformats.org/presentationml/2006/ole">
              <p:oleObj spid="_x0000_s22544" name="公式" r:id="rId11" imgW="33528000" imgH="5791200" progId="">
                <p:embed/>
              </p:oleObj>
            </a:graphicData>
          </a:graphic>
        </p:graphicFrame>
        <p:sp>
          <p:nvSpPr>
            <p:cNvPr id="46092" name="AutoShape 38"/>
            <p:cNvSpPr>
              <a:spLocks noChangeArrowheads="1"/>
            </p:cNvSpPr>
            <p:nvPr/>
          </p:nvSpPr>
          <p:spPr bwMode="auto">
            <a:xfrm>
              <a:off x="1054" y="2173"/>
              <a:ext cx="1195" cy="521"/>
            </a:xfrm>
            <a:prstGeom prst="leftRightArrow">
              <a:avLst>
                <a:gd name="adj1" fmla="val 50000"/>
                <a:gd name="adj2" fmla="val 45873"/>
              </a:avLst>
            </a:prstGeom>
            <a:solidFill>
              <a:srgbClr val="FFCCFF"/>
            </a:solidFill>
            <a:ln w="38100">
              <a:solidFill>
                <a:srgbClr val="FF3300"/>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dirty="0"/>
                <a:t>补   偿</a:t>
              </a:r>
            </a:p>
          </p:txBody>
        </p:sp>
      </p:grpSp>
      <p:sp>
        <p:nvSpPr>
          <p:cNvPr id="26" name="Text Box 13"/>
          <p:cNvSpPr txBox="1">
            <a:spLocks noChangeArrowheads="1"/>
          </p:cNvSpPr>
          <p:nvPr/>
        </p:nvSpPr>
        <p:spPr bwMode="auto">
          <a:xfrm>
            <a:off x="368901" y="408489"/>
            <a:ext cx="7046912"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smtClean="0"/>
              <a:t>4.  </a:t>
            </a:r>
            <a:r>
              <a:rPr lang="zh-CN" altLang="en-US" b="1" dirty="0"/>
              <a:t>可逆要求（</a:t>
            </a:r>
            <a:r>
              <a:rPr lang="en-US" altLang="zh-CN" b="1" dirty="0"/>
              <a:t>RR</a:t>
            </a:r>
            <a:r>
              <a:rPr lang="zh-CN" altLang="en-US" b="1" dirty="0"/>
              <a:t>）用于最小实体要求（</a:t>
            </a:r>
            <a:r>
              <a:rPr lang="en-US" altLang="zh-CN" b="1" dirty="0"/>
              <a:t>LMR</a:t>
            </a:r>
            <a:r>
              <a:rPr lang="zh-CN" altLang="en-US" b="1" dirty="0"/>
              <a:t>）</a:t>
            </a:r>
          </a:p>
        </p:txBody>
      </p:sp>
      <p:cxnSp>
        <p:nvCxnSpPr>
          <p:cNvPr id="27" name="直接连接符 26"/>
          <p:cNvCxnSpPr/>
          <p:nvPr/>
        </p:nvCxnSpPr>
        <p:spPr bwMode="auto">
          <a:xfrm flipV="1">
            <a:off x="169049" y="955626"/>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0"/>
                                  </p:stCondLst>
                                  <p:childTnLst>
                                    <p:set>
                                      <p:cBhvr>
                                        <p:cTn id="6" dur="1" fill="hold">
                                          <p:stCondLst>
                                            <p:cond delay="0"/>
                                          </p:stCondLst>
                                        </p:cTn>
                                        <p:tgtEl>
                                          <p:spTgt spid="113697"/>
                                        </p:tgtEl>
                                        <p:attrNameLst>
                                          <p:attrName>style.visibility</p:attrName>
                                        </p:attrNameLst>
                                      </p:cBhvr>
                                      <p:to>
                                        <p:strVal val="visible"/>
                                      </p:to>
                                    </p:set>
                                    <p:anim calcmode="lin" valueType="num">
                                      <p:cBhvr additive="base">
                                        <p:cTn id="7" dur="2000" fill="hold"/>
                                        <p:tgtEl>
                                          <p:spTgt spid="113697"/>
                                        </p:tgtEl>
                                        <p:attrNameLst>
                                          <p:attrName>ppt_x</p:attrName>
                                        </p:attrNameLst>
                                      </p:cBhvr>
                                      <p:tavLst>
                                        <p:tav tm="0">
                                          <p:val>
                                            <p:strVal val="1+#ppt_w/2"/>
                                          </p:val>
                                        </p:tav>
                                        <p:tav tm="100000">
                                          <p:val>
                                            <p:strVal val="#ppt_x"/>
                                          </p:val>
                                        </p:tav>
                                      </p:tavLst>
                                    </p:anim>
                                    <p:anim calcmode="lin" valueType="num">
                                      <p:cBhvr additive="base">
                                        <p:cTn id="8" dur="2000" fill="hold"/>
                                        <p:tgtEl>
                                          <p:spTgt spid="11369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13695"/>
                                        </p:tgtEl>
                                        <p:attrNameLst>
                                          <p:attrName>style.visibility</p:attrName>
                                        </p:attrNameLst>
                                      </p:cBhvr>
                                      <p:to>
                                        <p:strVal val="visible"/>
                                      </p:to>
                                    </p:set>
                                    <p:animEffect transition="in" filter="wipe(left)">
                                      <p:cBhvr>
                                        <p:cTn id="13" dur="2000"/>
                                        <p:tgtEl>
                                          <p:spTgt spid="11369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3669"/>
                                        </p:tgtEl>
                                        <p:attrNameLst>
                                          <p:attrName>style.visibility</p:attrName>
                                        </p:attrNameLst>
                                      </p:cBhvr>
                                      <p:to>
                                        <p:strVal val="visible"/>
                                      </p:to>
                                    </p:set>
                                    <p:animEffect transition="in" filter="wipe(left)">
                                      <p:cBhvr>
                                        <p:cTn id="18" dur="2000"/>
                                        <p:tgtEl>
                                          <p:spTgt spid="11366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3698"/>
                                        </p:tgtEl>
                                        <p:attrNameLst>
                                          <p:attrName>style.visibility</p:attrName>
                                        </p:attrNameLst>
                                      </p:cBhvr>
                                      <p:to>
                                        <p:strVal val="visible"/>
                                      </p:to>
                                    </p:set>
                                    <p:animEffect transition="in" filter="wipe(left)">
                                      <p:cBhvr>
                                        <p:cTn id="23" dur="2000"/>
                                        <p:tgtEl>
                                          <p:spTgt spid="11369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3670"/>
                                        </p:tgtEl>
                                        <p:attrNameLst>
                                          <p:attrName>style.visibility</p:attrName>
                                        </p:attrNameLst>
                                      </p:cBhvr>
                                      <p:to>
                                        <p:strVal val="visible"/>
                                      </p:to>
                                    </p:set>
                                    <p:animEffect transition="in" filter="wipe(left)">
                                      <p:cBhvr>
                                        <p:cTn id="28" dur="2000"/>
                                        <p:tgtEl>
                                          <p:spTgt spid="11367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3703"/>
                                        </p:tgtEl>
                                        <p:attrNameLst>
                                          <p:attrName>style.visibility</p:attrName>
                                        </p:attrNameLst>
                                      </p:cBhvr>
                                      <p:to>
                                        <p:strVal val="visible"/>
                                      </p:to>
                                    </p:set>
                                    <p:animEffect transition="in" filter="wipe(left)">
                                      <p:cBhvr>
                                        <p:cTn id="33" dur="2000"/>
                                        <p:tgtEl>
                                          <p:spTgt spid="113703"/>
                                        </p:tgtEl>
                                      </p:cBhvr>
                                    </p:animEffect>
                                  </p:childTnLst>
                                </p:cTn>
                              </p:par>
                            </p:childTnLst>
                          </p:cTn>
                        </p:par>
                        <p:par>
                          <p:cTn id="34" fill="hold">
                            <p:stCondLst>
                              <p:cond delay="2000"/>
                            </p:stCondLst>
                            <p:childTnLst>
                              <p:par>
                                <p:cTn id="35" presetID="22" presetClass="entr" presetSubtype="8" fill="hold" grpId="0" nodeType="afterEffect">
                                  <p:stCondLst>
                                    <p:cond delay="0"/>
                                  </p:stCondLst>
                                  <p:iterate type="wd">
                                    <p:tmPct val="100000"/>
                                  </p:iterate>
                                  <p:childTnLst>
                                    <p:set>
                                      <p:cBhvr>
                                        <p:cTn id="36" dur="1" fill="hold">
                                          <p:stCondLst>
                                            <p:cond delay="0"/>
                                          </p:stCondLst>
                                        </p:cTn>
                                        <p:tgtEl>
                                          <p:spTgt spid="26"/>
                                        </p:tgtEl>
                                        <p:attrNameLst>
                                          <p:attrName>style.visibility</p:attrName>
                                        </p:attrNameLst>
                                      </p:cBhvr>
                                      <p:to>
                                        <p:strVal val="visible"/>
                                      </p:to>
                                    </p:set>
                                    <p:animEffect transition="in" filter="wipe(left)">
                                      <p:cBhvr>
                                        <p:cTn id="37" dur="3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Text Box 4"/>
          <p:cNvSpPr txBox="1">
            <a:spLocks noChangeArrowheads="1"/>
          </p:cNvSpPr>
          <p:nvPr/>
        </p:nvSpPr>
        <p:spPr bwMode="auto">
          <a:xfrm>
            <a:off x="304083" y="655830"/>
            <a:ext cx="82296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smtClean="0"/>
              <a:t>5. </a:t>
            </a:r>
            <a:r>
              <a:rPr lang="zh-CN" altLang="en-US" b="1" dirty="0"/>
              <a:t>可逆要求用于最小实体要求时的合格性判断</a:t>
            </a:r>
            <a:r>
              <a:rPr lang="en-US" altLang="zh-CN" b="1" dirty="0"/>
              <a:t> </a:t>
            </a:r>
          </a:p>
        </p:txBody>
      </p:sp>
      <p:cxnSp>
        <p:nvCxnSpPr>
          <p:cNvPr id="6" name="直接连接符 5"/>
          <p:cNvCxnSpPr/>
          <p:nvPr/>
        </p:nvCxnSpPr>
        <p:spPr bwMode="auto">
          <a:xfrm flipV="1">
            <a:off x="169049" y="1246482"/>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 name="TextBox 6"/>
          <p:cNvSpPr txBox="1"/>
          <p:nvPr/>
        </p:nvSpPr>
        <p:spPr>
          <a:xfrm>
            <a:off x="2051636" y="3542820"/>
            <a:ext cx="4675735" cy="460375"/>
          </a:xfrm>
          <a:prstGeom prst="rect">
            <a:avLst/>
          </a:prstGeom>
          <a:noFill/>
        </p:spPr>
        <p:txBody>
          <a:bodyPr wrap="square" rtlCol="0">
            <a:spAutoFit/>
          </a:bodyPr>
          <a:lstStyle/>
          <a:p>
            <a:r>
              <a:rPr lang="en-US" altLang="zh-CN" b="1" i="1" dirty="0" err="1" smtClean="0">
                <a:solidFill>
                  <a:srgbClr val="D60093"/>
                </a:solidFill>
              </a:rPr>
              <a:t>D</a:t>
            </a:r>
            <a:r>
              <a:rPr lang="en-US" altLang="zh-CN" b="1" baseline="-25000" dirty="0" err="1" smtClean="0">
                <a:solidFill>
                  <a:srgbClr val="D60093"/>
                </a:solidFill>
              </a:rPr>
              <a:t>fi</a:t>
            </a:r>
            <a:r>
              <a:rPr lang="en-US" altLang="zh-CN" b="1" baseline="-25000" dirty="0" smtClean="0">
                <a:solidFill>
                  <a:srgbClr val="D60093"/>
                </a:solidFill>
              </a:rPr>
              <a:t> </a:t>
            </a:r>
            <a:r>
              <a:rPr lang="en-US" altLang="zh-CN" b="1" dirty="0" smtClean="0">
                <a:solidFill>
                  <a:srgbClr val="D60093"/>
                </a:solidFill>
              </a:rPr>
              <a:t>= </a:t>
            </a:r>
            <a:r>
              <a:rPr lang="en-US" altLang="zh-CN" b="1" i="1" dirty="0" err="1" smtClean="0">
                <a:solidFill>
                  <a:srgbClr val="D60093"/>
                </a:solidFill>
              </a:rPr>
              <a:t>D</a:t>
            </a:r>
            <a:r>
              <a:rPr lang="en-US" altLang="zh-CN" b="1" baseline="-25000" dirty="0" err="1" smtClean="0">
                <a:solidFill>
                  <a:srgbClr val="D60093"/>
                </a:solidFill>
              </a:rPr>
              <a:t>a</a:t>
            </a:r>
            <a:r>
              <a:rPr lang="en-US" altLang="zh-CN" b="1" baseline="-25000" dirty="0" smtClean="0">
                <a:solidFill>
                  <a:srgbClr val="D60093"/>
                </a:solidFill>
              </a:rPr>
              <a:t> </a:t>
            </a:r>
            <a:r>
              <a:rPr lang="en-US" altLang="zh-CN" b="1" dirty="0" smtClean="0">
                <a:solidFill>
                  <a:srgbClr val="D60093"/>
                </a:solidFill>
              </a:rPr>
              <a:t>+ </a:t>
            </a:r>
            <a:r>
              <a:rPr lang="en-US" altLang="zh-CN" b="1" i="1" dirty="0" smtClean="0">
                <a:solidFill>
                  <a:srgbClr val="D60093"/>
                </a:solidFill>
              </a:rPr>
              <a:t>f</a:t>
            </a:r>
            <a:r>
              <a:rPr lang="zh-CN" altLang="en-US" b="1" baseline="-25000" dirty="0" smtClean="0">
                <a:solidFill>
                  <a:srgbClr val="D60093"/>
                </a:solidFill>
              </a:rPr>
              <a:t>几何 </a:t>
            </a:r>
            <a:r>
              <a:rPr lang="en-US" altLang="zh-CN" b="1" dirty="0" smtClean="0">
                <a:solidFill>
                  <a:srgbClr val="D60093"/>
                </a:solidFill>
              </a:rPr>
              <a:t>≤ </a:t>
            </a:r>
            <a:r>
              <a:rPr lang="zh-CN" altLang="en-US" b="1" baseline="-25000" dirty="0" smtClean="0">
                <a:solidFill>
                  <a:srgbClr val="D60093"/>
                </a:solidFill>
              </a:rPr>
              <a:t> </a:t>
            </a:r>
            <a:r>
              <a:rPr lang="en-US" altLang="zh-CN" b="1" i="1" dirty="0" smtClean="0">
                <a:solidFill>
                  <a:srgbClr val="D60093"/>
                </a:solidFill>
              </a:rPr>
              <a:t>D</a:t>
            </a:r>
            <a:r>
              <a:rPr lang="en-US" altLang="zh-CN" b="1" baseline="-25000" dirty="0" smtClean="0">
                <a:solidFill>
                  <a:srgbClr val="D60093"/>
                </a:solidFill>
              </a:rPr>
              <a:t>LV </a:t>
            </a:r>
            <a:r>
              <a:rPr lang="en-US" altLang="zh-CN" b="1" dirty="0" smtClean="0">
                <a:solidFill>
                  <a:srgbClr val="D60093"/>
                </a:solidFill>
              </a:rPr>
              <a:t>= </a:t>
            </a:r>
            <a:r>
              <a:rPr lang="en-US" altLang="zh-CN" b="1" i="1" dirty="0" err="1" smtClean="0">
                <a:solidFill>
                  <a:srgbClr val="D60093"/>
                </a:solidFill>
              </a:rPr>
              <a:t>D</a:t>
            </a:r>
            <a:r>
              <a:rPr lang="en-US" altLang="zh-CN" b="1" baseline="-25000" dirty="0" err="1" smtClean="0">
                <a:solidFill>
                  <a:srgbClr val="D60093"/>
                </a:solidFill>
              </a:rPr>
              <a:t>max</a:t>
            </a:r>
            <a:r>
              <a:rPr lang="en-US" altLang="zh-CN" b="1" baseline="-25000" dirty="0" smtClean="0">
                <a:solidFill>
                  <a:srgbClr val="D60093"/>
                </a:solidFill>
              </a:rPr>
              <a:t> </a:t>
            </a:r>
            <a:r>
              <a:rPr lang="en-US" altLang="zh-CN" b="1" dirty="0" smtClean="0">
                <a:solidFill>
                  <a:srgbClr val="D60093"/>
                </a:solidFill>
              </a:rPr>
              <a:t>+ </a:t>
            </a:r>
            <a:r>
              <a:rPr lang="en-US" altLang="zh-CN" b="1" i="1" dirty="0" smtClean="0">
                <a:solidFill>
                  <a:srgbClr val="D60093"/>
                </a:solidFill>
              </a:rPr>
              <a:t>t</a:t>
            </a:r>
            <a:r>
              <a:rPr lang="zh-CN" altLang="en-US" b="1" baseline="-25000" dirty="0" smtClean="0">
                <a:solidFill>
                  <a:srgbClr val="D60093"/>
                </a:solidFill>
              </a:rPr>
              <a:t>几何</a:t>
            </a:r>
            <a:endParaRPr lang="zh-CN" altLang="en-US" b="1" baseline="-25000" dirty="0">
              <a:solidFill>
                <a:srgbClr val="D60093"/>
              </a:solidFill>
            </a:endParaRPr>
          </a:p>
        </p:txBody>
      </p:sp>
      <p:sp>
        <p:nvSpPr>
          <p:cNvPr id="8" name="TextBox 7"/>
          <p:cNvSpPr txBox="1"/>
          <p:nvPr/>
        </p:nvSpPr>
        <p:spPr>
          <a:xfrm>
            <a:off x="2063163" y="4126806"/>
            <a:ext cx="2128478" cy="460375"/>
          </a:xfrm>
          <a:prstGeom prst="rect">
            <a:avLst/>
          </a:prstGeom>
          <a:noFill/>
        </p:spPr>
        <p:txBody>
          <a:bodyPr wrap="square" rtlCol="0">
            <a:spAutoFit/>
          </a:bodyPr>
          <a:lstStyle/>
          <a:p>
            <a:r>
              <a:rPr lang="en-US" altLang="zh-CN" b="1" i="1" dirty="0" err="1" smtClean="0">
                <a:solidFill>
                  <a:srgbClr val="D60093"/>
                </a:solidFill>
              </a:rPr>
              <a:t>D</a:t>
            </a:r>
            <a:r>
              <a:rPr lang="en-US" altLang="zh-CN" b="1" baseline="-25000" dirty="0" err="1" smtClean="0">
                <a:solidFill>
                  <a:srgbClr val="D60093"/>
                </a:solidFill>
              </a:rPr>
              <a:t>a</a:t>
            </a:r>
            <a:r>
              <a:rPr lang="en-US" altLang="zh-CN" b="1" baseline="-25000" dirty="0" smtClean="0">
                <a:solidFill>
                  <a:srgbClr val="D60093"/>
                </a:solidFill>
              </a:rPr>
              <a:t> </a:t>
            </a:r>
            <a:r>
              <a:rPr lang="zh-CN" altLang="en-US" b="1" dirty="0" smtClean="0">
                <a:solidFill>
                  <a:srgbClr val="D60093"/>
                </a:solidFill>
              </a:rPr>
              <a:t>≥ </a:t>
            </a:r>
            <a:r>
              <a:rPr lang="en-US" altLang="zh-CN" b="1" i="1" dirty="0" smtClean="0">
                <a:solidFill>
                  <a:srgbClr val="D60093"/>
                </a:solidFill>
              </a:rPr>
              <a:t>D</a:t>
            </a:r>
            <a:r>
              <a:rPr lang="en-US" altLang="zh-CN" b="1" baseline="-25000" dirty="0" smtClean="0">
                <a:solidFill>
                  <a:srgbClr val="D60093"/>
                </a:solidFill>
              </a:rPr>
              <a:t>M </a:t>
            </a:r>
            <a:r>
              <a:rPr lang="en-US" altLang="zh-CN" b="1" dirty="0" smtClean="0">
                <a:solidFill>
                  <a:srgbClr val="D60093"/>
                </a:solidFill>
              </a:rPr>
              <a:t>= </a:t>
            </a:r>
            <a:r>
              <a:rPr lang="en-US" altLang="zh-CN" b="1" i="1" dirty="0" err="1" smtClean="0">
                <a:solidFill>
                  <a:srgbClr val="D60093"/>
                </a:solidFill>
              </a:rPr>
              <a:t>D</a:t>
            </a:r>
            <a:r>
              <a:rPr lang="en-US" altLang="zh-CN" b="1" baseline="-25000" dirty="0" err="1" smtClean="0">
                <a:solidFill>
                  <a:srgbClr val="D60093"/>
                </a:solidFill>
              </a:rPr>
              <a:t>min</a:t>
            </a:r>
            <a:endParaRPr lang="zh-CN" altLang="en-US" b="1" baseline="-25000" dirty="0">
              <a:solidFill>
                <a:srgbClr val="D60093"/>
              </a:solidFill>
            </a:endParaRPr>
          </a:p>
        </p:txBody>
      </p:sp>
      <p:pic>
        <p:nvPicPr>
          <p:cNvPr id="9" name="Picture 3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445623" y="3638214"/>
            <a:ext cx="381945" cy="3702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 name="Picture 3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796667" y="3635672"/>
            <a:ext cx="338337" cy="3250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1" name="左大括号 10"/>
          <p:cNvSpPr/>
          <p:nvPr/>
        </p:nvSpPr>
        <p:spPr bwMode="auto">
          <a:xfrm>
            <a:off x="1694329" y="3715710"/>
            <a:ext cx="422622" cy="791456"/>
          </a:xfrm>
          <a:prstGeom prst="leftBrace">
            <a:avLst/>
          </a:pr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50000"/>
              </a:spcBef>
              <a:spcAft>
                <a:spcPct val="0"/>
              </a:spcAft>
              <a:buClrTx/>
              <a:buSzTx/>
              <a:buFontTx/>
              <a:buNone/>
            </a:pPr>
            <a:endPar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12" name="TextBox 11"/>
          <p:cNvSpPr txBox="1"/>
          <p:nvPr/>
        </p:nvSpPr>
        <p:spPr>
          <a:xfrm>
            <a:off x="2009374" y="2178904"/>
            <a:ext cx="4675735" cy="460375"/>
          </a:xfrm>
          <a:prstGeom prst="rect">
            <a:avLst/>
          </a:prstGeom>
          <a:noFill/>
        </p:spPr>
        <p:txBody>
          <a:bodyPr wrap="square" rtlCol="0">
            <a:spAutoFit/>
          </a:bodyPr>
          <a:lstStyle/>
          <a:p>
            <a:r>
              <a:rPr lang="en-US" altLang="zh-CN" b="1" i="1" dirty="0" err="1" smtClean="0">
                <a:solidFill>
                  <a:srgbClr val="0000FF"/>
                </a:solidFill>
              </a:rPr>
              <a:t>d</a:t>
            </a:r>
            <a:r>
              <a:rPr lang="en-US" altLang="zh-CN" b="1" baseline="-25000" dirty="0" err="1" smtClean="0">
                <a:solidFill>
                  <a:srgbClr val="0000FF"/>
                </a:solidFill>
              </a:rPr>
              <a:t>fi</a:t>
            </a:r>
            <a:r>
              <a:rPr lang="en-US" altLang="zh-CN" b="1" baseline="-25000" dirty="0" smtClean="0">
                <a:solidFill>
                  <a:srgbClr val="0000FF"/>
                </a:solidFill>
              </a:rPr>
              <a:t> </a:t>
            </a:r>
            <a:r>
              <a:rPr lang="en-US" altLang="zh-CN" b="1" dirty="0" smtClean="0">
                <a:solidFill>
                  <a:srgbClr val="0000FF"/>
                </a:solidFill>
              </a:rPr>
              <a:t>= </a:t>
            </a:r>
            <a:r>
              <a:rPr lang="en-US" altLang="zh-CN" b="1" i="1" dirty="0" err="1" smtClean="0">
                <a:solidFill>
                  <a:srgbClr val="0000FF"/>
                </a:solidFill>
              </a:rPr>
              <a:t>d</a:t>
            </a:r>
            <a:r>
              <a:rPr lang="en-US" altLang="zh-CN" b="1" baseline="-25000" dirty="0" err="1" smtClean="0">
                <a:solidFill>
                  <a:srgbClr val="0000FF"/>
                </a:solidFill>
              </a:rPr>
              <a:t>a</a:t>
            </a:r>
            <a:r>
              <a:rPr lang="en-US" altLang="zh-CN" b="1" baseline="-25000" dirty="0" smtClean="0">
                <a:solidFill>
                  <a:srgbClr val="0000FF"/>
                </a:solidFill>
              </a:rPr>
              <a:t> </a:t>
            </a:r>
            <a:r>
              <a:rPr lang="en-US" altLang="zh-CN" b="1" dirty="0" smtClean="0">
                <a:solidFill>
                  <a:srgbClr val="0000FF"/>
                </a:solidFill>
              </a:rPr>
              <a:t>- </a:t>
            </a:r>
            <a:r>
              <a:rPr lang="en-US" altLang="zh-CN" b="1" i="1" dirty="0" smtClean="0">
                <a:solidFill>
                  <a:srgbClr val="0000FF"/>
                </a:solidFill>
              </a:rPr>
              <a:t>f</a:t>
            </a:r>
            <a:r>
              <a:rPr lang="zh-CN" altLang="en-US" b="1" baseline="-25000" dirty="0" smtClean="0">
                <a:solidFill>
                  <a:srgbClr val="0000FF"/>
                </a:solidFill>
              </a:rPr>
              <a:t>几何 </a:t>
            </a:r>
            <a:r>
              <a:rPr lang="zh-CN" altLang="en-US" b="1" dirty="0" smtClean="0">
                <a:solidFill>
                  <a:srgbClr val="0000FF"/>
                </a:solidFill>
              </a:rPr>
              <a:t>≥ </a:t>
            </a:r>
            <a:r>
              <a:rPr lang="en-US" altLang="zh-CN" b="1" i="1" dirty="0" err="1" smtClean="0">
                <a:solidFill>
                  <a:srgbClr val="0000FF"/>
                </a:solidFill>
              </a:rPr>
              <a:t>d</a:t>
            </a:r>
            <a:r>
              <a:rPr lang="en-US" altLang="zh-CN" b="1" baseline="-25000" dirty="0" err="1" smtClean="0">
                <a:solidFill>
                  <a:srgbClr val="0000FF"/>
                </a:solidFill>
              </a:rPr>
              <a:t>LV</a:t>
            </a:r>
            <a:r>
              <a:rPr lang="en-US" altLang="zh-CN" b="1" baseline="-25000" dirty="0" smtClean="0">
                <a:solidFill>
                  <a:srgbClr val="0000FF"/>
                </a:solidFill>
              </a:rPr>
              <a:t> </a:t>
            </a:r>
            <a:r>
              <a:rPr lang="en-US" altLang="zh-CN" b="1" dirty="0" smtClean="0">
                <a:solidFill>
                  <a:srgbClr val="0000FF"/>
                </a:solidFill>
              </a:rPr>
              <a:t>= </a:t>
            </a:r>
            <a:r>
              <a:rPr lang="en-US" altLang="zh-CN" b="1" i="1" dirty="0" err="1" smtClean="0">
                <a:solidFill>
                  <a:srgbClr val="0000FF"/>
                </a:solidFill>
              </a:rPr>
              <a:t>d</a:t>
            </a:r>
            <a:r>
              <a:rPr lang="en-US" altLang="zh-CN" b="1" baseline="-25000" dirty="0" err="1" smtClean="0">
                <a:solidFill>
                  <a:srgbClr val="0000FF"/>
                </a:solidFill>
              </a:rPr>
              <a:t>min</a:t>
            </a:r>
            <a:r>
              <a:rPr lang="en-US" altLang="zh-CN" b="1" baseline="-25000" dirty="0" smtClean="0">
                <a:solidFill>
                  <a:srgbClr val="0000FF"/>
                </a:solidFill>
              </a:rPr>
              <a:t> </a:t>
            </a:r>
            <a:r>
              <a:rPr lang="en-US" altLang="zh-CN" b="1" dirty="0" smtClean="0">
                <a:solidFill>
                  <a:srgbClr val="0000FF"/>
                </a:solidFill>
              </a:rPr>
              <a:t>- </a:t>
            </a:r>
            <a:r>
              <a:rPr lang="en-US" altLang="zh-CN" b="1" i="1" dirty="0" smtClean="0">
                <a:solidFill>
                  <a:srgbClr val="0000FF"/>
                </a:solidFill>
              </a:rPr>
              <a:t>t</a:t>
            </a:r>
            <a:r>
              <a:rPr lang="zh-CN" altLang="en-US" b="1" baseline="-25000" dirty="0" smtClean="0">
                <a:solidFill>
                  <a:srgbClr val="0000FF"/>
                </a:solidFill>
              </a:rPr>
              <a:t>几何</a:t>
            </a:r>
            <a:endParaRPr lang="zh-CN" altLang="en-US" b="1" baseline="-25000" dirty="0">
              <a:solidFill>
                <a:srgbClr val="0000FF"/>
              </a:solidFill>
            </a:endParaRPr>
          </a:p>
        </p:txBody>
      </p:sp>
      <p:sp>
        <p:nvSpPr>
          <p:cNvPr id="13" name="TextBox 12"/>
          <p:cNvSpPr txBox="1"/>
          <p:nvPr/>
        </p:nvSpPr>
        <p:spPr>
          <a:xfrm>
            <a:off x="2020901" y="2762890"/>
            <a:ext cx="2128478" cy="460375"/>
          </a:xfrm>
          <a:prstGeom prst="rect">
            <a:avLst/>
          </a:prstGeom>
          <a:noFill/>
        </p:spPr>
        <p:txBody>
          <a:bodyPr wrap="square" rtlCol="0">
            <a:spAutoFit/>
          </a:bodyPr>
          <a:lstStyle/>
          <a:p>
            <a:r>
              <a:rPr lang="en-US" altLang="zh-CN" b="1" i="1" dirty="0" err="1" smtClean="0">
                <a:solidFill>
                  <a:srgbClr val="0000FF"/>
                </a:solidFill>
              </a:rPr>
              <a:t>d</a:t>
            </a:r>
            <a:r>
              <a:rPr lang="en-US" altLang="zh-CN" b="1" baseline="-25000" dirty="0" err="1" smtClean="0">
                <a:solidFill>
                  <a:srgbClr val="0000FF"/>
                </a:solidFill>
              </a:rPr>
              <a:t>a</a:t>
            </a:r>
            <a:r>
              <a:rPr lang="en-US" altLang="zh-CN" b="1" baseline="-25000" dirty="0" smtClean="0">
                <a:solidFill>
                  <a:srgbClr val="0000FF"/>
                </a:solidFill>
              </a:rPr>
              <a:t> </a:t>
            </a:r>
            <a:r>
              <a:rPr lang="en-US" altLang="zh-CN" b="1" dirty="0" smtClean="0">
                <a:solidFill>
                  <a:srgbClr val="0000FF"/>
                </a:solidFill>
              </a:rPr>
              <a:t>≤ </a:t>
            </a:r>
            <a:r>
              <a:rPr lang="en-US" altLang="zh-CN" b="1" i="1" dirty="0" err="1" smtClean="0">
                <a:solidFill>
                  <a:srgbClr val="0000FF"/>
                </a:solidFill>
              </a:rPr>
              <a:t>d</a:t>
            </a:r>
            <a:r>
              <a:rPr lang="en-US" altLang="zh-CN" b="1" baseline="-25000" dirty="0" err="1" smtClean="0">
                <a:solidFill>
                  <a:srgbClr val="0000FF"/>
                </a:solidFill>
              </a:rPr>
              <a:t>M</a:t>
            </a:r>
            <a:r>
              <a:rPr lang="en-US" altLang="zh-CN" b="1" baseline="-25000" dirty="0" smtClean="0">
                <a:solidFill>
                  <a:srgbClr val="0000FF"/>
                </a:solidFill>
              </a:rPr>
              <a:t> </a:t>
            </a:r>
            <a:r>
              <a:rPr lang="en-US" altLang="zh-CN" b="1" dirty="0" smtClean="0">
                <a:solidFill>
                  <a:srgbClr val="0000FF"/>
                </a:solidFill>
              </a:rPr>
              <a:t>= </a:t>
            </a:r>
            <a:r>
              <a:rPr lang="en-US" altLang="zh-CN" b="1" i="1" dirty="0" err="1" smtClean="0">
                <a:solidFill>
                  <a:srgbClr val="0000FF"/>
                </a:solidFill>
              </a:rPr>
              <a:t>d</a:t>
            </a:r>
            <a:r>
              <a:rPr lang="en-US" altLang="zh-CN" b="1" baseline="-25000" dirty="0" err="1" smtClean="0">
                <a:solidFill>
                  <a:srgbClr val="0000FF"/>
                </a:solidFill>
              </a:rPr>
              <a:t>max</a:t>
            </a:r>
            <a:endParaRPr lang="zh-CN" altLang="en-US" b="1" baseline="-25000" dirty="0">
              <a:solidFill>
                <a:srgbClr val="0000FF"/>
              </a:solidFill>
            </a:endParaRPr>
          </a:p>
        </p:txBody>
      </p:sp>
      <p:pic>
        <p:nvPicPr>
          <p:cNvPr id="14" name="Picture 3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973054" y="2308876"/>
            <a:ext cx="381945" cy="3702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 name="Picture 3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324098" y="2306334"/>
            <a:ext cx="338337" cy="3250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6" name="左大括号 15"/>
          <p:cNvSpPr/>
          <p:nvPr/>
        </p:nvSpPr>
        <p:spPr bwMode="auto">
          <a:xfrm>
            <a:off x="1652067" y="2351794"/>
            <a:ext cx="422622" cy="791456"/>
          </a:xfrm>
          <a:prstGeom prst="leftBrace">
            <a:avLst/>
          </a:pr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50000"/>
              </a:spcBef>
              <a:spcAft>
                <a:spcPct val="0"/>
              </a:spcAft>
              <a:buClrTx/>
              <a:buSzTx/>
              <a:buFontTx/>
              <a:buNone/>
            </a:pPr>
            <a:endPar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17" name="TextBox 16"/>
          <p:cNvSpPr txBox="1"/>
          <p:nvPr/>
        </p:nvSpPr>
        <p:spPr>
          <a:xfrm>
            <a:off x="929768" y="2520843"/>
            <a:ext cx="664669" cy="460375"/>
          </a:xfrm>
          <a:prstGeom prst="rect">
            <a:avLst/>
          </a:prstGeom>
          <a:noFill/>
        </p:spPr>
        <p:txBody>
          <a:bodyPr wrap="square" rtlCol="0">
            <a:spAutoFit/>
          </a:bodyPr>
          <a:lstStyle/>
          <a:p>
            <a:r>
              <a:rPr lang="zh-CN" altLang="en-US" b="1" dirty="0" smtClean="0"/>
              <a:t>轴</a:t>
            </a:r>
            <a:endParaRPr lang="zh-CN" altLang="en-US" b="1" dirty="0"/>
          </a:p>
        </p:txBody>
      </p:sp>
      <p:sp>
        <p:nvSpPr>
          <p:cNvPr id="18" name="TextBox 17"/>
          <p:cNvSpPr txBox="1"/>
          <p:nvPr/>
        </p:nvSpPr>
        <p:spPr>
          <a:xfrm>
            <a:off x="960504" y="3888601"/>
            <a:ext cx="664669" cy="460375"/>
          </a:xfrm>
          <a:prstGeom prst="rect">
            <a:avLst/>
          </a:prstGeom>
          <a:noFill/>
        </p:spPr>
        <p:txBody>
          <a:bodyPr wrap="square" rtlCol="0">
            <a:spAutoFit/>
          </a:bodyPr>
          <a:lstStyle/>
          <a:p>
            <a:r>
              <a:rPr lang="zh-CN" altLang="en-US" b="1" dirty="0" smtClean="0"/>
              <a:t>孔</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4692"/>
                                        </p:tgtEl>
                                        <p:attrNameLst>
                                          <p:attrName>style.visibility</p:attrName>
                                        </p:attrNameLst>
                                      </p:cBhvr>
                                      <p:to>
                                        <p:strVal val="visible"/>
                                      </p:to>
                                    </p:set>
                                    <p:animEffect transition="in" filter="wipe(left)">
                                      <p:cBhvr>
                                        <p:cTn id="7" dur="300"/>
                                        <p:tgtEl>
                                          <p:spTgt spid="114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bldLvl="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01988" y="4452706"/>
            <a:ext cx="7265468" cy="1289264"/>
          </a:xfrm>
          <a:prstGeom prst="rect">
            <a:avLst/>
          </a:prstGeom>
        </p:spPr>
        <p:txBody>
          <a:bodyPr wrap="square">
            <a:spAutoFit/>
          </a:bodyPr>
          <a:lstStyle/>
          <a:p>
            <a:pPr>
              <a:lnSpc>
                <a:spcPts val="3200"/>
              </a:lnSpc>
            </a:pPr>
            <a:r>
              <a:rPr lang="zh-CN" altLang="en-US" b="1" dirty="0" smtClean="0"/>
              <a:t>        总而言之，在</a:t>
            </a:r>
            <a:r>
              <a:rPr lang="zh-CN" altLang="en-US" b="1" dirty="0"/>
              <a:t>保证功能要求的前提</a:t>
            </a:r>
            <a:r>
              <a:rPr lang="zh-CN" altLang="en-US" b="1" dirty="0" smtClean="0"/>
              <a:t>下，力求</a:t>
            </a:r>
            <a:r>
              <a:rPr lang="zh-CN" altLang="en-US" b="1" dirty="0"/>
              <a:t>最大限度地提高工艺性和</a:t>
            </a:r>
            <a:r>
              <a:rPr lang="zh-CN" altLang="en-US" b="1" dirty="0" smtClean="0"/>
              <a:t>经济性，这</a:t>
            </a:r>
            <a:r>
              <a:rPr lang="zh-CN" altLang="en-US" b="1" dirty="0"/>
              <a:t>是正确运用公差原则与公差要求的关键所在。</a:t>
            </a:r>
          </a:p>
        </p:txBody>
      </p:sp>
      <p:sp>
        <p:nvSpPr>
          <p:cNvPr id="8" name="矩形 7"/>
          <p:cNvSpPr/>
          <p:nvPr/>
        </p:nvSpPr>
        <p:spPr>
          <a:xfrm>
            <a:off x="638125" y="1474038"/>
            <a:ext cx="8053113" cy="1289264"/>
          </a:xfrm>
          <a:prstGeom prst="rect">
            <a:avLst/>
          </a:prstGeom>
        </p:spPr>
        <p:txBody>
          <a:bodyPr wrap="square">
            <a:spAutoFit/>
          </a:bodyPr>
          <a:lstStyle/>
          <a:p>
            <a:pPr>
              <a:lnSpc>
                <a:spcPts val="3200"/>
              </a:lnSpc>
            </a:pPr>
            <a:r>
              <a:rPr lang="zh-CN" altLang="en-US" b="1" dirty="0" smtClean="0"/>
              <a:t>       对于</a:t>
            </a:r>
            <a:r>
              <a:rPr lang="zh-CN" altLang="en-US" b="1" dirty="0"/>
              <a:t>只靠过盈传递扭矩的配合零件</a:t>
            </a:r>
            <a:r>
              <a:rPr lang="en-US" altLang="zh-CN" b="1" dirty="0"/>
              <a:t>,</a:t>
            </a:r>
            <a:r>
              <a:rPr lang="zh-CN" altLang="en-US" b="1" dirty="0"/>
              <a:t>无论在装配中孔、轴中心要素的几何误差发生了什么变化都必须保证一定的过盈量</a:t>
            </a:r>
            <a:r>
              <a:rPr lang="en-US" altLang="zh-CN" b="1" dirty="0"/>
              <a:t>,</a:t>
            </a:r>
            <a:r>
              <a:rPr lang="zh-CN" altLang="en-US" b="1" dirty="0"/>
              <a:t>此时应考虑孔、轴均应满足最小实体要求。</a:t>
            </a:r>
          </a:p>
        </p:txBody>
      </p:sp>
      <p:sp>
        <p:nvSpPr>
          <p:cNvPr id="9" name="矩形 8"/>
          <p:cNvSpPr/>
          <p:nvPr/>
        </p:nvSpPr>
        <p:spPr>
          <a:xfrm>
            <a:off x="983122" y="3209631"/>
            <a:ext cx="6917268" cy="869277"/>
          </a:xfrm>
          <a:prstGeom prst="rect">
            <a:avLst/>
          </a:prstGeom>
        </p:spPr>
        <p:txBody>
          <a:bodyPr wrap="square">
            <a:spAutoFit/>
          </a:bodyPr>
          <a:lstStyle/>
          <a:p>
            <a:pPr>
              <a:lnSpc>
                <a:spcPts val="3200"/>
              </a:lnSpc>
            </a:pPr>
            <a:r>
              <a:rPr lang="zh-CN" altLang="en-US" b="1" dirty="0" smtClean="0"/>
              <a:t>         应用</a:t>
            </a:r>
            <a:r>
              <a:rPr lang="zh-CN" altLang="en-US" b="1" dirty="0"/>
              <a:t>最小实体要求的目的是</a:t>
            </a:r>
            <a:r>
              <a:rPr lang="zh-CN" altLang="en-US" b="1" dirty="0">
                <a:solidFill>
                  <a:srgbClr val="FF0000"/>
                </a:solidFill>
              </a:rPr>
              <a:t>保证零件的最小壁厚和设计强度</a:t>
            </a:r>
            <a:r>
              <a:rPr lang="zh-CN" altLang="en-US" sz="2000" b="1" dirty="0"/>
              <a:t>。</a:t>
            </a:r>
            <a:endParaRPr lang="en-US" altLang="zh-CN" sz="2000" b="1" dirty="0"/>
          </a:p>
        </p:txBody>
      </p:sp>
      <p:cxnSp>
        <p:nvCxnSpPr>
          <p:cNvPr id="7" name="直接连接符 6"/>
          <p:cNvCxnSpPr/>
          <p:nvPr/>
        </p:nvCxnSpPr>
        <p:spPr bwMode="auto">
          <a:xfrm flipV="1">
            <a:off x="169049" y="955626"/>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 name="矩形 9"/>
          <p:cNvSpPr/>
          <p:nvPr/>
        </p:nvSpPr>
        <p:spPr>
          <a:xfrm>
            <a:off x="596604" y="357313"/>
            <a:ext cx="2967479" cy="461665"/>
          </a:xfrm>
          <a:prstGeom prst="rect">
            <a:avLst/>
          </a:prstGeom>
        </p:spPr>
        <p:txBody>
          <a:bodyPr wrap="none">
            <a:spAutoFit/>
          </a:bodyPr>
          <a:lstStyle/>
          <a:p>
            <a:r>
              <a:rPr lang="en-US" altLang="zh-CN" b="1" dirty="0" smtClean="0"/>
              <a:t>6. </a:t>
            </a:r>
            <a:r>
              <a:rPr lang="zh-CN" altLang="en-US" b="1" dirty="0" smtClean="0"/>
              <a:t>最小实体要求应用</a:t>
            </a:r>
            <a:endParaRPr lang="zh-CN" alt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18319" y="1266270"/>
            <a:ext cx="1768980" cy="523220"/>
          </a:xfrm>
          <a:prstGeom prst="rect">
            <a:avLst/>
          </a:prstGeom>
          <a:noFill/>
        </p:spPr>
        <p:txBody>
          <a:bodyPr wrap="square" rtlCol="0">
            <a:spAutoFit/>
          </a:bodyPr>
          <a:lstStyle/>
          <a:p>
            <a:r>
              <a:rPr lang="zh-CN" altLang="en-US" sz="2800" b="1" dirty="0" smtClean="0"/>
              <a:t>课后作业</a:t>
            </a:r>
            <a:endParaRPr lang="zh-CN" altLang="en-US" sz="2800" b="1" dirty="0"/>
          </a:p>
        </p:txBody>
      </p:sp>
      <p:sp>
        <p:nvSpPr>
          <p:cNvPr id="6" name="TextBox 5"/>
          <p:cNvSpPr txBox="1"/>
          <p:nvPr/>
        </p:nvSpPr>
        <p:spPr>
          <a:xfrm>
            <a:off x="2478280" y="2674834"/>
            <a:ext cx="3179036" cy="461665"/>
          </a:xfrm>
          <a:prstGeom prst="rect">
            <a:avLst/>
          </a:prstGeom>
          <a:noFill/>
        </p:spPr>
        <p:txBody>
          <a:bodyPr wrap="square" rtlCol="0">
            <a:spAutoFit/>
          </a:bodyPr>
          <a:lstStyle/>
          <a:p>
            <a:r>
              <a:rPr lang="zh-CN" altLang="en-US" b="1" dirty="0" smtClean="0"/>
              <a:t>作业题 </a:t>
            </a:r>
            <a:r>
              <a:rPr lang="en-US" altLang="zh-CN" b="1" dirty="0" smtClean="0"/>
              <a:t>3, 4, 5</a:t>
            </a:r>
            <a:endParaRPr lang="zh-CN" altLang="en-US" b="1" dirty="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2152</Words>
  <Application>Microsoft Office PowerPoint</Application>
  <PresentationFormat>全屏显示(4:3)</PresentationFormat>
  <Paragraphs>254</Paragraphs>
  <Slides>36</Slides>
  <Notes>6</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36</vt:i4>
      </vt:variant>
    </vt:vector>
  </HeadingPairs>
  <TitlesOfParts>
    <vt:vector size="39" baseType="lpstr">
      <vt:lpstr>默认设计模板</vt:lpstr>
      <vt:lpstr>公式</vt:lpstr>
      <vt:lpstr>Equation</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微软用户</cp:lastModifiedBy>
  <cp:revision>435</cp:revision>
  <dcterms:created xsi:type="dcterms:W3CDTF">2113-01-01T00:00:00Z</dcterms:created>
  <dcterms:modified xsi:type="dcterms:W3CDTF">2023-03-31T00:25:53Z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71EA8574BDAC4BCA96361194CE4AE201</vt:lpwstr>
  </property>
  <property fmtid="{D5CDD505-2E9C-101B-9397-08002B2CF9AE}" pid="3" name="KSOProductBuildVer">
    <vt:lpwstr>2052-11.1.0.11294</vt:lpwstr>
  </property>
</Properties>
</file>