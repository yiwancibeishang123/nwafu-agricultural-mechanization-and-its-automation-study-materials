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303" r:id="rId2"/>
    <p:sldId id="314" r:id="rId3"/>
    <p:sldId id="313" r:id="rId4"/>
    <p:sldId id="315" r:id="rId5"/>
    <p:sldId id="316" r:id="rId6"/>
    <p:sldId id="317" r:id="rId7"/>
    <p:sldId id="318" r:id="rId8"/>
    <p:sldId id="319" r:id="rId9"/>
    <p:sldId id="320" r:id="rId10"/>
    <p:sldId id="321" r:id="rId11"/>
    <p:sldId id="287" r:id="rId12"/>
    <p:sldId id="322" r:id="rId13"/>
    <p:sldId id="327" r:id="rId14"/>
    <p:sldId id="323" r:id="rId15"/>
    <p:sldId id="324" r:id="rId16"/>
    <p:sldId id="261" r:id="rId17"/>
    <p:sldId id="280" r:id="rId18"/>
    <p:sldId id="325" r:id="rId19"/>
    <p:sldId id="326" r:id="rId20"/>
    <p:sldId id="328" r:id="rId21"/>
    <p:sldId id="329" r:id="rId22"/>
    <p:sldId id="330" r:id="rId23"/>
    <p:sldId id="295" r:id="rId24"/>
    <p:sldId id="331" r:id="rId25"/>
    <p:sldId id="296" r:id="rId26"/>
    <p:sldId id="332" r:id="rId27"/>
    <p:sldId id="297" r:id="rId28"/>
    <p:sldId id="311" r:id="rId29"/>
    <p:sldId id="298" r:id="rId30"/>
    <p:sldId id="305" r:id="rId31"/>
    <p:sldId id="310" r:id="rId32"/>
    <p:sldId id="309" r:id="rId33"/>
    <p:sldId id="269" r:id="rId34"/>
    <p:sldId id="293" r:id="rId35"/>
    <p:sldId id="284" r:id="rId36"/>
    <p:sldId id="285" r:id="rId37"/>
    <p:sldId id="308" r:id="rId38"/>
    <p:sldId id="306" r:id="rId39"/>
    <p:sldId id="307" r:id="rId40"/>
  </p:sldIdLst>
  <p:sldSz cx="9144000" cy="6858000" type="screen4x3"/>
  <p:notesSz cx="6858000" cy="9144000"/>
  <p:defaultTextStyle>
    <a:defPPr>
      <a:defRPr lang="zh-CN"/>
    </a:defPPr>
    <a:lvl1pPr algn="ctr"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0"/>
      </p:ext>
    </p:extLst>
  </p:showPr>
  <p:clrMru>
    <a:srgbClr val="FFCCFF"/>
    <a:srgbClr val="FFFFCC"/>
    <a:srgbClr val="FFFF99"/>
    <a:srgbClr val="008000"/>
    <a:srgbClr val="993300"/>
    <a:srgbClr val="FF0000"/>
    <a:srgbClr val="9900CC"/>
    <a:srgbClr val="FF99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36" autoAdjust="0"/>
    <p:restoredTop sz="87662" autoAdjust="0"/>
  </p:normalViewPr>
  <p:slideViewPr>
    <p:cSldViewPr>
      <p:cViewPr varScale="1">
        <p:scale>
          <a:sx n="99" d="100"/>
          <a:sy n="99" d="100"/>
        </p:scale>
        <p:origin x="-1512" y="-102"/>
      </p:cViewPr>
      <p:guideLst>
        <p:guide orient="horz" pos="4320"/>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49.wmf"/><Relationship Id="rId4"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a:lvl1pPr>
          </a:lstStyle>
          <a:p>
            <a:pPr>
              <a:defRPr/>
            </a:pPr>
            <a:endParaRPr lang="en-US" altLang="zh-CN"/>
          </a:p>
        </p:txBody>
      </p:sp>
      <p:sp>
        <p:nvSpPr>
          <p:cNvPr id="1433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sp>
      <p:sp>
        <p:nvSpPr>
          <p:cNvPr id="1434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434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a:lvl1pPr>
          </a:lstStyle>
          <a:p>
            <a:pPr>
              <a:defRPr/>
            </a:pPr>
            <a:endParaRPr lang="en-US" altLang="zh-CN"/>
          </a:p>
        </p:txBody>
      </p:sp>
      <p:sp>
        <p:nvSpPr>
          <p:cNvPr id="1434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19898B99-F894-48E0-84AC-9BF5C3DFC1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dirty="0" smtClean="0"/>
              <a:t>（</a:t>
            </a:r>
            <a:r>
              <a:rPr lang="en-US" altLang="zh-CN" sz="1200" b="1" dirty="0" smtClean="0"/>
              <a:t>1</a:t>
            </a:r>
            <a:r>
              <a:rPr lang="zh-CN" altLang="en-US" sz="1200" b="1" dirty="0" smtClean="0"/>
              <a:t>）</a:t>
            </a:r>
            <a:r>
              <a:rPr lang="zh-CN" altLang="en-US" sz="1200" b="1" dirty="0" smtClean="0">
                <a:solidFill>
                  <a:srgbClr val="FF0000"/>
                </a:solidFill>
              </a:rPr>
              <a:t>孔</a:t>
            </a:r>
            <a:r>
              <a:rPr lang="zh-CN" altLang="en-US" sz="1200" b="1" dirty="0" smtClean="0"/>
              <a:t>通常是指圆柱形的</a:t>
            </a:r>
            <a:r>
              <a:rPr lang="zh-CN" altLang="en-US" sz="1200" b="1" dirty="0" smtClean="0">
                <a:solidFill>
                  <a:srgbClr val="FF0000"/>
                </a:solidFill>
              </a:rPr>
              <a:t>内表面</a:t>
            </a:r>
            <a:r>
              <a:rPr lang="zh-CN" altLang="en-US" sz="1200" b="1" dirty="0" smtClean="0"/>
              <a:t>，也包括非圆柱形的</a:t>
            </a:r>
            <a:r>
              <a:rPr lang="zh-CN" altLang="en-US" sz="1200" b="1" dirty="0" smtClean="0">
                <a:solidFill>
                  <a:srgbClr val="FF0000"/>
                </a:solidFill>
              </a:rPr>
              <a:t>内表面</a:t>
            </a:r>
            <a:r>
              <a:rPr lang="en-US" altLang="zh-CN" sz="1200" b="1" dirty="0" smtClean="0"/>
              <a:t>[</a:t>
            </a:r>
            <a:r>
              <a:rPr lang="zh-CN" altLang="en-US" sz="1200" b="1" dirty="0" smtClean="0"/>
              <a:t>由二平行平面或切平面形成的</a:t>
            </a:r>
            <a:r>
              <a:rPr lang="zh-CN" altLang="en-US" sz="1200" b="1" dirty="0" smtClean="0">
                <a:solidFill>
                  <a:srgbClr val="FF0000"/>
                </a:solidFill>
              </a:rPr>
              <a:t>包容面</a:t>
            </a:r>
            <a:r>
              <a:rPr lang="en-US" altLang="zh-CN" sz="1200" b="1" dirty="0" smtClean="0"/>
              <a:t>]</a:t>
            </a:r>
            <a:r>
              <a:rPr lang="zh-CN" altLang="en-US" sz="1200" b="1" dirty="0" smtClean="0"/>
              <a:t>。</a:t>
            </a:r>
            <a:endParaRPr lang="en-US" altLang="zh-CN" sz="1200" b="1" dirty="0" smtClean="0"/>
          </a:p>
          <a:p>
            <a:r>
              <a:rPr lang="en-US" altLang="zh-CN" sz="1200" b="1" dirty="0" smtClean="0"/>
              <a:t> </a:t>
            </a:r>
            <a:r>
              <a:rPr lang="en-US" altLang="zh-CN" sz="1200" b="1" dirty="0" smtClean="0">
                <a:latin typeface="宋体" panose="02010600030101010101" pitchFamily="2" charset="-122"/>
              </a:rPr>
              <a:t>(2)</a:t>
            </a:r>
            <a:r>
              <a:rPr lang="zh-CN" altLang="en-US" sz="1200" b="1" dirty="0" smtClean="0">
                <a:solidFill>
                  <a:srgbClr val="FF0000"/>
                </a:solidFill>
              </a:rPr>
              <a:t>轴</a:t>
            </a:r>
            <a:r>
              <a:rPr lang="zh-CN" altLang="en-US" sz="1200" b="1" dirty="0" smtClean="0"/>
              <a:t>通常是指圆柱形的</a:t>
            </a:r>
            <a:r>
              <a:rPr lang="zh-CN" altLang="en-US" sz="1200" b="1" dirty="0" smtClean="0">
                <a:solidFill>
                  <a:srgbClr val="FF0000"/>
                </a:solidFill>
              </a:rPr>
              <a:t>外表面</a:t>
            </a:r>
            <a:r>
              <a:rPr lang="zh-CN" altLang="en-US" sz="1200" b="1" dirty="0" smtClean="0"/>
              <a:t>，也包括非圆柱形的</a:t>
            </a:r>
            <a:r>
              <a:rPr lang="zh-CN" altLang="en-US" sz="1200" b="1" dirty="0" smtClean="0">
                <a:solidFill>
                  <a:srgbClr val="FF0000"/>
                </a:solidFill>
              </a:rPr>
              <a:t>外表面</a:t>
            </a:r>
            <a:r>
              <a:rPr lang="en-US" altLang="zh-CN" sz="1200" b="1" dirty="0" smtClean="0"/>
              <a:t>[</a:t>
            </a:r>
            <a:r>
              <a:rPr lang="zh-CN" altLang="en-US" sz="1200" b="1" dirty="0" smtClean="0"/>
              <a:t>由二平行平面或切平面形成的</a:t>
            </a:r>
            <a:r>
              <a:rPr lang="zh-CN" altLang="en-US" sz="1200" b="1" dirty="0" smtClean="0">
                <a:solidFill>
                  <a:srgbClr val="FF0000"/>
                </a:solidFill>
              </a:rPr>
              <a:t>被包容面</a:t>
            </a:r>
            <a:r>
              <a:rPr lang="en-US" altLang="zh-CN" sz="1200" b="1" dirty="0" smtClean="0"/>
              <a:t>]</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dirty="0" smtClean="0"/>
              <a:t>为了满足孔、轴结合的使用要求，以保证零、部件的互换性，并考虑便于国际交流，所以我国的</a:t>
            </a:r>
            <a:r>
              <a:rPr lang="en-US" altLang="zh-CN" sz="1200" b="1" dirty="0" smtClean="0"/>
              <a:t>《</a:t>
            </a:r>
            <a:r>
              <a:rPr lang="zh-CN" altLang="en-US" sz="1200" b="1" dirty="0" smtClean="0"/>
              <a:t>极限与配合</a:t>
            </a:r>
            <a:r>
              <a:rPr lang="en-US" altLang="zh-CN" sz="1200" b="1" dirty="0" smtClean="0"/>
              <a:t>》</a:t>
            </a:r>
            <a:r>
              <a:rPr lang="zh-CN" altLang="en-US" sz="1200" b="1" dirty="0" smtClean="0"/>
              <a:t>标准采用国际公差制。</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b="1" dirty="0" smtClean="0">
                <a:latin typeface="宋体" panose="02010600030101010101" pitchFamily="2" charset="-122"/>
              </a:rPr>
              <a:t>(1)</a:t>
            </a:r>
            <a:r>
              <a:rPr lang="zh-CN" altLang="en-US" sz="1200" b="1" dirty="0" smtClean="0">
                <a:latin typeface="宋体" panose="02010600030101010101" pitchFamily="2" charset="-122"/>
              </a:rPr>
              <a:t>一般情况，尺寸只表示长度量（线值），如直径、半径、长度、宽度、深度、高度、厚度及中心距等。</a:t>
            </a:r>
            <a:endParaRPr lang="en-US" altLang="zh-CN" sz="1200" b="1" dirty="0" smtClean="0">
              <a:latin typeface="宋体" panose="02010600030101010101" pitchFamily="2" charset="-122"/>
            </a:endParaRPr>
          </a:p>
          <a:p>
            <a:r>
              <a:rPr lang="en-US" altLang="zh-CN" sz="1200" b="1" dirty="0" smtClean="0">
                <a:latin typeface="宋体" panose="02010600030101010101" pitchFamily="2" charset="-122"/>
              </a:rPr>
              <a:t>(2)</a:t>
            </a:r>
            <a:r>
              <a:rPr lang="zh-CN" altLang="en-US" b="1" dirty="0" smtClean="0"/>
              <a:t>设计人员根据使用要求，通过强度、刚度的计算或按结构位置确定后取标准值的尺寸。</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5</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b="1" dirty="0" smtClean="0"/>
              <a:t>具有</a:t>
            </a:r>
            <a:r>
              <a:rPr lang="zh-CN" altLang="en-US" b="1" dirty="0" smtClean="0">
                <a:solidFill>
                  <a:srgbClr val="FF0000"/>
                </a:solidFill>
              </a:rPr>
              <a:t>间隙</a:t>
            </a:r>
            <a:r>
              <a:rPr lang="zh-CN" altLang="en-US" b="1" dirty="0" smtClean="0"/>
              <a:t>（</a:t>
            </a:r>
            <a:r>
              <a:rPr lang="zh-CN" altLang="en-US" b="1" dirty="0" smtClean="0">
                <a:solidFill>
                  <a:schemeClr val="tx2"/>
                </a:solidFill>
              </a:rPr>
              <a:t>包括最小间隙等于零</a:t>
            </a:r>
            <a:r>
              <a:rPr lang="zh-CN" altLang="en-US" b="1" dirty="0" smtClean="0"/>
              <a:t>）的配合。</a:t>
            </a:r>
          </a:p>
          <a:p>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22</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1" dirty="0" smtClean="0">
                <a:cs typeface="Times New Roman" panose="02020603050405020304" pitchFamily="18" charset="0"/>
              </a:rPr>
              <a:t>—</a:t>
            </a:r>
            <a:r>
              <a:rPr lang="zh-CN" altLang="en-US" b="1" dirty="0" smtClean="0"/>
              <a:t>具有</a:t>
            </a:r>
            <a:r>
              <a:rPr lang="zh-CN" altLang="en-US" b="1" dirty="0" smtClean="0">
                <a:solidFill>
                  <a:srgbClr val="FF0000"/>
                </a:solidFill>
              </a:rPr>
              <a:t>过盈</a:t>
            </a:r>
            <a:r>
              <a:rPr lang="zh-CN" altLang="en-US" b="1" dirty="0" smtClean="0"/>
              <a:t>（</a:t>
            </a:r>
            <a:r>
              <a:rPr lang="zh-CN" altLang="en-US" b="1" dirty="0" smtClean="0">
                <a:solidFill>
                  <a:schemeClr val="tx2"/>
                </a:solidFill>
              </a:rPr>
              <a:t>包括最小过盈等于零</a:t>
            </a:r>
            <a:r>
              <a:rPr lang="zh-CN" altLang="en-US" b="1" dirty="0" smtClean="0"/>
              <a:t>）的配合。 </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24</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smtClean="0"/>
              <a:t>可能具有</a:t>
            </a:r>
            <a:r>
              <a:rPr lang="zh-CN" altLang="en-US" b="1" dirty="0" smtClean="0">
                <a:solidFill>
                  <a:srgbClr val="FF0000"/>
                </a:solidFill>
              </a:rPr>
              <a:t>间隙</a:t>
            </a:r>
            <a:r>
              <a:rPr lang="zh-CN" altLang="en-US" b="1" dirty="0" smtClean="0"/>
              <a:t>或</a:t>
            </a:r>
            <a:r>
              <a:rPr lang="zh-CN" altLang="en-US" b="1" dirty="0" smtClean="0">
                <a:solidFill>
                  <a:srgbClr val="FF0000"/>
                </a:solidFill>
              </a:rPr>
              <a:t>过盈</a:t>
            </a:r>
            <a:r>
              <a:rPr lang="zh-CN" altLang="en-US" b="1" dirty="0" smtClean="0"/>
              <a:t>的配合，即公差带</a:t>
            </a:r>
            <a:r>
              <a:rPr lang="zh-CN" altLang="en-US" b="1" dirty="0" smtClean="0">
                <a:solidFill>
                  <a:srgbClr val="FF0000"/>
                </a:solidFill>
              </a:rPr>
              <a:t>重叠</a:t>
            </a:r>
            <a:r>
              <a:rPr lang="zh-CN" altLang="en-US" b="1" dirty="0" smtClean="0"/>
              <a:t>。</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26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smtClean="0"/>
              <a:t>基本偏差为一定的</a:t>
            </a:r>
            <a:r>
              <a:rPr lang="zh-CN" altLang="en-US" b="1" dirty="0" smtClean="0">
                <a:solidFill>
                  <a:srgbClr val="FF0000"/>
                </a:solidFill>
              </a:rPr>
              <a:t>孔的公差带</a:t>
            </a:r>
            <a:r>
              <a:rPr lang="zh-CN" altLang="en-US" b="1" dirty="0" smtClean="0"/>
              <a:t>，与不同基本偏差的轴的公差带形成各种配合的一种制度。 </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31</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smtClean="0"/>
              <a:t>基本偏差为一定的轴的公差带，与不同基本偏差的孔的公差带形成各种配合的一种制度。</a:t>
            </a:r>
            <a:r>
              <a:rPr lang="zh-CN" altLang="en-US" sz="1100" b="1" dirty="0" smtClean="0"/>
              <a:t> </a:t>
            </a:r>
            <a:endParaRPr lang="zh-CN" altLang="en-US" dirty="0"/>
          </a:p>
        </p:txBody>
      </p:sp>
      <p:sp>
        <p:nvSpPr>
          <p:cNvPr id="4" name="灯片编号占位符 3"/>
          <p:cNvSpPr>
            <a:spLocks noGrp="1"/>
          </p:cNvSpPr>
          <p:nvPr>
            <p:ph type="sldNum" sz="quarter" idx="10"/>
          </p:nvPr>
        </p:nvSpPr>
        <p:spPr/>
        <p:txBody>
          <a:bodyPr/>
          <a:lstStyle/>
          <a:p>
            <a:pPr>
              <a:defRPr/>
            </a:pPr>
            <a:fld id="{19898B99-F894-48E0-84AC-9BF5C3DFC1C8}" type="slidenum">
              <a:rPr lang="en-US" altLang="zh-CN" smtClean="0"/>
              <a:pPr>
                <a:defRPr/>
              </a:pPr>
              <a:t>32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576" y="1484784"/>
            <a:ext cx="7772400" cy="1470025"/>
          </a:xfrm>
        </p:spPr>
        <p:txBody>
          <a:body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1371600" y="3573016"/>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dirty="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19BEC5B-812E-4721-8937-1722FA7AC312}" type="slidenum">
              <a:rPr lang="en-US" altLang="zh-CN" smtClean="0"/>
              <a:pPr>
                <a:defRPr/>
              </a:pPr>
              <a:t>‹#›</a:t>
            </a:fld>
            <a:endParaRPr lang="en-US" altLang="zh-CN"/>
          </a:p>
        </p:txBody>
      </p:sp>
      <p:sp>
        <p:nvSpPr>
          <p:cNvPr id="8" name="圆角矩形 7"/>
          <p:cNvSpPr/>
          <p:nvPr/>
        </p:nvSpPr>
        <p:spPr>
          <a:xfrm>
            <a:off x="755576" y="3140968"/>
            <a:ext cx="7776000" cy="144016"/>
          </a:xfrm>
          <a:prstGeom prst="roundRect">
            <a:avLst/>
          </a:prstGeom>
          <a:solidFill>
            <a:srgbClr val="FF3300"/>
          </a:solidFill>
          <a:ln>
            <a:solidFill>
              <a:srgbClr val="FFFF00"/>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cap="none"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自制">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7283152" cy="706090"/>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xfrm>
            <a:off x="251520" y="6565285"/>
            <a:ext cx="1224136" cy="258999"/>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580365"/>
            <a:ext cx="2895600" cy="260226"/>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7236296" y="6583493"/>
            <a:ext cx="1450504" cy="274507"/>
          </a:xfrm>
        </p:spPr>
        <p:txBody>
          <a:bodyPr/>
          <a:lstStyle>
            <a:lvl1pPr>
              <a:defRPr/>
            </a:lvl1pPr>
          </a:lstStyle>
          <a:p>
            <a:pPr>
              <a:defRPr/>
            </a:pPr>
            <a:fld id="{DF706AF3-E599-4E45-9C0A-0233A6CADAF3}" type="slidenum">
              <a:rPr lang="en-US" altLang="zh-CN" smtClean="0"/>
              <a:pPr>
                <a:defRPr/>
              </a:pPr>
              <a:t>‹#›</a:t>
            </a:fld>
            <a:endParaRPr lang="en-US" altLang="zh-CN"/>
          </a:p>
        </p:txBody>
      </p:sp>
      <p:cxnSp>
        <p:nvCxnSpPr>
          <p:cNvPr id="7" name="直接连接符 6"/>
          <p:cNvCxnSpPr/>
          <p:nvPr/>
        </p:nvCxnSpPr>
        <p:spPr>
          <a:xfrm>
            <a:off x="467544" y="980728"/>
            <a:ext cx="8280000" cy="0"/>
          </a:xfrm>
          <a:prstGeom prst="line">
            <a:avLst/>
          </a:prstGeom>
          <a:ln w="76200">
            <a:solidFill>
              <a:srgbClr val="AFD24E"/>
            </a:solidFill>
          </a:ln>
          <a:effectLst>
            <a:glow rad="228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67544" y="6597352"/>
            <a:ext cx="8280000" cy="0"/>
          </a:xfrm>
          <a:prstGeom prst="line">
            <a:avLst/>
          </a:prstGeom>
          <a:ln w="38100">
            <a:solidFill>
              <a:srgbClr val="AFD24E"/>
            </a:solidFill>
          </a:ln>
          <a:effectLst>
            <a:glow rad="228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DDDDC622-0D23-4916-880F-6D2CB2176601}" type="slidenum">
              <a:rPr lang="en-US" altLang="zh-CN"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C7372029-24E9-41EC-BBCD-3C21C51BA039}"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ja-JP" smtClean="0"/>
          </a:p>
        </p:txBody>
      </p:sp>
      <p:sp>
        <p:nvSpPr>
          <p:cNvPr id="7171" name="Rectangle 3"/>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ja-JP" smtClean="0"/>
          </a:p>
        </p:txBody>
      </p:sp>
      <p:sp>
        <p:nvSpPr>
          <p:cNvPr id="129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kumimoji="1" sz="1400" smtClean="0">
                <a:ea typeface="+mn-ea"/>
              </a:defRPr>
            </a:lvl1pPr>
          </a:lstStyle>
          <a:p>
            <a:pPr>
              <a:defRPr/>
            </a:pPr>
            <a:endParaRPr lang="en-US" altLang="zh-CN"/>
          </a:p>
        </p:txBody>
      </p:sp>
      <p:sp>
        <p:nvSpPr>
          <p:cNvPr id="129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kumimoji="1" sz="1400" smtClean="0">
                <a:ea typeface="+mn-ea"/>
              </a:defRPr>
            </a:lvl1pPr>
          </a:lstStyle>
          <a:p>
            <a:pPr>
              <a:defRPr/>
            </a:pPr>
            <a:endParaRPr lang="en-US" altLang="zh-CN"/>
          </a:p>
        </p:txBody>
      </p:sp>
      <p:sp>
        <p:nvSpPr>
          <p:cNvPr id="129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kumimoji="1" sz="1400" smtClean="0">
                <a:ea typeface="+mn-ea"/>
              </a:defRPr>
            </a:lvl1pPr>
          </a:lstStyle>
          <a:p>
            <a:pPr>
              <a:defRPr/>
            </a:pPr>
            <a:fld id="{DF706AF3-E599-4E45-9C0A-0233A6CADAF3}"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1" fontAlgn="base" hangingPunct="1">
        <a:spcBef>
          <a:spcPct val="0"/>
        </a:spcBef>
        <a:spcAft>
          <a:spcPct val="0"/>
        </a:spcAft>
        <a:defRPr kumimoji="1" sz="4400">
          <a:solidFill>
            <a:schemeClr val="tx2"/>
          </a:solidFill>
          <a:latin typeface="+mj-lt"/>
          <a:ea typeface="+mj-ea"/>
          <a:cs typeface="+mj-cs"/>
        </a:defRPr>
      </a:lvl1pPr>
      <a:lvl2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2pPr>
      <a:lvl3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3pPr>
      <a:lvl4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4pPr>
      <a:lvl5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5pPr>
      <a:lvl6pPr marL="4572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6pPr>
      <a:lvl7pPr marL="9144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7pPr>
      <a:lvl8pPr marL="13716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8pPr>
      <a:lvl9pPr marL="18288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29.wmf"/><Relationship Id="rId4" Type="http://schemas.openxmlformats.org/officeDocument/2006/relationships/image" Target="../media/image28.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2.bin"/><Relationship Id="rId5" Type="http://schemas.openxmlformats.org/officeDocument/2006/relationships/image" Target="../media/image37.wmf"/><Relationship Id="rId4" Type="http://schemas.openxmlformats.org/officeDocument/2006/relationships/image" Target="../media/image36.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oleObject" Target="../embeddings/oleObject27.bin"/><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9.bin"/><Relationship Id="rId5" Type="http://schemas.openxmlformats.org/officeDocument/2006/relationships/oleObject" Target="../embeddings/oleObject28.bin"/><Relationship Id="rId4" Type="http://schemas.openxmlformats.org/officeDocument/2006/relationships/image" Target="../media/image44.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oleObject" Target="../embeddings/oleObject34.bin"/><Relationship Id="rId2" Type="http://schemas.openxmlformats.org/officeDocument/2006/relationships/slideLayout" Target="../slideLayouts/slideLayout3.xml"/><Relationship Id="rId1" Type="http://schemas.openxmlformats.org/officeDocument/2006/relationships/vmlDrawing" Target="../drawings/vmlDrawing12.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8.bin"/><Relationship Id="rId5" Type="http://schemas.openxmlformats.org/officeDocument/2006/relationships/oleObject" Target="../embeddings/oleObject37.bin"/><Relationship Id="rId4" Type="http://schemas.openxmlformats.org/officeDocument/2006/relationships/oleObject" Target="../embeddings/oleObject36.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oleObject" Target="../embeddings/oleObject4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7.bin"/><Relationship Id="rId2" Type="http://schemas.openxmlformats.org/officeDocument/2006/relationships/slideLayout" Target="../slideLayouts/slideLayout3.xml"/><Relationship Id="rId1" Type="http://schemas.openxmlformats.org/officeDocument/2006/relationships/vmlDrawing" Target="../drawings/vmlDrawing15.vml"/><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oleObject" Target="../embeddings/oleObject44.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a:t>
            </a:fld>
            <a:endParaRPr lang="en-US" altLang="zh-CN"/>
          </a:p>
        </p:txBody>
      </p:sp>
      <p:sp>
        <p:nvSpPr>
          <p:cNvPr id="5" name="Text Box 3"/>
          <p:cNvSpPr txBox="1">
            <a:spLocks noChangeArrowheads="1"/>
          </p:cNvSpPr>
          <p:nvPr/>
        </p:nvSpPr>
        <p:spPr bwMode="auto">
          <a:xfrm>
            <a:off x="1928794" y="304800"/>
            <a:ext cx="5934092"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dirty="0">
                <a:latin typeface="宋体" panose="02010600030101010101" pitchFamily="2" charset="-122"/>
              </a:rPr>
              <a:t>第</a:t>
            </a:r>
            <a:r>
              <a:rPr lang="en-US" altLang="zh-CN" sz="3200" b="1" dirty="0">
                <a:latin typeface="宋体" panose="02010600030101010101" pitchFamily="2" charset="-122"/>
              </a:rPr>
              <a:t>3</a:t>
            </a:r>
            <a:r>
              <a:rPr lang="zh-CN" altLang="en-US" sz="3200" b="1" dirty="0">
                <a:latin typeface="宋体" panose="02010600030101010101" pitchFamily="2" charset="-122"/>
              </a:rPr>
              <a:t>章 </a:t>
            </a:r>
            <a:r>
              <a:rPr lang="zh-CN" altLang="en-US" sz="3200" b="1" dirty="0" smtClean="0">
                <a:latin typeface="宋体" panose="02010600030101010101" pitchFamily="2" charset="-122"/>
              </a:rPr>
              <a:t> 尺寸</a:t>
            </a:r>
            <a:r>
              <a:rPr lang="zh-CN" altLang="en-US" sz="3200" b="1" dirty="0">
                <a:latin typeface="宋体" panose="02010600030101010101" pitchFamily="2" charset="-122"/>
              </a:rPr>
              <a:t>精度设计与检测</a:t>
            </a:r>
            <a:endParaRPr lang="zh-CN" altLang="en-US" sz="3200" dirty="0">
              <a:latin typeface="宋体" panose="02010600030101010101" pitchFamily="2" charset="-122"/>
            </a:endParaRPr>
          </a:p>
        </p:txBody>
      </p:sp>
      <p:sp>
        <p:nvSpPr>
          <p:cNvPr id="6" name="Rectangle 7"/>
          <p:cNvSpPr>
            <a:spLocks noChangeArrowheads="1"/>
          </p:cNvSpPr>
          <p:nvPr/>
        </p:nvSpPr>
        <p:spPr bwMode="auto">
          <a:xfrm>
            <a:off x="2557474" y="1037680"/>
            <a:ext cx="36576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dirty="0"/>
              <a:t>     3.1   </a:t>
            </a:r>
            <a:r>
              <a:rPr lang="zh-CN" altLang="en-US" b="1" dirty="0"/>
              <a:t>概      述</a:t>
            </a:r>
          </a:p>
        </p:txBody>
      </p:sp>
      <p:sp>
        <p:nvSpPr>
          <p:cNvPr id="7" name="矩形 1"/>
          <p:cNvSpPr>
            <a:spLocks noChangeArrowheads="1"/>
          </p:cNvSpPr>
          <p:nvPr/>
        </p:nvSpPr>
        <p:spPr bwMode="auto">
          <a:xfrm>
            <a:off x="611188" y="1500174"/>
            <a:ext cx="5905500"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l"/>
            <a:r>
              <a:rPr lang="en-US" altLang="zh-CN" sz="2400" b="1" dirty="0"/>
              <a:t>3.1.1   </a:t>
            </a:r>
            <a:r>
              <a:rPr lang="zh-CN" altLang="en-US" sz="2400" b="1" dirty="0"/>
              <a:t>孔与轴的概念</a:t>
            </a:r>
            <a:endParaRPr lang="zh-CN" altLang="en-US" sz="2400" dirty="0"/>
          </a:p>
        </p:txBody>
      </p:sp>
      <p:sp>
        <p:nvSpPr>
          <p:cNvPr id="8" name="Text Box 9"/>
          <p:cNvSpPr txBox="1">
            <a:spLocks noChangeArrowheads="1"/>
          </p:cNvSpPr>
          <p:nvPr/>
        </p:nvSpPr>
        <p:spPr bwMode="auto">
          <a:xfrm>
            <a:off x="536577" y="2449998"/>
            <a:ext cx="8107389" cy="443391"/>
          </a:xfrm>
          <a:prstGeom prst="rect">
            <a:avLst/>
          </a:prstGeom>
          <a:noFill/>
          <a:ln w="9525">
            <a:solidFill>
              <a:schemeClr val="bg1"/>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ts val="2875"/>
              </a:lnSpc>
              <a:spcBef>
                <a:spcPct val="50000"/>
              </a:spcBef>
            </a:pPr>
            <a:r>
              <a:rPr lang="en-US" altLang="zh-CN" sz="2400" b="1" dirty="0"/>
              <a:t> </a:t>
            </a:r>
            <a:endParaRPr lang="zh-CN" altLang="en-US" sz="2400" b="1" dirty="0"/>
          </a:p>
        </p:txBody>
      </p:sp>
      <p:sp>
        <p:nvSpPr>
          <p:cNvPr id="9" name="Rectangle 28"/>
          <p:cNvSpPr>
            <a:spLocks noChangeArrowheads="1"/>
          </p:cNvSpPr>
          <p:nvPr/>
        </p:nvSpPr>
        <p:spPr bwMode="auto">
          <a:xfrm>
            <a:off x="774700" y="1958925"/>
            <a:ext cx="4502150"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宋体" panose="02010600030101010101" pitchFamily="2" charset="-122"/>
              </a:rPr>
              <a:t>1.</a:t>
            </a:r>
            <a:r>
              <a:rPr lang="zh-CN" altLang="en-US" sz="2400" b="1" dirty="0">
                <a:latin typeface="宋体" panose="02010600030101010101" pitchFamily="2" charset="-122"/>
              </a:rPr>
              <a:t>孔和轴的定义</a:t>
            </a:r>
            <a:endParaRPr lang="en-US" altLang="zh-CN" sz="2400" b="1" dirty="0"/>
          </a:p>
        </p:txBody>
      </p:sp>
      <p:pic>
        <p:nvPicPr>
          <p:cNvPr id="10" name="Picture 2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15008" y="1622430"/>
            <a:ext cx="2614612" cy="25733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11" name="Group 62"/>
          <p:cNvGrpSpPr/>
          <p:nvPr/>
        </p:nvGrpSpPr>
        <p:grpSpPr bwMode="auto">
          <a:xfrm>
            <a:off x="3428992" y="1928802"/>
            <a:ext cx="1650997" cy="1738310"/>
            <a:chOff x="240" y="1824"/>
            <a:chExt cx="1920" cy="1872"/>
          </a:xfrm>
        </p:grpSpPr>
        <p:sp>
          <p:nvSpPr>
            <p:cNvPr id="12" name="AutoShape 55"/>
            <p:cNvSpPr>
              <a:spLocks noChangeArrowheads="1"/>
            </p:cNvSpPr>
            <p:nvPr/>
          </p:nvSpPr>
          <p:spPr bwMode="auto">
            <a:xfrm>
              <a:off x="384" y="2016"/>
              <a:ext cx="1632" cy="1536"/>
            </a:xfrm>
            <a:custGeom>
              <a:avLst/>
              <a:gdLst>
                <a:gd name="T0" fmla="*/ 5 w 21600"/>
                <a:gd name="T1" fmla="*/ 0 h 21600"/>
                <a:gd name="T2" fmla="*/ 1 w 21600"/>
                <a:gd name="T3" fmla="*/ 1 h 21600"/>
                <a:gd name="T4" fmla="*/ 0 w 21600"/>
                <a:gd name="T5" fmla="*/ 4 h 21600"/>
                <a:gd name="T6" fmla="*/ 1 w 21600"/>
                <a:gd name="T7" fmla="*/ 7 h 21600"/>
                <a:gd name="T8" fmla="*/ 5 w 21600"/>
                <a:gd name="T9" fmla="*/ 8 h 21600"/>
                <a:gd name="T10" fmla="*/ 8 w 21600"/>
                <a:gd name="T11" fmla="*/ 7 h 21600"/>
                <a:gd name="T12" fmla="*/ 9 w 21600"/>
                <a:gd name="T13" fmla="*/ 4 h 21600"/>
                <a:gd name="T14" fmla="*/ 8 w 21600"/>
                <a:gd name="T15" fmla="*/ 1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4 h 21600"/>
                <a:gd name="T26" fmla="*/ 18437 w 21600"/>
                <a:gd name="T27" fmla="*/ 1843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00FFFF"/>
            </a:solidFill>
            <a:ln w="38100">
              <a:solidFill>
                <a:srgbClr val="000000"/>
              </a:solidFill>
              <a:round/>
            </a:ln>
            <a:effectLst/>
            <a:extLs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Line 56"/>
            <p:cNvSpPr>
              <a:spLocks noChangeShapeType="1"/>
            </p:cNvSpPr>
            <p:nvPr/>
          </p:nvSpPr>
          <p:spPr bwMode="auto">
            <a:xfrm>
              <a:off x="240" y="2784"/>
              <a:ext cx="1920" cy="0"/>
            </a:xfrm>
            <a:prstGeom prst="line">
              <a:avLst/>
            </a:prstGeom>
            <a:noFill/>
            <a:ln w="28575">
              <a:solidFill>
                <a:schemeClr val="tx1"/>
              </a:solidFill>
              <a:prstDash val="lgDashDot"/>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57"/>
            <p:cNvSpPr>
              <a:spLocks noChangeShapeType="1"/>
            </p:cNvSpPr>
            <p:nvPr/>
          </p:nvSpPr>
          <p:spPr bwMode="auto">
            <a:xfrm>
              <a:off x="1200" y="1824"/>
              <a:ext cx="0" cy="1872"/>
            </a:xfrm>
            <a:prstGeom prst="line">
              <a:avLst/>
            </a:prstGeom>
            <a:noFill/>
            <a:ln w="28575">
              <a:solidFill>
                <a:schemeClr val="tx1"/>
              </a:solidFill>
              <a:prstDash val="lgDashDotDot"/>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5" name="Group 63"/>
          <p:cNvGrpSpPr/>
          <p:nvPr/>
        </p:nvGrpSpPr>
        <p:grpSpPr bwMode="auto">
          <a:xfrm>
            <a:off x="4000497" y="2571746"/>
            <a:ext cx="1500686" cy="1227442"/>
            <a:chOff x="1338" y="2749"/>
            <a:chExt cx="1151" cy="974"/>
          </a:xfrm>
        </p:grpSpPr>
        <p:sp>
          <p:nvSpPr>
            <p:cNvPr id="16" name="Line 59"/>
            <p:cNvSpPr>
              <a:spLocks noChangeShapeType="1"/>
            </p:cNvSpPr>
            <p:nvPr/>
          </p:nvSpPr>
          <p:spPr bwMode="auto">
            <a:xfrm>
              <a:off x="1338" y="2749"/>
              <a:ext cx="628" cy="659"/>
            </a:xfrm>
            <a:prstGeom prst="line">
              <a:avLst/>
            </a:prstGeom>
            <a:noFill/>
            <a:ln w="28575">
              <a:solidFill>
                <a:srgbClr val="FF0000"/>
              </a:solidFill>
              <a:round/>
              <a:head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Text Box 60"/>
            <p:cNvSpPr txBox="1">
              <a:spLocks noChangeArrowheads="1"/>
            </p:cNvSpPr>
            <p:nvPr/>
          </p:nvSpPr>
          <p:spPr bwMode="auto">
            <a:xfrm>
              <a:off x="1706" y="3406"/>
              <a:ext cx="783" cy="31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000" b="1" dirty="0">
                  <a:solidFill>
                    <a:srgbClr val="FF0000"/>
                  </a:solidFill>
                </a:rPr>
                <a:t>内表面</a:t>
              </a:r>
            </a:p>
          </p:txBody>
        </p:sp>
      </p:grpSp>
      <p:sp>
        <p:nvSpPr>
          <p:cNvPr id="18" name="Rectangle 40"/>
          <p:cNvSpPr>
            <a:spLocks noChangeArrowheads="1"/>
          </p:cNvSpPr>
          <p:nvPr/>
        </p:nvSpPr>
        <p:spPr bwMode="auto">
          <a:xfrm>
            <a:off x="7731133" y="2776543"/>
            <a:ext cx="635000" cy="788987"/>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40"/>
          <p:cNvSpPr>
            <a:spLocks noChangeArrowheads="1"/>
          </p:cNvSpPr>
          <p:nvPr/>
        </p:nvSpPr>
        <p:spPr bwMode="auto">
          <a:xfrm>
            <a:off x="6175383" y="1582743"/>
            <a:ext cx="1066800" cy="533400"/>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40"/>
          <p:cNvSpPr>
            <a:spLocks noChangeArrowheads="1"/>
          </p:cNvSpPr>
          <p:nvPr/>
        </p:nvSpPr>
        <p:spPr bwMode="auto">
          <a:xfrm>
            <a:off x="6364295" y="3681418"/>
            <a:ext cx="1066800" cy="533400"/>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1" name="Picture 9"/>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14348" y="3643314"/>
            <a:ext cx="3365520" cy="2554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 name="Rectangle 10"/>
          <p:cNvSpPr>
            <a:spLocks noChangeArrowheads="1"/>
          </p:cNvSpPr>
          <p:nvPr/>
        </p:nvSpPr>
        <p:spPr bwMode="auto">
          <a:xfrm>
            <a:off x="2428860" y="3929066"/>
            <a:ext cx="743881" cy="527781"/>
          </a:xfrm>
          <a:prstGeom prst="rect">
            <a:avLst/>
          </a:prstGeom>
          <a:noFill/>
          <a:ln w="57150">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19"/>
          <p:cNvSpPr>
            <a:spLocks noChangeArrowheads="1"/>
          </p:cNvSpPr>
          <p:nvPr/>
        </p:nvSpPr>
        <p:spPr bwMode="auto">
          <a:xfrm>
            <a:off x="2143108" y="5572140"/>
            <a:ext cx="818510" cy="496735"/>
          </a:xfrm>
          <a:prstGeom prst="rect">
            <a:avLst/>
          </a:prstGeom>
          <a:noFill/>
          <a:ln w="57150">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Rectangle 20"/>
          <p:cNvSpPr>
            <a:spLocks noChangeArrowheads="1"/>
          </p:cNvSpPr>
          <p:nvPr/>
        </p:nvSpPr>
        <p:spPr bwMode="auto">
          <a:xfrm>
            <a:off x="3428992" y="4714884"/>
            <a:ext cx="693326" cy="717506"/>
          </a:xfrm>
          <a:prstGeom prst="rect">
            <a:avLst/>
          </a:prstGeom>
          <a:noFill/>
          <a:ln w="57150">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 name="Group 29"/>
          <p:cNvGrpSpPr/>
          <p:nvPr/>
        </p:nvGrpSpPr>
        <p:grpSpPr bwMode="auto">
          <a:xfrm>
            <a:off x="5256228" y="4897453"/>
            <a:ext cx="2143140" cy="714380"/>
            <a:chOff x="384" y="2736"/>
            <a:chExt cx="1728" cy="720"/>
          </a:xfrm>
        </p:grpSpPr>
        <p:sp>
          <p:nvSpPr>
            <p:cNvPr id="26" name="AutoShape 21"/>
            <p:cNvSpPr>
              <a:spLocks noChangeArrowheads="1"/>
            </p:cNvSpPr>
            <p:nvPr/>
          </p:nvSpPr>
          <p:spPr bwMode="auto">
            <a:xfrm>
              <a:off x="528" y="2736"/>
              <a:ext cx="1440" cy="720"/>
            </a:xfrm>
            <a:prstGeom prst="roundRect">
              <a:avLst>
                <a:gd name="adj" fmla="val 16667"/>
              </a:avLst>
            </a:prstGeom>
            <a:noFill/>
            <a:ln w="57150">
              <a:solidFill>
                <a:schemeClr val="tx1"/>
              </a:solidFill>
              <a:rou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24"/>
            <p:cNvSpPr>
              <a:spLocks noChangeShapeType="1"/>
            </p:cNvSpPr>
            <p:nvPr/>
          </p:nvSpPr>
          <p:spPr bwMode="auto">
            <a:xfrm>
              <a:off x="624" y="2736"/>
              <a:ext cx="0" cy="720"/>
            </a:xfrm>
            <a:prstGeom prst="line">
              <a:avLst/>
            </a:prstGeom>
            <a:noFill/>
            <a:ln w="5715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Line 25"/>
            <p:cNvSpPr>
              <a:spLocks noChangeShapeType="1"/>
            </p:cNvSpPr>
            <p:nvPr/>
          </p:nvSpPr>
          <p:spPr bwMode="auto">
            <a:xfrm>
              <a:off x="1872" y="2736"/>
              <a:ext cx="0" cy="720"/>
            </a:xfrm>
            <a:prstGeom prst="line">
              <a:avLst/>
            </a:prstGeom>
            <a:noFill/>
            <a:ln w="5715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Line 26"/>
            <p:cNvSpPr>
              <a:spLocks noChangeShapeType="1"/>
            </p:cNvSpPr>
            <p:nvPr/>
          </p:nvSpPr>
          <p:spPr bwMode="auto">
            <a:xfrm>
              <a:off x="384" y="3120"/>
              <a:ext cx="1728" cy="0"/>
            </a:xfrm>
            <a:prstGeom prst="line">
              <a:avLst/>
            </a:prstGeom>
            <a:noFill/>
            <a:ln w="38100">
              <a:solidFill>
                <a:schemeClr val="tx1"/>
              </a:solidFill>
              <a:prstDash val="lgDashDot"/>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0" name="Group 36"/>
          <p:cNvGrpSpPr/>
          <p:nvPr/>
        </p:nvGrpSpPr>
        <p:grpSpPr bwMode="auto">
          <a:xfrm>
            <a:off x="6399236" y="5645169"/>
            <a:ext cx="1601788" cy="569913"/>
            <a:chOff x="930" y="2304"/>
            <a:chExt cx="1009" cy="359"/>
          </a:xfrm>
        </p:grpSpPr>
        <p:sp>
          <p:nvSpPr>
            <p:cNvPr id="31" name="Line 27"/>
            <p:cNvSpPr>
              <a:spLocks noChangeShapeType="1"/>
            </p:cNvSpPr>
            <p:nvPr/>
          </p:nvSpPr>
          <p:spPr bwMode="auto">
            <a:xfrm>
              <a:off x="930" y="2304"/>
              <a:ext cx="315" cy="159"/>
            </a:xfrm>
            <a:prstGeom prst="line">
              <a:avLst/>
            </a:prstGeom>
            <a:noFill/>
            <a:ln w="38100">
              <a:solidFill>
                <a:srgbClr val="FF0000"/>
              </a:solidFill>
              <a:round/>
              <a:head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Text Box 28"/>
            <p:cNvSpPr txBox="1">
              <a:spLocks noChangeArrowheads="1"/>
            </p:cNvSpPr>
            <p:nvPr/>
          </p:nvSpPr>
          <p:spPr bwMode="auto">
            <a:xfrm>
              <a:off x="1245" y="2373"/>
              <a:ext cx="694" cy="29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FF0000"/>
                  </a:solidFill>
                </a:rPr>
                <a:t>外表面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3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
                                        </p:tgtEl>
                                        <p:attrNameLst>
                                          <p:attrName>style.visibility</p:attrName>
                                        </p:attrNameLst>
                                      </p:cBhvr>
                                      <p:to>
                                        <p:strVal val="visible"/>
                                      </p:to>
                                    </p:set>
                                    <p:animEffect transition="in" filter="wipe(left)">
                                      <p:cBhvr>
                                        <p:cTn id="27" dur="3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 calcmode="lin" valueType="num">
                                      <p:cBhvr additive="base">
                                        <p:cTn id="3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0-#ppt_w/2"/>
                                          </p:val>
                                        </p:tav>
                                        <p:tav tm="100000">
                                          <p:val>
                                            <p:strVal val="#ppt_x"/>
                                          </p:val>
                                        </p:tav>
                                      </p:tavLst>
                                    </p:anim>
                                    <p:anim calcmode="lin" valueType="num">
                                      <p:cBhvr additive="base">
                                        <p:cTn id="65"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up)">
                                      <p:cBhvr>
                                        <p:cTn id="70" dur="5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ipe(left)">
                                      <p:cBhvr>
                                        <p:cTn id="86" dur="500"/>
                                        <p:tgtEl>
                                          <p:spTgt spid="23"/>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wipe(left)">
                                      <p:cBhvr>
                                        <p:cTn id="9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P spid="7" grpId="0"/>
      <p:bldP spid="8" grpId="0" bldLvl="0" animBg="1" autoUpdateAnimBg="0"/>
      <p:bldP spid="9" grpId="0" bldLvl="0" animBg="1" autoUpdateAnimBg="0"/>
      <p:bldP spid="18" grpId="0" animBg="1"/>
      <p:bldP spid="19" grpId="0" animBg="1"/>
      <p:bldP spid="20" grpId="0" animBg="1"/>
      <p:bldP spid="22" grpId="0" animBg="1"/>
      <p:bldP spid="23" grpId="0" animBg="1"/>
      <p:bldP spid="2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a:t>
            </a:fld>
            <a:endParaRPr lang="en-US" altLang="zh-CN"/>
          </a:p>
        </p:txBody>
      </p:sp>
      <p:grpSp>
        <p:nvGrpSpPr>
          <p:cNvPr id="35" name="组合 34"/>
          <p:cNvGrpSpPr/>
          <p:nvPr/>
        </p:nvGrpSpPr>
        <p:grpSpPr>
          <a:xfrm>
            <a:off x="571472" y="1857364"/>
            <a:ext cx="8064896" cy="2952328"/>
            <a:chOff x="611560" y="2060848"/>
            <a:chExt cx="8136904" cy="2952328"/>
          </a:xfrm>
        </p:grpSpPr>
        <p:grpSp>
          <p:nvGrpSpPr>
            <p:cNvPr id="6" name="Group 173"/>
            <p:cNvGrpSpPr/>
            <p:nvPr/>
          </p:nvGrpSpPr>
          <p:grpSpPr bwMode="auto">
            <a:xfrm>
              <a:off x="611560" y="2060848"/>
              <a:ext cx="8136904" cy="2952328"/>
              <a:chOff x="480" y="2016"/>
              <a:chExt cx="4992" cy="1701"/>
            </a:xfrm>
            <a:solidFill>
              <a:srgbClr val="FFFFCC"/>
            </a:solidFill>
          </p:grpSpPr>
          <p:sp>
            <p:nvSpPr>
              <p:cNvPr id="7" name="Rectangle 135"/>
              <p:cNvSpPr>
                <a:spLocks noChangeArrowheads="1"/>
              </p:cNvSpPr>
              <p:nvPr/>
            </p:nvSpPr>
            <p:spPr bwMode="auto">
              <a:xfrm>
                <a:off x="4128" y="3120"/>
                <a:ext cx="1344" cy="597"/>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solidFill>
                      <a:srgbClr val="FF0000"/>
                    </a:solidFill>
                  </a:rPr>
                  <a:t>被包容面</a:t>
                </a:r>
              </a:p>
            </p:txBody>
          </p:sp>
          <p:sp>
            <p:nvSpPr>
              <p:cNvPr id="8" name="Rectangle 134"/>
              <p:cNvSpPr>
                <a:spLocks noChangeArrowheads="1"/>
              </p:cNvSpPr>
              <p:nvPr/>
            </p:nvSpPr>
            <p:spPr bwMode="auto">
              <a:xfrm>
                <a:off x="2784" y="3120"/>
                <a:ext cx="1344" cy="597"/>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solidFill>
                      <a:srgbClr val="FF0000"/>
                    </a:solidFill>
                  </a:rPr>
                  <a:t>外尺寸</a:t>
                </a:r>
              </a:p>
            </p:txBody>
          </p:sp>
          <p:sp>
            <p:nvSpPr>
              <p:cNvPr id="9" name="Rectangle 133"/>
              <p:cNvSpPr>
                <a:spLocks noChangeArrowheads="1"/>
              </p:cNvSpPr>
              <p:nvPr/>
            </p:nvSpPr>
            <p:spPr bwMode="auto">
              <a:xfrm>
                <a:off x="1344" y="3120"/>
                <a:ext cx="1440" cy="597"/>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l">
                  <a:spcBef>
                    <a:spcPct val="20000"/>
                  </a:spcBef>
                </a:pPr>
                <a:r>
                  <a:rPr lang="zh-CN" altLang="en-US" b="1">
                    <a:solidFill>
                      <a:srgbClr val="FF0000"/>
                    </a:solidFill>
                  </a:rPr>
                  <a:t>尺寸由大→小</a:t>
                </a:r>
                <a:endParaRPr lang="zh-CN" altLang="en-US" sz="2000" b="1">
                  <a:solidFill>
                    <a:srgbClr val="FF0000"/>
                  </a:solidFill>
                </a:endParaRPr>
              </a:p>
            </p:txBody>
          </p:sp>
          <p:sp>
            <p:nvSpPr>
              <p:cNvPr id="10" name="Rectangle 132"/>
              <p:cNvSpPr>
                <a:spLocks noChangeArrowheads="1"/>
              </p:cNvSpPr>
              <p:nvPr/>
            </p:nvSpPr>
            <p:spPr bwMode="auto">
              <a:xfrm>
                <a:off x="480" y="3120"/>
                <a:ext cx="864" cy="597"/>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sz="3200" b="1" dirty="0" smtClean="0"/>
                  <a:t>轴</a:t>
                </a:r>
                <a:endParaRPr lang="zh-CN" altLang="en-US" sz="3200" b="1" dirty="0"/>
              </a:p>
            </p:txBody>
          </p:sp>
          <p:sp>
            <p:nvSpPr>
              <p:cNvPr id="11" name="Rectangle 131"/>
              <p:cNvSpPr>
                <a:spLocks noChangeArrowheads="1"/>
              </p:cNvSpPr>
              <p:nvPr/>
            </p:nvSpPr>
            <p:spPr bwMode="auto">
              <a:xfrm>
                <a:off x="4128" y="2496"/>
                <a:ext cx="1344" cy="624"/>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solidFill>
                      <a:srgbClr val="FF0000"/>
                    </a:solidFill>
                  </a:rPr>
                  <a:t>包容面</a:t>
                </a:r>
              </a:p>
            </p:txBody>
          </p:sp>
          <p:sp>
            <p:nvSpPr>
              <p:cNvPr id="12" name="Rectangle 130"/>
              <p:cNvSpPr>
                <a:spLocks noChangeArrowheads="1"/>
              </p:cNvSpPr>
              <p:nvPr/>
            </p:nvSpPr>
            <p:spPr bwMode="auto">
              <a:xfrm>
                <a:off x="2784" y="2496"/>
                <a:ext cx="1344" cy="624"/>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solidFill>
                      <a:srgbClr val="FF0000"/>
                    </a:solidFill>
                  </a:rPr>
                  <a:t>内尺寸</a:t>
                </a:r>
              </a:p>
            </p:txBody>
          </p:sp>
          <p:sp>
            <p:nvSpPr>
              <p:cNvPr id="13" name="Rectangle 129"/>
              <p:cNvSpPr>
                <a:spLocks noChangeArrowheads="1"/>
              </p:cNvSpPr>
              <p:nvPr/>
            </p:nvSpPr>
            <p:spPr bwMode="auto">
              <a:xfrm>
                <a:off x="1344" y="2496"/>
                <a:ext cx="1440" cy="624"/>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l">
                  <a:spcBef>
                    <a:spcPct val="20000"/>
                  </a:spcBef>
                </a:pPr>
                <a:r>
                  <a:rPr lang="zh-CN" altLang="en-US" b="1" dirty="0">
                    <a:solidFill>
                      <a:srgbClr val="FF0000"/>
                    </a:solidFill>
                  </a:rPr>
                  <a:t>尺寸由小→大</a:t>
                </a:r>
              </a:p>
            </p:txBody>
          </p:sp>
          <p:sp>
            <p:nvSpPr>
              <p:cNvPr id="14" name="Rectangle 128"/>
              <p:cNvSpPr>
                <a:spLocks noChangeArrowheads="1"/>
              </p:cNvSpPr>
              <p:nvPr/>
            </p:nvSpPr>
            <p:spPr bwMode="auto">
              <a:xfrm>
                <a:off x="480" y="2496"/>
                <a:ext cx="864" cy="624"/>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sz="3200" b="1" dirty="0" smtClean="0"/>
                  <a:t>孔</a:t>
                </a:r>
                <a:endParaRPr lang="zh-CN" altLang="en-US" sz="3200" b="1" dirty="0"/>
              </a:p>
            </p:txBody>
          </p:sp>
          <p:sp>
            <p:nvSpPr>
              <p:cNvPr id="15" name="Rectangle 127"/>
              <p:cNvSpPr>
                <a:spLocks noChangeArrowheads="1"/>
              </p:cNvSpPr>
              <p:nvPr/>
            </p:nvSpPr>
            <p:spPr bwMode="auto">
              <a:xfrm>
                <a:off x="4128" y="2016"/>
                <a:ext cx="1344" cy="480"/>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dirty="0"/>
                  <a:t>配合时</a:t>
                </a:r>
              </a:p>
            </p:txBody>
          </p:sp>
          <p:sp>
            <p:nvSpPr>
              <p:cNvPr id="16" name="Rectangle 126"/>
              <p:cNvSpPr>
                <a:spLocks noChangeArrowheads="1"/>
              </p:cNvSpPr>
              <p:nvPr/>
            </p:nvSpPr>
            <p:spPr bwMode="auto">
              <a:xfrm>
                <a:off x="2784" y="2016"/>
                <a:ext cx="1344" cy="480"/>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t>测量时</a:t>
                </a:r>
              </a:p>
            </p:txBody>
          </p:sp>
          <p:sp>
            <p:nvSpPr>
              <p:cNvPr id="17" name="Rectangle 125"/>
              <p:cNvSpPr>
                <a:spLocks noChangeArrowheads="1"/>
              </p:cNvSpPr>
              <p:nvPr/>
            </p:nvSpPr>
            <p:spPr bwMode="auto">
              <a:xfrm>
                <a:off x="1344" y="2016"/>
                <a:ext cx="1440" cy="480"/>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zh-CN" altLang="en-US" b="1"/>
                  <a:t>加工时</a:t>
                </a:r>
              </a:p>
            </p:txBody>
          </p:sp>
          <p:sp>
            <p:nvSpPr>
              <p:cNvPr id="18" name="Rectangle 124"/>
              <p:cNvSpPr>
                <a:spLocks noChangeArrowheads="1"/>
              </p:cNvSpPr>
              <p:nvPr/>
            </p:nvSpPr>
            <p:spPr bwMode="auto">
              <a:xfrm>
                <a:off x="480" y="2016"/>
                <a:ext cx="864" cy="480"/>
              </a:xfrm>
              <a:prstGeom prst="rect">
                <a:avLst/>
              </a:prstGeom>
              <a:grpFill/>
              <a:ln>
                <a:solidFill>
                  <a:schemeClr val="tx1"/>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l">
                  <a:spcBef>
                    <a:spcPct val="20000"/>
                  </a:spcBef>
                </a:pPr>
                <a:endParaRPr lang="zh-CN" altLang="zh-CN" sz="2000"/>
              </a:p>
            </p:txBody>
          </p:sp>
          <p:sp>
            <p:nvSpPr>
              <p:cNvPr id="19" name="Line 137"/>
              <p:cNvSpPr>
                <a:spLocks noChangeShapeType="1"/>
              </p:cNvSpPr>
              <p:nvPr/>
            </p:nvSpPr>
            <p:spPr bwMode="auto">
              <a:xfrm>
                <a:off x="480" y="2496"/>
                <a:ext cx="4992" cy="0"/>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38"/>
              <p:cNvSpPr>
                <a:spLocks noChangeShapeType="1"/>
              </p:cNvSpPr>
              <p:nvPr/>
            </p:nvSpPr>
            <p:spPr bwMode="auto">
              <a:xfrm>
                <a:off x="480" y="3120"/>
                <a:ext cx="4992" cy="0"/>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39"/>
              <p:cNvSpPr>
                <a:spLocks noChangeShapeType="1"/>
              </p:cNvSpPr>
              <p:nvPr/>
            </p:nvSpPr>
            <p:spPr bwMode="auto">
              <a:xfrm>
                <a:off x="480" y="3717"/>
                <a:ext cx="4992" cy="0"/>
              </a:xfrm>
              <a:prstGeom prst="line">
                <a:avLst/>
              </a:prstGeom>
              <a:grpFill/>
              <a:ln w="38100" cap="sq">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40"/>
              <p:cNvSpPr>
                <a:spLocks noChangeShapeType="1"/>
              </p:cNvSpPr>
              <p:nvPr/>
            </p:nvSpPr>
            <p:spPr bwMode="auto">
              <a:xfrm>
                <a:off x="480" y="2016"/>
                <a:ext cx="0" cy="1701"/>
              </a:xfrm>
              <a:prstGeom prst="line">
                <a:avLst/>
              </a:prstGeom>
              <a:grpFill/>
              <a:ln w="28575" cap="sq">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41"/>
              <p:cNvSpPr>
                <a:spLocks noChangeShapeType="1"/>
              </p:cNvSpPr>
              <p:nvPr/>
            </p:nvSpPr>
            <p:spPr bwMode="auto">
              <a:xfrm>
                <a:off x="1344" y="2016"/>
                <a:ext cx="0" cy="1701"/>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42"/>
              <p:cNvSpPr>
                <a:spLocks noChangeShapeType="1"/>
              </p:cNvSpPr>
              <p:nvPr/>
            </p:nvSpPr>
            <p:spPr bwMode="auto">
              <a:xfrm>
                <a:off x="2784" y="2016"/>
                <a:ext cx="0" cy="1701"/>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43"/>
              <p:cNvSpPr>
                <a:spLocks noChangeShapeType="1"/>
              </p:cNvSpPr>
              <p:nvPr/>
            </p:nvSpPr>
            <p:spPr bwMode="auto">
              <a:xfrm>
                <a:off x="4128" y="2016"/>
                <a:ext cx="0" cy="1701"/>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44"/>
              <p:cNvSpPr>
                <a:spLocks noChangeShapeType="1"/>
              </p:cNvSpPr>
              <p:nvPr/>
            </p:nvSpPr>
            <p:spPr bwMode="auto">
              <a:xfrm>
                <a:off x="5472" y="2016"/>
                <a:ext cx="0" cy="1701"/>
              </a:xfrm>
              <a:prstGeom prst="line">
                <a:avLst/>
              </a:prstGeom>
              <a:grpFill/>
              <a:ln w="28575" cap="sq">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46"/>
              <p:cNvSpPr>
                <a:spLocks noChangeShapeType="1"/>
              </p:cNvSpPr>
              <p:nvPr/>
            </p:nvSpPr>
            <p:spPr bwMode="auto">
              <a:xfrm>
                <a:off x="4128" y="2016"/>
                <a:ext cx="1344" cy="0"/>
              </a:xfrm>
              <a:prstGeom prst="line">
                <a:avLst/>
              </a:prstGeom>
              <a:grpFill/>
              <a:ln w="127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49"/>
              <p:cNvSpPr>
                <a:spLocks noChangeShapeType="1"/>
              </p:cNvSpPr>
              <p:nvPr/>
            </p:nvSpPr>
            <p:spPr bwMode="auto">
              <a:xfrm>
                <a:off x="480" y="2016"/>
                <a:ext cx="864" cy="480"/>
              </a:xfrm>
              <a:prstGeom prst="line">
                <a:avLst/>
              </a:prstGeom>
              <a:grpFill/>
              <a:ln w="12700" cap="rnd">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36"/>
              <p:cNvSpPr>
                <a:spLocks noChangeShapeType="1"/>
              </p:cNvSpPr>
              <p:nvPr/>
            </p:nvSpPr>
            <p:spPr bwMode="auto">
              <a:xfrm>
                <a:off x="480" y="2016"/>
                <a:ext cx="3648" cy="0"/>
              </a:xfrm>
              <a:prstGeom prst="line">
                <a:avLst/>
              </a:prstGeom>
              <a:grpFill/>
              <a:ln w="28575" cap="sq">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WordArt 171"/>
              <p:cNvSpPr>
                <a:spLocks noChangeArrowheads="1" noChangeShapeType="1" noTextEdit="1"/>
              </p:cNvSpPr>
              <p:nvPr/>
            </p:nvSpPr>
            <p:spPr bwMode="auto">
              <a:xfrm>
                <a:off x="912" y="2064"/>
                <a:ext cx="384" cy="192"/>
              </a:xfrm>
              <a:prstGeom prst="rect">
                <a:avLst/>
              </a:prstGeom>
              <a:grpFill/>
              <a:ln>
                <a:noFill/>
              </a:ln>
            </p:spPr>
            <p:txBody>
              <a:bodyPr wrap="none" fromWordArt="1">
                <a:prstTxWarp prst="textPlain">
                  <a:avLst>
                    <a:gd name="adj" fmla="val 50000"/>
                  </a:avLst>
                </a:prstTxWarp>
              </a:bodyPr>
              <a:lstStyle/>
              <a:p>
                <a:r>
                  <a:rPr lang="zh-CN" altLang="en-US" sz="3600" kern="10" dirty="0">
                    <a:ln w="9525">
                      <a:solidFill>
                        <a:srgbClr val="000000"/>
                      </a:solidFill>
                      <a:round/>
                    </a:ln>
                    <a:solidFill>
                      <a:srgbClr val="000000"/>
                    </a:solidFill>
                    <a:latin typeface="宋体" panose="02010600030101010101" pitchFamily="2" charset="-122"/>
                    <a:ea typeface="宋体" panose="02010600030101010101" pitchFamily="2" charset="-122"/>
                  </a:rPr>
                  <a:t>内容</a:t>
                </a:r>
              </a:p>
            </p:txBody>
          </p:sp>
          <p:sp>
            <p:nvSpPr>
              <p:cNvPr id="31" name="WordArt 172"/>
              <p:cNvSpPr>
                <a:spLocks noChangeArrowheads="1" noChangeShapeType="1" noTextEdit="1"/>
              </p:cNvSpPr>
              <p:nvPr/>
            </p:nvSpPr>
            <p:spPr bwMode="auto">
              <a:xfrm rot="95754">
                <a:off x="528" y="2256"/>
                <a:ext cx="432" cy="192"/>
              </a:xfrm>
              <a:prstGeom prst="rect">
                <a:avLst/>
              </a:prstGeom>
              <a:grpFill/>
              <a:ln>
                <a:noFill/>
              </a:ln>
            </p:spPr>
            <p:txBody>
              <a:bodyPr wrap="none" fromWordArt="1">
                <a:prstTxWarp prst="textPlain">
                  <a:avLst>
                    <a:gd name="adj" fmla="val 50000"/>
                  </a:avLst>
                </a:prstTxWarp>
              </a:bodyPr>
              <a:lstStyle/>
              <a:p>
                <a:r>
                  <a:rPr lang="zh-CN" altLang="en-US" sz="3600" kern="10" dirty="0">
                    <a:ln w="9525">
                      <a:solidFill>
                        <a:srgbClr val="000000"/>
                      </a:solidFill>
                      <a:round/>
                    </a:ln>
                    <a:solidFill>
                      <a:srgbClr val="000000"/>
                    </a:solidFill>
                    <a:latin typeface="宋体" panose="02010600030101010101" pitchFamily="2" charset="-122"/>
                    <a:ea typeface="宋体" panose="02010600030101010101" pitchFamily="2" charset="-122"/>
                  </a:rPr>
                  <a:t>名称</a:t>
                </a:r>
              </a:p>
            </p:txBody>
          </p:sp>
        </p:grpSp>
        <p:cxnSp>
          <p:nvCxnSpPr>
            <p:cNvPr id="34" name="直接连接符 33"/>
            <p:cNvCxnSpPr>
              <a:stCxn id="27" idx="0"/>
              <a:endCxn id="27" idx="1"/>
            </p:cNvCxnSpPr>
            <p:nvPr/>
          </p:nvCxnSpPr>
          <p:spPr>
            <a:xfrm>
              <a:off x="6557759" y="2060848"/>
              <a:ext cx="21907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Rectangle 28"/>
          <p:cNvSpPr>
            <a:spLocks noChangeArrowheads="1"/>
          </p:cNvSpPr>
          <p:nvPr/>
        </p:nvSpPr>
        <p:spPr bwMode="auto">
          <a:xfrm>
            <a:off x="500034" y="357166"/>
            <a:ext cx="450215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t>1.</a:t>
            </a:r>
            <a:r>
              <a:rPr lang="zh-CN" altLang="en-US" sz="3200" b="1" dirty="0"/>
              <a:t>孔和轴的定义</a:t>
            </a:r>
            <a:endParaRPr lang="en-US" altLang="zh-C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a:t>
            </a:fld>
            <a:endParaRPr lang="en-US" altLang="zh-CN"/>
          </a:p>
        </p:txBody>
      </p:sp>
      <p:sp>
        <p:nvSpPr>
          <p:cNvPr id="3" name="Rectangle 8"/>
          <p:cNvSpPr>
            <a:spLocks noChangeArrowheads="1"/>
          </p:cNvSpPr>
          <p:nvPr/>
        </p:nvSpPr>
        <p:spPr bwMode="auto">
          <a:xfrm>
            <a:off x="500034" y="260648"/>
            <a:ext cx="7847013" cy="6267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eaLnBrk="0" hangingPunct="0">
              <a:lnSpc>
                <a:spcPct val="120000"/>
              </a:lnSpc>
            </a:pPr>
            <a:r>
              <a:rPr lang="en-US" altLang="zh-CN" sz="3200" b="1" dirty="0"/>
              <a:t>2.  </a:t>
            </a:r>
            <a:r>
              <a:rPr lang="zh-CN" altLang="en-US" sz="3200" b="1" dirty="0"/>
              <a:t>孔与轴结合的使用</a:t>
            </a:r>
            <a:r>
              <a:rPr lang="zh-CN" altLang="en-US" sz="3200" b="1" dirty="0" smtClean="0"/>
              <a:t>要求</a:t>
            </a:r>
            <a:endParaRPr lang="en-US" altLang="zh-CN" sz="3200" b="1" dirty="0"/>
          </a:p>
        </p:txBody>
      </p:sp>
      <p:sp>
        <p:nvSpPr>
          <p:cNvPr id="5" name="Rectangle 9"/>
          <p:cNvSpPr>
            <a:spLocks noChangeArrowheads="1"/>
          </p:cNvSpPr>
          <p:nvPr/>
        </p:nvSpPr>
        <p:spPr bwMode="auto">
          <a:xfrm>
            <a:off x="638176" y="1196752"/>
            <a:ext cx="457676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dirty="0"/>
              <a:t>（</a:t>
            </a:r>
            <a:r>
              <a:rPr lang="en-US" altLang="zh-CN" sz="2400" b="1" dirty="0"/>
              <a:t>1</a:t>
            </a:r>
            <a:r>
              <a:rPr lang="zh-CN" altLang="en-US" sz="2400" b="1" dirty="0"/>
              <a:t>）</a:t>
            </a:r>
            <a:r>
              <a:rPr lang="en-US" altLang="zh-CN" sz="2400" b="1" dirty="0"/>
              <a:t> </a:t>
            </a:r>
            <a:r>
              <a:rPr lang="zh-CN" altLang="en-US" sz="2400" b="1" dirty="0">
                <a:solidFill>
                  <a:srgbClr val="0070C0"/>
                </a:solidFill>
              </a:rPr>
              <a:t>用作相对运动副</a:t>
            </a:r>
          </a:p>
        </p:txBody>
      </p:sp>
      <p:sp>
        <p:nvSpPr>
          <p:cNvPr id="6" name="Rectangle 10"/>
          <p:cNvSpPr>
            <a:spLocks noChangeArrowheads="1"/>
          </p:cNvSpPr>
          <p:nvPr/>
        </p:nvSpPr>
        <p:spPr bwMode="auto">
          <a:xfrm>
            <a:off x="635008" y="2741526"/>
            <a:ext cx="500856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dirty="0"/>
              <a:t>（</a:t>
            </a:r>
            <a:r>
              <a:rPr lang="en-US" altLang="zh-CN" sz="2400" b="1" dirty="0"/>
              <a:t>2</a:t>
            </a:r>
            <a:r>
              <a:rPr lang="zh-CN" altLang="en-US" sz="2400" b="1" dirty="0"/>
              <a:t>）</a:t>
            </a:r>
            <a:r>
              <a:rPr lang="en-US" altLang="zh-CN" sz="2400" b="1" dirty="0"/>
              <a:t> </a:t>
            </a:r>
            <a:r>
              <a:rPr lang="zh-CN" altLang="en-US" sz="2400" b="1" dirty="0">
                <a:solidFill>
                  <a:srgbClr val="0070C0"/>
                </a:solidFill>
              </a:rPr>
              <a:t>用作固定连接</a:t>
            </a:r>
          </a:p>
        </p:txBody>
      </p:sp>
      <p:sp>
        <p:nvSpPr>
          <p:cNvPr id="7" name="Rectangle 11"/>
          <p:cNvSpPr>
            <a:spLocks noChangeArrowheads="1"/>
          </p:cNvSpPr>
          <p:nvPr/>
        </p:nvSpPr>
        <p:spPr bwMode="auto">
          <a:xfrm>
            <a:off x="647670" y="4265028"/>
            <a:ext cx="55626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dirty="0"/>
              <a:t>（</a:t>
            </a:r>
            <a:r>
              <a:rPr lang="en-US" altLang="zh-CN" sz="2400" b="1" dirty="0"/>
              <a:t>3</a:t>
            </a:r>
            <a:r>
              <a:rPr lang="zh-CN" altLang="en-US" sz="2400" b="1" dirty="0"/>
              <a:t>）</a:t>
            </a:r>
            <a:r>
              <a:rPr lang="zh-CN" altLang="en-US" sz="2400" b="1" dirty="0">
                <a:solidFill>
                  <a:srgbClr val="0070C0"/>
                </a:solidFill>
              </a:rPr>
              <a:t>用作定位可拆连接</a:t>
            </a:r>
          </a:p>
        </p:txBody>
      </p:sp>
      <p:sp>
        <p:nvSpPr>
          <p:cNvPr id="8" name="Text Box 18"/>
          <p:cNvSpPr txBox="1">
            <a:spLocks noChangeArrowheads="1"/>
          </p:cNvSpPr>
          <p:nvPr/>
        </p:nvSpPr>
        <p:spPr bwMode="auto">
          <a:xfrm>
            <a:off x="503269" y="1713249"/>
            <a:ext cx="8069259"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zh-CN" altLang="en-US" sz="2400" b="1" dirty="0"/>
              <a:t>这类结合必须保证有一定的</a:t>
            </a:r>
            <a:r>
              <a:rPr lang="zh-CN" altLang="en-US" sz="2400" b="1" dirty="0" smtClean="0">
                <a:solidFill>
                  <a:srgbClr val="FF0000"/>
                </a:solidFill>
              </a:rPr>
              <a:t>间隙，</a:t>
            </a:r>
            <a:r>
              <a:rPr lang="zh-CN" altLang="en-US" sz="2400" b="1" dirty="0" smtClean="0"/>
              <a:t>主要</a:t>
            </a:r>
            <a:r>
              <a:rPr lang="zh-CN" altLang="en-US" sz="2400" b="1" dirty="0"/>
              <a:t>用于有相对转动或移动的机构</a:t>
            </a:r>
            <a:r>
              <a:rPr lang="zh-CN" altLang="en-US" sz="2400" b="1" dirty="0" smtClean="0"/>
              <a:t>。（</a:t>
            </a:r>
            <a:r>
              <a:rPr lang="zh-CN" altLang="en-US" sz="2400" b="1" dirty="0" smtClean="0">
                <a:solidFill>
                  <a:srgbClr val="FF0000"/>
                </a:solidFill>
              </a:rPr>
              <a:t>导轨与滑块</a:t>
            </a:r>
            <a:r>
              <a:rPr lang="zh-CN" altLang="en-US" sz="2400" b="1" dirty="0" smtClean="0"/>
              <a:t>）</a:t>
            </a:r>
            <a:endParaRPr lang="zh-CN" altLang="en-US" sz="2400" b="1" dirty="0"/>
          </a:p>
        </p:txBody>
      </p:sp>
      <p:sp>
        <p:nvSpPr>
          <p:cNvPr id="9" name="Text Box 19"/>
          <p:cNvSpPr txBox="1">
            <a:spLocks noChangeArrowheads="1"/>
          </p:cNvSpPr>
          <p:nvPr/>
        </p:nvSpPr>
        <p:spPr bwMode="auto">
          <a:xfrm>
            <a:off x="620744" y="3198726"/>
            <a:ext cx="795178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zh-CN" altLang="en-US" sz="2400" b="1" dirty="0"/>
              <a:t>这类结合必须保证有一定的</a:t>
            </a:r>
            <a:r>
              <a:rPr lang="zh-CN" altLang="en-US" sz="2400" b="1" dirty="0">
                <a:solidFill>
                  <a:srgbClr val="FF0000"/>
                </a:solidFill>
              </a:rPr>
              <a:t>过盈，</a:t>
            </a:r>
            <a:r>
              <a:rPr lang="zh-CN" altLang="en-US" sz="2400" b="1" dirty="0"/>
              <a:t>使之能够传递扭矩或轴向力时不打滑</a:t>
            </a:r>
            <a:r>
              <a:rPr lang="zh-CN" altLang="en-US" sz="2400" b="1" dirty="0" smtClean="0"/>
              <a:t>。（</a:t>
            </a:r>
            <a:r>
              <a:rPr lang="zh-CN" altLang="en-US" sz="2400" b="1" dirty="0" smtClean="0">
                <a:solidFill>
                  <a:srgbClr val="FF0000"/>
                </a:solidFill>
              </a:rPr>
              <a:t>涡轮的轮缘与轮毂</a:t>
            </a:r>
            <a:r>
              <a:rPr lang="zh-CN" altLang="en-US" sz="2400" b="1" dirty="0" smtClean="0"/>
              <a:t>）</a:t>
            </a:r>
            <a:endParaRPr lang="zh-CN" altLang="en-US" sz="2400" b="1" dirty="0"/>
          </a:p>
        </p:txBody>
      </p:sp>
      <p:sp>
        <p:nvSpPr>
          <p:cNvPr id="10" name="Text Box 20"/>
          <p:cNvSpPr txBox="1">
            <a:spLocks noChangeArrowheads="1"/>
          </p:cNvSpPr>
          <p:nvPr/>
        </p:nvSpPr>
        <p:spPr bwMode="auto">
          <a:xfrm>
            <a:off x="577879" y="4750810"/>
            <a:ext cx="8137525" cy="9787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400" b="1" dirty="0"/>
              <a:t>        </a:t>
            </a:r>
            <a:r>
              <a:rPr lang="zh-CN" altLang="en-US" sz="2400" b="1" dirty="0"/>
              <a:t>这类结合必须保证</a:t>
            </a:r>
            <a:r>
              <a:rPr lang="zh-CN" altLang="en-US" sz="2400" b="1" dirty="0">
                <a:solidFill>
                  <a:srgbClr val="FF0000"/>
                </a:solidFill>
              </a:rPr>
              <a:t>间隙不大，过盈也不能大，</a:t>
            </a:r>
            <a:r>
              <a:rPr lang="zh-CN" altLang="en-US" sz="2400" b="1" dirty="0"/>
              <a:t>主要用于定位可拆连接</a:t>
            </a:r>
            <a:r>
              <a:rPr lang="zh-CN" altLang="en-US" sz="2400" b="1" dirty="0" smtClean="0"/>
              <a:t>。（</a:t>
            </a:r>
            <a:r>
              <a:rPr lang="zh-CN" altLang="en-US" sz="2400" b="1" dirty="0" smtClean="0">
                <a:solidFill>
                  <a:srgbClr val="FF0000"/>
                </a:solidFill>
              </a:rPr>
              <a:t>螺纹、平键、花键</a:t>
            </a:r>
            <a:r>
              <a:rPr lang="zh-CN" altLang="en-US" sz="2400" b="1" dirty="0" smtClean="0"/>
              <a:t>）</a:t>
            </a:r>
            <a:endParaRPr lang="zh-CN" altLang="en-US" sz="24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4</a:t>
            </a:fld>
            <a:endParaRPr lang="en-US" altLang="zh-CN"/>
          </a:p>
        </p:txBody>
      </p:sp>
      <p:sp>
        <p:nvSpPr>
          <p:cNvPr id="5" name="Rectangle 4"/>
          <p:cNvSpPr>
            <a:spLocks noChangeArrowheads="1"/>
          </p:cNvSpPr>
          <p:nvPr/>
        </p:nvSpPr>
        <p:spPr bwMode="auto">
          <a:xfrm>
            <a:off x="465782" y="323945"/>
            <a:ext cx="799465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3200" b="1" dirty="0"/>
              <a:t>  3.1.2 《</a:t>
            </a:r>
            <a:r>
              <a:rPr lang="zh-CN" altLang="en-US" sz="3200" b="1" dirty="0"/>
              <a:t>极限与配合</a:t>
            </a:r>
            <a:r>
              <a:rPr lang="en-US" altLang="zh-CN" sz="3200" b="1" dirty="0"/>
              <a:t>》</a:t>
            </a:r>
            <a:r>
              <a:rPr lang="zh-CN" altLang="en-US" sz="3200" b="1" dirty="0"/>
              <a:t>的基本</a:t>
            </a:r>
            <a:r>
              <a:rPr lang="zh-CN" altLang="en-US" sz="3200" b="1" dirty="0" smtClean="0"/>
              <a:t>结构</a:t>
            </a:r>
            <a:endParaRPr lang="zh-CN" altLang="en-US" sz="3200" dirty="0"/>
          </a:p>
        </p:txBody>
      </p:sp>
      <p:sp>
        <p:nvSpPr>
          <p:cNvPr id="6" name="Rectangle 30"/>
          <p:cNvSpPr>
            <a:spLocks noChangeArrowheads="1"/>
          </p:cNvSpPr>
          <p:nvPr/>
        </p:nvSpPr>
        <p:spPr bwMode="auto">
          <a:xfrm>
            <a:off x="395536" y="1052736"/>
            <a:ext cx="8424936" cy="5642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en-US" altLang="zh-CN" b="1" dirty="0"/>
              <a:t>        </a:t>
            </a:r>
            <a:endParaRPr lang="zh-CN" altLang="en-US" sz="2400" dirty="0"/>
          </a:p>
        </p:txBody>
      </p:sp>
      <p:grpSp>
        <p:nvGrpSpPr>
          <p:cNvPr id="7" name="Group 59"/>
          <p:cNvGrpSpPr/>
          <p:nvPr/>
        </p:nvGrpSpPr>
        <p:grpSpPr bwMode="auto">
          <a:xfrm>
            <a:off x="467544" y="2349226"/>
            <a:ext cx="8118475" cy="2447928"/>
            <a:chOff x="249" y="2199"/>
            <a:chExt cx="5114" cy="1542"/>
          </a:xfrm>
        </p:grpSpPr>
        <p:sp>
          <p:nvSpPr>
            <p:cNvPr id="8" name="Text Box 7"/>
            <p:cNvSpPr txBox="1">
              <a:spLocks noChangeArrowheads="1"/>
            </p:cNvSpPr>
            <p:nvPr/>
          </p:nvSpPr>
          <p:spPr bwMode="auto">
            <a:xfrm>
              <a:off x="1837" y="3489"/>
              <a:ext cx="2664"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000" b="1" dirty="0" smtClean="0">
                  <a:latin typeface="宋体" panose="02010600030101010101" pitchFamily="2" charset="-122"/>
                </a:rPr>
                <a:t>极限</a:t>
              </a:r>
              <a:r>
                <a:rPr lang="zh-CN" altLang="en-US" sz="2000" b="1" dirty="0">
                  <a:latin typeface="宋体" panose="02010600030101010101" pitchFamily="2" charset="-122"/>
                </a:rPr>
                <a:t>与配合标准的基本结构</a:t>
              </a:r>
            </a:p>
          </p:txBody>
        </p:sp>
        <p:grpSp>
          <p:nvGrpSpPr>
            <p:cNvPr id="9" name="Group 54"/>
            <p:cNvGrpSpPr/>
            <p:nvPr/>
          </p:nvGrpSpPr>
          <p:grpSpPr bwMode="auto">
            <a:xfrm>
              <a:off x="249" y="2199"/>
              <a:ext cx="5114" cy="809"/>
              <a:chOff x="249" y="1927"/>
              <a:chExt cx="5114" cy="809"/>
            </a:xfrm>
          </p:grpSpPr>
          <p:sp>
            <p:nvSpPr>
              <p:cNvPr id="10" name="Rectangle 27"/>
              <p:cNvSpPr>
                <a:spLocks noChangeArrowheads="1"/>
              </p:cNvSpPr>
              <p:nvPr/>
            </p:nvSpPr>
            <p:spPr bwMode="auto">
              <a:xfrm>
                <a:off x="4366" y="2060"/>
                <a:ext cx="997" cy="589"/>
              </a:xfrm>
              <a:prstGeom prst="rect">
                <a:avLst/>
              </a:prstGeom>
              <a:solidFill>
                <a:schemeClr val="bg1"/>
              </a:solidFill>
              <a:ln w="38100">
                <a:solidFill>
                  <a:srgbClr val="000000"/>
                </a:solidFill>
                <a:miter lim="800000"/>
              </a:ln>
              <a:effectLst/>
              <a:extLs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sz="2400" b="1" dirty="0"/>
                  <a:t>公差带和</a:t>
                </a:r>
                <a:endParaRPr lang="en-US" altLang="zh-CN" sz="2400" b="1" dirty="0"/>
              </a:p>
              <a:p>
                <a:r>
                  <a:rPr lang="zh-CN" altLang="en-US" sz="2400" b="1" dirty="0"/>
                  <a:t>配合的选择</a:t>
                </a:r>
              </a:p>
            </p:txBody>
          </p:sp>
          <p:sp>
            <p:nvSpPr>
              <p:cNvPr id="11" name="Rectangle 37"/>
              <p:cNvSpPr>
                <a:spLocks noChangeArrowheads="1"/>
              </p:cNvSpPr>
              <p:nvPr/>
            </p:nvSpPr>
            <p:spPr bwMode="auto">
              <a:xfrm>
                <a:off x="249" y="2160"/>
                <a:ext cx="998" cy="493"/>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sz="2400" b="1" dirty="0"/>
                  <a:t>极限与配合</a:t>
                </a:r>
              </a:p>
              <a:p>
                <a:r>
                  <a:rPr lang="zh-CN" altLang="en-US" sz="2400" b="1" dirty="0"/>
                  <a:t>标准</a:t>
                </a:r>
              </a:p>
            </p:txBody>
          </p:sp>
          <p:sp>
            <p:nvSpPr>
              <p:cNvPr id="12" name="Rectangle 38"/>
              <p:cNvSpPr>
                <a:spLocks noChangeArrowheads="1"/>
              </p:cNvSpPr>
              <p:nvPr/>
            </p:nvSpPr>
            <p:spPr bwMode="auto">
              <a:xfrm>
                <a:off x="1486" y="2160"/>
                <a:ext cx="907" cy="447"/>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sz="2400" b="1" dirty="0"/>
                  <a:t>配合制</a:t>
                </a:r>
              </a:p>
              <a:p>
                <a:r>
                  <a:rPr lang="zh-CN" altLang="en-US" sz="2400" b="1" dirty="0"/>
                  <a:t>（基准制）</a:t>
                </a:r>
              </a:p>
            </p:txBody>
          </p:sp>
          <p:sp>
            <p:nvSpPr>
              <p:cNvPr id="13" name="Rectangle 39"/>
              <p:cNvSpPr>
                <a:spLocks noChangeArrowheads="1"/>
              </p:cNvSpPr>
              <p:nvPr/>
            </p:nvSpPr>
            <p:spPr bwMode="auto">
              <a:xfrm>
                <a:off x="2760" y="1927"/>
                <a:ext cx="1134" cy="265"/>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sz="2400" b="1" dirty="0"/>
                  <a:t>标准公差系列</a:t>
                </a:r>
              </a:p>
            </p:txBody>
          </p:sp>
          <p:sp>
            <p:nvSpPr>
              <p:cNvPr id="14" name="Rectangle 40"/>
              <p:cNvSpPr>
                <a:spLocks noChangeArrowheads="1"/>
              </p:cNvSpPr>
              <p:nvPr/>
            </p:nvSpPr>
            <p:spPr bwMode="auto">
              <a:xfrm>
                <a:off x="2744" y="2471"/>
                <a:ext cx="1134" cy="265"/>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sz="2400" b="1" dirty="0"/>
                  <a:t>基本偏差系列</a:t>
                </a:r>
              </a:p>
            </p:txBody>
          </p:sp>
          <p:sp>
            <p:nvSpPr>
              <p:cNvPr id="15" name="Line 41"/>
              <p:cNvSpPr>
                <a:spLocks noChangeShapeType="1"/>
              </p:cNvSpPr>
              <p:nvPr/>
            </p:nvSpPr>
            <p:spPr bwMode="auto">
              <a:xfrm>
                <a:off x="1247" y="2387"/>
                <a:ext cx="272" cy="0"/>
              </a:xfrm>
              <a:prstGeom prst="line">
                <a:avLst/>
              </a:prstGeom>
              <a:noFill/>
              <a:ln w="57150">
                <a:solidFill>
                  <a:schemeClr val="tx1"/>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42"/>
              <p:cNvSpPr>
                <a:spLocks noChangeShapeType="1"/>
              </p:cNvSpPr>
              <p:nvPr/>
            </p:nvSpPr>
            <p:spPr bwMode="auto">
              <a:xfrm>
                <a:off x="2517" y="2069"/>
                <a:ext cx="272" cy="0"/>
              </a:xfrm>
              <a:prstGeom prst="line">
                <a:avLst/>
              </a:prstGeom>
              <a:noFill/>
              <a:ln w="57150">
                <a:solidFill>
                  <a:schemeClr val="tx1"/>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43"/>
              <p:cNvSpPr>
                <a:spLocks noChangeShapeType="1"/>
              </p:cNvSpPr>
              <p:nvPr/>
            </p:nvSpPr>
            <p:spPr bwMode="auto">
              <a:xfrm>
                <a:off x="2517" y="2614"/>
                <a:ext cx="272" cy="0"/>
              </a:xfrm>
              <a:prstGeom prst="line">
                <a:avLst/>
              </a:prstGeom>
              <a:noFill/>
              <a:ln w="57150">
                <a:solidFill>
                  <a:schemeClr val="tx1"/>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44"/>
              <p:cNvSpPr>
                <a:spLocks noChangeShapeType="1"/>
              </p:cNvSpPr>
              <p:nvPr/>
            </p:nvSpPr>
            <p:spPr bwMode="auto">
              <a:xfrm>
                <a:off x="3969" y="2341"/>
                <a:ext cx="408" cy="0"/>
              </a:xfrm>
              <a:prstGeom prst="line">
                <a:avLst/>
              </a:prstGeom>
              <a:noFill/>
              <a:ln w="57150">
                <a:solidFill>
                  <a:schemeClr val="tx1"/>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46"/>
              <p:cNvSpPr>
                <a:spLocks noChangeShapeType="1"/>
              </p:cNvSpPr>
              <p:nvPr/>
            </p:nvSpPr>
            <p:spPr bwMode="auto">
              <a:xfrm>
                <a:off x="2517" y="2069"/>
                <a:ext cx="0" cy="545"/>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48"/>
              <p:cNvSpPr>
                <a:spLocks noChangeShapeType="1"/>
              </p:cNvSpPr>
              <p:nvPr/>
            </p:nvSpPr>
            <p:spPr bwMode="auto">
              <a:xfrm>
                <a:off x="2381" y="2387"/>
                <a:ext cx="136" cy="0"/>
              </a:xfrm>
              <a:prstGeom prst="line">
                <a:avLst/>
              </a:prstGeom>
              <a:noFill/>
              <a:ln w="5715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Line 51"/>
              <p:cNvSpPr>
                <a:spLocks noChangeShapeType="1"/>
              </p:cNvSpPr>
              <p:nvPr/>
            </p:nvSpPr>
            <p:spPr bwMode="auto">
              <a:xfrm>
                <a:off x="3878" y="2568"/>
                <a:ext cx="91" cy="0"/>
              </a:xfrm>
              <a:prstGeom prst="line">
                <a:avLst/>
              </a:prstGeom>
              <a:noFill/>
              <a:ln w="5715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 name="Line 52"/>
              <p:cNvSpPr>
                <a:spLocks noChangeShapeType="1"/>
              </p:cNvSpPr>
              <p:nvPr/>
            </p:nvSpPr>
            <p:spPr bwMode="auto">
              <a:xfrm>
                <a:off x="3878" y="2069"/>
                <a:ext cx="91" cy="0"/>
              </a:xfrm>
              <a:prstGeom prst="line">
                <a:avLst/>
              </a:prstGeom>
              <a:noFill/>
              <a:ln w="5715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Line 53"/>
              <p:cNvSpPr>
                <a:spLocks noChangeShapeType="1"/>
              </p:cNvSpPr>
              <p:nvPr/>
            </p:nvSpPr>
            <p:spPr bwMode="auto">
              <a:xfrm>
                <a:off x="3968" y="2073"/>
                <a:ext cx="0" cy="499"/>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24" name="Rectangle 55"/>
          <p:cNvSpPr>
            <a:spLocks noChangeArrowheads="1"/>
          </p:cNvSpPr>
          <p:nvPr/>
        </p:nvSpPr>
        <p:spPr bwMode="auto">
          <a:xfrm>
            <a:off x="2720479" y="2133104"/>
            <a:ext cx="914400" cy="431800"/>
          </a:xfrm>
          <a:prstGeom prst="rect">
            <a:avLst/>
          </a:prstGeom>
          <a:noFill/>
          <a:ln w="38100">
            <a:solidFill>
              <a:srgbClr val="9933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a:solidFill>
                  <a:srgbClr val="FF0000"/>
                </a:solidFill>
              </a:rPr>
              <a:t>1</a:t>
            </a:r>
          </a:p>
        </p:txBody>
      </p:sp>
      <p:sp>
        <p:nvSpPr>
          <p:cNvPr id="25" name="Rectangle 56"/>
          <p:cNvSpPr>
            <a:spLocks noChangeArrowheads="1"/>
          </p:cNvSpPr>
          <p:nvPr/>
        </p:nvSpPr>
        <p:spPr bwMode="auto">
          <a:xfrm>
            <a:off x="4932040" y="1845169"/>
            <a:ext cx="914400" cy="431800"/>
          </a:xfrm>
          <a:prstGeom prst="rect">
            <a:avLst/>
          </a:prstGeom>
          <a:noFill/>
          <a:ln w="38100">
            <a:solidFill>
              <a:srgbClr val="9933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a:solidFill>
                  <a:srgbClr val="FF0000"/>
                </a:solidFill>
              </a:rPr>
              <a:t>2</a:t>
            </a:r>
          </a:p>
        </p:txBody>
      </p:sp>
      <p:sp>
        <p:nvSpPr>
          <p:cNvPr id="26" name="Rectangle 57"/>
          <p:cNvSpPr>
            <a:spLocks noChangeArrowheads="1"/>
          </p:cNvSpPr>
          <p:nvPr/>
        </p:nvSpPr>
        <p:spPr bwMode="auto">
          <a:xfrm>
            <a:off x="7402016" y="1989632"/>
            <a:ext cx="914400" cy="431800"/>
          </a:xfrm>
          <a:prstGeom prst="rect">
            <a:avLst/>
          </a:prstGeom>
          <a:noFill/>
          <a:ln w="38100">
            <a:solidFill>
              <a:srgbClr val="9933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a:solidFill>
                  <a:srgbClr val="FF0000"/>
                </a:solidFill>
              </a:rPr>
              <a:t>4</a:t>
            </a:r>
          </a:p>
        </p:txBody>
      </p:sp>
      <p:sp>
        <p:nvSpPr>
          <p:cNvPr id="27" name="Rectangle 58"/>
          <p:cNvSpPr>
            <a:spLocks noChangeArrowheads="1"/>
          </p:cNvSpPr>
          <p:nvPr/>
        </p:nvSpPr>
        <p:spPr bwMode="auto">
          <a:xfrm>
            <a:off x="4932040" y="3717032"/>
            <a:ext cx="914400" cy="431800"/>
          </a:xfrm>
          <a:prstGeom prst="rect">
            <a:avLst/>
          </a:prstGeom>
          <a:noFill/>
          <a:ln w="38100">
            <a:solidFill>
              <a:srgbClr val="9933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a:solidFill>
                  <a:srgbClr val="FF0000"/>
                </a:solidFill>
              </a:rPr>
              <a:t>3</a:t>
            </a:r>
          </a:p>
        </p:txBody>
      </p:sp>
      <p:sp>
        <p:nvSpPr>
          <p:cNvPr id="28" name="Text Box 60"/>
          <p:cNvSpPr txBox="1">
            <a:spLocks noChangeArrowheads="1"/>
          </p:cNvSpPr>
          <p:nvPr/>
        </p:nvSpPr>
        <p:spPr bwMode="auto">
          <a:xfrm>
            <a:off x="1182693" y="5253351"/>
            <a:ext cx="6246827"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smtClean="0"/>
              <a:t>《</a:t>
            </a:r>
            <a:r>
              <a:rPr lang="zh-CN" altLang="en-US" sz="2400" b="1" dirty="0"/>
              <a:t>极限与配合</a:t>
            </a:r>
            <a:r>
              <a:rPr lang="en-US" altLang="zh-CN" sz="2400" b="1" dirty="0"/>
              <a:t>》</a:t>
            </a:r>
            <a:r>
              <a:rPr lang="zh-CN" altLang="en-US" sz="2400" b="1" dirty="0"/>
              <a:t>国家标准主要由</a:t>
            </a:r>
            <a:r>
              <a:rPr lang="en-US" altLang="zh-CN" sz="2400" b="1" dirty="0"/>
              <a:t>4</a:t>
            </a:r>
            <a:r>
              <a:rPr lang="zh-CN" altLang="en-US" sz="2400" b="1" dirty="0"/>
              <a:t>部分组成。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2000" fill="hold"/>
                                        <p:tgtEl>
                                          <p:spTgt spid="7"/>
                                        </p:tgtEl>
                                        <p:attrNameLst>
                                          <p:attrName>ppt_x</p:attrName>
                                        </p:attrNameLst>
                                      </p:cBhvr>
                                      <p:tavLst>
                                        <p:tav tm="0">
                                          <p:val>
                                            <p:strVal val="0-#ppt_w/2"/>
                                          </p:val>
                                        </p:tav>
                                        <p:tav tm="100000">
                                          <p:val>
                                            <p:strVal val="#ppt_x"/>
                                          </p:val>
                                        </p:tav>
                                      </p:tavLst>
                                    </p:anim>
                                    <p:anim calcmode="lin" valueType="num">
                                      <p:cBhvr additive="base">
                                        <p:cTn id="18" dur="2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linds(horizontal)">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ox(in)">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diamond(in)">
                                      <p:cBhvr>
                                        <p:cTn id="33" dur="20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checkerboard(across)">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24" grpId="0" animBg="1"/>
      <p:bldP spid="25" grpId="0" animBg="1"/>
      <p:bldP spid="26" grpId="0" animBg="1"/>
      <p:bldP spid="27" grpId="0" animBg="1"/>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5</a:t>
            </a:fld>
            <a:endParaRPr lang="en-US" altLang="zh-CN"/>
          </a:p>
        </p:txBody>
      </p:sp>
      <p:sp>
        <p:nvSpPr>
          <p:cNvPr id="5" name="Text Box 7"/>
          <p:cNvSpPr txBox="1">
            <a:spLocks noChangeArrowheads="1"/>
          </p:cNvSpPr>
          <p:nvPr/>
        </p:nvSpPr>
        <p:spPr bwMode="auto">
          <a:xfrm>
            <a:off x="428596" y="332656"/>
            <a:ext cx="7773988"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3200" b="1" dirty="0"/>
              <a:t>3.1.3 《</a:t>
            </a:r>
            <a:r>
              <a:rPr lang="zh-CN" altLang="en-US" sz="3200" b="1" dirty="0"/>
              <a:t>极限与配合</a:t>
            </a:r>
            <a:r>
              <a:rPr lang="en-US" altLang="zh-CN" sz="3200" b="1" dirty="0"/>
              <a:t>》</a:t>
            </a:r>
            <a:r>
              <a:rPr lang="zh-CN" altLang="en-US" sz="3200" b="1" dirty="0"/>
              <a:t>的基本术语和定义</a:t>
            </a:r>
            <a:endParaRPr lang="zh-CN" altLang="en-US" sz="3200" dirty="0"/>
          </a:p>
        </p:txBody>
      </p:sp>
      <p:sp>
        <p:nvSpPr>
          <p:cNvPr id="6" name="Text Box 3"/>
          <p:cNvSpPr txBox="1">
            <a:spLocks noChangeArrowheads="1"/>
          </p:cNvSpPr>
          <p:nvPr/>
        </p:nvSpPr>
        <p:spPr bwMode="auto">
          <a:xfrm>
            <a:off x="300757" y="1196752"/>
            <a:ext cx="736758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1.  </a:t>
            </a:r>
            <a:r>
              <a:rPr lang="zh-CN" altLang="en-US" sz="2400" b="1" dirty="0"/>
              <a:t>有关尺寸的术语和定义 </a:t>
            </a:r>
          </a:p>
        </p:txBody>
      </p:sp>
      <p:sp>
        <p:nvSpPr>
          <p:cNvPr id="7" name="Text Box 5"/>
          <p:cNvSpPr txBox="1">
            <a:spLocks noChangeArrowheads="1"/>
          </p:cNvSpPr>
          <p:nvPr/>
        </p:nvSpPr>
        <p:spPr bwMode="auto">
          <a:xfrm>
            <a:off x="517114" y="1785926"/>
            <a:ext cx="8247063"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t> </a:t>
            </a:r>
            <a:r>
              <a:rPr lang="en-US" altLang="zh-CN" sz="2400" b="1" dirty="0"/>
              <a:t>(1)</a:t>
            </a:r>
            <a:r>
              <a:rPr lang="en-US" altLang="zh-CN" sz="2400" b="1" dirty="0">
                <a:latin typeface="宋体" panose="02010600030101010101" pitchFamily="2" charset="-122"/>
              </a:rPr>
              <a:t> </a:t>
            </a:r>
            <a:r>
              <a:rPr lang="zh-CN" altLang="en-US" sz="2400" b="1" dirty="0">
                <a:latin typeface="宋体" panose="02010600030101010101" pitchFamily="2" charset="-122"/>
              </a:rPr>
              <a:t>尺寸</a:t>
            </a:r>
            <a:r>
              <a:rPr lang="en-US" altLang="zh-CN" sz="2400" b="1" dirty="0"/>
              <a:t>—</a:t>
            </a:r>
            <a:r>
              <a:rPr lang="en-US" altLang="zh-CN" sz="2400" b="1" dirty="0">
                <a:latin typeface="宋体" panose="02010600030101010101" pitchFamily="2" charset="-122"/>
              </a:rPr>
              <a:t> </a:t>
            </a:r>
            <a:r>
              <a:rPr lang="zh-CN" altLang="en-US" sz="2400" b="1" dirty="0"/>
              <a:t>以特定单位表示线性尺寸值的数值。</a:t>
            </a:r>
            <a:endParaRPr lang="zh-CN" altLang="en-US" sz="2400" dirty="0">
              <a:latin typeface="宋体" panose="02010600030101010101" pitchFamily="2" charset="-122"/>
            </a:endParaRPr>
          </a:p>
        </p:txBody>
      </p:sp>
      <p:sp>
        <p:nvSpPr>
          <p:cNvPr id="8" name="Text Box 6"/>
          <p:cNvSpPr txBox="1">
            <a:spLocks noChangeArrowheads="1"/>
          </p:cNvSpPr>
          <p:nvPr/>
        </p:nvSpPr>
        <p:spPr bwMode="auto">
          <a:xfrm>
            <a:off x="516544" y="3500438"/>
            <a:ext cx="828092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(2)</a:t>
            </a:r>
            <a:r>
              <a:rPr lang="en-US" altLang="zh-CN" sz="2400" b="1" dirty="0">
                <a:latin typeface="宋体" panose="02010600030101010101" pitchFamily="2" charset="-122"/>
              </a:rPr>
              <a:t> </a:t>
            </a:r>
            <a:r>
              <a:rPr lang="zh-CN" altLang="en-US" sz="2400" b="1" dirty="0">
                <a:latin typeface="宋体" panose="02010600030101010101" pitchFamily="2" charset="-122"/>
              </a:rPr>
              <a:t>公称尺寸</a:t>
            </a:r>
            <a:r>
              <a:rPr lang="en-US" altLang="zh-CN" sz="2400" b="1" dirty="0"/>
              <a:t>—</a:t>
            </a:r>
            <a:r>
              <a:rPr lang="en-US" altLang="zh-CN" sz="2400" b="1" dirty="0">
                <a:latin typeface="宋体" panose="02010600030101010101" pitchFamily="2" charset="-122"/>
              </a:rPr>
              <a:t> </a:t>
            </a:r>
            <a:r>
              <a:rPr lang="zh-CN" altLang="en-US" sz="2400" b="1" dirty="0"/>
              <a:t>是指</a:t>
            </a:r>
            <a:r>
              <a:rPr lang="zh-CN" altLang="en-US" sz="2400" b="1" dirty="0">
                <a:solidFill>
                  <a:srgbClr val="FF0000"/>
                </a:solidFill>
              </a:rPr>
              <a:t>设计</a:t>
            </a:r>
            <a:r>
              <a:rPr lang="zh-CN" altLang="en-US" sz="2400" b="1" dirty="0"/>
              <a:t>给定的尺寸</a:t>
            </a:r>
            <a:r>
              <a:rPr lang="en-US" altLang="zh-CN" sz="2400" b="1" dirty="0"/>
              <a:t>(</a:t>
            </a:r>
            <a:r>
              <a:rPr lang="zh-CN" altLang="en-US" sz="2400" b="1" dirty="0" smtClean="0">
                <a:solidFill>
                  <a:srgbClr val="FF0000"/>
                </a:solidFill>
              </a:rPr>
              <a:t>孔</a:t>
            </a:r>
            <a:r>
              <a:rPr lang="en-US" altLang="zh-CN" sz="2400" b="1" dirty="0" smtClean="0">
                <a:solidFill>
                  <a:srgbClr val="FF0000"/>
                </a:solidFill>
              </a:rPr>
              <a:t>:</a:t>
            </a:r>
            <a:r>
              <a:rPr lang="en-US" altLang="zh-CN" sz="2400" b="1" i="1" dirty="0" smtClean="0">
                <a:solidFill>
                  <a:srgbClr val="FF0000"/>
                </a:solidFill>
              </a:rPr>
              <a:t>D</a:t>
            </a:r>
            <a:r>
              <a:rPr lang="zh-CN" altLang="en-US" sz="2400" b="1" dirty="0">
                <a:solidFill>
                  <a:srgbClr val="FF0000"/>
                </a:solidFill>
              </a:rPr>
              <a:t>、</a:t>
            </a:r>
            <a:r>
              <a:rPr lang="zh-CN" altLang="en-US" sz="2400" b="1" dirty="0" smtClean="0">
                <a:solidFill>
                  <a:srgbClr val="FF0000"/>
                </a:solidFill>
              </a:rPr>
              <a:t>轴</a:t>
            </a:r>
            <a:r>
              <a:rPr lang="en-US" altLang="zh-CN" sz="2400" b="1" dirty="0" smtClean="0">
                <a:solidFill>
                  <a:srgbClr val="FF0000"/>
                </a:solidFill>
              </a:rPr>
              <a:t>:</a:t>
            </a:r>
            <a:r>
              <a:rPr lang="en-US" altLang="zh-CN" sz="2400" b="1" i="1" dirty="0" smtClean="0">
                <a:solidFill>
                  <a:srgbClr val="FF0000"/>
                </a:solidFill>
              </a:rPr>
              <a:t>d</a:t>
            </a:r>
            <a:r>
              <a:rPr lang="en-US" altLang="zh-CN" sz="2400" b="1" i="1" dirty="0" smtClean="0"/>
              <a:t> </a:t>
            </a:r>
            <a:r>
              <a:rPr lang="en-US" altLang="zh-CN" sz="2400" b="1" dirty="0" smtClean="0"/>
              <a:t>)</a:t>
            </a:r>
            <a:endParaRPr lang="zh-CN" altLang="en-US" sz="2400" b="1" dirty="0">
              <a:latin typeface="宋体" panose="02010600030101010101" pitchFamily="2" charset="-122"/>
            </a:endParaRPr>
          </a:p>
        </p:txBody>
      </p:sp>
      <p:sp>
        <p:nvSpPr>
          <p:cNvPr id="9" name="Text Box 76"/>
          <p:cNvSpPr txBox="1">
            <a:spLocks noChangeArrowheads="1"/>
          </p:cNvSpPr>
          <p:nvPr/>
        </p:nvSpPr>
        <p:spPr bwMode="auto">
          <a:xfrm>
            <a:off x="395536" y="2357430"/>
            <a:ext cx="8329613" cy="93634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400" b="1" dirty="0"/>
              <a:t>        </a:t>
            </a:r>
            <a:r>
              <a:rPr lang="zh-CN" altLang="en-US" sz="2400" b="1" dirty="0"/>
              <a:t>标准规定，图样上的尺寸</a:t>
            </a:r>
            <a:r>
              <a:rPr lang="zh-CN" altLang="en-US" sz="2400" b="1" dirty="0">
                <a:solidFill>
                  <a:srgbClr val="FF0000"/>
                </a:solidFill>
              </a:rPr>
              <a:t>以毫米为单位时，不需标注单位的名称或符号</a:t>
            </a:r>
            <a:r>
              <a:rPr lang="zh-CN" altLang="en-US" sz="2400" b="1" dirty="0"/>
              <a:t>。</a:t>
            </a:r>
          </a:p>
        </p:txBody>
      </p:sp>
      <p:sp>
        <p:nvSpPr>
          <p:cNvPr id="11" name="Text Box 78"/>
          <p:cNvSpPr txBox="1">
            <a:spLocks noChangeArrowheads="1"/>
          </p:cNvSpPr>
          <p:nvPr/>
        </p:nvSpPr>
        <p:spPr bwMode="auto">
          <a:xfrm>
            <a:off x="1187624" y="4071942"/>
            <a:ext cx="6552728" cy="4766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400" b="1" dirty="0" smtClean="0"/>
              <a:t>它</a:t>
            </a:r>
            <a:r>
              <a:rPr lang="zh-CN" altLang="en-US" sz="2400" b="1" dirty="0"/>
              <a:t>是计算上、下极限偏差的起始尺寸。</a:t>
            </a:r>
            <a:endParaRPr lang="zh-CN" altLang="en-US" sz="2400" b="1" dirty="0">
              <a:latin typeface="宋体" panose="02010600030101010101" pitchFamily="2" charset="-122"/>
            </a:endParaRPr>
          </a:p>
        </p:txBody>
      </p:sp>
      <p:sp>
        <p:nvSpPr>
          <p:cNvPr id="12" name="Text Box 56"/>
          <p:cNvSpPr txBox="1">
            <a:spLocks noChangeArrowheads="1"/>
          </p:cNvSpPr>
          <p:nvPr/>
        </p:nvSpPr>
        <p:spPr bwMode="auto">
          <a:xfrm>
            <a:off x="586417" y="4723139"/>
            <a:ext cx="439261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(3) </a:t>
            </a:r>
            <a:r>
              <a:rPr lang="zh-CN" altLang="en-US" sz="2400" b="1" dirty="0">
                <a:latin typeface="宋体" panose="02010600030101010101" pitchFamily="2" charset="-122"/>
              </a:rPr>
              <a:t>实际尺寸</a:t>
            </a:r>
            <a:r>
              <a:rPr lang="en-US" altLang="zh-CN" sz="2400" b="1" dirty="0">
                <a:latin typeface="宋体" panose="02010600030101010101" pitchFamily="2" charset="-122"/>
              </a:rPr>
              <a:t>—</a:t>
            </a:r>
          </a:p>
        </p:txBody>
      </p:sp>
      <p:grpSp>
        <p:nvGrpSpPr>
          <p:cNvPr id="13" name="Group 79"/>
          <p:cNvGrpSpPr/>
          <p:nvPr/>
        </p:nvGrpSpPr>
        <p:grpSpPr bwMode="auto">
          <a:xfrm>
            <a:off x="828155" y="5286392"/>
            <a:ext cx="7824788" cy="512763"/>
            <a:chOff x="568" y="3454"/>
            <a:chExt cx="4929" cy="323"/>
          </a:xfrm>
        </p:grpSpPr>
        <p:sp>
          <p:nvSpPr>
            <p:cNvPr id="14" name="Text Box 9"/>
            <p:cNvSpPr txBox="1">
              <a:spLocks noChangeArrowheads="1"/>
            </p:cNvSpPr>
            <p:nvPr/>
          </p:nvSpPr>
          <p:spPr bwMode="auto">
            <a:xfrm>
              <a:off x="568" y="3475"/>
              <a:ext cx="4929"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是指零件加工后通过测量获得的某一尺寸       </a:t>
              </a:r>
              <a:r>
                <a:rPr lang="zh-CN" altLang="en-US" sz="2400" b="1" dirty="0">
                  <a:latin typeface="宋体" panose="02010600030101010101" pitchFamily="2" charset="-122"/>
                </a:rPr>
                <a:t>。</a:t>
              </a:r>
            </a:p>
          </p:txBody>
        </p:sp>
        <p:graphicFrame>
          <p:nvGraphicFramePr>
            <p:cNvPr id="15" name="Object 71"/>
            <p:cNvGraphicFramePr>
              <a:graphicFrameLocks noChangeAspect="1"/>
            </p:cNvGraphicFramePr>
            <p:nvPr/>
          </p:nvGraphicFramePr>
          <p:xfrm>
            <a:off x="4231" y="3454"/>
            <a:ext cx="739" cy="323"/>
          </p:xfrm>
          <a:graphic>
            <a:graphicData uri="http://schemas.openxmlformats.org/presentationml/2006/ole">
              <p:oleObj spid="_x0000_s1025" name="Equation" r:id="rId4" imgW="12496800" imgH="54864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amond(in)">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
                                        </p:tgtEl>
                                        <p:attrNameLst>
                                          <p:attrName>style.visibility</p:attrName>
                                        </p:attrNameLst>
                                      </p:cBhvr>
                                      <p:to>
                                        <p:strVal val="visible"/>
                                      </p:to>
                                    </p:set>
                                    <p:animEffect transition="in" filter="wipe(left)">
                                      <p:cBhvr>
                                        <p:cTn id="27" dur="3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1"/>
                                        </p:tgtEl>
                                        <p:attrNameLst>
                                          <p:attrName>style.visibility</p:attrName>
                                        </p:attrNameLst>
                                      </p:cBhvr>
                                      <p:to>
                                        <p:strVal val="visible"/>
                                      </p:to>
                                    </p:set>
                                    <p:animEffect transition="in" filter="wipe(left)">
                                      <p:cBhvr>
                                        <p:cTn id="32" dur="300"/>
                                        <p:tgtEl>
                                          <p:spTgt spid="11"/>
                                        </p:tgtEl>
                                      </p:cBhvr>
                                    </p:animEffect>
                                  </p:childTnLst>
                                </p:cTn>
                              </p:par>
                            </p:childTnLst>
                          </p:cTn>
                        </p:par>
                        <p:par>
                          <p:cTn id="33" fill="hold">
                            <p:stCondLst>
                              <p:cond delay="5100"/>
                            </p:stCondLst>
                            <p:childTnLst>
                              <p:par>
                                <p:cTn id="34" presetID="22" presetClass="entr" presetSubtype="8" fill="hold" grpId="0" nodeType="afterEffect">
                                  <p:stCondLst>
                                    <p:cond delay="0"/>
                                  </p:stCondLst>
                                  <p:iterate type="wd">
                                    <p:tmPct val="100000"/>
                                  </p:iterate>
                                  <p:childTnLst>
                                    <p:set>
                                      <p:cBhvr>
                                        <p:cTn id="35" dur="1" fill="hold">
                                          <p:stCondLst>
                                            <p:cond delay="0"/>
                                          </p:stCondLst>
                                        </p:cTn>
                                        <p:tgtEl>
                                          <p:spTgt spid="12"/>
                                        </p:tgtEl>
                                        <p:attrNameLst>
                                          <p:attrName>style.visibility</p:attrName>
                                        </p:attrNameLst>
                                      </p:cBhvr>
                                      <p:to>
                                        <p:strVal val="visible"/>
                                      </p:to>
                                    </p:set>
                                    <p:animEffect transition="in" filter="wipe(left)">
                                      <p:cBhvr>
                                        <p:cTn id="36" dur="3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bldLvl="0" animBg="1" autoUpdateAnimBg="0"/>
      <p:bldP spid="8" grpId="0" bldLvl="0" animBg="1" autoUpdateAnimBg="0"/>
      <p:bldP spid="9" grpId="0"/>
      <p:bldP spid="11" grpId="0" autoUpdateAnimBg="0"/>
      <p:bldP spid="12"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6</a:t>
            </a:fld>
            <a:endParaRPr lang="en-US" altLang="zh-CN"/>
          </a:p>
        </p:txBody>
      </p:sp>
      <p:sp>
        <p:nvSpPr>
          <p:cNvPr id="10" name="Text Box 5"/>
          <p:cNvSpPr txBox="1">
            <a:spLocks noChangeArrowheads="1"/>
          </p:cNvSpPr>
          <p:nvPr/>
        </p:nvSpPr>
        <p:spPr bwMode="auto">
          <a:xfrm>
            <a:off x="467544" y="1196752"/>
            <a:ext cx="81359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(4)</a:t>
            </a:r>
            <a:r>
              <a:rPr lang="en-US" altLang="zh-CN" sz="2400" b="1" dirty="0">
                <a:latin typeface="宋体" panose="02010600030101010101" pitchFamily="2" charset="-122"/>
              </a:rPr>
              <a:t> </a:t>
            </a:r>
            <a:r>
              <a:rPr lang="zh-CN" altLang="en-US" sz="2400" b="1" dirty="0">
                <a:latin typeface="宋体" panose="02010600030101010101" pitchFamily="2" charset="-122"/>
              </a:rPr>
              <a:t>极限尺寸</a:t>
            </a:r>
            <a:r>
              <a:rPr lang="en-US" altLang="zh-CN" sz="2400" b="1" dirty="0"/>
              <a:t>—</a:t>
            </a:r>
            <a:r>
              <a:rPr lang="zh-CN" altLang="en-US" sz="2400" b="1" dirty="0"/>
              <a:t>是指允许尺寸变化的两个极端值。</a:t>
            </a:r>
            <a:endParaRPr lang="zh-CN" altLang="en-US" sz="2400" b="1" dirty="0">
              <a:latin typeface="宋体" panose="02010600030101010101" pitchFamily="2" charset="-122"/>
            </a:endParaRPr>
          </a:p>
        </p:txBody>
      </p:sp>
      <p:sp>
        <p:nvSpPr>
          <p:cNvPr id="12" name="Text Box 8"/>
          <p:cNvSpPr txBox="1">
            <a:spLocks noChangeArrowheads="1"/>
          </p:cNvSpPr>
          <p:nvPr/>
        </p:nvSpPr>
        <p:spPr bwMode="auto">
          <a:xfrm>
            <a:off x="755576" y="1643050"/>
            <a:ext cx="8136904"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sz="2400" b="1" dirty="0"/>
              <a:t>其中允许的最大尺寸为</a:t>
            </a:r>
            <a:r>
              <a:rPr lang="zh-CN" altLang="en-US" sz="2400" b="1" dirty="0">
                <a:solidFill>
                  <a:srgbClr val="FF0000"/>
                </a:solidFill>
              </a:rPr>
              <a:t>上极限尺寸</a:t>
            </a:r>
            <a:r>
              <a:rPr lang="zh-CN" altLang="en-US" sz="2400" b="1" dirty="0"/>
              <a:t>（最大极限尺寸</a:t>
            </a:r>
            <a:r>
              <a:rPr lang="zh-CN" altLang="en-US" sz="2400" b="1" dirty="0" smtClean="0"/>
              <a:t>）</a:t>
            </a:r>
            <a:endParaRPr lang="zh-CN" altLang="en-US" sz="2400" b="1" dirty="0"/>
          </a:p>
        </p:txBody>
      </p:sp>
      <p:sp>
        <p:nvSpPr>
          <p:cNvPr id="14" name="Text Box 9"/>
          <p:cNvSpPr txBox="1">
            <a:spLocks noChangeArrowheads="1"/>
          </p:cNvSpPr>
          <p:nvPr/>
        </p:nvSpPr>
        <p:spPr bwMode="auto">
          <a:xfrm>
            <a:off x="828279" y="3000372"/>
            <a:ext cx="7777162"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sz="2400" b="1" dirty="0"/>
              <a:t>允许的最小尺寸为</a:t>
            </a:r>
            <a:r>
              <a:rPr lang="zh-CN" altLang="en-US" sz="2400" b="1" dirty="0">
                <a:solidFill>
                  <a:srgbClr val="FF0000"/>
                </a:solidFill>
              </a:rPr>
              <a:t>下极限尺寸</a:t>
            </a:r>
            <a:r>
              <a:rPr lang="zh-CN" altLang="en-US" sz="2400" b="1" dirty="0"/>
              <a:t>（最小极限尺寸</a:t>
            </a:r>
            <a:r>
              <a:rPr lang="zh-CN" altLang="en-US" sz="2400" b="1" dirty="0" smtClean="0"/>
              <a:t>）</a:t>
            </a:r>
            <a:endParaRPr lang="zh-CN" altLang="en-US" sz="2400" b="1" dirty="0"/>
          </a:p>
        </p:txBody>
      </p:sp>
      <p:sp>
        <p:nvSpPr>
          <p:cNvPr id="18" name="Text Box 3"/>
          <p:cNvSpPr txBox="1">
            <a:spLocks noChangeArrowheads="1"/>
          </p:cNvSpPr>
          <p:nvPr/>
        </p:nvSpPr>
        <p:spPr bwMode="auto">
          <a:xfrm>
            <a:off x="467544" y="320130"/>
            <a:ext cx="633670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 </a:t>
            </a:r>
            <a:r>
              <a:rPr lang="en-US" altLang="zh-CN" sz="3200" b="1" dirty="0" smtClean="0"/>
              <a:t>1</a:t>
            </a:r>
            <a:r>
              <a:rPr lang="en-US" altLang="zh-CN" sz="3200" b="1" dirty="0"/>
              <a:t>.  </a:t>
            </a:r>
            <a:r>
              <a:rPr lang="zh-CN" altLang="en-US" sz="3200" b="1" dirty="0"/>
              <a:t>有关尺寸的术语和定义 </a:t>
            </a:r>
          </a:p>
        </p:txBody>
      </p:sp>
      <p:sp>
        <p:nvSpPr>
          <p:cNvPr id="19" name="TextBox 18"/>
          <p:cNvSpPr txBox="1"/>
          <p:nvPr/>
        </p:nvSpPr>
        <p:spPr>
          <a:xfrm>
            <a:off x="3214678" y="2357430"/>
            <a:ext cx="2214578" cy="523220"/>
          </a:xfrm>
          <a:prstGeom prst="rect">
            <a:avLst/>
          </a:prstGeom>
          <a:solidFill>
            <a:srgbClr val="FFFF00"/>
          </a:solidFill>
        </p:spPr>
        <p:txBody>
          <a:bodyPr wrap="square" rtlCol="0">
            <a:spAutoFit/>
          </a:bodyPr>
          <a:lstStyle/>
          <a:p>
            <a:r>
              <a:rPr lang="zh-CN" altLang="en-US" dirty="0" smtClean="0"/>
              <a:t>（</a:t>
            </a:r>
            <a:r>
              <a:rPr lang="en-US" altLang="zh-CN" b="1" i="1" dirty="0" err="1" smtClean="0"/>
              <a:t>D</a:t>
            </a:r>
            <a:r>
              <a:rPr lang="en-US" altLang="zh-CN" b="1" i="1" baseline="-25000" dirty="0" err="1" smtClean="0"/>
              <a:t>max</a:t>
            </a:r>
            <a:r>
              <a:rPr lang="en-US" altLang="zh-CN" b="1" i="1" baseline="-25000" dirty="0" smtClean="0"/>
              <a:t> </a:t>
            </a:r>
            <a:r>
              <a:rPr lang="en-US" altLang="zh-CN" dirty="0" smtClean="0"/>
              <a:t>;</a:t>
            </a:r>
            <a:r>
              <a:rPr lang="en-US" altLang="zh-CN" b="1" i="1" dirty="0" smtClean="0"/>
              <a:t> </a:t>
            </a:r>
            <a:r>
              <a:rPr lang="en-US" altLang="zh-CN" b="1" i="1" dirty="0" err="1" smtClean="0"/>
              <a:t>d</a:t>
            </a:r>
            <a:r>
              <a:rPr lang="en-US" altLang="zh-CN" b="1" i="1" baseline="-25000" dirty="0" err="1" smtClean="0"/>
              <a:t>max</a:t>
            </a:r>
            <a:r>
              <a:rPr lang="zh-CN" altLang="en-US" dirty="0" smtClean="0"/>
              <a:t>）</a:t>
            </a:r>
            <a:endParaRPr lang="zh-CN" altLang="en-US" dirty="0"/>
          </a:p>
        </p:txBody>
      </p:sp>
      <p:sp>
        <p:nvSpPr>
          <p:cNvPr id="20" name="TextBox 19"/>
          <p:cNvSpPr txBox="1"/>
          <p:nvPr/>
        </p:nvSpPr>
        <p:spPr>
          <a:xfrm>
            <a:off x="3279995" y="3714752"/>
            <a:ext cx="2214578" cy="523220"/>
          </a:xfrm>
          <a:prstGeom prst="rect">
            <a:avLst/>
          </a:prstGeom>
          <a:solidFill>
            <a:srgbClr val="FFFF00"/>
          </a:solidFill>
        </p:spPr>
        <p:txBody>
          <a:bodyPr wrap="square" rtlCol="0">
            <a:spAutoFit/>
          </a:bodyPr>
          <a:lstStyle/>
          <a:p>
            <a:r>
              <a:rPr lang="zh-CN" altLang="en-US" dirty="0" smtClean="0"/>
              <a:t>（</a:t>
            </a:r>
            <a:r>
              <a:rPr lang="en-US" altLang="zh-CN" b="1" i="1" dirty="0" err="1" smtClean="0"/>
              <a:t>D</a:t>
            </a:r>
            <a:r>
              <a:rPr lang="en-US" altLang="zh-CN" b="1" i="1" baseline="-25000" dirty="0" err="1" smtClean="0"/>
              <a:t>min</a:t>
            </a:r>
            <a:r>
              <a:rPr lang="en-US" altLang="zh-CN" b="1" i="1" baseline="-25000" dirty="0" smtClean="0"/>
              <a:t> </a:t>
            </a:r>
            <a:r>
              <a:rPr lang="en-US" altLang="zh-CN" dirty="0" smtClean="0"/>
              <a:t>;</a:t>
            </a:r>
            <a:r>
              <a:rPr lang="en-US" altLang="zh-CN" b="1" i="1" dirty="0" smtClean="0"/>
              <a:t> </a:t>
            </a:r>
            <a:r>
              <a:rPr lang="en-US" altLang="zh-CN" b="1" i="1" dirty="0" err="1" smtClean="0"/>
              <a:t>d</a:t>
            </a:r>
            <a:r>
              <a:rPr lang="en-US" altLang="zh-CN" b="1" i="1" baseline="-25000" dirty="0" err="1" smtClean="0"/>
              <a:t>min</a:t>
            </a:r>
            <a:r>
              <a:rPr lang="zh-CN" altLang="en-US" dirty="0" smtClean="0"/>
              <a:t>）</a:t>
            </a:r>
            <a:endParaRPr lang="zh-CN" altLang="en-US" dirty="0"/>
          </a:p>
        </p:txBody>
      </p:sp>
      <p:sp>
        <p:nvSpPr>
          <p:cNvPr id="21" name="TextBox 20"/>
          <p:cNvSpPr txBox="1"/>
          <p:nvPr/>
        </p:nvSpPr>
        <p:spPr>
          <a:xfrm>
            <a:off x="1071538" y="4429132"/>
            <a:ext cx="7072362" cy="830997"/>
          </a:xfrm>
          <a:prstGeom prst="rect">
            <a:avLst/>
          </a:prstGeom>
          <a:solidFill>
            <a:srgbClr val="FFCCFF"/>
          </a:solidFill>
          <a:ln>
            <a:solidFill>
              <a:srgbClr val="FFFF99"/>
            </a:solidFill>
          </a:ln>
        </p:spPr>
        <p:txBody>
          <a:bodyPr wrap="square" rtlCol="0">
            <a:spAutoFit/>
          </a:bodyPr>
          <a:lstStyle/>
          <a:p>
            <a:r>
              <a:rPr lang="zh-CN" altLang="en-US" sz="2400" b="1" dirty="0" smtClean="0"/>
              <a:t>公称尺寸</a:t>
            </a:r>
            <a:r>
              <a:rPr lang="en-US" altLang="zh-CN" sz="2400" b="1" i="1" dirty="0" smtClean="0"/>
              <a:t>D</a:t>
            </a:r>
            <a:r>
              <a:rPr lang="zh-CN" altLang="en-US" sz="2400" b="1" dirty="0" smtClean="0"/>
              <a:t>，</a:t>
            </a:r>
            <a:r>
              <a:rPr lang="en-US" altLang="zh-CN" sz="2400" b="1" i="1" dirty="0" smtClean="0"/>
              <a:t>d</a:t>
            </a:r>
            <a:r>
              <a:rPr lang="zh-CN" altLang="en-US" sz="2400" b="1" dirty="0" smtClean="0"/>
              <a:t>和极限尺寸</a:t>
            </a:r>
            <a:r>
              <a:rPr lang="en-US" altLang="zh-CN" sz="2400" b="1" i="1" dirty="0" err="1" smtClean="0"/>
              <a:t>D</a:t>
            </a:r>
            <a:r>
              <a:rPr lang="en-US" altLang="zh-CN" sz="2400" b="1" i="1" baseline="-25000" dirty="0" err="1" smtClean="0"/>
              <a:t>max</a:t>
            </a:r>
            <a:r>
              <a:rPr lang="zh-CN" altLang="en-US" sz="2400" b="1" dirty="0" smtClean="0"/>
              <a:t>，</a:t>
            </a:r>
            <a:r>
              <a:rPr lang="en-US" altLang="zh-CN" sz="2400" b="1" i="1" dirty="0" err="1" smtClean="0"/>
              <a:t>D</a:t>
            </a:r>
            <a:r>
              <a:rPr lang="en-US" altLang="zh-CN" sz="2400" b="1" i="1" baseline="-25000" dirty="0" err="1" smtClean="0"/>
              <a:t>min</a:t>
            </a:r>
            <a:r>
              <a:rPr lang="zh-CN" altLang="en-US" sz="2400" b="1" dirty="0" smtClean="0"/>
              <a:t>；</a:t>
            </a:r>
            <a:r>
              <a:rPr lang="en-US" altLang="zh-CN" sz="2400" b="1" i="1" dirty="0" err="1" smtClean="0"/>
              <a:t>d</a:t>
            </a:r>
            <a:r>
              <a:rPr lang="en-US" altLang="zh-CN" sz="2400" b="1" i="1" baseline="-25000" dirty="0" err="1" smtClean="0"/>
              <a:t>max</a:t>
            </a:r>
            <a:r>
              <a:rPr lang="zh-CN" altLang="en-US" sz="2400" b="1" dirty="0" smtClean="0"/>
              <a:t>，</a:t>
            </a:r>
            <a:r>
              <a:rPr lang="en-US" altLang="zh-CN" sz="2400" b="1" i="1" dirty="0" err="1" smtClean="0"/>
              <a:t>d</a:t>
            </a:r>
            <a:r>
              <a:rPr lang="en-US" altLang="zh-CN" sz="2400" b="1" i="1" baseline="-25000" dirty="0" err="1" smtClean="0"/>
              <a:t>min</a:t>
            </a:r>
            <a:r>
              <a:rPr lang="zh-CN" altLang="en-US" sz="2400" b="1" dirty="0" smtClean="0"/>
              <a:t>是设计给定的。</a:t>
            </a:r>
            <a:endParaRPr lang="zh-CN" altLang="en-US" sz="2400" b="1" dirty="0"/>
          </a:p>
        </p:txBody>
      </p:sp>
      <p:sp>
        <p:nvSpPr>
          <p:cNvPr id="22" name="TextBox 21"/>
          <p:cNvSpPr txBox="1"/>
          <p:nvPr/>
        </p:nvSpPr>
        <p:spPr>
          <a:xfrm>
            <a:off x="1785620" y="5549265"/>
            <a:ext cx="5863590" cy="460375"/>
          </a:xfrm>
          <a:prstGeom prst="rect">
            <a:avLst/>
          </a:prstGeom>
          <a:solidFill>
            <a:srgbClr val="FFFFCC"/>
          </a:solidFill>
          <a:ln>
            <a:solidFill>
              <a:srgbClr val="FFFF99"/>
            </a:solidFill>
          </a:ln>
        </p:spPr>
        <p:txBody>
          <a:bodyPr wrap="square" rtlCol="0">
            <a:spAutoFit/>
          </a:bodyPr>
          <a:lstStyle/>
          <a:p>
            <a:r>
              <a:rPr lang="zh-CN" altLang="en-US" sz="2400" b="1" dirty="0" smtClean="0"/>
              <a:t>实际尺寸</a:t>
            </a:r>
            <a:r>
              <a:rPr lang="en-US" altLang="zh-CN" sz="2400" b="1" i="1" dirty="0" err="1" smtClean="0"/>
              <a:t>D</a:t>
            </a:r>
            <a:r>
              <a:rPr lang="en-US" altLang="zh-CN" sz="2400" b="1" i="1" baseline="-25000" dirty="0" err="1" smtClean="0"/>
              <a:t>a</a:t>
            </a:r>
            <a:r>
              <a:rPr lang="zh-CN" altLang="en-US" sz="2400" b="1" dirty="0" smtClean="0"/>
              <a:t>，</a:t>
            </a:r>
            <a:r>
              <a:rPr lang="en-US" altLang="zh-CN" sz="2400" b="1" i="1" dirty="0" err="1" smtClean="0"/>
              <a:t>d</a:t>
            </a:r>
            <a:r>
              <a:rPr lang="en-US" altLang="zh-CN" sz="2400" b="1" i="1" baseline="-25000" dirty="0" err="1" smtClean="0"/>
              <a:t>a</a:t>
            </a:r>
            <a:r>
              <a:rPr lang="zh-CN" altLang="en-US" sz="2400" b="1" dirty="0" smtClean="0"/>
              <a:t>是通过测量得到的。</a:t>
            </a:r>
            <a:endParaRPr lang="zh-CN" altLang="en-US" sz="24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7</a:t>
            </a:fld>
            <a:endParaRPr lang="en-US" altLang="zh-CN"/>
          </a:p>
        </p:txBody>
      </p:sp>
      <p:sp>
        <p:nvSpPr>
          <p:cNvPr id="3" name="Text Box 8"/>
          <p:cNvSpPr txBox="1">
            <a:spLocks noChangeArrowheads="1"/>
          </p:cNvSpPr>
          <p:nvPr/>
        </p:nvSpPr>
        <p:spPr bwMode="auto">
          <a:xfrm>
            <a:off x="899592" y="1340768"/>
            <a:ext cx="7058025"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FF0000"/>
                </a:solidFill>
              </a:rPr>
              <a:t>实际尺寸合格条件为</a:t>
            </a:r>
            <a:r>
              <a:rPr lang="en-US" altLang="zh-CN" b="1" dirty="0">
                <a:solidFill>
                  <a:srgbClr val="FF0000"/>
                </a:solidFill>
              </a:rPr>
              <a:t>:</a:t>
            </a:r>
          </a:p>
        </p:txBody>
      </p:sp>
      <p:graphicFrame>
        <p:nvGraphicFramePr>
          <p:cNvPr id="5" name="Object 9"/>
          <p:cNvGraphicFramePr>
            <a:graphicFrameLocks noChangeAspect="1"/>
          </p:cNvGraphicFramePr>
          <p:nvPr/>
        </p:nvGraphicFramePr>
        <p:xfrm>
          <a:off x="2643174" y="2786058"/>
          <a:ext cx="3779374" cy="820222"/>
        </p:xfrm>
        <a:graphic>
          <a:graphicData uri="http://schemas.openxmlformats.org/presentationml/2006/ole">
            <p:oleObj spid="_x0000_s14338" name="Equation" r:id="rId3" imgW="25298400" imgH="5486400" progId="">
              <p:embed/>
            </p:oleObj>
          </a:graphicData>
        </a:graphic>
      </p:graphicFrame>
      <p:graphicFrame>
        <p:nvGraphicFramePr>
          <p:cNvPr id="6" name="Object 10"/>
          <p:cNvGraphicFramePr>
            <a:graphicFrameLocks noChangeAspect="1"/>
          </p:cNvGraphicFramePr>
          <p:nvPr/>
        </p:nvGraphicFramePr>
        <p:xfrm>
          <a:off x="2643174" y="4000504"/>
          <a:ext cx="3790391" cy="886762"/>
        </p:xfrm>
        <a:graphic>
          <a:graphicData uri="http://schemas.openxmlformats.org/presentationml/2006/ole">
            <p:oleObj spid="_x0000_s14337" name="Equation" r:id="rId4" imgW="23469600" imgH="54864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8</a:t>
            </a:fld>
            <a:endParaRPr lang="en-US" altLang="zh-CN"/>
          </a:p>
        </p:txBody>
      </p:sp>
      <p:sp>
        <p:nvSpPr>
          <p:cNvPr id="3" name="Text Box 4"/>
          <p:cNvSpPr txBox="1">
            <a:spLocks noChangeArrowheads="1"/>
          </p:cNvSpPr>
          <p:nvPr/>
        </p:nvSpPr>
        <p:spPr bwMode="auto">
          <a:xfrm>
            <a:off x="178643" y="332656"/>
            <a:ext cx="7705725"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dirty="0"/>
              <a:t>    </a:t>
            </a:r>
            <a:r>
              <a:rPr lang="en-US" altLang="zh-CN" sz="3200" b="1" dirty="0"/>
              <a:t>2. </a:t>
            </a:r>
            <a:r>
              <a:rPr lang="zh-CN" altLang="en-US" sz="3200" b="1" dirty="0"/>
              <a:t>尺寸偏差和尺寸公差的术语和定义</a:t>
            </a:r>
          </a:p>
        </p:txBody>
      </p:sp>
      <p:sp>
        <p:nvSpPr>
          <p:cNvPr id="5" name="Text Box 5"/>
          <p:cNvSpPr txBox="1">
            <a:spLocks noChangeArrowheads="1"/>
          </p:cNvSpPr>
          <p:nvPr/>
        </p:nvSpPr>
        <p:spPr bwMode="auto">
          <a:xfrm>
            <a:off x="715166" y="1755166"/>
            <a:ext cx="7890670" cy="977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400" b="1" dirty="0" smtClean="0">
                <a:latin typeface="宋体" panose="02010600030101010101" pitchFamily="2" charset="-122"/>
              </a:rPr>
              <a:t>   某</a:t>
            </a:r>
            <a:r>
              <a:rPr lang="zh-CN" altLang="en-US" sz="2400" b="1" dirty="0">
                <a:latin typeface="宋体" panose="02010600030101010101" pitchFamily="2" charset="-122"/>
              </a:rPr>
              <a:t>一尺寸</a:t>
            </a:r>
            <a:r>
              <a:rPr lang="en-US" altLang="zh-CN" sz="2400" b="1" dirty="0">
                <a:latin typeface="宋体" panose="02010600030101010101" pitchFamily="2" charset="-122"/>
              </a:rPr>
              <a:t>(</a:t>
            </a:r>
            <a:r>
              <a:rPr lang="zh-CN" altLang="en-US" sz="2400" b="1" dirty="0">
                <a:latin typeface="宋体" panose="02010600030101010101" pitchFamily="2" charset="-122"/>
              </a:rPr>
              <a:t>极限尺寸、实际尺寸等</a:t>
            </a:r>
            <a:r>
              <a:rPr lang="en-US" altLang="zh-CN" sz="2400" b="1" dirty="0">
                <a:latin typeface="宋体" panose="02010600030101010101" pitchFamily="2" charset="-122"/>
              </a:rPr>
              <a:t>)</a:t>
            </a:r>
            <a:r>
              <a:rPr lang="zh-CN" altLang="en-US" sz="2400" b="1" dirty="0">
                <a:latin typeface="宋体" panose="02010600030101010101" pitchFamily="2" charset="-122"/>
              </a:rPr>
              <a:t>减其</a:t>
            </a:r>
            <a:r>
              <a:rPr lang="zh-CN" altLang="en-US" sz="2400" b="1" dirty="0">
                <a:solidFill>
                  <a:srgbClr val="FF0000"/>
                </a:solidFill>
                <a:latin typeface="宋体" panose="02010600030101010101" pitchFamily="2" charset="-122"/>
              </a:rPr>
              <a:t>公称尺寸</a:t>
            </a:r>
            <a:r>
              <a:rPr lang="zh-CN" altLang="en-US" sz="2400" b="1" dirty="0">
                <a:latin typeface="宋体" panose="02010600030101010101" pitchFamily="2" charset="-122"/>
              </a:rPr>
              <a:t>所得的</a:t>
            </a:r>
            <a:r>
              <a:rPr lang="zh-CN" altLang="en-US" sz="2400" b="1" dirty="0">
                <a:solidFill>
                  <a:srgbClr val="FF0000"/>
                </a:solidFill>
                <a:latin typeface="宋体" panose="02010600030101010101" pitchFamily="2" charset="-122"/>
              </a:rPr>
              <a:t>代数差。</a:t>
            </a:r>
            <a:endParaRPr lang="zh-CN" altLang="en-US" sz="2400" b="1" dirty="0">
              <a:latin typeface="宋体" panose="02010600030101010101" pitchFamily="2" charset="-122"/>
            </a:endParaRPr>
          </a:p>
        </p:txBody>
      </p:sp>
      <p:sp>
        <p:nvSpPr>
          <p:cNvPr id="6" name="Rectangle 6"/>
          <p:cNvSpPr>
            <a:spLocks noChangeArrowheads="1"/>
          </p:cNvSpPr>
          <p:nvPr/>
        </p:nvSpPr>
        <p:spPr bwMode="auto">
          <a:xfrm>
            <a:off x="571472" y="1209616"/>
            <a:ext cx="57912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dirty="0"/>
              <a:t> </a:t>
            </a:r>
            <a:r>
              <a:rPr lang="en-US" altLang="zh-CN" sz="2400" b="1" dirty="0"/>
              <a:t>(1)</a:t>
            </a:r>
            <a:r>
              <a:rPr lang="en-US" altLang="zh-CN" sz="2400" b="1" dirty="0">
                <a:latin typeface="宋体" panose="02010600030101010101" pitchFamily="2" charset="-122"/>
              </a:rPr>
              <a:t> </a:t>
            </a:r>
            <a:r>
              <a:rPr lang="zh-CN" altLang="en-US" sz="2400" b="1" dirty="0">
                <a:latin typeface="宋体" panose="02010600030101010101" pitchFamily="2" charset="-122"/>
              </a:rPr>
              <a:t>尺寸偏差（简称</a:t>
            </a:r>
            <a:r>
              <a:rPr lang="zh-CN" altLang="en-US" sz="2400" b="1" dirty="0">
                <a:solidFill>
                  <a:srgbClr val="FF0000"/>
                </a:solidFill>
                <a:latin typeface="宋体" panose="02010600030101010101" pitchFamily="2" charset="-122"/>
              </a:rPr>
              <a:t>偏差</a:t>
            </a:r>
            <a:r>
              <a:rPr lang="zh-CN" altLang="en-US" sz="2400" dirty="0">
                <a:latin typeface="宋体" panose="02010600030101010101" pitchFamily="2" charset="-122"/>
              </a:rPr>
              <a:t>）</a:t>
            </a:r>
            <a:r>
              <a:rPr lang="en-US" altLang="zh-CN" sz="2400" dirty="0"/>
              <a:t>—</a:t>
            </a:r>
            <a:endParaRPr lang="en-US" altLang="zh-CN" sz="2400" dirty="0">
              <a:latin typeface="宋体" panose="02010600030101010101" pitchFamily="2" charset="-122"/>
            </a:endParaRPr>
          </a:p>
        </p:txBody>
      </p:sp>
      <p:sp>
        <p:nvSpPr>
          <p:cNvPr id="7" name="Text Box 13"/>
          <p:cNvSpPr txBox="1">
            <a:spLocks noChangeArrowheads="1"/>
          </p:cNvSpPr>
          <p:nvPr/>
        </p:nvSpPr>
        <p:spPr bwMode="auto">
          <a:xfrm>
            <a:off x="676218" y="3067654"/>
            <a:ext cx="7391744" cy="5355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400" dirty="0"/>
              <a:t> </a:t>
            </a:r>
            <a:r>
              <a:rPr lang="en-US" altLang="zh-CN" sz="2400" b="1" dirty="0"/>
              <a:t>①  </a:t>
            </a:r>
            <a:r>
              <a:rPr lang="zh-CN" altLang="en-US" sz="2400" b="1" dirty="0" smtClean="0"/>
              <a:t>极限尺寸</a:t>
            </a:r>
            <a:r>
              <a:rPr lang="zh-CN" altLang="en-US" sz="2400" b="1" dirty="0">
                <a:latin typeface="宋体" panose="02010600030101010101" pitchFamily="2" charset="-122"/>
              </a:rPr>
              <a:t>减其公称尺寸所得的代数差为</a:t>
            </a:r>
            <a:r>
              <a:rPr lang="zh-CN" altLang="en-US" sz="2400" b="1" dirty="0" smtClean="0">
                <a:solidFill>
                  <a:srgbClr val="FF0000"/>
                </a:solidFill>
                <a:latin typeface="宋体" panose="02010600030101010101" pitchFamily="2" charset="-122"/>
              </a:rPr>
              <a:t>极限偏差</a:t>
            </a:r>
            <a:endParaRPr lang="zh-CN" altLang="en-US" sz="2400" dirty="0">
              <a:solidFill>
                <a:srgbClr val="FF0000"/>
              </a:solidFill>
              <a:latin typeface="宋体" panose="02010600030101010101" pitchFamily="2" charset="-122"/>
            </a:endParaRPr>
          </a:p>
        </p:txBody>
      </p:sp>
      <p:sp>
        <p:nvSpPr>
          <p:cNvPr id="8" name="Rectangle 14"/>
          <p:cNvSpPr>
            <a:spLocks noChangeArrowheads="1"/>
          </p:cNvSpPr>
          <p:nvPr/>
        </p:nvSpPr>
        <p:spPr bwMode="auto">
          <a:xfrm>
            <a:off x="2390730" y="2246582"/>
            <a:ext cx="5040560" cy="5355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400" b="1" dirty="0" smtClean="0">
                <a:solidFill>
                  <a:srgbClr val="00B050"/>
                </a:solidFill>
                <a:latin typeface="宋体" panose="02010600030101010101" pitchFamily="2" charset="-122"/>
              </a:rPr>
              <a:t>（标注时除</a:t>
            </a:r>
            <a:r>
              <a:rPr lang="en-US" altLang="zh-CN" sz="2400" b="1" dirty="0" smtClean="0">
                <a:solidFill>
                  <a:srgbClr val="00B050"/>
                </a:solidFill>
              </a:rPr>
              <a:t>”</a:t>
            </a:r>
            <a:r>
              <a:rPr lang="en-US" altLang="zh-CN" sz="2400" b="1" dirty="0" smtClean="0">
                <a:solidFill>
                  <a:srgbClr val="00B050"/>
                </a:solidFill>
                <a:latin typeface="宋体" panose="02010600030101010101" pitchFamily="2" charset="-122"/>
              </a:rPr>
              <a:t>0</a:t>
            </a:r>
            <a:r>
              <a:rPr lang="en-US" altLang="zh-CN" sz="2400" b="1" dirty="0">
                <a:solidFill>
                  <a:srgbClr val="00B050"/>
                </a:solidFill>
              </a:rPr>
              <a:t>”</a:t>
            </a:r>
            <a:r>
              <a:rPr lang="zh-CN" altLang="en-US" sz="2400" b="1" dirty="0">
                <a:solidFill>
                  <a:srgbClr val="00B050"/>
                </a:solidFill>
                <a:latin typeface="宋体" panose="02010600030101010101" pitchFamily="2" charset="-122"/>
              </a:rPr>
              <a:t>外必须带符号</a:t>
            </a:r>
            <a:r>
              <a:rPr lang="zh-CN" altLang="en-US" sz="2400" b="1" dirty="0" smtClean="0">
                <a:solidFill>
                  <a:srgbClr val="00B050"/>
                </a:solidFill>
                <a:latin typeface="宋体" panose="02010600030101010101" pitchFamily="2" charset="-122"/>
              </a:rPr>
              <a:t>）</a:t>
            </a:r>
            <a:endParaRPr lang="zh-CN" altLang="en-US" sz="2400" dirty="0">
              <a:latin typeface="宋体" panose="02010600030101010101" pitchFamily="2" charset="-122"/>
            </a:endParaRPr>
          </a:p>
        </p:txBody>
      </p:sp>
      <p:sp>
        <p:nvSpPr>
          <p:cNvPr id="9" name="Rectangle 17"/>
          <p:cNvSpPr>
            <a:spLocks noChangeArrowheads="1"/>
          </p:cNvSpPr>
          <p:nvPr/>
        </p:nvSpPr>
        <p:spPr bwMode="auto">
          <a:xfrm>
            <a:off x="860397" y="3821068"/>
            <a:ext cx="6783437" cy="97872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p>
            <a:pPr algn="l">
              <a:lnSpc>
                <a:spcPct val="120000"/>
              </a:lnSpc>
            </a:pPr>
            <a:r>
              <a:rPr lang="zh-CN" altLang="en-US" sz="2400" b="1" dirty="0">
                <a:solidFill>
                  <a:srgbClr val="FF0000"/>
                </a:solidFill>
                <a:latin typeface="宋体" panose="02010600030101010101" pitchFamily="2" charset="-122"/>
              </a:rPr>
              <a:t>上极限</a:t>
            </a:r>
            <a:r>
              <a:rPr lang="zh-CN" altLang="en-US" sz="2400" b="1" dirty="0" smtClean="0">
                <a:solidFill>
                  <a:srgbClr val="FF0000"/>
                </a:solidFill>
                <a:latin typeface="宋体" panose="02010600030101010101" pitchFamily="2" charset="-122"/>
              </a:rPr>
              <a:t>偏差 </a:t>
            </a:r>
            <a:r>
              <a:rPr lang="en-US" altLang="zh-CN" sz="2400" b="1" dirty="0" smtClean="0">
                <a:latin typeface="宋体" panose="02010600030101010101" pitchFamily="2" charset="-122"/>
              </a:rPr>
              <a:t>(</a:t>
            </a:r>
            <a:r>
              <a:rPr lang="zh-CN" altLang="en-US" sz="2400" b="1" dirty="0" smtClean="0">
                <a:solidFill>
                  <a:srgbClr val="00B050"/>
                </a:solidFill>
                <a:latin typeface="宋体" panose="02010600030101010101" pitchFamily="2" charset="-122"/>
              </a:rPr>
              <a:t>简称上偏差</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 上</a:t>
            </a:r>
            <a:r>
              <a:rPr lang="zh-CN" altLang="en-US" sz="2400" b="1" dirty="0" smtClean="0"/>
              <a:t>极限</a:t>
            </a:r>
            <a:r>
              <a:rPr lang="zh-CN" altLang="en-US" sz="2400" b="1" dirty="0"/>
              <a:t>尺寸减其 </a:t>
            </a:r>
          </a:p>
          <a:p>
            <a:pPr algn="l">
              <a:lnSpc>
                <a:spcPct val="120000"/>
              </a:lnSpc>
            </a:pPr>
            <a:r>
              <a:rPr lang="zh-CN" altLang="en-US" sz="2400" b="1" dirty="0"/>
              <a:t>                       公称尺寸所得的代数</a:t>
            </a:r>
            <a:r>
              <a:rPr lang="zh-CN" altLang="en-US" sz="2400" b="1" dirty="0" smtClean="0"/>
              <a:t>差 </a:t>
            </a:r>
            <a:r>
              <a:rPr lang="en-US" altLang="zh-CN" sz="2400" b="1" dirty="0" smtClean="0"/>
              <a:t>(</a:t>
            </a:r>
            <a:r>
              <a:rPr lang="en-US" altLang="zh-CN" sz="2400" b="1" dirty="0" smtClean="0">
                <a:solidFill>
                  <a:srgbClr val="FF0000"/>
                </a:solidFill>
              </a:rPr>
              <a:t>ES</a:t>
            </a:r>
            <a:r>
              <a:rPr lang="zh-CN" altLang="en-US" sz="2400" b="1" dirty="0">
                <a:solidFill>
                  <a:srgbClr val="FF0000"/>
                </a:solidFill>
              </a:rPr>
              <a:t>、</a:t>
            </a:r>
            <a:r>
              <a:rPr lang="en-US" altLang="zh-CN" sz="2400" b="1" dirty="0" err="1" smtClean="0">
                <a:solidFill>
                  <a:srgbClr val="FF0000"/>
                </a:solidFill>
              </a:rPr>
              <a:t>es</a:t>
            </a:r>
            <a:r>
              <a:rPr lang="en-US" altLang="zh-CN" sz="2400" b="1" dirty="0" smtClean="0"/>
              <a:t>)</a:t>
            </a:r>
            <a:endParaRPr lang="zh-CN" altLang="en-US" sz="2400" dirty="0">
              <a:latin typeface="宋体" panose="02010600030101010101" pitchFamily="2" charset="-122"/>
            </a:endParaRPr>
          </a:p>
        </p:txBody>
      </p:sp>
      <p:sp>
        <p:nvSpPr>
          <p:cNvPr id="10" name="Rectangle 19"/>
          <p:cNvSpPr>
            <a:spLocks noChangeArrowheads="1"/>
          </p:cNvSpPr>
          <p:nvPr/>
        </p:nvSpPr>
        <p:spPr bwMode="auto">
          <a:xfrm>
            <a:off x="860397" y="4992983"/>
            <a:ext cx="7140627" cy="97872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p>
            <a:pPr algn="l">
              <a:lnSpc>
                <a:spcPct val="120000"/>
              </a:lnSpc>
            </a:pPr>
            <a:r>
              <a:rPr lang="zh-CN" altLang="en-US" sz="2400" b="1" dirty="0">
                <a:solidFill>
                  <a:srgbClr val="FF0000"/>
                </a:solidFill>
                <a:latin typeface="宋体" panose="02010600030101010101" pitchFamily="2" charset="-122"/>
              </a:rPr>
              <a:t>下极限</a:t>
            </a:r>
            <a:r>
              <a:rPr lang="zh-CN" altLang="en-US" sz="2400" b="1" dirty="0" smtClean="0">
                <a:solidFill>
                  <a:srgbClr val="FF0000"/>
                </a:solidFill>
                <a:latin typeface="宋体" panose="02010600030101010101" pitchFamily="2" charset="-122"/>
              </a:rPr>
              <a:t>偏差 </a:t>
            </a:r>
            <a:r>
              <a:rPr lang="en-US" altLang="zh-CN" sz="2400" b="1" dirty="0" smtClean="0">
                <a:latin typeface="宋体" panose="02010600030101010101" pitchFamily="2" charset="-122"/>
              </a:rPr>
              <a:t>(</a:t>
            </a:r>
            <a:r>
              <a:rPr lang="zh-CN" altLang="en-US" sz="2400" b="1" dirty="0" smtClean="0">
                <a:solidFill>
                  <a:srgbClr val="00B050"/>
                </a:solidFill>
                <a:latin typeface="宋体" panose="02010600030101010101" pitchFamily="2" charset="-122"/>
              </a:rPr>
              <a:t>简称下偏差</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下</a:t>
            </a:r>
            <a:r>
              <a:rPr lang="zh-CN" altLang="en-US" sz="2400" b="1" dirty="0" smtClean="0"/>
              <a:t>极限</a:t>
            </a:r>
            <a:r>
              <a:rPr lang="zh-CN" altLang="en-US" sz="2400" b="1" dirty="0"/>
              <a:t>尺寸减其 </a:t>
            </a:r>
          </a:p>
          <a:p>
            <a:pPr algn="l">
              <a:lnSpc>
                <a:spcPct val="120000"/>
              </a:lnSpc>
            </a:pPr>
            <a:r>
              <a:rPr lang="zh-CN" altLang="en-US" sz="2400" b="1" dirty="0"/>
              <a:t>                        公称尺寸所得的代数</a:t>
            </a:r>
            <a:r>
              <a:rPr lang="zh-CN" altLang="en-US" sz="2400" b="1" dirty="0" smtClean="0"/>
              <a:t>差 </a:t>
            </a:r>
            <a:r>
              <a:rPr lang="en-US" altLang="zh-CN" sz="2400" b="1" dirty="0" smtClean="0"/>
              <a:t>(</a:t>
            </a:r>
            <a:r>
              <a:rPr lang="en-US" altLang="zh-CN" sz="2400" b="1" dirty="0">
                <a:solidFill>
                  <a:srgbClr val="FF0000"/>
                </a:solidFill>
              </a:rPr>
              <a:t>EI</a:t>
            </a:r>
            <a:r>
              <a:rPr lang="zh-CN" altLang="en-US" sz="2400" b="1" dirty="0">
                <a:solidFill>
                  <a:srgbClr val="FF0000"/>
                </a:solidFill>
              </a:rPr>
              <a:t>、</a:t>
            </a:r>
            <a:r>
              <a:rPr lang="en-US" altLang="zh-CN" sz="2400" b="1" dirty="0" err="1">
                <a:solidFill>
                  <a:srgbClr val="FF0000"/>
                </a:solidFill>
              </a:rPr>
              <a:t>ei</a:t>
            </a:r>
            <a:r>
              <a:rPr lang="en-US" altLang="zh-CN" sz="2400" b="1" dirty="0" smtClean="0"/>
              <a:t>)</a:t>
            </a:r>
            <a:endParaRPr lang="zh-CN" altLang="en-US" sz="24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
                                        </p:tgtEl>
                                        <p:attrNameLst>
                                          <p:attrName>style.visibility</p:attrName>
                                        </p:attrNameLst>
                                      </p:cBhvr>
                                      <p:to>
                                        <p:strVal val="visible"/>
                                      </p:to>
                                    </p:set>
                                    <p:animEffect transition="in" filter="wipe(left)">
                                      <p:cBhvr>
                                        <p:cTn id="17" dur="3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8"/>
                                        </p:tgtEl>
                                        <p:attrNameLst>
                                          <p:attrName>style.visibility</p:attrName>
                                        </p:attrNameLst>
                                      </p:cBhvr>
                                      <p:to>
                                        <p:strVal val="visible"/>
                                      </p:to>
                                    </p:set>
                                    <p:animEffect transition="in" filter="wipe(left)">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
                                        </p:tgtEl>
                                        <p:attrNameLst>
                                          <p:attrName>style.visibility</p:attrName>
                                        </p:attrNameLst>
                                      </p:cBhvr>
                                      <p:to>
                                        <p:strVal val="visible"/>
                                      </p:to>
                                    </p:set>
                                    <p:animEffect transition="in" filter="wipe(left)">
                                      <p:cBhvr>
                                        <p:cTn id="27" dur="3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9"/>
                                        </p:tgtEl>
                                        <p:attrNameLst>
                                          <p:attrName>style.visibility</p:attrName>
                                        </p:attrNameLst>
                                      </p:cBhvr>
                                      <p:to>
                                        <p:strVal val="visible"/>
                                      </p:to>
                                    </p:set>
                                    <p:animEffect transition="in" filter="wipe(left)">
                                      <p:cBhvr>
                                        <p:cTn id="32" dur="3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0"/>
                                        </p:tgtEl>
                                        <p:attrNameLst>
                                          <p:attrName>style.visibility</p:attrName>
                                        </p:attrNameLst>
                                      </p:cBhvr>
                                      <p:to>
                                        <p:strVal val="visible"/>
                                      </p:to>
                                    </p:set>
                                    <p:animEffect transition="in" filter="wipe(left)">
                                      <p:cBhvr>
                                        <p:cTn id="3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bldLvl="0" animBg="1" autoUpdateAnimBg="0"/>
      <p:bldP spid="6" grpId="0" autoUpdateAnimBg="0"/>
      <p:bldP spid="7" grpId="0" autoUpdateAnimBg="0"/>
      <p:bldP spid="8" grpId="0" autoUpdateAnimBg="0"/>
      <p:bldP spid="9" grpId="0" bldLvl="0" animBg="1" autoUpdateAnimBg="0"/>
      <p:bldP spid="10" grpId="0" bldLvl="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9</a:t>
            </a:fld>
            <a:endParaRPr lang="en-US" altLang="zh-CN"/>
          </a:p>
        </p:txBody>
      </p:sp>
      <p:graphicFrame>
        <p:nvGraphicFramePr>
          <p:cNvPr id="3" name="Object 13"/>
          <p:cNvGraphicFramePr>
            <a:graphicFrameLocks noGrp="1" noChangeAspect="1"/>
          </p:cNvGraphicFramePr>
          <p:nvPr>
            <p:ph/>
          </p:nvPr>
        </p:nvGraphicFramePr>
        <p:xfrm>
          <a:off x="4071934" y="1381364"/>
          <a:ext cx="2588298" cy="632329"/>
        </p:xfrm>
        <a:graphic>
          <a:graphicData uri="http://schemas.openxmlformats.org/presentationml/2006/ole">
            <p:oleObj spid="_x0000_s17412" name="公式" r:id="rId3" imgW="21945600" imgH="5486400" progId="">
              <p:embed/>
            </p:oleObj>
          </a:graphicData>
        </a:graphic>
      </p:graphicFrame>
      <p:sp>
        <p:nvSpPr>
          <p:cNvPr id="5" name="Text Box 4"/>
          <p:cNvSpPr txBox="1">
            <a:spLocks noChangeArrowheads="1"/>
          </p:cNvSpPr>
          <p:nvPr/>
        </p:nvSpPr>
        <p:spPr bwMode="auto">
          <a:xfrm>
            <a:off x="1364418" y="1442677"/>
            <a:ext cx="208872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zh-CN" altLang="en-US" sz="2400" b="1" dirty="0" smtClean="0"/>
              <a:t>孔</a:t>
            </a:r>
            <a:r>
              <a:rPr lang="en-US" altLang="zh-CN" sz="2400" b="1" dirty="0" smtClean="0"/>
              <a:t>:</a:t>
            </a:r>
            <a:r>
              <a:rPr lang="zh-CN" altLang="en-US" sz="2400" b="1" dirty="0" smtClean="0"/>
              <a:t>  上偏差</a:t>
            </a:r>
            <a:endParaRPr lang="zh-CN" altLang="en-US" sz="2400" b="1" dirty="0"/>
          </a:p>
        </p:txBody>
      </p:sp>
      <p:sp>
        <p:nvSpPr>
          <p:cNvPr id="6" name="Text Box 5"/>
          <p:cNvSpPr txBox="1">
            <a:spLocks noChangeArrowheads="1"/>
          </p:cNvSpPr>
          <p:nvPr/>
        </p:nvSpPr>
        <p:spPr bwMode="auto">
          <a:xfrm>
            <a:off x="1365087" y="3552233"/>
            <a:ext cx="936104"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zh-CN" altLang="en-US" sz="2400" b="1" dirty="0"/>
              <a:t>轴： </a:t>
            </a:r>
          </a:p>
        </p:txBody>
      </p:sp>
      <p:sp>
        <p:nvSpPr>
          <p:cNvPr id="7" name="Text Box 10"/>
          <p:cNvSpPr txBox="1">
            <a:spLocks noChangeArrowheads="1"/>
          </p:cNvSpPr>
          <p:nvPr/>
        </p:nvSpPr>
        <p:spPr bwMode="auto">
          <a:xfrm>
            <a:off x="2192886" y="4538971"/>
            <a:ext cx="143946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下偏差</a:t>
            </a:r>
          </a:p>
        </p:txBody>
      </p:sp>
      <p:sp>
        <p:nvSpPr>
          <p:cNvPr id="8" name="Rectangle 11"/>
          <p:cNvSpPr>
            <a:spLocks noChangeArrowheads="1"/>
          </p:cNvSpPr>
          <p:nvPr/>
        </p:nvSpPr>
        <p:spPr bwMode="auto">
          <a:xfrm>
            <a:off x="1288702" y="5482040"/>
            <a:ext cx="5947594" cy="47666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p>
            <a:pPr algn="l">
              <a:lnSpc>
                <a:spcPct val="120000"/>
              </a:lnSpc>
            </a:pPr>
            <a:r>
              <a:rPr lang="zh-CN" altLang="en-US" sz="2400" b="1" dirty="0">
                <a:latin typeface="宋体" panose="02010600030101010101" pitchFamily="2" charset="-122"/>
              </a:rPr>
              <a:t>上偏差</a:t>
            </a:r>
            <a:r>
              <a:rPr lang="zh-CN" altLang="en-US" sz="2400" dirty="0">
                <a:latin typeface="宋体" panose="02010600030101010101" pitchFamily="2" charset="-122"/>
              </a:rPr>
              <a:t>和</a:t>
            </a:r>
            <a:r>
              <a:rPr lang="zh-CN" altLang="en-US" sz="2400" b="1" dirty="0">
                <a:latin typeface="宋体" panose="02010600030101010101" pitchFamily="2" charset="-122"/>
              </a:rPr>
              <a:t>下偏差</a:t>
            </a:r>
            <a:r>
              <a:rPr lang="zh-CN" altLang="en-US" sz="2400" dirty="0">
                <a:latin typeface="宋体" panose="02010600030101010101" pitchFamily="2" charset="-122"/>
              </a:rPr>
              <a:t>统称</a:t>
            </a:r>
            <a:r>
              <a:rPr lang="zh-CN" altLang="en-US" sz="2400" b="1" dirty="0">
                <a:solidFill>
                  <a:srgbClr val="FF0000"/>
                </a:solidFill>
                <a:latin typeface="宋体" panose="02010600030101010101" pitchFamily="2" charset="-122"/>
              </a:rPr>
              <a:t>极限偏差</a:t>
            </a:r>
            <a:r>
              <a:rPr lang="zh-CN" altLang="en-US" sz="2400" dirty="0">
                <a:latin typeface="宋体" panose="02010600030101010101" pitchFamily="2" charset="-122"/>
              </a:rPr>
              <a:t>。</a:t>
            </a:r>
          </a:p>
        </p:txBody>
      </p:sp>
      <p:sp>
        <p:nvSpPr>
          <p:cNvPr id="9" name="Text Box 12"/>
          <p:cNvSpPr txBox="1">
            <a:spLocks noChangeArrowheads="1"/>
          </p:cNvSpPr>
          <p:nvPr/>
        </p:nvSpPr>
        <p:spPr bwMode="auto">
          <a:xfrm>
            <a:off x="1403648" y="260648"/>
            <a:ext cx="6552728" cy="5847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dirty="0"/>
              <a:t>用公式表示上、下极限偏差分别为</a:t>
            </a:r>
          </a:p>
        </p:txBody>
      </p:sp>
      <p:graphicFrame>
        <p:nvGraphicFramePr>
          <p:cNvPr id="10" name="Object 15"/>
          <p:cNvGraphicFramePr>
            <a:graphicFrameLocks noChangeAspect="1"/>
          </p:cNvGraphicFramePr>
          <p:nvPr/>
        </p:nvGraphicFramePr>
        <p:xfrm>
          <a:off x="4071934" y="2342080"/>
          <a:ext cx="2641822" cy="660180"/>
        </p:xfrm>
        <a:graphic>
          <a:graphicData uri="http://schemas.openxmlformats.org/presentationml/2006/ole">
            <p:oleObj spid="_x0000_s17411" name="公式" r:id="rId4" imgW="20726400" imgH="5181600" progId="">
              <p:embed/>
            </p:oleObj>
          </a:graphicData>
        </a:graphic>
      </p:graphicFrame>
      <p:sp>
        <p:nvSpPr>
          <p:cNvPr id="11" name="Text Box 16"/>
          <p:cNvSpPr txBox="1">
            <a:spLocks noChangeArrowheads="1"/>
          </p:cNvSpPr>
          <p:nvPr/>
        </p:nvSpPr>
        <p:spPr bwMode="auto">
          <a:xfrm>
            <a:off x="2194150" y="3602346"/>
            <a:ext cx="143956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上偏差</a:t>
            </a:r>
          </a:p>
        </p:txBody>
      </p:sp>
      <p:graphicFrame>
        <p:nvGraphicFramePr>
          <p:cNvPr id="12" name="Object 17"/>
          <p:cNvGraphicFramePr>
            <a:graphicFrameLocks noChangeAspect="1"/>
          </p:cNvGraphicFramePr>
          <p:nvPr/>
        </p:nvGraphicFramePr>
        <p:xfrm>
          <a:off x="4071934" y="3561281"/>
          <a:ext cx="2660305" cy="736626"/>
        </p:xfrm>
        <a:graphic>
          <a:graphicData uri="http://schemas.openxmlformats.org/presentationml/2006/ole">
            <p:oleObj spid="_x0000_s17410" name="公式" r:id="rId5" imgW="19507200" imgH="5486400" progId="">
              <p:embed/>
            </p:oleObj>
          </a:graphicData>
        </a:graphic>
      </p:graphicFrame>
      <p:graphicFrame>
        <p:nvGraphicFramePr>
          <p:cNvPr id="13" name="Object 18"/>
          <p:cNvGraphicFramePr>
            <a:graphicFrameLocks noChangeAspect="1"/>
          </p:cNvGraphicFramePr>
          <p:nvPr/>
        </p:nvGraphicFramePr>
        <p:xfrm>
          <a:off x="4071934" y="4542540"/>
          <a:ext cx="2660306" cy="758668"/>
        </p:xfrm>
        <a:graphic>
          <a:graphicData uri="http://schemas.openxmlformats.org/presentationml/2006/ole">
            <p:oleObj spid="_x0000_s17409" name="公式" r:id="rId6" imgW="18592800" imgH="5181600" progId="">
              <p:embed/>
            </p:oleObj>
          </a:graphicData>
        </a:graphic>
      </p:graphicFrame>
      <p:sp>
        <p:nvSpPr>
          <p:cNvPr id="14" name="Text Box 19"/>
          <p:cNvSpPr txBox="1">
            <a:spLocks noChangeArrowheads="1"/>
          </p:cNvSpPr>
          <p:nvPr/>
        </p:nvSpPr>
        <p:spPr bwMode="auto">
          <a:xfrm>
            <a:off x="1328963" y="2435732"/>
            <a:ext cx="231434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zh-CN" altLang="en-US" sz="2400" b="1" dirty="0"/>
              <a:t>下偏差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1+#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4"/>
                                        </p:tgtEl>
                                        <p:attrNameLst>
                                          <p:attrName>style.visibility</p:attrName>
                                        </p:attrNameLst>
                                      </p:cBhvr>
                                      <p:to>
                                        <p:strVal val="visible"/>
                                      </p:to>
                                    </p:set>
                                    <p:animEffect transition="in" filter="wipe(left)">
                                      <p:cBhvr>
                                        <p:cTn id="23" dur="3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6"/>
                                        </p:tgtEl>
                                        <p:attrNameLst>
                                          <p:attrName>style.visibility</p:attrName>
                                        </p:attrNameLst>
                                      </p:cBhvr>
                                      <p:to>
                                        <p:strVal val="visible"/>
                                      </p:to>
                                    </p:set>
                                    <p:animEffect transition="in" filter="wipe(left)">
                                      <p:cBhvr>
                                        <p:cTn id="33" dur="3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11"/>
                                        </p:tgtEl>
                                        <p:attrNameLst>
                                          <p:attrName>style.visibility</p:attrName>
                                        </p:attrNameLst>
                                      </p:cBhvr>
                                      <p:to>
                                        <p:strVal val="visible"/>
                                      </p:to>
                                    </p:set>
                                    <p:animEffect transition="in" filter="wipe(left)">
                                      <p:cBhvr>
                                        <p:cTn id="38" dur="3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1+#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iterate type="wd">
                                    <p:tmPct val="100000"/>
                                  </p:iterate>
                                  <p:childTnLst>
                                    <p:set>
                                      <p:cBhvr>
                                        <p:cTn id="48" dur="1" fill="hold">
                                          <p:stCondLst>
                                            <p:cond delay="0"/>
                                          </p:stCondLst>
                                        </p:cTn>
                                        <p:tgtEl>
                                          <p:spTgt spid="7"/>
                                        </p:tgtEl>
                                        <p:attrNameLst>
                                          <p:attrName>style.visibility</p:attrName>
                                        </p:attrNameLst>
                                      </p:cBhvr>
                                      <p:to>
                                        <p:strVal val="visible"/>
                                      </p:to>
                                    </p:set>
                                    <p:animEffect transition="in" filter="wipe(left)">
                                      <p:cBhvr>
                                        <p:cTn id="49" dur="3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1+#ppt_w/2"/>
                                          </p:val>
                                        </p:tav>
                                        <p:tav tm="100000">
                                          <p:val>
                                            <p:strVal val="#ppt_x"/>
                                          </p:val>
                                        </p:tav>
                                      </p:tavLst>
                                    </p:anim>
                                    <p:anim calcmode="lin" valueType="num">
                                      <p:cBhvr additive="base">
                                        <p:cTn id="55"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iterate type="wd">
                                    <p:tmPct val="100000"/>
                                  </p:iterate>
                                  <p:childTnLst>
                                    <p:set>
                                      <p:cBhvr>
                                        <p:cTn id="59" dur="1" fill="hold">
                                          <p:stCondLst>
                                            <p:cond delay="0"/>
                                          </p:stCondLst>
                                        </p:cTn>
                                        <p:tgtEl>
                                          <p:spTgt spid="8"/>
                                        </p:tgtEl>
                                        <p:attrNameLst>
                                          <p:attrName>style.visibility</p:attrName>
                                        </p:attrNameLst>
                                      </p:cBhvr>
                                      <p:to>
                                        <p:strVal val="visible"/>
                                      </p:to>
                                    </p:set>
                                    <p:animEffect transition="in" filter="wipe(left)">
                                      <p:cBhvr>
                                        <p:cTn id="60"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P spid="9" grpId="0"/>
      <p:bldP spid="11" grpId="0" autoUpdateAnimBg="0"/>
      <p:bldP spid="1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10</a:t>
            </a:fld>
            <a:endParaRPr lang="en-US" altLang="zh-CN"/>
          </a:p>
        </p:txBody>
      </p:sp>
      <p:sp>
        <p:nvSpPr>
          <p:cNvPr id="3" name="Rectangle 4"/>
          <p:cNvSpPr>
            <a:spLocks noChangeArrowheads="1"/>
          </p:cNvSpPr>
          <p:nvPr/>
        </p:nvSpPr>
        <p:spPr bwMode="auto">
          <a:xfrm>
            <a:off x="754380" y="1163320"/>
            <a:ext cx="7356475" cy="5340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a:lnSpc>
                <a:spcPct val="120000"/>
              </a:lnSpc>
              <a:buFontTx/>
              <a:buAutoNum type="circleNumDbPlain" startAt="2"/>
            </a:pPr>
            <a:r>
              <a:rPr lang="zh-CN" altLang="en-US" sz="2400" b="1" dirty="0"/>
              <a:t> </a:t>
            </a:r>
            <a:r>
              <a:rPr lang="zh-CN" altLang="en-US" sz="2400" b="1" dirty="0" smtClean="0"/>
              <a:t>实际尺寸</a:t>
            </a:r>
            <a:r>
              <a:rPr lang="zh-CN" altLang="en-US" sz="2400" b="1" dirty="0">
                <a:latin typeface="宋体" panose="02010600030101010101" pitchFamily="2" charset="-122"/>
              </a:rPr>
              <a:t>减其公称尺寸所得的代数差</a:t>
            </a:r>
            <a:r>
              <a:rPr lang="zh-CN" altLang="en-US" sz="2400" b="1" dirty="0" smtClean="0"/>
              <a:t>为</a:t>
            </a:r>
            <a:r>
              <a:rPr lang="zh-CN" altLang="en-US" sz="2400" b="1" dirty="0" smtClean="0">
                <a:solidFill>
                  <a:srgbClr val="FF0000"/>
                </a:solidFill>
              </a:rPr>
              <a:t>实际偏差</a:t>
            </a:r>
            <a:endParaRPr lang="zh-CN" altLang="en-US" sz="2400" b="1" dirty="0">
              <a:latin typeface="宋体" panose="02010600030101010101" pitchFamily="2" charset="-122"/>
            </a:endParaRPr>
          </a:p>
        </p:txBody>
      </p:sp>
      <p:graphicFrame>
        <p:nvGraphicFramePr>
          <p:cNvPr id="5" name="Object 5"/>
          <p:cNvGraphicFramePr>
            <a:graphicFrameLocks noChangeAspect="1"/>
          </p:cNvGraphicFramePr>
          <p:nvPr/>
        </p:nvGraphicFramePr>
        <p:xfrm>
          <a:off x="2710180" y="1937385"/>
          <a:ext cx="3809365" cy="531495"/>
        </p:xfrm>
        <a:graphic>
          <a:graphicData uri="http://schemas.openxmlformats.org/presentationml/2006/ole">
            <p:oleObj spid="_x0000_s19458" name="Equation" r:id="rId3" imgW="28956000" imgH="5486400" progId="">
              <p:embed/>
            </p:oleObj>
          </a:graphicData>
        </a:graphic>
      </p:graphicFrame>
      <p:graphicFrame>
        <p:nvGraphicFramePr>
          <p:cNvPr id="6" name="Object 6"/>
          <p:cNvGraphicFramePr>
            <a:graphicFrameLocks noChangeAspect="1"/>
          </p:cNvGraphicFramePr>
          <p:nvPr/>
        </p:nvGraphicFramePr>
        <p:xfrm>
          <a:off x="2719705" y="2663190"/>
          <a:ext cx="3738880" cy="527050"/>
        </p:xfrm>
        <a:graphic>
          <a:graphicData uri="http://schemas.openxmlformats.org/presentationml/2006/ole">
            <p:oleObj spid="_x0000_s19457" name="Equation" r:id="rId4" imgW="27127200" imgH="5486400" progId="">
              <p:embed/>
            </p:oleObj>
          </a:graphicData>
        </a:graphic>
      </p:graphicFrame>
      <p:sp>
        <p:nvSpPr>
          <p:cNvPr id="7" name="Text Box 7"/>
          <p:cNvSpPr txBox="1">
            <a:spLocks noChangeArrowheads="1"/>
          </p:cNvSpPr>
          <p:nvPr/>
        </p:nvSpPr>
        <p:spPr bwMode="auto">
          <a:xfrm>
            <a:off x="1403648" y="3573016"/>
            <a:ext cx="3816424"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solidFill>
                  <a:srgbClr val="FF0000"/>
                </a:solidFill>
              </a:rPr>
              <a:t>实际偏差合格条件为</a:t>
            </a:r>
          </a:p>
        </p:txBody>
      </p:sp>
      <p:sp>
        <p:nvSpPr>
          <p:cNvPr id="10" name="TextBox 9"/>
          <p:cNvSpPr txBox="1"/>
          <p:nvPr/>
        </p:nvSpPr>
        <p:spPr>
          <a:xfrm>
            <a:off x="2714612" y="4214818"/>
            <a:ext cx="3500462" cy="646331"/>
          </a:xfrm>
          <a:prstGeom prst="rect">
            <a:avLst/>
          </a:prstGeom>
          <a:solidFill>
            <a:srgbClr val="FFCCFF"/>
          </a:solidFill>
        </p:spPr>
        <p:txBody>
          <a:bodyPr wrap="square" rtlCol="0">
            <a:spAutoFit/>
          </a:bodyPr>
          <a:lstStyle/>
          <a:p>
            <a:r>
              <a:rPr lang="en-US" altLang="zh-CN" sz="3600" b="1" dirty="0" smtClean="0"/>
              <a:t>EI ≤ E</a:t>
            </a:r>
            <a:r>
              <a:rPr lang="en-US" altLang="zh-CN" sz="3600" b="1" baseline="-25000" dirty="0" smtClean="0"/>
              <a:t>a</a:t>
            </a:r>
            <a:r>
              <a:rPr lang="en-US" altLang="zh-CN" sz="3600" b="1" dirty="0" smtClean="0"/>
              <a:t> ≤ ES</a:t>
            </a:r>
            <a:endParaRPr lang="zh-CN" altLang="en-US" sz="3600" b="1" dirty="0"/>
          </a:p>
        </p:txBody>
      </p:sp>
      <p:sp>
        <p:nvSpPr>
          <p:cNvPr id="11" name="TextBox 10"/>
          <p:cNvSpPr txBox="1"/>
          <p:nvPr/>
        </p:nvSpPr>
        <p:spPr>
          <a:xfrm>
            <a:off x="2714612" y="5000636"/>
            <a:ext cx="3500462" cy="646331"/>
          </a:xfrm>
          <a:prstGeom prst="rect">
            <a:avLst/>
          </a:prstGeom>
          <a:solidFill>
            <a:srgbClr val="FFCCFF"/>
          </a:solidFill>
        </p:spPr>
        <p:txBody>
          <a:bodyPr wrap="square" rtlCol="0">
            <a:spAutoFit/>
          </a:bodyPr>
          <a:lstStyle/>
          <a:p>
            <a:r>
              <a:rPr lang="en-US" altLang="zh-CN" sz="3600" b="1" dirty="0" err="1" smtClean="0"/>
              <a:t>ei</a:t>
            </a:r>
            <a:r>
              <a:rPr lang="en-US" altLang="zh-CN" sz="3600" b="1" dirty="0" smtClean="0"/>
              <a:t>  ≤ e</a:t>
            </a:r>
            <a:r>
              <a:rPr lang="en-US" altLang="zh-CN" sz="3600" b="1" baseline="-25000" dirty="0" smtClean="0"/>
              <a:t>a</a:t>
            </a:r>
            <a:r>
              <a:rPr lang="en-US" altLang="zh-CN" sz="3600" b="1" dirty="0" smtClean="0"/>
              <a:t> ≤  </a:t>
            </a:r>
            <a:r>
              <a:rPr lang="en-US" altLang="zh-CN" sz="3600" b="1" dirty="0" err="1" smtClean="0"/>
              <a:t>es</a:t>
            </a:r>
            <a:endParaRPr lang="zh-CN" alt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
                                        </p:tgtEl>
                                        <p:attrNameLst>
                                          <p:attrName>style.visibility</p:attrName>
                                        </p:attrNameLst>
                                      </p:cBhvr>
                                      <p:to>
                                        <p:strVal val="visible"/>
                                      </p:to>
                                    </p:set>
                                    <p:animEffect transition="in" filter="wipe(left)">
                                      <p:cBhvr>
                                        <p:cTn id="22"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7"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xfrm>
            <a:off x="6553200" y="6409134"/>
            <a:ext cx="2133600" cy="476250"/>
          </a:xfr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202A2A69-7747-4C17-B311-E90822CE107B}" type="slidenum">
              <a:rPr lang="en-US" altLang="zh-CN" sz="2000" smtClean="0">
                <a:solidFill>
                  <a:schemeClr val="accent2"/>
                </a:solidFill>
              </a:rPr>
              <a:pPr eaLnBrk="1" hangingPunct="1"/>
              <a:t>11</a:t>
            </a:fld>
            <a:endParaRPr lang="en-US" altLang="zh-CN" sz="2000" dirty="0" smtClean="0">
              <a:solidFill>
                <a:schemeClr val="accent2"/>
              </a:solidFill>
            </a:endParaRPr>
          </a:p>
        </p:txBody>
      </p:sp>
      <p:grpSp>
        <p:nvGrpSpPr>
          <p:cNvPr id="57348" name="Group 4"/>
          <p:cNvGrpSpPr/>
          <p:nvPr/>
        </p:nvGrpSpPr>
        <p:grpSpPr bwMode="auto">
          <a:xfrm>
            <a:off x="381000" y="3643314"/>
            <a:ext cx="8382000" cy="2524125"/>
            <a:chOff x="-3" y="429"/>
            <a:chExt cx="4101" cy="1590"/>
          </a:xfrm>
        </p:grpSpPr>
        <p:grpSp>
          <p:nvGrpSpPr>
            <p:cNvPr id="15398" name="Group 5"/>
            <p:cNvGrpSpPr/>
            <p:nvPr/>
          </p:nvGrpSpPr>
          <p:grpSpPr bwMode="auto">
            <a:xfrm>
              <a:off x="0" y="432"/>
              <a:ext cx="4095" cy="1584"/>
              <a:chOff x="0" y="432"/>
              <a:chExt cx="4095" cy="1584"/>
            </a:xfrm>
          </p:grpSpPr>
          <p:grpSp>
            <p:nvGrpSpPr>
              <p:cNvPr id="15400" name="Group 6"/>
              <p:cNvGrpSpPr/>
              <p:nvPr/>
            </p:nvGrpSpPr>
            <p:grpSpPr bwMode="auto">
              <a:xfrm>
                <a:off x="0" y="432"/>
                <a:ext cx="705" cy="576"/>
                <a:chOff x="0" y="432"/>
                <a:chExt cx="705" cy="576"/>
              </a:xfrm>
            </p:grpSpPr>
            <p:sp>
              <p:nvSpPr>
                <p:cNvPr id="15470" name="Rectangle 7"/>
                <p:cNvSpPr>
                  <a:spLocks noChangeArrowheads="1"/>
                </p:cNvSpPr>
                <p:nvPr/>
              </p:nvSpPr>
              <p:spPr bwMode="auto">
                <a:xfrm>
                  <a:off x="43" y="432"/>
                  <a:ext cx="61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ea typeface="楷体_GB2312" panose="02010609030101010101" pitchFamily="49" charset="-122"/>
                    </a:rPr>
                    <a:t>实际尺寸</a:t>
                  </a:r>
                  <a:endParaRPr lang="zh-CN" altLang="en-US" sz="2000"/>
                </a:p>
              </p:txBody>
            </p:sp>
            <p:sp>
              <p:nvSpPr>
                <p:cNvPr id="15471" name="Rectangle 8"/>
                <p:cNvSpPr>
                  <a:spLocks noChangeArrowheads="1"/>
                </p:cNvSpPr>
                <p:nvPr/>
              </p:nvSpPr>
              <p:spPr bwMode="auto">
                <a:xfrm>
                  <a:off x="0" y="432"/>
                  <a:ext cx="70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1" name="Group 9"/>
              <p:cNvGrpSpPr/>
              <p:nvPr/>
            </p:nvGrpSpPr>
            <p:grpSpPr bwMode="auto">
              <a:xfrm>
                <a:off x="705" y="432"/>
                <a:ext cx="484" cy="576"/>
                <a:chOff x="705" y="432"/>
                <a:chExt cx="484" cy="576"/>
              </a:xfrm>
            </p:grpSpPr>
            <p:sp>
              <p:nvSpPr>
                <p:cNvPr id="15468" name="Rectangle 10"/>
                <p:cNvSpPr>
                  <a:spLocks noChangeArrowheads="1"/>
                </p:cNvSpPr>
                <p:nvPr/>
              </p:nvSpPr>
              <p:spPr bwMode="auto">
                <a:xfrm>
                  <a:off x="748" y="432"/>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15.980</a:t>
                  </a:r>
                </a:p>
              </p:txBody>
            </p:sp>
            <p:sp>
              <p:nvSpPr>
                <p:cNvPr id="15469" name="Rectangle 11"/>
                <p:cNvSpPr>
                  <a:spLocks noChangeArrowheads="1"/>
                </p:cNvSpPr>
                <p:nvPr/>
              </p:nvSpPr>
              <p:spPr bwMode="auto">
                <a:xfrm>
                  <a:off x="705" y="432"/>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2" name="Group 12"/>
              <p:cNvGrpSpPr/>
              <p:nvPr/>
            </p:nvGrpSpPr>
            <p:grpSpPr bwMode="auto">
              <a:xfrm>
                <a:off x="1189" y="432"/>
                <a:ext cx="484" cy="576"/>
                <a:chOff x="1189" y="432"/>
                <a:chExt cx="484" cy="576"/>
              </a:xfrm>
            </p:grpSpPr>
            <p:sp>
              <p:nvSpPr>
                <p:cNvPr id="15466" name="Rectangle 13"/>
                <p:cNvSpPr>
                  <a:spLocks noChangeArrowheads="1"/>
                </p:cNvSpPr>
                <p:nvPr/>
              </p:nvSpPr>
              <p:spPr bwMode="auto">
                <a:xfrm>
                  <a:off x="1232" y="432"/>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15.985</a:t>
                  </a:r>
                </a:p>
              </p:txBody>
            </p:sp>
            <p:sp>
              <p:nvSpPr>
                <p:cNvPr id="15467" name="Rectangle 14"/>
                <p:cNvSpPr>
                  <a:spLocks noChangeArrowheads="1"/>
                </p:cNvSpPr>
                <p:nvPr/>
              </p:nvSpPr>
              <p:spPr bwMode="auto">
                <a:xfrm>
                  <a:off x="1189" y="432"/>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3" name="Group 15"/>
              <p:cNvGrpSpPr/>
              <p:nvPr/>
            </p:nvGrpSpPr>
            <p:grpSpPr bwMode="auto">
              <a:xfrm>
                <a:off x="1673" y="432"/>
                <a:ext cx="484" cy="576"/>
                <a:chOff x="1673" y="432"/>
                <a:chExt cx="484" cy="576"/>
              </a:xfrm>
            </p:grpSpPr>
            <p:sp>
              <p:nvSpPr>
                <p:cNvPr id="15464" name="Rectangle 16"/>
                <p:cNvSpPr>
                  <a:spLocks noChangeArrowheads="1"/>
                </p:cNvSpPr>
                <p:nvPr/>
              </p:nvSpPr>
              <p:spPr bwMode="auto">
                <a:xfrm>
                  <a:off x="1716" y="432"/>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15.990</a:t>
                  </a:r>
                </a:p>
              </p:txBody>
            </p:sp>
            <p:sp>
              <p:nvSpPr>
                <p:cNvPr id="15465" name="Rectangle 17"/>
                <p:cNvSpPr>
                  <a:spLocks noChangeArrowheads="1"/>
                </p:cNvSpPr>
                <p:nvPr/>
              </p:nvSpPr>
              <p:spPr bwMode="auto">
                <a:xfrm>
                  <a:off x="1673" y="432"/>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4" name="Group 18"/>
              <p:cNvGrpSpPr/>
              <p:nvPr/>
            </p:nvGrpSpPr>
            <p:grpSpPr bwMode="auto">
              <a:xfrm>
                <a:off x="2157" y="432"/>
                <a:ext cx="485" cy="576"/>
                <a:chOff x="2157" y="432"/>
                <a:chExt cx="485" cy="576"/>
              </a:xfrm>
            </p:grpSpPr>
            <p:sp>
              <p:nvSpPr>
                <p:cNvPr id="15462" name="Rectangle 19"/>
                <p:cNvSpPr>
                  <a:spLocks noChangeArrowheads="1"/>
                </p:cNvSpPr>
                <p:nvPr/>
              </p:nvSpPr>
              <p:spPr bwMode="auto">
                <a:xfrm>
                  <a:off x="2200" y="432"/>
                  <a:ext cx="39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15.995</a:t>
                  </a:r>
                </a:p>
              </p:txBody>
            </p:sp>
            <p:sp>
              <p:nvSpPr>
                <p:cNvPr id="15463" name="Rectangle 20"/>
                <p:cNvSpPr>
                  <a:spLocks noChangeArrowheads="1"/>
                </p:cNvSpPr>
                <p:nvPr/>
              </p:nvSpPr>
              <p:spPr bwMode="auto">
                <a:xfrm>
                  <a:off x="2157" y="432"/>
                  <a:ext cx="48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5" name="Group 21"/>
              <p:cNvGrpSpPr/>
              <p:nvPr/>
            </p:nvGrpSpPr>
            <p:grpSpPr bwMode="auto">
              <a:xfrm>
                <a:off x="2642" y="432"/>
                <a:ext cx="484" cy="576"/>
                <a:chOff x="2642" y="432"/>
                <a:chExt cx="484" cy="576"/>
              </a:xfrm>
            </p:grpSpPr>
            <p:sp>
              <p:nvSpPr>
                <p:cNvPr id="15460" name="Rectangle 22"/>
                <p:cNvSpPr>
                  <a:spLocks noChangeArrowheads="1"/>
                </p:cNvSpPr>
                <p:nvPr/>
              </p:nvSpPr>
              <p:spPr bwMode="auto">
                <a:xfrm>
                  <a:off x="2685" y="432"/>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16.000</a:t>
                  </a:r>
                </a:p>
              </p:txBody>
            </p:sp>
            <p:sp>
              <p:nvSpPr>
                <p:cNvPr id="15461" name="Rectangle 23"/>
                <p:cNvSpPr>
                  <a:spLocks noChangeArrowheads="1"/>
                </p:cNvSpPr>
                <p:nvPr/>
              </p:nvSpPr>
              <p:spPr bwMode="auto">
                <a:xfrm>
                  <a:off x="2642" y="432"/>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6" name="Group 24"/>
              <p:cNvGrpSpPr/>
              <p:nvPr/>
            </p:nvGrpSpPr>
            <p:grpSpPr bwMode="auto">
              <a:xfrm>
                <a:off x="3126" y="432"/>
                <a:ext cx="484" cy="576"/>
                <a:chOff x="3126" y="432"/>
                <a:chExt cx="484" cy="576"/>
              </a:xfrm>
            </p:grpSpPr>
            <p:sp>
              <p:nvSpPr>
                <p:cNvPr id="15458" name="Rectangle 25"/>
                <p:cNvSpPr>
                  <a:spLocks noChangeArrowheads="1"/>
                </p:cNvSpPr>
                <p:nvPr/>
              </p:nvSpPr>
              <p:spPr bwMode="auto">
                <a:xfrm>
                  <a:off x="3169" y="432"/>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16.005</a:t>
                  </a:r>
                </a:p>
              </p:txBody>
            </p:sp>
            <p:sp>
              <p:nvSpPr>
                <p:cNvPr id="15459" name="Rectangle 26"/>
                <p:cNvSpPr>
                  <a:spLocks noChangeArrowheads="1"/>
                </p:cNvSpPr>
                <p:nvPr/>
              </p:nvSpPr>
              <p:spPr bwMode="auto">
                <a:xfrm>
                  <a:off x="3126" y="432"/>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7" name="Group 27"/>
              <p:cNvGrpSpPr/>
              <p:nvPr/>
            </p:nvGrpSpPr>
            <p:grpSpPr bwMode="auto">
              <a:xfrm>
                <a:off x="3610" y="432"/>
                <a:ext cx="485" cy="576"/>
                <a:chOff x="3610" y="432"/>
                <a:chExt cx="485" cy="576"/>
              </a:xfrm>
            </p:grpSpPr>
            <p:sp>
              <p:nvSpPr>
                <p:cNvPr id="15456" name="Rectangle 28"/>
                <p:cNvSpPr>
                  <a:spLocks noChangeArrowheads="1"/>
                </p:cNvSpPr>
                <p:nvPr/>
              </p:nvSpPr>
              <p:spPr bwMode="auto">
                <a:xfrm>
                  <a:off x="3653" y="432"/>
                  <a:ext cx="39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1800" b="1">
                      <a:ea typeface="楷体_GB2312" panose="02010609030101010101" pitchFamily="49" charset="-122"/>
                    </a:rPr>
                    <a:t>实际尺寸数量</a:t>
                  </a:r>
                  <a:endParaRPr lang="zh-CN" altLang="en-US" sz="1800"/>
                </a:p>
              </p:txBody>
            </p:sp>
            <p:sp>
              <p:nvSpPr>
                <p:cNvPr id="15457" name="Rectangle 29"/>
                <p:cNvSpPr>
                  <a:spLocks noChangeArrowheads="1"/>
                </p:cNvSpPr>
                <p:nvPr/>
              </p:nvSpPr>
              <p:spPr bwMode="auto">
                <a:xfrm>
                  <a:off x="3610" y="432"/>
                  <a:ext cx="48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8" name="Group 30"/>
              <p:cNvGrpSpPr/>
              <p:nvPr/>
            </p:nvGrpSpPr>
            <p:grpSpPr bwMode="auto">
              <a:xfrm>
                <a:off x="0" y="1008"/>
                <a:ext cx="705" cy="432"/>
                <a:chOff x="0" y="1008"/>
                <a:chExt cx="705" cy="432"/>
              </a:xfrm>
            </p:grpSpPr>
            <p:sp>
              <p:nvSpPr>
                <p:cNvPr id="15454" name="Rectangle 31"/>
                <p:cNvSpPr>
                  <a:spLocks noChangeArrowheads="1"/>
                </p:cNvSpPr>
                <p:nvPr/>
              </p:nvSpPr>
              <p:spPr bwMode="auto">
                <a:xfrm>
                  <a:off x="43" y="1008"/>
                  <a:ext cx="619"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ea typeface="楷体_GB2312" panose="02010609030101010101" pitchFamily="49" charset="-122"/>
                    </a:rPr>
                    <a:t>数量</a:t>
                  </a:r>
                  <a:endParaRPr lang="zh-CN" altLang="en-US" sz="2000"/>
                </a:p>
              </p:txBody>
            </p:sp>
            <p:sp>
              <p:nvSpPr>
                <p:cNvPr id="15455" name="Rectangle 32"/>
                <p:cNvSpPr>
                  <a:spLocks noChangeArrowheads="1"/>
                </p:cNvSpPr>
                <p:nvPr/>
              </p:nvSpPr>
              <p:spPr bwMode="auto">
                <a:xfrm>
                  <a:off x="0" y="1008"/>
                  <a:ext cx="705"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09" name="Group 33"/>
              <p:cNvGrpSpPr/>
              <p:nvPr/>
            </p:nvGrpSpPr>
            <p:grpSpPr bwMode="auto">
              <a:xfrm>
                <a:off x="705" y="1008"/>
                <a:ext cx="484" cy="432"/>
                <a:chOff x="705" y="1008"/>
                <a:chExt cx="484" cy="432"/>
              </a:xfrm>
            </p:grpSpPr>
            <p:sp>
              <p:nvSpPr>
                <p:cNvPr id="15452" name="Rectangle 34"/>
                <p:cNvSpPr>
                  <a:spLocks noChangeArrowheads="1"/>
                </p:cNvSpPr>
                <p:nvPr/>
              </p:nvSpPr>
              <p:spPr bwMode="auto">
                <a:xfrm>
                  <a:off x="748" y="1008"/>
                  <a:ext cx="398"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1</a:t>
                  </a:r>
                </a:p>
              </p:txBody>
            </p:sp>
            <p:sp>
              <p:nvSpPr>
                <p:cNvPr id="15453" name="Rectangle 35"/>
                <p:cNvSpPr>
                  <a:spLocks noChangeArrowheads="1"/>
                </p:cNvSpPr>
                <p:nvPr/>
              </p:nvSpPr>
              <p:spPr bwMode="auto">
                <a:xfrm>
                  <a:off x="705" y="1008"/>
                  <a:ext cx="484"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0" name="Group 36"/>
              <p:cNvGrpSpPr/>
              <p:nvPr/>
            </p:nvGrpSpPr>
            <p:grpSpPr bwMode="auto">
              <a:xfrm>
                <a:off x="1189" y="1008"/>
                <a:ext cx="484" cy="432"/>
                <a:chOff x="1189" y="1008"/>
                <a:chExt cx="484" cy="432"/>
              </a:xfrm>
            </p:grpSpPr>
            <p:sp>
              <p:nvSpPr>
                <p:cNvPr id="15450" name="Rectangle 37"/>
                <p:cNvSpPr>
                  <a:spLocks noChangeArrowheads="1"/>
                </p:cNvSpPr>
                <p:nvPr/>
              </p:nvSpPr>
              <p:spPr bwMode="auto">
                <a:xfrm>
                  <a:off x="1232" y="1008"/>
                  <a:ext cx="398"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5</a:t>
                  </a:r>
                </a:p>
              </p:txBody>
            </p:sp>
            <p:sp>
              <p:nvSpPr>
                <p:cNvPr id="15451" name="Rectangle 38"/>
                <p:cNvSpPr>
                  <a:spLocks noChangeArrowheads="1"/>
                </p:cNvSpPr>
                <p:nvPr/>
              </p:nvSpPr>
              <p:spPr bwMode="auto">
                <a:xfrm>
                  <a:off x="1189" y="1008"/>
                  <a:ext cx="484"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1" name="Group 39"/>
              <p:cNvGrpSpPr/>
              <p:nvPr/>
            </p:nvGrpSpPr>
            <p:grpSpPr bwMode="auto">
              <a:xfrm>
                <a:off x="1673" y="1008"/>
                <a:ext cx="484" cy="432"/>
                <a:chOff x="1673" y="1008"/>
                <a:chExt cx="484" cy="432"/>
              </a:xfrm>
            </p:grpSpPr>
            <p:sp>
              <p:nvSpPr>
                <p:cNvPr id="15448" name="Rectangle 40"/>
                <p:cNvSpPr>
                  <a:spLocks noChangeArrowheads="1"/>
                </p:cNvSpPr>
                <p:nvPr/>
              </p:nvSpPr>
              <p:spPr bwMode="auto">
                <a:xfrm>
                  <a:off x="1716" y="1008"/>
                  <a:ext cx="398"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11</a:t>
                  </a:r>
                </a:p>
              </p:txBody>
            </p:sp>
            <p:sp>
              <p:nvSpPr>
                <p:cNvPr id="15449" name="Rectangle 41"/>
                <p:cNvSpPr>
                  <a:spLocks noChangeArrowheads="1"/>
                </p:cNvSpPr>
                <p:nvPr/>
              </p:nvSpPr>
              <p:spPr bwMode="auto">
                <a:xfrm>
                  <a:off x="1673" y="1008"/>
                  <a:ext cx="484"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2" name="Group 42"/>
              <p:cNvGrpSpPr/>
              <p:nvPr/>
            </p:nvGrpSpPr>
            <p:grpSpPr bwMode="auto">
              <a:xfrm>
                <a:off x="2157" y="1008"/>
                <a:ext cx="485" cy="432"/>
                <a:chOff x="2157" y="1008"/>
                <a:chExt cx="485" cy="432"/>
              </a:xfrm>
            </p:grpSpPr>
            <p:sp>
              <p:nvSpPr>
                <p:cNvPr id="15446" name="Rectangle 43"/>
                <p:cNvSpPr>
                  <a:spLocks noChangeArrowheads="1"/>
                </p:cNvSpPr>
                <p:nvPr/>
              </p:nvSpPr>
              <p:spPr bwMode="auto">
                <a:xfrm>
                  <a:off x="2200" y="1008"/>
                  <a:ext cx="399"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9</a:t>
                  </a:r>
                </a:p>
              </p:txBody>
            </p:sp>
            <p:sp>
              <p:nvSpPr>
                <p:cNvPr id="15447" name="Rectangle 44"/>
                <p:cNvSpPr>
                  <a:spLocks noChangeArrowheads="1"/>
                </p:cNvSpPr>
                <p:nvPr/>
              </p:nvSpPr>
              <p:spPr bwMode="auto">
                <a:xfrm>
                  <a:off x="2157" y="1008"/>
                  <a:ext cx="485"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3" name="Group 45"/>
              <p:cNvGrpSpPr/>
              <p:nvPr/>
            </p:nvGrpSpPr>
            <p:grpSpPr bwMode="auto">
              <a:xfrm>
                <a:off x="2642" y="1008"/>
                <a:ext cx="484" cy="432"/>
                <a:chOff x="2642" y="1008"/>
                <a:chExt cx="484" cy="432"/>
              </a:xfrm>
            </p:grpSpPr>
            <p:sp>
              <p:nvSpPr>
                <p:cNvPr id="15444" name="Rectangle 46"/>
                <p:cNvSpPr>
                  <a:spLocks noChangeArrowheads="1"/>
                </p:cNvSpPr>
                <p:nvPr/>
              </p:nvSpPr>
              <p:spPr bwMode="auto">
                <a:xfrm>
                  <a:off x="2685" y="1008"/>
                  <a:ext cx="398"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3</a:t>
                  </a:r>
                </a:p>
              </p:txBody>
            </p:sp>
            <p:sp>
              <p:nvSpPr>
                <p:cNvPr id="15445" name="Rectangle 47"/>
                <p:cNvSpPr>
                  <a:spLocks noChangeArrowheads="1"/>
                </p:cNvSpPr>
                <p:nvPr/>
              </p:nvSpPr>
              <p:spPr bwMode="auto">
                <a:xfrm>
                  <a:off x="2642" y="1008"/>
                  <a:ext cx="484"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4" name="Group 48"/>
              <p:cNvGrpSpPr/>
              <p:nvPr/>
            </p:nvGrpSpPr>
            <p:grpSpPr bwMode="auto">
              <a:xfrm>
                <a:off x="3126" y="1008"/>
                <a:ext cx="484" cy="432"/>
                <a:chOff x="3126" y="1008"/>
                <a:chExt cx="484" cy="432"/>
              </a:xfrm>
            </p:grpSpPr>
            <p:sp>
              <p:nvSpPr>
                <p:cNvPr id="15442" name="Rectangle 49"/>
                <p:cNvSpPr>
                  <a:spLocks noChangeArrowheads="1"/>
                </p:cNvSpPr>
                <p:nvPr/>
              </p:nvSpPr>
              <p:spPr bwMode="auto">
                <a:xfrm>
                  <a:off x="3169" y="1008"/>
                  <a:ext cx="398"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a:t>1</a:t>
                  </a:r>
                </a:p>
              </p:txBody>
            </p:sp>
            <p:sp>
              <p:nvSpPr>
                <p:cNvPr id="15443" name="Rectangle 50"/>
                <p:cNvSpPr>
                  <a:spLocks noChangeArrowheads="1"/>
                </p:cNvSpPr>
                <p:nvPr/>
              </p:nvSpPr>
              <p:spPr bwMode="auto">
                <a:xfrm>
                  <a:off x="3126" y="1008"/>
                  <a:ext cx="484"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5" name="Group 51"/>
              <p:cNvGrpSpPr/>
              <p:nvPr/>
            </p:nvGrpSpPr>
            <p:grpSpPr bwMode="auto">
              <a:xfrm>
                <a:off x="3610" y="1008"/>
                <a:ext cx="485" cy="432"/>
                <a:chOff x="3610" y="1008"/>
                <a:chExt cx="485" cy="432"/>
              </a:xfrm>
            </p:grpSpPr>
            <p:sp>
              <p:nvSpPr>
                <p:cNvPr id="15440" name="Rectangle 52"/>
                <p:cNvSpPr>
                  <a:spLocks noChangeArrowheads="1"/>
                </p:cNvSpPr>
                <p:nvPr/>
              </p:nvSpPr>
              <p:spPr bwMode="auto">
                <a:xfrm>
                  <a:off x="3653" y="1008"/>
                  <a:ext cx="399" cy="4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2400" b="1">
                      <a:solidFill>
                        <a:srgbClr val="FF0000"/>
                      </a:solidFill>
                    </a:rPr>
                    <a:t>30</a:t>
                  </a:r>
                </a:p>
              </p:txBody>
            </p:sp>
            <p:sp>
              <p:nvSpPr>
                <p:cNvPr id="15441" name="Rectangle 53"/>
                <p:cNvSpPr>
                  <a:spLocks noChangeArrowheads="1"/>
                </p:cNvSpPr>
                <p:nvPr/>
              </p:nvSpPr>
              <p:spPr bwMode="auto">
                <a:xfrm>
                  <a:off x="3610" y="1008"/>
                  <a:ext cx="485" cy="432"/>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6" name="Group 54"/>
              <p:cNvGrpSpPr/>
              <p:nvPr/>
            </p:nvGrpSpPr>
            <p:grpSpPr bwMode="auto">
              <a:xfrm>
                <a:off x="0" y="1440"/>
                <a:ext cx="705" cy="576"/>
                <a:chOff x="0" y="1440"/>
                <a:chExt cx="705" cy="576"/>
              </a:xfrm>
            </p:grpSpPr>
            <p:sp>
              <p:nvSpPr>
                <p:cNvPr id="15438" name="Rectangle 55"/>
                <p:cNvSpPr>
                  <a:spLocks noChangeArrowheads="1"/>
                </p:cNvSpPr>
                <p:nvPr/>
              </p:nvSpPr>
              <p:spPr bwMode="auto">
                <a:xfrm>
                  <a:off x="43" y="1440"/>
                  <a:ext cx="61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ea typeface="楷体_GB2312" panose="02010609030101010101" pitchFamily="49" charset="-122"/>
                    </a:rPr>
                    <a:t>实际偏差</a:t>
                  </a:r>
                  <a:endParaRPr lang="zh-CN" altLang="en-US" sz="2000"/>
                </a:p>
              </p:txBody>
            </p:sp>
            <p:sp>
              <p:nvSpPr>
                <p:cNvPr id="15439" name="Rectangle 56"/>
                <p:cNvSpPr>
                  <a:spLocks noChangeArrowheads="1"/>
                </p:cNvSpPr>
                <p:nvPr/>
              </p:nvSpPr>
              <p:spPr bwMode="auto">
                <a:xfrm>
                  <a:off x="0" y="1440"/>
                  <a:ext cx="70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7" name="Group 57"/>
              <p:cNvGrpSpPr/>
              <p:nvPr/>
            </p:nvGrpSpPr>
            <p:grpSpPr bwMode="auto">
              <a:xfrm>
                <a:off x="705" y="1440"/>
                <a:ext cx="484" cy="576"/>
                <a:chOff x="705" y="1440"/>
                <a:chExt cx="484" cy="576"/>
              </a:xfrm>
            </p:grpSpPr>
            <p:sp>
              <p:nvSpPr>
                <p:cNvPr id="15436" name="Rectangle 58"/>
                <p:cNvSpPr>
                  <a:spLocks noChangeArrowheads="1"/>
                </p:cNvSpPr>
                <p:nvPr/>
              </p:nvSpPr>
              <p:spPr bwMode="auto">
                <a:xfrm>
                  <a:off x="748" y="1440"/>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-0.020</a:t>
                  </a:r>
                </a:p>
              </p:txBody>
            </p:sp>
            <p:sp>
              <p:nvSpPr>
                <p:cNvPr id="15437" name="Rectangle 59"/>
                <p:cNvSpPr>
                  <a:spLocks noChangeArrowheads="1"/>
                </p:cNvSpPr>
                <p:nvPr/>
              </p:nvSpPr>
              <p:spPr bwMode="auto">
                <a:xfrm>
                  <a:off x="705" y="1440"/>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8" name="Group 60"/>
              <p:cNvGrpSpPr/>
              <p:nvPr/>
            </p:nvGrpSpPr>
            <p:grpSpPr bwMode="auto">
              <a:xfrm>
                <a:off x="1189" y="1440"/>
                <a:ext cx="484" cy="576"/>
                <a:chOff x="1189" y="1440"/>
                <a:chExt cx="484" cy="576"/>
              </a:xfrm>
            </p:grpSpPr>
            <p:sp>
              <p:nvSpPr>
                <p:cNvPr id="15434" name="Rectangle 61"/>
                <p:cNvSpPr>
                  <a:spLocks noChangeArrowheads="1"/>
                </p:cNvSpPr>
                <p:nvPr/>
              </p:nvSpPr>
              <p:spPr bwMode="auto">
                <a:xfrm>
                  <a:off x="1232" y="1440"/>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-0.015</a:t>
                  </a:r>
                </a:p>
              </p:txBody>
            </p:sp>
            <p:sp>
              <p:nvSpPr>
                <p:cNvPr id="15435" name="Rectangle 62"/>
                <p:cNvSpPr>
                  <a:spLocks noChangeArrowheads="1"/>
                </p:cNvSpPr>
                <p:nvPr/>
              </p:nvSpPr>
              <p:spPr bwMode="auto">
                <a:xfrm>
                  <a:off x="1189" y="1440"/>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19" name="Group 63"/>
              <p:cNvGrpSpPr/>
              <p:nvPr/>
            </p:nvGrpSpPr>
            <p:grpSpPr bwMode="auto">
              <a:xfrm>
                <a:off x="1673" y="1440"/>
                <a:ext cx="484" cy="576"/>
                <a:chOff x="1673" y="1440"/>
                <a:chExt cx="484" cy="576"/>
              </a:xfrm>
            </p:grpSpPr>
            <p:sp>
              <p:nvSpPr>
                <p:cNvPr id="15432" name="Rectangle 64"/>
                <p:cNvSpPr>
                  <a:spLocks noChangeArrowheads="1"/>
                </p:cNvSpPr>
                <p:nvPr/>
              </p:nvSpPr>
              <p:spPr bwMode="auto">
                <a:xfrm>
                  <a:off x="1716" y="1440"/>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-0.010</a:t>
                  </a:r>
                </a:p>
              </p:txBody>
            </p:sp>
            <p:sp>
              <p:nvSpPr>
                <p:cNvPr id="15433" name="Rectangle 65"/>
                <p:cNvSpPr>
                  <a:spLocks noChangeArrowheads="1"/>
                </p:cNvSpPr>
                <p:nvPr/>
              </p:nvSpPr>
              <p:spPr bwMode="auto">
                <a:xfrm>
                  <a:off x="1673" y="1440"/>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20" name="Group 66"/>
              <p:cNvGrpSpPr/>
              <p:nvPr/>
            </p:nvGrpSpPr>
            <p:grpSpPr bwMode="auto">
              <a:xfrm>
                <a:off x="2157" y="1440"/>
                <a:ext cx="485" cy="576"/>
                <a:chOff x="2157" y="1440"/>
                <a:chExt cx="485" cy="576"/>
              </a:xfrm>
            </p:grpSpPr>
            <p:sp>
              <p:nvSpPr>
                <p:cNvPr id="15430" name="Rectangle 67"/>
                <p:cNvSpPr>
                  <a:spLocks noChangeArrowheads="1"/>
                </p:cNvSpPr>
                <p:nvPr/>
              </p:nvSpPr>
              <p:spPr bwMode="auto">
                <a:xfrm>
                  <a:off x="2200" y="1440"/>
                  <a:ext cx="39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-0.005</a:t>
                  </a:r>
                </a:p>
              </p:txBody>
            </p:sp>
            <p:sp>
              <p:nvSpPr>
                <p:cNvPr id="15431" name="Rectangle 68"/>
                <p:cNvSpPr>
                  <a:spLocks noChangeArrowheads="1"/>
                </p:cNvSpPr>
                <p:nvPr/>
              </p:nvSpPr>
              <p:spPr bwMode="auto">
                <a:xfrm>
                  <a:off x="2157" y="1440"/>
                  <a:ext cx="48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21" name="Group 69"/>
              <p:cNvGrpSpPr/>
              <p:nvPr/>
            </p:nvGrpSpPr>
            <p:grpSpPr bwMode="auto">
              <a:xfrm>
                <a:off x="2642" y="1440"/>
                <a:ext cx="484" cy="576"/>
                <a:chOff x="2642" y="1440"/>
                <a:chExt cx="484" cy="576"/>
              </a:xfrm>
            </p:grpSpPr>
            <p:sp>
              <p:nvSpPr>
                <p:cNvPr id="15428" name="Rectangle 70"/>
                <p:cNvSpPr>
                  <a:spLocks noChangeArrowheads="1"/>
                </p:cNvSpPr>
                <p:nvPr/>
              </p:nvSpPr>
              <p:spPr bwMode="auto">
                <a:xfrm>
                  <a:off x="2685" y="1440"/>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800"/>
                    <a:t>0</a:t>
                  </a:r>
                </a:p>
              </p:txBody>
            </p:sp>
            <p:sp>
              <p:nvSpPr>
                <p:cNvPr id="15429" name="Rectangle 71"/>
                <p:cNvSpPr>
                  <a:spLocks noChangeArrowheads="1"/>
                </p:cNvSpPr>
                <p:nvPr/>
              </p:nvSpPr>
              <p:spPr bwMode="auto">
                <a:xfrm>
                  <a:off x="2642" y="1440"/>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22" name="Group 72"/>
              <p:cNvGrpSpPr/>
              <p:nvPr/>
            </p:nvGrpSpPr>
            <p:grpSpPr bwMode="auto">
              <a:xfrm>
                <a:off x="3126" y="1440"/>
                <a:ext cx="484" cy="576"/>
                <a:chOff x="3126" y="1440"/>
                <a:chExt cx="484" cy="576"/>
              </a:xfrm>
            </p:grpSpPr>
            <p:sp>
              <p:nvSpPr>
                <p:cNvPr id="15426" name="Rectangle 73"/>
                <p:cNvSpPr>
                  <a:spLocks noChangeArrowheads="1"/>
                </p:cNvSpPr>
                <p:nvPr/>
              </p:nvSpPr>
              <p:spPr bwMode="auto">
                <a:xfrm>
                  <a:off x="3169" y="1440"/>
                  <a:ext cx="398"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600"/>
                    <a:t>+0.005</a:t>
                  </a:r>
                </a:p>
              </p:txBody>
            </p:sp>
            <p:sp>
              <p:nvSpPr>
                <p:cNvPr id="15427" name="Rectangle 74"/>
                <p:cNvSpPr>
                  <a:spLocks noChangeArrowheads="1"/>
                </p:cNvSpPr>
                <p:nvPr/>
              </p:nvSpPr>
              <p:spPr bwMode="auto">
                <a:xfrm>
                  <a:off x="3126" y="1440"/>
                  <a:ext cx="484"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23" name="Group 75"/>
              <p:cNvGrpSpPr/>
              <p:nvPr/>
            </p:nvGrpSpPr>
            <p:grpSpPr bwMode="auto">
              <a:xfrm>
                <a:off x="3610" y="1440"/>
                <a:ext cx="485" cy="576"/>
                <a:chOff x="3610" y="1440"/>
                <a:chExt cx="485" cy="576"/>
              </a:xfrm>
            </p:grpSpPr>
            <p:sp>
              <p:nvSpPr>
                <p:cNvPr id="15424" name="Rectangle 76"/>
                <p:cNvSpPr>
                  <a:spLocks noChangeArrowheads="1"/>
                </p:cNvSpPr>
                <p:nvPr/>
              </p:nvSpPr>
              <p:spPr bwMode="auto">
                <a:xfrm>
                  <a:off x="3653" y="1440"/>
                  <a:ext cx="399" cy="5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en-US" altLang="zh-CN" sz="1000"/>
                    <a:t> </a:t>
                  </a:r>
                </a:p>
                <a:p>
                  <a:pPr eaLnBrk="0" hangingPunct="0"/>
                  <a:endParaRPr lang="en-US" altLang="zh-CN" sz="2400"/>
                </a:p>
              </p:txBody>
            </p:sp>
            <p:sp>
              <p:nvSpPr>
                <p:cNvPr id="15425" name="Rectangle 77"/>
                <p:cNvSpPr>
                  <a:spLocks noChangeArrowheads="1"/>
                </p:cNvSpPr>
                <p:nvPr/>
              </p:nvSpPr>
              <p:spPr bwMode="auto">
                <a:xfrm>
                  <a:off x="3610" y="1440"/>
                  <a:ext cx="485" cy="576"/>
                </a:xfrm>
                <a:prstGeom prst="rect">
                  <a:avLst/>
                </a:prstGeom>
                <a:noFill/>
                <a:ln w="7">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15399" name="Rectangle 78"/>
            <p:cNvSpPr>
              <a:spLocks noChangeArrowheads="1"/>
            </p:cNvSpPr>
            <p:nvPr/>
          </p:nvSpPr>
          <p:spPr bwMode="auto">
            <a:xfrm>
              <a:off x="-3" y="429"/>
              <a:ext cx="4101" cy="1590"/>
            </a:xfrm>
            <a:prstGeom prst="rect">
              <a:avLst/>
            </a:prstGeom>
            <a:noFill/>
            <a:ln w="9525">
              <a:solidFill>
                <a:srgbClr val="A0A0A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7423" name="Group 79"/>
          <p:cNvGrpSpPr/>
          <p:nvPr/>
        </p:nvGrpSpPr>
        <p:grpSpPr bwMode="auto">
          <a:xfrm>
            <a:off x="1835150" y="514350"/>
            <a:ext cx="4725988" cy="3055938"/>
            <a:chOff x="1655" y="210"/>
            <a:chExt cx="2977" cy="1925"/>
          </a:xfrm>
        </p:grpSpPr>
        <p:grpSp>
          <p:nvGrpSpPr>
            <p:cNvPr id="15374" name="Group 80"/>
            <p:cNvGrpSpPr/>
            <p:nvPr/>
          </p:nvGrpSpPr>
          <p:grpSpPr bwMode="auto">
            <a:xfrm rot="5400000">
              <a:off x="2206" y="158"/>
              <a:ext cx="1008" cy="2110"/>
              <a:chOff x="1152" y="1669"/>
              <a:chExt cx="1008" cy="2110"/>
            </a:xfrm>
          </p:grpSpPr>
          <p:grpSp>
            <p:nvGrpSpPr>
              <p:cNvPr id="15385" name="Group 81"/>
              <p:cNvGrpSpPr/>
              <p:nvPr/>
            </p:nvGrpSpPr>
            <p:grpSpPr bwMode="auto">
              <a:xfrm rot="5400000">
                <a:off x="776" y="2396"/>
                <a:ext cx="1763" cy="1004"/>
                <a:chOff x="1800" y="3304"/>
                <a:chExt cx="7200" cy="1577"/>
              </a:xfrm>
            </p:grpSpPr>
            <p:sp>
              <p:nvSpPr>
                <p:cNvPr id="15389" name="Rectangle 82"/>
                <p:cNvSpPr>
                  <a:spLocks noChangeArrowheads="1"/>
                </p:cNvSpPr>
                <p:nvPr/>
              </p:nvSpPr>
              <p:spPr bwMode="auto">
                <a:xfrm>
                  <a:off x="2340" y="3312"/>
                  <a:ext cx="6120" cy="1560"/>
                </a:xfrm>
                <a:prstGeom prst="rect">
                  <a:avLst/>
                </a:prstGeom>
                <a:solidFill>
                  <a:srgbClr val="FFFFFF"/>
                </a:solidFill>
                <a:ln w="38100">
                  <a:solidFill>
                    <a:srgbClr val="000000"/>
                  </a:solidFill>
                  <a:miter lim="800000"/>
                </a:ln>
              </p:spPr>
              <p:txBody>
                <a:bodyPr/>
                <a:lstStyle/>
                <a:p>
                  <a:endParaRPr lang="zh-CN" altLang="en-US"/>
                </a:p>
              </p:txBody>
            </p:sp>
            <p:sp>
              <p:nvSpPr>
                <p:cNvPr id="15390" name="Line 83"/>
                <p:cNvSpPr>
                  <a:spLocks noChangeShapeType="1"/>
                </p:cNvSpPr>
                <p:nvPr/>
              </p:nvSpPr>
              <p:spPr bwMode="auto">
                <a:xfrm>
                  <a:off x="1800" y="4092"/>
                  <a:ext cx="7200" cy="0"/>
                </a:xfrm>
                <a:prstGeom prst="line">
                  <a:avLst/>
                </a:prstGeom>
                <a:noFill/>
                <a:ln w="9525">
                  <a:solidFill>
                    <a:srgbClr val="000000"/>
                  </a:solidFill>
                  <a:prstDash val="lgDashDot"/>
                  <a:round/>
                </a:ln>
                <a:extLst>
                  <a:ext uri="{909E8E84-426E-40DD-AFC4-6F175D3DCCD1}">
                    <a14:hiddenFill xmlns="" xmlns:a14="http://schemas.microsoft.com/office/drawing/2010/main">
                      <a:noFill/>
                    </a14:hiddenFill>
                  </a:ext>
                </a:extLst>
              </p:spPr>
              <p:txBody>
                <a:bodyPr/>
                <a:lstStyle/>
                <a:p>
                  <a:endParaRPr lang="zh-CN" altLang="en-US"/>
                </a:p>
              </p:txBody>
            </p:sp>
            <p:sp>
              <p:nvSpPr>
                <p:cNvPr id="15391" name="Line 84"/>
                <p:cNvSpPr>
                  <a:spLocks noChangeShapeType="1"/>
                </p:cNvSpPr>
                <p:nvPr/>
              </p:nvSpPr>
              <p:spPr bwMode="auto">
                <a:xfrm>
                  <a:off x="2160" y="3468"/>
                  <a:ext cx="0" cy="1248"/>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92" name="Line 85"/>
                <p:cNvSpPr>
                  <a:spLocks noChangeShapeType="1"/>
                </p:cNvSpPr>
                <p:nvPr/>
              </p:nvSpPr>
              <p:spPr bwMode="auto">
                <a:xfrm>
                  <a:off x="2149" y="4692"/>
                  <a:ext cx="180" cy="181"/>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93" name="Line 86"/>
                <p:cNvSpPr>
                  <a:spLocks noChangeShapeType="1"/>
                </p:cNvSpPr>
                <p:nvPr/>
              </p:nvSpPr>
              <p:spPr bwMode="auto">
                <a:xfrm flipV="1">
                  <a:off x="2157" y="3304"/>
                  <a:ext cx="180" cy="181"/>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grpSp>
              <p:nvGrpSpPr>
                <p:cNvPr id="15394" name="Group 87"/>
                <p:cNvGrpSpPr/>
                <p:nvPr/>
              </p:nvGrpSpPr>
              <p:grpSpPr bwMode="auto">
                <a:xfrm flipH="1">
                  <a:off x="8460" y="3312"/>
                  <a:ext cx="188" cy="1569"/>
                  <a:chOff x="4852" y="3468"/>
                  <a:chExt cx="188" cy="1569"/>
                </a:xfrm>
              </p:grpSpPr>
              <p:sp>
                <p:nvSpPr>
                  <p:cNvPr id="15395" name="Line 88"/>
                  <p:cNvSpPr>
                    <a:spLocks noChangeShapeType="1"/>
                  </p:cNvSpPr>
                  <p:nvPr/>
                </p:nvSpPr>
                <p:spPr bwMode="auto">
                  <a:xfrm>
                    <a:off x="4863" y="3632"/>
                    <a:ext cx="0" cy="1248"/>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96" name="Line 89"/>
                  <p:cNvSpPr>
                    <a:spLocks noChangeShapeType="1"/>
                  </p:cNvSpPr>
                  <p:nvPr/>
                </p:nvSpPr>
                <p:spPr bwMode="auto">
                  <a:xfrm>
                    <a:off x="4852" y="4856"/>
                    <a:ext cx="180" cy="181"/>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97" name="Line 90"/>
                  <p:cNvSpPr>
                    <a:spLocks noChangeShapeType="1"/>
                  </p:cNvSpPr>
                  <p:nvPr/>
                </p:nvSpPr>
                <p:spPr bwMode="auto">
                  <a:xfrm flipV="1">
                    <a:off x="4860" y="3468"/>
                    <a:ext cx="180" cy="181"/>
                  </a:xfrm>
                  <a:prstGeom prst="line">
                    <a:avLst/>
                  </a:prstGeom>
                  <a:noFill/>
                  <a:ln w="38100">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grpSp>
          </p:grpSp>
          <p:sp>
            <p:nvSpPr>
              <p:cNvPr id="15386" name="Line 91"/>
              <p:cNvSpPr>
                <a:spLocks noChangeShapeType="1"/>
              </p:cNvSpPr>
              <p:nvPr/>
            </p:nvSpPr>
            <p:spPr bwMode="auto">
              <a:xfrm flipV="1">
                <a:off x="1152" y="1669"/>
                <a:ext cx="0" cy="521"/>
              </a:xfrm>
              <a:prstGeom prst="line">
                <a:avLst/>
              </a:prstGeom>
              <a:noFill/>
              <a:ln w="9525">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87" name="Line 92"/>
              <p:cNvSpPr>
                <a:spLocks noChangeShapeType="1"/>
              </p:cNvSpPr>
              <p:nvPr/>
            </p:nvSpPr>
            <p:spPr bwMode="auto">
              <a:xfrm flipV="1">
                <a:off x="2147" y="1675"/>
                <a:ext cx="0" cy="521"/>
              </a:xfrm>
              <a:prstGeom prst="line">
                <a:avLst/>
              </a:prstGeom>
              <a:noFill/>
              <a:ln w="9525">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15388" name="Line 93"/>
              <p:cNvSpPr>
                <a:spLocks noChangeShapeType="1"/>
              </p:cNvSpPr>
              <p:nvPr/>
            </p:nvSpPr>
            <p:spPr bwMode="auto">
              <a:xfrm>
                <a:off x="1156" y="1776"/>
                <a:ext cx="978" cy="0"/>
              </a:xfrm>
              <a:prstGeom prst="line">
                <a:avLst/>
              </a:prstGeom>
              <a:noFill/>
              <a:ln w="9525">
                <a:solidFill>
                  <a:schemeClr val="tx1"/>
                </a:solidFill>
                <a:miter lim="800000"/>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15375" name="Object 94"/>
            <p:cNvGraphicFramePr>
              <a:graphicFrameLocks noChangeAspect="1"/>
            </p:cNvGraphicFramePr>
            <p:nvPr/>
          </p:nvGraphicFramePr>
          <p:xfrm>
            <a:off x="3841" y="527"/>
            <a:ext cx="785" cy="341"/>
          </p:xfrm>
          <a:graphic>
            <a:graphicData uri="http://schemas.openxmlformats.org/presentationml/2006/ole">
              <p:oleObj spid="_x0000_s20484" name="公式" r:id="rId3" imgW="14020800" imgH="6096000" progId="">
                <p:embed/>
              </p:oleObj>
            </a:graphicData>
          </a:graphic>
        </p:graphicFrame>
        <p:sp>
          <p:nvSpPr>
            <p:cNvPr id="15376" name="Line 95"/>
            <p:cNvSpPr>
              <a:spLocks noChangeShapeType="1"/>
            </p:cNvSpPr>
            <p:nvPr/>
          </p:nvSpPr>
          <p:spPr bwMode="auto">
            <a:xfrm flipV="1">
              <a:off x="1746" y="482"/>
              <a:ext cx="136" cy="317"/>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7" name="Line 96"/>
            <p:cNvSpPr>
              <a:spLocks noChangeShapeType="1"/>
            </p:cNvSpPr>
            <p:nvPr/>
          </p:nvSpPr>
          <p:spPr bwMode="auto">
            <a:xfrm>
              <a:off x="1887" y="471"/>
              <a:ext cx="681" cy="0"/>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8" name="Line 97"/>
            <p:cNvSpPr>
              <a:spLocks noChangeShapeType="1"/>
            </p:cNvSpPr>
            <p:nvPr/>
          </p:nvSpPr>
          <p:spPr bwMode="auto">
            <a:xfrm flipH="1">
              <a:off x="1720" y="1570"/>
              <a:ext cx="10" cy="527"/>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9" name="Line 98"/>
            <p:cNvSpPr>
              <a:spLocks noChangeShapeType="1"/>
            </p:cNvSpPr>
            <p:nvPr/>
          </p:nvSpPr>
          <p:spPr bwMode="auto">
            <a:xfrm>
              <a:off x="3343" y="1585"/>
              <a:ext cx="7" cy="550"/>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80" name="Line 99"/>
            <p:cNvSpPr>
              <a:spLocks noChangeShapeType="1"/>
            </p:cNvSpPr>
            <p:nvPr/>
          </p:nvSpPr>
          <p:spPr bwMode="auto">
            <a:xfrm>
              <a:off x="1714" y="1979"/>
              <a:ext cx="1632" cy="0"/>
            </a:xfrm>
            <a:prstGeom prst="line">
              <a:avLst/>
            </a:prstGeom>
            <a:noFill/>
            <a:ln w="9525">
              <a:solidFill>
                <a:schemeClr val="tx1"/>
              </a:solidFill>
              <a:miter lim="800000"/>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81" name="Line 100"/>
            <p:cNvSpPr>
              <a:spLocks noChangeShapeType="1"/>
            </p:cNvSpPr>
            <p:nvPr/>
          </p:nvSpPr>
          <p:spPr bwMode="auto">
            <a:xfrm flipV="1">
              <a:off x="3658" y="829"/>
              <a:ext cx="181" cy="408"/>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82" name="Line 101"/>
            <p:cNvSpPr>
              <a:spLocks noChangeShapeType="1"/>
            </p:cNvSpPr>
            <p:nvPr/>
          </p:nvSpPr>
          <p:spPr bwMode="auto">
            <a:xfrm>
              <a:off x="3839" y="829"/>
              <a:ext cx="793" cy="0"/>
            </a:xfrm>
            <a:prstGeom prst="line">
              <a:avLst/>
            </a:prstGeom>
            <a:noFill/>
            <a:ln w="9525">
              <a:solidFill>
                <a:schemeClr val="tx1"/>
              </a:solidFill>
              <a:miter lim="800000"/>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5383" name="Object 102"/>
            <p:cNvGraphicFramePr>
              <a:graphicFrameLocks noChangeAspect="1"/>
            </p:cNvGraphicFramePr>
            <p:nvPr/>
          </p:nvGraphicFramePr>
          <p:xfrm>
            <a:off x="2381" y="1785"/>
            <a:ext cx="273" cy="239"/>
          </p:xfrm>
          <a:graphic>
            <a:graphicData uri="http://schemas.openxmlformats.org/presentationml/2006/ole">
              <p:oleObj spid="_x0000_s20483" name="公式" r:id="rId4" imgW="4876800" imgH="4267200" progId="">
                <p:embed/>
              </p:oleObj>
            </a:graphicData>
          </a:graphic>
        </p:graphicFrame>
        <p:graphicFrame>
          <p:nvGraphicFramePr>
            <p:cNvPr id="15384" name="Object 103"/>
            <p:cNvGraphicFramePr>
              <a:graphicFrameLocks noChangeAspect="1"/>
            </p:cNvGraphicFramePr>
            <p:nvPr/>
          </p:nvGraphicFramePr>
          <p:xfrm>
            <a:off x="2064" y="210"/>
            <a:ext cx="273" cy="239"/>
          </p:xfrm>
          <a:graphic>
            <a:graphicData uri="http://schemas.openxmlformats.org/presentationml/2006/ole">
              <p:oleObj spid="_x0000_s20482" name="公式" r:id="rId5" imgW="4876800" imgH="4267200" progId="">
                <p:embed/>
              </p:oleObj>
            </a:graphicData>
          </a:graphic>
        </p:graphicFrame>
      </p:grpSp>
      <p:sp>
        <p:nvSpPr>
          <p:cNvPr id="57448" name="Text Box 104"/>
          <p:cNvSpPr txBox="1">
            <a:spLocks noChangeArrowheads="1"/>
          </p:cNvSpPr>
          <p:nvPr/>
        </p:nvSpPr>
        <p:spPr bwMode="auto">
          <a:xfrm>
            <a:off x="304800" y="914400"/>
            <a:ext cx="26828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dirty="0">
                <a:latin typeface="Tahoma" panose="020B0604030504040204" pitchFamily="34" charset="0"/>
              </a:rPr>
              <a:t>数量：</a:t>
            </a:r>
            <a:r>
              <a:rPr lang="en-US" altLang="zh-CN" sz="2400" dirty="0">
                <a:latin typeface="Tahoma" panose="020B0604030504040204" pitchFamily="34" charset="0"/>
              </a:rPr>
              <a:t>30</a:t>
            </a:r>
          </a:p>
        </p:txBody>
      </p:sp>
      <p:sp>
        <p:nvSpPr>
          <p:cNvPr id="57449" name="AutoShape 105"/>
          <p:cNvSpPr>
            <a:spLocks noChangeArrowheads="1"/>
          </p:cNvSpPr>
          <p:nvPr/>
        </p:nvSpPr>
        <p:spPr bwMode="auto">
          <a:xfrm>
            <a:off x="4427855" y="396240"/>
            <a:ext cx="2089150" cy="440055"/>
          </a:xfrm>
          <a:prstGeom prst="wedgeRectCallout">
            <a:avLst>
              <a:gd name="adj1" fmla="val 8968"/>
              <a:gd name="adj2" fmla="val 101241"/>
            </a:avLst>
          </a:prstGeom>
          <a:solidFill>
            <a:srgbClr val="FFFF99"/>
          </a:solidFill>
          <a:ln w="9525">
            <a:solidFill>
              <a:schemeClr val="tx1"/>
            </a:solidFill>
            <a:miter lim="800000"/>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0000FF"/>
                </a:solidFill>
                <a:latin typeface="Tahoma" panose="020B0604030504040204" pitchFamily="34" charset="0"/>
              </a:rPr>
              <a:t>公称尺寸</a:t>
            </a:r>
          </a:p>
        </p:txBody>
      </p:sp>
      <p:sp>
        <p:nvSpPr>
          <p:cNvPr id="57450" name="AutoShape 106"/>
          <p:cNvSpPr>
            <a:spLocks noChangeArrowheads="1"/>
          </p:cNvSpPr>
          <p:nvPr/>
        </p:nvSpPr>
        <p:spPr bwMode="auto">
          <a:xfrm>
            <a:off x="7134225" y="353060"/>
            <a:ext cx="1685925" cy="488950"/>
          </a:xfrm>
          <a:prstGeom prst="wedgeRectCallout">
            <a:avLst>
              <a:gd name="adj1" fmla="val -97648"/>
              <a:gd name="adj2" fmla="val 107574"/>
            </a:avLst>
          </a:prstGeom>
          <a:solidFill>
            <a:srgbClr val="FFFF99"/>
          </a:solidFill>
          <a:ln w="9525">
            <a:solidFill>
              <a:schemeClr val="tx1"/>
            </a:solidFill>
            <a:miter lim="800000"/>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l"/>
            <a:r>
              <a:rPr lang="zh-CN" altLang="en-US" sz="2400" b="1">
                <a:solidFill>
                  <a:srgbClr val="0000FF"/>
                </a:solidFill>
                <a:latin typeface="Tahoma" panose="020B0604030504040204" pitchFamily="34" charset="0"/>
              </a:rPr>
              <a:t>上偏差</a:t>
            </a:r>
          </a:p>
        </p:txBody>
      </p:sp>
      <p:sp>
        <p:nvSpPr>
          <p:cNvPr id="57451" name="AutoShape 107"/>
          <p:cNvSpPr>
            <a:spLocks noChangeArrowheads="1"/>
          </p:cNvSpPr>
          <p:nvPr/>
        </p:nvSpPr>
        <p:spPr bwMode="auto">
          <a:xfrm>
            <a:off x="7451725" y="1509713"/>
            <a:ext cx="1296988" cy="576262"/>
          </a:xfrm>
          <a:prstGeom prst="wedgeRectCallout">
            <a:avLst>
              <a:gd name="adj1" fmla="val -112792"/>
              <a:gd name="adj2" fmla="val -70111"/>
            </a:avLst>
          </a:prstGeom>
          <a:solidFill>
            <a:srgbClr val="FFFF99"/>
          </a:solidFill>
          <a:ln w="9525">
            <a:solidFill>
              <a:schemeClr val="tx1"/>
            </a:solidFill>
            <a:miter lim="800000"/>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l"/>
            <a:r>
              <a:rPr lang="zh-CN" altLang="en-US" sz="2400" b="1">
                <a:solidFill>
                  <a:srgbClr val="0000FF"/>
                </a:solidFill>
                <a:latin typeface="Tahoma" panose="020B0604030504040204" pitchFamily="34" charset="0"/>
              </a:rPr>
              <a:t>下偏差</a:t>
            </a:r>
          </a:p>
        </p:txBody>
      </p:sp>
      <p:graphicFrame>
        <p:nvGraphicFramePr>
          <p:cNvPr id="57452" name="Object 108"/>
          <p:cNvGraphicFramePr>
            <a:graphicFrameLocks noChangeAspect="1"/>
          </p:cNvGraphicFramePr>
          <p:nvPr/>
        </p:nvGraphicFramePr>
        <p:xfrm>
          <a:off x="6268085" y="2475230"/>
          <a:ext cx="2223135" cy="1039495"/>
        </p:xfrm>
        <a:graphic>
          <a:graphicData uri="http://schemas.openxmlformats.org/presentationml/2006/ole">
            <p:oleObj spid="_x0000_s20481" name="公式" r:id="rId6" imgW="23469600" imgH="10972800" progId="">
              <p:embed/>
            </p:oleObj>
          </a:graphicData>
        </a:graphic>
      </p:graphicFrame>
      <p:sp>
        <p:nvSpPr>
          <p:cNvPr id="57453" name="AutoShape 109"/>
          <p:cNvSpPr>
            <a:spLocks noChangeArrowheads="1"/>
          </p:cNvSpPr>
          <p:nvPr/>
        </p:nvSpPr>
        <p:spPr bwMode="auto">
          <a:xfrm>
            <a:off x="328613" y="188913"/>
            <a:ext cx="1728787" cy="649287"/>
          </a:xfrm>
          <a:prstGeom prst="horizontalScroll">
            <a:avLst>
              <a:gd name="adj" fmla="val 12500"/>
            </a:avLst>
          </a:prstGeom>
          <a:solidFill>
            <a:srgbClr val="FFFF99"/>
          </a:solidFill>
          <a:ln w="9525">
            <a:solidFill>
              <a:schemeClr val="tx1"/>
            </a:solidFill>
            <a:miter lim="800000"/>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FF0000"/>
                </a:solidFill>
                <a:latin typeface="Tahoma" panose="020B0604030504040204" pitchFamily="34" charset="0"/>
                <a:ea typeface="楷体_GB2312" panose="02010609030101010101" pitchFamily="49" charset="-122"/>
              </a:rPr>
              <a:t>例题</a:t>
            </a:r>
          </a:p>
        </p:txBody>
      </p:sp>
      <p:sp>
        <p:nvSpPr>
          <p:cNvPr id="57454" name="Text Box 110"/>
          <p:cNvSpPr txBox="1">
            <a:spLocks noChangeArrowheads="1"/>
          </p:cNvSpPr>
          <p:nvPr/>
        </p:nvSpPr>
        <p:spPr bwMode="auto">
          <a:xfrm>
            <a:off x="5148263" y="2500313"/>
            <a:ext cx="863897" cy="1015663"/>
          </a:xfrm>
          <a:prstGeom prst="rect">
            <a:avLst/>
          </a:prstGeom>
          <a:solidFill>
            <a:srgbClr val="FFFF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solidFill>
                  <a:srgbClr val="0000FF"/>
                </a:solidFill>
                <a:latin typeface="Tahoma" panose="020B0604030504040204" pitchFamily="34" charset="0"/>
              </a:rPr>
              <a:t>极限</a:t>
            </a:r>
          </a:p>
          <a:p>
            <a:pPr algn="l" eaLnBrk="1" hangingPunct="1">
              <a:spcBef>
                <a:spcPct val="50000"/>
              </a:spcBef>
            </a:pPr>
            <a:r>
              <a:rPr lang="zh-CN" altLang="en-US" sz="2400" b="1" dirty="0">
                <a:solidFill>
                  <a:srgbClr val="0000FF"/>
                </a:solidFill>
                <a:latin typeface="Tahoma" panose="020B0604030504040204" pitchFamily="34" charset="0"/>
              </a:rPr>
              <a:t>尺寸</a:t>
            </a:r>
          </a:p>
        </p:txBody>
      </p:sp>
      <p:sp>
        <p:nvSpPr>
          <p:cNvPr id="57455" name="Rectangle 111"/>
          <p:cNvSpPr>
            <a:spLocks noChangeArrowheads="1"/>
          </p:cNvSpPr>
          <p:nvPr/>
        </p:nvSpPr>
        <p:spPr bwMode="auto">
          <a:xfrm>
            <a:off x="1905000" y="5434026"/>
            <a:ext cx="838200" cy="533400"/>
          </a:xfrm>
          <a:prstGeom prst="rect">
            <a:avLst/>
          </a:prstGeom>
          <a:noFill/>
          <a:ln w="57150">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456" name="Rectangle 112"/>
          <p:cNvSpPr>
            <a:spLocks noChangeArrowheads="1"/>
          </p:cNvSpPr>
          <p:nvPr/>
        </p:nvSpPr>
        <p:spPr bwMode="auto">
          <a:xfrm>
            <a:off x="6858000" y="5357826"/>
            <a:ext cx="838200" cy="609600"/>
          </a:xfrm>
          <a:prstGeom prst="rect">
            <a:avLst/>
          </a:prstGeom>
          <a:noFill/>
          <a:ln w="57150">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7453"/>
                                        </p:tgtEl>
                                        <p:attrNameLst>
                                          <p:attrName>style.visibility</p:attrName>
                                        </p:attrNameLst>
                                      </p:cBhvr>
                                      <p:to>
                                        <p:strVal val="visible"/>
                                      </p:to>
                                    </p:set>
                                    <p:animEffect transition="in" filter="wipe(left)">
                                      <p:cBhvr>
                                        <p:cTn id="7" dur="300"/>
                                        <p:tgtEl>
                                          <p:spTgt spid="5745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423"/>
                                        </p:tgtEl>
                                        <p:attrNameLst>
                                          <p:attrName>style.visibility</p:attrName>
                                        </p:attrNameLst>
                                      </p:cBhvr>
                                      <p:to>
                                        <p:strVal val="visible"/>
                                      </p:to>
                                    </p:set>
                                    <p:anim calcmode="lin" valueType="num">
                                      <p:cBhvr additive="base">
                                        <p:cTn id="12" dur="500" fill="hold"/>
                                        <p:tgtEl>
                                          <p:spTgt spid="57423"/>
                                        </p:tgtEl>
                                        <p:attrNameLst>
                                          <p:attrName>ppt_x</p:attrName>
                                        </p:attrNameLst>
                                      </p:cBhvr>
                                      <p:tavLst>
                                        <p:tav tm="0">
                                          <p:val>
                                            <p:strVal val="0-#ppt_w/2"/>
                                          </p:val>
                                        </p:tav>
                                        <p:tav tm="100000">
                                          <p:val>
                                            <p:strVal val="#ppt_x"/>
                                          </p:val>
                                        </p:tav>
                                      </p:tavLst>
                                    </p:anim>
                                    <p:anim calcmode="lin" valueType="num">
                                      <p:cBhvr additive="base">
                                        <p:cTn id="13" dur="500" fill="hold"/>
                                        <p:tgtEl>
                                          <p:spTgt spid="5742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57448"/>
                                        </p:tgtEl>
                                        <p:attrNameLst>
                                          <p:attrName>style.visibility</p:attrName>
                                        </p:attrNameLst>
                                      </p:cBhvr>
                                      <p:to>
                                        <p:strVal val="visible"/>
                                      </p:to>
                                    </p:set>
                                    <p:animEffect transition="in" filter="wipe(left)">
                                      <p:cBhvr>
                                        <p:cTn id="18" dur="300"/>
                                        <p:tgtEl>
                                          <p:spTgt spid="5744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7449"/>
                                        </p:tgtEl>
                                        <p:attrNameLst>
                                          <p:attrName>style.visibility</p:attrName>
                                        </p:attrNameLst>
                                      </p:cBhvr>
                                      <p:to>
                                        <p:strVal val="visible"/>
                                      </p:to>
                                    </p:set>
                                    <p:animEffect transition="in" filter="wipe(down)">
                                      <p:cBhvr>
                                        <p:cTn id="23" dur="500"/>
                                        <p:tgtEl>
                                          <p:spTgt spid="5744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7450"/>
                                        </p:tgtEl>
                                        <p:attrNameLst>
                                          <p:attrName>style.visibility</p:attrName>
                                        </p:attrNameLst>
                                      </p:cBhvr>
                                      <p:to>
                                        <p:strVal val="visible"/>
                                      </p:to>
                                    </p:set>
                                    <p:animEffect transition="in" filter="wipe(down)">
                                      <p:cBhvr>
                                        <p:cTn id="28" dur="500"/>
                                        <p:tgtEl>
                                          <p:spTgt spid="574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7451"/>
                                        </p:tgtEl>
                                        <p:attrNameLst>
                                          <p:attrName>style.visibility</p:attrName>
                                        </p:attrNameLst>
                                      </p:cBhvr>
                                      <p:to>
                                        <p:strVal val="visible"/>
                                      </p:to>
                                    </p:set>
                                    <p:animEffect transition="in" filter="wipe(down)">
                                      <p:cBhvr>
                                        <p:cTn id="33" dur="500"/>
                                        <p:tgtEl>
                                          <p:spTgt spid="5745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7452"/>
                                        </p:tgtEl>
                                        <p:attrNameLst>
                                          <p:attrName>style.visibility</p:attrName>
                                        </p:attrNameLst>
                                      </p:cBhvr>
                                      <p:to>
                                        <p:strVal val="visible"/>
                                      </p:to>
                                    </p:set>
                                    <p:animEffect transition="in" filter="wipe(down)">
                                      <p:cBhvr>
                                        <p:cTn id="38" dur="500"/>
                                        <p:tgtEl>
                                          <p:spTgt spid="57452"/>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57454"/>
                                        </p:tgtEl>
                                        <p:attrNameLst>
                                          <p:attrName>style.visibility</p:attrName>
                                        </p:attrNameLst>
                                      </p:cBhvr>
                                      <p:to>
                                        <p:strVal val="visible"/>
                                      </p:to>
                                    </p:set>
                                    <p:animEffect transition="in" filter="wipe(down)">
                                      <p:cBhvr>
                                        <p:cTn id="42" dur="500"/>
                                        <p:tgtEl>
                                          <p:spTgt spid="5745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7348"/>
                                        </p:tgtEl>
                                        <p:attrNameLst>
                                          <p:attrName>style.visibility</p:attrName>
                                        </p:attrNameLst>
                                      </p:cBhvr>
                                      <p:to>
                                        <p:strVal val="visible"/>
                                      </p:to>
                                    </p:set>
                                    <p:animEffect transition="in" filter="blinds(horizontal)">
                                      <p:cBhvr>
                                        <p:cTn id="47" dur="500"/>
                                        <p:tgtEl>
                                          <p:spTgt spid="57348"/>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57455"/>
                                        </p:tgtEl>
                                        <p:attrNameLst>
                                          <p:attrName>style.visibility</p:attrName>
                                        </p:attrNameLst>
                                      </p:cBhvr>
                                      <p:to>
                                        <p:strVal val="visible"/>
                                      </p:to>
                                    </p:set>
                                    <p:anim calcmode="lin" valueType="num">
                                      <p:cBhvr>
                                        <p:cTn id="52" dur="500" fill="hold"/>
                                        <p:tgtEl>
                                          <p:spTgt spid="57455"/>
                                        </p:tgtEl>
                                        <p:attrNameLst>
                                          <p:attrName>ppt_x</p:attrName>
                                        </p:attrNameLst>
                                      </p:cBhvr>
                                      <p:tavLst>
                                        <p:tav tm="0">
                                          <p:val>
                                            <p:strVal val="#ppt_x-#ppt_w/2"/>
                                          </p:val>
                                        </p:tav>
                                        <p:tav tm="100000">
                                          <p:val>
                                            <p:strVal val="#ppt_x"/>
                                          </p:val>
                                        </p:tav>
                                      </p:tavLst>
                                    </p:anim>
                                    <p:anim calcmode="lin" valueType="num">
                                      <p:cBhvr>
                                        <p:cTn id="53" dur="500" fill="hold"/>
                                        <p:tgtEl>
                                          <p:spTgt spid="57455"/>
                                        </p:tgtEl>
                                        <p:attrNameLst>
                                          <p:attrName>ppt_y</p:attrName>
                                        </p:attrNameLst>
                                      </p:cBhvr>
                                      <p:tavLst>
                                        <p:tav tm="0">
                                          <p:val>
                                            <p:strVal val="#ppt_y"/>
                                          </p:val>
                                        </p:tav>
                                        <p:tav tm="100000">
                                          <p:val>
                                            <p:strVal val="#ppt_y"/>
                                          </p:val>
                                        </p:tav>
                                      </p:tavLst>
                                    </p:anim>
                                    <p:anim calcmode="lin" valueType="num">
                                      <p:cBhvr>
                                        <p:cTn id="54" dur="500" fill="hold"/>
                                        <p:tgtEl>
                                          <p:spTgt spid="57455"/>
                                        </p:tgtEl>
                                        <p:attrNameLst>
                                          <p:attrName>ppt_w</p:attrName>
                                        </p:attrNameLst>
                                      </p:cBhvr>
                                      <p:tavLst>
                                        <p:tav tm="0">
                                          <p:val>
                                            <p:fltVal val="0"/>
                                          </p:val>
                                        </p:tav>
                                        <p:tav tm="100000">
                                          <p:val>
                                            <p:strVal val="#ppt_w"/>
                                          </p:val>
                                        </p:tav>
                                      </p:tavLst>
                                    </p:anim>
                                    <p:anim calcmode="lin" valueType="num">
                                      <p:cBhvr>
                                        <p:cTn id="55" dur="500" fill="hold"/>
                                        <p:tgtEl>
                                          <p:spTgt spid="57455"/>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57456"/>
                                        </p:tgtEl>
                                        <p:attrNameLst>
                                          <p:attrName>style.visibility</p:attrName>
                                        </p:attrNameLst>
                                      </p:cBhvr>
                                      <p:to>
                                        <p:strVal val="visible"/>
                                      </p:to>
                                    </p:set>
                                    <p:anim calcmode="lin" valueType="num">
                                      <p:cBhvr>
                                        <p:cTn id="60" dur="500" fill="hold"/>
                                        <p:tgtEl>
                                          <p:spTgt spid="57456"/>
                                        </p:tgtEl>
                                        <p:attrNameLst>
                                          <p:attrName>ppt_x</p:attrName>
                                        </p:attrNameLst>
                                      </p:cBhvr>
                                      <p:tavLst>
                                        <p:tav tm="0">
                                          <p:val>
                                            <p:strVal val="#ppt_x-#ppt_w/2"/>
                                          </p:val>
                                        </p:tav>
                                        <p:tav tm="100000">
                                          <p:val>
                                            <p:strVal val="#ppt_x"/>
                                          </p:val>
                                        </p:tav>
                                      </p:tavLst>
                                    </p:anim>
                                    <p:anim calcmode="lin" valueType="num">
                                      <p:cBhvr>
                                        <p:cTn id="61" dur="500" fill="hold"/>
                                        <p:tgtEl>
                                          <p:spTgt spid="57456"/>
                                        </p:tgtEl>
                                        <p:attrNameLst>
                                          <p:attrName>ppt_y</p:attrName>
                                        </p:attrNameLst>
                                      </p:cBhvr>
                                      <p:tavLst>
                                        <p:tav tm="0">
                                          <p:val>
                                            <p:strVal val="#ppt_y"/>
                                          </p:val>
                                        </p:tav>
                                        <p:tav tm="100000">
                                          <p:val>
                                            <p:strVal val="#ppt_y"/>
                                          </p:val>
                                        </p:tav>
                                      </p:tavLst>
                                    </p:anim>
                                    <p:anim calcmode="lin" valueType="num">
                                      <p:cBhvr>
                                        <p:cTn id="62" dur="500" fill="hold"/>
                                        <p:tgtEl>
                                          <p:spTgt spid="57456"/>
                                        </p:tgtEl>
                                        <p:attrNameLst>
                                          <p:attrName>ppt_w</p:attrName>
                                        </p:attrNameLst>
                                      </p:cBhvr>
                                      <p:tavLst>
                                        <p:tav tm="0">
                                          <p:val>
                                            <p:fltVal val="0"/>
                                          </p:val>
                                        </p:tav>
                                        <p:tav tm="100000">
                                          <p:val>
                                            <p:strVal val="#ppt_w"/>
                                          </p:val>
                                        </p:tav>
                                      </p:tavLst>
                                    </p:anim>
                                    <p:anim calcmode="lin" valueType="num">
                                      <p:cBhvr>
                                        <p:cTn id="63" dur="500" fill="hold"/>
                                        <p:tgtEl>
                                          <p:spTgt spid="574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8" grpId="0" autoUpdateAnimBg="0"/>
      <p:bldP spid="57449" grpId="0" bldLvl="0" animBg="1" autoUpdateAnimBg="0"/>
      <p:bldP spid="57450" grpId="0" bldLvl="0" animBg="1" autoUpdateAnimBg="0"/>
      <p:bldP spid="57451" grpId="0" animBg="1" autoUpdateAnimBg="0"/>
      <p:bldP spid="57453" grpId="0" animBg="1" autoUpdateAnimBg="0"/>
      <p:bldP spid="57454" grpId="0" animBg="1" autoUpdateAnimBg="0"/>
      <p:bldP spid="57455" grpId="0" animBg="1"/>
      <p:bldP spid="574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12</a:t>
            </a:fld>
            <a:endParaRPr lang="en-US" altLang="zh-CN"/>
          </a:p>
        </p:txBody>
      </p:sp>
      <p:sp>
        <p:nvSpPr>
          <p:cNvPr id="3" name="Text Box 2"/>
          <p:cNvSpPr txBox="1">
            <a:spLocks noChangeArrowheads="1"/>
          </p:cNvSpPr>
          <p:nvPr/>
        </p:nvSpPr>
        <p:spPr bwMode="auto">
          <a:xfrm>
            <a:off x="1403648" y="1357298"/>
            <a:ext cx="3816424"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smtClean="0"/>
              <a:t>允许</a:t>
            </a:r>
            <a:r>
              <a:rPr lang="zh-CN" altLang="en-US" sz="2400" b="1" dirty="0"/>
              <a:t>尺寸的</a:t>
            </a:r>
            <a:r>
              <a:rPr lang="zh-CN" altLang="en-US" sz="2400" b="1" dirty="0">
                <a:solidFill>
                  <a:srgbClr val="FF0000"/>
                </a:solidFill>
              </a:rPr>
              <a:t>变动量</a:t>
            </a:r>
            <a:r>
              <a:rPr lang="zh-CN" altLang="en-US" sz="2400" b="1" dirty="0"/>
              <a:t>。</a:t>
            </a:r>
            <a:r>
              <a:rPr lang="zh-CN" altLang="en-US" sz="2400" b="1" dirty="0">
                <a:latin typeface="宋体" panose="02010600030101010101" pitchFamily="2" charset="-122"/>
              </a:rPr>
              <a:t> </a:t>
            </a:r>
          </a:p>
        </p:txBody>
      </p:sp>
      <p:sp>
        <p:nvSpPr>
          <p:cNvPr id="5" name="Rectangle 3"/>
          <p:cNvSpPr>
            <a:spLocks noChangeArrowheads="1"/>
          </p:cNvSpPr>
          <p:nvPr/>
        </p:nvSpPr>
        <p:spPr bwMode="auto">
          <a:xfrm>
            <a:off x="539552" y="260648"/>
            <a:ext cx="6765925"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dirty="0"/>
              <a:t>（</a:t>
            </a:r>
            <a:r>
              <a:rPr lang="en-US" altLang="zh-CN" b="1" dirty="0">
                <a:latin typeface="宋体" panose="02010600030101010101" pitchFamily="2" charset="-122"/>
              </a:rPr>
              <a:t>2</a:t>
            </a:r>
            <a:r>
              <a:rPr lang="zh-CN" altLang="en-US" b="1" dirty="0"/>
              <a:t>）尺寸公差（简称公差）</a:t>
            </a:r>
            <a:r>
              <a:rPr lang="zh-CN" altLang="en-US" b="1" dirty="0">
                <a:latin typeface="宋体" panose="02010600030101010101" pitchFamily="2" charset="-122"/>
              </a:rPr>
              <a:t> </a:t>
            </a:r>
          </a:p>
        </p:txBody>
      </p:sp>
      <p:sp>
        <p:nvSpPr>
          <p:cNvPr id="6" name="Text Box 5"/>
          <p:cNvSpPr txBox="1">
            <a:spLocks noChangeArrowheads="1"/>
          </p:cNvSpPr>
          <p:nvPr/>
        </p:nvSpPr>
        <p:spPr bwMode="auto">
          <a:xfrm>
            <a:off x="1678013" y="2191400"/>
            <a:ext cx="1036599"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孔： </a:t>
            </a:r>
          </a:p>
        </p:txBody>
      </p:sp>
      <p:sp>
        <p:nvSpPr>
          <p:cNvPr id="7" name="Text Box 7"/>
          <p:cNvSpPr txBox="1">
            <a:spLocks noChangeArrowheads="1"/>
          </p:cNvSpPr>
          <p:nvPr/>
        </p:nvSpPr>
        <p:spPr bwMode="auto">
          <a:xfrm>
            <a:off x="1748435" y="4405978"/>
            <a:ext cx="103761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轴： </a:t>
            </a:r>
          </a:p>
        </p:txBody>
      </p:sp>
      <p:sp>
        <p:nvSpPr>
          <p:cNvPr id="8" name="Text Box 27"/>
          <p:cNvSpPr txBox="1">
            <a:spLocks noChangeArrowheads="1"/>
          </p:cNvSpPr>
          <p:nvPr/>
        </p:nvSpPr>
        <p:spPr bwMode="auto">
          <a:xfrm>
            <a:off x="2840710" y="4437712"/>
            <a:ext cx="14478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dirty="0">
                <a:solidFill>
                  <a:srgbClr val="FF0000"/>
                </a:solidFill>
              </a:rPr>
              <a:t>T</a:t>
            </a:r>
            <a:r>
              <a:rPr lang="en-US" altLang="zh-CN" b="1" baseline="-25000" dirty="0">
                <a:solidFill>
                  <a:srgbClr val="FF0000"/>
                </a:solidFill>
              </a:rPr>
              <a:t>d </a:t>
            </a:r>
            <a:r>
              <a:rPr lang="en-US" altLang="zh-CN" b="1" dirty="0"/>
              <a:t>= </a:t>
            </a:r>
          </a:p>
        </p:txBody>
      </p:sp>
      <p:sp>
        <p:nvSpPr>
          <p:cNvPr id="9" name="Text Box 28"/>
          <p:cNvSpPr txBox="1">
            <a:spLocks noChangeArrowheads="1"/>
          </p:cNvSpPr>
          <p:nvPr/>
        </p:nvSpPr>
        <p:spPr bwMode="auto">
          <a:xfrm>
            <a:off x="3488410" y="4437712"/>
            <a:ext cx="2583788"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dirty="0">
                <a:cs typeface="Times New Roman" panose="02020603050405020304" pitchFamily="18" charset="0"/>
              </a:rPr>
              <a:t> | </a:t>
            </a:r>
            <a:r>
              <a:rPr lang="en-US" altLang="zh-CN" b="1" i="1" dirty="0" err="1"/>
              <a:t>d</a:t>
            </a:r>
            <a:r>
              <a:rPr lang="en-US" altLang="zh-CN" b="1" baseline="-25000" dirty="0" err="1"/>
              <a:t>max</a:t>
            </a:r>
            <a:r>
              <a:rPr lang="en-US" altLang="zh-CN" b="1" dirty="0">
                <a:cs typeface="Times New Roman" panose="02020603050405020304" pitchFamily="18" charset="0"/>
              </a:rPr>
              <a:t>– </a:t>
            </a:r>
            <a:r>
              <a:rPr lang="en-US" altLang="zh-CN" b="1" i="1" dirty="0" err="1"/>
              <a:t>d</a:t>
            </a:r>
            <a:r>
              <a:rPr lang="en-US" altLang="zh-CN" b="1" baseline="-25000" dirty="0" err="1"/>
              <a:t>min</a:t>
            </a:r>
            <a:r>
              <a:rPr lang="en-US" altLang="zh-CN" b="1" baseline="-25000" dirty="0"/>
              <a:t> </a:t>
            </a:r>
            <a:r>
              <a:rPr lang="en-US" altLang="zh-CN" b="1" dirty="0">
                <a:cs typeface="Times New Roman" panose="02020603050405020304" pitchFamily="18" charset="0"/>
              </a:rPr>
              <a:t>|</a:t>
            </a:r>
          </a:p>
        </p:txBody>
      </p:sp>
      <p:sp>
        <p:nvSpPr>
          <p:cNvPr id="10" name="Text Box 29"/>
          <p:cNvSpPr txBox="1">
            <a:spLocks noChangeArrowheads="1"/>
          </p:cNvSpPr>
          <p:nvPr/>
        </p:nvSpPr>
        <p:spPr bwMode="auto">
          <a:xfrm>
            <a:off x="3286116" y="5191796"/>
            <a:ext cx="2298035"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dirty="0"/>
              <a:t>=</a:t>
            </a:r>
            <a:r>
              <a:rPr lang="en-US" altLang="zh-CN" dirty="0"/>
              <a:t> </a:t>
            </a:r>
            <a:r>
              <a:rPr lang="en-US" altLang="zh-CN" b="1" dirty="0">
                <a:solidFill>
                  <a:srgbClr val="FF0000"/>
                </a:solidFill>
                <a:cs typeface="Times New Roman" panose="02020603050405020304" pitchFamily="18" charset="0"/>
              </a:rPr>
              <a:t>|</a:t>
            </a:r>
            <a:r>
              <a:rPr lang="en-US" altLang="zh-CN" b="1" dirty="0" err="1">
                <a:solidFill>
                  <a:srgbClr val="FF0000"/>
                </a:solidFill>
              </a:rPr>
              <a:t>es</a:t>
            </a:r>
            <a:r>
              <a:rPr lang="en-US" altLang="zh-CN" b="1" dirty="0" err="1">
                <a:solidFill>
                  <a:srgbClr val="FF0000"/>
                </a:solidFill>
                <a:cs typeface="Times New Roman" panose="02020603050405020304" pitchFamily="18" charset="0"/>
              </a:rPr>
              <a:t>–ei</a:t>
            </a:r>
            <a:r>
              <a:rPr lang="en-US" altLang="zh-CN" b="1" dirty="0">
                <a:solidFill>
                  <a:srgbClr val="FF0000"/>
                </a:solidFill>
                <a:cs typeface="Times New Roman" panose="02020603050405020304" pitchFamily="18" charset="0"/>
              </a:rPr>
              <a:t>|</a:t>
            </a:r>
          </a:p>
        </p:txBody>
      </p:sp>
      <p:sp>
        <p:nvSpPr>
          <p:cNvPr id="11" name="Text Box 30"/>
          <p:cNvSpPr txBox="1">
            <a:spLocks noChangeArrowheads="1"/>
          </p:cNvSpPr>
          <p:nvPr/>
        </p:nvSpPr>
        <p:spPr bwMode="auto">
          <a:xfrm>
            <a:off x="2744813" y="2197750"/>
            <a:ext cx="12954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dirty="0">
                <a:solidFill>
                  <a:srgbClr val="FF0000"/>
                </a:solidFill>
              </a:rPr>
              <a:t>T</a:t>
            </a:r>
            <a:r>
              <a:rPr lang="en-US" altLang="zh-CN" b="1" baseline="-25000" dirty="0">
                <a:solidFill>
                  <a:srgbClr val="FF0000"/>
                </a:solidFill>
              </a:rPr>
              <a:t>D </a:t>
            </a:r>
            <a:r>
              <a:rPr lang="en-US" altLang="zh-CN" b="1" dirty="0"/>
              <a:t>=</a:t>
            </a:r>
          </a:p>
        </p:txBody>
      </p:sp>
      <p:sp>
        <p:nvSpPr>
          <p:cNvPr id="12" name="Text Box 31"/>
          <p:cNvSpPr txBox="1">
            <a:spLocks noChangeArrowheads="1"/>
          </p:cNvSpPr>
          <p:nvPr/>
        </p:nvSpPr>
        <p:spPr bwMode="auto">
          <a:xfrm>
            <a:off x="3175026" y="2197750"/>
            <a:ext cx="3111486"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dirty="0">
                <a:cs typeface="Times New Roman" panose="02020603050405020304" pitchFamily="18" charset="0"/>
              </a:rPr>
              <a:t>      | </a:t>
            </a:r>
            <a:r>
              <a:rPr lang="en-US" altLang="zh-CN" b="1" i="1" dirty="0" err="1" smtClean="0"/>
              <a:t>D</a:t>
            </a:r>
            <a:r>
              <a:rPr lang="en-US" altLang="zh-CN" b="1" baseline="-25000" dirty="0" err="1" smtClean="0"/>
              <a:t>max</a:t>
            </a:r>
            <a:r>
              <a:rPr lang="en-US" altLang="zh-CN" b="1" dirty="0" err="1" smtClean="0">
                <a:cs typeface="Times New Roman" panose="02020603050405020304" pitchFamily="18" charset="0"/>
              </a:rPr>
              <a:t>–</a:t>
            </a:r>
            <a:r>
              <a:rPr lang="en-US" altLang="zh-CN" b="1" i="1" dirty="0" err="1" smtClean="0"/>
              <a:t>D</a:t>
            </a:r>
            <a:r>
              <a:rPr lang="en-US" altLang="zh-CN" b="1" baseline="-25000" dirty="0" err="1" smtClean="0"/>
              <a:t>min</a:t>
            </a:r>
            <a:r>
              <a:rPr lang="en-US" altLang="zh-CN" b="1" baseline="-25000" dirty="0" smtClean="0"/>
              <a:t> </a:t>
            </a:r>
            <a:r>
              <a:rPr lang="en-US" altLang="zh-CN" b="1" dirty="0" smtClean="0">
                <a:cs typeface="Times New Roman" panose="02020603050405020304" pitchFamily="18" charset="0"/>
              </a:rPr>
              <a:t>|  </a:t>
            </a:r>
            <a:endParaRPr lang="en-US" altLang="zh-CN" b="1" dirty="0">
              <a:cs typeface="Times New Roman" panose="02020603050405020304" pitchFamily="18" charset="0"/>
            </a:endParaRPr>
          </a:p>
        </p:txBody>
      </p:sp>
      <p:sp>
        <p:nvSpPr>
          <p:cNvPr id="13" name="Text Box 32"/>
          <p:cNvSpPr txBox="1">
            <a:spLocks noChangeArrowheads="1"/>
          </p:cNvSpPr>
          <p:nvPr/>
        </p:nvSpPr>
        <p:spPr bwMode="auto">
          <a:xfrm>
            <a:off x="3143240" y="3574112"/>
            <a:ext cx="2967023"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dirty="0">
                <a:cs typeface="Times New Roman" panose="02020603050405020304" pitchFamily="18" charset="0"/>
              </a:rPr>
              <a:t> </a:t>
            </a:r>
            <a:r>
              <a:rPr lang="en-US" altLang="zh-CN" b="1" dirty="0">
                <a:cs typeface="Times New Roman" panose="02020603050405020304" pitchFamily="18" charset="0"/>
              </a:rPr>
              <a:t>=</a:t>
            </a:r>
            <a:r>
              <a:rPr lang="en-US" altLang="zh-CN" b="1" dirty="0">
                <a:solidFill>
                  <a:srgbClr val="FF0000"/>
                </a:solidFill>
                <a:cs typeface="Times New Roman" panose="02020603050405020304" pitchFamily="18" charset="0"/>
              </a:rPr>
              <a:t> | </a:t>
            </a:r>
            <a:r>
              <a:rPr lang="en-US" altLang="zh-CN" b="1" dirty="0">
                <a:solidFill>
                  <a:srgbClr val="FF0000"/>
                </a:solidFill>
              </a:rPr>
              <a:t>ES </a:t>
            </a:r>
            <a:r>
              <a:rPr lang="en-US" altLang="zh-CN" b="1" dirty="0">
                <a:solidFill>
                  <a:srgbClr val="FF0000"/>
                </a:solidFill>
                <a:cs typeface="Times New Roman" panose="02020603050405020304" pitchFamily="18" charset="0"/>
              </a:rPr>
              <a:t>– EI |</a:t>
            </a:r>
          </a:p>
        </p:txBody>
      </p:sp>
      <p:sp>
        <p:nvSpPr>
          <p:cNvPr id="14" name="Text Box 37"/>
          <p:cNvSpPr txBox="1">
            <a:spLocks noChangeArrowheads="1"/>
          </p:cNvSpPr>
          <p:nvPr/>
        </p:nvSpPr>
        <p:spPr bwMode="auto">
          <a:xfrm>
            <a:off x="3175026" y="2837512"/>
            <a:ext cx="4254494"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dirty="0"/>
              <a:t>=</a:t>
            </a:r>
            <a:r>
              <a:rPr lang="en-US" altLang="zh-CN" dirty="0"/>
              <a:t> </a:t>
            </a:r>
            <a:r>
              <a:rPr lang="en-US" altLang="zh-CN" b="1" dirty="0">
                <a:cs typeface="Times New Roman" panose="02020603050405020304" pitchFamily="18" charset="0"/>
              </a:rPr>
              <a:t>| (</a:t>
            </a:r>
            <a:r>
              <a:rPr lang="en-US" altLang="zh-CN" b="1" i="1" dirty="0" err="1"/>
              <a:t>D</a:t>
            </a:r>
            <a:r>
              <a:rPr lang="en-US" altLang="zh-CN" b="1" baseline="-25000" dirty="0" err="1"/>
              <a:t>max</a:t>
            </a:r>
            <a:r>
              <a:rPr lang="en-US" altLang="zh-CN" b="1" dirty="0"/>
              <a:t>- </a:t>
            </a:r>
            <a:r>
              <a:rPr lang="en-US" altLang="zh-CN" b="1" i="1" dirty="0"/>
              <a:t>D</a:t>
            </a:r>
            <a:r>
              <a:rPr lang="en-US" altLang="zh-CN" b="1" dirty="0"/>
              <a:t>) </a:t>
            </a:r>
            <a:r>
              <a:rPr lang="en-US" altLang="zh-CN" b="1" dirty="0">
                <a:cs typeface="Times New Roman" panose="02020603050405020304" pitchFamily="18" charset="0"/>
              </a:rPr>
              <a:t>– (</a:t>
            </a:r>
            <a:r>
              <a:rPr lang="en-US" altLang="zh-CN" b="1" i="1" dirty="0" err="1"/>
              <a:t>D</a:t>
            </a:r>
            <a:r>
              <a:rPr lang="en-US" altLang="zh-CN" b="1" baseline="-25000" dirty="0" err="1"/>
              <a:t>min</a:t>
            </a:r>
            <a:r>
              <a:rPr lang="en-US" altLang="zh-CN" b="1" dirty="0"/>
              <a:t>- </a:t>
            </a:r>
            <a:r>
              <a:rPr lang="en-US" altLang="zh-CN" b="1" i="1" dirty="0" smtClean="0"/>
              <a:t>D</a:t>
            </a:r>
            <a:r>
              <a:rPr lang="en-US" altLang="zh-CN" b="1" dirty="0" smtClean="0"/>
              <a:t>) </a:t>
            </a:r>
            <a:r>
              <a:rPr lang="en-US" altLang="zh-CN" b="1" dirty="0" smtClean="0">
                <a:cs typeface="Times New Roman" panose="02020603050405020304" pitchFamily="18" charset="0"/>
              </a:rPr>
              <a:t>|</a:t>
            </a:r>
            <a:endParaRPr lang="en-US" altLang="zh-CN" b="1"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
                                        </p:tgtEl>
                                        <p:attrNameLst>
                                          <p:attrName>style.visibility</p:attrName>
                                        </p:attrNameLst>
                                      </p:cBhvr>
                                      <p:to>
                                        <p:strVal val="visible"/>
                                      </p:to>
                                    </p:set>
                                    <p:animEffect transition="in" filter="wipe(left)">
                                      <p:cBhvr>
                                        <p:cTn id="12" dur="3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
                                        </p:tgtEl>
                                        <p:attrNameLst>
                                          <p:attrName>style.visibility</p:attrName>
                                        </p:attrNameLst>
                                      </p:cBhvr>
                                      <p:to>
                                        <p:strVal val="visible"/>
                                      </p:to>
                                    </p:set>
                                    <p:animEffect transition="in" filter="wipe(left)">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1"/>
                                        </p:tgtEl>
                                        <p:attrNameLst>
                                          <p:attrName>style.visibility</p:attrName>
                                        </p:attrNameLst>
                                      </p:cBhvr>
                                      <p:to>
                                        <p:strVal val="visible"/>
                                      </p:to>
                                    </p:set>
                                    <p:animEffect transition="in" filter="wipe(left)">
                                      <p:cBhvr>
                                        <p:cTn id="22" dur="3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2"/>
                                        </p:tgtEl>
                                        <p:attrNameLst>
                                          <p:attrName>style.visibility</p:attrName>
                                        </p:attrNameLst>
                                      </p:cBhvr>
                                      <p:to>
                                        <p:strVal val="visible"/>
                                      </p:to>
                                    </p:set>
                                    <p:animEffect transition="in" filter="wipe(left)">
                                      <p:cBhvr>
                                        <p:cTn id="27" dur="3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4"/>
                                        </p:tgtEl>
                                        <p:attrNameLst>
                                          <p:attrName>style.visibility</p:attrName>
                                        </p:attrNameLst>
                                      </p:cBhvr>
                                      <p:to>
                                        <p:strVal val="visible"/>
                                      </p:to>
                                    </p:set>
                                    <p:animEffect transition="in" filter="wipe(left)">
                                      <p:cBhvr>
                                        <p:cTn id="32" dur="3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3"/>
                                        </p:tgtEl>
                                        <p:attrNameLst>
                                          <p:attrName>style.visibility</p:attrName>
                                        </p:attrNameLst>
                                      </p:cBhvr>
                                      <p:to>
                                        <p:strVal val="visible"/>
                                      </p:to>
                                    </p:set>
                                    <p:animEffect transition="in" filter="wipe(left)">
                                      <p:cBhvr>
                                        <p:cTn id="37" dur="3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
                                        </p:tgtEl>
                                        <p:attrNameLst>
                                          <p:attrName>style.visibility</p:attrName>
                                        </p:attrNameLst>
                                      </p:cBhvr>
                                      <p:to>
                                        <p:strVal val="visible"/>
                                      </p:to>
                                    </p:set>
                                    <p:animEffect transition="in" filter="wipe(left)">
                                      <p:cBhvr>
                                        <p:cTn id="42" dur="3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8"/>
                                        </p:tgtEl>
                                        <p:attrNameLst>
                                          <p:attrName>style.visibility</p:attrName>
                                        </p:attrNameLst>
                                      </p:cBhvr>
                                      <p:to>
                                        <p:strVal val="visible"/>
                                      </p:to>
                                    </p:set>
                                    <p:animEffect transition="in" filter="wipe(left)">
                                      <p:cBhvr>
                                        <p:cTn id="47" dur="3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9"/>
                                        </p:tgtEl>
                                        <p:attrNameLst>
                                          <p:attrName>style.visibility</p:attrName>
                                        </p:attrNameLst>
                                      </p:cBhvr>
                                      <p:to>
                                        <p:strVal val="visible"/>
                                      </p:to>
                                    </p:set>
                                    <p:animEffect transition="in" filter="wipe(left)">
                                      <p:cBhvr>
                                        <p:cTn id="52" dur="3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0"/>
                                        </p:tgtEl>
                                        <p:attrNameLst>
                                          <p:attrName>style.visibility</p:attrName>
                                        </p:attrNameLst>
                                      </p:cBhvr>
                                      <p:to>
                                        <p:strVal val="visible"/>
                                      </p:to>
                                    </p:set>
                                    <p:animEffect transition="in" filter="wipe(left)">
                                      <p:cBhvr>
                                        <p:cTn id="5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P spid="6" grpId="0" autoUpdateAnimBg="0"/>
      <p:bldP spid="7" grpId="0" autoUpdateAnimBg="0"/>
      <p:bldP spid="8" grpId="0" autoUpdateAnimBg="0"/>
      <p:bldP spid="9" grpId="0" autoUpdateAnimBg="0"/>
      <p:bldP spid="10" grpId="0" autoUpdateAnimBg="0"/>
      <p:bldP spid="11" grpId="0" autoUpdateAnimBg="0"/>
      <p:bldP spid="12" grpId="0" autoUpdateAnimBg="0"/>
      <p:bldP spid="13" grpId="0" autoUpdateAnimBg="0"/>
      <p:bldP spid="1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13</a:t>
            </a:fld>
            <a:endParaRPr lang="en-US" altLang="zh-CN"/>
          </a:p>
        </p:txBody>
      </p:sp>
      <p:sp>
        <p:nvSpPr>
          <p:cNvPr id="13" name="Text Box 4"/>
          <p:cNvSpPr txBox="1">
            <a:spLocks noChangeArrowheads="1"/>
          </p:cNvSpPr>
          <p:nvPr/>
        </p:nvSpPr>
        <p:spPr bwMode="auto">
          <a:xfrm>
            <a:off x="467545" y="326718"/>
            <a:ext cx="4392488"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dirty="0"/>
              <a:t> (3) </a:t>
            </a:r>
            <a:r>
              <a:rPr lang="zh-CN" altLang="en-US" b="1" dirty="0"/>
              <a:t>偏差与公差</a:t>
            </a:r>
            <a:r>
              <a:rPr lang="zh-CN" altLang="en-US" b="1" dirty="0" smtClean="0"/>
              <a:t>区别</a:t>
            </a:r>
            <a:endParaRPr lang="zh-CN" altLang="en-US" b="1" dirty="0"/>
          </a:p>
        </p:txBody>
      </p:sp>
      <p:sp>
        <p:nvSpPr>
          <p:cNvPr id="14" name="Text Box 5"/>
          <p:cNvSpPr txBox="1">
            <a:spLocks noChangeArrowheads="1"/>
          </p:cNvSpPr>
          <p:nvPr/>
        </p:nvSpPr>
        <p:spPr bwMode="auto">
          <a:xfrm>
            <a:off x="634172" y="1202437"/>
            <a:ext cx="65095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① </a:t>
            </a:r>
            <a:r>
              <a:rPr lang="zh-CN" altLang="en-US" sz="2400" b="1" dirty="0"/>
              <a:t>偏差</a:t>
            </a:r>
            <a:r>
              <a:rPr lang="en-US" altLang="zh-CN" sz="2400" b="1" dirty="0"/>
              <a:t>——</a:t>
            </a:r>
            <a:r>
              <a:rPr lang="zh-CN" altLang="en-US" sz="2400" b="1" dirty="0"/>
              <a:t>是</a:t>
            </a:r>
            <a:r>
              <a:rPr lang="zh-CN" altLang="en-US" sz="2400" b="1" dirty="0">
                <a:solidFill>
                  <a:srgbClr val="FF0000"/>
                </a:solidFill>
              </a:rPr>
              <a:t>代数</a:t>
            </a:r>
            <a:r>
              <a:rPr lang="zh-CN" altLang="en-US" sz="2400" b="1" dirty="0" smtClean="0">
                <a:solidFill>
                  <a:srgbClr val="FF0000"/>
                </a:solidFill>
              </a:rPr>
              <a:t>量</a:t>
            </a:r>
            <a:r>
              <a:rPr lang="zh-CN" altLang="en-US" sz="2400" b="1" dirty="0" smtClean="0"/>
              <a:t>，有</a:t>
            </a:r>
            <a:r>
              <a:rPr lang="zh-CN" altLang="en-US" sz="2400" b="1" dirty="0"/>
              <a:t>（</a:t>
            </a:r>
            <a:r>
              <a:rPr lang="en-US" altLang="zh-CN" sz="2400" b="1" dirty="0"/>
              <a:t>+</a:t>
            </a:r>
            <a:r>
              <a:rPr lang="zh-CN" altLang="en-US" sz="2400" b="1" dirty="0"/>
              <a:t>、</a:t>
            </a:r>
            <a:r>
              <a:rPr lang="en-US" altLang="zh-CN" sz="2400" b="1" dirty="0"/>
              <a:t>0</a:t>
            </a:r>
            <a:r>
              <a:rPr lang="zh-CN" altLang="en-US" sz="2400" b="1" dirty="0"/>
              <a:t>、</a:t>
            </a:r>
            <a:r>
              <a:rPr lang="en-US" altLang="zh-CN" sz="2400" b="1" dirty="0"/>
              <a:t>-</a:t>
            </a:r>
            <a:r>
              <a:rPr lang="zh-CN" altLang="en-US" sz="2400" b="1" dirty="0"/>
              <a:t>）符号。</a:t>
            </a:r>
          </a:p>
        </p:txBody>
      </p:sp>
      <p:sp>
        <p:nvSpPr>
          <p:cNvPr id="15" name="Text Box 6"/>
          <p:cNvSpPr txBox="1">
            <a:spLocks noChangeArrowheads="1"/>
          </p:cNvSpPr>
          <p:nvPr/>
        </p:nvSpPr>
        <p:spPr bwMode="auto">
          <a:xfrm>
            <a:off x="952500" y="2603500"/>
            <a:ext cx="7213600" cy="5340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400" b="1" dirty="0"/>
              <a:t>公差</a:t>
            </a:r>
            <a:r>
              <a:rPr lang="en-US" altLang="zh-CN" sz="2400" b="1" dirty="0"/>
              <a:t>——</a:t>
            </a:r>
            <a:r>
              <a:rPr lang="zh-CN" altLang="en-US" sz="2400" b="1" dirty="0"/>
              <a:t>是</a:t>
            </a:r>
            <a:r>
              <a:rPr lang="zh-CN" altLang="en-US" sz="2400" b="1" dirty="0">
                <a:solidFill>
                  <a:srgbClr val="FF0000"/>
                </a:solidFill>
              </a:rPr>
              <a:t>绝对值</a:t>
            </a:r>
            <a:r>
              <a:rPr lang="zh-CN" altLang="en-US" sz="2400" b="1" dirty="0" smtClean="0"/>
              <a:t>，无符号</a:t>
            </a:r>
            <a:r>
              <a:rPr lang="zh-CN" altLang="en-US" sz="2400" b="1" dirty="0"/>
              <a:t>（</a:t>
            </a:r>
            <a:r>
              <a:rPr lang="zh-CN" altLang="en-US" sz="2400" b="1" dirty="0">
                <a:solidFill>
                  <a:srgbClr val="00B050"/>
                </a:solidFill>
              </a:rPr>
              <a:t>尺寸公差不能为零</a:t>
            </a:r>
            <a:r>
              <a:rPr lang="zh-CN" altLang="en-US" sz="2400" b="1" dirty="0" smtClean="0"/>
              <a:t>）</a:t>
            </a:r>
            <a:endParaRPr lang="zh-CN" altLang="en-US" sz="2400" b="1" dirty="0"/>
          </a:p>
        </p:txBody>
      </p:sp>
      <p:sp>
        <p:nvSpPr>
          <p:cNvPr id="16" name="Text Box 7"/>
          <p:cNvSpPr txBox="1">
            <a:spLocks noChangeArrowheads="1"/>
          </p:cNvSpPr>
          <p:nvPr/>
        </p:nvSpPr>
        <p:spPr bwMode="auto">
          <a:xfrm>
            <a:off x="1108519" y="1885539"/>
            <a:ext cx="396842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偏差在图上标注应注意：</a:t>
            </a:r>
          </a:p>
        </p:txBody>
      </p:sp>
      <p:sp>
        <p:nvSpPr>
          <p:cNvPr id="17" name="Text Box 8"/>
          <p:cNvSpPr txBox="1">
            <a:spLocks noChangeArrowheads="1"/>
          </p:cNvSpPr>
          <p:nvPr/>
        </p:nvSpPr>
        <p:spPr bwMode="auto">
          <a:xfrm>
            <a:off x="719455" y="3205480"/>
            <a:ext cx="7316470" cy="4603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② </a:t>
            </a:r>
            <a:r>
              <a:rPr lang="zh-CN" altLang="en-US" sz="2400" b="1" dirty="0"/>
              <a:t>偏差</a:t>
            </a:r>
            <a:r>
              <a:rPr lang="zh-CN" altLang="en-US" sz="2400" b="1" dirty="0">
                <a:solidFill>
                  <a:srgbClr val="FF0000"/>
                </a:solidFill>
              </a:rPr>
              <a:t>有基准</a:t>
            </a:r>
            <a:r>
              <a:rPr lang="zh-CN" altLang="en-US" sz="2400" b="1" dirty="0"/>
              <a:t> </a:t>
            </a:r>
            <a:r>
              <a:rPr lang="en-US" altLang="zh-CN" sz="2400" b="1" dirty="0"/>
              <a:t>——</a:t>
            </a:r>
            <a:r>
              <a:rPr lang="zh-CN" altLang="en-US" sz="2400" b="1" dirty="0"/>
              <a:t>公称尺寸为基准，公差</a:t>
            </a:r>
            <a:r>
              <a:rPr lang="zh-CN" altLang="en-US" sz="2400" b="1" dirty="0">
                <a:solidFill>
                  <a:srgbClr val="FF0000"/>
                </a:solidFill>
              </a:rPr>
              <a:t>无基准</a:t>
            </a:r>
            <a:r>
              <a:rPr lang="zh-CN" altLang="en-US" sz="2400" b="1" dirty="0"/>
              <a:t> 。</a:t>
            </a:r>
            <a:endParaRPr lang="zh-CN" altLang="en-US" sz="2400" dirty="0"/>
          </a:p>
        </p:txBody>
      </p:sp>
      <p:sp>
        <p:nvSpPr>
          <p:cNvPr id="18" name="Text Box 9"/>
          <p:cNvSpPr txBox="1">
            <a:spLocks noChangeArrowheads="1"/>
          </p:cNvSpPr>
          <p:nvPr/>
        </p:nvSpPr>
        <p:spPr bwMode="auto">
          <a:xfrm>
            <a:off x="718789" y="3722717"/>
            <a:ext cx="4968875"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③ </a:t>
            </a:r>
            <a:r>
              <a:rPr lang="zh-CN" altLang="en-US" sz="2400" b="1" dirty="0"/>
              <a:t>偏差影响</a:t>
            </a:r>
            <a:r>
              <a:rPr lang="zh-CN" altLang="en-US" sz="2400" b="1" dirty="0">
                <a:solidFill>
                  <a:srgbClr val="FF0000"/>
                </a:solidFill>
              </a:rPr>
              <a:t>配合</a:t>
            </a:r>
            <a:r>
              <a:rPr lang="zh-CN" altLang="en-US" sz="2400" b="1" dirty="0" smtClean="0">
                <a:solidFill>
                  <a:srgbClr val="FF0000"/>
                </a:solidFill>
              </a:rPr>
              <a:t>松紧</a:t>
            </a:r>
            <a:r>
              <a:rPr lang="zh-CN" altLang="en-US" sz="2400" b="1" dirty="0" smtClean="0"/>
              <a:t>；</a:t>
            </a:r>
            <a:endParaRPr lang="zh-CN" altLang="en-US" sz="2400" b="1" dirty="0"/>
          </a:p>
        </p:txBody>
      </p:sp>
      <p:grpSp>
        <p:nvGrpSpPr>
          <p:cNvPr id="19" name="Group 15"/>
          <p:cNvGrpSpPr/>
          <p:nvPr/>
        </p:nvGrpSpPr>
        <p:grpSpPr bwMode="auto">
          <a:xfrm>
            <a:off x="5009551" y="1680668"/>
            <a:ext cx="2579688" cy="871538"/>
            <a:chOff x="3046" y="858"/>
            <a:chExt cx="1625" cy="549"/>
          </a:xfrm>
        </p:grpSpPr>
        <p:sp>
          <p:nvSpPr>
            <p:cNvPr id="20" name="AutoShape 10"/>
            <p:cNvSpPr/>
            <p:nvPr/>
          </p:nvSpPr>
          <p:spPr bwMode="auto">
            <a:xfrm>
              <a:off x="3046" y="975"/>
              <a:ext cx="144" cy="432"/>
            </a:xfrm>
            <a:prstGeom prst="leftBrace">
              <a:avLst>
                <a:gd name="adj1" fmla="val 25000"/>
                <a:gd name="adj2" fmla="val 50000"/>
              </a:avLst>
            </a:prstGeom>
            <a:noFill/>
            <a:ln w="38100">
              <a:solidFill>
                <a:schemeClr val="tx1"/>
              </a:solidFill>
              <a:rou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a:p>
          </p:txBody>
        </p:sp>
        <p:sp>
          <p:nvSpPr>
            <p:cNvPr id="21" name="Text Box 11"/>
            <p:cNvSpPr txBox="1">
              <a:spLocks noChangeArrowheads="1"/>
            </p:cNvSpPr>
            <p:nvPr/>
          </p:nvSpPr>
          <p:spPr bwMode="auto">
            <a:xfrm>
              <a:off x="3227" y="858"/>
              <a:ext cx="1444" cy="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标注单位</a:t>
              </a:r>
            </a:p>
          </p:txBody>
        </p:sp>
      </p:grpSp>
      <p:sp>
        <p:nvSpPr>
          <p:cNvPr id="22" name="Text Box 12"/>
          <p:cNvSpPr txBox="1">
            <a:spLocks noChangeArrowheads="1"/>
          </p:cNvSpPr>
          <p:nvPr/>
        </p:nvSpPr>
        <p:spPr bwMode="auto">
          <a:xfrm>
            <a:off x="5284983" y="2173571"/>
            <a:ext cx="1728191"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标注方法</a:t>
            </a:r>
          </a:p>
        </p:txBody>
      </p:sp>
      <p:sp>
        <p:nvSpPr>
          <p:cNvPr id="23" name="Text Box 13"/>
          <p:cNvSpPr txBox="1">
            <a:spLocks noChangeArrowheads="1"/>
          </p:cNvSpPr>
          <p:nvPr/>
        </p:nvSpPr>
        <p:spPr bwMode="auto">
          <a:xfrm>
            <a:off x="725898" y="4281042"/>
            <a:ext cx="7043737"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④ </a:t>
            </a:r>
            <a:r>
              <a:rPr lang="zh-CN" altLang="en-US" sz="2400" b="1" dirty="0"/>
              <a:t>实际偏差是对单个零件的判断：</a:t>
            </a:r>
          </a:p>
        </p:txBody>
      </p:sp>
      <p:sp>
        <p:nvSpPr>
          <p:cNvPr id="24" name="Text Box 17"/>
          <p:cNvSpPr txBox="1">
            <a:spLocks noChangeArrowheads="1"/>
          </p:cNvSpPr>
          <p:nvPr/>
        </p:nvSpPr>
        <p:spPr bwMode="auto">
          <a:xfrm>
            <a:off x="4204490" y="3740531"/>
            <a:ext cx="3960813"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公差影响</a:t>
            </a:r>
            <a:r>
              <a:rPr lang="zh-CN" altLang="en-US" sz="2400" b="1" dirty="0">
                <a:solidFill>
                  <a:srgbClr val="FF0000"/>
                </a:solidFill>
              </a:rPr>
              <a:t>配合精度</a:t>
            </a:r>
            <a:r>
              <a:rPr lang="zh-CN" altLang="en-US" sz="2400" b="1" dirty="0"/>
              <a:t>。</a:t>
            </a:r>
          </a:p>
        </p:txBody>
      </p:sp>
      <p:sp>
        <p:nvSpPr>
          <p:cNvPr id="25" name="Text Box 23"/>
          <p:cNvSpPr txBox="1">
            <a:spLocks noChangeArrowheads="1"/>
          </p:cNvSpPr>
          <p:nvPr/>
        </p:nvSpPr>
        <p:spPr bwMode="auto">
          <a:xfrm>
            <a:off x="1137589" y="5000953"/>
            <a:ext cx="4643470"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误差是对一批零件的判断：</a:t>
            </a:r>
          </a:p>
        </p:txBody>
      </p:sp>
      <p:sp>
        <p:nvSpPr>
          <p:cNvPr id="26" name="TextBox 25"/>
          <p:cNvSpPr txBox="1"/>
          <p:nvPr/>
        </p:nvSpPr>
        <p:spPr>
          <a:xfrm>
            <a:off x="3143240" y="5643578"/>
            <a:ext cx="1500198" cy="523220"/>
          </a:xfrm>
          <a:prstGeom prst="rect">
            <a:avLst/>
          </a:prstGeom>
          <a:solidFill>
            <a:srgbClr val="FFCCFF"/>
          </a:solidFill>
        </p:spPr>
        <p:txBody>
          <a:bodyPr wrap="square" rtlCol="0">
            <a:spAutoFit/>
          </a:bodyPr>
          <a:lstStyle/>
          <a:p>
            <a:r>
              <a:rPr lang="en-US" altLang="zh-CN" b="1" i="1" dirty="0" smtClean="0"/>
              <a:t>f</a:t>
            </a:r>
            <a:r>
              <a:rPr lang="en-US" altLang="zh-CN" b="1" dirty="0" smtClean="0"/>
              <a:t> ≤ </a:t>
            </a:r>
            <a:r>
              <a:rPr lang="en-US" altLang="zh-CN" b="1" i="1" dirty="0" smtClean="0"/>
              <a:t>T</a:t>
            </a:r>
            <a:endParaRPr lang="zh-CN" altLang="en-US" b="1" i="1" dirty="0"/>
          </a:p>
        </p:txBody>
      </p:sp>
      <p:sp>
        <p:nvSpPr>
          <p:cNvPr id="28" name="TextBox 27"/>
          <p:cNvSpPr txBox="1"/>
          <p:nvPr/>
        </p:nvSpPr>
        <p:spPr>
          <a:xfrm>
            <a:off x="5715008" y="4286573"/>
            <a:ext cx="2286016" cy="954107"/>
          </a:xfrm>
          <a:prstGeom prst="rect">
            <a:avLst/>
          </a:prstGeom>
          <a:solidFill>
            <a:schemeClr val="accent1">
              <a:lumMod val="90000"/>
            </a:schemeClr>
          </a:solidFill>
        </p:spPr>
        <p:txBody>
          <a:bodyPr wrap="square" rtlCol="0">
            <a:spAutoFit/>
          </a:bodyPr>
          <a:lstStyle/>
          <a:p>
            <a:r>
              <a:rPr lang="en-US" altLang="zh-CN" b="1" i="1" dirty="0" err="1" smtClean="0"/>
              <a:t>ei</a:t>
            </a:r>
            <a:r>
              <a:rPr lang="en-US" altLang="zh-CN" b="1" dirty="0" smtClean="0"/>
              <a:t> ≤ </a:t>
            </a:r>
            <a:r>
              <a:rPr lang="en-US" altLang="zh-CN" b="1" i="1" dirty="0" smtClean="0"/>
              <a:t>e</a:t>
            </a:r>
            <a:r>
              <a:rPr lang="en-US" altLang="zh-CN" b="1" i="1" baseline="-25000" dirty="0" smtClean="0"/>
              <a:t>a</a:t>
            </a:r>
            <a:r>
              <a:rPr lang="en-US" altLang="zh-CN" b="1" dirty="0" smtClean="0"/>
              <a:t> ≤ </a:t>
            </a:r>
            <a:r>
              <a:rPr lang="en-US" altLang="zh-CN" b="1" i="1" dirty="0" err="1" smtClean="0"/>
              <a:t>es</a:t>
            </a:r>
            <a:endParaRPr lang="en-US" altLang="zh-CN" b="1" i="1" dirty="0" smtClean="0"/>
          </a:p>
          <a:p>
            <a:r>
              <a:rPr lang="en-US" altLang="zh-CN" b="1" i="1" dirty="0" smtClean="0"/>
              <a:t>EI</a:t>
            </a:r>
            <a:r>
              <a:rPr lang="en-US" altLang="zh-CN" b="1" dirty="0" smtClean="0"/>
              <a:t> ≤ </a:t>
            </a:r>
            <a:r>
              <a:rPr lang="en-US" altLang="zh-CN" b="1" i="1" dirty="0" smtClean="0"/>
              <a:t>E</a:t>
            </a:r>
            <a:r>
              <a:rPr lang="en-US" altLang="zh-CN" b="1" i="1" baseline="-25000" dirty="0" smtClean="0"/>
              <a:t>a</a:t>
            </a:r>
            <a:r>
              <a:rPr lang="en-US" altLang="zh-CN" b="1" dirty="0" smtClean="0"/>
              <a:t> ≤ </a:t>
            </a:r>
            <a:r>
              <a:rPr lang="en-US" altLang="zh-CN" b="1" i="1" dirty="0" smtClean="0"/>
              <a:t>ES</a:t>
            </a:r>
            <a:endParaRPr lang="zh-CN" altLang="en-US"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
                                        </p:tgtEl>
                                        <p:attrNameLst>
                                          <p:attrName>style.visibility</p:attrName>
                                        </p:attrNameLst>
                                      </p:cBhvr>
                                      <p:to>
                                        <p:strVal val="visible"/>
                                      </p:to>
                                    </p:set>
                                    <p:animEffect transition="in" filter="wipe(left)">
                                      <p:cBhvr>
                                        <p:cTn id="7" dur="3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4"/>
                                        </p:tgtEl>
                                        <p:attrNameLst>
                                          <p:attrName>style.visibility</p:attrName>
                                        </p:attrNameLst>
                                      </p:cBhvr>
                                      <p:to>
                                        <p:strVal val="visible"/>
                                      </p:to>
                                    </p:set>
                                    <p:animEffect transition="in" filter="wipe(left)">
                                      <p:cBhvr>
                                        <p:cTn id="12" dur="3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6"/>
                                        </p:tgtEl>
                                        <p:attrNameLst>
                                          <p:attrName>style.visibility</p:attrName>
                                        </p:attrNameLst>
                                      </p:cBhvr>
                                      <p:to>
                                        <p:strVal val="visible"/>
                                      </p:to>
                                    </p:set>
                                    <p:animEffect transition="in" filter="wipe(left)">
                                      <p:cBhvr>
                                        <p:cTn id="17" dur="3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22"/>
                                        </p:tgtEl>
                                        <p:attrNameLst>
                                          <p:attrName>style.visibility</p:attrName>
                                        </p:attrNameLst>
                                      </p:cBhvr>
                                      <p:to>
                                        <p:strVal val="visible"/>
                                      </p:to>
                                    </p:set>
                                    <p:animEffect transition="in" filter="wipe(left)">
                                      <p:cBhvr>
                                        <p:cTn id="27" dur="3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5"/>
                                        </p:tgtEl>
                                        <p:attrNameLst>
                                          <p:attrName>style.visibility</p:attrName>
                                        </p:attrNameLst>
                                      </p:cBhvr>
                                      <p:to>
                                        <p:strVal val="visible"/>
                                      </p:to>
                                    </p:set>
                                    <p:animEffect transition="in" filter="wipe(left)">
                                      <p:cBhvr>
                                        <p:cTn id="32" dur="3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7"/>
                                        </p:tgtEl>
                                        <p:attrNameLst>
                                          <p:attrName>style.visibility</p:attrName>
                                        </p:attrNameLst>
                                      </p:cBhvr>
                                      <p:to>
                                        <p:strVal val="visible"/>
                                      </p:to>
                                    </p:set>
                                    <p:animEffect transition="in" filter="wipe(left)">
                                      <p:cBhvr>
                                        <p:cTn id="37" dur="3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8"/>
                                        </p:tgtEl>
                                        <p:attrNameLst>
                                          <p:attrName>style.visibility</p:attrName>
                                        </p:attrNameLst>
                                      </p:cBhvr>
                                      <p:to>
                                        <p:strVal val="visible"/>
                                      </p:to>
                                    </p:set>
                                    <p:animEffect transition="in" filter="wipe(left)">
                                      <p:cBhvr>
                                        <p:cTn id="42" dur="3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24"/>
                                        </p:tgtEl>
                                        <p:attrNameLst>
                                          <p:attrName>style.visibility</p:attrName>
                                        </p:attrNameLst>
                                      </p:cBhvr>
                                      <p:to>
                                        <p:strVal val="visible"/>
                                      </p:to>
                                    </p:set>
                                    <p:animEffect transition="in" filter="wipe(left)">
                                      <p:cBhvr>
                                        <p:cTn id="47" dur="3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blinds(horizontal)">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box(in)">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bldLvl="0" animBg="1" autoUpdateAnimBg="0"/>
      <p:bldP spid="15" grpId="0" bldLvl="0" animBg="1" autoUpdateAnimBg="0"/>
      <p:bldP spid="16" grpId="0" bldLvl="0" animBg="1" autoUpdateAnimBg="0"/>
      <p:bldP spid="17" grpId="0" bldLvl="0" animBg="1" autoUpdateAnimBg="0"/>
      <p:bldP spid="18" grpId="0" bldLvl="0" animBg="1" autoUpdateAnimBg="0"/>
      <p:bldP spid="22" grpId="0" bldLvl="0" animBg="1" autoUpdateAnimBg="0"/>
      <p:bldP spid="23" grpId="0" bldLvl="0" animBg="1"/>
      <p:bldP spid="24" grpId="0" bldLvl="0" animBg="1" autoUpdateAnimBg="0"/>
      <p:bldP spid="2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14</a:t>
            </a:fld>
            <a:endParaRPr lang="en-US" altLang="zh-CN"/>
          </a:p>
        </p:txBody>
      </p:sp>
      <p:sp>
        <p:nvSpPr>
          <p:cNvPr id="3" name="Text Box 10"/>
          <p:cNvSpPr txBox="1">
            <a:spLocks noChangeArrowheads="1"/>
          </p:cNvSpPr>
          <p:nvPr/>
        </p:nvSpPr>
        <p:spPr bwMode="auto">
          <a:xfrm>
            <a:off x="242664" y="326718"/>
            <a:ext cx="67056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dirty="0">
                <a:latin typeface="宋体" panose="02010600030101010101" pitchFamily="2" charset="-122"/>
              </a:rPr>
              <a:t>（</a:t>
            </a:r>
            <a:r>
              <a:rPr lang="en-US" altLang="zh-CN" sz="3200" b="1" dirty="0">
                <a:latin typeface="宋体" panose="02010600030101010101" pitchFamily="2" charset="-122"/>
              </a:rPr>
              <a:t>4</a:t>
            </a:r>
            <a:r>
              <a:rPr lang="zh-CN" altLang="en-US" sz="3200" b="1" dirty="0">
                <a:latin typeface="宋体" panose="02010600030101010101" pitchFamily="2" charset="-122"/>
              </a:rPr>
              <a:t>）尺寸公差带及公差带图</a:t>
            </a:r>
            <a:r>
              <a:rPr lang="zh-CN" altLang="en-US" sz="3200" b="1" dirty="0"/>
              <a:t> </a:t>
            </a:r>
          </a:p>
        </p:txBody>
      </p:sp>
      <p:sp>
        <p:nvSpPr>
          <p:cNvPr id="5" name="Text Box 11"/>
          <p:cNvSpPr txBox="1">
            <a:spLocks noChangeArrowheads="1"/>
          </p:cNvSpPr>
          <p:nvPr/>
        </p:nvSpPr>
        <p:spPr bwMode="auto">
          <a:xfrm>
            <a:off x="611560" y="1109947"/>
            <a:ext cx="280831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latin typeface="宋体" panose="02010600030101010101" pitchFamily="2" charset="-122"/>
              </a:rPr>
              <a:t>① </a:t>
            </a:r>
            <a:r>
              <a:rPr lang="zh-CN" altLang="en-US" sz="2400" b="1" dirty="0" smtClean="0">
                <a:solidFill>
                  <a:srgbClr val="FF0000"/>
                </a:solidFill>
              </a:rPr>
              <a:t>尺寸公差带</a:t>
            </a:r>
            <a:endParaRPr lang="zh-CN" altLang="en-US" sz="2400" b="1" dirty="0">
              <a:solidFill>
                <a:srgbClr val="FF0000"/>
              </a:solidFill>
            </a:endParaRPr>
          </a:p>
        </p:txBody>
      </p:sp>
      <p:sp>
        <p:nvSpPr>
          <p:cNvPr id="6" name="Text Box 12"/>
          <p:cNvSpPr txBox="1">
            <a:spLocks noChangeArrowheads="1"/>
          </p:cNvSpPr>
          <p:nvPr/>
        </p:nvSpPr>
        <p:spPr bwMode="auto">
          <a:xfrm>
            <a:off x="538857" y="1556792"/>
            <a:ext cx="8065591" cy="9787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400" b="1" dirty="0" smtClean="0"/>
              <a:t>      由</a:t>
            </a:r>
            <a:r>
              <a:rPr lang="zh-CN" altLang="en-US" sz="2400" b="1" dirty="0"/>
              <a:t>代表上偏差和下偏差或上极限尺寸和下极限尺寸的两条直线所限定的一个</a:t>
            </a:r>
            <a:r>
              <a:rPr lang="zh-CN" altLang="en-US" sz="2400" b="1" dirty="0">
                <a:solidFill>
                  <a:srgbClr val="FF0000"/>
                </a:solidFill>
              </a:rPr>
              <a:t>区域</a:t>
            </a:r>
            <a:r>
              <a:rPr lang="zh-CN" altLang="en-US" sz="2400" b="1" dirty="0"/>
              <a:t>。</a:t>
            </a:r>
          </a:p>
        </p:txBody>
      </p:sp>
      <p:pic>
        <p:nvPicPr>
          <p:cNvPr id="7" name="Picture 11"/>
          <p:cNvPicPr>
            <a:picLocks noChangeAspect="1" noChangeArrowheads="1"/>
          </p:cNvPicPr>
          <p:nvPr/>
        </p:nvPicPr>
        <p:blipFill>
          <a:blip r:embed="rId2" cstate="print">
            <a:extLst>
              <a:ext uri="{28A0092B-C50C-407E-A947-70E740481C1C}">
                <a14:useLocalDpi xmlns="" xmlns:a14="http://schemas.microsoft.com/office/drawing/2010/main" val="0"/>
              </a:ext>
            </a:extLst>
          </a:blip>
          <a:srcRect b="18051"/>
          <a:stretch>
            <a:fillRect/>
          </a:stretch>
        </p:blipFill>
        <p:spPr bwMode="auto">
          <a:xfrm>
            <a:off x="571472" y="2428868"/>
            <a:ext cx="7880350" cy="337639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pic>
      <p:sp>
        <p:nvSpPr>
          <p:cNvPr id="8" name="Rectangle 16"/>
          <p:cNvSpPr>
            <a:spLocks noChangeArrowheads="1"/>
          </p:cNvSpPr>
          <p:nvPr/>
        </p:nvSpPr>
        <p:spPr bwMode="auto">
          <a:xfrm>
            <a:off x="5229257" y="3814183"/>
            <a:ext cx="1150938" cy="288925"/>
          </a:xfrm>
          <a:prstGeom prst="rect">
            <a:avLst/>
          </a:prstGeom>
          <a:noFill/>
          <a:ln w="38100">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7"/>
          <p:cNvSpPr>
            <a:spLocks noChangeArrowheads="1"/>
          </p:cNvSpPr>
          <p:nvPr/>
        </p:nvSpPr>
        <p:spPr bwMode="auto">
          <a:xfrm>
            <a:off x="4846609" y="3109134"/>
            <a:ext cx="1414463" cy="381000"/>
          </a:xfrm>
          <a:prstGeom prst="rect">
            <a:avLst/>
          </a:prstGeom>
          <a:noFill/>
          <a:ln w="57150">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1" name="直接箭头连接符 3"/>
          <p:cNvCxnSpPr>
            <a:cxnSpLocks noChangeShapeType="1"/>
          </p:cNvCxnSpPr>
          <p:nvPr/>
        </p:nvCxnSpPr>
        <p:spPr bwMode="auto">
          <a:xfrm flipH="1">
            <a:off x="5724525" y="2330004"/>
            <a:ext cx="1584325" cy="928687"/>
          </a:xfrm>
          <a:prstGeom prst="straightConnector1">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cxnSp>
      <p:cxnSp>
        <p:nvCxnSpPr>
          <p:cNvPr id="12" name="直接箭头连接符 5"/>
          <p:cNvCxnSpPr>
            <a:cxnSpLocks noChangeShapeType="1"/>
          </p:cNvCxnSpPr>
          <p:nvPr/>
        </p:nvCxnSpPr>
        <p:spPr bwMode="auto">
          <a:xfrm flipH="1">
            <a:off x="5724525" y="2330004"/>
            <a:ext cx="1584325" cy="928687"/>
          </a:xfrm>
          <a:prstGeom prst="straightConnector1">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cxnSp>
      <p:sp>
        <p:nvSpPr>
          <p:cNvPr id="13" name="TextBox 12"/>
          <p:cNvSpPr txBox="1"/>
          <p:nvPr/>
        </p:nvSpPr>
        <p:spPr>
          <a:xfrm>
            <a:off x="3071802" y="5743534"/>
            <a:ext cx="3384376" cy="400110"/>
          </a:xfrm>
          <a:prstGeom prst="rect">
            <a:avLst/>
          </a:prstGeom>
          <a:noFill/>
        </p:spPr>
        <p:txBody>
          <a:bodyPr wrap="square" rtlCol="0">
            <a:spAutoFit/>
          </a:bodyPr>
          <a:lstStyle/>
          <a:p>
            <a:r>
              <a:rPr lang="zh-CN" altLang="en-US" sz="2000" b="1" dirty="0" smtClean="0"/>
              <a:t>极限与配合示意图</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3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6"/>
                                        </p:tgtEl>
                                        <p:attrNameLst>
                                          <p:attrName>style.visibility</p:attrName>
                                        </p:attrNameLst>
                                      </p:cBhvr>
                                      <p:to>
                                        <p:strVal val="visible"/>
                                      </p:to>
                                    </p:set>
                                    <p:animEffect transition="in" filter="wipe(left)">
                                      <p:cBhvr>
                                        <p:cTn id="28" dur="3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subTnLst>
                                    <p:animClr>
                                      <p:cBhvr override="childStyle">
                                        <p:cTn dur="1" fill="hold" display="0" masterRel="nextClick" afterEffect="1"/>
                                        <p:tgtEl>
                                          <p:spTgt spid="8"/>
                                        </p:tgtEl>
                                        <p:attrNameLst>
                                          <p:attrName>ppt_c</p:attrName>
                                        </p:attrNameLst>
                                      </p:cBhvr>
                                      <p:to>
                                        <a:srgbClr val="FF0000"/>
                                      </p:to>
                                    </p:animClr>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subTnLst>
                                    <p:animClr>
                                      <p:cBhvr override="childStyle">
                                        <p:cTn dur="1" fill="hold" display="0" masterRel="nextClick" afterEffect="1"/>
                                        <p:tgtEl>
                                          <p:spTgt spid="9"/>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5" grpId="0" autoUpdateAnimBg="0"/>
      <p:bldP spid="6" grpId="0" autoUpdateAnimBg="0"/>
      <p:bldP spid="8" grpId="0" animBg="1"/>
      <p:bldP spid="9"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15</a:t>
            </a:fld>
            <a:endParaRPr lang="en-US" altLang="zh-CN"/>
          </a:p>
        </p:txBody>
      </p:sp>
      <p:sp>
        <p:nvSpPr>
          <p:cNvPr id="5" name="Text Box 5"/>
          <p:cNvSpPr txBox="1">
            <a:spLocks noChangeArrowheads="1"/>
          </p:cNvSpPr>
          <p:nvPr/>
        </p:nvSpPr>
        <p:spPr bwMode="auto">
          <a:xfrm>
            <a:off x="539552" y="313492"/>
            <a:ext cx="41044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latin typeface="宋体" panose="02010600030101010101" pitchFamily="2" charset="-122"/>
              </a:rPr>
              <a:t>② </a:t>
            </a:r>
            <a:r>
              <a:rPr lang="zh-CN" altLang="en-US" b="1" dirty="0">
                <a:solidFill>
                  <a:srgbClr val="FF0000"/>
                </a:solidFill>
              </a:rPr>
              <a:t>尺寸公差带</a:t>
            </a:r>
            <a:r>
              <a:rPr lang="zh-CN" altLang="en-US" b="1" dirty="0" smtClean="0">
                <a:solidFill>
                  <a:srgbClr val="FF0000"/>
                </a:solidFill>
              </a:rPr>
              <a:t>图</a:t>
            </a:r>
            <a:endParaRPr lang="zh-CN" altLang="en-US" dirty="0"/>
          </a:p>
        </p:txBody>
      </p:sp>
      <p:sp>
        <p:nvSpPr>
          <p:cNvPr id="6" name="Text Box 7"/>
          <p:cNvSpPr txBox="1">
            <a:spLocks noChangeArrowheads="1"/>
          </p:cNvSpPr>
          <p:nvPr/>
        </p:nvSpPr>
        <p:spPr bwMode="auto">
          <a:xfrm>
            <a:off x="899978" y="4572325"/>
            <a:ext cx="3744094"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零线</a:t>
            </a:r>
            <a:r>
              <a:rPr lang="en-US" altLang="zh-CN" sz="2400" b="1" dirty="0" smtClean="0"/>
              <a:t>— </a:t>
            </a:r>
            <a:r>
              <a:rPr lang="en-US" altLang="zh-CN" sz="2400" b="1" dirty="0" smtClean="0">
                <a:solidFill>
                  <a:srgbClr val="FF0000"/>
                </a:solidFill>
              </a:rPr>
              <a:t> </a:t>
            </a:r>
            <a:r>
              <a:rPr lang="en-US" altLang="zh-CN" sz="2400" b="1" dirty="0">
                <a:solidFill>
                  <a:srgbClr val="FF0000"/>
                </a:solidFill>
              </a:rPr>
              <a:t>①</a:t>
            </a:r>
            <a:r>
              <a:rPr lang="en-US" altLang="zh-CN" sz="2400" b="1" dirty="0"/>
              <a:t>  </a:t>
            </a:r>
            <a:r>
              <a:rPr lang="zh-CN" altLang="en-US" sz="2400" b="1" dirty="0"/>
              <a:t>公称尺寸</a:t>
            </a:r>
          </a:p>
        </p:txBody>
      </p:sp>
      <p:sp>
        <p:nvSpPr>
          <p:cNvPr id="7" name="Text Box 8"/>
          <p:cNvSpPr txBox="1">
            <a:spLocks noChangeArrowheads="1"/>
          </p:cNvSpPr>
          <p:nvPr/>
        </p:nvSpPr>
        <p:spPr bwMode="auto">
          <a:xfrm>
            <a:off x="1908175" y="5406008"/>
            <a:ext cx="194374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公差带</a:t>
            </a:r>
            <a:r>
              <a:rPr lang="en-US" altLang="zh-CN" sz="2400" b="1" dirty="0" smtClean="0"/>
              <a:t>—</a:t>
            </a:r>
            <a:endParaRPr lang="en-US" altLang="zh-CN" sz="2400" b="1" dirty="0"/>
          </a:p>
        </p:txBody>
      </p:sp>
      <p:sp>
        <p:nvSpPr>
          <p:cNvPr id="8" name="AutoShape 9"/>
          <p:cNvSpPr/>
          <p:nvPr/>
        </p:nvSpPr>
        <p:spPr bwMode="auto">
          <a:xfrm>
            <a:off x="3676650" y="5310420"/>
            <a:ext cx="457200" cy="838200"/>
          </a:xfrm>
          <a:prstGeom prst="leftBrace">
            <a:avLst>
              <a:gd name="adj1" fmla="val 15278"/>
              <a:gd name="adj2" fmla="val 50000"/>
            </a:avLst>
          </a:prstGeom>
          <a:noFill/>
          <a:ln w="28575">
            <a:solidFill>
              <a:schemeClr val="tx1"/>
            </a:solidFill>
            <a:rou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 name="Text Box 10"/>
          <p:cNvSpPr txBox="1">
            <a:spLocks noChangeArrowheads="1"/>
          </p:cNvSpPr>
          <p:nvPr/>
        </p:nvSpPr>
        <p:spPr bwMode="auto">
          <a:xfrm>
            <a:off x="4140201" y="5081820"/>
            <a:ext cx="410420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solidFill>
                  <a:srgbClr val="FF0000"/>
                </a:solidFill>
              </a:rPr>
              <a:t>②</a:t>
            </a:r>
            <a:r>
              <a:rPr lang="en-US" altLang="zh-CN" sz="2400" dirty="0"/>
              <a:t>  </a:t>
            </a:r>
            <a:r>
              <a:rPr lang="zh-CN" altLang="en-US" sz="2400" b="1" dirty="0"/>
              <a:t>极限偏差数值或符号</a:t>
            </a:r>
          </a:p>
        </p:txBody>
      </p:sp>
      <p:sp>
        <p:nvSpPr>
          <p:cNvPr id="10" name="Text Box 11"/>
          <p:cNvSpPr txBox="1">
            <a:spLocks noChangeArrowheads="1"/>
          </p:cNvSpPr>
          <p:nvPr/>
        </p:nvSpPr>
        <p:spPr bwMode="auto">
          <a:xfrm>
            <a:off x="4133850" y="5858108"/>
            <a:ext cx="461486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solidFill>
                  <a:srgbClr val="FF0000"/>
                </a:solidFill>
              </a:rPr>
              <a:t>③</a:t>
            </a:r>
            <a:r>
              <a:rPr lang="en-US" altLang="zh-CN" sz="2400" dirty="0"/>
              <a:t>  </a:t>
            </a:r>
            <a:r>
              <a:rPr lang="zh-CN" altLang="en-US" sz="2400" b="1" dirty="0"/>
              <a:t>孔、轴公差带或符号</a:t>
            </a:r>
          </a:p>
        </p:txBody>
      </p:sp>
      <p:pic>
        <p:nvPicPr>
          <p:cNvPr id="11" name="Picture 23"/>
          <p:cNvPicPr>
            <a:picLocks noChangeAspect="1" noChangeArrowheads="1"/>
          </p:cNvPicPr>
          <p:nvPr/>
        </p:nvPicPr>
        <p:blipFill>
          <a:blip r:embed="rId2" cstate="print">
            <a:lum contrast="30000"/>
            <a:extLst>
              <a:ext uri="{28A0092B-C50C-407E-A947-70E740481C1C}">
                <a14:useLocalDpi xmlns="" xmlns:a14="http://schemas.microsoft.com/office/drawing/2010/main" val="0"/>
              </a:ext>
            </a:extLst>
          </a:blip>
          <a:srcRect l="6116" b="13903"/>
          <a:stretch>
            <a:fillRect/>
          </a:stretch>
        </p:blipFill>
        <p:spPr bwMode="auto">
          <a:xfrm>
            <a:off x="2146300" y="1071245"/>
            <a:ext cx="4155440" cy="339979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6"/>
                                        </p:tgtEl>
                                        <p:attrNameLst>
                                          <p:attrName>style.visibility</p:attrName>
                                        </p:attrNameLst>
                                      </p:cBhvr>
                                      <p:to>
                                        <p:strVal val="visible"/>
                                      </p:to>
                                    </p:set>
                                    <p:animEffect transition="in" filter="wipe(left)">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
                                        </p:tgtEl>
                                        <p:attrNameLst>
                                          <p:attrName>style.visibility</p:attrName>
                                        </p:attrNameLst>
                                      </p:cBhvr>
                                      <p:to>
                                        <p:strVal val="visible"/>
                                      </p:to>
                                    </p:set>
                                    <p:animEffect transition="in" filter="wipe(left)">
                                      <p:cBhvr>
                                        <p:cTn id="23" dur="3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9"/>
                                        </p:tgtEl>
                                        <p:attrNameLst>
                                          <p:attrName>style.visibility</p:attrName>
                                        </p:attrNameLst>
                                      </p:cBhvr>
                                      <p:to>
                                        <p:strVal val="visible"/>
                                      </p:to>
                                    </p:set>
                                    <p:animEffect transition="in" filter="wipe(left)">
                                      <p:cBhvr>
                                        <p:cTn id="33" dur="3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10"/>
                                        </p:tgtEl>
                                        <p:attrNameLst>
                                          <p:attrName>style.visibility</p:attrName>
                                        </p:attrNameLst>
                                      </p:cBhvr>
                                      <p:to>
                                        <p:strVal val="visible"/>
                                      </p:to>
                                    </p:set>
                                    <p:animEffect transition="in" filter="wipe(left)">
                                      <p:cBhvr>
                                        <p:cTn id="3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bldLvl="0" animBg="1" autoUpdateAnimBg="0"/>
      <p:bldP spid="7" grpId="0" autoUpdateAnimBg="0"/>
      <p:bldP spid="8" grpId="0" animBg="1"/>
      <p:bldP spid="9" grpId="0" autoUpdateAnimBg="0"/>
      <p:bldP spid="1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xfrm>
            <a:off x="7308304" y="6525344"/>
            <a:ext cx="1378496" cy="288032"/>
          </a:xfr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A9AC8910-B181-414A-AA52-33A9E71E17F1}" type="slidenum">
              <a:rPr lang="en-US" altLang="zh-CN" sz="1600" smtClean="0">
                <a:solidFill>
                  <a:schemeClr val="accent2"/>
                </a:solidFill>
              </a:rPr>
              <a:pPr eaLnBrk="1" hangingPunct="1"/>
              <a:t>16</a:t>
            </a:fld>
            <a:endParaRPr lang="en-US" altLang="zh-CN" sz="1600" dirty="0" smtClean="0">
              <a:solidFill>
                <a:schemeClr val="accent2"/>
              </a:solidFill>
            </a:endParaRPr>
          </a:p>
        </p:txBody>
      </p:sp>
      <p:sp>
        <p:nvSpPr>
          <p:cNvPr id="7174" name="Text Box 6"/>
          <p:cNvSpPr txBox="1">
            <a:spLocks noChangeArrowheads="1"/>
          </p:cNvSpPr>
          <p:nvPr/>
        </p:nvSpPr>
        <p:spPr bwMode="auto">
          <a:xfrm>
            <a:off x="1320948" y="2857496"/>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ES = </a:t>
            </a:r>
            <a:r>
              <a:rPr lang="en-US" altLang="zh-CN" sz="2400" b="1" i="1" dirty="0" err="1"/>
              <a:t>D</a:t>
            </a:r>
            <a:r>
              <a:rPr lang="en-US" altLang="zh-CN" sz="2400" b="1" baseline="-25000" dirty="0" err="1"/>
              <a:t>max</a:t>
            </a:r>
            <a:r>
              <a:rPr lang="zh-CN" altLang="en-US" sz="2400" b="1" dirty="0"/>
              <a:t>－</a:t>
            </a:r>
            <a:r>
              <a:rPr lang="en-US" altLang="zh-CN" sz="2400" b="1" i="1" dirty="0"/>
              <a:t>D</a:t>
            </a:r>
          </a:p>
        </p:txBody>
      </p:sp>
      <p:sp>
        <p:nvSpPr>
          <p:cNvPr id="7236" name="Text Box 68"/>
          <p:cNvSpPr txBox="1">
            <a:spLocks noChangeArrowheads="1"/>
          </p:cNvSpPr>
          <p:nvPr/>
        </p:nvSpPr>
        <p:spPr bwMode="auto">
          <a:xfrm>
            <a:off x="5226010" y="2838449"/>
            <a:ext cx="189865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EI </a:t>
            </a:r>
            <a:r>
              <a:rPr lang="en-US" altLang="zh-CN" sz="2400" b="1" dirty="0" smtClean="0"/>
              <a:t>= 0</a:t>
            </a:r>
            <a:endParaRPr lang="en-US" altLang="zh-CN" sz="2400" b="1" dirty="0"/>
          </a:p>
        </p:txBody>
      </p:sp>
      <p:sp>
        <p:nvSpPr>
          <p:cNvPr id="7238" name="Text Box 70"/>
          <p:cNvSpPr txBox="1">
            <a:spLocks noRot="1" noChangeAspect="1" noMove="1" noResize="1" noEditPoints="1" noAdjustHandles="1" noChangeArrowheads="1" noChangeShapeType="1" noTextEdit="1"/>
          </p:cNvSpPr>
          <p:nvPr/>
        </p:nvSpPr>
        <p:spPr bwMode="auto">
          <a:xfrm>
            <a:off x="466408" y="295910"/>
            <a:ext cx="8142287" cy="978729"/>
          </a:xfrm>
          <a:prstGeom prst="rect">
            <a:avLst/>
          </a:prstGeom>
          <a:blipFill rotWithShape="1">
            <a:blip r:embed="rId3" cstate="print"/>
            <a:stretch>
              <a:fillRect l="-1123" t="-3727" b="-9317"/>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p:sp>
        <p:nvSpPr>
          <p:cNvPr id="7239" name="Text Box 71"/>
          <p:cNvSpPr txBox="1">
            <a:spLocks noChangeArrowheads="1"/>
          </p:cNvSpPr>
          <p:nvPr/>
        </p:nvSpPr>
        <p:spPr bwMode="auto">
          <a:xfrm>
            <a:off x="3347864" y="2857496"/>
            <a:ext cx="24384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+0.021</a:t>
            </a:r>
          </a:p>
        </p:txBody>
      </p:sp>
      <p:sp>
        <p:nvSpPr>
          <p:cNvPr id="7241" name="Text Box 73"/>
          <p:cNvSpPr txBox="1">
            <a:spLocks noChangeArrowheads="1"/>
          </p:cNvSpPr>
          <p:nvPr/>
        </p:nvSpPr>
        <p:spPr bwMode="auto">
          <a:xfrm>
            <a:off x="1249511" y="3357562"/>
            <a:ext cx="4392612"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dirty="0"/>
              <a:t>T</a:t>
            </a:r>
            <a:r>
              <a:rPr lang="en-US" altLang="zh-CN" b="1" baseline="-25000" dirty="0"/>
              <a:t>D</a:t>
            </a:r>
            <a:r>
              <a:rPr lang="en-US" altLang="zh-CN" b="1" dirty="0"/>
              <a:t>=</a:t>
            </a:r>
            <a:r>
              <a:rPr lang="en-US" altLang="zh-CN" sz="2400" b="1" dirty="0">
                <a:cs typeface="Times New Roman" panose="02020603050405020304" pitchFamily="18" charset="0"/>
              </a:rPr>
              <a:t>|</a:t>
            </a:r>
            <a:r>
              <a:rPr lang="en-US" altLang="zh-CN" sz="2400" b="1" dirty="0"/>
              <a:t> </a:t>
            </a:r>
            <a:r>
              <a:rPr lang="en-US" altLang="zh-CN" sz="2400" b="1" i="1" dirty="0" err="1"/>
              <a:t>D</a:t>
            </a:r>
            <a:r>
              <a:rPr lang="en-US" altLang="zh-CN" sz="2400" b="1" baseline="-25000" dirty="0" err="1"/>
              <a:t>max</a:t>
            </a:r>
            <a:r>
              <a:rPr lang="en-US" altLang="zh-CN" sz="2400" b="1" dirty="0">
                <a:cs typeface="Times New Roman" panose="02020603050405020304" pitchFamily="18" charset="0"/>
              </a:rPr>
              <a:t>–</a:t>
            </a:r>
            <a:r>
              <a:rPr lang="en-US" altLang="zh-CN" sz="2400" b="1" dirty="0"/>
              <a:t> </a:t>
            </a:r>
            <a:r>
              <a:rPr lang="en-US" altLang="zh-CN" sz="2400" b="1" i="1" dirty="0" err="1" smtClean="0"/>
              <a:t>D</a:t>
            </a:r>
            <a:r>
              <a:rPr lang="en-US" altLang="zh-CN" sz="2400" b="1" baseline="-25000" dirty="0" err="1" smtClean="0"/>
              <a:t>min</a:t>
            </a:r>
            <a:r>
              <a:rPr lang="en-US" altLang="zh-CN" sz="2400" b="1" dirty="0" smtClean="0">
                <a:cs typeface="Times New Roman" panose="02020603050405020304" pitchFamily="18" charset="0"/>
              </a:rPr>
              <a:t>| </a:t>
            </a:r>
            <a:r>
              <a:rPr lang="en-US" altLang="zh-CN" sz="2400" b="1" dirty="0">
                <a:cs typeface="Times New Roman" panose="02020603050405020304" pitchFamily="18" charset="0"/>
              </a:rPr>
              <a:t>= |</a:t>
            </a:r>
            <a:r>
              <a:rPr lang="en-US" altLang="zh-CN" sz="2400" b="1" dirty="0"/>
              <a:t>ES</a:t>
            </a:r>
            <a:r>
              <a:rPr lang="en-US" altLang="zh-CN" sz="2400" b="1" dirty="0">
                <a:cs typeface="Times New Roman" panose="02020603050405020304" pitchFamily="18" charset="0"/>
              </a:rPr>
              <a:t>–EI| =</a:t>
            </a:r>
          </a:p>
        </p:txBody>
      </p:sp>
      <p:sp>
        <p:nvSpPr>
          <p:cNvPr id="7242" name="Text Box 74"/>
          <p:cNvSpPr txBox="1">
            <a:spLocks noChangeArrowheads="1"/>
          </p:cNvSpPr>
          <p:nvPr/>
        </p:nvSpPr>
        <p:spPr bwMode="auto">
          <a:xfrm>
            <a:off x="5304708" y="3430660"/>
            <a:ext cx="119611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0.021</a:t>
            </a:r>
          </a:p>
        </p:txBody>
      </p:sp>
      <p:sp>
        <p:nvSpPr>
          <p:cNvPr id="7246" name="Rectangle 78"/>
          <p:cNvSpPr>
            <a:spLocks noChangeArrowheads="1"/>
          </p:cNvSpPr>
          <p:nvPr/>
        </p:nvSpPr>
        <p:spPr bwMode="auto">
          <a:xfrm>
            <a:off x="494030" y="1428750"/>
            <a:ext cx="8276590" cy="977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pPr>
            <a:r>
              <a:rPr lang="en-US" altLang="zh-CN" sz="2400" b="1" dirty="0"/>
              <a:t>       </a:t>
            </a:r>
            <a:r>
              <a:rPr lang="zh-CN" altLang="en-US" sz="2400" b="1" dirty="0"/>
              <a:t>求孔、轴的极限偏差和公差，画出尺寸公差带图（两种画法），并写出极限偏差在图样上的标注。</a:t>
            </a:r>
          </a:p>
        </p:txBody>
      </p:sp>
      <p:sp>
        <p:nvSpPr>
          <p:cNvPr id="7247" name="Text Box 79"/>
          <p:cNvSpPr txBox="1">
            <a:spLocks noChangeArrowheads="1"/>
          </p:cNvSpPr>
          <p:nvPr/>
        </p:nvSpPr>
        <p:spPr bwMode="auto">
          <a:xfrm>
            <a:off x="1105048" y="2357430"/>
            <a:ext cx="62150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解：（</a:t>
            </a:r>
            <a:r>
              <a:rPr lang="en-US" altLang="zh-CN" sz="2400" b="1" dirty="0"/>
              <a:t>1</a:t>
            </a:r>
            <a:r>
              <a:rPr lang="zh-CN" altLang="en-US" sz="2400" b="1" dirty="0"/>
              <a:t>）孔   </a:t>
            </a:r>
          </a:p>
        </p:txBody>
      </p:sp>
      <p:sp>
        <p:nvSpPr>
          <p:cNvPr id="7248" name="Text Box 80"/>
          <p:cNvSpPr txBox="1">
            <a:spLocks noChangeArrowheads="1"/>
          </p:cNvSpPr>
          <p:nvPr/>
        </p:nvSpPr>
        <p:spPr bwMode="auto">
          <a:xfrm>
            <a:off x="1181047" y="4143380"/>
            <a:ext cx="29623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在图样上的标注为</a:t>
            </a:r>
          </a:p>
        </p:txBody>
      </p:sp>
      <p:sp>
        <p:nvSpPr>
          <p:cNvPr id="17" name="TextBox 16"/>
          <p:cNvSpPr txBox="1"/>
          <p:nvPr/>
        </p:nvSpPr>
        <p:spPr>
          <a:xfrm>
            <a:off x="1142976" y="4857760"/>
            <a:ext cx="2786082" cy="523220"/>
          </a:xfrm>
          <a:prstGeom prst="rect">
            <a:avLst/>
          </a:prstGeom>
          <a:noFill/>
        </p:spPr>
        <p:txBody>
          <a:bodyPr wrap="square" rtlCol="0">
            <a:spAutoFit/>
          </a:bodyPr>
          <a:lstStyle/>
          <a:p>
            <a:r>
              <a:rPr lang="zh-CN" altLang="en-US" b="1" dirty="0" smtClean="0"/>
              <a:t>轴  </a:t>
            </a:r>
            <a:r>
              <a:rPr lang="en-US" altLang="zh-CN" b="1" dirty="0" err="1" smtClean="0"/>
              <a:t>es</a:t>
            </a:r>
            <a:r>
              <a:rPr lang="en-US" altLang="zh-CN" b="1" dirty="0" smtClean="0"/>
              <a:t> = -0.020</a:t>
            </a:r>
            <a:endParaRPr lang="zh-CN" altLang="en-US" b="1" dirty="0"/>
          </a:p>
        </p:txBody>
      </p:sp>
      <p:sp>
        <p:nvSpPr>
          <p:cNvPr id="18" name="TextBox 17"/>
          <p:cNvSpPr txBox="1"/>
          <p:nvPr/>
        </p:nvSpPr>
        <p:spPr>
          <a:xfrm>
            <a:off x="4071934" y="4857760"/>
            <a:ext cx="2286016" cy="523220"/>
          </a:xfrm>
          <a:prstGeom prst="rect">
            <a:avLst/>
          </a:prstGeom>
          <a:noFill/>
        </p:spPr>
        <p:txBody>
          <a:bodyPr wrap="square" rtlCol="0">
            <a:spAutoFit/>
          </a:bodyPr>
          <a:lstStyle/>
          <a:p>
            <a:r>
              <a:rPr lang="en-US" altLang="zh-CN" b="1" dirty="0" err="1" smtClean="0"/>
              <a:t>ei</a:t>
            </a:r>
            <a:r>
              <a:rPr lang="en-US" altLang="zh-CN" b="1" dirty="0" smtClean="0"/>
              <a:t> = -0.033</a:t>
            </a:r>
            <a:endParaRPr lang="zh-CN" altLang="en-US" b="1" dirty="0"/>
          </a:p>
        </p:txBody>
      </p:sp>
      <p:sp>
        <p:nvSpPr>
          <p:cNvPr id="19" name="TextBox 18"/>
          <p:cNvSpPr txBox="1"/>
          <p:nvPr/>
        </p:nvSpPr>
        <p:spPr>
          <a:xfrm>
            <a:off x="1624380" y="5500702"/>
            <a:ext cx="2286016" cy="523220"/>
          </a:xfrm>
          <a:prstGeom prst="rect">
            <a:avLst/>
          </a:prstGeom>
          <a:noFill/>
        </p:spPr>
        <p:txBody>
          <a:bodyPr wrap="square" rtlCol="0">
            <a:spAutoFit/>
          </a:bodyPr>
          <a:lstStyle/>
          <a:p>
            <a:r>
              <a:rPr lang="en-US" altLang="zh-CN" b="1" dirty="0" smtClean="0"/>
              <a:t>T</a:t>
            </a:r>
            <a:r>
              <a:rPr lang="en-US" altLang="zh-CN" b="1" baseline="-25000" dirty="0" smtClean="0"/>
              <a:t>d</a:t>
            </a:r>
            <a:r>
              <a:rPr lang="en-US" altLang="zh-CN" b="1" dirty="0" smtClean="0"/>
              <a:t> = 0.013</a:t>
            </a:r>
            <a:endParaRPr lang="zh-CN" altLang="en-US" b="1" dirty="0"/>
          </a:p>
        </p:txBody>
      </p:sp>
      <p:graphicFrame>
        <p:nvGraphicFramePr>
          <p:cNvPr id="20" name="对象 19"/>
          <p:cNvGraphicFramePr>
            <a:graphicFrameLocks noChangeAspect="1"/>
          </p:cNvGraphicFramePr>
          <p:nvPr/>
        </p:nvGraphicFramePr>
        <p:xfrm>
          <a:off x="4696460" y="4109720"/>
          <a:ext cx="1875790" cy="565785"/>
        </p:xfrm>
        <a:graphic>
          <a:graphicData uri="http://schemas.openxmlformats.org/presentationml/2006/ole">
            <p:oleObj spid="_x0000_s21506" name="Equation" r:id="rId4" imgW="19202400" imgH="5791200" progId="Equation.DSMT4">
              <p:embed/>
            </p:oleObj>
          </a:graphicData>
        </a:graphic>
      </p:graphicFrame>
      <p:graphicFrame>
        <p:nvGraphicFramePr>
          <p:cNvPr id="21" name="对象 20"/>
          <p:cNvGraphicFramePr>
            <a:graphicFrameLocks noChangeAspect="1"/>
          </p:cNvGraphicFramePr>
          <p:nvPr/>
        </p:nvGraphicFramePr>
        <p:xfrm>
          <a:off x="4435971" y="5500690"/>
          <a:ext cx="2064221" cy="642954"/>
        </p:xfrm>
        <a:graphic>
          <a:graphicData uri="http://schemas.openxmlformats.org/presentationml/2006/ole">
            <p:oleObj spid="_x0000_s21505" name="Equation" r:id="rId5" imgW="18592800" imgH="57912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238"/>
                                        </p:tgtEl>
                                        <p:attrNameLst>
                                          <p:attrName>style.visibility</p:attrName>
                                        </p:attrNameLst>
                                      </p:cBhvr>
                                      <p:to>
                                        <p:strVal val="visible"/>
                                      </p:to>
                                    </p:set>
                                    <p:animEffect transition="in" filter="wipe(left)">
                                      <p:cBhvr>
                                        <p:cTn id="7" dur="300"/>
                                        <p:tgtEl>
                                          <p:spTgt spid="72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246"/>
                                        </p:tgtEl>
                                        <p:attrNameLst>
                                          <p:attrName>style.visibility</p:attrName>
                                        </p:attrNameLst>
                                      </p:cBhvr>
                                      <p:to>
                                        <p:strVal val="visible"/>
                                      </p:to>
                                    </p:set>
                                    <p:animEffect transition="in" filter="wipe(left)">
                                      <p:cBhvr>
                                        <p:cTn id="12" dur="300"/>
                                        <p:tgtEl>
                                          <p:spTgt spid="72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247"/>
                                        </p:tgtEl>
                                        <p:attrNameLst>
                                          <p:attrName>style.visibility</p:attrName>
                                        </p:attrNameLst>
                                      </p:cBhvr>
                                      <p:to>
                                        <p:strVal val="visible"/>
                                      </p:to>
                                    </p:set>
                                    <p:animEffect transition="in" filter="wipe(left)">
                                      <p:cBhvr>
                                        <p:cTn id="17" dur="300"/>
                                        <p:tgtEl>
                                          <p:spTgt spid="7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174"/>
                                        </p:tgtEl>
                                        <p:attrNameLst>
                                          <p:attrName>style.visibility</p:attrName>
                                        </p:attrNameLst>
                                      </p:cBhvr>
                                      <p:to>
                                        <p:strVal val="visible"/>
                                      </p:to>
                                    </p:set>
                                    <p:animEffect transition="in" filter="wipe(left)">
                                      <p:cBhvr>
                                        <p:cTn id="22" dur="300"/>
                                        <p:tgtEl>
                                          <p:spTgt spid="717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239"/>
                                        </p:tgtEl>
                                        <p:attrNameLst>
                                          <p:attrName>style.visibility</p:attrName>
                                        </p:attrNameLst>
                                      </p:cBhvr>
                                      <p:to>
                                        <p:strVal val="visible"/>
                                      </p:to>
                                    </p:set>
                                    <p:animEffect transition="in" filter="wipe(left)">
                                      <p:cBhvr>
                                        <p:cTn id="27" dur="300"/>
                                        <p:tgtEl>
                                          <p:spTgt spid="72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7236"/>
                                        </p:tgtEl>
                                        <p:attrNameLst>
                                          <p:attrName>style.visibility</p:attrName>
                                        </p:attrNameLst>
                                      </p:cBhvr>
                                      <p:to>
                                        <p:strVal val="visible"/>
                                      </p:to>
                                    </p:set>
                                    <p:animEffect transition="in" filter="wipe(left)">
                                      <p:cBhvr>
                                        <p:cTn id="32" dur="300"/>
                                        <p:tgtEl>
                                          <p:spTgt spid="72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7241"/>
                                        </p:tgtEl>
                                        <p:attrNameLst>
                                          <p:attrName>style.visibility</p:attrName>
                                        </p:attrNameLst>
                                      </p:cBhvr>
                                      <p:to>
                                        <p:strVal val="visible"/>
                                      </p:to>
                                    </p:set>
                                    <p:animEffect transition="in" filter="wipe(left)">
                                      <p:cBhvr>
                                        <p:cTn id="37" dur="300"/>
                                        <p:tgtEl>
                                          <p:spTgt spid="72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242"/>
                                        </p:tgtEl>
                                        <p:attrNameLst>
                                          <p:attrName>style.visibility</p:attrName>
                                        </p:attrNameLst>
                                      </p:cBhvr>
                                      <p:to>
                                        <p:strVal val="visible"/>
                                      </p:to>
                                    </p:set>
                                    <p:animEffect transition="in" filter="wipe(left)">
                                      <p:cBhvr>
                                        <p:cTn id="42" dur="300"/>
                                        <p:tgtEl>
                                          <p:spTgt spid="72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7248"/>
                                        </p:tgtEl>
                                        <p:attrNameLst>
                                          <p:attrName>style.visibility</p:attrName>
                                        </p:attrNameLst>
                                      </p:cBhvr>
                                      <p:to>
                                        <p:strVal val="visible"/>
                                      </p:to>
                                    </p:set>
                                    <p:animEffect transition="in" filter="wipe(left)">
                                      <p:cBhvr>
                                        <p:cTn id="47" dur="300"/>
                                        <p:tgtEl>
                                          <p:spTgt spid="7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utoUpdateAnimBg="0"/>
      <p:bldP spid="7236" grpId="0" autoUpdateAnimBg="0"/>
      <p:bldP spid="7238" grpId="0" bldLvl="0" animBg="1" autoUpdateAnimBg="0"/>
      <p:bldP spid="7239" grpId="0" autoUpdateAnimBg="0"/>
      <p:bldP spid="7241" grpId="0" autoUpdateAnimBg="0"/>
      <p:bldP spid="7242" grpId="0" autoUpdateAnimBg="0"/>
      <p:bldP spid="7246" grpId="0" bldLvl="0" animBg="1" autoUpdateAnimBg="0"/>
      <p:bldP spid="7247" grpId="0" autoUpdateAnimBg="0"/>
      <p:bldP spid="724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xfrm>
            <a:off x="6553200" y="6510832"/>
            <a:ext cx="2133600" cy="332234"/>
          </a:xfr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BB51CE22-1B46-4F7A-A815-CAD5E9B72319}" type="slidenum">
              <a:rPr lang="en-US" altLang="zh-CN" sz="1800" smtClean="0">
                <a:solidFill>
                  <a:schemeClr val="accent2"/>
                </a:solidFill>
              </a:rPr>
              <a:pPr eaLnBrk="1" hangingPunct="1"/>
              <a:t>17</a:t>
            </a:fld>
            <a:endParaRPr lang="en-US" altLang="zh-CN" sz="1800" dirty="0" smtClean="0">
              <a:solidFill>
                <a:schemeClr val="accent2"/>
              </a:solidFill>
            </a:endParaRPr>
          </a:p>
        </p:txBody>
      </p:sp>
      <p:sp>
        <p:nvSpPr>
          <p:cNvPr id="42001" name="Text Box 1041"/>
          <p:cNvSpPr txBox="1">
            <a:spLocks noChangeArrowheads="1"/>
          </p:cNvSpPr>
          <p:nvPr/>
        </p:nvSpPr>
        <p:spPr bwMode="auto">
          <a:xfrm>
            <a:off x="1752600" y="981710"/>
            <a:ext cx="2171700"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画法</a:t>
            </a:r>
            <a:r>
              <a:rPr lang="en-US" altLang="zh-CN" sz="2400" b="1" dirty="0"/>
              <a:t>1</a:t>
            </a:r>
          </a:p>
        </p:txBody>
      </p:sp>
      <p:sp>
        <p:nvSpPr>
          <p:cNvPr id="42002" name="Text Box 1042"/>
          <p:cNvSpPr txBox="1">
            <a:spLocks noChangeArrowheads="1"/>
          </p:cNvSpPr>
          <p:nvPr/>
        </p:nvSpPr>
        <p:spPr bwMode="auto">
          <a:xfrm>
            <a:off x="6096000" y="1037173"/>
            <a:ext cx="1752600"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画法</a:t>
            </a:r>
            <a:r>
              <a:rPr lang="en-US" altLang="zh-CN" sz="2400" b="1" dirty="0"/>
              <a:t>2</a:t>
            </a:r>
          </a:p>
        </p:txBody>
      </p:sp>
      <p:sp>
        <p:nvSpPr>
          <p:cNvPr id="42003" name="Text Box 1043"/>
          <p:cNvSpPr txBox="1">
            <a:spLocks noChangeArrowheads="1"/>
          </p:cNvSpPr>
          <p:nvPr/>
        </p:nvSpPr>
        <p:spPr bwMode="auto">
          <a:xfrm>
            <a:off x="539750" y="300355"/>
            <a:ext cx="6737350" cy="460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(2) </a:t>
            </a:r>
            <a:r>
              <a:rPr lang="zh-CN" altLang="en-US" sz="2400" b="1" dirty="0"/>
              <a:t>画尺寸公差带</a:t>
            </a:r>
            <a:r>
              <a:rPr lang="zh-CN" altLang="en-US" sz="2400" b="1" dirty="0" smtClean="0"/>
              <a:t>图</a:t>
            </a:r>
            <a:endParaRPr lang="zh-CN" altLang="en-US" sz="2400" b="1" dirty="0"/>
          </a:p>
        </p:txBody>
      </p:sp>
      <p:sp>
        <p:nvSpPr>
          <p:cNvPr id="42015" name="Line 1055"/>
          <p:cNvSpPr>
            <a:spLocks noChangeShapeType="1"/>
          </p:cNvSpPr>
          <p:nvPr/>
        </p:nvSpPr>
        <p:spPr bwMode="auto">
          <a:xfrm>
            <a:off x="4716016" y="1295400"/>
            <a:ext cx="0" cy="5013920"/>
          </a:xfrm>
          <a:prstGeom prst="line">
            <a:avLst/>
          </a:prstGeom>
          <a:noFill/>
          <a:ln w="38100">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1511" name="组合 2"/>
          <p:cNvGrpSpPr/>
          <p:nvPr/>
        </p:nvGrpSpPr>
        <p:grpSpPr bwMode="auto">
          <a:xfrm>
            <a:off x="685800" y="1819910"/>
            <a:ext cx="3651140" cy="4240883"/>
            <a:chOff x="685800" y="1676400"/>
            <a:chExt cx="3651250" cy="4241612"/>
          </a:xfrm>
        </p:grpSpPr>
        <p:pic>
          <p:nvPicPr>
            <p:cNvPr id="21515" name="Picture 105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5800" y="1676400"/>
              <a:ext cx="3651250" cy="4191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71609" y="5517893"/>
              <a:ext cx="3240061" cy="400119"/>
            </a:xfrm>
            <a:prstGeom prst="rect">
              <a:avLst/>
            </a:prstGeom>
            <a:solidFill>
              <a:schemeClr val="bg1">
                <a:lumMod val="95000"/>
              </a:schemeClr>
            </a:solidFill>
          </p:spPr>
          <p:txBody>
            <a:bodyPr wrap="square">
              <a:spAutoFit/>
            </a:bodyPr>
            <a:lstStyle/>
            <a:p>
              <a:pPr algn="l">
                <a:defRPr/>
              </a:pPr>
              <a:r>
                <a:rPr lang="en-US" altLang="zh-CN" sz="2000" b="1" dirty="0"/>
                <a:t>(a)  </a:t>
              </a:r>
              <a:r>
                <a:rPr lang="zh-CN" altLang="en-US" sz="2000" b="1" dirty="0"/>
                <a:t>公差单位为</a:t>
              </a:r>
              <a:r>
                <a:rPr lang="en-US" altLang="zh-CN" sz="2000" b="1" dirty="0"/>
                <a:t>mm</a:t>
              </a:r>
              <a:r>
                <a:rPr lang="zh-CN" altLang="en-US" sz="2000" b="1" dirty="0"/>
                <a:t>的画法</a:t>
              </a:r>
            </a:p>
          </p:txBody>
        </p:sp>
      </p:grpSp>
      <p:grpSp>
        <p:nvGrpSpPr>
          <p:cNvPr id="21512" name="组合 3"/>
          <p:cNvGrpSpPr/>
          <p:nvPr/>
        </p:nvGrpSpPr>
        <p:grpSpPr bwMode="auto">
          <a:xfrm>
            <a:off x="5040563" y="1851660"/>
            <a:ext cx="3541210" cy="4247068"/>
            <a:chOff x="5040313" y="1676400"/>
            <a:chExt cx="3541712" cy="4247230"/>
          </a:xfrm>
        </p:grpSpPr>
        <p:pic>
          <p:nvPicPr>
            <p:cNvPr id="21513" name="Picture 105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040313" y="1676400"/>
              <a:ext cx="3541712"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5363884" y="5523565"/>
              <a:ext cx="3125610" cy="400065"/>
            </a:xfrm>
            <a:prstGeom prst="rect">
              <a:avLst/>
            </a:prstGeom>
            <a:solidFill>
              <a:schemeClr val="bg1">
                <a:lumMod val="95000"/>
              </a:schemeClr>
            </a:solidFill>
          </p:spPr>
          <p:txBody>
            <a:bodyPr wrap="square">
              <a:spAutoFit/>
            </a:bodyPr>
            <a:lstStyle/>
            <a:p>
              <a:pPr algn="l">
                <a:defRPr/>
              </a:pPr>
              <a:r>
                <a:rPr lang="en-US" altLang="zh-CN" sz="2000" b="1" dirty="0"/>
                <a:t>(b)  </a:t>
              </a:r>
              <a:r>
                <a:rPr lang="zh-CN" altLang="en-US" sz="2000" b="1" dirty="0"/>
                <a:t>公差单位为</a:t>
              </a:r>
              <a:r>
                <a:rPr lang="en-US" altLang="zh-CN" sz="2000" b="1" dirty="0" err="1"/>
                <a:t>μm</a:t>
              </a:r>
              <a:r>
                <a:rPr lang="zh-CN" altLang="en-US" sz="2000" b="1" dirty="0"/>
                <a:t>的画法</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2003"/>
                                        </p:tgtEl>
                                        <p:attrNameLst>
                                          <p:attrName>style.visibility</p:attrName>
                                        </p:attrNameLst>
                                      </p:cBhvr>
                                      <p:to>
                                        <p:strVal val="visible"/>
                                      </p:to>
                                    </p:set>
                                    <p:animEffect transition="in" filter="wipe(left)">
                                      <p:cBhvr>
                                        <p:cTn id="7" dur="300"/>
                                        <p:tgtEl>
                                          <p:spTgt spid="420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2001"/>
                                        </p:tgtEl>
                                        <p:attrNameLst>
                                          <p:attrName>style.visibility</p:attrName>
                                        </p:attrNameLst>
                                      </p:cBhvr>
                                      <p:to>
                                        <p:strVal val="visible"/>
                                      </p:to>
                                    </p:set>
                                    <p:animEffect transition="in" filter="wipe(left)">
                                      <p:cBhvr>
                                        <p:cTn id="12" dur="300"/>
                                        <p:tgtEl>
                                          <p:spTgt spid="4200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511"/>
                                        </p:tgtEl>
                                        <p:attrNameLst>
                                          <p:attrName>style.visibility</p:attrName>
                                        </p:attrNameLst>
                                      </p:cBhvr>
                                      <p:to>
                                        <p:strVal val="visible"/>
                                      </p:to>
                                    </p:set>
                                    <p:anim calcmode="lin" valueType="num">
                                      <p:cBhvr additive="base">
                                        <p:cTn id="17" dur="500" fill="hold"/>
                                        <p:tgtEl>
                                          <p:spTgt spid="21511"/>
                                        </p:tgtEl>
                                        <p:attrNameLst>
                                          <p:attrName>ppt_x</p:attrName>
                                        </p:attrNameLst>
                                      </p:cBhvr>
                                      <p:tavLst>
                                        <p:tav tm="0">
                                          <p:val>
                                            <p:strVal val="0-#ppt_w/2"/>
                                          </p:val>
                                        </p:tav>
                                        <p:tav tm="100000">
                                          <p:val>
                                            <p:strVal val="#ppt_x"/>
                                          </p:val>
                                        </p:tav>
                                      </p:tavLst>
                                    </p:anim>
                                    <p:anim calcmode="lin" valueType="num">
                                      <p:cBhvr additive="base">
                                        <p:cTn id="18" dur="500" fill="hold"/>
                                        <p:tgtEl>
                                          <p:spTgt spid="215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42015"/>
                                        </p:tgtEl>
                                        <p:attrNameLst>
                                          <p:attrName>style.visibility</p:attrName>
                                        </p:attrNameLst>
                                      </p:cBhvr>
                                      <p:to>
                                        <p:strVal val="visible"/>
                                      </p:to>
                                    </p:set>
                                    <p:anim calcmode="lin" valueType="num">
                                      <p:cBhvr>
                                        <p:cTn id="23" dur="500" fill="hold"/>
                                        <p:tgtEl>
                                          <p:spTgt spid="42015"/>
                                        </p:tgtEl>
                                        <p:attrNameLst>
                                          <p:attrName>ppt_x</p:attrName>
                                        </p:attrNameLst>
                                      </p:cBhvr>
                                      <p:tavLst>
                                        <p:tav tm="0">
                                          <p:val>
                                            <p:strVal val="#ppt_x"/>
                                          </p:val>
                                        </p:tav>
                                        <p:tav tm="100000">
                                          <p:val>
                                            <p:strVal val="#ppt_x"/>
                                          </p:val>
                                        </p:tav>
                                      </p:tavLst>
                                    </p:anim>
                                    <p:anim calcmode="lin" valueType="num">
                                      <p:cBhvr>
                                        <p:cTn id="24" dur="500" fill="hold"/>
                                        <p:tgtEl>
                                          <p:spTgt spid="42015"/>
                                        </p:tgtEl>
                                        <p:attrNameLst>
                                          <p:attrName>ppt_y</p:attrName>
                                        </p:attrNameLst>
                                      </p:cBhvr>
                                      <p:tavLst>
                                        <p:tav tm="0">
                                          <p:val>
                                            <p:strVal val="#ppt_y-#ppt_h/2"/>
                                          </p:val>
                                        </p:tav>
                                        <p:tav tm="100000">
                                          <p:val>
                                            <p:strVal val="#ppt_y"/>
                                          </p:val>
                                        </p:tav>
                                      </p:tavLst>
                                    </p:anim>
                                    <p:anim calcmode="lin" valueType="num">
                                      <p:cBhvr>
                                        <p:cTn id="25" dur="500" fill="hold"/>
                                        <p:tgtEl>
                                          <p:spTgt spid="42015"/>
                                        </p:tgtEl>
                                        <p:attrNameLst>
                                          <p:attrName>ppt_w</p:attrName>
                                        </p:attrNameLst>
                                      </p:cBhvr>
                                      <p:tavLst>
                                        <p:tav tm="0">
                                          <p:val>
                                            <p:strVal val="#ppt_w"/>
                                          </p:val>
                                        </p:tav>
                                        <p:tav tm="100000">
                                          <p:val>
                                            <p:strVal val="#ppt_w"/>
                                          </p:val>
                                        </p:tav>
                                      </p:tavLst>
                                    </p:anim>
                                    <p:anim calcmode="lin" valueType="num">
                                      <p:cBhvr>
                                        <p:cTn id="26" dur="500" fill="hold"/>
                                        <p:tgtEl>
                                          <p:spTgt spid="42015"/>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42002"/>
                                        </p:tgtEl>
                                        <p:attrNameLst>
                                          <p:attrName>style.visibility</p:attrName>
                                        </p:attrNameLst>
                                      </p:cBhvr>
                                      <p:to>
                                        <p:strVal val="visible"/>
                                      </p:to>
                                    </p:set>
                                    <p:animEffect transition="in" filter="wipe(left)">
                                      <p:cBhvr>
                                        <p:cTn id="31" dur="300"/>
                                        <p:tgtEl>
                                          <p:spTgt spid="4200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1512"/>
                                        </p:tgtEl>
                                        <p:attrNameLst>
                                          <p:attrName>style.visibility</p:attrName>
                                        </p:attrNameLst>
                                      </p:cBhvr>
                                      <p:to>
                                        <p:strVal val="visible"/>
                                      </p:to>
                                    </p:set>
                                    <p:anim calcmode="lin" valueType="num">
                                      <p:cBhvr additive="base">
                                        <p:cTn id="36" dur="500" fill="hold"/>
                                        <p:tgtEl>
                                          <p:spTgt spid="21512"/>
                                        </p:tgtEl>
                                        <p:attrNameLst>
                                          <p:attrName>ppt_x</p:attrName>
                                        </p:attrNameLst>
                                      </p:cBhvr>
                                      <p:tavLst>
                                        <p:tav tm="0">
                                          <p:val>
                                            <p:strVal val="1+#ppt_w/2"/>
                                          </p:val>
                                        </p:tav>
                                        <p:tav tm="100000">
                                          <p:val>
                                            <p:strVal val="#ppt_x"/>
                                          </p:val>
                                        </p:tav>
                                      </p:tavLst>
                                    </p:anim>
                                    <p:anim calcmode="lin" valueType="num">
                                      <p:cBhvr additive="base">
                                        <p:cTn id="37" dur="500" fill="hold"/>
                                        <p:tgtEl>
                                          <p:spTgt spid="215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1" grpId="0" bldLvl="0" animBg="1" autoUpdateAnimBg="0"/>
      <p:bldP spid="42002" grpId="0" bldLvl="0" animBg="1" autoUpdateAnimBg="0"/>
      <p:bldP spid="42003" grpId="0" bldLvl="0" animBg="1" autoUpdateAnimBg="0"/>
      <p:bldP spid="4201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18</a:t>
            </a:fld>
            <a:endParaRPr lang="en-US" altLang="zh-CN"/>
          </a:p>
        </p:txBody>
      </p:sp>
      <p:sp>
        <p:nvSpPr>
          <p:cNvPr id="3" name="Text Box 4"/>
          <p:cNvSpPr txBox="1">
            <a:spLocks noChangeArrowheads="1"/>
          </p:cNvSpPr>
          <p:nvPr/>
        </p:nvSpPr>
        <p:spPr bwMode="auto">
          <a:xfrm>
            <a:off x="611560" y="332656"/>
            <a:ext cx="3024187" cy="5847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200" b="1" dirty="0"/>
              <a:t>3. </a:t>
            </a:r>
            <a:r>
              <a:rPr lang="zh-CN" altLang="en-US" sz="3200" b="1" dirty="0"/>
              <a:t>极限制</a:t>
            </a:r>
          </a:p>
        </p:txBody>
      </p:sp>
      <p:sp>
        <p:nvSpPr>
          <p:cNvPr id="5" name="Text Box 5"/>
          <p:cNvSpPr txBox="1">
            <a:spLocks noChangeArrowheads="1"/>
          </p:cNvSpPr>
          <p:nvPr/>
        </p:nvSpPr>
        <p:spPr bwMode="auto">
          <a:xfrm>
            <a:off x="539552" y="1036226"/>
            <a:ext cx="8280920" cy="93634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400" b="1" dirty="0" smtClean="0"/>
              <a:t>       </a:t>
            </a:r>
            <a:r>
              <a:rPr lang="zh-CN" altLang="en-US" sz="2400" b="1" dirty="0" smtClean="0">
                <a:solidFill>
                  <a:srgbClr val="FF0000"/>
                </a:solidFill>
              </a:rPr>
              <a:t>极限制</a:t>
            </a:r>
            <a:r>
              <a:rPr lang="zh-CN" altLang="en-US" sz="2400" b="1" dirty="0" smtClean="0"/>
              <a:t>是指标准化</a:t>
            </a:r>
            <a:r>
              <a:rPr lang="zh-CN" altLang="en-US" sz="2400" b="1" dirty="0"/>
              <a:t>的公差与极限偏差组成标准化的孔、轴公差带的制度。</a:t>
            </a:r>
          </a:p>
        </p:txBody>
      </p:sp>
      <p:sp>
        <p:nvSpPr>
          <p:cNvPr id="6" name="Text Box 6"/>
          <p:cNvSpPr txBox="1">
            <a:spLocks noChangeArrowheads="1"/>
          </p:cNvSpPr>
          <p:nvPr/>
        </p:nvSpPr>
        <p:spPr bwMode="auto">
          <a:xfrm>
            <a:off x="642910" y="1966886"/>
            <a:ext cx="7312025"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(1)  </a:t>
            </a:r>
            <a:r>
              <a:rPr lang="zh-CN" altLang="en-US" sz="2400" b="1" dirty="0" smtClean="0">
                <a:solidFill>
                  <a:srgbClr val="FF0000"/>
                </a:solidFill>
              </a:rPr>
              <a:t>标准公差</a:t>
            </a:r>
            <a:r>
              <a:rPr lang="en-US" altLang="zh-CN" sz="2400" b="1" dirty="0" smtClean="0"/>
              <a:t>—</a:t>
            </a:r>
            <a:r>
              <a:rPr lang="zh-CN" altLang="en-US" sz="2400" b="1" dirty="0" smtClean="0"/>
              <a:t>国家标准所规定的任一公差值</a:t>
            </a:r>
            <a:endParaRPr lang="zh-CN" altLang="en-US" sz="2400" b="1" dirty="0"/>
          </a:p>
        </p:txBody>
      </p:sp>
      <p:pic>
        <p:nvPicPr>
          <p:cNvPr id="8" name="图片 7"/>
          <p:cNvPicPr>
            <a:picLocks noChangeAspect="1"/>
          </p:cNvPicPr>
          <p:nvPr/>
        </p:nvPicPr>
        <p:blipFill>
          <a:blip r:embed="rId2"/>
          <a:srcRect l="9631" t="50845" r="11007" b="11059"/>
          <a:stretch>
            <a:fillRect/>
          </a:stretch>
        </p:blipFill>
        <p:spPr>
          <a:xfrm>
            <a:off x="1043940" y="2680970"/>
            <a:ext cx="7033260" cy="3985260"/>
          </a:xfrm>
          <a:prstGeom prst="rect">
            <a:avLst/>
          </a:prstGeom>
        </p:spPr>
      </p:pic>
      <p:sp>
        <p:nvSpPr>
          <p:cNvPr id="9" name="文本框 8"/>
          <p:cNvSpPr txBox="1"/>
          <p:nvPr/>
        </p:nvSpPr>
        <p:spPr>
          <a:xfrm>
            <a:off x="2063115" y="2431415"/>
            <a:ext cx="5525135" cy="306705"/>
          </a:xfrm>
          <a:prstGeom prst="rect">
            <a:avLst/>
          </a:prstGeom>
          <a:noFill/>
        </p:spPr>
        <p:txBody>
          <a:bodyPr wrap="square" rtlCol="0">
            <a:spAutoFit/>
          </a:bodyPr>
          <a:lstStyle/>
          <a:p>
            <a:r>
              <a:rPr lang="zh-CN" altLang="zh-CN" sz="1400" b="1"/>
              <a:t>表</a:t>
            </a:r>
            <a:r>
              <a:rPr lang="en-US" altLang="zh-CN" sz="1400" b="1"/>
              <a:t>3.2 </a:t>
            </a:r>
            <a:r>
              <a:rPr lang="zh-CN" altLang="en-US" sz="1400" b="1"/>
              <a:t>公称尺寸至</a:t>
            </a:r>
            <a:r>
              <a:rPr lang="en-US" altLang="zh-CN" sz="1400" b="1"/>
              <a:t>500mm</a:t>
            </a:r>
            <a:r>
              <a:rPr lang="zh-CN" altLang="en-US" sz="1400" b="1"/>
              <a:t>的标准公差数值</a:t>
            </a:r>
            <a:r>
              <a:rPr lang="en-US" altLang="zh-CN" sz="1400" b="1"/>
              <a:t> </a:t>
            </a:r>
            <a:r>
              <a:rPr lang="zh-CN" altLang="en-US" sz="1400" b="1"/>
              <a:t>（摘自</a:t>
            </a:r>
            <a:r>
              <a:rPr lang="en-US" altLang="zh-CN" sz="1400" b="1"/>
              <a:t>GB/T 1800.1—2020</a:t>
            </a:r>
            <a:r>
              <a:rPr lang="zh-CN" altLang="en-US" sz="1400"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bldLvl="0" animBg="1"/>
      <p:bldP spid="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19</a:t>
            </a:fld>
            <a:endParaRPr lang="en-US" altLang="zh-CN"/>
          </a:p>
        </p:txBody>
      </p:sp>
      <p:sp>
        <p:nvSpPr>
          <p:cNvPr id="3" name="Text Box 9"/>
          <p:cNvSpPr txBox="1">
            <a:spLocks noChangeArrowheads="1"/>
          </p:cNvSpPr>
          <p:nvPr/>
        </p:nvSpPr>
        <p:spPr bwMode="auto">
          <a:xfrm>
            <a:off x="611560" y="332656"/>
            <a:ext cx="7312025"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(2)  </a:t>
            </a:r>
            <a:r>
              <a:rPr lang="zh-CN" altLang="en-US" b="1" dirty="0">
                <a:solidFill>
                  <a:srgbClr val="FF0000"/>
                </a:solidFill>
              </a:rPr>
              <a:t>基本偏差</a:t>
            </a:r>
          </a:p>
        </p:txBody>
      </p:sp>
      <p:sp>
        <p:nvSpPr>
          <p:cNvPr id="5" name="Text Box 10"/>
          <p:cNvSpPr txBox="1">
            <a:spLocks noChangeArrowheads="1"/>
          </p:cNvSpPr>
          <p:nvPr/>
        </p:nvSpPr>
        <p:spPr bwMode="auto">
          <a:xfrm>
            <a:off x="683568" y="1052736"/>
            <a:ext cx="7848872" cy="97872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400" b="1" dirty="0" smtClean="0"/>
              <a:t>      国家标准</a:t>
            </a:r>
            <a:r>
              <a:rPr lang="zh-CN" altLang="en-US" sz="2400" b="1" dirty="0"/>
              <a:t>所规定的上极限偏差或下极限偏差，它一般为</a:t>
            </a:r>
            <a:r>
              <a:rPr lang="zh-CN" altLang="en-US" sz="2400" b="1" dirty="0">
                <a:solidFill>
                  <a:srgbClr val="FF0000"/>
                </a:solidFill>
              </a:rPr>
              <a:t>靠近零线</a:t>
            </a:r>
            <a:r>
              <a:rPr lang="zh-CN" altLang="en-US" sz="2400" b="1" dirty="0"/>
              <a:t>或</a:t>
            </a:r>
            <a:r>
              <a:rPr lang="zh-CN" altLang="en-US" sz="2400" b="1" dirty="0">
                <a:solidFill>
                  <a:srgbClr val="FF0000"/>
                </a:solidFill>
              </a:rPr>
              <a:t>位于零线</a:t>
            </a:r>
            <a:r>
              <a:rPr lang="zh-CN" altLang="en-US" sz="2400" b="1" dirty="0"/>
              <a:t>的那个极限偏差。</a:t>
            </a:r>
          </a:p>
        </p:txBody>
      </p:sp>
      <p:grpSp>
        <p:nvGrpSpPr>
          <p:cNvPr id="6" name="Group 26"/>
          <p:cNvGrpSpPr/>
          <p:nvPr/>
        </p:nvGrpSpPr>
        <p:grpSpPr bwMode="auto">
          <a:xfrm>
            <a:off x="972195" y="2725728"/>
            <a:ext cx="2328862" cy="3311525"/>
            <a:chOff x="1337" y="2137"/>
            <a:chExt cx="1467" cy="2086"/>
          </a:xfrm>
        </p:grpSpPr>
        <p:sp>
          <p:nvSpPr>
            <p:cNvPr id="7" name="AutoShape 24"/>
            <p:cNvSpPr>
              <a:spLocks noChangeArrowheads="1"/>
            </p:cNvSpPr>
            <p:nvPr/>
          </p:nvSpPr>
          <p:spPr bwMode="auto">
            <a:xfrm>
              <a:off x="1337" y="3623"/>
              <a:ext cx="1296" cy="600"/>
            </a:xfrm>
            <a:prstGeom prst="wedgeRoundRectCallout">
              <a:avLst>
                <a:gd name="adj1" fmla="val 87722"/>
                <a:gd name="adj2" fmla="val -168310"/>
                <a:gd name="adj3" fmla="val 16667"/>
              </a:avLst>
            </a:prstGeom>
            <a:noFill/>
            <a:ln w="28575">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r>
                <a:rPr lang="zh-CN" altLang="en-US" sz="2400" b="1"/>
                <a:t>靠近零线</a:t>
              </a:r>
              <a:endParaRPr lang="en-US" altLang="zh-CN" sz="2400" b="1"/>
            </a:p>
            <a:p>
              <a:r>
                <a:rPr lang="zh-CN" altLang="en-US" sz="2400" b="1">
                  <a:solidFill>
                    <a:srgbClr val="FF0000"/>
                  </a:solidFill>
                </a:rPr>
                <a:t>基本偏差</a:t>
              </a:r>
            </a:p>
          </p:txBody>
        </p:sp>
        <p:sp>
          <p:nvSpPr>
            <p:cNvPr id="8" name="Line 25"/>
            <p:cNvSpPr>
              <a:spLocks noChangeShapeType="1"/>
            </p:cNvSpPr>
            <p:nvPr/>
          </p:nvSpPr>
          <p:spPr bwMode="auto">
            <a:xfrm flipV="1">
              <a:off x="2033" y="2137"/>
              <a:ext cx="771" cy="1475"/>
            </a:xfrm>
            <a:prstGeom prst="line">
              <a:avLst/>
            </a:prstGeom>
            <a:noFill/>
            <a:ln w="2857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9" name="组合 8"/>
          <p:cNvGrpSpPr/>
          <p:nvPr/>
        </p:nvGrpSpPr>
        <p:grpSpPr bwMode="auto">
          <a:xfrm>
            <a:off x="1789757" y="2071678"/>
            <a:ext cx="6670675" cy="3313113"/>
            <a:chOff x="3090302" y="2420590"/>
            <a:chExt cx="6671996" cy="3312665"/>
          </a:xfrm>
        </p:grpSpPr>
        <p:sp>
          <p:nvSpPr>
            <p:cNvPr id="10" name="Line 16"/>
            <p:cNvSpPr>
              <a:spLocks noChangeShapeType="1"/>
            </p:cNvSpPr>
            <p:nvPr/>
          </p:nvSpPr>
          <p:spPr bwMode="auto">
            <a:xfrm>
              <a:off x="5580112" y="3717578"/>
              <a:ext cx="0" cy="576263"/>
            </a:xfrm>
            <a:prstGeom prst="line">
              <a:avLst/>
            </a:prstGeom>
            <a:noFill/>
            <a:ln w="38100">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17"/>
            <p:cNvSpPr>
              <a:spLocks noChangeShapeType="1"/>
            </p:cNvSpPr>
            <p:nvPr/>
          </p:nvSpPr>
          <p:spPr bwMode="auto">
            <a:xfrm flipV="1">
              <a:off x="5076056" y="3069878"/>
              <a:ext cx="0" cy="649288"/>
            </a:xfrm>
            <a:prstGeom prst="line">
              <a:avLst/>
            </a:prstGeom>
            <a:noFill/>
            <a:ln w="28575">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Rectangle 11"/>
            <p:cNvSpPr>
              <a:spLocks noChangeArrowheads="1"/>
            </p:cNvSpPr>
            <p:nvPr/>
          </p:nvSpPr>
          <p:spPr bwMode="auto">
            <a:xfrm>
              <a:off x="4211960" y="2420590"/>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dirty="0"/>
                <a:t>公差带</a:t>
              </a:r>
            </a:p>
          </p:txBody>
        </p:sp>
        <p:sp>
          <p:nvSpPr>
            <p:cNvPr id="13" name="Rectangle 12"/>
            <p:cNvSpPr>
              <a:spLocks noChangeArrowheads="1"/>
            </p:cNvSpPr>
            <p:nvPr/>
          </p:nvSpPr>
          <p:spPr bwMode="auto">
            <a:xfrm>
              <a:off x="4703189" y="4293840"/>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sp>
          <p:nvSpPr>
            <p:cNvPr id="14" name="Line 13"/>
            <p:cNvSpPr>
              <a:spLocks noChangeShapeType="1"/>
            </p:cNvSpPr>
            <p:nvPr/>
          </p:nvSpPr>
          <p:spPr bwMode="auto">
            <a:xfrm>
              <a:off x="4085110" y="3717578"/>
              <a:ext cx="4231305" cy="1588"/>
            </a:xfrm>
            <a:prstGeom prst="line">
              <a:avLst/>
            </a:prstGeom>
            <a:noFill/>
            <a:ln w="28575">
              <a:solidFill>
                <a:srgbClr val="00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Text Box 14"/>
            <p:cNvSpPr txBox="1">
              <a:spLocks noChangeArrowheads="1"/>
            </p:cNvSpPr>
            <p:nvPr/>
          </p:nvSpPr>
          <p:spPr bwMode="auto">
            <a:xfrm rot="-5400000">
              <a:off x="3464755" y="3324386"/>
              <a:ext cx="858838" cy="63557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- 0 +</a:t>
              </a:r>
            </a:p>
          </p:txBody>
        </p:sp>
        <p:sp>
          <p:nvSpPr>
            <p:cNvPr id="16" name="Text Box 18"/>
            <p:cNvSpPr txBox="1">
              <a:spLocks noChangeArrowheads="1"/>
            </p:cNvSpPr>
            <p:nvPr/>
          </p:nvSpPr>
          <p:spPr bwMode="auto">
            <a:xfrm>
              <a:off x="7703609" y="3255367"/>
              <a:ext cx="1225614"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EI</a:t>
              </a:r>
              <a:r>
                <a:rPr lang="zh-CN" altLang="en-US" sz="2400" b="1"/>
                <a:t>、</a:t>
              </a:r>
              <a:r>
                <a:rPr lang="en-US" altLang="zh-CN" sz="2400" b="1"/>
                <a:t>ei</a:t>
              </a:r>
            </a:p>
          </p:txBody>
        </p:sp>
        <p:sp>
          <p:nvSpPr>
            <p:cNvPr id="17" name="Text Box 19"/>
            <p:cNvSpPr txBox="1">
              <a:spLocks noChangeArrowheads="1"/>
            </p:cNvSpPr>
            <p:nvPr/>
          </p:nvSpPr>
          <p:spPr bwMode="auto">
            <a:xfrm>
              <a:off x="4283968" y="3873895"/>
              <a:ext cx="1589898"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ES</a:t>
              </a:r>
              <a:r>
                <a:rPr lang="zh-CN" altLang="en-US" sz="2400" b="1"/>
                <a:t>、</a:t>
              </a:r>
              <a:r>
                <a:rPr lang="en-US" altLang="zh-CN" sz="2400" b="1"/>
                <a:t>es</a:t>
              </a:r>
            </a:p>
          </p:txBody>
        </p:sp>
        <p:sp>
          <p:nvSpPr>
            <p:cNvPr id="18" name="Line 20"/>
            <p:cNvSpPr>
              <a:spLocks noChangeShapeType="1"/>
            </p:cNvSpPr>
            <p:nvPr/>
          </p:nvSpPr>
          <p:spPr bwMode="auto">
            <a:xfrm rot="10800000">
              <a:off x="4211961" y="3717578"/>
              <a:ext cx="0" cy="1484313"/>
            </a:xfrm>
            <a:prstGeom prst="line">
              <a:avLst/>
            </a:prstGeom>
            <a:noFill/>
            <a:ln w="28575">
              <a:solidFill>
                <a:srgbClr val="00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Text Box 21"/>
            <p:cNvSpPr txBox="1">
              <a:spLocks noChangeArrowheads="1"/>
            </p:cNvSpPr>
            <p:nvPr/>
          </p:nvSpPr>
          <p:spPr bwMode="auto">
            <a:xfrm rot="-5400000">
              <a:off x="3039551" y="4618185"/>
              <a:ext cx="1768475"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400" b="1"/>
                <a:t>公称尺寸</a:t>
              </a:r>
            </a:p>
          </p:txBody>
        </p:sp>
        <p:sp>
          <p:nvSpPr>
            <p:cNvPr id="20" name="Rectangle 11"/>
            <p:cNvSpPr>
              <a:spLocks noChangeArrowheads="1"/>
            </p:cNvSpPr>
            <p:nvPr/>
          </p:nvSpPr>
          <p:spPr bwMode="auto">
            <a:xfrm>
              <a:off x="6071341" y="3069332"/>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sp>
          <p:nvSpPr>
            <p:cNvPr id="21" name="Rectangle 11"/>
            <p:cNvSpPr>
              <a:spLocks noChangeArrowheads="1"/>
            </p:cNvSpPr>
            <p:nvPr/>
          </p:nvSpPr>
          <p:spPr bwMode="auto">
            <a:xfrm>
              <a:off x="6516216" y="3717032"/>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sp>
          <p:nvSpPr>
            <p:cNvPr id="22" name="Text Box 19"/>
            <p:cNvSpPr txBox="1">
              <a:spLocks noChangeArrowheads="1"/>
            </p:cNvSpPr>
            <p:nvPr/>
          </p:nvSpPr>
          <p:spPr bwMode="auto">
            <a:xfrm>
              <a:off x="8172400" y="3759423"/>
              <a:ext cx="1589898"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ES</a:t>
              </a:r>
              <a:r>
                <a:rPr lang="zh-CN" altLang="en-US" sz="2400" b="1"/>
                <a:t>、</a:t>
              </a:r>
              <a:r>
                <a:rPr lang="en-US" altLang="zh-CN" sz="2400" b="1"/>
                <a:t>es</a:t>
              </a:r>
            </a:p>
          </p:txBody>
        </p:sp>
        <p:sp>
          <p:nvSpPr>
            <p:cNvPr id="23" name="Text Box 18"/>
            <p:cNvSpPr txBox="1">
              <a:spLocks noChangeArrowheads="1"/>
            </p:cNvSpPr>
            <p:nvPr/>
          </p:nvSpPr>
          <p:spPr bwMode="auto">
            <a:xfrm>
              <a:off x="3090302" y="2679303"/>
              <a:ext cx="1225614"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EI</a:t>
              </a:r>
              <a:r>
                <a:rPr lang="zh-CN" altLang="en-US" sz="2400" b="1"/>
                <a:t>、</a:t>
              </a:r>
              <a:r>
                <a:rPr lang="en-US" altLang="zh-CN" sz="2400" b="1"/>
                <a:t>ei</a:t>
              </a:r>
            </a:p>
          </p:txBody>
        </p:sp>
        <p:cxnSp>
          <p:nvCxnSpPr>
            <p:cNvPr id="24" name="直接连接符 26"/>
            <p:cNvCxnSpPr>
              <a:cxnSpLocks noChangeShapeType="1"/>
            </p:cNvCxnSpPr>
            <p:nvPr/>
          </p:nvCxnSpPr>
          <p:spPr bwMode="auto">
            <a:xfrm>
              <a:off x="6071341" y="3719166"/>
              <a:ext cx="2041878" cy="0"/>
            </a:xfrm>
            <a:prstGeom prst="line">
              <a:avLst/>
            </a:prstGeom>
            <a:noFill/>
            <a:ln w="57150" algn="ctr">
              <a:solidFill>
                <a:srgbClr val="C0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cxnSp>
        <p:sp>
          <p:nvSpPr>
            <p:cNvPr id="2" name="Rectangle 11"/>
            <p:cNvSpPr>
              <a:spLocks noChangeArrowheads="1"/>
            </p:cNvSpPr>
            <p:nvPr/>
          </p:nvSpPr>
          <p:spPr bwMode="auto">
            <a:xfrm>
              <a:off x="4211960" y="2424399"/>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dirty="0"/>
                <a:t>公差带</a:t>
              </a:r>
            </a:p>
          </p:txBody>
        </p:sp>
        <p:sp>
          <p:nvSpPr>
            <p:cNvPr id="26" name="Rectangle 12"/>
            <p:cNvSpPr>
              <a:spLocks noChangeArrowheads="1"/>
            </p:cNvSpPr>
            <p:nvPr/>
          </p:nvSpPr>
          <p:spPr bwMode="auto">
            <a:xfrm>
              <a:off x="4703189" y="4297649"/>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sp>
          <p:nvSpPr>
            <p:cNvPr id="27" name="Rectangle 11"/>
            <p:cNvSpPr>
              <a:spLocks noChangeArrowheads="1"/>
            </p:cNvSpPr>
            <p:nvPr/>
          </p:nvSpPr>
          <p:spPr bwMode="auto">
            <a:xfrm>
              <a:off x="6071341" y="3073141"/>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sp>
          <p:nvSpPr>
            <p:cNvPr id="28" name="Rectangle 11"/>
            <p:cNvSpPr>
              <a:spLocks noChangeArrowheads="1"/>
            </p:cNvSpPr>
            <p:nvPr/>
          </p:nvSpPr>
          <p:spPr bwMode="auto">
            <a:xfrm>
              <a:off x="6516216" y="3720841"/>
              <a:ext cx="1597003" cy="647700"/>
            </a:xfrm>
            <a:prstGeom prst="rect">
              <a:avLst/>
            </a:prstGeom>
            <a:noFill/>
            <a:ln w="38100">
              <a:solidFill>
                <a:srgbClr val="00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zh-CN" altLang="en-US" b="1"/>
                <a:t>公差带</a:t>
              </a:r>
            </a:p>
          </p:txBody>
        </p:sp>
      </p:grpSp>
      <p:sp>
        <p:nvSpPr>
          <p:cNvPr id="25" name="AutoShape 24"/>
          <p:cNvSpPr>
            <a:spLocks noChangeArrowheads="1"/>
          </p:cNvSpPr>
          <p:nvPr/>
        </p:nvSpPr>
        <p:spPr bwMode="auto">
          <a:xfrm>
            <a:off x="4324995" y="5240328"/>
            <a:ext cx="2057400" cy="952500"/>
          </a:xfrm>
          <a:prstGeom prst="wedgeRoundRectCallout">
            <a:avLst>
              <a:gd name="adj1" fmla="val 35639"/>
              <a:gd name="adj2" fmla="val -234310"/>
              <a:gd name="adj3" fmla="val 16667"/>
            </a:avLst>
          </a:prstGeom>
          <a:noFill/>
          <a:ln w="28575">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r>
              <a:rPr lang="zh-CN" altLang="en-US" sz="2400" b="1"/>
              <a:t>位于零线</a:t>
            </a:r>
            <a:endParaRPr lang="en-US" altLang="zh-CN" sz="2400" b="1"/>
          </a:p>
          <a:p>
            <a:r>
              <a:rPr lang="zh-CN" altLang="en-US" sz="2400" b="1">
                <a:solidFill>
                  <a:srgbClr val="FF0000"/>
                </a:solidFill>
              </a:rPr>
              <a:t>基本偏差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3750" fill="hold"/>
                                        <p:tgtEl>
                                          <p:spTgt spid="9"/>
                                        </p:tgtEl>
                                        <p:attrNameLst>
                                          <p:attrName>ppt_x</p:attrName>
                                        </p:attrNameLst>
                                      </p:cBhvr>
                                      <p:tavLst>
                                        <p:tav tm="0">
                                          <p:val>
                                            <p:strVal val="#ppt_x"/>
                                          </p:val>
                                        </p:tav>
                                        <p:tav tm="100000">
                                          <p:val>
                                            <p:strVal val="#ppt_x"/>
                                          </p:val>
                                        </p:tav>
                                      </p:tavLst>
                                    </p:anim>
                                    <p:anim calcmode="lin" valueType="num">
                                      <p:cBhvr additive="base">
                                        <p:cTn id="18" dur="37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325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37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20</a:t>
            </a:fld>
            <a:endParaRPr lang="en-US" altLang="zh-CN"/>
          </a:p>
        </p:txBody>
      </p:sp>
      <p:sp>
        <p:nvSpPr>
          <p:cNvPr id="5" name="Text Box 2"/>
          <p:cNvSpPr txBox="1">
            <a:spLocks noChangeArrowheads="1"/>
          </p:cNvSpPr>
          <p:nvPr/>
        </p:nvSpPr>
        <p:spPr bwMode="auto">
          <a:xfrm>
            <a:off x="395536" y="323945"/>
            <a:ext cx="713105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   4. </a:t>
            </a:r>
            <a:r>
              <a:rPr lang="zh-CN" altLang="en-US" sz="3200" b="1" dirty="0">
                <a:latin typeface="宋体" panose="02010600030101010101" pitchFamily="2" charset="-122"/>
              </a:rPr>
              <a:t>有关配合的术语和定义</a:t>
            </a:r>
            <a:r>
              <a:rPr lang="zh-CN" altLang="en-US" sz="3200" b="1" dirty="0"/>
              <a:t> </a:t>
            </a:r>
          </a:p>
        </p:txBody>
      </p:sp>
      <p:sp>
        <p:nvSpPr>
          <p:cNvPr id="6" name="Text Box 3"/>
          <p:cNvSpPr txBox="1">
            <a:spLocks noChangeArrowheads="1"/>
          </p:cNvSpPr>
          <p:nvPr/>
        </p:nvSpPr>
        <p:spPr bwMode="auto">
          <a:xfrm>
            <a:off x="611560" y="1084308"/>
            <a:ext cx="8136904" cy="11302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50000"/>
              </a:lnSpc>
              <a:spcBef>
                <a:spcPct val="50000"/>
              </a:spcBef>
            </a:pPr>
            <a:r>
              <a:rPr lang="en-US" altLang="zh-CN" sz="2400" b="1" dirty="0"/>
              <a:t>  (1) </a:t>
            </a:r>
            <a:r>
              <a:rPr lang="zh-CN" altLang="en-US" sz="2400" b="1" dirty="0">
                <a:latin typeface="宋体" panose="02010600030101010101" pitchFamily="2" charset="-122"/>
              </a:rPr>
              <a:t>配合</a:t>
            </a:r>
            <a:r>
              <a:rPr lang="en-US" altLang="zh-CN" sz="2400" b="1" dirty="0" smtClean="0"/>
              <a:t>—</a:t>
            </a:r>
            <a:r>
              <a:rPr lang="zh-CN" altLang="en-US" sz="2400" b="1" dirty="0" smtClean="0"/>
              <a:t>是指</a:t>
            </a:r>
            <a:r>
              <a:rPr lang="zh-CN" altLang="en-US" sz="2400" b="1" dirty="0" smtClean="0">
                <a:solidFill>
                  <a:srgbClr val="FF0000"/>
                </a:solidFill>
              </a:rPr>
              <a:t>公称尺寸相同</a:t>
            </a:r>
            <a:r>
              <a:rPr lang="zh-CN" altLang="en-US" sz="2400" b="1" dirty="0" smtClean="0"/>
              <a:t>的，相互结合的孔和轴</a:t>
            </a:r>
            <a:r>
              <a:rPr lang="zh-CN" altLang="en-US" sz="2400" b="1" dirty="0" smtClean="0">
                <a:solidFill>
                  <a:srgbClr val="FF0000"/>
                </a:solidFill>
              </a:rPr>
              <a:t>公差带之间的关系</a:t>
            </a:r>
            <a:r>
              <a:rPr lang="zh-CN" altLang="en-US" sz="2400" b="1" dirty="0" smtClean="0"/>
              <a:t>。 </a:t>
            </a:r>
            <a:r>
              <a:rPr lang="en-US" altLang="zh-CN" sz="2400" b="1" dirty="0" smtClean="0"/>
              <a:t> </a:t>
            </a:r>
            <a:endParaRPr lang="en-US" altLang="zh-CN" sz="2400" b="1" dirty="0"/>
          </a:p>
        </p:txBody>
      </p:sp>
      <p:sp>
        <p:nvSpPr>
          <p:cNvPr id="7" name="Text Box 4"/>
          <p:cNvSpPr txBox="1">
            <a:spLocks noChangeArrowheads="1"/>
          </p:cNvSpPr>
          <p:nvPr/>
        </p:nvSpPr>
        <p:spPr bwMode="auto">
          <a:xfrm>
            <a:off x="2915816" y="1052736"/>
            <a:ext cx="7315200" cy="5642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b="1" dirty="0"/>
              <a:t>       </a:t>
            </a:r>
            <a:endParaRPr lang="zh-CN" altLang="en-US" b="1" dirty="0"/>
          </a:p>
        </p:txBody>
      </p:sp>
      <p:sp>
        <p:nvSpPr>
          <p:cNvPr id="8" name="Line 55"/>
          <p:cNvSpPr>
            <a:spLocks noChangeShapeType="1"/>
          </p:cNvSpPr>
          <p:nvPr/>
        </p:nvSpPr>
        <p:spPr bwMode="auto">
          <a:xfrm>
            <a:off x="2895600" y="3847772"/>
            <a:ext cx="0" cy="1295400"/>
          </a:xfrm>
          <a:prstGeom prst="line">
            <a:avLst/>
          </a:prstGeom>
          <a:noFill/>
          <a:ln w="38100">
            <a:solidFill>
              <a:srgbClr val="FF00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3" name="Group 66"/>
          <p:cNvGrpSpPr/>
          <p:nvPr/>
        </p:nvGrpSpPr>
        <p:grpSpPr bwMode="auto">
          <a:xfrm>
            <a:off x="801979" y="2643177"/>
            <a:ext cx="4786346" cy="3733831"/>
            <a:chOff x="395" y="1632"/>
            <a:chExt cx="3120" cy="2471"/>
          </a:xfrm>
        </p:grpSpPr>
        <p:pic>
          <p:nvPicPr>
            <p:cNvPr id="14" name="Picture 5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95" y="1632"/>
              <a:ext cx="3120" cy="24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5" name="Text Box 64"/>
            <p:cNvSpPr txBox="1">
              <a:spLocks noChangeArrowheads="1"/>
            </p:cNvSpPr>
            <p:nvPr/>
          </p:nvSpPr>
          <p:spPr bwMode="auto">
            <a:xfrm rot="16200000">
              <a:off x="119" y="3390"/>
              <a:ext cx="862" cy="250"/>
            </a:xfrm>
            <a:prstGeom prst="rect">
              <a:avLst/>
            </a:prstGeom>
            <a:solidFill>
              <a:schemeClr val="bg1"/>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b="1" dirty="0"/>
                <a:t>公称尺寸</a:t>
              </a:r>
            </a:p>
          </p:txBody>
        </p:sp>
      </p:grpSp>
      <p:pic>
        <p:nvPicPr>
          <p:cNvPr id="16" name="Picture 1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787490" y="1928802"/>
            <a:ext cx="2228850" cy="1533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prstDash val="solid"/>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pic>
      <p:grpSp>
        <p:nvGrpSpPr>
          <p:cNvPr id="17" name="Group 59"/>
          <p:cNvGrpSpPr/>
          <p:nvPr/>
        </p:nvGrpSpPr>
        <p:grpSpPr bwMode="auto">
          <a:xfrm>
            <a:off x="3929058" y="2071678"/>
            <a:ext cx="3581400" cy="1800226"/>
            <a:chOff x="2544" y="1314"/>
            <a:chExt cx="2256" cy="1134"/>
          </a:xfrm>
        </p:grpSpPr>
        <p:sp>
          <p:nvSpPr>
            <p:cNvPr id="18" name="Line 56"/>
            <p:cNvSpPr>
              <a:spLocks noChangeShapeType="1"/>
            </p:cNvSpPr>
            <p:nvPr/>
          </p:nvSpPr>
          <p:spPr bwMode="auto">
            <a:xfrm>
              <a:off x="2544" y="2448"/>
              <a:ext cx="2256" cy="0"/>
            </a:xfrm>
            <a:prstGeom prst="line">
              <a:avLst/>
            </a:prstGeom>
            <a:noFill/>
            <a:ln w="28575">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58"/>
            <p:cNvSpPr>
              <a:spLocks noChangeShapeType="1"/>
            </p:cNvSpPr>
            <p:nvPr/>
          </p:nvSpPr>
          <p:spPr bwMode="auto">
            <a:xfrm>
              <a:off x="4140" y="1314"/>
              <a:ext cx="0" cy="1134"/>
            </a:xfrm>
            <a:prstGeom prst="line">
              <a:avLst/>
            </a:prstGeom>
            <a:noFill/>
            <a:ln w="28575">
              <a:solidFill>
                <a:srgbClr val="FF00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ppt_y-#ppt_h/2"/>
                                          </p:val>
                                        </p:tav>
                                        <p:tav tm="100000">
                                          <p:val>
                                            <p:strVal val="#ppt_y"/>
                                          </p:val>
                                        </p:tav>
                                      </p:tavLst>
                                    </p:anim>
                                    <p:anim calcmode="lin" valueType="num">
                                      <p:cBhvr>
                                        <p:cTn id="30" dur="500" fill="hold"/>
                                        <p:tgtEl>
                                          <p:spTgt spid="8"/>
                                        </p:tgtEl>
                                        <p:attrNameLst>
                                          <p:attrName>ppt_w</p:attrName>
                                        </p:attrNameLst>
                                      </p:cBhvr>
                                      <p:tavLst>
                                        <p:tav tm="0">
                                          <p:val>
                                            <p:strVal val="#ppt_w"/>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down)">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21</a:t>
            </a:fld>
            <a:endParaRPr lang="en-US" altLang="zh-CN"/>
          </a:p>
        </p:txBody>
      </p:sp>
      <p:sp>
        <p:nvSpPr>
          <p:cNvPr id="5" name="Text Box 4"/>
          <p:cNvSpPr txBox="1">
            <a:spLocks noChangeArrowheads="1"/>
          </p:cNvSpPr>
          <p:nvPr/>
        </p:nvSpPr>
        <p:spPr bwMode="auto">
          <a:xfrm>
            <a:off x="1162024" y="4349766"/>
            <a:ext cx="42164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a:t>
            </a:r>
            <a:r>
              <a:rPr lang="en-US" altLang="zh-CN" sz="2400" b="1" dirty="0">
                <a:latin typeface="宋体" panose="02010600030101010101" pitchFamily="2" charset="-122"/>
              </a:rPr>
              <a:t>3</a:t>
            </a:r>
            <a:r>
              <a:rPr lang="en-US" altLang="zh-CN" sz="2400" b="1" dirty="0"/>
              <a:t>) </a:t>
            </a:r>
            <a:r>
              <a:rPr lang="zh-CN" altLang="en-US" sz="2400" b="1" dirty="0">
                <a:latin typeface="宋体" panose="02010600030101010101" pitchFamily="2" charset="-122"/>
              </a:rPr>
              <a:t>配合的分类</a:t>
            </a:r>
            <a:r>
              <a:rPr lang="zh-CN" altLang="en-US" sz="2400" b="1" dirty="0"/>
              <a:t> </a:t>
            </a:r>
          </a:p>
        </p:txBody>
      </p:sp>
      <p:sp>
        <p:nvSpPr>
          <p:cNvPr id="6" name="Text Box 5"/>
          <p:cNvSpPr txBox="1">
            <a:spLocks noChangeArrowheads="1"/>
          </p:cNvSpPr>
          <p:nvPr/>
        </p:nvSpPr>
        <p:spPr bwMode="auto">
          <a:xfrm>
            <a:off x="1036657" y="1071546"/>
            <a:ext cx="63214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  (2) </a:t>
            </a:r>
            <a:r>
              <a:rPr lang="zh-CN" altLang="en-US" sz="2400" b="1" dirty="0">
                <a:latin typeface="宋体" panose="02010600030101010101" pitchFamily="2" charset="-122"/>
              </a:rPr>
              <a:t>间隙或过盈</a:t>
            </a:r>
            <a:r>
              <a:rPr lang="zh-CN" altLang="en-US" sz="2400" b="1" dirty="0"/>
              <a:t> </a:t>
            </a:r>
          </a:p>
        </p:txBody>
      </p:sp>
      <p:sp>
        <p:nvSpPr>
          <p:cNvPr id="7" name="Text Box 6"/>
          <p:cNvSpPr txBox="1">
            <a:spLocks noChangeArrowheads="1"/>
          </p:cNvSpPr>
          <p:nvPr/>
        </p:nvSpPr>
        <p:spPr bwMode="auto">
          <a:xfrm>
            <a:off x="1390624" y="1857364"/>
            <a:ext cx="413226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dirty="0"/>
              <a:t>X </a:t>
            </a:r>
            <a:r>
              <a:rPr lang="en-US" altLang="zh-CN" sz="2400" b="1" dirty="0"/>
              <a:t>= </a:t>
            </a:r>
            <a:r>
              <a:rPr lang="en-US" altLang="zh-CN" sz="2400" b="1" i="1" dirty="0"/>
              <a:t>D </a:t>
            </a:r>
            <a:r>
              <a:rPr lang="en-US" altLang="zh-CN" sz="2400" b="1" i="1" dirty="0">
                <a:cs typeface="Times New Roman" panose="02020603050405020304" pitchFamily="18" charset="0"/>
              </a:rPr>
              <a:t>— </a:t>
            </a:r>
            <a:r>
              <a:rPr lang="en-US" altLang="zh-CN" sz="2400" b="1" i="1" dirty="0"/>
              <a:t>d  </a:t>
            </a:r>
            <a:r>
              <a:rPr lang="en-US" altLang="zh-CN" sz="2400" b="1" dirty="0">
                <a:latin typeface="宋体" panose="02010600030101010101" pitchFamily="2" charset="-122"/>
                <a:sym typeface="Symbol" panose="05050102010706020507" pitchFamily="18" charset="2"/>
              </a:rPr>
              <a:t>≥ </a:t>
            </a:r>
            <a:r>
              <a:rPr lang="en-US" altLang="zh-CN" sz="2400" b="1" dirty="0">
                <a:sym typeface="Symbol" panose="05050102010706020507" pitchFamily="18" charset="2"/>
              </a:rPr>
              <a:t> 0</a:t>
            </a:r>
          </a:p>
        </p:txBody>
      </p:sp>
      <p:sp>
        <p:nvSpPr>
          <p:cNvPr id="8" name="Text Box 7"/>
          <p:cNvSpPr txBox="1">
            <a:spLocks noChangeArrowheads="1"/>
          </p:cNvSpPr>
          <p:nvPr/>
        </p:nvSpPr>
        <p:spPr bwMode="auto">
          <a:xfrm>
            <a:off x="1390624" y="2643182"/>
            <a:ext cx="42767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a:sym typeface="Symbol" panose="05050102010706020507" pitchFamily="18" charset="2"/>
              </a:rPr>
              <a:t>Y </a:t>
            </a:r>
            <a:r>
              <a:rPr lang="en-US" altLang="zh-CN" sz="2400" b="1">
                <a:sym typeface="Symbol" panose="05050102010706020507" pitchFamily="18" charset="2"/>
              </a:rPr>
              <a:t>= </a:t>
            </a:r>
            <a:r>
              <a:rPr lang="en-US" altLang="zh-CN" sz="2400" b="1" i="1">
                <a:sym typeface="Symbol" panose="05050102010706020507" pitchFamily="18" charset="2"/>
              </a:rPr>
              <a:t>D </a:t>
            </a:r>
            <a:r>
              <a:rPr lang="en-US" altLang="zh-CN" sz="2400" b="1" i="1">
                <a:cs typeface="Times New Roman" panose="02020603050405020304" pitchFamily="18" charset="0"/>
                <a:sym typeface="Symbol" panose="05050102010706020507" pitchFamily="18" charset="2"/>
              </a:rPr>
              <a:t>— </a:t>
            </a:r>
            <a:r>
              <a:rPr lang="en-US" altLang="zh-CN" sz="2400" b="1" i="1">
                <a:sym typeface="Symbol" panose="05050102010706020507" pitchFamily="18" charset="2"/>
              </a:rPr>
              <a:t>d </a:t>
            </a:r>
            <a:r>
              <a:rPr lang="en-US" altLang="zh-CN" sz="2400" b="1">
                <a:latin typeface="宋体" panose="02010600030101010101" pitchFamily="2" charset="-122"/>
                <a:sym typeface="Symbol" panose="05050102010706020507" pitchFamily="18" charset="2"/>
              </a:rPr>
              <a:t>≤ </a:t>
            </a:r>
            <a:r>
              <a:rPr lang="en-US" altLang="zh-CN" sz="2400" b="1">
                <a:sym typeface="Symbol" panose="05050102010706020507" pitchFamily="18" charset="2"/>
              </a:rPr>
              <a:t> 0</a:t>
            </a:r>
          </a:p>
        </p:txBody>
      </p:sp>
      <p:sp>
        <p:nvSpPr>
          <p:cNvPr id="9" name="AutoShape 10"/>
          <p:cNvSpPr/>
          <p:nvPr/>
        </p:nvSpPr>
        <p:spPr bwMode="auto">
          <a:xfrm>
            <a:off x="4618012" y="3759216"/>
            <a:ext cx="328612" cy="1808163"/>
          </a:xfrm>
          <a:prstGeom prst="leftBrace">
            <a:avLst>
              <a:gd name="adj1" fmla="val 45854"/>
              <a:gd name="adj2" fmla="val 50000"/>
            </a:avLst>
          </a:prstGeom>
          <a:noFill/>
          <a:ln w="28575">
            <a:solidFill>
              <a:schemeClr val="tx1"/>
            </a:solidFill>
            <a:rou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 name="Text Box 11"/>
          <p:cNvSpPr txBox="1">
            <a:spLocks noChangeArrowheads="1"/>
          </p:cNvSpPr>
          <p:nvPr/>
        </p:nvSpPr>
        <p:spPr bwMode="auto">
          <a:xfrm>
            <a:off x="5151412" y="3454416"/>
            <a:ext cx="26035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间隙配合</a:t>
            </a:r>
          </a:p>
        </p:txBody>
      </p:sp>
      <p:sp>
        <p:nvSpPr>
          <p:cNvPr id="11" name="Text Box 12"/>
          <p:cNvSpPr txBox="1">
            <a:spLocks noChangeArrowheads="1"/>
          </p:cNvSpPr>
          <p:nvPr/>
        </p:nvSpPr>
        <p:spPr bwMode="auto">
          <a:xfrm>
            <a:off x="5151412" y="4320000"/>
            <a:ext cx="28194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过盈配合</a:t>
            </a:r>
          </a:p>
        </p:txBody>
      </p:sp>
      <p:sp>
        <p:nvSpPr>
          <p:cNvPr id="12" name="Rectangle 13"/>
          <p:cNvSpPr>
            <a:spLocks noChangeArrowheads="1"/>
          </p:cNvSpPr>
          <p:nvPr/>
        </p:nvSpPr>
        <p:spPr bwMode="auto">
          <a:xfrm>
            <a:off x="5148064" y="5135579"/>
            <a:ext cx="28924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t>过渡配合</a:t>
            </a:r>
          </a:p>
        </p:txBody>
      </p:sp>
      <p:sp>
        <p:nvSpPr>
          <p:cNvPr id="13" name="Rectangle 8"/>
          <p:cNvSpPr>
            <a:spLocks noChangeArrowheads="1"/>
          </p:cNvSpPr>
          <p:nvPr/>
        </p:nvSpPr>
        <p:spPr bwMode="auto">
          <a:xfrm>
            <a:off x="4872013" y="1857364"/>
            <a:ext cx="178822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400" b="1" dirty="0">
                <a:sym typeface="Symbol" panose="05050102010706020507" pitchFamily="18" charset="2"/>
              </a:rPr>
              <a:t>称</a:t>
            </a:r>
            <a:r>
              <a:rPr lang="zh-CN" altLang="en-US" sz="2400" b="1" dirty="0">
                <a:solidFill>
                  <a:srgbClr val="FF0000"/>
                </a:solidFill>
                <a:effectLst>
                  <a:outerShdw blurRad="38100" dist="38100" dir="2700000" algn="tl">
                    <a:srgbClr val="000000">
                      <a:alpha val="43137"/>
                    </a:srgbClr>
                  </a:outerShdw>
                </a:effectLst>
                <a:sym typeface="Symbol" panose="05050102010706020507" pitchFamily="18" charset="2"/>
              </a:rPr>
              <a:t>间隙</a:t>
            </a:r>
          </a:p>
        </p:txBody>
      </p:sp>
      <p:sp>
        <p:nvSpPr>
          <p:cNvPr id="14" name="Rectangle 9"/>
          <p:cNvSpPr>
            <a:spLocks noChangeArrowheads="1"/>
          </p:cNvSpPr>
          <p:nvPr/>
        </p:nvSpPr>
        <p:spPr bwMode="auto">
          <a:xfrm>
            <a:off x="4870424" y="2644769"/>
            <a:ext cx="178980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zh-CN" altLang="en-US" sz="2400" b="1" dirty="0">
                <a:effectLst>
                  <a:outerShdw blurRad="38100" dist="38100" dir="2700000" algn="tl">
                    <a:srgbClr val="C0C0C0"/>
                  </a:outerShdw>
                </a:effectLst>
                <a:sym typeface="Symbol" panose="05050102010706020507" pitchFamily="18" charset="2"/>
              </a:rPr>
              <a:t>称</a:t>
            </a:r>
            <a:r>
              <a:rPr lang="zh-CN" altLang="en-US" sz="2400" b="1" dirty="0">
                <a:solidFill>
                  <a:srgbClr val="FF0000"/>
                </a:solidFill>
                <a:effectLst>
                  <a:outerShdw blurRad="38100" dist="38100" dir="2700000" algn="tl">
                    <a:srgbClr val="C0C0C0"/>
                  </a:outerShdw>
                </a:effectLst>
                <a:sym typeface="Symbol" panose="05050102010706020507" pitchFamily="18" charset="2"/>
              </a:rPr>
              <a:t>过盈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
                                        </p:tgtEl>
                                        <p:attrNameLst>
                                          <p:attrName>style.visibility</p:attrName>
                                        </p:attrNameLst>
                                      </p:cBhvr>
                                      <p:to>
                                        <p:strVal val="visible"/>
                                      </p:to>
                                    </p:set>
                                    <p:animEffect transition="in" filter="wipe(left)">
                                      <p:cBhvr>
                                        <p:cTn id="12" dur="3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
                                        </p:tgtEl>
                                        <p:attrNameLst>
                                          <p:attrName>style.visibility</p:attrName>
                                        </p:attrNameLst>
                                      </p:cBhvr>
                                      <p:to>
                                        <p:strVal val="visible"/>
                                      </p:to>
                                    </p:set>
                                    <p:animEffect transition="in" filter="wipe(left)">
                                      <p:cBhvr>
                                        <p:cTn id="17" dur="3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3"/>
                                        </p:tgtEl>
                                        <p:attrNameLst>
                                          <p:attrName>style.visibility</p:attrName>
                                        </p:attrNameLst>
                                      </p:cBhvr>
                                      <p:to>
                                        <p:strVal val="visible"/>
                                      </p:to>
                                    </p:set>
                                    <p:animEffect transition="in" filter="wipe(left)">
                                      <p:cBhvr>
                                        <p:cTn id="22" dur="3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4"/>
                                        </p:tgtEl>
                                        <p:attrNameLst>
                                          <p:attrName>style.visibility</p:attrName>
                                        </p:attrNameLst>
                                      </p:cBhvr>
                                      <p:to>
                                        <p:strVal val="visible"/>
                                      </p:to>
                                    </p:set>
                                    <p:animEffect transition="in" filter="wipe(left)">
                                      <p:cBhvr>
                                        <p:cTn id="27" dur="3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5"/>
                                        </p:tgtEl>
                                        <p:attrNameLst>
                                          <p:attrName>style.visibility</p:attrName>
                                        </p:attrNameLst>
                                      </p:cBhvr>
                                      <p:to>
                                        <p:strVal val="visible"/>
                                      </p:to>
                                    </p:set>
                                    <p:animEffect transition="in" filter="wipe(left)">
                                      <p:cBhvr>
                                        <p:cTn id="32" dur="3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0"/>
                                        </p:tgtEl>
                                        <p:attrNameLst>
                                          <p:attrName>style.visibility</p:attrName>
                                        </p:attrNameLst>
                                      </p:cBhvr>
                                      <p:to>
                                        <p:strVal val="visible"/>
                                      </p:to>
                                    </p:set>
                                    <p:animEffect transition="in" filter="wipe(left)">
                                      <p:cBhvr>
                                        <p:cTn id="42" dur="3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1"/>
                                        </p:tgtEl>
                                        <p:attrNameLst>
                                          <p:attrName>style.visibility</p:attrName>
                                        </p:attrNameLst>
                                      </p:cBhvr>
                                      <p:to>
                                        <p:strVal val="visible"/>
                                      </p:to>
                                    </p:set>
                                    <p:animEffect transition="in" filter="wipe(left)">
                                      <p:cBhvr>
                                        <p:cTn id="47" dur="3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12"/>
                                        </p:tgtEl>
                                        <p:attrNameLst>
                                          <p:attrName>style.visibility</p:attrName>
                                        </p:attrNameLst>
                                      </p:cBhvr>
                                      <p:to>
                                        <p:strVal val="visible"/>
                                      </p:to>
                                    </p:set>
                                    <p:animEffect transition="in" filter="wipe(left)">
                                      <p:cBhvr>
                                        <p:cTn id="52"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P spid="9" grpId="0" animBg="1"/>
      <p:bldP spid="10" grpId="0" autoUpdateAnimBg="0"/>
      <p:bldP spid="11" grpId="0" autoUpdateAnimBg="0"/>
      <p:bldP spid="12" grpId="0" autoUpdateAnimBg="0"/>
      <p:bldP spid="13" grpId="0" autoUpdateAnimBg="0"/>
      <p:bldP spid="14"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22</a:t>
            </a:fld>
            <a:endParaRPr lang="en-US" altLang="zh-CN"/>
          </a:p>
        </p:txBody>
      </p:sp>
      <p:sp>
        <p:nvSpPr>
          <p:cNvPr id="6" name="Text Box 4"/>
          <p:cNvSpPr txBox="1">
            <a:spLocks noChangeArrowheads="1"/>
          </p:cNvSpPr>
          <p:nvPr/>
        </p:nvSpPr>
        <p:spPr bwMode="auto">
          <a:xfrm>
            <a:off x="467544" y="332656"/>
            <a:ext cx="5329237"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①  </a:t>
            </a:r>
            <a:r>
              <a:rPr lang="zh-CN" altLang="en-US" sz="3200" b="1" dirty="0" smtClean="0"/>
              <a:t>间隙配合</a:t>
            </a:r>
            <a:endParaRPr lang="zh-CN" altLang="en-US" sz="3200" b="1" dirty="0"/>
          </a:p>
        </p:txBody>
      </p:sp>
      <p:sp>
        <p:nvSpPr>
          <p:cNvPr id="8" name="Text Box 15"/>
          <p:cNvSpPr txBox="1">
            <a:spLocks noChangeArrowheads="1"/>
          </p:cNvSpPr>
          <p:nvPr/>
        </p:nvSpPr>
        <p:spPr bwMode="auto">
          <a:xfrm>
            <a:off x="1655774" y="5157807"/>
            <a:ext cx="46307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dirty="0" err="1" smtClean="0"/>
              <a:t>D</a:t>
            </a:r>
            <a:r>
              <a:rPr lang="en-US" altLang="zh-CN" sz="2400" b="1" baseline="-25000" dirty="0" err="1" smtClean="0"/>
              <a:t>max</a:t>
            </a:r>
            <a:r>
              <a:rPr lang="en-US" altLang="zh-CN" sz="2400" b="1" dirty="0" err="1" smtClean="0">
                <a:cs typeface="Times New Roman" panose="02020603050405020304" pitchFamily="18" charset="0"/>
              </a:rPr>
              <a:t>–</a:t>
            </a:r>
            <a:r>
              <a:rPr lang="en-US" altLang="zh-CN" sz="2400" b="1" i="1" dirty="0" err="1" smtClean="0"/>
              <a:t>d</a:t>
            </a:r>
            <a:r>
              <a:rPr lang="en-US" altLang="zh-CN" sz="2400" b="1" baseline="-25000" dirty="0" err="1" smtClean="0"/>
              <a:t>min</a:t>
            </a:r>
            <a:r>
              <a:rPr lang="en-US" altLang="zh-CN" sz="2400" b="1" dirty="0" smtClean="0">
                <a:cs typeface="Times New Roman" panose="02020603050405020304" pitchFamily="18" charset="0"/>
              </a:rPr>
              <a:t>=</a:t>
            </a:r>
            <a:r>
              <a:rPr lang="en-US" altLang="zh-CN" sz="2400" b="1" dirty="0" smtClean="0">
                <a:solidFill>
                  <a:srgbClr val="FF0000"/>
                </a:solidFill>
              </a:rPr>
              <a:t>ES–</a:t>
            </a:r>
            <a:r>
              <a:rPr lang="en-US" altLang="zh-CN" sz="2400" b="1" dirty="0" err="1" smtClean="0">
                <a:solidFill>
                  <a:srgbClr val="FF0000"/>
                </a:solidFill>
              </a:rPr>
              <a:t>ei</a:t>
            </a:r>
            <a:r>
              <a:rPr lang="en-US" altLang="zh-CN" sz="2400" b="1" dirty="0" smtClean="0">
                <a:solidFill>
                  <a:srgbClr val="FF0000"/>
                </a:solidFill>
              </a:rPr>
              <a:t>  </a:t>
            </a:r>
            <a:r>
              <a:rPr lang="zh-CN" altLang="en-US" sz="2400" b="1" dirty="0" smtClean="0"/>
              <a:t>（</a:t>
            </a:r>
            <a:r>
              <a:rPr lang="en-US" altLang="zh-CN" sz="2400" b="1" dirty="0" smtClean="0"/>
              <a:t>3.5</a:t>
            </a:r>
            <a:r>
              <a:rPr lang="zh-CN" altLang="en-US" sz="2400" b="1" dirty="0" smtClean="0"/>
              <a:t>）</a:t>
            </a:r>
            <a:endParaRPr lang="zh-CN" altLang="en-US" sz="2400" b="1" dirty="0">
              <a:cs typeface="Times New Roman" panose="02020603050405020304" pitchFamily="18" charset="0"/>
            </a:endParaRPr>
          </a:p>
        </p:txBody>
      </p:sp>
      <p:sp>
        <p:nvSpPr>
          <p:cNvPr id="9" name="Text Box 17"/>
          <p:cNvSpPr txBox="1">
            <a:spLocks noChangeArrowheads="1"/>
          </p:cNvSpPr>
          <p:nvPr/>
        </p:nvSpPr>
        <p:spPr bwMode="auto">
          <a:xfrm>
            <a:off x="741374" y="5157807"/>
            <a:ext cx="13716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dirty="0" err="1">
                <a:solidFill>
                  <a:srgbClr val="CC0066"/>
                </a:solidFill>
              </a:rPr>
              <a:t>X</a:t>
            </a:r>
            <a:r>
              <a:rPr lang="en-US" altLang="zh-CN" sz="2400" b="1" baseline="-25000" dirty="0" err="1">
                <a:solidFill>
                  <a:srgbClr val="CC0066"/>
                </a:solidFill>
              </a:rPr>
              <a:t>max</a:t>
            </a:r>
            <a:r>
              <a:rPr lang="en-US" altLang="zh-CN" sz="2400" b="1" dirty="0"/>
              <a:t>=</a:t>
            </a:r>
          </a:p>
        </p:txBody>
      </p:sp>
      <p:sp>
        <p:nvSpPr>
          <p:cNvPr id="10" name="Text Box 18"/>
          <p:cNvSpPr txBox="1">
            <a:spLocks noChangeArrowheads="1"/>
          </p:cNvSpPr>
          <p:nvPr/>
        </p:nvSpPr>
        <p:spPr bwMode="auto">
          <a:xfrm>
            <a:off x="1678173" y="5767407"/>
            <a:ext cx="454977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dirty="0" err="1"/>
              <a:t>D</a:t>
            </a:r>
            <a:r>
              <a:rPr lang="en-US" altLang="zh-CN" sz="2400" b="1" baseline="-25000" dirty="0" err="1"/>
              <a:t>min</a:t>
            </a:r>
            <a:r>
              <a:rPr lang="en-US" altLang="zh-CN" sz="2400" b="1" dirty="0" err="1">
                <a:cs typeface="Times New Roman" panose="02020603050405020304" pitchFamily="18" charset="0"/>
              </a:rPr>
              <a:t>–</a:t>
            </a:r>
            <a:r>
              <a:rPr lang="en-US" altLang="zh-CN" sz="2400" b="1" i="1" dirty="0" err="1"/>
              <a:t>d</a:t>
            </a:r>
            <a:r>
              <a:rPr lang="en-US" altLang="zh-CN" sz="2400" b="1" baseline="-25000" dirty="0" err="1"/>
              <a:t>max</a:t>
            </a:r>
            <a:r>
              <a:rPr lang="en-US" altLang="zh-CN" sz="2400" b="1" dirty="0">
                <a:cs typeface="Times New Roman" panose="02020603050405020304" pitchFamily="18" charset="0"/>
              </a:rPr>
              <a:t>=</a:t>
            </a:r>
            <a:r>
              <a:rPr lang="en-US" altLang="zh-CN" sz="2400" b="1" dirty="0">
                <a:solidFill>
                  <a:srgbClr val="FF0000"/>
                </a:solidFill>
              </a:rPr>
              <a:t>EI–</a:t>
            </a:r>
            <a:r>
              <a:rPr lang="en-US" altLang="zh-CN" sz="2400" b="1" dirty="0" err="1">
                <a:solidFill>
                  <a:srgbClr val="FF0000"/>
                </a:solidFill>
              </a:rPr>
              <a:t>es</a:t>
            </a:r>
            <a:r>
              <a:rPr lang="en-US" altLang="zh-CN" sz="2400" b="1" dirty="0">
                <a:solidFill>
                  <a:srgbClr val="FF0000"/>
                </a:solidFill>
              </a:rPr>
              <a:t> </a:t>
            </a:r>
            <a:r>
              <a:rPr lang="zh-CN" altLang="en-US" sz="2400" b="1" dirty="0"/>
              <a:t>（</a:t>
            </a:r>
            <a:r>
              <a:rPr lang="en-US" altLang="zh-CN" sz="2400" b="1" dirty="0"/>
              <a:t>3.6</a:t>
            </a:r>
            <a:r>
              <a:rPr lang="zh-CN" altLang="en-US" sz="2400" b="1" dirty="0"/>
              <a:t>）</a:t>
            </a:r>
            <a:endParaRPr lang="zh-CN" altLang="en-US" sz="2400" b="1" dirty="0">
              <a:cs typeface="Times New Roman" panose="02020603050405020304" pitchFamily="18" charset="0"/>
            </a:endParaRPr>
          </a:p>
        </p:txBody>
      </p:sp>
      <p:sp>
        <p:nvSpPr>
          <p:cNvPr id="11" name="Text Box 20"/>
          <p:cNvSpPr txBox="1">
            <a:spLocks noChangeArrowheads="1"/>
          </p:cNvSpPr>
          <p:nvPr/>
        </p:nvSpPr>
        <p:spPr bwMode="auto">
          <a:xfrm>
            <a:off x="741374" y="5767407"/>
            <a:ext cx="20574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i="1" dirty="0" err="1">
                <a:solidFill>
                  <a:srgbClr val="CC0066"/>
                </a:solidFill>
              </a:rPr>
              <a:t>X</a:t>
            </a:r>
            <a:r>
              <a:rPr lang="en-US" altLang="zh-CN" sz="2400" b="1" baseline="-25000" dirty="0" err="1">
                <a:solidFill>
                  <a:srgbClr val="CC0066"/>
                </a:solidFill>
              </a:rPr>
              <a:t>min</a:t>
            </a:r>
            <a:r>
              <a:rPr lang="en-US" altLang="zh-CN" sz="2400" b="1" dirty="0"/>
              <a:t>=</a:t>
            </a:r>
          </a:p>
        </p:txBody>
      </p:sp>
      <p:pic>
        <p:nvPicPr>
          <p:cNvPr id="12" name="Picture 2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838200" y="2485455"/>
            <a:ext cx="3733800" cy="2622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3" name="Picture 22"/>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5029200" y="1857364"/>
            <a:ext cx="3476625" cy="3308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4" name="Text Box 23"/>
          <p:cNvSpPr txBox="1">
            <a:spLocks noChangeArrowheads="1"/>
          </p:cNvSpPr>
          <p:nvPr/>
        </p:nvSpPr>
        <p:spPr bwMode="auto">
          <a:xfrm>
            <a:off x="539750" y="1092200"/>
            <a:ext cx="7786688"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solidFill>
                  <a:srgbClr val="FF0000"/>
                </a:solidFill>
              </a:rPr>
              <a:t>孔的公差带在轴的公差带之上的配合。</a:t>
            </a:r>
          </a:p>
        </p:txBody>
      </p:sp>
      <p:grpSp>
        <p:nvGrpSpPr>
          <p:cNvPr id="15" name="Group 26"/>
          <p:cNvGrpSpPr/>
          <p:nvPr/>
        </p:nvGrpSpPr>
        <p:grpSpPr bwMode="auto">
          <a:xfrm>
            <a:off x="756072" y="1700808"/>
            <a:ext cx="5256088" cy="576064"/>
            <a:chOff x="249" y="1096"/>
            <a:chExt cx="3447" cy="429"/>
          </a:xfrm>
        </p:grpSpPr>
        <p:sp>
          <p:nvSpPr>
            <p:cNvPr id="16" name="Text Box 24"/>
            <p:cNvSpPr txBox="1">
              <a:spLocks noChangeArrowheads="1"/>
            </p:cNvSpPr>
            <p:nvPr/>
          </p:nvSpPr>
          <p:spPr bwMode="auto">
            <a:xfrm>
              <a:off x="249" y="1117"/>
              <a:ext cx="1706" cy="34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即   </a:t>
              </a:r>
            </a:p>
          </p:txBody>
        </p:sp>
        <p:graphicFrame>
          <p:nvGraphicFramePr>
            <p:cNvPr id="17" name="Object 25"/>
            <p:cNvGraphicFramePr>
              <a:graphicFrameLocks noChangeAspect="1"/>
            </p:cNvGraphicFramePr>
            <p:nvPr/>
          </p:nvGraphicFramePr>
          <p:xfrm>
            <a:off x="975" y="1096"/>
            <a:ext cx="2721" cy="429"/>
          </p:xfrm>
          <a:graphic>
            <a:graphicData uri="http://schemas.openxmlformats.org/presentationml/2006/ole">
              <p:oleObj spid="_x0000_s26626" name="公式" r:id="rId6" imgW="30784800" imgH="5486400" progId="">
                <p:embed/>
              </p:oleObj>
            </a:graphicData>
          </a:graphic>
        </p:graphicFrame>
      </p:grpSp>
      <p:graphicFrame>
        <p:nvGraphicFramePr>
          <p:cNvPr id="18" name="Object 27"/>
          <p:cNvGraphicFramePr>
            <a:graphicFrameLocks noChangeAspect="1"/>
          </p:cNvGraphicFramePr>
          <p:nvPr/>
        </p:nvGraphicFramePr>
        <p:xfrm>
          <a:off x="5000628" y="5286388"/>
          <a:ext cx="3663950" cy="946150"/>
        </p:xfrm>
        <a:graphic>
          <a:graphicData uri="http://schemas.openxmlformats.org/presentationml/2006/ole">
            <p:oleObj spid="_x0000_s26625" name="公式" r:id="rId7" imgW="36576000" imgH="94488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1+#ppt_w/2"/>
                                          </p:val>
                                        </p:tav>
                                        <p:tav tm="100000">
                                          <p:val>
                                            <p:strVal val="#ppt_x"/>
                                          </p:val>
                                        </p:tav>
                                      </p:tavLst>
                                    </p:anim>
                                    <p:anim calcmode="lin" valueType="num">
                                      <p:cBhvr additive="base">
                                        <p:cTn id="1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wd">
                                    <p:tmPct val="100000"/>
                                  </p:iterate>
                                  <p:childTnLst>
                                    <p:set>
                                      <p:cBhvr>
                                        <p:cTn id="23" dur="1" fill="hold">
                                          <p:stCondLst>
                                            <p:cond delay="0"/>
                                          </p:stCondLst>
                                        </p:cTn>
                                        <p:tgtEl>
                                          <p:spTgt spid="14"/>
                                        </p:tgtEl>
                                        <p:attrNameLst>
                                          <p:attrName>style.visibility</p:attrName>
                                        </p:attrNameLst>
                                      </p:cBhvr>
                                      <p:to>
                                        <p:strVal val="visible"/>
                                      </p:to>
                                    </p:set>
                                    <p:animEffect transition="in" filter="wipe(left)">
                                      <p:cBhvr>
                                        <p:cTn id="24" dur="3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linds(horizontal)">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wd">
                                    <p:tmPct val="100000"/>
                                  </p:iterate>
                                  <p:childTnLst>
                                    <p:set>
                                      <p:cBhvr>
                                        <p:cTn id="33" dur="1" fill="hold">
                                          <p:stCondLst>
                                            <p:cond delay="0"/>
                                          </p:stCondLst>
                                        </p:cTn>
                                        <p:tgtEl>
                                          <p:spTgt spid="9"/>
                                        </p:tgtEl>
                                        <p:attrNameLst>
                                          <p:attrName>style.visibility</p:attrName>
                                        </p:attrNameLst>
                                      </p:cBhvr>
                                      <p:to>
                                        <p:strVal val="visible"/>
                                      </p:to>
                                    </p:set>
                                    <p:animEffect transition="in" filter="wipe(left)">
                                      <p:cBhvr>
                                        <p:cTn id="34" dur="3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0"/>
                                  </p:iterate>
                                  <p:childTnLst>
                                    <p:set>
                                      <p:cBhvr>
                                        <p:cTn id="38" dur="1" fill="hold">
                                          <p:stCondLst>
                                            <p:cond delay="0"/>
                                          </p:stCondLst>
                                        </p:cTn>
                                        <p:tgtEl>
                                          <p:spTgt spid="8"/>
                                        </p:tgtEl>
                                        <p:attrNameLst>
                                          <p:attrName>style.visibility</p:attrName>
                                        </p:attrNameLst>
                                      </p:cBhvr>
                                      <p:to>
                                        <p:strVal val="visible"/>
                                      </p:to>
                                    </p:set>
                                    <p:animEffect transition="in" filter="wipe(left)">
                                      <p:cBhvr>
                                        <p:cTn id="39" dur="3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wd">
                                    <p:tmPct val="100000"/>
                                  </p:iterate>
                                  <p:childTnLst>
                                    <p:set>
                                      <p:cBhvr>
                                        <p:cTn id="43" dur="1" fill="hold">
                                          <p:stCondLst>
                                            <p:cond delay="0"/>
                                          </p:stCondLst>
                                        </p:cTn>
                                        <p:tgtEl>
                                          <p:spTgt spid="11"/>
                                        </p:tgtEl>
                                        <p:attrNameLst>
                                          <p:attrName>style.visibility</p:attrName>
                                        </p:attrNameLst>
                                      </p:cBhvr>
                                      <p:to>
                                        <p:strVal val="visible"/>
                                      </p:to>
                                    </p:set>
                                    <p:animEffect transition="in" filter="wipe(left)">
                                      <p:cBhvr>
                                        <p:cTn id="44" dur="3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iterate type="wd">
                                    <p:tmPct val="100000"/>
                                  </p:iterate>
                                  <p:childTnLst>
                                    <p:set>
                                      <p:cBhvr>
                                        <p:cTn id="48" dur="1" fill="hold">
                                          <p:stCondLst>
                                            <p:cond delay="0"/>
                                          </p:stCondLst>
                                        </p:cTn>
                                        <p:tgtEl>
                                          <p:spTgt spid="10"/>
                                        </p:tgtEl>
                                        <p:attrNameLst>
                                          <p:attrName>style.visibility</p:attrName>
                                        </p:attrNameLst>
                                      </p:cBhvr>
                                      <p:to>
                                        <p:strVal val="visible"/>
                                      </p:to>
                                    </p:set>
                                    <p:animEffect transition="in" filter="wipe(left)">
                                      <p:cBhvr>
                                        <p:cTn id="49" dur="3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P spid="9" grpId="0" autoUpdateAnimBg="0"/>
      <p:bldP spid="10" grpId="0" autoUpdateAnimBg="0"/>
      <p:bldP spid="11" grpId="0" autoUpdateAnimBg="0"/>
      <p:bldP spid="14"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9" name="Object 5"/>
          <p:cNvGraphicFramePr>
            <a:graphicFrameLocks noGrp="1" noChangeAspect="1"/>
          </p:cNvGraphicFramePr>
          <p:nvPr>
            <p:ph/>
          </p:nvPr>
        </p:nvGraphicFramePr>
        <p:xfrm>
          <a:off x="722343" y="363115"/>
          <a:ext cx="7850185" cy="939851"/>
        </p:xfrm>
        <a:graphic>
          <a:graphicData uri="http://schemas.openxmlformats.org/presentationml/2006/ole">
            <p:oleObj spid="_x0000_s32772" name="公式" r:id="rId3" imgW="80467200" imgH="10972800" progId="">
              <p:embed/>
            </p:oleObj>
          </a:graphicData>
        </a:graphic>
      </p:graphicFrame>
      <p:sp>
        <p:nvSpPr>
          <p:cNvPr id="27650" name="灯片编号占位符 4"/>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0FCE28FB-D272-49C4-A9C5-CC813015AD4C}" type="slidenum">
              <a:rPr lang="en-US" altLang="zh-CN" sz="2000" smtClean="0">
                <a:solidFill>
                  <a:schemeClr val="accent2"/>
                </a:solidFill>
              </a:rPr>
              <a:pPr eaLnBrk="1" hangingPunct="1"/>
              <a:t>23</a:t>
            </a:fld>
            <a:endParaRPr lang="en-US" altLang="zh-CN" sz="2000" smtClean="0">
              <a:solidFill>
                <a:schemeClr val="accent2"/>
              </a:solidFill>
            </a:endParaRPr>
          </a:p>
        </p:txBody>
      </p:sp>
      <p:sp>
        <p:nvSpPr>
          <p:cNvPr id="72711" name="Text Box 7"/>
          <p:cNvSpPr txBox="1">
            <a:spLocks noChangeArrowheads="1"/>
          </p:cNvSpPr>
          <p:nvPr/>
        </p:nvSpPr>
        <p:spPr bwMode="auto">
          <a:xfrm>
            <a:off x="655638" y="1500491"/>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解  依题意可得孔的上、下偏差分别为：</a:t>
            </a:r>
            <a:r>
              <a:rPr lang="en-US" altLang="zh-CN" sz="2400" b="1" dirty="0"/>
              <a:t>ES=+0.033</a:t>
            </a:r>
            <a:r>
              <a:rPr lang="zh-CN" altLang="en-US" sz="2400" b="1" dirty="0"/>
              <a:t>，</a:t>
            </a:r>
            <a:r>
              <a:rPr lang="en-US" altLang="zh-CN" sz="2400" b="1" dirty="0"/>
              <a:t>EI=0;</a:t>
            </a:r>
          </a:p>
        </p:txBody>
      </p:sp>
      <p:sp>
        <p:nvSpPr>
          <p:cNvPr id="72712" name="Text Box 8"/>
          <p:cNvSpPr txBox="1">
            <a:spLocks noChangeArrowheads="1"/>
          </p:cNvSpPr>
          <p:nvPr/>
        </p:nvSpPr>
        <p:spPr bwMode="auto">
          <a:xfrm>
            <a:off x="684213" y="2004998"/>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轴的上、下偏差分别为：</a:t>
            </a:r>
            <a:r>
              <a:rPr lang="en-US" altLang="zh-CN" sz="2400" b="1" dirty="0" err="1"/>
              <a:t>es</a:t>
            </a:r>
            <a:r>
              <a:rPr lang="en-US" altLang="zh-CN" sz="2400" b="1" dirty="0"/>
              <a:t>=-0.020 ,</a:t>
            </a:r>
            <a:r>
              <a:rPr lang="en-US" altLang="zh-CN" sz="2400" b="1" dirty="0" err="1"/>
              <a:t>ei</a:t>
            </a:r>
            <a:r>
              <a:rPr lang="en-US" altLang="zh-CN" sz="2400" b="1" dirty="0"/>
              <a:t>=-0.041 </a:t>
            </a:r>
            <a:r>
              <a:rPr lang="zh-CN" altLang="en-US" sz="2400" b="1" dirty="0"/>
              <a:t>。</a:t>
            </a:r>
          </a:p>
        </p:txBody>
      </p:sp>
      <p:sp>
        <p:nvSpPr>
          <p:cNvPr id="72713" name="Text Box 9"/>
          <p:cNvSpPr txBox="1">
            <a:spLocks noChangeArrowheads="1"/>
          </p:cNvSpPr>
          <p:nvPr/>
        </p:nvSpPr>
        <p:spPr bwMode="auto">
          <a:xfrm>
            <a:off x="728663" y="2467282"/>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根据式（</a:t>
            </a:r>
            <a:r>
              <a:rPr lang="en-US" altLang="zh-CN" sz="2400" b="1"/>
              <a:t>3.5</a:t>
            </a:r>
            <a:r>
              <a:rPr lang="zh-CN" altLang="en-US" sz="2400" b="1"/>
              <a:t>）</a:t>
            </a:r>
            <a:r>
              <a:rPr lang="en-US" altLang="zh-CN" sz="2400" b="1"/>
              <a:t>~</a:t>
            </a:r>
            <a:r>
              <a:rPr lang="zh-CN" altLang="en-US" sz="2400" b="1"/>
              <a:t>式（</a:t>
            </a:r>
            <a:r>
              <a:rPr lang="en-US" altLang="zh-CN" sz="2400" b="1"/>
              <a:t>3.7</a:t>
            </a:r>
            <a:r>
              <a:rPr lang="zh-CN" altLang="en-US" sz="2400" b="1"/>
              <a:t>）得</a:t>
            </a:r>
          </a:p>
        </p:txBody>
      </p:sp>
      <p:graphicFrame>
        <p:nvGraphicFramePr>
          <p:cNvPr id="72714" name="Object 10"/>
          <p:cNvGraphicFramePr>
            <a:graphicFrameLocks noChangeAspect="1"/>
          </p:cNvGraphicFramePr>
          <p:nvPr/>
        </p:nvGraphicFramePr>
        <p:xfrm>
          <a:off x="1579245" y="3128645"/>
          <a:ext cx="5740400" cy="494030"/>
        </p:xfrm>
        <a:graphic>
          <a:graphicData uri="http://schemas.openxmlformats.org/presentationml/2006/ole">
            <p:oleObj spid="_x0000_s32771" name="公式" r:id="rId4" imgW="63703200" imgH="5486400" progId="">
              <p:embed/>
            </p:oleObj>
          </a:graphicData>
        </a:graphic>
      </p:graphicFrame>
      <p:graphicFrame>
        <p:nvGraphicFramePr>
          <p:cNvPr id="72715" name="Object 11"/>
          <p:cNvGraphicFramePr>
            <a:graphicFrameLocks noChangeAspect="1"/>
          </p:cNvGraphicFramePr>
          <p:nvPr/>
        </p:nvGraphicFramePr>
        <p:xfrm>
          <a:off x="1570355" y="3786505"/>
          <a:ext cx="5262245" cy="498475"/>
        </p:xfrm>
        <a:graphic>
          <a:graphicData uri="http://schemas.openxmlformats.org/presentationml/2006/ole">
            <p:oleObj spid="_x0000_s32770" name="公式" r:id="rId5" imgW="54559200" imgH="5181600" progId="">
              <p:embed/>
            </p:oleObj>
          </a:graphicData>
        </a:graphic>
      </p:graphicFrame>
      <p:graphicFrame>
        <p:nvGraphicFramePr>
          <p:cNvPr id="72716" name="Object 12"/>
          <p:cNvGraphicFramePr>
            <a:graphicFrameLocks noChangeAspect="1"/>
          </p:cNvGraphicFramePr>
          <p:nvPr/>
        </p:nvGraphicFramePr>
        <p:xfrm>
          <a:off x="1615440" y="4410710"/>
          <a:ext cx="5351780" cy="1699895"/>
        </p:xfrm>
        <a:graphic>
          <a:graphicData uri="http://schemas.openxmlformats.org/presentationml/2006/ole">
            <p:oleObj spid="_x0000_s32769" name="公式" r:id="rId6" imgW="61264800" imgH="195072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2709"/>
                                        </p:tgtEl>
                                        <p:attrNameLst>
                                          <p:attrName>style.visibility</p:attrName>
                                        </p:attrNameLst>
                                      </p:cBhvr>
                                      <p:to>
                                        <p:strVal val="visible"/>
                                      </p:to>
                                    </p:set>
                                    <p:animEffect transition="in" filter="wipe(left)">
                                      <p:cBhvr>
                                        <p:cTn id="7" dur="2000"/>
                                        <p:tgtEl>
                                          <p:spTgt spid="727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11"/>
                                        </p:tgtEl>
                                        <p:attrNameLst>
                                          <p:attrName>style.visibility</p:attrName>
                                        </p:attrNameLst>
                                      </p:cBhvr>
                                      <p:to>
                                        <p:strVal val="visible"/>
                                      </p:to>
                                    </p:set>
                                    <p:animEffect transition="in" filter="wipe(left)">
                                      <p:cBhvr>
                                        <p:cTn id="12" dur="2000"/>
                                        <p:tgtEl>
                                          <p:spTgt spid="727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712"/>
                                        </p:tgtEl>
                                        <p:attrNameLst>
                                          <p:attrName>style.visibility</p:attrName>
                                        </p:attrNameLst>
                                      </p:cBhvr>
                                      <p:to>
                                        <p:strVal val="visible"/>
                                      </p:to>
                                    </p:set>
                                    <p:animEffect transition="in" filter="wipe(left)">
                                      <p:cBhvr>
                                        <p:cTn id="17" dur="2000"/>
                                        <p:tgtEl>
                                          <p:spTgt spid="727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713"/>
                                        </p:tgtEl>
                                        <p:attrNameLst>
                                          <p:attrName>style.visibility</p:attrName>
                                        </p:attrNameLst>
                                      </p:cBhvr>
                                      <p:to>
                                        <p:strVal val="visible"/>
                                      </p:to>
                                    </p:set>
                                    <p:animEffect transition="in" filter="wipe(left)">
                                      <p:cBhvr>
                                        <p:cTn id="22" dur="2000"/>
                                        <p:tgtEl>
                                          <p:spTgt spid="727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2714"/>
                                        </p:tgtEl>
                                        <p:attrNameLst>
                                          <p:attrName>style.visibility</p:attrName>
                                        </p:attrNameLst>
                                      </p:cBhvr>
                                      <p:to>
                                        <p:strVal val="visible"/>
                                      </p:to>
                                    </p:set>
                                    <p:animEffect transition="in" filter="wipe(left)">
                                      <p:cBhvr>
                                        <p:cTn id="27" dur="2000"/>
                                        <p:tgtEl>
                                          <p:spTgt spid="727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2715"/>
                                        </p:tgtEl>
                                        <p:attrNameLst>
                                          <p:attrName>style.visibility</p:attrName>
                                        </p:attrNameLst>
                                      </p:cBhvr>
                                      <p:to>
                                        <p:strVal val="visible"/>
                                      </p:to>
                                    </p:set>
                                    <p:animEffect transition="in" filter="wipe(left)">
                                      <p:cBhvr>
                                        <p:cTn id="32" dur="2000"/>
                                        <p:tgtEl>
                                          <p:spTgt spid="727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2716"/>
                                        </p:tgtEl>
                                        <p:attrNameLst>
                                          <p:attrName>style.visibility</p:attrName>
                                        </p:attrNameLst>
                                      </p:cBhvr>
                                      <p:to>
                                        <p:strVal val="visible"/>
                                      </p:to>
                                    </p:set>
                                    <p:animEffect transition="in" filter="wipe(left)">
                                      <p:cBhvr>
                                        <p:cTn id="37" dur="2000"/>
                                        <p:tgtEl>
                                          <p:spTgt spid="72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1" grpId="0" bldLvl="0" animBg="1"/>
      <p:bldP spid="72712" grpId="0"/>
      <p:bldP spid="727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24</a:t>
            </a:fld>
            <a:endParaRPr lang="en-US" altLang="zh-CN"/>
          </a:p>
        </p:txBody>
      </p:sp>
      <p:sp>
        <p:nvSpPr>
          <p:cNvPr id="5" name="Text Box 2"/>
          <p:cNvSpPr txBox="1">
            <a:spLocks noChangeArrowheads="1"/>
          </p:cNvSpPr>
          <p:nvPr/>
        </p:nvSpPr>
        <p:spPr bwMode="auto">
          <a:xfrm>
            <a:off x="483840" y="332656"/>
            <a:ext cx="62484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② </a:t>
            </a:r>
            <a:r>
              <a:rPr lang="zh-CN" altLang="en-US" sz="3200" b="1" dirty="0" smtClean="0"/>
              <a:t>过盈配合</a:t>
            </a:r>
            <a:endParaRPr lang="zh-CN" altLang="en-US" sz="3200" b="1" dirty="0"/>
          </a:p>
        </p:txBody>
      </p:sp>
      <p:sp>
        <p:nvSpPr>
          <p:cNvPr id="6" name="Text Box 26"/>
          <p:cNvSpPr txBox="1">
            <a:spLocks noChangeArrowheads="1"/>
          </p:cNvSpPr>
          <p:nvPr/>
        </p:nvSpPr>
        <p:spPr bwMode="auto">
          <a:xfrm>
            <a:off x="323850" y="788119"/>
            <a:ext cx="8351838" cy="4968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400" b="1" dirty="0">
                <a:cs typeface="Times New Roman" panose="02020603050405020304" pitchFamily="18" charset="0"/>
              </a:rPr>
              <a:t> </a:t>
            </a:r>
            <a:endParaRPr lang="zh-CN" altLang="en-US" b="1" dirty="0"/>
          </a:p>
        </p:txBody>
      </p:sp>
      <p:sp>
        <p:nvSpPr>
          <p:cNvPr id="7" name="Text Box 33"/>
          <p:cNvSpPr txBox="1">
            <a:spLocks noChangeArrowheads="1"/>
          </p:cNvSpPr>
          <p:nvPr/>
        </p:nvSpPr>
        <p:spPr bwMode="auto">
          <a:xfrm>
            <a:off x="1331640" y="5960194"/>
            <a:ext cx="410463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600" b="1" i="1" dirty="0" err="1"/>
              <a:t>D</a:t>
            </a:r>
            <a:r>
              <a:rPr lang="en-US" altLang="zh-CN" sz="2600" b="1" baseline="-25000" dirty="0" err="1"/>
              <a:t>max</a:t>
            </a:r>
            <a:r>
              <a:rPr lang="en-US" altLang="zh-CN" sz="2600" b="1" dirty="0">
                <a:cs typeface="Times New Roman" panose="02020603050405020304" pitchFamily="18" charset="0"/>
              </a:rPr>
              <a:t>– </a:t>
            </a:r>
            <a:r>
              <a:rPr lang="en-US" altLang="zh-CN" sz="2600" b="1" i="1" dirty="0" err="1"/>
              <a:t>d</a:t>
            </a:r>
            <a:r>
              <a:rPr lang="en-US" altLang="zh-CN" sz="2600" b="1" baseline="-25000" dirty="0" err="1"/>
              <a:t>mi</a:t>
            </a:r>
            <a:r>
              <a:rPr lang="en-US" altLang="zh-CN" sz="2600" b="1" baseline="-25000" dirty="0"/>
              <a:t> n</a:t>
            </a:r>
            <a:r>
              <a:rPr lang="en-US" altLang="zh-CN" sz="2600" b="1" dirty="0">
                <a:cs typeface="Times New Roman" panose="02020603050405020304" pitchFamily="18" charset="0"/>
              </a:rPr>
              <a:t>= </a:t>
            </a:r>
            <a:r>
              <a:rPr lang="en-US" altLang="zh-CN" sz="2600" b="1" dirty="0">
                <a:solidFill>
                  <a:srgbClr val="FF0000"/>
                </a:solidFill>
              </a:rPr>
              <a:t>ES – </a:t>
            </a:r>
            <a:r>
              <a:rPr lang="en-US" altLang="zh-CN" sz="2600" b="1" dirty="0" err="1">
                <a:solidFill>
                  <a:srgbClr val="FF0000"/>
                </a:solidFill>
              </a:rPr>
              <a:t>ei</a:t>
            </a:r>
            <a:r>
              <a:rPr lang="en-US" altLang="zh-CN" sz="2600" b="1" dirty="0">
                <a:solidFill>
                  <a:srgbClr val="FF0000"/>
                </a:solidFill>
              </a:rPr>
              <a:t> </a:t>
            </a:r>
            <a:r>
              <a:rPr lang="zh-CN" altLang="en-US" sz="2600" b="1" dirty="0" smtClean="0"/>
              <a:t>（</a:t>
            </a:r>
            <a:r>
              <a:rPr lang="en-US" altLang="zh-CN" sz="2600" b="1" dirty="0"/>
              <a:t>3.9</a:t>
            </a:r>
            <a:r>
              <a:rPr lang="zh-CN" altLang="en-US" sz="2600" b="1" dirty="0"/>
              <a:t>）</a:t>
            </a:r>
          </a:p>
        </p:txBody>
      </p:sp>
      <p:sp>
        <p:nvSpPr>
          <p:cNvPr id="8" name="Text Box 35"/>
          <p:cNvSpPr txBox="1">
            <a:spLocks noChangeArrowheads="1"/>
          </p:cNvSpPr>
          <p:nvPr/>
        </p:nvSpPr>
        <p:spPr bwMode="auto">
          <a:xfrm>
            <a:off x="434702" y="6006232"/>
            <a:ext cx="17526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600" b="1" i="1"/>
              <a:t>Y</a:t>
            </a:r>
            <a:r>
              <a:rPr lang="en-US" altLang="zh-CN" sz="2600" b="1" baseline="-25000"/>
              <a:t>min</a:t>
            </a:r>
            <a:r>
              <a:rPr lang="en-US" altLang="zh-CN" sz="2600" b="1"/>
              <a:t>=</a:t>
            </a:r>
          </a:p>
        </p:txBody>
      </p:sp>
      <p:sp>
        <p:nvSpPr>
          <p:cNvPr id="9" name="Text Box 36"/>
          <p:cNvSpPr txBox="1">
            <a:spLocks noChangeArrowheads="1"/>
          </p:cNvSpPr>
          <p:nvPr/>
        </p:nvSpPr>
        <p:spPr bwMode="auto">
          <a:xfrm>
            <a:off x="1425302" y="5396632"/>
            <a:ext cx="451485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600" b="1" i="1" dirty="0" err="1"/>
              <a:t>D</a:t>
            </a:r>
            <a:r>
              <a:rPr lang="en-US" altLang="zh-CN" sz="2600" b="1" baseline="-25000" dirty="0" err="1"/>
              <a:t>min</a:t>
            </a:r>
            <a:r>
              <a:rPr lang="en-US" altLang="zh-CN" sz="2600" b="1" dirty="0">
                <a:cs typeface="Times New Roman" panose="02020603050405020304" pitchFamily="18" charset="0"/>
              </a:rPr>
              <a:t>– </a:t>
            </a:r>
            <a:r>
              <a:rPr lang="en-US" altLang="zh-CN" sz="2600" b="1" i="1" dirty="0" err="1"/>
              <a:t>d</a:t>
            </a:r>
            <a:r>
              <a:rPr lang="en-US" altLang="zh-CN" sz="2600" b="1" baseline="-25000" dirty="0" err="1"/>
              <a:t>max</a:t>
            </a:r>
            <a:r>
              <a:rPr lang="en-US" altLang="zh-CN" sz="2600" b="1" dirty="0" smtClean="0">
                <a:cs typeface="Times New Roman" panose="02020603050405020304" pitchFamily="18" charset="0"/>
              </a:rPr>
              <a:t>= </a:t>
            </a:r>
            <a:r>
              <a:rPr lang="en-US" altLang="zh-CN" sz="2600" b="1" dirty="0" smtClean="0">
                <a:solidFill>
                  <a:srgbClr val="FF0000"/>
                </a:solidFill>
              </a:rPr>
              <a:t>EI</a:t>
            </a:r>
            <a:r>
              <a:rPr lang="en-US" altLang="zh-CN" sz="2600" b="1" dirty="0">
                <a:solidFill>
                  <a:srgbClr val="FF0000"/>
                </a:solidFill>
              </a:rPr>
              <a:t>– </a:t>
            </a:r>
            <a:r>
              <a:rPr lang="en-US" altLang="zh-CN" sz="2600" b="1" dirty="0" err="1">
                <a:solidFill>
                  <a:srgbClr val="FF0000"/>
                </a:solidFill>
              </a:rPr>
              <a:t>es</a:t>
            </a:r>
            <a:r>
              <a:rPr lang="en-US" altLang="zh-CN" sz="2600" b="1" dirty="0">
                <a:solidFill>
                  <a:srgbClr val="FF0000"/>
                </a:solidFill>
              </a:rPr>
              <a:t> </a:t>
            </a:r>
            <a:r>
              <a:rPr lang="zh-CN" altLang="en-US" sz="2600" b="1" dirty="0" smtClean="0"/>
              <a:t>（</a:t>
            </a:r>
            <a:r>
              <a:rPr lang="en-US" altLang="zh-CN" sz="2600" b="1" dirty="0"/>
              <a:t>3.8</a:t>
            </a:r>
            <a:r>
              <a:rPr lang="zh-CN" altLang="en-US" sz="2600" b="1" dirty="0"/>
              <a:t>）</a:t>
            </a:r>
            <a:endParaRPr lang="zh-CN" altLang="en-US" sz="2600" b="1" dirty="0">
              <a:cs typeface="Times New Roman" panose="02020603050405020304" pitchFamily="18" charset="0"/>
            </a:endParaRPr>
          </a:p>
        </p:txBody>
      </p:sp>
      <p:sp>
        <p:nvSpPr>
          <p:cNvPr id="10" name="Text Box 38"/>
          <p:cNvSpPr txBox="1">
            <a:spLocks noChangeArrowheads="1"/>
          </p:cNvSpPr>
          <p:nvPr/>
        </p:nvSpPr>
        <p:spPr bwMode="auto">
          <a:xfrm>
            <a:off x="434702" y="5396632"/>
            <a:ext cx="205740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600" b="1" i="1" dirty="0" err="1"/>
              <a:t>Y</a:t>
            </a:r>
            <a:r>
              <a:rPr lang="en-US" altLang="zh-CN" sz="2600" b="1" baseline="-25000" dirty="0" err="1"/>
              <a:t>max</a:t>
            </a:r>
            <a:r>
              <a:rPr lang="en-US" altLang="zh-CN" sz="2600" b="1" dirty="0"/>
              <a:t>=</a:t>
            </a:r>
          </a:p>
        </p:txBody>
      </p:sp>
      <p:pic>
        <p:nvPicPr>
          <p:cNvPr id="11" name="Picture 4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354138" y="2443882"/>
            <a:ext cx="3217862" cy="29686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 name="Picture 42"/>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5076056" y="2208078"/>
            <a:ext cx="3146425" cy="3375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50"/>
          <p:cNvSpPr>
            <a:spLocks noChangeArrowheads="1"/>
          </p:cNvSpPr>
          <p:nvPr/>
        </p:nvSpPr>
        <p:spPr bwMode="auto">
          <a:xfrm>
            <a:off x="636108" y="1112470"/>
            <a:ext cx="7027862"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sz="2400" b="1" dirty="0">
                <a:solidFill>
                  <a:srgbClr val="FF0000"/>
                </a:solidFill>
              </a:rPr>
              <a:t>孔的公差带在轴的公差带之下的配合</a:t>
            </a:r>
            <a:r>
              <a:rPr lang="zh-CN" altLang="en-US" sz="2400" b="1" dirty="0"/>
              <a:t>。</a:t>
            </a:r>
          </a:p>
        </p:txBody>
      </p:sp>
      <p:graphicFrame>
        <p:nvGraphicFramePr>
          <p:cNvPr id="14" name="Object 53"/>
          <p:cNvGraphicFramePr>
            <a:graphicFrameLocks noChangeAspect="1"/>
          </p:cNvGraphicFramePr>
          <p:nvPr/>
        </p:nvGraphicFramePr>
        <p:xfrm>
          <a:off x="1000100" y="1650890"/>
          <a:ext cx="4363988" cy="550964"/>
        </p:xfrm>
        <a:graphic>
          <a:graphicData uri="http://schemas.openxmlformats.org/presentationml/2006/ole">
            <p:oleObj spid="_x0000_s34818" name="公式" r:id="rId6" imgW="38404800" imgH="5486400" progId="">
              <p:embed/>
            </p:oleObj>
          </a:graphicData>
        </a:graphic>
      </p:graphicFrame>
      <p:graphicFrame>
        <p:nvGraphicFramePr>
          <p:cNvPr id="15" name="Object 54"/>
          <p:cNvGraphicFramePr>
            <a:graphicFrameLocks noChangeAspect="1"/>
          </p:cNvGraphicFramePr>
          <p:nvPr/>
        </p:nvGraphicFramePr>
        <p:xfrm>
          <a:off x="5292080" y="5539507"/>
          <a:ext cx="3308350" cy="933450"/>
        </p:xfrm>
        <a:graphic>
          <a:graphicData uri="http://schemas.openxmlformats.org/presentationml/2006/ole">
            <p:oleObj spid="_x0000_s34817" name="公式" r:id="rId7" imgW="33528000" imgH="94488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wd">
                                    <p:tmPct val="100000"/>
                                  </p:iterate>
                                  <p:childTnLst>
                                    <p:set>
                                      <p:cBhvr>
                                        <p:cTn id="28" dur="1" fill="hold">
                                          <p:stCondLst>
                                            <p:cond delay="0"/>
                                          </p:stCondLst>
                                        </p:cTn>
                                        <p:tgtEl>
                                          <p:spTgt spid="13"/>
                                        </p:tgtEl>
                                        <p:attrNameLst>
                                          <p:attrName>style.visibility</p:attrName>
                                        </p:attrNameLst>
                                      </p:cBhvr>
                                      <p:to>
                                        <p:strVal val="visible"/>
                                      </p:to>
                                    </p:set>
                                    <p:animEffect transition="in" filter="wipe(left)">
                                      <p:cBhvr>
                                        <p:cTn id="29" dur="3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0"/>
                                  </p:iterate>
                                  <p:childTnLst>
                                    <p:set>
                                      <p:cBhvr>
                                        <p:cTn id="38" dur="1" fill="hold">
                                          <p:stCondLst>
                                            <p:cond delay="0"/>
                                          </p:stCondLst>
                                        </p:cTn>
                                        <p:tgtEl>
                                          <p:spTgt spid="10"/>
                                        </p:tgtEl>
                                        <p:attrNameLst>
                                          <p:attrName>style.visibility</p:attrName>
                                        </p:attrNameLst>
                                      </p:cBhvr>
                                      <p:to>
                                        <p:strVal val="visible"/>
                                      </p:to>
                                    </p:set>
                                    <p:animEffect transition="in" filter="wipe(left)">
                                      <p:cBhvr>
                                        <p:cTn id="39" dur="3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wd">
                                    <p:tmPct val="100000"/>
                                  </p:iterate>
                                  <p:childTnLst>
                                    <p:set>
                                      <p:cBhvr>
                                        <p:cTn id="43" dur="1" fill="hold">
                                          <p:stCondLst>
                                            <p:cond delay="0"/>
                                          </p:stCondLst>
                                        </p:cTn>
                                        <p:tgtEl>
                                          <p:spTgt spid="9"/>
                                        </p:tgtEl>
                                        <p:attrNameLst>
                                          <p:attrName>style.visibility</p:attrName>
                                        </p:attrNameLst>
                                      </p:cBhvr>
                                      <p:to>
                                        <p:strVal val="visible"/>
                                      </p:to>
                                    </p:set>
                                    <p:animEffect transition="in" filter="wipe(left)">
                                      <p:cBhvr>
                                        <p:cTn id="44" dur="3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iterate type="wd">
                                    <p:tmPct val="100000"/>
                                  </p:iterate>
                                  <p:childTnLst>
                                    <p:set>
                                      <p:cBhvr>
                                        <p:cTn id="48" dur="1" fill="hold">
                                          <p:stCondLst>
                                            <p:cond delay="0"/>
                                          </p:stCondLst>
                                        </p:cTn>
                                        <p:tgtEl>
                                          <p:spTgt spid="8"/>
                                        </p:tgtEl>
                                        <p:attrNameLst>
                                          <p:attrName>style.visibility</p:attrName>
                                        </p:attrNameLst>
                                      </p:cBhvr>
                                      <p:to>
                                        <p:strVal val="visible"/>
                                      </p:to>
                                    </p:set>
                                    <p:animEffect transition="in" filter="wipe(left)">
                                      <p:cBhvr>
                                        <p:cTn id="49" dur="3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iterate type="wd">
                                    <p:tmPct val="100000"/>
                                  </p:iterate>
                                  <p:childTnLst>
                                    <p:set>
                                      <p:cBhvr>
                                        <p:cTn id="53" dur="1" fill="hold">
                                          <p:stCondLst>
                                            <p:cond delay="0"/>
                                          </p:stCondLst>
                                        </p:cTn>
                                        <p:tgtEl>
                                          <p:spTgt spid="7"/>
                                        </p:tgtEl>
                                        <p:attrNameLst>
                                          <p:attrName>style.visibility</p:attrName>
                                        </p:attrNameLst>
                                      </p:cBhvr>
                                      <p:to>
                                        <p:strVal val="visible"/>
                                      </p:to>
                                    </p:set>
                                    <p:animEffect transition="in" filter="wipe(left)">
                                      <p:cBhvr>
                                        <p:cTn id="54" dur="3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left)">
                                      <p:cBhvr>
                                        <p:cTn id="59"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autoUpdateAnimBg="0"/>
      <p:bldP spid="7" grpId="0" autoUpdateAnimBg="0"/>
      <p:bldP spid="8" grpId="0" autoUpdateAnimBg="0"/>
      <p:bldP spid="9" grpId="0" autoUpdateAnimBg="0"/>
      <p:bldP spid="10" grpId="0" autoUpdateAnimBg="0"/>
      <p:bldP spid="1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xfrm>
            <a:off x="8076565" y="6388735"/>
            <a:ext cx="681990" cy="226060"/>
          </a:xfrm>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10BC09AD-FC60-4471-BB13-9DB99CE94BA3}" type="slidenum">
              <a:rPr lang="en-US" altLang="zh-CN" sz="1400" smtClean="0">
                <a:solidFill>
                  <a:schemeClr val="accent2"/>
                </a:solidFill>
              </a:rPr>
              <a:pPr eaLnBrk="1" hangingPunct="1"/>
              <a:t>25</a:t>
            </a:fld>
            <a:endParaRPr lang="en-US" altLang="zh-CN" sz="1400" smtClean="0">
              <a:solidFill>
                <a:schemeClr val="accent2"/>
              </a:solidFill>
            </a:endParaRPr>
          </a:p>
        </p:txBody>
      </p:sp>
      <p:graphicFrame>
        <p:nvGraphicFramePr>
          <p:cNvPr id="74756" name="Object 4"/>
          <p:cNvGraphicFramePr>
            <a:graphicFrameLocks noChangeAspect="1"/>
          </p:cNvGraphicFramePr>
          <p:nvPr/>
        </p:nvGraphicFramePr>
        <p:xfrm>
          <a:off x="714375" y="429260"/>
          <a:ext cx="7527925" cy="869315"/>
        </p:xfrm>
        <a:graphic>
          <a:graphicData uri="http://schemas.openxmlformats.org/presentationml/2006/ole">
            <p:oleObj spid="_x0000_s35844" name="公式" r:id="rId3" imgW="80772000" imgH="10972800" progId="">
              <p:embed/>
            </p:oleObj>
          </a:graphicData>
        </a:graphic>
      </p:graphicFrame>
      <p:sp>
        <p:nvSpPr>
          <p:cNvPr id="74757" name="Text Box 5"/>
          <p:cNvSpPr txBox="1">
            <a:spLocks noChangeArrowheads="1"/>
          </p:cNvSpPr>
          <p:nvPr/>
        </p:nvSpPr>
        <p:spPr bwMode="auto">
          <a:xfrm>
            <a:off x="655638" y="1484313"/>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解  依题意可得孔的上、下偏差分别为：</a:t>
            </a:r>
            <a:r>
              <a:rPr lang="en-US" altLang="zh-CN" sz="2400" b="1"/>
              <a:t>ES=+0.033</a:t>
            </a:r>
            <a:r>
              <a:rPr lang="zh-CN" altLang="en-US" sz="2400" b="1"/>
              <a:t>，</a:t>
            </a:r>
            <a:r>
              <a:rPr lang="en-US" altLang="zh-CN" sz="2400" b="1"/>
              <a:t>EI=0;</a:t>
            </a:r>
          </a:p>
        </p:txBody>
      </p:sp>
      <p:sp>
        <p:nvSpPr>
          <p:cNvPr id="74758" name="Text Box 6"/>
          <p:cNvSpPr txBox="1">
            <a:spLocks noChangeArrowheads="1"/>
          </p:cNvSpPr>
          <p:nvPr/>
        </p:nvSpPr>
        <p:spPr bwMode="auto">
          <a:xfrm>
            <a:off x="734060" y="1988820"/>
            <a:ext cx="7033895" cy="4603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轴的上、下偏差分别为：</a:t>
            </a:r>
            <a:r>
              <a:rPr lang="en-US" altLang="zh-CN" sz="2400" b="1"/>
              <a:t>es=+0.069  , ei=+0.048</a:t>
            </a:r>
            <a:r>
              <a:rPr lang="zh-CN" altLang="en-US" sz="2400" b="1"/>
              <a:t>。</a:t>
            </a:r>
          </a:p>
        </p:txBody>
      </p:sp>
      <p:sp>
        <p:nvSpPr>
          <p:cNvPr id="74759" name="Text Box 7"/>
          <p:cNvSpPr txBox="1">
            <a:spLocks noChangeArrowheads="1"/>
          </p:cNvSpPr>
          <p:nvPr/>
        </p:nvSpPr>
        <p:spPr bwMode="auto">
          <a:xfrm>
            <a:off x="728663" y="2492375"/>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根据式（</a:t>
            </a:r>
            <a:r>
              <a:rPr lang="en-US" altLang="zh-CN" sz="2400" b="1"/>
              <a:t>3.8</a:t>
            </a:r>
            <a:r>
              <a:rPr lang="zh-CN" altLang="en-US" sz="2400" b="1"/>
              <a:t>）</a:t>
            </a:r>
            <a:r>
              <a:rPr lang="en-US" altLang="zh-CN" sz="2400" b="1"/>
              <a:t>~</a:t>
            </a:r>
            <a:r>
              <a:rPr lang="zh-CN" altLang="en-US" sz="2400" b="1"/>
              <a:t>式（</a:t>
            </a:r>
            <a:r>
              <a:rPr lang="en-US" altLang="zh-CN" sz="2400" b="1"/>
              <a:t>3.10</a:t>
            </a:r>
            <a:r>
              <a:rPr lang="zh-CN" altLang="en-US" sz="2400" b="1"/>
              <a:t>）得</a:t>
            </a:r>
          </a:p>
        </p:txBody>
      </p:sp>
      <p:graphicFrame>
        <p:nvGraphicFramePr>
          <p:cNvPr id="74760" name="Object 8"/>
          <p:cNvGraphicFramePr>
            <a:graphicFrameLocks noChangeAspect="1"/>
          </p:cNvGraphicFramePr>
          <p:nvPr/>
        </p:nvGraphicFramePr>
        <p:xfrm>
          <a:off x="1270000" y="3163570"/>
          <a:ext cx="5283200" cy="540385"/>
        </p:xfrm>
        <a:graphic>
          <a:graphicData uri="http://schemas.openxmlformats.org/presentationml/2006/ole">
            <p:oleObj spid="_x0000_s35843" name="公式" r:id="rId4" imgW="53644800" imgH="5486400" progId="">
              <p:embed/>
            </p:oleObj>
          </a:graphicData>
        </a:graphic>
      </p:graphicFrame>
      <p:graphicFrame>
        <p:nvGraphicFramePr>
          <p:cNvPr id="74761" name="Object 9"/>
          <p:cNvGraphicFramePr>
            <a:graphicFrameLocks noChangeAspect="1"/>
          </p:cNvGraphicFramePr>
          <p:nvPr/>
        </p:nvGraphicFramePr>
        <p:xfrm>
          <a:off x="1324610" y="3861435"/>
          <a:ext cx="5815330" cy="485775"/>
        </p:xfrm>
        <a:graphic>
          <a:graphicData uri="http://schemas.openxmlformats.org/presentationml/2006/ole">
            <p:oleObj spid="_x0000_s35842" name="公式" r:id="rId5" imgW="61874400" imgH="5181600" progId="">
              <p:embed/>
            </p:oleObj>
          </a:graphicData>
        </a:graphic>
      </p:graphicFrame>
      <p:graphicFrame>
        <p:nvGraphicFramePr>
          <p:cNvPr id="74762" name="Object 10"/>
          <p:cNvGraphicFramePr>
            <a:graphicFrameLocks noChangeAspect="1"/>
          </p:cNvGraphicFramePr>
          <p:nvPr/>
        </p:nvGraphicFramePr>
        <p:xfrm>
          <a:off x="1349375" y="4404360"/>
          <a:ext cx="5412105" cy="1799590"/>
        </p:xfrm>
        <a:graphic>
          <a:graphicData uri="http://schemas.openxmlformats.org/presentationml/2006/ole">
            <p:oleObj spid="_x0000_s35841" name="公式" r:id="rId6" imgW="58521600" imgH="195072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wipe(left)">
                                      <p:cBhvr>
                                        <p:cTn id="7" dur="2000"/>
                                        <p:tgtEl>
                                          <p:spTgt spid="747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7"/>
                                        </p:tgtEl>
                                        <p:attrNameLst>
                                          <p:attrName>style.visibility</p:attrName>
                                        </p:attrNameLst>
                                      </p:cBhvr>
                                      <p:to>
                                        <p:strVal val="visible"/>
                                      </p:to>
                                    </p:set>
                                    <p:animEffect transition="in" filter="wipe(left)">
                                      <p:cBhvr>
                                        <p:cTn id="12" dur="2000"/>
                                        <p:tgtEl>
                                          <p:spTgt spid="747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8"/>
                                        </p:tgtEl>
                                        <p:attrNameLst>
                                          <p:attrName>style.visibility</p:attrName>
                                        </p:attrNameLst>
                                      </p:cBhvr>
                                      <p:to>
                                        <p:strVal val="visible"/>
                                      </p:to>
                                    </p:set>
                                    <p:animEffect transition="in" filter="wipe(left)">
                                      <p:cBhvr>
                                        <p:cTn id="17" dur="2000"/>
                                        <p:tgtEl>
                                          <p:spTgt spid="747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759"/>
                                        </p:tgtEl>
                                        <p:attrNameLst>
                                          <p:attrName>style.visibility</p:attrName>
                                        </p:attrNameLst>
                                      </p:cBhvr>
                                      <p:to>
                                        <p:strVal val="visible"/>
                                      </p:to>
                                    </p:set>
                                    <p:animEffect transition="in" filter="wipe(left)">
                                      <p:cBhvr>
                                        <p:cTn id="22" dur="2000"/>
                                        <p:tgtEl>
                                          <p:spTgt spid="747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4760"/>
                                        </p:tgtEl>
                                        <p:attrNameLst>
                                          <p:attrName>style.visibility</p:attrName>
                                        </p:attrNameLst>
                                      </p:cBhvr>
                                      <p:to>
                                        <p:strVal val="visible"/>
                                      </p:to>
                                    </p:set>
                                    <p:animEffect transition="in" filter="wipe(left)">
                                      <p:cBhvr>
                                        <p:cTn id="27" dur="2000"/>
                                        <p:tgtEl>
                                          <p:spTgt spid="7476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4761"/>
                                        </p:tgtEl>
                                        <p:attrNameLst>
                                          <p:attrName>style.visibility</p:attrName>
                                        </p:attrNameLst>
                                      </p:cBhvr>
                                      <p:to>
                                        <p:strVal val="visible"/>
                                      </p:to>
                                    </p:set>
                                    <p:animEffect transition="in" filter="wipe(left)">
                                      <p:cBhvr>
                                        <p:cTn id="32" dur="2000"/>
                                        <p:tgtEl>
                                          <p:spTgt spid="747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4762"/>
                                        </p:tgtEl>
                                        <p:attrNameLst>
                                          <p:attrName>style.visibility</p:attrName>
                                        </p:attrNameLst>
                                      </p:cBhvr>
                                      <p:to>
                                        <p:strVal val="visible"/>
                                      </p:to>
                                    </p:set>
                                    <p:animEffect transition="in" filter="wipe(left)">
                                      <p:cBhvr>
                                        <p:cTn id="37" dur="2000"/>
                                        <p:tgtEl>
                                          <p:spTgt spid="74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P spid="74758" grpId="0" bldLvl="0" animBg="1"/>
      <p:bldP spid="7475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26</a:t>
            </a:fld>
            <a:endParaRPr lang="en-US" altLang="zh-CN"/>
          </a:p>
        </p:txBody>
      </p:sp>
      <p:sp>
        <p:nvSpPr>
          <p:cNvPr id="5" name="Text Box 14"/>
          <p:cNvSpPr txBox="1">
            <a:spLocks noChangeArrowheads="1"/>
          </p:cNvSpPr>
          <p:nvPr/>
        </p:nvSpPr>
        <p:spPr bwMode="auto">
          <a:xfrm>
            <a:off x="395536" y="260648"/>
            <a:ext cx="63246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  ③  </a:t>
            </a:r>
            <a:r>
              <a:rPr lang="zh-CN" altLang="en-US" sz="3200" b="1" dirty="0" smtClean="0"/>
              <a:t>过渡配合</a:t>
            </a:r>
            <a:endParaRPr lang="zh-CN" altLang="en-US" sz="3200" b="1" dirty="0"/>
          </a:p>
        </p:txBody>
      </p:sp>
      <p:pic>
        <p:nvPicPr>
          <p:cNvPr id="7" name="Picture 15"/>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253455" y="2132856"/>
            <a:ext cx="6155704" cy="2952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 name="Text Box 36"/>
          <p:cNvSpPr txBox="1">
            <a:spLocks noChangeArrowheads="1"/>
          </p:cNvSpPr>
          <p:nvPr/>
        </p:nvSpPr>
        <p:spPr bwMode="auto">
          <a:xfrm>
            <a:off x="1612833" y="5024457"/>
            <a:ext cx="3672408"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dirty="0" err="1"/>
              <a:t>D</a:t>
            </a:r>
            <a:r>
              <a:rPr lang="en-US" altLang="zh-CN" b="1" baseline="-25000" dirty="0" err="1"/>
              <a:t>max</a:t>
            </a:r>
            <a:r>
              <a:rPr lang="en-US" altLang="zh-CN" b="1" dirty="0">
                <a:cs typeface="Times New Roman" panose="02020603050405020304" pitchFamily="18" charset="0"/>
              </a:rPr>
              <a:t>– </a:t>
            </a:r>
            <a:r>
              <a:rPr lang="en-US" altLang="zh-CN" b="1" i="1" dirty="0" err="1"/>
              <a:t>d</a:t>
            </a:r>
            <a:r>
              <a:rPr lang="en-US" altLang="zh-CN" b="1" baseline="-25000" dirty="0" err="1"/>
              <a:t>min</a:t>
            </a:r>
            <a:r>
              <a:rPr lang="en-US" altLang="zh-CN" b="1" dirty="0">
                <a:cs typeface="Times New Roman" panose="02020603050405020304" pitchFamily="18" charset="0"/>
              </a:rPr>
              <a:t>= </a:t>
            </a:r>
            <a:r>
              <a:rPr lang="en-US" altLang="zh-CN" b="1" dirty="0">
                <a:solidFill>
                  <a:srgbClr val="FF0000"/>
                </a:solidFill>
              </a:rPr>
              <a:t>ES–</a:t>
            </a:r>
            <a:r>
              <a:rPr lang="en-US" altLang="zh-CN" b="1" dirty="0" err="1">
                <a:solidFill>
                  <a:srgbClr val="FF0000"/>
                </a:solidFill>
              </a:rPr>
              <a:t>ei</a:t>
            </a:r>
            <a:r>
              <a:rPr lang="en-US" altLang="zh-CN" b="1" dirty="0"/>
              <a:t> (3.5)</a:t>
            </a:r>
          </a:p>
        </p:txBody>
      </p:sp>
      <p:sp>
        <p:nvSpPr>
          <p:cNvPr id="11" name="Text Box 39"/>
          <p:cNvSpPr txBox="1">
            <a:spLocks noChangeArrowheads="1"/>
          </p:cNvSpPr>
          <p:nvPr/>
        </p:nvSpPr>
        <p:spPr bwMode="auto">
          <a:xfrm>
            <a:off x="1596634" y="5665807"/>
            <a:ext cx="383262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dirty="0" err="1"/>
              <a:t>D</a:t>
            </a:r>
            <a:r>
              <a:rPr lang="en-US" altLang="zh-CN" b="1" baseline="-25000" dirty="0" err="1"/>
              <a:t>min</a:t>
            </a:r>
            <a:r>
              <a:rPr lang="en-US" altLang="zh-CN" b="1" dirty="0">
                <a:cs typeface="Times New Roman" panose="02020603050405020304" pitchFamily="18" charset="0"/>
              </a:rPr>
              <a:t>– </a:t>
            </a:r>
            <a:r>
              <a:rPr lang="en-US" altLang="zh-CN" b="1" i="1" dirty="0" err="1"/>
              <a:t>d</a:t>
            </a:r>
            <a:r>
              <a:rPr lang="en-US" altLang="zh-CN" b="1" baseline="-25000" dirty="0" err="1"/>
              <a:t>max</a:t>
            </a:r>
            <a:r>
              <a:rPr lang="en-US" altLang="zh-CN" b="1" baseline="-25000" dirty="0"/>
              <a:t> </a:t>
            </a:r>
            <a:r>
              <a:rPr lang="en-US" altLang="zh-CN" b="1" dirty="0" smtClean="0">
                <a:cs typeface="Times New Roman" panose="02020603050405020304" pitchFamily="18" charset="0"/>
              </a:rPr>
              <a:t>= </a:t>
            </a:r>
            <a:r>
              <a:rPr lang="en-US" altLang="zh-CN" b="1" dirty="0" smtClean="0">
                <a:solidFill>
                  <a:srgbClr val="FF0000"/>
                </a:solidFill>
              </a:rPr>
              <a:t>EI–</a:t>
            </a:r>
            <a:r>
              <a:rPr lang="en-US" altLang="zh-CN" b="1" dirty="0" err="1" smtClean="0">
                <a:solidFill>
                  <a:srgbClr val="FF0000"/>
                </a:solidFill>
              </a:rPr>
              <a:t>es</a:t>
            </a:r>
            <a:r>
              <a:rPr lang="en-US" altLang="zh-CN" b="1" dirty="0" smtClean="0"/>
              <a:t> </a:t>
            </a:r>
            <a:r>
              <a:rPr lang="en-US" altLang="zh-CN" b="1" dirty="0"/>
              <a:t>(</a:t>
            </a:r>
            <a:r>
              <a:rPr lang="en-US" altLang="zh-CN" b="1" dirty="0" smtClean="0"/>
              <a:t>3.9</a:t>
            </a:r>
            <a:r>
              <a:rPr lang="en-US" altLang="zh-CN" b="1" dirty="0"/>
              <a:t>)</a:t>
            </a:r>
            <a:endParaRPr lang="zh-CN" altLang="en-US" b="1" dirty="0">
              <a:cs typeface="Times New Roman" panose="02020603050405020304" pitchFamily="18" charset="0"/>
            </a:endParaRPr>
          </a:p>
        </p:txBody>
      </p:sp>
      <p:sp>
        <p:nvSpPr>
          <p:cNvPr id="12" name="Text Box 41"/>
          <p:cNvSpPr txBox="1">
            <a:spLocks noChangeArrowheads="1"/>
          </p:cNvSpPr>
          <p:nvPr/>
        </p:nvSpPr>
        <p:spPr bwMode="auto">
          <a:xfrm>
            <a:off x="661596" y="5695970"/>
            <a:ext cx="15240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Y</a:t>
            </a:r>
            <a:r>
              <a:rPr lang="en-US" altLang="zh-CN" b="1" baseline="-25000"/>
              <a:t>max</a:t>
            </a:r>
            <a:r>
              <a:rPr lang="en-US" altLang="zh-CN" b="1"/>
              <a:t>=</a:t>
            </a:r>
          </a:p>
        </p:txBody>
      </p:sp>
      <p:sp>
        <p:nvSpPr>
          <p:cNvPr id="13" name="Text Box 44"/>
          <p:cNvSpPr txBox="1">
            <a:spLocks noChangeArrowheads="1"/>
          </p:cNvSpPr>
          <p:nvPr/>
        </p:nvSpPr>
        <p:spPr bwMode="auto">
          <a:xfrm>
            <a:off x="661596" y="5024457"/>
            <a:ext cx="15240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max</a:t>
            </a:r>
            <a:r>
              <a:rPr lang="en-US" altLang="zh-CN" b="1"/>
              <a:t>=  </a:t>
            </a:r>
          </a:p>
        </p:txBody>
      </p:sp>
      <p:graphicFrame>
        <p:nvGraphicFramePr>
          <p:cNvPr id="14" name="Object 47"/>
          <p:cNvGraphicFramePr>
            <a:graphicFrameLocks noChangeAspect="1"/>
          </p:cNvGraphicFramePr>
          <p:nvPr/>
        </p:nvGraphicFramePr>
        <p:xfrm>
          <a:off x="1890395" y="1143000"/>
          <a:ext cx="5130165" cy="989965"/>
        </p:xfrm>
        <a:graphic>
          <a:graphicData uri="http://schemas.openxmlformats.org/presentationml/2006/ole">
            <p:oleObj spid="_x0000_s37890" name="公式" r:id="rId5" imgW="47548800" imgH="10363200" progId="">
              <p:embed/>
            </p:oleObj>
          </a:graphicData>
        </a:graphic>
      </p:graphicFrame>
      <p:graphicFrame>
        <p:nvGraphicFramePr>
          <p:cNvPr id="15" name="Object 50"/>
          <p:cNvGraphicFramePr>
            <a:graphicFrameLocks noChangeAspect="1"/>
          </p:cNvGraphicFramePr>
          <p:nvPr/>
        </p:nvGraphicFramePr>
        <p:xfrm>
          <a:off x="5333308" y="4715201"/>
          <a:ext cx="3096344" cy="1462779"/>
        </p:xfrm>
        <a:graphic>
          <a:graphicData uri="http://schemas.openxmlformats.org/presentationml/2006/ole">
            <p:oleObj spid="_x0000_s37889" name="公式" r:id="rId6" imgW="30784800" imgH="152400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
                                        </p:tgtEl>
                                        <p:attrNameLst>
                                          <p:attrName>style.visibility</p:attrName>
                                        </p:attrNameLst>
                                      </p:cBhvr>
                                      <p:to>
                                        <p:strVal val="visible"/>
                                      </p:to>
                                    </p:set>
                                    <p:animEffect transition="in" filter="wipe(left)">
                                      <p:cBhvr>
                                        <p:cTn id="17" dur="3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0"/>
                                        </p:tgtEl>
                                        <p:attrNameLst>
                                          <p:attrName>style.visibility</p:attrName>
                                        </p:attrNameLst>
                                      </p:cBhvr>
                                      <p:to>
                                        <p:strVal val="visible"/>
                                      </p:to>
                                    </p:set>
                                    <p:animEffect transition="in" filter="wipe(left)">
                                      <p:cBhvr>
                                        <p:cTn id="22" dur="3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2"/>
                                        </p:tgtEl>
                                        <p:attrNameLst>
                                          <p:attrName>style.visibility</p:attrName>
                                        </p:attrNameLst>
                                      </p:cBhvr>
                                      <p:to>
                                        <p:strVal val="visible"/>
                                      </p:to>
                                    </p:set>
                                    <p:animEffect transition="in" filter="wipe(left)">
                                      <p:cBhvr>
                                        <p:cTn id="27" dur="3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1"/>
                                        </p:tgtEl>
                                        <p:attrNameLst>
                                          <p:attrName>style.visibility</p:attrName>
                                        </p:attrNameLst>
                                      </p:cBhvr>
                                      <p:to>
                                        <p:strVal val="visible"/>
                                      </p:to>
                                    </p:set>
                                    <p:animEffect transition="in" filter="wipe(left)">
                                      <p:cBhvr>
                                        <p:cTn id="32" dur="3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0" grpId="0" autoUpdateAnimBg="0"/>
      <p:bldP spid="11" grpId="0" autoUpdateAnimBg="0"/>
      <p:bldP spid="12" grpId="0" autoUpdateAnimBg="0"/>
      <p:bldP spid="1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987E2B14-CE29-4297-9171-437A446405DE}" type="slidenum">
              <a:rPr lang="en-US" altLang="zh-CN" sz="2000" smtClean="0">
                <a:solidFill>
                  <a:schemeClr val="accent2"/>
                </a:solidFill>
              </a:rPr>
              <a:pPr eaLnBrk="1" hangingPunct="1"/>
              <a:t>27</a:t>
            </a:fld>
            <a:endParaRPr lang="en-US" altLang="zh-CN" sz="2000" smtClean="0">
              <a:solidFill>
                <a:schemeClr val="accent2"/>
              </a:solidFill>
            </a:endParaRPr>
          </a:p>
        </p:txBody>
      </p:sp>
      <p:graphicFrame>
        <p:nvGraphicFramePr>
          <p:cNvPr id="75780" name="Object 4"/>
          <p:cNvGraphicFramePr>
            <a:graphicFrameLocks noChangeAspect="1"/>
          </p:cNvGraphicFramePr>
          <p:nvPr/>
        </p:nvGraphicFramePr>
        <p:xfrm>
          <a:off x="785785" y="214290"/>
          <a:ext cx="7362675" cy="1000132"/>
        </p:xfrm>
        <a:graphic>
          <a:graphicData uri="http://schemas.openxmlformats.org/presentationml/2006/ole">
            <p:oleObj spid="_x0000_s38917" name="公式" r:id="rId3" imgW="80772000" imgH="10972800" progId="">
              <p:embed/>
            </p:oleObj>
          </a:graphicData>
        </a:graphic>
      </p:graphicFrame>
      <p:sp>
        <p:nvSpPr>
          <p:cNvPr id="75781" name="Text Box 5"/>
          <p:cNvSpPr txBox="1">
            <a:spLocks noChangeArrowheads="1"/>
          </p:cNvSpPr>
          <p:nvPr/>
        </p:nvSpPr>
        <p:spPr bwMode="auto">
          <a:xfrm>
            <a:off x="655638" y="1293833"/>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解  依题意可得孔的上、下偏差分别为：</a:t>
            </a:r>
            <a:r>
              <a:rPr lang="en-US" altLang="zh-CN" sz="2400" b="1"/>
              <a:t>ES=+0.033</a:t>
            </a:r>
            <a:r>
              <a:rPr lang="zh-CN" altLang="en-US" sz="2400" b="1"/>
              <a:t>，</a:t>
            </a:r>
            <a:r>
              <a:rPr lang="en-US" altLang="zh-CN" sz="2400" b="1"/>
              <a:t>EI=0;</a:t>
            </a:r>
          </a:p>
        </p:txBody>
      </p:sp>
      <p:sp>
        <p:nvSpPr>
          <p:cNvPr id="75782" name="Text Box 6"/>
          <p:cNvSpPr txBox="1">
            <a:spLocks noChangeArrowheads="1"/>
          </p:cNvSpPr>
          <p:nvPr/>
        </p:nvSpPr>
        <p:spPr bwMode="auto">
          <a:xfrm>
            <a:off x="684213" y="1725633"/>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轴的上、下偏差分别为：</a:t>
            </a:r>
            <a:r>
              <a:rPr lang="en-US" altLang="zh-CN" sz="2400" b="1"/>
              <a:t>es=+0.013  , ei=-0.008</a:t>
            </a:r>
            <a:r>
              <a:rPr lang="zh-CN" altLang="en-US" sz="2400" b="1"/>
              <a:t>。</a:t>
            </a:r>
          </a:p>
        </p:txBody>
      </p:sp>
      <p:sp>
        <p:nvSpPr>
          <p:cNvPr id="75783" name="Text Box 7"/>
          <p:cNvSpPr txBox="1">
            <a:spLocks noChangeArrowheads="1"/>
          </p:cNvSpPr>
          <p:nvPr/>
        </p:nvSpPr>
        <p:spPr bwMode="auto">
          <a:xfrm>
            <a:off x="728663" y="2157433"/>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a:t>根据式（</a:t>
            </a:r>
            <a:r>
              <a:rPr lang="en-US" altLang="zh-CN" sz="2400" b="1"/>
              <a:t>3.5</a:t>
            </a:r>
            <a:r>
              <a:rPr lang="zh-CN" altLang="en-US" sz="2400" b="1"/>
              <a:t>）、式（</a:t>
            </a:r>
            <a:r>
              <a:rPr lang="en-US" altLang="zh-CN" sz="2400" b="1"/>
              <a:t>3.9</a:t>
            </a:r>
            <a:r>
              <a:rPr lang="zh-CN" altLang="en-US" sz="2400" b="1"/>
              <a:t>）和式（</a:t>
            </a:r>
            <a:r>
              <a:rPr lang="en-US" altLang="zh-CN" sz="2400" b="1"/>
              <a:t>3.11</a:t>
            </a:r>
            <a:r>
              <a:rPr lang="zh-CN" altLang="en-US" sz="2400" b="1"/>
              <a:t>）得</a:t>
            </a:r>
          </a:p>
        </p:txBody>
      </p:sp>
      <p:graphicFrame>
        <p:nvGraphicFramePr>
          <p:cNvPr id="75784" name="Object 8"/>
          <p:cNvGraphicFramePr>
            <a:graphicFrameLocks noChangeAspect="1"/>
          </p:cNvGraphicFramePr>
          <p:nvPr/>
        </p:nvGraphicFramePr>
        <p:xfrm>
          <a:off x="663575" y="2660670"/>
          <a:ext cx="6572250" cy="568325"/>
        </p:xfrm>
        <a:graphic>
          <a:graphicData uri="http://schemas.openxmlformats.org/presentationml/2006/ole">
            <p:oleObj spid="_x0000_s38916" name="公式" r:id="rId4" imgW="63398400" imgH="5486400" progId="">
              <p:embed/>
            </p:oleObj>
          </a:graphicData>
        </a:graphic>
      </p:graphicFrame>
      <p:graphicFrame>
        <p:nvGraphicFramePr>
          <p:cNvPr id="75785" name="Object 9"/>
          <p:cNvGraphicFramePr>
            <a:graphicFrameLocks noChangeAspect="1"/>
          </p:cNvGraphicFramePr>
          <p:nvPr/>
        </p:nvGraphicFramePr>
        <p:xfrm>
          <a:off x="755650" y="3254395"/>
          <a:ext cx="5965825" cy="608013"/>
        </p:xfrm>
        <a:graphic>
          <a:graphicData uri="http://schemas.openxmlformats.org/presentationml/2006/ole">
            <p:oleObj spid="_x0000_s38915" name="公式" r:id="rId5" imgW="53644800" imgH="5486400" progId="">
              <p:embed/>
            </p:oleObj>
          </a:graphicData>
        </a:graphic>
      </p:graphicFrame>
      <p:graphicFrame>
        <p:nvGraphicFramePr>
          <p:cNvPr id="75786" name="Object 10"/>
          <p:cNvGraphicFramePr>
            <a:graphicFrameLocks noChangeAspect="1"/>
          </p:cNvGraphicFramePr>
          <p:nvPr/>
        </p:nvGraphicFramePr>
        <p:xfrm>
          <a:off x="1173163" y="4965720"/>
          <a:ext cx="6569075" cy="1320800"/>
        </p:xfrm>
        <a:graphic>
          <a:graphicData uri="http://schemas.openxmlformats.org/presentationml/2006/ole">
            <p:oleObj spid="_x0000_s38914" name="公式" r:id="rId6" imgW="69494400" imgH="14020800" progId="">
              <p:embed/>
            </p:oleObj>
          </a:graphicData>
        </a:graphic>
      </p:graphicFrame>
      <p:graphicFrame>
        <p:nvGraphicFramePr>
          <p:cNvPr id="75787" name="Object 11"/>
          <p:cNvGraphicFramePr>
            <a:graphicFrameLocks noChangeAspect="1"/>
          </p:cNvGraphicFramePr>
          <p:nvPr/>
        </p:nvGraphicFramePr>
        <p:xfrm>
          <a:off x="827088" y="3879870"/>
          <a:ext cx="5616575" cy="1062038"/>
        </p:xfrm>
        <a:graphic>
          <a:graphicData uri="http://schemas.openxmlformats.org/presentationml/2006/ole">
            <p:oleObj spid="_x0000_s38913" name="公式" r:id="rId7" imgW="57912000" imgH="109728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wipe(left)">
                                      <p:cBhvr>
                                        <p:cTn id="7" dur="2000"/>
                                        <p:tgtEl>
                                          <p:spTgt spid="757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81"/>
                                        </p:tgtEl>
                                        <p:attrNameLst>
                                          <p:attrName>style.visibility</p:attrName>
                                        </p:attrNameLst>
                                      </p:cBhvr>
                                      <p:to>
                                        <p:strVal val="visible"/>
                                      </p:to>
                                    </p:set>
                                    <p:animEffect transition="in" filter="wipe(left)">
                                      <p:cBhvr>
                                        <p:cTn id="12" dur="2000"/>
                                        <p:tgtEl>
                                          <p:spTgt spid="757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82"/>
                                        </p:tgtEl>
                                        <p:attrNameLst>
                                          <p:attrName>style.visibility</p:attrName>
                                        </p:attrNameLst>
                                      </p:cBhvr>
                                      <p:to>
                                        <p:strVal val="visible"/>
                                      </p:to>
                                    </p:set>
                                    <p:animEffect transition="in" filter="wipe(left)">
                                      <p:cBhvr>
                                        <p:cTn id="17" dur="2000"/>
                                        <p:tgtEl>
                                          <p:spTgt spid="757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83"/>
                                        </p:tgtEl>
                                        <p:attrNameLst>
                                          <p:attrName>style.visibility</p:attrName>
                                        </p:attrNameLst>
                                      </p:cBhvr>
                                      <p:to>
                                        <p:strVal val="visible"/>
                                      </p:to>
                                    </p:set>
                                    <p:animEffect transition="in" filter="wipe(left)">
                                      <p:cBhvr>
                                        <p:cTn id="22" dur="2000"/>
                                        <p:tgtEl>
                                          <p:spTgt spid="757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784"/>
                                        </p:tgtEl>
                                        <p:attrNameLst>
                                          <p:attrName>style.visibility</p:attrName>
                                        </p:attrNameLst>
                                      </p:cBhvr>
                                      <p:to>
                                        <p:strVal val="visible"/>
                                      </p:to>
                                    </p:set>
                                    <p:animEffect transition="in" filter="wipe(left)">
                                      <p:cBhvr>
                                        <p:cTn id="27" dur="2000"/>
                                        <p:tgtEl>
                                          <p:spTgt spid="757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5785"/>
                                        </p:tgtEl>
                                        <p:attrNameLst>
                                          <p:attrName>style.visibility</p:attrName>
                                        </p:attrNameLst>
                                      </p:cBhvr>
                                      <p:to>
                                        <p:strVal val="visible"/>
                                      </p:to>
                                    </p:set>
                                    <p:animEffect transition="in" filter="wipe(left)">
                                      <p:cBhvr>
                                        <p:cTn id="32" dur="2000"/>
                                        <p:tgtEl>
                                          <p:spTgt spid="7578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5787"/>
                                        </p:tgtEl>
                                        <p:attrNameLst>
                                          <p:attrName>style.visibility</p:attrName>
                                        </p:attrNameLst>
                                      </p:cBhvr>
                                      <p:to>
                                        <p:strVal val="visible"/>
                                      </p:to>
                                    </p:set>
                                    <p:animEffect transition="in" filter="wipe(left)">
                                      <p:cBhvr>
                                        <p:cTn id="37" dur="2000"/>
                                        <p:tgtEl>
                                          <p:spTgt spid="7578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5786"/>
                                        </p:tgtEl>
                                        <p:attrNameLst>
                                          <p:attrName>style.visibility</p:attrName>
                                        </p:attrNameLst>
                                      </p:cBhvr>
                                      <p:to>
                                        <p:strVal val="visible"/>
                                      </p:to>
                                    </p:set>
                                    <p:animEffect transition="in" filter="wipe(left)">
                                      <p:cBhvr>
                                        <p:cTn id="42" dur="2000"/>
                                        <p:tgtEl>
                                          <p:spTgt spid="75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p:bldP spid="75782" grpId="0"/>
      <p:bldP spid="7578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28</a:t>
            </a:fld>
            <a:endParaRPr lang="en-US" altLang="zh-CN"/>
          </a:p>
        </p:txBody>
      </p:sp>
      <p:sp>
        <p:nvSpPr>
          <p:cNvPr id="3" name="Text Box 6"/>
          <p:cNvSpPr txBox="1">
            <a:spLocks noChangeArrowheads="1"/>
          </p:cNvSpPr>
          <p:nvPr/>
        </p:nvSpPr>
        <p:spPr bwMode="auto">
          <a:xfrm>
            <a:off x="323528" y="326519"/>
            <a:ext cx="5489575"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dirty="0"/>
              <a:t>（</a:t>
            </a:r>
            <a:r>
              <a:rPr lang="en-US" altLang="zh-CN" sz="3200" b="1" dirty="0"/>
              <a:t>4</a:t>
            </a:r>
            <a:r>
              <a:rPr lang="zh-CN" altLang="en-US" sz="3200" b="1" dirty="0"/>
              <a:t>）配合公差</a:t>
            </a:r>
          </a:p>
        </p:txBody>
      </p:sp>
      <p:sp>
        <p:nvSpPr>
          <p:cNvPr id="5" name="Text Box 10"/>
          <p:cNvSpPr txBox="1">
            <a:spLocks noChangeArrowheads="1"/>
          </p:cNvSpPr>
          <p:nvPr/>
        </p:nvSpPr>
        <p:spPr bwMode="auto">
          <a:xfrm>
            <a:off x="539552" y="1052736"/>
            <a:ext cx="7992888" cy="9363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400" b="1" dirty="0" smtClean="0"/>
              <a:t>      </a:t>
            </a:r>
            <a:r>
              <a:rPr lang="zh-CN" altLang="en-US" sz="2400" b="1" dirty="0" smtClean="0">
                <a:solidFill>
                  <a:srgbClr val="FF0000"/>
                </a:solidFill>
              </a:rPr>
              <a:t>允许间隙</a:t>
            </a:r>
            <a:r>
              <a:rPr lang="zh-CN" altLang="en-US" sz="2400" b="1" dirty="0">
                <a:solidFill>
                  <a:srgbClr val="FF0000"/>
                </a:solidFill>
              </a:rPr>
              <a:t>或过盈的变动量</a:t>
            </a:r>
            <a:r>
              <a:rPr lang="zh-CN" altLang="en-US" sz="2400" b="1" dirty="0"/>
              <a:t>，它等于配合的孔与轴的公差之和。用符号  </a:t>
            </a:r>
            <a:r>
              <a:rPr lang="en-US" altLang="zh-CN" sz="2400" b="1" i="1" dirty="0" err="1">
                <a:solidFill>
                  <a:srgbClr val="FF0000"/>
                </a:solidFill>
              </a:rPr>
              <a:t>T</a:t>
            </a:r>
            <a:r>
              <a:rPr lang="en-US" altLang="zh-CN" sz="2400" b="1" baseline="-25000" dirty="0" err="1">
                <a:solidFill>
                  <a:srgbClr val="FF0000"/>
                </a:solidFill>
              </a:rPr>
              <a:t>f</a:t>
            </a:r>
            <a:r>
              <a:rPr lang="en-US" altLang="zh-CN" sz="2400" b="1" baseline="-25000" dirty="0">
                <a:solidFill>
                  <a:srgbClr val="FF0000"/>
                </a:solidFill>
              </a:rPr>
              <a:t> </a:t>
            </a:r>
            <a:r>
              <a:rPr lang="en-US" altLang="zh-CN" sz="2400" b="1" dirty="0">
                <a:solidFill>
                  <a:srgbClr val="FF0000"/>
                </a:solidFill>
              </a:rPr>
              <a:t> </a:t>
            </a:r>
            <a:r>
              <a:rPr lang="zh-CN" altLang="en-US" sz="2400" b="1" dirty="0" smtClean="0"/>
              <a:t>表示。</a:t>
            </a:r>
            <a:endParaRPr lang="zh-CN" altLang="en-US" sz="2400" b="1" dirty="0"/>
          </a:p>
        </p:txBody>
      </p:sp>
      <p:graphicFrame>
        <p:nvGraphicFramePr>
          <p:cNvPr id="9" name="Object 22"/>
          <p:cNvGraphicFramePr>
            <a:graphicFrameLocks noChangeAspect="1"/>
          </p:cNvGraphicFramePr>
          <p:nvPr/>
        </p:nvGraphicFramePr>
        <p:xfrm>
          <a:off x="2071670" y="2271798"/>
          <a:ext cx="4516554" cy="1085194"/>
        </p:xfrm>
        <a:graphic>
          <a:graphicData uri="http://schemas.openxmlformats.org/presentationml/2006/ole">
            <p:oleObj spid="_x0000_s40964" name="公式" r:id="rId3" imgW="48158400" imgH="11582400" progId="">
              <p:embed/>
            </p:oleObj>
          </a:graphicData>
        </a:graphic>
      </p:graphicFrame>
      <p:graphicFrame>
        <p:nvGraphicFramePr>
          <p:cNvPr id="10" name="Object 23"/>
          <p:cNvGraphicFramePr>
            <a:graphicFrameLocks noChangeAspect="1"/>
          </p:cNvGraphicFramePr>
          <p:nvPr/>
        </p:nvGraphicFramePr>
        <p:xfrm>
          <a:off x="2428860" y="3513654"/>
          <a:ext cx="3118857" cy="635425"/>
        </p:xfrm>
        <a:graphic>
          <a:graphicData uri="http://schemas.openxmlformats.org/presentationml/2006/ole">
            <p:oleObj spid="_x0000_s40963" name="公式" r:id="rId4" imgW="29870400" imgH="6096000" progId="">
              <p:embed/>
            </p:oleObj>
          </a:graphicData>
        </a:graphic>
      </p:graphicFrame>
      <p:graphicFrame>
        <p:nvGraphicFramePr>
          <p:cNvPr id="11" name="Object 24"/>
          <p:cNvGraphicFramePr>
            <a:graphicFrameLocks noChangeAspect="1"/>
          </p:cNvGraphicFramePr>
          <p:nvPr/>
        </p:nvGraphicFramePr>
        <p:xfrm>
          <a:off x="2428860" y="4314324"/>
          <a:ext cx="3262873" cy="626844"/>
        </p:xfrm>
        <a:graphic>
          <a:graphicData uri="http://schemas.openxmlformats.org/presentationml/2006/ole">
            <p:oleObj spid="_x0000_s40962" name="公式" r:id="rId5" imgW="31699200" imgH="6096000" progId="">
              <p:embed/>
            </p:oleObj>
          </a:graphicData>
        </a:graphic>
      </p:graphicFrame>
      <p:graphicFrame>
        <p:nvGraphicFramePr>
          <p:cNvPr id="12" name="Object 25"/>
          <p:cNvGraphicFramePr>
            <a:graphicFrameLocks noChangeAspect="1"/>
          </p:cNvGraphicFramePr>
          <p:nvPr/>
        </p:nvGraphicFramePr>
        <p:xfrm>
          <a:off x="2428860" y="5048883"/>
          <a:ext cx="3295441" cy="1237637"/>
        </p:xfrm>
        <a:graphic>
          <a:graphicData uri="http://schemas.openxmlformats.org/presentationml/2006/ole">
            <p:oleObj spid="_x0000_s40961" name="公式" r:id="rId6" imgW="30784800" imgH="115824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in)">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6" name="Object 6"/>
          <p:cNvGraphicFramePr>
            <a:graphicFrameLocks noGrp="1" noChangeAspect="1"/>
          </p:cNvGraphicFramePr>
          <p:nvPr>
            <p:ph/>
          </p:nvPr>
        </p:nvGraphicFramePr>
        <p:xfrm>
          <a:off x="614363" y="1988220"/>
          <a:ext cx="8058150" cy="652462"/>
        </p:xfrm>
        <a:graphic>
          <a:graphicData uri="http://schemas.openxmlformats.org/presentationml/2006/ole">
            <p:oleObj spid="_x0000_s41988" name="公式" r:id="rId3" imgW="75285600" imgH="6096000" progId="">
              <p:embed/>
            </p:oleObj>
          </a:graphicData>
        </a:graphic>
      </p:graphicFrame>
      <p:sp>
        <p:nvSpPr>
          <p:cNvPr id="33794" name="灯片编号占位符 4"/>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C1C7E08F-79C2-4668-9843-EC9281B429CF}" type="slidenum">
              <a:rPr lang="en-US" altLang="zh-CN" sz="2000" smtClean="0">
                <a:solidFill>
                  <a:schemeClr val="accent2"/>
                </a:solidFill>
              </a:rPr>
              <a:pPr eaLnBrk="1" hangingPunct="1"/>
              <a:t>29</a:t>
            </a:fld>
            <a:endParaRPr lang="en-US" altLang="zh-CN" sz="2000" smtClean="0">
              <a:solidFill>
                <a:schemeClr val="accent2"/>
              </a:solidFill>
            </a:endParaRPr>
          </a:p>
        </p:txBody>
      </p:sp>
      <p:graphicFrame>
        <p:nvGraphicFramePr>
          <p:cNvPr id="76804" name="Object 4"/>
          <p:cNvGraphicFramePr>
            <a:graphicFrameLocks noChangeAspect="1"/>
          </p:cNvGraphicFramePr>
          <p:nvPr/>
        </p:nvGraphicFramePr>
        <p:xfrm>
          <a:off x="1285852" y="642918"/>
          <a:ext cx="6863398" cy="449952"/>
        </p:xfrm>
        <a:graphic>
          <a:graphicData uri="http://schemas.openxmlformats.org/presentationml/2006/ole">
            <p:oleObj spid="_x0000_s41987" name="公式" r:id="rId4" imgW="74371200" imgH="4876800" progId="">
              <p:embed/>
            </p:oleObj>
          </a:graphicData>
        </a:graphic>
      </p:graphicFrame>
      <p:sp>
        <p:nvSpPr>
          <p:cNvPr id="76805" name="Text Box 5"/>
          <p:cNvSpPr txBox="1">
            <a:spLocks noChangeArrowheads="1"/>
          </p:cNvSpPr>
          <p:nvPr/>
        </p:nvSpPr>
        <p:spPr bwMode="auto">
          <a:xfrm>
            <a:off x="468313" y="1340520"/>
            <a:ext cx="8351837"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解  在例</a:t>
            </a:r>
            <a:r>
              <a:rPr lang="en-US" altLang="zh-CN" sz="2400" b="1" dirty="0"/>
              <a:t>3.2</a:t>
            </a:r>
            <a:r>
              <a:rPr lang="zh-CN" altLang="en-US" sz="2400" b="1" dirty="0"/>
              <a:t>中，根据式（</a:t>
            </a:r>
            <a:r>
              <a:rPr lang="en-US" altLang="zh-CN" sz="2400" b="1" dirty="0"/>
              <a:t>3.12</a:t>
            </a:r>
            <a:r>
              <a:rPr lang="zh-CN" altLang="en-US" sz="2400" b="1" dirty="0"/>
              <a:t>）可得间隙配合的配合公差为</a:t>
            </a:r>
          </a:p>
        </p:txBody>
      </p:sp>
      <p:sp>
        <p:nvSpPr>
          <p:cNvPr id="76808" name="Text Box 8"/>
          <p:cNvSpPr txBox="1">
            <a:spLocks noChangeArrowheads="1"/>
          </p:cNvSpPr>
          <p:nvPr/>
        </p:nvSpPr>
        <p:spPr bwMode="auto">
          <a:xfrm>
            <a:off x="468313" y="2853407"/>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 </a:t>
            </a:r>
            <a:r>
              <a:rPr lang="zh-CN" altLang="en-US" sz="2400" b="1"/>
              <a:t>在例</a:t>
            </a:r>
            <a:r>
              <a:rPr lang="en-US" altLang="zh-CN" sz="2400" b="1"/>
              <a:t>3.3</a:t>
            </a:r>
            <a:r>
              <a:rPr lang="zh-CN" altLang="en-US" sz="2400" b="1"/>
              <a:t>中，根据式（</a:t>
            </a:r>
            <a:r>
              <a:rPr lang="en-US" altLang="zh-CN" sz="2400" b="1"/>
              <a:t>3.13</a:t>
            </a:r>
            <a:r>
              <a:rPr lang="zh-CN" altLang="en-US" sz="2400" b="1"/>
              <a:t>）可得过盈配合的配合公差为</a:t>
            </a:r>
          </a:p>
        </p:txBody>
      </p:sp>
      <p:graphicFrame>
        <p:nvGraphicFramePr>
          <p:cNvPr id="76809" name="Object 9"/>
          <p:cNvGraphicFramePr>
            <a:graphicFrameLocks noChangeAspect="1"/>
          </p:cNvGraphicFramePr>
          <p:nvPr/>
        </p:nvGraphicFramePr>
        <p:xfrm>
          <a:off x="755650" y="3285207"/>
          <a:ext cx="8137525" cy="704850"/>
        </p:xfrm>
        <a:graphic>
          <a:graphicData uri="http://schemas.openxmlformats.org/presentationml/2006/ole">
            <p:oleObj spid="_x0000_s41986" name="公式" r:id="rId5" imgW="70408800" imgH="6096000" progId="">
              <p:embed/>
            </p:oleObj>
          </a:graphicData>
        </a:graphic>
      </p:graphicFrame>
      <p:sp>
        <p:nvSpPr>
          <p:cNvPr id="76810" name="Text Box 10"/>
          <p:cNvSpPr txBox="1">
            <a:spLocks noChangeArrowheads="1"/>
          </p:cNvSpPr>
          <p:nvPr/>
        </p:nvSpPr>
        <p:spPr bwMode="auto">
          <a:xfrm>
            <a:off x="468313" y="4196432"/>
            <a:ext cx="8164512"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a:t> </a:t>
            </a:r>
            <a:r>
              <a:rPr lang="zh-CN" altLang="en-US" sz="2400" b="1"/>
              <a:t>在例</a:t>
            </a:r>
            <a:r>
              <a:rPr lang="en-US" altLang="zh-CN" sz="2400" b="1"/>
              <a:t>3.4</a:t>
            </a:r>
            <a:r>
              <a:rPr lang="zh-CN" altLang="en-US" sz="2400" b="1"/>
              <a:t>中，根据式（</a:t>
            </a:r>
            <a:r>
              <a:rPr lang="en-US" altLang="zh-CN" sz="2400" b="1"/>
              <a:t>3.14</a:t>
            </a:r>
            <a:r>
              <a:rPr lang="zh-CN" altLang="en-US" sz="2400" b="1"/>
              <a:t>）可得过渡配合的配合公差为</a:t>
            </a:r>
          </a:p>
        </p:txBody>
      </p:sp>
      <p:graphicFrame>
        <p:nvGraphicFramePr>
          <p:cNvPr id="76811" name="Object 11"/>
          <p:cNvGraphicFramePr>
            <a:graphicFrameLocks noChangeAspect="1"/>
          </p:cNvGraphicFramePr>
          <p:nvPr/>
        </p:nvGraphicFramePr>
        <p:xfrm>
          <a:off x="676275" y="4855245"/>
          <a:ext cx="7927975" cy="661987"/>
        </p:xfrm>
        <a:graphic>
          <a:graphicData uri="http://schemas.openxmlformats.org/presentationml/2006/ole">
            <p:oleObj spid="_x0000_s41985" name="公式" r:id="rId6" imgW="73152000" imgH="60960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wipe(left)">
                                      <p:cBhvr>
                                        <p:cTn id="7" dur="2000"/>
                                        <p:tgtEl>
                                          <p:spTgt spid="768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805"/>
                                        </p:tgtEl>
                                        <p:attrNameLst>
                                          <p:attrName>style.visibility</p:attrName>
                                        </p:attrNameLst>
                                      </p:cBhvr>
                                      <p:to>
                                        <p:strVal val="visible"/>
                                      </p:to>
                                    </p:set>
                                    <p:animEffect transition="in" filter="wipe(left)">
                                      <p:cBhvr>
                                        <p:cTn id="12" dur="2000"/>
                                        <p:tgtEl>
                                          <p:spTgt spid="768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wipe(left)">
                                      <p:cBhvr>
                                        <p:cTn id="17" dur="2000"/>
                                        <p:tgtEl>
                                          <p:spTgt spid="768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08"/>
                                        </p:tgtEl>
                                        <p:attrNameLst>
                                          <p:attrName>style.visibility</p:attrName>
                                        </p:attrNameLst>
                                      </p:cBhvr>
                                      <p:to>
                                        <p:strVal val="visible"/>
                                      </p:to>
                                    </p:set>
                                    <p:animEffect transition="in" filter="wipe(left)">
                                      <p:cBhvr>
                                        <p:cTn id="22" dur="2000"/>
                                        <p:tgtEl>
                                          <p:spTgt spid="768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6809"/>
                                        </p:tgtEl>
                                        <p:attrNameLst>
                                          <p:attrName>style.visibility</p:attrName>
                                        </p:attrNameLst>
                                      </p:cBhvr>
                                      <p:to>
                                        <p:strVal val="visible"/>
                                      </p:to>
                                    </p:set>
                                    <p:animEffect transition="in" filter="wipe(left)">
                                      <p:cBhvr>
                                        <p:cTn id="27" dur="2000"/>
                                        <p:tgtEl>
                                          <p:spTgt spid="768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10"/>
                                        </p:tgtEl>
                                        <p:attrNameLst>
                                          <p:attrName>style.visibility</p:attrName>
                                        </p:attrNameLst>
                                      </p:cBhvr>
                                      <p:to>
                                        <p:strVal val="visible"/>
                                      </p:to>
                                    </p:set>
                                    <p:animEffect transition="in" filter="wipe(left)">
                                      <p:cBhvr>
                                        <p:cTn id="32" dur="2000"/>
                                        <p:tgtEl>
                                          <p:spTgt spid="768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6811"/>
                                        </p:tgtEl>
                                        <p:attrNameLst>
                                          <p:attrName>style.visibility</p:attrName>
                                        </p:attrNameLst>
                                      </p:cBhvr>
                                      <p:to>
                                        <p:strVal val="visible"/>
                                      </p:to>
                                    </p:set>
                                    <p:animEffect transition="in" filter="wipe(left)">
                                      <p:cBhvr>
                                        <p:cTn id="37" dur="2000"/>
                                        <p:tgtEl>
                                          <p:spTgt spid="76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P spid="76808" grpId="0"/>
      <p:bldP spid="768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30</a:t>
            </a:fld>
            <a:endParaRPr lang="en-US" altLang="zh-CN"/>
          </a:p>
        </p:txBody>
      </p:sp>
      <p:sp>
        <p:nvSpPr>
          <p:cNvPr id="3" name="Text Box 4"/>
          <p:cNvSpPr txBox="1">
            <a:spLocks noChangeArrowheads="1"/>
          </p:cNvSpPr>
          <p:nvPr/>
        </p:nvSpPr>
        <p:spPr bwMode="auto">
          <a:xfrm>
            <a:off x="611560" y="332656"/>
            <a:ext cx="5141912"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  3.1.4  </a:t>
            </a:r>
            <a:r>
              <a:rPr lang="zh-CN" altLang="en-US" sz="3200" b="1" dirty="0"/>
              <a:t>配合制（基准制）</a:t>
            </a:r>
            <a:r>
              <a:rPr lang="zh-CN" altLang="en-US" sz="3200" dirty="0"/>
              <a:t> </a:t>
            </a:r>
          </a:p>
        </p:txBody>
      </p:sp>
      <p:sp>
        <p:nvSpPr>
          <p:cNvPr id="6" name="Text Box 6"/>
          <p:cNvSpPr txBox="1">
            <a:spLocks noChangeArrowheads="1"/>
          </p:cNvSpPr>
          <p:nvPr/>
        </p:nvSpPr>
        <p:spPr bwMode="auto">
          <a:xfrm>
            <a:off x="971600" y="1268760"/>
            <a:ext cx="7850187" cy="6093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b="1" dirty="0" smtClean="0"/>
              <a:t>同</a:t>
            </a:r>
            <a:r>
              <a:rPr lang="zh-CN" altLang="en-US" b="1" dirty="0"/>
              <a:t>一极限制的孔和轴组成的一种配合制度。 </a:t>
            </a:r>
          </a:p>
        </p:txBody>
      </p:sp>
      <p:sp>
        <p:nvSpPr>
          <p:cNvPr id="7" name="AutoShape 16"/>
          <p:cNvSpPr/>
          <p:nvPr/>
        </p:nvSpPr>
        <p:spPr bwMode="auto">
          <a:xfrm>
            <a:off x="2696046" y="2341712"/>
            <a:ext cx="381000" cy="914400"/>
          </a:xfrm>
          <a:prstGeom prst="leftBrace">
            <a:avLst>
              <a:gd name="adj1" fmla="val 20000"/>
              <a:gd name="adj2" fmla="val 50000"/>
            </a:avLst>
          </a:prstGeom>
          <a:noFill/>
          <a:ln w="38100">
            <a:solidFill>
              <a:schemeClr val="tx1"/>
            </a:solidFill>
            <a:rou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17"/>
          <p:cNvSpPr txBox="1">
            <a:spLocks noChangeArrowheads="1"/>
          </p:cNvSpPr>
          <p:nvPr/>
        </p:nvSpPr>
        <p:spPr bwMode="auto">
          <a:xfrm>
            <a:off x="3098725" y="2132856"/>
            <a:ext cx="2265363"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基孔制</a:t>
            </a:r>
          </a:p>
        </p:txBody>
      </p:sp>
      <p:sp>
        <p:nvSpPr>
          <p:cNvPr id="9" name="Rectangle 18"/>
          <p:cNvSpPr>
            <a:spLocks noChangeArrowheads="1"/>
          </p:cNvSpPr>
          <p:nvPr/>
        </p:nvSpPr>
        <p:spPr bwMode="auto">
          <a:xfrm>
            <a:off x="3098725" y="2890664"/>
            <a:ext cx="183356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dirty="0"/>
              <a:t>基轴制</a:t>
            </a:r>
          </a:p>
        </p:txBody>
      </p:sp>
      <p:sp>
        <p:nvSpPr>
          <p:cNvPr id="10" name="Rectangle 19"/>
          <p:cNvSpPr>
            <a:spLocks noChangeArrowheads="1"/>
          </p:cNvSpPr>
          <p:nvPr/>
        </p:nvSpPr>
        <p:spPr bwMode="auto">
          <a:xfrm>
            <a:off x="1011708" y="2494112"/>
            <a:ext cx="2303463"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a:t>配合制分</a:t>
            </a:r>
          </a:p>
        </p:txBody>
      </p:sp>
      <p:sp>
        <p:nvSpPr>
          <p:cNvPr id="11" name="Text Box 20"/>
          <p:cNvSpPr txBox="1">
            <a:spLocks noChangeArrowheads="1"/>
          </p:cNvSpPr>
          <p:nvPr/>
        </p:nvSpPr>
        <p:spPr bwMode="auto">
          <a:xfrm>
            <a:off x="1131888" y="4293096"/>
            <a:ext cx="2711450"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t>基本偏差：</a:t>
            </a:r>
          </a:p>
        </p:txBody>
      </p:sp>
      <p:sp>
        <p:nvSpPr>
          <p:cNvPr id="12" name="Text Box 21"/>
          <p:cNvSpPr txBox="1">
            <a:spLocks noChangeArrowheads="1"/>
          </p:cNvSpPr>
          <p:nvPr/>
        </p:nvSpPr>
        <p:spPr bwMode="auto">
          <a:xfrm>
            <a:off x="1115616" y="4854103"/>
            <a:ext cx="6335713"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公差带中的上偏差或下偏差，</a:t>
            </a:r>
          </a:p>
        </p:txBody>
      </p:sp>
      <p:sp>
        <p:nvSpPr>
          <p:cNvPr id="13" name="Text Box 22"/>
          <p:cNvSpPr txBox="1">
            <a:spLocks noChangeArrowheads="1"/>
          </p:cNvSpPr>
          <p:nvPr/>
        </p:nvSpPr>
        <p:spPr bwMode="auto">
          <a:xfrm>
            <a:off x="1115616" y="5358160"/>
            <a:ext cx="6264275"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一般为靠近零线的那个偏差。</a:t>
            </a:r>
          </a:p>
        </p:txBody>
      </p:sp>
      <p:sp>
        <p:nvSpPr>
          <p:cNvPr id="14" name="Line 30"/>
          <p:cNvSpPr>
            <a:spLocks noChangeShapeType="1"/>
          </p:cNvSpPr>
          <p:nvPr/>
        </p:nvSpPr>
        <p:spPr bwMode="auto">
          <a:xfrm flipV="1">
            <a:off x="2987824" y="3193552"/>
            <a:ext cx="3505200" cy="1371600"/>
          </a:xfrm>
          <a:prstGeom prst="line">
            <a:avLst/>
          </a:prstGeom>
          <a:noFill/>
          <a:ln w="38100">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Line 31"/>
          <p:cNvSpPr>
            <a:spLocks noChangeShapeType="1"/>
          </p:cNvSpPr>
          <p:nvPr/>
        </p:nvSpPr>
        <p:spPr bwMode="auto">
          <a:xfrm flipV="1">
            <a:off x="2995771" y="3936504"/>
            <a:ext cx="3559175" cy="661988"/>
          </a:xfrm>
          <a:prstGeom prst="line">
            <a:avLst/>
          </a:prstGeom>
          <a:noFill/>
          <a:ln w="38100">
            <a:solidFill>
              <a:srgbClr val="FF0000"/>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6" name="Group 38"/>
          <p:cNvGrpSpPr/>
          <p:nvPr/>
        </p:nvGrpSpPr>
        <p:grpSpPr bwMode="auto">
          <a:xfrm>
            <a:off x="5945346" y="2564904"/>
            <a:ext cx="2432050" cy="2209800"/>
            <a:chOff x="3888" y="1584"/>
            <a:chExt cx="1532" cy="1392"/>
          </a:xfrm>
        </p:grpSpPr>
        <p:sp>
          <p:nvSpPr>
            <p:cNvPr id="17" name="Line 23"/>
            <p:cNvSpPr>
              <a:spLocks noChangeShapeType="1"/>
            </p:cNvSpPr>
            <p:nvPr/>
          </p:nvSpPr>
          <p:spPr bwMode="auto">
            <a:xfrm>
              <a:off x="3888" y="2256"/>
              <a:ext cx="1296" cy="0"/>
            </a:xfrm>
            <a:prstGeom prst="line">
              <a:avLst/>
            </a:prstGeom>
            <a:noFill/>
            <a:ln w="28575">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24"/>
            <p:cNvSpPr>
              <a:spLocks noChangeShapeType="1"/>
            </p:cNvSpPr>
            <p:nvPr/>
          </p:nvSpPr>
          <p:spPr bwMode="auto">
            <a:xfrm>
              <a:off x="4080" y="2256"/>
              <a:ext cx="0" cy="720"/>
            </a:xfrm>
            <a:prstGeom prst="line">
              <a:avLst/>
            </a:prstGeom>
            <a:noFill/>
            <a:ln w="28575">
              <a:solidFill>
                <a:schemeClr val="tx1"/>
              </a:solidFill>
              <a:round/>
              <a:head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Rectangle 26"/>
            <p:cNvSpPr>
              <a:spLocks noChangeArrowheads="1"/>
            </p:cNvSpPr>
            <p:nvPr/>
          </p:nvSpPr>
          <p:spPr bwMode="auto">
            <a:xfrm>
              <a:off x="4224" y="1584"/>
              <a:ext cx="432" cy="432"/>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i="1"/>
                <a:t>T</a:t>
              </a:r>
            </a:p>
          </p:txBody>
        </p:sp>
        <p:sp>
          <p:nvSpPr>
            <p:cNvPr id="20" name="Rectangle 27"/>
            <p:cNvSpPr>
              <a:spLocks noChangeArrowheads="1"/>
            </p:cNvSpPr>
            <p:nvPr/>
          </p:nvSpPr>
          <p:spPr bwMode="auto">
            <a:xfrm>
              <a:off x="4272" y="2448"/>
              <a:ext cx="432" cy="432"/>
            </a:xfrm>
            <a:prstGeom prst="rect">
              <a:avLst/>
            </a:prstGeom>
            <a:noFill/>
            <a:ln w="381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r>
                <a:rPr lang="en-US" altLang="zh-CN" i="1"/>
                <a:t>T</a:t>
              </a:r>
            </a:p>
          </p:txBody>
        </p:sp>
        <p:sp>
          <p:nvSpPr>
            <p:cNvPr id="21" name="Text Box 36"/>
            <p:cNvSpPr txBox="1">
              <a:spLocks noChangeArrowheads="1"/>
            </p:cNvSpPr>
            <p:nvPr/>
          </p:nvSpPr>
          <p:spPr bwMode="auto">
            <a:xfrm>
              <a:off x="4558" y="1865"/>
              <a:ext cx="771"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EI</a:t>
              </a:r>
              <a:r>
                <a:rPr lang="zh-CN" altLang="en-US" sz="2000" b="1">
                  <a:solidFill>
                    <a:srgbClr val="FF0000"/>
                  </a:solidFill>
                </a:rPr>
                <a:t>、</a:t>
              </a:r>
              <a:r>
                <a:rPr lang="en-US" altLang="zh-CN" sz="2000" b="1">
                  <a:solidFill>
                    <a:srgbClr val="FF0000"/>
                  </a:solidFill>
                </a:rPr>
                <a:t>ei</a:t>
              </a:r>
            </a:p>
          </p:txBody>
        </p:sp>
        <p:sp>
          <p:nvSpPr>
            <p:cNvPr id="22" name="Text Box 37"/>
            <p:cNvSpPr txBox="1">
              <a:spLocks noChangeArrowheads="1"/>
            </p:cNvSpPr>
            <p:nvPr/>
          </p:nvSpPr>
          <p:spPr bwMode="auto">
            <a:xfrm>
              <a:off x="4649" y="2341"/>
              <a:ext cx="771"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ES</a:t>
              </a:r>
              <a:r>
                <a:rPr lang="zh-CN" altLang="en-US" sz="2000" b="1">
                  <a:solidFill>
                    <a:srgbClr val="FF0000"/>
                  </a:solidFill>
                </a:rPr>
                <a:t>、</a:t>
              </a:r>
              <a:r>
                <a:rPr lang="en-US" altLang="zh-CN" sz="2000" b="1">
                  <a:solidFill>
                    <a:srgbClr val="FF0000"/>
                  </a:solidFill>
                </a:rPr>
                <a:t>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
                                        </p:tgtEl>
                                        <p:attrNameLst>
                                          <p:attrName>style.visibility</p:attrName>
                                        </p:attrNameLst>
                                      </p:cBhvr>
                                      <p:to>
                                        <p:strVal val="visible"/>
                                      </p:to>
                                    </p:set>
                                    <p:animEffect transition="in" filter="wipe(left)">
                                      <p:cBhvr>
                                        <p:cTn id="17" dur="3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
                                        </p:tgtEl>
                                        <p:attrNameLst>
                                          <p:attrName>style.visibility</p:attrName>
                                        </p:attrNameLst>
                                      </p:cBhvr>
                                      <p:to>
                                        <p:strVal val="visible"/>
                                      </p:to>
                                    </p:set>
                                    <p:animEffect transition="in" filter="wipe(left)">
                                      <p:cBhvr>
                                        <p:cTn id="27" dur="3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9"/>
                                        </p:tgtEl>
                                        <p:attrNameLst>
                                          <p:attrName>style.visibility</p:attrName>
                                        </p:attrNameLst>
                                      </p:cBhvr>
                                      <p:to>
                                        <p:strVal val="visible"/>
                                      </p:to>
                                    </p:set>
                                    <p:animEffect transition="in" filter="wipe(left)">
                                      <p:cBhvr>
                                        <p:cTn id="32" dur="3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1"/>
                                        </p:tgtEl>
                                        <p:attrNameLst>
                                          <p:attrName>style.visibility</p:attrName>
                                        </p:attrNameLst>
                                      </p:cBhvr>
                                      <p:to>
                                        <p:strVal val="visible"/>
                                      </p:to>
                                    </p:set>
                                    <p:animEffect transition="in" filter="wipe(left)">
                                      <p:cBhvr>
                                        <p:cTn id="37" dur="3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3250" fill="hold"/>
                                        <p:tgtEl>
                                          <p:spTgt spid="16"/>
                                        </p:tgtEl>
                                        <p:attrNameLst>
                                          <p:attrName>ppt_x</p:attrName>
                                        </p:attrNameLst>
                                      </p:cBhvr>
                                      <p:tavLst>
                                        <p:tav tm="0">
                                          <p:val>
                                            <p:strVal val="1+#ppt_w/2"/>
                                          </p:val>
                                        </p:tav>
                                        <p:tav tm="100000">
                                          <p:val>
                                            <p:strVal val="#ppt_x"/>
                                          </p:val>
                                        </p:tav>
                                      </p:tavLst>
                                    </p:anim>
                                    <p:anim calcmode="lin" valueType="num">
                                      <p:cBhvr additive="base">
                                        <p:cTn id="43" dur="325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wd">
                                    <p:tmPct val="100000"/>
                                  </p:iterate>
                                  <p:childTnLst>
                                    <p:set>
                                      <p:cBhvr>
                                        <p:cTn id="47" dur="1" fill="hold">
                                          <p:stCondLst>
                                            <p:cond delay="0"/>
                                          </p:stCondLst>
                                        </p:cTn>
                                        <p:tgtEl>
                                          <p:spTgt spid="12"/>
                                        </p:tgtEl>
                                        <p:attrNameLst>
                                          <p:attrName>style.visibility</p:attrName>
                                        </p:attrNameLst>
                                      </p:cBhvr>
                                      <p:to>
                                        <p:strVal val="visible"/>
                                      </p:to>
                                    </p:set>
                                    <p:animEffect transition="in" filter="wipe(left)">
                                      <p:cBhvr>
                                        <p:cTn id="48" dur="3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13"/>
                                        </p:tgtEl>
                                        <p:attrNameLst>
                                          <p:attrName>style.visibility</p:attrName>
                                        </p:attrNameLst>
                                      </p:cBhvr>
                                      <p:to>
                                        <p:strVal val="visible"/>
                                      </p:to>
                                    </p:set>
                                    <p:animEffect transition="in" filter="wipe(left)">
                                      <p:cBhvr>
                                        <p:cTn id="53" dur="3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ppt_x</p:attrName>
                                        </p:attrNameLst>
                                      </p:cBhvr>
                                      <p:tavLst>
                                        <p:tav tm="0">
                                          <p:val>
                                            <p:strVal val="#ppt_x-#ppt_w/2"/>
                                          </p:val>
                                        </p:tav>
                                        <p:tav tm="100000">
                                          <p:val>
                                            <p:strVal val="#ppt_x"/>
                                          </p:val>
                                        </p:tav>
                                      </p:tavLst>
                                    </p:anim>
                                    <p:anim calcmode="lin" valueType="num">
                                      <p:cBhvr>
                                        <p:cTn id="59" dur="500" fill="hold"/>
                                        <p:tgtEl>
                                          <p:spTgt spid="14"/>
                                        </p:tgtEl>
                                        <p:attrNameLst>
                                          <p:attrName>ppt_y</p:attrName>
                                        </p:attrNameLst>
                                      </p:cBhvr>
                                      <p:tavLst>
                                        <p:tav tm="0">
                                          <p:val>
                                            <p:strVal val="#ppt_y"/>
                                          </p:val>
                                        </p:tav>
                                        <p:tav tm="100000">
                                          <p:val>
                                            <p:strVal val="#ppt_y"/>
                                          </p:val>
                                        </p:tav>
                                      </p:tavLst>
                                    </p:anim>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7" presetClass="entr" presetSubtype="8"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p:cTn id="66" dur="500" fill="hold"/>
                                        <p:tgtEl>
                                          <p:spTgt spid="15"/>
                                        </p:tgtEl>
                                        <p:attrNameLst>
                                          <p:attrName>ppt_x</p:attrName>
                                        </p:attrNameLst>
                                      </p:cBhvr>
                                      <p:tavLst>
                                        <p:tav tm="0">
                                          <p:val>
                                            <p:strVal val="#ppt_x-#ppt_w/2"/>
                                          </p:val>
                                        </p:tav>
                                        <p:tav tm="100000">
                                          <p:val>
                                            <p:strVal val="#ppt_x"/>
                                          </p:val>
                                        </p:tav>
                                      </p:tavLst>
                                    </p:anim>
                                    <p:anim calcmode="lin" valueType="num">
                                      <p:cBhvr>
                                        <p:cTn id="67" dur="500" fill="hold"/>
                                        <p:tgtEl>
                                          <p:spTgt spid="15"/>
                                        </p:tgtEl>
                                        <p:attrNameLst>
                                          <p:attrName>ppt_y</p:attrName>
                                        </p:attrNameLst>
                                      </p:cBhvr>
                                      <p:tavLst>
                                        <p:tav tm="0">
                                          <p:val>
                                            <p:strVal val="#ppt_y"/>
                                          </p:val>
                                        </p:tav>
                                        <p:tav tm="100000">
                                          <p:val>
                                            <p:strVal val="#ppt_y"/>
                                          </p:val>
                                        </p:tav>
                                      </p:tavLst>
                                    </p:anim>
                                    <p:anim calcmode="lin" valueType="num">
                                      <p:cBhvr>
                                        <p:cTn id="68" dur="500" fill="hold"/>
                                        <p:tgtEl>
                                          <p:spTgt spid="15"/>
                                        </p:tgtEl>
                                        <p:attrNameLst>
                                          <p:attrName>ppt_w</p:attrName>
                                        </p:attrNameLst>
                                      </p:cBhvr>
                                      <p:tavLst>
                                        <p:tav tm="0">
                                          <p:val>
                                            <p:fltVal val="0"/>
                                          </p:val>
                                        </p:tav>
                                        <p:tav tm="100000">
                                          <p:val>
                                            <p:strVal val="#ppt_w"/>
                                          </p:val>
                                        </p:tav>
                                      </p:tavLst>
                                    </p:anim>
                                    <p:anim calcmode="lin" valueType="num">
                                      <p:cBhvr>
                                        <p:cTn id="69"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7" grpId="0" animBg="1"/>
      <p:bldP spid="8" grpId="0" autoUpdateAnimBg="0"/>
      <p:bldP spid="9" grpId="0" autoUpdateAnimBg="0"/>
      <p:bldP spid="10" grpId="0" autoUpdateAnimBg="0"/>
      <p:bldP spid="11" grpId="0" autoUpdateAnimBg="0"/>
      <p:bldP spid="12" grpId="0" autoUpdateAnimBg="0"/>
      <p:bldP spid="13" grpId="0" autoUpdateAnimBg="0"/>
      <p:bldP spid="14"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31</a:t>
            </a:fld>
            <a:endParaRPr lang="en-US" altLang="zh-CN"/>
          </a:p>
        </p:txBody>
      </p:sp>
      <p:sp>
        <p:nvSpPr>
          <p:cNvPr id="3" name="Text Box 4"/>
          <p:cNvSpPr txBox="1">
            <a:spLocks noChangeArrowheads="1"/>
          </p:cNvSpPr>
          <p:nvPr/>
        </p:nvSpPr>
        <p:spPr bwMode="auto">
          <a:xfrm>
            <a:off x="610344" y="323945"/>
            <a:ext cx="52578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1.  </a:t>
            </a:r>
            <a:r>
              <a:rPr lang="zh-CN" altLang="en-US" sz="3200" b="1" dirty="0" smtClean="0"/>
              <a:t>基孔制</a:t>
            </a:r>
            <a:endParaRPr lang="zh-CN" altLang="en-US" sz="3200" b="1" dirty="0"/>
          </a:p>
        </p:txBody>
      </p:sp>
      <p:sp>
        <p:nvSpPr>
          <p:cNvPr id="6" name="Text Box 9"/>
          <p:cNvSpPr txBox="1">
            <a:spLocks noChangeArrowheads="1"/>
          </p:cNvSpPr>
          <p:nvPr/>
        </p:nvSpPr>
        <p:spPr bwMode="auto">
          <a:xfrm>
            <a:off x="1043608" y="1268760"/>
            <a:ext cx="485775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基孔制配合的孔为</a:t>
            </a:r>
            <a:r>
              <a:rPr lang="zh-CN" altLang="en-US" sz="2400" b="1" dirty="0">
                <a:solidFill>
                  <a:srgbClr val="FF0000"/>
                </a:solidFill>
              </a:rPr>
              <a:t>基准孔</a:t>
            </a:r>
            <a:r>
              <a:rPr lang="en-US" altLang="zh-CN" sz="2400" b="1" dirty="0"/>
              <a:t>,</a:t>
            </a:r>
          </a:p>
        </p:txBody>
      </p:sp>
      <p:sp>
        <p:nvSpPr>
          <p:cNvPr id="7" name="Text Box 10"/>
          <p:cNvSpPr txBox="1">
            <a:spLocks noChangeArrowheads="1"/>
          </p:cNvSpPr>
          <p:nvPr/>
        </p:nvSpPr>
        <p:spPr bwMode="auto">
          <a:xfrm>
            <a:off x="1043608" y="1844824"/>
            <a:ext cx="59388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基准孔的基本偏差为 </a:t>
            </a:r>
            <a:r>
              <a:rPr lang="en-US" altLang="zh-CN" sz="2400" b="1" dirty="0">
                <a:solidFill>
                  <a:srgbClr val="FF0000"/>
                </a:solidFill>
              </a:rPr>
              <a:t>EI = 0</a:t>
            </a:r>
            <a:r>
              <a:rPr lang="en-US" altLang="zh-CN" sz="2400" b="1" dirty="0"/>
              <a:t> </a:t>
            </a:r>
            <a:r>
              <a:rPr lang="zh-CN" altLang="en-US" sz="2400" b="1" dirty="0"/>
              <a:t>。</a:t>
            </a:r>
          </a:p>
        </p:txBody>
      </p:sp>
      <p:sp>
        <p:nvSpPr>
          <p:cNvPr id="8" name="Text Box 11"/>
          <p:cNvSpPr txBox="1">
            <a:spLocks noChangeArrowheads="1"/>
          </p:cNvSpPr>
          <p:nvPr/>
        </p:nvSpPr>
        <p:spPr bwMode="auto">
          <a:xfrm>
            <a:off x="4857752" y="1285860"/>
            <a:ext cx="31194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其代号为 </a:t>
            </a:r>
            <a:r>
              <a:rPr lang="en-US" altLang="zh-CN" sz="2400" b="1" dirty="0">
                <a:solidFill>
                  <a:srgbClr val="FF0000"/>
                </a:solidFill>
              </a:rPr>
              <a:t>H</a:t>
            </a:r>
            <a:r>
              <a:rPr lang="zh-CN" altLang="en-US" sz="2400" b="1" dirty="0"/>
              <a:t>。</a:t>
            </a:r>
          </a:p>
        </p:txBody>
      </p:sp>
      <p:sp>
        <p:nvSpPr>
          <p:cNvPr id="10" name="Rectangle 17"/>
          <p:cNvSpPr>
            <a:spLocks noChangeArrowheads="1"/>
          </p:cNvSpPr>
          <p:nvPr/>
        </p:nvSpPr>
        <p:spPr bwMode="auto">
          <a:xfrm>
            <a:off x="2643174" y="4929198"/>
            <a:ext cx="990600" cy="381000"/>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18"/>
          <p:cNvSpPr>
            <a:spLocks noChangeArrowheads="1"/>
          </p:cNvSpPr>
          <p:nvPr/>
        </p:nvSpPr>
        <p:spPr bwMode="auto">
          <a:xfrm>
            <a:off x="4286248" y="4929198"/>
            <a:ext cx="990600" cy="381000"/>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19"/>
          <p:cNvSpPr>
            <a:spLocks noChangeArrowheads="1"/>
          </p:cNvSpPr>
          <p:nvPr/>
        </p:nvSpPr>
        <p:spPr bwMode="auto">
          <a:xfrm>
            <a:off x="6286512" y="4929198"/>
            <a:ext cx="990600" cy="381000"/>
          </a:xfrm>
          <a:prstGeom prst="rect">
            <a:avLst/>
          </a:prstGeom>
          <a:noFill/>
          <a:ln w="28575">
            <a:solidFill>
              <a:srgbClr val="FF0000"/>
            </a:solidFill>
            <a:miter lim="800000"/>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 name="Group 27"/>
          <p:cNvGrpSpPr/>
          <p:nvPr/>
        </p:nvGrpSpPr>
        <p:grpSpPr bwMode="auto">
          <a:xfrm>
            <a:off x="928662" y="2214554"/>
            <a:ext cx="6905625" cy="3805238"/>
            <a:chOff x="687" y="1776"/>
            <a:chExt cx="4350" cy="2397"/>
          </a:xfrm>
        </p:grpSpPr>
        <p:grpSp>
          <p:nvGrpSpPr>
            <p:cNvPr id="14" name="Group 22"/>
            <p:cNvGrpSpPr/>
            <p:nvPr/>
          </p:nvGrpSpPr>
          <p:grpSpPr bwMode="auto">
            <a:xfrm>
              <a:off x="765" y="1776"/>
              <a:ext cx="4272" cy="2397"/>
              <a:chOff x="765" y="1776"/>
              <a:chExt cx="4272" cy="2397"/>
            </a:xfrm>
          </p:grpSpPr>
          <p:sp>
            <p:nvSpPr>
              <p:cNvPr id="18" name="Text Box 8"/>
              <p:cNvSpPr txBox="1">
                <a:spLocks noChangeArrowheads="1"/>
              </p:cNvSpPr>
              <p:nvPr/>
            </p:nvSpPr>
            <p:spPr bwMode="auto">
              <a:xfrm>
                <a:off x="2472" y="3942"/>
                <a:ext cx="122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1800" b="1" dirty="0" smtClean="0">
                    <a:latin typeface="宋体" panose="02010600030101010101" pitchFamily="2" charset="-122"/>
                  </a:rPr>
                  <a:t>基 </a:t>
                </a:r>
                <a:r>
                  <a:rPr lang="zh-CN" altLang="en-US" sz="1800" b="1" dirty="0">
                    <a:latin typeface="宋体" panose="02010600030101010101" pitchFamily="2" charset="-122"/>
                  </a:rPr>
                  <a:t>孔 制 配 合</a:t>
                </a:r>
              </a:p>
            </p:txBody>
          </p:sp>
          <p:grpSp>
            <p:nvGrpSpPr>
              <p:cNvPr id="19" name="Group 21"/>
              <p:cNvGrpSpPr/>
              <p:nvPr/>
            </p:nvGrpSpPr>
            <p:grpSpPr bwMode="auto">
              <a:xfrm>
                <a:off x="765" y="1776"/>
                <a:ext cx="4272" cy="2134"/>
                <a:chOff x="765" y="1776"/>
                <a:chExt cx="4272" cy="2134"/>
              </a:xfrm>
            </p:grpSpPr>
            <p:pic>
              <p:nvPicPr>
                <p:cNvPr id="20"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5" y="1776"/>
                  <a:ext cx="4272" cy="21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1" name="Oval 20"/>
                <p:cNvSpPr>
                  <a:spLocks noChangeArrowheads="1"/>
                </p:cNvSpPr>
                <p:nvPr/>
              </p:nvSpPr>
              <p:spPr bwMode="auto">
                <a:xfrm flipH="1">
                  <a:off x="3888" y="2736"/>
                  <a:ext cx="96" cy="96"/>
                </a:xfrm>
                <a:prstGeom prst="ellipse">
                  <a:avLst/>
                </a:prstGeom>
                <a:solidFill>
                  <a:srgbClr val="FF0000"/>
                </a:solidFill>
                <a:ln w="9525">
                  <a:solidFill>
                    <a:schemeClr val="tx1"/>
                  </a:solidFill>
                  <a:rou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5" name="Group 26"/>
            <p:cNvGrpSpPr/>
            <p:nvPr/>
          </p:nvGrpSpPr>
          <p:grpSpPr bwMode="auto">
            <a:xfrm>
              <a:off x="687" y="2400"/>
              <a:ext cx="4305" cy="1561"/>
              <a:chOff x="687" y="2400"/>
              <a:chExt cx="4305" cy="1561"/>
            </a:xfrm>
          </p:grpSpPr>
          <p:sp>
            <p:nvSpPr>
              <p:cNvPr id="16" name="Rectangle 23"/>
              <p:cNvSpPr>
                <a:spLocks noChangeArrowheads="1"/>
              </p:cNvSpPr>
              <p:nvPr/>
            </p:nvSpPr>
            <p:spPr bwMode="auto">
              <a:xfrm>
                <a:off x="1440" y="2400"/>
                <a:ext cx="3552" cy="384"/>
              </a:xfrm>
              <a:prstGeom prst="rect">
                <a:avLst/>
              </a:prstGeom>
              <a:noFill/>
              <a:ln w="57150">
                <a:solidFill>
                  <a:srgbClr val="FF0000"/>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Text Box 25"/>
              <p:cNvSpPr txBox="1">
                <a:spLocks noChangeArrowheads="1"/>
              </p:cNvSpPr>
              <p:nvPr/>
            </p:nvSpPr>
            <p:spPr bwMode="auto">
              <a:xfrm rot="-5400000">
                <a:off x="338" y="3325"/>
                <a:ext cx="985" cy="288"/>
              </a:xfrm>
              <a:prstGeom prst="rect">
                <a:avLst/>
              </a:prstGeom>
              <a:solidFill>
                <a:schemeClr val="bg1"/>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400" b="1"/>
                  <a:t>公称尺寸</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6"/>
                                        </p:tgtEl>
                                        <p:attrNameLst>
                                          <p:attrName>style.visibility</p:attrName>
                                        </p:attrNameLst>
                                      </p:cBhvr>
                                      <p:to>
                                        <p:strVal val="visible"/>
                                      </p:to>
                                    </p:set>
                                    <p:animEffect transition="in" filter="wipe(left)">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8"/>
                                        </p:tgtEl>
                                        <p:attrNameLst>
                                          <p:attrName>style.visibility</p:attrName>
                                        </p:attrNameLst>
                                      </p:cBhvr>
                                      <p:to>
                                        <p:strVal val="visible"/>
                                      </p:to>
                                    </p:set>
                                    <p:animEffect transition="in" filter="wipe(left)">
                                      <p:cBhvr>
                                        <p:cTn id="23" dur="3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7"/>
                                        </p:tgtEl>
                                        <p:attrNameLst>
                                          <p:attrName>style.visibility</p:attrName>
                                        </p:attrNameLst>
                                      </p:cBhvr>
                                      <p:to>
                                        <p:strVal val="visible"/>
                                      </p:to>
                                    </p:set>
                                    <p:animEffect transition="in" filter="wipe(left)">
                                      <p:cBhvr>
                                        <p:cTn id="28" dur="3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7" grpId="0" autoUpdateAnimBg="0"/>
      <p:bldP spid="8" grpId="0" autoUpdateAnimBg="0"/>
      <p:bldP spid="10"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32</a:t>
            </a:fld>
            <a:endParaRPr lang="en-US" altLang="zh-CN"/>
          </a:p>
        </p:txBody>
      </p:sp>
      <p:sp>
        <p:nvSpPr>
          <p:cNvPr id="5" name="Text Box 19"/>
          <p:cNvSpPr txBox="1">
            <a:spLocks noChangeArrowheads="1"/>
          </p:cNvSpPr>
          <p:nvPr/>
        </p:nvSpPr>
        <p:spPr bwMode="auto">
          <a:xfrm>
            <a:off x="683568" y="332656"/>
            <a:ext cx="50292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t>2. </a:t>
            </a:r>
            <a:r>
              <a:rPr lang="zh-CN" altLang="en-US" sz="3200" b="1" dirty="0" smtClean="0"/>
              <a:t>基轴制</a:t>
            </a:r>
            <a:endParaRPr lang="zh-CN" altLang="en-US" sz="3200" b="1" dirty="0"/>
          </a:p>
        </p:txBody>
      </p:sp>
      <p:sp>
        <p:nvSpPr>
          <p:cNvPr id="6" name="Text Box 20"/>
          <p:cNvSpPr txBox="1">
            <a:spLocks noChangeArrowheads="1"/>
          </p:cNvSpPr>
          <p:nvPr/>
        </p:nvSpPr>
        <p:spPr bwMode="auto">
          <a:xfrm>
            <a:off x="250825" y="609600"/>
            <a:ext cx="8210550" cy="5642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b="1" dirty="0"/>
              <a:t>        </a:t>
            </a:r>
            <a:endParaRPr lang="zh-CN" altLang="en-US" sz="2400" b="1" dirty="0"/>
          </a:p>
        </p:txBody>
      </p:sp>
      <p:sp>
        <p:nvSpPr>
          <p:cNvPr id="7" name="Text Box 21"/>
          <p:cNvSpPr txBox="1">
            <a:spLocks noChangeArrowheads="1"/>
          </p:cNvSpPr>
          <p:nvPr/>
        </p:nvSpPr>
        <p:spPr bwMode="auto">
          <a:xfrm>
            <a:off x="827584" y="1196752"/>
            <a:ext cx="493077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基轴制配合的轴为</a:t>
            </a:r>
            <a:r>
              <a:rPr lang="zh-CN" altLang="en-US" sz="2400" b="1" dirty="0">
                <a:solidFill>
                  <a:srgbClr val="FF0000"/>
                </a:solidFill>
              </a:rPr>
              <a:t>基准轴 </a:t>
            </a:r>
            <a:r>
              <a:rPr lang="en-US" altLang="zh-CN" sz="2400" b="1" dirty="0"/>
              <a:t>, </a:t>
            </a:r>
          </a:p>
        </p:txBody>
      </p:sp>
      <p:sp>
        <p:nvSpPr>
          <p:cNvPr id="8" name="Text Box 30"/>
          <p:cNvSpPr txBox="1">
            <a:spLocks noChangeArrowheads="1"/>
          </p:cNvSpPr>
          <p:nvPr/>
        </p:nvSpPr>
        <p:spPr bwMode="auto">
          <a:xfrm>
            <a:off x="827584" y="1772816"/>
            <a:ext cx="59404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基准轴的基本偏差为 </a:t>
            </a:r>
            <a:r>
              <a:rPr lang="en-US" altLang="zh-CN" sz="2400" b="1" dirty="0" err="1">
                <a:solidFill>
                  <a:srgbClr val="FF0000"/>
                </a:solidFill>
              </a:rPr>
              <a:t>es</a:t>
            </a:r>
            <a:r>
              <a:rPr lang="en-US" altLang="zh-CN" sz="2400" b="1" dirty="0">
                <a:solidFill>
                  <a:srgbClr val="FF0000"/>
                </a:solidFill>
              </a:rPr>
              <a:t> = 0</a:t>
            </a:r>
            <a:r>
              <a:rPr lang="en-US" altLang="zh-CN" sz="2400" b="1" dirty="0"/>
              <a:t> </a:t>
            </a:r>
            <a:r>
              <a:rPr lang="zh-CN" altLang="en-US" sz="2400" b="1" dirty="0"/>
              <a:t>。</a:t>
            </a:r>
          </a:p>
        </p:txBody>
      </p:sp>
      <p:sp>
        <p:nvSpPr>
          <p:cNvPr id="9" name="Text Box 31"/>
          <p:cNvSpPr txBox="1">
            <a:spLocks noChangeArrowheads="1"/>
          </p:cNvSpPr>
          <p:nvPr/>
        </p:nvSpPr>
        <p:spPr bwMode="auto">
          <a:xfrm>
            <a:off x="4643438" y="1231938"/>
            <a:ext cx="31892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400" b="1" dirty="0"/>
              <a:t>其代号为 </a:t>
            </a:r>
            <a:r>
              <a:rPr lang="en-US" altLang="zh-CN" sz="2400" b="1" dirty="0">
                <a:solidFill>
                  <a:srgbClr val="FF0000"/>
                </a:solidFill>
              </a:rPr>
              <a:t>h</a:t>
            </a:r>
            <a:r>
              <a:rPr lang="zh-CN" altLang="en-US" sz="2400" b="1" dirty="0"/>
              <a:t>。</a:t>
            </a:r>
          </a:p>
        </p:txBody>
      </p:sp>
      <p:grpSp>
        <p:nvGrpSpPr>
          <p:cNvPr id="10" name="Group 42"/>
          <p:cNvGrpSpPr/>
          <p:nvPr/>
        </p:nvGrpSpPr>
        <p:grpSpPr bwMode="auto">
          <a:xfrm>
            <a:off x="683568" y="2492897"/>
            <a:ext cx="7802760" cy="3744416"/>
            <a:chOff x="505" y="1920"/>
            <a:chExt cx="4823" cy="2139"/>
          </a:xfrm>
        </p:grpSpPr>
        <p:grpSp>
          <p:nvGrpSpPr>
            <p:cNvPr id="11" name="Group 40"/>
            <p:cNvGrpSpPr/>
            <p:nvPr/>
          </p:nvGrpSpPr>
          <p:grpSpPr bwMode="auto">
            <a:xfrm>
              <a:off x="528" y="1920"/>
              <a:ext cx="4800" cy="2139"/>
              <a:chOff x="528" y="1920"/>
              <a:chExt cx="4800" cy="2139"/>
            </a:xfrm>
          </p:grpSpPr>
          <p:grpSp>
            <p:nvGrpSpPr>
              <p:cNvPr id="13" name="Group 38"/>
              <p:cNvGrpSpPr/>
              <p:nvPr/>
            </p:nvGrpSpPr>
            <p:grpSpPr bwMode="auto">
              <a:xfrm>
                <a:off x="528" y="1920"/>
                <a:ext cx="4800" cy="2139"/>
                <a:chOff x="528" y="1920"/>
                <a:chExt cx="4800" cy="2139"/>
              </a:xfrm>
            </p:grpSpPr>
            <p:grpSp>
              <p:nvGrpSpPr>
                <p:cNvPr id="15" name="Group 35"/>
                <p:cNvGrpSpPr/>
                <p:nvPr/>
              </p:nvGrpSpPr>
              <p:grpSpPr bwMode="auto">
                <a:xfrm>
                  <a:off x="528" y="1920"/>
                  <a:ext cx="4800" cy="2139"/>
                  <a:chOff x="528" y="1920"/>
                  <a:chExt cx="4800" cy="2139"/>
                </a:xfrm>
              </p:grpSpPr>
              <p:pic>
                <p:nvPicPr>
                  <p:cNvPr id="18" name="Picture 3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28" y="1920"/>
                    <a:ext cx="4800" cy="213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9" name="Rectangle 34"/>
                  <p:cNvSpPr>
                    <a:spLocks noChangeArrowheads="1"/>
                  </p:cNvSpPr>
                  <p:nvPr/>
                </p:nvSpPr>
                <p:spPr bwMode="auto">
                  <a:xfrm>
                    <a:off x="2880" y="2448"/>
                    <a:ext cx="288" cy="96"/>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 name="Line 36"/>
                <p:cNvSpPr>
                  <a:spLocks noChangeShapeType="1"/>
                </p:cNvSpPr>
                <p:nvPr/>
              </p:nvSpPr>
              <p:spPr bwMode="auto">
                <a:xfrm>
                  <a:off x="2880" y="2448"/>
                  <a:ext cx="384" cy="0"/>
                </a:xfrm>
                <a:prstGeom prst="line">
                  <a:avLst/>
                </a:prstGeom>
                <a:noFill/>
                <a:ln w="2857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37"/>
                <p:cNvSpPr>
                  <a:spLocks noChangeShapeType="1"/>
                </p:cNvSpPr>
                <p:nvPr/>
              </p:nvSpPr>
              <p:spPr bwMode="auto">
                <a:xfrm flipH="1">
                  <a:off x="3072" y="2448"/>
                  <a:ext cx="192" cy="144"/>
                </a:xfrm>
                <a:prstGeom prst="line">
                  <a:avLst/>
                </a:prstGeom>
                <a:noFill/>
                <a:ln w="28575">
                  <a:solidFill>
                    <a:srgbClr val="FF0000"/>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 name="Oval 39"/>
              <p:cNvSpPr>
                <a:spLocks noChangeArrowheads="1"/>
              </p:cNvSpPr>
              <p:nvPr/>
            </p:nvSpPr>
            <p:spPr bwMode="auto">
              <a:xfrm flipV="1">
                <a:off x="3024" y="2496"/>
                <a:ext cx="96" cy="96"/>
              </a:xfrm>
              <a:prstGeom prst="ellipse">
                <a:avLst/>
              </a:prstGeom>
              <a:solidFill>
                <a:srgbClr val="FF0000"/>
              </a:solidFill>
              <a:ln w="9525">
                <a:solidFill>
                  <a:schemeClr val="tx1"/>
                </a:solidFill>
                <a:rou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 name="Text Box 41"/>
            <p:cNvSpPr txBox="1">
              <a:spLocks noChangeArrowheads="1"/>
            </p:cNvSpPr>
            <p:nvPr/>
          </p:nvSpPr>
          <p:spPr bwMode="auto">
            <a:xfrm rot="-5400000">
              <a:off x="104" y="3196"/>
              <a:ext cx="1089" cy="288"/>
            </a:xfrm>
            <a:prstGeom prst="rect">
              <a:avLst/>
            </a:prstGeom>
            <a:solidFill>
              <a:schemeClr val="bg1"/>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400" b="1"/>
                <a:t>公称尺寸</a:t>
              </a:r>
            </a:p>
          </p:txBody>
        </p:sp>
      </p:grpSp>
      <p:sp>
        <p:nvSpPr>
          <p:cNvPr id="20" name="TextBox 19"/>
          <p:cNvSpPr txBox="1"/>
          <p:nvPr/>
        </p:nvSpPr>
        <p:spPr>
          <a:xfrm>
            <a:off x="3419872" y="5909210"/>
            <a:ext cx="3024336" cy="400110"/>
          </a:xfrm>
          <a:prstGeom prst="rect">
            <a:avLst/>
          </a:prstGeom>
          <a:solidFill>
            <a:schemeClr val="bg1"/>
          </a:solidFill>
        </p:spPr>
        <p:txBody>
          <a:bodyPr wrap="square" rtlCol="0">
            <a:spAutoFit/>
          </a:bodyPr>
          <a:lstStyle/>
          <a:p>
            <a:r>
              <a:rPr lang="zh-CN" altLang="en-US" sz="2000" dirty="0" smtClean="0"/>
              <a:t>基轴制配合</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6"/>
                                        </p:tgtEl>
                                        <p:attrNameLst>
                                          <p:attrName>style.visibility</p:attrName>
                                        </p:attrNameLst>
                                      </p:cBhvr>
                                      <p:to>
                                        <p:strVal val="visible"/>
                                      </p:to>
                                    </p:set>
                                    <p:animEffect transition="in" filter="wipe(left)">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
                                        </p:tgtEl>
                                        <p:attrNameLst>
                                          <p:attrName>style.visibility</p:attrName>
                                        </p:attrNameLst>
                                      </p:cBhvr>
                                      <p:to>
                                        <p:strVal val="visible"/>
                                      </p:to>
                                    </p:set>
                                    <p:animEffect transition="in" filter="wipe(left)">
                                      <p:cBhvr>
                                        <p:cTn id="23" dur="3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9"/>
                                        </p:tgtEl>
                                        <p:attrNameLst>
                                          <p:attrName>style.visibility</p:attrName>
                                        </p:attrNameLst>
                                      </p:cBhvr>
                                      <p:to>
                                        <p:strVal val="visible"/>
                                      </p:to>
                                    </p:set>
                                    <p:animEffect transition="in" filter="wipe(left)">
                                      <p:cBhvr>
                                        <p:cTn id="28" dur="3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8"/>
                                        </p:tgtEl>
                                        <p:attrNameLst>
                                          <p:attrName>style.visibility</p:attrName>
                                        </p:attrNameLst>
                                      </p:cBhvr>
                                      <p:to>
                                        <p:strVal val="visible"/>
                                      </p:to>
                                    </p:set>
                                    <p:animEffect transition="in" filter="wipe(left)">
                                      <p:cBhvr>
                                        <p:cTn id="33"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autoUpdateAnimBg="0"/>
      <p:bldP spid="7" grpId="0" autoUpdateAnimBg="0"/>
      <p:bldP spid="8" grpId="0" autoUpdateAnimBg="0"/>
      <p:bldP spid="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F4D8DC89-745D-4FE1-BD44-14F491AEFD9F}" type="slidenum">
              <a:rPr lang="en-US" altLang="zh-CN" sz="2000" smtClean="0">
                <a:solidFill>
                  <a:schemeClr val="accent2"/>
                </a:solidFill>
              </a:rPr>
              <a:pPr eaLnBrk="1" hangingPunct="1"/>
              <a:t>33</a:t>
            </a:fld>
            <a:endParaRPr lang="en-US" altLang="zh-CN" sz="2000" smtClean="0">
              <a:solidFill>
                <a:schemeClr val="accent2"/>
              </a:solidFill>
            </a:endParaRPr>
          </a:p>
        </p:txBody>
      </p:sp>
      <p:sp>
        <p:nvSpPr>
          <p:cNvPr id="18436" name="Text Box 4"/>
          <p:cNvSpPr txBox="1">
            <a:spLocks noRot="1" noChangeAspect="1" noMove="1" noResize="1" noEditPoints="1" noAdjustHandles="1" noChangeArrowheads="1" noChangeShapeType="1" noTextEdit="1"/>
          </p:cNvSpPr>
          <p:nvPr/>
        </p:nvSpPr>
        <p:spPr bwMode="auto">
          <a:xfrm>
            <a:off x="323850" y="142875"/>
            <a:ext cx="7718425" cy="1373188"/>
          </a:xfrm>
          <a:prstGeom prst="rect">
            <a:avLst/>
          </a:prstGeom>
          <a:blipFill rotWithShape="1">
            <a:blip r:embed="rId2" cstate="print"/>
            <a:stretch>
              <a:fillRect l="-1580" t="-5752" b="-12389"/>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p:sp>
        <p:nvSpPr>
          <p:cNvPr id="18439" name="Text Box 7"/>
          <p:cNvSpPr txBox="1">
            <a:spLocks noChangeArrowheads="1"/>
          </p:cNvSpPr>
          <p:nvPr/>
        </p:nvSpPr>
        <p:spPr bwMode="auto">
          <a:xfrm>
            <a:off x="860425" y="1540967"/>
            <a:ext cx="8104188" cy="6048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b="1" dirty="0"/>
              <a:t>求：</a:t>
            </a:r>
            <a:r>
              <a:rPr lang="en-US" altLang="zh-CN" b="1" dirty="0"/>
              <a:t>ES</a:t>
            </a:r>
            <a:r>
              <a:rPr lang="zh-CN" altLang="en-US" b="1" dirty="0"/>
              <a:t>、</a:t>
            </a:r>
            <a:r>
              <a:rPr lang="en-US" altLang="zh-CN" b="1" dirty="0"/>
              <a:t>EI</a:t>
            </a:r>
            <a:r>
              <a:rPr lang="zh-CN" altLang="en-US" b="1" dirty="0"/>
              <a:t>、</a:t>
            </a:r>
            <a:r>
              <a:rPr lang="en-US" altLang="zh-CN" b="1" dirty="0" err="1"/>
              <a:t>es</a:t>
            </a:r>
            <a:r>
              <a:rPr lang="zh-CN" altLang="en-US" b="1" dirty="0"/>
              <a:t>、</a:t>
            </a:r>
            <a:r>
              <a:rPr lang="en-US" altLang="zh-CN" b="1" dirty="0" err="1"/>
              <a:t>ei</a:t>
            </a:r>
            <a:r>
              <a:rPr lang="zh-CN" altLang="en-US" b="1" dirty="0"/>
              <a:t>、</a:t>
            </a:r>
            <a:r>
              <a:rPr lang="en-US" altLang="zh-CN" b="1" i="1" dirty="0" err="1"/>
              <a:t>T</a:t>
            </a:r>
            <a:r>
              <a:rPr lang="en-US" altLang="zh-CN" b="1" baseline="-25000" dirty="0" err="1"/>
              <a:t>f</a:t>
            </a:r>
            <a:r>
              <a:rPr lang="en-US" altLang="zh-CN" b="1" baseline="-25000" dirty="0"/>
              <a:t> </a:t>
            </a:r>
            <a:r>
              <a:rPr lang="zh-CN" altLang="en-US" b="1" dirty="0"/>
              <a:t>，并画出尺寸公差带。</a:t>
            </a:r>
            <a:endParaRPr lang="zh-CN" altLang="en-US" b="1" baseline="-25000" dirty="0"/>
          </a:p>
        </p:txBody>
      </p:sp>
      <p:sp>
        <p:nvSpPr>
          <p:cNvPr id="18441" name="Text Box 9"/>
          <p:cNvSpPr txBox="1">
            <a:spLocks noChangeArrowheads="1"/>
          </p:cNvSpPr>
          <p:nvPr/>
        </p:nvSpPr>
        <p:spPr bwMode="auto">
          <a:xfrm>
            <a:off x="684213" y="2117800"/>
            <a:ext cx="7920037"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  </a:t>
            </a:r>
            <a:r>
              <a:rPr lang="zh-CN" altLang="en-US" b="1" dirty="0"/>
              <a:t>解：根据上述</a:t>
            </a:r>
            <a:r>
              <a:rPr lang="en-US" altLang="zh-CN" b="1" dirty="0">
                <a:solidFill>
                  <a:srgbClr val="FF0000"/>
                </a:solidFill>
              </a:rPr>
              <a:t>6</a:t>
            </a:r>
            <a:r>
              <a:rPr lang="zh-CN" altLang="en-US" b="1" dirty="0">
                <a:solidFill>
                  <a:srgbClr val="FF0000"/>
                </a:solidFill>
              </a:rPr>
              <a:t>个</a:t>
            </a:r>
            <a:r>
              <a:rPr lang="zh-CN" altLang="en-US" b="1" dirty="0"/>
              <a:t>公式求</a:t>
            </a:r>
            <a:r>
              <a:rPr lang="en-US" altLang="zh-CN" b="1" dirty="0" smtClean="0"/>
              <a:t>, </a:t>
            </a:r>
            <a:r>
              <a:rPr lang="zh-CN" altLang="en-US" b="1" dirty="0" smtClean="0"/>
              <a:t>先</a:t>
            </a:r>
            <a:r>
              <a:rPr lang="zh-CN" altLang="en-US" b="1" dirty="0"/>
              <a:t>复习</a:t>
            </a:r>
            <a:r>
              <a:rPr lang="en-US" altLang="zh-CN" b="1" dirty="0">
                <a:solidFill>
                  <a:srgbClr val="FF0000"/>
                </a:solidFill>
              </a:rPr>
              <a:t>6</a:t>
            </a:r>
            <a:r>
              <a:rPr lang="zh-CN" altLang="en-US" b="1" dirty="0">
                <a:solidFill>
                  <a:srgbClr val="FF0000"/>
                </a:solidFill>
              </a:rPr>
              <a:t>个基本公式</a:t>
            </a:r>
            <a:r>
              <a:rPr lang="zh-CN" altLang="en-US" b="1" dirty="0"/>
              <a:t>。</a:t>
            </a:r>
          </a:p>
        </p:txBody>
      </p:sp>
      <p:sp>
        <p:nvSpPr>
          <p:cNvPr id="18470" name="Text Box 38"/>
          <p:cNvSpPr txBox="1">
            <a:spLocks noChangeArrowheads="1"/>
          </p:cNvSpPr>
          <p:nvPr/>
        </p:nvSpPr>
        <p:spPr bwMode="auto">
          <a:xfrm>
            <a:off x="1116013" y="2683916"/>
            <a:ext cx="6624637"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 </a:t>
            </a:r>
            <a:r>
              <a:rPr lang="en-US" altLang="zh-CN" sz="2400" b="1" dirty="0"/>
              <a:t>ES</a:t>
            </a:r>
            <a:r>
              <a:rPr lang="zh-CN" altLang="en-US" sz="2400" b="1" dirty="0"/>
              <a:t>＝</a:t>
            </a:r>
            <a:r>
              <a:rPr lang="en-US" altLang="zh-CN" sz="2400" b="1" i="1" dirty="0" err="1"/>
              <a:t>D</a:t>
            </a:r>
            <a:r>
              <a:rPr lang="en-US" altLang="zh-CN" sz="2400" b="1" baseline="-25000" dirty="0" err="1"/>
              <a:t>max</a:t>
            </a:r>
            <a:r>
              <a:rPr lang="zh-CN" altLang="en-US" sz="2400" b="1" dirty="0"/>
              <a:t>－</a:t>
            </a:r>
            <a:r>
              <a:rPr lang="en-US" altLang="zh-CN" sz="2400" b="1" i="1" dirty="0"/>
              <a:t>D </a:t>
            </a:r>
            <a:r>
              <a:rPr lang="zh-CN" altLang="en-US" sz="2400" b="1" dirty="0"/>
              <a:t>；    </a:t>
            </a:r>
            <a:r>
              <a:rPr lang="en-US" altLang="zh-CN" sz="2400" b="1" dirty="0" err="1"/>
              <a:t>es</a:t>
            </a:r>
            <a:r>
              <a:rPr lang="zh-CN" altLang="en-US" sz="2400" b="1" dirty="0"/>
              <a:t>＝</a:t>
            </a:r>
            <a:r>
              <a:rPr lang="en-US" altLang="zh-CN" sz="2400" b="1" i="1" dirty="0" err="1"/>
              <a:t>d</a:t>
            </a:r>
            <a:r>
              <a:rPr lang="en-US" altLang="zh-CN" sz="2400" b="1" baseline="-25000" dirty="0" err="1"/>
              <a:t>max</a:t>
            </a:r>
            <a:r>
              <a:rPr lang="zh-CN" altLang="en-US" sz="2400" b="1" dirty="0"/>
              <a:t>－</a:t>
            </a:r>
            <a:r>
              <a:rPr lang="en-US" altLang="zh-CN" sz="2400" b="1" i="1" dirty="0"/>
              <a:t>d     </a:t>
            </a:r>
            <a:r>
              <a:rPr lang="en-US" altLang="zh-CN" sz="2400" b="1" i="1" dirty="0" smtClean="0"/>
              <a:t>     </a:t>
            </a:r>
            <a:r>
              <a:rPr lang="zh-CN" altLang="en-US" sz="2400" b="1" dirty="0"/>
              <a:t>（</a:t>
            </a:r>
            <a:r>
              <a:rPr lang="en-US" altLang="zh-CN" sz="2400" b="1" dirty="0"/>
              <a:t>1</a:t>
            </a:r>
            <a:r>
              <a:rPr lang="zh-CN" altLang="en-US" sz="2400" b="1" dirty="0"/>
              <a:t>）</a:t>
            </a:r>
            <a:endParaRPr lang="zh-CN" altLang="en-US" sz="2400" b="1" baseline="-25000" dirty="0"/>
          </a:p>
        </p:txBody>
      </p:sp>
      <p:sp>
        <p:nvSpPr>
          <p:cNvPr id="18471" name="Text Box 39"/>
          <p:cNvSpPr txBox="1">
            <a:spLocks noChangeArrowheads="1"/>
          </p:cNvSpPr>
          <p:nvPr/>
        </p:nvSpPr>
        <p:spPr bwMode="auto">
          <a:xfrm>
            <a:off x="1116013" y="3258591"/>
            <a:ext cx="6408737"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t> EI</a:t>
            </a:r>
            <a:r>
              <a:rPr lang="zh-CN" altLang="en-US" sz="2400" b="1" dirty="0"/>
              <a:t>＝</a:t>
            </a:r>
            <a:r>
              <a:rPr lang="en-US" altLang="zh-CN" sz="2400" b="1" i="1" dirty="0" err="1"/>
              <a:t>D</a:t>
            </a:r>
            <a:r>
              <a:rPr lang="en-US" altLang="zh-CN" sz="2400" b="1" baseline="-25000" dirty="0" err="1"/>
              <a:t>min</a:t>
            </a:r>
            <a:r>
              <a:rPr lang="zh-CN" altLang="en-US" sz="2400" b="1" dirty="0"/>
              <a:t>－</a:t>
            </a:r>
            <a:r>
              <a:rPr lang="en-US" altLang="zh-CN" sz="2400" b="1" i="1" dirty="0"/>
              <a:t>D </a:t>
            </a:r>
            <a:r>
              <a:rPr lang="zh-CN" altLang="en-US" sz="2400" b="1" dirty="0"/>
              <a:t>；    </a:t>
            </a:r>
            <a:r>
              <a:rPr lang="en-US" altLang="zh-CN" sz="2400" b="1" dirty="0" err="1"/>
              <a:t>ei</a:t>
            </a:r>
            <a:r>
              <a:rPr lang="zh-CN" altLang="en-US" sz="2400" b="1" dirty="0"/>
              <a:t>＝</a:t>
            </a:r>
            <a:r>
              <a:rPr lang="en-US" altLang="zh-CN" sz="2400" b="1" i="1" dirty="0" err="1"/>
              <a:t>d</a:t>
            </a:r>
            <a:r>
              <a:rPr lang="en-US" altLang="zh-CN" sz="2400" b="1" baseline="-25000" dirty="0" err="1"/>
              <a:t>min</a:t>
            </a:r>
            <a:r>
              <a:rPr lang="zh-CN" altLang="en-US" sz="2400" b="1" dirty="0"/>
              <a:t>－</a:t>
            </a:r>
            <a:r>
              <a:rPr lang="en-US" altLang="zh-CN" sz="2400" b="1" i="1" dirty="0"/>
              <a:t>d          </a:t>
            </a:r>
            <a:r>
              <a:rPr lang="en-US" altLang="zh-CN" sz="2400" b="1" i="1" dirty="0" smtClean="0"/>
              <a:t>  </a:t>
            </a:r>
            <a:r>
              <a:rPr lang="zh-CN" altLang="en-US" sz="2400" b="1" dirty="0" smtClean="0"/>
              <a:t>（</a:t>
            </a:r>
            <a:r>
              <a:rPr lang="en-US" altLang="zh-CN" sz="2400" b="1" dirty="0"/>
              <a:t>2</a:t>
            </a:r>
            <a:r>
              <a:rPr lang="zh-CN" altLang="en-US" sz="2400" b="1" dirty="0"/>
              <a:t>）</a:t>
            </a:r>
            <a:r>
              <a:rPr lang="zh-CN" altLang="en-US" sz="2400" b="1" i="1" dirty="0"/>
              <a:t>                     </a:t>
            </a:r>
            <a:endParaRPr lang="zh-CN" altLang="en-US" sz="2400" b="1" dirty="0"/>
          </a:p>
        </p:txBody>
      </p:sp>
      <p:sp>
        <p:nvSpPr>
          <p:cNvPr id="18472" name="Text Box 40"/>
          <p:cNvSpPr txBox="1">
            <a:spLocks noChangeArrowheads="1"/>
          </p:cNvSpPr>
          <p:nvPr/>
        </p:nvSpPr>
        <p:spPr bwMode="auto">
          <a:xfrm>
            <a:off x="1116013" y="3691979"/>
            <a:ext cx="65976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i="1"/>
              <a:t> T</a:t>
            </a:r>
            <a:r>
              <a:rPr lang="en-US" altLang="zh-CN" sz="2400" b="1" baseline="-25000"/>
              <a:t>D</a:t>
            </a:r>
            <a:r>
              <a:rPr lang="zh-CN" altLang="en-US" sz="2400" b="1"/>
              <a:t>＝｜</a:t>
            </a:r>
            <a:r>
              <a:rPr lang="en-US" altLang="zh-CN" sz="2400" b="1"/>
              <a:t>ES</a:t>
            </a:r>
            <a:r>
              <a:rPr lang="zh-CN" altLang="en-US" sz="2400" b="1"/>
              <a:t>－</a:t>
            </a:r>
            <a:r>
              <a:rPr lang="en-US" altLang="zh-CN" sz="2400" b="1"/>
              <a:t>EI</a:t>
            </a:r>
            <a:r>
              <a:rPr lang="zh-CN" altLang="en-US" sz="2400" b="1"/>
              <a:t>｜；</a:t>
            </a:r>
            <a:r>
              <a:rPr lang="en-US" altLang="zh-CN" sz="2400" b="1" i="1"/>
              <a:t>T</a:t>
            </a:r>
            <a:r>
              <a:rPr lang="en-US" altLang="zh-CN" sz="2400" b="1" baseline="-25000"/>
              <a:t>d</a:t>
            </a:r>
            <a:r>
              <a:rPr lang="zh-CN" altLang="en-US" sz="2400" b="1"/>
              <a:t>＝｜</a:t>
            </a:r>
            <a:r>
              <a:rPr lang="en-US" altLang="zh-CN" sz="2400" b="1"/>
              <a:t>es</a:t>
            </a:r>
            <a:r>
              <a:rPr lang="zh-CN" altLang="en-US" sz="2400" b="1"/>
              <a:t>－</a:t>
            </a:r>
            <a:r>
              <a:rPr lang="en-US" altLang="zh-CN" sz="2400" b="1"/>
              <a:t>ei</a:t>
            </a:r>
            <a:r>
              <a:rPr lang="zh-CN" altLang="en-US" sz="2400" b="1"/>
              <a:t>｜    （</a:t>
            </a:r>
            <a:r>
              <a:rPr lang="en-US" altLang="zh-CN" sz="2400" b="1"/>
              <a:t>3</a:t>
            </a:r>
            <a:r>
              <a:rPr lang="zh-CN" altLang="en-US" sz="2400" b="1"/>
              <a:t>）</a:t>
            </a:r>
          </a:p>
        </p:txBody>
      </p:sp>
      <p:sp>
        <p:nvSpPr>
          <p:cNvPr id="18473" name="Text Box 41"/>
          <p:cNvSpPr txBox="1">
            <a:spLocks noChangeArrowheads="1"/>
          </p:cNvSpPr>
          <p:nvPr/>
        </p:nvSpPr>
        <p:spPr bwMode="auto">
          <a:xfrm>
            <a:off x="1116013" y="4123779"/>
            <a:ext cx="638175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 </a:t>
            </a:r>
            <a:r>
              <a:rPr lang="en-US" altLang="zh-CN" sz="2400" b="1" i="1"/>
              <a:t>X</a:t>
            </a:r>
            <a:r>
              <a:rPr lang="en-US" altLang="zh-CN" sz="2400" b="1" baseline="-25000"/>
              <a:t>max</a:t>
            </a:r>
            <a:r>
              <a:rPr lang="zh-CN" altLang="en-US" sz="2400" b="1"/>
              <a:t>（</a:t>
            </a:r>
            <a:r>
              <a:rPr lang="en-US" altLang="zh-CN" sz="2400" b="1" i="1"/>
              <a:t>Y</a:t>
            </a:r>
            <a:r>
              <a:rPr lang="en-US" altLang="zh-CN" sz="2400" b="1" baseline="-25000"/>
              <a:t>min</a:t>
            </a:r>
            <a:r>
              <a:rPr lang="en-US" altLang="zh-CN" sz="2400" b="1" i="1"/>
              <a:t> </a:t>
            </a:r>
            <a:r>
              <a:rPr lang="zh-CN" altLang="en-US" sz="2400" b="1"/>
              <a:t>）＝</a:t>
            </a:r>
            <a:r>
              <a:rPr lang="en-US" altLang="zh-CN" sz="2400" b="1"/>
              <a:t>ES</a:t>
            </a:r>
            <a:r>
              <a:rPr lang="zh-CN" altLang="en-US" sz="2400" b="1"/>
              <a:t>－</a:t>
            </a:r>
            <a:r>
              <a:rPr lang="en-US" altLang="zh-CN" sz="2400" b="1"/>
              <a:t>ei </a:t>
            </a:r>
            <a:r>
              <a:rPr lang="zh-CN" altLang="en-US" sz="2400" b="1"/>
              <a:t>；                   （</a:t>
            </a:r>
            <a:r>
              <a:rPr lang="en-US" altLang="zh-CN" sz="2400" b="1"/>
              <a:t>4</a:t>
            </a:r>
            <a:r>
              <a:rPr lang="zh-CN" altLang="en-US" sz="2400" b="1"/>
              <a:t>）              </a:t>
            </a:r>
          </a:p>
        </p:txBody>
      </p:sp>
      <p:sp>
        <p:nvSpPr>
          <p:cNvPr id="18474" name="Text Box 42"/>
          <p:cNvSpPr txBox="1">
            <a:spLocks noChangeArrowheads="1"/>
          </p:cNvSpPr>
          <p:nvPr/>
        </p:nvSpPr>
        <p:spPr bwMode="auto">
          <a:xfrm>
            <a:off x="1116013" y="4627016"/>
            <a:ext cx="67691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 </a:t>
            </a:r>
            <a:r>
              <a:rPr lang="en-US" altLang="zh-CN" sz="2400" b="1" i="1"/>
              <a:t>X</a:t>
            </a:r>
            <a:r>
              <a:rPr lang="en-US" altLang="zh-CN" sz="2400" b="1" baseline="-25000"/>
              <a:t>min</a:t>
            </a:r>
            <a:r>
              <a:rPr lang="zh-CN" altLang="en-US" sz="2400" b="1"/>
              <a:t>（</a:t>
            </a:r>
            <a:r>
              <a:rPr lang="en-US" altLang="zh-CN" sz="2400" b="1" i="1"/>
              <a:t>Y</a:t>
            </a:r>
            <a:r>
              <a:rPr lang="en-US" altLang="zh-CN" sz="2400" b="1" baseline="-25000"/>
              <a:t>max</a:t>
            </a:r>
            <a:r>
              <a:rPr lang="en-US" altLang="zh-CN" sz="2400" b="1" i="1"/>
              <a:t> </a:t>
            </a:r>
            <a:r>
              <a:rPr lang="zh-CN" altLang="en-US" sz="2400" b="1"/>
              <a:t>）＝</a:t>
            </a:r>
            <a:r>
              <a:rPr lang="en-US" altLang="zh-CN" sz="2400" b="1"/>
              <a:t>EI</a:t>
            </a:r>
            <a:r>
              <a:rPr lang="zh-CN" altLang="en-US" sz="2400" b="1"/>
              <a:t>－</a:t>
            </a:r>
            <a:r>
              <a:rPr lang="en-US" altLang="zh-CN" sz="2400" b="1"/>
              <a:t>es                        </a:t>
            </a:r>
            <a:r>
              <a:rPr lang="zh-CN" altLang="en-US" sz="2400" b="1"/>
              <a:t>（</a:t>
            </a:r>
            <a:r>
              <a:rPr lang="en-US" altLang="zh-CN" sz="2400" b="1"/>
              <a:t>5</a:t>
            </a:r>
            <a:r>
              <a:rPr lang="zh-CN" altLang="en-US" sz="2400" b="1"/>
              <a:t>）</a:t>
            </a:r>
          </a:p>
        </p:txBody>
      </p:sp>
      <p:sp>
        <p:nvSpPr>
          <p:cNvPr id="18475" name="Text Box 43"/>
          <p:cNvSpPr txBox="1">
            <a:spLocks noChangeArrowheads="1"/>
          </p:cNvSpPr>
          <p:nvPr/>
        </p:nvSpPr>
        <p:spPr bwMode="auto">
          <a:xfrm>
            <a:off x="1116013" y="5131841"/>
            <a:ext cx="6256337"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 </a:t>
            </a:r>
            <a:r>
              <a:rPr lang="en-US" altLang="zh-CN" sz="2400" b="1" i="1"/>
              <a:t>T</a:t>
            </a:r>
            <a:r>
              <a:rPr lang="en-US" altLang="zh-CN" sz="2400" b="1" baseline="-25000"/>
              <a:t>f </a:t>
            </a:r>
            <a:r>
              <a:rPr lang="zh-CN" altLang="en-US" sz="2400" b="1"/>
              <a:t>＝ ｜</a:t>
            </a:r>
            <a:r>
              <a:rPr lang="en-US" altLang="zh-CN" sz="2400" b="1" i="1"/>
              <a:t>X</a:t>
            </a:r>
            <a:r>
              <a:rPr lang="en-US" altLang="zh-CN" sz="2400" b="1" baseline="-25000"/>
              <a:t>max</a:t>
            </a:r>
            <a:r>
              <a:rPr lang="zh-CN" altLang="en-US" sz="2400" b="1"/>
              <a:t>（</a:t>
            </a:r>
            <a:r>
              <a:rPr lang="en-US" altLang="zh-CN" sz="2400" b="1" i="1"/>
              <a:t>Y</a:t>
            </a:r>
            <a:r>
              <a:rPr lang="en-US" altLang="zh-CN" sz="2400" b="1" baseline="-25000"/>
              <a:t>min</a:t>
            </a:r>
            <a:r>
              <a:rPr lang="en-US" altLang="zh-CN" sz="2400" b="1" i="1"/>
              <a:t> </a:t>
            </a:r>
            <a:r>
              <a:rPr lang="zh-CN" altLang="en-US" sz="2400" b="1"/>
              <a:t>） － </a:t>
            </a:r>
            <a:r>
              <a:rPr lang="en-US" altLang="zh-CN" sz="2400" b="1" i="1"/>
              <a:t>X</a:t>
            </a:r>
            <a:r>
              <a:rPr lang="en-US" altLang="zh-CN" sz="2400" b="1" baseline="-25000"/>
              <a:t>min</a:t>
            </a:r>
            <a:r>
              <a:rPr lang="zh-CN" altLang="en-US" sz="2400" b="1"/>
              <a:t>（</a:t>
            </a:r>
            <a:r>
              <a:rPr lang="en-US" altLang="zh-CN" sz="2400" b="1" i="1"/>
              <a:t>Y</a:t>
            </a:r>
            <a:r>
              <a:rPr lang="en-US" altLang="zh-CN" sz="2400" b="1" baseline="-25000"/>
              <a:t>max</a:t>
            </a:r>
            <a:r>
              <a:rPr lang="en-US" altLang="zh-CN" sz="2400" b="1" i="1"/>
              <a:t> </a:t>
            </a:r>
            <a:r>
              <a:rPr lang="zh-CN" altLang="en-US" sz="2400" b="1"/>
              <a:t>）｜               </a:t>
            </a:r>
          </a:p>
        </p:txBody>
      </p:sp>
      <p:sp>
        <p:nvSpPr>
          <p:cNvPr id="18476" name="Text Box 44"/>
          <p:cNvSpPr txBox="1">
            <a:spLocks noChangeArrowheads="1"/>
          </p:cNvSpPr>
          <p:nvPr/>
        </p:nvSpPr>
        <p:spPr bwMode="auto">
          <a:xfrm>
            <a:off x="1547813" y="5708104"/>
            <a:ext cx="6119812"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t>＝</a:t>
            </a:r>
            <a:r>
              <a:rPr lang="en-US" altLang="zh-CN" sz="2400" b="1" i="1" dirty="0"/>
              <a:t>T</a:t>
            </a:r>
            <a:r>
              <a:rPr lang="en-US" altLang="zh-CN" sz="2400" b="1" baseline="-25000" dirty="0"/>
              <a:t>D</a:t>
            </a:r>
            <a:r>
              <a:rPr lang="zh-CN" altLang="en-US" sz="2400" b="1" dirty="0"/>
              <a:t>＋</a:t>
            </a:r>
            <a:r>
              <a:rPr lang="en-US" altLang="zh-CN" sz="2400" b="1" i="1" dirty="0"/>
              <a:t>T</a:t>
            </a:r>
            <a:r>
              <a:rPr lang="en-US" altLang="zh-CN" sz="2400" b="1" baseline="-25000" dirty="0"/>
              <a:t>d     </a:t>
            </a:r>
            <a:r>
              <a:rPr lang="en-US" altLang="zh-CN" sz="2400" b="1" baseline="-25000" dirty="0" smtClean="0"/>
              <a:t>                                                            </a:t>
            </a:r>
            <a:r>
              <a:rPr lang="zh-CN" altLang="en-US" sz="2400" b="1" dirty="0"/>
              <a:t>（</a:t>
            </a:r>
            <a:r>
              <a:rPr lang="en-US" altLang="zh-CN" sz="2400" b="1" dirty="0"/>
              <a:t>6</a:t>
            </a:r>
            <a:r>
              <a:rPr lang="zh-CN" altLang="en-US" sz="24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8436"/>
                                        </p:tgtEl>
                                        <p:attrNameLst>
                                          <p:attrName>style.visibility</p:attrName>
                                        </p:attrNameLst>
                                      </p:cBhvr>
                                      <p:to>
                                        <p:strVal val="visible"/>
                                      </p:to>
                                    </p:set>
                                    <p:animEffect transition="in" filter="wipe(left)">
                                      <p:cBhvr>
                                        <p:cTn id="7" dur="3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8439"/>
                                        </p:tgtEl>
                                        <p:attrNameLst>
                                          <p:attrName>style.visibility</p:attrName>
                                        </p:attrNameLst>
                                      </p:cBhvr>
                                      <p:to>
                                        <p:strVal val="visible"/>
                                      </p:to>
                                    </p:set>
                                    <p:animEffect transition="in" filter="wipe(left)">
                                      <p:cBhvr>
                                        <p:cTn id="12" dur="300"/>
                                        <p:tgtEl>
                                          <p:spTgt spid="184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8441"/>
                                        </p:tgtEl>
                                        <p:attrNameLst>
                                          <p:attrName>style.visibility</p:attrName>
                                        </p:attrNameLst>
                                      </p:cBhvr>
                                      <p:to>
                                        <p:strVal val="visible"/>
                                      </p:to>
                                    </p:set>
                                    <p:animEffect transition="in" filter="wipe(left)">
                                      <p:cBhvr>
                                        <p:cTn id="17" dur="300"/>
                                        <p:tgtEl>
                                          <p:spTgt spid="184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8470"/>
                                        </p:tgtEl>
                                        <p:attrNameLst>
                                          <p:attrName>style.visibility</p:attrName>
                                        </p:attrNameLst>
                                      </p:cBhvr>
                                      <p:to>
                                        <p:strVal val="visible"/>
                                      </p:to>
                                    </p:set>
                                    <p:animEffect transition="in" filter="wipe(left)">
                                      <p:cBhvr>
                                        <p:cTn id="22" dur="300"/>
                                        <p:tgtEl>
                                          <p:spTgt spid="184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8471"/>
                                        </p:tgtEl>
                                        <p:attrNameLst>
                                          <p:attrName>style.visibility</p:attrName>
                                        </p:attrNameLst>
                                      </p:cBhvr>
                                      <p:to>
                                        <p:strVal val="visible"/>
                                      </p:to>
                                    </p:set>
                                    <p:animEffect transition="in" filter="wipe(left)">
                                      <p:cBhvr>
                                        <p:cTn id="27" dur="300"/>
                                        <p:tgtEl>
                                          <p:spTgt spid="184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8472"/>
                                        </p:tgtEl>
                                        <p:attrNameLst>
                                          <p:attrName>style.visibility</p:attrName>
                                        </p:attrNameLst>
                                      </p:cBhvr>
                                      <p:to>
                                        <p:strVal val="visible"/>
                                      </p:to>
                                    </p:set>
                                    <p:animEffect transition="in" filter="wipe(left)">
                                      <p:cBhvr>
                                        <p:cTn id="32" dur="300"/>
                                        <p:tgtEl>
                                          <p:spTgt spid="1847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8473"/>
                                        </p:tgtEl>
                                        <p:attrNameLst>
                                          <p:attrName>style.visibility</p:attrName>
                                        </p:attrNameLst>
                                      </p:cBhvr>
                                      <p:to>
                                        <p:strVal val="visible"/>
                                      </p:to>
                                    </p:set>
                                    <p:animEffect transition="in" filter="wipe(left)">
                                      <p:cBhvr>
                                        <p:cTn id="37" dur="300"/>
                                        <p:tgtEl>
                                          <p:spTgt spid="184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8474"/>
                                        </p:tgtEl>
                                        <p:attrNameLst>
                                          <p:attrName>style.visibility</p:attrName>
                                        </p:attrNameLst>
                                      </p:cBhvr>
                                      <p:to>
                                        <p:strVal val="visible"/>
                                      </p:to>
                                    </p:set>
                                    <p:animEffect transition="in" filter="wipe(left)">
                                      <p:cBhvr>
                                        <p:cTn id="42" dur="300"/>
                                        <p:tgtEl>
                                          <p:spTgt spid="1847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8475"/>
                                        </p:tgtEl>
                                        <p:attrNameLst>
                                          <p:attrName>style.visibility</p:attrName>
                                        </p:attrNameLst>
                                      </p:cBhvr>
                                      <p:to>
                                        <p:strVal val="visible"/>
                                      </p:to>
                                    </p:set>
                                    <p:animEffect transition="in" filter="wipe(left)">
                                      <p:cBhvr>
                                        <p:cTn id="47" dur="300"/>
                                        <p:tgtEl>
                                          <p:spTgt spid="1847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18476"/>
                                        </p:tgtEl>
                                        <p:attrNameLst>
                                          <p:attrName>style.visibility</p:attrName>
                                        </p:attrNameLst>
                                      </p:cBhvr>
                                      <p:to>
                                        <p:strVal val="visible"/>
                                      </p:to>
                                    </p:set>
                                    <p:animEffect transition="in" filter="wipe(left)">
                                      <p:cBhvr>
                                        <p:cTn id="52" dur="300"/>
                                        <p:tgtEl>
                                          <p:spTgt spid="18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autoUpdateAnimBg="0"/>
      <p:bldP spid="18439" grpId="0" autoUpdateAnimBg="0"/>
      <p:bldP spid="18441" grpId="0" autoUpdateAnimBg="0"/>
      <p:bldP spid="18470" grpId="0" autoUpdateAnimBg="0"/>
      <p:bldP spid="18471" grpId="0" autoUpdateAnimBg="0"/>
      <p:bldP spid="18472" grpId="0" autoUpdateAnimBg="0"/>
      <p:bldP spid="18473" grpId="0" autoUpdateAnimBg="0"/>
      <p:bldP spid="18474" grpId="0" autoUpdateAnimBg="0"/>
      <p:bldP spid="18475" grpId="0" autoUpdateAnimBg="0"/>
      <p:bldP spid="1847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8D576E54-00F4-4305-B1CA-213A536274D3}" type="slidenum">
              <a:rPr lang="en-US" altLang="zh-CN" sz="2000" smtClean="0">
                <a:solidFill>
                  <a:schemeClr val="accent2"/>
                </a:solidFill>
              </a:rPr>
              <a:pPr eaLnBrk="1" hangingPunct="1"/>
              <a:t>34</a:t>
            </a:fld>
            <a:endParaRPr lang="en-US" altLang="zh-CN" sz="2000" smtClean="0">
              <a:solidFill>
                <a:schemeClr val="accent2"/>
              </a:solidFill>
            </a:endParaRPr>
          </a:p>
        </p:txBody>
      </p:sp>
      <p:sp>
        <p:nvSpPr>
          <p:cNvPr id="68612" name="Text Box 4"/>
          <p:cNvSpPr txBox="1">
            <a:spLocks noChangeArrowheads="1"/>
          </p:cNvSpPr>
          <p:nvPr/>
        </p:nvSpPr>
        <p:spPr bwMode="auto">
          <a:xfrm>
            <a:off x="3708401" y="1685751"/>
            <a:ext cx="439199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因采用 </a:t>
            </a:r>
            <a:r>
              <a:rPr lang="en-US" altLang="zh-CN" b="1" dirty="0"/>
              <a:t>h </a:t>
            </a:r>
            <a:r>
              <a:rPr lang="zh-CN" altLang="en-US" b="1" dirty="0"/>
              <a:t>，∴先求 </a:t>
            </a:r>
            <a:r>
              <a:rPr lang="en-US" altLang="zh-CN" b="1" dirty="0" err="1"/>
              <a:t>es</a:t>
            </a:r>
            <a:r>
              <a:rPr lang="zh-CN" altLang="en-US" b="1" dirty="0"/>
              <a:t>、</a:t>
            </a:r>
            <a:r>
              <a:rPr lang="en-US" altLang="zh-CN" b="1" dirty="0" err="1"/>
              <a:t>ei</a:t>
            </a:r>
            <a:r>
              <a:rPr lang="zh-CN" altLang="en-US" b="1" dirty="0"/>
              <a:t>。</a:t>
            </a:r>
          </a:p>
        </p:txBody>
      </p:sp>
      <p:sp>
        <p:nvSpPr>
          <p:cNvPr id="68613" name="Text Box 5"/>
          <p:cNvSpPr txBox="1">
            <a:spLocks noChangeArrowheads="1"/>
          </p:cNvSpPr>
          <p:nvPr/>
        </p:nvSpPr>
        <p:spPr bwMode="auto">
          <a:xfrm>
            <a:off x="1042144" y="3307482"/>
            <a:ext cx="48260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     </a:t>
            </a:r>
            <a:r>
              <a:rPr lang="en-US" altLang="zh-CN" b="1" dirty="0" err="1">
                <a:solidFill>
                  <a:srgbClr val="FF0000"/>
                </a:solidFill>
              </a:rPr>
              <a:t>ei</a:t>
            </a:r>
            <a:r>
              <a:rPr lang="zh-CN" altLang="en-US" b="1" dirty="0"/>
              <a:t>＝ －</a:t>
            </a:r>
            <a:r>
              <a:rPr lang="en-US" altLang="zh-CN" b="1" dirty="0"/>
              <a:t>0.013</a:t>
            </a:r>
          </a:p>
        </p:txBody>
      </p:sp>
      <p:sp>
        <p:nvSpPr>
          <p:cNvPr id="68614" name="Text Box 6"/>
          <p:cNvSpPr txBox="1">
            <a:spLocks noChangeArrowheads="1"/>
          </p:cNvSpPr>
          <p:nvPr/>
        </p:nvSpPr>
        <p:spPr bwMode="auto">
          <a:xfrm>
            <a:off x="611188" y="1651719"/>
            <a:ext cx="358457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a:t>
            </a:r>
            <a:r>
              <a:rPr lang="en-US" altLang="zh-CN" b="1" dirty="0"/>
              <a:t>1</a:t>
            </a:r>
            <a:r>
              <a:rPr lang="zh-CN" altLang="en-US" b="1" dirty="0"/>
              <a:t>）由题意可知：</a:t>
            </a:r>
          </a:p>
        </p:txBody>
      </p:sp>
      <p:sp>
        <p:nvSpPr>
          <p:cNvPr id="68615" name="Rectangle 7"/>
          <p:cNvSpPr>
            <a:spLocks noChangeArrowheads="1"/>
          </p:cNvSpPr>
          <p:nvPr/>
        </p:nvSpPr>
        <p:spPr bwMode="auto">
          <a:xfrm>
            <a:off x="4355976" y="2189808"/>
            <a:ext cx="2519362"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dirty="0">
                <a:solidFill>
                  <a:srgbClr val="FF0000"/>
                </a:solidFill>
              </a:rPr>
              <a:t>∴</a:t>
            </a:r>
            <a:r>
              <a:rPr lang="en-US" altLang="zh-CN" b="1" dirty="0" err="1">
                <a:solidFill>
                  <a:srgbClr val="FF0000"/>
                </a:solidFill>
              </a:rPr>
              <a:t>es</a:t>
            </a:r>
            <a:r>
              <a:rPr lang="en-US" altLang="zh-CN" b="1" dirty="0">
                <a:solidFill>
                  <a:srgbClr val="FF0000"/>
                </a:solidFill>
              </a:rPr>
              <a:t> </a:t>
            </a:r>
            <a:r>
              <a:rPr lang="zh-CN" altLang="en-US" b="1" dirty="0"/>
              <a:t>＝</a:t>
            </a:r>
          </a:p>
        </p:txBody>
      </p:sp>
      <p:sp>
        <p:nvSpPr>
          <p:cNvPr id="68616" name="Rectangle 8"/>
          <p:cNvSpPr>
            <a:spLocks noChangeArrowheads="1"/>
          </p:cNvSpPr>
          <p:nvPr/>
        </p:nvSpPr>
        <p:spPr bwMode="auto">
          <a:xfrm>
            <a:off x="5580112" y="2204864"/>
            <a:ext cx="9652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dirty="0"/>
              <a:t>0</a:t>
            </a:r>
          </a:p>
        </p:txBody>
      </p:sp>
      <p:sp>
        <p:nvSpPr>
          <p:cNvPr id="68617" name="Rectangle 9"/>
          <p:cNvSpPr>
            <a:spLocks noChangeArrowheads="1"/>
          </p:cNvSpPr>
          <p:nvPr/>
        </p:nvSpPr>
        <p:spPr bwMode="auto">
          <a:xfrm>
            <a:off x="683568" y="2731219"/>
            <a:ext cx="352901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dirty="0"/>
              <a:t>又∵   </a:t>
            </a:r>
            <a:r>
              <a:rPr lang="en-US" altLang="zh-CN" b="1" i="1" dirty="0"/>
              <a:t>T</a:t>
            </a:r>
            <a:r>
              <a:rPr lang="en-US" altLang="zh-CN" b="1" baseline="-25000" dirty="0"/>
              <a:t>d</a:t>
            </a:r>
            <a:r>
              <a:rPr lang="zh-CN" altLang="en-US" b="1" dirty="0"/>
              <a:t>＝</a:t>
            </a:r>
            <a:r>
              <a:rPr lang="en-US" altLang="zh-CN" b="1" dirty="0"/>
              <a:t>0.013</a:t>
            </a:r>
          </a:p>
        </p:txBody>
      </p:sp>
      <p:sp>
        <p:nvSpPr>
          <p:cNvPr id="68618" name="Rectangle 10"/>
          <p:cNvSpPr>
            <a:spLocks noChangeArrowheads="1"/>
          </p:cNvSpPr>
          <p:nvPr/>
        </p:nvSpPr>
        <p:spPr bwMode="auto">
          <a:xfrm>
            <a:off x="4067175" y="2731219"/>
            <a:ext cx="432117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0000"/>
                </a:solidFill>
              </a:rPr>
              <a:t>ei</a:t>
            </a:r>
            <a:r>
              <a:rPr lang="zh-CN" altLang="en-US" b="1"/>
              <a:t>＝</a:t>
            </a:r>
            <a:r>
              <a:rPr lang="zh-CN" altLang="en-US"/>
              <a:t> </a:t>
            </a:r>
            <a:r>
              <a:rPr lang="en-US" altLang="zh-CN" b="1"/>
              <a:t>es</a:t>
            </a:r>
            <a:r>
              <a:rPr lang="zh-CN" altLang="en-US" b="1"/>
              <a:t>－</a:t>
            </a:r>
            <a:r>
              <a:rPr lang="en-US" altLang="zh-CN" b="1" i="1"/>
              <a:t>T</a:t>
            </a:r>
            <a:r>
              <a:rPr lang="en-US" altLang="zh-CN" b="1" baseline="-25000"/>
              <a:t>d</a:t>
            </a:r>
            <a:r>
              <a:rPr lang="zh-CN" altLang="en-US" b="1"/>
              <a:t>＝ －</a:t>
            </a:r>
            <a:r>
              <a:rPr lang="en-US" altLang="zh-CN" b="1"/>
              <a:t>0.013</a:t>
            </a:r>
          </a:p>
        </p:txBody>
      </p:sp>
      <p:sp>
        <p:nvSpPr>
          <p:cNvPr id="68619" name="Text Box 11"/>
          <p:cNvSpPr txBox="1">
            <a:spLocks noChangeArrowheads="1"/>
          </p:cNvSpPr>
          <p:nvPr/>
        </p:nvSpPr>
        <p:spPr bwMode="auto">
          <a:xfrm>
            <a:off x="684213" y="3796432"/>
            <a:ext cx="4651375"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a:t>
            </a:r>
            <a:r>
              <a:rPr lang="en-US" altLang="zh-CN" b="1" dirty="0"/>
              <a:t>2</a:t>
            </a:r>
            <a:r>
              <a:rPr lang="zh-CN" altLang="en-US" b="1" dirty="0"/>
              <a:t>）求孔</a:t>
            </a:r>
            <a:r>
              <a:rPr lang="en-US" altLang="zh-CN" b="1" dirty="0"/>
              <a:t>ES</a:t>
            </a:r>
            <a:r>
              <a:rPr lang="zh-CN" altLang="en-US" b="1" dirty="0"/>
              <a:t>、</a:t>
            </a:r>
            <a:r>
              <a:rPr lang="en-US" altLang="zh-CN" b="1" dirty="0"/>
              <a:t>EI</a:t>
            </a:r>
          </a:p>
        </p:txBody>
      </p:sp>
      <p:sp>
        <p:nvSpPr>
          <p:cNvPr id="68620" name="Rectangle 12"/>
          <p:cNvSpPr>
            <a:spLocks noChangeArrowheads="1"/>
          </p:cNvSpPr>
          <p:nvPr/>
        </p:nvSpPr>
        <p:spPr bwMode="auto">
          <a:xfrm>
            <a:off x="611188" y="4278039"/>
            <a:ext cx="8281987"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dirty="0"/>
              <a:t>∵</a:t>
            </a:r>
            <a:r>
              <a:rPr lang="en-US" altLang="zh-CN" b="1" i="1" dirty="0"/>
              <a:t>   </a:t>
            </a:r>
            <a:r>
              <a:rPr lang="en-US" altLang="zh-CN" b="1" i="1" dirty="0" err="1"/>
              <a:t>X</a:t>
            </a:r>
            <a:r>
              <a:rPr lang="en-US" altLang="zh-CN" b="1" baseline="-25000" dirty="0" err="1"/>
              <a:t>max</a:t>
            </a:r>
            <a:r>
              <a:rPr lang="zh-CN" altLang="en-US" b="1" dirty="0"/>
              <a:t>＝</a:t>
            </a:r>
            <a:r>
              <a:rPr lang="en-US" altLang="zh-CN" b="1" dirty="0"/>
              <a:t>ES</a:t>
            </a:r>
            <a:r>
              <a:rPr lang="zh-CN" altLang="en-US" b="1" dirty="0"/>
              <a:t>－</a:t>
            </a:r>
            <a:r>
              <a:rPr lang="en-US" altLang="zh-CN" b="1" dirty="0" err="1"/>
              <a:t>ei</a:t>
            </a:r>
            <a:r>
              <a:rPr lang="en-US" altLang="zh-CN" b="1" dirty="0"/>
              <a:t> </a:t>
            </a:r>
            <a:r>
              <a:rPr lang="zh-CN" altLang="en-US" b="1" dirty="0"/>
              <a:t>＝ </a:t>
            </a:r>
            <a:r>
              <a:rPr lang="en-US" altLang="zh-CN" b="1" dirty="0"/>
              <a:t>ES</a:t>
            </a:r>
            <a:r>
              <a:rPr lang="zh-CN" altLang="en-US" b="1" dirty="0"/>
              <a:t>－（－</a:t>
            </a:r>
            <a:r>
              <a:rPr lang="en-US" altLang="zh-CN" b="1" dirty="0"/>
              <a:t>0.013</a:t>
            </a:r>
            <a:r>
              <a:rPr lang="zh-CN" altLang="en-US" b="1" dirty="0"/>
              <a:t>） ＝＋</a:t>
            </a:r>
            <a:r>
              <a:rPr lang="en-US" altLang="zh-CN" b="1" dirty="0"/>
              <a:t>0.013</a:t>
            </a:r>
          </a:p>
        </p:txBody>
      </p:sp>
      <p:sp>
        <p:nvSpPr>
          <p:cNvPr id="68621" name="Text Box 13"/>
          <p:cNvSpPr txBox="1">
            <a:spLocks noChangeArrowheads="1"/>
          </p:cNvSpPr>
          <p:nvPr/>
        </p:nvSpPr>
        <p:spPr bwMode="auto">
          <a:xfrm>
            <a:off x="683568" y="4869160"/>
            <a:ext cx="2801937"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    </a:t>
            </a:r>
            <a:r>
              <a:rPr lang="en-US" altLang="zh-CN" b="1" dirty="0">
                <a:solidFill>
                  <a:srgbClr val="FF0000"/>
                </a:solidFill>
              </a:rPr>
              <a:t>ES </a:t>
            </a:r>
            <a:r>
              <a:rPr lang="zh-CN" altLang="en-US" b="1" dirty="0"/>
              <a:t>＝ </a:t>
            </a:r>
            <a:r>
              <a:rPr lang="en-US" altLang="zh-CN" b="1" dirty="0"/>
              <a:t>0</a:t>
            </a:r>
          </a:p>
        </p:txBody>
      </p:sp>
      <p:sp>
        <p:nvSpPr>
          <p:cNvPr id="68622" name="Text Box 14"/>
          <p:cNvSpPr txBox="1">
            <a:spLocks noChangeArrowheads="1"/>
          </p:cNvSpPr>
          <p:nvPr/>
        </p:nvSpPr>
        <p:spPr bwMode="auto">
          <a:xfrm>
            <a:off x="900113" y="2154957"/>
            <a:ext cx="4392612"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∵h </a:t>
            </a:r>
            <a:r>
              <a:rPr lang="zh-CN" altLang="en-US" b="1"/>
              <a:t>的基本偏差为</a:t>
            </a:r>
            <a:r>
              <a:rPr lang="en-US" altLang="zh-CN" b="1"/>
              <a:t>es,</a:t>
            </a:r>
          </a:p>
        </p:txBody>
      </p:sp>
      <p:sp>
        <p:nvSpPr>
          <p:cNvPr id="68624" name="Rectangle 16"/>
          <p:cNvSpPr>
            <a:spLocks noChangeArrowheads="1"/>
          </p:cNvSpPr>
          <p:nvPr/>
        </p:nvSpPr>
        <p:spPr bwMode="auto">
          <a:xfrm>
            <a:off x="251520" y="1628800"/>
            <a:ext cx="6624638"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b="1" dirty="0"/>
              <a:t>解</a:t>
            </a:r>
            <a:r>
              <a:rPr lang="zh-CN" altLang="en-US" b="1" dirty="0" smtClean="0"/>
              <a:t>：</a:t>
            </a:r>
            <a:endParaRPr lang="zh-CN" altLang="en-US" b="1" dirty="0"/>
          </a:p>
        </p:txBody>
      </p:sp>
      <p:sp>
        <p:nvSpPr>
          <p:cNvPr id="68625" name="Text Box 17"/>
          <p:cNvSpPr txBox="1">
            <a:spLocks noChangeArrowheads="1"/>
          </p:cNvSpPr>
          <p:nvPr/>
        </p:nvSpPr>
        <p:spPr bwMode="auto">
          <a:xfrm>
            <a:off x="755576" y="6006232"/>
            <a:ext cx="40386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dirty="0"/>
              <a:t>∴    </a:t>
            </a:r>
            <a:r>
              <a:rPr lang="en-US" altLang="zh-CN" b="1" dirty="0">
                <a:solidFill>
                  <a:srgbClr val="FF0000"/>
                </a:solidFill>
              </a:rPr>
              <a:t>EI</a:t>
            </a:r>
            <a:r>
              <a:rPr lang="zh-CN" altLang="en-US" b="1" dirty="0"/>
              <a:t>＝－</a:t>
            </a:r>
            <a:r>
              <a:rPr lang="en-US" altLang="zh-CN" b="1" dirty="0"/>
              <a:t>0.21</a:t>
            </a:r>
          </a:p>
        </p:txBody>
      </p:sp>
      <p:sp>
        <p:nvSpPr>
          <p:cNvPr id="68626" name="Rectangle 18"/>
          <p:cNvSpPr>
            <a:spLocks noChangeArrowheads="1"/>
          </p:cNvSpPr>
          <p:nvPr/>
        </p:nvSpPr>
        <p:spPr bwMode="auto">
          <a:xfrm>
            <a:off x="323528" y="5396632"/>
            <a:ext cx="63246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i="1" dirty="0"/>
              <a:t> </a:t>
            </a:r>
            <a:r>
              <a:rPr lang="zh-CN" altLang="en-US" dirty="0"/>
              <a:t>又∵</a:t>
            </a:r>
            <a:r>
              <a:rPr lang="zh-CN" altLang="en-US" i="1" dirty="0"/>
              <a:t>    </a:t>
            </a:r>
            <a:r>
              <a:rPr lang="en-US" altLang="zh-CN" i="1" dirty="0" err="1"/>
              <a:t>Y</a:t>
            </a:r>
            <a:r>
              <a:rPr lang="en-US" altLang="zh-CN" baseline="-25000" dirty="0" err="1"/>
              <a:t>max</a:t>
            </a:r>
            <a:r>
              <a:rPr lang="en-US" altLang="zh-CN" dirty="0"/>
              <a:t>   </a:t>
            </a:r>
            <a:r>
              <a:rPr lang="zh-CN" altLang="en-US" dirty="0"/>
              <a:t>＝ </a:t>
            </a:r>
            <a:r>
              <a:rPr lang="en-US" altLang="zh-CN" dirty="0"/>
              <a:t>EI</a:t>
            </a:r>
            <a:r>
              <a:rPr lang="zh-CN" altLang="en-US" dirty="0"/>
              <a:t>－</a:t>
            </a:r>
            <a:r>
              <a:rPr lang="en-US" altLang="zh-CN" dirty="0" err="1"/>
              <a:t>es</a:t>
            </a:r>
            <a:r>
              <a:rPr lang="en-US" altLang="zh-CN" dirty="0"/>
              <a:t> =</a:t>
            </a:r>
            <a:r>
              <a:rPr lang="zh-CN" altLang="en-US" dirty="0"/>
              <a:t>－</a:t>
            </a:r>
            <a:r>
              <a:rPr lang="en-US" altLang="zh-CN" dirty="0"/>
              <a:t>0.021</a:t>
            </a:r>
          </a:p>
        </p:txBody>
      </p:sp>
      <p:sp>
        <p:nvSpPr>
          <p:cNvPr id="19" name="Text Box 4"/>
          <p:cNvSpPr txBox="1">
            <a:spLocks noRot="1" noChangeAspect="1" noMove="1" noResize="1" noEditPoints="1" noAdjustHandles="1" noChangeArrowheads="1" noChangeShapeType="1" noTextEdit="1"/>
          </p:cNvSpPr>
          <p:nvPr/>
        </p:nvSpPr>
        <p:spPr bwMode="auto">
          <a:xfrm>
            <a:off x="683895" y="276225"/>
            <a:ext cx="7907655" cy="1240155"/>
          </a:xfrm>
          <a:prstGeom prst="rect">
            <a:avLst/>
          </a:prstGeom>
          <a:blipFill rotWithShape="1">
            <a:blip r:embed="rId2" cstate="print"/>
            <a:stretch>
              <a:fillRect l="-1580" t="-5752" b="-12389"/>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p:sp>
        <p:nvSpPr>
          <p:cNvPr id="2" name="Text Box 4"/>
          <p:cNvSpPr txBox="1">
            <a:spLocks noChangeArrowheads="1"/>
          </p:cNvSpPr>
          <p:nvPr/>
        </p:nvSpPr>
        <p:spPr bwMode="auto">
          <a:xfrm>
            <a:off x="3707766" y="1678766"/>
            <a:ext cx="4391992"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因采用 </a:t>
            </a:r>
            <a:r>
              <a:rPr lang="en-US" altLang="zh-CN" b="1" dirty="0"/>
              <a:t>h </a:t>
            </a:r>
            <a:r>
              <a:rPr lang="zh-CN" altLang="en-US" b="1" dirty="0"/>
              <a:t>，∴先求 </a:t>
            </a:r>
            <a:r>
              <a:rPr lang="en-US" altLang="zh-CN" b="1" dirty="0" err="1"/>
              <a:t>es</a:t>
            </a:r>
            <a:r>
              <a:rPr lang="zh-CN" altLang="en-US" b="1" dirty="0"/>
              <a:t>、</a:t>
            </a:r>
            <a:r>
              <a:rPr lang="en-US" altLang="zh-CN" b="1" dirty="0" err="1"/>
              <a:t>ei</a:t>
            </a:r>
            <a:r>
              <a:rPr lang="zh-CN" altLang="en-US" b="1" dirty="0"/>
              <a:t>。</a:t>
            </a:r>
          </a:p>
        </p:txBody>
      </p:sp>
      <p:sp>
        <p:nvSpPr>
          <p:cNvPr id="3" name="Text Box 6"/>
          <p:cNvSpPr txBox="1">
            <a:spLocks noChangeArrowheads="1"/>
          </p:cNvSpPr>
          <p:nvPr/>
        </p:nvSpPr>
        <p:spPr bwMode="auto">
          <a:xfrm>
            <a:off x="610553" y="1644734"/>
            <a:ext cx="358457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a:t>
            </a:r>
            <a:r>
              <a:rPr lang="en-US" altLang="zh-CN" b="1" dirty="0"/>
              <a:t>1</a:t>
            </a:r>
            <a:r>
              <a:rPr lang="zh-CN" altLang="en-US" b="1" dirty="0"/>
              <a:t>）由题意可知：</a:t>
            </a:r>
          </a:p>
        </p:txBody>
      </p:sp>
      <p:sp>
        <p:nvSpPr>
          <p:cNvPr id="4" name="Text Box 11"/>
          <p:cNvSpPr txBox="1">
            <a:spLocks noChangeArrowheads="1"/>
          </p:cNvSpPr>
          <p:nvPr/>
        </p:nvSpPr>
        <p:spPr bwMode="auto">
          <a:xfrm>
            <a:off x="683578" y="3789447"/>
            <a:ext cx="4651375"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a:t>
            </a:r>
            <a:r>
              <a:rPr lang="en-US" altLang="zh-CN" b="1" dirty="0"/>
              <a:t>2</a:t>
            </a:r>
            <a:r>
              <a:rPr lang="zh-CN" altLang="en-US" b="1" dirty="0"/>
              <a:t>）求孔</a:t>
            </a:r>
            <a:r>
              <a:rPr lang="en-US" altLang="zh-CN" b="1" dirty="0"/>
              <a:t>ES</a:t>
            </a:r>
            <a:r>
              <a:rPr lang="zh-CN" altLang="en-US" b="1" dirty="0"/>
              <a:t>、</a:t>
            </a:r>
            <a:r>
              <a:rPr lang="en-US" altLang="zh-CN" b="1" dirty="0"/>
              <a:t>EI</a:t>
            </a:r>
          </a:p>
        </p:txBody>
      </p:sp>
      <p:sp>
        <p:nvSpPr>
          <p:cNvPr id="5" name="Text Box 14"/>
          <p:cNvSpPr txBox="1">
            <a:spLocks noChangeArrowheads="1"/>
          </p:cNvSpPr>
          <p:nvPr/>
        </p:nvSpPr>
        <p:spPr bwMode="auto">
          <a:xfrm>
            <a:off x="899478" y="2147972"/>
            <a:ext cx="4392612"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∵h </a:t>
            </a:r>
            <a:r>
              <a:rPr lang="zh-CN" altLang="en-US" b="1"/>
              <a:t>的基本偏差为</a:t>
            </a:r>
            <a:r>
              <a:rPr lang="en-US" altLang="zh-CN" b="1"/>
              <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24"/>
                                        </p:tgtEl>
                                        <p:attrNameLst>
                                          <p:attrName>style.visibility</p:attrName>
                                        </p:attrNameLst>
                                      </p:cBhvr>
                                      <p:to>
                                        <p:strVal val="visible"/>
                                      </p:to>
                                    </p:set>
                                    <p:animEffect transition="in" filter="wipe(left)">
                                      <p:cBhvr>
                                        <p:cTn id="7" dur="500"/>
                                        <p:tgtEl>
                                          <p:spTgt spid="686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8614"/>
                                        </p:tgtEl>
                                        <p:attrNameLst>
                                          <p:attrName>style.visibility</p:attrName>
                                        </p:attrNameLst>
                                      </p:cBhvr>
                                      <p:to>
                                        <p:strVal val="visible"/>
                                      </p:to>
                                    </p:set>
                                    <p:animEffect transition="in" filter="wipe(left)">
                                      <p:cBhvr>
                                        <p:cTn id="12" dur="300"/>
                                        <p:tgtEl>
                                          <p:spTgt spid="686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8612"/>
                                        </p:tgtEl>
                                        <p:attrNameLst>
                                          <p:attrName>style.visibility</p:attrName>
                                        </p:attrNameLst>
                                      </p:cBhvr>
                                      <p:to>
                                        <p:strVal val="visible"/>
                                      </p:to>
                                    </p:set>
                                    <p:animEffect transition="in" filter="wipe(left)">
                                      <p:cBhvr>
                                        <p:cTn id="17" dur="300"/>
                                        <p:tgtEl>
                                          <p:spTgt spid="686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8622"/>
                                        </p:tgtEl>
                                        <p:attrNameLst>
                                          <p:attrName>style.visibility</p:attrName>
                                        </p:attrNameLst>
                                      </p:cBhvr>
                                      <p:to>
                                        <p:strVal val="visible"/>
                                      </p:to>
                                    </p:set>
                                    <p:animEffect transition="in" filter="wipe(left)">
                                      <p:cBhvr>
                                        <p:cTn id="22" dur="300"/>
                                        <p:tgtEl>
                                          <p:spTgt spid="686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68615"/>
                                        </p:tgtEl>
                                        <p:attrNameLst>
                                          <p:attrName>style.visibility</p:attrName>
                                        </p:attrNameLst>
                                      </p:cBhvr>
                                      <p:to>
                                        <p:strVal val="visible"/>
                                      </p:to>
                                    </p:set>
                                    <p:animEffect transition="in" filter="wipe(left)">
                                      <p:cBhvr>
                                        <p:cTn id="27" dur="300"/>
                                        <p:tgtEl>
                                          <p:spTgt spid="686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68616"/>
                                        </p:tgtEl>
                                        <p:attrNameLst>
                                          <p:attrName>style.visibility</p:attrName>
                                        </p:attrNameLst>
                                      </p:cBhvr>
                                      <p:to>
                                        <p:strVal val="visible"/>
                                      </p:to>
                                    </p:set>
                                    <p:animEffect transition="in" filter="wipe(left)">
                                      <p:cBhvr>
                                        <p:cTn id="32" dur="300"/>
                                        <p:tgtEl>
                                          <p:spTgt spid="686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68617"/>
                                        </p:tgtEl>
                                        <p:attrNameLst>
                                          <p:attrName>style.visibility</p:attrName>
                                        </p:attrNameLst>
                                      </p:cBhvr>
                                      <p:to>
                                        <p:strVal val="visible"/>
                                      </p:to>
                                    </p:set>
                                    <p:animEffect transition="in" filter="wipe(left)">
                                      <p:cBhvr>
                                        <p:cTn id="37" dur="300"/>
                                        <p:tgtEl>
                                          <p:spTgt spid="686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68618"/>
                                        </p:tgtEl>
                                        <p:attrNameLst>
                                          <p:attrName>style.visibility</p:attrName>
                                        </p:attrNameLst>
                                      </p:cBhvr>
                                      <p:to>
                                        <p:strVal val="visible"/>
                                      </p:to>
                                    </p:set>
                                    <p:animEffect transition="in" filter="wipe(left)">
                                      <p:cBhvr>
                                        <p:cTn id="42" dur="300"/>
                                        <p:tgtEl>
                                          <p:spTgt spid="686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68613"/>
                                        </p:tgtEl>
                                        <p:attrNameLst>
                                          <p:attrName>style.visibility</p:attrName>
                                        </p:attrNameLst>
                                      </p:cBhvr>
                                      <p:to>
                                        <p:strVal val="visible"/>
                                      </p:to>
                                    </p:set>
                                    <p:animEffect transition="in" filter="wipe(left)">
                                      <p:cBhvr>
                                        <p:cTn id="47" dur="300"/>
                                        <p:tgtEl>
                                          <p:spTgt spid="686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68619"/>
                                        </p:tgtEl>
                                        <p:attrNameLst>
                                          <p:attrName>style.visibility</p:attrName>
                                        </p:attrNameLst>
                                      </p:cBhvr>
                                      <p:to>
                                        <p:strVal val="visible"/>
                                      </p:to>
                                    </p:set>
                                    <p:animEffect transition="in" filter="wipe(left)">
                                      <p:cBhvr>
                                        <p:cTn id="52" dur="300"/>
                                        <p:tgtEl>
                                          <p:spTgt spid="68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68620"/>
                                        </p:tgtEl>
                                        <p:attrNameLst>
                                          <p:attrName>style.visibility</p:attrName>
                                        </p:attrNameLst>
                                      </p:cBhvr>
                                      <p:to>
                                        <p:strVal val="visible"/>
                                      </p:to>
                                    </p:set>
                                    <p:animEffect transition="in" filter="wipe(left)">
                                      <p:cBhvr>
                                        <p:cTn id="57" dur="300"/>
                                        <p:tgtEl>
                                          <p:spTgt spid="686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68621"/>
                                        </p:tgtEl>
                                        <p:attrNameLst>
                                          <p:attrName>style.visibility</p:attrName>
                                        </p:attrNameLst>
                                      </p:cBhvr>
                                      <p:to>
                                        <p:strVal val="visible"/>
                                      </p:to>
                                    </p:set>
                                    <p:animEffect transition="in" filter="wipe(left)">
                                      <p:cBhvr>
                                        <p:cTn id="62" dur="300"/>
                                        <p:tgtEl>
                                          <p:spTgt spid="686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wd">
                                    <p:tmPct val="100000"/>
                                  </p:iterate>
                                  <p:childTnLst>
                                    <p:set>
                                      <p:cBhvr>
                                        <p:cTn id="66" dur="1" fill="hold">
                                          <p:stCondLst>
                                            <p:cond delay="0"/>
                                          </p:stCondLst>
                                        </p:cTn>
                                        <p:tgtEl>
                                          <p:spTgt spid="68626"/>
                                        </p:tgtEl>
                                        <p:attrNameLst>
                                          <p:attrName>style.visibility</p:attrName>
                                        </p:attrNameLst>
                                      </p:cBhvr>
                                      <p:to>
                                        <p:strVal val="visible"/>
                                      </p:to>
                                    </p:set>
                                    <p:animEffect transition="in" filter="wipe(left)">
                                      <p:cBhvr>
                                        <p:cTn id="67" dur="300"/>
                                        <p:tgtEl>
                                          <p:spTgt spid="686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wd">
                                    <p:tmPct val="100000"/>
                                  </p:iterate>
                                  <p:childTnLst>
                                    <p:set>
                                      <p:cBhvr>
                                        <p:cTn id="71" dur="1" fill="hold">
                                          <p:stCondLst>
                                            <p:cond delay="0"/>
                                          </p:stCondLst>
                                        </p:cTn>
                                        <p:tgtEl>
                                          <p:spTgt spid="68625"/>
                                        </p:tgtEl>
                                        <p:attrNameLst>
                                          <p:attrName>style.visibility</p:attrName>
                                        </p:attrNameLst>
                                      </p:cBhvr>
                                      <p:to>
                                        <p:strVal val="visible"/>
                                      </p:to>
                                    </p:set>
                                    <p:animEffect transition="in" filter="wipe(left)">
                                      <p:cBhvr>
                                        <p:cTn id="72" dur="300"/>
                                        <p:tgtEl>
                                          <p:spTgt spid="68625"/>
                                        </p:tgtEl>
                                      </p:cBhvr>
                                    </p:animEffect>
                                  </p:childTnLst>
                                </p:cTn>
                              </p:par>
                            </p:childTnLst>
                          </p:cTn>
                        </p:par>
                        <p:par>
                          <p:cTn id="73" fill="hold">
                            <p:stCondLst>
                              <p:cond delay="3900"/>
                            </p:stCondLst>
                            <p:childTnLst>
                              <p:par>
                                <p:cTn id="74" presetID="22" presetClass="entr" presetSubtype="8" fill="hold" grpId="0" nodeType="afterEffect">
                                  <p:stCondLst>
                                    <p:cond delay="0"/>
                                  </p:stCondLst>
                                  <p:iterate type="wd">
                                    <p:tmPct val="100000"/>
                                  </p:iterate>
                                  <p:childTnLst>
                                    <p:set>
                                      <p:cBhvr>
                                        <p:cTn id="75" dur="1" fill="hold">
                                          <p:stCondLst>
                                            <p:cond delay="0"/>
                                          </p:stCondLst>
                                        </p:cTn>
                                        <p:tgtEl>
                                          <p:spTgt spid="19"/>
                                        </p:tgtEl>
                                        <p:attrNameLst>
                                          <p:attrName>style.visibility</p:attrName>
                                        </p:attrNameLst>
                                      </p:cBhvr>
                                      <p:to>
                                        <p:strVal val="visible"/>
                                      </p:to>
                                    </p:set>
                                    <p:animEffect transition="in" filter="wipe(left)">
                                      <p:cBhvr>
                                        <p:cTn id="76" dur="3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iterate type="wd">
                                    <p:tmPct val="100000"/>
                                  </p:iterate>
                                  <p:childTnLst>
                                    <p:set>
                                      <p:cBhvr>
                                        <p:cTn id="80" dur="1" fill="hold">
                                          <p:stCondLst>
                                            <p:cond delay="0"/>
                                          </p:stCondLst>
                                        </p:cTn>
                                        <p:tgtEl>
                                          <p:spTgt spid="3"/>
                                        </p:tgtEl>
                                        <p:attrNameLst>
                                          <p:attrName>style.visibility</p:attrName>
                                        </p:attrNameLst>
                                      </p:cBhvr>
                                      <p:to>
                                        <p:strVal val="visible"/>
                                      </p:to>
                                    </p:set>
                                    <p:animEffect transition="in" filter="wipe(left)">
                                      <p:cBhvr>
                                        <p:cTn id="81" dur="300"/>
                                        <p:tgtEl>
                                          <p:spTgt spid="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iterate type="wd">
                                    <p:tmPct val="100000"/>
                                  </p:iterate>
                                  <p:childTnLst>
                                    <p:set>
                                      <p:cBhvr>
                                        <p:cTn id="85" dur="1" fill="hold">
                                          <p:stCondLst>
                                            <p:cond delay="0"/>
                                          </p:stCondLst>
                                        </p:cTn>
                                        <p:tgtEl>
                                          <p:spTgt spid="2"/>
                                        </p:tgtEl>
                                        <p:attrNameLst>
                                          <p:attrName>style.visibility</p:attrName>
                                        </p:attrNameLst>
                                      </p:cBhvr>
                                      <p:to>
                                        <p:strVal val="visible"/>
                                      </p:to>
                                    </p:set>
                                    <p:animEffect transition="in" filter="wipe(left)">
                                      <p:cBhvr>
                                        <p:cTn id="86" dur="300"/>
                                        <p:tgtEl>
                                          <p:spTgt spid="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iterate type="wd">
                                    <p:tmPct val="100000"/>
                                  </p:iterate>
                                  <p:childTnLst>
                                    <p:set>
                                      <p:cBhvr>
                                        <p:cTn id="90" dur="1" fill="hold">
                                          <p:stCondLst>
                                            <p:cond delay="0"/>
                                          </p:stCondLst>
                                        </p:cTn>
                                        <p:tgtEl>
                                          <p:spTgt spid="5"/>
                                        </p:tgtEl>
                                        <p:attrNameLst>
                                          <p:attrName>style.visibility</p:attrName>
                                        </p:attrNameLst>
                                      </p:cBhvr>
                                      <p:to>
                                        <p:strVal val="visible"/>
                                      </p:to>
                                    </p:set>
                                    <p:animEffect transition="in" filter="wipe(left)">
                                      <p:cBhvr>
                                        <p:cTn id="91" dur="300"/>
                                        <p:tgtEl>
                                          <p:spTgt spid="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iterate type="wd">
                                    <p:tmPct val="100000"/>
                                  </p:iterate>
                                  <p:childTnLst>
                                    <p:set>
                                      <p:cBhvr>
                                        <p:cTn id="95" dur="1" fill="hold">
                                          <p:stCondLst>
                                            <p:cond delay="0"/>
                                          </p:stCondLst>
                                        </p:cTn>
                                        <p:tgtEl>
                                          <p:spTgt spid="4"/>
                                        </p:tgtEl>
                                        <p:attrNameLst>
                                          <p:attrName>style.visibility</p:attrName>
                                        </p:attrNameLst>
                                      </p:cBhvr>
                                      <p:to>
                                        <p:strVal val="visible"/>
                                      </p:to>
                                    </p:set>
                                    <p:animEffect transition="in" filter="wipe(left)">
                                      <p:cBhvr>
                                        <p:cTn id="96"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P spid="68613" grpId="0" autoUpdateAnimBg="0"/>
      <p:bldP spid="68614" grpId="0" autoUpdateAnimBg="0"/>
      <p:bldP spid="68615" grpId="0" autoUpdateAnimBg="0"/>
      <p:bldP spid="68616" grpId="0" autoUpdateAnimBg="0"/>
      <p:bldP spid="68617" grpId="0" autoUpdateAnimBg="0"/>
      <p:bldP spid="68618" grpId="0" autoUpdateAnimBg="0"/>
      <p:bldP spid="68619" grpId="0" autoUpdateAnimBg="0"/>
      <p:bldP spid="68620" grpId="0" autoUpdateAnimBg="0"/>
      <p:bldP spid="68621" grpId="0" autoUpdateAnimBg="0"/>
      <p:bldP spid="68622" grpId="0" autoUpdateAnimBg="0"/>
      <p:bldP spid="68624" grpId="0"/>
      <p:bldP spid="68625" grpId="0" autoUpdateAnimBg="0"/>
      <p:bldP spid="68626" grpId="0" autoUpdateAnimBg="0"/>
      <p:bldP spid="19" grpId="0" bldLvl="0" animBg="1" autoUpdateAnimBg="0"/>
      <p:bldP spid="2" grpId="0" bldLvl="0" animBg="1" autoUpdateAnimBg="0"/>
      <p:bldP spid="3" grpId="0" bldLvl="0" animBg="1" autoUpdateAnimBg="0"/>
      <p:bldP spid="4" grpId="0" bldLvl="0" animBg="1" autoUpdateAnimBg="0"/>
      <p:bldP spid="5"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C859B8D7-0E66-4255-B4B2-A6368802BB08}" type="slidenum">
              <a:rPr lang="en-US" altLang="zh-CN" sz="2000" smtClean="0">
                <a:solidFill>
                  <a:schemeClr val="accent2"/>
                </a:solidFill>
              </a:rPr>
              <a:pPr eaLnBrk="1" hangingPunct="1"/>
              <a:t>35</a:t>
            </a:fld>
            <a:endParaRPr lang="en-US" altLang="zh-CN" sz="2000" smtClean="0">
              <a:solidFill>
                <a:schemeClr val="accent2"/>
              </a:solidFill>
            </a:endParaRPr>
          </a:p>
        </p:txBody>
      </p:sp>
      <p:sp>
        <p:nvSpPr>
          <p:cNvPr id="51206" name="Text Box 6"/>
          <p:cNvSpPr txBox="1">
            <a:spLocks noChangeArrowheads="1"/>
          </p:cNvSpPr>
          <p:nvPr/>
        </p:nvSpPr>
        <p:spPr bwMode="auto">
          <a:xfrm>
            <a:off x="614680" y="1278255"/>
            <a:ext cx="7086600" cy="1160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solidFill>
                  <a:srgbClr val="FF0000"/>
                </a:solidFill>
              </a:rPr>
              <a:t>T</a:t>
            </a:r>
            <a:r>
              <a:rPr lang="en-US" altLang="zh-CN" b="1" baseline="-25000">
                <a:solidFill>
                  <a:srgbClr val="FF0000"/>
                </a:solidFill>
              </a:rPr>
              <a:t>f </a:t>
            </a:r>
            <a:r>
              <a:rPr lang="zh-CN" altLang="en-US" b="1"/>
              <a:t>＝ </a:t>
            </a:r>
            <a:r>
              <a:rPr lang="en-US" altLang="zh-CN" b="1" i="1"/>
              <a:t>T</a:t>
            </a:r>
            <a:r>
              <a:rPr lang="en-US" altLang="zh-CN" b="1" baseline="-25000"/>
              <a:t>D</a:t>
            </a:r>
            <a:r>
              <a:rPr lang="zh-CN" altLang="en-US" b="1"/>
              <a:t>＋</a:t>
            </a:r>
            <a:r>
              <a:rPr lang="en-US" altLang="zh-CN" b="1" i="1"/>
              <a:t>T</a:t>
            </a:r>
            <a:r>
              <a:rPr lang="en-US" altLang="zh-CN" b="1" baseline="-25000"/>
              <a:t>d</a:t>
            </a:r>
            <a:r>
              <a:rPr lang="zh-CN" altLang="en-US" b="1"/>
              <a:t>＝｜</a:t>
            </a:r>
            <a:r>
              <a:rPr lang="en-US" altLang="zh-CN" b="1"/>
              <a:t>ES</a:t>
            </a:r>
            <a:r>
              <a:rPr lang="zh-CN" altLang="en-US" b="1"/>
              <a:t>－</a:t>
            </a:r>
            <a:r>
              <a:rPr lang="en-US" altLang="zh-CN" b="1"/>
              <a:t>EI</a:t>
            </a:r>
            <a:r>
              <a:rPr lang="zh-CN" altLang="en-US" b="1"/>
              <a:t>｜＋｜</a:t>
            </a:r>
            <a:r>
              <a:rPr lang="en-US" altLang="zh-CN" b="1"/>
              <a:t>es</a:t>
            </a:r>
            <a:r>
              <a:rPr lang="zh-CN" altLang="en-US" b="1"/>
              <a:t>－</a:t>
            </a:r>
            <a:r>
              <a:rPr lang="en-US" altLang="zh-CN" b="1"/>
              <a:t>ei</a:t>
            </a:r>
            <a:r>
              <a:rPr lang="zh-CN" altLang="en-US" b="1"/>
              <a:t>｜</a:t>
            </a:r>
          </a:p>
          <a:p>
            <a:pPr algn="l" eaLnBrk="1" hangingPunct="1">
              <a:lnSpc>
                <a:spcPct val="150000"/>
              </a:lnSpc>
            </a:pPr>
            <a:r>
              <a:rPr lang="zh-CN" altLang="en-US" b="1"/>
              <a:t>    ＝</a:t>
            </a:r>
            <a:r>
              <a:rPr lang="en-US" altLang="zh-CN" b="1"/>
              <a:t>0.021</a:t>
            </a:r>
            <a:r>
              <a:rPr lang="zh-CN" altLang="en-US" b="1"/>
              <a:t>＋</a:t>
            </a:r>
            <a:r>
              <a:rPr lang="en-US" altLang="zh-CN" b="1"/>
              <a:t>0.013</a:t>
            </a:r>
            <a:r>
              <a:rPr lang="zh-CN" altLang="en-US" b="1"/>
              <a:t>＝</a:t>
            </a:r>
            <a:r>
              <a:rPr lang="en-US" altLang="zh-CN" b="1"/>
              <a:t>0.033</a:t>
            </a:r>
            <a:endParaRPr lang="en-US" altLang="zh-CN" b="1" baseline="-25000"/>
          </a:p>
        </p:txBody>
      </p:sp>
      <p:sp>
        <p:nvSpPr>
          <p:cNvPr id="51207" name="Text Box 7"/>
          <p:cNvSpPr txBox="1">
            <a:spLocks noChangeArrowheads="1"/>
          </p:cNvSpPr>
          <p:nvPr/>
        </p:nvSpPr>
        <p:spPr bwMode="auto">
          <a:xfrm>
            <a:off x="586423" y="2559685"/>
            <a:ext cx="67691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dirty="0"/>
              <a:t>（</a:t>
            </a:r>
            <a:r>
              <a:rPr lang="en-US" altLang="zh-CN" b="1" dirty="0"/>
              <a:t>4</a:t>
            </a:r>
            <a:r>
              <a:rPr lang="zh-CN" altLang="en-US" b="1" dirty="0"/>
              <a:t>）画公差带图（画法见下页）</a:t>
            </a:r>
          </a:p>
        </p:txBody>
      </p:sp>
      <p:sp>
        <p:nvSpPr>
          <p:cNvPr id="51232" name="Text Box 32"/>
          <p:cNvSpPr txBox="1">
            <a:spLocks noChangeArrowheads="1"/>
          </p:cNvSpPr>
          <p:nvPr/>
        </p:nvSpPr>
        <p:spPr bwMode="auto">
          <a:xfrm>
            <a:off x="586740" y="575628"/>
            <a:ext cx="5867400" cy="519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dirty="0"/>
              <a:t>（</a:t>
            </a:r>
            <a:r>
              <a:rPr lang="en-US" altLang="zh-CN" dirty="0"/>
              <a:t>3</a:t>
            </a:r>
            <a:r>
              <a:rPr lang="zh-CN" altLang="en-US" dirty="0"/>
              <a:t>）</a:t>
            </a:r>
            <a:r>
              <a:rPr lang="zh-CN" altLang="en-US" b="1" dirty="0"/>
              <a:t>求配合公差  </a:t>
            </a:r>
            <a:r>
              <a:rPr lang="en-US" altLang="zh-CN" b="1" i="1" dirty="0" err="1">
                <a:solidFill>
                  <a:srgbClr val="FF0000"/>
                </a:solidFill>
              </a:rPr>
              <a:t>T</a:t>
            </a:r>
            <a:r>
              <a:rPr lang="en-US" altLang="zh-CN" b="1" baseline="-25000" dirty="0" err="1">
                <a:solidFill>
                  <a:srgbClr val="FF0000"/>
                </a:solidFill>
              </a:rPr>
              <a:t>f</a:t>
            </a:r>
            <a:r>
              <a:rPr lang="en-US" altLang="zh-CN" b="1" dirty="0"/>
              <a:t> </a:t>
            </a:r>
          </a:p>
        </p:txBody>
      </p:sp>
      <p:grpSp>
        <p:nvGrpSpPr>
          <p:cNvPr id="3" name="组合 2"/>
          <p:cNvGrpSpPr/>
          <p:nvPr/>
        </p:nvGrpSpPr>
        <p:grpSpPr bwMode="auto">
          <a:xfrm>
            <a:off x="1547813" y="3569653"/>
            <a:ext cx="5292725" cy="2089150"/>
            <a:chOff x="1547813" y="2708275"/>
            <a:chExt cx="5292584" cy="2088877"/>
          </a:xfrm>
        </p:grpSpPr>
        <p:grpSp>
          <p:nvGrpSpPr>
            <p:cNvPr id="39943" name="Group 10"/>
            <p:cNvGrpSpPr/>
            <p:nvPr/>
          </p:nvGrpSpPr>
          <p:grpSpPr bwMode="auto">
            <a:xfrm>
              <a:off x="1763713" y="3790950"/>
              <a:ext cx="300037" cy="576263"/>
              <a:chOff x="1464" y="2713"/>
              <a:chExt cx="189" cy="363"/>
            </a:xfrm>
          </p:grpSpPr>
          <mc:AlternateContent xmlns:mc="http://schemas.openxmlformats.org/markup-compatibility/2006">
            <mc:Choice xmlns="" xmlns:a14="http://schemas.microsoft.com/office/drawing/2010/main" Requires="a14">
              <p:sp>
                <p:nvSpPr>
                  <p:cNvPr id="39959" name="WordArt 11"/>
                  <p:cNvSpPr>
                    <a:spLocks noChangeArrowheads="1" noChangeShapeType="1" noTextEdit="1"/>
                  </p:cNvSpPr>
                  <p:nvPr/>
                </p:nvSpPr>
                <p:spPr bwMode="auto">
                  <a:xfrm rot="-5400000">
                    <a:off x="1477" y="2901"/>
                    <a:ext cx="162" cy="188"/>
                  </a:xfrm>
                  <a:prstGeom prst="rect">
                    <a:avLst/>
                  </a:prstGeom>
                </p:spPr>
                <p:txBody>
                  <a:bodyPr wrap="none" fromWordArt="1">
                    <a:prstTxWarp prst="textPlain">
                      <a:avLst>
                        <a:gd name="adj" fmla="val 50000"/>
                      </a:avLst>
                    </a:prstTxWarp>
                  </a:bodyPr>
                  <a:lstStyle/>
                  <a:p>
                    <a14:m>
                      <m:oMathPara xmlns:m="http://schemas.openxmlformats.org/officeDocument/2006/math">
                        <m:oMathParaPr>
                          <m:jc m:val="centerGroup"/>
                        </m:oMathParaPr>
                        <m:oMath xmlns:m="http://schemas.openxmlformats.org/officeDocument/2006/math">
                          <m:r>
                            <a:rPr lang="el-GR" altLang="zh-CN" sz="1000" i="1" kern="10" dirty="0" smtClean="0">
                              <a:ln w="9525">
                                <a:solidFill>
                                  <a:srgbClr val="000000"/>
                                </a:solidFill>
                                <a:round/>
                              </a:ln>
                              <a:solidFill>
                                <a:srgbClr val="000000"/>
                              </a:solidFill>
                              <a:latin typeface="Cambria Math" panose="02040503050406030204"/>
                              <a:ea typeface="Cambria Math" panose="02040503050406030204"/>
                              <a:cs typeface="Times New Roman" panose="02020603050405020304"/>
                            </a:rPr>
                            <m:t>∅</m:t>
                          </m:r>
                        </m:oMath>
                      </m:oMathPara>
                    </a14:m>
                    <a:endParaRPr lang="zh-CN" altLang="en-US" sz="1000" i="1" kern="10" dirty="0">
                      <a:ln w="9525">
                        <a:solidFill>
                          <a:srgbClr val="000000"/>
                        </a:solidFill>
                        <a:round/>
                      </a:ln>
                      <a:solidFill>
                        <a:srgbClr val="000000"/>
                      </a:solidFill>
                      <a:latin typeface="Times New Roman" panose="02020603050405020304"/>
                      <a:cs typeface="Times New Roman" panose="02020603050405020304"/>
                    </a:endParaRPr>
                  </a:p>
                </p:txBody>
              </p:sp>
            </mc:Choice>
            <mc:Fallback>
              <p:sp>
                <p:nvSpPr>
                  <p:cNvPr id="39959" name="WordArt 11"/>
                  <p:cNvSpPr>
                    <a:spLocks noRot="1" noChangeAspect="1" noMove="1" noResize="1" noEditPoints="1" noAdjustHandles="1" noChangeArrowheads="1" noChangeShapeType="1" noTextEdit="1"/>
                  </p:cNvSpPr>
                  <p:nvPr/>
                </p:nvSpPr>
                <p:spPr bwMode="auto">
                  <a:xfrm rot="-5400000">
                    <a:off x="1477" y="2901"/>
                    <a:ext cx="162" cy="188"/>
                  </a:xfrm>
                  <a:prstGeom prst="rect">
                    <a:avLst/>
                  </a:prstGeom>
                  <a:blipFill rotWithShape="1">
                    <a:blip r:embed="rId2"/>
                  </a:blipFill>
                </p:spPr>
                <p:txBody>
                  <a:bodyPr/>
                  <a:lstStyle/>
                  <a:p>
                    <a:r>
                      <a:rPr lang="zh-CN" altLang="en-US">
                        <a:noFill/>
                      </a:rPr>
                      <a:t> </a:t>
                    </a:r>
                  </a:p>
                </p:txBody>
              </p:sp>
            </mc:Fallback>
          </mc:AlternateContent>
          <p:sp>
            <p:nvSpPr>
              <p:cNvPr id="39960" name="WordArt 12"/>
              <p:cNvSpPr>
                <a:spLocks noChangeArrowheads="1" noChangeShapeType="1" noTextEdit="1"/>
              </p:cNvSpPr>
              <p:nvPr/>
            </p:nvSpPr>
            <p:spPr bwMode="auto">
              <a:xfrm rot="-5400000">
                <a:off x="1478" y="2700"/>
                <a:ext cx="162" cy="188"/>
              </a:xfrm>
              <a:prstGeom prst="rect">
                <a:avLst/>
              </a:prstGeom>
            </p:spPr>
            <p:txBody>
              <a:bodyPr wrap="none" fromWordArt="1">
                <a:prstTxWarp prst="textPlain">
                  <a:avLst>
                    <a:gd name="adj" fmla="val 50000"/>
                  </a:avLst>
                </a:prstTxWarp>
              </a:bodyPr>
              <a:lstStyle/>
              <a:p>
                <a:r>
                  <a:rPr lang="en-US" altLang="zh-CN" sz="1000" kern="10">
                    <a:ln w="9525">
                      <a:solidFill>
                        <a:srgbClr val="000000"/>
                      </a:solidFill>
                      <a:round/>
                    </a:ln>
                    <a:solidFill>
                      <a:srgbClr val="000000"/>
                    </a:solidFill>
                    <a:latin typeface="宋体" panose="02010600030101010101" pitchFamily="2" charset="-122"/>
                    <a:ea typeface="宋体" panose="02010600030101010101" pitchFamily="2" charset="-122"/>
                  </a:rPr>
                  <a:t>25</a:t>
                </a:r>
                <a:endParaRPr lang="zh-CN" altLang="en-US" sz="1000" kern="1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sp>
          <p:nvSpPr>
            <p:cNvPr id="39944" name="Line 13"/>
            <p:cNvSpPr>
              <a:spLocks noChangeShapeType="1"/>
            </p:cNvSpPr>
            <p:nvPr/>
          </p:nvSpPr>
          <p:spPr bwMode="auto">
            <a:xfrm>
              <a:off x="1903413" y="3114675"/>
              <a:ext cx="4387850" cy="0"/>
            </a:xfrm>
            <a:prstGeom prst="line">
              <a:avLst/>
            </a:prstGeom>
            <a:noFill/>
            <a:ln w="28575">
              <a:solidFill>
                <a:srgbClr val="000000"/>
              </a:solidFill>
              <a:round/>
            </a:ln>
            <a:extLst>
              <a:ext uri="{909E8E84-426E-40DD-AFC4-6F175D3DCCD1}">
                <a14:hiddenFill xmlns="" xmlns:a14="http://schemas.microsoft.com/office/drawing/2010/main">
                  <a:noFill/>
                </a14:hiddenFill>
              </a:ext>
            </a:extLst>
          </p:spPr>
          <p:txBody>
            <a:bodyPr/>
            <a:lstStyle/>
            <a:p>
              <a:endParaRPr lang="zh-CN" altLang="en-US"/>
            </a:p>
          </p:txBody>
        </p:sp>
        <p:sp>
          <p:nvSpPr>
            <p:cNvPr id="39945" name="Line 14"/>
            <p:cNvSpPr>
              <a:spLocks noChangeShapeType="1"/>
            </p:cNvSpPr>
            <p:nvPr/>
          </p:nvSpPr>
          <p:spPr bwMode="auto">
            <a:xfrm>
              <a:off x="2195513" y="3117850"/>
              <a:ext cx="0" cy="1679302"/>
            </a:xfrm>
            <a:prstGeom prst="line">
              <a:avLst/>
            </a:prstGeom>
            <a:noFill/>
            <a:ln w="28575">
              <a:solidFill>
                <a:srgbClr val="000000"/>
              </a:solidFill>
              <a:round/>
              <a:headEnd type="triangle" w="med" len="med"/>
            </a:ln>
            <a:extLst>
              <a:ext uri="{909E8E84-426E-40DD-AFC4-6F175D3DCCD1}">
                <a14:hiddenFill xmlns="" xmlns:a14="http://schemas.microsoft.com/office/drawing/2010/main">
                  <a:noFill/>
                </a14:hiddenFill>
              </a:ext>
            </a:extLst>
          </p:spPr>
          <p:txBody>
            <a:bodyPr/>
            <a:lstStyle/>
            <a:p>
              <a:endParaRPr lang="zh-CN" altLang="en-US"/>
            </a:p>
          </p:txBody>
        </p:sp>
        <p:sp>
          <p:nvSpPr>
            <p:cNvPr id="39946" name="WordArt 15"/>
            <p:cNvSpPr>
              <a:spLocks noChangeArrowheads="1" noChangeShapeType="1" noTextEdit="1"/>
            </p:cNvSpPr>
            <p:nvPr/>
          </p:nvSpPr>
          <p:spPr bwMode="auto">
            <a:xfrm>
              <a:off x="1547813" y="2708275"/>
              <a:ext cx="139700" cy="776288"/>
            </a:xfrm>
            <a:prstGeom prst="rect">
              <a:avLst/>
            </a:prstGeom>
          </p:spPr>
          <p:txBody>
            <a:bodyPr wrap="none" fromWordArt="1">
              <a:prstTxWarp prst="textPlain">
                <a:avLst>
                  <a:gd name="adj" fmla="val 50000"/>
                </a:avLst>
              </a:prstTxWarp>
            </a:bodyPr>
            <a:lstStyle/>
            <a:p>
              <a:r>
                <a:rPr lang="en-US" altLang="zh-CN" sz="1000" kern="10">
                  <a:ln w="9525">
                    <a:solidFill>
                      <a:srgbClr val="000000"/>
                    </a:solidFill>
                    <a:round/>
                  </a:ln>
                  <a:solidFill>
                    <a:srgbClr val="000000"/>
                  </a:solidFill>
                  <a:latin typeface="宋体" panose="02010600030101010101" pitchFamily="2" charset="-122"/>
                  <a:ea typeface="宋体" panose="02010600030101010101" pitchFamily="2" charset="-122"/>
                </a:rPr>
                <a:t>+</a:t>
              </a:r>
            </a:p>
            <a:p>
              <a:r>
                <a:rPr lang="en-US" altLang="zh-CN" sz="1000" kern="10">
                  <a:ln w="9525">
                    <a:solidFill>
                      <a:srgbClr val="000000"/>
                    </a:solidFill>
                    <a:round/>
                  </a:ln>
                  <a:solidFill>
                    <a:srgbClr val="000000"/>
                  </a:solidFill>
                  <a:latin typeface="宋体" panose="02010600030101010101" pitchFamily="2" charset="-122"/>
                  <a:ea typeface="宋体" panose="02010600030101010101" pitchFamily="2" charset="-122"/>
                </a:rPr>
                <a:t>0</a:t>
              </a:r>
            </a:p>
            <a:p>
              <a:r>
                <a:rPr lang="en-US" altLang="zh-CN" sz="1000" kern="10">
                  <a:ln w="9525">
                    <a:solidFill>
                      <a:srgbClr val="000000"/>
                    </a:solidFill>
                    <a:round/>
                  </a:ln>
                  <a:solidFill>
                    <a:srgbClr val="000000"/>
                  </a:solidFill>
                  <a:latin typeface="宋体" panose="02010600030101010101" pitchFamily="2" charset="-122"/>
                  <a:ea typeface="宋体" panose="02010600030101010101" pitchFamily="2" charset="-122"/>
                </a:rPr>
                <a:t>-</a:t>
              </a:r>
              <a:endParaRPr lang="zh-CN" altLang="en-US" sz="1000" kern="1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nvGrpSpPr>
            <p:cNvPr id="39947" name="Group 16"/>
            <p:cNvGrpSpPr/>
            <p:nvPr/>
          </p:nvGrpSpPr>
          <p:grpSpPr bwMode="auto">
            <a:xfrm>
              <a:off x="2752725" y="3114675"/>
              <a:ext cx="814387" cy="1433513"/>
              <a:chOff x="3288" y="6825"/>
              <a:chExt cx="614" cy="1080"/>
            </a:xfrm>
          </p:grpSpPr>
          <p:sp>
            <p:nvSpPr>
              <p:cNvPr id="39955" name="Rectangle 17"/>
              <p:cNvSpPr>
                <a:spLocks noChangeArrowheads="1"/>
              </p:cNvSpPr>
              <p:nvPr/>
            </p:nvSpPr>
            <p:spPr bwMode="auto">
              <a:xfrm>
                <a:off x="3288" y="6825"/>
                <a:ext cx="614" cy="1080"/>
              </a:xfrm>
              <a:prstGeom prst="rect">
                <a:avLst/>
              </a:prstGeom>
              <a:solidFill>
                <a:srgbClr val="FFFFFF"/>
              </a:solidFill>
              <a:ln w="28575">
                <a:solidFill>
                  <a:srgbClr val="000000"/>
                </a:solidFill>
                <a:miter lim="800000"/>
              </a:ln>
            </p:spPr>
            <p:txBody>
              <a:bodyPr/>
              <a:lstStyle/>
              <a:p>
                <a:endParaRPr lang="zh-CN" altLang="en-US"/>
              </a:p>
            </p:txBody>
          </p:sp>
          <p:grpSp>
            <p:nvGrpSpPr>
              <p:cNvPr id="39956" name="Group 18"/>
              <p:cNvGrpSpPr/>
              <p:nvPr/>
            </p:nvGrpSpPr>
            <p:grpSpPr bwMode="auto">
              <a:xfrm>
                <a:off x="3408" y="7185"/>
                <a:ext cx="263" cy="291"/>
                <a:chOff x="5857" y="8685"/>
                <a:chExt cx="263" cy="291"/>
              </a:xfrm>
            </p:grpSpPr>
            <p:sp>
              <p:nvSpPr>
                <p:cNvPr id="39957" name="WordArt 19"/>
                <p:cNvSpPr>
                  <a:spLocks noChangeArrowheads="1" noChangeShapeType="1" noTextEdit="1"/>
                </p:cNvSpPr>
                <p:nvPr/>
              </p:nvSpPr>
              <p:spPr bwMode="auto">
                <a:xfrm>
                  <a:off x="5857" y="8685"/>
                  <a:ext cx="225" cy="249"/>
                </a:xfrm>
                <a:prstGeom prst="rect">
                  <a:avLst/>
                </a:prstGeom>
              </p:spPr>
              <p:txBody>
                <a:bodyPr wrap="none" fromWordArt="1">
                  <a:prstTxWarp prst="textPlain">
                    <a:avLst>
                      <a:gd name="adj" fmla="val 50000"/>
                    </a:avLst>
                  </a:prstTxWarp>
                </a:bodyPr>
                <a:lstStyle/>
                <a:p>
                  <a:r>
                    <a:rPr lang="en-US" altLang="zh-CN" sz="1000" b="1" i="1" kern="10">
                      <a:ln w="28575">
                        <a:solidFill>
                          <a:srgbClr val="000000"/>
                        </a:solidFill>
                        <a:round/>
                      </a:ln>
                      <a:solidFill>
                        <a:srgbClr val="000000"/>
                      </a:solidFill>
                      <a:latin typeface="宋体" panose="02010600030101010101" pitchFamily="2" charset="-122"/>
                      <a:ea typeface="宋体" panose="02010600030101010101" pitchFamily="2" charset="-122"/>
                    </a:rPr>
                    <a:t>T</a:t>
                  </a:r>
                  <a:endParaRPr lang="zh-CN" altLang="en-US" sz="1000" b="1" i="1" kern="10">
                    <a:ln w="28575">
                      <a:solidFill>
                        <a:srgbClr val="000000"/>
                      </a:solidFill>
                      <a:round/>
                    </a:ln>
                    <a:solidFill>
                      <a:srgbClr val="000000"/>
                    </a:solidFill>
                    <a:latin typeface="宋体" panose="02010600030101010101" pitchFamily="2" charset="-122"/>
                    <a:ea typeface="宋体" panose="02010600030101010101" pitchFamily="2" charset="-122"/>
                  </a:endParaRPr>
                </a:p>
              </p:txBody>
            </p:sp>
            <p:sp>
              <p:nvSpPr>
                <p:cNvPr id="39958" name="WordArt 20"/>
                <p:cNvSpPr>
                  <a:spLocks noChangeArrowheads="1" noChangeShapeType="1" noTextEdit="1"/>
                </p:cNvSpPr>
                <p:nvPr/>
              </p:nvSpPr>
              <p:spPr bwMode="auto">
                <a:xfrm>
                  <a:off x="6015" y="8796"/>
                  <a:ext cx="105" cy="180"/>
                </a:xfrm>
                <a:prstGeom prst="rect">
                  <a:avLst/>
                </a:prstGeom>
              </p:spPr>
              <p:txBody>
                <a:bodyPr wrap="none" fromWordArt="1">
                  <a:prstTxWarp prst="textPlain">
                    <a:avLst>
                      <a:gd name="adj" fmla="val 50000"/>
                    </a:avLst>
                  </a:prstTxWarp>
                </a:bodyPr>
                <a:lstStyle/>
                <a:p>
                  <a:r>
                    <a:rPr lang="en-US" altLang="zh-CN" sz="900" b="1" kern="10">
                      <a:ln w="28575">
                        <a:solidFill>
                          <a:srgbClr val="000000"/>
                        </a:solidFill>
                        <a:round/>
                      </a:ln>
                      <a:solidFill>
                        <a:srgbClr val="000000"/>
                      </a:solidFill>
                      <a:latin typeface="宋体" panose="02010600030101010101" pitchFamily="2" charset="-122"/>
                      <a:ea typeface="宋体" panose="02010600030101010101" pitchFamily="2" charset="-122"/>
                    </a:rPr>
                    <a:t>D</a:t>
                  </a:r>
                  <a:endParaRPr lang="zh-CN" altLang="en-US" sz="900" b="1" kern="10">
                    <a:ln w="2857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grpSp>
          <p:nvGrpSpPr>
            <p:cNvPr id="39948" name="Group 21"/>
            <p:cNvGrpSpPr/>
            <p:nvPr/>
          </p:nvGrpSpPr>
          <p:grpSpPr bwMode="auto">
            <a:xfrm>
              <a:off x="4827588" y="3114675"/>
              <a:ext cx="695325" cy="923925"/>
              <a:chOff x="5184" y="6780"/>
              <a:chExt cx="614" cy="1080"/>
            </a:xfrm>
          </p:grpSpPr>
          <p:sp>
            <p:nvSpPr>
              <p:cNvPr id="39951" name="Rectangle 22"/>
              <p:cNvSpPr>
                <a:spLocks noChangeArrowheads="1"/>
              </p:cNvSpPr>
              <p:nvPr/>
            </p:nvSpPr>
            <p:spPr bwMode="auto">
              <a:xfrm>
                <a:off x="5184" y="6780"/>
                <a:ext cx="614" cy="1080"/>
              </a:xfrm>
              <a:prstGeom prst="rect">
                <a:avLst/>
              </a:prstGeom>
              <a:solidFill>
                <a:srgbClr val="FFFFFF"/>
              </a:solidFill>
              <a:ln w="28575">
                <a:solidFill>
                  <a:srgbClr val="000000"/>
                </a:solidFill>
                <a:miter lim="800000"/>
              </a:ln>
            </p:spPr>
            <p:txBody>
              <a:bodyPr/>
              <a:lstStyle/>
              <a:p>
                <a:endParaRPr lang="zh-CN" altLang="en-US"/>
              </a:p>
            </p:txBody>
          </p:sp>
          <p:grpSp>
            <p:nvGrpSpPr>
              <p:cNvPr id="39952" name="Group 23"/>
              <p:cNvGrpSpPr/>
              <p:nvPr/>
            </p:nvGrpSpPr>
            <p:grpSpPr bwMode="auto">
              <a:xfrm>
                <a:off x="5352" y="7155"/>
                <a:ext cx="263" cy="291"/>
                <a:chOff x="7056" y="8640"/>
                <a:chExt cx="263" cy="291"/>
              </a:xfrm>
            </p:grpSpPr>
            <p:sp>
              <p:nvSpPr>
                <p:cNvPr id="39953" name="WordArt 24"/>
                <p:cNvSpPr>
                  <a:spLocks noChangeArrowheads="1" noChangeShapeType="1" noTextEdit="1"/>
                </p:cNvSpPr>
                <p:nvPr/>
              </p:nvSpPr>
              <p:spPr bwMode="auto">
                <a:xfrm>
                  <a:off x="7056" y="8640"/>
                  <a:ext cx="225" cy="249"/>
                </a:xfrm>
                <a:prstGeom prst="rect">
                  <a:avLst/>
                </a:prstGeom>
              </p:spPr>
              <p:txBody>
                <a:bodyPr wrap="none" fromWordArt="1">
                  <a:prstTxWarp prst="textPlain">
                    <a:avLst>
                      <a:gd name="adj" fmla="val 50000"/>
                    </a:avLst>
                  </a:prstTxWarp>
                </a:bodyPr>
                <a:lstStyle/>
                <a:p>
                  <a:r>
                    <a:rPr lang="en-US" altLang="zh-CN" sz="1000" b="1" i="1" kern="10">
                      <a:ln w="28575">
                        <a:solidFill>
                          <a:srgbClr val="000000"/>
                        </a:solidFill>
                        <a:round/>
                      </a:ln>
                      <a:solidFill>
                        <a:srgbClr val="000000"/>
                      </a:solidFill>
                      <a:latin typeface="宋体" panose="02010600030101010101" pitchFamily="2" charset="-122"/>
                      <a:ea typeface="宋体" panose="02010600030101010101" pitchFamily="2" charset="-122"/>
                    </a:rPr>
                    <a:t>T</a:t>
                  </a:r>
                  <a:endParaRPr lang="zh-CN" altLang="en-US" sz="1000" b="1" i="1" kern="10">
                    <a:ln w="28575">
                      <a:solidFill>
                        <a:srgbClr val="000000"/>
                      </a:solidFill>
                      <a:round/>
                    </a:ln>
                    <a:solidFill>
                      <a:srgbClr val="000000"/>
                    </a:solidFill>
                    <a:latin typeface="宋体" panose="02010600030101010101" pitchFamily="2" charset="-122"/>
                    <a:ea typeface="宋体" panose="02010600030101010101" pitchFamily="2" charset="-122"/>
                  </a:endParaRPr>
                </a:p>
              </p:txBody>
            </p:sp>
            <p:sp>
              <p:nvSpPr>
                <p:cNvPr id="39954" name="WordArt 25"/>
                <p:cNvSpPr>
                  <a:spLocks noChangeArrowheads="1" noChangeShapeType="1" noTextEdit="1"/>
                </p:cNvSpPr>
                <p:nvPr/>
              </p:nvSpPr>
              <p:spPr bwMode="auto">
                <a:xfrm>
                  <a:off x="7214" y="8751"/>
                  <a:ext cx="105" cy="180"/>
                </a:xfrm>
                <a:prstGeom prst="rect">
                  <a:avLst/>
                </a:prstGeom>
              </p:spPr>
              <p:txBody>
                <a:bodyPr wrap="none" fromWordArt="1">
                  <a:prstTxWarp prst="textPlain">
                    <a:avLst>
                      <a:gd name="adj" fmla="val 50000"/>
                    </a:avLst>
                  </a:prstTxWarp>
                </a:bodyPr>
                <a:lstStyle/>
                <a:p>
                  <a:r>
                    <a:rPr lang="en-US" altLang="zh-CN" sz="900" b="1" kern="10">
                      <a:ln w="28575">
                        <a:solidFill>
                          <a:srgbClr val="000000"/>
                        </a:solidFill>
                        <a:round/>
                      </a:ln>
                      <a:solidFill>
                        <a:srgbClr val="000000"/>
                      </a:solidFill>
                      <a:latin typeface="宋体" panose="02010600030101010101" pitchFamily="2" charset="-122"/>
                      <a:ea typeface="宋体" panose="02010600030101010101" pitchFamily="2" charset="-122"/>
                    </a:rPr>
                    <a:t>d</a:t>
                  </a:r>
                  <a:endParaRPr lang="zh-CN" altLang="en-US" sz="900" b="1" kern="10">
                    <a:ln w="2857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sp>
          <p:nvSpPr>
            <p:cNvPr id="39949" name="TextBox 1"/>
            <p:cNvSpPr txBox="1">
              <a:spLocks noChangeArrowheads="1"/>
            </p:cNvSpPr>
            <p:nvPr/>
          </p:nvSpPr>
          <p:spPr bwMode="auto">
            <a:xfrm>
              <a:off x="3455731" y="4143376"/>
              <a:ext cx="1404301"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-0.021</a:t>
              </a:r>
              <a:endParaRPr lang="zh-CN" altLang="en-US"/>
            </a:p>
          </p:txBody>
        </p:sp>
        <p:sp>
          <p:nvSpPr>
            <p:cNvPr id="39950" name="TextBox 25"/>
            <p:cNvSpPr txBox="1">
              <a:spLocks noChangeArrowheads="1"/>
            </p:cNvSpPr>
            <p:nvPr/>
          </p:nvSpPr>
          <p:spPr bwMode="auto">
            <a:xfrm>
              <a:off x="5436096" y="3848757"/>
              <a:ext cx="1404301"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-0.013</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iterate type="wd">
                                    <p:tmPct val="0"/>
                                  </p:iterate>
                                  <p:childTnLst>
                                    <p:set>
                                      <p:cBhvr>
                                        <p:cTn id="6" dur="1" fill="hold">
                                          <p:stCondLst>
                                            <p:cond delay="0"/>
                                          </p:stCondLst>
                                        </p:cTn>
                                        <p:tgtEl>
                                          <p:spTgt spid="51232"/>
                                        </p:tgtEl>
                                        <p:attrNameLst>
                                          <p:attrName>style.visibility</p:attrName>
                                        </p:attrNameLst>
                                      </p:cBhvr>
                                      <p:to>
                                        <p:strVal val="visible"/>
                                      </p:to>
                                    </p:set>
                                    <p:animEffect transition="in" filter="blinds(horizontal)">
                                      <p:cBhvr>
                                        <p:cTn id="7" dur="500"/>
                                        <p:tgtEl>
                                          <p:spTgt spid="512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1206"/>
                                        </p:tgtEl>
                                        <p:attrNameLst>
                                          <p:attrName>style.visibility</p:attrName>
                                        </p:attrNameLst>
                                      </p:cBhvr>
                                      <p:to>
                                        <p:strVal val="visible"/>
                                      </p:to>
                                    </p:set>
                                    <p:animEffect transition="in" filter="wipe(left)">
                                      <p:cBhvr>
                                        <p:cTn id="12" dur="300"/>
                                        <p:tgtEl>
                                          <p:spTgt spid="512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1207"/>
                                        </p:tgtEl>
                                        <p:attrNameLst>
                                          <p:attrName>style.visibility</p:attrName>
                                        </p:attrNameLst>
                                      </p:cBhvr>
                                      <p:to>
                                        <p:strVal val="visible"/>
                                      </p:to>
                                    </p:set>
                                    <p:animEffect transition="in" filter="wipe(left)">
                                      <p:cBhvr>
                                        <p:cTn id="17" dur="300"/>
                                        <p:tgtEl>
                                          <p:spTgt spid="5120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2500" fill="hold"/>
                                        <p:tgtEl>
                                          <p:spTgt spid="3"/>
                                        </p:tgtEl>
                                        <p:attrNameLst>
                                          <p:attrName>ppt_x</p:attrName>
                                        </p:attrNameLst>
                                      </p:cBhvr>
                                      <p:tavLst>
                                        <p:tav tm="0">
                                          <p:val>
                                            <p:strVal val="#ppt_x"/>
                                          </p:val>
                                        </p:tav>
                                        <p:tav tm="100000">
                                          <p:val>
                                            <p:strVal val="#ppt_x"/>
                                          </p:val>
                                        </p:tav>
                                      </p:tavLst>
                                    </p:anim>
                                    <p:anim calcmode="lin" valueType="num">
                                      <p:cBhvr additive="base">
                                        <p:cTn id="23" dur="2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bldLvl="0" animBg="1" autoUpdateAnimBg="0"/>
      <p:bldP spid="51207" grpId="0" bldLvl="0" animBg="1" autoUpdateAnimBg="0"/>
      <p:bldP spid="5123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9FE3082C-A15F-4726-9FAA-5681EC5735F0}" type="slidenum">
              <a:rPr lang="en-US" altLang="zh-CN" sz="2000" smtClean="0">
                <a:solidFill>
                  <a:schemeClr val="accent2"/>
                </a:solidFill>
              </a:rPr>
              <a:pPr eaLnBrk="1" hangingPunct="1"/>
              <a:t>36</a:t>
            </a:fld>
            <a:endParaRPr lang="en-US" altLang="zh-CN" sz="2000" smtClean="0">
              <a:solidFill>
                <a:schemeClr val="accent2"/>
              </a:solidFill>
            </a:endParaRPr>
          </a:p>
        </p:txBody>
      </p:sp>
      <p:sp>
        <p:nvSpPr>
          <p:cNvPr id="53252" name="Line 4"/>
          <p:cNvSpPr>
            <a:spLocks noChangeShapeType="1"/>
          </p:cNvSpPr>
          <p:nvPr/>
        </p:nvSpPr>
        <p:spPr bwMode="auto">
          <a:xfrm>
            <a:off x="3337520" y="1251743"/>
            <a:ext cx="3657600" cy="0"/>
          </a:xfrm>
          <a:prstGeom prst="line">
            <a:avLst/>
          </a:prstGeom>
          <a:noFill/>
          <a:ln w="28575">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3" name="Line 5"/>
          <p:cNvSpPr>
            <a:spLocks noChangeShapeType="1"/>
          </p:cNvSpPr>
          <p:nvPr/>
        </p:nvSpPr>
        <p:spPr bwMode="auto">
          <a:xfrm>
            <a:off x="3566120" y="1251743"/>
            <a:ext cx="0" cy="1828800"/>
          </a:xfrm>
          <a:prstGeom prst="line">
            <a:avLst/>
          </a:prstGeom>
          <a:noFill/>
          <a:ln w="28575">
            <a:solidFill>
              <a:schemeClr val="tx1"/>
            </a:solidFill>
            <a:round/>
            <a:head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54" name="Object 6"/>
          <p:cNvGraphicFramePr>
            <a:graphicFrameLocks noChangeAspect="1"/>
          </p:cNvGraphicFramePr>
          <p:nvPr/>
        </p:nvGraphicFramePr>
        <p:xfrm>
          <a:off x="2956520" y="737160"/>
          <a:ext cx="535360" cy="963648"/>
        </p:xfrm>
        <a:graphic>
          <a:graphicData uri="http://schemas.openxmlformats.org/presentationml/2006/ole">
            <p:oleObj spid="_x0000_s43014" name="Equation" r:id="rId3" imgW="3352800" imgH="13716000" progId="">
              <p:embed/>
            </p:oleObj>
          </a:graphicData>
        </a:graphic>
      </p:graphicFrame>
      <p:grpSp>
        <p:nvGrpSpPr>
          <p:cNvPr id="53255" name="Group 7"/>
          <p:cNvGrpSpPr/>
          <p:nvPr/>
        </p:nvGrpSpPr>
        <p:grpSpPr bwMode="auto">
          <a:xfrm>
            <a:off x="2921595" y="1708943"/>
            <a:ext cx="568325" cy="987425"/>
            <a:chOff x="3002" y="1882"/>
            <a:chExt cx="358" cy="622"/>
          </a:xfrm>
        </p:grpSpPr>
        <p:sp>
          <p:nvSpPr>
            <p:cNvPr id="40987" name="Rectangle 8"/>
            <p:cNvSpPr>
              <a:spLocks noChangeArrowheads="1"/>
            </p:cNvSpPr>
            <p:nvPr/>
          </p:nvSpPr>
          <p:spPr bwMode="auto">
            <a:xfrm rot="-5400000">
              <a:off x="2932" y="1952"/>
              <a:ext cx="476"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altLang="zh-CN" sz="3500">
                  <a:solidFill>
                    <a:srgbClr val="000000"/>
                  </a:solidFill>
                </a:rPr>
                <a:t>25</a:t>
              </a:r>
              <a:endParaRPr lang="en-US" altLang="zh-CN"/>
            </a:p>
          </p:txBody>
        </p:sp>
        <p:sp>
          <p:nvSpPr>
            <p:cNvPr id="40988" name="Rectangle 9"/>
            <p:cNvSpPr>
              <a:spLocks noChangeArrowheads="1"/>
            </p:cNvSpPr>
            <p:nvPr/>
          </p:nvSpPr>
          <p:spPr bwMode="auto">
            <a:xfrm rot="-5400000">
              <a:off x="3068" y="2212"/>
              <a:ext cx="248"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altLang="zh-CN" sz="3500" i="1">
                  <a:solidFill>
                    <a:srgbClr val="000000"/>
                  </a:solidFill>
                  <a:latin typeface="Symbol" panose="05050102010706020507" pitchFamily="18" charset="2"/>
                </a:rPr>
                <a:t>f</a:t>
              </a:r>
              <a:endParaRPr lang="en-US" altLang="zh-CN"/>
            </a:p>
          </p:txBody>
        </p:sp>
      </p:grpSp>
      <p:sp>
        <p:nvSpPr>
          <p:cNvPr id="53258" name="Rectangle 10"/>
          <p:cNvSpPr>
            <a:spLocks noChangeArrowheads="1"/>
          </p:cNvSpPr>
          <p:nvPr/>
        </p:nvSpPr>
        <p:spPr bwMode="auto">
          <a:xfrm>
            <a:off x="4404320" y="1251743"/>
            <a:ext cx="762000" cy="1295400"/>
          </a:xfrm>
          <a:prstGeom prst="rect">
            <a:avLst/>
          </a:prstGeom>
          <a:noFill/>
          <a:ln w="28575">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59" name="Rectangle 11"/>
          <p:cNvSpPr>
            <a:spLocks noChangeArrowheads="1"/>
          </p:cNvSpPr>
          <p:nvPr/>
        </p:nvSpPr>
        <p:spPr bwMode="auto">
          <a:xfrm>
            <a:off x="5547320" y="1251743"/>
            <a:ext cx="762000" cy="838200"/>
          </a:xfrm>
          <a:prstGeom prst="rect">
            <a:avLst/>
          </a:prstGeom>
          <a:noFill/>
          <a:ln w="28575">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3260" name="Object 12"/>
          <p:cNvGraphicFramePr>
            <a:graphicFrameLocks noChangeAspect="1"/>
          </p:cNvGraphicFramePr>
          <p:nvPr/>
        </p:nvGraphicFramePr>
        <p:xfrm>
          <a:off x="4480520" y="1632743"/>
          <a:ext cx="565150" cy="641350"/>
        </p:xfrm>
        <a:graphic>
          <a:graphicData uri="http://schemas.openxmlformats.org/presentationml/2006/ole">
            <p:oleObj spid="_x0000_s43013" name="Equation" r:id="rId4" imgW="4572000" imgH="5181600" progId="">
              <p:embed/>
            </p:oleObj>
          </a:graphicData>
        </a:graphic>
      </p:graphicFrame>
      <p:graphicFrame>
        <p:nvGraphicFramePr>
          <p:cNvPr id="53261" name="Object 13"/>
          <p:cNvGraphicFramePr>
            <a:graphicFrameLocks noChangeAspect="1"/>
          </p:cNvGraphicFramePr>
          <p:nvPr/>
        </p:nvGraphicFramePr>
        <p:xfrm>
          <a:off x="5699720" y="1327943"/>
          <a:ext cx="490538" cy="679450"/>
        </p:xfrm>
        <a:graphic>
          <a:graphicData uri="http://schemas.openxmlformats.org/presentationml/2006/ole">
            <p:oleObj spid="_x0000_s43012" name="Equation" r:id="rId5" imgW="3962400" imgH="5486400" progId="">
              <p:embed/>
            </p:oleObj>
          </a:graphicData>
        </a:graphic>
      </p:graphicFrame>
      <p:sp>
        <p:nvSpPr>
          <p:cNvPr id="53262" name="Text Box 14"/>
          <p:cNvSpPr txBox="1">
            <a:spLocks noChangeArrowheads="1"/>
          </p:cNvSpPr>
          <p:nvPr/>
        </p:nvSpPr>
        <p:spPr bwMode="auto">
          <a:xfrm>
            <a:off x="5166320" y="2332831"/>
            <a:ext cx="1103313"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-0.021</a:t>
            </a:r>
          </a:p>
        </p:txBody>
      </p:sp>
      <p:sp>
        <p:nvSpPr>
          <p:cNvPr id="53263" name="Text Box 15"/>
          <p:cNvSpPr txBox="1">
            <a:spLocks noChangeArrowheads="1"/>
          </p:cNvSpPr>
          <p:nvPr/>
        </p:nvSpPr>
        <p:spPr bwMode="auto">
          <a:xfrm>
            <a:off x="6349008" y="1799431"/>
            <a:ext cx="1103312" cy="519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-0.013</a:t>
            </a:r>
          </a:p>
        </p:txBody>
      </p:sp>
      <p:sp>
        <p:nvSpPr>
          <p:cNvPr id="53264" name="Line 16"/>
          <p:cNvSpPr>
            <a:spLocks noChangeShapeType="1"/>
          </p:cNvSpPr>
          <p:nvPr/>
        </p:nvSpPr>
        <p:spPr bwMode="auto">
          <a:xfrm>
            <a:off x="3221633" y="3904456"/>
            <a:ext cx="3657600" cy="0"/>
          </a:xfrm>
          <a:prstGeom prst="line">
            <a:avLst/>
          </a:prstGeom>
          <a:noFill/>
          <a:ln w="28575">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7"/>
          <p:cNvSpPr>
            <a:spLocks noChangeShapeType="1"/>
          </p:cNvSpPr>
          <p:nvPr/>
        </p:nvSpPr>
        <p:spPr bwMode="auto">
          <a:xfrm>
            <a:off x="3450233" y="3904456"/>
            <a:ext cx="0" cy="1828800"/>
          </a:xfrm>
          <a:prstGeom prst="line">
            <a:avLst/>
          </a:prstGeom>
          <a:noFill/>
          <a:ln w="28575">
            <a:solidFill>
              <a:schemeClr val="tx1"/>
            </a:solidFill>
            <a:round/>
            <a:head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266" name="Object 18"/>
          <p:cNvGraphicFramePr>
            <a:graphicFrameLocks noChangeAspect="1"/>
          </p:cNvGraphicFramePr>
          <p:nvPr/>
        </p:nvGraphicFramePr>
        <p:xfrm>
          <a:off x="2826023" y="3356992"/>
          <a:ext cx="521841" cy="939314"/>
        </p:xfrm>
        <a:graphic>
          <a:graphicData uri="http://schemas.openxmlformats.org/presentationml/2006/ole">
            <p:oleObj spid="_x0000_s43011" name="Equation" r:id="rId6" imgW="3352800" imgH="13716000" progId="">
              <p:embed/>
            </p:oleObj>
          </a:graphicData>
        </a:graphic>
      </p:graphicFrame>
      <p:sp>
        <p:nvSpPr>
          <p:cNvPr id="53267" name="Rectangle 19"/>
          <p:cNvSpPr>
            <a:spLocks noChangeArrowheads="1"/>
          </p:cNvSpPr>
          <p:nvPr/>
        </p:nvSpPr>
        <p:spPr bwMode="auto">
          <a:xfrm>
            <a:off x="4288433" y="3904456"/>
            <a:ext cx="762000" cy="1295400"/>
          </a:xfrm>
          <a:prstGeom prst="rect">
            <a:avLst/>
          </a:prstGeom>
          <a:noFill/>
          <a:ln w="28575">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268" name="Rectangle 20"/>
          <p:cNvSpPr>
            <a:spLocks noChangeArrowheads="1"/>
          </p:cNvSpPr>
          <p:nvPr/>
        </p:nvSpPr>
        <p:spPr bwMode="auto">
          <a:xfrm>
            <a:off x="5431433" y="3904456"/>
            <a:ext cx="762000" cy="838200"/>
          </a:xfrm>
          <a:prstGeom prst="rect">
            <a:avLst/>
          </a:prstGeom>
          <a:noFill/>
          <a:ln w="28575">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3269" name="Object 21"/>
          <p:cNvGraphicFramePr>
            <a:graphicFrameLocks noChangeAspect="1"/>
          </p:cNvGraphicFramePr>
          <p:nvPr/>
        </p:nvGraphicFramePr>
        <p:xfrm>
          <a:off x="4364633" y="4285456"/>
          <a:ext cx="565150" cy="641350"/>
        </p:xfrm>
        <a:graphic>
          <a:graphicData uri="http://schemas.openxmlformats.org/presentationml/2006/ole">
            <p:oleObj spid="_x0000_s43010" name="Equation" r:id="rId7" imgW="4572000" imgH="5181600" progId="">
              <p:embed/>
            </p:oleObj>
          </a:graphicData>
        </a:graphic>
      </p:graphicFrame>
      <p:graphicFrame>
        <p:nvGraphicFramePr>
          <p:cNvPr id="53270" name="Object 22"/>
          <p:cNvGraphicFramePr>
            <a:graphicFrameLocks noChangeAspect="1"/>
          </p:cNvGraphicFramePr>
          <p:nvPr/>
        </p:nvGraphicFramePr>
        <p:xfrm>
          <a:off x="5583833" y="3980656"/>
          <a:ext cx="490537" cy="679450"/>
        </p:xfrm>
        <a:graphic>
          <a:graphicData uri="http://schemas.openxmlformats.org/presentationml/2006/ole">
            <p:oleObj spid="_x0000_s43009" name="Equation" r:id="rId8" imgW="3962400" imgH="5486400" progId="">
              <p:embed/>
            </p:oleObj>
          </a:graphicData>
        </a:graphic>
      </p:graphicFrame>
      <p:sp>
        <p:nvSpPr>
          <p:cNvPr id="53271" name="Text Box 23"/>
          <p:cNvSpPr txBox="1">
            <a:spLocks noChangeArrowheads="1"/>
          </p:cNvSpPr>
          <p:nvPr/>
        </p:nvSpPr>
        <p:spPr bwMode="auto">
          <a:xfrm>
            <a:off x="5029795" y="4985543"/>
            <a:ext cx="658813"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-21</a:t>
            </a:r>
          </a:p>
        </p:txBody>
      </p:sp>
      <p:sp>
        <p:nvSpPr>
          <p:cNvPr id="53272" name="Text Box 24"/>
          <p:cNvSpPr txBox="1">
            <a:spLocks noChangeArrowheads="1"/>
          </p:cNvSpPr>
          <p:nvPr/>
        </p:nvSpPr>
        <p:spPr bwMode="auto">
          <a:xfrm>
            <a:off x="6256933" y="4429918"/>
            <a:ext cx="658812"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-13</a:t>
            </a:r>
          </a:p>
        </p:txBody>
      </p:sp>
      <p:grpSp>
        <p:nvGrpSpPr>
          <p:cNvPr id="53273" name="Group 25"/>
          <p:cNvGrpSpPr/>
          <p:nvPr/>
        </p:nvGrpSpPr>
        <p:grpSpPr bwMode="auto">
          <a:xfrm>
            <a:off x="2878733" y="3918743"/>
            <a:ext cx="534987" cy="1692275"/>
            <a:chOff x="5039" y="1390"/>
            <a:chExt cx="337" cy="1066"/>
          </a:xfrm>
        </p:grpSpPr>
        <p:sp>
          <p:nvSpPr>
            <p:cNvPr id="40985" name="Rectangle 26"/>
            <p:cNvSpPr>
              <a:spLocks noChangeArrowheads="1"/>
            </p:cNvSpPr>
            <p:nvPr/>
          </p:nvSpPr>
          <p:spPr bwMode="auto">
            <a:xfrm rot="-5400000">
              <a:off x="4750" y="1679"/>
              <a:ext cx="913"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altLang="zh-CN" sz="3500">
                  <a:solidFill>
                    <a:srgbClr val="000000"/>
                  </a:solidFill>
                </a:rPr>
                <a:t>25</a:t>
              </a:r>
              <a:r>
                <a:rPr lang="en-US" altLang="zh-CN" sz="3500" b="1">
                  <a:solidFill>
                    <a:srgbClr val="FF0000"/>
                  </a:solidFill>
                </a:rPr>
                <a:t>mm</a:t>
              </a:r>
              <a:endParaRPr lang="en-US" altLang="zh-CN" b="1">
                <a:solidFill>
                  <a:srgbClr val="FF0000"/>
                </a:solidFill>
              </a:endParaRPr>
            </a:p>
          </p:txBody>
        </p:sp>
        <p:sp>
          <p:nvSpPr>
            <p:cNvPr id="40986" name="Rectangle 27"/>
            <p:cNvSpPr>
              <a:spLocks noChangeArrowheads="1"/>
            </p:cNvSpPr>
            <p:nvPr/>
          </p:nvSpPr>
          <p:spPr bwMode="auto">
            <a:xfrm rot="-5400000">
              <a:off x="5084" y="2164"/>
              <a:ext cx="248"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r>
                <a:rPr lang="en-US" altLang="zh-CN" sz="3500" i="1">
                  <a:solidFill>
                    <a:srgbClr val="000000"/>
                  </a:solidFill>
                  <a:latin typeface="Symbol" panose="05050102010706020507" pitchFamily="18" charset="2"/>
                </a:rPr>
                <a:t>f</a:t>
              </a:r>
              <a:endParaRPr lang="en-US" altLang="zh-CN"/>
            </a:p>
          </p:txBody>
        </p:sp>
      </p:grpSp>
      <p:sp>
        <p:nvSpPr>
          <p:cNvPr id="53276" name="Text Box 28"/>
          <p:cNvSpPr txBox="1">
            <a:spLocks noChangeArrowheads="1"/>
          </p:cNvSpPr>
          <p:nvPr/>
        </p:nvSpPr>
        <p:spPr bwMode="auto">
          <a:xfrm>
            <a:off x="1127720" y="1404143"/>
            <a:ext cx="1676400"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dirty="0"/>
              <a:t>画法一</a:t>
            </a:r>
          </a:p>
        </p:txBody>
      </p:sp>
      <p:sp>
        <p:nvSpPr>
          <p:cNvPr id="53277" name="Text Box 29"/>
          <p:cNvSpPr txBox="1">
            <a:spLocks noChangeArrowheads="1"/>
          </p:cNvSpPr>
          <p:nvPr/>
        </p:nvSpPr>
        <p:spPr bwMode="auto">
          <a:xfrm>
            <a:off x="1051520" y="3613943"/>
            <a:ext cx="1524000" cy="519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a:t>画法二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3276"/>
                                        </p:tgtEl>
                                        <p:attrNameLst>
                                          <p:attrName>style.visibility</p:attrName>
                                        </p:attrNameLst>
                                      </p:cBhvr>
                                      <p:to>
                                        <p:strVal val="visible"/>
                                      </p:to>
                                    </p:set>
                                    <p:animEffect transition="in" filter="wipe(left)">
                                      <p:cBhvr>
                                        <p:cTn id="7" dur="300"/>
                                        <p:tgtEl>
                                          <p:spTgt spid="5327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53252"/>
                                        </p:tgtEl>
                                        <p:attrNameLst>
                                          <p:attrName>style.visibility</p:attrName>
                                        </p:attrNameLst>
                                      </p:cBhvr>
                                      <p:to>
                                        <p:strVal val="visible"/>
                                      </p:to>
                                    </p:set>
                                    <p:anim calcmode="lin" valueType="num">
                                      <p:cBhvr>
                                        <p:cTn id="12" dur="500" fill="hold"/>
                                        <p:tgtEl>
                                          <p:spTgt spid="53252"/>
                                        </p:tgtEl>
                                        <p:attrNameLst>
                                          <p:attrName>ppt_x</p:attrName>
                                        </p:attrNameLst>
                                      </p:cBhvr>
                                      <p:tavLst>
                                        <p:tav tm="0">
                                          <p:val>
                                            <p:strVal val="#ppt_x-#ppt_w/2"/>
                                          </p:val>
                                        </p:tav>
                                        <p:tav tm="100000">
                                          <p:val>
                                            <p:strVal val="#ppt_x"/>
                                          </p:val>
                                        </p:tav>
                                      </p:tavLst>
                                    </p:anim>
                                    <p:anim calcmode="lin" valueType="num">
                                      <p:cBhvr>
                                        <p:cTn id="13" dur="500" fill="hold"/>
                                        <p:tgtEl>
                                          <p:spTgt spid="53252"/>
                                        </p:tgtEl>
                                        <p:attrNameLst>
                                          <p:attrName>ppt_y</p:attrName>
                                        </p:attrNameLst>
                                      </p:cBhvr>
                                      <p:tavLst>
                                        <p:tav tm="0">
                                          <p:val>
                                            <p:strVal val="#ppt_y"/>
                                          </p:val>
                                        </p:tav>
                                        <p:tav tm="100000">
                                          <p:val>
                                            <p:strVal val="#ppt_y"/>
                                          </p:val>
                                        </p:tav>
                                      </p:tavLst>
                                    </p:anim>
                                    <p:anim calcmode="lin" valueType="num">
                                      <p:cBhvr>
                                        <p:cTn id="14" dur="500" fill="hold"/>
                                        <p:tgtEl>
                                          <p:spTgt spid="53252"/>
                                        </p:tgtEl>
                                        <p:attrNameLst>
                                          <p:attrName>ppt_w</p:attrName>
                                        </p:attrNameLst>
                                      </p:cBhvr>
                                      <p:tavLst>
                                        <p:tav tm="0">
                                          <p:val>
                                            <p:fltVal val="0"/>
                                          </p:val>
                                        </p:tav>
                                        <p:tav tm="100000">
                                          <p:val>
                                            <p:strVal val="#ppt_w"/>
                                          </p:val>
                                        </p:tav>
                                      </p:tavLst>
                                    </p:anim>
                                    <p:anim calcmode="lin" valueType="num">
                                      <p:cBhvr>
                                        <p:cTn id="15" dur="500" fill="hold"/>
                                        <p:tgtEl>
                                          <p:spTgt spid="5325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3254"/>
                                        </p:tgtEl>
                                        <p:attrNameLst>
                                          <p:attrName>style.visibility</p:attrName>
                                        </p:attrNameLst>
                                      </p:cBhvr>
                                      <p:to>
                                        <p:strVal val="visible"/>
                                      </p:to>
                                    </p:set>
                                    <p:animEffect transition="in" filter="wipe(left)">
                                      <p:cBhvr>
                                        <p:cTn id="20" dur="500"/>
                                        <p:tgtEl>
                                          <p:spTgt spid="53254"/>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1" fill="hold" grpId="0" nodeType="clickEffect">
                                  <p:stCondLst>
                                    <p:cond delay="0"/>
                                  </p:stCondLst>
                                  <p:childTnLst>
                                    <p:set>
                                      <p:cBhvr>
                                        <p:cTn id="24" dur="1" fill="hold">
                                          <p:stCondLst>
                                            <p:cond delay="0"/>
                                          </p:stCondLst>
                                        </p:cTn>
                                        <p:tgtEl>
                                          <p:spTgt spid="53253"/>
                                        </p:tgtEl>
                                        <p:attrNameLst>
                                          <p:attrName>style.visibility</p:attrName>
                                        </p:attrNameLst>
                                      </p:cBhvr>
                                      <p:to>
                                        <p:strVal val="visible"/>
                                      </p:to>
                                    </p:set>
                                    <p:anim calcmode="lin" valueType="num">
                                      <p:cBhvr>
                                        <p:cTn id="25" dur="500" fill="hold"/>
                                        <p:tgtEl>
                                          <p:spTgt spid="53253"/>
                                        </p:tgtEl>
                                        <p:attrNameLst>
                                          <p:attrName>ppt_x</p:attrName>
                                        </p:attrNameLst>
                                      </p:cBhvr>
                                      <p:tavLst>
                                        <p:tav tm="0">
                                          <p:val>
                                            <p:strVal val="#ppt_x"/>
                                          </p:val>
                                        </p:tav>
                                        <p:tav tm="100000">
                                          <p:val>
                                            <p:strVal val="#ppt_x"/>
                                          </p:val>
                                        </p:tav>
                                      </p:tavLst>
                                    </p:anim>
                                    <p:anim calcmode="lin" valueType="num">
                                      <p:cBhvr>
                                        <p:cTn id="26" dur="500" fill="hold"/>
                                        <p:tgtEl>
                                          <p:spTgt spid="53253"/>
                                        </p:tgtEl>
                                        <p:attrNameLst>
                                          <p:attrName>ppt_y</p:attrName>
                                        </p:attrNameLst>
                                      </p:cBhvr>
                                      <p:tavLst>
                                        <p:tav tm="0">
                                          <p:val>
                                            <p:strVal val="#ppt_y-#ppt_h/2"/>
                                          </p:val>
                                        </p:tav>
                                        <p:tav tm="100000">
                                          <p:val>
                                            <p:strVal val="#ppt_y"/>
                                          </p:val>
                                        </p:tav>
                                      </p:tavLst>
                                    </p:anim>
                                    <p:anim calcmode="lin" valueType="num">
                                      <p:cBhvr>
                                        <p:cTn id="27" dur="500" fill="hold"/>
                                        <p:tgtEl>
                                          <p:spTgt spid="53253"/>
                                        </p:tgtEl>
                                        <p:attrNameLst>
                                          <p:attrName>ppt_w</p:attrName>
                                        </p:attrNameLst>
                                      </p:cBhvr>
                                      <p:tavLst>
                                        <p:tav tm="0">
                                          <p:val>
                                            <p:strVal val="#ppt_w"/>
                                          </p:val>
                                        </p:tav>
                                        <p:tav tm="100000">
                                          <p:val>
                                            <p:strVal val="#ppt_w"/>
                                          </p:val>
                                        </p:tav>
                                      </p:tavLst>
                                    </p:anim>
                                    <p:anim calcmode="lin" valueType="num">
                                      <p:cBhvr>
                                        <p:cTn id="28" dur="500" fill="hold"/>
                                        <p:tgtEl>
                                          <p:spTgt spid="53253"/>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532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32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5326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iterate type="wd">
                                    <p:tmPct val="100000"/>
                                  </p:iterate>
                                  <p:childTnLst>
                                    <p:set>
                                      <p:cBhvr>
                                        <p:cTn id="44" dur="1" fill="hold">
                                          <p:stCondLst>
                                            <p:cond delay="0"/>
                                          </p:stCondLst>
                                        </p:cTn>
                                        <p:tgtEl>
                                          <p:spTgt spid="53262"/>
                                        </p:tgtEl>
                                        <p:attrNameLst>
                                          <p:attrName>style.visibility</p:attrName>
                                        </p:attrNameLst>
                                      </p:cBhvr>
                                      <p:to>
                                        <p:strVal val="visible"/>
                                      </p:to>
                                    </p:set>
                                    <p:animEffect transition="in" filter="wipe(left)">
                                      <p:cBhvr>
                                        <p:cTn id="45" dur="300"/>
                                        <p:tgtEl>
                                          <p:spTgt spid="5326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5325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5326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iterate type="wd">
                                    <p:tmPct val="100000"/>
                                  </p:iterate>
                                  <p:childTnLst>
                                    <p:set>
                                      <p:cBhvr>
                                        <p:cTn id="57" dur="1" fill="hold">
                                          <p:stCondLst>
                                            <p:cond delay="0"/>
                                          </p:stCondLst>
                                        </p:cTn>
                                        <p:tgtEl>
                                          <p:spTgt spid="53263"/>
                                        </p:tgtEl>
                                        <p:attrNameLst>
                                          <p:attrName>style.visibility</p:attrName>
                                        </p:attrNameLst>
                                      </p:cBhvr>
                                      <p:to>
                                        <p:strVal val="visible"/>
                                      </p:to>
                                    </p:set>
                                    <p:animEffect transition="in" filter="wipe(up)">
                                      <p:cBhvr>
                                        <p:cTn id="58" dur="300"/>
                                        <p:tgtEl>
                                          <p:spTgt spid="5326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wd">
                                    <p:tmPct val="100000"/>
                                  </p:iterate>
                                  <p:childTnLst>
                                    <p:set>
                                      <p:cBhvr>
                                        <p:cTn id="62" dur="1" fill="hold">
                                          <p:stCondLst>
                                            <p:cond delay="0"/>
                                          </p:stCondLst>
                                        </p:cTn>
                                        <p:tgtEl>
                                          <p:spTgt spid="53277"/>
                                        </p:tgtEl>
                                        <p:attrNameLst>
                                          <p:attrName>style.visibility</p:attrName>
                                        </p:attrNameLst>
                                      </p:cBhvr>
                                      <p:to>
                                        <p:strVal val="visible"/>
                                      </p:to>
                                    </p:set>
                                    <p:animEffect transition="in" filter="wipe(left)">
                                      <p:cBhvr>
                                        <p:cTn id="63" dur="300"/>
                                        <p:tgtEl>
                                          <p:spTgt spid="53277"/>
                                        </p:tgtEl>
                                      </p:cBhvr>
                                    </p:animEffect>
                                  </p:childTnLst>
                                </p:cTn>
                              </p:par>
                            </p:childTnLst>
                          </p:cTn>
                        </p:par>
                      </p:childTnLst>
                    </p:cTn>
                  </p:par>
                  <p:par>
                    <p:cTn id="64" fill="hold">
                      <p:stCondLst>
                        <p:cond delay="indefinite"/>
                      </p:stCondLst>
                      <p:childTnLst>
                        <p:par>
                          <p:cTn id="65" fill="hold">
                            <p:stCondLst>
                              <p:cond delay="0"/>
                            </p:stCondLst>
                            <p:childTnLst>
                              <p:par>
                                <p:cTn id="66" presetID="17" presetClass="entr" presetSubtype="8" fill="hold" grpId="0" nodeType="clickEffect">
                                  <p:stCondLst>
                                    <p:cond delay="0"/>
                                  </p:stCondLst>
                                  <p:childTnLst>
                                    <p:set>
                                      <p:cBhvr>
                                        <p:cTn id="67" dur="1" fill="hold">
                                          <p:stCondLst>
                                            <p:cond delay="0"/>
                                          </p:stCondLst>
                                        </p:cTn>
                                        <p:tgtEl>
                                          <p:spTgt spid="53264"/>
                                        </p:tgtEl>
                                        <p:attrNameLst>
                                          <p:attrName>style.visibility</p:attrName>
                                        </p:attrNameLst>
                                      </p:cBhvr>
                                      <p:to>
                                        <p:strVal val="visible"/>
                                      </p:to>
                                    </p:set>
                                    <p:anim calcmode="lin" valueType="num">
                                      <p:cBhvr>
                                        <p:cTn id="68" dur="500" fill="hold"/>
                                        <p:tgtEl>
                                          <p:spTgt spid="53264"/>
                                        </p:tgtEl>
                                        <p:attrNameLst>
                                          <p:attrName>ppt_x</p:attrName>
                                        </p:attrNameLst>
                                      </p:cBhvr>
                                      <p:tavLst>
                                        <p:tav tm="0">
                                          <p:val>
                                            <p:strVal val="#ppt_x-#ppt_w/2"/>
                                          </p:val>
                                        </p:tav>
                                        <p:tav tm="100000">
                                          <p:val>
                                            <p:strVal val="#ppt_x"/>
                                          </p:val>
                                        </p:tav>
                                      </p:tavLst>
                                    </p:anim>
                                    <p:anim calcmode="lin" valueType="num">
                                      <p:cBhvr>
                                        <p:cTn id="69" dur="500" fill="hold"/>
                                        <p:tgtEl>
                                          <p:spTgt spid="53264"/>
                                        </p:tgtEl>
                                        <p:attrNameLst>
                                          <p:attrName>ppt_y</p:attrName>
                                        </p:attrNameLst>
                                      </p:cBhvr>
                                      <p:tavLst>
                                        <p:tav tm="0">
                                          <p:val>
                                            <p:strVal val="#ppt_y"/>
                                          </p:val>
                                        </p:tav>
                                        <p:tav tm="100000">
                                          <p:val>
                                            <p:strVal val="#ppt_y"/>
                                          </p:val>
                                        </p:tav>
                                      </p:tavLst>
                                    </p:anim>
                                    <p:anim calcmode="lin" valueType="num">
                                      <p:cBhvr>
                                        <p:cTn id="70" dur="500" fill="hold"/>
                                        <p:tgtEl>
                                          <p:spTgt spid="53264"/>
                                        </p:tgtEl>
                                        <p:attrNameLst>
                                          <p:attrName>ppt_w</p:attrName>
                                        </p:attrNameLst>
                                      </p:cBhvr>
                                      <p:tavLst>
                                        <p:tav tm="0">
                                          <p:val>
                                            <p:fltVal val="0"/>
                                          </p:val>
                                        </p:tav>
                                        <p:tav tm="100000">
                                          <p:val>
                                            <p:strVal val="#ppt_w"/>
                                          </p:val>
                                        </p:tav>
                                      </p:tavLst>
                                    </p:anim>
                                    <p:anim calcmode="lin" valueType="num">
                                      <p:cBhvr>
                                        <p:cTn id="71" dur="500" fill="hold"/>
                                        <p:tgtEl>
                                          <p:spTgt spid="53264"/>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3266"/>
                                        </p:tgtEl>
                                        <p:attrNameLst>
                                          <p:attrName>style.visibility</p:attrName>
                                        </p:attrNameLst>
                                      </p:cBhvr>
                                      <p:to>
                                        <p:strVal val="visible"/>
                                      </p:to>
                                    </p:set>
                                    <p:animEffect transition="in" filter="wipe(left)">
                                      <p:cBhvr>
                                        <p:cTn id="76" dur="500"/>
                                        <p:tgtEl>
                                          <p:spTgt spid="53266"/>
                                        </p:tgtEl>
                                      </p:cBhvr>
                                    </p:animEffect>
                                  </p:childTnLst>
                                </p:cTn>
                              </p:par>
                            </p:childTnLst>
                          </p:cTn>
                        </p:par>
                      </p:childTnLst>
                    </p:cTn>
                  </p:par>
                  <p:par>
                    <p:cTn id="77" fill="hold">
                      <p:stCondLst>
                        <p:cond delay="indefinite"/>
                      </p:stCondLst>
                      <p:childTnLst>
                        <p:par>
                          <p:cTn id="78" fill="hold">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53265"/>
                                        </p:tgtEl>
                                        <p:attrNameLst>
                                          <p:attrName>style.visibility</p:attrName>
                                        </p:attrNameLst>
                                      </p:cBhvr>
                                      <p:to>
                                        <p:strVal val="visible"/>
                                      </p:to>
                                    </p:set>
                                    <p:anim calcmode="lin" valueType="num">
                                      <p:cBhvr>
                                        <p:cTn id="81" dur="500" fill="hold"/>
                                        <p:tgtEl>
                                          <p:spTgt spid="53265"/>
                                        </p:tgtEl>
                                        <p:attrNameLst>
                                          <p:attrName>ppt_x</p:attrName>
                                        </p:attrNameLst>
                                      </p:cBhvr>
                                      <p:tavLst>
                                        <p:tav tm="0">
                                          <p:val>
                                            <p:strVal val="#ppt_x"/>
                                          </p:val>
                                        </p:tav>
                                        <p:tav tm="100000">
                                          <p:val>
                                            <p:strVal val="#ppt_x"/>
                                          </p:val>
                                        </p:tav>
                                      </p:tavLst>
                                    </p:anim>
                                    <p:anim calcmode="lin" valueType="num">
                                      <p:cBhvr>
                                        <p:cTn id="82" dur="500" fill="hold"/>
                                        <p:tgtEl>
                                          <p:spTgt spid="53265"/>
                                        </p:tgtEl>
                                        <p:attrNameLst>
                                          <p:attrName>ppt_y</p:attrName>
                                        </p:attrNameLst>
                                      </p:cBhvr>
                                      <p:tavLst>
                                        <p:tav tm="0">
                                          <p:val>
                                            <p:strVal val="#ppt_y-#ppt_h/2"/>
                                          </p:val>
                                        </p:tav>
                                        <p:tav tm="100000">
                                          <p:val>
                                            <p:strVal val="#ppt_y"/>
                                          </p:val>
                                        </p:tav>
                                      </p:tavLst>
                                    </p:anim>
                                    <p:anim calcmode="lin" valueType="num">
                                      <p:cBhvr>
                                        <p:cTn id="83" dur="500" fill="hold"/>
                                        <p:tgtEl>
                                          <p:spTgt spid="53265"/>
                                        </p:tgtEl>
                                        <p:attrNameLst>
                                          <p:attrName>ppt_w</p:attrName>
                                        </p:attrNameLst>
                                      </p:cBhvr>
                                      <p:tavLst>
                                        <p:tav tm="0">
                                          <p:val>
                                            <p:strVal val="#ppt_w"/>
                                          </p:val>
                                        </p:tav>
                                        <p:tav tm="100000">
                                          <p:val>
                                            <p:strVal val="#ppt_w"/>
                                          </p:val>
                                        </p:tav>
                                      </p:tavLst>
                                    </p:anim>
                                    <p:anim calcmode="lin" valueType="num">
                                      <p:cBhvr>
                                        <p:cTn id="84" dur="500" fill="hold"/>
                                        <p:tgtEl>
                                          <p:spTgt spid="53265"/>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1" fill="hold" nodeType="clickEffect">
                                  <p:stCondLst>
                                    <p:cond delay="0"/>
                                  </p:stCondLst>
                                  <p:childTnLst>
                                    <p:set>
                                      <p:cBhvr>
                                        <p:cTn id="88" dur="1" fill="hold">
                                          <p:stCondLst>
                                            <p:cond delay="0"/>
                                          </p:stCondLst>
                                        </p:cTn>
                                        <p:tgtEl>
                                          <p:spTgt spid="53273"/>
                                        </p:tgtEl>
                                        <p:attrNameLst>
                                          <p:attrName>style.visibility</p:attrName>
                                        </p:attrNameLst>
                                      </p:cBhvr>
                                      <p:to>
                                        <p:strVal val="visible"/>
                                      </p:to>
                                    </p:set>
                                    <p:anim calcmode="lin" valueType="num">
                                      <p:cBhvr>
                                        <p:cTn id="89" dur="500" fill="hold"/>
                                        <p:tgtEl>
                                          <p:spTgt spid="53273"/>
                                        </p:tgtEl>
                                        <p:attrNameLst>
                                          <p:attrName>ppt_x</p:attrName>
                                        </p:attrNameLst>
                                      </p:cBhvr>
                                      <p:tavLst>
                                        <p:tav tm="0">
                                          <p:val>
                                            <p:strVal val="#ppt_x"/>
                                          </p:val>
                                        </p:tav>
                                        <p:tav tm="100000">
                                          <p:val>
                                            <p:strVal val="#ppt_x"/>
                                          </p:val>
                                        </p:tav>
                                      </p:tavLst>
                                    </p:anim>
                                    <p:anim calcmode="lin" valueType="num">
                                      <p:cBhvr>
                                        <p:cTn id="90" dur="500" fill="hold"/>
                                        <p:tgtEl>
                                          <p:spTgt spid="53273"/>
                                        </p:tgtEl>
                                        <p:attrNameLst>
                                          <p:attrName>ppt_y</p:attrName>
                                        </p:attrNameLst>
                                      </p:cBhvr>
                                      <p:tavLst>
                                        <p:tav tm="0">
                                          <p:val>
                                            <p:strVal val="#ppt_y-#ppt_h/2"/>
                                          </p:val>
                                        </p:tav>
                                        <p:tav tm="100000">
                                          <p:val>
                                            <p:strVal val="#ppt_y"/>
                                          </p:val>
                                        </p:tav>
                                      </p:tavLst>
                                    </p:anim>
                                    <p:anim calcmode="lin" valueType="num">
                                      <p:cBhvr>
                                        <p:cTn id="91" dur="500" fill="hold"/>
                                        <p:tgtEl>
                                          <p:spTgt spid="53273"/>
                                        </p:tgtEl>
                                        <p:attrNameLst>
                                          <p:attrName>ppt_w</p:attrName>
                                        </p:attrNameLst>
                                      </p:cBhvr>
                                      <p:tavLst>
                                        <p:tav tm="0">
                                          <p:val>
                                            <p:strVal val="#ppt_w"/>
                                          </p:val>
                                        </p:tav>
                                        <p:tav tm="100000">
                                          <p:val>
                                            <p:strVal val="#ppt_w"/>
                                          </p:val>
                                        </p:tav>
                                      </p:tavLst>
                                    </p:anim>
                                    <p:anim calcmode="lin" valueType="num">
                                      <p:cBhvr>
                                        <p:cTn id="92" dur="500" fill="hold"/>
                                        <p:tgtEl>
                                          <p:spTgt spid="53273"/>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5326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499"/>
                                          </p:stCondLst>
                                        </p:cTn>
                                        <p:tgtEl>
                                          <p:spTgt spid="5326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iterate type="wd">
                                    <p:tmPct val="100000"/>
                                  </p:iterate>
                                  <p:childTnLst>
                                    <p:set>
                                      <p:cBhvr>
                                        <p:cTn id="104" dur="1" fill="hold">
                                          <p:stCondLst>
                                            <p:cond delay="0"/>
                                          </p:stCondLst>
                                        </p:cTn>
                                        <p:tgtEl>
                                          <p:spTgt spid="53271"/>
                                        </p:tgtEl>
                                        <p:attrNameLst>
                                          <p:attrName>style.visibility</p:attrName>
                                        </p:attrNameLst>
                                      </p:cBhvr>
                                      <p:to>
                                        <p:strVal val="visible"/>
                                      </p:to>
                                    </p:set>
                                    <p:animEffect transition="in" filter="wipe(left)">
                                      <p:cBhvr>
                                        <p:cTn id="105" dur="300"/>
                                        <p:tgtEl>
                                          <p:spTgt spid="53271"/>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499"/>
                                          </p:stCondLst>
                                        </p:cTn>
                                        <p:tgtEl>
                                          <p:spTgt spid="53268"/>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499"/>
                                          </p:stCondLst>
                                        </p:cTn>
                                        <p:tgtEl>
                                          <p:spTgt spid="53270"/>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iterate type="wd">
                                    <p:tmPct val="100000"/>
                                  </p:iterate>
                                  <p:childTnLst>
                                    <p:set>
                                      <p:cBhvr>
                                        <p:cTn id="117" dur="1" fill="hold">
                                          <p:stCondLst>
                                            <p:cond delay="0"/>
                                          </p:stCondLst>
                                        </p:cTn>
                                        <p:tgtEl>
                                          <p:spTgt spid="53272"/>
                                        </p:tgtEl>
                                        <p:attrNameLst>
                                          <p:attrName>style.visibility</p:attrName>
                                        </p:attrNameLst>
                                      </p:cBhvr>
                                      <p:to>
                                        <p:strVal val="visible"/>
                                      </p:to>
                                    </p:set>
                                    <p:animEffect transition="in" filter="wipe(up)">
                                      <p:cBhvr>
                                        <p:cTn id="118" dur="300"/>
                                        <p:tgtEl>
                                          <p:spTgt spid="53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nimBg="1"/>
      <p:bldP spid="53253" grpId="0" animBg="1"/>
      <p:bldP spid="53258" grpId="0" animBg="1"/>
      <p:bldP spid="53259" grpId="0" animBg="1"/>
      <p:bldP spid="53262" grpId="0" autoUpdateAnimBg="0"/>
      <p:bldP spid="53263" grpId="0" autoUpdateAnimBg="0"/>
      <p:bldP spid="53264" grpId="0" animBg="1"/>
      <p:bldP spid="53265" grpId="0" animBg="1"/>
      <p:bldP spid="53267" grpId="0" animBg="1"/>
      <p:bldP spid="53268" grpId="0" animBg="1"/>
      <p:bldP spid="53271" grpId="0" autoUpdateAnimBg="0"/>
      <p:bldP spid="53272" grpId="0" autoUpdateAnimBg="0"/>
      <p:bldP spid="53276" grpId="0" autoUpdateAnimBg="0"/>
      <p:bldP spid="5327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37</a:t>
            </a:fld>
            <a:endParaRPr lang="en-US" altLang="zh-CN"/>
          </a:p>
        </p:txBody>
      </p:sp>
      <p:sp>
        <p:nvSpPr>
          <p:cNvPr id="3" name="Text Box 29"/>
          <p:cNvSpPr txBox="1">
            <a:spLocks noChangeArrowheads="1"/>
          </p:cNvSpPr>
          <p:nvPr/>
        </p:nvSpPr>
        <p:spPr bwMode="auto">
          <a:xfrm>
            <a:off x="1052264" y="1247551"/>
            <a:ext cx="76962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 ES</a:t>
            </a:r>
            <a:r>
              <a:rPr lang="zh-CN" altLang="en-US" b="1" dirty="0"/>
              <a:t>＝</a:t>
            </a:r>
            <a:r>
              <a:rPr lang="en-US" altLang="zh-CN" b="1" i="1" dirty="0" err="1"/>
              <a:t>D</a:t>
            </a:r>
            <a:r>
              <a:rPr lang="en-US" altLang="zh-CN" b="1" baseline="-25000" dirty="0" err="1"/>
              <a:t>max</a:t>
            </a:r>
            <a:r>
              <a:rPr lang="zh-CN" altLang="en-US" b="1" dirty="0"/>
              <a:t>－</a:t>
            </a:r>
            <a:r>
              <a:rPr lang="en-US" altLang="zh-CN" b="1" i="1" dirty="0"/>
              <a:t>D </a:t>
            </a:r>
            <a:r>
              <a:rPr lang="zh-CN" altLang="en-US" b="1" dirty="0"/>
              <a:t>；    </a:t>
            </a:r>
            <a:r>
              <a:rPr lang="en-US" altLang="zh-CN" b="1" dirty="0" err="1"/>
              <a:t>es</a:t>
            </a:r>
            <a:r>
              <a:rPr lang="zh-CN" altLang="en-US" b="1" dirty="0"/>
              <a:t>＝</a:t>
            </a:r>
            <a:r>
              <a:rPr lang="en-US" altLang="zh-CN" b="1" i="1" dirty="0" err="1"/>
              <a:t>d</a:t>
            </a:r>
            <a:r>
              <a:rPr lang="en-US" altLang="zh-CN" b="1" baseline="-25000" dirty="0" err="1"/>
              <a:t>max</a:t>
            </a:r>
            <a:r>
              <a:rPr lang="zh-CN" altLang="en-US" b="1" dirty="0"/>
              <a:t>－</a:t>
            </a:r>
            <a:r>
              <a:rPr lang="en-US" altLang="zh-CN" b="1" i="1" dirty="0"/>
              <a:t>d     </a:t>
            </a:r>
            <a:r>
              <a:rPr lang="en-US" altLang="zh-CN" b="1" i="1" dirty="0" smtClean="0"/>
              <a:t>      </a:t>
            </a:r>
            <a:r>
              <a:rPr lang="zh-CN" altLang="en-US" b="1" dirty="0" smtClean="0"/>
              <a:t>（</a:t>
            </a:r>
            <a:r>
              <a:rPr lang="en-US" altLang="zh-CN" b="1" dirty="0"/>
              <a:t>1</a:t>
            </a:r>
            <a:r>
              <a:rPr lang="zh-CN" altLang="en-US" b="1" dirty="0"/>
              <a:t>）</a:t>
            </a:r>
            <a:endParaRPr lang="zh-CN" altLang="en-US" b="1" baseline="-25000" dirty="0"/>
          </a:p>
        </p:txBody>
      </p:sp>
      <p:sp>
        <p:nvSpPr>
          <p:cNvPr id="5" name="Text Box 30"/>
          <p:cNvSpPr txBox="1">
            <a:spLocks noChangeArrowheads="1"/>
          </p:cNvSpPr>
          <p:nvPr/>
        </p:nvSpPr>
        <p:spPr bwMode="auto">
          <a:xfrm>
            <a:off x="1143000" y="1933351"/>
            <a:ext cx="775017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dirty="0"/>
              <a:t>EI</a:t>
            </a:r>
            <a:r>
              <a:rPr lang="zh-CN" altLang="en-US" b="1" dirty="0"/>
              <a:t>＝</a:t>
            </a:r>
            <a:r>
              <a:rPr lang="en-US" altLang="zh-CN" b="1" i="1" dirty="0" err="1"/>
              <a:t>D</a:t>
            </a:r>
            <a:r>
              <a:rPr lang="en-US" altLang="zh-CN" b="1" baseline="-25000" dirty="0" err="1"/>
              <a:t>min</a:t>
            </a:r>
            <a:r>
              <a:rPr lang="zh-CN" altLang="en-US" b="1" dirty="0"/>
              <a:t>－</a:t>
            </a:r>
            <a:r>
              <a:rPr lang="en-US" altLang="zh-CN" b="1" i="1" dirty="0"/>
              <a:t>D </a:t>
            </a:r>
            <a:r>
              <a:rPr lang="zh-CN" altLang="en-US" b="1" dirty="0" smtClean="0"/>
              <a:t>；     </a:t>
            </a:r>
            <a:r>
              <a:rPr lang="en-US" altLang="zh-CN" b="1" dirty="0" err="1"/>
              <a:t>ei</a:t>
            </a:r>
            <a:r>
              <a:rPr lang="zh-CN" altLang="en-US" b="1" dirty="0"/>
              <a:t>＝</a:t>
            </a:r>
            <a:r>
              <a:rPr lang="en-US" altLang="zh-CN" b="1" i="1" dirty="0" err="1"/>
              <a:t>d</a:t>
            </a:r>
            <a:r>
              <a:rPr lang="en-US" altLang="zh-CN" b="1" baseline="-25000" dirty="0" err="1"/>
              <a:t>min</a:t>
            </a:r>
            <a:r>
              <a:rPr lang="zh-CN" altLang="en-US" b="1" dirty="0"/>
              <a:t>－</a:t>
            </a:r>
            <a:r>
              <a:rPr lang="en-US" altLang="zh-CN" b="1" i="1" dirty="0"/>
              <a:t>d          </a:t>
            </a:r>
            <a:r>
              <a:rPr lang="en-US" altLang="zh-CN" b="1" i="1" dirty="0" smtClean="0"/>
              <a:t> </a:t>
            </a:r>
            <a:r>
              <a:rPr lang="zh-CN" altLang="en-US" b="1" dirty="0" smtClean="0"/>
              <a:t>（</a:t>
            </a:r>
            <a:r>
              <a:rPr lang="en-US" altLang="zh-CN" b="1" dirty="0"/>
              <a:t>2</a:t>
            </a:r>
            <a:r>
              <a:rPr lang="zh-CN" altLang="en-US" b="1" dirty="0"/>
              <a:t>）</a:t>
            </a:r>
            <a:r>
              <a:rPr lang="zh-CN" altLang="en-US" b="1" i="1" dirty="0"/>
              <a:t>                     </a:t>
            </a:r>
            <a:endParaRPr lang="zh-CN" altLang="en-US" b="1" dirty="0"/>
          </a:p>
        </p:txBody>
      </p:sp>
      <p:sp>
        <p:nvSpPr>
          <p:cNvPr id="6" name="Text Box 31"/>
          <p:cNvSpPr txBox="1">
            <a:spLocks noChangeArrowheads="1"/>
          </p:cNvSpPr>
          <p:nvPr/>
        </p:nvSpPr>
        <p:spPr bwMode="auto">
          <a:xfrm>
            <a:off x="1143000" y="2619151"/>
            <a:ext cx="7605713"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dirty="0"/>
              <a:t>T</a:t>
            </a:r>
            <a:r>
              <a:rPr lang="en-US" altLang="zh-CN" b="1" baseline="-25000" dirty="0"/>
              <a:t>D</a:t>
            </a:r>
            <a:r>
              <a:rPr lang="zh-CN" altLang="en-US" b="1" dirty="0"/>
              <a:t>＝｜</a:t>
            </a:r>
            <a:r>
              <a:rPr lang="en-US" altLang="zh-CN" b="1" dirty="0"/>
              <a:t>ES</a:t>
            </a:r>
            <a:r>
              <a:rPr lang="zh-CN" altLang="en-US" b="1" dirty="0"/>
              <a:t>－</a:t>
            </a:r>
            <a:r>
              <a:rPr lang="en-US" altLang="zh-CN" b="1" dirty="0"/>
              <a:t>EI</a:t>
            </a:r>
            <a:r>
              <a:rPr lang="zh-CN" altLang="en-US" b="1" dirty="0"/>
              <a:t>｜；</a:t>
            </a:r>
            <a:r>
              <a:rPr lang="en-US" altLang="zh-CN" b="1" i="1" dirty="0"/>
              <a:t>T</a:t>
            </a:r>
            <a:r>
              <a:rPr lang="en-US" altLang="zh-CN" b="1" baseline="-25000" dirty="0"/>
              <a:t>d</a:t>
            </a:r>
            <a:r>
              <a:rPr lang="zh-CN" altLang="en-US" b="1" dirty="0"/>
              <a:t>＝｜</a:t>
            </a:r>
            <a:r>
              <a:rPr lang="en-US" altLang="zh-CN" b="1" dirty="0" err="1"/>
              <a:t>es</a:t>
            </a:r>
            <a:r>
              <a:rPr lang="zh-CN" altLang="en-US" b="1" dirty="0"/>
              <a:t>－</a:t>
            </a:r>
            <a:r>
              <a:rPr lang="en-US" altLang="zh-CN" b="1" dirty="0" err="1"/>
              <a:t>ei</a:t>
            </a:r>
            <a:r>
              <a:rPr lang="zh-CN" altLang="en-US" b="1" dirty="0"/>
              <a:t>｜    （</a:t>
            </a:r>
            <a:r>
              <a:rPr lang="en-US" altLang="zh-CN" b="1" dirty="0"/>
              <a:t>3</a:t>
            </a:r>
            <a:r>
              <a:rPr lang="zh-CN" altLang="en-US" b="1" dirty="0"/>
              <a:t>）</a:t>
            </a:r>
          </a:p>
        </p:txBody>
      </p:sp>
      <p:sp>
        <p:nvSpPr>
          <p:cNvPr id="7" name="Text Box 32"/>
          <p:cNvSpPr txBox="1">
            <a:spLocks noChangeArrowheads="1"/>
          </p:cNvSpPr>
          <p:nvPr/>
        </p:nvSpPr>
        <p:spPr bwMode="auto">
          <a:xfrm>
            <a:off x="1143000" y="3340942"/>
            <a:ext cx="7532688"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 X</a:t>
            </a:r>
            <a:r>
              <a:rPr lang="en-US" altLang="zh-CN" b="1" baseline="-25000"/>
              <a:t>max</a:t>
            </a:r>
            <a:r>
              <a:rPr lang="zh-CN" altLang="en-US" b="1"/>
              <a:t>（</a:t>
            </a:r>
            <a:r>
              <a:rPr lang="en-US" altLang="zh-CN" b="1" i="1"/>
              <a:t>Y</a:t>
            </a:r>
            <a:r>
              <a:rPr lang="en-US" altLang="zh-CN" b="1" baseline="-25000"/>
              <a:t>min</a:t>
            </a:r>
            <a:r>
              <a:rPr lang="en-US" altLang="zh-CN" b="1" i="1"/>
              <a:t> </a:t>
            </a:r>
            <a:r>
              <a:rPr lang="zh-CN" altLang="en-US" b="1"/>
              <a:t>）＝</a:t>
            </a:r>
            <a:r>
              <a:rPr lang="en-US" altLang="zh-CN" b="1"/>
              <a:t>ES</a:t>
            </a:r>
            <a:r>
              <a:rPr lang="zh-CN" altLang="en-US" b="1"/>
              <a:t>－</a:t>
            </a:r>
            <a:r>
              <a:rPr lang="en-US" altLang="zh-CN" b="1"/>
              <a:t>ei </a:t>
            </a:r>
            <a:r>
              <a:rPr lang="zh-CN" altLang="en-US" b="1"/>
              <a:t>；                   （</a:t>
            </a:r>
            <a:r>
              <a:rPr lang="en-US" altLang="zh-CN" b="1"/>
              <a:t>4</a:t>
            </a:r>
            <a:r>
              <a:rPr lang="zh-CN" altLang="en-US" b="1"/>
              <a:t>）              </a:t>
            </a:r>
          </a:p>
        </p:txBody>
      </p:sp>
      <p:sp>
        <p:nvSpPr>
          <p:cNvPr id="8" name="Text Box 33"/>
          <p:cNvSpPr txBox="1">
            <a:spLocks noChangeArrowheads="1"/>
          </p:cNvSpPr>
          <p:nvPr/>
        </p:nvSpPr>
        <p:spPr bwMode="auto">
          <a:xfrm>
            <a:off x="1143000" y="4026742"/>
            <a:ext cx="73914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 X</a:t>
            </a:r>
            <a:r>
              <a:rPr lang="en-US" altLang="zh-CN" b="1" baseline="-25000"/>
              <a:t>min</a:t>
            </a:r>
            <a:r>
              <a:rPr lang="zh-CN" altLang="en-US" b="1"/>
              <a:t>（</a:t>
            </a:r>
            <a:r>
              <a:rPr lang="en-US" altLang="zh-CN" b="1" i="1"/>
              <a:t>Y</a:t>
            </a:r>
            <a:r>
              <a:rPr lang="en-US" altLang="zh-CN" b="1" baseline="-25000"/>
              <a:t>max</a:t>
            </a:r>
            <a:r>
              <a:rPr lang="en-US" altLang="zh-CN" b="1" i="1"/>
              <a:t> </a:t>
            </a:r>
            <a:r>
              <a:rPr lang="zh-CN" altLang="en-US" b="1"/>
              <a:t>）＝</a:t>
            </a:r>
            <a:r>
              <a:rPr lang="en-US" altLang="zh-CN" b="1"/>
              <a:t>EI</a:t>
            </a:r>
            <a:r>
              <a:rPr lang="zh-CN" altLang="en-US" b="1"/>
              <a:t>－</a:t>
            </a:r>
            <a:r>
              <a:rPr lang="en-US" altLang="zh-CN" b="1"/>
              <a:t>es                        </a:t>
            </a:r>
            <a:r>
              <a:rPr lang="zh-CN" altLang="en-US" b="1"/>
              <a:t>（</a:t>
            </a:r>
            <a:r>
              <a:rPr lang="en-US" altLang="zh-CN" b="1"/>
              <a:t>5</a:t>
            </a:r>
            <a:r>
              <a:rPr lang="zh-CN" altLang="en-US" b="1"/>
              <a:t>）</a:t>
            </a:r>
          </a:p>
        </p:txBody>
      </p:sp>
      <p:sp>
        <p:nvSpPr>
          <p:cNvPr id="9" name="Text Box 34"/>
          <p:cNvSpPr txBox="1">
            <a:spLocks noChangeArrowheads="1"/>
          </p:cNvSpPr>
          <p:nvPr/>
        </p:nvSpPr>
        <p:spPr bwMode="auto">
          <a:xfrm>
            <a:off x="1124272" y="4676551"/>
            <a:ext cx="769620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dirty="0"/>
              <a:t> </a:t>
            </a:r>
            <a:r>
              <a:rPr lang="en-US" altLang="zh-CN" b="1" i="1" dirty="0" err="1"/>
              <a:t>T</a:t>
            </a:r>
            <a:r>
              <a:rPr lang="en-US" altLang="zh-CN" b="1" baseline="-25000" dirty="0" err="1"/>
              <a:t>f</a:t>
            </a:r>
            <a:r>
              <a:rPr lang="en-US" altLang="zh-CN" b="1" baseline="-25000" dirty="0"/>
              <a:t> </a:t>
            </a:r>
            <a:r>
              <a:rPr lang="zh-CN" altLang="en-US" b="1" dirty="0"/>
              <a:t>＝ ｜</a:t>
            </a:r>
            <a:r>
              <a:rPr lang="en-US" altLang="zh-CN" b="1" i="1" dirty="0" err="1"/>
              <a:t>X</a:t>
            </a:r>
            <a:r>
              <a:rPr lang="en-US" altLang="zh-CN" b="1" baseline="-25000" dirty="0" err="1"/>
              <a:t>max</a:t>
            </a:r>
            <a:r>
              <a:rPr lang="zh-CN" altLang="en-US" b="1" dirty="0"/>
              <a:t>（</a:t>
            </a:r>
            <a:r>
              <a:rPr lang="en-US" altLang="zh-CN" b="1" i="1" dirty="0" err="1"/>
              <a:t>Y</a:t>
            </a:r>
            <a:r>
              <a:rPr lang="en-US" altLang="zh-CN" b="1" baseline="-25000" dirty="0" err="1"/>
              <a:t>min</a:t>
            </a:r>
            <a:r>
              <a:rPr lang="en-US" altLang="zh-CN" b="1" i="1" dirty="0"/>
              <a:t> </a:t>
            </a:r>
            <a:r>
              <a:rPr lang="zh-CN" altLang="en-US" b="1" dirty="0"/>
              <a:t>） － </a:t>
            </a:r>
            <a:r>
              <a:rPr lang="en-US" altLang="zh-CN" b="1" i="1" dirty="0" err="1"/>
              <a:t>X</a:t>
            </a:r>
            <a:r>
              <a:rPr lang="en-US" altLang="zh-CN" b="1" baseline="-25000" dirty="0" err="1"/>
              <a:t>min</a:t>
            </a:r>
            <a:r>
              <a:rPr lang="zh-CN" altLang="en-US" b="1" dirty="0"/>
              <a:t>（</a:t>
            </a:r>
            <a:r>
              <a:rPr lang="en-US" altLang="zh-CN" b="1" i="1" dirty="0" err="1"/>
              <a:t>Y</a:t>
            </a:r>
            <a:r>
              <a:rPr lang="en-US" altLang="zh-CN" b="1" baseline="-25000" dirty="0" err="1"/>
              <a:t>max</a:t>
            </a:r>
            <a:r>
              <a:rPr lang="en-US" altLang="zh-CN" b="1" i="1" dirty="0"/>
              <a:t> </a:t>
            </a:r>
            <a:r>
              <a:rPr lang="zh-CN" altLang="en-US" b="1" dirty="0"/>
              <a:t>）｜               </a:t>
            </a:r>
          </a:p>
        </p:txBody>
      </p:sp>
      <p:sp>
        <p:nvSpPr>
          <p:cNvPr id="10" name="Text Box 37"/>
          <p:cNvSpPr txBox="1">
            <a:spLocks noChangeArrowheads="1"/>
          </p:cNvSpPr>
          <p:nvPr/>
        </p:nvSpPr>
        <p:spPr bwMode="auto">
          <a:xfrm>
            <a:off x="1566664" y="264591"/>
            <a:ext cx="574164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600" b="1" dirty="0">
                <a:solidFill>
                  <a:srgbClr val="FF0000"/>
                </a:solidFill>
              </a:rPr>
              <a:t>必须掌握的六个计算公式</a:t>
            </a:r>
          </a:p>
        </p:txBody>
      </p:sp>
      <p:sp>
        <p:nvSpPr>
          <p:cNvPr id="11" name="Text Box 39"/>
          <p:cNvSpPr txBox="1">
            <a:spLocks noChangeArrowheads="1"/>
          </p:cNvSpPr>
          <p:nvPr/>
        </p:nvSpPr>
        <p:spPr bwMode="auto">
          <a:xfrm>
            <a:off x="1520130" y="5430167"/>
            <a:ext cx="7372350"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t>＝</a:t>
            </a:r>
            <a:r>
              <a:rPr lang="en-US" altLang="zh-CN" b="1" i="1" dirty="0"/>
              <a:t>T</a:t>
            </a:r>
            <a:r>
              <a:rPr lang="en-US" altLang="zh-CN" b="1" baseline="-25000" dirty="0"/>
              <a:t>D</a:t>
            </a:r>
            <a:r>
              <a:rPr lang="zh-CN" altLang="en-US" b="1" dirty="0"/>
              <a:t>＋</a:t>
            </a:r>
            <a:r>
              <a:rPr lang="en-US" altLang="zh-CN" b="1" i="1" dirty="0"/>
              <a:t>T</a:t>
            </a:r>
            <a:r>
              <a:rPr lang="en-US" altLang="zh-CN" b="1" baseline="-25000" dirty="0"/>
              <a:t>d                                                                   </a:t>
            </a:r>
            <a:r>
              <a:rPr lang="zh-CN" altLang="en-US" b="1" dirty="0"/>
              <a:t>（</a:t>
            </a:r>
            <a:r>
              <a:rPr lang="en-US" altLang="zh-CN" b="1" dirty="0"/>
              <a:t>6</a:t>
            </a:r>
            <a:r>
              <a:rPr lang="zh-CN" altLang="en-US"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
                                        </p:tgtEl>
                                        <p:attrNameLst>
                                          <p:attrName>style.visibility</p:attrName>
                                        </p:attrNameLst>
                                      </p:cBhvr>
                                      <p:to>
                                        <p:strVal val="visible"/>
                                      </p:to>
                                    </p:set>
                                    <p:animEffect transition="in" filter="wipe(left)">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
                                        </p:tgtEl>
                                        <p:attrNameLst>
                                          <p:attrName>style.visibility</p:attrName>
                                        </p:attrNameLst>
                                      </p:cBhvr>
                                      <p:to>
                                        <p:strVal val="visible"/>
                                      </p:to>
                                    </p:set>
                                    <p:animEffect transition="in" filter="wipe(left)">
                                      <p:cBhvr>
                                        <p:cTn id="12" dur="3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
                                        </p:tgtEl>
                                        <p:attrNameLst>
                                          <p:attrName>style.visibility</p:attrName>
                                        </p:attrNameLst>
                                      </p:cBhvr>
                                      <p:to>
                                        <p:strVal val="visible"/>
                                      </p:to>
                                    </p:set>
                                    <p:animEffect transition="in" filter="wipe(left)">
                                      <p:cBhvr>
                                        <p:cTn id="17" dur="3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
                                        </p:tgtEl>
                                        <p:attrNameLst>
                                          <p:attrName>style.visibility</p:attrName>
                                        </p:attrNameLst>
                                      </p:cBhvr>
                                      <p:to>
                                        <p:strVal val="visible"/>
                                      </p:to>
                                    </p:set>
                                    <p:animEffect transition="in" filter="wipe(left)">
                                      <p:cBhvr>
                                        <p:cTn id="22" dur="3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
                                        </p:tgtEl>
                                        <p:attrNameLst>
                                          <p:attrName>style.visibility</p:attrName>
                                        </p:attrNameLst>
                                      </p:cBhvr>
                                      <p:to>
                                        <p:strVal val="visible"/>
                                      </p:to>
                                    </p:set>
                                    <p:animEffect transition="in" filter="wipe(left)">
                                      <p:cBhvr>
                                        <p:cTn id="27" dur="3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8"/>
                                        </p:tgtEl>
                                        <p:attrNameLst>
                                          <p:attrName>style.visibility</p:attrName>
                                        </p:attrNameLst>
                                      </p:cBhvr>
                                      <p:to>
                                        <p:strVal val="visible"/>
                                      </p:to>
                                    </p:set>
                                    <p:animEffect transition="in" filter="wipe(left)">
                                      <p:cBhvr>
                                        <p:cTn id="32" dur="3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9"/>
                                        </p:tgtEl>
                                        <p:attrNameLst>
                                          <p:attrName>style.visibility</p:attrName>
                                        </p:attrNameLst>
                                      </p:cBhvr>
                                      <p:to>
                                        <p:strVal val="visible"/>
                                      </p:to>
                                    </p:set>
                                    <p:animEffect transition="in" filter="wipe(left)">
                                      <p:cBhvr>
                                        <p:cTn id="37" dur="3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1"/>
                                        </p:tgtEl>
                                        <p:attrNameLst>
                                          <p:attrName>style.visibility</p:attrName>
                                        </p:attrNameLst>
                                      </p:cBhvr>
                                      <p:to>
                                        <p:strVal val="visible"/>
                                      </p:to>
                                    </p:set>
                                    <p:animEffect transition="in" filter="wipe(left)">
                                      <p:cBhvr>
                                        <p:cTn id="4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P spid="6" grpId="0" autoUpdateAnimBg="0"/>
      <p:bldP spid="7" grpId="0" autoUpdateAnimBg="0"/>
      <p:bldP spid="8" grpId="0" autoUpdateAnimBg="0"/>
      <p:bldP spid="9" grpId="0" autoUpdateAnimBg="0"/>
      <p:bldP spid="10" grpId="0" autoUpdateAnimBg="0"/>
      <p:bldP spid="1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38</a:t>
            </a:fld>
            <a:endParaRPr lang="en-US" altLang="zh-CN"/>
          </a:p>
        </p:txBody>
      </p:sp>
      <p:sp>
        <p:nvSpPr>
          <p:cNvPr id="3" name="TextBox 2"/>
          <p:cNvSpPr txBox="1"/>
          <p:nvPr/>
        </p:nvSpPr>
        <p:spPr>
          <a:xfrm>
            <a:off x="2411760" y="332656"/>
            <a:ext cx="3600400" cy="584775"/>
          </a:xfrm>
          <a:prstGeom prst="rect">
            <a:avLst/>
          </a:prstGeom>
          <a:noFill/>
        </p:spPr>
        <p:txBody>
          <a:bodyPr wrap="square" rtlCol="0">
            <a:spAutoFit/>
          </a:bodyPr>
          <a:lstStyle/>
          <a:p>
            <a:r>
              <a:rPr lang="zh-CN" altLang="en-US" sz="3200" b="1" dirty="0" smtClean="0"/>
              <a:t>小  结</a:t>
            </a:r>
            <a:endParaRPr lang="zh-CN" altLang="en-US" sz="3200" b="1" dirty="0"/>
          </a:p>
        </p:txBody>
      </p:sp>
      <p:sp>
        <p:nvSpPr>
          <p:cNvPr id="5" name="TextBox 4"/>
          <p:cNvSpPr txBox="1"/>
          <p:nvPr/>
        </p:nvSpPr>
        <p:spPr>
          <a:xfrm>
            <a:off x="2555776" y="2405787"/>
            <a:ext cx="3600400" cy="2031325"/>
          </a:xfrm>
          <a:prstGeom prst="rect">
            <a:avLst/>
          </a:prstGeom>
          <a:noFill/>
        </p:spPr>
        <p:txBody>
          <a:bodyPr wrap="square" rtlCol="0">
            <a:spAutoFit/>
          </a:bodyPr>
          <a:lstStyle/>
          <a:p>
            <a:pPr marL="514350" indent="-514350" algn="l">
              <a:lnSpc>
                <a:spcPct val="150000"/>
              </a:lnSpc>
              <a:buAutoNum type="arabicPeriod"/>
            </a:pPr>
            <a:r>
              <a:rPr lang="zh-CN" altLang="en-US" b="1" dirty="0" smtClean="0"/>
              <a:t>尺寸公差</a:t>
            </a:r>
            <a:endParaRPr lang="en-US" altLang="zh-CN" b="1" dirty="0" smtClean="0"/>
          </a:p>
          <a:p>
            <a:pPr marL="514350" indent="-514350" algn="l">
              <a:lnSpc>
                <a:spcPct val="150000"/>
              </a:lnSpc>
              <a:buAutoNum type="arabicPeriod"/>
            </a:pPr>
            <a:r>
              <a:rPr lang="zh-CN" altLang="en-US" b="1" dirty="0" smtClean="0"/>
              <a:t>尺寸偏差</a:t>
            </a:r>
            <a:endParaRPr lang="en-US" altLang="zh-CN" b="1" dirty="0" smtClean="0"/>
          </a:p>
          <a:p>
            <a:pPr marL="514350" indent="-514350" algn="l">
              <a:lnSpc>
                <a:spcPct val="150000"/>
              </a:lnSpc>
              <a:buAutoNum type="arabicPeriod"/>
            </a:pPr>
            <a:r>
              <a:rPr lang="zh-CN" altLang="en-US" b="1" dirty="0" smtClean="0"/>
              <a:t>配合制（基准制）</a:t>
            </a:r>
            <a:endParaRPr lang="zh-CN" altLang="en-US" b="1" dirty="0"/>
          </a:p>
        </p:txBody>
      </p:sp>
      <p:sp>
        <p:nvSpPr>
          <p:cNvPr id="6" name="TextBox 5"/>
          <p:cNvSpPr txBox="1"/>
          <p:nvPr/>
        </p:nvSpPr>
        <p:spPr>
          <a:xfrm>
            <a:off x="1763688" y="1829723"/>
            <a:ext cx="2232248" cy="523220"/>
          </a:xfrm>
          <a:prstGeom prst="rect">
            <a:avLst/>
          </a:prstGeom>
          <a:noFill/>
        </p:spPr>
        <p:txBody>
          <a:bodyPr wrap="square" rtlCol="0">
            <a:spAutoFit/>
          </a:bodyPr>
          <a:lstStyle/>
          <a:p>
            <a:r>
              <a:rPr lang="zh-CN" altLang="en-US" b="1" dirty="0" smtClean="0">
                <a:solidFill>
                  <a:srgbClr val="FF0000"/>
                </a:solidFill>
              </a:rPr>
              <a:t>重点掌握：</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F706AF3-E599-4E45-9C0A-0233A6CADAF3}" type="slidenum">
              <a:rPr lang="en-US" altLang="zh-CN" smtClean="0"/>
              <a:pPr>
                <a:defRPr/>
              </a:pPr>
              <a:t>39</a:t>
            </a:fld>
            <a:endParaRPr lang="en-US" altLang="zh-CN"/>
          </a:p>
        </p:txBody>
      </p:sp>
      <p:sp>
        <p:nvSpPr>
          <p:cNvPr id="3" name="Text Box 58"/>
          <p:cNvSpPr txBox="1">
            <a:spLocks noChangeArrowheads="1"/>
          </p:cNvSpPr>
          <p:nvPr/>
        </p:nvSpPr>
        <p:spPr bwMode="auto">
          <a:xfrm>
            <a:off x="533400" y="260648"/>
            <a:ext cx="2581275" cy="579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dirty="0"/>
              <a:t>课堂练习</a:t>
            </a:r>
          </a:p>
        </p:txBody>
      </p:sp>
      <p:sp>
        <p:nvSpPr>
          <p:cNvPr id="5" name="Text Box 71"/>
          <p:cNvSpPr txBox="1">
            <a:spLocks noChangeArrowheads="1"/>
          </p:cNvSpPr>
          <p:nvPr/>
        </p:nvSpPr>
        <p:spPr bwMode="auto">
          <a:xfrm>
            <a:off x="609600" y="1210007"/>
            <a:ext cx="8001000" cy="1117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b="1" dirty="0"/>
              <a:t>        </a:t>
            </a:r>
            <a:r>
              <a:rPr lang="zh-CN" altLang="en-US" b="1" dirty="0"/>
              <a:t>计算图中轴的极限偏差、公差和极限尺寸，并画出尺寸公差带图。</a:t>
            </a:r>
          </a:p>
        </p:txBody>
      </p:sp>
      <p:grpSp>
        <p:nvGrpSpPr>
          <p:cNvPr id="6" name="组合 5"/>
          <p:cNvGrpSpPr/>
          <p:nvPr/>
        </p:nvGrpSpPr>
        <p:grpSpPr>
          <a:xfrm>
            <a:off x="2143108" y="2643182"/>
            <a:ext cx="4196715" cy="2928958"/>
            <a:chOff x="2051720" y="2348880"/>
            <a:chExt cx="4196680" cy="2712070"/>
          </a:xfrm>
        </p:grpSpPr>
        <p:grpSp>
          <p:nvGrpSpPr>
            <p:cNvPr id="7" name="Group 70"/>
            <p:cNvGrpSpPr/>
            <p:nvPr/>
          </p:nvGrpSpPr>
          <p:grpSpPr bwMode="auto">
            <a:xfrm>
              <a:off x="2133600" y="2927350"/>
              <a:ext cx="4114800" cy="2133600"/>
              <a:chOff x="2256" y="864"/>
              <a:chExt cx="2592" cy="1344"/>
            </a:xfrm>
          </p:grpSpPr>
          <p:sp>
            <p:nvSpPr>
              <p:cNvPr id="9" name="Rectangle 59"/>
              <p:cNvSpPr>
                <a:spLocks noChangeArrowheads="1"/>
              </p:cNvSpPr>
              <p:nvPr/>
            </p:nvSpPr>
            <p:spPr bwMode="auto">
              <a:xfrm>
                <a:off x="2736" y="1152"/>
                <a:ext cx="1920" cy="1056"/>
              </a:xfrm>
              <a:prstGeom prst="rect">
                <a:avLst/>
              </a:prstGeom>
              <a:noFill/>
              <a:ln w="76200">
                <a:solidFill>
                  <a:schemeClr val="tx1"/>
                </a:solidFill>
                <a:miter lim="800000"/>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60"/>
              <p:cNvSpPr>
                <a:spLocks noChangeShapeType="1"/>
              </p:cNvSpPr>
              <p:nvPr/>
            </p:nvSpPr>
            <p:spPr bwMode="auto">
              <a:xfrm>
                <a:off x="2580" y="1680"/>
                <a:ext cx="2268" cy="0"/>
              </a:xfrm>
              <a:prstGeom prst="line">
                <a:avLst/>
              </a:prstGeom>
              <a:noFill/>
              <a:ln w="38100">
                <a:solidFill>
                  <a:schemeClr val="tx1"/>
                </a:solidFill>
                <a:prstDash val="lgDashDot"/>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61"/>
              <p:cNvSpPr>
                <a:spLocks noChangeShapeType="1"/>
              </p:cNvSpPr>
              <p:nvPr/>
            </p:nvSpPr>
            <p:spPr bwMode="auto">
              <a:xfrm>
                <a:off x="2256" y="2208"/>
                <a:ext cx="576" cy="0"/>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62"/>
              <p:cNvSpPr>
                <a:spLocks noChangeShapeType="1"/>
              </p:cNvSpPr>
              <p:nvPr/>
            </p:nvSpPr>
            <p:spPr bwMode="auto">
              <a:xfrm>
                <a:off x="2256" y="1152"/>
                <a:ext cx="576" cy="0"/>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63"/>
              <p:cNvSpPr>
                <a:spLocks noChangeShapeType="1"/>
              </p:cNvSpPr>
              <p:nvPr/>
            </p:nvSpPr>
            <p:spPr bwMode="auto">
              <a:xfrm>
                <a:off x="2448" y="1152"/>
                <a:ext cx="0" cy="1056"/>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64"/>
              <p:cNvSpPr>
                <a:spLocks noChangeShapeType="1"/>
              </p:cNvSpPr>
              <p:nvPr/>
            </p:nvSpPr>
            <p:spPr bwMode="auto">
              <a:xfrm flipV="1">
                <a:off x="2448" y="864"/>
                <a:ext cx="0" cy="288"/>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Line 65"/>
              <p:cNvSpPr>
                <a:spLocks noChangeShapeType="1"/>
              </p:cNvSpPr>
              <p:nvPr/>
            </p:nvSpPr>
            <p:spPr bwMode="auto">
              <a:xfrm>
                <a:off x="2448" y="864"/>
                <a:ext cx="1152" cy="0"/>
              </a:xfrm>
              <a:prstGeom prst="line">
                <a:avLst/>
              </a:prstGeom>
              <a:noFill/>
              <a:ln w="38100">
                <a:solidFill>
                  <a:schemeClr val="tx1"/>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mc:AlternateContent xmlns:mc="http://schemas.openxmlformats.org/markup-compatibility/2006">
          <mc:Choice xmlns="" xmlns:a14="http://schemas.microsoft.com/office/drawing/2010/main" Requires="a14">
            <p:sp>
              <p:nvSpPr>
                <p:cNvPr id="2" name="TextBox 1"/>
                <p:cNvSpPr txBox="1"/>
                <p:nvPr/>
              </p:nvSpPr>
              <p:spPr>
                <a:xfrm>
                  <a:off x="2051720" y="2348880"/>
                  <a:ext cx="2426091" cy="534377"/>
                </a:xfrm>
                <a:prstGeom prst="rect">
                  <a:avLst/>
                </a:prstGeom>
                <a:noFill/>
              </p:spPr>
              <p:txBody>
                <a:bodyPr wrap="square" rtlCol="0">
                  <a:spAutoFit/>
                </a:bodyPr>
                <a:lstStyle/>
                <a:p>
                  <a:r>
                    <a:rPr lang="en-US" altLang="zh-CN" i="1" dirty="0" smtClean="0"/>
                    <a:t>d</a:t>
                  </a:r>
                  <a:r>
                    <a:rPr lang="en-US" altLang="zh-CN" dirty="0" smtClean="0"/>
                    <a:t> = </a:t>
                  </a:r>
                  <a14:m>
                    <m:oMath xmlns:m="http://schemas.openxmlformats.org/officeDocument/2006/math">
                      <m:r>
                        <a:rPr lang="zh-CN" altLang="en-US" i="1" smtClean="0">
                          <a:latin typeface="Cambria Math" panose="02040503050406030204"/>
                        </a:rPr>
                        <m:t>∅</m:t>
                      </m:r>
                      <m:sSubSup>
                        <m:sSubSupPr>
                          <m:ctrlPr>
                            <a:rPr lang="en-US" altLang="zh-CN" i="1" smtClean="0">
                              <a:latin typeface="Cambria Math" panose="02040503050406030204"/>
                            </a:rPr>
                          </m:ctrlPr>
                        </m:sSubSupPr>
                        <m:e>
                          <m:r>
                            <a:rPr lang="en-US" altLang="zh-CN" b="0" i="1" smtClean="0">
                              <a:latin typeface="Cambria Math" panose="02040503050406030204"/>
                            </a:rPr>
                            <m:t>25</m:t>
                          </m:r>
                        </m:e>
                        <m:sub>
                          <m:r>
                            <a:rPr lang="en-US" altLang="zh-CN" b="0" i="1" smtClean="0">
                              <a:latin typeface="Cambria Math" panose="02040503050406030204"/>
                            </a:rPr>
                            <m:t>−</m:t>
                          </m:r>
                          <m:r>
                            <a:rPr lang="en-US" altLang="zh-CN" b="0" i="1" smtClean="0">
                              <a:latin typeface="Cambria Math" panose="02040503050406030204"/>
                            </a:rPr>
                            <m:t>0</m:t>
                          </m:r>
                          <m:r>
                            <a:rPr lang="en-US" altLang="zh-CN" b="0" i="1" smtClean="0">
                              <a:latin typeface="Cambria Math" panose="02040503050406030204"/>
                            </a:rPr>
                            <m:t>.</m:t>
                          </m:r>
                          <m:r>
                            <a:rPr lang="en-US" altLang="zh-CN" b="0" i="1" smtClean="0">
                              <a:latin typeface="Cambria Math" panose="02040503050406030204"/>
                            </a:rPr>
                            <m:t>041</m:t>
                          </m:r>
                        </m:sub>
                        <m:sup>
                          <m:r>
                            <a:rPr lang="en-US" altLang="zh-CN" b="0" i="1" smtClean="0">
                              <a:latin typeface="Cambria Math" panose="02040503050406030204"/>
                            </a:rPr>
                            <m:t>−</m:t>
                          </m:r>
                          <m:r>
                            <a:rPr lang="en-US" altLang="zh-CN" b="0" i="1" smtClean="0">
                              <a:latin typeface="Cambria Math" panose="02040503050406030204"/>
                            </a:rPr>
                            <m:t>0</m:t>
                          </m:r>
                          <m:r>
                            <a:rPr lang="en-US" altLang="zh-CN" b="0" i="1" smtClean="0">
                              <a:latin typeface="Cambria Math" panose="02040503050406030204"/>
                            </a:rPr>
                            <m:t>.</m:t>
                          </m:r>
                          <m:r>
                            <a:rPr lang="en-US" altLang="zh-CN" b="0" i="1" smtClean="0">
                              <a:latin typeface="Cambria Math" panose="02040503050406030204"/>
                            </a:rPr>
                            <m:t>020</m:t>
                          </m:r>
                        </m:sup>
                      </m:sSubSup>
                    </m:oMath>
                  </a14:m>
                  <a:endParaRPr lang="zh-CN" altLang="en-US" dirty="0"/>
                </a:p>
              </p:txBody>
            </p:sp>
          </mc:Choice>
          <mc:Fallback>
            <p:sp>
              <p:nvSpPr>
                <p:cNvPr id="2" name="TextBox 1"/>
                <p:cNvSpPr txBox="1">
                  <a:spLocks noRot="1" noChangeAspect="1" noMove="1" noResize="1" noEditPoints="1" noAdjustHandles="1" noChangeArrowheads="1" noChangeShapeType="1" noTextEdit="1"/>
                </p:cNvSpPr>
                <p:nvPr/>
              </p:nvSpPr>
              <p:spPr>
                <a:xfrm>
                  <a:off x="2051720" y="2348880"/>
                  <a:ext cx="2426091" cy="534377"/>
                </a:xfrm>
                <a:prstGeom prst="rect">
                  <a:avLst/>
                </a:prstGeom>
                <a:blipFill rotWithShape="1">
                  <a:blip r:embed="rId2"/>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2265</Words>
  <Application>WPS 演示</Application>
  <PresentationFormat>全屏显示(4:3)</PresentationFormat>
  <Paragraphs>385</Paragraphs>
  <Slides>39</Slides>
  <Notes>8</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42" baseType="lpstr">
      <vt:lpstr>Default Design</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vector>
  </TitlesOfParts>
  <Company>lww</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lww</dc:creator>
  <cp:lastModifiedBy>微软用户</cp:lastModifiedBy>
  <cp:revision>320</cp:revision>
  <dcterms:created xsi:type="dcterms:W3CDTF">2006-04-27T15:06:00Z</dcterms:created>
  <dcterms:modified xsi:type="dcterms:W3CDTF">2023-03-02T06:07:38Z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79A50E60A674448B8413EC970B228AD9</vt:lpwstr>
  </property>
</Properties>
</file>