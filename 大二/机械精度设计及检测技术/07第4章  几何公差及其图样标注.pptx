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tags/tag3.xml" ContentType="application/vnd.openxmlformats-officedocument.presentationml.tags+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358" r:id="rId3"/>
    <p:sldId id="349" r:id="rId4"/>
    <p:sldId id="366" r:id="rId5"/>
    <p:sldId id="368" r:id="rId6"/>
    <p:sldId id="367" r:id="rId7"/>
    <p:sldId id="354" r:id="rId8"/>
    <p:sldId id="355" r:id="rId9"/>
    <p:sldId id="303" r:id="rId10"/>
    <p:sldId id="259" r:id="rId11"/>
    <p:sldId id="357" r:id="rId12"/>
    <p:sldId id="359" r:id="rId13"/>
    <p:sldId id="361" r:id="rId14"/>
    <p:sldId id="362" r:id="rId15"/>
    <p:sldId id="418" r:id="rId16"/>
    <p:sldId id="419" r:id="rId17"/>
    <p:sldId id="310" r:id="rId18"/>
    <p:sldId id="311" r:id="rId19"/>
    <p:sldId id="363" r:id="rId20"/>
    <p:sldId id="312" r:id="rId21"/>
    <p:sldId id="364" r:id="rId22"/>
    <p:sldId id="313" r:id="rId23"/>
    <p:sldId id="265" r:id="rId24"/>
    <p:sldId id="291" r:id="rId25"/>
    <p:sldId id="287" r:id="rId26"/>
    <p:sldId id="315" r:id="rId27"/>
    <p:sldId id="292" r:id="rId28"/>
    <p:sldId id="319" r:id="rId29"/>
    <p:sldId id="321" r:id="rId30"/>
    <p:sldId id="322" r:id="rId31"/>
    <p:sldId id="326" r:id="rId32"/>
    <p:sldId id="327" r:id="rId33"/>
    <p:sldId id="328" r:id="rId34"/>
    <p:sldId id="329" r:id="rId35"/>
    <p:sldId id="330" r:id="rId36"/>
    <p:sldId id="332" r:id="rId37"/>
    <p:sldId id="333" r:id="rId38"/>
    <p:sldId id="334" r:id="rId39"/>
    <p:sldId id="335" r:id="rId40"/>
    <p:sldId id="336" r:id="rId41"/>
    <p:sldId id="339" r:id="rId42"/>
    <p:sldId id="267" r:id="rId43"/>
    <p:sldId id="340" r:id="rId44"/>
    <p:sldId id="341" r:id="rId45"/>
    <p:sldId id="420" r:id="rId46"/>
    <p:sldId id="344" r:id="rId47"/>
    <p:sldId id="342" r:id="rId48"/>
    <p:sldId id="343" r:id="rId49"/>
    <p:sldId id="289" r:id="rId50"/>
    <p:sldId id="421" r:id="rId51"/>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xmlns="">
        <p15:guide id="1" orient="horz" pos="2154">
          <p15:clr>
            <a:srgbClr val="A4A3A4"/>
          </p15:clr>
        </p15:guide>
        <p15:guide id="2" pos="287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0"/>
      </p:ext>
    </p:extLst>
  </p:showPr>
  <p:clrMru>
    <a:srgbClr val="0000CC"/>
    <a:srgbClr val="0000FF"/>
    <a:srgbClr val="00CC99"/>
    <a:srgbClr val="FF66FF"/>
    <a:srgbClr val="FFCCFF"/>
    <a:srgbClr val="FFFFCC"/>
    <a:srgbClr val="FF0000"/>
    <a:srgbClr val="00FF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205" autoAdjust="0"/>
    <p:restoredTop sz="90834" autoAdjust="0"/>
  </p:normalViewPr>
  <p:slideViewPr>
    <p:cSldViewPr>
      <p:cViewPr varScale="1">
        <p:scale>
          <a:sx n="103" d="100"/>
          <a:sy n="103" d="100"/>
        </p:scale>
        <p:origin x="-1854" y="-90"/>
      </p:cViewPr>
      <p:guideLst>
        <p:guide orient="horz" pos="2154"/>
        <p:guide pos="2874"/>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vl1pPr>
          </a:lstStyle>
          <a:p>
            <a:pPr>
              <a:defRPr/>
            </a:pPr>
            <a:endParaRPr lang="en-US" altLang="zh-CN"/>
          </a:p>
        </p:txBody>
      </p:sp>
      <p:sp>
        <p:nvSpPr>
          <p:cNvPr id="1536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a:defRPr/>
            </a:pPr>
            <a:endParaRPr lang="en-US" altLang="zh-CN"/>
          </a:p>
        </p:txBody>
      </p:sp>
      <p:sp>
        <p:nvSpPr>
          <p:cNvPr id="747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a:defRPr/>
            </a:pPr>
            <a:endParaRPr lang="en-US" altLang="zh-CN"/>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vl1pPr>
          </a:lstStyle>
          <a:p>
            <a:pPr>
              <a:defRPr/>
            </a:pPr>
            <a:fld id="{CCE0E9D2-91AB-46A6-B667-BE713F0B297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b="1" dirty="0" smtClean="0"/>
              <a:t>几何公差是实际被测要素对图样上给定的理想形状、方向和位置允许变动量。即形状公差是指实际单一要素的形状所允许的变动量；方向、位置和跳动公差是指实际关联要素相对于基准（或基准和理论正确尺寸）的方向或位置所允许的变动量。</a:t>
            </a:r>
            <a:endParaRPr lang="zh-CN" altLang="en-US" dirty="0"/>
          </a:p>
        </p:txBody>
      </p:sp>
      <p:sp>
        <p:nvSpPr>
          <p:cNvPr id="4" name="灯片编号占位符 3"/>
          <p:cNvSpPr>
            <a:spLocks noGrp="1"/>
          </p:cNvSpPr>
          <p:nvPr>
            <p:ph type="sldNum" sz="quarter" idx="10"/>
          </p:nvPr>
        </p:nvSpPr>
        <p:spPr/>
        <p:txBody>
          <a:bodyPr/>
          <a:lstStyle/>
          <a:p>
            <a:pPr>
              <a:defRPr/>
            </a:pPr>
            <a:fld id="{CCE0E9D2-91AB-46A6-B667-BE713F0B2975}" type="slidenum">
              <a:rPr lang="en-US" altLang="zh-CN" smtClean="0"/>
              <a:pPr>
                <a:defRPr/>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形状公差是控制被测要素为线要素或面要素，包括直线度、平面度、圆度和圆柱度。</a:t>
            </a:r>
            <a:endParaRPr lang="zh-CN" altLang="en-US" dirty="0"/>
          </a:p>
        </p:txBody>
      </p:sp>
      <p:sp>
        <p:nvSpPr>
          <p:cNvPr id="4" name="灯片编号占位符 3"/>
          <p:cNvSpPr>
            <a:spLocks noGrp="1"/>
          </p:cNvSpPr>
          <p:nvPr>
            <p:ph type="sldNum" sz="quarter" idx="10"/>
          </p:nvPr>
        </p:nvSpPr>
        <p:spPr/>
        <p:txBody>
          <a:bodyPr/>
          <a:lstStyle/>
          <a:p>
            <a:pPr>
              <a:defRPr/>
            </a:pPr>
            <a:fld id="{CCE0E9D2-91AB-46A6-B667-BE713F0B2975}" type="slidenum">
              <a:rPr lang="en-US" altLang="zh-CN" smtClean="0"/>
              <a:pPr>
                <a:defRPr/>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直线度的被测要素可以是组成要素或导出要素，</a:t>
            </a:r>
            <a:endParaRPr lang="zh-CN" altLang="en-US" dirty="0"/>
          </a:p>
        </p:txBody>
      </p:sp>
      <p:sp>
        <p:nvSpPr>
          <p:cNvPr id="4" name="灯片编号占位符 3"/>
          <p:cNvSpPr>
            <a:spLocks noGrp="1"/>
          </p:cNvSpPr>
          <p:nvPr>
            <p:ph type="sldNum" sz="quarter" idx="10"/>
          </p:nvPr>
        </p:nvSpPr>
        <p:spPr/>
        <p:txBody>
          <a:bodyPr/>
          <a:lstStyle/>
          <a:p>
            <a:pPr>
              <a:defRPr/>
            </a:pPr>
            <a:fld id="{CCE0E9D2-91AB-46A6-B667-BE713F0B2975}" type="slidenum">
              <a:rPr lang="en-US" altLang="zh-CN" smtClean="0"/>
              <a:pPr>
                <a:defRPr/>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CE0E9D2-91AB-46A6-B667-BE713F0B2975}" type="slidenum">
              <a:rPr lang="en-US" altLang="zh-CN" smtClean="0"/>
              <a:pPr>
                <a:defRPr/>
              </a:pPr>
              <a:t>20</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xfrm>
            <a:off x="1143000" y="685800"/>
            <a:ext cx="4572000" cy="3429000"/>
          </a:xfrm>
        </p:spPr>
      </p:sp>
      <p:sp>
        <p:nvSpPr>
          <p:cNvPr id="75779" name="备注占位符 2"/>
          <p:cNvSpPr>
            <a:spLocks noGrp="1"/>
          </p:cNvSpPr>
          <p:nvPr>
            <p:ph type="body" idx="1"/>
          </p:nvPr>
        </p:nvSpPr>
        <p:spPr>
          <a:noFill/>
        </p:spPr>
        <p:txBody>
          <a:bodyPr/>
          <a:lstStyle/>
          <a:p>
            <a:endParaRPr lang="en-US" altLang="zh-CN" smtClean="0"/>
          </a:p>
          <a:p>
            <a:endParaRPr lang="zh-CN" altLang="en-US" smtClean="0"/>
          </a:p>
        </p:txBody>
      </p:sp>
      <p:sp>
        <p:nvSpPr>
          <p:cNvPr id="75780" name="灯片编号占位符 3"/>
          <p:cNvSpPr>
            <a:spLocks noGrp="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7313EF9-1CCE-46FF-9DA5-9C6FCAB603AC}" type="slidenum">
              <a:rPr lang="en-US" altLang="zh-CN" sz="1200" smtClean="0"/>
              <a:pPr eaLnBrk="1" hangingPunct="1"/>
              <a:t>38</a:t>
            </a:fld>
            <a:endParaRPr lang="en-US" altLang="zh-CN" sz="120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b="1" dirty="0" smtClean="0"/>
              <a:t> 当被测要素的素线不是直线时</a:t>
            </a:r>
            <a:r>
              <a:rPr lang="en-US" altLang="zh-CN" sz="1200" b="1" dirty="0" smtClean="0"/>
              <a:t>,</a:t>
            </a:r>
            <a:r>
              <a:rPr lang="zh-CN" altLang="en-US" sz="1200" b="1" dirty="0" smtClean="0"/>
              <a:t>圆锥截面的锥角要随所测圆的实际位置而改变</a:t>
            </a:r>
            <a:r>
              <a:rPr lang="en-US" altLang="zh-CN" sz="1200" b="1" dirty="0" smtClean="0"/>
              <a:t>,</a:t>
            </a:r>
            <a:r>
              <a:rPr lang="zh-CN" altLang="en-US" sz="1200" b="1" dirty="0" smtClean="0"/>
              <a:t>以保持与被测要素垂直。</a:t>
            </a:r>
            <a:endParaRPr lang="zh-CN" altLang="en-US" dirty="0"/>
          </a:p>
        </p:txBody>
      </p:sp>
      <p:sp>
        <p:nvSpPr>
          <p:cNvPr id="4" name="灯片编号占位符 3"/>
          <p:cNvSpPr>
            <a:spLocks noGrp="1"/>
          </p:cNvSpPr>
          <p:nvPr>
            <p:ph type="sldNum" sz="quarter" idx="10"/>
          </p:nvPr>
        </p:nvSpPr>
        <p:spPr/>
        <p:txBody>
          <a:bodyPr/>
          <a:lstStyle/>
          <a:p>
            <a:pPr>
              <a:defRPr/>
            </a:pPr>
            <a:fld id="{CCE0E9D2-91AB-46A6-B667-BE713F0B2975}" type="slidenum">
              <a:rPr lang="en-US" altLang="zh-CN" smtClean="0"/>
              <a:pPr>
                <a:defRPr/>
              </a:pPr>
              <a:t>44</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F0E9322-CC12-4A09-8411-BDC8A93E9837}"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544B191-7D4A-4B22-A180-F12083844DDB}"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61DA95C-A931-4795-B6E7-C258F2124B0B}"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8EB376F7-7485-4037-BE4E-8577F8422949}"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7"/>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B170A80C-0B3F-43D2-8005-F1BD08403AF0}"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DF146825-D7D0-43A4-8B27-FC5088B5CC56}"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B6D30233-6116-4BD4-9363-EE56E4BA6AFD}"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49"/>
            <a:ext cx="3008313"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66C9F8EA-6A3B-4952-A384-37182176BF73}"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884B272B-4706-47DA-B0AC-9F265BFC59A2}"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BBCCD2D-BEC3-4380-B41D-A747EC954E6A}"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E77AFD8-59AF-40E5-9A63-16E3EF045C42}"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7086600" y="2286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b="1">
                <a:solidFill>
                  <a:srgbClr val="0000FF"/>
                </a:solidFill>
              </a:defRPr>
            </a:lvl1pPr>
          </a:lstStyle>
          <a:p>
            <a:pPr>
              <a:defRPr/>
            </a:pPr>
            <a:fld id="{9E68BA58-F032-4B12-AF0F-404CDD34CE6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2.xml"/><Relationship Id="rId7" Type="http://schemas.openxmlformats.org/officeDocument/2006/relationships/slide" Target="slide35.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slide" Target="slide27.xml"/><Relationship Id="rId5" Type="http://schemas.openxmlformats.org/officeDocument/2006/relationships/slide" Target="slide9.xml"/><Relationship Id="rId4" Type="http://schemas.openxmlformats.org/officeDocument/2006/relationships/slide" Target="slide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xml"/><Relationship Id="rId7" Type="http://schemas.openxmlformats.org/officeDocument/2006/relationships/image" Target="../media/image15.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4.png"/><Relationship Id="rId5" Type="http://schemas.openxmlformats.org/officeDocument/2006/relationships/notesSlide" Target="../notesSlides/notesSlide4.xml"/><Relationship Id="rId4" Type="http://schemas.openxmlformats.org/officeDocument/2006/relationships/slideLayout" Target="../slideLayouts/slideLayout2.xml"/><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3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3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3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3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3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7.png"/><Relationship Id="rId4" Type="http://schemas.openxmlformats.org/officeDocument/2006/relationships/image" Target="../media/image86.png"/></Relationships>
</file>

<file path=ppt/slides/_rels/slide3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4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4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98.png"/></Relationships>
</file>

<file path=ppt/slides/_rels/slide4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4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4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88"/>
          <p:cNvSpPr txBox="1">
            <a:spLocks noChangeArrowheads="1"/>
          </p:cNvSpPr>
          <p:nvPr/>
        </p:nvSpPr>
        <p:spPr bwMode="auto">
          <a:xfrm>
            <a:off x="1096104" y="428609"/>
            <a:ext cx="5261846" cy="5869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54564" tIns="77281" rIns="154564" bIns="7728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dirty="0">
                <a:latin typeface="宋体" panose="02010600030101010101" pitchFamily="2" charset="-122"/>
              </a:rPr>
              <a:t>第</a:t>
            </a:r>
            <a:r>
              <a:rPr kumimoji="0" lang="en-US" altLang="zh-CN" sz="2800" b="1" dirty="0">
                <a:latin typeface="宋体" panose="02010600030101010101" pitchFamily="2" charset="-122"/>
              </a:rPr>
              <a:t>4</a:t>
            </a:r>
            <a:r>
              <a:rPr kumimoji="0" lang="zh-CN" altLang="en-US" sz="2800" b="1" dirty="0">
                <a:latin typeface="宋体" panose="02010600030101010101" pitchFamily="2" charset="-122"/>
              </a:rPr>
              <a:t>章 几何</a:t>
            </a:r>
            <a:r>
              <a:rPr kumimoji="0" lang="zh-CN" altLang="en-US" sz="2800" b="1" dirty="0" smtClean="0">
                <a:latin typeface="宋体" panose="02010600030101010101" pitchFamily="2" charset="-122"/>
              </a:rPr>
              <a:t>精度设计</a:t>
            </a:r>
            <a:r>
              <a:rPr kumimoji="0" lang="zh-CN" altLang="en-US" sz="2800" b="1" dirty="0">
                <a:latin typeface="宋体" panose="02010600030101010101" pitchFamily="2" charset="-122"/>
              </a:rPr>
              <a:t>与</a:t>
            </a:r>
            <a:r>
              <a:rPr kumimoji="0" lang="zh-CN" altLang="en-US" sz="2800" b="1" dirty="0" smtClean="0">
                <a:latin typeface="宋体" panose="02010600030101010101" pitchFamily="2" charset="-122"/>
              </a:rPr>
              <a:t>检测</a:t>
            </a:r>
            <a:endParaRPr kumimoji="0" lang="en-US" altLang="zh-CN" sz="2800" dirty="0">
              <a:latin typeface="宋体" panose="02010600030101010101" pitchFamily="2" charset="-122"/>
            </a:endParaRPr>
          </a:p>
        </p:txBody>
      </p:sp>
      <p:sp>
        <p:nvSpPr>
          <p:cNvPr id="2052" name="Text Box 89">
            <a:hlinkClick r:id="rId3" action="ppaction://hlinksldjump"/>
          </p:cNvPr>
          <p:cNvSpPr txBox="1">
            <a:spLocks noChangeArrowheads="1"/>
          </p:cNvSpPr>
          <p:nvPr/>
        </p:nvSpPr>
        <p:spPr bwMode="auto">
          <a:xfrm>
            <a:off x="1857356" y="1928802"/>
            <a:ext cx="521497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smtClean="0">
                <a:solidFill>
                  <a:schemeClr val="accent1">
                    <a:lumMod val="75000"/>
                  </a:schemeClr>
                </a:solidFill>
              </a:rPr>
              <a:t>4.2.7  </a:t>
            </a:r>
            <a:r>
              <a:rPr lang="zh-CN" altLang="en-US" b="1" dirty="0">
                <a:solidFill>
                  <a:schemeClr val="accent1">
                    <a:lumMod val="75000"/>
                  </a:schemeClr>
                </a:solidFill>
              </a:rPr>
              <a:t>几何</a:t>
            </a:r>
            <a:r>
              <a:rPr lang="zh-CN" altLang="en-US" b="1" dirty="0" smtClean="0">
                <a:solidFill>
                  <a:schemeClr val="accent1">
                    <a:lumMod val="75000"/>
                  </a:schemeClr>
                </a:solidFill>
              </a:rPr>
              <a:t>公差及其图样标注示例</a:t>
            </a:r>
            <a:endParaRPr lang="en-US" altLang="zh-CN" dirty="0"/>
          </a:p>
        </p:txBody>
      </p:sp>
      <p:sp>
        <p:nvSpPr>
          <p:cNvPr id="2054" name="Text Box 91">
            <a:hlinkClick r:id="rId4" action="ppaction://hlinksldjump"/>
          </p:cNvPr>
          <p:cNvSpPr txBox="1">
            <a:spLocks noChangeArrowheads="1"/>
          </p:cNvSpPr>
          <p:nvPr/>
        </p:nvSpPr>
        <p:spPr bwMode="auto">
          <a:xfrm>
            <a:off x="1962184" y="2514574"/>
            <a:ext cx="260981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1</a:t>
            </a:r>
            <a:r>
              <a:rPr lang="en-US" altLang="zh-CN" b="1" dirty="0" smtClean="0"/>
              <a:t>.  </a:t>
            </a:r>
            <a:r>
              <a:rPr lang="zh-CN" altLang="en-US" b="1" dirty="0" smtClean="0"/>
              <a:t>形状公差</a:t>
            </a:r>
            <a:endParaRPr lang="zh-CN" altLang="en-US" b="1" dirty="0"/>
          </a:p>
        </p:txBody>
      </p:sp>
      <p:sp>
        <p:nvSpPr>
          <p:cNvPr id="2055" name="Text Box 92">
            <a:hlinkClick r:id="rId5" action="ppaction://hlinksldjump"/>
          </p:cNvPr>
          <p:cNvSpPr txBox="1">
            <a:spLocks noChangeArrowheads="1"/>
          </p:cNvSpPr>
          <p:nvPr/>
        </p:nvSpPr>
        <p:spPr bwMode="auto">
          <a:xfrm>
            <a:off x="1962184" y="3000372"/>
            <a:ext cx="239550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2</a:t>
            </a:r>
            <a:r>
              <a:rPr lang="en-US" altLang="zh-CN" b="1" dirty="0" smtClean="0"/>
              <a:t>.  </a:t>
            </a:r>
            <a:r>
              <a:rPr lang="zh-CN" altLang="en-US" b="1" dirty="0"/>
              <a:t>方向</a:t>
            </a:r>
            <a:r>
              <a:rPr lang="zh-CN" altLang="en-US" b="1" dirty="0" smtClean="0"/>
              <a:t>公差</a:t>
            </a:r>
            <a:endParaRPr lang="zh-CN" altLang="en-US" b="1" dirty="0"/>
          </a:p>
        </p:txBody>
      </p:sp>
      <p:sp>
        <p:nvSpPr>
          <p:cNvPr id="2056" name="Text Box 93">
            <a:hlinkClick r:id="rId6" action="ppaction://hlinksldjump"/>
          </p:cNvPr>
          <p:cNvSpPr txBox="1">
            <a:spLocks noChangeArrowheads="1"/>
          </p:cNvSpPr>
          <p:nvPr/>
        </p:nvSpPr>
        <p:spPr bwMode="auto">
          <a:xfrm>
            <a:off x="1962184" y="3500438"/>
            <a:ext cx="275269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3.  </a:t>
            </a:r>
            <a:r>
              <a:rPr lang="zh-CN" altLang="en-US" b="1" dirty="0" smtClean="0"/>
              <a:t>位置公差</a:t>
            </a:r>
            <a:endParaRPr lang="en-US" altLang="zh-CN" b="1" dirty="0"/>
          </a:p>
        </p:txBody>
      </p:sp>
      <p:sp>
        <p:nvSpPr>
          <p:cNvPr id="2057" name="Text Box 94">
            <a:hlinkClick r:id="rId7" action="ppaction://hlinksldjump"/>
          </p:cNvPr>
          <p:cNvSpPr txBox="1">
            <a:spLocks noChangeArrowheads="1"/>
          </p:cNvSpPr>
          <p:nvPr/>
        </p:nvSpPr>
        <p:spPr bwMode="auto">
          <a:xfrm>
            <a:off x="1962187" y="3967467"/>
            <a:ext cx="289556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4</a:t>
            </a:r>
            <a:r>
              <a:rPr lang="en-US" altLang="zh-CN" b="1" dirty="0" smtClean="0"/>
              <a:t>.  </a:t>
            </a:r>
            <a:r>
              <a:rPr lang="zh-CN" altLang="en-US" b="1" dirty="0"/>
              <a:t>轮廓度</a:t>
            </a:r>
            <a:r>
              <a:rPr lang="zh-CN" altLang="en-US" b="1" dirty="0" smtClean="0"/>
              <a:t>公差</a:t>
            </a:r>
            <a:endParaRPr lang="en-US" altLang="zh-CN" b="1" dirty="0"/>
          </a:p>
        </p:txBody>
      </p:sp>
      <p:sp>
        <p:nvSpPr>
          <p:cNvPr id="2058" name="Text Box 95">
            <a:hlinkClick r:id="rId8" action="ppaction://hlinksldjump"/>
          </p:cNvPr>
          <p:cNvSpPr txBox="1">
            <a:spLocks noChangeArrowheads="1"/>
          </p:cNvSpPr>
          <p:nvPr/>
        </p:nvSpPr>
        <p:spPr bwMode="auto">
          <a:xfrm>
            <a:off x="1975439" y="4467533"/>
            <a:ext cx="273943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5.  </a:t>
            </a:r>
            <a:r>
              <a:rPr lang="zh-CN" altLang="en-US" b="1" dirty="0" smtClean="0"/>
              <a:t>跳动公差</a:t>
            </a:r>
            <a:endParaRPr lang="en-US" altLang="zh-CN" b="1" dirty="0"/>
          </a:p>
        </p:txBody>
      </p:sp>
      <p:cxnSp>
        <p:nvCxnSpPr>
          <p:cNvPr id="11" name="直接连接符 10"/>
          <p:cNvCxnSpPr/>
          <p:nvPr/>
        </p:nvCxnSpPr>
        <p:spPr bwMode="auto">
          <a:xfrm flipV="1">
            <a:off x="142844" y="1285860"/>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wipe(left)">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wipe(left)">
                                      <p:cBhvr>
                                        <p:cTn id="12" dur="500"/>
                                        <p:tgtEl>
                                          <p:spTgt spid="2052"/>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054"/>
                                        </p:tgtEl>
                                        <p:attrNameLst>
                                          <p:attrName>style.visibility</p:attrName>
                                        </p:attrNameLst>
                                      </p:cBhvr>
                                      <p:to>
                                        <p:strVal val="visible"/>
                                      </p:to>
                                    </p:set>
                                    <p:animEffect transition="in" filter="wipe(left)">
                                      <p:cBhvr>
                                        <p:cTn id="15" dur="500"/>
                                        <p:tgtEl>
                                          <p:spTgt spid="205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055"/>
                                        </p:tgtEl>
                                        <p:attrNameLst>
                                          <p:attrName>style.visibility</p:attrName>
                                        </p:attrNameLst>
                                      </p:cBhvr>
                                      <p:to>
                                        <p:strVal val="visible"/>
                                      </p:to>
                                    </p:set>
                                    <p:animEffect transition="in" filter="wipe(left)">
                                      <p:cBhvr>
                                        <p:cTn id="18" dur="500"/>
                                        <p:tgtEl>
                                          <p:spTgt spid="205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056"/>
                                        </p:tgtEl>
                                        <p:attrNameLst>
                                          <p:attrName>style.visibility</p:attrName>
                                        </p:attrNameLst>
                                      </p:cBhvr>
                                      <p:to>
                                        <p:strVal val="visible"/>
                                      </p:to>
                                    </p:set>
                                    <p:animEffect transition="in" filter="wipe(left)">
                                      <p:cBhvr>
                                        <p:cTn id="21" dur="500"/>
                                        <p:tgtEl>
                                          <p:spTgt spid="2056"/>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057"/>
                                        </p:tgtEl>
                                        <p:attrNameLst>
                                          <p:attrName>style.visibility</p:attrName>
                                        </p:attrNameLst>
                                      </p:cBhvr>
                                      <p:to>
                                        <p:strVal val="visible"/>
                                      </p:to>
                                    </p:set>
                                    <p:animEffect transition="in" filter="wipe(left)">
                                      <p:cBhvr>
                                        <p:cTn id="24" dur="500"/>
                                        <p:tgtEl>
                                          <p:spTgt spid="205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058"/>
                                        </p:tgtEl>
                                        <p:attrNameLst>
                                          <p:attrName>style.visibility</p:attrName>
                                        </p:attrNameLst>
                                      </p:cBhvr>
                                      <p:to>
                                        <p:strVal val="visible"/>
                                      </p:to>
                                    </p:set>
                                    <p:animEffect transition="in" filter="wipe(left)">
                                      <p:cBhvr>
                                        <p:cTn id="27" dur="500"/>
                                        <p:tgtEl>
                                          <p:spTgt spid="2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p:bldP spid="2052" grpId="0"/>
      <p:bldP spid="2054" grpId="0"/>
      <p:bldP spid="2055" grpId="0"/>
      <p:bldP spid="2056" grpId="0"/>
      <p:bldP spid="2057" grpId="0"/>
      <p:bldP spid="205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 name="Text Box 2055"/>
          <p:cNvSpPr txBox="1">
            <a:spLocks noChangeArrowheads="1"/>
          </p:cNvSpPr>
          <p:nvPr/>
        </p:nvSpPr>
        <p:spPr bwMode="auto">
          <a:xfrm>
            <a:off x="500034" y="187786"/>
            <a:ext cx="2428892"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smtClean="0"/>
              <a:t>1. </a:t>
            </a:r>
            <a:r>
              <a:rPr lang="zh-CN" altLang="en-US" sz="2800" b="1" dirty="0" smtClean="0"/>
              <a:t>形状公差</a:t>
            </a:r>
            <a:endParaRPr lang="en-US" altLang="zh-CN" sz="2800" b="1" dirty="0"/>
          </a:p>
        </p:txBody>
      </p:sp>
      <p:sp>
        <p:nvSpPr>
          <p:cNvPr id="7" name="TextBox 6"/>
          <p:cNvSpPr txBox="1"/>
          <p:nvPr/>
        </p:nvSpPr>
        <p:spPr>
          <a:xfrm>
            <a:off x="2058418" y="1620742"/>
            <a:ext cx="1440160" cy="2308324"/>
          </a:xfrm>
          <a:prstGeom prst="rect">
            <a:avLst/>
          </a:prstGeom>
          <a:noFill/>
        </p:spPr>
        <p:txBody>
          <a:bodyPr wrap="square" rtlCol="0">
            <a:spAutoFit/>
          </a:bodyPr>
          <a:lstStyle/>
          <a:p>
            <a:pPr>
              <a:lnSpc>
                <a:spcPct val="150000"/>
              </a:lnSpc>
            </a:pPr>
            <a:r>
              <a:rPr lang="zh-CN" altLang="en-US" b="1" dirty="0" smtClean="0">
                <a:solidFill>
                  <a:srgbClr val="FF0000"/>
                </a:solidFill>
                <a:effectLst>
                  <a:outerShdw blurRad="38100" dist="38100" dir="2700000" algn="tl">
                    <a:srgbClr val="000000">
                      <a:alpha val="43137"/>
                    </a:srgbClr>
                  </a:outerShdw>
                </a:effectLst>
              </a:rPr>
              <a:t>直线度    </a:t>
            </a:r>
            <a:endParaRPr lang="en-US" altLang="zh-CN" b="1" dirty="0" smtClean="0">
              <a:solidFill>
                <a:srgbClr val="FF0000"/>
              </a:solidFill>
              <a:effectLst>
                <a:outerShdw blurRad="38100" dist="38100" dir="2700000" algn="tl">
                  <a:srgbClr val="000000">
                    <a:alpha val="43137"/>
                  </a:srgbClr>
                </a:outerShdw>
              </a:effectLst>
            </a:endParaRPr>
          </a:p>
          <a:p>
            <a:pPr>
              <a:lnSpc>
                <a:spcPct val="150000"/>
              </a:lnSpc>
            </a:pPr>
            <a:r>
              <a:rPr lang="zh-CN" altLang="en-US" b="1" dirty="0" smtClean="0">
                <a:solidFill>
                  <a:srgbClr val="FF0000"/>
                </a:solidFill>
                <a:effectLst>
                  <a:outerShdw blurRad="38100" dist="38100" dir="2700000" algn="tl">
                    <a:srgbClr val="000000">
                      <a:alpha val="43137"/>
                    </a:srgbClr>
                  </a:outerShdw>
                </a:effectLst>
              </a:rPr>
              <a:t>平面度</a:t>
            </a:r>
            <a:endParaRPr lang="en-US" altLang="zh-CN" b="1" dirty="0" smtClean="0">
              <a:solidFill>
                <a:srgbClr val="FF0000"/>
              </a:solidFill>
              <a:effectLst>
                <a:outerShdw blurRad="38100" dist="38100" dir="2700000" algn="tl">
                  <a:srgbClr val="000000">
                    <a:alpha val="43137"/>
                  </a:srgbClr>
                </a:outerShdw>
              </a:effectLst>
            </a:endParaRPr>
          </a:p>
          <a:p>
            <a:pPr>
              <a:lnSpc>
                <a:spcPct val="150000"/>
              </a:lnSpc>
            </a:pPr>
            <a:r>
              <a:rPr lang="zh-CN" altLang="en-US" b="1" dirty="0" smtClean="0">
                <a:solidFill>
                  <a:srgbClr val="FF0000"/>
                </a:solidFill>
                <a:effectLst>
                  <a:outerShdw blurRad="38100" dist="38100" dir="2700000" algn="tl">
                    <a:srgbClr val="000000">
                      <a:alpha val="43137"/>
                    </a:srgbClr>
                  </a:outerShdw>
                </a:effectLst>
              </a:rPr>
              <a:t>圆度</a:t>
            </a:r>
            <a:endParaRPr lang="en-US" altLang="zh-CN" b="1" dirty="0" smtClean="0">
              <a:solidFill>
                <a:srgbClr val="FF0000"/>
              </a:solidFill>
              <a:effectLst>
                <a:outerShdw blurRad="38100" dist="38100" dir="2700000" algn="tl">
                  <a:srgbClr val="000000">
                    <a:alpha val="43137"/>
                  </a:srgbClr>
                </a:outerShdw>
              </a:effectLst>
            </a:endParaRPr>
          </a:p>
          <a:p>
            <a:pPr>
              <a:lnSpc>
                <a:spcPct val="150000"/>
              </a:lnSpc>
            </a:pPr>
            <a:r>
              <a:rPr lang="zh-CN" altLang="en-US" b="1" dirty="0" smtClean="0">
                <a:solidFill>
                  <a:srgbClr val="FF0000"/>
                </a:solidFill>
                <a:effectLst>
                  <a:outerShdw blurRad="38100" dist="38100" dir="2700000" algn="tl">
                    <a:srgbClr val="000000">
                      <a:alpha val="43137"/>
                    </a:srgbClr>
                  </a:outerShdw>
                </a:effectLst>
              </a:rPr>
              <a:t>圆柱度</a:t>
            </a:r>
            <a:endParaRPr lang="en-US" altLang="zh-CN" b="1" dirty="0" smtClean="0">
              <a:solidFill>
                <a:srgbClr val="FF0000"/>
              </a:solidFill>
              <a:effectLst>
                <a:outerShdw blurRad="38100" dist="38100" dir="2700000" algn="tl">
                  <a:srgbClr val="000000">
                    <a:alpha val="43137"/>
                  </a:srgbClr>
                </a:outerShdw>
              </a:effectLst>
            </a:endParaRPr>
          </a:p>
        </p:txBody>
      </p:sp>
      <p:cxnSp>
        <p:nvCxnSpPr>
          <p:cNvPr id="9" name="直接连接符 8"/>
          <p:cNvCxnSpPr/>
          <p:nvPr/>
        </p:nvCxnSpPr>
        <p:spPr bwMode="auto">
          <a:xfrm>
            <a:off x="3527912" y="1870521"/>
            <a:ext cx="288000" cy="0"/>
          </a:xfrm>
          <a:prstGeom prst="line">
            <a:avLst/>
          </a:prstGeom>
          <a:solidFill>
            <a:schemeClr val="accent1"/>
          </a:solidFill>
          <a:ln w="2857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0" name="平行四边形 9"/>
          <p:cNvSpPr/>
          <p:nvPr/>
        </p:nvSpPr>
        <p:spPr bwMode="auto">
          <a:xfrm>
            <a:off x="3491880" y="2337323"/>
            <a:ext cx="396000" cy="288000"/>
          </a:xfrm>
          <a:prstGeom prst="parallelogram">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1" name="椭圆 10"/>
          <p:cNvSpPr/>
          <p:nvPr/>
        </p:nvSpPr>
        <p:spPr bwMode="auto">
          <a:xfrm>
            <a:off x="3505132" y="2886883"/>
            <a:ext cx="360000" cy="360000"/>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nvGrpSpPr>
          <p:cNvPr id="17" name="组合 16"/>
          <p:cNvGrpSpPr/>
          <p:nvPr/>
        </p:nvGrpSpPr>
        <p:grpSpPr>
          <a:xfrm>
            <a:off x="3453183" y="3489265"/>
            <a:ext cx="440745" cy="421544"/>
            <a:chOff x="3466435" y="3564581"/>
            <a:chExt cx="440745" cy="421544"/>
          </a:xfrm>
        </p:grpSpPr>
        <p:sp>
          <p:nvSpPr>
            <p:cNvPr id="12" name="椭圆 11"/>
            <p:cNvSpPr/>
            <p:nvPr/>
          </p:nvSpPr>
          <p:spPr bwMode="auto">
            <a:xfrm>
              <a:off x="3550636" y="3621021"/>
              <a:ext cx="288000" cy="288032"/>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cxnSp>
          <p:nvCxnSpPr>
            <p:cNvPr id="14" name="直接连接符 13"/>
            <p:cNvCxnSpPr/>
            <p:nvPr/>
          </p:nvCxnSpPr>
          <p:spPr bwMode="auto">
            <a:xfrm flipH="1">
              <a:off x="3466435" y="3564581"/>
              <a:ext cx="144000" cy="384000"/>
            </a:xfrm>
            <a:prstGeom prst="line">
              <a:avLst/>
            </a:prstGeom>
            <a:solidFill>
              <a:schemeClr val="accent1"/>
            </a:solidFill>
            <a:ln w="2857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 name="直接连接符 14"/>
            <p:cNvCxnSpPr/>
            <p:nvPr/>
          </p:nvCxnSpPr>
          <p:spPr bwMode="auto">
            <a:xfrm flipH="1">
              <a:off x="3763180" y="3602125"/>
              <a:ext cx="144000" cy="384000"/>
            </a:xfrm>
            <a:prstGeom prst="line">
              <a:avLst/>
            </a:prstGeom>
            <a:solidFill>
              <a:schemeClr val="accent1"/>
            </a:solidFill>
            <a:ln w="2857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8" name="右大括号 17"/>
          <p:cNvSpPr/>
          <p:nvPr/>
        </p:nvSpPr>
        <p:spPr bwMode="auto">
          <a:xfrm>
            <a:off x="4355976" y="1817513"/>
            <a:ext cx="720080" cy="2016224"/>
          </a:xfrm>
          <a:prstGeom prst="rightBrace">
            <a:avLst/>
          </a:prstGeom>
          <a:noFill/>
          <a:ln w="2857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9" name="TextBox 18"/>
          <p:cNvSpPr txBox="1"/>
          <p:nvPr/>
        </p:nvSpPr>
        <p:spPr>
          <a:xfrm>
            <a:off x="5364088" y="2489589"/>
            <a:ext cx="1584176" cy="461665"/>
          </a:xfrm>
          <a:prstGeom prst="rect">
            <a:avLst/>
          </a:prstGeom>
          <a:noFill/>
        </p:spPr>
        <p:txBody>
          <a:bodyPr wrap="square" rtlCol="0">
            <a:spAutoFit/>
          </a:bodyPr>
          <a:lstStyle/>
          <a:p>
            <a:r>
              <a:rPr lang="zh-CN" altLang="en-US" b="1" dirty="0" smtClean="0">
                <a:solidFill>
                  <a:srgbClr val="FF0000"/>
                </a:solidFill>
                <a:effectLst>
                  <a:outerShdw blurRad="38100" dist="38100" dir="2700000" algn="tl">
                    <a:srgbClr val="000000">
                      <a:alpha val="43137"/>
                    </a:srgbClr>
                  </a:outerShdw>
                </a:effectLst>
              </a:rPr>
              <a:t>形状公差</a:t>
            </a:r>
            <a:endParaRPr lang="zh-CN" altLang="en-US" b="1" dirty="0">
              <a:solidFill>
                <a:srgbClr val="FF0000"/>
              </a:solidFill>
              <a:effectLst>
                <a:outerShdw blurRad="38100" dist="38100" dir="2700000" algn="tl">
                  <a:srgbClr val="000000">
                    <a:alpha val="43137"/>
                  </a:srgbClr>
                </a:outerShdw>
              </a:effectLst>
            </a:endParaRPr>
          </a:p>
        </p:txBody>
      </p:sp>
      <p:sp>
        <p:nvSpPr>
          <p:cNvPr id="20" name="右大括号 19"/>
          <p:cNvSpPr/>
          <p:nvPr/>
        </p:nvSpPr>
        <p:spPr bwMode="auto">
          <a:xfrm>
            <a:off x="4068514" y="4197085"/>
            <a:ext cx="432048" cy="960107"/>
          </a:xfrm>
          <a:prstGeom prst="rightBrace">
            <a:avLst/>
          </a:prstGeom>
          <a:noFill/>
          <a:ln w="2857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21" name="TextBox 20"/>
          <p:cNvSpPr txBox="1"/>
          <p:nvPr/>
        </p:nvSpPr>
        <p:spPr>
          <a:xfrm>
            <a:off x="4572000" y="4389108"/>
            <a:ext cx="2808312" cy="461665"/>
          </a:xfrm>
          <a:prstGeom prst="rect">
            <a:avLst/>
          </a:prstGeom>
          <a:noFill/>
          <a:ln>
            <a:solidFill>
              <a:srgbClr val="0000FF"/>
            </a:solidFill>
          </a:ln>
        </p:spPr>
        <p:txBody>
          <a:bodyPr wrap="square" rtlCol="0">
            <a:spAutoFit/>
          </a:bodyPr>
          <a:lstStyle/>
          <a:p>
            <a:r>
              <a:rPr lang="zh-CN" altLang="en-US" b="1" dirty="0" smtClean="0">
                <a:solidFill>
                  <a:srgbClr val="0000CC"/>
                </a:solidFill>
                <a:effectLst>
                  <a:outerShdw blurRad="38100" dist="38100" dir="2700000" algn="tl">
                    <a:srgbClr val="000000">
                      <a:alpha val="43137"/>
                    </a:srgbClr>
                  </a:outerShdw>
                </a:effectLst>
              </a:rPr>
              <a:t>形状、方向、位置</a:t>
            </a:r>
            <a:endParaRPr lang="zh-CN" altLang="en-US" b="1" dirty="0">
              <a:solidFill>
                <a:srgbClr val="0000CC"/>
              </a:solidFill>
              <a:effectLst>
                <a:outerShdw blurRad="38100" dist="38100" dir="2700000" algn="tl">
                  <a:srgbClr val="000000">
                    <a:alpha val="43137"/>
                  </a:srgbClr>
                </a:outerShdw>
              </a:effectLst>
            </a:endParaRPr>
          </a:p>
        </p:txBody>
      </p:sp>
      <p:sp>
        <p:nvSpPr>
          <p:cNvPr id="16" name="矩形 15"/>
          <p:cNvSpPr/>
          <p:nvPr/>
        </p:nvSpPr>
        <p:spPr>
          <a:xfrm>
            <a:off x="2063044" y="4014621"/>
            <a:ext cx="1643058" cy="1200329"/>
          </a:xfrm>
          <a:prstGeom prst="rect">
            <a:avLst/>
          </a:prstGeom>
        </p:spPr>
        <p:txBody>
          <a:bodyPr wrap="square">
            <a:spAutoFit/>
          </a:bodyPr>
          <a:lstStyle/>
          <a:p>
            <a:pPr>
              <a:lnSpc>
                <a:spcPct val="150000"/>
              </a:lnSpc>
            </a:pPr>
            <a:r>
              <a:rPr lang="zh-CN" altLang="en-US" b="1" dirty="0" smtClean="0">
                <a:solidFill>
                  <a:srgbClr val="0000CC"/>
                </a:solidFill>
                <a:effectLst>
                  <a:outerShdw blurRad="38100" dist="38100" dir="2700000" algn="tl">
                    <a:srgbClr val="000000">
                      <a:alpha val="43137"/>
                    </a:srgbClr>
                  </a:outerShdw>
                </a:effectLst>
              </a:rPr>
              <a:t>线轮廓度</a:t>
            </a:r>
            <a:endParaRPr lang="en-US" altLang="zh-CN" b="1" dirty="0" smtClean="0">
              <a:solidFill>
                <a:srgbClr val="0000CC"/>
              </a:solidFill>
              <a:effectLst>
                <a:outerShdw blurRad="38100" dist="38100" dir="2700000" algn="tl">
                  <a:srgbClr val="000000">
                    <a:alpha val="43137"/>
                  </a:srgbClr>
                </a:outerShdw>
              </a:effectLst>
            </a:endParaRPr>
          </a:p>
          <a:p>
            <a:pPr>
              <a:lnSpc>
                <a:spcPct val="150000"/>
              </a:lnSpc>
            </a:pPr>
            <a:r>
              <a:rPr lang="zh-CN" altLang="en-US" b="1" dirty="0" smtClean="0">
                <a:solidFill>
                  <a:srgbClr val="0000CC"/>
                </a:solidFill>
                <a:effectLst>
                  <a:outerShdw blurRad="38100" dist="38100" dir="2700000" algn="tl">
                    <a:srgbClr val="000000">
                      <a:alpha val="43137"/>
                    </a:srgbClr>
                  </a:outerShdw>
                </a:effectLst>
              </a:rPr>
              <a:t>面轮廓度</a:t>
            </a:r>
            <a:endParaRPr lang="zh-CN" altLang="en-US" b="1" dirty="0">
              <a:solidFill>
                <a:srgbClr val="0000CC"/>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6"/>
                                        </p:tgtEl>
                                        <p:attrNameLst>
                                          <p:attrName>style.visibility</p:attrName>
                                        </p:attrNameLst>
                                      </p:cBhvr>
                                      <p:to>
                                        <p:strVal val="visible"/>
                                      </p:to>
                                    </p:set>
                                    <p:animEffect transition="in" filter="wipe(left)">
                                      <p:cBhvr>
                                        <p:cTn id="7" dur="3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8"/>
          <p:cNvSpPr txBox="1">
            <a:spLocks noChangeArrowheads="1"/>
          </p:cNvSpPr>
          <p:nvPr/>
        </p:nvSpPr>
        <p:spPr bwMode="auto">
          <a:xfrm>
            <a:off x="467545" y="142852"/>
            <a:ext cx="3675827"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t>(1) </a:t>
            </a:r>
            <a:r>
              <a:rPr lang="zh-CN" altLang="en-US" sz="2800" b="1" dirty="0">
                <a:latin typeface="宋体" panose="02010600030101010101" pitchFamily="2" charset="-122"/>
              </a:rPr>
              <a:t>直线度</a:t>
            </a:r>
            <a:r>
              <a:rPr lang="zh-CN" altLang="en-US" sz="2800" b="1" dirty="0" smtClean="0">
                <a:latin typeface="宋体" panose="02010600030101010101" pitchFamily="2" charset="-122"/>
              </a:rPr>
              <a:t>公差标注</a:t>
            </a:r>
            <a:endParaRPr lang="zh-CN" altLang="en-US" sz="2800" b="1" dirty="0"/>
          </a:p>
        </p:txBody>
      </p:sp>
      <p:cxnSp>
        <p:nvCxnSpPr>
          <p:cNvPr id="11" name="直接连接符 10"/>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2" name="TextBox 11"/>
          <p:cNvSpPr txBox="1"/>
          <p:nvPr/>
        </p:nvSpPr>
        <p:spPr>
          <a:xfrm>
            <a:off x="642910" y="885750"/>
            <a:ext cx="3155532" cy="400110"/>
          </a:xfrm>
          <a:prstGeom prst="rect">
            <a:avLst/>
          </a:prstGeom>
          <a:noFill/>
        </p:spPr>
        <p:txBody>
          <a:bodyPr wrap="square" rtlCol="0">
            <a:spAutoFit/>
          </a:bodyPr>
          <a:lstStyle/>
          <a:p>
            <a:r>
              <a:rPr lang="en-US" altLang="zh-CN" sz="2000" b="1" dirty="0" smtClean="0">
                <a:latin typeface="宋体" panose="02010600030101010101" pitchFamily="2" charset="-122"/>
                <a:ea typeface="宋体" panose="02010600030101010101" pitchFamily="2" charset="-122"/>
              </a:rPr>
              <a:t>① </a:t>
            </a:r>
            <a:r>
              <a:rPr lang="zh-CN" altLang="en-US" sz="2000" b="1" dirty="0"/>
              <a:t>组成</a:t>
            </a:r>
            <a:r>
              <a:rPr lang="zh-CN" altLang="en-US" sz="2000" b="1" dirty="0" smtClean="0"/>
              <a:t>要素（轮廓要素）</a:t>
            </a:r>
            <a:endParaRPr lang="zh-CN" altLang="en-US" sz="2000" b="1" dirty="0"/>
          </a:p>
        </p:txBody>
      </p:sp>
      <p:pic>
        <p:nvPicPr>
          <p:cNvPr id="13" name="Picture 157"/>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85786" y="1643050"/>
            <a:ext cx="3929090" cy="15007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4" name="Picture 158"/>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5000628" y="1357299"/>
            <a:ext cx="3214710" cy="1858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6" name="TextBox 15"/>
          <p:cNvSpPr txBox="1"/>
          <p:nvPr/>
        </p:nvSpPr>
        <p:spPr>
          <a:xfrm>
            <a:off x="4786314" y="3857628"/>
            <a:ext cx="3929090" cy="1938992"/>
          </a:xfrm>
          <a:prstGeom prst="rect">
            <a:avLst/>
          </a:prstGeom>
          <a:noFill/>
        </p:spPr>
        <p:txBody>
          <a:bodyPr wrap="square" rtlCol="0">
            <a:spAutoFit/>
          </a:bodyPr>
          <a:lstStyle/>
          <a:p>
            <a:pPr>
              <a:lnSpc>
                <a:spcPct val="150000"/>
              </a:lnSpc>
            </a:pPr>
            <a:r>
              <a:rPr lang="zh-CN" altLang="en-US" sz="2000" b="1" dirty="0" smtClean="0">
                <a:latin typeface="+mn-ea"/>
                <a:ea typeface="+mn-ea"/>
              </a:rPr>
              <a:t>公差带为在平行于（</a:t>
            </a:r>
            <a:r>
              <a:rPr lang="zh-CN" altLang="en-US" sz="2000" b="1" dirty="0" smtClean="0">
                <a:solidFill>
                  <a:srgbClr val="00CC99"/>
                </a:solidFill>
                <a:latin typeface="+mn-ea"/>
                <a:ea typeface="+mn-ea"/>
              </a:rPr>
              <a:t>相交平面框格给定的</a:t>
            </a:r>
            <a:r>
              <a:rPr lang="zh-CN" altLang="en-US" sz="2000" b="1" dirty="0" smtClean="0">
                <a:latin typeface="+mn-ea"/>
                <a:ea typeface="+mn-ea"/>
              </a:rPr>
              <a:t>）基准</a:t>
            </a:r>
            <a:r>
              <a:rPr lang="en-US" altLang="zh-CN" sz="2000" b="1" i="1" dirty="0" smtClean="0">
                <a:latin typeface="+mn-ea"/>
                <a:ea typeface="+mn-ea"/>
              </a:rPr>
              <a:t>A</a:t>
            </a:r>
            <a:r>
              <a:rPr lang="zh-CN" altLang="en-US" sz="2000" b="1" dirty="0" smtClean="0">
                <a:latin typeface="+mn-ea"/>
                <a:ea typeface="+mn-ea"/>
              </a:rPr>
              <a:t>的给定平面内与给定方向上、间距等于</a:t>
            </a:r>
            <a:r>
              <a:rPr lang="zh-CN" altLang="en-US" sz="2000" b="1" dirty="0" smtClean="0">
                <a:solidFill>
                  <a:srgbClr val="0070C0"/>
                </a:solidFill>
                <a:latin typeface="+mn-ea"/>
                <a:ea typeface="+mn-ea"/>
              </a:rPr>
              <a:t>公差值</a:t>
            </a:r>
            <a:r>
              <a:rPr lang="en-US" altLang="zh-CN" sz="2000" b="1" i="1" dirty="0" smtClean="0">
                <a:solidFill>
                  <a:srgbClr val="0070C0"/>
                </a:solidFill>
                <a:latin typeface="+mn-ea"/>
                <a:ea typeface="+mn-ea"/>
              </a:rPr>
              <a:t>t</a:t>
            </a:r>
            <a:r>
              <a:rPr lang="zh-CN" altLang="en-US" sz="2000" b="1" dirty="0" smtClean="0">
                <a:latin typeface="+mn-ea"/>
                <a:ea typeface="+mn-ea"/>
              </a:rPr>
              <a:t>的</a:t>
            </a:r>
            <a:r>
              <a:rPr lang="zh-CN" altLang="en-US" sz="2000" b="1" dirty="0" smtClean="0">
                <a:solidFill>
                  <a:srgbClr val="FF0000"/>
                </a:solidFill>
                <a:latin typeface="+mn-ea"/>
                <a:ea typeface="+mn-ea"/>
              </a:rPr>
              <a:t>两平行直线</a:t>
            </a:r>
            <a:r>
              <a:rPr lang="zh-CN" altLang="en-US" sz="2000" b="1" dirty="0" smtClean="0">
                <a:latin typeface="+mn-ea"/>
                <a:ea typeface="+mn-ea"/>
              </a:rPr>
              <a:t>之间的区域</a:t>
            </a:r>
            <a:endParaRPr lang="zh-CN" altLang="en-US" sz="2000" b="1" dirty="0">
              <a:latin typeface="+mn-ea"/>
              <a:ea typeface="+mn-ea"/>
            </a:endParaRPr>
          </a:p>
        </p:txBody>
      </p:sp>
      <p:grpSp>
        <p:nvGrpSpPr>
          <p:cNvPr id="19" name="组合 18"/>
          <p:cNvGrpSpPr/>
          <p:nvPr/>
        </p:nvGrpSpPr>
        <p:grpSpPr>
          <a:xfrm>
            <a:off x="1071538" y="3610277"/>
            <a:ext cx="3286148" cy="2319053"/>
            <a:chOff x="1142976" y="3714752"/>
            <a:chExt cx="3286148" cy="2319053"/>
          </a:xfrm>
        </p:grpSpPr>
        <p:pic>
          <p:nvPicPr>
            <p:cNvPr id="15" name="Picture 3"/>
            <p:cNvPicPr>
              <a:picLocks noChangeAspect="1" noChangeArrowheads="1"/>
            </p:cNvPicPr>
            <p:nvPr/>
          </p:nvPicPr>
          <p:blipFill>
            <a:blip r:embed="rId5">
              <a:lum bright="-10000" contrast="30000"/>
              <a:extLst>
                <a:ext uri="{28A0092B-C50C-407E-A947-70E740481C1C}">
                  <a14:useLocalDpi xmlns:a14="http://schemas.microsoft.com/office/drawing/2010/main" xmlns="" val="0"/>
                </a:ext>
              </a:extLst>
            </a:blip>
            <a:srcRect l="7407" r="7407" b="28193"/>
            <a:stretch>
              <a:fillRect/>
            </a:stretch>
          </p:blipFill>
          <p:spPr bwMode="auto">
            <a:xfrm>
              <a:off x="1142976" y="3714752"/>
              <a:ext cx="3286148" cy="1857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8" name="TextBox 17"/>
            <p:cNvSpPr txBox="1"/>
            <p:nvPr/>
          </p:nvSpPr>
          <p:spPr>
            <a:xfrm>
              <a:off x="1571604" y="5572140"/>
              <a:ext cx="2428892" cy="461665"/>
            </a:xfrm>
            <a:prstGeom prst="rect">
              <a:avLst/>
            </a:prstGeom>
            <a:noFill/>
          </p:spPr>
          <p:txBody>
            <a:bodyPr wrap="square" rtlCol="0">
              <a:spAutoFit/>
            </a:bodyPr>
            <a:lstStyle/>
            <a:p>
              <a:r>
                <a:rPr lang="zh-CN" altLang="en-US" sz="1200" b="1" dirty="0" smtClean="0"/>
                <a:t>注：</a:t>
              </a:r>
              <a:r>
                <a:rPr lang="en-US" altLang="zh-CN" sz="1200" b="1" dirty="0" smtClean="0"/>
                <a:t>a―</a:t>
              </a:r>
              <a:r>
                <a:rPr lang="zh-CN" altLang="en-US" sz="1200" b="1" dirty="0" smtClean="0"/>
                <a:t>基准</a:t>
              </a:r>
              <a:r>
                <a:rPr lang="en-US" altLang="zh-CN" sz="1200" b="1" i="1" dirty="0" smtClean="0"/>
                <a:t>A</a:t>
              </a:r>
              <a:r>
                <a:rPr lang="zh-CN" altLang="en-US" sz="1200" b="1" dirty="0" smtClean="0"/>
                <a:t>；</a:t>
              </a:r>
              <a:r>
                <a:rPr lang="en-US" altLang="zh-CN" sz="1200" b="1" dirty="0" smtClean="0"/>
                <a:t>b—</a:t>
              </a:r>
              <a:r>
                <a:rPr lang="zh-CN" altLang="en-US" sz="1200" b="1" dirty="0" smtClean="0"/>
                <a:t>任意距离；</a:t>
              </a:r>
              <a:endParaRPr lang="en-US" altLang="zh-CN" sz="1200" b="1" dirty="0" smtClean="0"/>
            </a:p>
            <a:p>
              <a:r>
                <a:rPr lang="en-US" altLang="zh-CN" sz="1200" b="1" dirty="0" smtClean="0"/>
                <a:t>         c—</a:t>
              </a:r>
              <a:r>
                <a:rPr lang="zh-CN" altLang="en-US" sz="1200" b="1" dirty="0" smtClean="0"/>
                <a:t>平行于基准</a:t>
              </a:r>
              <a:r>
                <a:rPr lang="en-US" altLang="zh-CN" sz="1200" b="1" i="1" dirty="0" smtClean="0"/>
                <a:t>A</a:t>
              </a:r>
              <a:r>
                <a:rPr lang="zh-CN" altLang="en-US" sz="1200" b="1" dirty="0" smtClean="0"/>
                <a:t>的相交平面</a:t>
              </a:r>
              <a:endParaRPr lang="zh-CN" altLang="en-US" sz="1200" b="1" dirty="0"/>
            </a:p>
          </p:txBody>
        </p:sp>
      </p:grpSp>
      <p:sp>
        <p:nvSpPr>
          <p:cNvPr id="21" name="平行四边形 20"/>
          <p:cNvSpPr/>
          <p:nvPr/>
        </p:nvSpPr>
        <p:spPr bwMode="auto">
          <a:xfrm rot="20585498">
            <a:off x="1508217" y="4046025"/>
            <a:ext cx="2196000" cy="468000"/>
          </a:xfrm>
          <a:prstGeom prst="parallelogram">
            <a:avLst>
              <a:gd name="adj" fmla="val 32299"/>
            </a:avLst>
          </a:prstGeom>
          <a:solidFill>
            <a:srgbClr val="00CC99">
              <a:alpha val="34118"/>
            </a:srgb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cxnSp>
        <p:nvCxnSpPr>
          <p:cNvPr id="25" name="直接连接符 24"/>
          <p:cNvCxnSpPr/>
          <p:nvPr/>
        </p:nvCxnSpPr>
        <p:spPr bwMode="auto">
          <a:xfrm flipV="1">
            <a:off x="1624936" y="3731872"/>
            <a:ext cx="1944000" cy="61200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26" name="直接连接符 25"/>
          <p:cNvCxnSpPr/>
          <p:nvPr/>
        </p:nvCxnSpPr>
        <p:spPr bwMode="auto">
          <a:xfrm flipV="1">
            <a:off x="1615883" y="4227654"/>
            <a:ext cx="1980000" cy="612000"/>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28" name="直接箭头连接符 27"/>
          <p:cNvCxnSpPr/>
          <p:nvPr/>
        </p:nvCxnSpPr>
        <p:spPr bwMode="auto">
          <a:xfrm rot="5400000">
            <a:off x="2545070" y="4232431"/>
            <a:ext cx="500066" cy="1588"/>
          </a:xfrm>
          <a:prstGeom prst="straightConnector1">
            <a:avLst/>
          </a:prstGeom>
          <a:solidFill>
            <a:schemeClr val="accent1"/>
          </a:solidFill>
          <a:ln w="12700" cap="flat" cmpd="sng" algn="ctr">
            <a:solidFill>
              <a:srgbClr val="FF0000"/>
            </a:solidFill>
            <a:prstDash val="solid"/>
            <a:round/>
            <a:headEnd type="triangle" w="med" len="med"/>
            <a:tailEnd type="triangle" w="med" len="med"/>
          </a:ln>
        </p:spPr>
      </p:cxnSp>
      <p:sp>
        <p:nvSpPr>
          <p:cNvPr id="29" name="TextBox 28"/>
          <p:cNvSpPr txBox="1"/>
          <p:nvPr/>
        </p:nvSpPr>
        <p:spPr>
          <a:xfrm rot="16200000">
            <a:off x="2580789" y="4040334"/>
            <a:ext cx="214314" cy="400110"/>
          </a:xfrm>
          <a:prstGeom prst="rect">
            <a:avLst/>
          </a:prstGeom>
          <a:noFill/>
        </p:spPr>
        <p:txBody>
          <a:bodyPr wrap="square" rtlCol="0">
            <a:spAutoFit/>
          </a:bodyPr>
          <a:lstStyle/>
          <a:p>
            <a:r>
              <a:rPr lang="en-US" altLang="zh-CN" sz="2000" b="1" i="1" dirty="0" smtClean="0">
                <a:solidFill>
                  <a:srgbClr val="FF0000"/>
                </a:solidFill>
              </a:rPr>
              <a:t>t</a:t>
            </a:r>
            <a:endParaRPr lang="zh-CN" altLang="en-US" sz="2000" b="1" i="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3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0-#ppt_w/2"/>
                                          </p:val>
                                        </p:tav>
                                        <p:tav tm="100000">
                                          <p:val>
                                            <p:strVal val="#ppt_x"/>
                                          </p:val>
                                        </p:tav>
                                      </p:tavLst>
                                    </p:anim>
                                    <p:anim calcmode="lin" valueType="num">
                                      <p:cBhvr additive="base">
                                        <p:cTn id="1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left)">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blinds(horizontal)">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left)">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wipe(left)">
                                      <p:cBhvr>
                                        <p:cTn id="44" dur="500"/>
                                        <p:tgtEl>
                                          <p:spTgt spid="25"/>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par>
                                <p:cTn id="48" presetID="22" presetClass="entr" presetSubtype="8"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wipe(left)">
                                      <p:cBhvr>
                                        <p:cTn id="50" dur="500"/>
                                        <p:tgtEl>
                                          <p:spTgt spid="28"/>
                                        </p:tgtEl>
                                      </p:cBhvr>
                                    </p:animEffect>
                                  </p:childTnLst>
                                </p:cTn>
                              </p:par>
                              <p:par>
                                <p:cTn id="51" presetID="22" presetClass="entr" presetSubtype="8" fill="hold"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left)">
                                      <p:cBhvr>
                                        <p:cTn id="5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P spid="12" grpId="0"/>
      <p:bldP spid="16" grpId="0"/>
      <p:bldP spid="21" grpId="0" animBg="1"/>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1428728" y="5572140"/>
            <a:ext cx="6215106" cy="400110"/>
          </a:xfrm>
          <a:prstGeom prst="rect">
            <a:avLst/>
          </a:prstGeom>
        </p:spPr>
        <p:txBody>
          <a:bodyPr wrap="square">
            <a:spAutoFit/>
          </a:bodyPr>
          <a:lstStyle/>
          <a:p>
            <a:r>
              <a:rPr lang="zh-CN" altLang="en-US" sz="2000" b="1" dirty="0" smtClean="0"/>
              <a:t>公差带</a:t>
            </a:r>
            <a:r>
              <a:rPr lang="zh-CN" altLang="en-US" sz="2000" b="1" dirty="0"/>
              <a:t>为间距等于</a:t>
            </a:r>
            <a:r>
              <a:rPr lang="zh-CN" altLang="en-US" sz="2000" b="1" dirty="0">
                <a:solidFill>
                  <a:srgbClr val="0070C0"/>
                </a:solidFill>
                <a:latin typeface="+mn-ea"/>
                <a:ea typeface="+mn-ea"/>
              </a:rPr>
              <a:t>公差值</a:t>
            </a:r>
            <a:r>
              <a:rPr lang="en-US" altLang="zh-CN" sz="2000" b="1" i="1" dirty="0">
                <a:solidFill>
                  <a:srgbClr val="0070C0"/>
                </a:solidFill>
                <a:latin typeface="+mn-ea"/>
                <a:ea typeface="+mn-ea"/>
              </a:rPr>
              <a:t>t </a:t>
            </a:r>
            <a:r>
              <a:rPr lang="zh-CN" altLang="en-US" sz="2000" b="1" dirty="0"/>
              <a:t>的</a:t>
            </a:r>
            <a:r>
              <a:rPr lang="zh-CN" altLang="en-US" sz="2000" b="1" dirty="0">
                <a:solidFill>
                  <a:srgbClr val="FF0000"/>
                </a:solidFill>
              </a:rPr>
              <a:t>两平行面</a:t>
            </a:r>
            <a:r>
              <a:rPr lang="zh-CN" altLang="en-US" sz="2000" b="1" dirty="0"/>
              <a:t>所</a:t>
            </a:r>
            <a:r>
              <a:rPr lang="zh-CN" altLang="en-US" sz="2000" b="1" dirty="0" smtClean="0"/>
              <a:t>限定的区域。</a:t>
            </a:r>
            <a:endParaRPr lang="zh-CN" altLang="en-US" sz="2000" b="1" dirty="0"/>
          </a:p>
        </p:txBody>
      </p:sp>
      <p:pic>
        <p:nvPicPr>
          <p:cNvPr id="7065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57289" y="1643050"/>
            <a:ext cx="3175022" cy="14287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065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143504" y="1714488"/>
            <a:ext cx="2499297" cy="14287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3730"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3203479" y="3500438"/>
            <a:ext cx="2654405" cy="181204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15" name="直接连接符 14"/>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6" name="TextBox 15"/>
          <p:cNvSpPr txBox="1"/>
          <p:nvPr/>
        </p:nvSpPr>
        <p:spPr>
          <a:xfrm>
            <a:off x="785786" y="928670"/>
            <a:ext cx="7429552" cy="400110"/>
          </a:xfrm>
          <a:prstGeom prst="rect">
            <a:avLst/>
          </a:prstGeom>
          <a:noFill/>
        </p:spPr>
        <p:txBody>
          <a:bodyPr wrap="square" rtlCol="0">
            <a:spAutoFit/>
          </a:bodyPr>
          <a:lstStyle/>
          <a:p>
            <a:r>
              <a:rPr lang="zh-CN" altLang="en-US" sz="2000" b="1" dirty="0" smtClean="0"/>
              <a:t>圆柱表面的提取棱边应限定在间距等于</a:t>
            </a:r>
            <a:r>
              <a:rPr lang="en-US" altLang="zh-CN" sz="2000" b="1" dirty="0" smtClean="0"/>
              <a:t>0.1mm</a:t>
            </a:r>
            <a:r>
              <a:rPr lang="zh-CN" altLang="en-US" sz="2000" b="1" dirty="0" smtClean="0"/>
              <a:t>的两平行平面之间</a:t>
            </a:r>
            <a:endParaRPr lang="zh-CN" altLang="en-US" sz="2000" b="1" dirty="0"/>
          </a:p>
        </p:txBody>
      </p:sp>
      <p:sp>
        <p:nvSpPr>
          <p:cNvPr id="17" name="Text Box 8"/>
          <p:cNvSpPr txBox="1">
            <a:spLocks noChangeArrowheads="1"/>
          </p:cNvSpPr>
          <p:nvPr/>
        </p:nvSpPr>
        <p:spPr bwMode="auto">
          <a:xfrm>
            <a:off x="467545" y="181253"/>
            <a:ext cx="3461513"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t>(1) </a:t>
            </a:r>
            <a:r>
              <a:rPr lang="zh-CN" altLang="en-US" sz="2800" b="1" dirty="0">
                <a:latin typeface="宋体" panose="02010600030101010101" pitchFamily="2" charset="-122"/>
              </a:rPr>
              <a:t>直线度</a:t>
            </a:r>
            <a:r>
              <a:rPr lang="zh-CN" altLang="en-US" sz="2800" b="1" dirty="0" smtClean="0">
                <a:latin typeface="宋体" panose="02010600030101010101" pitchFamily="2" charset="-122"/>
              </a:rPr>
              <a:t>公差标注</a:t>
            </a:r>
            <a:endParaRPr lang="zh-CN" altLang="en-US" sz="2800" b="1" dirty="0"/>
          </a:p>
        </p:txBody>
      </p:sp>
      <p:cxnSp>
        <p:nvCxnSpPr>
          <p:cNvPr id="11" name="直接连接符 10"/>
          <p:cNvCxnSpPr/>
          <p:nvPr/>
        </p:nvCxnSpPr>
        <p:spPr bwMode="auto">
          <a:xfrm>
            <a:off x="3517550" y="3795243"/>
            <a:ext cx="2214578" cy="571504"/>
          </a:xfrm>
          <a:prstGeom prst="line">
            <a:avLst/>
          </a:prstGeom>
          <a:solidFill>
            <a:schemeClr val="accent1"/>
          </a:solidFill>
          <a:ln w="19050" cap="flat" cmpd="sng" algn="ctr">
            <a:solidFill>
              <a:srgbClr val="FF0000"/>
            </a:solidFill>
            <a:prstDash val="solid"/>
            <a:round/>
            <a:headEnd type="none" w="med" len="med"/>
            <a:tailEnd type="none" w="med" len="med"/>
          </a:ln>
        </p:spPr>
      </p:cxnSp>
      <p:cxnSp>
        <p:nvCxnSpPr>
          <p:cNvPr id="12" name="直接连接符 11"/>
          <p:cNvCxnSpPr/>
          <p:nvPr/>
        </p:nvCxnSpPr>
        <p:spPr bwMode="auto">
          <a:xfrm>
            <a:off x="3518536" y="3982398"/>
            <a:ext cx="2214578" cy="571504"/>
          </a:xfrm>
          <a:prstGeom prst="line">
            <a:avLst/>
          </a:prstGeom>
          <a:solidFill>
            <a:schemeClr val="accent1"/>
          </a:solidFill>
          <a:ln w="19050" cap="flat" cmpd="sng" algn="ctr">
            <a:solidFill>
              <a:srgbClr val="FF0000"/>
            </a:solidFill>
            <a:prstDash val="solid"/>
            <a:round/>
            <a:headEnd type="none" w="med" len="med"/>
            <a:tailEnd type="none" w="med" len="med"/>
          </a:ln>
        </p:spPr>
      </p:cxn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left)">
                                      <p:cBhvr>
                                        <p:cTn id="7" dur="3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0658"/>
                                        </p:tgtEl>
                                        <p:attrNameLst>
                                          <p:attrName>style.visibility</p:attrName>
                                        </p:attrNameLst>
                                      </p:cBhvr>
                                      <p:to>
                                        <p:strVal val="visible"/>
                                      </p:to>
                                    </p:set>
                                    <p:anim calcmode="lin" valueType="num">
                                      <p:cBhvr additive="base">
                                        <p:cTn id="12" dur="500" fill="hold"/>
                                        <p:tgtEl>
                                          <p:spTgt spid="70658"/>
                                        </p:tgtEl>
                                        <p:attrNameLst>
                                          <p:attrName>ppt_x</p:attrName>
                                        </p:attrNameLst>
                                      </p:cBhvr>
                                      <p:tavLst>
                                        <p:tav tm="0">
                                          <p:val>
                                            <p:strVal val="#ppt_x"/>
                                          </p:val>
                                        </p:tav>
                                        <p:tav tm="100000">
                                          <p:val>
                                            <p:strVal val="#ppt_x"/>
                                          </p:val>
                                        </p:tav>
                                      </p:tavLst>
                                    </p:anim>
                                    <p:anim calcmode="lin" valueType="num">
                                      <p:cBhvr additive="base">
                                        <p:cTn id="13" dur="500" fill="hold"/>
                                        <p:tgtEl>
                                          <p:spTgt spid="7065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0659"/>
                                        </p:tgtEl>
                                        <p:attrNameLst>
                                          <p:attrName>style.visibility</p:attrName>
                                        </p:attrNameLst>
                                      </p:cBhvr>
                                      <p:to>
                                        <p:strVal val="visible"/>
                                      </p:to>
                                    </p:set>
                                    <p:anim calcmode="lin" valueType="num">
                                      <p:cBhvr additive="base">
                                        <p:cTn id="18" dur="500" fill="hold"/>
                                        <p:tgtEl>
                                          <p:spTgt spid="70659"/>
                                        </p:tgtEl>
                                        <p:attrNameLst>
                                          <p:attrName>ppt_x</p:attrName>
                                        </p:attrNameLst>
                                      </p:cBhvr>
                                      <p:tavLst>
                                        <p:tav tm="0">
                                          <p:val>
                                            <p:strVal val="#ppt_x"/>
                                          </p:val>
                                        </p:tav>
                                        <p:tav tm="100000">
                                          <p:val>
                                            <p:strVal val="#ppt_x"/>
                                          </p:val>
                                        </p:tav>
                                      </p:tavLst>
                                    </p:anim>
                                    <p:anim calcmode="lin" valueType="num">
                                      <p:cBhvr additive="base">
                                        <p:cTn id="19" dur="500" fill="hold"/>
                                        <p:tgtEl>
                                          <p:spTgt spid="7065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73730"/>
                                        </p:tgtEl>
                                        <p:attrNameLst>
                                          <p:attrName>style.visibility</p:attrName>
                                        </p:attrNameLst>
                                      </p:cBhvr>
                                      <p:to>
                                        <p:strVal val="visible"/>
                                      </p:to>
                                    </p:set>
                                    <p:anim calcmode="lin" valueType="num">
                                      <p:cBhvr additive="base">
                                        <p:cTn id="29" dur="500" fill="hold"/>
                                        <p:tgtEl>
                                          <p:spTgt spid="73730"/>
                                        </p:tgtEl>
                                        <p:attrNameLst>
                                          <p:attrName>ppt_x</p:attrName>
                                        </p:attrNameLst>
                                      </p:cBhvr>
                                      <p:tavLst>
                                        <p:tav tm="0">
                                          <p:val>
                                            <p:strVal val="1+#ppt_w/2"/>
                                          </p:val>
                                        </p:tav>
                                        <p:tav tm="100000">
                                          <p:val>
                                            <p:strVal val="#ppt_x"/>
                                          </p:val>
                                        </p:tav>
                                      </p:tavLst>
                                    </p:anim>
                                    <p:anim calcmode="lin" valueType="num">
                                      <p:cBhvr additive="base">
                                        <p:cTn id="30" dur="500" fill="hold"/>
                                        <p:tgtEl>
                                          <p:spTgt spid="73730"/>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par>
                                <p:cTn id="41" presetID="22" presetClass="entr" presetSubtype="8"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
          <p:cNvSpPr txBox="1">
            <a:spLocks noChangeArrowheads="1"/>
          </p:cNvSpPr>
          <p:nvPr/>
        </p:nvSpPr>
        <p:spPr bwMode="auto">
          <a:xfrm>
            <a:off x="467545" y="181253"/>
            <a:ext cx="360438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t>(1) </a:t>
            </a:r>
            <a:r>
              <a:rPr lang="zh-CN" altLang="en-US" sz="2800" b="1" dirty="0">
                <a:latin typeface="宋体" panose="02010600030101010101" pitchFamily="2" charset="-122"/>
              </a:rPr>
              <a:t>直线度</a:t>
            </a:r>
            <a:r>
              <a:rPr lang="zh-CN" altLang="en-US" sz="2800" b="1" dirty="0" smtClean="0">
                <a:latin typeface="宋体" panose="02010600030101010101" pitchFamily="2" charset="-122"/>
              </a:rPr>
              <a:t>公差标注</a:t>
            </a:r>
            <a:endParaRPr lang="zh-CN" altLang="en-US" sz="2800" b="1" dirty="0"/>
          </a:p>
        </p:txBody>
      </p:sp>
      <p:cxnSp>
        <p:nvCxnSpPr>
          <p:cNvPr id="6" name="直接连接符 5"/>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 name="TextBox 6"/>
          <p:cNvSpPr txBox="1"/>
          <p:nvPr/>
        </p:nvSpPr>
        <p:spPr>
          <a:xfrm>
            <a:off x="642910" y="857232"/>
            <a:ext cx="4824536" cy="400110"/>
          </a:xfrm>
          <a:prstGeom prst="rect">
            <a:avLst/>
          </a:prstGeom>
          <a:noFill/>
        </p:spPr>
        <p:txBody>
          <a:bodyPr wrap="square" rtlCol="0">
            <a:spAutoFit/>
          </a:bodyPr>
          <a:lstStyle/>
          <a:p>
            <a:r>
              <a:rPr lang="en-US" altLang="zh-CN" sz="2000" b="1" dirty="0" smtClean="0">
                <a:latin typeface="宋体" panose="02010600030101010101" pitchFamily="2" charset="-122"/>
                <a:ea typeface="宋体" panose="02010600030101010101" pitchFamily="2" charset="-122"/>
              </a:rPr>
              <a:t>② </a:t>
            </a:r>
            <a:r>
              <a:rPr lang="zh-CN" altLang="en-US" sz="2000" b="1" dirty="0" smtClean="0">
                <a:latin typeface="宋体" panose="02010600030101010101" pitchFamily="2" charset="-122"/>
                <a:ea typeface="宋体" panose="02010600030101010101" pitchFamily="2" charset="-122"/>
              </a:rPr>
              <a:t>导出要素</a:t>
            </a:r>
            <a:r>
              <a:rPr lang="en-US" altLang="zh-CN" sz="2000" b="1" dirty="0" smtClean="0">
                <a:latin typeface="宋体" panose="02010600030101010101" pitchFamily="2" charset="-122"/>
                <a:ea typeface="宋体" panose="02010600030101010101" pitchFamily="2" charset="-122"/>
              </a:rPr>
              <a:t>(</a:t>
            </a:r>
            <a:r>
              <a:rPr lang="zh-CN" altLang="en-US" sz="2000" b="1" dirty="0" smtClean="0">
                <a:latin typeface="宋体" panose="02010600030101010101" pitchFamily="2" charset="-122"/>
                <a:ea typeface="宋体" panose="02010600030101010101" pitchFamily="2" charset="-122"/>
              </a:rPr>
              <a:t>中心要素</a:t>
            </a:r>
            <a:r>
              <a:rPr lang="en-US" altLang="zh-CN" sz="2000" b="1" dirty="0" smtClean="0">
                <a:latin typeface="宋体" panose="02010600030101010101" pitchFamily="2" charset="-122"/>
                <a:ea typeface="宋体" panose="02010600030101010101" pitchFamily="2" charset="-122"/>
              </a:rPr>
              <a:t>)</a:t>
            </a:r>
            <a:endParaRPr lang="zh-CN" altLang="en-US" sz="2000" b="1" dirty="0"/>
          </a:p>
        </p:txBody>
      </p:sp>
      <p:pic>
        <p:nvPicPr>
          <p:cNvPr id="8" name="Picture 106"/>
          <p:cNvPicPr>
            <a:picLocks noChangeAspect="1" noChangeArrowheads="1"/>
          </p:cNvPicPr>
          <p:nvPr/>
        </p:nvPicPr>
        <p:blipFill>
          <a:blip r:embed="rId2" cstate="print">
            <a:extLst>
              <a:ext uri="{28A0092B-C50C-407E-A947-70E740481C1C}">
                <a14:useLocalDpi xmlns:a14="http://schemas.microsoft.com/office/drawing/2010/main" xmlns="" val="0"/>
              </a:ext>
            </a:extLst>
          </a:blip>
          <a:srcRect r="39744"/>
          <a:stretch>
            <a:fillRect/>
          </a:stretch>
        </p:blipFill>
        <p:spPr bwMode="auto">
          <a:xfrm>
            <a:off x="1428727" y="2071678"/>
            <a:ext cx="3495793" cy="18069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9" name="矩形 8"/>
          <p:cNvSpPr/>
          <p:nvPr/>
        </p:nvSpPr>
        <p:spPr>
          <a:xfrm>
            <a:off x="785786" y="1295096"/>
            <a:ext cx="7786742" cy="707886"/>
          </a:xfrm>
          <a:prstGeom prst="rect">
            <a:avLst/>
          </a:prstGeom>
        </p:spPr>
        <p:txBody>
          <a:bodyPr wrap="square">
            <a:spAutoFit/>
          </a:bodyPr>
          <a:lstStyle/>
          <a:p>
            <a:r>
              <a:rPr lang="zh-CN" altLang="en-US" sz="2000" b="1" dirty="0" smtClean="0"/>
              <a:t>         圆柱面</a:t>
            </a:r>
            <a:r>
              <a:rPr lang="zh-CN" altLang="en-US" sz="2000" b="1" dirty="0"/>
              <a:t>的提取</a:t>
            </a:r>
            <a:r>
              <a:rPr lang="en-US" altLang="zh-CN" sz="2000" b="1" dirty="0"/>
              <a:t>( </a:t>
            </a:r>
            <a:r>
              <a:rPr lang="zh-CN" altLang="en-US" sz="2000" b="1" dirty="0"/>
              <a:t>实际</a:t>
            </a:r>
            <a:r>
              <a:rPr lang="en-US" altLang="zh-CN" sz="2000" b="1" dirty="0" smtClean="0"/>
              <a:t>)</a:t>
            </a:r>
            <a:r>
              <a:rPr lang="zh-CN" altLang="en-US" sz="2000" b="1" dirty="0" smtClean="0"/>
              <a:t>中心线</a:t>
            </a:r>
            <a:r>
              <a:rPr lang="zh-CN" altLang="en-US" sz="2000" b="1" dirty="0"/>
              <a:t>应限定在直径</a:t>
            </a:r>
            <a:r>
              <a:rPr lang="zh-CN" altLang="en-US" sz="2000" b="1" dirty="0" smtClean="0"/>
              <a:t>等于</a:t>
            </a:r>
            <a:r>
              <a:rPr lang="el-GR" altLang="zh-CN" sz="2000" b="1" i="1" dirty="0" smtClean="0">
                <a:latin typeface="Times New Roman" panose="02020603050405020304"/>
                <a:cs typeface="Times New Roman" panose="02020603050405020304"/>
              </a:rPr>
              <a:t>ϕ</a:t>
            </a:r>
            <a:r>
              <a:rPr lang="en-US" altLang="zh-CN" sz="2000" b="1" dirty="0" smtClean="0"/>
              <a:t>0.08mm</a:t>
            </a:r>
            <a:r>
              <a:rPr lang="zh-CN" altLang="en-US" sz="2000" b="1" dirty="0" smtClean="0"/>
              <a:t>的</a:t>
            </a:r>
            <a:r>
              <a:rPr lang="zh-CN" altLang="en-US" sz="2000" b="1" dirty="0"/>
              <a:t>圆柱面</a:t>
            </a:r>
            <a:r>
              <a:rPr lang="zh-CN" altLang="en-US" sz="2000" b="1" dirty="0" smtClean="0"/>
              <a:t>内。</a:t>
            </a:r>
            <a:endParaRPr lang="zh-CN" altLang="en-US" sz="2000" b="1" dirty="0"/>
          </a:p>
        </p:txBody>
      </p:sp>
      <p:sp>
        <p:nvSpPr>
          <p:cNvPr id="10" name="矩形 9"/>
          <p:cNvSpPr/>
          <p:nvPr/>
        </p:nvSpPr>
        <p:spPr>
          <a:xfrm>
            <a:off x="4714876" y="4864254"/>
            <a:ext cx="3500462" cy="707886"/>
          </a:xfrm>
          <a:prstGeom prst="rect">
            <a:avLst/>
          </a:prstGeom>
        </p:spPr>
        <p:txBody>
          <a:bodyPr wrap="square">
            <a:spAutoFit/>
          </a:bodyPr>
          <a:lstStyle/>
          <a:p>
            <a:r>
              <a:rPr lang="zh-CN" altLang="en-US" sz="2000" b="1" dirty="0" smtClean="0"/>
              <a:t>公差带</a:t>
            </a:r>
            <a:r>
              <a:rPr lang="zh-CN" altLang="en-US" sz="2000" b="1" dirty="0"/>
              <a:t>为直径等于</a:t>
            </a:r>
            <a:r>
              <a:rPr lang="zh-CN" altLang="en-US" sz="2000" b="1" dirty="0">
                <a:solidFill>
                  <a:srgbClr val="0070C0"/>
                </a:solidFill>
                <a:latin typeface="+mn-ea"/>
                <a:ea typeface="+mn-ea"/>
              </a:rPr>
              <a:t>公差</a:t>
            </a:r>
            <a:r>
              <a:rPr lang="zh-CN" altLang="en-US" sz="2000" b="1" dirty="0" smtClean="0">
                <a:solidFill>
                  <a:srgbClr val="0070C0"/>
                </a:solidFill>
                <a:latin typeface="+mn-ea"/>
                <a:ea typeface="+mn-ea"/>
              </a:rPr>
              <a:t>值</a:t>
            </a:r>
            <a:r>
              <a:rPr lang="en-US" altLang="zh-CN" sz="2000" b="1" dirty="0" err="1" smtClean="0">
                <a:solidFill>
                  <a:srgbClr val="0070C0"/>
                </a:solidFill>
                <a:latin typeface="+mn-ea"/>
                <a:ea typeface="+mn-ea"/>
              </a:rPr>
              <a:t>øt</a:t>
            </a:r>
            <a:r>
              <a:rPr lang="en-US" altLang="zh-CN" sz="2000" b="1" dirty="0" smtClean="0">
                <a:solidFill>
                  <a:srgbClr val="0070C0"/>
                </a:solidFill>
                <a:latin typeface="+mn-ea"/>
                <a:ea typeface="+mn-ea"/>
              </a:rPr>
              <a:t> </a:t>
            </a:r>
            <a:r>
              <a:rPr lang="zh-CN" altLang="en-US" sz="2000" b="1" dirty="0"/>
              <a:t>的</a:t>
            </a:r>
            <a:r>
              <a:rPr lang="zh-CN" altLang="en-US" sz="2000" b="1" dirty="0">
                <a:solidFill>
                  <a:srgbClr val="FF0000"/>
                </a:solidFill>
              </a:rPr>
              <a:t>圆柱面</a:t>
            </a:r>
            <a:r>
              <a:rPr lang="zh-CN" altLang="en-US" sz="2000" b="1" dirty="0"/>
              <a:t>所限定</a:t>
            </a:r>
            <a:r>
              <a:rPr lang="zh-CN" altLang="en-US" sz="2000" b="1" dirty="0" smtClean="0"/>
              <a:t>的区域</a:t>
            </a:r>
            <a:r>
              <a:rPr lang="zh-CN" altLang="en-US" sz="2000" b="1" dirty="0"/>
              <a:t>。</a:t>
            </a:r>
          </a:p>
        </p:txBody>
      </p:sp>
      <p:pic>
        <p:nvPicPr>
          <p:cNvPr id="11"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428728" y="4071942"/>
            <a:ext cx="2643206" cy="19876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 name="Picture 106"/>
          <p:cNvPicPr>
            <a:picLocks noChangeAspect="1" noChangeArrowheads="1"/>
          </p:cNvPicPr>
          <p:nvPr/>
        </p:nvPicPr>
        <p:blipFill>
          <a:blip r:embed="rId2" cstate="print">
            <a:extLst>
              <a:ext uri="{28A0092B-C50C-407E-A947-70E740481C1C}">
                <a14:useLocalDpi xmlns:a14="http://schemas.microsoft.com/office/drawing/2010/main" xmlns="" val="0"/>
              </a:ext>
            </a:extLst>
          </a:blip>
          <a:srcRect l="60257"/>
          <a:stretch>
            <a:fillRect/>
          </a:stretch>
        </p:blipFill>
        <p:spPr bwMode="auto">
          <a:xfrm>
            <a:off x="5433023" y="2071678"/>
            <a:ext cx="2282249" cy="16430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nvGrpSpPr>
          <p:cNvPr id="16" name="组合 15"/>
          <p:cNvGrpSpPr/>
          <p:nvPr/>
        </p:nvGrpSpPr>
        <p:grpSpPr>
          <a:xfrm>
            <a:off x="1285852" y="4026677"/>
            <a:ext cx="3224910" cy="1974091"/>
            <a:chOff x="1285852" y="4026677"/>
            <a:chExt cx="3224910" cy="1974091"/>
          </a:xfrm>
        </p:grpSpPr>
        <p:pic>
          <p:nvPicPr>
            <p:cNvPr id="111617" name="Picture 1"/>
            <p:cNvPicPr>
              <a:picLocks noChangeAspect="1" noChangeArrowheads="1"/>
            </p:cNvPicPr>
            <p:nvPr/>
          </p:nvPicPr>
          <p:blipFill>
            <a:blip r:embed="rId4"/>
            <a:srcRect/>
            <a:stretch>
              <a:fillRect/>
            </a:stretch>
          </p:blipFill>
          <p:spPr bwMode="auto">
            <a:xfrm>
              <a:off x="1285852" y="4071942"/>
              <a:ext cx="3183062" cy="1928826"/>
            </a:xfrm>
            <a:prstGeom prst="rect">
              <a:avLst/>
            </a:prstGeom>
            <a:noFill/>
            <a:ln w="9525">
              <a:noFill/>
              <a:miter lim="800000"/>
              <a:headEnd/>
              <a:tailEnd/>
            </a:ln>
            <a:effectLst/>
          </p:spPr>
        </p:pic>
        <p:sp>
          <p:nvSpPr>
            <p:cNvPr id="13" name="TextBox 12"/>
            <p:cNvSpPr txBox="1"/>
            <p:nvPr/>
          </p:nvSpPr>
          <p:spPr>
            <a:xfrm>
              <a:off x="4134318" y="4026677"/>
              <a:ext cx="348137" cy="400110"/>
            </a:xfrm>
            <a:prstGeom prst="rect">
              <a:avLst/>
            </a:prstGeom>
            <a:solidFill>
              <a:schemeClr val="bg1"/>
            </a:solidFill>
          </p:spPr>
          <p:txBody>
            <a:bodyPr wrap="square" rtlCol="0">
              <a:spAutoFit/>
            </a:bodyPr>
            <a:lstStyle/>
            <a:p>
              <a:r>
                <a:rPr lang="en-US" altLang="zh-CN" sz="2000" b="1" dirty="0" smtClean="0"/>
                <a:t>t</a:t>
              </a:r>
              <a:endParaRPr lang="zh-CN" altLang="en-US" sz="2000" b="1" dirty="0"/>
            </a:p>
          </p:txBody>
        </p:sp>
        <p:sp>
          <p:nvSpPr>
            <p:cNvPr id="14" name="矩形 13"/>
            <p:cNvSpPr/>
            <p:nvPr/>
          </p:nvSpPr>
          <p:spPr bwMode="auto">
            <a:xfrm rot="20483583">
              <a:off x="1524151" y="4218357"/>
              <a:ext cx="1143008" cy="42116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5" name="矩形 14"/>
            <p:cNvSpPr/>
            <p:nvPr/>
          </p:nvSpPr>
          <p:spPr bwMode="auto">
            <a:xfrm rot="20483583">
              <a:off x="2882114" y="5437600"/>
              <a:ext cx="1628648" cy="42116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300"/>
                                        <p:tgtEl>
                                          <p:spTgt spid="5">
                                            <p:txEl>
                                              <p:pRg st="0" end="0"/>
                                            </p:txEl>
                                          </p:spTgt>
                                        </p:tgtEl>
                                      </p:cBhvr>
                                    </p:animEffect>
                                  </p:childTnLst>
                                </p:cTn>
                              </p:par>
                            </p:childTnLst>
                          </p:cTn>
                        </p:par>
                        <p:par>
                          <p:cTn id="8" fill="hold">
                            <p:stCondLst>
                              <p:cond delay="33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0-#ppt_w/2"/>
                                          </p:val>
                                        </p:tav>
                                        <p:tav tm="100000">
                                          <p:val>
                                            <p:strVal val="#ppt_x"/>
                                          </p:val>
                                        </p:tav>
                                      </p:tavLst>
                                    </p:anim>
                                    <p:anim calcmode="lin" valueType="num">
                                      <p:cBhvr additive="base">
                                        <p:cTn id="17"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1+#ppt_w/2"/>
                                          </p:val>
                                        </p:tav>
                                        <p:tav tm="100000">
                                          <p:val>
                                            <p:strVal val="#ppt_x"/>
                                          </p:val>
                                        </p:tav>
                                      </p:tavLst>
                                    </p:anim>
                                    <p:anim calcmode="lin" valueType="num">
                                      <p:cBhvr additive="base">
                                        <p:cTn id="2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0-#ppt_w/2"/>
                                          </p:val>
                                        </p:tav>
                                        <p:tav tm="100000">
                                          <p:val>
                                            <p:strVal val="#ppt_x"/>
                                          </p:val>
                                        </p:tav>
                                      </p:tavLst>
                                    </p:anim>
                                    <p:anim calcmode="lin" valueType="num">
                                      <p:cBhvr additive="base">
                                        <p:cTn id="3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up)">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ipe(left)">
                                      <p:cBhvr>
                                        <p:cTn id="4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7"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28596" y="142852"/>
            <a:ext cx="3960440" cy="523220"/>
          </a:xfrm>
          <a:prstGeom prst="rect">
            <a:avLst/>
          </a:prstGeom>
          <a:noFill/>
        </p:spPr>
        <p:txBody>
          <a:bodyPr wrap="square" rtlCol="0">
            <a:spAutoFit/>
          </a:bodyPr>
          <a:lstStyle/>
          <a:p>
            <a:r>
              <a:rPr lang="en-US" altLang="zh-CN" sz="2800" b="1" dirty="0" smtClean="0"/>
              <a:t>(2)</a:t>
            </a:r>
            <a:r>
              <a:rPr lang="zh-CN" altLang="en-US" sz="2800" b="1" dirty="0" smtClean="0">
                <a:latin typeface="宋体" panose="02010600030101010101" pitchFamily="2" charset="-122"/>
              </a:rPr>
              <a:t>平面度公差标注</a:t>
            </a:r>
            <a:endParaRPr lang="zh-CN" altLang="en-US" sz="2800" b="1" dirty="0">
              <a:latin typeface="宋体" panose="02010600030101010101" pitchFamily="2" charset="-122"/>
            </a:endParaRPr>
          </a:p>
        </p:txBody>
      </p:sp>
      <p:sp>
        <p:nvSpPr>
          <p:cNvPr id="10" name="矩形 9"/>
          <p:cNvSpPr/>
          <p:nvPr/>
        </p:nvSpPr>
        <p:spPr>
          <a:xfrm>
            <a:off x="1000100" y="928670"/>
            <a:ext cx="7143800" cy="400110"/>
          </a:xfrm>
          <a:prstGeom prst="rect">
            <a:avLst/>
          </a:prstGeom>
        </p:spPr>
        <p:txBody>
          <a:bodyPr wrap="square">
            <a:spAutoFit/>
          </a:bodyPr>
          <a:lstStyle/>
          <a:p>
            <a:r>
              <a:rPr lang="zh-CN" altLang="en-US" sz="2000" b="1" dirty="0" smtClean="0"/>
              <a:t>提取</a:t>
            </a:r>
            <a:r>
              <a:rPr lang="en-US" altLang="zh-CN" sz="2000" b="1" dirty="0"/>
              <a:t>(</a:t>
            </a:r>
            <a:r>
              <a:rPr lang="zh-CN" altLang="en-US" sz="2000" b="1" dirty="0"/>
              <a:t>实际</a:t>
            </a:r>
            <a:r>
              <a:rPr lang="en-US" altLang="zh-CN" sz="2000" b="1" dirty="0"/>
              <a:t>) </a:t>
            </a:r>
            <a:r>
              <a:rPr lang="zh-CN" altLang="en-US" sz="2000" b="1" dirty="0"/>
              <a:t>表面应限定在间距等于</a:t>
            </a:r>
            <a:r>
              <a:rPr lang="en-US" altLang="zh-CN" sz="2000" b="1" dirty="0" smtClean="0"/>
              <a:t>0.08mm</a:t>
            </a:r>
            <a:r>
              <a:rPr lang="zh-CN" altLang="en-US" sz="2000" b="1" dirty="0" smtClean="0"/>
              <a:t>的</a:t>
            </a:r>
            <a:r>
              <a:rPr lang="zh-CN" altLang="en-US" sz="2000" b="1" dirty="0"/>
              <a:t>两</a:t>
            </a:r>
            <a:r>
              <a:rPr lang="zh-CN" altLang="en-US" sz="2000" b="1" dirty="0" smtClean="0"/>
              <a:t>平行面</a:t>
            </a:r>
            <a:r>
              <a:rPr lang="zh-CN" altLang="en-US" sz="2000" b="1" dirty="0"/>
              <a:t>之间。</a:t>
            </a:r>
          </a:p>
        </p:txBody>
      </p:sp>
      <p:sp>
        <p:nvSpPr>
          <p:cNvPr id="11" name="矩形 10"/>
          <p:cNvSpPr/>
          <p:nvPr/>
        </p:nvSpPr>
        <p:spPr>
          <a:xfrm>
            <a:off x="4714876" y="4572008"/>
            <a:ext cx="3643338" cy="707886"/>
          </a:xfrm>
          <a:prstGeom prst="rect">
            <a:avLst/>
          </a:prstGeom>
        </p:spPr>
        <p:txBody>
          <a:bodyPr wrap="square">
            <a:spAutoFit/>
          </a:bodyPr>
          <a:lstStyle/>
          <a:p>
            <a:r>
              <a:rPr lang="zh-CN" altLang="en-US" sz="2000" b="1" dirty="0" smtClean="0"/>
              <a:t>        公差带</a:t>
            </a:r>
            <a:r>
              <a:rPr lang="zh-CN" altLang="en-US" sz="2000" b="1" dirty="0"/>
              <a:t>为间距等于</a:t>
            </a:r>
            <a:r>
              <a:rPr lang="zh-CN" altLang="en-US" sz="2000" b="1" dirty="0">
                <a:solidFill>
                  <a:srgbClr val="0070C0"/>
                </a:solidFill>
              </a:rPr>
              <a:t>公差值</a:t>
            </a:r>
            <a:r>
              <a:rPr lang="en-US" altLang="zh-CN" sz="2000" b="1" i="1" dirty="0">
                <a:solidFill>
                  <a:srgbClr val="0070C0"/>
                </a:solidFill>
              </a:rPr>
              <a:t>t </a:t>
            </a:r>
            <a:r>
              <a:rPr lang="zh-CN" altLang="en-US" sz="2000" b="1" dirty="0"/>
              <a:t>的</a:t>
            </a:r>
            <a:r>
              <a:rPr lang="zh-CN" altLang="en-US" sz="2000" b="1" dirty="0">
                <a:solidFill>
                  <a:srgbClr val="FF0000"/>
                </a:solidFill>
              </a:rPr>
              <a:t>两平行平面</a:t>
            </a:r>
            <a:r>
              <a:rPr lang="zh-CN" altLang="en-US" sz="2000" b="1" dirty="0"/>
              <a:t>所</a:t>
            </a:r>
            <a:r>
              <a:rPr lang="zh-CN" altLang="en-US" sz="2000" b="1" dirty="0" smtClean="0"/>
              <a:t>限定</a:t>
            </a:r>
            <a:r>
              <a:rPr lang="zh-CN" altLang="en-US" sz="2000" b="1" dirty="0"/>
              <a:t>的</a:t>
            </a:r>
            <a:r>
              <a:rPr lang="zh-CN" altLang="en-US" sz="2000" b="1" dirty="0" smtClean="0"/>
              <a:t>区域。</a:t>
            </a:r>
            <a:endParaRPr lang="zh-CN" altLang="en-US" sz="2000" b="1" dirty="0"/>
          </a:p>
        </p:txBody>
      </p:sp>
      <p:pic>
        <p:nvPicPr>
          <p:cNvPr id="17516" name="Picture 108"/>
          <p:cNvPicPr>
            <a:picLocks noChangeAspect="1" noChangeArrowheads="1"/>
          </p:cNvPicPr>
          <p:nvPr/>
        </p:nvPicPr>
        <p:blipFill>
          <a:blip r:embed="rId2" cstate="print">
            <a:extLst>
              <a:ext uri="{28A0092B-C50C-407E-A947-70E740481C1C}">
                <a14:useLocalDpi xmlns:a14="http://schemas.microsoft.com/office/drawing/2010/main" xmlns="" val="0"/>
              </a:ext>
            </a:extLst>
          </a:blip>
          <a:srcRect l="12500" r="10000"/>
          <a:stretch>
            <a:fillRect/>
          </a:stretch>
        </p:blipFill>
        <p:spPr bwMode="auto">
          <a:xfrm>
            <a:off x="5214942" y="1642177"/>
            <a:ext cx="2286016" cy="18444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7517" name="Picture 109"/>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428728" y="1785926"/>
            <a:ext cx="3116018" cy="15716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2706"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357289" y="3714752"/>
            <a:ext cx="2908853" cy="1785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14" name="直接连接符 13"/>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23" name="组合 22"/>
          <p:cNvGrpSpPr/>
          <p:nvPr/>
        </p:nvGrpSpPr>
        <p:grpSpPr>
          <a:xfrm>
            <a:off x="1222617" y="3454188"/>
            <a:ext cx="3349383" cy="2942706"/>
            <a:chOff x="1222617" y="3454188"/>
            <a:chExt cx="3349383" cy="2942706"/>
          </a:xfrm>
        </p:grpSpPr>
        <p:pic>
          <p:nvPicPr>
            <p:cNvPr id="110593" name="Picture 1"/>
            <p:cNvPicPr>
              <a:picLocks noChangeAspect="1" noChangeArrowheads="1"/>
            </p:cNvPicPr>
            <p:nvPr/>
          </p:nvPicPr>
          <p:blipFill>
            <a:blip r:embed="rId5"/>
            <a:srcRect/>
            <a:stretch>
              <a:fillRect/>
            </a:stretch>
          </p:blipFill>
          <p:spPr bwMode="auto">
            <a:xfrm>
              <a:off x="1428728" y="3500438"/>
              <a:ext cx="3143272" cy="2896456"/>
            </a:xfrm>
            <a:prstGeom prst="rect">
              <a:avLst/>
            </a:prstGeom>
            <a:noFill/>
            <a:ln w="9525">
              <a:noFill/>
              <a:miter lim="800000"/>
              <a:headEnd/>
              <a:tailEnd/>
            </a:ln>
            <a:effectLst/>
          </p:spPr>
        </p:pic>
        <p:sp>
          <p:nvSpPr>
            <p:cNvPr id="12" name="TextBox 11"/>
            <p:cNvSpPr txBox="1"/>
            <p:nvPr/>
          </p:nvSpPr>
          <p:spPr>
            <a:xfrm>
              <a:off x="3527589" y="3454188"/>
              <a:ext cx="714380" cy="461665"/>
            </a:xfrm>
            <a:prstGeom prst="rect">
              <a:avLst/>
            </a:prstGeom>
            <a:solidFill>
              <a:schemeClr val="bg1"/>
            </a:solidFill>
          </p:spPr>
          <p:txBody>
            <a:bodyPr wrap="square" rtlCol="0">
              <a:spAutoFit/>
            </a:bodyPr>
            <a:lstStyle/>
            <a:p>
              <a:r>
                <a:rPr lang="en-US" altLang="zh-CN" b="1" dirty="0" smtClean="0"/>
                <a:t>     t</a:t>
              </a:r>
              <a:endParaRPr lang="zh-CN" altLang="en-US" b="1" dirty="0"/>
            </a:p>
          </p:txBody>
        </p:sp>
        <p:cxnSp>
          <p:nvCxnSpPr>
            <p:cNvPr id="15" name="直接连接符 14"/>
            <p:cNvCxnSpPr/>
            <p:nvPr/>
          </p:nvCxnSpPr>
          <p:spPr bwMode="auto">
            <a:xfrm flipV="1">
              <a:off x="2509351" y="5143512"/>
              <a:ext cx="1446866" cy="428628"/>
            </a:xfrm>
            <a:prstGeom prst="line">
              <a:avLst/>
            </a:prstGeom>
            <a:solidFill>
              <a:schemeClr val="accent1"/>
            </a:solidFill>
            <a:ln w="19050" cap="flat" cmpd="sng" algn="ctr">
              <a:solidFill>
                <a:schemeClr val="tx1"/>
              </a:solidFill>
              <a:prstDash val="solid"/>
              <a:round/>
              <a:headEnd type="none" w="med" len="med"/>
              <a:tailEnd type="none" w="med" len="med"/>
            </a:ln>
          </p:spPr>
        </p:cxnSp>
        <p:sp>
          <p:nvSpPr>
            <p:cNvPr id="20" name="矩形 19"/>
            <p:cNvSpPr/>
            <p:nvPr/>
          </p:nvSpPr>
          <p:spPr bwMode="auto">
            <a:xfrm rot="17719097">
              <a:off x="1306801" y="5231916"/>
              <a:ext cx="993584" cy="1161952"/>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21" name="矩形 20"/>
            <p:cNvSpPr/>
            <p:nvPr/>
          </p:nvSpPr>
          <p:spPr bwMode="auto">
            <a:xfrm rot="15210693">
              <a:off x="2770936" y="4746668"/>
              <a:ext cx="744923" cy="2080306"/>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7517"/>
                                        </p:tgtEl>
                                        <p:attrNameLst>
                                          <p:attrName>style.visibility</p:attrName>
                                        </p:attrNameLst>
                                      </p:cBhvr>
                                      <p:to>
                                        <p:strVal val="visible"/>
                                      </p:to>
                                    </p:set>
                                    <p:anim calcmode="lin" valueType="num">
                                      <p:cBhvr additive="base">
                                        <p:cTn id="12" dur="500" fill="hold"/>
                                        <p:tgtEl>
                                          <p:spTgt spid="17517"/>
                                        </p:tgtEl>
                                        <p:attrNameLst>
                                          <p:attrName>ppt_x</p:attrName>
                                        </p:attrNameLst>
                                      </p:cBhvr>
                                      <p:tavLst>
                                        <p:tav tm="0">
                                          <p:val>
                                            <p:strVal val="0-#ppt_w/2"/>
                                          </p:val>
                                        </p:tav>
                                        <p:tav tm="100000">
                                          <p:val>
                                            <p:strVal val="#ppt_x"/>
                                          </p:val>
                                        </p:tav>
                                      </p:tavLst>
                                    </p:anim>
                                    <p:anim calcmode="lin" valueType="num">
                                      <p:cBhvr additive="base">
                                        <p:cTn id="13" dur="500" fill="hold"/>
                                        <p:tgtEl>
                                          <p:spTgt spid="1751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7516"/>
                                        </p:tgtEl>
                                        <p:attrNameLst>
                                          <p:attrName>style.visibility</p:attrName>
                                        </p:attrNameLst>
                                      </p:cBhvr>
                                      <p:to>
                                        <p:strVal val="visible"/>
                                      </p:to>
                                    </p:set>
                                    <p:anim calcmode="lin" valueType="num">
                                      <p:cBhvr additive="base">
                                        <p:cTn id="23" dur="500" fill="hold"/>
                                        <p:tgtEl>
                                          <p:spTgt spid="17516"/>
                                        </p:tgtEl>
                                        <p:attrNameLst>
                                          <p:attrName>ppt_x</p:attrName>
                                        </p:attrNameLst>
                                      </p:cBhvr>
                                      <p:tavLst>
                                        <p:tav tm="0">
                                          <p:val>
                                            <p:strVal val="#ppt_x"/>
                                          </p:val>
                                        </p:tav>
                                        <p:tav tm="100000">
                                          <p:val>
                                            <p:strVal val="#ppt_x"/>
                                          </p:val>
                                        </p:tav>
                                      </p:tavLst>
                                    </p:anim>
                                    <p:anim calcmode="lin" valueType="num">
                                      <p:cBhvr additive="base">
                                        <p:cTn id="24" dur="500" fill="hold"/>
                                        <p:tgtEl>
                                          <p:spTgt spid="1751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72706"/>
                                        </p:tgtEl>
                                        <p:attrNameLst>
                                          <p:attrName>style.visibility</p:attrName>
                                        </p:attrNameLst>
                                      </p:cBhvr>
                                      <p:to>
                                        <p:strVal val="visible"/>
                                      </p:to>
                                    </p:set>
                                    <p:anim calcmode="lin" valueType="num">
                                      <p:cBhvr additive="base">
                                        <p:cTn id="34" dur="500" fill="hold"/>
                                        <p:tgtEl>
                                          <p:spTgt spid="72706"/>
                                        </p:tgtEl>
                                        <p:attrNameLst>
                                          <p:attrName>ppt_x</p:attrName>
                                        </p:attrNameLst>
                                      </p:cBhvr>
                                      <p:tavLst>
                                        <p:tav tm="0">
                                          <p:val>
                                            <p:strVal val="#ppt_x"/>
                                          </p:val>
                                        </p:tav>
                                        <p:tav tm="100000">
                                          <p:val>
                                            <p:strVal val="#ppt_x"/>
                                          </p:val>
                                        </p:tav>
                                      </p:tavLst>
                                    </p:anim>
                                    <p:anim calcmode="lin" valueType="num">
                                      <p:cBhvr additive="base">
                                        <p:cTn id="35" dur="500" fill="hold"/>
                                        <p:tgtEl>
                                          <p:spTgt spid="72706"/>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left)">
                                      <p:cBhvr>
                                        <p:cTn id="4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 name="Text Box 8"/>
          <p:cNvSpPr txBox="1">
            <a:spLocks noChangeArrowheads="1"/>
          </p:cNvSpPr>
          <p:nvPr/>
        </p:nvSpPr>
        <p:spPr bwMode="auto">
          <a:xfrm>
            <a:off x="395537" y="212138"/>
            <a:ext cx="512762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smtClean="0"/>
              <a:t>(3) </a:t>
            </a:r>
            <a:r>
              <a:rPr lang="zh-CN" altLang="en-US" sz="2800" b="1" dirty="0" smtClean="0"/>
              <a:t>圆度</a:t>
            </a:r>
            <a:r>
              <a:rPr lang="zh-CN" altLang="en-US" sz="2800" b="1" dirty="0" smtClean="0">
                <a:latin typeface="宋体" panose="02010600030101010101" pitchFamily="2" charset="-122"/>
              </a:rPr>
              <a:t>公差标注</a:t>
            </a:r>
            <a:r>
              <a:rPr lang="zh-CN" altLang="en-US" sz="2800" b="1" dirty="0" smtClean="0"/>
              <a:t> </a:t>
            </a:r>
            <a:endParaRPr lang="zh-CN" altLang="en-US" sz="2800" b="1" dirty="0"/>
          </a:p>
        </p:txBody>
      </p:sp>
      <p:sp>
        <p:nvSpPr>
          <p:cNvPr id="9" name="矩形 8"/>
          <p:cNvSpPr/>
          <p:nvPr/>
        </p:nvSpPr>
        <p:spPr bwMode="auto">
          <a:xfrm>
            <a:off x="7164288" y="802848"/>
            <a:ext cx="432048" cy="384043"/>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pic>
        <p:nvPicPr>
          <p:cNvPr id="70658" name="Picture 2"/>
          <p:cNvPicPr>
            <a:picLocks noChangeAspect="1" noChangeArrowheads="1"/>
          </p:cNvPicPr>
          <p:nvPr>
            <p:custDataLst>
              <p:tags r:id="rId1"/>
            </p:custDataLst>
          </p:nvPr>
        </p:nvPicPr>
        <p:blipFill>
          <a:blip r:embed="rId6" cstate="print">
            <a:extLst>
              <a:ext uri="{28A0092B-C50C-407E-A947-70E740481C1C}">
                <a14:useLocalDpi xmlns:a14="http://schemas.microsoft.com/office/drawing/2010/main" xmlns="" val="0"/>
              </a:ext>
            </a:extLst>
          </a:blip>
          <a:srcRect/>
          <a:stretch>
            <a:fillRect/>
          </a:stretch>
        </p:blipFill>
        <p:spPr bwMode="auto">
          <a:xfrm>
            <a:off x="500034" y="1214422"/>
            <a:ext cx="3033268" cy="21264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0659" name="Picture 3"/>
          <p:cNvPicPr>
            <a:picLocks noChangeAspect="1" noChangeArrowheads="1"/>
          </p:cNvPicPr>
          <p:nvPr>
            <p:custDataLst>
              <p:tags r:id="rId2"/>
            </p:custDataLst>
          </p:nvPr>
        </p:nvPicPr>
        <p:blipFill>
          <a:blip r:embed="rId7" cstate="print">
            <a:extLst>
              <a:ext uri="{28A0092B-C50C-407E-A947-70E740481C1C}">
                <a14:useLocalDpi xmlns:a14="http://schemas.microsoft.com/office/drawing/2010/main" xmlns="" val="0"/>
              </a:ext>
            </a:extLst>
          </a:blip>
          <a:srcRect/>
          <a:stretch>
            <a:fillRect/>
          </a:stretch>
        </p:blipFill>
        <p:spPr bwMode="auto">
          <a:xfrm>
            <a:off x="3601384" y="1124173"/>
            <a:ext cx="2613690" cy="23762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682" name="Picture 2"/>
          <p:cNvPicPr>
            <a:picLocks noChangeAspect="1" noChangeArrowheads="1"/>
          </p:cNvPicPr>
          <p:nvPr>
            <p:custDataLst>
              <p:tags r:id="rId3"/>
            </p:custDataLst>
          </p:nvPr>
        </p:nvPicPr>
        <p:blipFill>
          <a:blip r:embed="rId8">
            <a:extLst>
              <a:ext uri="{28A0092B-C50C-407E-A947-70E740481C1C}">
                <a14:useLocalDpi xmlns:a14="http://schemas.microsoft.com/office/drawing/2010/main" xmlns="" val="0"/>
              </a:ext>
            </a:extLst>
          </a:blip>
          <a:srcRect/>
          <a:stretch>
            <a:fillRect/>
          </a:stretch>
        </p:blipFill>
        <p:spPr bwMode="auto">
          <a:xfrm>
            <a:off x="1259205" y="3649474"/>
            <a:ext cx="2592070" cy="27057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矩形 1"/>
          <p:cNvSpPr/>
          <p:nvPr/>
        </p:nvSpPr>
        <p:spPr>
          <a:xfrm>
            <a:off x="5643570" y="1785926"/>
            <a:ext cx="3023235" cy="1631216"/>
          </a:xfrm>
          <a:prstGeom prst="rect">
            <a:avLst/>
          </a:prstGeom>
        </p:spPr>
        <p:txBody>
          <a:bodyPr wrap="square">
            <a:spAutoFit/>
          </a:bodyPr>
          <a:lstStyle/>
          <a:p>
            <a:r>
              <a:rPr lang="zh-CN" altLang="en-US" sz="2000" b="1" dirty="0" smtClean="0"/>
              <a:t>          在</a:t>
            </a:r>
            <a:r>
              <a:rPr lang="zh-CN" altLang="en-US" sz="2000" b="1" dirty="0"/>
              <a:t>圆柱面与圆锥</a:t>
            </a:r>
            <a:r>
              <a:rPr lang="zh-CN" altLang="en-US" sz="2000" b="1" dirty="0" smtClean="0"/>
              <a:t>面的</a:t>
            </a:r>
            <a:r>
              <a:rPr lang="zh-CN" altLang="en-US" sz="2000" b="1" dirty="0" smtClean="0">
                <a:solidFill>
                  <a:srgbClr val="FF0000"/>
                </a:solidFill>
              </a:rPr>
              <a:t>任意</a:t>
            </a:r>
            <a:r>
              <a:rPr lang="zh-CN" altLang="en-US" sz="2000" b="1" dirty="0">
                <a:solidFill>
                  <a:srgbClr val="FF0000"/>
                </a:solidFill>
              </a:rPr>
              <a:t>横截面</a:t>
            </a:r>
            <a:r>
              <a:rPr lang="zh-CN" altLang="en-US" sz="2000" b="1" dirty="0" smtClean="0"/>
              <a:t>内，提取</a:t>
            </a:r>
            <a:r>
              <a:rPr lang="en-US" altLang="zh-CN" sz="2000" b="1" dirty="0"/>
              <a:t>(</a:t>
            </a:r>
            <a:r>
              <a:rPr lang="zh-CN" altLang="en-US" sz="2000" b="1" dirty="0"/>
              <a:t>实际</a:t>
            </a:r>
            <a:r>
              <a:rPr lang="en-US" altLang="zh-CN" sz="2000" b="1" dirty="0"/>
              <a:t>) </a:t>
            </a:r>
            <a:r>
              <a:rPr lang="zh-CN" altLang="en-US" sz="2000" b="1" dirty="0" smtClean="0"/>
              <a:t>圆周</a:t>
            </a:r>
            <a:r>
              <a:rPr lang="zh-CN" altLang="en-US" sz="2000" b="1" dirty="0"/>
              <a:t>应限定在半径差等于</a:t>
            </a:r>
            <a:r>
              <a:rPr lang="en-US" altLang="zh-CN" sz="2000" b="1" dirty="0"/>
              <a:t>0. </a:t>
            </a:r>
            <a:r>
              <a:rPr lang="en-US" altLang="zh-CN" sz="2000" b="1" dirty="0" smtClean="0"/>
              <a:t>03mm</a:t>
            </a:r>
            <a:r>
              <a:rPr lang="zh-CN" altLang="en-US" sz="2000" b="1" dirty="0" smtClean="0"/>
              <a:t>的</a:t>
            </a:r>
            <a:r>
              <a:rPr lang="zh-CN" altLang="en-US" sz="2000" b="1" dirty="0"/>
              <a:t>两共面同心圆之间</a:t>
            </a:r>
            <a:r>
              <a:rPr lang="zh-CN" altLang="en-US" sz="2000" b="1" dirty="0" smtClean="0"/>
              <a:t>。</a:t>
            </a:r>
            <a:endParaRPr lang="zh-CN" altLang="en-US" sz="2000" b="1" dirty="0"/>
          </a:p>
        </p:txBody>
      </p:sp>
      <p:sp>
        <p:nvSpPr>
          <p:cNvPr id="3" name="矩形 2"/>
          <p:cNvSpPr/>
          <p:nvPr/>
        </p:nvSpPr>
        <p:spPr>
          <a:xfrm>
            <a:off x="4143372" y="4643446"/>
            <a:ext cx="4412615" cy="706755"/>
          </a:xfrm>
          <a:prstGeom prst="rect">
            <a:avLst/>
          </a:prstGeom>
        </p:spPr>
        <p:txBody>
          <a:bodyPr wrap="square">
            <a:spAutoFit/>
          </a:bodyPr>
          <a:lstStyle/>
          <a:p>
            <a:r>
              <a:rPr lang="zh-CN" altLang="en-US" sz="2000" b="1" dirty="0" smtClean="0"/>
              <a:t>         公差带</a:t>
            </a:r>
            <a:r>
              <a:rPr lang="zh-CN" altLang="en-US" sz="2000" b="1" dirty="0"/>
              <a:t>为在给定横截面</a:t>
            </a:r>
            <a:r>
              <a:rPr lang="zh-CN" altLang="en-US" sz="2000" b="1" dirty="0" smtClean="0"/>
              <a:t>内</a:t>
            </a:r>
            <a:r>
              <a:rPr lang="en-US" altLang="zh-CN" sz="2000" b="1" dirty="0" smtClean="0"/>
              <a:t>,</a:t>
            </a:r>
            <a:r>
              <a:rPr lang="zh-CN" altLang="en-US" sz="2000" b="1" dirty="0" smtClean="0">
                <a:solidFill>
                  <a:srgbClr val="0000CC"/>
                </a:solidFill>
              </a:rPr>
              <a:t>半径</a:t>
            </a:r>
            <a:r>
              <a:rPr lang="zh-CN" altLang="en-US" sz="2000" b="1" dirty="0">
                <a:solidFill>
                  <a:srgbClr val="0000CC"/>
                </a:solidFill>
              </a:rPr>
              <a:t>差等于公差</a:t>
            </a:r>
            <a:r>
              <a:rPr lang="zh-CN" altLang="en-US" sz="2000" b="1" dirty="0" smtClean="0">
                <a:solidFill>
                  <a:srgbClr val="0000CC"/>
                </a:solidFill>
              </a:rPr>
              <a:t>值</a:t>
            </a:r>
            <a:r>
              <a:rPr lang="en-US" altLang="zh-CN" sz="2000" b="1" i="1" u="sng" dirty="0" smtClean="0">
                <a:solidFill>
                  <a:srgbClr val="0000CC"/>
                </a:solidFill>
              </a:rPr>
              <a:t>t</a:t>
            </a:r>
            <a:r>
              <a:rPr lang="en-US" altLang="zh-CN" sz="2000" b="1" dirty="0" smtClean="0">
                <a:solidFill>
                  <a:srgbClr val="0000CC"/>
                </a:solidFill>
              </a:rPr>
              <a:t> </a:t>
            </a:r>
            <a:r>
              <a:rPr lang="zh-CN" altLang="en-US" sz="2000" b="1" dirty="0">
                <a:solidFill>
                  <a:srgbClr val="0000CC"/>
                </a:solidFill>
              </a:rPr>
              <a:t>的两个同心圆</a:t>
            </a:r>
            <a:r>
              <a:rPr lang="zh-CN" altLang="en-US" sz="2000" b="1" dirty="0"/>
              <a:t>所限定区域</a:t>
            </a:r>
            <a:r>
              <a:rPr lang="zh-CN" altLang="en-US" sz="2000" b="1" dirty="0" smtClean="0"/>
              <a:t>。</a:t>
            </a:r>
            <a:endParaRPr lang="zh-CN" altLang="en-US" sz="2000" b="1" dirty="0"/>
          </a:p>
        </p:txBody>
      </p:sp>
      <p:pic>
        <p:nvPicPr>
          <p:cNvPr id="70663" name="Picture 7"/>
          <p:cNvPicPr>
            <a:picLocks noChangeAspect="1" noChangeArrowheads="1"/>
          </p:cNvPicPr>
          <p:nvPr/>
        </p:nvPicPr>
        <p:blipFill>
          <a:blip r:embed="rId9">
            <a:extLst>
              <a:ext uri="{28A0092B-C50C-407E-A947-70E740481C1C}">
                <a14:useLocalDpi xmlns:a14="http://schemas.microsoft.com/office/drawing/2010/main" xmlns="" val="0"/>
              </a:ext>
            </a:extLst>
          </a:blip>
          <a:srcRect/>
          <a:stretch>
            <a:fillRect/>
          </a:stretch>
        </p:blipFill>
        <p:spPr bwMode="auto">
          <a:xfrm>
            <a:off x="4357686" y="5589240"/>
            <a:ext cx="4296410" cy="601345"/>
          </a:xfrm>
          <a:prstGeom prst="rect">
            <a:avLst/>
          </a:prstGeom>
          <a:noFill/>
          <a:ln w="28575">
            <a:solidFill>
              <a:srgbClr val="FF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2" name="椭圆 11"/>
          <p:cNvSpPr/>
          <p:nvPr/>
        </p:nvSpPr>
        <p:spPr bwMode="auto">
          <a:xfrm rot="635473">
            <a:off x="1661569" y="4080587"/>
            <a:ext cx="774000" cy="1785950"/>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3" name="椭圆 12"/>
          <p:cNvSpPr/>
          <p:nvPr/>
        </p:nvSpPr>
        <p:spPr bwMode="auto">
          <a:xfrm rot="635473">
            <a:off x="1734966" y="4235832"/>
            <a:ext cx="630000" cy="1476000"/>
          </a:xfrm>
          <a:prstGeom prst="ellipse">
            <a:avLst/>
          </a:prstGeom>
          <a:noFill/>
          <a:ln w="127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cxnSp>
        <p:nvCxnSpPr>
          <p:cNvPr id="15" name="直接连接符 14"/>
          <p:cNvCxnSpPr/>
          <p:nvPr/>
        </p:nvCxnSpPr>
        <p:spPr bwMode="auto">
          <a:xfrm rot="16200000" flipH="1">
            <a:off x="2473856" y="3854500"/>
            <a:ext cx="72000" cy="540000"/>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16" name="直接连接符 15"/>
          <p:cNvCxnSpPr/>
          <p:nvPr/>
        </p:nvCxnSpPr>
        <p:spPr bwMode="auto">
          <a:xfrm rot="16200000" flipH="1">
            <a:off x="2473822" y="4005549"/>
            <a:ext cx="72000" cy="576000"/>
          </a:xfrm>
          <a:prstGeom prst="line">
            <a:avLst/>
          </a:prstGeom>
          <a:solidFill>
            <a:schemeClr val="accent1"/>
          </a:solidFill>
          <a:ln w="9525" cap="flat" cmpd="sng" algn="ctr">
            <a:solidFill>
              <a:srgbClr val="FF0000"/>
            </a:solidFill>
            <a:prstDash val="solid"/>
            <a:round/>
            <a:headEnd type="none" w="med" len="med"/>
            <a:tailEnd type="none" w="med" len="med"/>
          </a:ln>
        </p:spPr>
      </p:cxnSp>
      <p:sp>
        <p:nvSpPr>
          <p:cNvPr id="18" name="TextBox 17"/>
          <p:cNvSpPr txBox="1"/>
          <p:nvPr/>
        </p:nvSpPr>
        <p:spPr>
          <a:xfrm rot="17112408">
            <a:off x="2513970" y="4039676"/>
            <a:ext cx="285752" cy="338554"/>
          </a:xfrm>
          <a:prstGeom prst="rect">
            <a:avLst/>
          </a:prstGeom>
          <a:noFill/>
        </p:spPr>
        <p:txBody>
          <a:bodyPr wrap="square" rtlCol="0">
            <a:spAutoFit/>
          </a:bodyPr>
          <a:lstStyle/>
          <a:p>
            <a:r>
              <a:rPr lang="en-US" altLang="zh-CN" sz="1600" b="1" dirty="0" smtClean="0">
                <a:solidFill>
                  <a:srgbClr val="FF0000"/>
                </a:solidFill>
              </a:rPr>
              <a:t>t</a:t>
            </a:r>
            <a:endParaRPr lang="zh-CN" altLang="en-US" sz="1600" b="1" dirty="0">
              <a:solidFill>
                <a:srgbClr val="FF0000"/>
              </a:solidFill>
            </a:endParaRPr>
          </a:p>
        </p:txBody>
      </p:sp>
      <p:sp>
        <p:nvSpPr>
          <p:cNvPr id="17" name="矩形 16"/>
          <p:cNvSpPr/>
          <p:nvPr/>
        </p:nvSpPr>
        <p:spPr>
          <a:xfrm>
            <a:off x="3786182" y="3721246"/>
            <a:ext cx="4786346" cy="707886"/>
          </a:xfrm>
          <a:prstGeom prst="rect">
            <a:avLst/>
          </a:prstGeom>
        </p:spPr>
        <p:txBody>
          <a:bodyPr wrap="square">
            <a:spAutoFit/>
          </a:bodyPr>
          <a:lstStyle/>
          <a:p>
            <a:r>
              <a:rPr lang="zh-CN" altLang="en-US" sz="2000" b="1" dirty="0" smtClean="0"/>
              <a:t>    此为</a:t>
            </a:r>
            <a:r>
              <a:rPr lang="zh-CN" altLang="en-US" sz="2000" b="1" dirty="0" smtClean="0">
                <a:solidFill>
                  <a:srgbClr val="0000CC"/>
                </a:solidFill>
              </a:rPr>
              <a:t>圆柱表面</a:t>
            </a:r>
            <a:r>
              <a:rPr lang="zh-CN" altLang="en-US" sz="2000" b="1" dirty="0" smtClean="0"/>
              <a:t>的</a:t>
            </a:r>
            <a:r>
              <a:rPr lang="zh-CN" altLang="en-US" sz="2000" b="1" dirty="0" smtClean="0">
                <a:solidFill>
                  <a:srgbClr val="FF0000"/>
                </a:solidFill>
              </a:rPr>
              <a:t>缺省应用方式</a:t>
            </a:r>
            <a:r>
              <a:rPr lang="zh-CN" altLang="en-US" sz="2000" b="1" dirty="0" smtClean="0"/>
              <a:t>， 对于</a:t>
            </a:r>
            <a:r>
              <a:rPr lang="zh-CN" altLang="en-US" sz="2000" b="1" dirty="0" smtClean="0">
                <a:solidFill>
                  <a:srgbClr val="0000CC"/>
                </a:solidFill>
              </a:rPr>
              <a:t>圆锥表面</a:t>
            </a:r>
            <a:r>
              <a:rPr lang="zh-CN" altLang="en-US" sz="2000" b="1" dirty="0" smtClean="0"/>
              <a:t>则应使用</a:t>
            </a:r>
            <a:r>
              <a:rPr lang="zh-CN" altLang="en-US" sz="2000" b="1" dirty="0" smtClean="0">
                <a:solidFill>
                  <a:srgbClr val="FF0000"/>
                </a:solidFill>
              </a:rPr>
              <a:t>方向要素框格进行</a:t>
            </a:r>
            <a:r>
              <a:rPr lang="zh-CN" altLang="en-US" sz="2000" b="1" dirty="0" smtClean="0"/>
              <a:t>标注。</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3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0658"/>
                                        </p:tgtEl>
                                        <p:attrNameLst>
                                          <p:attrName>style.visibility</p:attrName>
                                        </p:attrNameLst>
                                      </p:cBhvr>
                                      <p:to>
                                        <p:strVal val="visible"/>
                                      </p:to>
                                    </p:set>
                                    <p:anim calcmode="lin" valueType="num">
                                      <p:cBhvr additive="base">
                                        <p:cTn id="12" dur="500" fill="hold"/>
                                        <p:tgtEl>
                                          <p:spTgt spid="70658"/>
                                        </p:tgtEl>
                                        <p:attrNameLst>
                                          <p:attrName>ppt_x</p:attrName>
                                        </p:attrNameLst>
                                      </p:cBhvr>
                                      <p:tavLst>
                                        <p:tav tm="0">
                                          <p:val>
                                            <p:strVal val="0-#ppt_w/2"/>
                                          </p:val>
                                        </p:tav>
                                        <p:tav tm="100000">
                                          <p:val>
                                            <p:strVal val="#ppt_x"/>
                                          </p:val>
                                        </p:tav>
                                      </p:tavLst>
                                    </p:anim>
                                    <p:anim calcmode="lin" valueType="num">
                                      <p:cBhvr additive="base">
                                        <p:cTn id="13" dur="500" fill="hold"/>
                                        <p:tgtEl>
                                          <p:spTgt spid="7065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70659"/>
                                        </p:tgtEl>
                                        <p:attrNameLst>
                                          <p:attrName>style.visibility</p:attrName>
                                        </p:attrNameLst>
                                      </p:cBhvr>
                                      <p:to>
                                        <p:strVal val="visible"/>
                                      </p:to>
                                    </p:set>
                                    <p:animEffect transition="in" filter="wheel(1)">
                                      <p:cBhvr>
                                        <p:cTn id="18" dur="2000"/>
                                        <p:tgtEl>
                                          <p:spTgt spid="7065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1682"/>
                                        </p:tgtEl>
                                        <p:attrNameLst>
                                          <p:attrName>style.visibility</p:attrName>
                                        </p:attrNameLst>
                                      </p:cBhvr>
                                      <p:to>
                                        <p:strVal val="visible"/>
                                      </p:to>
                                    </p:set>
                                    <p:anim calcmode="lin" valueType="num">
                                      <p:cBhvr additive="base">
                                        <p:cTn id="23" dur="500" fill="hold"/>
                                        <p:tgtEl>
                                          <p:spTgt spid="71682"/>
                                        </p:tgtEl>
                                        <p:attrNameLst>
                                          <p:attrName>ppt_x</p:attrName>
                                        </p:attrNameLst>
                                      </p:cBhvr>
                                      <p:tavLst>
                                        <p:tav tm="0">
                                          <p:val>
                                            <p:strVal val="#ppt_x"/>
                                          </p:val>
                                        </p:tav>
                                        <p:tav tm="100000">
                                          <p:val>
                                            <p:strVal val="#ppt_x"/>
                                          </p:val>
                                        </p:tav>
                                      </p:tavLst>
                                    </p:anim>
                                    <p:anim calcmode="lin" valueType="num">
                                      <p:cBhvr additive="base">
                                        <p:cTn id="24" dur="500" fill="hold"/>
                                        <p:tgtEl>
                                          <p:spTgt spid="7168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up)">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70663"/>
                                        </p:tgtEl>
                                        <p:attrNameLst>
                                          <p:attrName>style.visibility</p:attrName>
                                        </p:attrNameLst>
                                      </p:cBhvr>
                                      <p:to>
                                        <p:strVal val="visible"/>
                                      </p:to>
                                    </p:set>
                                    <p:animEffect transition="in" filter="wipe(left)">
                                      <p:cBhvr>
                                        <p:cTn id="44" dur="500"/>
                                        <p:tgtEl>
                                          <p:spTgt spid="7066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left)">
                                      <p:cBhvr>
                                        <p:cTn id="49" dur="500"/>
                                        <p:tgtEl>
                                          <p:spTgt spid="16"/>
                                        </p:tgtEl>
                                      </p:cBhvr>
                                    </p:animEffect>
                                  </p:childTnLst>
                                </p:cTn>
                              </p:par>
                              <p:par>
                                <p:cTn id="50" presetID="22" presetClass="entr" presetSubtype="8"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500"/>
                                        <p:tgtEl>
                                          <p:spTgt spid="12"/>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left)">
                                      <p:cBhvr>
                                        <p:cTn id="58" dur="500"/>
                                        <p:tgtEl>
                                          <p:spTgt spid="1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wipe(down)">
                                      <p:cBhvr>
                                        <p:cTn id="6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2" grpId="0"/>
      <p:bldP spid="3" grpId="0"/>
      <p:bldP spid="12" grpId="0" animBg="1"/>
      <p:bldP spid="13" grpId="0" animBg="1"/>
      <p:bldP spid="18"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 name="Text Box 8"/>
          <p:cNvSpPr txBox="1">
            <a:spLocks noChangeArrowheads="1"/>
          </p:cNvSpPr>
          <p:nvPr/>
        </p:nvSpPr>
        <p:spPr bwMode="auto">
          <a:xfrm>
            <a:off x="395537" y="140383"/>
            <a:ext cx="512762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smtClean="0"/>
              <a:t>(4) </a:t>
            </a:r>
            <a:r>
              <a:rPr lang="zh-CN" altLang="en-US" sz="2800" b="1" dirty="0" smtClean="0"/>
              <a:t>圆柱度</a:t>
            </a:r>
            <a:r>
              <a:rPr lang="zh-CN" altLang="en-US" sz="2800" b="1" dirty="0" smtClean="0">
                <a:latin typeface="宋体" panose="02010600030101010101" pitchFamily="2" charset="-122"/>
              </a:rPr>
              <a:t>公差标注</a:t>
            </a:r>
            <a:r>
              <a:rPr lang="zh-CN" altLang="en-US" sz="2800" b="1" dirty="0" smtClean="0"/>
              <a:t> </a:t>
            </a:r>
            <a:endParaRPr lang="zh-CN" altLang="en-US" sz="2800" b="1" dirty="0"/>
          </a:p>
        </p:txBody>
      </p:sp>
      <p:sp>
        <p:nvSpPr>
          <p:cNvPr id="2" name="矩形 1"/>
          <p:cNvSpPr/>
          <p:nvPr/>
        </p:nvSpPr>
        <p:spPr>
          <a:xfrm>
            <a:off x="681674" y="1000108"/>
            <a:ext cx="8176606" cy="400110"/>
          </a:xfrm>
          <a:prstGeom prst="rect">
            <a:avLst/>
          </a:prstGeom>
        </p:spPr>
        <p:txBody>
          <a:bodyPr wrap="square">
            <a:spAutoFit/>
          </a:bodyPr>
          <a:lstStyle/>
          <a:p>
            <a:r>
              <a:rPr lang="zh-CN" altLang="en-US" sz="2000" b="1" dirty="0" smtClean="0"/>
              <a:t>提取</a:t>
            </a:r>
            <a:r>
              <a:rPr lang="en-US" altLang="zh-CN" sz="2000" b="1" dirty="0"/>
              <a:t>(</a:t>
            </a:r>
            <a:r>
              <a:rPr lang="zh-CN" altLang="en-US" sz="2000" b="1" dirty="0"/>
              <a:t>实际</a:t>
            </a:r>
            <a:r>
              <a:rPr lang="en-US" altLang="zh-CN" sz="2000" b="1" dirty="0"/>
              <a:t>) </a:t>
            </a:r>
            <a:r>
              <a:rPr lang="zh-CN" altLang="en-US" sz="2000" b="1" dirty="0"/>
              <a:t>圆柱表面应限定在</a:t>
            </a:r>
            <a:r>
              <a:rPr lang="zh-CN" altLang="en-US" sz="2000" b="1" dirty="0">
                <a:solidFill>
                  <a:srgbClr val="0070C0"/>
                </a:solidFill>
              </a:rPr>
              <a:t>半径差等于</a:t>
            </a:r>
            <a:r>
              <a:rPr lang="en-US" altLang="zh-CN" sz="2000" b="1" dirty="0">
                <a:solidFill>
                  <a:srgbClr val="0070C0"/>
                </a:solidFill>
              </a:rPr>
              <a:t>0.1 mm</a:t>
            </a:r>
            <a:r>
              <a:rPr lang="zh-CN" altLang="en-US" sz="2000" b="1" dirty="0" smtClean="0"/>
              <a:t>的</a:t>
            </a:r>
            <a:r>
              <a:rPr lang="zh-CN" altLang="en-US" sz="2000" b="1" dirty="0" smtClean="0">
                <a:solidFill>
                  <a:srgbClr val="FF0000"/>
                </a:solidFill>
              </a:rPr>
              <a:t>两</a:t>
            </a:r>
            <a:r>
              <a:rPr lang="zh-CN" altLang="en-US" sz="2000" b="1" dirty="0">
                <a:solidFill>
                  <a:srgbClr val="FF0000"/>
                </a:solidFill>
              </a:rPr>
              <a:t>同轴圆柱面</a:t>
            </a:r>
            <a:r>
              <a:rPr lang="zh-CN" altLang="en-US" sz="2000" b="1" dirty="0" smtClean="0"/>
              <a:t>之间。</a:t>
            </a:r>
            <a:endParaRPr lang="zh-CN" altLang="en-US" sz="2000" b="1" dirty="0"/>
          </a:p>
        </p:txBody>
      </p:sp>
      <p:sp>
        <p:nvSpPr>
          <p:cNvPr id="7" name="矩形 6"/>
          <p:cNvSpPr/>
          <p:nvPr/>
        </p:nvSpPr>
        <p:spPr>
          <a:xfrm>
            <a:off x="4857752" y="4643446"/>
            <a:ext cx="3211195" cy="1014730"/>
          </a:xfrm>
          <a:prstGeom prst="rect">
            <a:avLst/>
          </a:prstGeom>
        </p:spPr>
        <p:txBody>
          <a:bodyPr wrap="square">
            <a:spAutoFit/>
          </a:bodyPr>
          <a:lstStyle/>
          <a:p>
            <a:r>
              <a:rPr lang="zh-CN" altLang="en-US" sz="2000" b="1" dirty="0"/>
              <a:t>公差带为</a:t>
            </a:r>
            <a:r>
              <a:rPr lang="zh-CN" altLang="en-US" sz="2000" b="1" dirty="0">
                <a:solidFill>
                  <a:srgbClr val="0070C0"/>
                </a:solidFill>
              </a:rPr>
              <a:t>半径差等于公差值</a:t>
            </a:r>
            <a:r>
              <a:rPr lang="en-US" altLang="zh-CN" sz="2000" b="1" i="1" dirty="0">
                <a:solidFill>
                  <a:srgbClr val="0070C0"/>
                </a:solidFill>
              </a:rPr>
              <a:t>t </a:t>
            </a:r>
            <a:r>
              <a:rPr lang="zh-CN" altLang="en-US" sz="2000" b="1" dirty="0"/>
              <a:t>的</a:t>
            </a:r>
            <a:r>
              <a:rPr lang="zh-CN" altLang="en-US" sz="2000" b="1" dirty="0">
                <a:solidFill>
                  <a:srgbClr val="FF0000"/>
                </a:solidFill>
              </a:rPr>
              <a:t>两个同轴</a:t>
            </a:r>
            <a:r>
              <a:rPr lang="zh-CN" altLang="en-US" sz="2000" b="1" dirty="0" smtClean="0">
                <a:solidFill>
                  <a:srgbClr val="FF0000"/>
                </a:solidFill>
              </a:rPr>
              <a:t>圆柱面</a:t>
            </a:r>
            <a:r>
              <a:rPr lang="zh-CN" altLang="en-US" sz="2000" b="1" dirty="0"/>
              <a:t>所限定的</a:t>
            </a:r>
            <a:r>
              <a:rPr lang="zh-CN" altLang="en-US" sz="2000" b="1" dirty="0" smtClean="0"/>
              <a:t>区域。</a:t>
            </a:r>
            <a:endParaRPr lang="zh-CN" altLang="en-US" sz="2000" b="1" dirty="0"/>
          </a:p>
        </p:txBody>
      </p:sp>
      <p:pic>
        <p:nvPicPr>
          <p:cNvPr id="7168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1538" y="1758315"/>
            <a:ext cx="3471252" cy="19437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68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55515" y="1905002"/>
            <a:ext cx="3245509" cy="1809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nvGrpSpPr>
          <p:cNvPr id="12" name="组合 11"/>
          <p:cNvGrpSpPr/>
          <p:nvPr/>
        </p:nvGrpSpPr>
        <p:grpSpPr>
          <a:xfrm>
            <a:off x="1624570" y="4286256"/>
            <a:ext cx="2500330" cy="1571636"/>
            <a:chOff x="1428728" y="4214818"/>
            <a:chExt cx="2751194" cy="1721298"/>
          </a:xfrm>
        </p:grpSpPr>
        <p:pic>
          <p:nvPicPr>
            <p:cNvPr id="116738" name="Picture 2" descr="https://pic4.zhimg.com/80/v2-52933a1bf8bab70791f9a8cb3a5c26cf_720w.jpg"/>
            <p:cNvPicPr>
              <a:picLocks noChangeAspect="1" noChangeArrowheads="1"/>
            </p:cNvPicPr>
            <p:nvPr/>
          </p:nvPicPr>
          <p:blipFill>
            <a:blip r:embed="rId4"/>
            <a:srcRect l="40761" t="13496" r="2988" b="3598"/>
            <a:stretch>
              <a:fillRect/>
            </a:stretch>
          </p:blipFill>
          <p:spPr bwMode="auto">
            <a:xfrm>
              <a:off x="1428728" y="4214818"/>
              <a:ext cx="2751194" cy="1714512"/>
            </a:xfrm>
            <a:prstGeom prst="rect">
              <a:avLst/>
            </a:prstGeom>
            <a:noFill/>
          </p:spPr>
        </p:pic>
        <p:sp>
          <p:nvSpPr>
            <p:cNvPr id="11" name="矩形 10"/>
            <p:cNvSpPr/>
            <p:nvPr/>
          </p:nvSpPr>
          <p:spPr bwMode="auto">
            <a:xfrm>
              <a:off x="2963420" y="5578926"/>
              <a:ext cx="1214446" cy="35719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cxnSp>
        <p:nvCxnSpPr>
          <p:cNvPr id="14" name="直接连接符 13"/>
          <p:cNvCxnSpPr/>
          <p:nvPr/>
        </p:nvCxnSpPr>
        <p:spPr bwMode="auto">
          <a:xfrm rot="16200000" flipH="1">
            <a:off x="1608548" y="4989152"/>
            <a:ext cx="288000" cy="288000"/>
          </a:xfrm>
          <a:prstGeom prst="line">
            <a:avLst/>
          </a:prstGeom>
          <a:solidFill>
            <a:schemeClr val="accent1"/>
          </a:solidFill>
          <a:ln w="12700" cap="flat" cmpd="sng" algn="ctr">
            <a:solidFill>
              <a:schemeClr val="tx1"/>
            </a:solidFill>
            <a:prstDash val="solid"/>
            <a:round/>
            <a:headEnd type="none" w="med" len="med"/>
            <a:tailEnd type="none" w="med" len="med"/>
          </a:ln>
        </p:spPr>
      </p:cxnSp>
      <p:cxnSp>
        <p:nvCxnSpPr>
          <p:cNvPr id="16" name="直接箭头连接符 15"/>
          <p:cNvCxnSpPr/>
          <p:nvPr/>
        </p:nvCxnSpPr>
        <p:spPr bwMode="auto">
          <a:xfrm rot="16200000" flipH="1">
            <a:off x="1561244" y="4937310"/>
            <a:ext cx="144000" cy="144000"/>
          </a:xfrm>
          <a:prstGeom prst="straightConnector1">
            <a:avLst/>
          </a:prstGeom>
          <a:solidFill>
            <a:schemeClr val="accent1"/>
          </a:solidFill>
          <a:ln w="12700" cap="flat" cmpd="sng" algn="ctr">
            <a:solidFill>
              <a:schemeClr val="tx1"/>
            </a:solidFill>
            <a:prstDash val="solid"/>
            <a:round/>
            <a:headEnd type="none" w="med" len="med"/>
            <a:tailEnd type="triangle" w="med" len="med"/>
          </a:ln>
        </p:spPr>
      </p:cxnSp>
      <p:cxnSp>
        <p:nvCxnSpPr>
          <p:cNvPr id="17" name="直接箭头连接符 16"/>
          <p:cNvCxnSpPr/>
          <p:nvPr/>
        </p:nvCxnSpPr>
        <p:spPr bwMode="auto">
          <a:xfrm rot="5400000" flipH="1">
            <a:off x="1785918" y="5161984"/>
            <a:ext cx="144000" cy="144000"/>
          </a:xfrm>
          <a:prstGeom prst="straightConnector1">
            <a:avLst/>
          </a:prstGeom>
          <a:solidFill>
            <a:schemeClr val="accent1"/>
          </a:solidFill>
          <a:ln w="12700" cap="flat" cmpd="sng" algn="ctr">
            <a:solidFill>
              <a:schemeClr val="tx1"/>
            </a:solidFill>
            <a:prstDash val="solid"/>
            <a:round/>
            <a:headEnd type="none" w="med" len="med"/>
            <a:tailEnd type="triangle" w="med" len="med"/>
          </a:ln>
        </p:spPr>
      </p:cxnSp>
      <p:sp>
        <p:nvSpPr>
          <p:cNvPr id="18" name="TextBox 17"/>
          <p:cNvSpPr txBox="1"/>
          <p:nvPr/>
        </p:nvSpPr>
        <p:spPr>
          <a:xfrm>
            <a:off x="1509402" y="4624974"/>
            <a:ext cx="214314" cy="400110"/>
          </a:xfrm>
          <a:prstGeom prst="rect">
            <a:avLst/>
          </a:prstGeom>
          <a:noFill/>
        </p:spPr>
        <p:txBody>
          <a:bodyPr wrap="square" rtlCol="0">
            <a:spAutoFit/>
          </a:bodyPr>
          <a:lstStyle/>
          <a:p>
            <a:r>
              <a:rPr lang="en-US" altLang="zh-CN" sz="2000" dirty="0" smtClean="0"/>
              <a:t>t</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3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71682"/>
                                        </p:tgtEl>
                                        <p:attrNameLst>
                                          <p:attrName>style.visibility</p:attrName>
                                        </p:attrNameLst>
                                      </p:cBhvr>
                                      <p:to>
                                        <p:strVal val="visible"/>
                                      </p:to>
                                    </p:set>
                                    <p:anim calcmode="lin" valueType="num">
                                      <p:cBhvr additive="base">
                                        <p:cTn id="17" dur="500" fill="hold"/>
                                        <p:tgtEl>
                                          <p:spTgt spid="71682"/>
                                        </p:tgtEl>
                                        <p:attrNameLst>
                                          <p:attrName>ppt_x</p:attrName>
                                        </p:attrNameLst>
                                      </p:cBhvr>
                                      <p:tavLst>
                                        <p:tav tm="0">
                                          <p:val>
                                            <p:strVal val="0-#ppt_w/2"/>
                                          </p:val>
                                        </p:tav>
                                        <p:tav tm="100000">
                                          <p:val>
                                            <p:strVal val="#ppt_x"/>
                                          </p:val>
                                        </p:tav>
                                      </p:tavLst>
                                    </p:anim>
                                    <p:anim calcmode="lin" valueType="num">
                                      <p:cBhvr additive="base">
                                        <p:cTn id="18" dur="500" fill="hold"/>
                                        <p:tgtEl>
                                          <p:spTgt spid="7168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1" presetClass="entr" presetSubtype="2" fill="hold" nodeType="clickEffect">
                                  <p:stCondLst>
                                    <p:cond delay="0"/>
                                  </p:stCondLst>
                                  <p:childTnLst>
                                    <p:set>
                                      <p:cBhvr>
                                        <p:cTn id="22" dur="1" fill="hold">
                                          <p:stCondLst>
                                            <p:cond delay="0"/>
                                          </p:stCondLst>
                                        </p:cTn>
                                        <p:tgtEl>
                                          <p:spTgt spid="71683"/>
                                        </p:tgtEl>
                                        <p:attrNameLst>
                                          <p:attrName>style.visibility</p:attrName>
                                        </p:attrNameLst>
                                      </p:cBhvr>
                                      <p:to>
                                        <p:strVal val="visible"/>
                                      </p:to>
                                    </p:set>
                                    <p:animEffect transition="in" filter="wheel(2)">
                                      <p:cBhvr>
                                        <p:cTn id="23" dur="2000"/>
                                        <p:tgtEl>
                                          <p:spTgt spid="7168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par>
                                <p:cTn id="32" presetID="22" presetClass="entr" presetSubtype="8"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500"/>
                                        <p:tgtEl>
                                          <p:spTgt spid="16"/>
                                        </p:tgtEl>
                                      </p:cBhvr>
                                    </p:animEffect>
                                  </p:childTnLst>
                                </p:cTn>
                              </p:par>
                              <p:par>
                                <p:cTn id="35" presetID="22" presetClass="entr" presetSubtype="8"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left)">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left)">
                                      <p:cBhvr>
                                        <p:cTn id="4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2" grpId="0"/>
      <p:bldP spid="7"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3" name="Text Box 5"/>
          <p:cNvSpPr txBox="1">
            <a:spLocks noChangeArrowheads="1"/>
          </p:cNvSpPr>
          <p:nvPr/>
        </p:nvSpPr>
        <p:spPr bwMode="auto">
          <a:xfrm>
            <a:off x="467545" y="164637"/>
            <a:ext cx="344487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2. </a:t>
            </a:r>
            <a:r>
              <a:rPr lang="zh-CN" altLang="en-US" sz="2800" b="1" dirty="0"/>
              <a:t>方向公差</a:t>
            </a:r>
          </a:p>
        </p:txBody>
      </p:sp>
      <p:sp>
        <p:nvSpPr>
          <p:cNvPr id="104454" name="Text Box 6"/>
          <p:cNvSpPr txBox="1">
            <a:spLocks noChangeArrowheads="1"/>
          </p:cNvSpPr>
          <p:nvPr/>
        </p:nvSpPr>
        <p:spPr bwMode="auto">
          <a:xfrm>
            <a:off x="857224" y="885750"/>
            <a:ext cx="74676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方向公差带是控制被测要素为</a:t>
            </a:r>
            <a:r>
              <a:rPr lang="zh-CN" altLang="en-US" sz="2000" b="1" dirty="0">
                <a:solidFill>
                  <a:srgbClr val="0000CC"/>
                </a:solidFill>
              </a:rPr>
              <a:t>线</a:t>
            </a:r>
            <a:r>
              <a:rPr lang="zh-CN" altLang="en-US" sz="2000" b="1" dirty="0"/>
              <a:t>或</a:t>
            </a:r>
            <a:r>
              <a:rPr lang="zh-CN" altLang="en-US" sz="2000" b="1" dirty="0">
                <a:solidFill>
                  <a:srgbClr val="0000CC"/>
                </a:solidFill>
              </a:rPr>
              <a:t>面</a:t>
            </a:r>
            <a:r>
              <a:rPr lang="zh-CN" altLang="en-US" sz="2000" b="1" dirty="0"/>
              <a:t>。</a:t>
            </a:r>
          </a:p>
        </p:txBody>
      </p:sp>
      <p:sp>
        <p:nvSpPr>
          <p:cNvPr id="104455" name="Text Box 7"/>
          <p:cNvSpPr txBox="1">
            <a:spLocks noChangeArrowheads="1"/>
          </p:cNvSpPr>
          <p:nvPr/>
        </p:nvSpPr>
        <p:spPr bwMode="auto">
          <a:xfrm>
            <a:off x="1043608" y="5309725"/>
            <a:ext cx="676875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a:t>方向公差有</a:t>
            </a:r>
            <a:r>
              <a:rPr lang="zh-CN" altLang="en-US" sz="2000" b="1" dirty="0">
                <a:solidFill>
                  <a:srgbClr val="00B0F0"/>
                </a:solidFill>
                <a:effectLst>
                  <a:outerShdw blurRad="38100" dist="38100" dir="2700000" algn="tl">
                    <a:srgbClr val="000000">
                      <a:alpha val="43137"/>
                    </a:srgbClr>
                  </a:outerShdw>
                </a:effectLst>
              </a:rPr>
              <a:t>平行度</a:t>
            </a:r>
            <a:r>
              <a:rPr lang="zh-CN" altLang="en-US" sz="2000" b="1" dirty="0"/>
              <a:t>、</a:t>
            </a:r>
            <a:r>
              <a:rPr lang="zh-CN" altLang="en-US" sz="2000" b="1" dirty="0">
                <a:solidFill>
                  <a:srgbClr val="00B0F0"/>
                </a:solidFill>
                <a:effectLst>
                  <a:outerShdw blurRad="38100" dist="38100" dir="2700000" algn="tl">
                    <a:srgbClr val="000000">
                      <a:alpha val="43137"/>
                    </a:srgbClr>
                  </a:outerShdw>
                </a:effectLst>
              </a:rPr>
              <a:t>垂直度</a:t>
            </a:r>
            <a:r>
              <a:rPr lang="zh-CN" altLang="en-US" sz="2000" b="1" dirty="0"/>
              <a:t>和</a:t>
            </a:r>
            <a:r>
              <a:rPr lang="zh-CN" altLang="en-US" sz="2000" b="1" dirty="0">
                <a:solidFill>
                  <a:srgbClr val="00B0F0"/>
                </a:solidFill>
                <a:effectLst>
                  <a:outerShdw blurRad="38100" dist="38100" dir="2700000" algn="tl">
                    <a:srgbClr val="000000">
                      <a:alpha val="43137"/>
                    </a:srgbClr>
                  </a:outerShdw>
                </a:effectLst>
              </a:rPr>
              <a:t>倾斜度</a:t>
            </a:r>
            <a:r>
              <a:rPr lang="zh-CN" altLang="en-US" sz="2000" b="1" dirty="0"/>
              <a:t>等主要几何特征。</a:t>
            </a:r>
          </a:p>
        </p:txBody>
      </p:sp>
      <p:sp>
        <p:nvSpPr>
          <p:cNvPr id="104456" name="Text Box 8"/>
          <p:cNvSpPr txBox="1">
            <a:spLocks noChangeArrowheads="1"/>
          </p:cNvSpPr>
          <p:nvPr/>
        </p:nvSpPr>
        <p:spPr bwMode="auto">
          <a:xfrm>
            <a:off x="335364" y="1312119"/>
            <a:ext cx="8380040"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000" b="1" dirty="0">
                <a:solidFill>
                  <a:srgbClr val="FF0000"/>
                </a:solidFill>
              </a:rPr>
              <a:t>        </a:t>
            </a:r>
            <a:r>
              <a:rPr lang="zh-CN" altLang="en-US" sz="2000" b="1" dirty="0">
                <a:solidFill>
                  <a:srgbClr val="FF0000"/>
                </a:solidFill>
              </a:rPr>
              <a:t>方向公差</a:t>
            </a:r>
            <a:r>
              <a:rPr lang="zh-CN" altLang="en-US" sz="2000" b="1" dirty="0"/>
              <a:t>是指实际关联要素</a:t>
            </a:r>
            <a:r>
              <a:rPr lang="zh-CN" altLang="en-US" sz="2000" b="1" dirty="0">
                <a:solidFill>
                  <a:srgbClr val="FF0000"/>
                </a:solidFill>
              </a:rPr>
              <a:t>相对基准要素</a:t>
            </a:r>
            <a:r>
              <a:rPr lang="zh-CN" altLang="en-US" sz="2000" b="1" dirty="0"/>
              <a:t>的理想</a:t>
            </a:r>
            <a:r>
              <a:rPr lang="zh-CN" altLang="en-US" sz="2000" b="1" dirty="0" smtClean="0"/>
              <a:t>方向的</a:t>
            </a:r>
            <a:r>
              <a:rPr lang="zh-CN" altLang="en-US" sz="2000" b="1" dirty="0"/>
              <a:t>允许变动量。因此，方向公差有</a:t>
            </a:r>
            <a:r>
              <a:rPr lang="zh-CN" altLang="en-US" sz="2000" b="1" dirty="0">
                <a:solidFill>
                  <a:srgbClr val="00B050"/>
                </a:solidFill>
                <a:effectLst>
                  <a:outerShdw blurRad="38100" dist="38100" dir="2700000" algn="tl">
                    <a:srgbClr val="000000">
                      <a:alpha val="43137"/>
                    </a:srgbClr>
                  </a:outerShdw>
                </a:effectLst>
              </a:rPr>
              <a:t>基准</a:t>
            </a:r>
            <a:r>
              <a:rPr lang="zh-CN" altLang="en-US" sz="2000" b="1" dirty="0"/>
              <a:t>。</a:t>
            </a:r>
          </a:p>
        </p:txBody>
      </p:sp>
      <p:grpSp>
        <p:nvGrpSpPr>
          <p:cNvPr id="104468" name="Group 20"/>
          <p:cNvGrpSpPr/>
          <p:nvPr/>
        </p:nvGrpSpPr>
        <p:grpSpPr bwMode="auto">
          <a:xfrm>
            <a:off x="1337713" y="2743200"/>
            <a:ext cx="1362079" cy="1981200"/>
            <a:chOff x="630" y="1728"/>
            <a:chExt cx="858" cy="1248"/>
          </a:xfrm>
        </p:grpSpPr>
        <p:sp>
          <p:nvSpPr>
            <p:cNvPr id="14354" name="Text Box 9"/>
            <p:cNvSpPr txBox="1">
              <a:spLocks noChangeArrowheads="1"/>
            </p:cNvSpPr>
            <p:nvPr/>
          </p:nvSpPr>
          <p:spPr bwMode="auto">
            <a:xfrm>
              <a:off x="630" y="2171"/>
              <a:ext cx="590"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dirty="0"/>
                <a:t>基  准 </a:t>
              </a:r>
            </a:p>
          </p:txBody>
        </p:sp>
        <p:sp>
          <p:nvSpPr>
            <p:cNvPr id="14355" name="AutoShape 10"/>
            <p:cNvSpPr/>
            <p:nvPr/>
          </p:nvSpPr>
          <p:spPr bwMode="auto">
            <a:xfrm>
              <a:off x="1152" y="1728"/>
              <a:ext cx="336" cy="1248"/>
            </a:xfrm>
            <a:prstGeom prst="leftBrace">
              <a:avLst>
                <a:gd name="adj1" fmla="val 30952"/>
                <a:gd name="adj2" fmla="val 50000"/>
              </a:avLst>
            </a:prstGeom>
            <a:noFill/>
            <a:ln w="38100">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grpSp>
      <p:grpSp>
        <p:nvGrpSpPr>
          <p:cNvPr id="104469" name="Group 21"/>
          <p:cNvGrpSpPr/>
          <p:nvPr/>
        </p:nvGrpSpPr>
        <p:grpSpPr bwMode="auto">
          <a:xfrm>
            <a:off x="2772398" y="2438400"/>
            <a:ext cx="928689" cy="990600"/>
            <a:chOff x="1719" y="1536"/>
            <a:chExt cx="585" cy="624"/>
          </a:xfrm>
        </p:grpSpPr>
        <p:sp>
          <p:nvSpPr>
            <p:cNvPr id="14352" name="Text Box 11"/>
            <p:cNvSpPr txBox="1">
              <a:spLocks noChangeArrowheads="1"/>
            </p:cNvSpPr>
            <p:nvPr/>
          </p:nvSpPr>
          <p:spPr bwMode="auto">
            <a:xfrm>
              <a:off x="1719" y="1680"/>
              <a:ext cx="346"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dirty="0">
                  <a:solidFill>
                    <a:srgbClr val="FF0000"/>
                  </a:solidFill>
                </a:rPr>
                <a:t>面</a:t>
              </a:r>
              <a:r>
                <a:rPr lang="zh-CN" altLang="en-US" sz="2000" dirty="0"/>
                <a:t> </a:t>
              </a:r>
            </a:p>
          </p:txBody>
        </p:sp>
        <p:sp>
          <p:nvSpPr>
            <p:cNvPr id="14353" name="AutoShape 13"/>
            <p:cNvSpPr/>
            <p:nvPr/>
          </p:nvSpPr>
          <p:spPr bwMode="auto">
            <a:xfrm>
              <a:off x="2064" y="1536"/>
              <a:ext cx="240" cy="624"/>
            </a:xfrm>
            <a:prstGeom prst="leftBrace">
              <a:avLst>
                <a:gd name="adj1" fmla="val 21667"/>
                <a:gd name="adj2" fmla="val 50000"/>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grpSp>
      <p:sp>
        <p:nvSpPr>
          <p:cNvPr id="104462" name="Text Box 14"/>
          <p:cNvSpPr txBox="1">
            <a:spLocks noChangeArrowheads="1"/>
          </p:cNvSpPr>
          <p:nvPr/>
        </p:nvSpPr>
        <p:spPr bwMode="auto">
          <a:xfrm>
            <a:off x="3733802" y="2209800"/>
            <a:ext cx="4799013"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t>① </a:t>
            </a:r>
            <a:r>
              <a:rPr lang="zh-CN" altLang="en-US" sz="2000" b="1" dirty="0"/>
              <a:t>被测要素</a:t>
            </a:r>
            <a:r>
              <a:rPr lang="zh-CN" altLang="en-US" sz="2000" b="1" dirty="0">
                <a:solidFill>
                  <a:srgbClr val="00B050"/>
                </a:solidFill>
              </a:rPr>
              <a:t>为面</a:t>
            </a:r>
            <a:r>
              <a:rPr lang="zh-CN" altLang="en-US" sz="2000" b="1" dirty="0"/>
              <a:t>对</a:t>
            </a:r>
            <a:r>
              <a:rPr lang="zh-CN" altLang="en-US" sz="2000" b="1" dirty="0">
                <a:solidFill>
                  <a:srgbClr val="FF0000"/>
                </a:solidFill>
              </a:rPr>
              <a:t>基准面</a:t>
            </a:r>
            <a:endParaRPr lang="zh-CN" altLang="en-US" sz="2000" dirty="0"/>
          </a:p>
        </p:txBody>
      </p:sp>
      <p:sp>
        <p:nvSpPr>
          <p:cNvPr id="104463" name="Text Box 15"/>
          <p:cNvSpPr txBox="1">
            <a:spLocks noChangeArrowheads="1"/>
          </p:cNvSpPr>
          <p:nvPr/>
        </p:nvSpPr>
        <p:spPr bwMode="auto">
          <a:xfrm>
            <a:off x="3733800" y="3138488"/>
            <a:ext cx="451008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t>② </a:t>
            </a:r>
            <a:r>
              <a:rPr lang="zh-CN" altLang="en-US" sz="2000" b="1" dirty="0"/>
              <a:t>被测要素</a:t>
            </a:r>
            <a:r>
              <a:rPr lang="zh-CN" altLang="en-US" sz="2000" b="1" dirty="0">
                <a:solidFill>
                  <a:srgbClr val="00B050"/>
                </a:solidFill>
              </a:rPr>
              <a:t>为线</a:t>
            </a:r>
            <a:r>
              <a:rPr lang="zh-CN" altLang="en-US" sz="2000" b="1" dirty="0"/>
              <a:t>对</a:t>
            </a:r>
            <a:r>
              <a:rPr lang="zh-CN" altLang="en-US" sz="2000" b="1" dirty="0">
                <a:solidFill>
                  <a:srgbClr val="FF0000"/>
                </a:solidFill>
              </a:rPr>
              <a:t>基准面</a:t>
            </a:r>
            <a:endParaRPr lang="zh-CN" altLang="en-US" sz="2000" dirty="0"/>
          </a:p>
        </p:txBody>
      </p:sp>
      <p:sp>
        <p:nvSpPr>
          <p:cNvPr id="104464" name="Text Box 16"/>
          <p:cNvSpPr txBox="1">
            <a:spLocks noChangeArrowheads="1"/>
          </p:cNvSpPr>
          <p:nvPr/>
        </p:nvSpPr>
        <p:spPr bwMode="auto">
          <a:xfrm>
            <a:off x="3733800" y="3886200"/>
            <a:ext cx="451008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t>③ </a:t>
            </a:r>
            <a:r>
              <a:rPr lang="zh-CN" altLang="en-US" sz="2000" b="1" dirty="0"/>
              <a:t>被测要素</a:t>
            </a:r>
            <a:r>
              <a:rPr lang="zh-CN" altLang="en-US" sz="2000" b="1" dirty="0">
                <a:solidFill>
                  <a:srgbClr val="00B050"/>
                </a:solidFill>
              </a:rPr>
              <a:t>为面</a:t>
            </a:r>
            <a:r>
              <a:rPr lang="zh-CN" altLang="en-US" sz="2000" b="1" dirty="0"/>
              <a:t>对</a:t>
            </a:r>
            <a:r>
              <a:rPr lang="zh-CN" altLang="en-US" sz="2000" b="1" dirty="0">
                <a:solidFill>
                  <a:srgbClr val="FF0000"/>
                </a:solidFill>
              </a:rPr>
              <a:t>基准线</a:t>
            </a:r>
            <a:endParaRPr lang="zh-CN" altLang="en-US" sz="2000" dirty="0"/>
          </a:p>
        </p:txBody>
      </p:sp>
      <p:grpSp>
        <p:nvGrpSpPr>
          <p:cNvPr id="104470" name="Group 22"/>
          <p:cNvGrpSpPr/>
          <p:nvPr/>
        </p:nvGrpSpPr>
        <p:grpSpPr bwMode="auto">
          <a:xfrm>
            <a:off x="2797793" y="4114800"/>
            <a:ext cx="903288" cy="914400"/>
            <a:chOff x="1735" y="2592"/>
            <a:chExt cx="569" cy="576"/>
          </a:xfrm>
        </p:grpSpPr>
        <p:sp>
          <p:nvSpPr>
            <p:cNvPr id="14350" name="Text Box 12"/>
            <p:cNvSpPr txBox="1">
              <a:spLocks noChangeArrowheads="1"/>
            </p:cNvSpPr>
            <p:nvPr/>
          </p:nvSpPr>
          <p:spPr bwMode="auto">
            <a:xfrm>
              <a:off x="1735" y="2688"/>
              <a:ext cx="301"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dirty="0">
                  <a:solidFill>
                    <a:srgbClr val="FF0000"/>
                  </a:solidFill>
                </a:rPr>
                <a:t>线</a:t>
              </a:r>
              <a:r>
                <a:rPr lang="zh-CN" altLang="en-US" sz="2000" dirty="0"/>
                <a:t> </a:t>
              </a:r>
            </a:p>
          </p:txBody>
        </p:sp>
        <p:sp>
          <p:nvSpPr>
            <p:cNvPr id="14351" name="AutoShape 17"/>
            <p:cNvSpPr/>
            <p:nvPr/>
          </p:nvSpPr>
          <p:spPr bwMode="auto">
            <a:xfrm>
              <a:off x="2064" y="2592"/>
              <a:ext cx="240" cy="576"/>
            </a:xfrm>
            <a:prstGeom prst="leftBrace">
              <a:avLst>
                <a:gd name="adj1" fmla="val 20000"/>
                <a:gd name="adj2" fmla="val 50000"/>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grpSp>
      <p:sp>
        <p:nvSpPr>
          <p:cNvPr id="104466" name="Text Box 18"/>
          <p:cNvSpPr txBox="1">
            <a:spLocks noChangeArrowheads="1"/>
          </p:cNvSpPr>
          <p:nvPr/>
        </p:nvSpPr>
        <p:spPr bwMode="auto">
          <a:xfrm>
            <a:off x="3733802" y="4648200"/>
            <a:ext cx="4583113"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t>④ </a:t>
            </a:r>
            <a:r>
              <a:rPr lang="zh-CN" altLang="en-US" sz="2000" b="1" dirty="0"/>
              <a:t>被测要素</a:t>
            </a:r>
            <a:r>
              <a:rPr lang="zh-CN" altLang="en-US" sz="2000" b="1" dirty="0">
                <a:solidFill>
                  <a:srgbClr val="00B050"/>
                </a:solidFill>
              </a:rPr>
              <a:t>为线</a:t>
            </a:r>
            <a:r>
              <a:rPr lang="zh-CN" altLang="en-US" sz="2000" b="1" dirty="0"/>
              <a:t>对</a:t>
            </a:r>
            <a:r>
              <a:rPr lang="zh-CN" altLang="en-US" sz="2000" b="1" dirty="0">
                <a:solidFill>
                  <a:srgbClr val="FF0000"/>
                </a:solidFill>
              </a:rPr>
              <a:t>基准线</a:t>
            </a:r>
            <a:endParaRPr lang="zh-CN" altLang="en-US" sz="2000" dirty="0"/>
          </a:p>
        </p:txBody>
      </p:sp>
      <p:cxnSp>
        <p:nvCxnSpPr>
          <p:cNvPr id="20" name="直接连接符 19"/>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24" name="组合 23"/>
          <p:cNvGrpSpPr/>
          <p:nvPr/>
        </p:nvGrpSpPr>
        <p:grpSpPr>
          <a:xfrm>
            <a:off x="2663800" y="5935741"/>
            <a:ext cx="252016" cy="240000"/>
            <a:chOff x="2663800" y="4451806"/>
            <a:chExt cx="252016" cy="180000"/>
          </a:xfrm>
        </p:grpSpPr>
        <p:cxnSp>
          <p:nvCxnSpPr>
            <p:cNvPr id="22" name="直接连接符 21"/>
            <p:cNvCxnSpPr/>
            <p:nvPr/>
          </p:nvCxnSpPr>
          <p:spPr bwMode="auto">
            <a:xfrm flipH="1">
              <a:off x="2663800" y="4451806"/>
              <a:ext cx="108000" cy="18000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3" name="直接连接符 22"/>
            <p:cNvCxnSpPr/>
            <p:nvPr/>
          </p:nvCxnSpPr>
          <p:spPr bwMode="auto">
            <a:xfrm flipH="1">
              <a:off x="2807816" y="4451806"/>
              <a:ext cx="108000" cy="18000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28" name="组合 27"/>
          <p:cNvGrpSpPr/>
          <p:nvPr/>
        </p:nvGrpSpPr>
        <p:grpSpPr>
          <a:xfrm>
            <a:off x="3667288" y="5925277"/>
            <a:ext cx="216024" cy="288032"/>
            <a:chOff x="3667288" y="4443958"/>
            <a:chExt cx="216024" cy="216024"/>
          </a:xfrm>
        </p:grpSpPr>
        <p:cxnSp>
          <p:nvCxnSpPr>
            <p:cNvPr id="26" name="直接连接符 25"/>
            <p:cNvCxnSpPr/>
            <p:nvPr/>
          </p:nvCxnSpPr>
          <p:spPr bwMode="auto">
            <a:xfrm>
              <a:off x="3779912" y="4443958"/>
              <a:ext cx="0" cy="216024"/>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7" name="直接连接符 26"/>
            <p:cNvCxnSpPr/>
            <p:nvPr/>
          </p:nvCxnSpPr>
          <p:spPr bwMode="auto">
            <a:xfrm rot="5400000">
              <a:off x="3775300" y="4551970"/>
              <a:ext cx="0" cy="216024"/>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33" name="组合 32"/>
          <p:cNvGrpSpPr/>
          <p:nvPr/>
        </p:nvGrpSpPr>
        <p:grpSpPr>
          <a:xfrm>
            <a:off x="4716016" y="5940973"/>
            <a:ext cx="227796" cy="240000"/>
            <a:chOff x="4716016" y="4443958"/>
            <a:chExt cx="227796" cy="180000"/>
          </a:xfrm>
        </p:grpSpPr>
        <p:cxnSp>
          <p:nvCxnSpPr>
            <p:cNvPr id="30" name="直接连接符 29"/>
            <p:cNvCxnSpPr/>
            <p:nvPr/>
          </p:nvCxnSpPr>
          <p:spPr bwMode="auto">
            <a:xfrm flipV="1">
              <a:off x="4716016" y="4443958"/>
              <a:ext cx="180000" cy="18000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1" name="直接连接符 30"/>
            <p:cNvCxnSpPr/>
            <p:nvPr/>
          </p:nvCxnSpPr>
          <p:spPr bwMode="auto">
            <a:xfrm flipV="1">
              <a:off x="4727788" y="4623290"/>
              <a:ext cx="216024"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04453"/>
                                        </p:tgtEl>
                                        <p:attrNameLst>
                                          <p:attrName>style.visibility</p:attrName>
                                        </p:attrNameLst>
                                      </p:cBhvr>
                                      <p:to>
                                        <p:strVal val="visible"/>
                                      </p:to>
                                    </p:set>
                                    <p:animEffect transition="in" filter="wipe(left)">
                                      <p:cBhvr>
                                        <p:cTn id="7" dur="300"/>
                                        <p:tgtEl>
                                          <p:spTgt spid="1044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04454"/>
                                        </p:tgtEl>
                                        <p:attrNameLst>
                                          <p:attrName>style.visibility</p:attrName>
                                        </p:attrNameLst>
                                      </p:cBhvr>
                                      <p:to>
                                        <p:strVal val="visible"/>
                                      </p:to>
                                    </p:set>
                                    <p:animEffect transition="in" filter="wipe(left)">
                                      <p:cBhvr>
                                        <p:cTn id="12" dur="300"/>
                                        <p:tgtEl>
                                          <p:spTgt spid="1044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04456"/>
                                        </p:tgtEl>
                                        <p:attrNameLst>
                                          <p:attrName>style.visibility</p:attrName>
                                        </p:attrNameLst>
                                      </p:cBhvr>
                                      <p:to>
                                        <p:strVal val="visible"/>
                                      </p:to>
                                    </p:set>
                                    <p:animEffect transition="in" filter="wipe(left)">
                                      <p:cBhvr>
                                        <p:cTn id="17" dur="300"/>
                                        <p:tgtEl>
                                          <p:spTgt spid="1044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4468"/>
                                        </p:tgtEl>
                                        <p:attrNameLst>
                                          <p:attrName>style.visibility</p:attrName>
                                        </p:attrNameLst>
                                      </p:cBhvr>
                                      <p:to>
                                        <p:strVal val="visible"/>
                                      </p:to>
                                    </p:set>
                                    <p:animEffect transition="in" filter="wipe(left)">
                                      <p:cBhvr>
                                        <p:cTn id="22" dur="2000"/>
                                        <p:tgtEl>
                                          <p:spTgt spid="10446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4469"/>
                                        </p:tgtEl>
                                        <p:attrNameLst>
                                          <p:attrName>style.visibility</p:attrName>
                                        </p:attrNameLst>
                                      </p:cBhvr>
                                      <p:to>
                                        <p:strVal val="visible"/>
                                      </p:to>
                                    </p:set>
                                    <p:animEffect transition="in" filter="wipe(left)">
                                      <p:cBhvr>
                                        <p:cTn id="27" dur="2000"/>
                                        <p:tgtEl>
                                          <p:spTgt spid="10446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04462"/>
                                        </p:tgtEl>
                                        <p:attrNameLst>
                                          <p:attrName>style.visibility</p:attrName>
                                        </p:attrNameLst>
                                      </p:cBhvr>
                                      <p:to>
                                        <p:strVal val="visible"/>
                                      </p:to>
                                    </p:set>
                                    <p:animEffect transition="in" filter="wipe(left)">
                                      <p:cBhvr>
                                        <p:cTn id="32" dur="300"/>
                                        <p:tgtEl>
                                          <p:spTgt spid="10446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104463"/>
                                        </p:tgtEl>
                                        <p:attrNameLst>
                                          <p:attrName>style.visibility</p:attrName>
                                        </p:attrNameLst>
                                      </p:cBhvr>
                                      <p:to>
                                        <p:strVal val="visible"/>
                                      </p:to>
                                    </p:set>
                                    <p:animEffect transition="in" filter="wipe(left)">
                                      <p:cBhvr>
                                        <p:cTn id="37" dur="300"/>
                                        <p:tgtEl>
                                          <p:spTgt spid="10446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4470"/>
                                        </p:tgtEl>
                                        <p:attrNameLst>
                                          <p:attrName>style.visibility</p:attrName>
                                        </p:attrNameLst>
                                      </p:cBhvr>
                                      <p:to>
                                        <p:strVal val="visible"/>
                                      </p:to>
                                    </p:set>
                                    <p:animEffect transition="in" filter="wipe(left)">
                                      <p:cBhvr>
                                        <p:cTn id="42" dur="2000"/>
                                        <p:tgtEl>
                                          <p:spTgt spid="10447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104464"/>
                                        </p:tgtEl>
                                        <p:attrNameLst>
                                          <p:attrName>style.visibility</p:attrName>
                                        </p:attrNameLst>
                                      </p:cBhvr>
                                      <p:to>
                                        <p:strVal val="visible"/>
                                      </p:to>
                                    </p:set>
                                    <p:animEffect transition="in" filter="wipe(left)">
                                      <p:cBhvr>
                                        <p:cTn id="47" dur="300"/>
                                        <p:tgtEl>
                                          <p:spTgt spid="10446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104466"/>
                                        </p:tgtEl>
                                        <p:attrNameLst>
                                          <p:attrName>style.visibility</p:attrName>
                                        </p:attrNameLst>
                                      </p:cBhvr>
                                      <p:to>
                                        <p:strVal val="visible"/>
                                      </p:to>
                                    </p:set>
                                    <p:animEffect transition="in" filter="wipe(left)">
                                      <p:cBhvr>
                                        <p:cTn id="52" dur="300"/>
                                        <p:tgtEl>
                                          <p:spTgt spid="10446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wd">
                                    <p:tmPct val="100000"/>
                                  </p:iterate>
                                  <p:childTnLst>
                                    <p:set>
                                      <p:cBhvr>
                                        <p:cTn id="56" dur="1" fill="hold">
                                          <p:stCondLst>
                                            <p:cond delay="0"/>
                                          </p:stCondLst>
                                        </p:cTn>
                                        <p:tgtEl>
                                          <p:spTgt spid="104455"/>
                                        </p:tgtEl>
                                        <p:attrNameLst>
                                          <p:attrName>style.visibility</p:attrName>
                                        </p:attrNameLst>
                                      </p:cBhvr>
                                      <p:to>
                                        <p:strVal val="visible"/>
                                      </p:to>
                                    </p:set>
                                    <p:animEffect transition="in" filter="wipe(left)">
                                      <p:cBhvr>
                                        <p:cTn id="57" dur="300"/>
                                        <p:tgtEl>
                                          <p:spTgt spid="104455"/>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slide(fromBottom)">
                                      <p:cBhvr>
                                        <p:cTn id="62" dur="500"/>
                                        <p:tgtEl>
                                          <p:spTgt spid="24"/>
                                        </p:tgtEl>
                                      </p:cBhvr>
                                    </p:animEffect>
                                  </p:childTnLst>
                                </p:cTn>
                              </p:par>
                              <p:par>
                                <p:cTn id="63" presetID="12" presetClass="entr" presetSubtype="4" fill="hold"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slide(fromBottom)">
                                      <p:cBhvr>
                                        <p:cTn id="65" dur="500"/>
                                        <p:tgtEl>
                                          <p:spTgt spid="28"/>
                                        </p:tgtEl>
                                      </p:cBhvr>
                                    </p:animEffect>
                                  </p:childTnLst>
                                </p:cTn>
                              </p:par>
                              <p:par>
                                <p:cTn id="66" presetID="12" presetClass="entr" presetSubtype="4" fill="hold" nodeType="with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slide(fromBottom)">
                                      <p:cBhvr>
                                        <p:cTn id="6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3" grpId="0" bldLvl="0" animBg="1" autoUpdateAnimBg="0"/>
      <p:bldP spid="104454" grpId="0" autoUpdateAnimBg="0"/>
      <p:bldP spid="104455" grpId="0" autoUpdateAnimBg="0"/>
      <p:bldP spid="104456" grpId="0" autoUpdateAnimBg="0"/>
      <p:bldP spid="104462" grpId="0" autoUpdateAnimBg="0"/>
      <p:bldP spid="104463" grpId="0" autoUpdateAnimBg="0"/>
      <p:bldP spid="104464" grpId="0" autoUpdateAnimBg="0"/>
      <p:bldP spid="104466"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4" name="Text Box 24"/>
          <p:cNvSpPr txBox="1">
            <a:spLocks noChangeArrowheads="1"/>
          </p:cNvSpPr>
          <p:nvPr/>
        </p:nvSpPr>
        <p:spPr bwMode="auto">
          <a:xfrm>
            <a:off x="349250" y="166688"/>
            <a:ext cx="70104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t>(1) </a:t>
            </a:r>
            <a:r>
              <a:rPr lang="zh-CN" altLang="en-US" sz="2800" b="1" dirty="0">
                <a:latin typeface="宋体" panose="02010600030101010101" pitchFamily="2" charset="-122"/>
              </a:rPr>
              <a:t>平行度公差标注</a:t>
            </a:r>
          </a:p>
        </p:txBody>
      </p:sp>
      <p:grpSp>
        <p:nvGrpSpPr>
          <p:cNvPr id="5160" name="Group 40"/>
          <p:cNvGrpSpPr/>
          <p:nvPr/>
        </p:nvGrpSpPr>
        <p:grpSpPr bwMode="auto">
          <a:xfrm>
            <a:off x="612080" y="2857387"/>
            <a:ext cx="1498600" cy="1981200"/>
            <a:chOff x="256" y="1584"/>
            <a:chExt cx="944" cy="1248"/>
          </a:xfrm>
        </p:grpSpPr>
        <p:sp>
          <p:nvSpPr>
            <p:cNvPr id="20501" name="Text Box 25"/>
            <p:cNvSpPr txBox="1">
              <a:spLocks noChangeArrowheads="1"/>
            </p:cNvSpPr>
            <p:nvPr/>
          </p:nvSpPr>
          <p:spPr bwMode="auto">
            <a:xfrm>
              <a:off x="256" y="2065"/>
              <a:ext cx="611"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dirty="0"/>
                <a:t>基  准</a:t>
              </a:r>
              <a:r>
                <a:rPr lang="zh-CN" altLang="en-US" sz="2000" dirty="0"/>
                <a:t> </a:t>
              </a:r>
            </a:p>
          </p:txBody>
        </p:sp>
        <p:sp>
          <p:nvSpPr>
            <p:cNvPr id="20502" name="AutoShape 26"/>
            <p:cNvSpPr/>
            <p:nvPr/>
          </p:nvSpPr>
          <p:spPr bwMode="auto">
            <a:xfrm>
              <a:off x="864" y="1584"/>
              <a:ext cx="336" cy="1248"/>
            </a:xfrm>
            <a:prstGeom prst="leftBrace">
              <a:avLst>
                <a:gd name="adj1" fmla="val 30952"/>
                <a:gd name="adj2" fmla="val 50000"/>
              </a:avLst>
            </a:prstGeom>
            <a:noFill/>
            <a:ln w="38100">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grpSp>
      <p:grpSp>
        <p:nvGrpSpPr>
          <p:cNvPr id="5161" name="Group 41"/>
          <p:cNvGrpSpPr/>
          <p:nvPr/>
        </p:nvGrpSpPr>
        <p:grpSpPr bwMode="auto">
          <a:xfrm>
            <a:off x="2034480" y="2552587"/>
            <a:ext cx="914400" cy="990600"/>
            <a:chOff x="1152" y="1392"/>
            <a:chExt cx="576" cy="624"/>
          </a:xfrm>
        </p:grpSpPr>
        <p:sp>
          <p:nvSpPr>
            <p:cNvPr id="20499" name="Text Box 27"/>
            <p:cNvSpPr txBox="1">
              <a:spLocks noChangeArrowheads="1"/>
            </p:cNvSpPr>
            <p:nvPr/>
          </p:nvSpPr>
          <p:spPr bwMode="auto">
            <a:xfrm>
              <a:off x="1152" y="1536"/>
              <a:ext cx="576"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FF0000"/>
                  </a:solidFill>
                </a:rPr>
                <a:t>面</a:t>
              </a:r>
              <a:r>
                <a:rPr lang="zh-CN" altLang="en-US" sz="2000"/>
                <a:t> </a:t>
              </a:r>
            </a:p>
          </p:txBody>
        </p:sp>
        <p:sp>
          <p:nvSpPr>
            <p:cNvPr id="20500" name="AutoShape 29"/>
            <p:cNvSpPr/>
            <p:nvPr/>
          </p:nvSpPr>
          <p:spPr bwMode="auto">
            <a:xfrm>
              <a:off x="1488" y="1392"/>
              <a:ext cx="240" cy="624"/>
            </a:xfrm>
            <a:prstGeom prst="leftBrace">
              <a:avLst>
                <a:gd name="adj1" fmla="val 21667"/>
                <a:gd name="adj2" fmla="val 50000"/>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grpSp>
      <p:sp>
        <p:nvSpPr>
          <p:cNvPr id="5150" name="Text Box 30"/>
          <p:cNvSpPr txBox="1">
            <a:spLocks noChangeArrowheads="1"/>
          </p:cNvSpPr>
          <p:nvPr/>
        </p:nvSpPr>
        <p:spPr bwMode="auto">
          <a:xfrm>
            <a:off x="2872680" y="2323987"/>
            <a:ext cx="38862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t>① </a:t>
            </a:r>
            <a:r>
              <a:rPr lang="zh-CN" altLang="en-US" sz="2000" b="1" dirty="0">
                <a:solidFill>
                  <a:srgbClr val="00B0F0"/>
                </a:solidFill>
              </a:rPr>
              <a:t>面</a:t>
            </a:r>
            <a:r>
              <a:rPr lang="zh-CN" altLang="en-US" sz="2000" dirty="0"/>
              <a:t>对</a:t>
            </a:r>
            <a:r>
              <a:rPr lang="zh-CN" altLang="en-US" sz="2000" b="1" dirty="0">
                <a:solidFill>
                  <a:srgbClr val="FF0000"/>
                </a:solidFill>
              </a:rPr>
              <a:t>面</a:t>
            </a:r>
            <a:r>
              <a:rPr lang="zh-CN" altLang="en-US" sz="2000" b="1" dirty="0"/>
              <a:t>平行度</a:t>
            </a:r>
            <a:endParaRPr lang="zh-CN" altLang="en-US" sz="2000" dirty="0"/>
          </a:p>
        </p:txBody>
      </p:sp>
      <p:sp>
        <p:nvSpPr>
          <p:cNvPr id="5151" name="Text Box 31"/>
          <p:cNvSpPr txBox="1">
            <a:spLocks noChangeArrowheads="1"/>
          </p:cNvSpPr>
          <p:nvPr/>
        </p:nvSpPr>
        <p:spPr bwMode="auto">
          <a:xfrm>
            <a:off x="2872680" y="3252675"/>
            <a:ext cx="37338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t>② </a:t>
            </a:r>
            <a:r>
              <a:rPr lang="zh-CN" altLang="en-US" sz="2000" b="1" dirty="0">
                <a:solidFill>
                  <a:srgbClr val="00B0F0"/>
                </a:solidFill>
              </a:rPr>
              <a:t>线</a:t>
            </a:r>
            <a:r>
              <a:rPr lang="zh-CN" altLang="en-US" sz="2000" dirty="0"/>
              <a:t>对</a:t>
            </a:r>
            <a:r>
              <a:rPr lang="zh-CN" altLang="en-US" sz="2000" b="1" dirty="0">
                <a:solidFill>
                  <a:srgbClr val="FF0000"/>
                </a:solidFill>
              </a:rPr>
              <a:t>面</a:t>
            </a:r>
            <a:r>
              <a:rPr lang="zh-CN" altLang="en-US" sz="2000" b="1" dirty="0"/>
              <a:t>平行度</a:t>
            </a:r>
            <a:endParaRPr lang="zh-CN" altLang="en-US" sz="2000" dirty="0"/>
          </a:p>
        </p:txBody>
      </p:sp>
      <p:sp>
        <p:nvSpPr>
          <p:cNvPr id="5152" name="Text Box 32"/>
          <p:cNvSpPr txBox="1">
            <a:spLocks noChangeArrowheads="1"/>
          </p:cNvSpPr>
          <p:nvPr/>
        </p:nvSpPr>
        <p:spPr bwMode="auto">
          <a:xfrm>
            <a:off x="2872680" y="4000387"/>
            <a:ext cx="39624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t>③ </a:t>
            </a:r>
            <a:r>
              <a:rPr lang="zh-CN" altLang="en-US" sz="2000" b="1" dirty="0">
                <a:solidFill>
                  <a:srgbClr val="00B0F0"/>
                </a:solidFill>
              </a:rPr>
              <a:t>面</a:t>
            </a:r>
            <a:r>
              <a:rPr lang="zh-CN" altLang="en-US" sz="2000" dirty="0"/>
              <a:t>对</a:t>
            </a:r>
            <a:r>
              <a:rPr lang="zh-CN" altLang="en-US" sz="2000" b="1" dirty="0">
                <a:solidFill>
                  <a:srgbClr val="FF0000"/>
                </a:solidFill>
              </a:rPr>
              <a:t>线</a:t>
            </a:r>
            <a:r>
              <a:rPr lang="zh-CN" altLang="en-US" sz="2000" b="1" dirty="0"/>
              <a:t>平行度</a:t>
            </a:r>
            <a:endParaRPr lang="zh-CN" altLang="en-US" sz="2000" dirty="0"/>
          </a:p>
        </p:txBody>
      </p:sp>
      <p:grpSp>
        <p:nvGrpSpPr>
          <p:cNvPr id="5162" name="Group 42"/>
          <p:cNvGrpSpPr/>
          <p:nvPr/>
        </p:nvGrpSpPr>
        <p:grpSpPr bwMode="auto">
          <a:xfrm>
            <a:off x="2034480" y="4228987"/>
            <a:ext cx="990600" cy="914400"/>
            <a:chOff x="1152" y="2448"/>
            <a:chExt cx="624" cy="576"/>
          </a:xfrm>
        </p:grpSpPr>
        <p:sp>
          <p:nvSpPr>
            <p:cNvPr id="20497" name="Text Box 28"/>
            <p:cNvSpPr txBox="1">
              <a:spLocks noChangeArrowheads="1"/>
            </p:cNvSpPr>
            <p:nvPr/>
          </p:nvSpPr>
          <p:spPr bwMode="auto">
            <a:xfrm>
              <a:off x="1152" y="2544"/>
              <a:ext cx="624"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FF0000"/>
                  </a:solidFill>
                </a:rPr>
                <a:t>线</a:t>
              </a:r>
              <a:r>
                <a:rPr lang="zh-CN" altLang="en-US" sz="2000"/>
                <a:t> </a:t>
              </a:r>
            </a:p>
          </p:txBody>
        </p:sp>
        <p:sp>
          <p:nvSpPr>
            <p:cNvPr id="20498" name="AutoShape 33"/>
            <p:cNvSpPr/>
            <p:nvPr/>
          </p:nvSpPr>
          <p:spPr bwMode="auto">
            <a:xfrm>
              <a:off x="1488" y="2448"/>
              <a:ext cx="240" cy="576"/>
            </a:xfrm>
            <a:prstGeom prst="leftBrace">
              <a:avLst>
                <a:gd name="adj1" fmla="val 20000"/>
                <a:gd name="adj2" fmla="val 50000"/>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grpSp>
      <p:sp>
        <p:nvSpPr>
          <p:cNvPr id="5155" name="Text Box 35"/>
          <p:cNvSpPr txBox="1">
            <a:spLocks noChangeArrowheads="1"/>
          </p:cNvSpPr>
          <p:nvPr/>
        </p:nvSpPr>
        <p:spPr bwMode="auto">
          <a:xfrm>
            <a:off x="611560" y="1028734"/>
            <a:ext cx="7549654"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000" dirty="0"/>
              <a:t>        </a:t>
            </a:r>
            <a:r>
              <a:rPr lang="zh-CN" altLang="en-US" sz="2000" b="1" dirty="0"/>
              <a:t>平行度公差是方向公差中的一种，即要求</a:t>
            </a:r>
            <a:r>
              <a:rPr lang="zh-CN" altLang="en-US" sz="2000" b="1" dirty="0">
                <a:solidFill>
                  <a:srgbClr val="00B0F0"/>
                </a:solidFill>
              </a:rPr>
              <a:t>被测</a:t>
            </a:r>
            <a:r>
              <a:rPr lang="zh-CN" altLang="en-US" sz="2000" b="1" dirty="0" smtClean="0">
                <a:solidFill>
                  <a:srgbClr val="00B0F0"/>
                </a:solidFill>
              </a:rPr>
              <a:t>要素方向</a:t>
            </a:r>
            <a:r>
              <a:rPr lang="zh-CN" altLang="en-US" sz="2000" b="1" dirty="0"/>
              <a:t>与</a:t>
            </a:r>
            <a:r>
              <a:rPr lang="zh-CN" altLang="en-US" sz="2000" b="1" dirty="0">
                <a:solidFill>
                  <a:srgbClr val="FF0000"/>
                </a:solidFill>
              </a:rPr>
              <a:t>基准要素方向</a:t>
            </a:r>
            <a:r>
              <a:rPr lang="zh-CN" altLang="en-US" sz="2000" b="1" dirty="0">
                <a:solidFill>
                  <a:srgbClr val="00B050"/>
                </a:solidFill>
                <a:effectLst>
                  <a:outerShdw blurRad="38100" dist="38100" dir="2700000" algn="tl">
                    <a:srgbClr val="000000">
                      <a:alpha val="43137"/>
                    </a:srgbClr>
                  </a:outerShdw>
                </a:effectLst>
              </a:rPr>
              <a:t>平行</a:t>
            </a:r>
            <a:r>
              <a:rPr lang="zh-CN" altLang="en-US" sz="2000" b="1" dirty="0"/>
              <a:t>。</a:t>
            </a:r>
          </a:p>
        </p:txBody>
      </p:sp>
      <p:grpSp>
        <p:nvGrpSpPr>
          <p:cNvPr id="5163" name="Group 43"/>
          <p:cNvGrpSpPr/>
          <p:nvPr/>
        </p:nvGrpSpPr>
        <p:grpSpPr bwMode="auto">
          <a:xfrm>
            <a:off x="2872680" y="4381387"/>
            <a:ext cx="3283496" cy="1219200"/>
            <a:chOff x="1680" y="2544"/>
            <a:chExt cx="2448" cy="768"/>
          </a:xfrm>
        </p:grpSpPr>
        <p:sp>
          <p:nvSpPr>
            <p:cNvPr id="20495" name="Text Box 34"/>
            <p:cNvSpPr txBox="1">
              <a:spLocks noChangeArrowheads="1"/>
            </p:cNvSpPr>
            <p:nvPr/>
          </p:nvSpPr>
          <p:spPr bwMode="auto">
            <a:xfrm>
              <a:off x="1680" y="2784"/>
              <a:ext cx="2448"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t>④ </a:t>
              </a:r>
              <a:r>
                <a:rPr lang="zh-CN" altLang="en-US" sz="2000" b="1" dirty="0">
                  <a:solidFill>
                    <a:srgbClr val="00B0F0"/>
                  </a:solidFill>
                </a:rPr>
                <a:t>线</a:t>
              </a:r>
              <a:r>
                <a:rPr lang="zh-CN" altLang="en-US" sz="2000" dirty="0"/>
                <a:t>对</a:t>
              </a:r>
              <a:r>
                <a:rPr lang="zh-CN" altLang="en-US" sz="2000" b="1" dirty="0">
                  <a:solidFill>
                    <a:srgbClr val="FF0000"/>
                  </a:solidFill>
                </a:rPr>
                <a:t>线</a:t>
              </a:r>
              <a:r>
                <a:rPr lang="zh-CN" altLang="en-US" sz="2000" b="1" dirty="0"/>
                <a:t>平行度</a:t>
              </a:r>
              <a:endParaRPr lang="zh-CN" altLang="en-US" sz="2000" dirty="0"/>
            </a:p>
          </p:txBody>
        </p:sp>
        <p:sp>
          <p:nvSpPr>
            <p:cNvPr id="20496" name="AutoShape 36"/>
            <p:cNvSpPr/>
            <p:nvPr/>
          </p:nvSpPr>
          <p:spPr bwMode="auto">
            <a:xfrm>
              <a:off x="3408" y="2544"/>
              <a:ext cx="192" cy="768"/>
            </a:xfrm>
            <a:prstGeom prst="leftBrace">
              <a:avLst>
                <a:gd name="adj1" fmla="val 33333"/>
                <a:gd name="adj2" fmla="val 50000"/>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grpSp>
      <p:sp>
        <p:nvSpPr>
          <p:cNvPr id="5157" name="Text Box 37"/>
          <p:cNvSpPr txBox="1">
            <a:spLocks noChangeArrowheads="1"/>
          </p:cNvSpPr>
          <p:nvPr/>
        </p:nvSpPr>
        <p:spPr bwMode="auto">
          <a:xfrm>
            <a:off x="5484440" y="4152787"/>
            <a:ext cx="30480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dirty="0"/>
              <a:t>给定水平方向 </a:t>
            </a:r>
          </a:p>
        </p:txBody>
      </p:sp>
      <p:sp>
        <p:nvSpPr>
          <p:cNvPr id="5158" name="Text Box 38"/>
          <p:cNvSpPr txBox="1">
            <a:spLocks noChangeArrowheads="1"/>
          </p:cNvSpPr>
          <p:nvPr/>
        </p:nvSpPr>
        <p:spPr bwMode="auto">
          <a:xfrm>
            <a:off x="5484440" y="4719723"/>
            <a:ext cx="26670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dirty="0"/>
              <a:t>给定垂直方向</a:t>
            </a:r>
          </a:p>
        </p:txBody>
      </p:sp>
      <p:sp>
        <p:nvSpPr>
          <p:cNvPr id="5159" name="Text Box 39"/>
          <p:cNvSpPr txBox="1">
            <a:spLocks noChangeArrowheads="1"/>
          </p:cNvSpPr>
          <p:nvPr/>
        </p:nvSpPr>
        <p:spPr bwMode="auto">
          <a:xfrm>
            <a:off x="5484440" y="5295787"/>
            <a:ext cx="28956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dirty="0"/>
              <a:t>给定任意方向 </a:t>
            </a:r>
          </a:p>
        </p:txBody>
      </p:sp>
      <p:cxnSp>
        <p:nvCxnSpPr>
          <p:cNvPr id="23" name="直接连接符 22"/>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144">
                                            <p:txEl>
                                              <p:pRg st="0" end="0"/>
                                            </p:txEl>
                                          </p:spTgt>
                                        </p:tgtEl>
                                        <p:attrNameLst>
                                          <p:attrName>style.visibility</p:attrName>
                                        </p:attrNameLst>
                                      </p:cBhvr>
                                      <p:to>
                                        <p:strVal val="visible"/>
                                      </p:to>
                                    </p:set>
                                    <p:animEffect transition="in" filter="wipe(left)">
                                      <p:cBhvr>
                                        <p:cTn id="7" dur="300"/>
                                        <p:tgtEl>
                                          <p:spTgt spid="51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155"/>
                                        </p:tgtEl>
                                        <p:attrNameLst>
                                          <p:attrName>style.visibility</p:attrName>
                                        </p:attrNameLst>
                                      </p:cBhvr>
                                      <p:to>
                                        <p:strVal val="visible"/>
                                      </p:to>
                                    </p:set>
                                    <p:animEffect transition="in" filter="wipe(left)">
                                      <p:cBhvr>
                                        <p:cTn id="12" dur="300"/>
                                        <p:tgtEl>
                                          <p:spTgt spid="51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160"/>
                                        </p:tgtEl>
                                        <p:attrNameLst>
                                          <p:attrName>style.visibility</p:attrName>
                                        </p:attrNameLst>
                                      </p:cBhvr>
                                      <p:to>
                                        <p:strVal val="visible"/>
                                      </p:to>
                                    </p:set>
                                    <p:animEffect transition="in" filter="wipe(left)">
                                      <p:cBhvr>
                                        <p:cTn id="17" dur="500"/>
                                        <p:tgtEl>
                                          <p:spTgt spid="516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161"/>
                                        </p:tgtEl>
                                        <p:attrNameLst>
                                          <p:attrName>style.visibility</p:attrName>
                                        </p:attrNameLst>
                                      </p:cBhvr>
                                      <p:to>
                                        <p:strVal val="visible"/>
                                      </p:to>
                                    </p:set>
                                    <p:animEffect transition="in" filter="wipe(left)">
                                      <p:cBhvr>
                                        <p:cTn id="22" dur="2000"/>
                                        <p:tgtEl>
                                          <p:spTgt spid="516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5150"/>
                                        </p:tgtEl>
                                        <p:attrNameLst>
                                          <p:attrName>style.visibility</p:attrName>
                                        </p:attrNameLst>
                                      </p:cBhvr>
                                      <p:to>
                                        <p:strVal val="visible"/>
                                      </p:to>
                                    </p:set>
                                    <p:animEffect transition="in" filter="wipe(left)">
                                      <p:cBhvr>
                                        <p:cTn id="27" dur="300"/>
                                        <p:tgtEl>
                                          <p:spTgt spid="515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5151"/>
                                        </p:tgtEl>
                                        <p:attrNameLst>
                                          <p:attrName>style.visibility</p:attrName>
                                        </p:attrNameLst>
                                      </p:cBhvr>
                                      <p:to>
                                        <p:strVal val="visible"/>
                                      </p:to>
                                    </p:set>
                                    <p:animEffect transition="in" filter="wipe(left)">
                                      <p:cBhvr>
                                        <p:cTn id="32" dur="300"/>
                                        <p:tgtEl>
                                          <p:spTgt spid="515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162"/>
                                        </p:tgtEl>
                                        <p:attrNameLst>
                                          <p:attrName>style.visibility</p:attrName>
                                        </p:attrNameLst>
                                      </p:cBhvr>
                                      <p:to>
                                        <p:strVal val="visible"/>
                                      </p:to>
                                    </p:set>
                                    <p:animEffect transition="in" filter="wipe(left)">
                                      <p:cBhvr>
                                        <p:cTn id="37" dur="2000"/>
                                        <p:tgtEl>
                                          <p:spTgt spid="516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5152"/>
                                        </p:tgtEl>
                                        <p:attrNameLst>
                                          <p:attrName>style.visibility</p:attrName>
                                        </p:attrNameLst>
                                      </p:cBhvr>
                                      <p:to>
                                        <p:strVal val="visible"/>
                                      </p:to>
                                    </p:set>
                                    <p:animEffect transition="in" filter="wipe(left)">
                                      <p:cBhvr>
                                        <p:cTn id="42" dur="300"/>
                                        <p:tgtEl>
                                          <p:spTgt spid="515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163"/>
                                        </p:tgtEl>
                                        <p:attrNameLst>
                                          <p:attrName>style.visibility</p:attrName>
                                        </p:attrNameLst>
                                      </p:cBhvr>
                                      <p:to>
                                        <p:strVal val="visible"/>
                                      </p:to>
                                    </p:set>
                                    <p:animEffect transition="in" filter="wipe(left)">
                                      <p:cBhvr>
                                        <p:cTn id="47" dur="2000"/>
                                        <p:tgtEl>
                                          <p:spTgt spid="516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5157"/>
                                        </p:tgtEl>
                                        <p:attrNameLst>
                                          <p:attrName>style.visibility</p:attrName>
                                        </p:attrNameLst>
                                      </p:cBhvr>
                                      <p:to>
                                        <p:strVal val="visible"/>
                                      </p:to>
                                    </p:set>
                                    <p:animEffect transition="in" filter="wipe(left)">
                                      <p:cBhvr>
                                        <p:cTn id="52" dur="300"/>
                                        <p:tgtEl>
                                          <p:spTgt spid="515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wd">
                                    <p:tmPct val="100000"/>
                                  </p:iterate>
                                  <p:childTnLst>
                                    <p:set>
                                      <p:cBhvr>
                                        <p:cTn id="56" dur="1" fill="hold">
                                          <p:stCondLst>
                                            <p:cond delay="0"/>
                                          </p:stCondLst>
                                        </p:cTn>
                                        <p:tgtEl>
                                          <p:spTgt spid="5158"/>
                                        </p:tgtEl>
                                        <p:attrNameLst>
                                          <p:attrName>style.visibility</p:attrName>
                                        </p:attrNameLst>
                                      </p:cBhvr>
                                      <p:to>
                                        <p:strVal val="visible"/>
                                      </p:to>
                                    </p:set>
                                    <p:animEffect transition="in" filter="wipe(left)">
                                      <p:cBhvr>
                                        <p:cTn id="57" dur="300"/>
                                        <p:tgtEl>
                                          <p:spTgt spid="515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wd">
                                    <p:tmPct val="100000"/>
                                  </p:iterate>
                                  <p:childTnLst>
                                    <p:set>
                                      <p:cBhvr>
                                        <p:cTn id="61" dur="1" fill="hold">
                                          <p:stCondLst>
                                            <p:cond delay="0"/>
                                          </p:stCondLst>
                                        </p:cTn>
                                        <p:tgtEl>
                                          <p:spTgt spid="5159"/>
                                        </p:tgtEl>
                                        <p:attrNameLst>
                                          <p:attrName>style.visibility</p:attrName>
                                        </p:attrNameLst>
                                      </p:cBhvr>
                                      <p:to>
                                        <p:strVal val="visible"/>
                                      </p:to>
                                    </p:set>
                                    <p:animEffect transition="in" filter="wipe(left)">
                                      <p:cBhvr>
                                        <p:cTn id="62" dur="300"/>
                                        <p:tgtEl>
                                          <p:spTgt spid="5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4" grpId="0" build="p" autoUpdateAnimBg="0"/>
      <p:bldP spid="5150" grpId="0" autoUpdateAnimBg="0"/>
      <p:bldP spid="5151" grpId="0" autoUpdateAnimBg="0"/>
      <p:bldP spid="5152" grpId="0" autoUpdateAnimBg="0"/>
      <p:bldP spid="5155" grpId="0" autoUpdateAnimBg="0"/>
      <p:bldP spid="5157" grpId="0" autoUpdateAnimBg="0"/>
      <p:bldP spid="5158" grpId="0" autoUpdateAnimBg="0"/>
      <p:bldP spid="515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 name="TextBox 6"/>
          <p:cNvSpPr txBox="1"/>
          <p:nvPr/>
        </p:nvSpPr>
        <p:spPr>
          <a:xfrm>
            <a:off x="755576" y="836713"/>
            <a:ext cx="1152128" cy="461665"/>
          </a:xfrm>
          <a:prstGeom prst="rect">
            <a:avLst/>
          </a:prstGeom>
          <a:noFill/>
        </p:spPr>
        <p:txBody>
          <a:bodyPr wrap="square" rtlCol="0">
            <a:spAutoFit/>
          </a:bodyPr>
          <a:lstStyle/>
          <a:p>
            <a:r>
              <a:rPr lang="zh-CN" altLang="en-US" b="1" dirty="0" smtClean="0">
                <a:solidFill>
                  <a:srgbClr val="00B0F0"/>
                </a:solidFill>
                <a:effectLst>
                  <a:outerShdw blurRad="38100" dist="38100" dir="2700000" algn="tl">
                    <a:srgbClr val="000000">
                      <a:alpha val="43137"/>
                    </a:srgbClr>
                  </a:outerShdw>
                </a:effectLst>
              </a:rPr>
              <a:t>面对面</a:t>
            </a:r>
            <a:endParaRPr lang="zh-CN" altLang="en-US" b="1" dirty="0">
              <a:solidFill>
                <a:srgbClr val="00B0F0"/>
              </a:solidFill>
              <a:effectLst>
                <a:outerShdw blurRad="38100" dist="38100" dir="2700000" algn="tl">
                  <a:srgbClr val="000000">
                    <a:alpha val="43137"/>
                  </a:srgbClr>
                </a:outerShdw>
              </a:effectLst>
            </a:endParaRPr>
          </a:p>
        </p:txBody>
      </p:sp>
      <p:sp>
        <p:nvSpPr>
          <p:cNvPr id="8" name="Text Box 5"/>
          <p:cNvSpPr txBox="1">
            <a:spLocks noChangeArrowheads="1"/>
          </p:cNvSpPr>
          <p:nvPr/>
        </p:nvSpPr>
        <p:spPr bwMode="auto">
          <a:xfrm>
            <a:off x="251521" y="182966"/>
            <a:ext cx="410616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smtClean="0"/>
              <a:t>（</a:t>
            </a:r>
            <a:r>
              <a:rPr lang="en-US" altLang="zh-CN" sz="2800" b="1" dirty="0" smtClean="0"/>
              <a:t>1</a:t>
            </a:r>
            <a:r>
              <a:rPr lang="zh-CN" altLang="en-US" sz="2800" b="1" dirty="0" smtClean="0"/>
              <a:t>）平行度公差标注</a:t>
            </a:r>
          </a:p>
        </p:txBody>
      </p:sp>
      <p:sp>
        <p:nvSpPr>
          <p:cNvPr id="2" name="矩形 1"/>
          <p:cNvSpPr/>
          <p:nvPr/>
        </p:nvSpPr>
        <p:spPr>
          <a:xfrm>
            <a:off x="785786" y="1285860"/>
            <a:ext cx="7925435" cy="706755"/>
          </a:xfrm>
          <a:prstGeom prst="rect">
            <a:avLst/>
          </a:prstGeom>
        </p:spPr>
        <p:txBody>
          <a:bodyPr wrap="square">
            <a:spAutoFit/>
          </a:bodyPr>
          <a:lstStyle/>
          <a:p>
            <a:r>
              <a:rPr lang="zh-CN" altLang="en-US" sz="2000" b="1" dirty="0" smtClean="0"/>
              <a:t>         提取</a:t>
            </a:r>
            <a:r>
              <a:rPr lang="en-US" altLang="zh-CN" sz="2000" b="1" dirty="0"/>
              <a:t>(</a:t>
            </a:r>
            <a:r>
              <a:rPr lang="zh-CN" altLang="en-US" sz="2000" b="1" dirty="0"/>
              <a:t>实际</a:t>
            </a:r>
            <a:r>
              <a:rPr lang="en-US" altLang="zh-CN" sz="2000" b="1" dirty="0"/>
              <a:t>) </a:t>
            </a:r>
            <a:r>
              <a:rPr lang="zh-CN" altLang="en-US" sz="2000" b="1" dirty="0"/>
              <a:t>表面应限定在间距等于</a:t>
            </a:r>
            <a:r>
              <a:rPr lang="en-US" altLang="zh-CN" sz="2000" b="1" dirty="0"/>
              <a:t>0. 01</a:t>
            </a:r>
            <a:r>
              <a:rPr lang="zh-CN" altLang="en-US" sz="2000" b="1" dirty="0"/>
              <a:t>、平行于基准面</a:t>
            </a:r>
            <a:r>
              <a:rPr lang="en-US" altLang="zh-CN" sz="2000" b="1" i="1" dirty="0"/>
              <a:t>D </a:t>
            </a:r>
            <a:r>
              <a:rPr lang="zh-CN" altLang="en-US" sz="2000" b="1" dirty="0" smtClean="0"/>
              <a:t>的平行</a:t>
            </a:r>
            <a:r>
              <a:rPr lang="zh-CN" altLang="en-US" sz="2000" b="1" dirty="0"/>
              <a:t>平面</a:t>
            </a:r>
            <a:r>
              <a:rPr lang="zh-CN" altLang="en-US" sz="2000" b="1" dirty="0" smtClean="0"/>
              <a:t>之间</a:t>
            </a:r>
            <a:r>
              <a:rPr lang="zh-CN" altLang="en-US" sz="2000" b="1" dirty="0"/>
              <a:t>。</a:t>
            </a:r>
          </a:p>
        </p:txBody>
      </p:sp>
      <p:sp>
        <p:nvSpPr>
          <p:cNvPr id="3" name="矩形 2"/>
          <p:cNvSpPr/>
          <p:nvPr/>
        </p:nvSpPr>
        <p:spPr>
          <a:xfrm>
            <a:off x="5003800" y="4869180"/>
            <a:ext cx="3472180" cy="1014730"/>
          </a:xfrm>
          <a:prstGeom prst="rect">
            <a:avLst/>
          </a:prstGeom>
        </p:spPr>
        <p:txBody>
          <a:bodyPr wrap="square">
            <a:spAutoFit/>
          </a:bodyPr>
          <a:lstStyle/>
          <a:p>
            <a:r>
              <a:rPr lang="zh-CN" altLang="en-US" sz="2000" b="1" dirty="0" smtClean="0"/>
              <a:t>        公差带</a:t>
            </a:r>
            <a:r>
              <a:rPr lang="zh-CN" altLang="en-US" sz="2000" b="1" dirty="0"/>
              <a:t>为</a:t>
            </a:r>
            <a:r>
              <a:rPr lang="zh-CN" altLang="en-US" sz="2000" b="1" dirty="0">
                <a:solidFill>
                  <a:srgbClr val="0070C0"/>
                </a:solidFill>
              </a:rPr>
              <a:t>间距等于公差值</a:t>
            </a:r>
            <a:r>
              <a:rPr lang="en-US" altLang="zh-CN" sz="2000" b="1" i="1" dirty="0">
                <a:solidFill>
                  <a:srgbClr val="0070C0"/>
                </a:solidFill>
              </a:rPr>
              <a:t>t</a:t>
            </a:r>
            <a:r>
              <a:rPr lang="zh-CN" altLang="en-US" sz="2000" b="1" dirty="0"/>
              <a:t>、</a:t>
            </a:r>
            <a:r>
              <a:rPr lang="zh-CN" altLang="en-US" sz="2000" b="1" dirty="0" smtClean="0">
                <a:solidFill>
                  <a:srgbClr val="FF0000"/>
                </a:solidFill>
              </a:rPr>
              <a:t>平行于</a:t>
            </a:r>
            <a:r>
              <a:rPr lang="zh-CN" altLang="en-US" sz="2000" b="1" dirty="0">
                <a:solidFill>
                  <a:srgbClr val="FF0000"/>
                </a:solidFill>
              </a:rPr>
              <a:t>基准平面的两平行平面</a:t>
            </a:r>
            <a:r>
              <a:rPr lang="zh-CN" altLang="en-US" sz="2000" b="1" dirty="0"/>
              <a:t>所限定的</a:t>
            </a:r>
            <a:r>
              <a:rPr lang="zh-CN" altLang="en-US" sz="2000" b="1" dirty="0" smtClean="0"/>
              <a:t>区域。</a:t>
            </a:r>
            <a:endParaRPr lang="zh-CN" altLang="en-US" sz="2000" b="1" dirty="0"/>
          </a:p>
        </p:txBody>
      </p:sp>
      <p:pic>
        <p:nvPicPr>
          <p:cNvPr id="6963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r="48945"/>
          <a:stretch>
            <a:fillRect/>
          </a:stretch>
        </p:blipFill>
        <p:spPr bwMode="auto">
          <a:xfrm>
            <a:off x="1428728" y="2000240"/>
            <a:ext cx="2500330" cy="2187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9636" name="Picture 4"/>
          <p:cNvPicPr>
            <a:picLocks noChangeAspect="1" noChangeArrowheads="1"/>
          </p:cNvPicPr>
          <p:nvPr/>
        </p:nvPicPr>
        <p:blipFill>
          <a:blip r:embed="rId3">
            <a:extLst>
              <a:ext uri="{28A0092B-C50C-407E-A947-70E740481C1C}">
                <a14:useLocalDpi xmlns:a14="http://schemas.microsoft.com/office/drawing/2010/main" xmlns="" val="0"/>
              </a:ext>
            </a:extLst>
          </a:blip>
          <a:srcRect b="17456"/>
          <a:stretch>
            <a:fillRect/>
          </a:stretch>
        </p:blipFill>
        <p:spPr bwMode="auto">
          <a:xfrm>
            <a:off x="1357290" y="4429132"/>
            <a:ext cx="3075940" cy="17789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l="50325"/>
          <a:stretch>
            <a:fillRect/>
          </a:stretch>
        </p:blipFill>
        <p:spPr bwMode="auto">
          <a:xfrm>
            <a:off x="4786314" y="1928802"/>
            <a:ext cx="2571736" cy="2187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8"/>
                                        </p:tgtEl>
                                        <p:attrNameLst>
                                          <p:attrName>style.visibility</p:attrName>
                                        </p:attrNameLst>
                                      </p:cBhvr>
                                      <p:to>
                                        <p:strVal val="visible"/>
                                      </p:to>
                                    </p:set>
                                    <p:animEffect transition="in" filter="wipe(left)">
                                      <p:cBhvr>
                                        <p:cTn id="7" dur="3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9634"/>
                                        </p:tgtEl>
                                        <p:attrNameLst>
                                          <p:attrName>style.visibility</p:attrName>
                                        </p:attrNameLst>
                                      </p:cBhvr>
                                      <p:to>
                                        <p:strVal val="visible"/>
                                      </p:to>
                                    </p:set>
                                    <p:anim calcmode="lin" valueType="num">
                                      <p:cBhvr additive="base">
                                        <p:cTn id="17" dur="500" fill="hold"/>
                                        <p:tgtEl>
                                          <p:spTgt spid="69634"/>
                                        </p:tgtEl>
                                        <p:attrNameLst>
                                          <p:attrName>ppt_x</p:attrName>
                                        </p:attrNameLst>
                                      </p:cBhvr>
                                      <p:tavLst>
                                        <p:tav tm="0">
                                          <p:val>
                                            <p:strVal val="0-#ppt_w/2"/>
                                          </p:val>
                                        </p:tav>
                                        <p:tav tm="100000">
                                          <p:val>
                                            <p:strVal val="#ppt_x"/>
                                          </p:val>
                                        </p:tav>
                                      </p:tavLst>
                                    </p:anim>
                                    <p:anim calcmode="lin" valueType="num">
                                      <p:cBhvr additive="base">
                                        <p:cTn id="18" dur="500" fill="hold"/>
                                        <p:tgtEl>
                                          <p:spTgt spid="6963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69636"/>
                                        </p:tgtEl>
                                        <p:attrNameLst>
                                          <p:attrName>style.visibility</p:attrName>
                                        </p:attrNameLst>
                                      </p:cBhvr>
                                      <p:to>
                                        <p:strVal val="visible"/>
                                      </p:to>
                                    </p:set>
                                    <p:anim calcmode="lin" valueType="num">
                                      <p:cBhvr additive="base">
                                        <p:cTn id="33" dur="500" fill="hold"/>
                                        <p:tgtEl>
                                          <p:spTgt spid="69636"/>
                                        </p:tgtEl>
                                        <p:attrNameLst>
                                          <p:attrName>ppt_x</p:attrName>
                                        </p:attrNameLst>
                                      </p:cBhvr>
                                      <p:tavLst>
                                        <p:tav tm="0">
                                          <p:val>
                                            <p:strVal val="1+#ppt_w/2"/>
                                          </p:val>
                                        </p:tav>
                                        <p:tav tm="100000">
                                          <p:val>
                                            <p:strVal val="#ppt_x"/>
                                          </p:val>
                                        </p:tav>
                                      </p:tavLst>
                                    </p:anim>
                                    <p:anim calcmode="lin" valueType="num">
                                      <p:cBhvr additive="base">
                                        <p:cTn id="34" dur="500" fill="hold"/>
                                        <p:tgtEl>
                                          <p:spTgt spid="69636"/>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0-#ppt_w/2"/>
                                          </p:val>
                                        </p:tav>
                                        <p:tav tm="100000">
                                          <p:val>
                                            <p:strVal val="#ppt_x"/>
                                          </p:val>
                                        </p:tav>
                                      </p:tavLst>
                                    </p:anim>
                                    <p:anim calcmode="lin" valueType="num">
                                      <p:cBhvr additive="base">
                                        <p:cTn id="40"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ldLvl="0" animBg="1" autoUpdateAnimBg="0"/>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 name="TextBox 6"/>
          <p:cNvSpPr txBox="1"/>
          <p:nvPr/>
        </p:nvSpPr>
        <p:spPr>
          <a:xfrm>
            <a:off x="755576" y="797224"/>
            <a:ext cx="1152128" cy="460375"/>
          </a:xfrm>
          <a:prstGeom prst="rect">
            <a:avLst/>
          </a:prstGeom>
          <a:noFill/>
        </p:spPr>
        <p:txBody>
          <a:bodyPr wrap="square" rtlCol="0">
            <a:spAutoFit/>
          </a:bodyPr>
          <a:lstStyle/>
          <a:p>
            <a:r>
              <a:rPr lang="zh-CN" altLang="en-US" b="1" dirty="0" smtClean="0">
                <a:solidFill>
                  <a:srgbClr val="00B0F0"/>
                </a:solidFill>
                <a:effectLst>
                  <a:outerShdw blurRad="38100" dist="38100" dir="2700000" algn="tl">
                    <a:srgbClr val="000000">
                      <a:alpha val="43137"/>
                    </a:srgbClr>
                  </a:outerShdw>
                </a:effectLst>
                <a:sym typeface="+mn-ea"/>
              </a:rPr>
              <a:t>面</a:t>
            </a:r>
            <a:r>
              <a:rPr lang="zh-CN" altLang="en-US" b="1" dirty="0" smtClean="0">
                <a:solidFill>
                  <a:srgbClr val="00B0F0"/>
                </a:solidFill>
                <a:effectLst>
                  <a:outerShdw blurRad="38100" dist="38100" dir="2700000" algn="tl">
                    <a:srgbClr val="000000">
                      <a:alpha val="43137"/>
                    </a:srgbClr>
                  </a:outerShdw>
                </a:effectLst>
              </a:rPr>
              <a:t>对</a:t>
            </a:r>
            <a:r>
              <a:rPr lang="zh-CN" altLang="en-US" b="1" dirty="0" smtClean="0">
                <a:solidFill>
                  <a:srgbClr val="00B0F0"/>
                </a:solidFill>
                <a:effectLst>
                  <a:outerShdw blurRad="38100" dist="38100" dir="2700000" algn="tl">
                    <a:srgbClr val="000000">
                      <a:alpha val="43137"/>
                    </a:srgbClr>
                  </a:outerShdw>
                </a:effectLst>
                <a:sym typeface="+mn-ea"/>
              </a:rPr>
              <a:t>线</a:t>
            </a:r>
          </a:p>
        </p:txBody>
      </p:sp>
      <p:sp>
        <p:nvSpPr>
          <p:cNvPr id="2" name="矩形 1"/>
          <p:cNvSpPr/>
          <p:nvPr/>
        </p:nvSpPr>
        <p:spPr>
          <a:xfrm>
            <a:off x="539115" y="1271262"/>
            <a:ext cx="8228965" cy="707886"/>
          </a:xfrm>
          <a:prstGeom prst="rect">
            <a:avLst/>
          </a:prstGeom>
        </p:spPr>
        <p:txBody>
          <a:bodyPr wrap="square">
            <a:spAutoFit/>
          </a:bodyPr>
          <a:lstStyle/>
          <a:p>
            <a:r>
              <a:rPr lang="zh-CN" altLang="en-US" sz="2000" b="1" dirty="0" smtClean="0"/>
              <a:t>        提取</a:t>
            </a:r>
            <a:r>
              <a:rPr lang="en-US" altLang="zh-CN" sz="2000" b="1" dirty="0"/>
              <a:t>(</a:t>
            </a:r>
            <a:r>
              <a:rPr lang="zh-CN" altLang="en-US" sz="2000" b="1" dirty="0"/>
              <a:t>实际</a:t>
            </a:r>
            <a:r>
              <a:rPr lang="en-US" altLang="zh-CN" sz="2000" b="1" dirty="0"/>
              <a:t>) </a:t>
            </a:r>
            <a:r>
              <a:rPr lang="zh-CN" altLang="en-US" sz="2000" b="1" dirty="0"/>
              <a:t>面应限定在间距等于</a:t>
            </a:r>
            <a:r>
              <a:rPr lang="en-US" altLang="zh-CN" sz="2000" b="1" dirty="0"/>
              <a:t>0. 1</a:t>
            </a:r>
            <a:r>
              <a:rPr lang="zh-CN" altLang="en-US" sz="2000" b="1" dirty="0"/>
              <a:t>、平行于基准轴线</a:t>
            </a:r>
            <a:r>
              <a:rPr lang="en-US" altLang="zh-CN" sz="2000" b="1" dirty="0"/>
              <a:t>C </a:t>
            </a:r>
            <a:r>
              <a:rPr lang="zh-CN" altLang="en-US" sz="2000" b="1" dirty="0"/>
              <a:t>的</a:t>
            </a:r>
            <a:r>
              <a:rPr lang="zh-CN" altLang="en-US" sz="2000" b="1" dirty="0" smtClean="0"/>
              <a:t>两平行</a:t>
            </a:r>
            <a:r>
              <a:rPr lang="zh-CN" altLang="en-US" sz="2000" b="1" dirty="0"/>
              <a:t>平面</a:t>
            </a:r>
            <a:r>
              <a:rPr lang="zh-CN" altLang="en-US" sz="2000" b="1" dirty="0" smtClean="0"/>
              <a:t>之间。</a:t>
            </a:r>
            <a:endParaRPr lang="zh-CN" altLang="en-US" sz="2000" b="1" dirty="0"/>
          </a:p>
        </p:txBody>
      </p:sp>
      <p:pic>
        <p:nvPicPr>
          <p:cNvPr id="3"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85917" y="1785926"/>
            <a:ext cx="5214975" cy="24320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9" name="矩形 8"/>
          <p:cNvSpPr/>
          <p:nvPr/>
        </p:nvSpPr>
        <p:spPr>
          <a:xfrm>
            <a:off x="5072066" y="4643446"/>
            <a:ext cx="3391535" cy="1014730"/>
          </a:xfrm>
          <a:prstGeom prst="rect">
            <a:avLst/>
          </a:prstGeom>
        </p:spPr>
        <p:txBody>
          <a:bodyPr wrap="square">
            <a:spAutoFit/>
          </a:bodyPr>
          <a:lstStyle/>
          <a:p>
            <a:r>
              <a:rPr lang="zh-CN" altLang="en-US" sz="2000" b="1" dirty="0" smtClean="0"/>
              <a:t>        公差带</a:t>
            </a:r>
            <a:r>
              <a:rPr lang="zh-CN" altLang="en-US" sz="2000" b="1" dirty="0"/>
              <a:t>为</a:t>
            </a:r>
            <a:r>
              <a:rPr lang="zh-CN" altLang="en-US" sz="2000" b="1" dirty="0">
                <a:solidFill>
                  <a:srgbClr val="0070C0"/>
                </a:solidFill>
              </a:rPr>
              <a:t>间距等于公差值</a:t>
            </a:r>
            <a:r>
              <a:rPr lang="en-US" altLang="zh-CN" sz="2000" b="1" i="1" dirty="0">
                <a:solidFill>
                  <a:srgbClr val="0070C0"/>
                </a:solidFill>
              </a:rPr>
              <a:t>t</a:t>
            </a:r>
            <a:r>
              <a:rPr lang="zh-CN" altLang="en-US" sz="2000" b="1" dirty="0"/>
              <a:t>、</a:t>
            </a:r>
            <a:r>
              <a:rPr lang="zh-CN" altLang="en-US" sz="2000" b="1" dirty="0" smtClean="0">
                <a:solidFill>
                  <a:srgbClr val="FF0000"/>
                </a:solidFill>
              </a:rPr>
              <a:t>平行于</a:t>
            </a:r>
            <a:r>
              <a:rPr lang="zh-CN" altLang="en-US" sz="2000" b="1" dirty="0">
                <a:solidFill>
                  <a:srgbClr val="FF0000"/>
                </a:solidFill>
              </a:rPr>
              <a:t>基准的两平行平面</a:t>
            </a:r>
            <a:r>
              <a:rPr lang="zh-CN" altLang="en-US" sz="2000" b="1" dirty="0"/>
              <a:t>所限定的</a:t>
            </a:r>
            <a:r>
              <a:rPr lang="zh-CN" altLang="en-US" sz="2000" b="1" dirty="0" smtClean="0"/>
              <a:t>区域</a:t>
            </a:r>
            <a:r>
              <a:rPr lang="zh-CN" altLang="en-US" sz="2000" b="1" dirty="0"/>
              <a:t>。</a:t>
            </a:r>
          </a:p>
        </p:txBody>
      </p:sp>
      <p:sp>
        <p:nvSpPr>
          <p:cNvPr id="8" name="Text Box 5"/>
          <p:cNvSpPr txBox="1">
            <a:spLocks noChangeArrowheads="1"/>
          </p:cNvSpPr>
          <p:nvPr/>
        </p:nvSpPr>
        <p:spPr bwMode="auto">
          <a:xfrm>
            <a:off x="251521" y="182966"/>
            <a:ext cx="4391917"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smtClean="0"/>
              <a:t>（</a:t>
            </a:r>
            <a:r>
              <a:rPr lang="en-US" altLang="zh-CN" sz="2800" b="1" dirty="0" smtClean="0"/>
              <a:t>1</a:t>
            </a:r>
            <a:r>
              <a:rPr lang="zh-CN" altLang="en-US" sz="2800" b="1" dirty="0" smtClean="0"/>
              <a:t>）平行度公差标注</a:t>
            </a:r>
          </a:p>
        </p:txBody>
      </p:sp>
      <p:grpSp>
        <p:nvGrpSpPr>
          <p:cNvPr id="11" name="组合 10"/>
          <p:cNvGrpSpPr/>
          <p:nvPr/>
        </p:nvGrpSpPr>
        <p:grpSpPr>
          <a:xfrm>
            <a:off x="1308100" y="4286256"/>
            <a:ext cx="2720975" cy="2148124"/>
            <a:chOff x="1308100" y="4391025"/>
            <a:chExt cx="2720975" cy="2148124"/>
          </a:xfrm>
        </p:grpSpPr>
        <p:pic>
          <p:nvPicPr>
            <p:cNvPr id="69639" name="Picture 7"/>
            <p:cNvPicPr>
              <a:picLocks noChangeAspect="1" noChangeArrowheads="1"/>
            </p:cNvPicPr>
            <p:nvPr/>
          </p:nvPicPr>
          <p:blipFill>
            <a:blip r:embed="rId3">
              <a:extLst>
                <a:ext uri="{28A0092B-C50C-407E-A947-70E740481C1C}">
                  <a14:useLocalDpi xmlns:a14="http://schemas.microsoft.com/office/drawing/2010/main" xmlns="" val="0"/>
                </a:ext>
              </a:extLst>
            </a:blip>
            <a:srcRect b="8573"/>
            <a:stretch>
              <a:fillRect/>
            </a:stretch>
          </p:blipFill>
          <p:spPr bwMode="auto">
            <a:xfrm>
              <a:off x="1308100" y="4391025"/>
              <a:ext cx="2720975" cy="19669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0" name="TextBox 9"/>
            <p:cNvSpPr txBox="1"/>
            <p:nvPr/>
          </p:nvSpPr>
          <p:spPr>
            <a:xfrm>
              <a:off x="1785918" y="6169817"/>
              <a:ext cx="1071570" cy="369332"/>
            </a:xfrm>
            <a:prstGeom prst="rect">
              <a:avLst/>
            </a:prstGeom>
            <a:solidFill>
              <a:schemeClr val="bg1"/>
            </a:solidFill>
          </p:spPr>
          <p:txBody>
            <a:bodyPr wrap="square" rtlCol="0">
              <a:spAutoFit/>
            </a:bodyPr>
            <a:lstStyle/>
            <a:p>
              <a:r>
                <a:rPr lang="zh-CN" altLang="en-US" sz="1800" b="1" dirty="0" smtClean="0"/>
                <a:t>   公差带</a:t>
              </a:r>
              <a:endParaRPr lang="zh-CN" altLang="en-US" sz="18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8"/>
                                        </p:tgtEl>
                                        <p:attrNameLst>
                                          <p:attrName>style.visibility</p:attrName>
                                        </p:attrNameLst>
                                      </p:cBhvr>
                                      <p:to>
                                        <p:strVal val="visible"/>
                                      </p:to>
                                    </p:set>
                                    <p:animEffect transition="in" filter="wipe(left)">
                                      <p:cBhvr>
                                        <p:cTn id="7" dur="3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up)">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9" grpId="0"/>
      <p:bldP spid="8" grpId="0" bldLvl="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0544B191-7D4A-4B22-A180-F12083844DDB}" type="slidenum">
              <a:rPr lang="en-US" altLang="zh-CN" smtClean="0"/>
              <a:pPr>
                <a:defRPr/>
              </a:pPr>
              <a:t>13</a:t>
            </a:fld>
            <a:endParaRPr lang="en-US" altLang="zh-CN"/>
          </a:p>
        </p:txBody>
      </p:sp>
      <p:cxnSp>
        <p:nvCxnSpPr>
          <p:cNvPr id="5" name="直接连接符 4"/>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 name="TextBox 6"/>
          <p:cNvSpPr txBox="1"/>
          <p:nvPr/>
        </p:nvSpPr>
        <p:spPr>
          <a:xfrm>
            <a:off x="755576" y="797224"/>
            <a:ext cx="1152128" cy="460375"/>
          </a:xfrm>
          <a:prstGeom prst="rect">
            <a:avLst/>
          </a:prstGeom>
          <a:noFill/>
        </p:spPr>
        <p:txBody>
          <a:bodyPr wrap="square" rtlCol="0">
            <a:spAutoFit/>
          </a:bodyPr>
          <a:lstStyle/>
          <a:p>
            <a:r>
              <a:rPr lang="zh-CN" altLang="en-US" b="1" dirty="0" smtClean="0">
                <a:solidFill>
                  <a:srgbClr val="00B0F0"/>
                </a:solidFill>
                <a:effectLst>
                  <a:outerShdw blurRad="38100" dist="38100" dir="2700000" algn="tl">
                    <a:srgbClr val="000000">
                      <a:alpha val="43137"/>
                    </a:srgbClr>
                  </a:outerShdw>
                </a:effectLst>
                <a:sym typeface="+mn-ea"/>
              </a:rPr>
              <a:t>线</a:t>
            </a:r>
            <a:r>
              <a:rPr lang="zh-CN" altLang="en-US" b="1" dirty="0" smtClean="0">
                <a:solidFill>
                  <a:srgbClr val="00B0F0"/>
                </a:solidFill>
                <a:effectLst>
                  <a:outerShdw blurRad="38100" dist="38100" dir="2700000" algn="tl">
                    <a:srgbClr val="000000">
                      <a:alpha val="43137"/>
                    </a:srgbClr>
                  </a:outerShdw>
                </a:effectLst>
              </a:rPr>
              <a:t>对</a:t>
            </a:r>
            <a:r>
              <a:rPr lang="zh-CN" altLang="en-US" b="1" dirty="0" smtClean="0">
                <a:solidFill>
                  <a:srgbClr val="00B0F0"/>
                </a:solidFill>
                <a:effectLst>
                  <a:outerShdw blurRad="38100" dist="38100" dir="2700000" algn="tl">
                    <a:srgbClr val="000000">
                      <a:alpha val="43137"/>
                    </a:srgbClr>
                  </a:outerShdw>
                </a:effectLst>
                <a:sym typeface="+mn-ea"/>
              </a:rPr>
              <a:t>面</a:t>
            </a:r>
          </a:p>
        </p:txBody>
      </p:sp>
      <p:sp>
        <p:nvSpPr>
          <p:cNvPr id="8" name="Text Box 30"/>
          <p:cNvSpPr txBox="1">
            <a:spLocks noChangeArrowheads="1"/>
          </p:cNvSpPr>
          <p:nvPr/>
        </p:nvSpPr>
        <p:spPr bwMode="auto">
          <a:xfrm>
            <a:off x="4500562" y="4786322"/>
            <a:ext cx="4104456" cy="9048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200" b="1" dirty="0" smtClean="0">
                <a:solidFill>
                  <a:srgbClr val="0070C0"/>
                </a:solidFill>
              </a:rPr>
              <a:t>间距</a:t>
            </a:r>
            <a:r>
              <a:rPr lang="zh-CN" altLang="en-US" sz="2200" b="1" dirty="0">
                <a:solidFill>
                  <a:srgbClr val="0070C0"/>
                </a:solidFill>
              </a:rPr>
              <a:t>等于公差值</a:t>
            </a:r>
            <a:r>
              <a:rPr lang="en-US" altLang="zh-CN" sz="2200" b="1" i="1" dirty="0">
                <a:solidFill>
                  <a:srgbClr val="FF0000"/>
                </a:solidFill>
              </a:rPr>
              <a:t>t</a:t>
            </a:r>
            <a:r>
              <a:rPr lang="zh-CN" altLang="en-US" sz="2200" b="1" dirty="0">
                <a:solidFill>
                  <a:srgbClr val="00B050"/>
                </a:solidFill>
              </a:rPr>
              <a:t>平行于基准轴线</a:t>
            </a:r>
            <a:r>
              <a:rPr lang="zh-CN" altLang="en-US" sz="2200" b="1" dirty="0">
                <a:solidFill>
                  <a:srgbClr val="0070C0"/>
                </a:solidFill>
              </a:rPr>
              <a:t>的</a:t>
            </a:r>
            <a:r>
              <a:rPr lang="zh-CN" altLang="en-US" sz="2200" b="1" dirty="0">
                <a:solidFill>
                  <a:srgbClr val="FF0000"/>
                </a:solidFill>
              </a:rPr>
              <a:t>两</a:t>
            </a:r>
            <a:r>
              <a:rPr lang="zh-CN" altLang="en-US" sz="2200" b="1" dirty="0" smtClean="0">
                <a:solidFill>
                  <a:srgbClr val="FF0000"/>
                </a:solidFill>
              </a:rPr>
              <a:t>平行平面</a:t>
            </a:r>
            <a:r>
              <a:rPr lang="zh-CN" altLang="en-US" sz="2200" b="1" dirty="0">
                <a:solidFill>
                  <a:srgbClr val="0070C0"/>
                </a:solidFill>
              </a:rPr>
              <a:t>所限定的</a:t>
            </a:r>
            <a:r>
              <a:rPr lang="zh-CN" altLang="en-US" sz="2200" b="1" dirty="0" smtClean="0">
                <a:solidFill>
                  <a:srgbClr val="0070C0"/>
                </a:solidFill>
              </a:rPr>
              <a:t>区域。</a:t>
            </a:r>
            <a:endParaRPr lang="zh-CN" altLang="en-US" sz="2200" b="1" dirty="0">
              <a:solidFill>
                <a:srgbClr val="0070C0"/>
              </a:solidFill>
            </a:endParaRPr>
          </a:p>
        </p:txBody>
      </p:sp>
      <p:sp>
        <p:nvSpPr>
          <p:cNvPr id="2" name="Text Box 5"/>
          <p:cNvSpPr txBox="1">
            <a:spLocks noChangeArrowheads="1"/>
          </p:cNvSpPr>
          <p:nvPr/>
        </p:nvSpPr>
        <p:spPr bwMode="auto">
          <a:xfrm>
            <a:off x="251521" y="182966"/>
            <a:ext cx="4177603"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smtClean="0"/>
              <a:t>（</a:t>
            </a:r>
            <a:r>
              <a:rPr lang="en-US" altLang="zh-CN" sz="2800" b="1" dirty="0" smtClean="0"/>
              <a:t>1</a:t>
            </a:r>
            <a:r>
              <a:rPr lang="zh-CN" altLang="en-US" sz="2800" b="1" dirty="0" smtClean="0"/>
              <a:t>）平行度公差标注</a:t>
            </a:r>
          </a:p>
        </p:txBody>
      </p:sp>
      <p:sp>
        <p:nvSpPr>
          <p:cNvPr id="3" name="矩形 2"/>
          <p:cNvSpPr/>
          <p:nvPr/>
        </p:nvSpPr>
        <p:spPr>
          <a:xfrm>
            <a:off x="683260" y="1265555"/>
            <a:ext cx="7995920" cy="706755"/>
          </a:xfrm>
          <a:prstGeom prst="rect">
            <a:avLst/>
          </a:prstGeom>
        </p:spPr>
        <p:txBody>
          <a:bodyPr wrap="square">
            <a:spAutoFit/>
          </a:bodyPr>
          <a:lstStyle/>
          <a:p>
            <a:r>
              <a:rPr lang="zh-CN" altLang="en-US" sz="2000" b="1" dirty="0" smtClean="0"/>
              <a:t>         提取</a:t>
            </a:r>
            <a:r>
              <a:rPr lang="en-US" altLang="zh-CN" sz="2000" b="1" dirty="0"/>
              <a:t>(</a:t>
            </a:r>
            <a:r>
              <a:rPr lang="zh-CN" altLang="en-US" sz="2000" b="1" dirty="0"/>
              <a:t>实际</a:t>
            </a:r>
            <a:r>
              <a:rPr lang="en-US" altLang="zh-CN" sz="2000" b="1" dirty="0"/>
              <a:t>) </a:t>
            </a:r>
            <a:r>
              <a:rPr lang="zh-CN" altLang="en-US" sz="2000" b="1" dirty="0"/>
              <a:t>中心线应限定在平行于基准平面</a:t>
            </a:r>
            <a:r>
              <a:rPr lang="en-US" altLang="zh-CN" sz="2000" b="1" i="1" dirty="0"/>
              <a:t>B</a:t>
            </a:r>
            <a:r>
              <a:rPr lang="zh-CN" altLang="en-US" sz="2000" b="1" dirty="0"/>
              <a:t>、间距等于</a:t>
            </a:r>
            <a:r>
              <a:rPr lang="en-US" altLang="zh-CN" sz="2000" b="1" dirty="0"/>
              <a:t>0. 01</a:t>
            </a:r>
          </a:p>
          <a:p>
            <a:r>
              <a:rPr lang="zh-CN" altLang="en-US" sz="2000" b="1" dirty="0"/>
              <a:t>的两平行平面</a:t>
            </a:r>
            <a:r>
              <a:rPr lang="zh-CN" altLang="en-US" sz="2000" b="1" dirty="0" smtClean="0"/>
              <a:t>之间。</a:t>
            </a:r>
            <a:endParaRPr lang="zh-CN" altLang="en-US" sz="2000" b="1" dirty="0"/>
          </a:p>
        </p:txBody>
      </p:sp>
      <p:pic>
        <p:nvPicPr>
          <p:cNvPr id="22659" name="Picture 13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330960" y="2027375"/>
            <a:ext cx="3026726" cy="21191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2660" name="Picture 13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15826" y="2016393"/>
            <a:ext cx="2999446" cy="21720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2662" name="Picture 13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331595" y="4379595"/>
            <a:ext cx="2600325" cy="19297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2"/>
                                        </p:tgtEl>
                                        <p:attrNameLst>
                                          <p:attrName>style.visibility</p:attrName>
                                        </p:attrNameLst>
                                      </p:cBhvr>
                                      <p:to>
                                        <p:strVal val="visible"/>
                                      </p:to>
                                    </p:set>
                                    <p:animEffect transition="in" filter="wipe(left)">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8"/>
                                        </p:tgtEl>
                                        <p:attrNameLst>
                                          <p:attrName>style.visibility</p:attrName>
                                        </p:attrNameLst>
                                      </p:cBhvr>
                                      <p:to>
                                        <p:strVal val="visible"/>
                                      </p:to>
                                    </p:set>
                                    <p:animEffect transition="in" filter="wipe(left)">
                                      <p:cBhvr>
                                        <p:cTn id="17" dur="3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2659"/>
                                        </p:tgtEl>
                                        <p:attrNameLst>
                                          <p:attrName>style.visibility</p:attrName>
                                        </p:attrNameLst>
                                      </p:cBhvr>
                                      <p:to>
                                        <p:strVal val="visible"/>
                                      </p:to>
                                    </p:set>
                                    <p:anim calcmode="lin" valueType="num">
                                      <p:cBhvr additive="base">
                                        <p:cTn id="22" dur="500" fill="hold"/>
                                        <p:tgtEl>
                                          <p:spTgt spid="22659"/>
                                        </p:tgtEl>
                                        <p:attrNameLst>
                                          <p:attrName>ppt_x</p:attrName>
                                        </p:attrNameLst>
                                      </p:cBhvr>
                                      <p:tavLst>
                                        <p:tav tm="0">
                                          <p:val>
                                            <p:strVal val="#ppt_x"/>
                                          </p:val>
                                        </p:tav>
                                        <p:tav tm="100000">
                                          <p:val>
                                            <p:strVal val="#ppt_x"/>
                                          </p:val>
                                        </p:tav>
                                      </p:tavLst>
                                    </p:anim>
                                    <p:anim calcmode="lin" valueType="num">
                                      <p:cBhvr additive="base">
                                        <p:cTn id="23" dur="500" fill="hold"/>
                                        <p:tgtEl>
                                          <p:spTgt spid="22659"/>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2660"/>
                                        </p:tgtEl>
                                        <p:attrNameLst>
                                          <p:attrName>style.visibility</p:attrName>
                                        </p:attrNameLst>
                                      </p:cBhvr>
                                      <p:to>
                                        <p:strVal val="visible"/>
                                      </p:to>
                                    </p:set>
                                    <p:anim calcmode="lin" valueType="num">
                                      <p:cBhvr>
                                        <p:cTn id="28" dur="500" fill="hold"/>
                                        <p:tgtEl>
                                          <p:spTgt spid="22660"/>
                                        </p:tgtEl>
                                        <p:attrNameLst>
                                          <p:attrName>ppt_w</p:attrName>
                                        </p:attrNameLst>
                                      </p:cBhvr>
                                      <p:tavLst>
                                        <p:tav tm="0">
                                          <p:val>
                                            <p:fltVal val="0"/>
                                          </p:val>
                                        </p:tav>
                                        <p:tav tm="100000">
                                          <p:val>
                                            <p:strVal val="#ppt_w"/>
                                          </p:val>
                                        </p:tav>
                                      </p:tavLst>
                                    </p:anim>
                                    <p:anim calcmode="lin" valueType="num">
                                      <p:cBhvr>
                                        <p:cTn id="29" dur="500" fill="hold"/>
                                        <p:tgtEl>
                                          <p:spTgt spid="22660"/>
                                        </p:tgtEl>
                                        <p:attrNameLst>
                                          <p:attrName>ppt_h</p:attrName>
                                        </p:attrNameLst>
                                      </p:cBhvr>
                                      <p:tavLst>
                                        <p:tav tm="0">
                                          <p:val>
                                            <p:fltVal val="0"/>
                                          </p:val>
                                        </p:tav>
                                        <p:tav tm="100000">
                                          <p:val>
                                            <p:strVal val="#ppt_h"/>
                                          </p:val>
                                        </p:tav>
                                      </p:tavLst>
                                    </p:anim>
                                    <p:animEffect transition="in" filter="fade">
                                      <p:cBhvr>
                                        <p:cTn id="30" dur="500"/>
                                        <p:tgtEl>
                                          <p:spTgt spid="2266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22662"/>
                                        </p:tgtEl>
                                        <p:attrNameLst>
                                          <p:attrName>style.visibility</p:attrName>
                                        </p:attrNameLst>
                                      </p:cBhvr>
                                      <p:to>
                                        <p:strVal val="visible"/>
                                      </p:to>
                                    </p:set>
                                    <p:anim calcmode="lin" valueType="num">
                                      <p:cBhvr additive="base">
                                        <p:cTn id="40" dur="500" fill="hold"/>
                                        <p:tgtEl>
                                          <p:spTgt spid="22662"/>
                                        </p:tgtEl>
                                        <p:attrNameLst>
                                          <p:attrName>ppt_x</p:attrName>
                                        </p:attrNameLst>
                                      </p:cBhvr>
                                      <p:tavLst>
                                        <p:tav tm="0">
                                          <p:val>
                                            <p:strVal val="1+#ppt_w/2"/>
                                          </p:val>
                                        </p:tav>
                                        <p:tav tm="100000">
                                          <p:val>
                                            <p:strVal val="#ppt_x"/>
                                          </p:val>
                                        </p:tav>
                                      </p:tavLst>
                                    </p:anim>
                                    <p:anim calcmode="lin" valueType="num">
                                      <p:cBhvr additive="base">
                                        <p:cTn id="41" dur="500" fill="hold"/>
                                        <p:tgtEl>
                                          <p:spTgt spid="226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ldLvl="0" animBg="1" autoUpdateAnimBg="0"/>
      <p:bldP spid="2" grpId="0" bldLvl="0" animBg="1" autoUpdateAnimBg="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0544B191-7D4A-4B22-A180-F12083844DDB}" type="slidenum">
              <a:rPr lang="en-US" altLang="zh-CN" smtClean="0"/>
              <a:pPr>
                <a:defRPr/>
              </a:pPr>
              <a:t>14</a:t>
            </a:fld>
            <a:endParaRPr lang="en-US" altLang="zh-CN"/>
          </a:p>
        </p:txBody>
      </p:sp>
      <p:cxnSp>
        <p:nvCxnSpPr>
          <p:cNvPr id="5" name="直接连接符 4"/>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 name="TextBox 6"/>
          <p:cNvSpPr txBox="1"/>
          <p:nvPr/>
        </p:nvSpPr>
        <p:spPr>
          <a:xfrm>
            <a:off x="755576" y="797224"/>
            <a:ext cx="1152128" cy="461665"/>
          </a:xfrm>
          <a:prstGeom prst="rect">
            <a:avLst/>
          </a:prstGeom>
          <a:noFill/>
        </p:spPr>
        <p:txBody>
          <a:bodyPr wrap="square" rtlCol="0">
            <a:spAutoFit/>
          </a:bodyPr>
          <a:lstStyle/>
          <a:p>
            <a:r>
              <a:rPr lang="zh-CN" altLang="en-US" b="1" dirty="0" smtClean="0">
                <a:solidFill>
                  <a:srgbClr val="00B0F0"/>
                </a:solidFill>
                <a:effectLst>
                  <a:outerShdw blurRad="38100" dist="38100" dir="2700000" algn="tl">
                    <a:srgbClr val="000000">
                      <a:alpha val="43137"/>
                    </a:srgbClr>
                  </a:outerShdw>
                </a:effectLst>
              </a:rPr>
              <a:t>线对线</a:t>
            </a:r>
            <a:endParaRPr lang="zh-CN" altLang="en-US" b="1" dirty="0">
              <a:solidFill>
                <a:srgbClr val="00B0F0"/>
              </a:solidFill>
              <a:effectLst>
                <a:outerShdw blurRad="38100" dist="38100" dir="2700000" algn="tl">
                  <a:srgbClr val="000000">
                    <a:alpha val="43137"/>
                  </a:srgbClr>
                </a:outerShdw>
              </a:effectLst>
            </a:endParaRPr>
          </a:p>
        </p:txBody>
      </p:sp>
      <p:sp>
        <p:nvSpPr>
          <p:cNvPr id="8" name="TextBox 7"/>
          <p:cNvSpPr txBox="1"/>
          <p:nvPr/>
        </p:nvSpPr>
        <p:spPr>
          <a:xfrm>
            <a:off x="5219442" y="5085113"/>
            <a:ext cx="2808312" cy="70788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2000" b="1" dirty="0" smtClean="0">
                <a:effectLst>
                  <a:outerShdw blurRad="38100" dist="38100" dir="2700000" algn="tl">
                    <a:srgbClr val="000000">
                      <a:alpha val="43137"/>
                    </a:srgbClr>
                  </a:outerShdw>
                </a:effectLst>
              </a:rPr>
              <a:t>公差带的形状是</a:t>
            </a:r>
            <a:r>
              <a:rPr lang="zh-CN" altLang="en-US" sz="2000" b="1" dirty="0" smtClean="0">
                <a:solidFill>
                  <a:srgbClr val="FF0000"/>
                </a:solidFill>
                <a:effectLst>
                  <a:outerShdw blurRad="38100" dist="38100" dir="2700000" algn="tl">
                    <a:srgbClr val="000000">
                      <a:alpha val="43137"/>
                    </a:srgbClr>
                  </a:outerShdw>
                </a:effectLst>
              </a:rPr>
              <a:t>直径为</a:t>
            </a:r>
            <a:r>
              <a:rPr lang="el-GR" altLang="zh-CN" sz="2000" b="1" dirty="0" smtClean="0">
                <a:solidFill>
                  <a:srgbClr val="FF0000"/>
                </a:solidFill>
                <a:effectLst>
                  <a:outerShdw blurRad="38100" dist="38100" dir="2700000" algn="tl">
                    <a:srgbClr val="000000">
                      <a:alpha val="43137"/>
                    </a:srgbClr>
                  </a:outerShdw>
                </a:effectLst>
              </a:rPr>
              <a:t>Φ</a:t>
            </a:r>
            <a:r>
              <a:rPr lang="en-US" altLang="zh-CN" sz="2000" b="1" dirty="0" smtClean="0">
                <a:solidFill>
                  <a:srgbClr val="FF0000"/>
                </a:solidFill>
                <a:effectLst>
                  <a:outerShdw blurRad="38100" dist="38100" dir="2700000" algn="tl">
                    <a:srgbClr val="000000">
                      <a:alpha val="43137"/>
                    </a:srgbClr>
                  </a:outerShdw>
                </a:effectLst>
              </a:rPr>
              <a:t>t</a:t>
            </a:r>
            <a:r>
              <a:rPr lang="zh-CN" altLang="en-US" sz="2000" b="1" dirty="0" smtClean="0">
                <a:solidFill>
                  <a:srgbClr val="FF0000"/>
                </a:solidFill>
                <a:effectLst>
                  <a:outerShdw blurRad="38100" dist="38100" dir="2700000" algn="tl">
                    <a:srgbClr val="000000">
                      <a:alpha val="43137"/>
                    </a:srgbClr>
                  </a:outerShdw>
                </a:effectLst>
              </a:rPr>
              <a:t>的圆柱</a:t>
            </a:r>
            <a:endParaRPr lang="zh-CN" altLang="en-US" sz="2000" b="1" dirty="0">
              <a:solidFill>
                <a:srgbClr val="FF0000"/>
              </a:solidFill>
              <a:effectLst>
                <a:outerShdw blurRad="38100" dist="38100" dir="2700000" algn="tl">
                  <a:srgbClr val="000000">
                    <a:alpha val="43137"/>
                  </a:srgbClr>
                </a:outerShdw>
              </a:effectLst>
            </a:endParaRPr>
          </a:p>
        </p:txBody>
      </p:sp>
      <p:sp>
        <p:nvSpPr>
          <p:cNvPr id="2" name="Text Box 5"/>
          <p:cNvSpPr txBox="1">
            <a:spLocks noChangeArrowheads="1"/>
          </p:cNvSpPr>
          <p:nvPr/>
        </p:nvSpPr>
        <p:spPr bwMode="auto">
          <a:xfrm>
            <a:off x="251521" y="182966"/>
            <a:ext cx="4177603"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smtClean="0"/>
              <a:t>（</a:t>
            </a:r>
            <a:r>
              <a:rPr lang="en-US" altLang="zh-CN" sz="2800" b="1" dirty="0" smtClean="0"/>
              <a:t>1</a:t>
            </a:r>
            <a:r>
              <a:rPr lang="zh-CN" altLang="en-US" sz="2800" b="1" dirty="0" smtClean="0"/>
              <a:t>）平行度公差标注</a:t>
            </a:r>
          </a:p>
        </p:txBody>
      </p:sp>
      <p:sp>
        <p:nvSpPr>
          <p:cNvPr id="3" name="矩形 2"/>
          <p:cNvSpPr/>
          <p:nvPr/>
        </p:nvSpPr>
        <p:spPr>
          <a:xfrm>
            <a:off x="611505" y="1274445"/>
            <a:ext cx="7992110" cy="706755"/>
          </a:xfrm>
          <a:prstGeom prst="rect">
            <a:avLst/>
          </a:prstGeom>
        </p:spPr>
        <p:txBody>
          <a:bodyPr wrap="square">
            <a:spAutoFit/>
          </a:bodyPr>
          <a:lstStyle/>
          <a:p>
            <a:r>
              <a:rPr lang="zh-CN" altLang="en-US" sz="2000" b="1" dirty="0" smtClean="0"/>
              <a:t>          提取</a:t>
            </a:r>
            <a:r>
              <a:rPr lang="en-US" altLang="zh-CN" sz="2000" b="1" dirty="0"/>
              <a:t>(</a:t>
            </a:r>
            <a:r>
              <a:rPr lang="zh-CN" altLang="en-US" sz="2000" b="1" dirty="0"/>
              <a:t>实际</a:t>
            </a:r>
            <a:r>
              <a:rPr lang="en-US" altLang="zh-CN" sz="2000" b="1" dirty="0"/>
              <a:t>) </a:t>
            </a:r>
            <a:r>
              <a:rPr lang="zh-CN" altLang="en-US" sz="2000" b="1" dirty="0"/>
              <a:t>中心线应限定在平行于基准轴线</a:t>
            </a:r>
            <a:r>
              <a:rPr lang="en-US" altLang="zh-CN" sz="2000" b="1" i="1" dirty="0"/>
              <a:t>A</a:t>
            </a:r>
            <a:r>
              <a:rPr lang="zh-CN" altLang="en-US" sz="2000" b="1" dirty="0"/>
              <a:t>、直径</a:t>
            </a:r>
            <a:r>
              <a:rPr lang="zh-CN" altLang="en-US" sz="2000" b="1" dirty="0" smtClean="0"/>
              <a:t>等于</a:t>
            </a:r>
            <a:r>
              <a:rPr lang="el-GR" altLang="zh-CN" sz="2000" b="1" i="1" dirty="0" smtClean="0">
                <a:latin typeface="Times New Roman" panose="02020603050405020304"/>
                <a:cs typeface="Times New Roman" panose="02020603050405020304"/>
              </a:rPr>
              <a:t>ϕ</a:t>
            </a:r>
            <a:r>
              <a:rPr lang="en-US" altLang="zh-CN" sz="2000" b="1" dirty="0" smtClean="0"/>
              <a:t>0. </a:t>
            </a:r>
            <a:r>
              <a:rPr lang="en-US" altLang="zh-CN" sz="2000" b="1" dirty="0"/>
              <a:t>03 </a:t>
            </a:r>
            <a:r>
              <a:rPr lang="zh-CN" altLang="en-US" sz="2000" b="1" dirty="0"/>
              <a:t>的圆柱面</a:t>
            </a:r>
            <a:r>
              <a:rPr lang="zh-CN" altLang="en-US" sz="2000" b="1" dirty="0" smtClean="0"/>
              <a:t>内。</a:t>
            </a:r>
            <a:endParaRPr lang="zh-CN" altLang="en-US" sz="2000" b="1" dirty="0"/>
          </a:p>
        </p:txBody>
      </p:sp>
      <p:pic>
        <p:nvPicPr>
          <p:cNvPr id="22663" name="Picture 13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13205" y="2159635"/>
            <a:ext cx="2724785" cy="20173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2664" name="Picture 136"/>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87900" y="2225040"/>
            <a:ext cx="2809240" cy="19678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2666" name="Picture 138"/>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615440" y="4314190"/>
            <a:ext cx="2487930" cy="20370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2"/>
                                        </p:tgtEl>
                                        <p:attrNameLst>
                                          <p:attrName>style.visibility</p:attrName>
                                        </p:attrNameLst>
                                      </p:cBhvr>
                                      <p:to>
                                        <p:strVal val="visible"/>
                                      </p:to>
                                    </p:set>
                                    <p:animEffect transition="in" filter="wipe(left)">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2663"/>
                                        </p:tgtEl>
                                        <p:attrNameLst>
                                          <p:attrName>style.visibility</p:attrName>
                                        </p:attrNameLst>
                                      </p:cBhvr>
                                      <p:to>
                                        <p:strVal val="visible"/>
                                      </p:to>
                                    </p:set>
                                    <p:anim calcmode="lin" valueType="num">
                                      <p:cBhvr additive="base">
                                        <p:cTn id="17" dur="500" fill="hold"/>
                                        <p:tgtEl>
                                          <p:spTgt spid="22663"/>
                                        </p:tgtEl>
                                        <p:attrNameLst>
                                          <p:attrName>ppt_x</p:attrName>
                                        </p:attrNameLst>
                                      </p:cBhvr>
                                      <p:tavLst>
                                        <p:tav tm="0">
                                          <p:val>
                                            <p:strVal val="#ppt_x"/>
                                          </p:val>
                                        </p:tav>
                                        <p:tav tm="100000">
                                          <p:val>
                                            <p:strVal val="#ppt_x"/>
                                          </p:val>
                                        </p:tav>
                                      </p:tavLst>
                                    </p:anim>
                                    <p:anim calcmode="lin" valueType="num">
                                      <p:cBhvr additive="base">
                                        <p:cTn id="18" dur="500" fill="hold"/>
                                        <p:tgtEl>
                                          <p:spTgt spid="2266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2664"/>
                                        </p:tgtEl>
                                        <p:attrNameLst>
                                          <p:attrName>style.visibility</p:attrName>
                                        </p:attrNameLst>
                                      </p:cBhvr>
                                      <p:to>
                                        <p:strVal val="visible"/>
                                      </p:to>
                                    </p:set>
                                    <p:anim calcmode="lin" valueType="num">
                                      <p:cBhvr additive="base">
                                        <p:cTn id="23" dur="500" fill="hold"/>
                                        <p:tgtEl>
                                          <p:spTgt spid="22664"/>
                                        </p:tgtEl>
                                        <p:attrNameLst>
                                          <p:attrName>ppt_x</p:attrName>
                                        </p:attrNameLst>
                                      </p:cBhvr>
                                      <p:tavLst>
                                        <p:tav tm="0">
                                          <p:val>
                                            <p:strVal val="#ppt_x"/>
                                          </p:val>
                                        </p:tav>
                                        <p:tav tm="100000">
                                          <p:val>
                                            <p:strVal val="#ppt_x"/>
                                          </p:val>
                                        </p:tav>
                                      </p:tavLst>
                                    </p:anim>
                                    <p:anim calcmode="lin" valueType="num">
                                      <p:cBhvr additive="base">
                                        <p:cTn id="24" dur="500" fill="hold"/>
                                        <p:tgtEl>
                                          <p:spTgt spid="2266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22666"/>
                                        </p:tgtEl>
                                        <p:attrNameLst>
                                          <p:attrName>style.visibility</p:attrName>
                                        </p:attrNameLst>
                                      </p:cBhvr>
                                      <p:to>
                                        <p:strVal val="visible"/>
                                      </p:to>
                                    </p:set>
                                    <p:anim calcmode="lin" valueType="num">
                                      <p:cBhvr additive="base">
                                        <p:cTn id="34" dur="500" fill="hold"/>
                                        <p:tgtEl>
                                          <p:spTgt spid="22666"/>
                                        </p:tgtEl>
                                        <p:attrNameLst>
                                          <p:attrName>ppt_x</p:attrName>
                                        </p:attrNameLst>
                                      </p:cBhvr>
                                      <p:tavLst>
                                        <p:tav tm="0">
                                          <p:val>
                                            <p:strVal val="1+#ppt_w/2"/>
                                          </p:val>
                                        </p:tav>
                                        <p:tav tm="100000">
                                          <p:val>
                                            <p:strVal val="#ppt_x"/>
                                          </p:val>
                                        </p:tav>
                                      </p:tavLst>
                                    </p:anim>
                                    <p:anim calcmode="lin" valueType="num">
                                      <p:cBhvr additive="base">
                                        <p:cTn id="35" dur="500" fill="hold"/>
                                        <p:tgtEl>
                                          <p:spTgt spid="226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bldLvl="0" animBg="1" autoUpdateAnimBg="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0544B191-7D4A-4B22-A180-F12083844DDB}" type="slidenum">
              <a:rPr lang="en-US" altLang="zh-CN"/>
              <a:pPr>
                <a:defRPr/>
              </a:pPr>
              <a:t>15</a:t>
            </a:fld>
            <a:endParaRPr lang="en-US" altLang="zh-CN"/>
          </a:p>
        </p:txBody>
      </p:sp>
      <p:cxnSp>
        <p:nvCxnSpPr>
          <p:cNvPr id="5" name="直接连接符 4"/>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 name="Text Box 5"/>
          <p:cNvSpPr txBox="1">
            <a:spLocks noChangeArrowheads="1"/>
          </p:cNvSpPr>
          <p:nvPr/>
        </p:nvSpPr>
        <p:spPr bwMode="auto">
          <a:xfrm>
            <a:off x="251521" y="182966"/>
            <a:ext cx="4034727"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smtClean="0"/>
              <a:t>（</a:t>
            </a:r>
            <a:r>
              <a:rPr lang="en-US" altLang="zh-CN" sz="2800" b="1" dirty="0" smtClean="0"/>
              <a:t>1</a:t>
            </a:r>
            <a:r>
              <a:rPr lang="zh-CN" altLang="en-US" sz="2800" b="1" dirty="0" smtClean="0"/>
              <a:t>）平行度公差标注</a:t>
            </a:r>
          </a:p>
        </p:txBody>
      </p:sp>
      <p:sp>
        <p:nvSpPr>
          <p:cNvPr id="7" name="矩形 6"/>
          <p:cNvSpPr/>
          <p:nvPr/>
        </p:nvSpPr>
        <p:spPr>
          <a:xfrm>
            <a:off x="539750" y="1259205"/>
            <a:ext cx="8321040" cy="1014730"/>
          </a:xfrm>
          <a:prstGeom prst="rect">
            <a:avLst/>
          </a:prstGeom>
        </p:spPr>
        <p:txBody>
          <a:bodyPr wrap="square">
            <a:spAutoFit/>
          </a:bodyPr>
          <a:lstStyle/>
          <a:p>
            <a:r>
              <a:rPr lang="zh-CN" altLang="en-US" sz="2000" b="1" dirty="0" smtClean="0"/>
              <a:t>         提取</a:t>
            </a:r>
            <a:r>
              <a:rPr lang="en-US" altLang="zh-CN" sz="2000" b="1" dirty="0"/>
              <a:t>(</a:t>
            </a:r>
            <a:r>
              <a:rPr lang="zh-CN" altLang="en-US" sz="2000" b="1" dirty="0"/>
              <a:t>实际</a:t>
            </a:r>
            <a:r>
              <a:rPr lang="en-US" altLang="zh-CN" sz="2000" b="1" dirty="0"/>
              <a:t>) </a:t>
            </a:r>
            <a:r>
              <a:rPr lang="zh-CN" altLang="en-US" sz="2000" b="1" dirty="0"/>
              <a:t>中心线应限定在间距等于</a:t>
            </a:r>
            <a:r>
              <a:rPr lang="en-US" altLang="zh-CN" sz="2000" b="1" dirty="0"/>
              <a:t>0. 1</a:t>
            </a:r>
            <a:r>
              <a:rPr lang="zh-CN" altLang="en-US" sz="2000" b="1" dirty="0"/>
              <a:t>、平行于基准轴线</a:t>
            </a:r>
            <a:r>
              <a:rPr lang="en-US" altLang="zh-CN" sz="2000" b="1" i="1" dirty="0" smtClean="0"/>
              <a:t>A</a:t>
            </a:r>
            <a:r>
              <a:rPr lang="zh-CN" altLang="en-US" sz="2000" b="1" dirty="0" smtClean="0"/>
              <a:t>的</a:t>
            </a:r>
            <a:r>
              <a:rPr lang="zh-CN" altLang="en-US" sz="2000" b="1" dirty="0"/>
              <a:t>两平行平面之间。限定公差带的平面均平行于由</a:t>
            </a:r>
            <a:r>
              <a:rPr lang="zh-CN" altLang="en-US" sz="2000" b="1" dirty="0">
                <a:solidFill>
                  <a:srgbClr val="FF0000"/>
                </a:solidFill>
              </a:rPr>
              <a:t>定向平面框格</a:t>
            </a:r>
            <a:r>
              <a:rPr lang="zh-CN" altLang="en-US" sz="2000" b="1" dirty="0"/>
              <a:t>规定的基准平面</a:t>
            </a:r>
            <a:r>
              <a:rPr lang="en-US" altLang="zh-CN" sz="2000" b="1" i="1" dirty="0"/>
              <a:t>B</a:t>
            </a:r>
            <a:r>
              <a:rPr lang="zh-CN" altLang="en-US" sz="2000" b="1" dirty="0"/>
              <a:t>。基准</a:t>
            </a:r>
            <a:r>
              <a:rPr lang="en-US" altLang="zh-CN" sz="2000" b="1" i="1" dirty="0"/>
              <a:t>B</a:t>
            </a:r>
            <a:r>
              <a:rPr lang="en-US" altLang="zh-CN" sz="2000" b="1" dirty="0"/>
              <a:t> </a:t>
            </a:r>
            <a:r>
              <a:rPr lang="zh-CN" altLang="en-US" sz="2000" b="1" dirty="0"/>
              <a:t>为基准</a:t>
            </a:r>
            <a:r>
              <a:rPr lang="en-US" altLang="zh-CN" sz="2000" b="1" i="1" dirty="0"/>
              <a:t>A</a:t>
            </a:r>
            <a:r>
              <a:rPr lang="en-US" altLang="zh-CN" sz="2000" b="1" dirty="0"/>
              <a:t> </a:t>
            </a:r>
            <a:r>
              <a:rPr lang="zh-CN" altLang="en-US" sz="2000" b="1" dirty="0"/>
              <a:t>的辅助基准。</a:t>
            </a:r>
          </a:p>
        </p:txBody>
      </p:sp>
      <p:sp>
        <p:nvSpPr>
          <p:cNvPr id="8" name="矩形 7"/>
          <p:cNvSpPr/>
          <p:nvPr/>
        </p:nvSpPr>
        <p:spPr>
          <a:xfrm>
            <a:off x="1000100" y="5000636"/>
            <a:ext cx="4071966" cy="1014730"/>
          </a:xfrm>
          <a:prstGeom prst="rect">
            <a:avLst/>
          </a:prstGeom>
        </p:spPr>
        <p:txBody>
          <a:bodyPr wrap="square">
            <a:spAutoFit/>
          </a:bodyPr>
          <a:lstStyle/>
          <a:p>
            <a:r>
              <a:rPr lang="zh-CN" altLang="en-US" sz="2000" b="1" dirty="0" smtClean="0"/>
              <a:t>         公差带</a:t>
            </a:r>
            <a:r>
              <a:rPr lang="zh-CN" altLang="en-US" sz="2000" b="1" dirty="0"/>
              <a:t>为间距等于公差</a:t>
            </a:r>
            <a:r>
              <a:rPr lang="zh-CN" altLang="en-US" sz="2000" b="1" dirty="0" smtClean="0"/>
              <a:t>值 </a:t>
            </a:r>
            <a:r>
              <a:rPr lang="en-US" altLang="zh-CN" sz="2000" b="1" i="1" dirty="0" smtClean="0"/>
              <a:t>t</a:t>
            </a:r>
            <a:r>
              <a:rPr lang="zh-CN" altLang="en-US" sz="2000" b="1" dirty="0"/>
              <a:t>、</a:t>
            </a:r>
            <a:r>
              <a:rPr lang="zh-CN" altLang="en-US" sz="2000" b="1" dirty="0" smtClean="0">
                <a:solidFill>
                  <a:srgbClr val="FF0000"/>
                </a:solidFill>
              </a:rPr>
              <a:t>平行于</a:t>
            </a:r>
            <a:r>
              <a:rPr lang="zh-CN" altLang="en-US" sz="2000" b="1" dirty="0">
                <a:solidFill>
                  <a:srgbClr val="FF0000"/>
                </a:solidFill>
              </a:rPr>
              <a:t>两基准且沿规定方向的两平行</a:t>
            </a:r>
            <a:r>
              <a:rPr lang="zh-CN" altLang="en-US" sz="2000" b="1" dirty="0" smtClean="0">
                <a:solidFill>
                  <a:srgbClr val="FF0000"/>
                </a:solidFill>
              </a:rPr>
              <a:t>平面</a:t>
            </a:r>
            <a:r>
              <a:rPr lang="zh-CN" altLang="en-US" sz="2000" b="1" dirty="0" smtClean="0"/>
              <a:t>所</a:t>
            </a:r>
            <a:r>
              <a:rPr lang="zh-CN" altLang="en-US" sz="2000" b="1" dirty="0"/>
              <a:t>限定的</a:t>
            </a:r>
            <a:r>
              <a:rPr lang="zh-CN" altLang="en-US" sz="2000" b="1" dirty="0" smtClean="0"/>
              <a:t>区域。</a:t>
            </a:r>
            <a:endParaRPr lang="zh-CN" altLang="en-US" sz="2000" b="1" dirty="0"/>
          </a:p>
        </p:txBody>
      </p:sp>
      <p:pic>
        <p:nvPicPr>
          <p:cNvPr id="23687" name="Picture 135"/>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28662" y="2276474"/>
            <a:ext cx="5625465" cy="25098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3688" name="Picture 136"/>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364088" y="4077072"/>
            <a:ext cx="3241987" cy="19794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1" name="Text Box 12"/>
          <p:cNvSpPr txBox="1">
            <a:spLocks noChangeArrowheads="1"/>
          </p:cNvSpPr>
          <p:nvPr/>
        </p:nvSpPr>
        <p:spPr bwMode="auto">
          <a:xfrm>
            <a:off x="755571" y="788650"/>
            <a:ext cx="4536504"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ClrTx/>
              <a:buSzTx/>
              <a:buFontTx/>
            </a:pPr>
            <a:r>
              <a:rPr lang="zh-CN" altLang="en-US" sz="2400" b="1" dirty="0" smtClean="0">
                <a:solidFill>
                  <a:srgbClr val="00B0F0"/>
                </a:solidFill>
                <a:effectLst>
                  <a:outerShdw blurRad="38100" dist="38100" dir="2700000" algn="tl">
                    <a:srgbClr val="000000">
                      <a:alpha val="43137"/>
                    </a:srgbClr>
                  </a:outerShdw>
                </a:effectLst>
                <a:ea typeface="宋体" panose="02010600030101010101" pitchFamily="2" charset="-122"/>
              </a:rPr>
              <a:t>线对基准体系</a:t>
            </a:r>
            <a:endParaRPr lang="zh-CN" altLang="en-US" sz="2400" b="1" dirty="0" smtClean="0">
              <a:solidFill>
                <a:srgbClr val="00B0F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6"/>
                                        </p:tgtEl>
                                        <p:attrNameLst>
                                          <p:attrName>style.visibility</p:attrName>
                                        </p:attrNameLst>
                                      </p:cBhvr>
                                      <p:to>
                                        <p:strVal val="visible"/>
                                      </p:to>
                                    </p:set>
                                    <p:animEffect transition="in" filter="wipe(left)">
                                      <p:cBhvr>
                                        <p:cTn id="7" dur="300"/>
                                        <p:tgtEl>
                                          <p:spTgt spid="6"/>
                                        </p:tgtEl>
                                      </p:cBhvr>
                                    </p:animEffect>
                                  </p:childTnLst>
                                </p:cTn>
                              </p:par>
                            </p:childTnLst>
                          </p:cTn>
                        </p:par>
                        <p:par>
                          <p:cTn id="8" fill="hold">
                            <p:stCondLst>
                              <p:cond delay="21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21"/>
                                        </p:tgtEl>
                                        <p:attrNameLst>
                                          <p:attrName>style.visibility</p:attrName>
                                        </p:attrNameLst>
                                      </p:cBhvr>
                                      <p:to>
                                        <p:strVal val="visible"/>
                                      </p:to>
                                    </p:set>
                                    <p:animEffect transition="in" filter="wipe(left)">
                                      <p:cBhvr>
                                        <p:cTn id="11" dur="3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23687"/>
                                        </p:tgtEl>
                                        <p:attrNameLst>
                                          <p:attrName>style.visibility</p:attrName>
                                        </p:attrNameLst>
                                      </p:cBhvr>
                                      <p:to>
                                        <p:strVal val="visible"/>
                                      </p:to>
                                    </p:set>
                                    <p:anim calcmode="lin" valueType="num">
                                      <p:cBhvr additive="base">
                                        <p:cTn id="21" dur="500" fill="hold"/>
                                        <p:tgtEl>
                                          <p:spTgt spid="23687"/>
                                        </p:tgtEl>
                                        <p:attrNameLst>
                                          <p:attrName>ppt_x</p:attrName>
                                        </p:attrNameLst>
                                      </p:cBhvr>
                                      <p:tavLst>
                                        <p:tav tm="0">
                                          <p:val>
                                            <p:strVal val="0-#ppt_w/2"/>
                                          </p:val>
                                        </p:tav>
                                        <p:tav tm="100000">
                                          <p:val>
                                            <p:strVal val="#ppt_x"/>
                                          </p:val>
                                        </p:tav>
                                      </p:tavLst>
                                    </p:anim>
                                    <p:anim calcmode="lin" valueType="num">
                                      <p:cBhvr additive="base">
                                        <p:cTn id="22" dur="500" fill="hold"/>
                                        <p:tgtEl>
                                          <p:spTgt spid="23687"/>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3688"/>
                                        </p:tgtEl>
                                        <p:attrNameLst>
                                          <p:attrName>style.visibility</p:attrName>
                                        </p:attrNameLst>
                                      </p:cBhvr>
                                      <p:to>
                                        <p:strVal val="visible"/>
                                      </p:to>
                                    </p:set>
                                    <p:anim calcmode="lin" valueType="num">
                                      <p:cBhvr additive="base">
                                        <p:cTn id="32" dur="500" fill="hold"/>
                                        <p:tgtEl>
                                          <p:spTgt spid="23688"/>
                                        </p:tgtEl>
                                        <p:attrNameLst>
                                          <p:attrName>ppt_x</p:attrName>
                                        </p:attrNameLst>
                                      </p:cBhvr>
                                      <p:tavLst>
                                        <p:tav tm="0">
                                          <p:val>
                                            <p:strVal val="#ppt_x"/>
                                          </p:val>
                                        </p:tav>
                                        <p:tav tm="100000">
                                          <p:val>
                                            <p:strVal val="#ppt_x"/>
                                          </p:val>
                                        </p:tav>
                                      </p:tavLst>
                                    </p:anim>
                                    <p:anim calcmode="lin" valueType="num">
                                      <p:cBhvr additive="base">
                                        <p:cTn id="33" dur="500" fill="hold"/>
                                        <p:tgtEl>
                                          <p:spTgt spid="236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P spid="7" grpId="0"/>
      <p:bldP spid="8" grpId="0"/>
      <p:bldP spid="21" grpId="0" bldLvl="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0544B191-7D4A-4B22-A180-F12083844DDB}" type="slidenum">
              <a:rPr lang="en-US" altLang="zh-CN"/>
              <a:pPr>
                <a:defRPr/>
              </a:pPr>
              <a:t>16</a:t>
            </a:fld>
            <a:endParaRPr lang="en-US" altLang="zh-CN"/>
          </a:p>
        </p:txBody>
      </p:sp>
      <p:cxnSp>
        <p:nvCxnSpPr>
          <p:cNvPr id="5" name="直接连接符 4"/>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 name="Text Box 5"/>
          <p:cNvSpPr txBox="1">
            <a:spLocks noChangeArrowheads="1"/>
          </p:cNvSpPr>
          <p:nvPr/>
        </p:nvSpPr>
        <p:spPr bwMode="auto">
          <a:xfrm>
            <a:off x="251521" y="182966"/>
            <a:ext cx="4177603"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smtClean="0"/>
              <a:t>（</a:t>
            </a:r>
            <a:r>
              <a:rPr lang="en-US" altLang="zh-CN" sz="2800" b="1" dirty="0" smtClean="0"/>
              <a:t>1</a:t>
            </a:r>
            <a:r>
              <a:rPr lang="zh-CN" altLang="en-US" sz="2800" b="1" dirty="0" smtClean="0"/>
              <a:t>）平行度公差标注</a:t>
            </a:r>
          </a:p>
        </p:txBody>
      </p:sp>
      <p:sp>
        <p:nvSpPr>
          <p:cNvPr id="21" name="Text Box 12"/>
          <p:cNvSpPr txBox="1">
            <a:spLocks noChangeArrowheads="1"/>
          </p:cNvSpPr>
          <p:nvPr/>
        </p:nvSpPr>
        <p:spPr bwMode="auto">
          <a:xfrm>
            <a:off x="755571" y="788650"/>
            <a:ext cx="4536504"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ClrTx/>
              <a:buSzTx/>
              <a:buFontTx/>
            </a:pPr>
            <a:r>
              <a:rPr lang="zh-CN" altLang="en-US" sz="2400" b="1" dirty="0" smtClean="0">
                <a:solidFill>
                  <a:srgbClr val="00B0F0"/>
                </a:solidFill>
                <a:effectLst>
                  <a:outerShdw blurRad="38100" dist="38100" dir="2700000" algn="tl">
                    <a:srgbClr val="000000">
                      <a:alpha val="43137"/>
                    </a:srgbClr>
                  </a:outerShdw>
                </a:effectLst>
                <a:ea typeface="宋体" panose="02010600030101010101" pitchFamily="2" charset="-122"/>
              </a:rPr>
              <a:t>线对基准体系</a:t>
            </a:r>
          </a:p>
        </p:txBody>
      </p:sp>
      <p:sp>
        <p:nvSpPr>
          <p:cNvPr id="15" name="矩形 14"/>
          <p:cNvSpPr/>
          <p:nvPr/>
        </p:nvSpPr>
        <p:spPr>
          <a:xfrm>
            <a:off x="683260" y="1258570"/>
            <a:ext cx="8030210" cy="1014730"/>
          </a:xfrm>
          <a:prstGeom prst="rect">
            <a:avLst/>
          </a:prstGeom>
        </p:spPr>
        <p:txBody>
          <a:bodyPr wrap="square">
            <a:spAutoFit/>
          </a:bodyPr>
          <a:lstStyle/>
          <a:p>
            <a:r>
              <a:rPr lang="zh-CN" altLang="en-US" sz="2000" b="1" dirty="0" smtClean="0"/>
              <a:t>        每</a:t>
            </a:r>
            <a:r>
              <a:rPr lang="zh-CN" altLang="en-US" sz="2000" b="1" dirty="0"/>
              <a:t>条由</a:t>
            </a:r>
            <a:r>
              <a:rPr lang="zh-CN" altLang="en-US" sz="2000" b="1" dirty="0">
                <a:solidFill>
                  <a:srgbClr val="FF0000"/>
                </a:solidFill>
              </a:rPr>
              <a:t>相交平面框格</a:t>
            </a:r>
            <a:r>
              <a:rPr lang="zh-CN" altLang="en-US" sz="2000" b="1" dirty="0"/>
              <a:t>规定的，平行于基准面</a:t>
            </a:r>
            <a:r>
              <a:rPr lang="en-US" altLang="zh-CN" sz="2000" b="1" i="1" dirty="0"/>
              <a:t>B</a:t>
            </a:r>
            <a:r>
              <a:rPr lang="en-US" altLang="zh-CN" sz="2000" b="1" dirty="0"/>
              <a:t> </a:t>
            </a:r>
            <a:r>
              <a:rPr lang="zh-CN" altLang="en-US" sz="2000" b="1" dirty="0"/>
              <a:t>的</a:t>
            </a:r>
            <a:r>
              <a:rPr lang="zh-CN" altLang="en-US" sz="2000" b="1" dirty="0">
                <a:solidFill>
                  <a:srgbClr val="FF0000"/>
                </a:solidFill>
              </a:rPr>
              <a:t>提取</a:t>
            </a:r>
            <a:r>
              <a:rPr lang="en-US" altLang="zh-CN" sz="2000" b="1" dirty="0">
                <a:solidFill>
                  <a:srgbClr val="FF0000"/>
                </a:solidFill>
              </a:rPr>
              <a:t>(</a:t>
            </a:r>
            <a:r>
              <a:rPr lang="zh-CN" altLang="en-US" sz="2000" b="1" dirty="0">
                <a:solidFill>
                  <a:srgbClr val="FF0000"/>
                </a:solidFill>
              </a:rPr>
              <a:t>实际</a:t>
            </a:r>
            <a:r>
              <a:rPr lang="en-US" altLang="zh-CN" sz="2000" b="1" dirty="0" smtClean="0">
                <a:solidFill>
                  <a:srgbClr val="FF0000"/>
                </a:solidFill>
              </a:rPr>
              <a:t>)</a:t>
            </a:r>
            <a:r>
              <a:rPr lang="zh-CN" altLang="en-US" sz="2000" b="1" dirty="0" smtClean="0">
                <a:solidFill>
                  <a:srgbClr val="FF0000"/>
                </a:solidFill>
              </a:rPr>
              <a:t>线</a:t>
            </a:r>
            <a:r>
              <a:rPr lang="zh-CN" altLang="en-US" sz="2000" b="1" dirty="0"/>
              <a:t>，应限定在间距等于</a:t>
            </a:r>
            <a:r>
              <a:rPr lang="en-US" altLang="zh-CN" sz="2000" b="1" dirty="0"/>
              <a:t>0. 02</a:t>
            </a:r>
            <a:r>
              <a:rPr lang="zh-CN" altLang="en-US" sz="2000" b="1" dirty="0"/>
              <a:t>、平行于基准平面</a:t>
            </a:r>
            <a:r>
              <a:rPr lang="en-US" altLang="zh-CN" sz="2000" b="1" i="1" dirty="0"/>
              <a:t>A</a:t>
            </a:r>
            <a:r>
              <a:rPr lang="en-US" altLang="zh-CN" sz="2000" b="1" dirty="0"/>
              <a:t> </a:t>
            </a:r>
            <a:r>
              <a:rPr lang="zh-CN" altLang="en-US" sz="2000" b="1" dirty="0"/>
              <a:t>的两平行线之间</a:t>
            </a:r>
            <a:r>
              <a:rPr lang="zh-CN" altLang="en-US" sz="2000" b="1" dirty="0" smtClean="0"/>
              <a:t>。基准</a:t>
            </a:r>
            <a:r>
              <a:rPr lang="en-US" altLang="zh-CN" sz="2000" b="1" i="1" dirty="0"/>
              <a:t>B</a:t>
            </a:r>
            <a:r>
              <a:rPr lang="en-US" altLang="zh-CN" sz="2000" b="1" dirty="0"/>
              <a:t> </a:t>
            </a:r>
            <a:r>
              <a:rPr lang="zh-CN" altLang="en-US" sz="2000" b="1" dirty="0"/>
              <a:t>为基准</a:t>
            </a:r>
            <a:r>
              <a:rPr lang="en-US" altLang="zh-CN" sz="2000" b="1" i="1" dirty="0"/>
              <a:t>A</a:t>
            </a:r>
            <a:r>
              <a:rPr lang="en-US" altLang="zh-CN" sz="2000" b="1" dirty="0"/>
              <a:t> </a:t>
            </a:r>
            <a:r>
              <a:rPr lang="zh-CN" altLang="en-US" sz="2000" b="1" dirty="0"/>
              <a:t>的辅助</a:t>
            </a:r>
            <a:r>
              <a:rPr lang="zh-CN" altLang="en-US" sz="2000" b="1" dirty="0" smtClean="0"/>
              <a:t>基准。</a:t>
            </a:r>
            <a:endParaRPr lang="zh-CN" altLang="en-US" sz="2000" b="1" dirty="0"/>
          </a:p>
        </p:txBody>
      </p:sp>
      <p:sp>
        <p:nvSpPr>
          <p:cNvPr id="16" name="矩形 15"/>
          <p:cNvSpPr/>
          <p:nvPr/>
        </p:nvSpPr>
        <p:spPr>
          <a:xfrm>
            <a:off x="971284" y="4653349"/>
            <a:ext cx="3564015" cy="1631216"/>
          </a:xfrm>
          <a:prstGeom prst="rect">
            <a:avLst/>
          </a:prstGeom>
        </p:spPr>
        <p:txBody>
          <a:bodyPr wrap="square">
            <a:spAutoFit/>
          </a:bodyPr>
          <a:lstStyle/>
          <a:p>
            <a:r>
              <a:rPr lang="zh-CN" altLang="en-US" sz="2000" b="1" dirty="0" smtClean="0"/>
              <a:t>         公差带</a:t>
            </a:r>
            <a:r>
              <a:rPr lang="zh-CN" altLang="en-US" sz="2000" b="1" dirty="0"/>
              <a:t>为间距等于公差值</a:t>
            </a:r>
            <a:r>
              <a:rPr lang="en-US" altLang="zh-CN" sz="2000" b="1" i="1" dirty="0"/>
              <a:t>t</a:t>
            </a:r>
            <a:r>
              <a:rPr lang="en-US" altLang="zh-CN" sz="2000" b="1" dirty="0"/>
              <a:t> </a:t>
            </a:r>
            <a:r>
              <a:rPr lang="zh-CN" altLang="en-US" sz="2000" b="1" dirty="0"/>
              <a:t>的</a:t>
            </a:r>
            <a:r>
              <a:rPr lang="zh-CN" altLang="en-US" sz="2000" b="1" dirty="0">
                <a:solidFill>
                  <a:srgbClr val="FF0000"/>
                </a:solidFill>
              </a:rPr>
              <a:t>两</a:t>
            </a:r>
            <a:r>
              <a:rPr lang="zh-CN" altLang="en-US" sz="2000" b="1" dirty="0" smtClean="0">
                <a:solidFill>
                  <a:srgbClr val="FF0000"/>
                </a:solidFill>
              </a:rPr>
              <a:t>平行</a:t>
            </a:r>
            <a:r>
              <a:rPr lang="zh-CN" altLang="en-US" sz="2000" b="1" dirty="0">
                <a:solidFill>
                  <a:srgbClr val="FF0000"/>
                </a:solidFill>
              </a:rPr>
              <a:t>直线</a:t>
            </a:r>
            <a:r>
              <a:rPr lang="zh-CN" altLang="en-US" sz="2000" b="1" dirty="0"/>
              <a:t>所限定的区域。该两平行</a:t>
            </a:r>
            <a:r>
              <a:rPr lang="zh-CN" altLang="en-US" sz="2000" b="1" dirty="0" smtClean="0"/>
              <a:t>直线平行</a:t>
            </a:r>
            <a:r>
              <a:rPr lang="zh-CN" altLang="en-US" sz="2000" b="1" dirty="0"/>
              <a:t>于基准平面</a:t>
            </a:r>
            <a:r>
              <a:rPr lang="en-US" altLang="zh-CN" sz="2000" b="1" i="1" dirty="0"/>
              <a:t>A</a:t>
            </a:r>
            <a:r>
              <a:rPr lang="en-US" altLang="zh-CN" sz="2000" b="1" dirty="0"/>
              <a:t> </a:t>
            </a:r>
            <a:r>
              <a:rPr lang="zh-CN" altLang="en-US" sz="2000" b="1" dirty="0"/>
              <a:t>且处于平行于</a:t>
            </a:r>
            <a:r>
              <a:rPr lang="zh-CN" altLang="en-US" sz="2000" b="1" dirty="0" smtClean="0"/>
              <a:t>基准平面</a:t>
            </a:r>
            <a:r>
              <a:rPr lang="en-US" altLang="zh-CN" sz="2000" b="1" i="1" dirty="0"/>
              <a:t>B </a:t>
            </a:r>
            <a:r>
              <a:rPr lang="zh-CN" altLang="en-US" sz="2000" b="1" dirty="0"/>
              <a:t>的平面</a:t>
            </a:r>
            <a:r>
              <a:rPr lang="zh-CN" altLang="en-US" sz="2000" b="1" dirty="0" smtClean="0"/>
              <a:t>内。</a:t>
            </a:r>
            <a:endParaRPr lang="zh-CN" altLang="en-US" sz="2000" b="1" dirty="0"/>
          </a:p>
        </p:txBody>
      </p:sp>
      <p:pic>
        <p:nvPicPr>
          <p:cNvPr id="74755"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11115" y="2115820"/>
            <a:ext cx="3156585" cy="21786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4757" name="Picture 5"/>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499610" y="4364990"/>
            <a:ext cx="2811780" cy="2423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922655" y="2284730"/>
            <a:ext cx="4023995" cy="1974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平行四边形 2"/>
          <p:cNvSpPr/>
          <p:nvPr/>
        </p:nvSpPr>
        <p:spPr bwMode="auto">
          <a:xfrm rot="12440276" flipV="1">
            <a:off x="5342558" y="5027611"/>
            <a:ext cx="1548413" cy="482620"/>
          </a:xfrm>
          <a:prstGeom prst="parallelogram">
            <a:avLst>
              <a:gd name="adj" fmla="val 51791"/>
            </a:avLst>
          </a:prstGeom>
          <a:solidFill>
            <a:schemeClr val="accent1">
              <a:alpha val="3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cxnSp>
        <p:nvCxnSpPr>
          <p:cNvPr id="8" name="直接连接符 7"/>
          <p:cNvCxnSpPr/>
          <p:nvPr/>
        </p:nvCxnSpPr>
        <p:spPr bwMode="auto">
          <a:xfrm>
            <a:off x="5534231" y="4814570"/>
            <a:ext cx="1152128" cy="576064"/>
          </a:xfrm>
          <a:prstGeom prst="line">
            <a:avLst/>
          </a:prstGeom>
          <a:solidFill>
            <a:schemeClr val="accent1"/>
          </a:solidFill>
          <a:ln w="28575" cap="flat" cmpd="sng" algn="ctr">
            <a:solidFill>
              <a:srgbClr val="FF0000"/>
            </a:solidFill>
            <a:prstDash val="solid"/>
            <a:round/>
            <a:headEnd type="none" w="med" len="med"/>
            <a:tailEnd type="none" w="med" len="med"/>
          </a:ln>
        </p:spPr>
      </p:cxnSp>
      <p:cxnSp>
        <p:nvCxnSpPr>
          <p:cNvPr id="17" name="直接连接符 16"/>
          <p:cNvCxnSpPr/>
          <p:nvPr/>
        </p:nvCxnSpPr>
        <p:spPr bwMode="auto">
          <a:xfrm>
            <a:off x="5534231" y="5009215"/>
            <a:ext cx="1152128" cy="576064"/>
          </a:xfrm>
          <a:prstGeom prst="line">
            <a:avLst/>
          </a:prstGeom>
          <a:solidFill>
            <a:schemeClr val="accent1"/>
          </a:solidFill>
          <a:ln w="28575" cap="flat" cmpd="sng" algn="ctr">
            <a:solidFill>
              <a:srgbClr val="FF000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6"/>
                                        </p:tgtEl>
                                        <p:attrNameLst>
                                          <p:attrName>style.visibility</p:attrName>
                                        </p:attrNameLst>
                                      </p:cBhvr>
                                      <p:to>
                                        <p:strVal val="visible"/>
                                      </p:to>
                                    </p:set>
                                    <p:animEffect transition="in" filter="wipe(left)">
                                      <p:cBhvr>
                                        <p:cTn id="7" dur="300"/>
                                        <p:tgtEl>
                                          <p:spTgt spid="6"/>
                                        </p:tgtEl>
                                      </p:cBhvr>
                                    </p:animEffect>
                                  </p:childTnLst>
                                </p:cTn>
                              </p:par>
                            </p:childTnLst>
                          </p:cTn>
                        </p:par>
                        <p:par>
                          <p:cTn id="8" fill="hold">
                            <p:stCondLst>
                              <p:cond delay="30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21"/>
                                        </p:tgtEl>
                                        <p:attrNameLst>
                                          <p:attrName>style.visibility</p:attrName>
                                        </p:attrNameLst>
                                      </p:cBhvr>
                                      <p:to>
                                        <p:strVal val="visible"/>
                                      </p:to>
                                    </p:set>
                                    <p:animEffect transition="in" filter="wipe(left)">
                                      <p:cBhvr>
                                        <p:cTn id="11" dur="3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1026"/>
                                        </p:tgtEl>
                                        <p:attrNameLst>
                                          <p:attrName>style.visibility</p:attrName>
                                        </p:attrNameLst>
                                      </p:cBhvr>
                                      <p:to>
                                        <p:strVal val="visible"/>
                                      </p:to>
                                    </p:set>
                                    <p:anim calcmode="lin" valueType="num">
                                      <p:cBhvr additive="base">
                                        <p:cTn id="16" dur="500" fill="hold"/>
                                        <p:tgtEl>
                                          <p:spTgt spid="1026"/>
                                        </p:tgtEl>
                                        <p:attrNameLst>
                                          <p:attrName>ppt_x</p:attrName>
                                        </p:attrNameLst>
                                      </p:cBhvr>
                                      <p:tavLst>
                                        <p:tav tm="0">
                                          <p:val>
                                            <p:strVal val="0-#ppt_w/2"/>
                                          </p:val>
                                        </p:tav>
                                        <p:tav tm="100000">
                                          <p:val>
                                            <p:strVal val="#ppt_x"/>
                                          </p:val>
                                        </p:tav>
                                      </p:tavLst>
                                    </p:anim>
                                    <p:anim calcmode="lin" valueType="num">
                                      <p:cBhvr additive="base">
                                        <p:cTn id="17" dur="500" fill="hold"/>
                                        <p:tgtEl>
                                          <p:spTgt spid="1026"/>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74755"/>
                                        </p:tgtEl>
                                        <p:attrNameLst>
                                          <p:attrName>style.visibility</p:attrName>
                                        </p:attrNameLst>
                                      </p:cBhvr>
                                      <p:to>
                                        <p:strVal val="visible"/>
                                      </p:to>
                                    </p:set>
                                    <p:anim calcmode="lin" valueType="num">
                                      <p:cBhvr additive="base">
                                        <p:cTn id="22" dur="500" fill="hold"/>
                                        <p:tgtEl>
                                          <p:spTgt spid="74755"/>
                                        </p:tgtEl>
                                        <p:attrNameLst>
                                          <p:attrName>ppt_x</p:attrName>
                                        </p:attrNameLst>
                                      </p:cBhvr>
                                      <p:tavLst>
                                        <p:tav tm="0">
                                          <p:val>
                                            <p:strVal val="1+#ppt_w/2"/>
                                          </p:val>
                                        </p:tav>
                                        <p:tav tm="100000">
                                          <p:val>
                                            <p:strVal val="#ppt_x"/>
                                          </p:val>
                                        </p:tav>
                                      </p:tavLst>
                                    </p:anim>
                                    <p:anim calcmode="lin" valueType="num">
                                      <p:cBhvr additive="base">
                                        <p:cTn id="23" dur="500" fill="hold"/>
                                        <p:tgtEl>
                                          <p:spTgt spid="74755"/>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left)">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4757"/>
                                        </p:tgtEl>
                                        <p:attrNameLst>
                                          <p:attrName>style.visibility</p:attrName>
                                        </p:attrNameLst>
                                      </p:cBhvr>
                                      <p:to>
                                        <p:strVal val="visible"/>
                                      </p:to>
                                    </p:set>
                                    <p:anim calcmode="lin" valueType="num">
                                      <p:cBhvr additive="base">
                                        <p:cTn id="33" dur="500" fill="hold"/>
                                        <p:tgtEl>
                                          <p:spTgt spid="74757"/>
                                        </p:tgtEl>
                                        <p:attrNameLst>
                                          <p:attrName>ppt_x</p:attrName>
                                        </p:attrNameLst>
                                      </p:cBhvr>
                                      <p:tavLst>
                                        <p:tav tm="0">
                                          <p:val>
                                            <p:strVal val="#ppt_x"/>
                                          </p:val>
                                        </p:tav>
                                        <p:tav tm="100000">
                                          <p:val>
                                            <p:strVal val="#ppt_x"/>
                                          </p:val>
                                        </p:tav>
                                      </p:tavLst>
                                    </p:anim>
                                    <p:anim calcmode="lin" valueType="num">
                                      <p:cBhvr additive="base">
                                        <p:cTn id="34" dur="500" fill="hold"/>
                                        <p:tgtEl>
                                          <p:spTgt spid="7475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up)">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47" presetClass="entr" presetSubtype="0"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fade">
                                      <p:cBhvr>
                                        <p:cTn id="44" dur="1000"/>
                                        <p:tgtEl>
                                          <p:spTgt spid="3"/>
                                        </p:tgtEl>
                                      </p:cBhvr>
                                    </p:animEffect>
                                    <p:anim calcmode="lin" valueType="num">
                                      <p:cBhvr>
                                        <p:cTn id="45" dur="1000" fill="hold"/>
                                        <p:tgtEl>
                                          <p:spTgt spid="3"/>
                                        </p:tgtEl>
                                        <p:attrNameLst>
                                          <p:attrName>ppt_x</p:attrName>
                                        </p:attrNameLst>
                                      </p:cBhvr>
                                      <p:tavLst>
                                        <p:tav tm="0">
                                          <p:val>
                                            <p:strVal val="#ppt_x"/>
                                          </p:val>
                                        </p:tav>
                                        <p:tav tm="100000">
                                          <p:val>
                                            <p:strVal val="#ppt_x"/>
                                          </p:val>
                                        </p:tav>
                                      </p:tavLst>
                                    </p:anim>
                                    <p:anim calcmode="lin" valueType="num">
                                      <p:cBhvr>
                                        <p:cTn id="4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wipe(left)">
                                      <p:cBhvr>
                                        <p:cTn id="51" dur="500"/>
                                        <p:tgtEl>
                                          <p:spTgt spid="8"/>
                                        </p:tgtEl>
                                      </p:cBhvr>
                                    </p:animEffect>
                                  </p:childTnLst>
                                </p:cTn>
                              </p:par>
                              <p:par>
                                <p:cTn id="52" presetID="22" presetClass="entr" presetSubtype="8" fill="hold"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wipe(left)">
                                      <p:cBhvr>
                                        <p:cTn id="5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P spid="21" grpId="0" bldLvl="0" animBg="1" autoUpdateAnimBg="0"/>
      <p:bldP spid="15" grpId="0"/>
      <p:bldP spid="16" grpId="0"/>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A7F4216-8128-47AB-B631-BDE723752F78}" type="slidenum">
              <a:rPr lang="en-US" altLang="zh-CN" sz="2000" smtClean="0">
                <a:solidFill>
                  <a:srgbClr val="0000FF"/>
                </a:solidFill>
              </a:rPr>
              <a:pPr eaLnBrk="1" hangingPunct="1"/>
              <a:t>17</a:t>
            </a:fld>
            <a:endParaRPr lang="en-US" altLang="zh-CN" sz="2000" smtClean="0">
              <a:solidFill>
                <a:srgbClr val="0000FF"/>
              </a:solidFill>
            </a:endParaRPr>
          </a:p>
        </p:txBody>
      </p:sp>
      <p:sp>
        <p:nvSpPr>
          <p:cNvPr id="111620" name="Text Box 4"/>
          <p:cNvSpPr txBox="1">
            <a:spLocks noChangeArrowheads="1"/>
          </p:cNvSpPr>
          <p:nvPr/>
        </p:nvSpPr>
        <p:spPr bwMode="auto">
          <a:xfrm>
            <a:off x="323528" y="164637"/>
            <a:ext cx="650876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t>(2) </a:t>
            </a:r>
            <a:r>
              <a:rPr lang="zh-CN" altLang="en-US" sz="2800" b="1" dirty="0">
                <a:latin typeface="宋体" panose="02010600030101010101" pitchFamily="2" charset="-122"/>
              </a:rPr>
              <a:t>垂直度公差标注</a:t>
            </a:r>
          </a:p>
        </p:txBody>
      </p:sp>
      <p:sp>
        <p:nvSpPr>
          <p:cNvPr id="111621" name="Text Box 5"/>
          <p:cNvSpPr txBox="1">
            <a:spLocks noChangeArrowheads="1"/>
          </p:cNvSpPr>
          <p:nvPr/>
        </p:nvSpPr>
        <p:spPr bwMode="auto">
          <a:xfrm>
            <a:off x="778768" y="2511477"/>
            <a:ext cx="14478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dirty="0"/>
              <a:t>基  准</a:t>
            </a:r>
            <a:r>
              <a:rPr lang="zh-CN" altLang="en-US" sz="2000" dirty="0"/>
              <a:t> </a:t>
            </a:r>
          </a:p>
        </p:txBody>
      </p:sp>
      <p:sp>
        <p:nvSpPr>
          <p:cNvPr id="111622" name="AutoShape 6"/>
          <p:cNvSpPr/>
          <p:nvPr/>
        </p:nvSpPr>
        <p:spPr bwMode="auto">
          <a:xfrm>
            <a:off x="1618456" y="1790705"/>
            <a:ext cx="533400" cy="1981200"/>
          </a:xfrm>
          <a:prstGeom prst="leftBrace">
            <a:avLst>
              <a:gd name="adj1" fmla="val 30952"/>
              <a:gd name="adj2" fmla="val 50000"/>
            </a:avLst>
          </a:prstGeom>
          <a:noFill/>
          <a:ln w="38100">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sp>
        <p:nvSpPr>
          <p:cNvPr id="111623" name="Text Box 7"/>
          <p:cNvSpPr txBox="1">
            <a:spLocks noChangeArrowheads="1"/>
          </p:cNvSpPr>
          <p:nvPr/>
        </p:nvSpPr>
        <p:spPr bwMode="auto">
          <a:xfrm>
            <a:off x="2075656" y="1714505"/>
            <a:ext cx="9144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FF0000"/>
                </a:solidFill>
              </a:rPr>
              <a:t>面</a:t>
            </a:r>
            <a:r>
              <a:rPr lang="zh-CN" altLang="en-US" sz="2000"/>
              <a:t> </a:t>
            </a:r>
          </a:p>
        </p:txBody>
      </p:sp>
      <p:sp>
        <p:nvSpPr>
          <p:cNvPr id="111624" name="Text Box 8"/>
          <p:cNvSpPr txBox="1">
            <a:spLocks noChangeArrowheads="1"/>
          </p:cNvSpPr>
          <p:nvPr/>
        </p:nvSpPr>
        <p:spPr bwMode="auto">
          <a:xfrm>
            <a:off x="2075656" y="3314705"/>
            <a:ext cx="9906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FF0000"/>
                </a:solidFill>
              </a:rPr>
              <a:t>线</a:t>
            </a:r>
            <a:r>
              <a:rPr lang="zh-CN" altLang="en-US" sz="2000"/>
              <a:t> </a:t>
            </a:r>
          </a:p>
        </p:txBody>
      </p:sp>
      <p:sp>
        <p:nvSpPr>
          <p:cNvPr id="111625" name="AutoShape 9"/>
          <p:cNvSpPr/>
          <p:nvPr/>
        </p:nvSpPr>
        <p:spPr bwMode="auto">
          <a:xfrm>
            <a:off x="2609056" y="1485905"/>
            <a:ext cx="381000" cy="990600"/>
          </a:xfrm>
          <a:prstGeom prst="leftBrace">
            <a:avLst>
              <a:gd name="adj1" fmla="val 21667"/>
              <a:gd name="adj2" fmla="val 50000"/>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sp>
        <p:nvSpPr>
          <p:cNvPr id="111626" name="Text Box 10"/>
          <p:cNvSpPr txBox="1">
            <a:spLocks noChangeArrowheads="1"/>
          </p:cNvSpPr>
          <p:nvPr/>
        </p:nvSpPr>
        <p:spPr bwMode="auto">
          <a:xfrm>
            <a:off x="2913856" y="1257305"/>
            <a:ext cx="38862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t>① </a:t>
            </a:r>
            <a:r>
              <a:rPr lang="zh-CN" altLang="en-US" sz="2000" b="1" dirty="0">
                <a:solidFill>
                  <a:srgbClr val="0000FF"/>
                </a:solidFill>
              </a:rPr>
              <a:t>面</a:t>
            </a:r>
            <a:r>
              <a:rPr lang="zh-CN" altLang="en-US" sz="2000" dirty="0"/>
              <a:t>对</a:t>
            </a:r>
            <a:r>
              <a:rPr lang="zh-CN" altLang="en-US" sz="2000" b="1" dirty="0">
                <a:solidFill>
                  <a:srgbClr val="FF0000"/>
                </a:solidFill>
              </a:rPr>
              <a:t>面</a:t>
            </a:r>
            <a:r>
              <a:rPr lang="zh-CN" altLang="en-US" sz="2000" b="1" dirty="0"/>
              <a:t>垂直度</a:t>
            </a:r>
            <a:endParaRPr lang="zh-CN" altLang="en-US" sz="2000" dirty="0"/>
          </a:p>
        </p:txBody>
      </p:sp>
      <p:sp>
        <p:nvSpPr>
          <p:cNvPr id="111627" name="Text Box 11"/>
          <p:cNvSpPr txBox="1">
            <a:spLocks noChangeArrowheads="1"/>
          </p:cNvSpPr>
          <p:nvPr/>
        </p:nvSpPr>
        <p:spPr bwMode="auto">
          <a:xfrm>
            <a:off x="2913856" y="2185993"/>
            <a:ext cx="37338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t>② </a:t>
            </a:r>
            <a:r>
              <a:rPr lang="zh-CN" altLang="en-US" sz="2000" b="1" dirty="0">
                <a:solidFill>
                  <a:srgbClr val="0000FF"/>
                </a:solidFill>
              </a:rPr>
              <a:t>线</a:t>
            </a:r>
            <a:r>
              <a:rPr lang="zh-CN" altLang="en-US" sz="2000" dirty="0"/>
              <a:t>对</a:t>
            </a:r>
            <a:r>
              <a:rPr lang="zh-CN" altLang="en-US" sz="2000" b="1" dirty="0">
                <a:solidFill>
                  <a:srgbClr val="FF0000"/>
                </a:solidFill>
              </a:rPr>
              <a:t>面</a:t>
            </a:r>
            <a:r>
              <a:rPr lang="zh-CN" altLang="en-US" sz="2000" b="1" dirty="0"/>
              <a:t>垂直度</a:t>
            </a:r>
            <a:endParaRPr lang="zh-CN" altLang="en-US" sz="2000" dirty="0"/>
          </a:p>
        </p:txBody>
      </p:sp>
      <p:sp>
        <p:nvSpPr>
          <p:cNvPr id="111628" name="Text Box 12"/>
          <p:cNvSpPr txBox="1">
            <a:spLocks noChangeArrowheads="1"/>
          </p:cNvSpPr>
          <p:nvPr/>
        </p:nvSpPr>
        <p:spPr bwMode="auto">
          <a:xfrm>
            <a:off x="2913856" y="2933705"/>
            <a:ext cx="39624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t>③ </a:t>
            </a:r>
            <a:r>
              <a:rPr lang="zh-CN" altLang="en-US" sz="2000" b="1" dirty="0">
                <a:solidFill>
                  <a:srgbClr val="0000FF"/>
                </a:solidFill>
              </a:rPr>
              <a:t>面</a:t>
            </a:r>
            <a:r>
              <a:rPr lang="zh-CN" altLang="en-US" sz="2000" dirty="0"/>
              <a:t>对</a:t>
            </a:r>
            <a:r>
              <a:rPr lang="zh-CN" altLang="en-US" sz="2000" b="1" dirty="0">
                <a:solidFill>
                  <a:srgbClr val="FF0000"/>
                </a:solidFill>
              </a:rPr>
              <a:t>线</a:t>
            </a:r>
            <a:r>
              <a:rPr lang="zh-CN" altLang="en-US" sz="2000" b="1" dirty="0"/>
              <a:t>垂直度</a:t>
            </a:r>
            <a:endParaRPr lang="zh-CN" altLang="en-US" sz="2000" dirty="0"/>
          </a:p>
        </p:txBody>
      </p:sp>
      <p:sp>
        <p:nvSpPr>
          <p:cNvPr id="111629" name="Text Box 13"/>
          <p:cNvSpPr txBox="1">
            <a:spLocks noChangeArrowheads="1"/>
          </p:cNvSpPr>
          <p:nvPr/>
        </p:nvSpPr>
        <p:spPr bwMode="auto">
          <a:xfrm>
            <a:off x="2913856" y="3695705"/>
            <a:ext cx="38862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t>④ </a:t>
            </a:r>
            <a:r>
              <a:rPr lang="zh-CN" altLang="en-US" sz="2000" b="1" dirty="0">
                <a:solidFill>
                  <a:srgbClr val="0000FF"/>
                </a:solidFill>
              </a:rPr>
              <a:t>线</a:t>
            </a:r>
            <a:r>
              <a:rPr lang="zh-CN" altLang="en-US" sz="2000" dirty="0"/>
              <a:t>对</a:t>
            </a:r>
            <a:r>
              <a:rPr lang="zh-CN" altLang="en-US" sz="2000" b="1" dirty="0">
                <a:solidFill>
                  <a:srgbClr val="FF0000"/>
                </a:solidFill>
              </a:rPr>
              <a:t>线</a:t>
            </a:r>
            <a:r>
              <a:rPr lang="zh-CN" altLang="en-US" sz="2000" b="1" dirty="0"/>
              <a:t>垂直度</a:t>
            </a:r>
            <a:endParaRPr lang="zh-CN" altLang="en-US" sz="2000" dirty="0"/>
          </a:p>
        </p:txBody>
      </p:sp>
      <p:sp>
        <p:nvSpPr>
          <p:cNvPr id="111631" name="AutoShape 15"/>
          <p:cNvSpPr/>
          <p:nvPr/>
        </p:nvSpPr>
        <p:spPr bwMode="auto">
          <a:xfrm>
            <a:off x="5486400" y="1790705"/>
            <a:ext cx="304800" cy="1219200"/>
          </a:xfrm>
          <a:prstGeom prst="leftBrace">
            <a:avLst>
              <a:gd name="adj1" fmla="val 33333"/>
              <a:gd name="adj2" fmla="val 50000"/>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sp>
        <p:nvSpPr>
          <p:cNvPr id="111632" name="Text Box 16"/>
          <p:cNvSpPr txBox="1">
            <a:spLocks noChangeArrowheads="1"/>
          </p:cNvSpPr>
          <p:nvPr/>
        </p:nvSpPr>
        <p:spPr bwMode="auto">
          <a:xfrm>
            <a:off x="5867400" y="1562105"/>
            <a:ext cx="30480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dirty="0"/>
              <a:t>给定水平方向 </a:t>
            </a:r>
          </a:p>
        </p:txBody>
      </p:sp>
      <p:sp>
        <p:nvSpPr>
          <p:cNvPr id="111633" name="Text Box 17"/>
          <p:cNvSpPr txBox="1">
            <a:spLocks noChangeArrowheads="1"/>
          </p:cNvSpPr>
          <p:nvPr/>
        </p:nvSpPr>
        <p:spPr bwMode="auto">
          <a:xfrm>
            <a:off x="5867400" y="2095505"/>
            <a:ext cx="26670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t>给定垂直方向</a:t>
            </a:r>
          </a:p>
        </p:txBody>
      </p:sp>
      <p:sp>
        <p:nvSpPr>
          <p:cNvPr id="111634" name="Text Box 18"/>
          <p:cNvSpPr txBox="1">
            <a:spLocks noChangeArrowheads="1"/>
          </p:cNvSpPr>
          <p:nvPr/>
        </p:nvSpPr>
        <p:spPr bwMode="auto">
          <a:xfrm>
            <a:off x="5868144" y="2660915"/>
            <a:ext cx="28956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dirty="0"/>
              <a:t>给定任意方向 </a:t>
            </a:r>
          </a:p>
        </p:txBody>
      </p:sp>
      <p:sp>
        <p:nvSpPr>
          <p:cNvPr id="111635" name="Text Box 19"/>
          <p:cNvSpPr txBox="1">
            <a:spLocks noChangeArrowheads="1"/>
          </p:cNvSpPr>
          <p:nvPr/>
        </p:nvSpPr>
        <p:spPr bwMode="auto">
          <a:xfrm>
            <a:off x="428596" y="4429133"/>
            <a:ext cx="7848600"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000" dirty="0"/>
              <a:t>       </a:t>
            </a:r>
            <a:r>
              <a:rPr lang="zh-CN" altLang="en-US" sz="2000" b="1" dirty="0"/>
              <a:t>只是</a:t>
            </a:r>
            <a:r>
              <a:rPr lang="zh-CN" altLang="en-US" sz="2000" b="1" dirty="0">
                <a:solidFill>
                  <a:srgbClr val="FF0000"/>
                </a:solidFill>
              </a:rPr>
              <a:t>线对面的垂直度公差带</a:t>
            </a:r>
            <a:r>
              <a:rPr lang="zh-CN" altLang="en-US" sz="2000" b="1" dirty="0"/>
              <a:t>比线对面的平行度公差带要复杂，即有方向问题。</a:t>
            </a:r>
            <a:endParaRPr lang="zh-CN" altLang="en-US" sz="2000" b="1" dirty="0">
              <a:solidFill>
                <a:srgbClr val="FF0000"/>
              </a:solidFill>
            </a:endParaRPr>
          </a:p>
        </p:txBody>
      </p:sp>
      <p:sp>
        <p:nvSpPr>
          <p:cNvPr id="111636" name="Rectangle 20"/>
          <p:cNvSpPr>
            <a:spLocks noChangeArrowheads="1"/>
          </p:cNvSpPr>
          <p:nvPr/>
        </p:nvSpPr>
        <p:spPr bwMode="auto">
          <a:xfrm>
            <a:off x="899592" y="5500703"/>
            <a:ext cx="577215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zh-CN" altLang="en-US" sz="2000" b="1" dirty="0"/>
              <a:t>垂直度的公差带分析方法同平行度。</a:t>
            </a:r>
          </a:p>
        </p:txBody>
      </p:sp>
      <p:sp>
        <p:nvSpPr>
          <p:cNvPr id="111637" name="AutoShape 21"/>
          <p:cNvSpPr/>
          <p:nvPr/>
        </p:nvSpPr>
        <p:spPr bwMode="auto">
          <a:xfrm>
            <a:off x="2609056" y="3086105"/>
            <a:ext cx="381000" cy="990600"/>
          </a:xfrm>
          <a:prstGeom prst="leftBrace">
            <a:avLst>
              <a:gd name="adj1" fmla="val 21667"/>
              <a:gd name="adj2" fmla="val 50000"/>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cxnSp>
        <p:nvCxnSpPr>
          <p:cNvPr id="20" name="直接连接符 19"/>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11620">
                                            <p:txEl>
                                              <p:pRg st="0" end="0"/>
                                            </p:txEl>
                                          </p:spTgt>
                                        </p:tgtEl>
                                        <p:attrNameLst>
                                          <p:attrName>style.visibility</p:attrName>
                                        </p:attrNameLst>
                                      </p:cBhvr>
                                      <p:to>
                                        <p:strVal val="visible"/>
                                      </p:to>
                                    </p:set>
                                    <p:animEffect transition="in" filter="wipe(left)">
                                      <p:cBhvr>
                                        <p:cTn id="7" dur="300"/>
                                        <p:tgtEl>
                                          <p:spTgt spid="1116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11621"/>
                                        </p:tgtEl>
                                        <p:attrNameLst>
                                          <p:attrName>style.visibility</p:attrName>
                                        </p:attrNameLst>
                                      </p:cBhvr>
                                      <p:to>
                                        <p:strVal val="visible"/>
                                      </p:to>
                                    </p:set>
                                    <p:animEffect transition="in" filter="wipe(left)">
                                      <p:cBhvr>
                                        <p:cTn id="12" dur="300"/>
                                        <p:tgtEl>
                                          <p:spTgt spid="1116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1622"/>
                                        </p:tgtEl>
                                        <p:attrNameLst>
                                          <p:attrName>style.visibility</p:attrName>
                                        </p:attrNameLst>
                                      </p:cBhvr>
                                      <p:to>
                                        <p:strVal val="visible"/>
                                      </p:to>
                                    </p:set>
                                    <p:animEffect transition="in" filter="wipe(left)">
                                      <p:cBhvr>
                                        <p:cTn id="17" dur="500"/>
                                        <p:tgtEl>
                                          <p:spTgt spid="1116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11623"/>
                                        </p:tgtEl>
                                        <p:attrNameLst>
                                          <p:attrName>style.visibility</p:attrName>
                                        </p:attrNameLst>
                                      </p:cBhvr>
                                      <p:to>
                                        <p:strVal val="visible"/>
                                      </p:to>
                                    </p:set>
                                    <p:animEffect transition="in" filter="wipe(left)">
                                      <p:cBhvr>
                                        <p:cTn id="22" dur="300"/>
                                        <p:tgtEl>
                                          <p:spTgt spid="1116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11624"/>
                                        </p:tgtEl>
                                        <p:attrNameLst>
                                          <p:attrName>style.visibility</p:attrName>
                                        </p:attrNameLst>
                                      </p:cBhvr>
                                      <p:to>
                                        <p:strVal val="visible"/>
                                      </p:to>
                                    </p:set>
                                    <p:animEffect transition="in" filter="wipe(left)">
                                      <p:cBhvr>
                                        <p:cTn id="27" dur="300"/>
                                        <p:tgtEl>
                                          <p:spTgt spid="1116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1625"/>
                                        </p:tgtEl>
                                        <p:attrNameLst>
                                          <p:attrName>style.visibility</p:attrName>
                                        </p:attrNameLst>
                                      </p:cBhvr>
                                      <p:to>
                                        <p:strVal val="visible"/>
                                      </p:to>
                                    </p:set>
                                    <p:animEffect transition="in" filter="wipe(left)">
                                      <p:cBhvr>
                                        <p:cTn id="32" dur="500"/>
                                        <p:tgtEl>
                                          <p:spTgt spid="1116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111626"/>
                                        </p:tgtEl>
                                        <p:attrNameLst>
                                          <p:attrName>style.visibility</p:attrName>
                                        </p:attrNameLst>
                                      </p:cBhvr>
                                      <p:to>
                                        <p:strVal val="visible"/>
                                      </p:to>
                                    </p:set>
                                    <p:animEffect transition="in" filter="wipe(left)">
                                      <p:cBhvr>
                                        <p:cTn id="37" dur="300"/>
                                        <p:tgtEl>
                                          <p:spTgt spid="1116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111627"/>
                                        </p:tgtEl>
                                        <p:attrNameLst>
                                          <p:attrName>style.visibility</p:attrName>
                                        </p:attrNameLst>
                                      </p:cBhvr>
                                      <p:to>
                                        <p:strVal val="visible"/>
                                      </p:to>
                                    </p:set>
                                    <p:animEffect transition="in" filter="wipe(left)">
                                      <p:cBhvr>
                                        <p:cTn id="42" dur="300"/>
                                        <p:tgtEl>
                                          <p:spTgt spid="1116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1637"/>
                                        </p:tgtEl>
                                        <p:attrNameLst>
                                          <p:attrName>style.visibility</p:attrName>
                                        </p:attrNameLst>
                                      </p:cBhvr>
                                      <p:to>
                                        <p:strVal val="visible"/>
                                      </p:to>
                                    </p:set>
                                    <p:animEffect transition="in" filter="wipe(left)">
                                      <p:cBhvr>
                                        <p:cTn id="47" dur="500"/>
                                        <p:tgtEl>
                                          <p:spTgt spid="11163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111628"/>
                                        </p:tgtEl>
                                        <p:attrNameLst>
                                          <p:attrName>style.visibility</p:attrName>
                                        </p:attrNameLst>
                                      </p:cBhvr>
                                      <p:to>
                                        <p:strVal val="visible"/>
                                      </p:to>
                                    </p:set>
                                    <p:animEffect transition="in" filter="wipe(left)">
                                      <p:cBhvr>
                                        <p:cTn id="52" dur="300"/>
                                        <p:tgtEl>
                                          <p:spTgt spid="11162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wd">
                                    <p:tmPct val="100000"/>
                                  </p:iterate>
                                  <p:childTnLst>
                                    <p:set>
                                      <p:cBhvr>
                                        <p:cTn id="56" dur="1" fill="hold">
                                          <p:stCondLst>
                                            <p:cond delay="0"/>
                                          </p:stCondLst>
                                        </p:cTn>
                                        <p:tgtEl>
                                          <p:spTgt spid="111629"/>
                                        </p:tgtEl>
                                        <p:attrNameLst>
                                          <p:attrName>style.visibility</p:attrName>
                                        </p:attrNameLst>
                                      </p:cBhvr>
                                      <p:to>
                                        <p:strVal val="visible"/>
                                      </p:to>
                                    </p:set>
                                    <p:animEffect transition="in" filter="wipe(left)">
                                      <p:cBhvr>
                                        <p:cTn id="57" dur="300"/>
                                        <p:tgtEl>
                                          <p:spTgt spid="11162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wd">
                                    <p:tmPct val="100000"/>
                                  </p:iterate>
                                  <p:childTnLst>
                                    <p:set>
                                      <p:cBhvr>
                                        <p:cTn id="61" dur="1" fill="hold">
                                          <p:stCondLst>
                                            <p:cond delay="0"/>
                                          </p:stCondLst>
                                        </p:cTn>
                                        <p:tgtEl>
                                          <p:spTgt spid="111635"/>
                                        </p:tgtEl>
                                        <p:attrNameLst>
                                          <p:attrName>style.visibility</p:attrName>
                                        </p:attrNameLst>
                                      </p:cBhvr>
                                      <p:to>
                                        <p:strVal val="visible"/>
                                      </p:to>
                                    </p:set>
                                    <p:animEffect transition="in" filter="wipe(left)">
                                      <p:cBhvr>
                                        <p:cTn id="62" dur="300"/>
                                        <p:tgtEl>
                                          <p:spTgt spid="11163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11631"/>
                                        </p:tgtEl>
                                        <p:attrNameLst>
                                          <p:attrName>style.visibility</p:attrName>
                                        </p:attrNameLst>
                                      </p:cBhvr>
                                      <p:to>
                                        <p:strVal val="visible"/>
                                      </p:to>
                                    </p:set>
                                    <p:animEffect transition="in" filter="wipe(left)">
                                      <p:cBhvr>
                                        <p:cTn id="67" dur="500"/>
                                        <p:tgtEl>
                                          <p:spTgt spid="11163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iterate type="wd">
                                    <p:tmPct val="100000"/>
                                  </p:iterate>
                                  <p:childTnLst>
                                    <p:set>
                                      <p:cBhvr>
                                        <p:cTn id="71" dur="1" fill="hold">
                                          <p:stCondLst>
                                            <p:cond delay="0"/>
                                          </p:stCondLst>
                                        </p:cTn>
                                        <p:tgtEl>
                                          <p:spTgt spid="111632"/>
                                        </p:tgtEl>
                                        <p:attrNameLst>
                                          <p:attrName>style.visibility</p:attrName>
                                        </p:attrNameLst>
                                      </p:cBhvr>
                                      <p:to>
                                        <p:strVal val="visible"/>
                                      </p:to>
                                    </p:set>
                                    <p:animEffect transition="in" filter="wipe(left)">
                                      <p:cBhvr>
                                        <p:cTn id="72" dur="300"/>
                                        <p:tgtEl>
                                          <p:spTgt spid="11163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iterate type="wd">
                                    <p:tmPct val="100000"/>
                                  </p:iterate>
                                  <p:childTnLst>
                                    <p:set>
                                      <p:cBhvr>
                                        <p:cTn id="76" dur="1" fill="hold">
                                          <p:stCondLst>
                                            <p:cond delay="0"/>
                                          </p:stCondLst>
                                        </p:cTn>
                                        <p:tgtEl>
                                          <p:spTgt spid="111633"/>
                                        </p:tgtEl>
                                        <p:attrNameLst>
                                          <p:attrName>style.visibility</p:attrName>
                                        </p:attrNameLst>
                                      </p:cBhvr>
                                      <p:to>
                                        <p:strVal val="visible"/>
                                      </p:to>
                                    </p:set>
                                    <p:animEffect transition="in" filter="wipe(left)">
                                      <p:cBhvr>
                                        <p:cTn id="77" dur="300"/>
                                        <p:tgtEl>
                                          <p:spTgt spid="11163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iterate type="wd">
                                    <p:tmPct val="100000"/>
                                  </p:iterate>
                                  <p:childTnLst>
                                    <p:set>
                                      <p:cBhvr>
                                        <p:cTn id="81" dur="1" fill="hold">
                                          <p:stCondLst>
                                            <p:cond delay="0"/>
                                          </p:stCondLst>
                                        </p:cTn>
                                        <p:tgtEl>
                                          <p:spTgt spid="111634"/>
                                        </p:tgtEl>
                                        <p:attrNameLst>
                                          <p:attrName>style.visibility</p:attrName>
                                        </p:attrNameLst>
                                      </p:cBhvr>
                                      <p:to>
                                        <p:strVal val="visible"/>
                                      </p:to>
                                    </p:set>
                                    <p:animEffect transition="in" filter="wipe(left)">
                                      <p:cBhvr>
                                        <p:cTn id="82" dur="300"/>
                                        <p:tgtEl>
                                          <p:spTgt spid="11163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iterate type="wd">
                                    <p:tmPct val="100000"/>
                                  </p:iterate>
                                  <p:childTnLst>
                                    <p:set>
                                      <p:cBhvr>
                                        <p:cTn id="86" dur="1" fill="hold">
                                          <p:stCondLst>
                                            <p:cond delay="0"/>
                                          </p:stCondLst>
                                        </p:cTn>
                                        <p:tgtEl>
                                          <p:spTgt spid="111636"/>
                                        </p:tgtEl>
                                        <p:attrNameLst>
                                          <p:attrName>style.visibility</p:attrName>
                                        </p:attrNameLst>
                                      </p:cBhvr>
                                      <p:to>
                                        <p:strVal val="visible"/>
                                      </p:to>
                                    </p:set>
                                    <p:animEffect transition="in" filter="wipe(left)">
                                      <p:cBhvr>
                                        <p:cTn id="87" dur="300"/>
                                        <p:tgtEl>
                                          <p:spTgt spid="111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build="p" autoUpdateAnimBg="0"/>
      <p:bldP spid="111621" grpId="0" autoUpdateAnimBg="0"/>
      <p:bldP spid="111622" grpId="0" animBg="1"/>
      <p:bldP spid="111623" grpId="0" autoUpdateAnimBg="0"/>
      <p:bldP spid="111624" grpId="0" autoUpdateAnimBg="0"/>
      <p:bldP spid="111625" grpId="0" animBg="1"/>
      <p:bldP spid="111626" grpId="0" autoUpdateAnimBg="0"/>
      <p:bldP spid="111627" grpId="0" autoUpdateAnimBg="0"/>
      <p:bldP spid="111628" grpId="0" autoUpdateAnimBg="0"/>
      <p:bldP spid="111629" grpId="0" autoUpdateAnimBg="0"/>
      <p:bldP spid="111631" grpId="0" animBg="1"/>
      <p:bldP spid="111632" grpId="0" autoUpdateAnimBg="0"/>
      <p:bldP spid="111633" grpId="0" autoUpdateAnimBg="0"/>
      <p:bldP spid="111634" grpId="0" autoUpdateAnimBg="0"/>
      <p:bldP spid="111635" grpId="0" autoUpdateAnimBg="0"/>
      <p:bldP spid="111636" grpId="0" autoUpdateAnimBg="0"/>
      <p:bldP spid="11163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4C801E0A-95F5-4389-B42A-8C49064AB1E7}" type="slidenum">
              <a:rPr lang="en-US" altLang="zh-CN" sz="2000" smtClean="0">
                <a:solidFill>
                  <a:srgbClr val="0000FF"/>
                </a:solidFill>
              </a:rPr>
              <a:pPr eaLnBrk="1" hangingPunct="1"/>
              <a:t>18</a:t>
            </a:fld>
            <a:endParaRPr lang="en-US" altLang="zh-CN" sz="2000" dirty="0" smtClean="0">
              <a:solidFill>
                <a:srgbClr val="0000FF"/>
              </a:solidFill>
            </a:endParaRPr>
          </a:p>
        </p:txBody>
      </p:sp>
      <p:sp>
        <p:nvSpPr>
          <p:cNvPr id="112644" name="Text Box 4"/>
          <p:cNvSpPr txBox="1">
            <a:spLocks noChangeArrowheads="1"/>
          </p:cNvSpPr>
          <p:nvPr/>
        </p:nvSpPr>
        <p:spPr bwMode="auto">
          <a:xfrm>
            <a:off x="563547" y="836930"/>
            <a:ext cx="179387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ClrTx/>
              <a:buSzTx/>
              <a:buFontTx/>
            </a:pPr>
            <a:r>
              <a:rPr lang="en-US" altLang="zh-CN" sz="2000" b="1" dirty="0"/>
              <a:t> </a:t>
            </a:r>
            <a:r>
              <a:rPr lang="zh-CN" altLang="en-US" sz="2400" b="1" dirty="0" smtClean="0">
                <a:solidFill>
                  <a:srgbClr val="00B0F0"/>
                </a:solidFill>
                <a:effectLst>
                  <a:outerShdw blurRad="38100" dist="38100" dir="2700000" algn="tl">
                    <a:srgbClr val="000000">
                      <a:alpha val="43137"/>
                    </a:srgbClr>
                  </a:outerShdw>
                </a:effectLst>
              </a:rPr>
              <a:t>面对面</a:t>
            </a:r>
          </a:p>
        </p:txBody>
      </p:sp>
      <p:sp>
        <p:nvSpPr>
          <p:cNvPr id="112645" name="Text Box 5"/>
          <p:cNvSpPr txBox="1">
            <a:spLocks noChangeArrowheads="1"/>
          </p:cNvSpPr>
          <p:nvPr/>
        </p:nvSpPr>
        <p:spPr bwMode="auto">
          <a:xfrm>
            <a:off x="785786" y="5229246"/>
            <a:ext cx="7786742"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a:t>公差带</a:t>
            </a:r>
            <a:r>
              <a:rPr lang="zh-CN" altLang="en-US" sz="2000" b="1" dirty="0">
                <a:solidFill>
                  <a:srgbClr val="FF0000"/>
                </a:solidFill>
              </a:rPr>
              <a:t>定义</a:t>
            </a:r>
            <a:r>
              <a:rPr lang="zh-CN" altLang="en-US" sz="2000" b="1" dirty="0"/>
              <a:t>：为间距等于公差值</a:t>
            </a:r>
            <a:r>
              <a:rPr lang="en-US" altLang="zh-CN" sz="2000" b="1" i="1" dirty="0"/>
              <a:t>t</a:t>
            </a:r>
            <a:r>
              <a:rPr lang="zh-CN" altLang="en-US" sz="2000" b="1" i="1" dirty="0"/>
              <a:t>、</a:t>
            </a:r>
            <a:r>
              <a:rPr lang="zh-CN" altLang="en-US" sz="2000" b="1" dirty="0">
                <a:solidFill>
                  <a:srgbClr val="FF0000"/>
                </a:solidFill>
              </a:rPr>
              <a:t>垂直于基准平面的两</a:t>
            </a:r>
            <a:r>
              <a:rPr lang="zh-CN" altLang="en-US" sz="2000" b="1" dirty="0" smtClean="0">
                <a:solidFill>
                  <a:srgbClr val="FF0000"/>
                </a:solidFill>
              </a:rPr>
              <a:t>平行平面</a:t>
            </a:r>
            <a:r>
              <a:rPr lang="zh-CN" altLang="en-US" sz="2000" b="1" dirty="0" smtClean="0"/>
              <a:t>所</a:t>
            </a:r>
            <a:endParaRPr lang="en-US" altLang="zh-CN" sz="2000" b="1" dirty="0" smtClean="0"/>
          </a:p>
          <a:p>
            <a:pPr eaLnBrk="1" hangingPunct="1">
              <a:lnSpc>
                <a:spcPct val="120000"/>
              </a:lnSpc>
            </a:pPr>
            <a:r>
              <a:rPr lang="en-US" altLang="zh-CN" sz="2000" b="1" dirty="0" smtClean="0"/>
              <a:t>               </a:t>
            </a:r>
            <a:r>
              <a:rPr lang="zh-CN" altLang="en-US" sz="2000" b="1" dirty="0" smtClean="0"/>
              <a:t>          限定</a:t>
            </a:r>
            <a:r>
              <a:rPr lang="zh-CN" altLang="en-US" sz="2000" b="1" dirty="0"/>
              <a:t>的</a:t>
            </a:r>
            <a:r>
              <a:rPr lang="zh-CN" altLang="en-US" sz="2000" b="1" dirty="0" smtClean="0"/>
              <a:t>区域。</a:t>
            </a:r>
            <a:endParaRPr lang="zh-CN" altLang="en-US" sz="2000" b="1" dirty="0"/>
          </a:p>
        </p:txBody>
      </p:sp>
      <p:sp>
        <p:nvSpPr>
          <p:cNvPr id="112647" name="Text Box 7"/>
          <p:cNvSpPr txBox="1">
            <a:spLocks noChangeArrowheads="1"/>
          </p:cNvSpPr>
          <p:nvPr/>
        </p:nvSpPr>
        <p:spPr bwMode="auto">
          <a:xfrm>
            <a:off x="611343" y="1341436"/>
            <a:ext cx="8153400"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a:solidFill>
                  <a:srgbClr val="FF0000"/>
                </a:solidFill>
              </a:rPr>
              <a:t>标注含义</a:t>
            </a:r>
            <a:r>
              <a:rPr lang="zh-CN" altLang="en-US" sz="2000" dirty="0"/>
              <a:t>：</a:t>
            </a:r>
            <a:r>
              <a:rPr lang="zh-CN" altLang="en-US" sz="2000" b="1" dirty="0"/>
              <a:t>提取（实际）实际表面应限定在距离等于</a:t>
            </a:r>
            <a:r>
              <a:rPr lang="en-US" altLang="zh-CN" sz="2000" b="1" dirty="0"/>
              <a:t>0.08 </a:t>
            </a:r>
            <a:r>
              <a:rPr lang="zh-CN" altLang="en-US" sz="2000" b="1" dirty="0"/>
              <a:t>、</a:t>
            </a:r>
          </a:p>
          <a:p>
            <a:pPr eaLnBrk="1" hangingPunct="1">
              <a:lnSpc>
                <a:spcPct val="120000"/>
              </a:lnSpc>
            </a:pPr>
            <a:r>
              <a:rPr lang="zh-CN" altLang="en-US" sz="2000" b="1" dirty="0"/>
              <a:t>                     垂直于基准平面</a:t>
            </a:r>
            <a:r>
              <a:rPr lang="en-US" altLang="zh-CN" sz="2000" b="1" i="1" dirty="0"/>
              <a:t>A</a:t>
            </a:r>
            <a:r>
              <a:rPr lang="zh-CN" altLang="en-US" sz="2000" b="1" dirty="0"/>
              <a:t>的两平行平面之间。</a:t>
            </a:r>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11620" name="Text Box 4"/>
          <p:cNvSpPr txBox="1">
            <a:spLocks noChangeArrowheads="1"/>
          </p:cNvSpPr>
          <p:nvPr/>
        </p:nvSpPr>
        <p:spPr bwMode="auto">
          <a:xfrm>
            <a:off x="323528" y="164637"/>
            <a:ext cx="650876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t>(2) </a:t>
            </a:r>
            <a:r>
              <a:rPr lang="zh-CN" altLang="en-US" sz="2800" b="1" dirty="0">
                <a:latin typeface="宋体" panose="02010600030101010101" pitchFamily="2" charset="-122"/>
              </a:rPr>
              <a:t>垂直度公差标注</a:t>
            </a:r>
          </a:p>
        </p:txBody>
      </p:sp>
      <p:pic>
        <p:nvPicPr>
          <p:cNvPr id="75781" name="Picture 5"/>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795645" y="2349500"/>
            <a:ext cx="2734945" cy="21856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26770" y="2348865"/>
            <a:ext cx="4728210" cy="23704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12644"/>
                                        </p:tgtEl>
                                        <p:attrNameLst>
                                          <p:attrName>style.visibility</p:attrName>
                                        </p:attrNameLst>
                                      </p:cBhvr>
                                      <p:to>
                                        <p:strVal val="visible"/>
                                      </p:to>
                                    </p:set>
                                    <p:animEffect transition="in" filter="wipe(left)">
                                      <p:cBhvr>
                                        <p:cTn id="7" dur="300"/>
                                        <p:tgtEl>
                                          <p:spTgt spid="1126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12647"/>
                                        </p:tgtEl>
                                        <p:attrNameLst>
                                          <p:attrName>style.visibility</p:attrName>
                                        </p:attrNameLst>
                                      </p:cBhvr>
                                      <p:to>
                                        <p:strVal val="visible"/>
                                      </p:to>
                                    </p:set>
                                    <p:animEffect transition="in" filter="wipe(left)">
                                      <p:cBhvr>
                                        <p:cTn id="12" dur="300"/>
                                        <p:tgtEl>
                                          <p:spTgt spid="1126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12645"/>
                                        </p:tgtEl>
                                        <p:attrNameLst>
                                          <p:attrName>style.visibility</p:attrName>
                                        </p:attrNameLst>
                                      </p:cBhvr>
                                      <p:to>
                                        <p:strVal val="visible"/>
                                      </p:to>
                                    </p:set>
                                    <p:animEffect transition="in" filter="wipe(left)">
                                      <p:cBhvr>
                                        <p:cTn id="17" dur="300"/>
                                        <p:tgtEl>
                                          <p:spTgt spid="112645"/>
                                        </p:tgtEl>
                                      </p:cBhvr>
                                    </p:animEffect>
                                  </p:childTnLst>
                                </p:cTn>
                              </p:par>
                            </p:childTnLst>
                          </p:cTn>
                        </p:par>
                        <p:par>
                          <p:cTn id="18" fill="hold">
                            <p:stCondLst>
                              <p:cond delay="6900"/>
                            </p:stCondLst>
                            <p:childTnLst>
                              <p:par>
                                <p:cTn id="19" presetID="22" presetClass="entr" presetSubtype="8" fill="hold" grpId="0" nodeType="afterEffect">
                                  <p:stCondLst>
                                    <p:cond delay="0"/>
                                  </p:stCondLst>
                                  <p:iterate type="wd">
                                    <p:tmPct val="100000"/>
                                  </p:iterate>
                                  <p:childTnLst>
                                    <p:set>
                                      <p:cBhvr>
                                        <p:cTn id="20" dur="1" fill="hold">
                                          <p:stCondLst>
                                            <p:cond delay="0"/>
                                          </p:stCondLst>
                                        </p:cTn>
                                        <p:tgtEl>
                                          <p:spTgt spid="111620">
                                            <p:txEl>
                                              <p:pRg st="0" end="0"/>
                                            </p:txEl>
                                          </p:spTgt>
                                        </p:tgtEl>
                                        <p:attrNameLst>
                                          <p:attrName>style.visibility</p:attrName>
                                        </p:attrNameLst>
                                      </p:cBhvr>
                                      <p:to>
                                        <p:strVal val="visible"/>
                                      </p:to>
                                    </p:set>
                                    <p:animEffect transition="in" filter="wipe(left)">
                                      <p:cBhvr>
                                        <p:cTn id="21" dur="300"/>
                                        <p:tgtEl>
                                          <p:spTgt spid="111620">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2050"/>
                                        </p:tgtEl>
                                        <p:attrNameLst>
                                          <p:attrName>style.visibility</p:attrName>
                                        </p:attrNameLst>
                                      </p:cBhvr>
                                      <p:to>
                                        <p:strVal val="visible"/>
                                      </p:to>
                                    </p:set>
                                    <p:anim calcmode="lin" valueType="num">
                                      <p:cBhvr additive="base">
                                        <p:cTn id="26" dur="500" fill="hold"/>
                                        <p:tgtEl>
                                          <p:spTgt spid="2050"/>
                                        </p:tgtEl>
                                        <p:attrNameLst>
                                          <p:attrName>ppt_x</p:attrName>
                                        </p:attrNameLst>
                                      </p:cBhvr>
                                      <p:tavLst>
                                        <p:tav tm="0">
                                          <p:val>
                                            <p:strVal val="0-#ppt_w/2"/>
                                          </p:val>
                                        </p:tav>
                                        <p:tav tm="100000">
                                          <p:val>
                                            <p:strVal val="#ppt_x"/>
                                          </p:val>
                                        </p:tav>
                                      </p:tavLst>
                                    </p:anim>
                                    <p:anim calcmode="lin" valueType="num">
                                      <p:cBhvr additive="base">
                                        <p:cTn id="27" dur="500" fill="hold"/>
                                        <p:tgtEl>
                                          <p:spTgt spid="2050"/>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5781"/>
                                        </p:tgtEl>
                                        <p:attrNameLst>
                                          <p:attrName>style.visibility</p:attrName>
                                        </p:attrNameLst>
                                      </p:cBhvr>
                                      <p:to>
                                        <p:strVal val="visible"/>
                                      </p:to>
                                    </p:set>
                                    <p:animEffect transition="in" filter="wipe(left)">
                                      <p:cBhvr>
                                        <p:cTn id="32" dur="500"/>
                                        <p:tgtEl>
                                          <p:spTgt spid="75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4" grpId="0" bldLvl="0" animBg="1" autoUpdateAnimBg="0"/>
      <p:bldP spid="112645" grpId="0" bldLvl="0" animBg="1" autoUpdateAnimBg="0"/>
      <p:bldP spid="112647" grpId="0" bldLvl="0" animBg="1" autoUpdateAnimBg="0"/>
      <p:bldP spid="111620"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0544B191-7D4A-4B22-A180-F12083844DDB}" type="slidenum">
              <a:rPr lang="en-US" altLang="zh-CN" smtClean="0"/>
              <a:pPr>
                <a:defRPr/>
              </a:pPr>
              <a:t>19</a:t>
            </a:fld>
            <a:endParaRPr lang="en-US" altLang="zh-CN"/>
          </a:p>
        </p:txBody>
      </p:sp>
      <p:cxnSp>
        <p:nvCxnSpPr>
          <p:cNvPr id="5" name="直接连接符 4"/>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 name="TextBox 6"/>
          <p:cNvSpPr txBox="1"/>
          <p:nvPr/>
        </p:nvSpPr>
        <p:spPr>
          <a:xfrm>
            <a:off x="755576" y="797224"/>
            <a:ext cx="1152128" cy="460375"/>
          </a:xfrm>
          <a:prstGeom prst="rect">
            <a:avLst/>
          </a:prstGeom>
          <a:noFill/>
        </p:spPr>
        <p:txBody>
          <a:bodyPr wrap="square" rtlCol="0">
            <a:spAutoFit/>
          </a:bodyPr>
          <a:lstStyle/>
          <a:p>
            <a:r>
              <a:rPr lang="zh-CN" altLang="en-US" b="1" dirty="0" smtClean="0">
                <a:solidFill>
                  <a:srgbClr val="00B0F0"/>
                </a:solidFill>
                <a:effectLst>
                  <a:outerShdw blurRad="38100" dist="38100" dir="2700000" algn="tl">
                    <a:srgbClr val="000000">
                      <a:alpha val="43137"/>
                    </a:srgbClr>
                  </a:outerShdw>
                </a:effectLst>
              </a:rPr>
              <a:t>面对线</a:t>
            </a:r>
          </a:p>
        </p:txBody>
      </p:sp>
      <p:sp>
        <p:nvSpPr>
          <p:cNvPr id="111620" name="Text Box 4"/>
          <p:cNvSpPr txBox="1">
            <a:spLocks noChangeArrowheads="1"/>
          </p:cNvSpPr>
          <p:nvPr/>
        </p:nvSpPr>
        <p:spPr bwMode="auto">
          <a:xfrm>
            <a:off x="323528" y="164637"/>
            <a:ext cx="650876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t>(2) </a:t>
            </a:r>
            <a:r>
              <a:rPr lang="zh-CN" altLang="en-US" sz="2800" b="1" dirty="0">
                <a:latin typeface="宋体" panose="02010600030101010101" pitchFamily="2" charset="-122"/>
              </a:rPr>
              <a:t>垂直度公差标注</a:t>
            </a:r>
          </a:p>
        </p:txBody>
      </p:sp>
      <p:grpSp>
        <p:nvGrpSpPr>
          <p:cNvPr id="2" name="组合 1"/>
          <p:cNvGrpSpPr/>
          <p:nvPr/>
        </p:nvGrpSpPr>
        <p:grpSpPr>
          <a:xfrm>
            <a:off x="586106" y="2339340"/>
            <a:ext cx="3768089" cy="3048636"/>
            <a:chOff x="6038650" y="2636912"/>
            <a:chExt cx="2963368" cy="2301192"/>
          </a:xfrm>
        </p:grpSpPr>
        <p:pic>
          <p:nvPicPr>
            <p:cNvPr id="75782" name="Picture 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228184" y="2636912"/>
              <a:ext cx="2773834" cy="10591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5783" name="Picture 7"/>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038650" y="3829117"/>
              <a:ext cx="2904384" cy="11089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pic>
        <p:nvPicPr>
          <p:cNvPr id="75786" name="Picture 10"/>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5000628" y="2428868"/>
            <a:ext cx="3219450" cy="2352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矩形 2"/>
          <p:cNvSpPr/>
          <p:nvPr/>
        </p:nvSpPr>
        <p:spPr>
          <a:xfrm>
            <a:off x="586105" y="1341120"/>
            <a:ext cx="8386445" cy="706755"/>
          </a:xfrm>
          <a:prstGeom prst="rect">
            <a:avLst/>
          </a:prstGeom>
        </p:spPr>
        <p:txBody>
          <a:bodyPr wrap="square">
            <a:spAutoFit/>
          </a:bodyPr>
          <a:lstStyle/>
          <a:p>
            <a:r>
              <a:rPr lang="zh-CN" altLang="en-US" sz="2000" b="1" dirty="0" smtClean="0"/>
              <a:t>         提取</a:t>
            </a:r>
            <a:r>
              <a:rPr lang="en-US" altLang="zh-CN" sz="2000" b="1" dirty="0"/>
              <a:t>(</a:t>
            </a:r>
            <a:r>
              <a:rPr lang="zh-CN" altLang="en-US" sz="2000" b="1" dirty="0"/>
              <a:t>实际</a:t>
            </a:r>
            <a:r>
              <a:rPr lang="en-US" altLang="zh-CN" sz="2000" b="1" dirty="0"/>
              <a:t>) </a:t>
            </a:r>
            <a:r>
              <a:rPr lang="zh-CN" altLang="en-US" sz="2000" b="1" dirty="0"/>
              <a:t>面应限定在间距等于</a:t>
            </a:r>
            <a:r>
              <a:rPr lang="en-US" altLang="zh-CN" sz="2000" b="1" dirty="0"/>
              <a:t>0. 08 </a:t>
            </a:r>
            <a:r>
              <a:rPr lang="zh-CN" altLang="en-US" sz="2000" b="1" dirty="0"/>
              <a:t>的两平行平面之间。</a:t>
            </a:r>
            <a:r>
              <a:rPr lang="zh-CN" altLang="en-US" sz="2000" b="1" dirty="0" smtClean="0"/>
              <a:t>该两</a:t>
            </a:r>
            <a:r>
              <a:rPr lang="zh-CN" altLang="en-US" sz="2000" b="1" dirty="0"/>
              <a:t>平行平面垂直于基准轴线</a:t>
            </a:r>
            <a:r>
              <a:rPr lang="en-US" altLang="zh-CN" sz="2000" b="1" i="1" dirty="0" smtClean="0"/>
              <a:t>A</a:t>
            </a:r>
            <a:r>
              <a:rPr lang="zh-CN" altLang="en-US" sz="2000" b="1" i="1" dirty="0"/>
              <a:t>。</a:t>
            </a:r>
            <a:endParaRPr lang="en-US" altLang="zh-CN" sz="2000" b="1" i="1" dirty="0"/>
          </a:p>
        </p:txBody>
      </p:sp>
      <p:sp>
        <p:nvSpPr>
          <p:cNvPr id="8" name="矩形 7"/>
          <p:cNvSpPr/>
          <p:nvPr/>
        </p:nvSpPr>
        <p:spPr>
          <a:xfrm>
            <a:off x="4000496" y="5429264"/>
            <a:ext cx="4754245" cy="706755"/>
          </a:xfrm>
          <a:prstGeom prst="rect">
            <a:avLst/>
          </a:prstGeom>
        </p:spPr>
        <p:txBody>
          <a:bodyPr wrap="square">
            <a:spAutoFit/>
          </a:bodyPr>
          <a:lstStyle/>
          <a:p>
            <a:r>
              <a:rPr lang="zh-CN" altLang="en-US" sz="2000" b="1" dirty="0" smtClean="0"/>
              <a:t>        公差带</a:t>
            </a:r>
            <a:r>
              <a:rPr lang="zh-CN" altLang="en-US" sz="2000" b="1" dirty="0"/>
              <a:t>为间距等于公差值</a:t>
            </a:r>
            <a:r>
              <a:rPr lang="en-US" altLang="zh-CN" sz="2000" b="1" i="1" dirty="0"/>
              <a:t>t </a:t>
            </a:r>
            <a:r>
              <a:rPr lang="zh-CN" altLang="en-US" sz="2000" b="1" dirty="0"/>
              <a:t>且</a:t>
            </a:r>
            <a:r>
              <a:rPr lang="zh-CN" altLang="en-US" sz="2000" b="1" dirty="0" smtClean="0"/>
              <a:t>垂直于</a:t>
            </a:r>
            <a:r>
              <a:rPr lang="zh-CN" altLang="en-US" sz="2000" b="1" dirty="0"/>
              <a:t>基准</a:t>
            </a:r>
            <a:r>
              <a:rPr lang="zh-CN" altLang="en-US" sz="2000" b="1" dirty="0" smtClean="0"/>
              <a:t>轴线</a:t>
            </a:r>
            <a:r>
              <a:rPr lang="en-US" altLang="zh-CN" sz="2000" b="1" i="1" dirty="0" smtClean="0"/>
              <a:t>A</a:t>
            </a:r>
            <a:r>
              <a:rPr lang="zh-CN" altLang="en-US" sz="2000" b="1" dirty="0" smtClean="0"/>
              <a:t>的</a:t>
            </a:r>
            <a:r>
              <a:rPr lang="zh-CN" altLang="en-US" sz="2000" b="1" dirty="0">
                <a:solidFill>
                  <a:srgbClr val="FF0000"/>
                </a:solidFill>
              </a:rPr>
              <a:t>两平行平面</a:t>
            </a:r>
            <a:r>
              <a:rPr lang="zh-CN" altLang="en-US" sz="2000" b="1" dirty="0"/>
              <a:t>所限定的</a:t>
            </a:r>
            <a:r>
              <a:rPr lang="zh-CN" altLang="en-US" sz="2000" b="1" dirty="0" smtClean="0"/>
              <a:t>区域。</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111620">
                                            <p:txEl>
                                              <p:pRg st="0" end="0"/>
                                            </p:txEl>
                                          </p:spTgt>
                                        </p:tgtEl>
                                        <p:attrNameLst>
                                          <p:attrName>style.visibility</p:attrName>
                                        </p:attrNameLst>
                                      </p:cBhvr>
                                      <p:to>
                                        <p:strVal val="visible"/>
                                      </p:to>
                                    </p:set>
                                    <p:animEffect transition="in" filter="wipe(left)">
                                      <p:cBhvr>
                                        <p:cTn id="11" dur="300"/>
                                        <p:tgtEl>
                                          <p:spTgt spid="111620">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1+#ppt_w/2"/>
                                          </p:val>
                                        </p:tav>
                                        <p:tav tm="100000">
                                          <p:val>
                                            <p:strVal val="#ppt_x"/>
                                          </p:val>
                                        </p:tav>
                                      </p:tavLst>
                                    </p:anim>
                                    <p:anim calcmode="lin" valueType="num">
                                      <p:cBhvr additive="base">
                                        <p:cTn id="17"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5786"/>
                                        </p:tgtEl>
                                        <p:attrNameLst>
                                          <p:attrName>style.visibility</p:attrName>
                                        </p:attrNameLst>
                                      </p:cBhvr>
                                      <p:to>
                                        <p:strVal val="visible"/>
                                      </p:to>
                                    </p:set>
                                    <p:anim calcmode="lin" valueType="num">
                                      <p:cBhvr additive="base">
                                        <p:cTn id="22" dur="500" fill="hold"/>
                                        <p:tgtEl>
                                          <p:spTgt spid="75786"/>
                                        </p:tgtEl>
                                        <p:attrNameLst>
                                          <p:attrName>ppt_x</p:attrName>
                                        </p:attrNameLst>
                                      </p:cBhvr>
                                      <p:tavLst>
                                        <p:tav tm="0">
                                          <p:val>
                                            <p:strVal val="#ppt_x"/>
                                          </p:val>
                                        </p:tav>
                                        <p:tav tm="100000">
                                          <p:val>
                                            <p:strVal val="#ppt_x"/>
                                          </p:val>
                                        </p:tav>
                                      </p:tavLst>
                                    </p:anim>
                                    <p:anim calcmode="lin" valueType="num">
                                      <p:cBhvr additive="base">
                                        <p:cTn id="23" dur="500" fill="hold"/>
                                        <p:tgtEl>
                                          <p:spTgt spid="7578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1620" grpId="0" build="p" autoUpdateAnimBg="0"/>
      <p:bldP spid="3"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074C0298-7DEE-4785-933B-3E3D4D228326}" type="slidenum">
              <a:rPr lang="en-US" altLang="zh-CN" sz="2000" smtClean="0">
                <a:solidFill>
                  <a:srgbClr val="0000FF"/>
                </a:solidFill>
              </a:rPr>
              <a:pPr eaLnBrk="1" hangingPunct="1"/>
              <a:t>20</a:t>
            </a:fld>
            <a:endParaRPr lang="en-US" altLang="zh-CN" sz="2000" smtClean="0">
              <a:solidFill>
                <a:srgbClr val="0000FF"/>
              </a:solidFill>
            </a:endParaRPr>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 name="TextBox 6"/>
          <p:cNvSpPr txBox="1"/>
          <p:nvPr/>
        </p:nvSpPr>
        <p:spPr>
          <a:xfrm>
            <a:off x="755576" y="797224"/>
            <a:ext cx="1152128" cy="460375"/>
          </a:xfrm>
          <a:prstGeom prst="rect">
            <a:avLst/>
          </a:prstGeom>
          <a:noFill/>
        </p:spPr>
        <p:txBody>
          <a:bodyPr wrap="square" rtlCol="0">
            <a:spAutoFit/>
          </a:bodyPr>
          <a:lstStyle/>
          <a:p>
            <a:r>
              <a:rPr lang="zh-CN" altLang="en-US" b="1" dirty="0" smtClean="0">
                <a:solidFill>
                  <a:srgbClr val="00B0F0"/>
                </a:solidFill>
                <a:effectLst>
                  <a:outerShdw blurRad="38100" dist="38100" dir="2700000" algn="tl">
                    <a:srgbClr val="000000">
                      <a:alpha val="43137"/>
                    </a:srgbClr>
                  </a:outerShdw>
                </a:effectLst>
              </a:rPr>
              <a:t>线对面</a:t>
            </a:r>
          </a:p>
        </p:txBody>
      </p:sp>
      <p:sp>
        <p:nvSpPr>
          <p:cNvPr id="111620" name="Text Box 4"/>
          <p:cNvSpPr txBox="1">
            <a:spLocks noChangeArrowheads="1"/>
          </p:cNvSpPr>
          <p:nvPr/>
        </p:nvSpPr>
        <p:spPr bwMode="auto">
          <a:xfrm>
            <a:off x="323528" y="236392"/>
            <a:ext cx="650876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t>(2) </a:t>
            </a:r>
            <a:r>
              <a:rPr lang="zh-CN" altLang="en-US" sz="2800" b="1" dirty="0">
                <a:latin typeface="宋体" panose="02010600030101010101" pitchFamily="2" charset="-122"/>
              </a:rPr>
              <a:t>垂直度公差标注</a:t>
            </a:r>
          </a:p>
        </p:txBody>
      </p:sp>
      <p:sp>
        <p:nvSpPr>
          <p:cNvPr id="2" name="矩形 1"/>
          <p:cNvSpPr/>
          <p:nvPr/>
        </p:nvSpPr>
        <p:spPr>
          <a:xfrm>
            <a:off x="3963104" y="4869180"/>
            <a:ext cx="4569336" cy="1014730"/>
          </a:xfrm>
          <a:prstGeom prst="rect">
            <a:avLst/>
          </a:prstGeom>
        </p:spPr>
        <p:txBody>
          <a:bodyPr wrap="square">
            <a:spAutoFit/>
          </a:bodyPr>
          <a:lstStyle/>
          <a:p>
            <a:r>
              <a:rPr lang="zh-CN" altLang="en-US" sz="2000" b="1" dirty="0" smtClean="0"/>
              <a:t>         公差</a:t>
            </a:r>
            <a:r>
              <a:rPr lang="zh-CN" altLang="en-US" sz="2000" b="1" dirty="0"/>
              <a:t>值前加注</a:t>
            </a:r>
            <a:r>
              <a:rPr lang="zh-CN" altLang="en-US" sz="2000" b="1" dirty="0" smtClean="0"/>
              <a:t>符号</a:t>
            </a:r>
            <a:r>
              <a:rPr lang="el-GR" altLang="zh-CN" sz="2000" b="1" i="1" dirty="0" smtClean="0">
                <a:latin typeface="Times New Roman" panose="02020603050405020304"/>
                <a:cs typeface="Times New Roman" panose="02020603050405020304"/>
              </a:rPr>
              <a:t>ϕ</a:t>
            </a:r>
            <a:r>
              <a:rPr lang="en-US" altLang="zh-CN" sz="2000" b="1" dirty="0" smtClean="0"/>
              <a:t>,</a:t>
            </a:r>
            <a:r>
              <a:rPr lang="zh-CN" altLang="en-US" sz="2000" b="1" dirty="0"/>
              <a:t>则公差带</a:t>
            </a:r>
            <a:r>
              <a:rPr lang="zh-CN" altLang="en-US" sz="2000" b="1" dirty="0" smtClean="0"/>
              <a:t>为</a:t>
            </a:r>
            <a:r>
              <a:rPr lang="zh-CN" altLang="en-US" sz="2000" b="1" dirty="0" smtClean="0">
                <a:solidFill>
                  <a:srgbClr val="0000CC"/>
                </a:solidFill>
              </a:rPr>
              <a:t>直径</a:t>
            </a:r>
            <a:r>
              <a:rPr lang="zh-CN" altLang="en-US" sz="2000" b="1" dirty="0">
                <a:solidFill>
                  <a:srgbClr val="0000CC"/>
                </a:solidFill>
              </a:rPr>
              <a:t>等于公差</a:t>
            </a:r>
            <a:r>
              <a:rPr lang="zh-CN" altLang="en-US" sz="2000" b="1" dirty="0" smtClean="0">
                <a:solidFill>
                  <a:srgbClr val="0000CC"/>
                </a:solidFill>
              </a:rPr>
              <a:t>值</a:t>
            </a:r>
            <a:r>
              <a:rPr lang="el-GR" altLang="zh-CN" sz="2000" b="1" i="1" dirty="0" smtClean="0">
                <a:solidFill>
                  <a:srgbClr val="0000CC"/>
                </a:solidFill>
                <a:latin typeface="Times New Roman" panose="02020603050405020304"/>
                <a:cs typeface="Times New Roman" panose="02020603050405020304"/>
              </a:rPr>
              <a:t>ϕ</a:t>
            </a:r>
            <a:r>
              <a:rPr lang="en-US" altLang="zh-CN" sz="2000" b="1" i="1" dirty="0" smtClean="0">
                <a:solidFill>
                  <a:srgbClr val="0000CC"/>
                </a:solidFill>
              </a:rPr>
              <a:t>t</a:t>
            </a:r>
            <a:r>
              <a:rPr lang="en-US" altLang="zh-CN" sz="2000" b="1" dirty="0"/>
              <a:t>,</a:t>
            </a:r>
            <a:r>
              <a:rPr lang="zh-CN" altLang="en-US" sz="2000" b="1" dirty="0">
                <a:solidFill>
                  <a:srgbClr val="FF0000"/>
                </a:solidFill>
              </a:rPr>
              <a:t>轴线垂直于</a:t>
            </a:r>
            <a:r>
              <a:rPr lang="zh-CN" altLang="en-US" sz="2000" b="1" dirty="0" smtClean="0">
                <a:solidFill>
                  <a:srgbClr val="FF0000"/>
                </a:solidFill>
              </a:rPr>
              <a:t>基准平面</a:t>
            </a:r>
            <a:r>
              <a:rPr lang="zh-CN" altLang="en-US" sz="2000" b="1" dirty="0">
                <a:solidFill>
                  <a:srgbClr val="FF0000"/>
                </a:solidFill>
              </a:rPr>
              <a:t>的圆柱面</a:t>
            </a:r>
            <a:r>
              <a:rPr lang="zh-CN" altLang="en-US" sz="2000" b="1" dirty="0"/>
              <a:t>所限定的</a:t>
            </a:r>
            <a:r>
              <a:rPr lang="zh-CN" altLang="en-US" sz="2000" b="1" dirty="0" smtClean="0"/>
              <a:t>区域。</a:t>
            </a:r>
            <a:endParaRPr lang="zh-CN" altLang="en-US" sz="2000" b="1" dirty="0"/>
          </a:p>
        </p:txBody>
      </p:sp>
      <p:sp>
        <p:nvSpPr>
          <p:cNvPr id="3" name="矩形 2"/>
          <p:cNvSpPr/>
          <p:nvPr/>
        </p:nvSpPr>
        <p:spPr>
          <a:xfrm>
            <a:off x="683260" y="1278255"/>
            <a:ext cx="8173085" cy="706755"/>
          </a:xfrm>
          <a:prstGeom prst="rect">
            <a:avLst/>
          </a:prstGeom>
        </p:spPr>
        <p:txBody>
          <a:bodyPr wrap="square">
            <a:spAutoFit/>
          </a:bodyPr>
          <a:lstStyle/>
          <a:p>
            <a:r>
              <a:rPr lang="zh-CN" altLang="en-US" sz="2000" b="1" dirty="0" smtClean="0"/>
              <a:t>         圆柱面</a:t>
            </a:r>
            <a:r>
              <a:rPr lang="zh-CN" altLang="en-US" sz="2000" b="1" dirty="0"/>
              <a:t>的提取</a:t>
            </a:r>
            <a:r>
              <a:rPr lang="en-US" altLang="zh-CN" sz="2000" b="1" dirty="0"/>
              <a:t>(</a:t>
            </a:r>
            <a:r>
              <a:rPr lang="zh-CN" altLang="en-US" sz="2000" b="1" dirty="0"/>
              <a:t>实际</a:t>
            </a:r>
            <a:r>
              <a:rPr lang="en-US" altLang="zh-CN" sz="2000" b="1" dirty="0"/>
              <a:t>) </a:t>
            </a:r>
            <a:r>
              <a:rPr lang="zh-CN" altLang="en-US" sz="2000" b="1" dirty="0"/>
              <a:t>中心线应限定在直径</a:t>
            </a:r>
            <a:r>
              <a:rPr lang="zh-CN" altLang="en-US" sz="2000" b="1" dirty="0" smtClean="0"/>
              <a:t>等于</a:t>
            </a:r>
            <a:r>
              <a:rPr lang="el-GR" altLang="zh-CN" sz="2000" b="1" i="1" dirty="0" smtClean="0">
                <a:latin typeface="Times New Roman" panose="02020603050405020304"/>
                <a:cs typeface="Times New Roman" panose="02020603050405020304"/>
              </a:rPr>
              <a:t>ϕ</a:t>
            </a:r>
            <a:r>
              <a:rPr lang="en-US" altLang="zh-CN" sz="2000" b="1" dirty="0" smtClean="0"/>
              <a:t>0</a:t>
            </a:r>
            <a:r>
              <a:rPr lang="en-US" altLang="zh-CN" sz="2000" b="1" dirty="0"/>
              <a:t>. 01</a:t>
            </a:r>
            <a:r>
              <a:rPr lang="zh-CN" altLang="en-US" sz="2000" b="1" dirty="0"/>
              <a:t>、垂直</a:t>
            </a:r>
            <a:r>
              <a:rPr lang="zh-CN" altLang="en-US" sz="2000" b="1" dirty="0" smtClean="0"/>
              <a:t>于基准平面</a:t>
            </a:r>
            <a:r>
              <a:rPr lang="en-US" altLang="zh-CN" sz="2000" b="1" i="1" dirty="0"/>
              <a:t>A</a:t>
            </a:r>
            <a:r>
              <a:rPr lang="en-US" altLang="zh-CN" sz="2000" b="1" dirty="0"/>
              <a:t> </a:t>
            </a:r>
            <a:r>
              <a:rPr lang="zh-CN" altLang="en-US" sz="2000" b="1" dirty="0"/>
              <a:t>的圆柱面</a:t>
            </a:r>
            <a:r>
              <a:rPr lang="zh-CN" altLang="en-US" sz="2000" b="1" dirty="0" smtClean="0"/>
              <a:t>内。</a:t>
            </a:r>
            <a:endParaRPr lang="zh-CN" altLang="en-US" sz="2000" b="1" dirty="0"/>
          </a:p>
        </p:txBody>
      </p:sp>
      <p:pic>
        <p:nvPicPr>
          <p:cNvPr id="26759" name="Picture 13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35785" y="2133600"/>
            <a:ext cx="2602230" cy="18713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6760" name="Picture 136"/>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314950" y="2001520"/>
            <a:ext cx="2641600" cy="19996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6762" name="Picture 138"/>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rot="-120000">
            <a:off x="1330960" y="4079875"/>
            <a:ext cx="2451735" cy="23355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圆柱形 3"/>
          <p:cNvSpPr/>
          <p:nvPr/>
        </p:nvSpPr>
        <p:spPr bwMode="auto">
          <a:xfrm>
            <a:off x="2287587" y="4563710"/>
            <a:ext cx="340197" cy="1080120"/>
          </a:xfrm>
          <a:prstGeom prst="can">
            <a:avLst>
              <a:gd name="adj" fmla="val 47101"/>
            </a:avLst>
          </a:prstGeom>
          <a:solidFill>
            <a:schemeClr val="accent1">
              <a:alpha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111620">
                                            <p:txEl>
                                              <p:pRg st="0" end="0"/>
                                            </p:txEl>
                                          </p:spTgt>
                                        </p:tgtEl>
                                        <p:attrNameLst>
                                          <p:attrName>style.visibility</p:attrName>
                                        </p:attrNameLst>
                                      </p:cBhvr>
                                      <p:to>
                                        <p:strVal val="visible"/>
                                      </p:to>
                                    </p:set>
                                    <p:animEffect transition="in" filter="wipe(left)">
                                      <p:cBhvr>
                                        <p:cTn id="11" dur="300"/>
                                        <p:tgtEl>
                                          <p:spTgt spid="111620">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26759"/>
                                        </p:tgtEl>
                                        <p:attrNameLst>
                                          <p:attrName>style.visibility</p:attrName>
                                        </p:attrNameLst>
                                      </p:cBhvr>
                                      <p:to>
                                        <p:strVal val="visible"/>
                                      </p:to>
                                    </p:set>
                                    <p:anim calcmode="lin" valueType="num">
                                      <p:cBhvr additive="base">
                                        <p:cTn id="21" dur="500" fill="hold"/>
                                        <p:tgtEl>
                                          <p:spTgt spid="26759"/>
                                        </p:tgtEl>
                                        <p:attrNameLst>
                                          <p:attrName>ppt_x</p:attrName>
                                        </p:attrNameLst>
                                      </p:cBhvr>
                                      <p:tavLst>
                                        <p:tav tm="0">
                                          <p:val>
                                            <p:strVal val="0-#ppt_w/2"/>
                                          </p:val>
                                        </p:tav>
                                        <p:tav tm="100000">
                                          <p:val>
                                            <p:strVal val="#ppt_x"/>
                                          </p:val>
                                        </p:tav>
                                      </p:tavLst>
                                    </p:anim>
                                    <p:anim calcmode="lin" valueType="num">
                                      <p:cBhvr additive="base">
                                        <p:cTn id="22" dur="500" fill="hold"/>
                                        <p:tgtEl>
                                          <p:spTgt spid="26759"/>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760"/>
                                        </p:tgtEl>
                                        <p:attrNameLst>
                                          <p:attrName>style.visibility</p:attrName>
                                        </p:attrNameLst>
                                      </p:cBhvr>
                                      <p:to>
                                        <p:strVal val="visible"/>
                                      </p:to>
                                    </p:set>
                                    <p:animEffect transition="in" filter="wipe(left)">
                                      <p:cBhvr>
                                        <p:cTn id="27" dur="500"/>
                                        <p:tgtEl>
                                          <p:spTgt spid="2676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26762"/>
                                        </p:tgtEl>
                                        <p:attrNameLst>
                                          <p:attrName>style.visibility</p:attrName>
                                        </p:attrNameLst>
                                      </p:cBhvr>
                                      <p:to>
                                        <p:strVal val="visible"/>
                                      </p:to>
                                    </p:set>
                                    <p:anim calcmode="lin" valueType="num">
                                      <p:cBhvr additive="base">
                                        <p:cTn id="32" dur="500" fill="hold"/>
                                        <p:tgtEl>
                                          <p:spTgt spid="26762"/>
                                        </p:tgtEl>
                                        <p:attrNameLst>
                                          <p:attrName>ppt_x</p:attrName>
                                        </p:attrNameLst>
                                      </p:cBhvr>
                                      <p:tavLst>
                                        <p:tav tm="0">
                                          <p:val>
                                            <p:strVal val="1+#ppt_w/2"/>
                                          </p:val>
                                        </p:tav>
                                        <p:tav tm="100000">
                                          <p:val>
                                            <p:strVal val="#ppt_x"/>
                                          </p:val>
                                        </p:tav>
                                      </p:tavLst>
                                    </p:anim>
                                    <p:anim calcmode="lin" valueType="num">
                                      <p:cBhvr additive="base">
                                        <p:cTn id="33" dur="500" fill="hold"/>
                                        <p:tgtEl>
                                          <p:spTgt spid="26762"/>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left)">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45"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2000"/>
                                        <p:tgtEl>
                                          <p:spTgt spid="4"/>
                                        </p:tgtEl>
                                      </p:cBhvr>
                                    </p:animEffect>
                                    <p:anim calcmode="lin" valueType="num">
                                      <p:cBhvr>
                                        <p:cTn id="44" dur="2000" fill="hold"/>
                                        <p:tgtEl>
                                          <p:spTgt spid="4"/>
                                        </p:tgtEl>
                                        <p:attrNameLst>
                                          <p:attrName>ppt_w</p:attrName>
                                        </p:attrNameLst>
                                      </p:cBhvr>
                                      <p:tavLst>
                                        <p:tav tm="0" fmla="#ppt_w*sin(2.5*pi*$)">
                                          <p:val>
                                            <p:fltVal val="0"/>
                                          </p:val>
                                        </p:tav>
                                        <p:tav tm="100000">
                                          <p:val>
                                            <p:fltVal val="1"/>
                                          </p:val>
                                        </p:tav>
                                      </p:tavLst>
                                    </p:anim>
                                    <p:anim calcmode="lin" valueType="num">
                                      <p:cBhvr>
                                        <p:cTn id="45"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1620" grpId="0" build="p" autoUpdateAnimBg="0"/>
      <p:bldP spid="2" grpId="0"/>
      <p:bldP spid="3" grpId="0"/>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0544B191-7D4A-4B22-A180-F12083844DDB}" type="slidenum">
              <a:rPr lang="en-US" altLang="zh-CN" smtClean="0"/>
              <a:pPr>
                <a:defRPr/>
              </a:pPr>
              <a:t>21</a:t>
            </a:fld>
            <a:endParaRPr lang="en-US" altLang="zh-CN"/>
          </a:p>
        </p:txBody>
      </p:sp>
      <p:sp>
        <p:nvSpPr>
          <p:cNvPr id="6" name="TextBox 5"/>
          <p:cNvSpPr txBox="1"/>
          <p:nvPr/>
        </p:nvSpPr>
        <p:spPr>
          <a:xfrm>
            <a:off x="714348" y="812298"/>
            <a:ext cx="1152128" cy="461665"/>
          </a:xfrm>
          <a:prstGeom prst="rect">
            <a:avLst/>
          </a:prstGeom>
          <a:noFill/>
        </p:spPr>
        <p:txBody>
          <a:bodyPr wrap="square" rtlCol="0">
            <a:spAutoFit/>
          </a:bodyPr>
          <a:lstStyle/>
          <a:p>
            <a:r>
              <a:rPr lang="zh-CN" altLang="en-US" b="1" dirty="0" smtClean="0">
                <a:solidFill>
                  <a:srgbClr val="00B0F0"/>
                </a:solidFill>
                <a:effectLst>
                  <a:outerShdw blurRad="38100" dist="38100" dir="2700000" algn="tl">
                    <a:srgbClr val="000000">
                      <a:alpha val="43137"/>
                    </a:srgbClr>
                  </a:outerShdw>
                </a:effectLst>
              </a:rPr>
              <a:t>线对线</a:t>
            </a:r>
            <a:endParaRPr lang="zh-CN" altLang="en-US" b="1" dirty="0">
              <a:solidFill>
                <a:srgbClr val="00B0F0"/>
              </a:solidFill>
              <a:effectLst>
                <a:outerShdw blurRad="38100" dist="38100" dir="2700000" algn="tl">
                  <a:srgbClr val="000000">
                    <a:alpha val="43137"/>
                  </a:srgbClr>
                </a:outerShdw>
              </a:effectLst>
            </a:endParaRPr>
          </a:p>
        </p:txBody>
      </p:sp>
      <p:cxnSp>
        <p:nvCxnSpPr>
          <p:cNvPr id="7" name="直接连接符 6"/>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9" name="矩形 8"/>
          <p:cNvSpPr/>
          <p:nvPr/>
        </p:nvSpPr>
        <p:spPr>
          <a:xfrm>
            <a:off x="420522" y="1363792"/>
            <a:ext cx="8358246" cy="707886"/>
          </a:xfrm>
          <a:prstGeom prst="rect">
            <a:avLst/>
          </a:prstGeom>
        </p:spPr>
        <p:txBody>
          <a:bodyPr wrap="square">
            <a:spAutoFit/>
          </a:bodyPr>
          <a:lstStyle/>
          <a:p>
            <a:r>
              <a:rPr lang="zh-CN" altLang="en-US" sz="2000" b="1" dirty="0" smtClean="0">
                <a:latin typeface="FZSSK--GBK1-0"/>
              </a:rPr>
              <a:t>     提取</a:t>
            </a:r>
            <a:r>
              <a:rPr lang="en-US" altLang="zh-CN" sz="2000" b="1" dirty="0">
                <a:latin typeface="E-BZ"/>
              </a:rPr>
              <a:t>(</a:t>
            </a:r>
            <a:r>
              <a:rPr lang="zh-CN" altLang="en-US" sz="2000" b="1" dirty="0">
                <a:latin typeface="FZSSK--GBK1-0"/>
              </a:rPr>
              <a:t>实际</a:t>
            </a:r>
            <a:r>
              <a:rPr lang="en-US" altLang="zh-CN" sz="2000" b="1" dirty="0">
                <a:latin typeface="E-BZ"/>
              </a:rPr>
              <a:t>) </a:t>
            </a:r>
            <a:r>
              <a:rPr lang="zh-CN" altLang="en-US" sz="2000" b="1" dirty="0">
                <a:latin typeface="FZSSK--GBK1-0"/>
              </a:rPr>
              <a:t>中心线应限定在间距等于</a:t>
            </a:r>
            <a:r>
              <a:rPr lang="en-US" altLang="zh-CN" sz="2000" b="1" dirty="0" smtClean="0">
                <a:latin typeface="E-BZ"/>
              </a:rPr>
              <a:t>0.06</a:t>
            </a:r>
            <a:r>
              <a:rPr lang="zh-CN" altLang="en-US" sz="2000" b="1" dirty="0">
                <a:latin typeface="E-BZ"/>
              </a:rPr>
              <a:t>、</a:t>
            </a:r>
            <a:r>
              <a:rPr lang="zh-CN" altLang="en-US" sz="2000" b="1" dirty="0">
                <a:latin typeface="FZSSK--GBK1-0"/>
              </a:rPr>
              <a:t>垂直于基准轴</a:t>
            </a:r>
            <a:r>
              <a:rPr lang="en-US" altLang="zh-CN" sz="2000" b="1" i="1" dirty="0">
                <a:latin typeface="E-BX"/>
              </a:rPr>
              <a:t>A </a:t>
            </a:r>
            <a:r>
              <a:rPr lang="zh-CN" altLang="en-US" sz="2000" b="1" dirty="0" smtClean="0">
                <a:latin typeface="FZSSK--GBK1-0"/>
              </a:rPr>
              <a:t>的两</a:t>
            </a:r>
            <a:r>
              <a:rPr lang="zh-CN" altLang="en-US" sz="2000" b="1" dirty="0">
                <a:latin typeface="FZSSK--GBK1-0"/>
              </a:rPr>
              <a:t>平行平面</a:t>
            </a:r>
            <a:r>
              <a:rPr lang="zh-CN" altLang="en-US" sz="2000" b="1" dirty="0" smtClean="0">
                <a:latin typeface="FZSSK--GBK1-0"/>
              </a:rPr>
              <a:t>之间。</a:t>
            </a:r>
            <a:endParaRPr lang="en-US" altLang="zh-CN" sz="2000" b="1" dirty="0" smtClean="0">
              <a:latin typeface="FZSSK--GBK1-0"/>
            </a:endParaRPr>
          </a:p>
        </p:txBody>
      </p:sp>
      <p:sp>
        <p:nvSpPr>
          <p:cNvPr id="10" name="矩形 9"/>
          <p:cNvSpPr/>
          <p:nvPr/>
        </p:nvSpPr>
        <p:spPr>
          <a:xfrm>
            <a:off x="4286248" y="4714884"/>
            <a:ext cx="3786214" cy="1015663"/>
          </a:xfrm>
          <a:prstGeom prst="rect">
            <a:avLst/>
          </a:prstGeom>
        </p:spPr>
        <p:txBody>
          <a:bodyPr wrap="square">
            <a:spAutoFit/>
          </a:bodyPr>
          <a:lstStyle/>
          <a:p>
            <a:r>
              <a:rPr lang="zh-CN" altLang="en-US" sz="2000" b="1" dirty="0" smtClean="0">
                <a:latin typeface="FZSSK--GBK1-0"/>
              </a:rPr>
              <a:t>    公差带</a:t>
            </a:r>
            <a:r>
              <a:rPr lang="zh-CN" altLang="en-US" sz="2000" b="1" dirty="0">
                <a:latin typeface="FZSSK--GBK1-0"/>
              </a:rPr>
              <a:t>为间距等于公差值</a:t>
            </a:r>
            <a:r>
              <a:rPr lang="en-US" altLang="zh-CN" sz="2000" b="1" i="1" dirty="0">
                <a:latin typeface="E-BX"/>
              </a:rPr>
              <a:t>t</a:t>
            </a:r>
            <a:r>
              <a:rPr lang="zh-CN" altLang="en-US" sz="2000" b="1" dirty="0">
                <a:latin typeface="E-BZ"/>
              </a:rPr>
              <a:t>、</a:t>
            </a:r>
            <a:r>
              <a:rPr lang="zh-CN" altLang="en-US" sz="2000" b="1" dirty="0">
                <a:latin typeface="FZSSK--GBK1-0"/>
              </a:rPr>
              <a:t>垂直于基准轴线的两平行平面所限定的</a:t>
            </a:r>
            <a:r>
              <a:rPr lang="zh-CN" altLang="en-US" sz="2000" b="1" dirty="0" smtClean="0">
                <a:latin typeface="FZSSK--GBK1-0"/>
              </a:rPr>
              <a:t>区域。</a:t>
            </a:r>
            <a:endParaRPr lang="zh-CN" altLang="en-US" sz="2000" b="1" dirty="0"/>
          </a:p>
        </p:txBody>
      </p:sp>
      <p:pic>
        <p:nvPicPr>
          <p:cNvPr id="11" name="Picture 14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47664" y="4224950"/>
            <a:ext cx="2062582" cy="19403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 name="Picture 14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072066" y="2132856"/>
            <a:ext cx="2668286" cy="19417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3" name="Picture 14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142976" y="2090716"/>
            <a:ext cx="3500462" cy="1857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4" name="Text Box 4"/>
          <p:cNvSpPr txBox="1">
            <a:spLocks noChangeArrowheads="1"/>
          </p:cNvSpPr>
          <p:nvPr/>
        </p:nvSpPr>
        <p:spPr bwMode="auto">
          <a:xfrm>
            <a:off x="323528" y="180430"/>
            <a:ext cx="650876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t>(2) </a:t>
            </a:r>
            <a:r>
              <a:rPr lang="zh-CN" altLang="en-US" sz="2800" b="1" dirty="0">
                <a:latin typeface="宋体" panose="02010600030101010101" pitchFamily="2" charset="-122"/>
              </a:rPr>
              <a:t>垂直度公差标注</a:t>
            </a:r>
          </a:p>
        </p:txBody>
      </p:sp>
      <p:cxnSp>
        <p:nvCxnSpPr>
          <p:cNvPr id="3" name="直接连接符 2"/>
          <p:cNvCxnSpPr/>
          <p:nvPr/>
        </p:nvCxnSpPr>
        <p:spPr bwMode="auto">
          <a:xfrm>
            <a:off x="5265953" y="3239103"/>
            <a:ext cx="1440160" cy="144016"/>
          </a:xfrm>
          <a:prstGeom prst="line">
            <a:avLst/>
          </a:prstGeom>
          <a:solidFill>
            <a:schemeClr val="accent1"/>
          </a:solidFill>
          <a:ln w="28575" cap="flat" cmpd="sng" algn="ctr">
            <a:solidFill>
              <a:srgbClr val="FF0000"/>
            </a:solidFill>
            <a:prstDash val="dashDot"/>
            <a:round/>
            <a:headEnd type="none" w="med" len="med"/>
            <a:tailEnd type="none" w="med" len="med"/>
          </a:ln>
        </p:spPr>
      </p:cxnSp>
      <p:cxnSp>
        <p:nvCxnSpPr>
          <p:cNvPr id="8" name="直接连接符 7"/>
          <p:cNvCxnSpPr/>
          <p:nvPr/>
        </p:nvCxnSpPr>
        <p:spPr bwMode="auto">
          <a:xfrm flipH="1">
            <a:off x="5905316" y="2492896"/>
            <a:ext cx="394876" cy="809506"/>
          </a:xfrm>
          <a:prstGeom prst="line">
            <a:avLst/>
          </a:prstGeom>
          <a:solidFill>
            <a:schemeClr val="accent1"/>
          </a:solidFill>
          <a:ln w="28575" cap="flat" cmpd="sng" algn="ctr">
            <a:solidFill>
              <a:srgbClr val="FF0000"/>
            </a:solidFill>
            <a:prstDash val="dashDot"/>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3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down)">
                                      <p:cBhvr>
                                        <p:cTn id="34" dur="500"/>
                                        <p:tgtEl>
                                          <p:spTgt spid="8"/>
                                        </p:tgtEl>
                                      </p:cBhvr>
                                    </p:animEffect>
                                  </p:childTnLst>
                                </p:cTn>
                              </p:par>
                              <p:par>
                                <p:cTn id="35" presetID="22" presetClass="entr" presetSubtype="4" fill="hold"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down)">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1+#ppt_w/2"/>
                                          </p:val>
                                        </p:tav>
                                        <p:tav tm="100000">
                                          <p:val>
                                            <p:strVal val="#ppt_x"/>
                                          </p:val>
                                        </p:tav>
                                      </p:tavLst>
                                    </p:anim>
                                    <p:anim calcmode="lin" valueType="num">
                                      <p:cBhvr additive="base">
                                        <p:cTn id="4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4"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32CC65A3-2348-4D15-B2E3-637F8757B378}" type="slidenum">
              <a:rPr lang="en-US" altLang="zh-CN" sz="2000" smtClean="0">
                <a:solidFill>
                  <a:srgbClr val="0000FF"/>
                </a:solidFill>
              </a:rPr>
              <a:pPr eaLnBrk="1" hangingPunct="1"/>
              <a:t>22</a:t>
            </a:fld>
            <a:endParaRPr lang="en-US" altLang="zh-CN" sz="2000" smtClean="0">
              <a:solidFill>
                <a:srgbClr val="0000FF"/>
              </a:solidFill>
            </a:endParaRPr>
          </a:p>
        </p:txBody>
      </p:sp>
      <p:sp>
        <p:nvSpPr>
          <p:cNvPr id="114692" name="Text Box 4"/>
          <p:cNvSpPr txBox="1">
            <a:spLocks noChangeArrowheads="1"/>
          </p:cNvSpPr>
          <p:nvPr/>
        </p:nvSpPr>
        <p:spPr bwMode="auto">
          <a:xfrm>
            <a:off x="642910" y="785794"/>
            <a:ext cx="392909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smtClean="0">
                <a:solidFill>
                  <a:srgbClr val="00B0F0"/>
                </a:solidFill>
                <a:effectLst>
                  <a:outerShdw blurRad="38100" dist="38100" dir="2700000" algn="tl">
                    <a:srgbClr val="000000">
                      <a:alpha val="43137"/>
                    </a:srgbClr>
                  </a:outerShdw>
                </a:effectLst>
              </a:rPr>
              <a:t>线对基准体系</a:t>
            </a:r>
            <a:endParaRPr lang="zh-CN" altLang="en-US" b="1" dirty="0">
              <a:solidFill>
                <a:srgbClr val="00B0F0"/>
              </a:solidFill>
              <a:effectLst>
                <a:outerShdw blurRad="38100" dist="38100" dir="2700000" algn="tl">
                  <a:srgbClr val="000000">
                    <a:alpha val="43137"/>
                  </a:srgbClr>
                </a:outerShdw>
              </a:effectLst>
            </a:endParaRPr>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 Box 4"/>
          <p:cNvSpPr txBox="1">
            <a:spLocks noChangeArrowheads="1"/>
          </p:cNvSpPr>
          <p:nvPr/>
        </p:nvSpPr>
        <p:spPr bwMode="auto">
          <a:xfrm>
            <a:off x="323528" y="211340"/>
            <a:ext cx="650876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t>(2) </a:t>
            </a:r>
            <a:r>
              <a:rPr lang="zh-CN" altLang="en-US" sz="2800" b="1" dirty="0">
                <a:latin typeface="宋体" panose="02010600030101010101" pitchFamily="2" charset="-122"/>
              </a:rPr>
              <a:t>垂直度公差标注</a:t>
            </a:r>
          </a:p>
        </p:txBody>
      </p:sp>
      <p:sp>
        <p:nvSpPr>
          <p:cNvPr id="14" name="矩形 13"/>
          <p:cNvSpPr/>
          <p:nvPr/>
        </p:nvSpPr>
        <p:spPr>
          <a:xfrm>
            <a:off x="642910" y="1270329"/>
            <a:ext cx="7786742" cy="1015663"/>
          </a:xfrm>
          <a:prstGeom prst="rect">
            <a:avLst/>
          </a:prstGeom>
        </p:spPr>
        <p:txBody>
          <a:bodyPr wrap="square">
            <a:spAutoFit/>
          </a:bodyPr>
          <a:lstStyle/>
          <a:p>
            <a:r>
              <a:rPr lang="zh-CN" altLang="en-US" sz="2000" b="1" dirty="0" smtClean="0"/>
              <a:t>         圆柱面</a:t>
            </a:r>
            <a:r>
              <a:rPr lang="zh-CN" altLang="en-US" sz="2000" b="1" dirty="0"/>
              <a:t>的提取</a:t>
            </a:r>
            <a:r>
              <a:rPr lang="en-US" altLang="zh-CN" sz="2000" b="1" dirty="0"/>
              <a:t>(</a:t>
            </a:r>
            <a:r>
              <a:rPr lang="zh-CN" altLang="en-US" sz="2000" b="1" dirty="0"/>
              <a:t>实际</a:t>
            </a:r>
            <a:r>
              <a:rPr lang="en-US" altLang="zh-CN" sz="2000" b="1" dirty="0"/>
              <a:t>) </a:t>
            </a:r>
            <a:r>
              <a:rPr lang="zh-CN" altLang="en-US" sz="2000" b="1" dirty="0"/>
              <a:t>中心线应限定在间距等于</a:t>
            </a:r>
            <a:r>
              <a:rPr lang="en-US" altLang="zh-CN" sz="2000" b="1" dirty="0"/>
              <a:t>0. 1 </a:t>
            </a:r>
            <a:r>
              <a:rPr lang="zh-CN" altLang="en-US" sz="2000" b="1" dirty="0"/>
              <a:t>的两平行平面之间。该两平行平面垂直于基准平面</a:t>
            </a:r>
            <a:r>
              <a:rPr lang="en-US" altLang="zh-CN" sz="2000" b="1" i="1" dirty="0" smtClean="0"/>
              <a:t>A</a:t>
            </a:r>
            <a:r>
              <a:rPr lang="zh-CN" altLang="en-US" sz="2000" b="1" i="1" dirty="0" smtClean="0"/>
              <a:t>，</a:t>
            </a:r>
            <a:r>
              <a:rPr lang="zh-CN" altLang="en-US" sz="2000" b="1" dirty="0" smtClean="0"/>
              <a:t>且</a:t>
            </a:r>
            <a:r>
              <a:rPr lang="zh-CN" altLang="en-US" sz="2000" b="1" dirty="0"/>
              <a:t>方向由</a:t>
            </a:r>
            <a:r>
              <a:rPr lang="zh-CN" altLang="en-US" sz="2000" b="1" dirty="0">
                <a:solidFill>
                  <a:srgbClr val="FF0000"/>
                </a:solidFill>
              </a:rPr>
              <a:t>基准平面</a:t>
            </a:r>
            <a:r>
              <a:rPr lang="en-US" altLang="zh-CN" sz="2000" b="1" i="1" dirty="0">
                <a:solidFill>
                  <a:srgbClr val="FF0000"/>
                </a:solidFill>
              </a:rPr>
              <a:t>B </a:t>
            </a:r>
            <a:r>
              <a:rPr lang="zh-CN" altLang="en-US" sz="2000" b="1" dirty="0">
                <a:solidFill>
                  <a:srgbClr val="FF0000"/>
                </a:solidFill>
              </a:rPr>
              <a:t>规定。</a:t>
            </a:r>
            <a:r>
              <a:rPr lang="zh-CN" altLang="en-US" sz="2000" b="1" dirty="0"/>
              <a:t>基准</a:t>
            </a:r>
            <a:r>
              <a:rPr lang="en-US" altLang="zh-CN" sz="2000" b="1" i="1" dirty="0"/>
              <a:t>B </a:t>
            </a:r>
            <a:r>
              <a:rPr lang="zh-CN" altLang="en-US" sz="2000" b="1" dirty="0"/>
              <a:t>为基准</a:t>
            </a:r>
            <a:r>
              <a:rPr lang="en-US" altLang="zh-CN" sz="2000" b="1" i="1" dirty="0"/>
              <a:t>A</a:t>
            </a:r>
            <a:r>
              <a:rPr lang="en-US" altLang="zh-CN" sz="2000" b="1" dirty="0"/>
              <a:t> </a:t>
            </a:r>
            <a:r>
              <a:rPr lang="zh-CN" altLang="en-US" sz="2000" b="1" dirty="0"/>
              <a:t>的辅助</a:t>
            </a:r>
            <a:r>
              <a:rPr lang="zh-CN" altLang="en-US" sz="2000" b="1" dirty="0" smtClean="0"/>
              <a:t>基准。</a:t>
            </a:r>
            <a:endParaRPr lang="zh-CN" altLang="en-US" sz="2000" b="1" dirty="0"/>
          </a:p>
        </p:txBody>
      </p:sp>
      <p:pic>
        <p:nvPicPr>
          <p:cNvPr id="15"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42910" y="2357430"/>
            <a:ext cx="3885690" cy="19442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500562" y="2252498"/>
            <a:ext cx="4071966" cy="21126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7" name="Picture 5"/>
          <p:cNvPicPr>
            <a:picLocks noChangeAspect="1" noChangeArrowheads="1"/>
          </p:cNvPicPr>
          <p:nvPr/>
        </p:nvPicPr>
        <p:blipFill>
          <a:blip r:embed="rId4">
            <a:extLst>
              <a:ext uri="{28A0092B-C50C-407E-A947-70E740481C1C}">
                <a14:useLocalDpi xmlns:a14="http://schemas.microsoft.com/office/drawing/2010/main" xmlns="" val="0"/>
              </a:ext>
            </a:extLst>
          </a:blip>
          <a:srcRect b="19355"/>
          <a:stretch>
            <a:fillRect/>
          </a:stretch>
        </p:blipFill>
        <p:spPr bwMode="auto">
          <a:xfrm>
            <a:off x="1004580" y="4429132"/>
            <a:ext cx="2924478" cy="1785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8" name="矩形 17"/>
          <p:cNvSpPr/>
          <p:nvPr/>
        </p:nvSpPr>
        <p:spPr>
          <a:xfrm>
            <a:off x="4000496" y="4429132"/>
            <a:ext cx="4500594" cy="1015663"/>
          </a:xfrm>
          <a:prstGeom prst="rect">
            <a:avLst/>
          </a:prstGeom>
        </p:spPr>
        <p:txBody>
          <a:bodyPr wrap="square">
            <a:spAutoFit/>
          </a:bodyPr>
          <a:lstStyle/>
          <a:p>
            <a:r>
              <a:rPr lang="zh-CN" altLang="en-US" sz="2000" b="1" dirty="0" smtClean="0"/>
              <a:t>        公差带</a:t>
            </a:r>
            <a:r>
              <a:rPr lang="zh-CN" altLang="en-US" sz="2000" b="1" dirty="0"/>
              <a:t>为间距</a:t>
            </a:r>
            <a:r>
              <a:rPr lang="zh-CN" altLang="en-US" sz="2000" b="1" dirty="0">
                <a:solidFill>
                  <a:srgbClr val="0070C0"/>
                </a:solidFill>
              </a:rPr>
              <a:t>等于公差值</a:t>
            </a:r>
            <a:r>
              <a:rPr lang="en-US" altLang="zh-CN" sz="2000" b="1" i="1" dirty="0">
                <a:solidFill>
                  <a:srgbClr val="0070C0"/>
                </a:solidFill>
              </a:rPr>
              <a:t>t</a:t>
            </a:r>
            <a:r>
              <a:rPr lang="en-US" altLang="zh-CN" sz="2000" b="1" dirty="0">
                <a:solidFill>
                  <a:srgbClr val="0070C0"/>
                </a:solidFill>
              </a:rPr>
              <a:t> </a:t>
            </a:r>
            <a:r>
              <a:rPr lang="zh-CN" altLang="en-US" sz="2000" b="1" dirty="0">
                <a:solidFill>
                  <a:srgbClr val="0070C0"/>
                </a:solidFill>
              </a:rPr>
              <a:t>的两</a:t>
            </a:r>
            <a:r>
              <a:rPr lang="zh-CN" altLang="en-US" sz="2000" b="1" dirty="0" smtClean="0">
                <a:solidFill>
                  <a:srgbClr val="0070C0"/>
                </a:solidFill>
              </a:rPr>
              <a:t>平行</a:t>
            </a:r>
            <a:r>
              <a:rPr lang="zh-CN" altLang="en-US" sz="2000" b="1" dirty="0">
                <a:solidFill>
                  <a:srgbClr val="0070C0"/>
                </a:solidFill>
              </a:rPr>
              <a:t>平面</a:t>
            </a:r>
            <a:r>
              <a:rPr lang="zh-CN" altLang="en-US" sz="2000" b="1" dirty="0"/>
              <a:t>所限定的区域。该两平行</a:t>
            </a:r>
            <a:r>
              <a:rPr lang="zh-CN" altLang="en-US" sz="2000" b="1" dirty="0" smtClean="0"/>
              <a:t>平面垂直</a:t>
            </a:r>
            <a:r>
              <a:rPr lang="zh-CN" altLang="en-US" sz="2000" b="1" dirty="0"/>
              <a:t>于基准平面</a:t>
            </a:r>
            <a:r>
              <a:rPr lang="en-US" altLang="zh-CN" sz="2000" b="1" i="1" dirty="0"/>
              <a:t>A</a:t>
            </a:r>
            <a:r>
              <a:rPr lang="en-US" altLang="zh-CN" sz="2000" b="1" dirty="0"/>
              <a:t> </a:t>
            </a:r>
            <a:r>
              <a:rPr lang="zh-CN" altLang="en-US" sz="2000" b="1" dirty="0"/>
              <a:t>且平行于辅助</a:t>
            </a:r>
            <a:r>
              <a:rPr lang="zh-CN" altLang="en-US" sz="2000" b="1" dirty="0" smtClean="0"/>
              <a:t>基准</a:t>
            </a:r>
            <a:r>
              <a:rPr lang="en-US" altLang="zh-CN" sz="2000" b="1" i="1" dirty="0" smtClean="0"/>
              <a:t>B</a:t>
            </a:r>
            <a:r>
              <a:rPr lang="zh-CN" altLang="en-US" sz="2000" b="1" dirty="0" smtClean="0"/>
              <a:t>。</a:t>
            </a:r>
            <a:endParaRPr lang="zh-CN" altLang="en-US" sz="2000" b="1" dirty="0"/>
          </a:p>
        </p:txBody>
      </p:sp>
      <p:pic>
        <p:nvPicPr>
          <p:cNvPr id="19" name="Picture 7"/>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4858892" y="5517232"/>
            <a:ext cx="2953468" cy="738890"/>
          </a:xfrm>
          <a:prstGeom prst="rect">
            <a:avLst/>
          </a:prstGeom>
          <a:noFill/>
          <a:ln w="28575">
            <a:solidFill>
              <a:srgbClr val="FF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14692"/>
                                        </p:tgtEl>
                                        <p:attrNameLst>
                                          <p:attrName>style.visibility</p:attrName>
                                        </p:attrNameLst>
                                      </p:cBhvr>
                                      <p:to>
                                        <p:strVal val="visible"/>
                                      </p:to>
                                    </p:set>
                                    <p:animEffect transition="in" filter="wipe(left)">
                                      <p:cBhvr>
                                        <p:cTn id="7" dur="300"/>
                                        <p:tgtEl>
                                          <p:spTgt spid="114692"/>
                                        </p:tgtEl>
                                      </p:cBhvr>
                                    </p:animEffect>
                                  </p:childTnLst>
                                </p:cTn>
                              </p:par>
                            </p:childTnLst>
                          </p:cTn>
                        </p:par>
                        <p:par>
                          <p:cTn id="8" fill="hold">
                            <p:stCondLst>
                              <p:cond delay="9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wipe(left)">
                                      <p:cBhvr>
                                        <p:cTn id="11" dur="300"/>
                                        <p:tgtEl>
                                          <p:spTgt spid="1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0-#ppt_w/2"/>
                                          </p:val>
                                        </p:tav>
                                        <p:tav tm="100000">
                                          <p:val>
                                            <p:strVal val="#ppt_x"/>
                                          </p:val>
                                        </p:tav>
                                      </p:tavLst>
                                    </p:anim>
                                    <p:anim calcmode="lin" valueType="num">
                                      <p:cBhvr additive="base">
                                        <p:cTn id="2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1+#ppt_w/2"/>
                                          </p:val>
                                        </p:tav>
                                        <p:tav tm="100000">
                                          <p:val>
                                            <p:strVal val="#ppt_x"/>
                                          </p:val>
                                        </p:tav>
                                      </p:tavLst>
                                    </p:anim>
                                    <p:anim calcmode="lin" valueType="num">
                                      <p:cBhvr additive="base">
                                        <p:cTn id="2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left)">
                                      <p:cBhvr>
                                        <p:cTn id="4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autoUpdateAnimBg="0"/>
      <p:bldP spid="13" grpId="0" build="p" autoUpdateAnimBg="0"/>
      <p:bldP spid="14" grpId="0"/>
      <p:bldP spid="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1F86536-24F0-49CC-8847-60D3C0ED5D2F}" type="slidenum">
              <a:rPr lang="en-US" altLang="zh-CN" sz="2000" smtClean="0">
                <a:solidFill>
                  <a:srgbClr val="0000FF"/>
                </a:solidFill>
              </a:rPr>
              <a:pPr eaLnBrk="1" hangingPunct="1"/>
              <a:t>23</a:t>
            </a:fld>
            <a:endParaRPr lang="en-US" altLang="zh-CN" sz="2000" smtClean="0">
              <a:solidFill>
                <a:srgbClr val="0000FF"/>
              </a:solidFill>
            </a:endParaRPr>
          </a:p>
        </p:txBody>
      </p:sp>
      <p:sp>
        <p:nvSpPr>
          <p:cNvPr id="11296" name="Text Box 32"/>
          <p:cNvSpPr txBox="1">
            <a:spLocks noChangeArrowheads="1"/>
          </p:cNvSpPr>
          <p:nvPr/>
        </p:nvSpPr>
        <p:spPr bwMode="auto">
          <a:xfrm>
            <a:off x="395536" y="164637"/>
            <a:ext cx="346208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smtClean="0"/>
              <a:t>（</a:t>
            </a:r>
            <a:r>
              <a:rPr lang="en-US" altLang="zh-CN" b="1" dirty="0" smtClean="0">
                <a:latin typeface="宋体" panose="02010600030101010101" pitchFamily="2" charset="-122"/>
              </a:rPr>
              <a:t>3</a:t>
            </a:r>
            <a:r>
              <a:rPr lang="zh-CN" altLang="en-US" b="1" dirty="0" smtClean="0">
                <a:latin typeface="宋体" panose="02010600030101010101" pitchFamily="2" charset="-122"/>
              </a:rPr>
              <a:t>）倾斜度</a:t>
            </a:r>
            <a:r>
              <a:rPr lang="zh-CN" altLang="en-US" b="1" dirty="0">
                <a:latin typeface="宋体" panose="02010600030101010101" pitchFamily="2" charset="-122"/>
              </a:rPr>
              <a:t>公差带</a:t>
            </a:r>
          </a:p>
        </p:txBody>
      </p:sp>
      <p:sp>
        <p:nvSpPr>
          <p:cNvPr id="11297" name="Text Box 33"/>
          <p:cNvSpPr txBox="1">
            <a:spLocks noChangeArrowheads="1"/>
          </p:cNvSpPr>
          <p:nvPr/>
        </p:nvSpPr>
        <p:spPr bwMode="auto">
          <a:xfrm>
            <a:off x="1359000" y="3855666"/>
            <a:ext cx="98075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t>基  准 </a:t>
            </a:r>
          </a:p>
        </p:txBody>
      </p:sp>
      <p:sp>
        <p:nvSpPr>
          <p:cNvPr id="11298" name="AutoShape 34"/>
          <p:cNvSpPr/>
          <p:nvPr/>
        </p:nvSpPr>
        <p:spPr bwMode="auto">
          <a:xfrm>
            <a:off x="2285976" y="3076589"/>
            <a:ext cx="533400" cy="1981200"/>
          </a:xfrm>
          <a:prstGeom prst="leftBrace">
            <a:avLst>
              <a:gd name="adj1" fmla="val 30952"/>
              <a:gd name="adj2" fmla="val 50000"/>
            </a:avLst>
          </a:prstGeom>
          <a:noFill/>
          <a:ln w="38100">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299" name="Text Box 35"/>
          <p:cNvSpPr txBox="1">
            <a:spLocks noChangeArrowheads="1"/>
          </p:cNvSpPr>
          <p:nvPr/>
        </p:nvSpPr>
        <p:spPr bwMode="auto">
          <a:xfrm>
            <a:off x="2769864" y="3100328"/>
            <a:ext cx="9144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FF0000"/>
                </a:solidFill>
              </a:rPr>
              <a:t>面</a:t>
            </a:r>
            <a:r>
              <a:rPr lang="zh-CN" altLang="en-US" dirty="0"/>
              <a:t> </a:t>
            </a:r>
          </a:p>
        </p:txBody>
      </p:sp>
      <p:sp>
        <p:nvSpPr>
          <p:cNvPr id="11300" name="Text Box 36"/>
          <p:cNvSpPr txBox="1">
            <a:spLocks noChangeArrowheads="1"/>
          </p:cNvSpPr>
          <p:nvPr/>
        </p:nvSpPr>
        <p:spPr bwMode="auto">
          <a:xfrm>
            <a:off x="2743176" y="4600589"/>
            <a:ext cx="9906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solidFill>
                  <a:srgbClr val="FF0000"/>
                </a:solidFill>
              </a:rPr>
              <a:t>线</a:t>
            </a:r>
            <a:r>
              <a:rPr lang="zh-CN" altLang="en-US"/>
              <a:t> </a:t>
            </a:r>
          </a:p>
        </p:txBody>
      </p:sp>
      <p:sp>
        <p:nvSpPr>
          <p:cNvPr id="11301" name="AutoShape 37"/>
          <p:cNvSpPr/>
          <p:nvPr/>
        </p:nvSpPr>
        <p:spPr bwMode="auto">
          <a:xfrm>
            <a:off x="3276576" y="2771789"/>
            <a:ext cx="381000" cy="990600"/>
          </a:xfrm>
          <a:prstGeom prst="leftBrace">
            <a:avLst>
              <a:gd name="adj1" fmla="val 21667"/>
              <a:gd name="adj2" fmla="val 50000"/>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302" name="Text Box 38"/>
          <p:cNvSpPr txBox="1">
            <a:spLocks noChangeArrowheads="1"/>
          </p:cNvSpPr>
          <p:nvPr/>
        </p:nvSpPr>
        <p:spPr bwMode="auto">
          <a:xfrm>
            <a:off x="3581376" y="2543189"/>
            <a:ext cx="38862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t>① </a:t>
            </a:r>
            <a:r>
              <a:rPr lang="zh-CN" altLang="en-US" b="1" dirty="0">
                <a:solidFill>
                  <a:srgbClr val="0070C0"/>
                </a:solidFill>
              </a:rPr>
              <a:t>面</a:t>
            </a:r>
            <a:r>
              <a:rPr lang="zh-CN" altLang="en-US" dirty="0"/>
              <a:t>对</a:t>
            </a:r>
            <a:r>
              <a:rPr lang="zh-CN" altLang="en-US" b="1" dirty="0">
                <a:solidFill>
                  <a:srgbClr val="FF0000"/>
                </a:solidFill>
              </a:rPr>
              <a:t>面</a:t>
            </a:r>
            <a:r>
              <a:rPr lang="zh-CN" altLang="en-US" b="1" dirty="0"/>
              <a:t>倾斜度</a:t>
            </a:r>
            <a:endParaRPr lang="zh-CN" altLang="en-US" dirty="0"/>
          </a:p>
        </p:txBody>
      </p:sp>
      <p:sp>
        <p:nvSpPr>
          <p:cNvPr id="11303" name="Text Box 39"/>
          <p:cNvSpPr txBox="1">
            <a:spLocks noChangeArrowheads="1"/>
          </p:cNvSpPr>
          <p:nvPr/>
        </p:nvSpPr>
        <p:spPr bwMode="auto">
          <a:xfrm>
            <a:off x="3581376" y="3471877"/>
            <a:ext cx="37338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t>② </a:t>
            </a:r>
            <a:r>
              <a:rPr lang="zh-CN" altLang="en-US" b="1" dirty="0">
                <a:solidFill>
                  <a:srgbClr val="0070C0"/>
                </a:solidFill>
              </a:rPr>
              <a:t>线</a:t>
            </a:r>
            <a:r>
              <a:rPr lang="zh-CN" altLang="en-US" dirty="0"/>
              <a:t>对</a:t>
            </a:r>
            <a:r>
              <a:rPr lang="zh-CN" altLang="en-US" b="1" dirty="0">
                <a:solidFill>
                  <a:srgbClr val="FF0000"/>
                </a:solidFill>
              </a:rPr>
              <a:t>面</a:t>
            </a:r>
            <a:r>
              <a:rPr lang="zh-CN" altLang="en-US" b="1" dirty="0"/>
              <a:t>倾斜度</a:t>
            </a:r>
            <a:endParaRPr lang="zh-CN" altLang="en-US" dirty="0"/>
          </a:p>
        </p:txBody>
      </p:sp>
      <p:sp>
        <p:nvSpPr>
          <p:cNvPr id="11304" name="Text Box 40"/>
          <p:cNvSpPr txBox="1">
            <a:spLocks noChangeArrowheads="1"/>
          </p:cNvSpPr>
          <p:nvPr/>
        </p:nvSpPr>
        <p:spPr bwMode="auto">
          <a:xfrm>
            <a:off x="3581376" y="4219589"/>
            <a:ext cx="39624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t>③ </a:t>
            </a:r>
            <a:r>
              <a:rPr lang="zh-CN" altLang="en-US" b="1" dirty="0">
                <a:solidFill>
                  <a:srgbClr val="0070C0"/>
                </a:solidFill>
              </a:rPr>
              <a:t>面</a:t>
            </a:r>
            <a:r>
              <a:rPr lang="zh-CN" altLang="en-US" dirty="0"/>
              <a:t>对</a:t>
            </a:r>
            <a:r>
              <a:rPr lang="zh-CN" altLang="en-US" b="1" dirty="0">
                <a:solidFill>
                  <a:srgbClr val="FF0000"/>
                </a:solidFill>
              </a:rPr>
              <a:t>线</a:t>
            </a:r>
            <a:r>
              <a:rPr lang="zh-CN" altLang="en-US" b="1" dirty="0"/>
              <a:t>倾斜度</a:t>
            </a:r>
            <a:endParaRPr lang="zh-CN" altLang="en-US" dirty="0"/>
          </a:p>
        </p:txBody>
      </p:sp>
      <p:sp>
        <p:nvSpPr>
          <p:cNvPr id="11305" name="Text Box 41"/>
          <p:cNvSpPr txBox="1">
            <a:spLocks noChangeArrowheads="1"/>
          </p:cNvSpPr>
          <p:nvPr/>
        </p:nvSpPr>
        <p:spPr bwMode="auto">
          <a:xfrm>
            <a:off x="3581376" y="4981589"/>
            <a:ext cx="38862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t>④ </a:t>
            </a:r>
            <a:r>
              <a:rPr lang="zh-CN" altLang="en-US" b="1" dirty="0">
                <a:solidFill>
                  <a:srgbClr val="0070C0"/>
                </a:solidFill>
              </a:rPr>
              <a:t>线</a:t>
            </a:r>
            <a:r>
              <a:rPr lang="zh-CN" altLang="en-US" dirty="0"/>
              <a:t>对</a:t>
            </a:r>
            <a:r>
              <a:rPr lang="zh-CN" altLang="en-US" b="1" dirty="0">
                <a:solidFill>
                  <a:srgbClr val="FF0000"/>
                </a:solidFill>
              </a:rPr>
              <a:t>线</a:t>
            </a:r>
            <a:r>
              <a:rPr lang="zh-CN" altLang="en-US" b="1" dirty="0"/>
              <a:t>倾斜度</a:t>
            </a:r>
            <a:endParaRPr lang="zh-CN" altLang="en-US" dirty="0"/>
          </a:p>
        </p:txBody>
      </p:sp>
      <p:sp>
        <p:nvSpPr>
          <p:cNvPr id="11306" name="Text Box 42"/>
          <p:cNvSpPr txBox="1">
            <a:spLocks noChangeArrowheads="1"/>
          </p:cNvSpPr>
          <p:nvPr/>
        </p:nvSpPr>
        <p:spPr bwMode="auto">
          <a:xfrm>
            <a:off x="395536" y="1220756"/>
            <a:ext cx="8247290" cy="9787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dirty="0"/>
              <a:t>        </a:t>
            </a:r>
            <a:r>
              <a:rPr lang="zh-CN" altLang="en-US" b="1" dirty="0"/>
              <a:t>倾斜度公差是</a:t>
            </a:r>
            <a:r>
              <a:rPr lang="zh-CN" altLang="en-US" b="1" dirty="0">
                <a:solidFill>
                  <a:srgbClr val="C00000"/>
                </a:solidFill>
              </a:rPr>
              <a:t>最基本</a:t>
            </a:r>
            <a:r>
              <a:rPr lang="zh-CN" altLang="en-US" b="1" dirty="0"/>
              <a:t>的一种方向公差，平行度、</a:t>
            </a:r>
            <a:r>
              <a:rPr lang="zh-CN" altLang="en-US" b="1" dirty="0" smtClean="0"/>
              <a:t>垂直度</a:t>
            </a:r>
            <a:r>
              <a:rPr lang="zh-CN" altLang="en-US" b="1" dirty="0"/>
              <a:t>是它的特例。</a:t>
            </a:r>
          </a:p>
        </p:txBody>
      </p:sp>
      <p:sp>
        <p:nvSpPr>
          <p:cNvPr id="11307" name="AutoShape 43"/>
          <p:cNvSpPr/>
          <p:nvPr/>
        </p:nvSpPr>
        <p:spPr bwMode="auto">
          <a:xfrm>
            <a:off x="3276576" y="4371989"/>
            <a:ext cx="381000" cy="990600"/>
          </a:xfrm>
          <a:prstGeom prst="leftBrace">
            <a:avLst>
              <a:gd name="adj1" fmla="val 21667"/>
              <a:gd name="adj2" fmla="val 50000"/>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cxnSp>
        <p:nvCxnSpPr>
          <p:cNvPr id="15" name="直接连接符 14"/>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1296">
                                            <p:txEl>
                                              <p:pRg st="0" end="0"/>
                                            </p:txEl>
                                          </p:spTgt>
                                        </p:tgtEl>
                                        <p:attrNameLst>
                                          <p:attrName>style.visibility</p:attrName>
                                        </p:attrNameLst>
                                      </p:cBhvr>
                                      <p:to>
                                        <p:strVal val="visible"/>
                                      </p:to>
                                    </p:set>
                                    <p:animEffect transition="in" filter="wipe(left)">
                                      <p:cBhvr>
                                        <p:cTn id="7" dur="300"/>
                                        <p:tgtEl>
                                          <p:spTgt spid="112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1306"/>
                                        </p:tgtEl>
                                        <p:attrNameLst>
                                          <p:attrName>style.visibility</p:attrName>
                                        </p:attrNameLst>
                                      </p:cBhvr>
                                      <p:to>
                                        <p:strVal val="visible"/>
                                      </p:to>
                                    </p:set>
                                    <p:animEffect transition="in" filter="wipe(left)">
                                      <p:cBhvr>
                                        <p:cTn id="12" dur="300"/>
                                        <p:tgtEl>
                                          <p:spTgt spid="113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1297"/>
                                        </p:tgtEl>
                                        <p:attrNameLst>
                                          <p:attrName>style.visibility</p:attrName>
                                        </p:attrNameLst>
                                      </p:cBhvr>
                                      <p:to>
                                        <p:strVal val="visible"/>
                                      </p:to>
                                    </p:set>
                                    <p:animEffect transition="in" filter="wipe(left)">
                                      <p:cBhvr>
                                        <p:cTn id="17" dur="300"/>
                                        <p:tgtEl>
                                          <p:spTgt spid="112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298"/>
                                        </p:tgtEl>
                                        <p:attrNameLst>
                                          <p:attrName>style.visibility</p:attrName>
                                        </p:attrNameLst>
                                      </p:cBhvr>
                                      <p:to>
                                        <p:strVal val="visible"/>
                                      </p:to>
                                    </p:set>
                                    <p:animEffect transition="in" filter="wipe(left)">
                                      <p:cBhvr>
                                        <p:cTn id="22" dur="500"/>
                                        <p:tgtEl>
                                          <p:spTgt spid="1129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1299"/>
                                        </p:tgtEl>
                                        <p:attrNameLst>
                                          <p:attrName>style.visibility</p:attrName>
                                        </p:attrNameLst>
                                      </p:cBhvr>
                                      <p:to>
                                        <p:strVal val="visible"/>
                                      </p:to>
                                    </p:set>
                                    <p:animEffect transition="in" filter="wipe(left)">
                                      <p:cBhvr>
                                        <p:cTn id="27" dur="300"/>
                                        <p:tgtEl>
                                          <p:spTgt spid="1129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1300"/>
                                        </p:tgtEl>
                                        <p:attrNameLst>
                                          <p:attrName>style.visibility</p:attrName>
                                        </p:attrNameLst>
                                      </p:cBhvr>
                                      <p:to>
                                        <p:strVal val="visible"/>
                                      </p:to>
                                    </p:set>
                                    <p:animEffect transition="in" filter="wipe(left)">
                                      <p:cBhvr>
                                        <p:cTn id="32" dur="300"/>
                                        <p:tgtEl>
                                          <p:spTgt spid="1130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301"/>
                                        </p:tgtEl>
                                        <p:attrNameLst>
                                          <p:attrName>style.visibility</p:attrName>
                                        </p:attrNameLst>
                                      </p:cBhvr>
                                      <p:to>
                                        <p:strVal val="visible"/>
                                      </p:to>
                                    </p:set>
                                    <p:animEffect transition="in" filter="wipe(left)">
                                      <p:cBhvr>
                                        <p:cTn id="37" dur="500"/>
                                        <p:tgtEl>
                                          <p:spTgt spid="1130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11302"/>
                                        </p:tgtEl>
                                        <p:attrNameLst>
                                          <p:attrName>style.visibility</p:attrName>
                                        </p:attrNameLst>
                                      </p:cBhvr>
                                      <p:to>
                                        <p:strVal val="visible"/>
                                      </p:to>
                                    </p:set>
                                    <p:animEffect transition="in" filter="wipe(left)">
                                      <p:cBhvr>
                                        <p:cTn id="42" dur="300"/>
                                        <p:tgtEl>
                                          <p:spTgt spid="1130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11303"/>
                                        </p:tgtEl>
                                        <p:attrNameLst>
                                          <p:attrName>style.visibility</p:attrName>
                                        </p:attrNameLst>
                                      </p:cBhvr>
                                      <p:to>
                                        <p:strVal val="visible"/>
                                      </p:to>
                                    </p:set>
                                    <p:animEffect transition="in" filter="wipe(left)">
                                      <p:cBhvr>
                                        <p:cTn id="47" dur="300"/>
                                        <p:tgtEl>
                                          <p:spTgt spid="1130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307"/>
                                        </p:tgtEl>
                                        <p:attrNameLst>
                                          <p:attrName>style.visibility</p:attrName>
                                        </p:attrNameLst>
                                      </p:cBhvr>
                                      <p:to>
                                        <p:strVal val="visible"/>
                                      </p:to>
                                    </p:set>
                                    <p:animEffect transition="in" filter="wipe(left)">
                                      <p:cBhvr>
                                        <p:cTn id="52" dur="500"/>
                                        <p:tgtEl>
                                          <p:spTgt spid="1130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wd">
                                    <p:tmPct val="100000"/>
                                  </p:iterate>
                                  <p:childTnLst>
                                    <p:set>
                                      <p:cBhvr>
                                        <p:cTn id="56" dur="1" fill="hold">
                                          <p:stCondLst>
                                            <p:cond delay="0"/>
                                          </p:stCondLst>
                                        </p:cTn>
                                        <p:tgtEl>
                                          <p:spTgt spid="11304"/>
                                        </p:tgtEl>
                                        <p:attrNameLst>
                                          <p:attrName>style.visibility</p:attrName>
                                        </p:attrNameLst>
                                      </p:cBhvr>
                                      <p:to>
                                        <p:strVal val="visible"/>
                                      </p:to>
                                    </p:set>
                                    <p:animEffect transition="in" filter="wipe(left)">
                                      <p:cBhvr>
                                        <p:cTn id="57" dur="300"/>
                                        <p:tgtEl>
                                          <p:spTgt spid="1130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wd">
                                    <p:tmPct val="100000"/>
                                  </p:iterate>
                                  <p:childTnLst>
                                    <p:set>
                                      <p:cBhvr>
                                        <p:cTn id="61" dur="1" fill="hold">
                                          <p:stCondLst>
                                            <p:cond delay="0"/>
                                          </p:stCondLst>
                                        </p:cTn>
                                        <p:tgtEl>
                                          <p:spTgt spid="11305"/>
                                        </p:tgtEl>
                                        <p:attrNameLst>
                                          <p:attrName>style.visibility</p:attrName>
                                        </p:attrNameLst>
                                      </p:cBhvr>
                                      <p:to>
                                        <p:strVal val="visible"/>
                                      </p:to>
                                    </p:set>
                                    <p:animEffect transition="in" filter="wipe(left)">
                                      <p:cBhvr>
                                        <p:cTn id="62" dur="300"/>
                                        <p:tgtEl>
                                          <p:spTgt spid="11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96" grpId="0" build="p" autoUpdateAnimBg="0"/>
      <p:bldP spid="11297" grpId="0" autoUpdateAnimBg="0"/>
      <p:bldP spid="11298" grpId="0" animBg="1"/>
      <p:bldP spid="11299" grpId="0" autoUpdateAnimBg="0"/>
      <p:bldP spid="11300" grpId="0" autoUpdateAnimBg="0"/>
      <p:bldP spid="11301" grpId="0" animBg="1"/>
      <p:bldP spid="11302" grpId="0" autoUpdateAnimBg="0"/>
      <p:bldP spid="11303" grpId="0" autoUpdateAnimBg="0"/>
      <p:bldP spid="11304" grpId="0" autoUpdateAnimBg="0"/>
      <p:bldP spid="11305" grpId="0" autoUpdateAnimBg="0"/>
      <p:bldP spid="11306" grpId="0" autoUpdateAnimBg="0"/>
      <p:bldP spid="1130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3E733279-32F3-4A5E-896D-B7C753D2C63C}" type="slidenum">
              <a:rPr lang="en-US" altLang="zh-CN" sz="2000" smtClean="0">
                <a:solidFill>
                  <a:srgbClr val="0000FF"/>
                </a:solidFill>
              </a:rPr>
              <a:pPr eaLnBrk="1" hangingPunct="1"/>
              <a:t>24</a:t>
            </a:fld>
            <a:endParaRPr lang="en-US" altLang="zh-CN" sz="2000" smtClean="0">
              <a:solidFill>
                <a:srgbClr val="0000FF"/>
              </a:solidFill>
            </a:endParaRPr>
          </a:p>
        </p:txBody>
      </p:sp>
      <p:sp>
        <p:nvSpPr>
          <p:cNvPr id="86026" name="Text Box 1034"/>
          <p:cNvSpPr txBox="1">
            <a:spLocks noChangeArrowheads="1"/>
          </p:cNvSpPr>
          <p:nvPr/>
        </p:nvSpPr>
        <p:spPr bwMode="auto">
          <a:xfrm>
            <a:off x="857224" y="4786322"/>
            <a:ext cx="4429156"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smtClean="0"/>
              <a:t>公差带</a:t>
            </a:r>
            <a:r>
              <a:rPr lang="zh-CN" altLang="en-US" sz="2000" b="1" dirty="0"/>
              <a:t>为间距等于公差值</a:t>
            </a:r>
            <a:r>
              <a:rPr lang="zh-CN" altLang="en-US" sz="2000" b="1" i="1" dirty="0"/>
              <a:t> </a:t>
            </a:r>
            <a:r>
              <a:rPr lang="en-US" altLang="zh-CN" sz="2000" b="1" i="1" dirty="0"/>
              <a:t>t</a:t>
            </a:r>
            <a:r>
              <a:rPr lang="zh-CN" altLang="en-US" sz="2000" b="1" dirty="0"/>
              <a:t>的两平行平面所</a:t>
            </a:r>
            <a:r>
              <a:rPr lang="zh-CN" altLang="en-US" sz="2000" b="1" dirty="0" smtClean="0"/>
              <a:t>限定</a:t>
            </a:r>
            <a:r>
              <a:rPr lang="zh-CN" altLang="en-US" sz="2000" b="1" dirty="0"/>
              <a:t>的区域。该两平行平面按给定角度倾斜于</a:t>
            </a:r>
            <a:r>
              <a:rPr lang="zh-CN" altLang="en-US" sz="2000" b="1" dirty="0" smtClean="0"/>
              <a:t>基准平面。</a:t>
            </a:r>
            <a:endParaRPr lang="zh-CN" altLang="en-US" sz="2000" b="1" dirty="0"/>
          </a:p>
        </p:txBody>
      </p:sp>
      <p:sp>
        <p:nvSpPr>
          <p:cNvPr id="86028" name="Text Box 1036"/>
          <p:cNvSpPr txBox="1">
            <a:spLocks noChangeArrowheads="1"/>
          </p:cNvSpPr>
          <p:nvPr/>
        </p:nvSpPr>
        <p:spPr bwMode="auto">
          <a:xfrm>
            <a:off x="714348" y="1285860"/>
            <a:ext cx="7772400"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smtClean="0"/>
              <a:t>提取</a:t>
            </a:r>
            <a:r>
              <a:rPr lang="zh-CN" altLang="en-US" sz="2000" b="1" dirty="0"/>
              <a:t>（实际）表面应限定在距离等于</a:t>
            </a:r>
            <a:r>
              <a:rPr lang="en-US" altLang="zh-CN" sz="2000" b="1" dirty="0"/>
              <a:t>0.08</a:t>
            </a:r>
            <a:r>
              <a:rPr lang="zh-CN" altLang="en-US" sz="2000" b="1" dirty="0"/>
              <a:t>的</a:t>
            </a:r>
            <a:r>
              <a:rPr lang="zh-CN" altLang="en-US" sz="2000" b="1" dirty="0" smtClean="0"/>
              <a:t>两平行</a:t>
            </a:r>
            <a:r>
              <a:rPr lang="zh-CN" altLang="en-US" sz="2000" b="1" dirty="0"/>
              <a:t>平面之间。该两平行平面按论理正确角度</a:t>
            </a:r>
            <a:r>
              <a:rPr lang="en-US" altLang="zh-CN" sz="2000" b="1" dirty="0"/>
              <a:t>40</a:t>
            </a:r>
            <a:r>
              <a:rPr lang="en-US" altLang="zh-CN" sz="2000" b="1" baseline="30000" dirty="0"/>
              <a:t>0</a:t>
            </a:r>
            <a:r>
              <a:rPr lang="zh-CN" altLang="en-US" sz="2000" b="1" dirty="0" smtClean="0"/>
              <a:t>倾斜</a:t>
            </a:r>
            <a:r>
              <a:rPr lang="zh-CN" altLang="en-US" sz="2000" b="1" dirty="0"/>
              <a:t>于基准平面</a:t>
            </a:r>
            <a:r>
              <a:rPr lang="en-US" altLang="zh-CN" sz="2000" b="1" i="1" dirty="0"/>
              <a:t>A</a:t>
            </a:r>
            <a:r>
              <a:rPr lang="zh-CN" altLang="en-US" sz="2000" b="1" dirty="0"/>
              <a:t>。</a:t>
            </a:r>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 Box 32"/>
          <p:cNvSpPr txBox="1">
            <a:spLocks noChangeArrowheads="1"/>
          </p:cNvSpPr>
          <p:nvPr/>
        </p:nvSpPr>
        <p:spPr bwMode="auto">
          <a:xfrm>
            <a:off x="395536" y="164637"/>
            <a:ext cx="346208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smtClean="0"/>
              <a:t>（</a:t>
            </a:r>
            <a:r>
              <a:rPr lang="en-US" altLang="zh-CN" b="1" dirty="0" smtClean="0">
                <a:latin typeface="宋体" panose="02010600030101010101" pitchFamily="2" charset="-122"/>
              </a:rPr>
              <a:t>3</a:t>
            </a:r>
            <a:r>
              <a:rPr lang="zh-CN" altLang="en-US" b="1" dirty="0" smtClean="0">
                <a:latin typeface="宋体" panose="02010600030101010101" pitchFamily="2" charset="-122"/>
              </a:rPr>
              <a:t>）倾斜度</a:t>
            </a:r>
            <a:r>
              <a:rPr lang="zh-CN" altLang="en-US" b="1" dirty="0">
                <a:latin typeface="宋体" panose="02010600030101010101" pitchFamily="2" charset="-122"/>
              </a:rPr>
              <a:t>公差带</a:t>
            </a:r>
          </a:p>
        </p:txBody>
      </p:sp>
      <p:sp>
        <p:nvSpPr>
          <p:cNvPr id="14" name="Text Box 4"/>
          <p:cNvSpPr txBox="1">
            <a:spLocks noChangeArrowheads="1"/>
          </p:cNvSpPr>
          <p:nvPr/>
        </p:nvSpPr>
        <p:spPr bwMode="auto">
          <a:xfrm>
            <a:off x="634985" y="785794"/>
            <a:ext cx="179387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ClrTx/>
              <a:buSzTx/>
              <a:buFontTx/>
            </a:pPr>
            <a:r>
              <a:rPr lang="en-US" altLang="zh-CN" sz="2000" b="1" dirty="0"/>
              <a:t> </a:t>
            </a:r>
            <a:r>
              <a:rPr lang="zh-CN" altLang="en-US" sz="2400" b="1" dirty="0" smtClean="0">
                <a:solidFill>
                  <a:srgbClr val="00B0F0"/>
                </a:solidFill>
                <a:effectLst>
                  <a:outerShdw blurRad="38100" dist="38100" dir="2700000" algn="tl">
                    <a:srgbClr val="000000">
                      <a:alpha val="43137"/>
                    </a:srgbClr>
                  </a:outerShdw>
                </a:effectLst>
              </a:rPr>
              <a:t>面对面</a:t>
            </a:r>
          </a:p>
        </p:txBody>
      </p:sp>
      <p:pic>
        <p:nvPicPr>
          <p:cNvPr id="15"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57224" y="2143116"/>
            <a:ext cx="5514976" cy="24060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 name="Picture 141"/>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724128" y="3861048"/>
            <a:ext cx="2736304" cy="23204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86028"/>
                                        </p:tgtEl>
                                        <p:attrNameLst>
                                          <p:attrName>style.visibility</p:attrName>
                                        </p:attrNameLst>
                                      </p:cBhvr>
                                      <p:to>
                                        <p:strVal val="visible"/>
                                      </p:to>
                                    </p:set>
                                    <p:animEffect transition="in" filter="wipe(left)">
                                      <p:cBhvr>
                                        <p:cTn id="7" dur="300"/>
                                        <p:tgtEl>
                                          <p:spTgt spid="860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86026"/>
                                        </p:tgtEl>
                                        <p:attrNameLst>
                                          <p:attrName>style.visibility</p:attrName>
                                        </p:attrNameLst>
                                      </p:cBhvr>
                                      <p:to>
                                        <p:strVal val="visible"/>
                                      </p:to>
                                    </p:set>
                                    <p:animEffect transition="in" filter="wipe(left)">
                                      <p:cBhvr>
                                        <p:cTn id="12" dur="300"/>
                                        <p:tgtEl>
                                          <p:spTgt spid="86026"/>
                                        </p:tgtEl>
                                      </p:cBhvr>
                                    </p:animEffect>
                                  </p:childTnLst>
                                </p:cTn>
                              </p:par>
                            </p:childTnLst>
                          </p:cTn>
                        </p:par>
                        <p:par>
                          <p:cTn id="13" fill="hold">
                            <p:stCondLst>
                              <p:cond delay="8100"/>
                            </p:stCondLst>
                            <p:childTnLst>
                              <p:par>
                                <p:cTn id="14" presetID="22" presetClass="entr" presetSubtype="8" fill="hold" grpId="0" nodeType="afterEffect">
                                  <p:stCondLst>
                                    <p:cond delay="0"/>
                                  </p:stCondLst>
                                  <p:iterate type="wd">
                                    <p:tmPct val="100000"/>
                                  </p:iterate>
                                  <p:childTnLst>
                                    <p:set>
                                      <p:cBhvr>
                                        <p:cTn id="15" dur="1" fill="hold">
                                          <p:stCondLst>
                                            <p:cond delay="0"/>
                                          </p:stCondLst>
                                        </p:cTn>
                                        <p:tgtEl>
                                          <p:spTgt spid="13">
                                            <p:txEl>
                                              <p:pRg st="0" end="0"/>
                                            </p:txEl>
                                          </p:spTgt>
                                        </p:tgtEl>
                                        <p:attrNameLst>
                                          <p:attrName>style.visibility</p:attrName>
                                        </p:attrNameLst>
                                      </p:cBhvr>
                                      <p:to>
                                        <p:strVal val="visible"/>
                                      </p:to>
                                    </p:set>
                                    <p:animEffect transition="in" filter="wipe(left)">
                                      <p:cBhvr>
                                        <p:cTn id="16" dur="300"/>
                                        <p:tgtEl>
                                          <p:spTgt spid="13">
                                            <p:txEl>
                                              <p:pRg st="0" end="0"/>
                                            </p:txEl>
                                          </p:spTgt>
                                        </p:tgtEl>
                                      </p:cBhvr>
                                    </p:animEffect>
                                  </p:childTnLst>
                                </p:cTn>
                              </p:par>
                            </p:childTnLst>
                          </p:cTn>
                        </p:par>
                        <p:par>
                          <p:cTn id="17" fill="hold">
                            <p:stCondLst>
                              <p:cond delay="9600"/>
                            </p:stCondLst>
                            <p:childTnLst>
                              <p:par>
                                <p:cTn id="18" presetID="22" presetClass="entr" presetSubtype="8" fill="hold" grpId="0" nodeType="afterEffect">
                                  <p:stCondLst>
                                    <p:cond delay="0"/>
                                  </p:stCondLst>
                                  <p:iterate type="wd">
                                    <p:tmPct val="100000"/>
                                  </p:iterate>
                                  <p:childTnLst>
                                    <p:set>
                                      <p:cBhvr>
                                        <p:cTn id="19" dur="1" fill="hold">
                                          <p:stCondLst>
                                            <p:cond delay="0"/>
                                          </p:stCondLst>
                                        </p:cTn>
                                        <p:tgtEl>
                                          <p:spTgt spid="14"/>
                                        </p:tgtEl>
                                        <p:attrNameLst>
                                          <p:attrName>style.visibility</p:attrName>
                                        </p:attrNameLst>
                                      </p:cBhvr>
                                      <p:to>
                                        <p:strVal val="visible"/>
                                      </p:to>
                                    </p:set>
                                    <p:animEffect transition="in" filter="wipe(left)">
                                      <p:cBhvr>
                                        <p:cTn id="20" dur="3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1+#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6" grpId="0" autoUpdateAnimBg="0"/>
      <p:bldP spid="86028" grpId="0" autoUpdateAnimBg="0"/>
      <p:bldP spid="13" grpId="0" build="p" autoUpdateAnimBg="0"/>
      <p:bldP spid="14" grpId="0" bldLvl="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A7093BD0-DB01-48E3-A643-3356B18FE5C9}" type="slidenum">
              <a:rPr lang="en-US" altLang="zh-CN" sz="2000" smtClean="0">
                <a:solidFill>
                  <a:srgbClr val="0000FF"/>
                </a:solidFill>
              </a:rPr>
              <a:pPr eaLnBrk="1" hangingPunct="1"/>
              <a:t>25</a:t>
            </a:fld>
            <a:endParaRPr lang="en-US" altLang="zh-CN" sz="2000" smtClean="0">
              <a:solidFill>
                <a:srgbClr val="0000FF"/>
              </a:solidFill>
            </a:endParaRPr>
          </a:p>
        </p:txBody>
      </p:sp>
      <p:sp>
        <p:nvSpPr>
          <p:cNvPr id="77845" name="Text Box 21"/>
          <p:cNvSpPr txBox="1">
            <a:spLocks noChangeArrowheads="1"/>
          </p:cNvSpPr>
          <p:nvPr/>
        </p:nvSpPr>
        <p:spPr bwMode="auto">
          <a:xfrm>
            <a:off x="827584" y="4581128"/>
            <a:ext cx="4320480" cy="15696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smtClean="0"/>
              <a:t>公差带</a:t>
            </a:r>
            <a:r>
              <a:rPr lang="zh-CN" altLang="en-US" sz="2000" b="1" dirty="0"/>
              <a:t>为</a:t>
            </a:r>
            <a:r>
              <a:rPr lang="zh-CN" altLang="en-US" sz="2000" b="1" dirty="0">
                <a:solidFill>
                  <a:srgbClr val="0070C0"/>
                </a:solidFill>
              </a:rPr>
              <a:t>间距等于公差值</a:t>
            </a:r>
            <a:r>
              <a:rPr lang="zh-CN" altLang="en-US" sz="2000" b="1" i="1" dirty="0">
                <a:solidFill>
                  <a:srgbClr val="0070C0"/>
                </a:solidFill>
              </a:rPr>
              <a:t> </a:t>
            </a:r>
            <a:r>
              <a:rPr lang="en-US" altLang="zh-CN" sz="2000" b="1" i="1" dirty="0">
                <a:solidFill>
                  <a:srgbClr val="0070C0"/>
                </a:solidFill>
              </a:rPr>
              <a:t>t</a:t>
            </a:r>
            <a:r>
              <a:rPr lang="zh-CN" altLang="en-US" sz="2000" b="1" dirty="0">
                <a:solidFill>
                  <a:srgbClr val="0070C0"/>
                </a:solidFill>
              </a:rPr>
              <a:t>的两平行平面</a:t>
            </a:r>
            <a:r>
              <a:rPr lang="zh-CN" altLang="en-US" sz="2000" b="1" dirty="0"/>
              <a:t>所</a:t>
            </a:r>
            <a:r>
              <a:rPr lang="zh-CN" altLang="en-US" sz="2000" b="1" dirty="0" smtClean="0"/>
              <a:t>限定</a:t>
            </a:r>
            <a:r>
              <a:rPr lang="zh-CN" altLang="en-US" sz="2000" b="1" dirty="0"/>
              <a:t>的区域。该两平行平面</a:t>
            </a:r>
            <a:r>
              <a:rPr lang="zh-CN" altLang="en-US" sz="2000" b="1" dirty="0">
                <a:solidFill>
                  <a:srgbClr val="0070C0"/>
                </a:solidFill>
              </a:rPr>
              <a:t>按给定角度倾斜</a:t>
            </a:r>
            <a:r>
              <a:rPr lang="zh-CN" altLang="en-US" sz="2000" b="1" dirty="0" smtClean="0">
                <a:solidFill>
                  <a:srgbClr val="0070C0"/>
                </a:solidFill>
              </a:rPr>
              <a:t>于基准轴线</a:t>
            </a:r>
            <a:r>
              <a:rPr lang="zh-CN" altLang="en-US" sz="2000" b="1" dirty="0" smtClean="0"/>
              <a:t>。被测线与基准线在不同的平面内。</a:t>
            </a:r>
            <a:endParaRPr lang="zh-CN" altLang="en-US" sz="2000" b="1" dirty="0"/>
          </a:p>
        </p:txBody>
      </p:sp>
      <p:sp>
        <p:nvSpPr>
          <p:cNvPr id="77847" name="Text Box 23"/>
          <p:cNvSpPr txBox="1">
            <a:spLocks noChangeArrowheads="1"/>
          </p:cNvSpPr>
          <p:nvPr/>
        </p:nvSpPr>
        <p:spPr bwMode="auto">
          <a:xfrm>
            <a:off x="585814" y="1214422"/>
            <a:ext cx="7772400"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smtClean="0"/>
              <a:t>提取</a:t>
            </a:r>
            <a:r>
              <a:rPr lang="zh-CN" altLang="en-US" sz="2000" b="1" dirty="0"/>
              <a:t>（实际）中心线应限定在距离等于</a:t>
            </a:r>
            <a:r>
              <a:rPr lang="en-US" altLang="zh-CN" sz="2000" b="1" dirty="0"/>
              <a:t>0.08</a:t>
            </a:r>
            <a:r>
              <a:rPr lang="zh-CN" altLang="en-US" sz="2000" b="1" dirty="0" smtClean="0"/>
              <a:t>的两</a:t>
            </a:r>
            <a:r>
              <a:rPr lang="zh-CN" altLang="en-US" sz="2000" b="1" dirty="0"/>
              <a:t>平行平面之间。该两平行平面按论理正确角度</a:t>
            </a:r>
            <a:r>
              <a:rPr lang="en-US" altLang="zh-CN" sz="2000" b="1" dirty="0" smtClean="0"/>
              <a:t>60</a:t>
            </a:r>
            <a:r>
              <a:rPr lang="en-US" altLang="zh-CN" sz="2000" b="1" baseline="30000" dirty="0" smtClean="0"/>
              <a:t>0</a:t>
            </a:r>
            <a:r>
              <a:rPr lang="zh-CN" altLang="en-US" sz="2000" b="1" dirty="0" smtClean="0"/>
              <a:t>倾斜</a:t>
            </a:r>
            <a:r>
              <a:rPr lang="zh-CN" altLang="en-US" sz="2000" b="1" dirty="0"/>
              <a:t>于公共基准轴线</a:t>
            </a:r>
            <a:r>
              <a:rPr lang="en-US" altLang="zh-CN" sz="2000" b="1" i="1" dirty="0"/>
              <a:t>A</a:t>
            </a:r>
            <a:r>
              <a:rPr lang="zh-CN" altLang="en-US" sz="2000" b="1" i="1" dirty="0"/>
              <a:t>－</a:t>
            </a:r>
            <a:r>
              <a:rPr lang="en-US" altLang="zh-CN" sz="2000" b="1" i="1" dirty="0"/>
              <a:t>B</a:t>
            </a:r>
            <a:r>
              <a:rPr lang="zh-CN" altLang="en-US" sz="2000" b="1" dirty="0"/>
              <a:t>。</a:t>
            </a:r>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 Box 32"/>
          <p:cNvSpPr txBox="1">
            <a:spLocks noChangeArrowheads="1"/>
          </p:cNvSpPr>
          <p:nvPr/>
        </p:nvSpPr>
        <p:spPr bwMode="auto">
          <a:xfrm>
            <a:off x="395536" y="164637"/>
            <a:ext cx="346208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smtClean="0"/>
              <a:t>（</a:t>
            </a:r>
            <a:r>
              <a:rPr lang="en-US" altLang="zh-CN" b="1" dirty="0" smtClean="0">
                <a:latin typeface="宋体" panose="02010600030101010101" pitchFamily="2" charset="-122"/>
              </a:rPr>
              <a:t>3</a:t>
            </a:r>
            <a:r>
              <a:rPr lang="zh-CN" altLang="en-US" b="1" dirty="0" smtClean="0">
                <a:latin typeface="宋体" panose="02010600030101010101" pitchFamily="2" charset="-122"/>
              </a:rPr>
              <a:t>）倾斜度</a:t>
            </a:r>
            <a:r>
              <a:rPr lang="zh-CN" altLang="en-US" b="1" dirty="0">
                <a:latin typeface="宋体" panose="02010600030101010101" pitchFamily="2" charset="-122"/>
              </a:rPr>
              <a:t>公差带</a:t>
            </a:r>
          </a:p>
        </p:txBody>
      </p:sp>
      <p:sp>
        <p:nvSpPr>
          <p:cNvPr id="14" name="Text Box 4"/>
          <p:cNvSpPr txBox="1">
            <a:spLocks noChangeArrowheads="1"/>
          </p:cNvSpPr>
          <p:nvPr/>
        </p:nvSpPr>
        <p:spPr bwMode="auto">
          <a:xfrm>
            <a:off x="634985" y="785794"/>
            <a:ext cx="179387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ClrTx/>
              <a:buSzTx/>
              <a:buFontTx/>
            </a:pPr>
            <a:r>
              <a:rPr lang="en-US" altLang="zh-CN" sz="2000" b="1" dirty="0"/>
              <a:t> </a:t>
            </a:r>
            <a:r>
              <a:rPr lang="zh-CN" altLang="en-US" b="1" dirty="0" smtClean="0">
                <a:solidFill>
                  <a:srgbClr val="00B0F0"/>
                </a:solidFill>
                <a:effectLst>
                  <a:outerShdw blurRad="38100" dist="38100" dir="2700000" algn="tl">
                    <a:srgbClr val="000000">
                      <a:alpha val="43137"/>
                    </a:srgbClr>
                  </a:outerShdw>
                </a:effectLst>
              </a:rPr>
              <a:t>线</a:t>
            </a:r>
            <a:r>
              <a:rPr lang="zh-CN" altLang="en-US" sz="2400" b="1" dirty="0" smtClean="0">
                <a:solidFill>
                  <a:srgbClr val="00B0F0"/>
                </a:solidFill>
                <a:effectLst>
                  <a:outerShdw blurRad="38100" dist="38100" dir="2700000" algn="tl">
                    <a:srgbClr val="000000">
                      <a:alpha val="43137"/>
                    </a:srgbClr>
                  </a:outerShdw>
                </a:effectLst>
              </a:rPr>
              <a:t>对线</a:t>
            </a:r>
          </a:p>
        </p:txBody>
      </p:sp>
      <p:pic>
        <p:nvPicPr>
          <p:cNvPr id="15" name="Picture 139"/>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36230" y="2132856"/>
            <a:ext cx="3324201" cy="21196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929232" y="2060848"/>
            <a:ext cx="3930800" cy="228950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nvGrpSpPr>
          <p:cNvPr id="3" name="组合 2"/>
          <p:cNvGrpSpPr/>
          <p:nvPr/>
        </p:nvGrpSpPr>
        <p:grpSpPr>
          <a:xfrm>
            <a:off x="5220072" y="4357488"/>
            <a:ext cx="2952328" cy="2167856"/>
            <a:chOff x="5500694" y="4502280"/>
            <a:chExt cx="2527690" cy="1879048"/>
          </a:xfrm>
        </p:grpSpPr>
        <p:pic>
          <p:nvPicPr>
            <p:cNvPr id="17" name="Picture 141"/>
            <p:cNvPicPr>
              <a:picLocks noChangeAspect="1" noChangeArrowheads="1"/>
            </p:cNvPicPr>
            <p:nvPr/>
          </p:nvPicPr>
          <p:blipFill rotWithShape="1">
            <a:blip r:embed="rId4">
              <a:extLst>
                <a:ext uri="{28A0092B-C50C-407E-A947-70E740481C1C}">
                  <a14:useLocalDpi xmlns:a14="http://schemas.microsoft.com/office/drawing/2010/main" xmlns="" val="0"/>
                </a:ext>
              </a:extLst>
            </a:blip>
            <a:srcRect b="17939"/>
            <a:stretch/>
          </p:blipFill>
          <p:spPr bwMode="auto">
            <a:xfrm>
              <a:off x="5500694" y="4502280"/>
              <a:ext cx="2527690" cy="18790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文本框 1"/>
            <p:cNvSpPr txBox="1"/>
            <p:nvPr/>
          </p:nvSpPr>
          <p:spPr>
            <a:xfrm>
              <a:off x="6814739" y="5970766"/>
              <a:ext cx="853605" cy="338554"/>
            </a:xfrm>
            <a:prstGeom prst="rect">
              <a:avLst/>
            </a:prstGeom>
            <a:noFill/>
          </p:spPr>
          <p:txBody>
            <a:bodyPr wrap="square" rtlCol="0">
              <a:spAutoFit/>
            </a:bodyPr>
            <a:lstStyle/>
            <a:p>
              <a:r>
                <a:rPr lang="zh-CN" altLang="en-US" sz="1600" b="1" dirty="0" smtClean="0"/>
                <a:t>公差带</a:t>
              </a:r>
              <a:endParaRPr lang="zh-CN" altLang="en-US" sz="16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77847"/>
                                        </p:tgtEl>
                                        <p:attrNameLst>
                                          <p:attrName>style.visibility</p:attrName>
                                        </p:attrNameLst>
                                      </p:cBhvr>
                                      <p:to>
                                        <p:strVal val="visible"/>
                                      </p:to>
                                    </p:set>
                                    <p:animEffect transition="in" filter="wipe(left)">
                                      <p:cBhvr>
                                        <p:cTn id="7" dur="300"/>
                                        <p:tgtEl>
                                          <p:spTgt spid="77847"/>
                                        </p:tgtEl>
                                      </p:cBhvr>
                                    </p:animEffect>
                                  </p:childTnLst>
                                </p:cTn>
                              </p:par>
                            </p:childTnLst>
                          </p:cTn>
                        </p:par>
                        <p:par>
                          <p:cTn id="8" fill="hold">
                            <p:stCondLst>
                              <p:cond delay="105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wipe(left)">
                                      <p:cBhvr>
                                        <p:cTn id="11" dur="300"/>
                                        <p:tgtEl>
                                          <p:spTgt spid="13">
                                            <p:txEl>
                                              <p:pRg st="0" end="0"/>
                                            </p:txEl>
                                          </p:spTgt>
                                        </p:tgtEl>
                                      </p:cBhvr>
                                    </p:animEffect>
                                  </p:childTnLst>
                                </p:cTn>
                              </p:par>
                            </p:childTnLst>
                          </p:cTn>
                        </p:par>
                        <p:par>
                          <p:cTn id="12" fill="hold">
                            <p:stCondLst>
                              <p:cond delay="12000"/>
                            </p:stCondLst>
                            <p:childTnLst>
                              <p:par>
                                <p:cTn id="13" presetID="22" presetClass="entr" presetSubtype="8" fill="hold" grpId="0" nodeType="afterEffect">
                                  <p:stCondLst>
                                    <p:cond delay="0"/>
                                  </p:stCondLst>
                                  <p:iterate type="wd">
                                    <p:tmPct val="100000"/>
                                  </p:iterate>
                                  <p:childTnLst>
                                    <p:set>
                                      <p:cBhvr>
                                        <p:cTn id="14" dur="1" fill="hold">
                                          <p:stCondLst>
                                            <p:cond delay="0"/>
                                          </p:stCondLst>
                                        </p:cTn>
                                        <p:tgtEl>
                                          <p:spTgt spid="14"/>
                                        </p:tgtEl>
                                        <p:attrNameLst>
                                          <p:attrName>style.visibility</p:attrName>
                                        </p:attrNameLst>
                                      </p:cBhvr>
                                      <p:to>
                                        <p:strVal val="visible"/>
                                      </p:to>
                                    </p:set>
                                    <p:animEffect transition="in" filter="wipe(left)">
                                      <p:cBhvr>
                                        <p:cTn id="15" dur="3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additive="base">
                                        <p:cTn id="20" dur="500" fill="hold"/>
                                        <p:tgtEl>
                                          <p:spTgt spid="16"/>
                                        </p:tgtEl>
                                        <p:attrNameLst>
                                          <p:attrName>ppt_x</p:attrName>
                                        </p:attrNameLst>
                                      </p:cBhvr>
                                      <p:tavLst>
                                        <p:tav tm="0">
                                          <p:val>
                                            <p:strVal val="0-#ppt_w/2"/>
                                          </p:val>
                                        </p:tav>
                                        <p:tav tm="100000">
                                          <p:val>
                                            <p:strVal val="#ppt_x"/>
                                          </p:val>
                                        </p:tav>
                                      </p:tavLst>
                                    </p:anim>
                                    <p:anim calcmode="lin" valueType="num">
                                      <p:cBhvr additive="base">
                                        <p:cTn id="21"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1+#ppt_w/2"/>
                                          </p:val>
                                        </p:tav>
                                        <p:tav tm="100000">
                                          <p:val>
                                            <p:strVal val="#ppt_x"/>
                                          </p:val>
                                        </p:tav>
                                      </p:tavLst>
                                    </p:anim>
                                    <p:anim calcmode="lin" valueType="num">
                                      <p:cBhvr additive="base">
                                        <p:cTn id="27"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1000"/>
                                        <p:tgtEl>
                                          <p:spTgt spid="3"/>
                                        </p:tgtEl>
                                      </p:cBhvr>
                                    </p:animEffect>
                                    <p:anim calcmode="lin" valueType="num">
                                      <p:cBhvr>
                                        <p:cTn id="33" dur="1000" fill="hold"/>
                                        <p:tgtEl>
                                          <p:spTgt spid="3"/>
                                        </p:tgtEl>
                                        <p:attrNameLst>
                                          <p:attrName>ppt_x</p:attrName>
                                        </p:attrNameLst>
                                      </p:cBhvr>
                                      <p:tavLst>
                                        <p:tav tm="0">
                                          <p:val>
                                            <p:strVal val="#ppt_x"/>
                                          </p:val>
                                        </p:tav>
                                        <p:tav tm="100000">
                                          <p:val>
                                            <p:strVal val="#ppt_x"/>
                                          </p:val>
                                        </p:tav>
                                      </p:tavLst>
                                    </p:anim>
                                    <p:anim calcmode="lin" valueType="num">
                                      <p:cBhvr>
                                        <p:cTn id="3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iterate type="wd">
                                    <p:tmPct val="100000"/>
                                  </p:iterate>
                                  <p:childTnLst>
                                    <p:set>
                                      <p:cBhvr>
                                        <p:cTn id="38" dur="1" fill="hold">
                                          <p:stCondLst>
                                            <p:cond delay="0"/>
                                          </p:stCondLst>
                                        </p:cTn>
                                        <p:tgtEl>
                                          <p:spTgt spid="77845"/>
                                        </p:tgtEl>
                                        <p:attrNameLst>
                                          <p:attrName>style.visibility</p:attrName>
                                        </p:attrNameLst>
                                      </p:cBhvr>
                                      <p:to>
                                        <p:strVal val="visible"/>
                                      </p:to>
                                    </p:set>
                                    <p:animEffect transition="in" filter="wipe(left)">
                                      <p:cBhvr>
                                        <p:cTn id="39" dur="300"/>
                                        <p:tgtEl>
                                          <p:spTgt spid="77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45" grpId="0" autoUpdateAnimBg="0"/>
      <p:bldP spid="77847" grpId="0" autoUpdateAnimBg="0"/>
      <p:bldP spid="13" grpId="0" build="p" autoUpdateAnimBg="0"/>
      <p:bldP spid="14" grpId="0" bldLvl="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2B42A40-D781-4E3D-81F0-A5B81E635C57}" type="slidenum">
              <a:rPr lang="en-US" altLang="zh-CN" sz="2000" smtClean="0">
                <a:solidFill>
                  <a:srgbClr val="0000FF"/>
                </a:solidFill>
              </a:rPr>
              <a:pPr eaLnBrk="1" hangingPunct="1"/>
              <a:t>26</a:t>
            </a:fld>
            <a:endParaRPr lang="en-US" altLang="zh-CN" sz="2000" smtClean="0">
              <a:solidFill>
                <a:srgbClr val="0000FF"/>
              </a:solidFill>
            </a:endParaRPr>
          </a:p>
        </p:txBody>
      </p:sp>
      <p:sp>
        <p:nvSpPr>
          <p:cNvPr id="116740" name="Text Box 4"/>
          <p:cNvSpPr txBox="1">
            <a:spLocks noChangeArrowheads="1"/>
          </p:cNvSpPr>
          <p:nvPr/>
        </p:nvSpPr>
        <p:spPr bwMode="auto">
          <a:xfrm>
            <a:off x="611560" y="620688"/>
            <a:ext cx="8319298" cy="18651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FF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dirty="0"/>
              <a:t>        </a:t>
            </a:r>
            <a:r>
              <a:rPr lang="zh-CN" altLang="en-US" b="1" dirty="0"/>
              <a:t>方向公差带能把同一被测要素的</a:t>
            </a:r>
            <a:r>
              <a:rPr lang="zh-CN" altLang="en-US" b="1" dirty="0">
                <a:solidFill>
                  <a:srgbClr val="FF0000"/>
                </a:solidFill>
              </a:rPr>
              <a:t>形状误差控制在方向公差带范围内</a:t>
            </a:r>
            <a:r>
              <a:rPr lang="zh-CN" altLang="en-US" b="1" dirty="0"/>
              <a:t>。因此，对某一被测要素给出方向公差后，仅在对形状精度有进一步要求时，才另外给出形状公差，但</a:t>
            </a:r>
            <a:r>
              <a:rPr lang="zh-CN" altLang="en-US" b="1" dirty="0">
                <a:solidFill>
                  <a:srgbClr val="FF0000"/>
                </a:solidFill>
              </a:rPr>
              <a:t>形状公差值必需小于方向公差</a:t>
            </a:r>
            <a:r>
              <a:rPr lang="zh-CN" altLang="en-US" b="1" dirty="0" smtClean="0">
                <a:solidFill>
                  <a:srgbClr val="FF0000"/>
                </a:solidFill>
              </a:rPr>
              <a:t>值</a:t>
            </a:r>
            <a:r>
              <a:rPr lang="zh-CN" altLang="en-US" b="1" dirty="0" smtClean="0"/>
              <a:t>。</a:t>
            </a:r>
            <a:endParaRPr lang="zh-CN" altLang="en-US" b="1" dirty="0"/>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xmlns="" val="0"/>
              </a:ext>
            </a:extLst>
          </a:blip>
          <a:srcRect b="13285"/>
          <a:stretch>
            <a:fillRect/>
          </a:stretch>
        </p:blipFill>
        <p:spPr bwMode="auto">
          <a:xfrm>
            <a:off x="2500298" y="2492896"/>
            <a:ext cx="3571900" cy="35004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16740"/>
                                        </p:tgtEl>
                                        <p:attrNameLst>
                                          <p:attrName>style.visibility</p:attrName>
                                        </p:attrNameLst>
                                      </p:cBhvr>
                                      <p:to>
                                        <p:strVal val="visible"/>
                                      </p:to>
                                    </p:set>
                                    <p:animEffect transition="in" filter="wipe(left)">
                                      <p:cBhvr>
                                        <p:cTn id="7" dur="300"/>
                                        <p:tgtEl>
                                          <p:spTgt spid="11674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0"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144FEEC3-0AA4-4F0A-8E7B-E6447078E637}" type="slidenum">
              <a:rPr lang="en-US" altLang="zh-CN" sz="2000" smtClean="0">
                <a:solidFill>
                  <a:srgbClr val="0000FF"/>
                </a:solidFill>
              </a:rPr>
              <a:pPr eaLnBrk="1" hangingPunct="1"/>
              <a:t>27</a:t>
            </a:fld>
            <a:endParaRPr lang="en-US" altLang="zh-CN" sz="2000" smtClean="0">
              <a:solidFill>
                <a:srgbClr val="0000FF"/>
              </a:solidFill>
            </a:endParaRPr>
          </a:p>
        </p:txBody>
      </p:sp>
      <p:sp>
        <p:nvSpPr>
          <p:cNvPr id="88074" name="Text Box 10"/>
          <p:cNvSpPr txBox="1">
            <a:spLocks noChangeArrowheads="1"/>
          </p:cNvSpPr>
          <p:nvPr/>
        </p:nvSpPr>
        <p:spPr bwMode="auto">
          <a:xfrm>
            <a:off x="639511" y="2244555"/>
            <a:ext cx="3854232" cy="5355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dirty="0"/>
              <a:t>        </a:t>
            </a:r>
            <a:r>
              <a:rPr lang="zh-CN" altLang="en-US" b="1" dirty="0"/>
              <a:t>位置公差主要</a:t>
            </a:r>
            <a:r>
              <a:rPr lang="zh-CN" altLang="en-US" b="1" dirty="0" smtClean="0"/>
              <a:t>有</a:t>
            </a:r>
            <a:endParaRPr lang="en-US" altLang="zh-CN" b="1" dirty="0" smtClean="0"/>
          </a:p>
        </p:txBody>
      </p:sp>
      <p:sp>
        <p:nvSpPr>
          <p:cNvPr id="88076" name="Text Box 12"/>
          <p:cNvSpPr txBox="1">
            <a:spLocks noChangeArrowheads="1"/>
          </p:cNvSpPr>
          <p:nvPr/>
        </p:nvSpPr>
        <p:spPr bwMode="auto">
          <a:xfrm>
            <a:off x="500034" y="164637"/>
            <a:ext cx="3444875"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3</a:t>
            </a:r>
            <a:r>
              <a:rPr lang="en-US" altLang="zh-CN" b="1" dirty="0" smtClean="0">
                <a:latin typeface="宋体" panose="02010600030101010101" pitchFamily="2" charset="-122"/>
              </a:rPr>
              <a:t>.</a:t>
            </a:r>
            <a:r>
              <a:rPr lang="zh-CN" altLang="en-US" b="1" dirty="0" smtClean="0">
                <a:latin typeface="宋体" panose="02010600030101010101" pitchFamily="2" charset="-122"/>
              </a:rPr>
              <a:t>位置公差</a:t>
            </a:r>
            <a:endParaRPr lang="zh-CN" altLang="en-US" b="1" dirty="0">
              <a:latin typeface="宋体" panose="02010600030101010101" pitchFamily="2" charset="-122"/>
            </a:endParaRPr>
          </a:p>
        </p:txBody>
      </p:sp>
      <p:sp>
        <p:nvSpPr>
          <p:cNvPr id="88079" name="Text Box 15"/>
          <p:cNvSpPr txBox="1">
            <a:spLocks noChangeArrowheads="1"/>
          </p:cNvSpPr>
          <p:nvPr/>
        </p:nvSpPr>
        <p:spPr bwMode="auto">
          <a:xfrm>
            <a:off x="683568" y="836090"/>
            <a:ext cx="7887250" cy="14219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b="1" dirty="0">
                <a:solidFill>
                  <a:srgbClr val="FF0000"/>
                </a:solidFill>
              </a:rPr>
              <a:t>        </a:t>
            </a:r>
            <a:r>
              <a:rPr lang="zh-CN" altLang="en-US" b="1" dirty="0">
                <a:solidFill>
                  <a:srgbClr val="FF0000"/>
                </a:solidFill>
              </a:rPr>
              <a:t>位置公差</a:t>
            </a:r>
            <a:r>
              <a:rPr lang="zh-CN" altLang="en-US" b="1" dirty="0"/>
              <a:t>是指实际关联要素相对基准要素或相对基准和理论正确尺寸所确定的理想位置的允许变动量。位置公差带的位置是固定的。</a:t>
            </a:r>
          </a:p>
        </p:txBody>
      </p:sp>
      <p:cxnSp>
        <p:nvCxnSpPr>
          <p:cNvPr id="7" name="直接连接符 6"/>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8" name="矩形 7"/>
          <p:cNvSpPr/>
          <p:nvPr/>
        </p:nvSpPr>
        <p:spPr>
          <a:xfrm>
            <a:off x="2699792" y="2990959"/>
            <a:ext cx="4572000" cy="2238241"/>
          </a:xfrm>
          <a:prstGeom prst="rect">
            <a:avLst/>
          </a:prstGeom>
        </p:spPr>
        <p:txBody>
          <a:bodyPr>
            <a:spAutoFit/>
          </a:bodyPr>
          <a:lstStyle/>
          <a:p>
            <a:pPr eaLnBrk="1" hangingPunct="1">
              <a:lnSpc>
                <a:spcPct val="150000"/>
              </a:lnSpc>
            </a:pPr>
            <a:r>
              <a:rPr lang="zh-CN" altLang="en-US" b="1" dirty="0" smtClean="0">
                <a:solidFill>
                  <a:srgbClr val="FF0000"/>
                </a:solidFill>
              </a:rPr>
              <a:t>同心度</a:t>
            </a:r>
            <a:endParaRPr lang="en-US" altLang="zh-CN" b="1" dirty="0" smtClean="0">
              <a:solidFill>
                <a:srgbClr val="FF0000"/>
              </a:solidFill>
            </a:endParaRPr>
          </a:p>
          <a:p>
            <a:pPr eaLnBrk="1" hangingPunct="1">
              <a:lnSpc>
                <a:spcPct val="150000"/>
              </a:lnSpc>
            </a:pPr>
            <a:r>
              <a:rPr lang="zh-CN" altLang="en-US" b="1" dirty="0" smtClean="0">
                <a:solidFill>
                  <a:srgbClr val="FF0000"/>
                </a:solidFill>
              </a:rPr>
              <a:t>同轴度</a:t>
            </a:r>
            <a:endParaRPr lang="en-US" altLang="zh-CN" b="1" dirty="0" smtClean="0">
              <a:solidFill>
                <a:srgbClr val="FF0000"/>
              </a:solidFill>
            </a:endParaRPr>
          </a:p>
          <a:p>
            <a:pPr eaLnBrk="1" hangingPunct="1">
              <a:lnSpc>
                <a:spcPct val="150000"/>
              </a:lnSpc>
            </a:pPr>
            <a:r>
              <a:rPr lang="zh-CN" altLang="en-US" b="1" dirty="0" smtClean="0">
                <a:solidFill>
                  <a:srgbClr val="FF0000"/>
                </a:solidFill>
              </a:rPr>
              <a:t>对称度</a:t>
            </a:r>
            <a:endParaRPr lang="en-US" altLang="zh-CN" b="1" dirty="0" smtClean="0"/>
          </a:p>
          <a:p>
            <a:pPr eaLnBrk="1" hangingPunct="1">
              <a:lnSpc>
                <a:spcPct val="150000"/>
              </a:lnSpc>
            </a:pPr>
            <a:r>
              <a:rPr lang="zh-CN" altLang="en-US" b="1" dirty="0" smtClean="0">
                <a:solidFill>
                  <a:srgbClr val="FF0000"/>
                </a:solidFill>
              </a:rPr>
              <a:t>位置度</a:t>
            </a:r>
            <a:endParaRPr lang="zh-CN" altLang="en-US" b="1" dirty="0"/>
          </a:p>
        </p:txBody>
      </p:sp>
      <p:pic>
        <p:nvPicPr>
          <p:cNvPr id="3" name="图片 2"/>
          <p:cNvPicPr>
            <a:picLocks noChangeAspect="1"/>
          </p:cNvPicPr>
          <p:nvPr/>
        </p:nvPicPr>
        <p:blipFill>
          <a:blip r:embed="rId2"/>
          <a:stretch>
            <a:fillRect/>
          </a:stretch>
        </p:blipFill>
        <p:spPr>
          <a:xfrm>
            <a:off x="4216897" y="4830912"/>
            <a:ext cx="358546" cy="317106"/>
          </a:xfrm>
          <a:prstGeom prst="rect">
            <a:avLst/>
          </a:prstGeom>
        </p:spPr>
      </p:pic>
      <p:pic>
        <p:nvPicPr>
          <p:cNvPr id="4" name="图片 3"/>
          <p:cNvPicPr>
            <a:picLocks noChangeAspect="1"/>
          </p:cNvPicPr>
          <p:nvPr/>
        </p:nvPicPr>
        <p:blipFill>
          <a:blip r:embed="rId3"/>
          <a:stretch>
            <a:fillRect/>
          </a:stretch>
        </p:blipFill>
        <p:spPr>
          <a:xfrm>
            <a:off x="4272751" y="4391231"/>
            <a:ext cx="216000" cy="121500"/>
          </a:xfrm>
          <a:prstGeom prst="rect">
            <a:avLst/>
          </a:prstGeom>
        </p:spPr>
      </p:pic>
      <p:pic>
        <p:nvPicPr>
          <p:cNvPr id="5" name="图片 4"/>
          <p:cNvPicPr>
            <a:picLocks noChangeAspect="1"/>
          </p:cNvPicPr>
          <p:nvPr/>
        </p:nvPicPr>
        <p:blipFill>
          <a:blip r:embed="rId4"/>
          <a:stretch>
            <a:fillRect/>
          </a:stretch>
        </p:blipFill>
        <p:spPr>
          <a:xfrm>
            <a:off x="4242303" y="3812831"/>
            <a:ext cx="252000" cy="245538"/>
          </a:xfrm>
          <a:prstGeom prst="rect">
            <a:avLst/>
          </a:prstGeom>
        </p:spPr>
      </p:pic>
      <p:pic>
        <p:nvPicPr>
          <p:cNvPr id="12" name="图片 11"/>
          <p:cNvPicPr>
            <a:picLocks noChangeAspect="1"/>
          </p:cNvPicPr>
          <p:nvPr/>
        </p:nvPicPr>
        <p:blipFill>
          <a:blip r:embed="rId4"/>
          <a:stretch>
            <a:fillRect/>
          </a:stretch>
        </p:blipFill>
        <p:spPr>
          <a:xfrm>
            <a:off x="4242257" y="3230394"/>
            <a:ext cx="252000" cy="2455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88076"/>
                                        </p:tgtEl>
                                        <p:attrNameLst>
                                          <p:attrName>style.visibility</p:attrName>
                                        </p:attrNameLst>
                                      </p:cBhvr>
                                      <p:to>
                                        <p:strVal val="visible"/>
                                      </p:to>
                                    </p:set>
                                    <p:animEffect transition="in" filter="wipe(left)">
                                      <p:cBhvr>
                                        <p:cTn id="7" dur="300"/>
                                        <p:tgtEl>
                                          <p:spTgt spid="880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88079"/>
                                        </p:tgtEl>
                                        <p:attrNameLst>
                                          <p:attrName>style.visibility</p:attrName>
                                        </p:attrNameLst>
                                      </p:cBhvr>
                                      <p:to>
                                        <p:strVal val="visible"/>
                                      </p:to>
                                    </p:set>
                                    <p:animEffect transition="in" filter="wipe(left)">
                                      <p:cBhvr>
                                        <p:cTn id="12" dur="300"/>
                                        <p:tgtEl>
                                          <p:spTgt spid="880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88074"/>
                                        </p:tgtEl>
                                        <p:attrNameLst>
                                          <p:attrName>style.visibility</p:attrName>
                                        </p:attrNameLst>
                                      </p:cBhvr>
                                      <p:to>
                                        <p:strVal val="visible"/>
                                      </p:to>
                                    </p:set>
                                    <p:animEffect transition="in" filter="wipe(left)">
                                      <p:cBhvr>
                                        <p:cTn id="17" dur="300"/>
                                        <p:tgtEl>
                                          <p:spTgt spid="88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4" grpId="0" autoUpdateAnimBg="0"/>
      <p:bldP spid="88076" grpId="0" autoUpdateAnimBg="0"/>
      <p:bldP spid="88079"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ABFDD78A-0C1F-4771-BCD4-DBFDAC1A7B44}" type="slidenum">
              <a:rPr lang="en-US" altLang="zh-CN" sz="2000" smtClean="0">
                <a:solidFill>
                  <a:srgbClr val="0000FF"/>
                </a:solidFill>
              </a:rPr>
              <a:pPr eaLnBrk="1" hangingPunct="1"/>
              <a:t>28</a:t>
            </a:fld>
            <a:endParaRPr lang="en-US" altLang="zh-CN" sz="2000" smtClean="0">
              <a:solidFill>
                <a:srgbClr val="0000FF"/>
              </a:solidFill>
            </a:endParaRPr>
          </a:p>
        </p:txBody>
      </p:sp>
      <p:cxnSp>
        <p:nvCxnSpPr>
          <p:cNvPr id="7" name="直接连接符 6"/>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9" name="矩形 8"/>
          <p:cNvSpPr/>
          <p:nvPr/>
        </p:nvSpPr>
        <p:spPr>
          <a:xfrm>
            <a:off x="357158" y="142852"/>
            <a:ext cx="4333238" cy="461665"/>
          </a:xfrm>
          <a:prstGeom prst="rect">
            <a:avLst/>
          </a:prstGeom>
        </p:spPr>
        <p:txBody>
          <a:bodyPr wrap="none">
            <a:spAutoFit/>
          </a:bodyPr>
          <a:lstStyle/>
          <a:p>
            <a:r>
              <a:rPr lang="en-US" altLang="zh-CN" b="1" dirty="0" smtClean="0"/>
              <a:t>(1) </a:t>
            </a:r>
            <a:r>
              <a:rPr lang="zh-CN" altLang="en-US" b="1" dirty="0" smtClean="0"/>
              <a:t>同心度和同轴度公差的标注</a:t>
            </a:r>
            <a:endParaRPr lang="zh-CN" altLang="en-US" dirty="0"/>
          </a:p>
        </p:txBody>
      </p:sp>
      <p:sp>
        <p:nvSpPr>
          <p:cNvPr id="10" name="Text Box 12"/>
          <p:cNvSpPr txBox="1">
            <a:spLocks noChangeArrowheads="1"/>
          </p:cNvSpPr>
          <p:nvPr/>
        </p:nvSpPr>
        <p:spPr bwMode="auto">
          <a:xfrm>
            <a:off x="523278" y="857232"/>
            <a:ext cx="383440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2000" b="1" dirty="0">
                <a:latin typeface="宋体"/>
                <a:ea typeface="宋体"/>
              </a:rPr>
              <a:t>①</a:t>
            </a:r>
            <a:r>
              <a:rPr lang="en-US" altLang="zh-CN" sz="2000" b="1" dirty="0" smtClean="0"/>
              <a:t> </a:t>
            </a:r>
            <a:r>
              <a:rPr lang="zh-CN" altLang="en-US" sz="2000" b="1" dirty="0" smtClean="0"/>
              <a:t>点的同心度公差</a:t>
            </a:r>
            <a:endParaRPr lang="zh-CN" altLang="en-US" sz="2000" b="1" dirty="0"/>
          </a:p>
        </p:txBody>
      </p:sp>
      <p:sp>
        <p:nvSpPr>
          <p:cNvPr id="11" name="矩形 10"/>
          <p:cNvSpPr/>
          <p:nvPr/>
        </p:nvSpPr>
        <p:spPr>
          <a:xfrm>
            <a:off x="571472" y="1357298"/>
            <a:ext cx="7929618" cy="707886"/>
          </a:xfrm>
          <a:prstGeom prst="rect">
            <a:avLst/>
          </a:prstGeom>
        </p:spPr>
        <p:txBody>
          <a:bodyPr wrap="square">
            <a:spAutoFit/>
          </a:bodyPr>
          <a:lstStyle/>
          <a:p>
            <a:r>
              <a:rPr lang="zh-CN" altLang="en-US" sz="2000" b="1" dirty="0" smtClean="0"/>
              <a:t>          任意</a:t>
            </a:r>
            <a:r>
              <a:rPr lang="zh-CN" altLang="en-US" sz="2000" b="1" dirty="0"/>
              <a:t>横截面内</a:t>
            </a:r>
            <a:r>
              <a:rPr lang="en-US" altLang="zh-CN" sz="2000" b="1" dirty="0"/>
              <a:t>,</a:t>
            </a:r>
            <a:r>
              <a:rPr lang="zh-CN" altLang="en-US" sz="2000" b="1" dirty="0"/>
              <a:t>内圆的提取</a:t>
            </a:r>
            <a:r>
              <a:rPr lang="en-US" altLang="zh-CN" sz="2000" b="1" dirty="0"/>
              <a:t>(</a:t>
            </a:r>
            <a:r>
              <a:rPr lang="zh-CN" altLang="en-US" sz="2000" b="1" dirty="0"/>
              <a:t>实际</a:t>
            </a:r>
            <a:r>
              <a:rPr lang="en-US" altLang="zh-CN" sz="2000" b="1" dirty="0"/>
              <a:t>) </a:t>
            </a:r>
            <a:r>
              <a:rPr lang="zh-CN" altLang="en-US" sz="2000" b="1" dirty="0"/>
              <a:t>中心应限定在直径</a:t>
            </a:r>
            <a:r>
              <a:rPr lang="zh-CN" altLang="en-US" sz="2000" b="1" dirty="0" smtClean="0"/>
              <a:t>等于</a:t>
            </a:r>
            <a:r>
              <a:rPr lang="el-GR" altLang="zh-CN" sz="2000" b="1" i="1" dirty="0" smtClean="0">
                <a:latin typeface="Times New Roman"/>
                <a:cs typeface="Times New Roman"/>
              </a:rPr>
              <a:t>ϕ</a:t>
            </a:r>
            <a:r>
              <a:rPr lang="en-US" altLang="zh-CN" sz="2000" b="1" dirty="0" smtClean="0"/>
              <a:t>0</a:t>
            </a:r>
            <a:r>
              <a:rPr lang="en-US" altLang="zh-CN" sz="2000" b="1" dirty="0"/>
              <a:t>. 1</a:t>
            </a:r>
            <a:r>
              <a:rPr lang="zh-CN" altLang="en-US" sz="2000" b="1" dirty="0"/>
              <a:t>、以基准点</a:t>
            </a:r>
            <a:r>
              <a:rPr lang="en-US" altLang="zh-CN" sz="2000" b="1" i="1" dirty="0"/>
              <a:t>A</a:t>
            </a:r>
            <a:r>
              <a:rPr lang="en-US" altLang="zh-CN" sz="2000" b="1" dirty="0"/>
              <a:t>(</a:t>
            </a:r>
            <a:r>
              <a:rPr lang="zh-CN" altLang="en-US" sz="2000" b="1" dirty="0"/>
              <a:t>在同一横截面内</a:t>
            </a:r>
            <a:r>
              <a:rPr lang="en-US" altLang="zh-CN" sz="2000" b="1" dirty="0"/>
              <a:t>) </a:t>
            </a:r>
            <a:r>
              <a:rPr lang="zh-CN" altLang="en-US" sz="2000" b="1" dirty="0"/>
              <a:t>为圆心的圆周</a:t>
            </a:r>
            <a:r>
              <a:rPr lang="zh-CN" altLang="en-US" sz="2000" b="1" dirty="0" smtClean="0"/>
              <a:t>内。</a:t>
            </a:r>
            <a:endParaRPr lang="zh-CN" altLang="en-US" sz="2000" b="1" dirty="0"/>
          </a:p>
        </p:txBody>
      </p:sp>
      <p:pic>
        <p:nvPicPr>
          <p:cNvPr id="12" name="Picture 138"/>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85786" y="2143116"/>
            <a:ext cx="4183989" cy="22322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3" name="Picture 14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286380" y="2069557"/>
            <a:ext cx="2477535" cy="22146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4" name="椭圆 13"/>
          <p:cNvSpPr/>
          <p:nvPr/>
        </p:nvSpPr>
        <p:spPr bwMode="auto">
          <a:xfrm>
            <a:off x="6582524" y="3404389"/>
            <a:ext cx="684062" cy="348390"/>
          </a:xfrm>
          <a:prstGeom prst="ellipse">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5" name="椭圆 14"/>
          <p:cNvSpPr/>
          <p:nvPr/>
        </p:nvSpPr>
        <p:spPr bwMode="auto">
          <a:xfrm>
            <a:off x="3565633" y="3511268"/>
            <a:ext cx="684062" cy="348390"/>
          </a:xfrm>
          <a:prstGeom prst="ellipse">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pic>
        <p:nvPicPr>
          <p:cNvPr id="16" name="Picture 141"/>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5286380" y="4286256"/>
            <a:ext cx="2071702" cy="218506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7" name="矩形 16"/>
          <p:cNvSpPr/>
          <p:nvPr/>
        </p:nvSpPr>
        <p:spPr>
          <a:xfrm>
            <a:off x="646330" y="4643446"/>
            <a:ext cx="4357718" cy="1323439"/>
          </a:xfrm>
          <a:prstGeom prst="rect">
            <a:avLst/>
          </a:prstGeom>
        </p:spPr>
        <p:txBody>
          <a:bodyPr wrap="square">
            <a:spAutoFit/>
          </a:bodyPr>
          <a:lstStyle/>
          <a:p>
            <a:r>
              <a:rPr lang="zh-CN" altLang="en-US" sz="2000" b="1" dirty="0" smtClean="0"/>
              <a:t>        公差带</a:t>
            </a:r>
            <a:r>
              <a:rPr lang="zh-CN" altLang="en-US" sz="2000" b="1" dirty="0"/>
              <a:t>为直径等于公差</a:t>
            </a:r>
            <a:r>
              <a:rPr lang="zh-CN" altLang="en-US" sz="2000" b="1" dirty="0" smtClean="0"/>
              <a:t>值</a:t>
            </a:r>
            <a:r>
              <a:rPr lang="el-GR" altLang="zh-CN" sz="2000" b="1" i="1" dirty="0" smtClean="0">
                <a:latin typeface="Times New Roman"/>
                <a:cs typeface="Times New Roman"/>
              </a:rPr>
              <a:t>ϕ</a:t>
            </a:r>
            <a:r>
              <a:rPr lang="en-US" altLang="zh-CN" sz="2000" b="1" i="1" dirty="0" smtClean="0"/>
              <a:t>t </a:t>
            </a:r>
            <a:r>
              <a:rPr lang="zh-CN" altLang="en-US" sz="2000" b="1" dirty="0"/>
              <a:t>的</a:t>
            </a:r>
            <a:r>
              <a:rPr lang="zh-CN" altLang="en-US" sz="2000" b="1" dirty="0" smtClean="0"/>
              <a:t>圆周所</a:t>
            </a:r>
            <a:r>
              <a:rPr lang="zh-CN" altLang="en-US" sz="2000" b="1" dirty="0"/>
              <a:t>限定的区域。公差值之前应使用</a:t>
            </a:r>
            <a:r>
              <a:rPr lang="zh-CN" altLang="en-US" sz="2000" b="1" dirty="0" smtClean="0"/>
              <a:t>符号“</a:t>
            </a:r>
            <a:r>
              <a:rPr lang="el-GR" altLang="zh-CN" sz="2000" b="1" i="1" dirty="0" smtClean="0">
                <a:latin typeface="Times New Roman"/>
                <a:cs typeface="Times New Roman"/>
              </a:rPr>
              <a:t>ϕ</a:t>
            </a:r>
            <a:r>
              <a:rPr lang="zh-CN" altLang="en-US" sz="2000" b="1" dirty="0" smtClean="0">
                <a:latin typeface="Times New Roman"/>
                <a:cs typeface="Times New Roman"/>
              </a:rPr>
              <a:t>”</a:t>
            </a:r>
            <a:r>
              <a:rPr lang="zh-CN" altLang="en-US" sz="2000" b="1" dirty="0" smtClean="0"/>
              <a:t>。</a:t>
            </a:r>
            <a:r>
              <a:rPr lang="zh-CN" altLang="en-US" sz="2000" b="1" dirty="0"/>
              <a:t>该圆周公差带的圆心与</a:t>
            </a:r>
            <a:r>
              <a:rPr lang="zh-CN" altLang="en-US" sz="2000" b="1" dirty="0" smtClean="0"/>
              <a:t>基准点重合。</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0"/>
                                        </p:tgtEl>
                                        <p:attrNameLst>
                                          <p:attrName>style.visibility</p:attrName>
                                        </p:attrNameLst>
                                      </p:cBhvr>
                                      <p:to>
                                        <p:strVal val="visible"/>
                                      </p:to>
                                    </p:set>
                                    <p:animEffect transition="in" filter="wipe(left)">
                                      <p:cBhvr>
                                        <p:cTn id="7" dur="3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1+#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down)">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up)">
                                      <p:cBhvr>
                                        <p:cTn id="33" dur="5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ppt_x"/>
                                          </p:val>
                                        </p:tav>
                                        <p:tav tm="100000">
                                          <p:val>
                                            <p:strVal val="#ppt_x"/>
                                          </p:val>
                                        </p:tav>
                                      </p:tavLst>
                                    </p:anim>
                                    <p:anim calcmode="lin" valueType="num">
                                      <p:cBhvr additive="base">
                                        <p:cTn id="3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p:bldP spid="14" grpId="0" animBg="1"/>
      <p:bldP spid="15" grpId="0" animBg="1"/>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514E6A46-40F8-4415-BE1D-EF1714493C22}" type="slidenum">
              <a:rPr lang="en-US" altLang="zh-CN" sz="2000" smtClean="0">
                <a:solidFill>
                  <a:srgbClr val="0000FF"/>
                </a:solidFill>
              </a:rPr>
              <a:pPr eaLnBrk="1" hangingPunct="1"/>
              <a:t>29</a:t>
            </a:fld>
            <a:endParaRPr lang="en-US" altLang="zh-CN" sz="2000" smtClean="0">
              <a:solidFill>
                <a:srgbClr val="0000FF"/>
              </a:solidFill>
            </a:endParaRPr>
          </a:p>
        </p:txBody>
      </p:sp>
      <p:pic>
        <p:nvPicPr>
          <p:cNvPr id="122889" name="Picture 9"/>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85852" y="2071678"/>
            <a:ext cx="2523431" cy="207170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7" name="直接连接符 6"/>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8" name="矩形 7"/>
          <p:cNvSpPr/>
          <p:nvPr/>
        </p:nvSpPr>
        <p:spPr>
          <a:xfrm>
            <a:off x="357158" y="142852"/>
            <a:ext cx="4333238" cy="461665"/>
          </a:xfrm>
          <a:prstGeom prst="rect">
            <a:avLst/>
          </a:prstGeom>
        </p:spPr>
        <p:txBody>
          <a:bodyPr wrap="none">
            <a:spAutoFit/>
          </a:bodyPr>
          <a:lstStyle/>
          <a:p>
            <a:r>
              <a:rPr lang="en-US" altLang="zh-CN" b="1" dirty="0" smtClean="0"/>
              <a:t>(1) </a:t>
            </a:r>
            <a:r>
              <a:rPr lang="zh-CN" altLang="en-US" b="1" dirty="0" smtClean="0"/>
              <a:t>同心度和同轴度公差的标注</a:t>
            </a:r>
            <a:endParaRPr lang="zh-CN" altLang="en-US" dirty="0"/>
          </a:p>
        </p:txBody>
      </p:sp>
      <p:sp>
        <p:nvSpPr>
          <p:cNvPr id="9" name="TextBox 8"/>
          <p:cNvSpPr txBox="1"/>
          <p:nvPr/>
        </p:nvSpPr>
        <p:spPr>
          <a:xfrm>
            <a:off x="428596" y="814312"/>
            <a:ext cx="3528392" cy="400110"/>
          </a:xfrm>
          <a:prstGeom prst="rect">
            <a:avLst/>
          </a:prstGeom>
          <a:noFill/>
        </p:spPr>
        <p:txBody>
          <a:bodyPr wrap="square" rtlCol="0">
            <a:spAutoFit/>
          </a:bodyPr>
          <a:lstStyle/>
          <a:p>
            <a:r>
              <a:rPr lang="zh-CN" altLang="en-US" sz="2000" b="1" dirty="0" smtClean="0">
                <a:latin typeface="宋体"/>
                <a:ea typeface="宋体"/>
              </a:rPr>
              <a:t>② </a:t>
            </a:r>
            <a:r>
              <a:rPr lang="zh-CN" altLang="en-US" sz="2000" b="1" dirty="0" smtClean="0"/>
              <a:t>轴线的同轴度公差</a:t>
            </a:r>
            <a:endParaRPr lang="zh-CN" altLang="en-US" sz="2000" b="1" dirty="0"/>
          </a:p>
        </p:txBody>
      </p:sp>
      <p:pic>
        <p:nvPicPr>
          <p:cNvPr id="10" name="Picture 5"/>
          <p:cNvPicPr>
            <a:picLocks noChangeAspect="1" noChangeArrowheads="1"/>
          </p:cNvPicPr>
          <p:nvPr/>
        </p:nvPicPr>
        <p:blipFill>
          <a:blip r:embed="rId3">
            <a:extLst>
              <a:ext uri="{28A0092B-C50C-407E-A947-70E740481C1C}">
                <a14:useLocalDpi xmlns:a14="http://schemas.microsoft.com/office/drawing/2010/main" xmlns="" val="0"/>
              </a:ext>
            </a:extLst>
          </a:blip>
          <a:srcRect l="50000" b="18483"/>
          <a:stretch>
            <a:fillRect/>
          </a:stretch>
        </p:blipFill>
        <p:spPr bwMode="auto">
          <a:xfrm>
            <a:off x="4645148" y="1916832"/>
            <a:ext cx="2447132" cy="22011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2" name="矩形 11"/>
          <p:cNvSpPr/>
          <p:nvPr/>
        </p:nvSpPr>
        <p:spPr>
          <a:xfrm>
            <a:off x="857224" y="1268760"/>
            <a:ext cx="7092280" cy="707886"/>
          </a:xfrm>
          <a:prstGeom prst="rect">
            <a:avLst/>
          </a:prstGeom>
        </p:spPr>
        <p:txBody>
          <a:bodyPr wrap="square">
            <a:spAutoFit/>
          </a:bodyPr>
          <a:lstStyle/>
          <a:p>
            <a:r>
              <a:rPr lang="zh-CN" altLang="en-US" sz="2000" b="1" dirty="0" smtClean="0"/>
              <a:t>         被测</a:t>
            </a:r>
            <a:r>
              <a:rPr lang="zh-CN" altLang="en-US" sz="2000" b="1" dirty="0"/>
              <a:t>圆柱的提取</a:t>
            </a:r>
            <a:r>
              <a:rPr lang="en-US" altLang="zh-CN" sz="2000" b="1" dirty="0"/>
              <a:t>(</a:t>
            </a:r>
            <a:r>
              <a:rPr lang="zh-CN" altLang="en-US" sz="2000" b="1" dirty="0"/>
              <a:t>实际</a:t>
            </a:r>
            <a:r>
              <a:rPr lang="en-US" altLang="zh-CN" sz="2000" b="1" dirty="0"/>
              <a:t>) </a:t>
            </a:r>
            <a:r>
              <a:rPr lang="zh-CN" altLang="en-US" sz="2000" b="1" dirty="0"/>
              <a:t>中心线应限定在直径</a:t>
            </a:r>
            <a:r>
              <a:rPr lang="zh-CN" altLang="en-US" sz="2000" b="1" dirty="0" smtClean="0"/>
              <a:t>等于</a:t>
            </a:r>
            <a:r>
              <a:rPr lang="el-GR" altLang="zh-CN" sz="2000" b="1" i="1" dirty="0" smtClean="0">
                <a:latin typeface="Times New Roman"/>
                <a:cs typeface="Times New Roman"/>
              </a:rPr>
              <a:t>ϕ</a:t>
            </a:r>
            <a:r>
              <a:rPr lang="en-US" altLang="zh-CN" sz="2000" b="1" dirty="0" smtClean="0"/>
              <a:t>0</a:t>
            </a:r>
            <a:r>
              <a:rPr lang="en-US" altLang="zh-CN" sz="2000" b="1" dirty="0"/>
              <a:t>. 1</a:t>
            </a:r>
            <a:r>
              <a:rPr lang="zh-CN" altLang="en-US" sz="2000" b="1" dirty="0"/>
              <a:t>、以</a:t>
            </a:r>
            <a:r>
              <a:rPr lang="zh-CN" altLang="en-US" sz="2000" b="1" dirty="0" smtClean="0"/>
              <a:t>基准</a:t>
            </a:r>
            <a:r>
              <a:rPr lang="zh-CN" altLang="en-US" sz="2000" b="1" dirty="0"/>
              <a:t>轴线</a:t>
            </a:r>
            <a:r>
              <a:rPr lang="en-US" altLang="zh-CN" sz="2000" b="1" i="1" dirty="0"/>
              <a:t>A </a:t>
            </a:r>
            <a:r>
              <a:rPr lang="zh-CN" altLang="en-US" sz="2000" b="1" dirty="0"/>
              <a:t>为轴线的圆柱面</a:t>
            </a:r>
            <a:r>
              <a:rPr lang="zh-CN" altLang="en-US" sz="2000" b="1" dirty="0" smtClean="0"/>
              <a:t>内。</a:t>
            </a:r>
            <a:endParaRPr lang="zh-CN" altLang="en-US" sz="2000" b="1" dirty="0"/>
          </a:p>
        </p:txBody>
      </p:sp>
      <p:sp>
        <p:nvSpPr>
          <p:cNvPr id="13" name="矩形 12"/>
          <p:cNvSpPr/>
          <p:nvPr/>
        </p:nvSpPr>
        <p:spPr>
          <a:xfrm>
            <a:off x="683568" y="4481825"/>
            <a:ext cx="4176464" cy="1323439"/>
          </a:xfrm>
          <a:prstGeom prst="rect">
            <a:avLst/>
          </a:prstGeom>
        </p:spPr>
        <p:txBody>
          <a:bodyPr wrap="square">
            <a:spAutoFit/>
          </a:bodyPr>
          <a:lstStyle/>
          <a:p>
            <a:r>
              <a:rPr lang="zh-CN" altLang="en-US" sz="2000" b="1" dirty="0" smtClean="0"/>
              <a:t>         因为</a:t>
            </a:r>
            <a:r>
              <a:rPr lang="zh-CN" altLang="en-US" sz="2000" b="1" dirty="0"/>
              <a:t>公差值之前使用了符号</a:t>
            </a:r>
            <a:r>
              <a:rPr lang="zh-CN" altLang="en-US" sz="2000" b="1" dirty="0" smtClean="0"/>
              <a:t>“</a:t>
            </a:r>
            <a:r>
              <a:rPr lang="el-GR" altLang="zh-CN" sz="2000" b="1" i="1" dirty="0" smtClean="0">
                <a:latin typeface="Times New Roman"/>
                <a:cs typeface="Times New Roman"/>
              </a:rPr>
              <a:t>ϕ</a:t>
            </a:r>
            <a:r>
              <a:rPr lang="zh-CN" altLang="en-US" sz="2000" b="1" dirty="0" smtClean="0">
                <a:latin typeface="Times New Roman"/>
                <a:cs typeface="Times New Roman"/>
              </a:rPr>
              <a:t>”</a:t>
            </a:r>
            <a:r>
              <a:rPr lang="en-US" altLang="zh-CN" sz="2000" b="1" dirty="0" smtClean="0"/>
              <a:t>,</a:t>
            </a:r>
            <a:r>
              <a:rPr lang="zh-CN" altLang="en-US" sz="2000" b="1" dirty="0" smtClean="0"/>
              <a:t>所以</a:t>
            </a:r>
            <a:r>
              <a:rPr lang="zh-CN" altLang="en-US" sz="2000" b="1" dirty="0"/>
              <a:t>公差带为</a:t>
            </a:r>
            <a:r>
              <a:rPr lang="zh-CN" altLang="en-US" sz="2000" b="1" dirty="0">
                <a:solidFill>
                  <a:srgbClr val="FF0000"/>
                </a:solidFill>
              </a:rPr>
              <a:t>直径等于公差</a:t>
            </a:r>
            <a:r>
              <a:rPr lang="zh-CN" altLang="en-US" sz="2000" b="1" dirty="0" smtClean="0">
                <a:solidFill>
                  <a:srgbClr val="FF0000"/>
                </a:solidFill>
              </a:rPr>
              <a:t>值</a:t>
            </a:r>
            <a:r>
              <a:rPr lang="el-GR" altLang="zh-CN" sz="2000" b="1" i="1" dirty="0" smtClean="0">
                <a:solidFill>
                  <a:srgbClr val="FF0000"/>
                </a:solidFill>
                <a:latin typeface="Times New Roman"/>
                <a:cs typeface="Times New Roman"/>
              </a:rPr>
              <a:t>ϕ</a:t>
            </a:r>
            <a:r>
              <a:rPr lang="en-US" altLang="zh-CN" sz="2000" b="1" i="1" dirty="0" smtClean="0">
                <a:solidFill>
                  <a:srgbClr val="FF0000"/>
                </a:solidFill>
                <a:latin typeface="Times New Roman"/>
                <a:cs typeface="Times New Roman"/>
              </a:rPr>
              <a:t>t</a:t>
            </a:r>
            <a:r>
              <a:rPr lang="zh-CN" altLang="en-US" sz="2000" b="1" dirty="0" smtClean="0">
                <a:solidFill>
                  <a:srgbClr val="FF0000"/>
                </a:solidFill>
              </a:rPr>
              <a:t>的圆柱面</a:t>
            </a:r>
            <a:r>
              <a:rPr lang="zh-CN" altLang="en-US" sz="2000" b="1" dirty="0" smtClean="0"/>
              <a:t>所</a:t>
            </a:r>
            <a:r>
              <a:rPr lang="zh-CN" altLang="en-US" sz="2000" b="1" dirty="0"/>
              <a:t>限定的区域。该圆柱面的轴线与</a:t>
            </a:r>
            <a:r>
              <a:rPr lang="zh-CN" altLang="en-US" sz="2000" b="1" dirty="0" smtClean="0"/>
              <a:t>基准</a:t>
            </a:r>
            <a:r>
              <a:rPr lang="zh-CN" altLang="en-US" sz="2000" b="1" dirty="0"/>
              <a:t>轴线</a:t>
            </a:r>
            <a:r>
              <a:rPr lang="zh-CN" altLang="en-US" sz="2000" b="1" dirty="0" smtClean="0"/>
              <a:t>重合。</a:t>
            </a:r>
            <a:endParaRPr lang="zh-CN" altLang="en-US" sz="2000" b="1" dirty="0"/>
          </a:p>
        </p:txBody>
      </p:sp>
      <p:grpSp>
        <p:nvGrpSpPr>
          <p:cNvPr id="3" name="组合 2"/>
          <p:cNvGrpSpPr/>
          <p:nvPr/>
        </p:nvGrpSpPr>
        <p:grpSpPr>
          <a:xfrm>
            <a:off x="4932040" y="4484501"/>
            <a:ext cx="3382950" cy="1320763"/>
            <a:chOff x="4690396" y="4463015"/>
            <a:chExt cx="3382950" cy="1320763"/>
          </a:xfrm>
        </p:grpSpPr>
        <p:pic>
          <p:nvPicPr>
            <p:cNvPr id="11" name="Picture 4"/>
            <p:cNvPicPr>
              <a:picLocks noChangeAspect="1" noChangeArrowheads="1"/>
            </p:cNvPicPr>
            <p:nvPr/>
          </p:nvPicPr>
          <p:blipFill rotWithShape="1">
            <a:blip r:embed="rId4">
              <a:extLst>
                <a:ext uri="{28A0092B-C50C-407E-A947-70E740481C1C}">
                  <a14:useLocalDpi xmlns:a14="http://schemas.microsoft.com/office/drawing/2010/main" xmlns="" val="0"/>
                </a:ext>
              </a:extLst>
            </a:blip>
            <a:srcRect b="32174"/>
            <a:stretch/>
          </p:blipFill>
          <p:spPr bwMode="auto">
            <a:xfrm>
              <a:off x="4690396" y="4463015"/>
              <a:ext cx="3382950" cy="9822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文本框 1"/>
            <p:cNvSpPr txBox="1"/>
            <p:nvPr/>
          </p:nvSpPr>
          <p:spPr>
            <a:xfrm>
              <a:off x="5940152" y="5445224"/>
              <a:ext cx="936104" cy="338554"/>
            </a:xfrm>
            <a:prstGeom prst="rect">
              <a:avLst/>
            </a:prstGeom>
            <a:noFill/>
          </p:spPr>
          <p:txBody>
            <a:bodyPr wrap="square" rtlCol="0">
              <a:spAutoFit/>
            </a:bodyPr>
            <a:lstStyle/>
            <a:p>
              <a:r>
                <a:rPr lang="zh-CN" altLang="en-US" sz="1600" b="1" dirty="0" smtClean="0"/>
                <a:t>公差带</a:t>
              </a:r>
              <a:endParaRPr lang="zh-CN" altLang="en-US" sz="16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122889"/>
                                        </p:tgtEl>
                                        <p:attrNameLst>
                                          <p:attrName>style.visibility</p:attrName>
                                        </p:attrNameLst>
                                      </p:cBhvr>
                                      <p:to>
                                        <p:strVal val="visible"/>
                                      </p:to>
                                    </p:set>
                                    <p:anim calcmode="lin" valueType="num">
                                      <p:cBhvr additive="base">
                                        <p:cTn id="7" dur="500" fill="hold"/>
                                        <p:tgtEl>
                                          <p:spTgt spid="122889"/>
                                        </p:tgtEl>
                                        <p:attrNameLst>
                                          <p:attrName>ppt_x</p:attrName>
                                        </p:attrNameLst>
                                      </p:cBhvr>
                                      <p:tavLst>
                                        <p:tav tm="0">
                                          <p:val>
                                            <p:strVal val="1+#ppt_w/2"/>
                                          </p:val>
                                        </p:tav>
                                        <p:tav tm="100000">
                                          <p:val>
                                            <p:strVal val="#ppt_x"/>
                                          </p:val>
                                        </p:tav>
                                      </p:tavLst>
                                    </p:anim>
                                    <p:anim calcmode="lin" valueType="num">
                                      <p:cBhvr additive="base">
                                        <p:cTn id="8" dur="500" fill="hold"/>
                                        <p:tgtEl>
                                          <p:spTgt spid="12288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0-#ppt_w/2"/>
                                          </p:val>
                                        </p:tav>
                                        <p:tav tm="100000">
                                          <p:val>
                                            <p:strVal val="#ppt_x"/>
                                          </p:val>
                                        </p:tav>
                                      </p:tavLst>
                                    </p:anim>
                                    <p:anim calcmode="lin" valueType="num">
                                      <p:cBhvr additive="base">
                                        <p:cTn id="1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left)">
                                      <p:cBhvr>
                                        <p:cTn id="2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5055B3D0-2C97-49D0-A5CA-E8E987301F8A}" type="slidenum">
              <a:rPr lang="en-US" altLang="zh-CN" sz="2000" smtClean="0">
                <a:solidFill>
                  <a:srgbClr val="0000FF"/>
                </a:solidFill>
              </a:rPr>
              <a:pPr eaLnBrk="1" hangingPunct="1"/>
              <a:t>30</a:t>
            </a:fld>
            <a:endParaRPr lang="en-US" altLang="zh-CN" sz="2000" smtClean="0">
              <a:solidFill>
                <a:srgbClr val="0000FF"/>
              </a:solidFill>
            </a:endParaRPr>
          </a:p>
        </p:txBody>
      </p:sp>
      <p:cxnSp>
        <p:nvCxnSpPr>
          <p:cNvPr id="11" name="直接连接符 10"/>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 Box 12"/>
          <p:cNvSpPr txBox="1">
            <a:spLocks noChangeArrowheads="1"/>
          </p:cNvSpPr>
          <p:nvPr/>
        </p:nvSpPr>
        <p:spPr bwMode="auto">
          <a:xfrm>
            <a:off x="357158" y="181253"/>
            <a:ext cx="52574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b="1" dirty="0" smtClean="0"/>
              <a:t>(2)  </a:t>
            </a:r>
            <a:r>
              <a:rPr lang="zh-CN" altLang="en-US" b="1" dirty="0" smtClean="0"/>
              <a:t>对称度</a:t>
            </a:r>
            <a:r>
              <a:rPr lang="en-US" altLang="zh-CN" b="1" dirty="0" smtClean="0"/>
              <a:t>(</a:t>
            </a:r>
            <a:r>
              <a:rPr lang="zh-CN" altLang="en-US" b="1" dirty="0" smtClean="0"/>
              <a:t>中心面</a:t>
            </a:r>
            <a:r>
              <a:rPr lang="en-US" altLang="zh-CN" b="1" dirty="0" smtClean="0"/>
              <a:t>)</a:t>
            </a:r>
            <a:r>
              <a:rPr lang="zh-CN" altLang="en-US" b="1" dirty="0" smtClean="0"/>
              <a:t> </a:t>
            </a:r>
            <a:r>
              <a:rPr lang="zh-CN" altLang="en-US" b="1" dirty="0"/>
              <a:t>公差的</a:t>
            </a:r>
            <a:r>
              <a:rPr lang="zh-CN" altLang="en-US" b="1" dirty="0" smtClean="0"/>
              <a:t>标注</a:t>
            </a:r>
            <a:endParaRPr lang="zh-CN" altLang="en-US" b="1" dirty="0"/>
          </a:p>
        </p:txBody>
      </p:sp>
      <p:sp>
        <p:nvSpPr>
          <p:cNvPr id="14" name="矩形 13"/>
          <p:cNvSpPr/>
          <p:nvPr/>
        </p:nvSpPr>
        <p:spPr>
          <a:xfrm>
            <a:off x="782936" y="4413601"/>
            <a:ext cx="3429024" cy="1015663"/>
          </a:xfrm>
          <a:prstGeom prst="rect">
            <a:avLst/>
          </a:prstGeom>
        </p:spPr>
        <p:txBody>
          <a:bodyPr wrap="square">
            <a:spAutoFit/>
          </a:bodyPr>
          <a:lstStyle/>
          <a:p>
            <a:r>
              <a:rPr lang="zh-CN" altLang="en-US" sz="2000" b="1" dirty="0"/>
              <a:t> </a:t>
            </a:r>
            <a:r>
              <a:rPr lang="zh-CN" altLang="en-US" sz="2000" b="1" dirty="0" smtClean="0"/>
              <a:t>        公差带</a:t>
            </a:r>
            <a:r>
              <a:rPr lang="zh-CN" altLang="en-US" sz="2000" b="1" dirty="0"/>
              <a:t>为间距等于公差值</a:t>
            </a:r>
            <a:r>
              <a:rPr lang="en-US" altLang="zh-CN" sz="2000" b="1" i="1" dirty="0"/>
              <a:t>t</a:t>
            </a:r>
            <a:r>
              <a:rPr lang="zh-CN" altLang="en-US" sz="2000" b="1" dirty="0"/>
              <a:t>、对称</a:t>
            </a:r>
            <a:r>
              <a:rPr lang="zh-CN" altLang="en-US" sz="2000" b="1" dirty="0" smtClean="0"/>
              <a:t>于基准</a:t>
            </a:r>
            <a:r>
              <a:rPr lang="zh-CN" altLang="en-US" sz="2000" b="1" dirty="0"/>
              <a:t>中心平面的两平行平面所限定</a:t>
            </a:r>
            <a:r>
              <a:rPr lang="zh-CN" altLang="en-US" sz="2000" b="1" dirty="0" smtClean="0"/>
              <a:t>的区域。</a:t>
            </a:r>
            <a:endParaRPr lang="zh-CN" altLang="en-US" sz="2000" b="1" dirty="0"/>
          </a:p>
        </p:txBody>
      </p:sp>
      <p:sp>
        <p:nvSpPr>
          <p:cNvPr id="15" name="矩形 14"/>
          <p:cNvSpPr/>
          <p:nvPr/>
        </p:nvSpPr>
        <p:spPr>
          <a:xfrm>
            <a:off x="642910" y="928670"/>
            <a:ext cx="8001056" cy="707886"/>
          </a:xfrm>
          <a:prstGeom prst="rect">
            <a:avLst/>
          </a:prstGeom>
        </p:spPr>
        <p:txBody>
          <a:bodyPr wrap="square">
            <a:spAutoFit/>
          </a:bodyPr>
          <a:lstStyle/>
          <a:p>
            <a:r>
              <a:rPr lang="zh-CN" altLang="en-US" sz="2000" b="1" dirty="0" smtClean="0"/>
              <a:t>        提取</a:t>
            </a:r>
            <a:r>
              <a:rPr lang="en-US" altLang="zh-CN" sz="2000" b="1" dirty="0"/>
              <a:t>(</a:t>
            </a:r>
            <a:r>
              <a:rPr lang="zh-CN" altLang="en-US" sz="2000" b="1" dirty="0"/>
              <a:t>实际</a:t>
            </a:r>
            <a:r>
              <a:rPr lang="en-US" altLang="zh-CN" sz="2000" b="1" dirty="0"/>
              <a:t>) </a:t>
            </a:r>
            <a:r>
              <a:rPr lang="zh-CN" altLang="en-US" sz="2000" b="1" dirty="0"/>
              <a:t>中心面应限定在间距等于</a:t>
            </a:r>
            <a:r>
              <a:rPr lang="en-US" altLang="zh-CN" sz="2000" b="1" dirty="0"/>
              <a:t>0. 08</a:t>
            </a:r>
            <a:r>
              <a:rPr lang="zh-CN" altLang="en-US" sz="2000" b="1" dirty="0"/>
              <a:t>、对称于公共</a:t>
            </a:r>
            <a:r>
              <a:rPr lang="zh-CN" altLang="en-US" sz="2000" b="1" dirty="0" smtClean="0"/>
              <a:t>基准中心</a:t>
            </a:r>
            <a:r>
              <a:rPr lang="zh-CN" altLang="en-US" sz="2000" b="1" dirty="0"/>
              <a:t>平面</a:t>
            </a:r>
            <a:r>
              <a:rPr lang="en-US" altLang="zh-CN" sz="2000" b="1" i="1" dirty="0"/>
              <a:t>A </a:t>
            </a:r>
            <a:r>
              <a:rPr lang="en-US" altLang="zh-CN" sz="2000" b="1" dirty="0"/>
              <a:t>- </a:t>
            </a:r>
            <a:r>
              <a:rPr lang="en-US" altLang="zh-CN" sz="2000" b="1" i="1" dirty="0"/>
              <a:t>B</a:t>
            </a:r>
            <a:r>
              <a:rPr lang="en-US" altLang="zh-CN" sz="2000" b="1" dirty="0"/>
              <a:t> </a:t>
            </a:r>
            <a:r>
              <a:rPr lang="zh-CN" altLang="en-US" sz="2000" b="1" dirty="0"/>
              <a:t>的两平行平面</a:t>
            </a:r>
            <a:r>
              <a:rPr lang="zh-CN" altLang="en-US" sz="2000" b="1" dirty="0" smtClean="0"/>
              <a:t>之间。</a:t>
            </a:r>
            <a:endParaRPr lang="zh-CN" altLang="en-US" sz="2000" b="1" dirty="0"/>
          </a:p>
        </p:txBody>
      </p:sp>
      <p:pic>
        <p:nvPicPr>
          <p:cNvPr id="1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85786" y="1954451"/>
            <a:ext cx="3909634" cy="176030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64586" y="1628800"/>
            <a:ext cx="3450752" cy="22282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8" name="Picture 5"/>
          <p:cNvPicPr>
            <a:picLocks noChangeAspect="1" noChangeArrowheads="1"/>
          </p:cNvPicPr>
          <p:nvPr/>
        </p:nvPicPr>
        <p:blipFill>
          <a:blip r:embed="rId4">
            <a:extLst>
              <a:ext uri="{28A0092B-C50C-407E-A947-70E740481C1C}">
                <a14:useLocalDpi xmlns:a14="http://schemas.microsoft.com/office/drawing/2010/main" xmlns="" val="0"/>
              </a:ext>
            </a:extLst>
          </a:blip>
          <a:srcRect t="3335" b="33070"/>
          <a:stretch>
            <a:fillRect/>
          </a:stretch>
        </p:blipFill>
        <p:spPr bwMode="auto">
          <a:xfrm>
            <a:off x="4501703" y="4188199"/>
            <a:ext cx="3526681" cy="16170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0-#ppt_w/2"/>
                                          </p:val>
                                        </p:tav>
                                        <p:tav tm="100000">
                                          <p:val>
                                            <p:strVal val="#ppt_x"/>
                                          </p:val>
                                        </p:tav>
                                      </p:tavLst>
                                    </p:anim>
                                    <p:anim calcmode="lin" valueType="num">
                                      <p:cBhvr additive="base">
                                        <p:cTn id="1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1+#ppt_w/2"/>
                                          </p:val>
                                        </p:tav>
                                        <p:tav tm="100000">
                                          <p:val>
                                            <p:strVal val="#ppt_x"/>
                                          </p:val>
                                        </p:tav>
                                      </p:tavLst>
                                    </p:anim>
                                    <p:anim calcmode="lin" valueType="num">
                                      <p:cBhvr additive="base">
                                        <p:cTn id="2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additive="base">
                                        <p:cTn id="34" dur="500" fill="hold"/>
                                        <p:tgtEl>
                                          <p:spTgt spid="18"/>
                                        </p:tgtEl>
                                        <p:attrNameLst>
                                          <p:attrName>ppt_x</p:attrName>
                                        </p:attrNameLst>
                                      </p:cBhvr>
                                      <p:tavLst>
                                        <p:tav tm="0">
                                          <p:val>
                                            <p:strVal val="#ppt_x"/>
                                          </p:val>
                                        </p:tav>
                                        <p:tav tm="100000">
                                          <p:val>
                                            <p:strVal val="#ppt_x"/>
                                          </p:val>
                                        </p:tav>
                                      </p:tavLst>
                                    </p:anim>
                                    <p:anim calcmode="lin" valueType="num">
                                      <p:cBhvr additive="base">
                                        <p:cTn id="35"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88D917C7-4014-405E-8B29-FA6F8077B8DA}" type="slidenum">
              <a:rPr lang="en-US" altLang="zh-CN" sz="2000" smtClean="0">
                <a:solidFill>
                  <a:srgbClr val="0000FF"/>
                </a:solidFill>
              </a:rPr>
              <a:pPr eaLnBrk="1" hangingPunct="1"/>
              <a:t>31</a:t>
            </a:fld>
            <a:endParaRPr lang="en-US" altLang="zh-CN" sz="2000" smtClean="0">
              <a:solidFill>
                <a:srgbClr val="0000FF"/>
              </a:solidFill>
            </a:endParaRPr>
          </a:p>
        </p:txBody>
      </p:sp>
      <p:sp>
        <p:nvSpPr>
          <p:cNvPr id="128004" name="Text Box 4"/>
          <p:cNvSpPr txBox="1">
            <a:spLocks noChangeArrowheads="1"/>
          </p:cNvSpPr>
          <p:nvPr/>
        </p:nvSpPr>
        <p:spPr bwMode="auto">
          <a:xfrm>
            <a:off x="787496" y="4786322"/>
            <a:ext cx="4000528" cy="14219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1800" b="1" dirty="0" smtClean="0"/>
              <a:t>公差带</a:t>
            </a:r>
            <a:r>
              <a:rPr lang="zh-CN" altLang="en-US" sz="1800" b="1" dirty="0"/>
              <a:t>为</a:t>
            </a:r>
            <a:r>
              <a:rPr lang="zh-CN" altLang="en-US" sz="1800" b="1" dirty="0">
                <a:solidFill>
                  <a:srgbClr val="0070C0"/>
                </a:solidFill>
              </a:rPr>
              <a:t>直径等于公差值</a:t>
            </a:r>
            <a:r>
              <a:rPr lang="zh-CN" altLang="en-US" sz="1800" b="1" i="1" dirty="0">
                <a:solidFill>
                  <a:srgbClr val="0070C0"/>
                </a:solidFill>
              </a:rPr>
              <a:t> </a:t>
            </a:r>
            <a:r>
              <a:rPr lang="en-US" altLang="zh-CN" sz="1800" b="1" i="1" dirty="0">
                <a:solidFill>
                  <a:srgbClr val="0070C0"/>
                </a:solidFill>
              </a:rPr>
              <a:t>S</a:t>
            </a:r>
            <a:r>
              <a:rPr lang="en-US" altLang="zh-CN" sz="1800" b="1" i="1" dirty="0">
                <a:solidFill>
                  <a:srgbClr val="0070C0"/>
                </a:solidFill>
                <a:latin typeface="Swis721 BT" pitchFamily="34" charset="0"/>
              </a:rPr>
              <a:t>Φ</a:t>
            </a:r>
            <a:r>
              <a:rPr lang="en-US" altLang="zh-CN" sz="1800" b="1" i="1" dirty="0">
                <a:solidFill>
                  <a:srgbClr val="0070C0"/>
                </a:solidFill>
              </a:rPr>
              <a:t> </a:t>
            </a:r>
            <a:r>
              <a:rPr lang="en-US" altLang="zh-CN" sz="1800" b="1" i="1" dirty="0" smtClean="0">
                <a:solidFill>
                  <a:srgbClr val="0070C0"/>
                </a:solidFill>
              </a:rPr>
              <a:t>t </a:t>
            </a:r>
            <a:r>
              <a:rPr lang="zh-CN" altLang="en-US" sz="1800" b="1" dirty="0" smtClean="0">
                <a:solidFill>
                  <a:srgbClr val="0070C0"/>
                </a:solidFill>
              </a:rPr>
              <a:t>的</a:t>
            </a:r>
            <a:r>
              <a:rPr lang="zh-CN" altLang="en-US" sz="1800" b="1" dirty="0">
                <a:solidFill>
                  <a:srgbClr val="0070C0"/>
                </a:solidFill>
              </a:rPr>
              <a:t>圆球面</a:t>
            </a:r>
            <a:r>
              <a:rPr lang="zh-CN" altLang="en-US" sz="1800" b="1" dirty="0"/>
              <a:t>所限定的区域。该圆球面的中心的理论正确位置由基准</a:t>
            </a:r>
            <a:r>
              <a:rPr lang="en-US" altLang="zh-CN" sz="1800" b="1" i="1" dirty="0"/>
              <a:t>A</a:t>
            </a:r>
            <a:r>
              <a:rPr lang="zh-CN" altLang="en-US" sz="1800" b="1" dirty="0"/>
              <a:t>、</a:t>
            </a:r>
            <a:r>
              <a:rPr lang="en-US" altLang="zh-CN" sz="1800" b="1" i="1" dirty="0"/>
              <a:t>B</a:t>
            </a:r>
            <a:r>
              <a:rPr lang="zh-CN" altLang="en-US" sz="1800" b="1" dirty="0"/>
              <a:t>、</a:t>
            </a:r>
            <a:r>
              <a:rPr lang="en-US" altLang="zh-CN" sz="1800" b="1" i="1" dirty="0"/>
              <a:t>C</a:t>
            </a:r>
            <a:r>
              <a:rPr lang="zh-CN" altLang="en-US" sz="1800" b="1" dirty="0"/>
              <a:t>和理论正确尺寸确定</a:t>
            </a:r>
            <a:r>
              <a:rPr lang="zh-CN" altLang="en-US" sz="1800" b="1" dirty="0" smtClean="0"/>
              <a:t>。</a:t>
            </a:r>
            <a:endParaRPr lang="zh-CN" altLang="en-US" sz="1800" b="1" dirty="0"/>
          </a:p>
        </p:txBody>
      </p:sp>
      <p:sp>
        <p:nvSpPr>
          <p:cNvPr id="128006" name="Text Box 6"/>
          <p:cNvSpPr txBox="1">
            <a:spLocks noChangeArrowheads="1"/>
          </p:cNvSpPr>
          <p:nvPr/>
        </p:nvSpPr>
        <p:spPr bwMode="auto">
          <a:xfrm>
            <a:off x="538162" y="1171672"/>
            <a:ext cx="8105804" cy="7571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1800" b="1" dirty="0" smtClean="0"/>
              <a:t>提取</a:t>
            </a:r>
            <a:r>
              <a:rPr lang="zh-CN" altLang="en-US" sz="1800" b="1" dirty="0"/>
              <a:t>（实际）球心应限定在直径等于</a:t>
            </a:r>
            <a:r>
              <a:rPr lang="en-US" altLang="zh-CN" sz="1800" b="1" i="1" dirty="0"/>
              <a:t>S</a:t>
            </a:r>
            <a:r>
              <a:rPr lang="en-US" altLang="zh-CN" sz="1800" b="1" i="1" dirty="0">
                <a:latin typeface="Swis721 BT" pitchFamily="34" charset="0"/>
              </a:rPr>
              <a:t>Φ</a:t>
            </a:r>
            <a:r>
              <a:rPr lang="en-US" altLang="zh-CN" sz="1800" b="1" dirty="0"/>
              <a:t>0.3</a:t>
            </a:r>
            <a:r>
              <a:rPr lang="zh-CN" altLang="en-US" sz="1800" b="1" dirty="0"/>
              <a:t>的圆球内。该圆球面的中心由基准平面</a:t>
            </a:r>
            <a:r>
              <a:rPr lang="en-US" altLang="zh-CN" sz="1800" b="1" i="1" dirty="0"/>
              <a:t>A</a:t>
            </a:r>
            <a:r>
              <a:rPr lang="zh-CN" altLang="en-US" sz="1800" b="1" dirty="0"/>
              <a:t>、基准平面</a:t>
            </a:r>
            <a:r>
              <a:rPr lang="en-US" altLang="zh-CN" sz="1800" b="1" i="1" dirty="0"/>
              <a:t>B</a:t>
            </a:r>
            <a:r>
              <a:rPr lang="zh-CN" altLang="en-US" sz="1800" b="1" dirty="0"/>
              <a:t>、基准中心平面</a:t>
            </a:r>
            <a:r>
              <a:rPr lang="en-US" altLang="zh-CN" sz="1800" b="1" i="1" dirty="0"/>
              <a:t>C</a:t>
            </a:r>
            <a:r>
              <a:rPr lang="zh-CN" altLang="en-US" sz="1800" b="1" dirty="0"/>
              <a:t>和理论正确尺寸</a:t>
            </a:r>
            <a:r>
              <a:rPr lang="en-US" altLang="zh-CN" sz="1800" b="1" dirty="0"/>
              <a:t>30</a:t>
            </a:r>
            <a:r>
              <a:rPr lang="zh-CN" altLang="en-US" sz="1800" b="1" dirty="0"/>
              <a:t>、</a:t>
            </a:r>
            <a:r>
              <a:rPr lang="en-US" altLang="zh-CN" sz="1800" b="1" dirty="0"/>
              <a:t>25</a:t>
            </a:r>
            <a:r>
              <a:rPr lang="zh-CN" altLang="en-US" sz="1800" b="1" dirty="0"/>
              <a:t>确定。</a:t>
            </a:r>
          </a:p>
        </p:txBody>
      </p:sp>
      <p:sp>
        <p:nvSpPr>
          <p:cNvPr id="128007" name="Text Box 7"/>
          <p:cNvSpPr txBox="1">
            <a:spLocks noChangeArrowheads="1"/>
          </p:cNvSpPr>
          <p:nvPr/>
        </p:nvSpPr>
        <p:spPr bwMode="auto">
          <a:xfrm>
            <a:off x="500034" y="785794"/>
            <a:ext cx="41306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t>① </a:t>
            </a:r>
            <a:r>
              <a:rPr lang="zh-CN" altLang="en-US" sz="2000" b="1" dirty="0" smtClean="0"/>
              <a:t>导出点</a:t>
            </a:r>
            <a:r>
              <a:rPr lang="zh-CN" altLang="en-US" sz="2000" b="1" dirty="0"/>
              <a:t>的位置</a:t>
            </a:r>
            <a:r>
              <a:rPr lang="zh-CN" altLang="en-US" sz="2000" b="1" dirty="0" smtClean="0"/>
              <a:t>度</a:t>
            </a:r>
            <a:endParaRPr lang="zh-CN" altLang="en-US" sz="2000" b="1" dirty="0"/>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 Box 4"/>
          <p:cNvSpPr txBox="1">
            <a:spLocks noChangeArrowheads="1"/>
          </p:cNvSpPr>
          <p:nvPr/>
        </p:nvSpPr>
        <p:spPr bwMode="auto">
          <a:xfrm>
            <a:off x="337196" y="189238"/>
            <a:ext cx="70104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smtClean="0"/>
              <a:t>(3)  </a:t>
            </a:r>
            <a:r>
              <a:rPr lang="zh-CN" altLang="en-US" b="1" dirty="0">
                <a:latin typeface="宋体" panose="02010600030101010101" pitchFamily="2" charset="-122"/>
              </a:rPr>
              <a:t>位置度</a:t>
            </a:r>
            <a:r>
              <a:rPr lang="zh-CN" altLang="en-US" b="1" dirty="0" smtClean="0">
                <a:latin typeface="宋体" panose="02010600030101010101" pitchFamily="2" charset="-122"/>
              </a:rPr>
              <a:t>公差的标注</a:t>
            </a:r>
            <a:endParaRPr lang="zh-CN" altLang="en-US" b="1" dirty="0"/>
          </a:p>
        </p:txBody>
      </p:sp>
      <p:pic>
        <p:nvPicPr>
          <p:cNvPr id="15"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7584" y="1988840"/>
            <a:ext cx="3240360" cy="23701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83968" y="1988840"/>
            <a:ext cx="3281683" cy="23815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7" name="Picture 5"/>
          <p:cNvPicPr>
            <a:picLocks noChangeAspect="1" noChangeArrowheads="1"/>
          </p:cNvPicPr>
          <p:nvPr/>
        </p:nvPicPr>
        <p:blipFill>
          <a:blip r:embed="rId4">
            <a:extLst>
              <a:ext uri="{28A0092B-C50C-407E-A947-70E740481C1C}">
                <a14:useLocalDpi xmlns:a14="http://schemas.microsoft.com/office/drawing/2010/main" xmlns="" val="0"/>
              </a:ext>
            </a:extLst>
          </a:blip>
          <a:srcRect r="6966" b="22746"/>
          <a:stretch>
            <a:fillRect/>
          </a:stretch>
        </p:blipFill>
        <p:spPr bwMode="auto">
          <a:xfrm>
            <a:off x="5214942" y="4572008"/>
            <a:ext cx="2862261" cy="17145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28007"/>
                                        </p:tgtEl>
                                        <p:attrNameLst>
                                          <p:attrName>style.visibility</p:attrName>
                                        </p:attrNameLst>
                                      </p:cBhvr>
                                      <p:to>
                                        <p:strVal val="visible"/>
                                      </p:to>
                                    </p:set>
                                    <p:animEffect transition="in" filter="wipe(left)">
                                      <p:cBhvr>
                                        <p:cTn id="7" dur="300"/>
                                        <p:tgtEl>
                                          <p:spTgt spid="1280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28006"/>
                                        </p:tgtEl>
                                        <p:attrNameLst>
                                          <p:attrName>style.visibility</p:attrName>
                                        </p:attrNameLst>
                                      </p:cBhvr>
                                      <p:to>
                                        <p:strVal val="visible"/>
                                      </p:to>
                                    </p:set>
                                    <p:animEffect transition="in" filter="wipe(left)">
                                      <p:cBhvr>
                                        <p:cTn id="12" dur="300"/>
                                        <p:tgtEl>
                                          <p:spTgt spid="1280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28004"/>
                                        </p:tgtEl>
                                        <p:attrNameLst>
                                          <p:attrName>style.visibility</p:attrName>
                                        </p:attrNameLst>
                                      </p:cBhvr>
                                      <p:to>
                                        <p:strVal val="visible"/>
                                      </p:to>
                                    </p:set>
                                    <p:animEffect transition="in" filter="wipe(left)">
                                      <p:cBhvr>
                                        <p:cTn id="17" dur="300"/>
                                        <p:tgtEl>
                                          <p:spTgt spid="128004"/>
                                        </p:tgtEl>
                                      </p:cBhvr>
                                    </p:animEffect>
                                  </p:childTnLst>
                                </p:cTn>
                              </p:par>
                            </p:childTnLst>
                          </p:cTn>
                        </p:par>
                        <p:par>
                          <p:cTn id="18" fill="hold">
                            <p:stCondLst>
                              <p:cond delay="11100"/>
                            </p:stCondLst>
                            <p:childTnLst>
                              <p:par>
                                <p:cTn id="19" presetID="22" presetClass="entr" presetSubtype="8" fill="hold" grpId="0" nodeType="afterEffect">
                                  <p:stCondLst>
                                    <p:cond delay="0"/>
                                  </p:stCondLst>
                                  <p:iterate type="wd">
                                    <p:tmPct val="100000"/>
                                  </p:iterate>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wipe(left)">
                                      <p:cBhvr>
                                        <p:cTn id="21" dur="300"/>
                                        <p:tgtEl>
                                          <p:spTgt spid="1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0-#ppt_w/2"/>
                                          </p:val>
                                        </p:tav>
                                        <p:tav tm="100000">
                                          <p:val>
                                            <p:strVal val="#ppt_x"/>
                                          </p:val>
                                        </p:tav>
                                      </p:tavLst>
                                    </p:anim>
                                    <p:anim calcmode="lin" valueType="num">
                                      <p:cBhvr additive="base">
                                        <p:cTn id="27"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500" fill="hold"/>
                                        <p:tgtEl>
                                          <p:spTgt spid="16"/>
                                        </p:tgtEl>
                                        <p:attrNameLst>
                                          <p:attrName>ppt_x</p:attrName>
                                        </p:attrNameLst>
                                      </p:cBhvr>
                                      <p:tavLst>
                                        <p:tav tm="0">
                                          <p:val>
                                            <p:strVal val="1+#ppt_w/2"/>
                                          </p:val>
                                        </p:tav>
                                        <p:tav tm="100000">
                                          <p:val>
                                            <p:strVal val="#ppt_x"/>
                                          </p:val>
                                        </p:tav>
                                      </p:tavLst>
                                    </p:anim>
                                    <p:anim calcmode="lin" valueType="num">
                                      <p:cBhvr additive="base">
                                        <p:cTn id="33"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4" grpId="0" autoUpdateAnimBg="0"/>
      <p:bldP spid="128006" grpId="0" autoUpdateAnimBg="0"/>
      <p:bldP spid="128007" grpId="0" autoUpdateAnimBg="0"/>
      <p:bldP spid="13"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1C1639EC-2FDA-47F6-B0C4-8469FD616191}" type="slidenum">
              <a:rPr lang="en-US" altLang="zh-CN" sz="2000" smtClean="0">
                <a:solidFill>
                  <a:srgbClr val="0000FF"/>
                </a:solidFill>
              </a:rPr>
              <a:pPr eaLnBrk="1" hangingPunct="1"/>
              <a:t>32</a:t>
            </a:fld>
            <a:endParaRPr lang="en-US" altLang="zh-CN" sz="2000" smtClean="0">
              <a:solidFill>
                <a:srgbClr val="0000FF"/>
              </a:solidFill>
            </a:endParaRPr>
          </a:p>
        </p:txBody>
      </p:sp>
      <p:sp>
        <p:nvSpPr>
          <p:cNvPr id="129028" name="Text Box 4"/>
          <p:cNvSpPr txBox="1">
            <a:spLocks noChangeArrowheads="1"/>
          </p:cNvSpPr>
          <p:nvPr/>
        </p:nvSpPr>
        <p:spPr bwMode="auto">
          <a:xfrm>
            <a:off x="357158" y="4286256"/>
            <a:ext cx="4500594" cy="1754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1800" b="1" dirty="0" smtClean="0"/>
              <a:t>给定</a:t>
            </a:r>
            <a:r>
              <a:rPr lang="zh-CN" altLang="en-US" sz="1800" b="1" dirty="0"/>
              <a:t>一个方向的公差时</a:t>
            </a:r>
            <a:r>
              <a:rPr lang="zh-CN" altLang="en-US" sz="1800" b="1" i="1" dirty="0"/>
              <a:t>，</a:t>
            </a:r>
            <a:r>
              <a:rPr lang="zh-CN" altLang="en-US" sz="1800" b="1" dirty="0"/>
              <a:t>公差带为间距等于公差值</a:t>
            </a:r>
            <a:r>
              <a:rPr lang="zh-CN" altLang="en-US" sz="1800" b="1" i="1" dirty="0"/>
              <a:t> </a:t>
            </a:r>
            <a:r>
              <a:rPr lang="en-US" altLang="zh-CN" sz="1800" b="1" i="1" dirty="0"/>
              <a:t>t</a:t>
            </a:r>
            <a:r>
              <a:rPr lang="zh-CN" altLang="en-US" sz="1800" b="1" i="1" dirty="0"/>
              <a:t>、</a:t>
            </a:r>
            <a:r>
              <a:rPr lang="zh-CN" altLang="en-US" sz="1800" b="1" dirty="0"/>
              <a:t>对称于线的理论正确位置的两平行平面所限定的区域。线的理论正确位置由基准</a:t>
            </a:r>
            <a:r>
              <a:rPr lang="en-US" altLang="zh-CN" sz="1800" b="1" i="1" dirty="0"/>
              <a:t>A</a:t>
            </a:r>
            <a:r>
              <a:rPr lang="zh-CN" altLang="en-US" sz="1800" b="1" dirty="0"/>
              <a:t>、</a:t>
            </a:r>
            <a:r>
              <a:rPr lang="en-US" altLang="zh-CN" sz="1800" b="1" i="1" dirty="0"/>
              <a:t>B</a:t>
            </a:r>
            <a:r>
              <a:rPr lang="zh-CN" altLang="en-US" sz="1800" b="1" dirty="0"/>
              <a:t>、和理论正确尺寸确定。公差只在一个方向上给定</a:t>
            </a:r>
            <a:r>
              <a:rPr lang="zh-CN" altLang="en-US" sz="1800" b="1" dirty="0" smtClean="0"/>
              <a:t>。</a:t>
            </a:r>
            <a:endParaRPr lang="zh-CN" altLang="en-US" sz="1800" b="1" dirty="0"/>
          </a:p>
        </p:txBody>
      </p:sp>
      <p:sp>
        <p:nvSpPr>
          <p:cNvPr id="129030" name="Text Box 6"/>
          <p:cNvSpPr txBox="1">
            <a:spLocks noChangeArrowheads="1"/>
          </p:cNvSpPr>
          <p:nvPr/>
        </p:nvSpPr>
        <p:spPr bwMode="auto">
          <a:xfrm>
            <a:off x="476280" y="1171672"/>
            <a:ext cx="8382000" cy="7571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1800" b="1" dirty="0" smtClean="0"/>
              <a:t>各</a:t>
            </a:r>
            <a:r>
              <a:rPr lang="zh-CN" altLang="en-US" sz="1800" b="1" dirty="0"/>
              <a:t>条刻线的提取（实际）中心线应限定在间距等于</a:t>
            </a:r>
            <a:r>
              <a:rPr lang="en-US" altLang="zh-CN" sz="1800" b="1" dirty="0"/>
              <a:t>0.1</a:t>
            </a:r>
            <a:r>
              <a:rPr lang="zh-CN" altLang="en-US" sz="1800" b="1" dirty="0"/>
              <a:t>、对称于基准平面</a:t>
            </a:r>
            <a:r>
              <a:rPr lang="en-US" altLang="zh-CN" sz="1800" b="1" i="1" dirty="0"/>
              <a:t>A</a:t>
            </a:r>
            <a:r>
              <a:rPr lang="zh-CN" altLang="en-US" sz="1800" b="1" dirty="0"/>
              <a:t>、</a:t>
            </a:r>
            <a:r>
              <a:rPr lang="en-US" altLang="zh-CN" sz="1800" b="1" i="1" dirty="0"/>
              <a:t>B</a:t>
            </a:r>
            <a:r>
              <a:rPr lang="zh-CN" altLang="en-US" sz="1800" b="1" dirty="0"/>
              <a:t>和理论正确尺寸</a:t>
            </a:r>
            <a:r>
              <a:rPr lang="en-US" altLang="zh-CN" sz="1800" b="1" dirty="0"/>
              <a:t>25</a:t>
            </a:r>
            <a:r>
              <a:rPr lang="zh-CN" altLang="en-US" sz="1800" b="1" dirty="0"/>
              <a:t>、</a:t>
            </a:r>
            <a:r>
              <a:rPr lang="en-US" altLang="zh-CN" sz="1800" b="1" dirty="0"/>
              <a:t>10</a:t>
            </a:r>
            <a:r>
              <a:rPr lang="zh-CN" altLang="en-US" sz="1800" b="1" dirty="0"/>
              <a:t>确定的理论正确位置的两平行平面之间。</a:t>
            </a:r>
          </a:p>
        </p:txBody>
      </p:sp>
      <p:sp>
        <p:nvSpPr>
          <p:cNvPr id="129031" name="Text Box 7"/>
          <p:cNvSpPr txBox="1">
            <a:spLocks noChangeArrowheads="1"/>
          </p:cNvSpPr>
          <p:nvPr/>
        </p:nvSpPr>
        <p:spPr bwMode="auto">
          <a:xfrm>
            <a:off x="428596" y="785794"/>
            <a:ext cx="41306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t>② </a:t>
            </a:r>
            <a:r>
              <a:rPr lang="zh-CN" altLang="en-US" sz="2000" b="1" dirty="0"/>
              <a:t>线的位置</a:t>
            </a:r>
            <a:r>
              <a:rPr lang="zh-CN" altLang="en-US" sz="2000" b="1" dirty="0" smtClean="0"/>
              <a:t>度</a:t>
            </a:r>
            <a:endParaRPr lang="zh-CN" altLang="en-US" sz="2000" b="1" dirty="0"/>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 Box 4"/>
          <p:cNvSpPr txBox="1">
            <a:spLocks noChangeArrowheads="1"/>
          </p:cNvSpPr>
          <p:nvPr/>
        </p:nvSpPr>
        <p:spPr bwMode="auto">
          <a:xfrm>
            <a:off x="337196" y="189238"/>
            <a:ext cx="70104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smtClean="0"/>
              <a:t>(3)  </a:t>
            </a:r>
            <a:r>
              <a:rPr lang="zh-CN" altLang="en-US" b="1" dirty="0">
                <a:latin typeface="宋体" panose="02010600030101010101" pitchFamily="2" charset="-122"/>
              </a:rPr>
              <a:t>位置度</a:t>
            </a:r>
            <a:r>
              <a:rPr lang="zh-CN" altLang="en-US" b="1" dirty="0" smtClean="0">
                <a:latin typeface="宋体" panose="02010600030101010101" pitchFamily="2" charset="-122"/>
              </a:rPr>
              <a:t>公差的标注</a:t>
            </a:r>
            <a:endParaRPr lang="zh-CN" altLang="en-US" b="1" dirty="0"/>
          </a:p>
        </p:txBody>
      </p:sp>
      <p:pic>
        <p:nvPicPr>
          <p:cNvPr id="14" name="Picture 15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28596" y="2143117"/>
            <a:ext cx="4608512" cy="15716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 name="Picture 15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072066" y="2000240"/>
            <a:ext cx="3783457" cy="17145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 name="Picture 155"/>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5083352" y="4145327"/>
            <a:ext cx="3017040" cy="20784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29031"/>
                                        </p:tgtEl>
                                        <p:attrNameLst>
                                          <p:attrName>style.visibility</p:attrName>
                                        </p:attrNameLst>
                                      </p:cBhvr>
                                      <p:to>
                                        <p:strVal val="visible"/>
                                      </p:to>
                                    </p:set>
                                    <p:animEffect transition="in" filter="wipe(left)">
                                      <p:cBhvr>
                                        <p:cTn id="7" dur="300"/>
                                        <p:tgtEl>
                                          <p:spTgt spid="1290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29030"/>
                                        </p:tgtEl>
                                        <p:attrNameLst>
                                          <p:attrName>style.visibility</p:attrName>
                                        </p:attrNameLst>
                                      </p:cBhvr>
                                      <p:to>
                                        <p:strVal val="visible"/>
                                      </p:to>
                                    </p:set>
                                    <p:animEffect transition="in" filter="wipe(left)">
                                      <p:cBhvr>
                                        <p:cTn id="12" dur="300"/>
                                        <p:tgtEl>
                                          <p:spTgt spid="1290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29028"/>
                                        </p:tgtEl>
                                        <p:attrNameLst>
                                          <p:attrName>style.visibility</p:attrName>
                                        </p:attrNameLst>
                                      </p:cBhvr>
                                      <p:to>
                                        <p:strVal val="visible"/>
                                      </p:to>
                                    </p:set>
                                    <p:animEffect transition="in" filter="wipe(left)">
                                      <p:cBhvr>
                                        <p:cTn id="17" dur="300"/>
                                        <p:tgtEl>
                                          <p:spTgt spid="129028"/>
                                        </p:tgtEl>
                                      </p:cBhvr>
                                    </p:animEffect>
                                  </p:childTnLst>
                                </p:cTn>
                              </p:par>
                            </p:childTnLst>
                          </p:cTn>
                        </p:par>
                        <p:par>
                          <p:cTn id="18" fill="hold">
                            <p:stCondLst>
                              <p:cond delay="17400"/>
                            </p:stCondLst>
                            <p:childTnLst>
                              <p:par>
                                <p:cTn id="19" presetID="22" presetClass="entr" presetSubtype="8" fill="hold" grpId="0" nodeType="afterEffect">
                                  <p:stCondLst>
                                    <p:cond delay="0"/>
                                  </p:stCondLst>
                                  <p:iterate type="wd">
                                    <p:tmPct val="100000"/>
                                  </p:iterate>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wipe(left)">
                                      <p:cBhvr>
                                        <p:cTn id="21" dur="300"/>
                                        <p:tgtEl>
                                          <p:spTgt spid="1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0-#ppt_w/2"/>
                                          </p:val>
                                        </p:tav>
                                        <p:tav tm="100000">
                                          <p:val>
                                            <p:strVal val="#ppt_x"/>
                                          </p:val>
                                        </p:tav>
                                      </p:tavLst>
                                    </p:anim>
                                    <p:anim calcmode="lin" valueType="num">
                                      <p:cBhvr additive="base">
                                        <p:cTn id="27"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500" fill="hold"/>
                                        <p:tgtEl>
                                          <p:spTgt spid="15"/>
                                        </p:tgtEl>
                                        <p:attrNameLst>
                                          <p:attrName>ppt_x</p:attrName>
                                        </p:attrNameLst>
                                      </p:cBhvr>
                                      <p:tavLst>
                                        <p:tav tm="0">
                                          <p:val>
                                            <p:strVal val="1+#ppt_w/2"/>
                                          </p:val>
                                        </p:tav>
                                        <p:tav tm="100000">
                                          <p:val>
                                            <p:strVal val="#ppt_x"/>
                                          </p:val>
                                        </p:tav>
                                      </p:tavLst>
                                    </p:anim>
                                    <p:anim calcmode="lin" valueType="num">
                                      <p:cBhvr additive="base">
                                        <p:cTn id="33"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1+#ppt_w/2"/>
                                          </p:val>
                                        </p:tav>
                                        <p:tav tm="100000">
                                          <p:val>
                                            <p:strVal val="#ppt_x"/>
                                          </p:val>
                                        </p:tav>
                                      </p:tavLst>
                                    </p:anim>
                                    <p:anim calcmode="lin" valueType="num">
                                      <p:cBhvr additive="base">
                                        <p:cTn id="39"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8" grpId="0" autoUpdateAnimBg="0"/>
      <p:bldP spid="129030" grpId="0" autoUpdateAnimBg="0"/>
      <p:bldP spid="129031" grpId="0" autoUpdateAnimBg="0"/>
      <p:bldP spid="13"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86F690E4-4D4F-498A-B041-9A6716341B32}" type="slidenum">
              <a:rPr lang="en-US" altLang="zh-CN" sz="2000" smtClean="0">
                <a:solidFill>
                  <a:srgbClr val="0000FF"/>
                </a:solidFill>
              </a:rPr>
              <a:pPr eaLnBrk="1" hangingPunct="1"/>
              <a:t>33</a:t>
            </a:fld>
            <a:endParaRPr lang="en-US" altLang="zh-CN" sz="2000" smtClean="0">
              <a:solidFill>
                <a:srgbClr val="0000FF"/>
              </a:solidFill>
            </a:endParaRPr>
          </a:p>
        </p:txBody>
      </p:sp>
      <p:sp>
        <p:nvSpPr>
          <p:cNvPr id="130052" name="Text Box 4"/>
          <p:cNvSpPr txBox="1">
            <a:spLocks noChangeArrowheads="1"/>
          </p:cNvSpPr>
          <p:nvPr/>
        </p:nvSpPr>
        <p:spPr bwMode="auto">
          <a:xfrm>
            <a:off x="575462" y="4721716"/>
            <a:ext cx="4500594" cy="14219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1800" b="1" dirty="0" smtClean="0"/>
              <a:t>公差带</a:t>
            </a:r>
            <a:r>
              <a:rPr lang="zh-CN" altLang="en-US" sz="1800" b="1" dirty="0"/>
              <a:t>为间距等于公差值</a:t>
            </a:r>
            <a:r>
              <a:rPr lang="zh-CN" altLang="en-US" sz="1800" b="1" i="1" dirty="0"/>
              <a:t> </a:t>
            </a:r>
            <a:r>
              <a:rPr lang="en-US" altLang="zh-CN" sz="1800" b="1" i="1" dirty="0"/>
              <a:t>t</a:t>
            </a:r>
            <a:r>
              <a:rPr lang="zh-CN" altLang="en-US" sz="1800" b="1" i="1" dirty="0"/>
              <a:t>、</a:t>
            </a:r>
            <a:r>
              <a:rPr lang="zh-CN" altLang="en-US" sz="1800" b="1" dirty="0" smtClean="0"/>
              <a:t>且位于</a:t>
            </a:r>
            <a:r>
              <a:rPr lang="zh-CN" altLang="en-US" sz="1800" b="1" dirty="0"/>
              <a:t>被测面理论正确位置的两平行平面所限定的区域。面的理论正确位置由基准面</a:t>
            </a:r>
            <a:r>
              <a:rPr lang="zh-CN" altLang="en-US" sz="1800" b="1" i="1" dirty="0"/>
              <a:t>、</a:t>
            </a:r>
            <a:r>
              <a:rPr lang="zh-CN" altLang="en-US" sz="1800" b="1" dirty="0"/>
              <a:t>基准轴线和理论正确尺寸确定</a:t>
            </a:r>
            <a:r>
              <a:rPr lang="zh-CN" altLang="en-US" sz="1800" b="1" dirty="0" smtClean="0"/>
              <a:t>。</a:t>
            </a:r>
            <a:endParaRPr lang="zh-CN" altLang="en-US" sz="1800" b="1" dirty="0"/>
          </a:p>
        </p:txBody>
      </p:sp>
      <p:sp>
        <p:nvSpPr>
          <p:cNvPr id="130054" name="Text Box 6"/>
          <p:cNvSpPr txBox="1">
            <a:spLocks noChangeArrowheads="1"/>
          </p:cNvSpPr>
          <p:nvPr/>
        </p:nvSpPr>
        <p:spPr bwMode="auto">
          <a:xfrm>
            <a:off x="428596" y="1142984"/>
            <a:ext cx="8277252" cy="10895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1800" b="1" dirty="0" smtClean="0"/>
              <a:t>提取</a:t>
            </a:r>
            <a:r>
              <a:rPr lang="zh-CN" altLang="en-US" sz="1800" b="1" dirty="0"/>
              <a:t>（实际）表面应限定在距离等于</a:t>
            </a:r>
            <a:r>
              <a:rPr lang="en-US" altLang="zh-CN" sz="1800" b="1" dirty="0"/>
              <a:t>0.05</a:t>
            </a:r>
            <a:r>
              <a:rPr lang="zh-CN" altLang="en-US" sz="1800" b="1" dirty="0"/>
              <a:t>、且对称于被测面的理论正确位置的两平行平面之间。该两平行平面对称于由基准平面</a:t>
            </a:r>
            <a:r>
              <a:rPr lang="en-US" altLang="zh-CN" sz="1800" b="1" i="1" dirty="0"/>
              <a:t>A</a:t>
            </a:r>
            <a:r>
              <a:rPr lang="zh-CN" altLang="en-US" sz="1800" b="1" dirty="0"/>
              <a:t>、基准轴线</a:t>
            </a:r>
            <a:r>
              <a:rPr lang="en-US" altLang="zh-CN" sz="1800" b="1" i="1" dirty="0"/>
              <a:t>B</a:t>
            </a:r>
            <a:r>
              <a:rPr lang="zh-CN" altLang="en-US" sz="1800" b="1" dirty="0"/>
              <a:t>和理论正确尺寸</a:t>
            </a:r>
            <a:r>
              <a:rPr lang="en-US" altLang="zh-CN" sz="1800" b="1" dirty="0"/>
              <a:t>15</a:t>
            </a:r>
            <a:r>
              <a:rPr lang="zh-CN" altLang="en-US" sz="1800" b="1" dirty="0"/>
              <a:t>、</a:t>
            </a:r>
            <a:r>
              <a:rPr lang="en-US" altLang="zh-CN" sz="1800" b="1" dirty="0"/>
              <a:t>105</a:t>
            </a:r>
            <a:r>
              <a:rPr lang="en-US" altLang="zh-CN" sz="1800" b="1" baseline="30000" dirty="0"/>
              <a:t>0</a:t>
            </a:r>
            <a:r>
              <a:rPr lang="zh-CN" altLang="en-US" sz="1800" b="1" dirty="0"/>
              <a:t>确定的理论正确位置。</a:t>
            </a:r>
          </a:p>
        </p:txBody>
      </p:sp>
      <p:sp>
        <p:nvSpPr>
          <p:cNvPr id="130055" name="Text Box 7"/>
          <p:cNvSpPr txBox="1">
            <a:spLocks noChangeArrowheads="1"/>
          </p:cNvSpPr>
          <p:nvPr/>
        </p:nvSpPr>
        <p:spPr bwMode="auto">
          <a:xfrm>
            <a:off x="428596" y="785794"/>
            <a:ext cx="41306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t>③ </a:t>
            </a:r>
            <a:r>
              <a:rPr lang="zh-CN" altLang="en-US" sz="2000" b="1" dirty="0"/>
              <a:t>面的位置度公差带</a:t>
            </a:r>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 Box 4"/>
          <p:cNvSpPr txBox="1">
            <a:spLocks noChangeArrowheads="1"/>
          </p:cNvSpPr>
          <p:nvPr/>
        </p:nvSpPr>
        <p:spPr bwMode="auto">
          <a:xfrm>
            <a:off x="337196" y="189238"/>
            <a:ext cx="70104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smtClean="0"/>
              <a:t>(3)  </a:t>
            </a:r>
            <a:r>
              <a:rPr lang="zh-CN" altLang="en-US" b="1" dirty="0">
                <a:latin typeface="宋体" panose="02010600030101010101" pitchFamily="2" charset="-122"/>
              </a:rPr>
              <a:t>位置度</a:t>
            </a:r>
            <a:r>
              <a:rPr lang="zh-CN" altLang="en-US" b="1" dirty="0" smtClean="0">
                <a:latin typeface="宋体" panose="02010600030101010101" pitchFamily="2" charset="-122"/>
              </a:rPr>
              <a:t>公差的标注</a:t>
            </a:r>
            <a:endParaRPr lang="zh-CN" altLang="en-US" b="1" dirty="0"/>
          </a:p>
        </p:txBody>
      </p:sp>
      <p:pic>
        <p:nvPicPr>
          <p:cNvPr id="1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71472" y="2285992"/>
            <a:ext cx="4095750" cy="2038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733953" y="1928802"/>
            <a:ext cx="3838575" cy="2324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 name="Picture 5"/>
          <p:cNvPicPr>
            <a:picLocks noChangeAspect="1" noChangeArrowheads="1"/>
          </p:cNvPicPr>
          <p:nvPr/>
        </p:nvPicPr>
        <p:blipFill>
          <a:blip r:embed="rId4">
            <a:extLst>
              <a:ext uri="{28A0092B-C50C-407E-A947-70E740481C1C}">
                <a14:useLocalDpi xmlns:a14="http://schemas.microsoft.com/office/drawing/2010/main" xmlns="" val="0"/>
              </a:ext>
            </a:extLst>
          </a:blip>
          <a:srcRect b="16260"/>
          <a:stretch>
            <a:fillRect/>
          </a:stretch>
        </p:blipFill>
        <p:spPr bwMode="auto">
          <a:xfrm>
            <a:off x="5364088" y="4286256"/>
            <a:ext cx="2573093" cy="21792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0055"/>
                                        </p:tgtEl>
                                        <p:attrNameLst>
                                          <p:attrName>style.visibility</p:attrName>
                                        </p:attrNameLst>
                                      </p:cBhvr>
                                      <p:to>
                                        <p:strVal val="visible"/>
                                      </p:to>
                                    </p:set>
                                    <p:animEffect transition="in" filter="wipe(left)">
                                      <p:cBhvr>
                                        <p:cTn id="7" dur="300"/>
                                        <p:tgtEl>
                                          <p:spTgt spid="1300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30054"/>
                                        </p:tgtEl>
                                        <p:attrNameLst>
                                          <p:attrName>style.visibility</p:attrName>
                                        </p:attrNameLst>
                                      </p:cBhvr>
                                      <p:to>
                                        <p:strVal val="visible"/>
                                      </p:to>
                                    </p:set>
                                    <p:animEffect transition="in" filter="wipe(left)">
                                      <p:cBhvr>
                                        <p:cTn id="12" dur="300"/>
                                        <p:tgtEl>
                                          <p:spTgt spid="1300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30052"/>
                                        </p:tgtEl>
                                        <p:attrNameLst>
                                          <p:attrName>style.visibility</p:attrName>
                                        </p:attrNameLst>
                                      </p:cBhvr>
                                      <p:to>
                                        <p:strVal val="visible"/>
                                      </p:to>
                                    </p:set>
                                    <p:animEffect transition="in" filter="wipe(left)">
                                      <p:cBhvr>
                                        <p:cTn id="17" dur="300"/>
                                        <p:tgtEl>
                                          <p:spTgt spid="130052"/>
                                        </p:tgtEl>
                                      </p:cBhvr>
                                    </p:animEffect>
                                  </p:childTnLst>
                                </p:cTn>
                              </p:par>
                            </p:childTnLst>
                          </p:cTn>
                        </p:par>
                        <p:par>
                          <p:cTn id="18" fill="hold">
                            <p:stCondLst>
                              <p:cond delay="12000"/>
                            </p:stCondLst>
                            <p:childTnLst>
                              <p:par>
                                <p:cTn id="19" presetID="22" presetClass="entr" presetSubtype="8" fill="hold" grpId="0" nodeType="afterEffect">
                                  <p:stCondLst>
                                    <p:cond delay="0"/>
                                  </p:stCondLst>
                                  <p:iterate type="wd">
                                    <p:tmPct val="100000"/>
                                  </p:iterate>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wipe(left)">
                                      <p:cBhvr>
                                        <p:cTn id="21" dur="300"/>
                                        <p:tgtEl>
                                          <p:spTgt spid="1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0-#ppt_w/2"/>
                                          </p:val>
                                        </p:tav>
                                        <p:tav tm="100000">
                                          <p:val>
                                            <p:strVal val="#ppt_x"/>
                                          </p:val>
                                        </p:tav>
                                      </p:tavLst>
                                    </p:anim>
                                    <p:anim calcmode="lin" valueType="num">
                                      <p:cBhvr additive="base">
                                        <p:cTn id="27"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500" fill="hold"/>
                                        <p:tgtEl>
                                          <p:spTgt spid="15"/>
                                        </p:tgtEl>
                                        <p:attrNameLst>
                                          <p:attrName>ppt_x</p:attrName>
                                        </p:attrNameLst>
                                      </p:cBhvr>
                                      <p:tavLst>
                                        <p:tav tm="0">
                                          <p:val>
                                            <p:strVal val="1+#ppt_w/2"/>
                                          </p:val>
                                        </p:tav>
                                        <p:tav tm="100000">
                                          <p:val>
                                            <p:strVal val="#ppt_x"/>
                                          </p:val>
                                        </p:tav>
                                      </p:tavLst>
                                    </p:anim>
                                    <p:anim calcmode="lin" valueType="num">
                                      <p:cBhvr additive="base">
                                        <p:cTn id="33"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ppt_x"/>
                                          </p:val>
                                        </p:tav>
                                        <p:tav tm="100000">
                                          <p:val>
                                            <p:strVal val="#ppt_x"/>
                                          </p:val>
                                        </p:tav>
                                      </p:tavLst>
                                    </p:anim>
                                    <p:anim calcmode="lin" valueType="num">
                                      <p:cBhvr additive="base">
                                        <p:cTn id="3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2" grpId="0" autoUpdateAnimBg="0"/>
      <p:bldP spid="130054" grpId="0" autoUpdateAnimBg="0"/>
      <p:bldP spid="130055" grpId="0" autoUpdateAnimBg="0"/>
      <p:bldP spid="13"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BC38DDA6-F3F6-45FD-87FD-34F3F0A9069C}" type="slidenum">
              <a:rPr lang="en-US" altLang="zh-CN" sz="2000" smtClean="0">
                <a:solidFill>
                  <a:srgbClr val="0000FF"/>
                </a:solidFill>
              </a:rPr>
              <a:pPr eaLnBrk="1" hangingPunct="1"/>
              <a:t>34</a:t>
            </a:fld>
            <a:endParaRPr lang="en-US" altLang="zh-CN" sz="2000" smtClean="0">
              <a:solidFill>
                <a:srgbClr val="0000FF"/>
              </a:solidFill>
            </a:endParaRPr>
          </a:p>
        </p:txBody>
      </p:sp>
      <p:sp>
        <p:nvSpPr>
          <p:cNvPr id="131076" name="Text Box 4"/>
          <p:cNvSpPr txBox="1">
            <a:spLocks noChangeArrowheads="1"/>
          </p:cNvSpPr>
          <p:nvPr/>
        </p:nvSpPr>
        <p:spPr bwMode="auto">
          <a:xfrm>
            <a:off x="611560" y="5095905"/>
            <a:ext cx="7920880" cy="9048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FF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200" dirty="0"/>
              <a:t>        </a:t>
            </a:r>
            <a:r>
              <a:rPr lang="zh-CN" altLang="en-US" sz="2200" b="1" dirty="0"/>
              <a:t>位置公差带能把同一被测要素的</a:t>
            </a:r>
            <a:r>
              <a:rPr lang="zh-CN" altLang="en-US" sz="2200" b="1" dirty="0">
                <a:solidFill>
                  <a:srgbClr val="FF0000"/>
                </a:solidFill>
              </a:rPr>
              <a:t>形状误差和方向误差控制在位置公差带区域内</a:t>
            </a:r>
            <a:r>
              <a:rPr lang="zh-CN" altLang="en-US" sz="2200" b="1" dirty="0" smtClean="0"/>
              <a:t>。</a:t>
            </a:r>
            <a:endParaRPr lang="zh-CN" altLang="en-US" sz="2200" b="1" dirty="0"/>
          </a:p>
        </p:txBody>
      </p:sp>
      <p:pic>
        <p:nvPicPr>
          <p:cNvPr id="22" name="Picture 3"/>
          <p:cNvPicPr>
            <a:picLocks noChangeAspect="1" noChangeArrowheads="1"/>
          </p:cNvPicPr>
          <p:nvPr/>
        </p:nvPicPr>
        <p:blipFill>
          <a:blip r:embed="rId2">
            <a:extLst>
              <a:ext uri="{28A0092B-C50C-407E-A947-70E740481C1C}">
                <a14:useLocalDpi xmlns:a14="http://schemas.microsoft.com/office/drawing/2010/main" xmlns="" val="0"/>
              </a:ext>
            </a:extLst>
          </a:blip>
          <a:srcRect b="12975"/>
          <a:stretch>
            <a:fillRect/>
          </a:stretch>
        </p:blipFill>
        <p:spPr bwMode="auto">
          <a:xfrm>
            <a:off x="3857620" y="1428736"/>
            <a:ext cx="4143404" cy="35719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Rectangle 10"/>
          <p:cNvSpPr>
            <a:spLocks noChangeArrowheads="1"/>
          </p:cNvSpPr>
          <p:nvPr/>
        </p:nvSpPr>
        <p:spPr bwMode="auto">
          <a:xfrm>
            <a:off x="857224" y="1006940"/>
            <a:ext cx="4286280" cy="1421928"/>
          </a:xfrm>
          <a:prstGeom prst="rect">
            <a:avLst/>
          </a:prstGeom>
          <a:solidFill>
            <a:srgbClr val="FFFFCC"/>
          </a:solidFill>
          <a:effectLst>
            <a:outerShdw blurRad="50800" dist="38100" dir="5400000" algn="t" rotWithShape="0">
              <a:prstClr val="black">
                <a:alpha val="40000"/>
              </a:prstClr>
            </a:outerShdw>
          </a:effectLst>
          <a:extLst>
            <a:ext uri="{91240B29-F687-4F45-9708-019B960494DF}">
              <a14:hiddenLine xmlns:a14="http://schemas.microsoft.com/office/drawing/2010/main" xmlns="" w="9525">
                <a:solidFill>
                  <a:schemeClr val="tx1"/>
                </a:solidFill>
                <a:miter lim="800000"/>
                <a:headEnd/>
                <a:tailEnd/>
              </a14:hiddenLine>
            </a:ext>
          </a:extLst>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0000"/>
              </a:lnSpc>
            </a:pPr>
            <a:r>
              <a:rPr lang="zh-CN" altLang="en-US" b="1" dirty="0" smtClean="0"/>
              <a:t>应遵守</a:t>
            </a:r>
            <a:endParaRPr lang="en-US" altLang="zh-CN" b="1" dirty="0" smtClean="0"/>
          </a:p>
          <a:p>
            <a:pPr>
              <a:lnSpc>
                <a:spcPct val="120000"/>
              </a:lnSpc>
            </a:pPr>
            <a:r>
              <a:rPr lang="zh-CN" altLang="en-US" b="1" dirty="0" smtClean="0">
                <a:solidFill>
                  <a:srgbClr val="FF0000"/>
                </a:solidFill>
                <a:effectLst>
                  <a:outerShdw blurRad="38100" dist="38100" dir="2700000" algn="tl">
                    <a:srgbClr val="000000">
                      <a:alpha val="43137"/>
                    </a:srgbClr>
                  </a:outerShdw>
                </a:effectLst>
              </a:rPr>
              <a:t>形状公差</a:t>
            </a:r>
            <a:r>
              <a:rPr lang="en-US" altLang="zh-CN" b="1" dirty="0" smtClean="0">
                <a:solidFill>
                  <a:srgbClr val="FF0000"/>
                </a:solidFill>
                <a:effectLst>
                  <a:outerShdw blurRad="38100" dist="38100" dir="2700000" algn="tl">
                    <a:srgbClr val="000000">
                      <a:alpha val="43137"/>
                    </a:srgbClr>
                  </a:outerShdw>
                </a:effectLst>
              </a:rPr>
              <a:t>&lt;</a:t>
            </a:r>
            <a:r>
              <a:rPr lang="zh-CN" altLang="en-US" b="1" dirty="0" smtClean="0">
                <a:solidFill>
                  <a:srgbClr val="FF0000"/>
                </a:solidFill>
                <a:effectLst>
                  <a:outerShdw blurRad="38100" dist="38100" dir="2700000" algn="tl">
                    <a:srgbClr val="000000">
                      <a:alpha val="43137"/>
                    </a:srgbClr>
                  </a:outerShdw>
                </a:effectLst>
              </a:rPr>
              <a:t>方向公差</a:t>
            </a:r>
            <a:r>
              <a:rPr lang="en-US" altLang="zh-CN" b="1" dirty="0" smtClean="0">
                <a:solidFill>
                  <a:srgbClr val="FF0000"/>
                </a:solidFill>
                <a:effectLst>
                  <a:outerShdw blurRad="38100" dist="38100" dir="2700000" algn="tl">
                    <a:srgbClr val="000000">
                      <a:alpha val="43137"/>
                    </a:srgbClr>
                  </a:outerShdw>
                </a:effectLst>
              </a:rPr>
              <a:t>&lt;</a:t>
            </a:r>
            <a:r>
              <a:rPr lang="zh-CN" altLang="en-US" b="1" dirty="0" smtClean="0">
                <a:solidFill>
                  <a:srgbClr val="FF0000"/>
                </a:solidFill>
                <a:effectLst>
                  <a:outerShdw blurRad="38100" dist="38100" dir="2700000" algn="tl">
                    <a:srgbClr val="000000">
                      <a:alpha val="43137"/>
                    </a:srgbClr>
                  </a:outerShdw>
                </a:effectLst>
              </a:rPr>
              <a:t>位置公差</a:t>
            </a:r>
            <a:endParaRPr lang="en-US" altLang="zh-CN" b="1" dirty="0" smtClean="0">
              <a:solidFill>
                <a:srgbClr val="FF0000"/>
              </a:solidFill>
              <a:effectLst>
                <a:outerShdw blurRad="38100" dist="38100" dir="2700000" algn="tl">
                  <a:srgbClr val="000000">
                    <a:alpha val="43137"/>
                  </a:srgbClr>
                </a:outerShdw>
              </a:effectLst>
            </a:endParaRPr>
          </a:p>
          <a:p>
            <a:pPr>
              <a:lnSpc>
                <a:spcPct val="120000"/>
              </a:lnSpc>
            </a:pPr>
            <a:r>
              <a:rPr lang="zh-CN" altLang="en-US" b="1" dirty="0" smtClean="0"/>
              <a:t>的</a:t>
            </a:r>
            <a:r>
              <a:rPr lang="zh-CN" altLang="en-US" b="1" dirty="0"/>
              <a:t>原则</a:t>
            </a:r>
            <a:r>
              <a:rPr lang="zh-CN" altLang="en-US" b="1" dirty="0" smtClean="0"/>
              <a:t>。</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1076"/>
                                        </p:tgtEl>
                                        <p:attrNameLst>
                                          <p:attrName>style.visibility</p:attrName>
                                        </p:attrNameLst>
                                      </p:cBhvr>
                                      <p:to>
                                        <p:strVal val="visible"/>
                                      </p:to>
                                    </p:set>
                                    <p:animEffect transition="in" filter="wipe(left)">
                                      <p:cBhvr>
                                        <p:cTn id="7" dur="500"/>
                                        <p:tgtEl>
                                          <p:spTgt spid="13107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additive="base">
                                        <p:cTn id="12" dur="500" fill="hold"/>
                                        <p:tgtEl>
                                          <p:spTgt spid="22"/>
                                        </p:tgtEl>
                                        <p:attrNameLst>
                                          <p:attrName>ppt_x</p:attrName>
                                        </p:attrNameLst>
                                      </p:cBhvr>
                                      <p:tavLst>
                                        <p:tav tm="0">
                                          <p:val>
                                            <p:strVal val="#ppt_x"/>
                                          </p:val>
                                        </p:tav>
                                        <p:tav tm="100000">
                                          <p:val>
                                            <p:strVal val="#ppt_x"/>
                                          </p:val>
                                        </p:tav>
                                      </p:tavLst>
                                    </p:anim>
                                    <p:anim calcmode="lin" valueType="num">
                                      <p:cBhvr additive="base">
                                        <p:cTn id="1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6" grpId="0" autoUpdateAnimBg="0"/>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FD56C00-4EA6-4FD5-BE2D-7CA761875ECC}" type="slidenum">
              <a:rPr lang="en-US" altLang="zh-CN" sz="2000" smtClean="0">
                <a:solidFill>
                  <a:srgbClr val="0000FF"/>
                </a:solidFill>
              </a:rPr>
              <a:pPr eaLnBrk="1" hangingPunct="1"/>
              <a:t>35</a:t>
            </a:fld>
            <a:endParaRPr lang="en-US" altLang="zh-CN" sz="2000" smtClean="0">
              <a:solidFill>
                <a:srgbClr val="0000FF"/>
              </a:solidFill>
            </a:endParaRPr>
          </a:p>
        </p:txBody>
      </p:sp>
      <p:sp>
        <p:nvSpPr>
          <p:cNvPr id="132101" name="Text Box 5"/>
          <p:cNvSpPr txBox="1">
            <a:spLocks noChangeArrowheads="1"/>
          </p:cNvSpPr>
          <p:nvPr/>
        </p:nvSpPr>
        <p:spPr bwMode="auto">
          <a:xfrm>
            <a:off x="539553" y="164637"/>
            <a:ext cx="3444875"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4.  </a:t>
            </a:r>
            <a:r>
              <a:rPr lang="zh-CN" altLang="en-US" b="1" dirty="0"/>
              <a:t>轮廓度公差带</a:t>
            </a:r>
          </a:p>
        </p:txBody>
      </p:sp>
      <p:sp>
        <p:nvSpPr>
          <p:cNvPr id="132103" name="Text Box 7"/>
          <p:cNvSpPr txBox="1">
            <a:spLocks noChangeArrowheads="1"/>
          </p:cNvSpPr>
          <p:nvPr/>
        </p:nvSpPr>
        <p:spPr bwMode="auto">
          <a:xfrm>
            <a:off x="1403648" y="1508787"/>
            <a:ext cx="657229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轮廓度公差带是控制被测要素为曲线或曲面。</a:t>
            </a:r>
          </a:p>
        </p:txBody>
      </p:sp>
      <p:sp>
        <p:nvSpPr>
          <p:cNvPr id="132104" name="Text Box 8"/>
          <p:cNvSpPr txBox="1">
            <a:spLocks noChangeArrowheads="1"/>
          </p:cNvSpPr>
          <p:nvPr/>
        </p:nvSpPr>
        <p:spPr bwMode="auto">
          <a:xfrm>
            <a:off x="878806" y="2301151"/>
            <a:ext cx="7000924" cy="93634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b="1" dirty="0">
                <a:solidFill>
                  <a:srgbClr val="FF0000"/>
                </a:solidFill>
              </a:rPr>
              <a:t>       </a:t>
            </a:r>
            <a:r>
              <a:rPr lang="zh-CN" altLang="en-US" b="1" dirty="0"/>
              <a:t>轮廓度公差分</a:t>
            </a:r>
            <a:r>
              <a:rPr lang="zh-CN" altLang="en-US" b="1" dirty="0">
                <a:solidFill>
                  <a:srgbClr val="FF0000"/>
                </a:solidFill>
              </a:rPr>
              <a:t>线轮廓度</a:t>
            </a:r>
            <a:r>
              <a:rPr lang="zh-CN" altLang="en-US" b="1" dirty="0"/>
              <a:t>和</a:t>
            </a:r>
            <a:r>
              <a:rPr lang="zh-CN" altLang="en-US" b="1" dirty="0">
                <a:solidFill>
                  <a:srgbClr val="FF0000"/>
                </a:solidFill>
              </a:rPr>
              <a:t>面轮廓度</a:t>
            </a:r>
            <a:r>
              <a:rPr lang="zh-CN" altLang="en-US" b="1" dirty="0"/>
              <a:t>公差两种几何特征</a:t>
            </a:r>
            <a:r>
              <a:rPr lang="zh-CN" altLang="en-US" dirty="0"/>
              <a:t>。</a:t>
            </a:r>
          </a:p>
        </p:txBody>
      </p:sp>
      <p:sp>
        <p:nvSpPr>
          <p:cNvPr id="132105" name="Text Box 9"/>
          <p:cNvSpPr txBox="1">
            <a:spLocks noChangeArrowheads="1"/>
          </p:cNvSpPr>
          <p:nvPr/>
        </p:nvSpPr>
        <p:spPr bwMode="auto">
          <a:xfrm>
            <a:off x="807368" y="3664466"/>
            <a:ext cx="7143800" cy="11302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dirty="0"/>
              <a:t>        </a:t>
            </a:r>
            <a:r>
              <a:rPr lang="zh-CN" altLang="en-US" b="1" dirty="0"/>
              <a:t>无基准要求的轮廓度公差为形状公差，有基准</a:t>
            </a:r>
            <a:r>
              <a:rPr lang="zh-CN" altLang="en-US" b="1" dirty="0" smtClean="0"/>
              <a:t>要求的为</a:t>
            </a:r>
            <a:r>
              <a:rPr lang="zh-CN" altLang="en-US" b="1" dirty="0"/>
              <a:t>方向公差或位置公差。</a:t>
            </a:r>
          </a:p>
        </p:txBody>
      </p:sp>
      <p:cxnSp>
        <p:nvCxnSpPr>
          <p:cNvPr id="7" name="直接连接符 6"/>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2101"/>
                                        </p:tgtEl>
                                        <p:attrNameLst>
                                          <p:attrName>style.visibility</p:attrName>
                                        </p:attrNameLst>
                                      </p:cBhvr>
                                      <p:to>
                                        <p:strVal val="visible"/>
                                      </p:to>
                                    </p:set>
                                    <p:animEffect transition="in" filter="wipe(left)">
                                      <p:cBhvr>
                                        <p:cTn id="7" dur="300"/>
                                        <p:tgtEl>
                                          <p:spTgt spid="1321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32103"/>
                                        </p:tgtEl>
                                        <p:attrNameLst>
                                          <p:attrName>style.visibility</p:attrName>
                                        </p:attrNameLst>
                                      </p:cBhvr>
                                      <p:to>
                                        <p:strVal val="visible"/>
                                      </p:to>
                                    </p:set>
                                    <p:animEffect transition="in" filter="wipe(left)">
                                      <p:cBhvr>
                                        <p:cTn id="12" dur="300"/>
                                        <p:tgtEl>
                                          <p:spTgt spid="1321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32104"/>
                                        </p:tgtEl>
                                        <p:attrNameLst>
                                          <p:attrName>style.visibility</p:attrName>
                                        </p:attrNameLst>
                                      </p:cBhvr>
                                      <p:to>
                                        <p:strVal val="visible"/>
                                      </p:to>
                                    </p:set>
                                    <p:animEffect transition="in" filter="wipe(left)">
                                      <p:cBhvr>
                                        <p:cTn id="17" dur="300"/>
                                        <p:tgtEl>
                                          <p:spTgt spid="13210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32105"/>
                                        </p:tgtEl>
                                        <p:attrNameLst>
                                          <p:attrName>style.visibility</p:attrName>
                                        </p:attrNameLst>
                                      </p:cBhvr>
                                      <p:to>
                                        <p:strVal val="visible"/>
                                      </p:to>
                                    </p:set>
                                    <p:animEffect transition="in" filter="wipe(left)">
                                      <p:cBhvr>
                                        <p:cTn id="22" dur="300"/>
                                        <p:tgtEl>
                                          <p:spTgt spid="132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autoUpdateAnimBg="0"/>
      <p:bldP spid="132103" grpId="0" autoUpdateAnimBg="0"/>
      <p:bldP spid="132104" grpId="0" autoUpdateAnimBg="0"/>
      <p:bldP spid="132105"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76A45F9-7241-4256-813D-0835D083164D}" type="slidenum">
              <a:rPr lang="en-US" altLang="zh-CN" sz="2000" smtClean="0">
                <a:solidFill>
                  <a:srgbClr val="0000FF"/>
                </a:solidFill>
              </a:rPr>
              <a:pPr eaLnBrk="1" hangingPunct="1"/>
              <a:t>36</a:t>
            </a:fld>
            <a:endParaRPr lang="en-US" altLang="zh-CN" sz="2000" smtClean="0">
              <a:solidFill>
                <a:srgbClr val="0000FF"/>
              </a:solidFill>
            </a:endParaRPr>
          </a:p>
        </p:txBody>
      </p:sp>
      <p:sp>
        <p:nvSpPr>
          <p:cNvPr id="134150" name="Text Box 6"/>
          <p:cNvSpPr txBox="1">
            <a:spLocks noChangeArrowheads="1"/>
          </p:cNvSpPr>
          <p:nvPr/>
        </p:nvSpPr>
        <p:spPr bwMode="auto">
          <a:xfrm>
            <a:off x="642910" y="4786322"/>
            <a:ext cx="3747836" cy="1534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smtClean="0"/>
              <a:t>公差带</a:t>
            </a:r>
            <a:r>
              <a:rPr lang="zh-CN" altLang="en-US" sz="2000" b="1" dirty="0"/>
              <a:t>为直径等于公差值</a:t>
            </a:r>
            <a:r>
              <a:rPr lang="zh-CN" altLang="en-US" sz="2000" b="1" i="1" dirty="0"/>
              <a:t> </a:t>
            </a:r>
            <a:r>
              <a:rPr lang="en-US" altLang="zh-CN" sz="2000" b="1" i="1" dirty="0"/>
              <a:t>t</a:t>
            </a:r>
            <a:r>
              <a:rPr lang="zh-CN" altLang="en-US" sz="2000" b="1" i="1" dirty="0"/>
              <a:t>、</a:t>
            </a:r>
            <a:r>
              <a:rPr lang="zh-CN" altLang="en-US" sz="2000" b="1" dirty="0"/>
              <a:t>圆心位于具有理论正确几何形状上的一系列圆的两包络线所限定的</a:t>
            </a:r>
            <a:r>
              <a:rPr lang="zh-CN" altLang="en-US" sz="2000" b="1" dirty="0" smtClean="0"/>
              <a:t>区域。 </a:t>
            </a:r>
            <a:endParaRPr lang="zh-CN" altLang="en-US" sz="2000" b="1" dirty="0"/>
          </a:p>
        </p:txBody>
      </p:sp>
      <p:sp>
        <p:nvSpPr>
          <p:cNvPr id="134153" name="Text Box 9"/>
          <p:cNvSpPr txBox="1">
            <a:spLocks noChangeArrowheads="1"/>
          </p:cNvSpPr>
          <p:nvPr/>
        </p:nvSpPr>
        <p:spPr bwMode="auto">
          <a:xfrm>
            <a:off x="441327" y="152400"/>
            <a:ext cx="4130675"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(1) </a:t>
            </a:r>
            <a:r>
              <a:rPr lang="zh-CN" altLang="en-US" b="1" dirty="0"/>
              <a:t>线轮廓度公差带</a:t>
            </a:r>
          </a:p>
        </p:txBody>
      </p:sp>
      <p:sp>
        <p:nvSpPr>
          <p:cNvPr id="134155" name="Text Box 11"/>
          <p:cNvSpPr txBox="1">
            <a:spLocks noChangeArrowheads="1"/>
          </p:cNvSpPr>
          <p:nvPr/>
        </p:nvSpPr>
        <p:spPr bwMode="auto">
          <a:xfrm>
            <a:off x="467544" y="740701"/>
            <a:ext cx="506253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t>①  </a:t>
            </a:r>
            <a:r>
              <a:rPr lang="zh-CN" altLang="en-US" sz="2000" b="1" dirty="0"/>
              <a:t>无基准的线轮廓度公差带</a:t>
            </a:r>
          </a:p>
        </p:txBody>
      </p:sp>
      <p:cxnSp>
        <p:nvCxnSpPr>
          <p:cNvPr id="11" name="直接连接符 10"/>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pic>
        <p:nvPicPr>
          <p:cNvPr id="1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42909" y="2571744"/>
            <a:ext cx="3633815" cy="20002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14876" y="2285992"/>
            <a:ext cx="3357586" cy="19046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 name="Picture 5"/>
          <p:cNvPicPr>
            <a:picLocks noChangeAspect="1" noChangeArrowheads="1"/>
          </p:cNvPicPr>
          <p:nvPr/>
        </p:nvPicPr>
        <p:blipFill>
          <a:blip r:embed="rId4">
            <a:extLst>
              <a:ext uri="{28A0092B-C50C-407E-A947-70E740481C1C}">
                <a14:useLocalDpi xmlns:a14="http://schemas.microsoft.com/office/drawing/2010/main" xmlns="" val="0"/>
              </a:ext>
            </a:extLst>
          </a:blip>
          <a:srcRect b="12549"/>
          <a:stretch>
            <a:fillRect/>
          </a:stretch>
        </p:blipFill>
        <p:spPr bwMode="auto">
          <a:xfrm>
            <a:off x="4714876" y="4286256"/>
            <a:ext cx="3096344" cy="22145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7" name="矩形 16"/>
          <p:cNvSpPr/>
          <p:nvPr/>
        </p:nvSpPr>
        <p:spPr>
          <a:xfrm>
            <a:off x="571472" y="1105429"/>
            <a:ext cx="7960398" cy="1323439"/>
          </a:xfrm>
          <a:prstGeom prst="rect">
            <a:avLst/>
          </a:prstGeom>
        </p:spPr>
        <p:txBody>
          <a:bodyPr wrap="square">
            <a:spAutoFit/>
          </a:bodyPr>
          <a:lstStyle/>
          <a:p>
            <a:r>
              <a:rPr lang="zh-CN" altLang="en-US" sz="2000" b="1" dirty="0" smtClean="0"/>
              <a:t>         在</a:t>
            </a:r>
            <a:r>
              <a:rPr lang="zh-CN" altLang="en-US" sz="2000" b="1" dirty="0"/>
              <a:t>任一平行于基准平面</a:t>
            </a:r>
            <a:r>
              <a:rPr lang="en-US" altLang="zh-CN" sz="2000" b="1" i="1" dirty="0"/>
              <a:t>A </a:t>
            </a:r>
            <a:r>
              <a:rPr lang="zh-CN" altLang="en-US" sz="2000" b="1" dirty="0"/>
              <a:t>的截面内</a:t>
            </a:r>
            <a:r>
              <a:rPr lang="en-US" altLang="zh-CN" sz="2000" b="1" dirty="0"/>
              <a:t>,</a:t>
            </a:r>
            <a:r>
              <a:rPr lang="zh-CN" altLang="en-US" sz="2000" b="1" dirty="0"/>
              <a:t>如</a:t>
            </a:r>
            <a:r>
              <a:rPr lang="zh-CN" altLang="en-US" sz="2000" b="1" dirty="0">
                <a:solidFill>
                  <a:srgbClr val="FF0000"/>
                </a:solidFill>
              </a:rPr>
              <a:t>相交平面</a:t>
            </a:r>
            <a:r>
              <a:rPr lang="zh-CN" altLang="en-US" sz="2000" b="1" dirty="0"/>
              <a:t>框格所</a:t>
            </a:r>
            <a:r>
              <a:rPr lang="zh-CN" altLang="en-US" sz="2000" b="1" dirty="0" smtClean="0"/>
              <a:t>规定的，提取</a:t>
            </a:r>
            <a:r>
              <a:rPr lang="en-US" altLang="zh-CN" sz="2000" b="1" dirty="0" smtClean="0"/>
              <a:t>(</a:t>
            </a:r>
            <a:r>
              <a:rPr lang="zh-CN" altLang="en-US" sz="2000" b="1" dirty="0"/>
              <a:t>实际</a:t>
            </a:r>
            <a:r>
              <a:rPr lang="en-US" altLang="zh-CN" sz="2000" b="1" dirty="0"/>
              <a:t>) </a:t>
            </a:r>
            <a:r>
              <a:rPr lang="zh-CN" altLang="en-US" sz="2000" b="1" dirty="0"/>
              <a:t>轮廓线应限定在直径等于</a:t>
            </a:r>
            <a:r>
              <a:rPr lang="en-US" altLang="zh-CN" sz="2000" b="1" dirty="0"/>
              <a:t>0. </a:t>
            </a:r>
            <a:r>
              <a:rPr lang="en-US" altLang="zh-CN" sz="2000" b="1" dirty="0" smtClean="0"/>
              <a:t>04</a:t>
            </a:r>
            <a:r>
              <a:rPr lang="zh-CN" altLang="en-US" sz="2000" b="1" dirty="0" smtClean="0"/>
              <a:t>，圆心位于理论</a:t>
            </a:r>
            <a:r>
              <a:rPr lang="zh-CN" altLang="en-US" sz="2000" b="1" dirty="0"/>
              <a:t>正确几何形状上的一系列圆的两等距包络线之间。</a:t>
            </a:r>
            <a:r>
              <a:rPr lang="zh-CN" altLang="en-US" sz="2000" b="1" dirty="0" smtClean="0"/>
              <a:t>可使用</a:t>
            </a:r>
            <a:r>
              <a:rPr lang="en-US" altLang="zh-CN" sz="2000" b="1" dirty="0"/>
              <a:t>UF </a:t>
            </a:r>
            <a:r>
              <a:rPr lang="zh-CN" altLang="en-US" sz="2000" b="1" dirty="0"/>
              <a:t>表示组合要素上的三个圆弧部分应组成联合</a:t>
            </a:r>
            <a:r>
              <a:rPr lang="zh-CN" altLang="en-US" sz="2000" b="1" dirty="0" smtClean="0"/>
              <a:t>要素。</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4153"/>
                                        </p:tgtEl>
                                        <p:attrNameLst>
                                          <p:attrName>style.visibility</p:attrName>
                                        </p:attrNameLst>
                                      </p:cBhvr>
                                      <p:to>
                                        <p:strVal val="visible"/>
                                      </p:to>
                                    </p:set>
                                    <p:animEffect transition="in" filter="wipe(left)">
                                      <p:cBhvr>
                                        <p:cTn id="7" dur="300"/>
                                        <p:tgtEl>
                                          <p:spTgt spid="1341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34155"/>
                                        </p:tgtEl>
                                        <p:attrNameLst>
                                          <p:attrName>style.visibility</p:attrName>
                                        </p:attrNameLst>
                                      </p:cBhvr>
                                      <p:to>
                                        <p:strVal val="visible"/>
                                      </p:to>
                                    </p:set>
                                    <p:animEffect transition="in" filter="wipe(left)">
                                      <p:cBhvr>
                                        <p:cTn id="12" dur="300"/>
                                        <p:tgtEl>
                                          <p:spTgt spid="1341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34150"/>
                                        </p:tgtEl>
                                        <p:attrNameLst>
                                          <p:attrName>style.visibility</p:attrName>
                                        </p:attrNameLst>
                                      </p:cBhvr>
                                      <p:to>
                                        <p:strVal val="visible"/>
                                      </p:to>
                                    </p:set>
                                    <p:animEffect transition="in" filter="wipe(left)">
                                      <p:cBhvr>
                                        <p:cTn id="17" dur="300"/>
                                        <p:tgtEl>
                                          <p:spTgt spid="13415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0-#ppt_w/2"/>
                                          </p:val>
                                        </p:tav>
                                        <p:tav tm="100000">
                                          <p:val>
                                            <p:strVal val="#ppt_x"/>
                                          </p:val>
                                        </p:tav>
                                      </p:tavLst>
                                    </p:anim>
                                    <p:anim calcmode="lin" valueType="num">
                                      <p:cBhvr additive="base">
                                        <p:cTn id="23"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1+#ppt_w/2"/>
                                          </p:val>
                                        </p:tav>
                                        <p:tav tm="100000">
                                          <p:val>
                                            <p:strVal val="#ppt_x"/>
                                          </p:val>
                                        </p:tav>
                                      </p:tavLst>
                                    </p:anim>
                                    <p:anim calcmode="lin" valueType="num">
                                      <p:cBhvr additive="base">
                                        <p:cTn id="29"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fill="hold"/>
                                        <p:tgtEl>
                                          <p:spTgt spid="16"/>
                                        </p:tgtEl>
                                        <p:attrNameLst>
                                          <p:attrName>ppt_x</p:attrName>
                                        </p:attrNameLst>
                                      </p:cBhvr>
                                      <p:tavLst>
                                        <p:tav tm="0">
                                          <p:val>
                                            <p:strVal val="#ppt_x"/>
                                          </p:val>
                                        </p:tav>
                                        <p:tav tm="100000">
                                          <p:val>
                                            <p:strVal val="#ppt_x"/>
                                          </p:val>
                                        </p:tav>
                                      </p:tavLst>
                                    </p:anim>
                                    <p:anim calcmode="lin" valueType="num">
                                      <p:cBhvr additive="base">
                                        <p:cTn id="3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up)">
                                      <p:cBhvr>
                                        <p:cTn id="4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0" grpId="0" autoUpdateAnimBg="0"/>
      <p:bldP spid="134153" grpId="0" autoUpdateAnimBg="0"/>
      <p:bldP spid="134155" grpId="0" autoUpdateAnimBg="0"/>
      <p:bldP spid="1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C2306F9-590B-461A-812E-CACF1C8328C2}" type="slidenum">
              <a:rPr lang="en-US" altLang="zh-CN" sz="2000" smtClean="0">
                <a:solidFill>
                  <a:srgbClr val="0000FF"/>
                </a:solidFill>
              </a:rPr>
              <a:pPr eaLnBrk="1" hangingPunct="1"/>
              <a:t>37</a:t>
            </a:fld>
            <a:endParaRPr lang="en-US" altLang="zh-CN" sz="2000" smtClean="0">
              <a:solidFill>
                <a:srgbClr val="0000FF"/>
              </a:solidFill>
            </a:endParaRPr>
          </a:p>
        </p:txBody>
      </p:sp>
      <p:sp>
        <p:nvSpPr>
          <p:cNvPr id="135172" name="Text Box 4"/>
          <p:cNvSpPr txBox="1">
            <a:spLocks noChangeArrowheads="1"/>
          </p:cNvSpPr>
          <p:nvPr/>
        </p:nvSpPr>
        <p:spPr bwMode="auto">
          <a:xfrm>
            <a:off x="500034" y="4643446"/>
            <a:ext cx="4586318" cy="13234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smtClean="0"/>
              <a:t>公差带</a:t>
            </a:r>
            <a:r>
              <a:rPr lang="zh-CN" altLang="en-US" sz="2000" b="1" dirty="0"/>
              <a:t>为直径等于公差值</a:t>
            </a:r>
            <a:r>
              <a:rPr lang="zh-CN" altLang="en-US" sz="2000" b="1" i="1" dirty="0"/>
              <a:t> </a:t>
            </a:r>
            <a:r>
              <a:rPr lang="en-US" altLang="zh-CN" sz="2000" b="1" i="1" dirty="0"/>
              <a:t>t</a:t>
            </a:r>
            <a:r>
              <a:rPr lang="zh-CN" altLang="en-US" sz="2000" b="1" i="1" dirty="0"/>
              <a:t>、</a:t>
            </a:r>
            <a:r>
              <a:rPr lang="zh-CN" altLang="en-US" sz="2000" b="1" dirty="0"/>
              <a:t>圆心位于由基准平面</a:t>
            </a:r>
            <a:r>
              <a:rPr lang="en-US" altLang="zh-CN" sz="2000" b="1" i="1" dirty="0"/>
              <a:t>A</a:t>
            </a:r>
            <a:r>
              <a:rPr lang="zh-CN" altLang="en-US" sz="2000" b="1" dirty="0"/>
              <a:t>和基准平面</a:t>
            </a:r>
            <a:r>
              <a:rPr lang="en-US" altLang="zh-CN" sz="2000" b="1" i="1" dirty="0"/>
              <a:t>B</a:t>
            </a:r>
            <a:r>
              <a:rPr lang="zh-CN" altLang="en-US" sz="2000" b="1" dirty="0"/>
              <a:t>确定的被测要素理论正确几何形状上的一系列圆的两包络线所限定的</a:t>
            </a:r>
            <a:r>
              <a:rPr lang="zh-CN" altLang="en-US" sz="2000" b="1" dirty="0" smtClean="0"/>
              <a:t>区域。</a:t>
            </a:r>
            <a:endParaRPr lang="zh-CN" altLang="en-US" sz="2000" b="1" dirty="0"/>
          </a:p>
        </p:txBody>
      </p:sp>
      <p:sp>
        <p:nvSpPr>
          <p:cNvPr id="135175" name="Text Box 7"/>
          <p:cNvSpPr txBox="1">
            <a:spLocks noChangeArrowheads="1"/>
          </p:cNvSpPr>
          <p:nvPr/>
        </p:nvSpPr>
        <p:spPr bwMode="auto">
          <a:xfrm>
            <a:off x="425460" y="785794"/>
            <a:ext cx="55753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t>② </a:t>
            </a:r>
            <a:r>
              <a:rPr lang="zh-CN" altLang="en-US" sz="2000" b="1" dirty="0"/>
              <a:t>有基准的线轮廓度公差带</a:t>
            </a:r>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 Box 9"/>
          <p:cNvSpPr txBox="1">
            <a:spLocks noChangeArrowheads="1"/>
          </p:cNvSpPr>
          <p:nvPr/>
        </p:nvSpPr>
        <p:spPr bwMode="auto">
          <a:xfrm>
            <a:off x="441327" y="152400"/>
            <a:ext cx="4130675"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(1) </a:t>
            </a:r>
            <a:r>
              <a:rPr lang="zh-CN" altLang="en-US" b="1" dirty="0"/>
              <a:t>线轮廓度公差带</a:t>
            </a:r>
          </a:p>
        </p:txBody>
      </p:sp>
      <p:pic>
        <p:nvPicPr>
          <p:cNvPr id="1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81420" y="2500305"/>
            <a:ext cx="3290699" cy="17729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870546" y="2350145"/>
            <a:ext cx="3092060" cy="19872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6" name="矩形 15"/>
          <p:cNvSpPr/>
          <p:nvPr/>
        </p:nvSpPr>
        <p:spPr>
          <a:xfrm>
            <a:off x="611560" y="1105429"/>
            <a:ext cx="8032406" cy="1323439"/>
          </a:xfrm>
          <a:prstGeom prst="rect">
            <a:avLst/>
          </a:prstGeom>
        </p:spPr>
        <p:txBody>
          <a:bodyPr wrap="square">
            <a:spAutoFit/>
          </a:bodyPr>
          <a:lstStyle/>
          <a:p>
            <a:r>
              <a:rPr lang="zh-CN" altLang="en-US" sz="2000" b="1" dirty="0" smtClean="0"/>
              <a:t>           在</a:t>
            </a:r>
            <a:r>
              <a:rPr lang="zh-CN" altLang="en-US" sz="2000" b="1" dirty="0"/>
              <a:t>任一由</a:t>
            </a:r>
            <a:r>
              <a:rPr lang="zh-CN" altLang="en-US" sz="2000" b="1" dirty="0">
                <a:solidFill>
                  <a:srgbClr val="FF0000"/>
                </a:solidFill>
              </a:rPr>
              <a:t>相交平面框格</a:t>
            </a:r>
            <a:r>
              <a:rPr lang="zh-CN" altLang="en-US" sz="2000" b="1" dirty="0"/>
              <a:t>规定的平行于基准平面</a:t>
            </a:r>
            <a:r>
              <a:rPr lang="en-US" altLang="zh-CN" sz="2000" b="1" i="1" dirty="0"/>
              <a:t>A </a:t>
            </a:r>
            <a:r>
              <a:rPr lang="zh-CN" altLang="en-US" sz="2000" b="1" dirty="0"/>
              <a:t>的</a:t>
            </a:r>
            <a:r>
              <a:rPr lang="zh-CN" altLang="en-US" sz="2000" b="1" dirty="0" smtClean="0"/>
              <a:t>截面内，提取</a:t>
            </a:r>
            <a:r>
              <a:rPr lang="en-US" altLang="zh-CN" sz="2000" b="1" dirty="0"/>
              <a:t>(</a:t>
            </a:r>
            <a:r>
              <a:rPr lang="zh-CN" altLang="en-US" sz="2000" b="1" dirty="0"/>
              <a:t>实际</a:t>
            </a:r>
            <a:r>
              <a:rPr lang="en-US" altLang="zh-CN" sz="2000" b="1" dirty="0"/>
              <a:t>) </a:t>
            </a:r>
            <a:r>
              <a:rPr lang="zh-CN" altLang="en-US" sz="2000" b="1" dirty="0"/>
              <a:t>轮廓线应限定在直径等于</a:t>
            </a:r>
            <a:r>
              <a:rPr lang="en-US" altLang="zh-CN" sz="2000" b="1" dirty="0"/>
              <a:t>0. 04</a:t>
            </a:r>
            <a:r>
              <a:rPr lang="zh-CN" altLang="en-US" sz="2000" b="1" dirty="0"/>
              <a:t>、圆心位于</a:t>
            </a:r>
            <a:r>
              <a:rPr lang="zh-CN" altLang="en-US" sz="2000" b="1" dirty="0" smtClean="0"/>
              <a:t>由基准平面</a:t>
            </a:r>
            <a:r>
              <a:rPr lang="en-US" altLang="zh-CN" sz="2000" b="1" i="1" dirty="0"/>
              <a:t>A</a:t>
            </a:r>
            <a:r>
              <a:rPr lang="en-US" altLang="zh-CN" sz="2000" b="1" dirty="0"/>
              <a:t> </a:t>
            </a:r>
            <a:r>
              <a:rPr lang="zh-CN" altLang="en-US" sz="2000" b="1" dirty="0"/>
              <a:t>与基准平面</a:t>
            </a:r>
            <a:r>
              <a:rPr lang="en-US" altLang="zh-CN" sz="2000" b="1" i="1" dirty="0"/>
              <a:t>B</a:t>
            </a:r>
            <a:r>
              <a:rPr lang="en-US" altLang="zh-CN" sz="2000" b="1" dirty="0"/>
              <a:t> </a:t>
            </a:r>
            <a:r>
              <a:rPr lang="zh-CN" altLang="en-US" sz="2000" b="1" dirty="0"/>
              <a:t>确定的被测要素理论正确几何</a:t>
            </a:r>
            <a:r>
              <a:rPr lang="zh-CN" altLang="en-US" sz="2000" b="1" dirty="0" smtClean="0"/>
              <a:t>形状线</a:t>
            </a:r>
            <a:r>
              <a:rPr lang="zh-CN" altLang="en-US" sz="2000" b="1" dirty="0"/>
              <a:t>上的一系列圆的两等距包络线</a:t>
            </a:r>
            <a:r>
              <a:rPr lang="zh-CN" altLang="en-US" sz="2000" b="1" dirty="0" smtClean="0"/>
              <a:t>之间。</a:t>
            </a:r>
            <a:endParaRPr lang="zh-CN" altLang="en-US" sz="2000" b="1" dirty="0"/>
          </a:p>
        </p:txBody>
      </p:sp>
      <p:pic>
        <p:nvPicPr>
          <p:cNvPr id="17" name="Picture 2"/>
          <p:cNvPicPr>
            <a:picLocks noChangeAspect="1" noChangeArrowheads="1"/>
          </p:cNvPicPr>
          <p:nvPr/>
        </p:nvPicPr>
        <p:blipFill>
          <a:blip r:embed="rId4">
            <a:extLst>
              <a:ext uri="{28A0092B-C50C-407E-A947-70E740481C1C}">
                <a14:useLocalDpi xmlns:a14="http://schemas.microsoft.com/office/drawing/2010/main" xmlns="" val="0"/>
              </a:ext>
            </a:extLst>
          </a:blip>
          <a:srcRect b="14989"/>
          <a:stretch>
            <a:fillRect/>
          </a:stretch>
        </p:blipFill>
        <p:spPr bwMode="auto">
          <a:xfrm>
            <a:off x="5214942" y="4478788"/>
            <a:ext cx="2403269" cy="20934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5175"/>
                                        </p:tgtEl>
                                        <p:attrNameLst>
                                          <p:attrName>style.visibility</p:attrName>
                                        </p:attrNameLst>
                                      </p:cBhvr>
                                      <p:to>
                                        <p:strVal val="visible"/>
                                      </p:to>
                                    </p:set>
                                    <p:animEffect transition="in" filter="wipe(left)">
                                      <p:cBhvr>
                                        <p:cTn id="7" dur="300"/>
                                        <p:tgtEl>
                                          <p:spTgt spid="1351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35172"/>
                                        </p:tgtEl>
                                        <p:attrNameLst>
                                          <p:attrName>style.visibility</p:attrName>
                                        </p:attrNameLst>
                                      </p:cBhvr>
                                      <p:to>
                                        <p:strVal val="visible"/>
                                      </p:to>
                                    </p:set>
                                    <p:animEffect transition="in" filter="wipe(left)">
                                      <p:cBhvr>
                                        <p:cTn id="12" dur="300"/>
                                        <p:tgtEl>
                                          <p:spTgt spid="135172"/>
                                        </p:tgtEl>
                                      </p:cBhvr>
                                    </p:animEffect>
                                  </p:childTnLst>
                                </p:cTn>
                              </p:par>
                            </p:childTnLst>
                          </p:cTn>
                        </p:par>
                        <p:par>
                          <p:cTn id="13" fill="hold">
                            <p:stCondLst>
                              <p:cond delay="11400"/>
                            </p:stCondLst>
                            <p:childTnLst>
                              <p:par>
                                <p:cTn id="14" presetID="22" presetClass="entr" presetSubtype="8" fill="hold" grpId="0" nodeType="afterEffect">
                                  <p:stCondLst>
                                    <p:cond delay="0"/>
                                  </p:stCondLst>
                                  <p:iterate type="wd">
                                    <p:tmPct val="100000"/>
                                  </p:iterate>
                                  <p:childTnLst>
                                    <p:set>
                                      <p:cBhvr>
                                        <p:cTn id="15" dur="1" fill="hold">
                                          <p:stCondLst>
                                            <p:cond delay="0"/>
                                          </p:stCondLst>
                                        </p:cTn>
                                        <p:tgtEl>
                                          <p:spTgt spid="13"/>
                                        </p:tgtEl>
                                        <p:attrNameLst>
                                          <p:attrName>style.visibility</p:attrName>
                                        </p:attrNameLst>
                                      </p:cBhvr>
                                      <p:to>
                                        <p:strVal val="visible"/>
                                      </p:to>
                                    </p:set>
                                    <p:animEffect transition="in" filter="wipe(left)">
                                      <p:cBhvr>
                                        <p:cTn id="16" dur="3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0-#ppt_w/2"/>
                                          </p:val>
                                        </p:tav>
                                        <p:tav tm="100000">
                                          <p:val>
                                            <p:strVal val="#ppt_x"/>
                                          </p:val>
                                        </p:tav>
                                      </p:tavLst>
                                    </p:anim>
                                    <p:anim calcmode="lin" valueType="num">
                                      <p:cBhvr additive="base">
                                        <p:cTn id="22"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1+#ppt_w/2"/>
                                          </p:val>
                                        </p:tav>
                                        <p:tav tm="100000">
                                          <p:val>
                                            <p:strVal val="#ppt_x"/>
                                          </p:val>
                                        </p:tav>
                                      </p:tavLst>
                                    </p:anim>
                                    <p:anim calcmode="lin" valueType="num">
                                      <p:cBhvr additive="base">
                                        <p:cTn id="2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2" grpId="0" autoUpdateAnimBg="0"/>
      <p:bldP spid="135175" grpId="0" autoUpdateAnimBg="0"/>
      <p:bldP spid="13" grpId="0" autoUpdateAnimBg="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86FBAC0A-697D-4340-B1AA-B78D962CD026}" type="slidenum">
              <a:rPr lang="en-US" altLang="zh-CN" sz="2000" smtClean="0">
                <a:solidFill>
                  <a:srgbClr val="0000FF"/>
                </a:solidFill>
              </a:rPr>
              <a:pPr eaLnBrk="1" hangingPunct="1"/>
              <a:t>38</a:t>
            </a:fld>
            <a:endParaRPr lang="en-US" altLang="zh-CN" sz="2000" smtClean="0">
              <a:solidFill>
                <a:srgbClr val="0000FF"/>
              </a:solidFill>
            </a:endParaRPr>
          </a:p>
        </p:txBody>
      </p:sp>
      <p:sp>
        <p:nvSpPr>
          <p:cNvPr id="136199" name="Text Box 7"/>
          <p:cNvSpPr txBox="1">
            <a:spLocks noChangeArrowheads="1"/>
          </p:cNvSpPr>
          <p:nvPr/>
        </p:nvSpPr>
        <p:spPr bwMode="auto">
          <a:xfrm>
            <a:off x="705666" y="4696106"/>
            <a:ext cx="3857652" cy="13234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smtClean="0"/>
              <a:t>公差带</a:t>
            </a:r>
            <a:r>
              <a:rPr lang="zh-CN" altLang="en-US" sz="2000" b="1" dirty="0"/>
              <a:t>为直径等于公差值</a:t>
            </a:r>
            <a:r>
              <a:rPr lang="zh-CN" altLang="en-US" sz="2000" b="1" i="1" dirty="0"/>
              <a:t> </a:t>
            </a:r>
            <a:r>
              <a:rPr lang="en-US" altLang="zh-CN" sz="2000" b="1" i="1" dirty="0"/>
              <a:t>t</a:t>
            </a:r>
            <a:r>
              <a:rPr lang="zh-CN" altLang="en-US" sz="2000" b="1" i="1" dirty="0"/>
              <a:t>、</a:t>
            </a:r>
            <a:r>
              <a:rPr lang="zh-CN" altLang="en-US" sz="2000" b="1" dirty="0"/>
              <a:t>球心位于被测要素理论正确几何形状上的一系列圆球的两包络面所限定的</a:t>
            </a:r>
            <a:r>
              <a:rPr lang="zh-CN" altLang="en-US" sz="2000" b="1" dirty="0" smtClean="0"/>
              <a:t>区域。 </a:t>
            </a:r>
            <a:endParaRPr lang="zh-CN" altLang="en-US" sz="2000" b="1" dirty="0"/>
          </a:p>
        </p:txBody>
      </p:sp>
      <p:sp>
        <p:nvSpPr>
          <p:cNvPr id="136201" name="Text Box 9"/>
          <p:cNvSpPr txBox="1">
            <a:spLocks noChangeArrowheads="1"/>
          </p:cNvSpPr>
          <p:nvPr/>
        </p:nvSpPr>
        <p:spPr bwMode="auto">
          <a:xfrm>
            <a:off x="571472" y="1285860"/>
            <a:ext cx="8072494"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smtClean="0"/>
              <a:t>提取</a:t>
            </a:r>
            <a:r>
              <a:rPr lang="zh-CN" altLang="en-US" sz="2000" b="1" dirty="0"/>
              <a:t>（实际）轮廓面应限定在直径等于</a:t>
            </a:r>
            <a:r>
              <a:rPr lang="en-US" altLang="zh-CN" sz="2000" b="1" dirty="0"/>
              <a:t>0.02</a:t>
            </a:r>
            <a:r>
              <a:rPr lang="zh-CN" altLang="en-US" sz="2000" b="1" dirty="0"/>
              <a:t>，球心位于被测要素理论正确几何形状上的一系列圆球的两等距包络面之间。</a:t>
            </a:r>
          </a:p>
        </p:txBody>
      </p:sp>
      <p:sp>
        <p:nvSpPr>
          <p:cNvPr id="136202" name="Text Box 10"/>
          <p:cNvSpPr txBox="1">
            <a:spLocks noChangeArrowheads="1"/>
          </p:cNvSpPr>
          <p:nvPr/>
        </p:nvSpPr>
        <p:spPr bwMode="auto">
          <a:xfrm>
            <a:off x="227011" y="214290"/>
            <a:ext cx="4130675"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(2)   </a:t>
            </a:r>
            <a:r>
              <a:rPr lang="zh-CN" altLang="en-US" b="1" dirty="0"/>
              <a:t>面轮廓度公差带</a:t>
            </a:r>
          </a:p>
        </p:txBody>
      </p:sp>
      <p:sp>
        <p:nvSpPr>
          <p:cNvPr id="136203" name="Text Box 11"/>
          <p:cNvSpPr txBox="1">
            <a:spLocks noChangeArrowheads="1"/>
          </p:cNvSpPr>
          <p:nvPr/>
        </p:nvSpPr>
        <p:spPr bwMode="auto">
          <a:xfrm>
            <a:off x="319091" y="836712"/>
            <a:ext cx="47529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t>①  </a:t>
            </a:r>
            <a:r>
              <a:rPr lang="zh-CN" altLang="en-US" sz="2000" b="1" dirty="0"/>
              <a:t>无基准的面轮廓度公差带</a:t>
            </a:r>
          </a:p>
        </p:txBody>
      </p:sp>
      <p:cxnSp>
        <p:nvCxnSpPr>
          <p:cNvPr id="13" name="直接连接符 12"/>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pic>
        <p:nvPicPr>
          <p:cNvPr id="14" name="Picture 162"/>
          <p:cNvPicPr>
            <a:picLocks noChangeAspect="1" noChangeArrowheads="1"/>
          </p:cNvPicPr>
          <p:nvPr/>
        </p:nvPicPr>
        <p:blipFill>
          <a:blip r:embed="rId3" cstate="print">
            <a:extLst>
              <a:ext uri="{28A0092B-C50C-407E-A947-70E740481C1C}">
                <a14:useLocalDpi xmlns:a14="http://schemas.microsoft.com/office/drawing/2010/main" xmlns="" val="0"/>
              </a:ext>
            </a:extLst>
          </a:blip>
          <a:srcRect l="11480" r="8157"/>
          <a:stretch>
            <a:fillRect/>
          </a:stretch>
        </p:blipFill>
        <p:spPr bwMode="auto">
          <a:xfrm>
            <a:off x="1071538" y="2192161"/>
            <a:ext cx="3000396" cy="21655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 name="Picture 163"/>
          <p:cNvPicPr>
            <a:picLocks noChangeAspect="1" noChangeArrowheads="1"/>
          </p:cNvPicPr>
          <p:nvPr/>
        </p:nvPicPr>
        <p:blipFill>
          <a:blip r:embed="rId4" cstate="print">
            <a:extLst>
              <a:ext uri="{28A0092B-C50C-407E-A947-70E740481C1C}">
                <a14:useLocalDpi xmlns:a14="http://schemas.microsoft.com/office/drawing/2010/main" xmlns="" val="0"/>
              </a:ext>
            </a:extLst>
          </a:blip>
          <a:srcRect l="6639"/>
          <a:stretch>
            <a:fillRect/>
          </a:stretch>
        </p:blipFill>
        <p:spPr bwMode="auto">
          <a:xfrm>
            <a:off x="4786314" y="1954213"/>
            <a:ext cx="3013950" cy="22606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 name="Picture 165"/>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4929190" y="4357694"/>
            <a:ext cx="3202670" cy="20002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6202"/>
                                        </p:tgtEl>
                                        <p:attrNameLst>
                                          <p:attrName>style.visibility</p:attrName>
                                        </p:attrNameLst>
                                      </p:cBhvr>
                                      <p:to>
                                        <p:strVal val="visible"/>
                                      </p:to>
                                    </p:set>
                                    <p:animEffect transition="in" filter="wipe(left)">
                                      <p:cBhvr>
                                        <p:cTn id="7" dur="300"/>
                                        <p:tgtEl>
                                          <p:spTgt spid="1362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36203"/>
                                        </p:tgtEl>
                                        <p:attrNameLst>
                                          <p:attrName>style.visibility</p:attrName>
                                        </p:attrNameLst>
                                      </p:cBhvr>
                                      <p:to>
                                        <p:strVal val="visible"/>
                                      </p:to>
                                    </p:set>
                                    <p:animEffect transition="in" filter="wipe(left)">
                                      <p:cBhvr>
                                        <p:cTn id="12" dur="300"/>
                                        <p:tgtEl>
                                          <p:spTgt spid="1362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36201"/>
                                        </p:tgtEl>
                                        <p:attrNameLst>
                                          <p:attrName>style.visibility</p:attrName>
                                        </p:attrNameLst>
                                      </p:cBhvr>
                                      <p:to>
                                        <p:strVal val="visible"/>
                                      </p:to>
                                    </p:set>
                                    <p:animEffect transition="in" filter="wipe(left)">
                                      <p:cBhvr>
                                        <p:cTn id="17" dur="300"/>
                                        <p:tgtEl>
                                          <p:spTgt spid="1362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36199"/>
                                        </p:tgtEl>
                                        <p:attrNameLst>
                                          <p:attrName>style.visibility</p:attrName>
                                        </p:attrNameLst>
                                      </p:cBhvr>
                                      <p:to>
                                        <p:strVal val="visible"/>
                                      </p:to>
                                    </p:set>
                                    <p:animEffect transition="in" filter="wipe(left)">
                                      <p:cBhvr>
                                        <p:cTn id="22" dur="300"/>
                                        <p:tgtEl>
                                          <p:spTgt spid="13619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0-#ppt_w/2"/>
                                          </p:val>
                                        </p:tav>
                                        <p:tav tm="100000">
                                          <p:val>
                                            <p:strVal val="#ppt_x"/>
                                          </p:val>
                                        </p:tav>
                                      </p:tavLst>
                                    </p:anim>
                                    <p:anim calcmode="lin" valueType="num">
                                      <p:cBhvr additive="base">
                                        <p:cTn id="2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1+#ppt_w/2"/>
                                          </p:val>
                                        </p:tav>
                                        <p:tav tm="100000">
                                          <p:val>
                                            <p:strVal val="#ppt_x"/>
                                          </p:val>
                                        </p:tav>
                                      </p:tavLst>
                                    </p:anim>
                                    <p:anim calcmode="lin" valueType="num">
                                      <p:cBhvr additive="base">
                                        <p:cTn id="3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9" grpId="0" autoUpdateAnimBg="0"/>
      <p:bldP spid="136201" grpId="0" autoUpdateAnimBg="0"/>
      <p:bldP spid="136202" grpId="0" autoUpdateAnimBg="0"/>
      <p:bldP spid="136203"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377D3CA-DD53-43A7-A3AE-60DA207B9E59}" type="slidenum">
              <a:rPr lang="en-US" altLang="zh-CN" sz="2000" smtClean="0">
                <a:solidFill>
                  <a:srgbClr val="0000FF"/>
                </a:solidFill>
              </a:rPr>
              <a:pPr eaLnBrk="1" hangingPunct="1"/>
              <a:t>39</a:t>
            </a:fld>
            <a:endParaRPr lang="en-US" altLang="zh-CN" sz="2000" dirty="0" smtClean="0">
              <a:solidFill>
                <a:srgbClr val="0000FF"/>
              </a:solidFill>
            </a:endParaRPr>
          </a:p>
        </p:txBody>
      </p:sp>
      <p:sp>
        <p:nvSpPr>
          <p:cNvPr id="137223" name="Text Box 7"/>
          <p:cNvSpPr txBox="1">
            <a:spLocks noChangeArrowheads="1"/>
          </p:cNvSpPr>
          <p:nvPr/>
        </p:nvSpPr>
        <p:spPr bwMode="auto">
          <a:xfrm>
            <a:off x="785786" y="4572008"/>
            <a:ext cx="3429024" cy="16312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smtClean="0"/>
              <a:t>公差带</a:t>
            </a:r>
            <a:r>
              <a:rPr lang="zh-CN" altLang="en-US" sz="2000" b="1" dirty="0"/>
              <a:t>为直径等于公差值</a:t>
            </a:r>
            <a:r>
              <a:rPr lang="zh-CN" altLang="en-US" sz="2000" b="1" i="1" dirty="0"/>
              <a:t> </a:t>
            </a:r>
            <a:r>
              <a:rPr lang="en-US" altLang="zh-CN" sz="2000" b="1" i="1" dirty="0"/>
              <a:t>t</a:t>
            </a:r>
            <a:r>
              <a:rPr lang="zh-CN" altLang="en-US" sz="2000" b="1" i="1" dirty="0"/>
              <a:t>、</a:t>
            </a:r>
            <a:r>
              <a:rPr lang="zh-CN" altLang="en-US" sz="2000" b="1" dirty="0"/>
              <a:t>球心位于由基准平面</a:t>
            </a:r>
            <a:r>
              <a:rPr lang="en-US" altLang="zh-CN" sz="2000" b="1" dirty="0"/>
              <a:t>A</a:t>
            </a:r>
            <a:r>
              <a:rPr lang="zh-CN" altLang="en-US" sz="2000" b="1" dirty="0"/>
              <a:t>确定的被测要素理论正确几何形状上的一系列圆球的两包络面所限定的</a:t>
            </a:r>
            <a:r>
              <a:rPr lang="zh-CN" altLang="en-US" sz="2000" b="1" dirty="0" smtClean="0"/>
              <a:t>区域。</a:t>
            </a:r>
            <a:endParaRPr lang="zh-CN" altLang="en-US" sz="2000" b="1" dirty="0"/>
          </a:p>
        </p:txBody>
      </p:sp>
      <p:sp>
        <p:nvSpPr>
          <p:cNvPr id="137225" name="Text Box 9"/>
          <p:cNvSpPr txBox="1">
            <a:spLocks noChangeArrowheads="1"/>
          </p:cNvSpPr>
          <p:nvPr/>
        </p:nvSpPr>
        <p:spPr bwMode="auto">
          <a:xfrm>
            <a:off x="714348" y="3429000"/>
            <a:ext cx="7786742" cy="1015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smtClean="0"/>
              <a:t>提取</a:t>
            </a:r>
            <a:r>
              <a:rPr lang="zh-CN" altLang="en-US" sz="2000" b="1" dirty="0"/>
              <a:t>（实际）轮廓面应限定在直径等于</a:t>
            </a:r>
            <a:r>
              <a:rPr lang="en-US" altLang="zh-CN" sz="2000" b="1" dirty="0"/>
              <a:t>0.1</a:t>
            </a:r>
            <a:r>
              <a:rPr lang="zh-CN" altLang="en-US" sz="2000" b="1" dirty="0"/>
              <a:t>，球心位于由基准平面</a:t>
            </a:r>
            <a:r>
              <a:rPr lang="en-US" altLang="zh-CN" sz="2000" b="1" i="1" dirty="0"/>
              <a:t>A</a:t>
            </a:r>
            <a:r>
              <a:rPr lang="zh-CN" altLang="en-US" sz="2000" b="1" dirty="0"/>
              <a:t>确定的被测要素理论正确几何形状上的一系列圆球的两等距包络面之间。</a:t>
            </a:r>
          </a:p>
        </p:txBody>
      </p:sp>
      <p:sp>
        <p:nvSpPr>
          <p:cNvPr id="137226" name="Text Box 10"/>
          <p:cNvSpPr txBox="1">
            <a:spLocks noChangeArrowheads="1"/>
          </p:cNvSpPr>
          <p:nvPr/>
        </p:nvSpPr>
        <p:spPr bwMode="auto">
          <a:xfrm>
            <a:off x="357158" y="785794"/>
            <a:ext cx="4983163"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t>②  </a:t>
            </a:r>
            <a:r>
              <a:rPr lang="zh-CN" altLang="en-US" sz="2000" b="1" dirty="0"/>
              <a:t>有基准的面轮廓度</a:t>
            </a:r>
            <a:r>
              <a:rPr lang="zh-CN" altLang="en-US" sz="2000" b="1" dirty="0" smtClean="0"/>
              <a:t>公差</a:t>
            </a:r>
            <a:endParaRPr lang="zh-CN" altLang="en-US" sz="2000" b="1" dirty="0"/>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pic>
        <p:nvPicPr>
          <p:cNvPr id="13" name="Picture 16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57224" y="1357298"/>
            <a:ext cx="3633759" cy="20162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4" name="Picture 16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86314" y="1214422"/>
            <a:ext cx="3619104" cy="22322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5" name="Text Box 10"/>
          <p:cNvSpPr txBox="1">
            <a:spLocks noChangeArrowheads="1"/>
          </p:cNvSpPr>
          <p:nvPr/>
        </p:nvSpPr>
        <p:spPr bwMode="auto">
          <a:xfrm>
            <a:off x="357158" y="181253"/>
            <a:ext cx="4130675"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(2)   </a:t>
            </a:r>
            <a:r>
              <a:rPr lang="zh-CN" altLang="en-US" b="1" dirty="0"/>
              <a:t>面轮廓度公差带</a:t>
            </a:r>
          </a:p>
        </p:txBody>
      </p:sp>
      <p:pic>
        <p:nvPicPr>
          <p:cNvPr id="16" name="Picture 164"/>
          <p:cNvPicPr>
            <a:picLocks noChangeAspect="1" noChangeArrowheads="1"/>
          </p:cNvPicPr>
          <p:nvPr/>
        </p:nvPicPr>
        <p:blipFill>
          <a:blip r:embed="rId4">
            <a:extLst>
              <a:ext uri="{28A0092B-C50C-407E-A947-70E740481C1C}">
                <a14:useLocalDpi xmlns:a14="http://schemas.microsoft.com/office/drawing/2010/main" xmlns="" val="0"/>
              </a:ext>
            </a:extLst>
          </a:blip>
          <a:srcRect b="16348"/>
          <a:stretch>
            <a:fillRect/>
          </a:stretch>
        </p:blipFill>
        <p:spPr bwMode="auto">
          <a:xfrm>
            <a:off x="4644008" y="4300477"/>
            <a:ext cx="2952801" cy="21587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7226"/>
                                        </p:tgtEl>
                                        <p:attrNameLst>
                                          <p:attrName>style.visibility</p:attrName>
                                        </p:attrNameLst>
                                      </p:cBhvr>
                                      <p:to>
                                        <p:strVal val="visible"/>
                                      </p:to>
                                    </p:set>
                                    <p:animEffect transition="in" filter="wipe(left)">
                                      <p:cBhvr>
                                        <p:cTn id="7" dur="300"/>
                                        <p:tgtEl>
                                          <p:spTgt spid="1372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37225"/>
                                        </p:tgtEl>
                                        <p:attrNameLst>
                                          <p:attrName>style.visibility</p:attrName>
                                        </p:attrNameLst>
                                      </p:cBhvr>
                                      <p:to>
                                        <p:strVal val="visible"/>
                                      </p:to>
                                    </p:set>
                                    <p:animEffect transition="in" filter="wipe(left)">
                                      <p:cBhvr>
                                        <p:cTn id="12" dur="300"/>
                                        <p:tgtEl>
                                          <p:spTgt spid="1372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37223"/>
                                        </p:tgtEl>
                                        <p:attrNameLst>
                                          <p:attrName>style.visibility</p:attrName>
                                        </p:attrNameLst>
                                      </p:cBhvr>
                                      <p:to>
                                        <p:strVal val="visible"/>
                                      </p:to>
                                    </p:set>
                                    <p:animEffect transition="in" filter="wipe(left)">
                                      <p:cBhvr>
                                        <p:cTn id="17" dur="300"/>
                                        <p:tgtEl>
                                          <p:spTgt spid="13722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0-#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500" fill="hold"/>
                                        <p:tgtEl>
                                          <p:spTgt spid="14"/>
                                        </p:tgtEl>
                                        <p:attrNameLst>
                                          <p:attrName>ppt_x</p:attrName>
                                        </p:attrNameLst>
                                      </p:cBhvr>
                                      <p:tavLst>
                                        <p:tav tm="0">
                                          <p:val>
                                            <p:strVal val="1+#ppt_w/2"/>
                                          </p:val>
                                        </p:tav>
                                        <p:tav tm="100000">
                                          <p:val>
                                            <p:strVal val="#ppt_x"/>
                                          </p:val>
                                        </p:tav>
                                      </p:tavLst>
                                    </p:anim>
                                    <p:anim calcmode="lin" valueType="num">
                                      <p:cBhvr additive="base">
                                        <p:cTn id="29" dur="500" fill="hold"/>
                                        <p:tgtEl>
                                          <p:spTgt spid="14"/>
                                        </p:tgtEl>
                                        <p:attrNameLst>
                                          <p:attrName>ppt_y</p:attrName>
                                        </p:attrNameLst>
                                      </p:cBhvr>
                                      <p:tavLst>
                                        <p:tav tm="0">
                                          <p:val>
                                            <p:strVal val="#ppt_y"/>
                                          </p:val>
                                        </p:tav>
                                        <p:tav tm="100000">
                                          <p:val>
                                            <p:strVal val="#ppt_y"/>
                                          </p:val>
                                        </p:tav>
                                      </p:tavLst>
                                    </p:anim>
                                  </p:childTnLst>
                                </p:cTn>
                              </p:par>
                            </p:childTnLst>
                          </p:cTn>
                        </p:par>
                        <p:par>
                          <p:cTn id="30" fill="hold">
                            <p:stCondLst>
                              <p:cond delay="500"/>
                            </p:stCondLst>
                            <p:childTnLst>
                              <p:par>
                                <p:cTn id="31" presetID="22" presetClass="entr" presetSubtype="8" fill="hold" grpId="0" nodeType="afterEffect">
                                  <p:stCondLst>
                                    <p:cond delay="0"/>
                                  </p:stCondLst>
                                  <p:iterate type="wd">
                                    <p:tmPct val="100000"/>
                                  </p:iterate>
                                  <p:childTnLst>
                                    <p:set>
                                      <p:cBhvr>
                                        <p:cTn id="32" dur="1" fill="hold">
                                          <p:stCondLst>
                                            <p:cond delay="0"/>
                                          </p:stCondLst>
                                        </p:cTn>
                                        <p:tgtEl>
                                          <p:spTgt spid="15"/>
                                        </p:tgtEl>
                                        <p:attrNameLst>
                                          <p:attrName>style.visibility</p:attrName>
                                        </p:attrNameLst>
                                      </p:cBhvr>
                                      <p:to>
                                        <p:strVal val="visible"/>
                                      </p:to>
                                    </p:set>
                                    <p:animEffect transition="in" filter="wipe(left)">
                                      <p:cBhvr>
                                        <p:cTn id="33" dur="3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ppt_x"/>
                                          </p:val>
                                        </p:tav>
                                        <p:tav tm="100000">
                                          <p:val>
                                            <p:strVal val="#ppt_x"/>
                                          </p:val>
                                        </p:tav>
                                      </p:tavLst>
                                    </p:anim>
                                    <p:anim calcmode="lin" valueType="num">
                                      <p:cBhvr additive="base">
                                        <p:cTn id="3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3" grpId="0" autoUpdateAnimBg="0"/>
      <p:bldP spid="137225" grpId="0" autoUpdateAnimBg="0"/>
      <p:bldP spid="137226" grpId="0" autoUpdateAnimBg="0"/>
      <p:bldP spid="15"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C9E9357-6CB3-414C-9CCF-8D98B189C303}" type="slidenum">
              <a:rPr lang="en-US" altLang="zh-CN" sz="2000" smtClean="0">
                <a:solidFill>
                  <a:srgbClr val="0000FF"/>
                </a:solidFill>
              </a:rPr>
              <a:pPr eaLnBrk="1" hangingPunct="1"/>
              <a:t>40</a:t>
            </a:fld>
            <a:endParaRPr lang="en-US" altLang="zh-CN" sz="2000" smtClean="0">
              <a:solidFill>
                <a:srgbClr val="0000FF"/>
              </a:solidFill>
            </a:endParaRPr>
          </a:p>
        </p:txBody>
      </p:sp>
      <p:sp>
        <p:nvSpPr>
          <p:cNvPr id="138244" name="Text Box 4"/>
          <p:cNvSpPr txBox="1">
            <a:spLocks noChangeArrowheads="1"/>
          </p:cNvSpPr>
          <p:nvPr/>
        </p:nvSpPr>
        <p:spPr bwMode="auto">
          <a:xfrm>
            <a:off x="467544" y="221885"/>
            <a:ext cx="6408737"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5.  </a:t>
            </a:r>
            <a:r>
              <a:rPr lang="zh-CN" altLang="en-US" b="1" dirty="0"/>
              <a:t>跳动公差带</a:t>
            </a:r>
          </a:p>
        </p:txBody>
      </p:sp>
      <p:sp>
        <p:nvSpPr>
          <p:cNvPr id="138246" name="Text Box 6"/>
          <p:cNvSpPr txBox="1">
            <a:spLocks noChangeArrowheads="1"/>
          </p:cNvSpPr>
          <p:nvPr/>
        </p:nvSpPr>
        <p:spPr bwMode="auto">
          <a:xfrm>
            <a:off x="396503" y="2214554"/>
            <a:ext cx="8135937" cy="9787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b="1" dirty="0">
                <a:solidFill>
                  <a:srgbClr val="FF0000"/>
                </a:solidFill>
              </a:rPr>
              <a:t>        </a:t>
            </a:r>
            <a:r>
              <a:rPr lang="zh-CN" altLang="en-US" b="1" dirty="0">
                <a:solidFill>
                  <a:srgbClr val="FF0000"/>
                </a:solidFill>
              </a:rPr>
              <a:t>跳动公差带</a:t>
            </a:r>
            <a:r>
              <a:rPr lang="zh-CN" altLang="en-US" b="1" dirty="0"/>
              <a:t>是控制被测要素为圆柱体的圆柱面、圆柱端面，圆锥体的圆锥面和曲面等组成要素。</a:t>
            </a:r>
          </a:p>
        </p:txBody>
      </p:sp>
      <p:sp>
        <p:nvSpPr>
          <p:cNvPr id="138247" name="Text Box 7"/>
          <p:cNvSpPr txBox="1">
            <a:spLocks noChangeArrowheads="1"/>
          </p:cNvSpPr>
          <p:nvPr/>
        </p:nvSpPr>
        <p:spPr bwMode="auto">
          <a:xfrm>
            <a:off x="1043608" y="1285861"/>
            <a:ext cx="7242028" cy="5355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solidFill>
                  <a:srgbClr val="FF0000"/>
                </a:solidFill>
              </a:rPr>
              <a:t>跳动公差</a:t>
            </a:r>
            <a:r>
              <a:rPr lang="zh-CN" altLang="en-US" b="1" dirty="0"/>
              <a:t>是按特定测量方法定义的综合的几何公差</a:t>
            </a:r>
            <a:r>
              <a:rPr lang="zh-CN" altLang="en-US" dirty="0"/>
              <a:t>。</a:t>
            </a:r>
          </a:p>
        </p:txBody>
      </p:sp>
      <p:sp>
        <p:nvSpPr>
          <p:cNvPr id="138248" name="Text Box 8"/>
          <p:cNvSpPr txBox="1">
            <a:spLocks noChangeArrowheads="1"/>
          </p:cNvSpPr>
          <p:nvPr/>
        </p:nvSpPr>
        <p:spPr bwMode="auto">
          <a:xfrm>
            <a:off x="415362" y="4485118"/>
            <a:ext cx="6892942" cy="5355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b="1" dirty="0">
                <a:solidFill>
                  <a:srgbClr val="FF0000"/>
                </a:solidFill>
              </a:rPr>
              <a:t>       </a:t>
            </a:r>
            <a:r>
              <a:rPr lang="zh-CN" altLang="en-US" b="1" dirty="0"/>
              <a:t>跳动公差分</a:t>
            </a:r>
            <a:r>
              <a:rPr lang="zh-CN" altLang="en-US" b="1" dirty="0">
                <a:solidFill>
                  <a:srgbClr val="FF0000"/>
                </a:solidFill>
              </a:rPr>
              <a:t>圆跳动</a:t>
            </a:r>
            <a:r>
              <a:rPr lang="zh-CN" altLang="en-US" b="1" dirty="0"/>
              <a:t>和</a:t>
            </a:r>
            <a:r>
              <a:rPr lang="zh-CN" altLang="en-US" b="1" dirty="0">
                <a:solidFill>
                  <a:srgbClr val="FF0000"/>
                </a:solidFill>
              </a:rPr>
              <a:t>全</a:t>
            </a:r>
            <a:r>
              <a:rPr lang="zh-CN" altLang="en-US" b="1" dirty="0" smtClean="0">
                <a:solidFill>
                  <a:srgbClr val="FF0000"/>
                </a:solidFill>
              </a:rPr>
              <a:t>跳动</a:t>
            </a:r>
            <a:r>
              <a:rPr lang="zh-CN" altLang="en-US" b="1" dirty="0" smtClean="0"/>
              <a:t>。</a:t>
            </a:r>
            <a:endParaRPr lang="zh-CN" altLang="en-US" b="1" dirty="0"/>
          </a:p>
        </p:txBody>
      </p:sp>
      <p:sp>
        <p:nvSpPr>
          <p:cNvPr id="138249" name="Text Box 9"/>
          <p:cNvSpPr txBox="1">
            <a:spLocks noChangeArrowheads="1"/>
          </p:cNvSpPr>
          <p:nvPr/>
        </p:nvSpPr>
        <p:spPr bwMode="auto">
          <a:xfrm>
            <a:off x="971600" y="3571877"/>
            <a:ext cx="7429552" cy="5355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跳动公差的</a:t>
            </a:r>
            <a:r>
              <a:rPr lang="zh-CN" altLang="en-US" b="1" dirty="0">
                <a:solidFill>
                  <a:srgbClr val="FF0000"/>
                </a:solidFill>
              </a:rPr>
              <a:t>基准</a:t>
            </a:r>
            <a:r>
              <a:rPr lang="zh-CN" altLang="en-US" b="1" dirty="0"/>
              <a:t>为圆柱体或圆锥体的</a:t>
            </a:r>
            <a:r>
              <a:rPr lang="zh-CN" altLang="en-US" b="1" dirty="0">
                <a:solidFill>
                  <a:srgbClr val="FF0000"/>
                </a:solidFill>
              </a:rPr>
              <a:t>轴线</a:t>
            </a:r>
            <a:r>
              <a:rPr lang="zh-CN" altLang="en-US" dirty="0"/>
              <a:t>。</a:t>
            </a:r>
          </a:p>
        </p:txBody>
      </p:sp>
      <p:cxnSp>
        <p:nvCxnSpPr>
          <p:cNvPr id="8" name="直接连接符 7"/>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8244"/>
                                        </p:tgtEl>
                                        <p:attrNameLst>
                                          <p:attrName>style.visibility</p:attrName>
                                        </p:attrNameLst>
                                      </p:cBhvr>
                                      <p:to>
                                        <p:strVal val="visible"/>
                                      </p:to>
                                    </p:set>
                                    <p:animEffect transition="in" filter="wipe(left)">
                                      <p:cBhvr>
                                        <p:cTn id="7" dur="300"/>
                                        <p:tgtEl>
                                          <p:spTgt spid="1382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38247"/>
                                        </p:tgtEl>
                                        <p:attrNameLst>
                                          <p:attrName>style.visibility</p:attrName>
                                        </p:attrNameLst>
                                      </p:cBhvr>
                                      <p:to>
                                        <p:strVal val="visible"/>
                                      </p:to>
                                    </p:set>
                                    <p:animEffect transition="in" filter="wipe(left)">
                                      <p:cBhvr>
                                        <p:cTn id="12" dur="300"/>
                                        <p:tgtEl>
                                          <p:spTgt spid="1382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38246"/>
                                        </p:tgtEl>
                                        <p:attrNameLst>
                                          <p:attrName>style.visibility</p:attrName>
                                        </p:attrNameLst>
                                      </p:cBhvr>
                                      <p:to>
                                        <p:strVal val="visible"/>
                                      </p:to>
                                    </p:set>
                                    <p:animEffect transition="in" filter="wipe(left)">
                                      <p:cBhvr>
                                        <p:cTn id="17" dur="300"/>
                                        <p:tgtEl>
                                          <p:spTgt spid="1382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38249"/>
                                        </p:tgtEl>
                                        <p:attrNameLst>
                                          <p:attrName>style.visibility</p:attrName>
                                        </p:attrNameLst>
                                      </p:cBhvr>
                                      <p:to>
                                        <p:strVal val="visible"/>
                                      </p:to>
                                    </p:set>
                                    <p:animEffect transition="in" filter="wipe(left)">
                                      <p:cBhvr>
                                        <p:cTn id="22" dur="300"/>
                                        <p:tgtEl>
                                          <p:spTgt spid="1382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38248"/>
                                        </p:tgtEl>
                                        <p:attrNameLst>
                                          <p:attrName>style.visibility</p:attrName>
                                        </p:attrNameLst>
                                      </p:cBhvr>
                                      <p:to>
                                        <p:strVal val="visible"/>
                                      </p:to>
                                    </p:set>
                                    <p:animEffect transition="in" filter="wipe(left)">
                                      <p:cBhvr>
                                        <p:cTn id="27" dur="300"/>
                                        <p:tgtEl>
                                          <p:spTgt spid="138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4" grpId="0" autoUpdateAnimBg="0"/>
      <p:bldP spid="138246" grpId="0" autoUpdateAnimBg="0"/>
      <p:bldP spid="138247" grpId="0" autoUpdateAnimBg="0"/>
      <p:bldP spid="138248" grpId="0" autoUpdateAnimBg="0"/>
      <p:bldP spid="138249"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B0F0A01-6835-455D-ABBB-14E632C1D871}" type="slidenum">
              <a:rPr lang="en-US" altLang="zh-CN" sz="2000" smtClean="0">
                <a:solidFill>
                  <a:srgbClr val="0000FF"/>
                </a:solidFill>
              </a:rPr>
              <a:pPr eaLnBrk="1" hangingPunct="1"/>
              <a:t>41</a:t>
            </a:fld>
            <a:endParaRPr lang="en-US" altLang="zh-CN" sz="2000" smtClean="0">
              <a:solidFill>
                <a:srgbClr val="0000FF"/>
              </a:solidFill>
            </a:endParaRPr>
          </a:p>
        </p:txBody>
      </p:sp>
      <p:sp>
        <p:nvSpPr>
          <p:cNvPr id="141316" name="Text Box 4"/>
          <p:cNvSpPr txBox="1">
            <a:spLocks noChangeArrowheads="1"/>
          </p:cNvSpPr>
          <p:nvPr/>
        </p:nvSpPr>
        <p:spPr bwMode="auto">
          <a:xfrm>
            <a:off x="214282" y="181253"/>
            <a:ext cx="335758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a:t>
            </a:r>
            <a:r>
              <a:rPr lang="en-US" altLang="zh-CN" b="1" dirty="0"/>
              <a:t>1</a:t>
            </a:r>
            <a:r>
              <a:rPr lang="zh-CN" altLang="en-US" b="1" dirty="0"/>
              <a:t>）圆</a:t>
            </a:r>
            <a:r>
              <a:rPr lang="zh-CN" altLang="en-US" b="1" dirty="0" smtClean="0"/>
              <a:t>跳动公差</a:t>
            </a:r>
            <a:endParaRPr lang="zh-CN" altLang="en-US" b="1" dirty="0"/>
          </a:p>
        </p:txBody>
      </p:sp>
      <p:sp>
        <p:nvSpPr>
          <p:cNvPr id="141317" name="Rectangle 5"/>
          <p:cNvSpPr>
            <a:spLocks noChangeArrowheads="1"/>
          </p:cNvSpPr>
          <p:nvPr/>
        </p:nvSpPr>
        <p:spPr bwMode="auto">
          <a:xfrm>
            <a:off x="500034" y="4132818"/>
            <a:ext cx="8001000"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20000"/>
              </a:lnSpc>
            </a:pPr>
            <a:r>
              <a:rPr lang="en-US" altLang="zh-CN" sz="2000" dirty="0">
                <a:solidFill>
                  <a:srgbClr val="FF0000"/>
                </a:solidFill>
              </a:rPr>
              <a:t>         </a:t>
            </a:r>
            <a:r>
              <a:rPr lang="zh-CN" altLang="en-US" sz="2000" b="1" dirty="0">
                <a:solidFill>
                  <a:srgbClr val="FF0000"/>
                </a:solidFill>
              </a:rPr>
              <a:t>圆跳动误差</a:t>
            </a:r>
            <a:r>
              <a:rPr lang="zh-CN" altLang="en-US" sz="2000" b="1" dirty="0"/>
              <a:t>是指实际被测的组成要素绕基准轴线在无轴向移动的条件下转一转过程中，由</a:t>
            </a:r>
            <a:r>
              <a:rPr lang="zh-CN" altLang="en-US" sz="2000" b="1" dirty="0">
                <a:solidFill>
                  <a:srgbClr val="FF0000"/>
                </a:solidFill>
              </a:rPr>
              <a:t>固定</a:t>
            </a:r>
            <a:r>
              <a:rPr lang="zh-CN" altLang="en-US" sz="2000" b="1" dirty="0"/>
              <a:t>的指示表在给定测量方向上对该实际要素测得的最大与最小示值之差。</a:t>
            </a:r>
          </a:p>
        </p:txBody>
      </p:sp>
      <p:sp>
        <p:nvSpPr>
          <p:cNvPr id="141318" name="Text Box 6"/>
          <p:cNvSpPr txBox="1">
            <a:spLocks noChangeArrowheads="1"/>
          </p:cNvSpPr>
          <p:nvPr/>
        </p:nvSpPr>
        <p:spPr bwMode="auto">
          <a:xfrm>
            <a:off x="1142978" y="5829267"/>
            <a:ext cx="76358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FF0000"/>
                </a:solidFill>
              </a:rPr>
              <a:t>圆跳动公差</a:t>
            </a:r>
            <a:r>
              <a:rPr lang="zh-CN" altLang="en-US" sz="2000" b="1" dirty="0"/>
              <a:t>是指上述测得示值之差的允许变动量。</a:t>
            </a:r>
          </a:p>
        </p:txBody>
      </p:sp>
      <p:grpSp>
        <p:nvGrpSpPr>
          <p:cNvPr id="141319" name="Group 7"/>
          <p:cNvGrpSpPr/>
          <p:nvPr/>
        </p:nvGrpSpPr>
        <p:grpSpPr bwMode="auto">
          <a:xfrm>
            <a:off x="4293840" y="5214950"/>
            <a:ext cx="2438400" cy="593725"/>
            <a:chOff x="1344" y="1632"/>
            <a:chExt cx="2160" cy="526"/>
          </a:xfrm>
        </p:grpSpPr>
        <p:graphicFrame>
          <p:nvGraphicFramePr>
            <p:cNvPr id="59420" name="Object 8"/>
            <p:cNvGraphicFramePr>
              <a:graphicFrameLocks noChangeAspect="1"/>
            </p:cNvGraphicFramePr>
            <p:nvPr/>
          </p:nvGraphicFramePr>
          <p:xfrm>
            <a:off x="1344" y="1632"/>
            <a:ext cx="2160" cy="526"/>
          </p:xfrm>
          <a:graphic>
            <a:graphicData uri="http://schemas.openxmlformats.org/presentationml/2006/ole">
              <p:oleObj spid="_x0000_s69651" name="Equation" r:id="rId3" imgW="22555200" imgH="5486400" progId="">
                <p:embed/>
              </p:oleObj>
            </a:graphicData>
          </a:graphic>
        </p:graphicFrame>
        <p:sp>
          <p:nvSpPr>
            <p:cNvPr id="59421" name="Line 9"/>
            <p:cNvSpPr>
              <a:spLocks noChangeShapeType="1"/>
            </p:cNvSpPr>
            <p:nvPr/>
          </p:nvSpPr>
          <p:spPr bwMode="auto">
            <a:xfrm flipV="1">
              <a:off x="1488" y="1920"/>
              <a:ext cx="192" cy="103"/>
            </a:xfrm>
            <a:prstGeom prst="line">
              <a:avLst/>
            </a:prstGeom>
            <a:noFill/>
            <a:ln w="28575">
              <a:solidFill>
                <a:schemeClr val="tx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2000"/>
            </a:p>
          </p:txBody>
        </p:sp>
      </p:grpSp>
      <p:grpSp>
        <p:nvGrpSpPr>
          <p:cNvPr id="141322" name="Group 10"/>
          <p:cNvGrpSpPr/>
          <p:nvPr/>
        </p:nvGrpSpPr>
        <p:grpSpPr bwMode="auto">
          <a:xfrm>
            <a:off x="2267744" y="843523"/>
            <a:ext cx="4900626" cy="3257552"/>
            <a:chOff x="912" y="1920"/>
            <a:chExt cx="3456" cy="2160"/>
          </a:xfrm>
        </p:grpSpPr>
        <p:grpSp>
          <p:nvGrpSpPr>
            <p:cNvPr id="59400" name="Group 11"/>
            <p:cNvGrpSpPr/>
            <p:nvPr/>
          </p:nvGrpSpPr>
          <p:grpSpPr bwMode="auto">
            <a:xfrm>
              <a:off x="912" y="2544"/>
              <a:ext cx="2832" cy="1344"/>
              <a:chOff x="912" y="2544"/>
              <a:chExt cx="2832" cy="1344"/>
            </a:xfrm>
          </p:grpSpPr>
          <p:sp>
            <p:nvSpPr>
              <p:cNvPr id="59417" name="Rectangle 12"/>
              <p:cNvSpPr>
                <a:spLocks noChangeArrowheads="1"/>
              </p:cNvSpPr>
              <p:nvPr/>
            </p:nvSpPr>
            <p:spPr bwMode="auto">
              <a:xfrm>
                <a:off x="1104" y="2832"/>
                <a:ext cx="1200" cy="768"/>
              </a:xfrm>
              <a:prstGeom prst="rect">
                <a:avLst/>
              </a:prstGeom>
              <a:noFill/>
              <a:ln w="57150">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9418" name="Rectangle 13"/>
              <p:cNvSpPr>
                <a:spLocks noChangeArrowheads="1"/>
              </p:cNvSpPr>
              <p:nvPr/>
            </p:nvSpPr>
            <p:spPr bwMode="auto">
              <a:xfrm>
                <a:off x="2304" y="2544"/>
                <a:ext cx="1200" cy="1344"/>
              </a:xfrm>
              <a:prstGeom prst="rect">
                <a:avLst/>
              </a:prstGeom>
              <a:noFill/>
              <a:ln w="57150">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9419" name="Line 14"/>
              <p:cNvSpPr>
                <a:spLocks noChangeShapeType="1"/>
              </p:cNvSpPr>
              <p:nvPr/>
            </p:nvSpPr>
            <p:spPr bwMode="auto">
              <a:xfrm>
                <a:off x="912" y="3216"/>
                <a:ext cx="2832" cy="0"/>
              </a:xfrm>
              <a:prstGeom prst="line">
                <a:avLst/>
              </a:prstGeom>
              <a:noFill/>
              <a:ln w="19050">
                <a:solidFill>
                  <a:schemeClr val="tx1"/>
                </a:solidFill>
                <a:prstDash val="lg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59401" name="Group 15"/>
            <p:cNvGrpSpPr/>
            <p:nvPr/>
          </p:nvGrpSpPr>
          <p:grpSpPr bwMode="auto">
            <a:xfrm>
              <a:off x="3504" y="2592"/>
              <a:ext cx="864" cy="384"/>
              <a:chOff x="4320" y="2592"/>
              <a:chExt cx="864" cy="384"/>
            </a:xfrm>
          </p:grpSpPr>
          <p:sp>
            <p:nvSpPr>
              <p:cNvPr id="59412" name="Oval 16"/>
              <p:cNvSpPr>
                <a:spLocks noChangeArrowheads="1"/>
              </p:cNvSpPr>
              <p:nvPr/>
            </p:nvSpPr>
            <p:spPr bwMode="auto">
              <a:xfrm>
                <a:off x="4800" y="2592"/>
                <a:ext cx="384" cy="384"/>
              </a:xfrm>
              <a:prstGeom prst="ellipse">
                <a:avLst/>
              </a:prstGeom>
              <a:noFill/>
              <a:ln w="38100">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9413" name="Line 17"/>
              <p:cNvSpPr>
                <a:spLocks noChangeShapeType="1"/>
              </p:cNvSpPr>
              <p:nvPr/>
            </p:nvSpPr>
            <p:spPr bwMode="auto">
              <a:xfrm>
                <a:off x="4320" y="2784"/>
                <a:ext cx="480" cy="0"/>
              </a:xfrm>
              <a:prstGeom prst="line">
                <a:avLst/>
              </a:prstGeom>
              <a:noFill/>
              <a:ln w="38100">
                <a:solidFill>
                  <a:schemeClr val="tx1"/>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9414" name="Line 18"/>
              <p:cNvSpPr>
                <a:spLocks noChangeShapeType="1"/>
              </p:cNvSpPr>
              <p:nvPr/>
            </p:nvSpPr>
            <p:spPr bwMode="auto">
              <a:xfrm>
                <a:off x="4608" y="2736"/>
                <a:ext cx="14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9415" name="Line 19"/>
              <p:cNvSpPr>
                <a:spLocks noChangeShapeType="1"/>
              </p:cNvSpPr>
              <p:nvPr/>
            </p:nvSpPr>
            <p:spPr bwMode="auto">
              <a:xfrm>
                <a:off x="4608" y="2832"/>
                <a:ext cx="14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9416" name="Line 20"/>
              <p:cNvSpPr>
                <a:spLocks noChangeShapeType="1"/>
              </p:cNvSpPr>
              <p:nvPr/>
            </p:nvSpPr>
            <p:spPr bwMode="auto">
              <a:xfrm flipV="1">
                <a:off x="4973" y="2673"/>
                <a:ext cx="192" cy="111"/>
              </a:xfrm>
              <a:prstGeom prst="line">
                <a:avLst/>
              </a:prstGeom>
              <a:noFill/>
              <a:ln w="28575">
                <a:solidFill>
                  <a:schemeClr val="tx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59402" name="Group 21"/>
            <p:cNvGrpSpPr/>
            <p:nvPr/>
          </p:nvGrpSpPr>
          <p:grpSpPr bwMode="auto">
            <a:xfrm rot="-5400000">
              <a:off x="2976" y="2064"/>
              <a:ext cx="624" cy="336"/>
              <a:chOff x="4320" y="2592"/>
              <a:chExt cx="864" cy="384"/>
            </a:xfrm>
          </p:grpSpPr>
          <p:sp>
            <p:nvSpPr>
              <p:cNvPr id="59407" name="Oval 22"/>
              <p:cNvSpPr>
                <a:spLocks noChangeArrowheads="1"/>
              </p:cNvSpPr>
              <p:nvPr/>
            </p:nvSpPr>
            <p:spPr bwMode="auto">
              <a:xfrm>
                <a:off x="4800" y="2592"/>
                <a:ext cx="384" cy="384"/>
              </a:xfrm>
              <a:prstGeom prst="ellipse">
                <a:avLst/>
              </a:prstGeom>
              <a:noFill/>
              <a:ln w="38100">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9408" name="Line 23"/>
              <p:cNvSpPr>
                <a:spLocks noChangeShapeType="1"/>
              </p:cNvSpPr>
              <p:nvPr/>
            </p:nvSpPr>
            <p:spPr bwMode="auto">
              <a:xfrm>
                <a:off x="4320" y="2784"/>
                <a:ext cx="480" cy="0"/>
              </a:xfrm>
              <a:prstGeom prst="line">
                <a:avLst/>
              </a:prstGeom>
              <a:noFill/>
              <a:ln w="38100">
                <a:solidFill>
                  <a:schemeClr val="tx1"/>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9409" name="Line 24"/>
              <p:cNvSpPr>
                <a:spLocks noChangeShapeType="1"/>
              </p:cNvSpPr>
              <p:nvPr/>
            </p:nvSpPr>
            <p:spPr bwMode="auto">
              <a:xfrm>
                <a:off x="4608" y="2736"/>
                <a:ext cx="14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9410" name="Line 25"/>
              <p:cNvSpPr>
                <a:spLocks noChangeShapeType="1"/>
              </p:cNvSpPr>
              <p:nvPr/>
            </p:nvSpPr>
            <p:spPr bwMode="auto">
              <a:xfrm>
                <a:off x="4608" y="2832"/>
                <a:ext cx="14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9411" name="Line 26"/>
              <p:cNvSpPr>
                <a:spLocks noChangeShapeType="1"/>
              </p:cNvSpPr>
              <p:nvPr/>
            </p:nvSpPr>
            <p:spPr bwMode="auto">
              <a:xfrm flipV="1">
                <a:off x="4992" y="2673"/>
                <a:ext cx="192" cy="111"/>
              </a:xfrm>
              <a:prstGeom prst="line">
                <a:avLst/>
              </a:prstGeom>
              <a:noFill/>
              <a:ln w="28575">
                <a:solidFill>
                  <a:schemeClr val="tx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59403" name="Line 27"/>
            <p:cNvSpPr>
              <a:spLocks noChangeShapeType="1"/>
            </p:cNvSpPr>
            <p:nvPr/>
          </p:nvSpPr>
          <p:spPr bwMode="auto">
            <a:xfrm>
              <a:off x="960" y="3216"/>
              <a:ext cx="1632" cy="0"/>
            </a:xfrm>
            <a:prstGeom prst="line">
              <a:avLst/>
            </a:prstGeom>
            <a:noFill/>
            <a:ln w="38100">
              <a:solidFill>
                <a:srgbClr val="FF0000"/>
              </a:solidFill>
              <a:prstDash val="lg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9404" name="Arc 28"/>
            <p:cNvSpPr/>
            <p:nvPr/>
          </p:nvSpPr>
          <p:spPr bwMode="auto">
            <a:xfrm>
              <a:off x="2496" y="2496"/>
              <a:ext cx="927" cy="1584"/>
            </a:xfrm>
            <a:custGeom>
              <a:avLst/>
              <a:gdLst>
                <a:gd name="T0" fmla="*/ 0 w 34752"/>
                <a:gd name="T1" fmla="*/ 0 h 43200"/>
                <a:gd name="T2" fmla="*/ 0 w 34752"/>
                <a:gd name="T3" fmla="*/ 0 h 43200"/>
                <a:gd name="T4" fmla="*/ 0 w 34752"/>
                <a:gd name="T5" fmla="*/ 0 h 43200"/>
                <a:gd name="T6" fmla="*/ 0 60000 65536"/>
                <a:gd name="T7" fmla="*/ 0 60000 65536"/>
                <a:gd name="T8" fmla="*/ 0 60000 65536"/>
              </a:gdLst>
              <a:ahLst/>
              <a:cxnLst>
                <a:cxn ang="T6">
                  <a:pos x="T0" y="T1"/>
                </a:cxn>
                <a:cxn ang="T7">
                  <a:pos x="T2" y="T3"/>
                </a:cxn>
                <a:cxn ang="T8">
                  <a:pos x="T4" y="T5"/>
                </a:cxn>
              </a:cxnLst>
              <a:rect l="0" t="0" r="r" b="b"/>
              <a:pathLst>
                <a:path w="34752" h="43200" fill="none" extrusionOk="0">
                  <a:moveTo>
                    <a:pt x="13151" y="0"/>
                  </a:moveTo>
                  <a:cubicBezTo>
                    <a:pt x="25081" y="0"/>
                    <a:pt x="34752" y="9670"/>
                    <a:pt x="34752" y="21600"/>
                  </a:cubicBezTo>
                  <a:cubicBezTo>
                    <a:pt x="34752" y="33529"/>
                    <a:pt x="25081" y="43200"/>
                    <a:pt x="13152" y="43200"/>
                  </a:cubicBezTo>
                  <a:cubicBezTo>
                    <a:pt x="8395" y="43200"/>
                    <a:pt x="3772" y="41630"/>
                    <a:pt x="-1" y="38734"/>
                  </a:cubicBezTo>
                </a:path>
                <a:path w="34752" h="43200" stroke="0" extrusionOk="0">
                  <a:moveTo>
                    <a:pt x="13151" y="0"/>
                  </a:moveTo>
                  <a:cubicBezTo>
                    <a:pt x="25081" y="0"/>
                    <a:pt x="34752" y="9670"/>
                    <a:pt x="34752" y="21600"/>
                  </a:cubicBezTo>
                  <a:cubicBezTo>
                    <a:pt x="34752" y="33529"/>
                    <a:pt x="25081" y="43200"/>
                    <a:pt x="13152" y="43200"/>
                  </a:cubicBezTo>
                  <a:cubicBezTo>
                    <a:pt x="8395" y="43200"/>
                    <a:pt x="3772" y="41630"/>
                    <a:pt x="-1" y="38734"/>
                  </a:cubicBezTo>
                  <a:lnTo>
                    <a:pt x="13152" y="21600"/>
                  </a:lnTo>
                  <a:lnTo>
                    <a:pt x="13151" y="0"/>
                  </a:lnTo>
                  <a:close/>
                </a:path>
              </a:pathLst>
            </a:custGeom>
            <a:noFill/>
            <a:ln w="38100">
              <a:solidFill>
                <a:srgbClr val="FF0000"/>
              </a:solidFill>
              <a:roun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9405" name="Line 29"/>
            <p:cNvSpPr>
              <a:spLocks noChangeShapeType="1"/>
            </p:cNvSpPr>
            <p:nvPr/>
          </p:nvSpPr>
          <p:spPr bwMode="auto">
            <a:xfrm rot="5400000">
              <a:off x="4104" y="2232"/>
              <a:ext cx="0" cy="528"/>
            </a:xfrm>
            <a:prstGeom prst="line">
              <a:avLst/>
            </a:prstGeom>
            <a:noFill/>
            <a:ln w="38100">
              <a:solidFill>
                <a:srgbClr val="FF0000"/>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9406" name="Line 30"/>
            <p:cNvSpPr>
              <a:spLocks noChangeShapeType="1"/>
            </p:cNvSpPr>
            <p:nvPr/>
          </p:nvSpPr>
          <p:spPr bwMode="auto">
            <a:xfrm>
              <a:off x="3648" y="1920"/>
              <a:ext cx="0" cy="528"/>
            </a:xfrm>
            <a:prstGeom prst="line">
              <a:avLst/>
            </a:prstGeom>
            <a:noFill/>
            <a:ln w="38100">
              <a:solidFill>
                <a:srgbClr val="FF0000"/>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cxnSp>
        <p:nvCxnSpPr>
          <p:cNvPr id="30" name="直接连接符 29"/>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1316"/>
                                        </p:tgtEl>
                                        <p:attrNameLst>
                                          <p:attrName>style.visibility</p:attrName>
                                        </p:attrNameLst>
                                      </p:cBhvr>
                                      <p:to>
                                        <p:strVal val="visible"/>
                                      </p:to>
                                    </p:set>
                                    <p:animEffect transition="in" filter="wipe(left)">
                                      <p:cBhvr>
                                        <p:cTn id="7" dur="300"/>
                                        <p:tgtEl>
                                          <p:spTgt spid="1413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1322"/>
                                        </p:tgtEl>
                                        <p:attrNameLst>
                                          <p:attrName>style.visibility</p:attrName>
                                        </p:attrNameLst>
                                      </p:cBhvr>
                                      <p:to>
                                        <p:strVal val="visible"/>
                                      </p:to>
                                    </p:set>
                                    <p:anim calcmode="lin" valueType="num">
                                      <p:cBhvr additive="base">
                                        <p:cTn id="12" dur="500" fill="hold"/>
                                        <p:tgtEl>
                                          <p:spTgt spid="141322"/>
                                        </p:tgtEl>
                                        <p:attrNameLst>
                                          <p:attrName>ppt_x</p:attrName>
                                        </p:attrNameLst>
                                      </p:cBhvr>
                                      <p:tavLst>
                                        <p:tav tm="0">
                                          <p:val>
                                            <p:strVal val="0-#ppt_w/2"/>
                                          </p:val>
                                        </p:tav>
                                        <p:tav tm="100000">
                                          <p:val>
                                            <p:strVal val="#ppt_x"/>
                                          </p:val>
                                        </p:tav>
                                      </p:tavLst>
                                    </p:anim>
                                    <p:anim calcmode="lin" valueType="num">
                                      <p:cBhvr additive="base">
                                        <p:cTn id="13" dur="500" fill="hold"/>
                                        <p:tgtEl>
                                          <p:spTgt spid="14132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141317"/>
                                        </p:tgtEl>
                                        <p:attrNameLst>
                                          <p:attrName>style.visibility</p:attrName>
                                        </p:attrNameLst>
                                      </p:cBhvr>
                                      <p:to>
                                        <p:strVal val="visible"/>
                                      </p:to>
                                    </p:set>
                                    <p:animEffect transition="in" filter="wipe(left)">
                                      <p:cBhvr>
                                        <p:cTn id="18" dur="300"/>
                                        <p:tgtEl>
                                          <p:spTgt spid="141317"/>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nodeType="clickEffect">
                                  <p:stCondLst>
                                    <p:cond delay="0"/>
                                  </p:stCondLst>
                                  <p:childTnLst>
                                    <p:set>
                                      <p:cBhvr>
                                        <p:cTn id="22" dur="1" fill="hold">
                                          <p:stCondLst>
                                            <p:cond delay="0"/>
                                          </p:stCondLst>
                                        </p:cTn>
                                        <p:tgtEl>
                                          <p:spTgt spid="141319"/>
                                        </p:tgtEl>
                                        <p:attrNameLst>
                                          <p:attrName>style.visibility</p:attrName>
                                        </p:attrNameLst>
                                      </p:cBhvr>
                                      <p:to>
                                        <p:strVal val="visible"/>
                                      </p:to>
                                    </p:set>
                                    <p:anim calcmode="lin" valueType="num">
                                      <p:cBhvr>
                                        <p:cTn id="23" dur="500" fill="hold"/>
                                        <p:tgtEl>
                                          <p:spTgt spid="141319"/>
                                        </p:tgtEl>
                                        <p:attrNameLst>
                                          <p:attrName>ppt_x</p:attrName>
                                        </p:attrNameLst>
                                      </p:cBhvr>
                                      <p:tavLst>
                                        <p:tav tm="0">
                                          <p:val>
                                            <p:strVal val="#ppt_x-#ppt_w/2"/>
                                          </p:val>
                                        </p:tav>
                                        <p:tav tm="100000">
                                          <p:val>
                                            <p:strVal val="#ppt_x"/>
                                          </p:val>
                                        </p:tav>
                                      </p:tavLst>
                                    </p:anim>
                                    <p:anim calcmode="lin" valueType="num">
                                      <p:cBhvr>
                                        <p:cTn id="24" dur="500" fill="hold"/>
                                        <p:tgtEl>
                                          <p:spTgt spid="141319"/>
                                        </p:tgtEl>
                                        <p:attrNameLst>
                                          <p:attrName>ppt_y</p:attrName>
                                        </p:attrNameLst>
                                      </p:cBhvr>
                                      <p:tavLst>
                                        <p:tav tm="0">
                                          <p:val>
                                            <p:strVal val="#ppt_y"/>
                                          </p:val>
                                        </p:tav>
                                        <p:tav tm="100000">
                                          <p:val>
                                            <p:strVal val="#ppt_y"/>
                                          </p:val>
                                        </p:tav>
                                      </p:tavLst>
                                    </p:anim>
                                    <p:anim calcmode="lin" valueType="num">
                                      <p:cBhvr>
                                        <p:cTn id="25" dur="500" fill="hold"/>
                                        <p:tgtEl>
                                          <p:spTgt spid="141319"/>
                                        </p:tgtEl>
                                        <p:attrNameLst>
                                          <p:attrName>ppt_w</p:attrName>
                                        </p:attrNameLst>
                                      </p:cBhvr>
                                      <p:tavLst>
                                        <p:tav tm="0">
                                          <p:val>
                                            <p:fltVal val="0"/>
                                          </p:val>
                                        </p:tav>
                                        <p:tav tm="100000">
                                          <p:val>
                                            <p:strVal val="#ppt_w"/>
                                          </p:val>
                                        </p:tav>
                                      </p:tavLst>
                                    </p:anim>
                                    <p:anim calcmode="lin" valueType="num">
                                      <p:cBhvr>
                                        <p:cTn id="26" dur="500" fill="hold"/>
                                        <p:tgtEl>
                                          <p:spTgt spid="141319"/>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wd">
                                    <p:tmPct val="100000"/>
                                  </p:iterate>
                                  <p:childTnLst>
                                    <p:set>
                                      <p:cBhvr>
                                        <p:cTn id="30" dur="1" fill="hold">
                                          <p:stCondLst>
                                            <p:cond delay="0"/>
                                          </p:stCondLst>
                                        </p:cTn>
                                        <p:tgtEl>
                                          <p:spTgt spid="141318"/>
                                        </p:tgtEl>
                                        <p:attrNameLst>
                                          <p:attrName>style.visibility</p:attrName>
                                        </p:attrNameLst>
                                      </p:cBhvr>
                                      <p:to>
                                        <p:strVal val="visible"/>
                                      </p:to>
                                    </p:set>
                                    <p:animEffect transition="in" filter="wipe(left)">
                                      <p:cBhvr>
                                        <p:cTn id="31" dur="300"/>
                                        <p:tgtEl>
                                          <p:spTgt spid="141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6" grpId="0" autoUpdateAnimBg="0"/>
      <p:bldP spid="141317" grpId="0" autoUpdateAnimBg="0"/>
      <p:bldP spid="141318"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A07C04C-C8FB-4636-816E-147AB4F9197D}" type="slidenum">
              <a:rPr lang="en-US" altLang="zh-CN" sz="2000" smtClean="0">
                <a:solidFill>
                  <a:srgbClr val="0000FF"/>
                </a:solidFill>
              </a:rPr>
              <a:pPr eaLnBrk="1" hangingPunct="1"/>
              <a:t>42</a:t>
            </a:fld>
            <a:endParaRPr lang="en-US" altLang="zh-CN" sz="2000" dirty="0" smtClean="0">
              <a:solidFill>
                <a:srgbClr val="0000FF"/>
              </a:solidFill>
            </a:endParaRPr>
          </a:p>
        </p:txBody>
      </p:sp>
      <p:sp>
        <p:nvSpPr>
          <p:cNvPr id="13377" name="Text Box 65"/>
          <p:cNvSpPr txBox="1">
            <a:spLocks noChangeArrowheads="1"/>
          </p:cNvSpPr>
          <p:nvPr/>
        </p:nvSpPr>
        <p:spPr bwMode="auto">
          <a:xfrm>
            <a:off x="369887" y="785794"/>
            <a:ext cx="41306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t>①  </a:t>
            </a:r>
            <a:r>
              <a:rPr lang="zh-CN" altLang="en-US" sz="2000" b="1" dirty="0"/>
              <a:t>径向圆跳动公差带</a:t>
            </a:r>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 Box 4"/>
          <p:cNvSpPr txBox="1">
            <a:spLocks noChangeArrowheads="1"/>
          </p:cNvSpPr>
          <p:nvPr/>
        </p:nvSpPr>
        <p:spPr bwMode="auto">
          <a:xfrm>
            <a:off x="214282" y="181253"/>
            <a:ext cx="335758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a:t>
            </a:r>
            <a:r>
              <a:rPr lang="en-US" altLang="zh-CN" b="1" dirty="0"/>
              <a:t>1</a:t>
            </a:r>
            <a:r>
              <a:rPr lang="zh-CN" altLang="en-US" b="1" dirty="0"/>
              <a:t>）圆</a:t>
            </a:r>
            <a:r>
              <a:rPr lang="zh-CN" altLang="en-US" b="1" dirty="0" smtClean="0"/>
              <a:t>跳动公差</a:t>
            </a:r>
            <a:endParaRPr lang="zh-CN" altLang="en-US" b="1" dirty="0"/>
          </a:p>
        </p:txBody>
      </p:sp>
      <p:pic>
        <p:nvPicPr>
          <p:cNvPr id="1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14348" y="1465428"/>
            <a:ext cx="4714908" cy="25350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 name="Picture 4"/>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857884" y="1000108"/>
            <a:ext cx="2448272" cy="31379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6" name="矩形 15"/>
          <p:cNvSpPr/>
          <p:nvPr/>
        </p:nvSpPr>
        <p:spPr>
          <a:xfrm>
            <a:off x="500034" y="4357694"/>
            <a:ext cx="7929618" cy="1015663"/>
          </a:xfrm>
          <a:prstGeom prst="rect">
            <a:avLst/>
          </a:prstGeom>
        </p:spPr>
        <p:txBody>
          <a:bodyPr wrap="square">
            <a:spAutoFit/>
          </a:bodyPr>
          <a:lstStyle/>
          <a:p>
            <a:r>
              <a:rPr lang="zh-CN" altLang="en-US" sz="2000" b="1" dirty="0" smtClean="0"/>
              <a:t>          在</a:t>
            </a:r>
            <a:r>
              <a:rPr lang="zh-CN" altLang="en-US" sz="2000" b="1" dirty="0"/>
              <a:t>任一平行于基准平面</a:t>
            </a:r>
            <a:r>
              <a:rPr lang="en-US" altLang="zh-CN" sz="2000" b="1" i="1" dirty="0"/>
              <a:t>B</a:t>
            </a:r>
            <a:r>
              <a:rPr lang="zh-CN" altLang="en-US" sz="2000" b="1" dirty="0"/>
              <a:t>、垂直于基准轴线</a:t>
            </a:r>
            <a:r>
              <a:rPr lang="en-US" altLang="zh-CN" sz="2000" b="1" dirty="0"/>
              <a:t>A </a:t>
            </a:r>
            <a:r>
              <a:rPr lang="zh-CN" altLang="en-US" sz="2000" b="1" dirty="0"/>
              <a:t>的</a:t>
            </a:r>
            <a:r>
              <a:rPr lang="zh-CN" altLang="en-US" sz="2000" b="1" dirty="0" smtClean="0"/>
              <a:t>横截面</a:t>
            </a:r>
            <a:r>
              <a:rPr lang="zh-CN" altLang="en-US" sz="2000" b="1" dirty="0"/>
              <a:t>上</a:t>
            </a:r>
            <a:r>
              <a:rPr lang="en-US" altLang="zh-CN" sz="2000" b="1" dirty="0"/>
              <a:t>,</a:t>
            </a:r>
            <a:r>
              <a:rPr lang="zh-CN" altLang="en-US" sz="2000" b="1" dirty="0"/>
              <a:t>提取</a:t>
            </a:r>
            <a:r>
              <a:rPr lang="en-US" altLang="zh-CN" sz="2000" b="1" dirty="0"/>
              <a:t>(</a:t>
            </a:r>
            <a:r>
              <a:rPr lang="zh-CN" altLang="en-US" sz="2000" b="1" dirty="0"/>
              <a:t>实际</a:t>
            </a:r>
            <a:r>
              <a:rPr lang="en-US" altLang="zh-CN" sz="2000" b="1" dirty="0"/>
              <a:t>) </a:t>
            </a:r>
            <a:r>
              <a:rPr lang="zh-CN" altLang="en-US" sz="2000" b="1" dirty="0"/>
              <a:t>圆应限定在半径差等于</a:t>
            </a:r>
            <a:r>
              <a:rPr lang="en-US" altLang="zh-CN" sz="2000" b="1" dirty="0"/>
              <a:t>0. 1</a:t>
            </a:r>
            <a:r>
              <a:rPr lang="zh-CN" altLang="en-US" sz="2000" b="1" dirty="0"/>
              <a:t>、圆心</a:t>
            </a:r>
            <a:r>
              <a:rPr lang="zh-CN" altLang="en-US" sz="2000" b="1" dirty="0" smtClean="0"/>
              <a:t>在基准</a:t>
            </a:r>
            <a:r>
              <a:rPr lang="zh-CN" altLang="en-US" sz="2000" b="1" dirty="0"/>
              <a:t>轴线</a:t>
            </a:r>
            <a:r>
              <a:rPr lang="en-US" altLang="zh-CN" sz="2000" b="1" i="1" u="sng" dirty="0"/>
              <a:t>A</a:t>
            </a:r>
            <a:r>
              <a:rPr lang="en-US" altLang="zh-CN" sz="2000" b="1" dirty="0"/>
              <a:t> </a:t>
            </a:r>
            <a:r>
              <a:rPr lang="zh-CN" altLang="en-US" sz="2000" b="1" dirty="0"/>
              <a:t>上的两共面同心圆</a:t>
            </a:r>
            <a:r>
              <a:rPr lang="zh-CN" altLang="en-US" sz="2000" b="1" dirty="0" smtClean="0"/>
              <a:t>之间。</a:t>
            </a:r>
            <a:endParaRPr lang="zh-CN" altLang="en-US" sz="2000" b="1" dirty="0"/>
          </a:p>
        </p:txBody>
      </p:sp>
      <p:sp>
        <p:nvSpPr>
          <p:cNvPr id="17" name="矩形 16"/>
          <p:cNvSpPr/>
          <p:nvPr/>
        </p:nvSpPr>
        <p:spPr>
          <a:xfrm>
            <a:off x="428596" y="5500702"/>
            <a:ext cx="8143932" cy="707886"/>
          </a:xfrm>
          <a:prstGeom prst="rect">
            <a:avLst/>
          </a:prstGeom>
        </p:spPr>
        <p:txBody>
          <a:bodyPr wrap="square">
            <a:spAutoFit/>
          </a:bodyPr>
          <a:lstStyle/>
          <a:p>
            <a:r>
              <a:rPr lang="zh-CN" altLang="en-US" sz="2000" b="1" dirty="0" smtClean="0"/>
              <a:t>        公差带</a:t>
            </a:r>
            <a:r>
              <a:rPr lang="zh-CN" altLang="en-US" sz="2000" b="1" dirty="0"/>
              <a:t>为在平行于基准平面</a:t>
            </a:r>
            <a:r>
              <a:rPr lang="en-US" altLang="zh-CN" sz="2000" b="1" i="1" dirty="0"/>
              <a:t>B</a:t>
            </a:r>
            <a:r>
              <a:rPr lang="en-US" altLang="zh-CN" sz="2000" b="1" dirty="0"/>
              <a:t> </a:t>
            </a:r>
            <a:r>
              <a:rPr lang="zh-CN" altLang="en-US" sz="2000" b="1" dirty="0"/>
              <a:t>任一垂直于</a:t>
            </a:r>
            <a:r>
              <a:rPr lang="zh-CN" altLang="en-US" sz="2000" b="1" dirty="0" smtClean="0"/>
              <a:t>基准</a:t>
            </a:r>
            <a:r>
              <a:rPr lang="zh-CN" altLang="en-US" sz="2000" b="1" dirty="0"/>
              <a:t>轴线</a:t>
            </a:r>
            <a:r>
              <a:rPr lang="en-US" altLang="zh-CN" sz="2000" b="1" i="1" dirty="0"/>
              <a:t>A</a:t>
            </a:r>
            <a:r>
              <a:rPr lang="en-US" altLang="zh-CN" sz="2000" b="1" dirty="0"/>
              <a:t> </a:t>
            </a:r>
            <a:r>
              <a:rPr lang="zh-CN" altLang="en-US" sz="2000" b="1" dirty="0"/>
              <a:t>的横截面内、半径差等于公差</a:t>
            </a:r>
            <a:r>
              <a:rPr lang="zh-CN" altLang="en-US" sz="2000" b="1" dirty="0" smtClean="0"/>
              <a:t>值</a:t>
            </a:r>
            <a:r>
              <a:rPr lang="zh-CN" altLang="en-US" sz="2000" b="1" i="1" dirty="0" smtClean="0"/>
              <a:t> </a:t>
            </a:r>
            <a:r>
              <a:rPr lang="en-US" altLang="zh-CN" sz="2000" b="1" i="1" dirty="0" smtClean="0"/>
              <a:t>t</a:t>
            </a:r>
            <a:r>
              <a:rPr lang="zh-CN" altLang="en-US" sz="2000" b="1" dirty="0" smtClean="0"/>
              <a:t>、圆心在</a:t>
            </a:r>
            <a:r>
              <a:rPr lang="zh-CN" altLang="en-US" sz="2000" b="1" dirty="0"/>
              <a:t>基准轴线上的两同心圆所限定的区域</a:t>
            </a:r>
            <a:r>
              <a:rPr lang="zh-CN" altLang="en-US" sz="2000" b="1" dirty="0" smtClean="0"/>
              <a:t>。</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377"/>
                                        </p:tgtEl>
                                        <p:attrNameLst>
                                          <p:attrName>style.visibility</p:attrName>
                                        </p:attrNameLst>
                                      </p:cBhvr>
                                      <p:to>
                                        <p:strVal val="visible"/>
                                      </p:to>
                                    </p:set>
                                    <p:animEffect transition="in" filter="wipe(left)">
                                      <p:cBhvr>
                                        <p:cTn id="7" dur="300"/>
                                        <p:tgtEl>
                                          <p:spTgt spid="13377"/>
                                        </p:tgtEl>
                                      </p:cBhvr>
                                    </p:animEffect>
                                  </p:childTnLst>
                                </p:cTn>
                              </p:par>
                            </p:childTnLst>
                          </p:cTn>
                        </p:par>
                        <p:par>
                          <p:cTn id="8" fill="hold">
                            <p:stCondLst>
                              <p:cond delay="15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13"/>
                                        </p:tgtEl>
                                        <p:attrNameLst>
                                          <p:attrName>style.visibility</p:attrName>
                                        </p:attrNameLst>
                                      </p:cBhvr>
                                      <p:to>
                                        <p:strVal val="visible"/>
                                      </p:to>
                                    </p:set>
                                    <p:animEffect transition="in" filter="wipe(left)">
                                      <p:cBhvr>
                                        <p:cTn id="11" dur="3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1+#ppt_w/2"/>
                                          </p:val>
                                        </p:tav>
                                        <p:tav tm="100000">
                                          <p:val>
                                            <p:strVal val="#ppt_x"/>
                                          </p:val>
                                        </p:tav>
                                      </p:tavLst>
                                    </p:anim>
                                    <p:anim calcmode="lin" valueType="num">
                                      <p:cBhvr additive="base">
                                        <p:cTn id="23"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left)">
                                      <p:cBhvr>
                                        <p:cTn id="3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77" grpId="0" autoUpdateAnimBg="0"/>
      <p:bldP spid="13" grpId="0" autoUpdateAnimBg="0"/>
      <p:bldP spid="16" grpId="0"/>
      <p:bldP spid="1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40496F1B-9803-4895-9E5E-EB61D801B00C}" type="slidenum">
              <a:rPr lang="en-US" altLang="zh-CN" sz="2000" smtClean="0">
                <a:solidFill>
                  <a:srgbClr val="0000FF"/>
                </a:solidFill>
              </a:rPr>
              <a:pPr eaLnBrk="1" hangingPunct="1"/>
              <a:t>43</a:t>
            </a:fld>
            <a:endParaRPr lang="en-US" altLang="zh-CN" sz="2000" smtClean="0">
              <a:solidFill>
                <a:srgbClr val="0000FF"/>
              </a:solidFill>
            </a:endParaRPr>
          </a:p>
        </p:txBody>
      </p:sp>
      <p:sp>
        <p:nvSpPr>
          <p:cNvPr id="142346" name="Text Box 10"/>
          <p:cNvSpPr txBox="1">
            <a:spLocks noChangeArrowheads="1"/>
          </p:cNvSpPr>
          <p:nvPr/>
        </p:nvSpPr>
        <p:spPr bwMode="auto">
          <a:xfrm>
            <a:off x="357158" y="785794"/>
            <a:ext cx="41306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t>②  </a:t>
            </a:r>
            <a:r>
              <a:rPr lang="zh-CN" altLang="en-US" sz="2000" b="1" dirty="0"/>
              <a:t>轴向圆跳动公差带</a:t>
            </a:r>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pic>
        <p:nvPicPr>
          <p:cNvPr id="13"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l="1897" r="3268"/>
          <a:stretch>
            <a:fillRect/>
          </a:stretch>
        </p:blipFill>
        <p:spPr bwMode="auto">
          <a:xfrm>
            <a:off x="642910" y="1428736"/>
            <a:ext cx="3857652" cy="19288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4"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l="7781" r="6627"/>
          <a:stretch>
            <a:fillRect/>
          </a:stretch>
        </p:blipFill>
        <p:spPr bwMode="auto">
          <a:xfrm>
            <a:off x="4714876" y="1357298"/>
            <a:ext cx="3539098" cy="19288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5" name="Text Box 4"/>
          <p:cNvSpPr txBox="1">
            <a:spLocks noChangeArrowheads="1"/>
          </p:cNvSpPr>
          <p:nvPr/>
        </p:nvSpPr>
        <p:spPr bwMode="auto">
          <a:xfrm>
            <a:off x="214282" y="181253"/>
            <a:ext cx="335758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a:t>
            </a:r>
            <a:r>
              <a:rPr lang="en-US" altLang="zh-CN" b="1" dirty="0"/>
              <a:t>1</a:t>
            </a:r>
            <a:r>
              <a:rPr lang="zh-CN" altLang="en-US" b="1" dirty="0"/>
              <a:t>）圆</a:t>
            </a:r>
            <a:r>
              <a:rPr lang="zh-CN" altLang="en-US" b="1" dirty="0" smtClean="0"/>
              <a:t>跳动公差</a:t>
            </a:r>
            <a:endParaRPr lang="zh-CN" altLang="en-US" b="1" dirty="0"/>
          </a:p>
        </p:txBody>
      </p:sp>
      <p:sp>
        <p:nvSpPr>
          <p:cNvPr id="16" name="矩形 15"/>
          <p:cNvSpPr/>
          <p:nvPr/>
        </p:nvSpPr>
        <p:spPr>
          <a:xfrm>
            <a:off x="572612" y="3429000"/>
            <a:ext cx="7959828" cy="707886"/>
          </a:xfrm>
          <a:prstGeom prst="rect">
            <a:avLst/>
          </a:prstGeom>
        </p:spPr>
        <p:txBody>
          <a:bodyPr wrap="square">
            <a:spAutoFit/>
          </a:bodyPr>
          <a:lstStyle/>
          <a:p>
            <a:r>
              <a:rPr lang="zh-CN" altLang="en-US" sz="2000" b="1" dirty="0" smtClean="0"/>
              <a:t>         在</a:t>
            </a:r>
            <a:r>
              <a:rPr lang="zh-CN" altLang="en-US" sz="2000" b="1" dirty="0"/>
              <a:t>与基准轴线</a:t>
            </a:r>
            <a:r>
              <a:rPr lang="en-US" altLang="zh-CN" sz="2000" b="1" i="1" dirty="0"/>
              <a:t>D</a:t>
            </a:r>
            <a:r>
              <a:rPr lang="en-US" altLang="zh-CN" sz="2000" b="1" dirty="0"/>
              <a:t> </a:t>
            </a:r>
            <a:r>
              <a:rPr lang="zh-CN" altLang="en-US" sz="2000" b="1" dirty="0"/>
              <a:t>同轴的任一圆柱形截面</a:t>
            </a:r>
            <a:r>
              <a:rPr lang="zh-CN" altLang="en-US" sz="2000" b="1" dirty="0" smtClean="0"/>
              <a:t>上，提取</a:t>
            </a:r>
            <a:r>
              <a:rPr lang="en-US" altLang="zh-CN" sz="2000" b="1" dirty="0"/>
              <a:t>(</a:t>
            </a:r>
            <a:r>
              <a:rPr lang="zh-CN" altLang="en-US" sz="2000" b="1" dirty="0" smtClean="0"/>
              <a:t>实际</a:t>
            </a:r>
            <a:r>
              <a:rPr lang="en-US" altLang="zh-CN" sz="2000" b="1" dirty="0"/>
              <a:t>) </a:t>
            </a:r>
            <a:r>
              <a:rPr lang="zh-CN" altLang="en-US" sz="2000" b="1" dirty="0"/>
              <a:t>圆应限定在轴向距离等于</a:t>
            </a:r>
            <a:r>
              <a:rPr lang="en-US" altLang="zh-CN" sz="2000" b="1" dirty="0"/>
              <a:t>0. 1 </a:t>
            </a:r>
            <a:r>
              <a:rPr lang="zh-CN" altLang="en-US" sz="2000" b="1" dirty="0"/>
              <a:t>的两个等圆</a:t>
            </a:r>
            <a:r>
              <a:rPr lang="zh-CN" altLang="en-US" sz="2000" b="1" dirty="0" smtClean="0"/>
              <a:t>之间。</a:t>
            </a:r>
            <a:endParaRPr lang="zh-CN" altLang="en-US" sz="2000" b="1" dirty="0"/>
          </a:p>
        </p:txBody>
      </p:sp>
      <p:sp>
        <p:nvSpPr>
          <p:cNvPr id="17" name="矩形 16"/>
          <p:cNvSpPr/>
          <p:nvPr/>
        </p:nvSpPr>
        <p:spPr>
          <a:xfrm>
            <a:off x="645190" y="4643446"/>
            <a:ext cx="4214842" cy="1015663"/>
          </a:xfrm>
          <a:prstGeom prst="rect">
            <a:avLst/>
          </a:prstGeom>
        </p:spPr>
        <p:txBody>
          <a:bodyPr wrap="square">
            <a:spAutoFit/>
          </a:bodyPr>
          <a:lstStyle/>
          <a:p>
            <a:r>
              <a:rPr lang="zh-CN" altLang="en-US" sz="2000" b="1" dirty="0" smtClean="0"/>
              <a:t>         公差带</a:t>
            </a:r>
            <a:r>
              <a:rPr lang="zh-CN" altLang="en-US" sz="2000" b="1" dirty="0"/>
              <a:t>为与基准轴线同轴的任一半径的</a:t>
            </a:r>
            <a:r>
              <a:rPr lang="zh-CN" altLang="en-US" sz="2000" b="1" dirty="0" smtClean="0"/>
              <a:t>圆柱截面</a:t>
            </a:r>
            <a:r>
              <a:rPr lang="zh-CN" altLang="en-US" sz="2000" b="1" dirty="0"/>
              <a:t>上、间距等于公差值</a:t>
            </a:r>
            <a:r>
              <a:rPr lang="en-US" altLang="zh-CN" sz="2000" b="1" i="1" dirty="0"/>
              <a:t>t</a:t>
            </a:r>
            <a:r>
              <a:rPr lang="en-US" altLang="zh-CN" sz="2000" b="1" dirty="0"/>
              <a:t> </a:t>
            </a:r>
            <a:r>
              <a:rPr lang="zh-CN" altLang="en-US" sz="2000" b="1" dirty="0"/>
              <a:t>的两圆所限定的圆柱面</a:t>
            </a:r>
            <a:r>
              <a:rPr lang="zh-CN" altLang="en-US" sz="2000" b="1" dirty="0" smtClean="0"/>
              <a:t>区域。</a:t>
            </a:r>
            <a:endParaRPr lang="zh-CN" altLang="en-US" sz="2000" b="1" dirty="0"/>
          </a:p>
        </p:txBody>
      </p:sp>
      <p:pic>
        <p:nvPicPr>
          <p:cNvPr id="18" name="Picture 5"/>
          <p:cNvPicPr>
            <a:picLocks noChangeAspect="1" noChangeArrowheads="1"/>
          </p:cNvPicPr>
          <p:nvPr/>
        </p:nvPicPr>
        <p:blipFill>
          <a:blip r:embed="rId4">
            <a:extLst>
              <a:ext uri="{28A0092B-C50C-407E-A947-70E740481C1C}">
                <a14:useLocalDpi xmlns:a14="http://schemas.microsoft.com/office/drawing/2010/main" xmlns="" val="0"/>
              </a:ext>
            </a:extLst>
          </a:blip>
          <a:srcRect b="8814"/>
          <a:stretch>
            <a:fillRect/>
          </a:stretch>
        </p:blipFill>
        <p:spPr bwMode="auto">
          <a:xfrm>
            <a:off x="5214942" y="3929066"/>
            <a:ext cx="2643206" cy="27533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2346"/>
                                        </p:tgtEl>
                                        <p:attrNameLst>
                                          <p:attrName>style.visibility</p:attrName>
                                        </p:attrNameLst>
                                      </p:cBhvr>
                                      <p:to>
                                        <p:strVal val="visible"/>
                                      </p:to>
                                    </p:set>
                                    <p:animEffect transition="in" filter="wipe(left)">
                                      <p:cBhvr>
                                        <p:cTn id="7" dur="300"/>
                                        <p:tgtEl>
                                          <p:spTgt spid="14234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0-#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fill="hold"/>
                                        <p:tgtEl>
                                          <p:spTgt spid="14"/>
                                        </p:tgtEl>
                                        <p:attrNameLst>
                                          <p:attrName>ppt_x</p:attrName>
                                        </p:attrNameLst>
                                      </p:cBhvr>
                                      <p:tavLst>
                                        <p:tav tm="0">
                                          <p:val>
                                            <p:strVal val="1+#ppt_w/2"/>
                                          </p:val>
                                        </p:tav>
                                        <p:tav tm="100000">
                                          <p:val>
                                            <p:strVal val="#ppt_x"/>
                                          </p:val>
                                        </p:tav>
                                      </p:tavLst>
                                    </p:anim>
                                    <p:anim calcmode="lin" valueType="num">
                                      <p:cBhvr additive="base">
                                        <p:cTn id="19" dur="500" fill="hold"/>
                                        <p:tgtEl>
                                          <p:spTgt spid="14"/>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2" presetClass="entr" presetSubtype="8" fill="hold" grpId="0" nodeType="afterEffect">
                                  <p:stCondLst>
                                    <p:cond delay="0"/>
                                  </p:stCondLst>
                                  <p:iterate type="wd">
                                    <p:tmPct val="100000"/>
                                  </p:iterate>
                                  <p:childTnLst>
                                    <p:set>
                                      <p:cBhvr>
                                        <p:cTn id="22" dur="1" fill="hold">
                                          <p:stCondLst>
                                            <p:cond delay="0"/>
                                          </p:stCondLst>
                                        </p:cTn>
                                        <p:tgtEl>
                                          <p:spTgt spid="15"/>
                                        </p:tgtEl>
                                        <p:attrNameLst>
                                          <p:attrName>style.visibility</p:attrName>
                                        </p:attrNameLst>
                                      </p:cBhvr>
                                      <p:to>
                                        <p:strVal val="visible"/>
                                      </p:to>
                                    </p:set>
                                    <p:animEffect transition="in" filter="wipe(left)">
                                      <p:cBhvr>
                                        <p:cTn id="23" dur="3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additive="base">
                                        <p:cTn id="38" dur="500" fill="hold"/>
                                        <p:tgtEl>
                                          <p:spTgt spid="18"/>
                                        </p:tgtEl>
                                        <p:attrNameLst>
                                          <p:attrName>ppt_x</p:attrName>
                                        </p:attrNameLst>
                                      </p:cBhvr>
                                      <p:tavLst>
                                        <p:tav tm="0">
                                          <p:val>
                                            <p:strVal val="#ppt_x"/>
                                          </p:val>
                                        </p:tav>
                                        <p:tav tm="100000">
                                          <p:val>
                                            <p:strVal val="#ppt_x"/>
                                          </p:val>
                                        </p:tav>
                                      </p:tavLst>
                                    </p:anim>
                                    <p:anim calcmode="lin" valueType="num">
                                      <p:cBhvr additive="base">
                                        <p:cTn id="3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6" grpId="0" autoUpdateAnimBg="0"/>
      <p:bldP spid="15" grpId="0" autoUpdateAnimBg="0"/>
      <p:bldP spid="16" grpId="0"/>
      <p:bldP spid="1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CEC6B52-C351-451A-A90D-CF50262C4644}" type="slidenum">
              <a:rPr lang="en-US" altLang="zh-CN" sz="2000" smtClean="0">
                <a:solidFill>
                  <a:srgbClr val="0000FF"/>
                </a:solidFill>
              </a:rPr>
              <a:pPr eaLnBrk="1" hangingPunct="1"/>
              <a:t>44</a:t>
            </a:fld>
            <a:endParaRPr lang="en-US" altLang="zh-CN" sz="2000" smtClean="0">
              <a:solidFill>
                <a:srgbClr val="0000FF"/>
              </a:solidFill>
            </a:endParaRPr>
          </a:p>
        </p:txBody>
      </p:sp>
      <p:sp>
        <p:nvSpPr>
          <p:cNvPr id="143371" name="Text Box 11"/>
          <p:cNvSpPr txBox="1">
            <a:spLocks noChangeArrowheads="1"/>
          </p:cNvSpPr>
          <p:nvPr/>
        </p:nvSpPr>
        <p:spPr bwMode="auto">
          <a:xfrm>
            <a:off x="357158" y="785794"/>
            <a:ext cx="41306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t>③  </a:t>
            </a:r>
            <a:r>
              <a:rPr lang="zh-CN" altLang="en-US" sz="2000" b="1" dirty="0"/>
              <a:t>斜向圆跳动公差带</a:t>
            </a:r>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 Box 4"/>
          <p:cNvSpPr txBox="1">
            <a:spLocks noChangeArrowheads="1"/>
          </p:cNvSpPr>
          <p:nvPr/>
        </p:nvSpPr>
        <p:spPr bwMode="auto">
          <a:xfrm>
            <a:off x="214282" y="181253"/>
            <a:ext cx="335758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a:t>
            </a:r>
            <a:r>
              <a:rPr lang="en-US" altLang="zh-CN" b="1" dirty="0"/>
              <a:t>1</a:t>
            </a:r>
            <a:r>
              <a:rPr lang="zh-CN" altLang="en-US" b="1" dirty="0"/>
              <a:t>）圆</a:t>
            </a:r>
            <a:r>
              <a:rPr lang="zh-CN" altLang="en-US" b="1" dirty="0" smtClean="0"/>
              <a:t>跳动公差</a:t>
            </a:r>
            <a:endParaRPr lang="zh-CN" altLang="en-US" b="1" dirty="0"/>
          </a:p>
        </p:txBody>
      </p:sp>
      <p:pic>
        <p:nvPicPr>
          <p:cNvPr id="14"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14876" y="2071678"/>
            <a:ext cx="3096353" cy="1857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000100" y="2000240"/>
            <a:ext cx="3176586" cy="17399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6" name="矩形 15"/>
          <p:cNvSpPr/>
          <p:nvPr/>
        </p:nvSpPr>
        <p:spPr>
          <a:xfrm>
            <a:off x="500035" y="1142984"/>
            <a:ext cx="8358246" cy="707886"/>
          </a:xfrm>
          <a:prstGeom prst="rect">
            <a:avLst/>
          </a:prstGeom>
        </p:spPr>
        <p:txBody>
          <a:bodyPr wrap="square">
            <a:spAutoFit/>
          </a:bodyPr>
          <a:lstStyle/>
          <a:p>
            <a:r>
              <a:rPr lang="zh-CN" altLang="en-US" sz="2000" b="1" dirty="0" smtClean="0"/>
              <a:t>         在</a:t>
            </a:r>
            <a:r>
              <a:rPr lang="zh-CN" altLang="en-US" sz="2000" b="1" dirty="0"/>
              <a:t>与基准轴线</a:t>
            </a:r>
            <a:r>
              <a:rPr lang="en-US" altLang="zh-CN" sz="2000" b="1" i="1" dirty="0"/>
              <a:t>C</a:t>
            </a:r>
            <a:r>
              <a:rPr lang="en-US" altLang="zh-CN" sz="2000" b="1" dirty="0"/>
              <a:t> </a:t>
            </a:r>
            <a:r>
              <a:rPr lang="zh-CN" altLang="en-US" sz="2000" b="1" dirty="0"/>
              <a:t>同轴的任一圆锥截面上</a:t>
            </a:r>
            <a:r>
              <a:rPr lang="en-US" altLang="zh-CN" sz="2000" b="1" dirty="0"/>
              <a:t>,</a:t>
            </a:r>
            <a:r>
              <a:rPr lang="zh-CN" altLang="en-US" sz="2000" b="1" dirty="0"/>
              <a:t>提取</a:t>
            </a:r>
            <a:r>
              <a:rPr lang="en-US" altLang="zh-CN" sz="2000" b="1" dirty="0"/>
              <a:t>(</a:t>
            </a:r>
            <a:r>
              <a:rPr lang="zh-CN" altLang="en-US" sz="2000" b="1" dirty="0" smtClean="0"/>
              <a:t>实际</a:t>
            </a:r>
            <a:r>
              <a:rPr lang="en-US" altLang="zh-CN" sz="2000" b="1" dirty="0"/>
              <a:t>) </a:t>
            </a:r>
            <a:r>
              <a:rPr lang="zh-CN" altLang="en-US" sz="2000" b="1" dirty="0"/>
              <a:t>线应限定在素线方向间距等于</a:t>
            </a:r>
            <a:r>
              <a:rPr lang="en-US" altLang="zh-CN" sz="2000" b="1" dirty="0"/>
              <a:t>0. 1 </a:t>
            </a:r>
            <a:r>
              <a:rPr lang="zh-CN" altLang="en-US" sz="2000" b="1" dirty="0"/>
              <a:t>的两不等圆</a:t>
            </a:r>
            <a:r>
              <a:rPr lang="zh-CN" altLang="en-US" sz="2000" b="1" dirty="0" smtClean="0"/>
              <a:t>之间</a:t>
            </a:r>
            <a:r>
              <a:rPr lang="en-US" altLang="zh-CN" sz="2000" b="1" dirty="0"/>
              <a:t>,</a:t>
            </a:r>
            <a:r>
              <a:rPr lang="zh-CN" altLang="en-US" sz="2000" b="1" dirty="0"/>
              <a:t>并且截面的锥角与被测要素垂直</a:t>
            </a:r>
            <a:r>
              <a:rPr lang="zh-CN" altLang="en-US" sz="2000" b="1" dirty="0" smtClean="0"/>
              <a:t>。</a:t>
            </a:r>
            <a:endParaRPr lang="en-US" altLang="zh-CN" sz="2000" b="1" dirty="0" smtClean="0"/>
          </a:p>
        </p:txBody>
      </p:sp>
      <p:sp>
        <p:nvSpPr>
          <p:cNvPr id="17" name="矩形 16"/>
          <p:cNvSpPr/>
          <p:nvPr/>
        </p:nvSpPr>
        <p:spPr>
          <a:xfrm>
            <a:off x="571472" y="4071942"/>
            <a:ext cx="4000528" cy="1015663"/>
          </a:xfrm>
          <a:prstGeom prst="rect">
            <a:avLst/>
          </a:prstGeom>
        </p:spPr>
        <p:txBody>
          <a:bodyPr wrap="square">
            <a:spAutoFit/>
          </a:bodyPr>
          <a:lstStyle/>
          <a:p>
            <a:r>
              <a:rPr lang="zh-CN" altLang="en-US" sz="2000" b="1" dirty="0" smtClean="0"/>
              <a:t>         公差带</a:t>
            </a:r>
            <a:r>
              <a:rPr lang="zh-CN" altLang="en-US" sz="2000" b="1" dirty="0"/>
              <a:t>为与基准轴线同轴的任一圆锥</a:t>
            </a:r>
            <a:r>
              <a:rPr lang="zh-CN" altLang="en-US" sz="2000" b="1" dirty="0" smtClean="0"/>
              <a:t>截面上</a:t>
            </a:r>
            <a:r>
              <a:rPr lang="zh-CN" altLang="en-US" sz="2000" b="1" dirty="0"/>
              <a:t>、间距等于公差值</a:t>
            </a:r>
            <a:r>
              <a:rPr lang="en-US" altLang="zh-CN" sz="2000" b="1" i="1" dirty="0"/>
              <a:t>t </a:t>
            </a:r>
            <a:r>
              <a:rPr lang="zh-CN" altLang="en-US" sz="2000" b="1" dirty="0"/>
              <a:t>的两圆所限定的圆锥面</a:t>
            </a:r>
            <a:r>
              <a:rPr lang="zh-CN" altLang="en-US" sz="2000" b="1" dirty="0" smtClean="0"/>
              <a:t>区域。</a:t>
            </a:r>
            <a:endParaRPr lang="zh-CN" altLang="en-US" sz="2000" b="1" dirty="0"/>
          </a:p>
        </p:txBody>
      </p:sp>
      <p:pic>
        <p:nvPicPr>
          <p:cNvPr id="18" name="Picture 6"/>
          <p:cNvPicPr>
            <a:picLocks noChangeAspect="1" noChangeArrowheads="1"/>
          </p:cNvPicPr>
          <p:nvPr/>
        </p:nvPicPr>
        <p:blipFill>
          <a:blip r:embed="rId5">
            <a:extLst>
              <a:ext uri="{28A0092B-C50C-407E-A947-70E740481C1C}">
                <a14:useLocalDpi xmlns:a14="http://schemas.microsoft.com/office/drawing/2010/main" xmlns="" val="0"/>
              </a:ext>
            </a:extLst>
          </a:blip>
          <a:srcRect b="18210"/>
          <a:stretch>
            <a:fillRect/>
          </a:stretch>
        </p:blipFill>
        <p:spPr bwMode="auto">
          <a:xfrm>
            <a:off x="4366198" y="4000504"/>
            <a:ext cx="4041662" cy="22860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9" name="矩形 18"/>
          <p:cNvSpPr/>
          <p:nvPr/>
        </p:nvSpPr>
        <p:spPr>
          <a:xfrm>
            <a:off x="642910" y="5214950"/>
            <a:ext cx="4000528" cy="707886"/>
          </a:xfrm>
          <a:prstGeom prst="rect">
            <a:avLst/>
          </a:prstGeom>
        </p:spPr>
        <p:txBody>
          <a:bodyPr wrap="square">
            <a:spAutoFit/>
          </a:bodyPr>
          <a:lstStyle/>
          <a:p>
            <a:r>
              <a:rPr lang="zh-CN" altLang="en-US" sz="2000" b="1" dirty="0" smtClean="0"/>
              <a:t>         </a:t>
            </a:r>
            <a:r>
              <a:rPr lang="zh-CN" altLang="en-US" sz="2000" b="1" dirty="0" smtClean="0">
                <a:solidFill>
                  <a:srgbClr val="0070C0"/>
                </a:solidFill>
              </a:rPr>
              <a:t>除非</a:t>
            </a:r>
            <a:r>
              <a:rPr lang="zh-CN" altLang="en-US" sz="2000" b="1" dirty="0">
                <a:solidFill>
                  <a:srgbClr val="0070C0"/>
                </a:solidFill>
              </a:rPr>
              <a:t>另有规定</a:t>
            </a:r>
            <a:r>
              <a:rPr lang="en-US" altLang="zh-CN" sz="2000" b="1" dirty="0">
                <a:solidFill>
                  <a:srgbClr val="0070C0"/>
                </a:solidFill>
              </a:rPr>
              <a:t>,</a:t>
            </a:r>
            <a:r>
              <a:rPr lang="zh-CN" altLang="en-US" sz="2000" b="1" dirty="0">
                <a:solidFill>
                  <a:srgbClr val="0070C0"/>
                </a:solidFill>
              </a:rPr>
              <a:t>公差带的宽度应沿规定</a:t>
            </a:r>
            <a:r>
              <a:rPr lang="zh-CN" altLang="en-US" sz="2000" b="1" dirty="0" smtClean="0">
                <a:solidFill>
                  <a:srgbClr val="0070C0"/>
                </a:solidFill>
              </a:rPr>
              <a:t>几何要素</a:t>
            </a:r>
            <a:r>
              <a:rPr lang="zh-CN" altLang="en-US" sz="2000" b="1" dirty="0">
                <a:solidFill>
                  <a:srgbClr val="0070C0"/>
                </a:solidFill>
              </a:rPr>
              <a:t>的法向。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3371"/>
                                        </p:tgtEl>
                                        <p:attrNameLst>
                                          <p:attrName>style.visibility</p:attrName>
                                        </p:attrNameLst>
                                      </p:cBhvr>
                                      <p:to>
                                        <p:strVal val="visible"/>
                                      </p:to>
                                    </p:set>
                                    <p:animEffect transition="in" filter="wipe(left)">
                                      <p:cBhvr>
                                        <p:cTn id="7" dur="300"/>
                                        <p:tgtEl>
                                          <p:spTgt spid="143371"/>
                                        </p:tgtEl>
                                      </p:cBhvr>
                                    </p:animEffect>
                                  </p:childTnLst>
                                </p:cTn>
                              </p:par>
                            </p:childTnLst>
                          </p:cTn>
                        </p:par>
                        <p:par>
                          <p:cTn id="8" fill="hold">
                            <p:stCondLst>
                              <p:cond delay="18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13"/>
                                        </p:tgtEl>
                                        <p:attrNameLst>
                                          <p:attrName>style.visibility</p:attrName>
                                        </p:attrNameLst>
                                      </p:cBhvr>
                                      <p:to>
                                        <p:strVal val="visible"/>
                                      </p:to>
                                    </p:set>
                                    <p:animEffect transition="in" filter="wipe(left)">
                                      <p:cBhvr>
                                        <p:cTn id="11" dur="3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fill="hold"/>
                                        <p:tgtEl>
                                          <p:spTgt spid="15"/>
                                        </p:tgtEl>
                                        <p:attrNameLst>
                                          <p:attrName>ppt_x</p:attrName>
                                        </p:attrNameLst>
                                      </p:cBhvr>
                                      <p:tavLst>
                                        <p:tav tm="0">
                                          <p:val>
                                            <p:strVal val="0-#ppt_w/2"/>
                                          </p:val>
                                        </p:tav>
                                        <p:tav tm="100000">
                                          <p:val>
                                            <p:strVal val="#ppt_x"/>
                                          </p:val>
                                        </p:tav>
                                      </p:tavLst>
                                    </p:anim>
                                    <p:anim calcmode="lin" valueType="num">
                                      <p:cBhvr additive="base">
                                        <p:cTn id="17"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500" fill="hold"/>
                                        <p:tgtEl>
                                          <p:spTgt spid="14"/>
                                        </p:tgtEl>
                                        <p:attrNameLst>
                                          <p:attrName>ppt_x</p:attrName>
                                        </p:attrNameLst>
                                      </p:cBhvr>
                                      <p:tavLst>
                                        <p:tav tm="0">
                                          <p:val>
                                            <p:strVal val="1+#ppt_w/2"/>
                                          </p:val>
                                        </p:tav>
                                        <p:tav tm="100000">
                                          <p:val>
                                            <p:strVal val="#ppt_x"/>
                                          </p:val>
                                        </p:tav>
                                      </p:tavLst>
                                    </p:anim>
                                    <p:anim calcmode="lin" valueType="num">
                                      <p:cBhvr additive="base">
                                        <p:cTn id="23"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additive="base">
                                        <p:cTn id="38" dur="500" fill="hold"/>
                                        <p:tgtEl>
                                          <p:spTgt spid="18"/>
                                        </p:tgtEl>
                                        <p:attrNameLst>
                                          <p:attrName>ppt_x</p:attrName>
                                        </p:attrNameLst>
                                      </p:cBhvr>
                                      <p:tavLst>
                                        <p:tav tm="0">
                                          <p:val>
                                            <p:strVal val="#ppt_x"/>
                                          </p:val>
                                        </p:tav>
                                        <p:tav tm="100000">
                                          <p:val>
                                            <p:strVal val="#ppt_x"/>
                                          </p:val>
                                        </p:tav>
                                      </p:tavLst>
                                    </p:anim>
                                    <p:anim calcmode="lin" valueType="num">
                                      <p:cBhvr additive="base">
                                        <p:cTn id="3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left)">
                                      <p:cBhvr>
                                        <p:cTn id="4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71" grpId="0" autoUpdateAnimBg="0"/>
      <p:bldP spid="13" grpId="0" autoUpdateAnimBg="0"/>
      <p:bldP spid="16" grpId="0"/>
      <p:bldP spid="17" grpId="0"/>
      <p:bldP spid="1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994A2EED-5A33-4523-8705-141BC037FCB9}" type="slidenum">
              <a:rPr lang="en-US" altLang="zh-CN" sz="2000" smtClean="0">
                <a:solidFill>
                  <a:srgbClr val="0000FF"/>
                </a:solidFill>
              </a:rPr>
              <a:pPr eaLnBrk="1" hangingPunct="1"/>
              <a:t>45</a:t>
            </a:fld>
            <a:endParaRPr lang="en-US" altLang="zh-CN" sz="2000" smtClean="0">
              <a:solidFill>
                <a:srgbClr val="0000FF"/>
              </a:solidFill>
            </a:endParaRPr>
          </a:p>
        </p:txBody>
      </p:sp>
      <p:sp>
        <p:nvSpPr>
          <p:cNvPr id="3" name="矩形 2"/>
          <p:cNvSpPr/>
          <p:nvPr/>
        </p:nvSpPr>
        <p:spPr>
          <a:xfrm>
            <a:off x="500034" y="857232"/>
            <a:ext cx="4572000" cy="400110"/>
          </a:xfrm>
          <a:prstGeom prst="rect">
            <a:avLst/>
          </a:prstGeom>
        </p:spPr>
        <p:txBody>
          <a:bodyPr>
            <a:spAutoFit/>
          </a:bodyPr>
          <a:lstStyle/>
          <a:p>
            <a:r>
              <a:rPr lang="zh-CN" altLang="en-US" sz="2000" b="1" dirty="0" smtClean="0">
                <a:latin typeface="宋体"/>
                <a:ea typeface="宋体"/>
              </a:rPr>
              <a:t>④ </a:t>
            </a:r>
            <a:r>
              <a:rPr lang="zh-CN" altLang="en-US" sz="2000" b="1" dirty="0" smtClean="0"/>
              <a:t>给定</a:t>
            </a:r>
            <a:r>
              <a:rPr lang="zh-CN" altLang="en-US" sz="2000" b="1" dirty="0"/>
              <a:t>方向的圆</a:t>
            </a:r>
            <a:r>
              <a:rPr lang="zh-CN" altLang="en-US" sz="2000" b="1" dirty="0" smtClean="0"/>
              <a:t>跳动</a:t>
            </a:r>
            <a:endParaRPr lang="zh-CN" altLang="en-US" sz="2000" b="1" dirty="0"/>
          </a:p>
        </p:txBody>
      </p:sp>
      <p:sp>
        <p:nvSpPr>
          <p:cNvPr id="2" name="矩形 1"/>
          <p:cNvSpPr/>
          <p:nvPr/>
        </p:nvSpPr>
        <p:spPr>
          <a:xfrm>
            <a:off x="714348" y="1214422"/>
            <a:ext cx="7344816" cy="707886"/>
          </a:xfrm>
          <a:prstGeom prst="rect">
            <a:avLst/>
          </a:prstGeom>
        </p:spPr>
        <p:txBody>
          <a:bodyPr wrap="square">
            <a:spAutoFit/>
          </a:bodyPr>
          <a:lstStyle/>
          <a:p>
            <a:r>
              <a:rPr lang="zh-CN" altLang="en-US" sz="2000" b="1" dirty="0"/>
              <a:t>在相对于方向要素</a:t>
            </a:r>
            <a:r>
              <a:rPr lang="en-US" altLang="zh-CN" sz="2000" b="1" dirty="0"/>
              <a:t>(</a:t>
            </a:r>
            <a:r>
              <a:rPr lang="zh-CN" altLang="en-US" sz="2000" b="1" dirty="0"/>
              <a:t>给定</a:t>
            </a:r>
            <a:r>
              <a:rPr lang="zh-CN" altLang="en-US" sz="2000" b="1" dirty="0" smtClean="0"/>
              <a:t>角度</a:t>
            </a:r>
            <a:r>
              <a:rPr lang="en-US" altLang="zh-CN" sz="2000" b="1" dirty="0" smtClean="0"/>
              <a:t>) </a:t>
            </a:r>
            <a:r>
              <a:rPr lang="zh-CN" altLang="en-US" sz="2000" b="1" dirty="0"/>
              <a:t>的任一圆锥</a:t>
            </a:r>
            <a:r>
              <a:rPr lang="zh-CN" altLang="en-US" sz="2000" b="1" dirty="0" smtClean="0"/>
              <a:t>截面</a:t>
            </a:r>
            <a:r>
              <a:rPr lang="en-US" altLang="zh-CN" sz="2000" b="1" dirty="0" smtClean="0"/>
              <a:t>,</a:t>
            </a:r>
            <a:r>
              <a:rPr lang="zh-CN" altLang="en-US" sz="2000" b="1" dirty="0"/>
              <a:t>提取</a:t>
            </a:r>
            <a:r>
              <a:rPr lang="en-US" altLang="zh-CN" sz="2000" b="1" dirty="0"/>
              <a:t>(</a:t>
            </a:r>
            <a:r>
              <a:rPr lang="zh-CN" altLang="en-US" sz="2000" b="1" dirty="0"/>
              <a:t>实际</a:t>
            </a:r>
            <a:r>
              <a:rPr lang="en-US" altLang="zh-CN" sz="2000" b="1" dirty="0"/>
              <a:t>) </a:t>
            </a:r>
            <a:r>
              <a:rPr lang="zh-CN" altLang="en-US" sz="2000" b="1" dirty="0"/>
              <a:t>线应限定在圆锥截面内间距等于</a:t>
            </a:r>
            <a:r>
              <a:rPr lang="en-US" altLang="zh-CN" sz="2000" b="1" dirty="0"/>
              <a:t>0. 1 </a:t>
            </a:r>
            <a:r>
              <a:rPr lang="zh-CN" altLang="en-US" sz="2000" b="1" dirty="0" smtClean="0"/>
              <a:t>的两</a:t>
            </a:r>
            <a:r>
              <a:rPr lang="zh-CN" altLang="en-US" sz="2000" b="1" dirty="0"/>
              <a:t>圆</a:t>
            </a:r>
            <a:r>
              <a:rPr lang="zh-CN" altLang="en-US" sz="2000" b="1" dirty="0" smtClean="0"/>
              <a:t>之间。</a:t>
            </a:r>
            <a:endParaRPr lang="zh-CN" altLang="en-US" sz="2000" b="1" dirty="0"/>
          </a:p>
        </p:txBody>
      </p:sp>
      <p:sp>
        <p:nvSpPr>
          <p:cNvPr id="4" name="矩形 3"/>
          <p:cNvSpPr/>
          <p:nvPr/>
        </p:nvSpPr>
        <p:spPr>
          <a:xfrm>
            <a:off x="500034" y="4429132"/>
            <a:ext cx="3571900" cy="1384995"/>
          </a:xfrm>
          <a:prstGeom prst="rect">
            <a:avLst/>
          </a:prstGeom>
        </p:spPr>
        <p:txBody>
          <a:bodyPr wrap="square">
            <a:spAutoFit/>
          </a:bodyPr>
          <a:lstStyle/>
          <a:p>
            <a:r>
              <a:rPr lang="zh-CN" altLang="en-US" b="1" dirty="0" smtClean="0"/>
              <a:t>       </a:t>
            </a:r>
            <a:r>
              <a:rPr lang="zh-CN" altLang="en-US" sz="2000" b="1" dirty="0" smtClean="0"/>
              <a:t>公差带</a:t>
            </a:r>
            <a:r>
              <a:rPr lang="zh-CN" altLang="en-US" sz="2000" b="1" dirty="0"/>
              <a:t>为在轴线与基准轴线同轴的、具有</a:t>
            </a:r>
            <a:r>
              <a:rPr lang="zh-CN" altLang="en-US" sz="2000" b="1" dirty="0" smtClean="0"/>
              <a:t>给定</a:t>
            </a:r>
            <a:r>
              <a:rPr lang="zh-CN" altLang="en-US" sz="2000" b="1" dirty="0"/>
              <a:t>锥角的任一圆锥截面</a:t>
            </a:r>
            <a:r>
              <a:rPr lang="zh-CN" altLang="en-US" sz="2000" b="1" dirty="0" smtClean="0"/>
              <a:t>上，间距</a:t>
            </a:r>
            <a:r>
              <a:rPr lang="zh-CN" altLang="en-US" sz="2000" b="1" dirty="0"/>
              <a:t>等于公差</a:t>
            </a:r>
            <a:r>
              <a:rPr lang="zh-CN" altLang="en-US" sz="2000" b="1" dirty="0" smtClean="0"/>
              <a:t>值 </a:t>
            </a:r>
            <a:r>
              <a:rPr lang="en-US" altLang="zh-CN" sz="2000" b="1" i="1" dirty="0" smtClean="0"/>
              <a:t>t</a:t>
            </a:r>
            <a:r>
              <a:rPr lang="en-US" altLang="zh-CN" sz="2000" b="1" dirty="0" smtClean="0"/>
              <a:t> </a:t>
            </a:r>
            <a:r>
              <a:rPr lang="zh-CN" altLang="en-US" sz="2000" b="1" dirty="0" smtClean="0"/>
              <a:t>的两</a:t>
            </a:r>
            <a:r>
              <a:rPr lang="zh-CN" altLang="en-US" sz="2000" b="1" dirty="0"/>
              <a:t>不等圆所限定的</a:t>
            </a:r>
            <a:r>
              <a:rPr lang="zh-CN" altLang="en-US" sz="2000" b="1" dirty="0" smtClean="0"/>
              <a:t>区域。</a:t>
            </a:r>
            <a:endParaRPr lang="zh-CN" altLang="en-US" sz="2000" b="1"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28662" y="2070723"/>
            <a:ext cx="3500462" cy="21440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14877" y="1928802"/>
            <a:ext cx="2999338" cy="20002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4286248" y="3908736"/>
            <a:ext cx="3714776" cy="26576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10" name="直接连接符 9"/>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1" name="Text Box 4"/>
          <p:cNvSpPr txBox="1">
            <a:spLocks noChangeArrowheads="1"/>
          </p:cNvSpPr>
          <p:nvPr/>
        </p:nvSpPr>
        <p:spPr bwMode="auto">
          <a:xfrm>
            <a:off x="214282" y="181253"/>
            <a:ext cx="335758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a:t>
            </a:r>
            <a:r>
              <a:rPr lang="en-US" altLang="zh-CN" b="1" dirty="0"/>
              <a:t>1</a:t>
            </a:r>
            <a:r>
              <a:rPr lang="zh-CN" altLang="en-US" b="1" dirty="0"/>
              <a:t>）圆</a:t>
            </a:r>
            <a:r>
              <a:rPr lang="zh-CN" altLang="en-US" b="1" dirty="0" smtClean="0"/>
              <a:t>跳动公差</a:t>
            </a:r>
            <a:endParaRPr lang="zh-CN" altLang="en-US" b="1"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050"/>
                                        </p:tgtEl>
                                        <p:attrNameLst>
                                          <p:attrName>style.visibility</p:attrName>
                                        </p:attrNameLst>
                                      </p:cBhvr>
                                      <p:to>
                                        <p:strVal val="visible"/>
                                      </p:to>
                                    </p:set>
                                    <p:anim calcmode="lin" valueType="num">
                                      <p:cBhvr additive="base">
                                        <p:cTn id="17" dur="500" fill="hold"/>
                                        <p:tgtEl>
                                          <p:spTgt spid="2050"/>
                                        </p:tgtEl>
                                        <p:attrNameLst>
                                          <p:attrName>ppt_x</p:attrName>
                                        </p:attrNameLst>
                                      </p:cBhvr>
                                      <p:tavLst>
                                        <p:tav tm="0">
                                          <p:val>
                                            <p:strVal val="0-#ppt_w/2"/>
                                          </p:val>
                                        </p:tav>
                                        <p:tav tm="100000">
                                          <p:val>
                                            <p:strVal val="#ppt_x"/>
                                          </p:val>
                                        </p:tav>
                                      </p:tavLst>
                                    </p:anim>
                                    <p:anim calcmode="lin" valueType="num">
                                      <p:cBhvr additive="base">
                                        <p:cTn id="18" dur="500" fill="hold"/>
                                        <p:tgtEl>
                                          <p:spTgt spid="205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2051"/>
                                        </p:tgtEl>
                                        <p:attrNameLst>
                                          <p:attrName>style.visibility</p:attrName>
                                        </p:attrNameLst>
                                      </p:cBhvr>
                                      <p:to>
                                        <p:strVal val="visible"/>
                                      </p:to>
                                    </p:set>
                                    <p:anim calcmode="lin" valueType="num">
                                      <p:cBhvr additive="base">
                                        <p:cTn id="23" dur="500" fill="hold"/>
                                        <p:tgtEl>
                                          <p:spTgt spid="2051"/>
                                        </p:tgtEl>
                                        <p:attrNameLst>
                                          <p:attrName>ppt_x</p:attrName>
                                        </p:attrNameLst>
                                      </p:cBhvr>
                                      <p:tavLst>
                                        <p:tav tm="0">
                                          <p:val>
                                            <p:strVal val="1+#ppt_w/2"/>
                                          </p:val>
                                        </p:tav>
                                        <p:tav tm="100000">
                                          <p:val>
                                            <p:strVal val="#ppt_x"/>
                                          </p:val>
                                        </p:tav>
                                      </p:tavLst>
                                    </p:anim>
                                    <p:anim calcmode="lin" valueType="num">
                                      <p:cBhvr additive="base">
                                        <p:cTn id="24" dur="500" fill="hold"/>
                                        <p:tgtEl>
                                          <p:spTgt spid="2051"/>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052"/>
                                        </p:tgtEl>
                                        <p:attrNameLst>
                                          <p:attrName>style.visibility</p:attrName>
                                        </p:attrNameLst>
                                      </p:cBhvr>
                                      <p:to>
                                        <p:strVal val="visible"/>
                                      </p:to>
                                    </p:set>
                                    <p:anim calcmode="lin" valueType="num">
                                      <p:cBhvr additive="base">
                                        <p:cTn id="34" dur="500" fill="hold"/>
                                        <p:tgtEl>
                                          <p:spTgt spid="2052"/>
                                        </p:tgtEl>
                                        <p:attrNameLst>
                                          <p:attrName>ppt_x</p:attrName>
                                        </p:attrNameLst>
                                      </p:cBhvr>
                                      <p:tavLst>
                                        <p:tav tm="0">
                                          <p:val>
                                            <p:strVal val="#ppt_x"/>
                                          </p:val>
                                        </p:tav>
                                        <p:tav tm="100000">
                                          <p:val>
                                            <p:strVal val="#ppt_x"/>
                                          </p:val>
                                        </p:tav>
                                      </p:tavLst>
                                    </p:anim>
                                    <p:anim calcmode="lin" valueType="num">
                                      <p:cBhvr additive="base">
                                        <p:cTn id="35" dur="500" fill="hold"/>
                                        <p:tgtEl>
                                          <p:spTgt spid="2052"/>
                                        </p:tgtEl>
                                        <p:attrNameLst>
                                          <p:attrName>ppt_y</p:attrName>
                                        </p:attrNameLst>
                                      </p:cBhvr>
                                      <p:tavLst>
                                        <p:tav tm="0">
                                          <p:val>
                                            <p:strVal val="1+#ppt_h/2"/>
                                          </p:val>
                                        </p:tav>
                                        <p:tav tm="100000">
                                          <p:val>
                                            <p:strVal val="#ppt_y"/>
                                          </p:val>
                                        </p:tav>
                                      </p:tavLst>
                                    </p:anim>
                                  </p:childTnLst>
                                </p:cTn>
                              </p:par>
                            </p:childTnLst>
                          </p:cTn>
                        </p:par>
                        <p:par>
                          <p:cTn id="36" fill="hold">
                            <p:stCondLst>
                              <p:cond delay="500"/>
                            </p:stCondLst>
                            <p:childTnLst>
                              <p:par>
                                <p:cTn id="37" presetID="22" presetClass="entr" presetSubtype="8" fill="hold" grpId="0" nodeType="afterEffect">
                                  <p:stCondLst>
                                    <p:cond delay="0"/>
                                  </p:stCondLst>
                                  <p:iterate type="wd">
                                    <p:tmPct val="100000"/>
                                  </p:iterate>
                                  <p:childTnLst>
                                    <p:set>
                                      <p:cBhvr>
                                        <p:cTn id="38" dur="1" fill="hold">
                                          <p:stCondLst>
                                            <p:cond delay="0"/>
                                          </p:stCondLst>
                                        </p:cTn>
                                        <p:tgtEl>
                                          <p:spTgt spid="11"/>
                                        </p:tgtEl>
                                        <p:attrNameLst>
                                          <p:attrName>style.visibility</p:attrName>
                                        </p:attrNameLst>
                                      </p:cBhvr>
                                      <p:to>
                                        <p:strVal val="visible"/>
                                      </p:to>
                                    </p:set>
                                    <p:animEffect transition="in" filter="wipe(left)">
                                      <p:cBhvr>
                                        <p:cTn id="39"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11"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1F74E43-DE5D-4217-AAE2-4AF8069A489D}" type="slidenum">
              <a:rPr lang="en-US" altLang="zh-CN" sz="2000" smtClean="0">
                <a:solidFill>
                  <a:srgbClr val="0000FF"/>
                </a:solidFill>
              </a:rPr>
              <a:pPr eaLnBrk="1" hangingPunct="1"/>
              <a:t>46</a:t>
            </a:fld>
            <a:endParaRPr lang="en-US" altLang="zh-CN" sz="2000" smtClean="0">
              <a:solidFill>
                <a:srgbClr val="0000FF"/>
              </a:solidFill>
            </a:endParaRPr>
          </a:p>
        </p:txBody>
      </p:sp>
      <p:sp>
        <p:nvSpPr>
          <p:cNvPr id="148484" name="Text Box 4"/>
          <p:cNvSpPr txBox="1">
            <a:spLocks noChangeArrowheads="1"/>
          </p:cNvSpPr>
          <p:nvPr/>
        </p:nvSpPr>
        <p:spPr bwMode="auto">
          <a:xfrm>
            <a:off x="251521" y="164637"/>
            <a:ext cx="3649657"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a:t>
            </a:r>
            <a:r>
              <a:rPr lang="en-US" altLang="zh-CN" b="1" dirty="0"/>
              <a:t>2</a:t>
            </a:r>
            <a:r>
              <a:rPr lang="zh-CN" altLang="en-US" b="1" dirty="0"/>
              <a:t>）全跳动公差带</a:t>
            </a:r>
          </a:p>
        </p:txBody>
      </p:sp>
      <p:sp>
        <p:nvSpPr>
          <p:cNvPr id="148485" name="Rectangle 5"/>
          <p:cNvSpPr>
            <a:spLocks noChangeArrowheads="1"/>
          </p:cNvSpPr>
          <p:nvPr/>
        </p:nvSpPr>
        <p:spPr bwMode="auto">
          <a:xfrm>
            <a:off x="336582" y="4210074"/>
            <a:ext cx="8664575" cy="10895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20000"/>
              </a:lnSpc>
            </a:pPr>
            <a:r>
              <a:rPr lang="en-US" altLang="zh-CN" sz="1800" dirty="0">
                <a:solidFill>
                  <a:srgbClr val="FF0000"/>
                </a:solidFill>
              </a:rPr>
              <a:t>         </a:t>
            </a:r>
            <a:r>
              <a:rPr lang="zh-CN" altLang="en-US" sz="1800" b="1" dirty="0">
                <a:solidFill>
                  <a:srgbClr val="FF0000"/>
                </a:solidFill>
              </a:rPr>
              <a:t>全跳动误差</a:t>
            </a:r>
            <a:r>
              <a:rPr lang="zh-CN" altLang="en-US" sz="1800" b="1" dirty="0"/>
              <a:t>是指实际被测的组成要素绕基准轴线在无轴向移动的条件下</a:t>
            </a:r>
            <a:r>
              <a:rPr lang="zh-CN" altLang="en-US" sz="1800" b="1" dirty="0">
                <a:solidFill>
                  <a:srgbClr val="FF0000"/>
                </a:solidFill>
              </a:rPr>
              <a:t>连续旋转</a:t>
            </a:r>
            <a:r>
              <a:rPr lang="zh-CN" altLang="en-US" sz="1800" b="1" dirty="0"/>
              <a:t>，并且指示表与实际被测要素</a:t>
            </a:r>
            <a:r>
              <a:rPr lang="zh-CN" altLang="en-US" sz="1800" b="1" dirty="0">
                <a:solidFill>
                  <a:srgbClr val="FF0000"/>
                </a:solidFill>
              </a:rPr>
              <a:t>作相对运动</a:t>
            </a:r>
            <a:r>
              <a:rPr lang="zh-CN" altLang="en-US" sz="1800" b="1" dirty="0"/>
              <a:t>过程中，由指示表在给定的测量方向上对该实际要素测得的最大与最小示值之差。</a:t>
            </a:r>
          </a:p>
        </p:txBody>
      </p:sp>
      <p:sp>
        <p:nvSpPr>
          <p:cNvPr id="148486" name="Text Box 6"/>
          <p:cNvSpPr txBox="1">
            <a:spLocks noChangeArrowheads="1"/>
          </p:cNvSpPr>
          <p:nvPr/>
        </p:nvSpPr>
        <p:spPr bwMode="auto">
          <a:xfrm>
            <a:off x="755577" y="6021288"/>
            <a:ext cx="763587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a:solidFill>
                  <a:srgbClr val="FF0000"/>
                </a:solidFill>
              </a:rPr>
              <a:t>全跳动公差</a:t>
            </a:r>
            <a:r>
              <a:rPr lang="zh-CN" altLang="en-US" sz="1800" b="1" dirty="0"/>
              <a:t>是指上述测得示值之差的允许变动量。</a:t>
            </a:r>
          </a:p>
        </p:txBody>
      </p:sp>
      <p:grpSp>
        <p:nvGrpSpPr>
          <p:cNvPr id="148522" name="Group 42"/>
          <p:cNvGrpSpPr/>
          <p:nvPr/>
        </p:nvGrpSpPr>
        <p:grpSpPr bwMode="auto">
          <a:xfrm>
            <a:off x="1571604" y="649757"/>
            <a:ext cx="6286544" cy="3643339"/>
            <a:chOff x="480" y="1872"/>
            <a:chExt cx="3898" cy="2160"/>
          </a:xfrm>
        </p:grpSpPr>
        <p:grpSp>
          <p:nvGrpSpPr>
            <p:cNvPr id="63501" name="Group 11"/>
            <p:cNvGrpSpPr/>
            <p:nvPr/>
          </p:nvGrpSpPr>
          <p:grpSpPr bwMode="auto">
            <a:xfrm>
              <a:off x="922" y="2496"/>
              <a:ext cx="2832" cy="1344"/>
              <a:chOff x="912" y="2544"/>
              <a:chExt cx="2832" cy="1344"/>
            </a:xfrm>
          </p:grpSpPr>
          <p:sp>
            <p:nvSpPr>
              <p:cNvPr id="63522" name="Rectangle 12"/>
              <p:cNvSpPr>
                <a:spLocks noChangeArrowheads="1"/>
              </p:cNvSpPr>
              <p:nvPr/>
            </p:nvSpPr>
            <p:spPr bwMode="auto">
              <a:xfrm>
                <a:off x="1104" y="2832"/>
                <a:ext cx="1200" cy="768"/>
              </a:xfrm>
              <a:prstGeom prst="rect">
                <a:avLst/>
              </a:prstGeom>
              <a:noFill/>
              <a:ln w="57150">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63523" name="Rectangle 13"/>
              <p:cNvSpPr>
                <a:spLocks noChangeArrowheads="1"/>
              </p:cNvSpPr>
              <p:nvPr/>
            </p:nvSpPr>
            <p:spPr bwMode="auto">
              <a:xfrm>
                <a:off x="2304" y="2544"/>
                <a:ext cx="1200" cy="1344"/>
              </a:xfrm>
              <a:prstGeom prst="rect">
                <a:avLst/>
              </a:prstGeom>
              <a:noFill/>
              <a:ln w="57150">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63524" name="Line 14"/>
              <p:cNvSpPr>
                <a:spLocks noChangeShapeType="1"/>
              </p:cNvSpPr>
              <p:nvPr/>
            </p:nvSpPr>
            <p:spPr bwMode="auto">
              <a:xfrm>
                <a:off x="912" y="3216"/>
                <a:ext cx="2832" cy="0"/>
              </a:xfrm>
              <a:prstGeom prst="line">
                <a:avLst/>
              </a:prstGeom>
              <a:noFill/>
              <a:ln w="19050">
                <a:solidFill>
                  <a:schemeClr val="tx1"/>
                </a:solidFill>
                <a:prstDash val="lg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63502" name="Oval 16"/>
            <p:cNvSpPr>
              <a:spLocks noChangeArrowheads="1"/>
            </p:cNvSpPr>
            <p:nvPr/>
          </p:nvSpPr>
          <p:spPr bwMode="auto">
            <a:xfrm>
              <a:off x="3994" y="2544"/>
              <a:ext cx="326" cy="326"/>
            </a:xfrm>
            <a:prstGeom prst="ellipse">
              <a:avLst/>
            </a:prstGeom>
            <a:noFill/>
            <a:ln w="38100">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63503" name="Line 17"/>
            <p:cNvSpPr>
              <a:spLocks noChangeShapeType="1"/>
            </p:cNvSpPr>
            <p:nvPr/>
          </p:nvSpPr>
          <p:spPr bwMode="auto">
            <a:xfrm>
              <a:off x="3514" y="2736"/>
              <a:ext cx="480" cy="0"/>
            </a:xfrm>
            <a:prstGeom prst="line">
              <a:avLst/>
            </a:prstGeom>
            <a:noFill/>
            <a:ln w="38100">
              <a:solidFill>
                <a:schemeClr val="tx1"/>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04" name="Line 18"/>
            <p:cNvSpPr>
              <a:spLocks noChangeShapeType="1"/>
            </p:cNvSpPr>
            <p:nvPr/>
          </p:nvSpPr>
          <p:spPr bwMode="auto">
            <a:xfrm>
              <a:off x="3802" y="2688"/>
              <a:ext cx="14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05" name="Line 19"/>
            <p:cNvSpPr>
              <a:spLocks noChangeShapeType="1"/>
            </p:cNvSpPr>
            <p:nvPr/>
          </p:nvSpPr>
          <p:spPr bwMode="auto">
            <a:xfrm>
              <a:off x="3802" y="2784"/>
              <a:ext cx="14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06" name="Line 20"/>
            <p:cNvSpPr>
              <a:spLocks noChangeShapeType="1"/>
            </p:cNvSpPr>
            <p:nvPr/>
          </p:nvSpPr>
          <p:spPr bwMode="auto">
            <a:xfrm flipV="1">
              <a:off x="4128" y="2640"/>
              <a:ext cx="192" cy="111"/>
            </a:xfrm>
            <a:prstGeom prst="line">
              <a:avLst/>
            </a:prstGeom>
            <a:noFill/>
            <a:ln w="28575">
              <a:solidFill>
                <a:schemeClr val="tx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63507" name="Group 21"/>
            <p:cNvGrpSpPr/>
            <p:nvPr/>
          </p:nvGrpSpPr>
          <p:grpSpPr bwMode="auto">
            <a:xfrm rot="-5400000">
              <a:off x="2981" y="2069"/>
              <a:ext cx="576" cy="278"/>
              <a:chOff x="4320" y="2592"/>
              <a:chExt cx="864" cy="384"/>
            </a:xfrm>
          </p:grpSpPr>
          <p:sp>
            <p:nvSpPr>
              <p:cNvPr id="63517" name="Oval 22"/>
              <p:cNvSpPr>
                <a:spLocks noChangeArrowheads="1"/>
              </p:cNvSpPr>
              <p:nvPr/>
            </p:nvSpPr>
            <p:spPr bwMode="auto">
              <a:xfrm>
                <a:off x="4800" y="2592"/>
                <a:ext cx="384" cy="384"/>
              </a:xfrm>
              <a:prstGeom prst="ellipse">
                <a:avLst/>
              </a:prstGeom>
              <a:noFill/>
              <a:ln w="38100">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63518" name="Line 23"/>
              <p:cNvSpPr>
                <a:spLocks noChangeShapeType="1"/>
              </p:cNvSpPr>
              <p:nvPr/>
            </p:nvSpPr>
            <p:spPr bwMode="auto">
              <a:xfrm>
                <a:off x="4320" y="2784"/>
                <a:ext cx="480" cy="0"/>
              </a:xfrm>
              <a:prstGeom prst="line">
                <a:avLst/>
              </a:prstGeom>
              <a:noFill/>
              <a:ln w="38100">
                <a:solidFill>
                  <a:schemeClr val="tx1"/>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19" name="Line 24"/>
              <p:cNvSpPr>
                <a:spLocks noChangeShapeType="1"/>
              </p:cNvSpPr>
              <p:nvPr/>
            </p:nvSpPr>
            <p:spPr bwMode="auto">
              <a:xfrm>
                <a:off x="4608" y="2736"/>
                <a:ext cx="14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20" name="Line 25"/>
              <p:cNvSpPr>
                <a:spLocks noChangeShapeType="1"/>
              </p:cNvSpPr>
              <p:nvPr/>
            </p:nvSpPr>
            <p:spPr bwMode="auto">
              <a:xfrm>
                <a:off x="4608" y="2832"/>
                <a:ext cx="14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21" name="Line 26"/>
              <p:cNvSpPr>
                <a:spLocks noChangeShapeType="1"/>
              </p:cNvSpPr>
              <p:nvPr/>
            </p:nvSpPr>
            <p:spPr bwMode="auto">
              <a:xfrm flipV="1">
                <a:off x="4992" y="2673"/>
                <a:ext cx="192" cy="111"/>
              </a:xfrm>
              <a:prstGeom prst="line">
                <a:avLst/>
              </a:prstGeom>
              <a:noFill/>
              <a:ln w="28575">
                <a:solidFill>
                  <a:schemeClr val="tx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63508" name="Line 27"/>
            <p:cNvSpPr>
              <a:spLocks noChangeShapeType="1"/>
            </p:cNvSpPr>
            <p:nvPr/>
          </p:nvSpPr>
          <p:spPr bwMode="auto">
            <a:xfrm>
              <a:off x="970" y="3168"/>
              <a:ext cx="1632" cy="0"/>
            </a:xfrm>
            <a:prstGeom prst="line">
              <a:avLst/>
            </a:prstGeom>
            <a:noFill/>
            <a:ln w="38100">
              <a:solidFill>
                <a:srgbClr val="FF0000"/>
              </a:solidFill>
              <a:prstDash val="lg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63509" name="Group 28"/>
            <p:cNvGrpSpPr/>
            <p:nvPr/>
          </p:nvGrpSpPr>
          <p:grpSpPr bwMode="auto">
            <a:xfrm>
              <a:off x="480" y="3168"/>
              <a:ext cx="922" cy="396"/>
              <a:chOff x="470" y="3216"/>
              <a:chExt cx="922" cy="396"/>
            </a:xfrm>
          </p:grpSpPr>
          <p:sp>
            <p:nvSpPr>
              <p:cNvPr id="63515" name="Line 29"/>
              <p:cNvSpPr>
                <a:spLocks noChangeShapeType="1"/>
              </p:cNvSpPr>
              <p:nvPr/>
            </p:nvSpPr>
            <p:spPr bwMode="auto">
              <a:xfrm flipH="1">
                <a:off x="816" y="3216"/>
                <a:ext cx="576" cy="332"/>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16" name="Text Box 30"/>
              <p:cNvSpPr txBox="1">
                <a:spLocks noChangeArrowheads="1"/>
              </p:cNvSpPr>
              <p:nvPr/>
            </p:nvSpPr>
            <p:spPr bwMode="auto">
              <a:xfrm>
                <a:off x="470" y="3338"/>
                <a:ext cx="242" cy="2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a:t>A</a:t>
                </a:r>
              </a:p>
            </p:txBody>
          </p:sp>
        </p:grpSp>
        <p:sp>
          <p:nvSpPr>
            <p:cNvPr id="63510" name="Arc 31"/>
            <p:cNvSpPr/>
            <p:nvPr/>
          </p:nvSpPr>
          <p:spPr bwMode="auto">
            <a:xfrm>
              <a:off x="2506" y="2448"/>
              <a:ext cx="927" cy="1584"/>
            </a:xfrm>
            <a:custGeom>
              <a:avLst/>
              <a:gdLst>
                <a:gd name="T0" fmla="*/ 0 w 34752"/>
                <a:gd name="T1" fmla="*/ 0 h 43200"/>
                <a:gd name="T2" fmla="*/ 0 w 34752"/>
                <a:gd name="T3" fmla="*/ 0 h 43200"/>
                <a:gd name="T4" fmla="*/ 0 w 34752"/>
                <a:gd name="T5" fmla="*/ 0 h 43200"/>
                <a:gd name="T6" fmla="*/ 0 60000 65536"/>
                <a:gd name="T7" fmla="*/ 0 60000 65536"/>
                <a:gd name="T8" fmla="*/ 0 60000 65536"/>
              </a:gdLst>
              <a:ahLst/>
              <a:cxnLst>
                <a:cxn ang="T6">
                  <a:pos x="T0" y="T1"/>
                </a:cxn>
                <a:cxn ang="T7">
                  <a:pos x="T2" y="T3"/>
                </a:cxn>
                <a:cxn ang="T8">
                  <a:pos x="T4" y="T5"/>
                </a:cxn>
              </a:cxnLst>
              <a:rect l="0" t="0" r="r" b="b"/>
              <a:pathLst>
                <a:path w="34752" h="43200" fill="none" extrusionOk="0">
                  <a:moveTo>
                    <a:pt x="13151" y="0"/>
                  </a:moveTo>
                  <a:cubicBezTo>
                    <a:pt x="25081" y="0"/>
                    <a:pt x="34752" y="9670"/>
                    <a:pt x="34752" y="21600"/>
                  </a:cubicBezTo>
                  <a:cubicBezTo>
                    <a:pt x="34752" y="33529"/>
                    <a:pt x="25081" y="43200"/>
                    <a:pt x="13152" y="43200"/>
                  </a:cubicBezTo>
                  <a:cubicBezTo>
                    <a:pt x="8395" y="43200"/>
                    <a:pt x="3772" y="41630"/>
                    <a:pt x="-1" y="38734"/>
                  </a:cubicBezTo>
                </a:path>
                <a:path w="34752" h="43200" stroke="0" extrusionOk="0">
                  <a:moveTo>
                    <a:pt x="13151" y="0"/>
                  </a:moveTo>
                  <a:cubicBezTo>
                    <a:pt x="25081" y="0"/>
                    <a:pt x="34752" y="9670"/>
                    <a:pt x="34752" y="21600"/>
                  </a:cubicBezTo>
                  <a:cubicBezTo>
                    <a:pt x="34752" y="33529"/>
                    <a:pt x="25081" y="43200"/>
                    <a:pt x="13152" y="43200"/>
                  </a:cubicBezTo>
                  <a:cubicBezTo>
                    <a:pt x="8395" y="43200"/>
                    <a:pt x="3772" y="41630"/>
                    <a:pt x="-1" y="38734"/>
                  </a:cubicBezTo>
                  <a:lnTo>
                    <a:pt x="13152" y="21600"/>
                  </a:lnTo>
                  <a:lnTo>
                    <a:pt x="13151" y="0"/>
                  </a:lnTo>
                  <a:close/>
                </a:path>
              </a:pathLst>
            </a:custGeom>
            <a:noFill/>
            <a:ln w="38100">
              <a:solidFill>
                <a:srgbClr val="FF0000"/>
              </a:solidFill>
              <a:roun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63511" name="Line 32"/>
            <p:cNvSpPr>
              <a:spLocks noChangeShapeType="1"/>
            </p:cNvSpPr>
            <p:nvPr/>
          </p:nvSpPr>
          <p:spPr bwMode="auto">
            <a:xfrm rot="5400000">
              <a:off x="4114" y="2184"/>
              <a:ext cx="0" cy="528"/>
            </a:xfrm>
            <a:prstGeom prst="line">
              <a:avLst/>
            </a:prstGeom>
            <a:noFill/>
            <a:ln w="38100">
              <a:solidFill>
                <a:srgbClr val="FF0000"/>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12" name="Line 33"/>
            <p:cNvSpPr>
              <a:spLocks noChangeShapeType="1"/>
            </p:cNvSpPr>
            <p:nvPr/>
          </p:nvSpPr>
          <p:spPr bwMode="auto">
            <a:xfrm>
              <a:off x="3658" y="1872"/>
              <a:ext cx="0" cy="528"/>
            </a:xfrm>
            <a:prstGeom prst="line">
              <a:avLst/>
            </a:prstGeom>
            <a:noFill/>
            <a:ln w="38100">
              <a:solidFill>
                <a:srgbClr val="FF0000"/>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13" name="Line 34"/>
            <p:cNvSpPr>
              <a:spLocks noChangeShapeType="1"/>
            </p:cNvSpPr>
            <p:nvPr/>
          </p:nvSpPr>
          <p:spPr bwMode="auto">
            <a:xfrm>
              <a:off x="2314" y="2256"/>
              <a:ext cx="768" cy="0"/>
            </a:xfrm>
            <a:prstGeom prst="line">
              <a:avLst/>
            </a:prstGeom>
            <a:noFill/>
            <a:ln w="38100">
              <a:solidFill>
                <a:srgbClr val="FF0000"/>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14" name="Line 35"/>
            <p:cNvSpPr>
              <a:spLocks noChangeShapeType="1"/>
            </p:cNvSpPr>
            <p:nvPr/>
          </p:nvSpPr>
          <p:spPr bwMode="auto">
            <a:xfrm rot="-5400000">
              <a:off x="3370" y="3456"/>
              <a:ext cx="768" cy="0"/>
            </a:xfrm>
            <a:prstGeom prst="line">
              <a:avLst/>
            </a:prstGeom>
            <a:noFill/>
            <a:ln w="38100">
              <a:solidFill>
                <a:srgbClr val="FF0000"/>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148516" name="Group 36"/>
          <p:cNvGrpSpPr/>
          <p:nvPr/>
        </p:nvGrpSpPr>
        <p:grpSpPr bwMode="auto">
          <a:xfrm>
            <a:off x="4788025" y="5253203"/>
            <a:ext cx="2946445" cy="642935"/>
            <a:chOff x="2021" y="1152"/>
            <a:chExt cx="2247" cy="526"/>
          </a:xfrm>
        </p:grpSpPr>
        <p:graphicFrame>
          <p:nvGraphicFramePr>
            <p:cNvPr id="63496" name="Object 37"/>
            <p:cNvGraphicFramePr>
              <a:graphicFrameLocks noChangeAspect="1"/>
            </p:cNvGraphicFramePr>
            <p:nvPr/>
          </p:nvGraphicFramePr>
          <p:xfrm>
            <a:off x="2021" y="1152"/>
            <a:ext cx="2247" cy="526"/>
          </p:xfrm>
          <a:graphic>
            <a:graphicData uri="http://schemas.openxmlformats.org/presentationml/2006/ole">
              <p:oleObj spid="_x0000_s74771" name="Equation" r:id="rId3" imgW="23469600" imgH="5486400" progId="">
                <p:embed/>
              </p:oleObj>
            </a:graphicData>
          </a:graphic>
        </p:graphicFrame>
        <p:grpSp>
          <p:nvGrpSpPr>
            <p:cNvPr id="63497" name="Group 38"/>
            <p:cNvGrpSpPr/>
            <p:nvPr/>
          </p:nvGrpSpPr>
          <p:grpSpPr bwMode="auto">
            <a:xfrm>
              <a:off x="2208" y="1392"/>
              <a:ext cx="240" cy="192"/>
              <a:chOff x="864" y="2064"/>
              <a:chExt cx="240" cy="192"/>
            </a:xfrm>
          </p:grpSpPr>
          <p:sp>
            <p:nvSpPr>
              <p:cNvPr id="63498" name="Line 39"/>
              <p:cNvSpPr>
                <a:spLocks noChangeShapeType="1"/>
              </p:cNvSpPr>
              <p:nvPr/>
            </p:nvSpPr>
            <p:spPr bwMode="auto">
              <a:xfrm>
                <a:off x="864" y="2256"/>
                <a:ext cx="128"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499" name="Line 40"/>
              <p:cNvSpPr>
                <a:spLocks noChangeShapeType="1"/>
              </p:cNvSpPr>
              <p:nvPr/>
            </p:nvSpPr>
            <p:spPr bwMode="auto">
              <a:xfrm flipV="1">
                <a:off x="864" y="2064"/>
                <a:ext cx="96" cy="192"/>
              </a:xfrm>
              <a:prstGeom prst="line">
                <a:avLst/>
              </a:prstGeom>
              <a:noFill/>
              <a:ln w="38100">
                <a:solidFill>
                  <a:schemeClr val="tx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00" name="Line 41"/>
              <p:cNvSpPr>
                <a:spLocks noChangeShapeType="1"/>
              </p:cNvSpPr>
              <p:nvPr/>
            </p:nvSpPr>
            <p:spPr bwMode="auto">
              <a:xfrm flipV="1">
                <a:off x="1008" y="2064"/>
                <a:ext cx="96" cy="192"/>
              </a:xfrm>
              <a:prstGeom prst="line">
                <a:avLst/>
              </a:prstGeom>
              <a:noFill/>
              <a:ln w="38100">
                <a:solidFill>
                  <a:schemeClr val="tx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cxnSp>
        <p:nvCxnSpPr>
          <p:cNvPr id="37" name="直接连接符 36"/>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8484"/>
                                        </p:tgtEl>
                                        <p:attrNameLst>
                                          <p:attrName>style.visibility</p:attrName>
                                        </p:attrNameLst>
                                      </p:cBhvr>
                                      <p:to>
                                        <p:strVal val="visible"/>
                                      </p:to>
                                    </p:set>
                                    <p:animEffect transition="in" filter="wipe(left)">
                                      <p:cBhvr>
                                        <p:cTn id="7" dur="300"/>
                                        <p:tgtEl>
                                          <p:spTgt spid="14848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8522"/>
                                        </p:tgtEl>
                                        <p:attrNameLst>
                                          <p:attrName>style.visibility</p:attrName>
                                        </p:attrNameLst>
                                      </p:cBhvr>
                                      <p:to>
                                        <p:strVal val="visible"/>
                                      </p:to>
                                    </p:set>
                                    <p:anim calcmode="lin" valueType="num">
                                      <p:cBhvr additive="base">
                                        <p:cTn id="12" dur="500" fill="hold"/>
                                        <p:tgtEl>
                                          <p:spTgt spid="148522"/>
                                        </p:tgtEl>
                                        <p:attrNameLst>
                                          <p:attrName>ppt_x</p:attrName>
                                        </p:attrNameLst>
                                      </p:cBhvr>
                                      <p:tavLst>
                                        <p:tav tm="0">
                                          <p:val>
                                            <p:strVal val="0-#ppt_w/2"/>
                                          </p:val>
                                        </p:tav>
                                        <p:tav tm="100000">
                                          <p:val>
                                            <p:strVal val="#ppt_x"/>
                                          </p:val>
                                        </p:tav>
                                      </p:tavLst>
                                    </p:anim>
                                    <p:anim calcmode="lin" valueType="num">
                                      <p:cBhvr additive="base">
                                        <p:cTn id="13" dur="500" fill="hold"/>
                                        <p:tgtEl>
                                          <p:spTgt spid="14852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148485"/>
                                        </p:tgtEl>
                                        <p:attrNameLst>
                                          <p:attrName>style.visibility</p:attrName>
                                        </p:attrNameLst>
                                      </p:cBhvr>
                                      <p:to>
                                        <p:strVal val="visible"/>
                                      </p:to>
                                    </p:set>
                                    <p:animEffect transition="in" filter="wipe(left)">
                                      <p:cBhvr>
                                        <p:cTn id="18" dur="300"/>
                                        <p:tgtEl>
                                          <p:spTgt spid="14848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48516"/>
                                        </p:tgtEl>
                                        <p:attrNameLst>
                                          <p:attrName>style.visibility</p:attrName>
                                        </p:attrNameLst>
                                      </p:cBhvr>
                                      <p:to>
                                        <p:strVal val="visible"/>
                                      </p:to>
                                    </p:set>
                                    <p:animEffect transition="in" filter="wipe(left)">
                                      <p:cBhvr>
                                        <p:cTn id="23" dur="500"/>
                                        <p:tgtEl>
                                          <p:spTgt spid="14851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148486"/>
                                        </p:tgtEl>
                                        <p:attrNameLst>
                                          <p:attrName>style.visibility</p:attrName>
                                        </p:attrNameLst>
                                      </p:cBhvr>
                                      <p:to>
                                        <p:strVal val="visible"/>
                                      </p:to>
                                    </p:set>
                                    <p:animEffect transition="in" filter="wipe(left)">
                                      <p:cBhvr>
                                        <p:cTn id="28" dur="300"/>
                                        <p:tgtEl>
                                          <p:spTgt spid="148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4" grpId="0" autoUpdateAnimBg="0"/>
      <p:bldP spid="148485" grpId="0" autoUpdateAnimBg="0"/>
      <p:bldP spid="148486"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30F48423-7D97-44A2-B371-1220D802211C}" type="slidenum">
              <a:rPr lang="en-US" altLang="zh-CN" sz="2000" smtClean="0">
                <a:solidFill>
                  <a:srgbClr val="0000FF"/>
                </a:solidFill>
              </a:rPr>
              <a:pPr eaLnBrk="1" hangingPunct="1"/>
              <a:t>47</a:t>
            </a:fld>
            <a:endParaRPr lang="en-US" altLang="zh-CN" sz="2000" smtClean="0">
              <a:solidFill>
                <a:srgbClr val="0000FF"/>
              </a:solidFill>
            </a:endParaRPr>
          </a:p>
        </p:txBody>
      </p:sp>
      <p:sp>
        <p:nvSpPr>
          <p:cNvPr id="144394" name="Text Box 10"/>
          <p:cNvSpPr txBox="1">
            <a:spLocks noChangeArrowheads="1"/>
          </p:cNvSpPr>
          <p:nvPr/>
        </p:nvSpPr>
        <p:spPr bwMode="auto">
          <a:xfrm>
            <a:off x="428596" y="785794"/>
            <a:ext cx="45624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t>①  </a:t>
            </a:r>
            <a:r>
              <a:rPr lang="zh-CN" altLang="en-US" sz="2000" b="1" dirty="0"/>
              <a:t>径向</a:t>
            </a:r>
            <a:r>
              <a:rPr lang="zh-CN" altLang="en-US" sz="2000" b="1" dirty="0" smtClean="0"/>
              <a:t>全跳动</a:t>
            </a:r>
            <a:endParaRPr lang="zh-CN" altLang="en-US" sz="2000" b="1" dirty="0"/>
          </a:p>
        </p:txBody>
      </p:sp>
      <p:cxnSp>
        <p:nvCxnSpPr>
          <p:cNvPr id="12" name="直接连接符 11"/>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 Box 4"/>
          <p:cNvSpPr txBox="1">
            <a:spLocks noChangeArrowheads="1"/>
          </p:cNvSpPr>
          <p:nvPr/>
        </p:nvSpPr>
        <p:spPr bwMode="auto">
          <a:xfrm>
            <a:off x="251521" y="164637"/>
            <a:ext cx="3649657"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a:t>
            </a:r>
            <a:r>
              <a:rPr lang="en-US" altLang="zh-CN" b="1" dirty="0"/>
              <a:t>2</a:t>
            </a:r>
            <a:r>
              <a:rPr lang="zh-CN" altLang="en-US" b="1" dirty="0"/>
              <a:t>）全跳动公差带</a:t>
            </a:r>
          </a:p>
        </p:txBody>
      </p:sp>
      <p:sp>
        <p:nvSpPr>
          <p:cNvPr id="14" name="矩形 13"/>
          <p:cNvSpPr/>
          <p:nvPr/>
        </p:nvSpPr>
        <p:spPr>
          <a:xfrm>
            <a:off x="571472" y="1220916"/>
            <a:ext cx="8072494" cy="707886"/>
          </a:xfrm>
          <a:prstGeom prst="rect">
            <a:avLst/>
          </a:prstGeom>
        </p:spPr>
        <p:txBody>
          <a:bodyPr wrap="square">
            <a:spAutoFit/>
          </a:bodyPr>
          <a:lstStyle/>
          <a:p>
            <a:r>
              <a:rPr lang="zh-CN" altLang="en-US" sz="2000" b="1" dirty="0" smtClean="0"/>
              <a:t>        提取</a:t>
            </a:r>
            <a:r>
              <a:rPr lang="en-US" altLang="zh-CN" sz="2000" b="1" dirty="0"/>
              <a:t>(</a:t>
            </a:r>
            <a:r>
              <a:rPr lang="zh-CN" altLang="en-US" sz="2000" b="1" dirty="0"/>
              <a:t>实际</a:t>
            </a:r>
            <a:r>
              <a:rPr lang="en-US" altLang="zh-CN" sz="2000" b="1" dirty="0"/>
              <a:t>) </a:t>
            </a:r>
            <a:r>
              <a:rPr lang="zh-CN" altLang="en-US" sz="2000" b="1" dirty="0"/>
              <a:t>表面应限定在半径差等于</a:t>
            </a:r>
            <a:r>
              <a:rPr lang="en-US" altLang="zh-CN" sz="2000" b="1" dirty="0"/>
              <a:t>0. 1</a:t>
            </a:r>
            <a:r>
              <a:rPr lang="zh-CN" altLang="en-US" sz="2000" b="1" dirty="0"/>
              <a:t>、与公共</a:t>
            </a:r>
            <a:r>
              <a:rPr lang="zh-CN" altLang="en-US" sz="2000" b="1" dirty="0" smtClean="0"/>
              <a:t>基准</a:t>
            </a:r>
            <a:r>
              <a:rPr lang="zh-CN" altLang="en-US" sz="2000" b="1" dirty="0"/>
              <a:t>轴线</a:t>
            </a:r>
            <a:r>
              <a:rPr lang="en-US" altLang="zh-CN" sz="2000" b="1" i="1" dirty="0"/>
              <a:t>A</a:t>
            </a:r>
            <a:r>
              <a:rPr lang="en-US" altLang="zh-CN" sz="2000" b="1" dirty="0"/>
              <a:t> -</a:t>
            </a:r>
            <a:r>
              <a:rPr lang="en-US" altLang="zh-CN" sz="2000" b="1" i="1" dirty="0"/>
              <a:t> B</a:t>
            </a:r>
            <a:r>
              <a:rPr lang="en-US" altLang="zh-CN" sz="2000" b="1" dirty="0"/>
              <a:t> </a:t>
            </a:r>
            <a:r>
              <a:rPr lang="zh-CN" altLang="en-US" sz="2000" b="1" dirty="0"/>
              <a:t>同轴的两圆柱面之间</a:t>
            </a:r>
            <a:r>
              <a:rPr lang="zh-CN" altLang="en-US" sz="2000" b="1" dirty="0" smtClean="0"/>
              <a:t>。</a:t>
            </a:r>
            <a:endParaRPr lang="zh-CN" altLang="en-US" sz="2000" b="1" dirty="0"/>
          </a:p>
        </p:txBody>
      </p:sp>
      <p:pic>
        <p:nvPicPr>
          <p:cNvPr id="15"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71472" y="2071678"/>
            <a:ext cx="3714776" cy="19313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86247" y="2000240"/>
            <a:ext cx="3655793" cy="207170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7" name="Picture 5"/>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4786314" y="4143380"/>
            <a:ext cx="3096344" cy="24139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8" name="矩形 17"/>
          <p:cNvSpPr/>
          <p:nvPr/>
        </p:nvSpPr>
        <p:spPr>
          <a:xfrm>
            <a:off x="928662" y="4786322"/>
            <a:ext cx="3479073" cy="1015663"/>
          </a:xfrm>
          <a:prstGeom prst="rect">
            <a:avLst/>
          </a:prstGeom>
        </p:spPr>
        <p:txBody>
          <a:bodyPr wrap="square">
            <a:spAutoFit/>
          </a:bodyPr>
          <a:lstStyle/>
          <a:p>
            <a:r>
              <a:rPr lang="zh-CN" altLang="en-US" sz="2000" b="1" dirty="0" smtClean="0"/>
              <a:t>       公差带</a:t>
            </a:r>
            <a:r>
              <a:rPr lang="zh-CN" altLang="en-US" sz="2000" b="1" dirty="0"/>
              <a:t>为</a:t>
            </a:r>
            <a:r>
              <a:rPr lang="zh-CN" altLang="en-US" sz="2000" b="1" dirty="0">
                <a:solidFill>
                  <a:srgbClr val="0070C0"/>
                </a:solidFill>
              </a:rPr>
              <a:t>半径差等于公差值</a:t>
            </a:r>
            <a:r>
              <a:rPr lang="en-US" altLang="zh-CN" sz="2000" b="1" i="1" dirty="0">
                <a:solidFill>
                  <a:srgbClr val="0070C0"/>
                </a:solidFill>
              </a:rPr>
              <a:t>t</a:t>
            </a:r>
            <a:r>
              <a:rPr lang="zh-CN" altLang="en-US" sz="2000" b="1" dirty="0"/>
              <a:t>、与基准轴线</a:t>
            </a:r>
            <a:r>
              <a:rPr lang="zh-CN" altLang="en-US" sz="2000" b="1" dirty="0" smtClean="0"/>
              <a:t>同轴</a:t>
            </a:r>
            <a:r>
              <a:rPr lang="zh-CN" altLang="en-US" sz="2000" b="1" dirty="0"/>
              <a:t>的</a:t>
            </a:r>
            <a:r>
              <a:rPr lang="zh-CN" altLang="en-US" sz="2000" b="1" dirty="0">
                <a:solidFill>
                  <a:srgbClr val="0070C0"/>
                </a:solidFill>
              </a:rPr>
              <a:t>两圆柱面所</a:t>
            </a:r>
            <a:r>
              <a:rPr lang="zh-CN" altLang="en-US" sz="2000" b="1" dirty="0"/>
              <a:t>限定的</a:t>
            </a:r>
            <a:r>
              <a:rPr lang="zh-CN" altLang="en-US" sz="2000" b="1" dirty="0" smtClean="0"/>
              <a:t>区域。</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4394"/>
                                        </p:tgtEl>
                                        <p:attrNameLst>
                                          <p:attrName>style.visibility</p:attrName>
                                        </p:attrNameLst>
                                      </p:cBhvr>
                                      <p:to>
                                        <p:strVal val="visible"/>
                                      </p:to>
                                    </p:set>
                                    <p:animEffect transition="in" filter="wipe(left)">
                                      <p:cBhvr>
                                        <p:cTn id="7" dur="300"/>
                                        <p:tgtEl>
                                          <p:spTgt spid="144394"/>
                                        </p:tgtEl>
                                      </p:cBhvr>
                                    </p:animEffect>
                                  </p:childTnLst>
                                </p:cTn>
                              </p:par>
                            </p:childTnLst>
                          </p:cTn>
                        </p:par>
                        <p:par>
                          <p:cTn id="8" fill="hold">
                            <p:stCondLst>
                              <p:cond delay="12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13"/>
                                        </p:tgtEl>
                                        <p:attrNameLst>
                                          <p:attrName>style.visibility</p:attrName>
                                        </p:attrNameLst>
                                      </p:cBhvr>
                                      <p:to>
                                        <p:strVal val="visible"/>
                                      </p:to>
                                    </p:set>
                                    <p:animEffect transition="in" filter="wipe(left)">
                                      <p:cBhvr>
                                        <p:cTn id="11" dur="3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0-#ppt_w/2"/>
                                          </p:val>
                                        </p:tav>
                                        <p:tav tm="100000">
                                          <p:val>
                                            <p:strVal val="#ppt_x"/>
                                          </p:val>
                                        </p:tav>
                                      </p:tavLst>
                                    </p:anim>
                                    <p:anim calcmode="lin" valueType="num">
                                      <p:cBhvr additive="base">
                                        <p:cTn id="2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1+#ppt_w/2"/>
                                          </p:val>
                                        </p:tav>
                                        <p:tav tm="100000">
                                          <p:val>
                                            <p:strVal val="#ppt_x"/>
                                          </p:val>
                                        </p:tav>
                                      </p:tavLst>
                                    </p:anim>
                                    <p:anim calcmode="lin" valueType="num">
                                      <p:cBhvr additive="base">
                                        <p:cTn id="2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4" grpId="0" autoUpdateAnimBg="0"/>
      <p:bldP spid="13" grpId="0" autoUpdateAnimBg="0"/>
      <p:bldP spid="14" grpId="0"/>
      <p:bldP spid="1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94A2EED-5A33-4523-8705-141BC037FCB9}" type="slidenum">
              <a:rPr lang="en-US" altLang="zh-CN" sz="2000" smtClean="0">
                <a:solidFill>
                  <a:srgbClr val="0000FF"/>
                </a:solidFill>
              </a:rPr>
              <a:pPr eaLnBrk="1" hangingPunct="1"/>
              <a:t>48</a:t>
            </a:fld>
            <a:endParaRPr lang="en-US" altLang="zh-CN" sz="2000" smtClean="0">
              <a:solidFill>
                <a:srgbClr val="0000FF"/>
              </a:solidFill>
            </a:endParaRPr>
          </a:p>
        </p:txBody>
      </p:sp>
      <p:sp>
        <p:nvSpPr>
          <p:cNvPr id="145418" name="Text Box 10"/>
          <p:cNvSpPr txBox="1">
            <a:spLocks noChangeArrowheads="1"/>
          </p:cNvSpPr>
          <p:nvPr/>
        </p:nvSpPr>
        <p:spPr bwMode="auto">
          <a:xfrm>
            <a:off x="428596" y="785794"/>
            <a:ext cx="41306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t>②  </a:t>
            </a:r>
            <a:r>
              <a:rPr lang="zh-CN" altLang="en-US" sz="2000" b="1" dirty="0"/>
              <a:t>轴向</a:t>
            </a:r>
            <a:r>
              <a:rPr lang="zh-CN" altLang="en-US" sz="2000" b="1" dirty="0" smtClean="0"/>
              <a:t>全跳动公差</a:t>
            </a:r>
            <a:r>
              <a:rPr lang="zh-CN" altLang="en-US" sz="2000" b="1" dirty="0"/>
              <a:t>带</a:t>
            </a:r>
          </a:p>
        </p:txBody>
      </p:sp>
      <p:cxnSp>
        <p:nvCxnSpPr>
          <p:cNvPr id="14" name="直接连接符 13"/>
          <p:cNvCxnSpPr/>
          <p:nvPr/>
        </p:nvCxnSpPr>
        <p:spPr bwMode="auto">
          <a:xfrm flipV="1">
            <a:off x="150470" y="709913"/>
            <a:ext cx="8825696" cy="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5" name="Text Box 4"/>
          <p:cNvSpPr txBox="1">
            <a:spLocks noChangeArrowheads="1"/>
          </p:cNvSpPr>
          <p:nvPr/>
        </p:nvSpPr>
        <p:spPr bwMode="auto">
          <a:xfrm>
            <a:off x="251521" y="164637"/>
            <a:ext cx="3649657"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a:t>
            </a:r>
            <a:r>
              <a:rPr lang="en-US" altLang="zh-CN" b="1" dirty="0"/>
              <a:t>2</a:t>
            </a:r>
            <a:r>
              <a:rPr lang="zh-CN" altLang="en-US" b="1" dirty="0"/>
              <a:t>）全跳动公差带</a:t>
            </a:r>
          </a:p>
        </p:txBody>
      </p:sp>
      <p:sp>
        <p:nvSpPr>
          <p:cNvPr id="16" name="矩形 15"/>
          <p:cNvSpPr/>
          <p:nvPr/>
        </p:nvSpPr>
        <p:spPr>
          <a:xfrm>
            <a:off x="571472" y="1214422"/>
            <a:ext cx="7858180" cy="707886"/>
          </a:xfrm>
          <a:prstGeom prst="rect">
            <a:avLst/>
          </a:prstGeom>
        </p:spPr>
        <p:txBody>
          <a:bodyPr wrap="square">
            <a:spAutoFit/>
          </a:bodyPr>
          <a:lstStyle/>
          <a:p>
            <a:r>
              <a:rPr lang="zh-CN" altLang="en-US" sz="2000" b="1" dirty="0" smtClean="0"/>
              <a:t>        提取</a:t>
            </a:r>
            <a:r>
              <a:rPr lang="en-US" altLang="zh-CN" sz="2000" b="1" dirty="0"/>
              <a:t>(</a:t>
            </a:r>
            <a:r>
              <a:rPr lang="zh-CN" altLang="en-US" sz="2000" b="1" dirty="0"/>
              <a:t>实际</a:t>
            </a:r>
            <a:r>
              <a:rPr lang="en-US" altLang="zh-CN" sz="2000" b="1" dirty="0"/>
              <a:t>) </a:t>
            </a:r>
            <a:r>
              <a:rPr lang="zh-CN" altLang="en-US" sz="2000" b="1" dirty="0"/>
              <a:t>表面应限定在间距等于</a:t>
            </a:r>
            <a:r>
              <a:rPr lang="en-US" altLang="zh-CN" sz="2000" b="1" dirty="0"/>
              <a:t>0. 1</a:t>
            </a:r>
            <a:r>
              <a:rPr lang="zh-CN" altLang="en-US" sz="2000" b="1" dirty="0"/>
              <a:t>、垂直于</a:t>
            </a:r>
            <a:r>
              <a:rPr lang="zh-CN" altLang="en-US" sz="2000" b="1" dirty="0" smtClean="0"/>
              <a:t>基准轴线</a:t>
            </a:r>
            <a:r>
              <a:rPr lang="en-US" altLang="zh-CN" sz="2000" b="1" i="1" dirty="0"/>
              <a:t>D </a:t>
            </a:r>
            <a:r>
              <a:rPr lang="zh-CN" altLang="en-US" sz="2000" b="1" dirty="0"/>
              <a:t>的两平行平面之间</a:t>
            </a:r>
            <a:r>
              <a:rPr lang="en-US" altLang="zh-CN" sz="2000" b="1" dirty="0"/>
              <a:t>(</a:t>
            </a:r>
            <a:r>
              <a:rPr lang="zh-CN" altLang="en-US" sz="2000" b="1" dirty="0"/>
              <a:t>与端面垂直度公差的含义</a:t>
            </a:r>
            <a:r>
              <a:rPr lang="zh-CN" altLang="en-US" sz="2000" b="1" dirty="0" smtClean="0"/>
              <a:t>相同</a:t>
            </a:r>
            <a:r>
              <a:rPr lang="en-US" altLang="zh-CN" sz="2000" b="1" dirty="0" smtClean="0"/>
              <a:t>)</a:t>
            </a:r>
            <a:r>
              <a:rPr lang="zh-CN" altLang="en-US" sz="2000" b="1" dirty="0" smtClean="0"/>
              <a:t>。</a:t>
            </a:r>
            <a:endParaRPr lang="zh-CN" altLang="en-US" sz="2000" b="1" dirty="0"/>
          </a:p>
        </p:txBody>
      </p:sp>
      <p:sp>
        <p:nvSpPr>
          <p:cNvPr id="17" name="矩形 16"/>
          <p:cNvSpPr/>
          <p:nvPr/>
        </p:nvSpPr>
        <p:spPr>
          <a:xfrm>
            <a:off x="785786" y="4500570"/>
            <a:ext cx="4004843" cy="1015663"/>
          </a:xfrm>
          <a:prstGeom prst="rect">
            <a:avLst/>
          </a:prstGeom>
        </p:spPr>
        <p:txBody>
          <a:bodyPr wrap="square">
            <a:spAutoFit/>
          </a:bodyPr>
          <a:lstStyle/>
          <a:p>
            <a:r>
              <a:rPr lang="zh-CN" altLang="en-US" sz="2000" b="1" dirty="0" smtClean="0"/>
              <a:t>        公差带</a:t>
            </a:r>
            <a:r>
              <a:rPr lang="zh-CN" altLang="en-US" sz="2000" b="1" dirty="0"/>
              <a:t>为</a:t>
            </a:r>
            <a:r>
              <a:rPr lang="zh-CN" altLang="en-US" sz="2000" b="1" dirty="0">
                <a:solidFill>
                  <a:srgbClr val="0070C0"/>
                </a:solidFill>
              </a:rPr>
              <a:t>间距等于公差</a:t>
            </a:r>
            <a:r>
              <a:rPr lang="zh-CN" altLang="en-US" sz="2000" b="1" dirty="0" smtClean="0">
                <a:solidFill>
                  <a:srgbClr val="0070C0"/>
                </a:solidFill>
              </a:rPr>
              <a:t>值</a:t>
            </a:r>
            <a:r>
              <a:rPr lang="en-US" altLang="zh-CN" sz="2000" b="1" i="1" dirty="0" smtClean="0">
                <a:solidFill>
                  <a:srgbClr val="0070C0"/>
                </a:solidFill>
              </a:rPr>
              <a:t>t</a:t>
            </a:r>
            <a:r>
              <a:rPr lang="zh-CN" altLang="en-US" sz="2000" b="1" dirty="0" smtClean="0"/>
              <a:t>、</a:t>
            </a:r>
            <a:r>
              <a:rPr lang="zh-CN" altLang="en-US" sz="2000" b="1" dirty="0"/>
              <a:t>垂直于基准</a:t>
            </a:r>
            <a:r>
              <a:rPr lang="zh-CN" altLang="en-US" sz="2000" b="1" dirty="0" smtClean="0"/>
              <a:t>轴线</a:t>
            </a:r>
            <a:r>
              <a:rPr lang="zh-CN" altLang="en-US" sz="2000" b="1" dirty="0"/>
              <a:t>的</a:t>
            </a:r>
            <a:r>
              <a:rPr lang="zh-CN" altLang="en-US" sz="2000" b="1" dirty="0">
                <a:solidFill>
                  <a:srgbClr val="0070C0"/>
                </a:solidFill>
              </a:rPr>
              <a:t>两平行平面</a:t>
            </a:r>
            <a:r>
              <a:rPr lang="zh-CN" altLang="en-US" sz="2000" b="1" dirty="0"/>
              <a:t>所限定的</a:t>
            </a:r>
            <a:r>
              <a:rPr lang="zh-CN" altLang="en-US" sz="2000" b="1" dirty="0" smtClean="0"/>
              <a:t>区域</a:t>
            </a:r>
            <a:r>
              <a:rPr lang="zh-CN" altLang="en-US" sz="2000" b="1" dirty="0"/>
              <a:t>。</a:t>
            </a:r>
          </a:p>
        </p:txBody>
      </p:sp>
      <p:pic>
        <p:nvPicPr>
          <p:cNvPr id="18"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448870" y="2183930"/>
            <a:ext cx="3623592" cy="16736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9" name="Picture 4"/>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928662" y="2285992"/>
            <a:ext cx="3505200" cy="1876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 name="Picture 6"/>
          <p:cNvPicPr>
            <a:picLocks noChangeAspect="1" noChangeArrowheads="1"/>
          </p:cNvPicPr>
          <p:nvPr/>
        </p:nvPicPr>
        <p:blipFill>
          <a:blip r:embed="rId4">
            <a:extLst>
              <a:ext uri="{28A0092B-C50C-407E-A947-70E740481C1C}">
                <a14:useLocalDpi xmlns:a14="http://schemas.microsoft.com/office/drawing/2010/main" xmlns="" val="0"/>
              </a:ext>
            </a:extLst>
          </a:blip>
          <a:srcRect b="14881"/>
          <a:stretch>
            <a:fillRect/>
          </a:stretch>
        </p:blipFill>
        <p:spPr bwMode="auto">
          <a:xfrm>
            <a:off x="5143504" y="4071942"/>
            <a:ext cx="2500330" cy="24516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5418"/>
                                        </p:tgtEl>
                                        <p:attrNameLst>
                                          <p:attrName>style.visibility</p:attrName>
                                        </p:attrNameLst>
                                      </p:cBhvr>
                                      <p:to>
                                        <p:strVal val="visible"/>
                                      </p:to>
                                    </p:set>
                                    <p:animEffect transition="in" filter="wipe(left)">
                                      <p:cBhvr>
                                        <p:cTn id="7" dur="300"/>
                                        <p:tgtEl>
                                          <p:spTgt spid="145418"/>
                                        </p:tgtEl>
                                      </p:cBhvr>
                                    </p:animEffect>
                                  </p:childTnLst>
                                </p:cTn>
                              </p:par>
                            </p:childTnLst>
                          </p:cTn>
                        </p:par>
                        <p:par>
                          <p:cTn id="8" fill="hold">
                            <p:stCondLst>
                              <p:cond delay="18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15"/>
                                        </p:tgtEl>
                                        <p:attrNameLst>
                                          <p:attrName>style.visibility</p:attrName>
                                        </p:attrNameLst>
                                      </p:cBhvr>
                                      <p:to>
                                        <p:strVal val="visible"/>
                                      </p:to>
                                    </p:set>
                                    <p:animEffect transition="in" filter="wipe(left)">
                                      <p:cBhvr>
                                        <p:cTn id="11" dur="3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0-#ppt_w/2"/>
                                          </p:val>
                                        </p:tav>
                                        <p:tav tm="100000">
                                          <p:val>
                                            <p:strVal val="#ppt_x"/>
                                          </p:val>
                                        </p:tav>
                                      </p:tavLst>
                                    </p:anim>
                                    <p:anim calcmode="lin" valueType="num">
                                      <p:cBhvr additive="base">
                                        <p:cTn id="2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1+#ppt_w/2"/>
                                          </p:val>
                                        </p:tav>
                                        <p:tav tm="100000">
                                          <p:val>
                                            <p:strVal val="#ppt_x"/>
                                          </p:val>
                                        </p:tav>
                                      </p:tavLst>
                                    </p:anim>
                                    <p:anim calcmode="lin" valueType="num">
                                      <p:cBhvr additive="base">
                                        <p:cTn id="2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left)">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20"/>
                                        </p:tgtEl>
                                        <p:attrNameLst>
                                          <p:attrName>style.visibility</p:attrName>
                                        </p:attrNameLst>
                                      </p:cBhvr>
                                      <p:to>
                                        <p:strVal val="visible"/>
                                      </p:to>
                                    </p:set>
                                    <p:anim calcmode="lin" valueType="num">
                                      <p:cBhvr additive="base">
                                        <p:cTn id="38" dur="500" fill="hold"/>
                                        <p:tgtEl>
                                          <p:spTgt spid="20"/>
                                        </p:tgtEl>
                                        <p:attrNameLst>
                                          <p:attrName>ppt_x</p:attrName>
                                        </p:attrNameLst>
                                      </p:cBhvr>
                                      <p:tavLst>
                                        <p:tav tm="0">
                                          <p:val>
                                            <p:strVal val="#ppt_x"/>
                                          </p:val>
                                        </p:tav>
                                        <p:tav tm="100000">
                                          <p:val>
                                            <p:strVal val="#ppt_x"/>
                                          </p:val>
                                        </p:tav>
                                      </p:tavLst>
                                    </p:anim>
                                    <p:anim calcmode="lin" valueType="num">
                                      <p:cBhvr additive="base">
                                        <p:cTn id="39"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8" grpId="0" autoUpdateAnimBg="0"/>
      <p:bldP spid="15" grpId="0" autoUpdateAnimBg="0"/>
      <p:bldP spid="16" grpId="0"/>
      <p:bldP spid="1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E8C5976D-165A-4077-8FF3-D09B64F74EFF}" type="slidenum">
              <a:rPr lang="en-US" altLang="zh-CN" sz="2000" smtClean="0">
                <a:solidFill>
                  <a:srgbClr val="0000FF"/>
                </a:solidFill>
              </a:rPr>
              <a:pPr eaLnBrk="1" hangingPunct="1"/>
              <a:t>49</a:t>
            </a:fld>
            <a:endParaRPr lang="en-US" altLang="zh-CN" sz="2000" smtClean="0">
              <a:solidFill>
                <a:srgbClr val="0000FF"/>
              </a:solidFill>
            </a:endParaRPr>
          </a:p>
        </p:txBody>
      </p:sp>
      <p:sp>
        <p:nvSpPr>
          <p:cNvPr id="81931" name="Text Box 11"/>
          <p:cNvSpPr txBox="1">
            <a:spLocks noChangeArrowheads="1"/>
          </p:cNvSpPr>
          <p:nvPr/>
        </p:nvSpPr>
        <p:spPr bwMode="auto">
          <a:xfrm>
            <a:off x="821802" y="976660"/>
            <a:ext cx="7638630" cy="23083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FF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000" dirty="0"/>
              <a:t>           </a:t>
            </a:r>
            <a:r>
              <a:rPr lang="zh-CN" altLang="en-US" sz="2000" b="1" dirty="0"/>
              <a:t>跳动公差带能综合</a:t>
            </a:r>
            <a:r>
              <a:rPr lang="zh-CN" altLang="en-US" sz="2000" b="1" dirty="0">
                <a:solidFill>
                  <a:srgbClr val="FF0000"/>
                </a:solidFill>
              </a:rPr>
              <a:t>控制</a:t>
            </a:r>
            <a:r>
              <a:rPr lang="zh-CN" altLang="en-US" sz="2000" b="1" dirty="0"/>
              <a:t>同一被测要素的</a:t>
            </a:r>
            <a:r>
              <a:rPr lang="zh-CN" altLang="en-US" sz="2000" b="1" dirty="0">
                <a:solidFill>
                  <a:srgbClr val="FF0000"/>
                </a:solidFill>
              </a:rPr>
              <a:t>形状误差、方向误差和位置误差</a:t>
            </a:r>
            <a:r>
              <a:rPr lang="zh-CN" altLang="en-US" sz="2000" b="1" dirty="0" smtClean="0"/>
              <a:t>。如</a:t>
            </a:r>
            <a:r>
              <a:rPr lang="en-US" altLang="zh-CN" sz="2000" b="1" dirty="0" smtClean="0"/>
              <a:t>:</a:t>
            </a:r>
          </a:p>
          <a:p>
            <a:pPr eaLnBrk="1" hangingPunct="1">
              <a:lnSpc>
                <a:spcPct val="120000"/>
              </a:lnSpc>
            </a:pPr>
            <a:r>
              <a:rPr lang="zh-CN" altLang="en-US" sz="2000" b="1" dirty="0" smtClean="0"/>
              <a:t>  </a:t>
            </a:r>
            <a:r>
              <a:rPr lang="zh-CN" altLang="en-US" sz="2000" b="1" dirty="0" smtClean="0">
                <a:solidFill>
                  <a:srgbClr val="00B050"/>
                </a:solidFill>
              </a:rPr>
              <a:t>径向</a:t>
            </a:r>
            <a:r>
              <a:rPr lang="zh-CN" altLang="en-US" sz="2000" b="1" dirty="0">
                <a:solidFill>
                  <a:srgbClr val="00B050"/>
                </a:solidFill>
              </a:rPr>
              <a:t>圆跳动公差带</a:t>
            </a:r>
            <a:r>
              <a:rPr lang="zh-CN" altLang="en-US" sz="2000" b="1" dirty="0"/>
              <a:t>可以同时控制</a:t>
            </a:r>
            <a:r>
              <a:rPr lang="zh-CN" altLang="en-US" sz="2000" b="1" dirty="0">
                <a:solidFill>
                  <a:srgbClr val="0070C0"/>
                </a:solidFill>
              </a:rPr>
              <a:t>同轴度</a:t>
            </a:r>
            <a:r>
              <a:rPr lang="zh-CN" altLang="en-US" sz="2000" b="1" dirty="0"/>
              <a:t>误差和</a:t>
            </a:r>
            <a:r>
              <a:rPr lang="zh-CN" altLang="en-US" sz="2000" b="1" dirty="0">
                <a:solidFill>
                  <a:srgbClr val="0070C0"/>
                </a:solidFill>
              </a:rPr>
              <a:t>圆度</a:t>
            </a:r>
            <a:r>
              <a:rPr lang="zh-CN" altLang="en-US" sz="2000" b="1" dirty="0"/>
              <a:t>误差</a:t>
            </a:r>
            <a:r>
              <a:rPr lang="zh-CN" altLang="en-US" sz="2000" b="1" dirty="0" smtClean="0"/>
              <a:t>；</a:t>
            </a:r>
            <a:endParaRPr lang="en-US" altLang="zh-CN" sz="2000" b="1" dirty="0" smtClean="0"/>
          </a:p>
          <a:p>
            <a:pPr eaLnBrk="1" hangingPunct="1">
              <a:lnSpc>
                <a:spcPct val="120000"/>
              </a:lnSpc>
            </a:pPr>
            <a:r>
              <a:rPr lang="zh-CN" altLang="en-US" sz="2000" b="1" dirty="0" smtClean="0"/>
              <a:t>  </a:t>
            </a:r>
            <a:r>
              <a:rPr lang="zh-CN" altLang="en-US" sz="2000" b="1" dirty="0" smtClean="0">
                <a:solidFill>
                  <a:srgbClr val="00B050"/>
                </a:solidFill>
              </a:rPr>
              <a:t>径向全跳动公差带</a:t>
            </a:r>
            <a:r>
              <a:rPr lang="zh-CN" altLang="en-US" sz="2000" b="1" dirty="0"/>
              <a:t>可以同时控制</a:t>
            </a:r>
            <a:r>
              <a:rPr lang="zh-CN" altLang="en-US" sz="2000" b="1" dirty="0">
                <a:solidFill>
                  <a:srgbClr val="0070C0"/>
                </a:solidFill>
              </a:rPr>
              <a:t>同轴度</a:t>
            </a:r>
            <a:r>
              <a:rPr lang="zh-CN" altLang="en-US" sz="2000" b="1" dirty="0"/>
              <a:t>误差和</a:t>
            </a:r>
            <a:r>
              <a:rPr lang="zh-CN" altLang="en-US" sz="2000" b="1" dirty="0">
                <a:solidFill>
                  <a:srgbClr val="0070C0"/>
                </a:solidFill>
              </a:rPr>
              <a:t>圆柱度</a:t>
            </a:r>
            <a:r>
              <a:rPr lang="zh-CN" altLang="en-US" sz="2000" b="1" dirty="0"/>
              <a:t>误差</a:t>
            </a:r>
            <a:r>
              <a:rPr lang="zh-CN" altLang="en-US" sz="2000" b="1" dirty="0" smtClean="0"/>
              <a:t>；</a:t>
            </a:r>
            <a:endParaRPr lang="en-US" altLang="zh-CN" sz="2000" b="1" dirty="0" smtClean="0"/>
          </a:p>
          <a:p>
            <a:pPr eaLnBrk="1" hangingPunct="1">
              <a:lnSpc>
                <a:spcPct val="120000"/>
              </a:lnSpc>
            </a:pPr>
            <a:r>
              <a:rPr lang="zh-CN" altLang="en-US" sz="2000" b="1" dirty="0" smtClean="0"/>
              <a:t>  </a:t>
            </a:r>
            <a:r>
              <a:rPr lang="zh-CN" altLang="en-US" sz="2000" b="1" dirty="0" smtClean="0">
                <a:solidFill>
                  <a:srgbClr val="00B050"/>
                </a:solidFill>
              </a:rPr>
              <a:t>轴向全跳动公差带</a:t>
            </a:r>
            <a:r>
              <a:rPr lang="zh-CN" altLang="en-US" sz="2000" b="1" dirty="0"/>
              <a:t>可以同时控制端面对基准轴线的</a:t>
            </a:r>
            <a:r>
              <a:rPr lang="zh-CN" altLang="en-US" sz="2000" b="1" dirty="0">
                <a:solidFill>
                  <a:srgbClr val="0070C0"/>
                </a:solidFill>
              </a:rPr>
              <a:t>垂直度</a:t>
            </a:r>
            <a:r>
              <a:rPr lang="zh-CN" altLang="en-US" sz="2000" b="1" dirty="0"/>
              <a:t>误差和</a:t>
            </a:r>
            <a:r>
              <a:rPr lang="zh-CN" altLang="en-US" sz="2000" b="1" dirty="0">
                <a:solidFill>
                  <a:srgbClr val="0070C0"/>
                </a:solidFill>
              </a:rPr>
              <a:t>平面度</a:t>
            </a:r>
            <a:r>
              <a:rPr lang="zh-CN" altLang="en-US" sz="2000" b="1" dirty="0"/>
              <a:t>误差。</a:t>
            </a:r>
          </a:p>
        </p:txBody>
      </p:sp>
      <p:sp>
        <p:nvSpPr>
          <p:cNvPr id="81934" name="Rectangle 14"/>
          <p:cNvSpPr>
            <a:spLocks noChangeArrowheads="1"/>
          </p:cNvSpPr>
          <p:nvPr/>
        </p:nvSpPr>
        <p:spPr bwMode="auto">
          <a:xfrm>
            <a:off x="885696" y="3571921"/>
            <a:ext cx="7390010" cy="21236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nSpc>
                <a:spcPct val="150000"/>
              </a:lnSpc>
            </a:pPr>
            <a:r>
              <a:rPr lang="en-US" altLang="zh-CN" dirty="0"/>
              <a:t>         </a:t>
            </a:r>
            <a:r>
              <a:rPr lang="zh-CN" altLang="en-US" sz="2000" b="1" dirty="0"/>
              <a:t>对某一被测要素给出跳动公差后，若不能满足功能要素时，则另行给出形状、方向和位置公差，其公差值应</a:t>
            </a:r>
            <a:r>
              <a:rPr lang="zh-CN" altLang="en-US" sz="2000" b="1" dirty="0" smtClean="0"/>
              <a:t>遵守</a:t>
            </a:r>
            <a:endParaRPr lang="en-US" altLang="zh-CN" sz="2000" b="1" dirty="0" smtClean="0"/>
          </a:p>
          <a:p>
            <a:pPr algn="ctr">
              <a:lnSpc>
                <a:spcPct val="150000"/>
              </a:lnSpc>
            </a:pPr>
            <a:r>
              <a:rPr lang="zh-CN" altLang="en-US" b="1" dirty="0" smtClean="0">
                <a:solidFill>
                  <a:srgbClr val="FF0000"/>
                </a:solidFill>
              </a:rPr>
              <a:t>形状公差 </a:t>
            </a:r>
            <a:r>
              <a:rPr lang="en-US" altLang="zh-CN" b="1" dirty="0" smtClean="0">
                <a:solidFill>
                  <a:srgbClr val="FF0000"/>
                </a:solidFill>
              </a:rPr>
              <a:t>&lt; </a:t>
            </a:r>
            <a:r>
              <a:rPr lang="zh-CN" altLang="en-US" b="1" dirty="0" smtClean="0">
                <a:solidFill>
                  <a:srgbClr val="FF0000"/>
                </a:solidFill>
              </a:rPr>
              <a:t>方向公差 </a:t>
            </a:r>
            <a:r>
              <a:rPr lang="en-US" altLang="zh-CN" b="1" dirty="0" smtClean="0">
                <a:solidFill>
                  <a:srgbClr val="FF0000"/>
                </a:solidFill>
              </a:rPr>
              <a:t>&lt; </a:t>
            </a:r>
            <a:r>
              <a:rPr lang="zh-CN" altLang="en-US" b="1" dirty="0" smtClean="0">
                <a:solidFill>
                  <a:srgbClr val="FF0000"/>
                </a:solidFill>
              </a:rPr>
              <a:t>位置公差 </a:t>
            </a:r>
            <a:r>
              <a:rPr lang="en-US" altLang="zh-CN" b="1" dirty="0" smtClean="0">
                <a:solidFill>
                  <a:srgbClr val="FF0000"/>
                </a:solidFill>
              </a:rPr>
              <a:t>&lt; </a:t>
            </a:r>
            <a:r>
              <a:rPr lang="zh-CN" altLang="en-US" b="1" dirty="0" smtClean="0">
                <a:solidFill>
                  <a:srgbClr val="FF0000"/>
                </a:solidFill>
              </a:rPr>
              <a:t>跳动公差</a:t>
            </a:r>
            <a:endParaRPr lang="en-US" altLang="zh-CN" b="1" dirty="0" smtClean="0">
              <a:solidFill>
                <a:srgbClr val="FF0000"/>
              </a:solidFill>
            </a:endParaRPr>
          </a:p>
          <a:p>
            <a:pPr>
              <a:lnSpc>
                <a:spcPct val="150000"/>
              </a:lnSpc>
            </a:pPr>
            <a:r>
              <a:rPr lang="zh-CN" altLang="en-US" sz="2000" b="1" dirty="0" smtClean="0"/>
              <a:t>的</a:t>
            </a:r>
            <a:r>
              <a:rPr lang="zh-CN" altLang="en-US" sz="2000" b="1" dirty="0"/>
              <a:t>原则。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81931"/>
                                        </p:tgtEl>
                                        <p:attrNameLst>
                                          <p:attrName>style.visibility</p:attrName>
                                        </p:attrNameLst>
                                      </p:cBhvr>
                                      <p:to>
                                        <p:strVal val="visible"/>
                                      </p:to>
                                    </p:set>
                                    <p:animEffect transition="in" filter="wipe(left)">
                                      <p:cBhvr>
                                        <p:cTn id="7" dur="750"/>
                                        <p:tgtEl>
                                          <p:spTgt spid="819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81934"/>
                                        </p:tgtEl>
                                        <p:attrNameLst>
                                          <p:attrName>style.visibility</p:attrName>
                                        </p:attrNameLst>
                                      </p:cBhvr>
                                      <p:to>
                                        <p:strVal val="visible"/>
                                      </p:to>
                                    </p:set>
                                    <p:animEffect transition="in" filter="wipe(left)">
                                      <p:cBhvr>
                                        <p:cTn id="12" dur="300"/>
                                        <p:tgtEl>
                                          <p:spTgt spid="81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1" grpId="0" autoUpdateAnimBg="0"/>
      <p:bldP spid="81934"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B6D30233-6116-4BD4-9363-EE56E4BA6AFD}" type="slidenum">
              <a:rPr lang="en-US" altLang="zh-CN" smtClean="0"/>
              <a:pPr>
                <a:defRPr/>
              </a:pPr>
              <a:t>50</a:t>
            </a:fld>
            <a:endParaRPr lang="en-US" altLang="zh-CN"/>
          </a:p>
        </p:txBody>
      </p:sp>
      <p:sp>
        <p:nvSpPr>
          <p:cNvPr id="3" name="文本框 2"/>
          <p:cNvSpPr txBox="1"/>
          <p:nvPr/>
        </p:nvSpPr>
        <p:spPr>
          <a:xfrm>
            <a:off x="3786182" y="500042"/>
            <a:ext cx="1728192" cy="523220"/>
          </a:xfrm>
          <a:prstGeom prst="rect">
            <a:avLst/>
          </a:prstGeom>
          <a:noFill/>
        </p:spPr>
        <p:txBody>
          <a:bodyPr wrap="square" rtlCol="0">
            <a:spAutoFit/>
          </a:bodyPr>
          <a:lstStyle/>
          <a:p>
            <a:r>
              <a:rPr lang="zh-CN" altLang="en-US" sz="2800" b="1" dirty="0"/>
              <a:t>课堂练习</a:t>
            </a:r>
          </a:p>
        </p:txBody>
      </p:sp>
      <p:pic>
        <p:nvPicPr>
          <p:cNvPr id="138242" name="Picture 2" descr="C:\Users\Administrator\Documents\Tencent Files\66721271\FileRecv\IMG_20220418_170907.jpg.jpg"/>
          <p:cNvPicPr>
            <a:picLocks noChangeAspect="1" noChangeArrowheads="1"/>
          </p:cNvPicPr>
          <p:nvPr/>
        </p:nvPicPr>
        <p:blipFill>
          <a:blip r:embed="rId2" cstate="print">
            <a:lum contrast="40000"/>
          </a:blip>
          <a:srcRect l="15277" t="4167" r="13889" b="5208"/>
          <a:stretch>
            <a:fillRect/>
          </a:stretch>
        </p:blipFill>
        <p:spPr bwMode="auto">
          <a:xfrm rot="16200000">
            <a:off x="2739826" y="689143"/>
            <a:ext cx="3714776" cy="6336971"/>
          </a:xfrm>
          <a:prstGeom prst="rect">
            <a:avLst/>
          </a:prstGeom>
          <a:noFill/>
        </p:spPr>
      </p:pic>
      <p:sp>
        <p:nvSpPr>
          <p:cNvPr id="6" name="TextBox 5"/>
          <p:cNvSpPr txBox="1"/>
          <p:nvPr/>
        </p:nvSpPr>
        <p:spPr>
          <a:xfrm>
            <a:off x="1571604" y="1285860"/>
            <a:ext cx="6072230" cy="461665"/>
          </a:xfrm>
          <a:prstGeom prst="rect">
            <a:avLst/>
          </a:prstGeom>
          <a:noFill/>
        </p:spPr>
        <p:txBody>
          <a:bodyPr wrap="square" rtlCol="0">
            <a:spAutoFit/>
          </a:bodyPr>
          <a:lstStyle/>
          <a:p>
            <a:r>
              <a:rPr lang="zh-CN" altLang="en-US" b="1" dirty="0" smtClean="0"/>
              <a:t>改正标注错误（不允许改变几何公差项目）</a:t>
            </a:r>
            <a:endParaRPr lang="zh-CN" altLang="en-US" b="1" dirty="0"/>
          </a:p>
        </p:txBody>
      </p:sp>
    </p:spTree>
    <p:extLst>
      <p:ext uri="{BB962C8B-B14F-4D97-AF65-F5344CB8AC3E}">
        <p14:creationId xmlns:p14="http://schemas.microsoft.com/office/powerpoint/2010/main" xmlns="" val="278282050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348.748031496063,&quot;width&quot;:4723.154330708661}"/>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742.1496062992123,&quot;width&quot;:4116.047244094488}"/>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44.511811023622,&quot;width&quot;:4082.343307086614}"/>
</p:tagLst>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2860</TotalTime>
  <Words>3668</Words>
  <Application>Microsoft Office PowerPoint</Application>
  <PresentationFormat>全屏显示(4:3)</PresentationFormat>
  <Paragraphs>295</Paragraphs>
  <Slides>50</Slides>
  <Notes>7</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52" baseType="lpstr">
      <vt:lpstr>默认设计模板</vt:lpstr>
      <vt:lpstr>Equation</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vector>
  </TitlesOfParts>
  <Company>lww</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lww</dc:creator>
  <cp:lastModifiedBy>微软用户</cp:lastModifiedBy>
  <cp:revision>359</cp:revision>
  <dcterms:created xsi:type="dcterms:W3CDTF">2006-04-27T15:17:00Z</dcterms:created>
  <dcterms:modified xsi:type="dcterms:W3CDTF">2023-03-23T09:38:00Z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ED2B8B44234747B9BF417538F784BB80</vt:lpwstr>
  </property>
  <property fmtid="{D5CDD505-2E9C-101B-9397-08002B2CF9AE}" pid="3" name="KSOProductBuildVer">
    <vt:lpwstr>2052-11.1.0.11035</vt:lpwstr>
  </property>
</Properties>
</file>