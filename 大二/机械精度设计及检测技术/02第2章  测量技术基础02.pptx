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Default Extension="bin" ContentType="application/vnd.openxmlformats-officedocument.oleObject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  <p:sldMasterId id="2147483664" r:id="rId3"/>
  </p:sldMasterIdLst>
  <p:notesMasterIdLst>
    <p:notesMasterId r:id="rId43"/>
  </p:notesMasterIdLst>
  <p:sldIdLst>
    <p:sldId id="310" r:id="rId4"/>
    <p:sldId id="311" r:id="rId5"/>
    <p:sldId id="313" r:id="rId6"/>
    <p:sldId id="312" r:id="rId7"/>
    <p:sldId id="314" r:id="rId8"/>
    <p:sldId id="317" r:id="rId9"/>
    <p:sldId id="323" r:id="rId10"/>
    <p:sldId id="319" r:id="rId11"/>
    <p:sldId id="320" r:id="rId12"/>
    <p:sldId id="324" r:id="rId13"/>
    <p:sldId id="328" r:id="rId14"/>
    <p:sldId id="329" r:id="rId15"/>
    <p:sldId id="325" r:id="rId16"/>
    <p:sldId id="326" r:id="rId17"/>
    <p:sldId id="330" r:id="rId18"/>
    <p:sldId id="331" r:id="rId19"/>
    <p:sldId id="332" r:id="rId20"/>
    <p:sldId id="333" r:id="rId21"/>
    <p:sldId id="275" r:id="rId22"/>
    <p:sldId id="277" r:id="rId23"/>
    <p:sldId id="278" r:id="rId24"/>
    <p:sldId id="283" r:id="rId25"/>
    <p:sldId id="279" r:id="rId26"/>
    <p:sldId id="280" r:id="rId27"/>
    <p:sldId id="281" r:id="rId28"/>
    <p:sldId id="302" r:id="rId29"/>
    <p:sldId id="335" r:id="rId30"/>
    <p:sldId id="334" r:id="rId31"/>
    <p:sldId id="336" r:id="rId32"/>
    <p:sldId id="337" r:id="rId33"/>
    <p:sldId id="338" r:id="rId34"/>
    <p:sldId id="339" r:id="rId35"/>
    <p:sldId id="340" r:id="rId36"/>
    <p:sldId id="341" r:id="rId37"/>
    <p:sldId id="342" r:id="rId38"/>
    <p:sldId id="343" r:id="rId39"/>
    <p:sldId id="308" r:id="rId40"/>
    <p:sldId id="309" r:id="rId41"/>
    <p:sldId id="345" r:id="rId4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CCFF"/>
    <a:srgbClr val="CCFFFF"/>
    <a:srgbClr val="CCECFF"/>
    <a:srgbClr val="00CC66"/>
    <a:srgbClr val="FF33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9" autoAdjust="0"/>
    <p:restoredTop sz="88837" autoAdjust="0"/>
  </p:normalViewPr>
  <p:slideViewPr>
    <p:cSldViewPr>
      <p:cViewPr varScale="1">
        <p:scale>
          <a:sx n="101" d="100"/>
          <a:sy n="101" d="100"/>
        </p:scale>
        <p:origin x="-144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4" Type="http://schemas.openxmlformats.org/officeDocument/2006/relationships/image" Target="../media/image84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7" Type="http://schemas.openxmlformats.org/officeDocument/2006/relationships/image" Target="../media/image91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7" Type="http://schemas.openxmlformats.org/officeDocument/2006/relationships/image" Target="../media/image98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6" Type="http://schemas.openxmlformats.org/officeDocument/2006/relationships/image" Target="../media/image97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90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890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90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AADB8172-A5E0-4937-A7C7-E3F5E64442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）原理误差  由于计量器具的测量原理和结构采用近似设计而造成的误差。例如仪器的放大机构或放大系数，其放大原理并非是严格地为线性关系，而刻度盘或示数装置采用的是线性刻度，从而引起的测量误差。此类误差一般为系统误差，加修正值可消除。</a:t>
            </a:r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）阿贝误差是由于在测量中不按阿贝原则进行测量而引起误差。是指在设计计量器具或测量工件时，应该将被测长度与仪器的基准长度安置在同一条直线上。</a:t>
            </a:r>
            <a:endParaRPr lang="en-US" altLang="zh-CN" dirty="0" smtClean="0"/>
          </a:p>
          <a:p>
            <a:r>
              <a:rPr lang="en-US" altLang="zh-CN" dirty="0" smtClean="0"/>
              <a:t> </a:t>
            </a:r>
            <a:r>
              <a:rPr lang="en-US" altLang="zh-CN" dirty="0" smtClean="0"/>
              <a:t>(</a:t>
            </a:r>
            <a:r>
              <a:rPr lang="en-US" altLang="zh-CN" dirty="0" smtClean="0"/>
              <a:t>3) </a:t>
            </a:r>
            <a:r>
              <a:rPr lang="zh-CN" altLang="en-US" dirty="0" smtClean="0"/>
              <a:t>仪器基准件误差是指量仪的基准件本身的误差。如千分尺中测微螺杆的螺距误差、测长仪的刻线尺刻度误差等。</a:t>
            </a:r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DB8172-A5E0-4937-A7C7-E3F5E644421F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3365620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例如机械比较仪上用长度基准量块作标准件测量零件尺寸，若量块按级使用，则量块的制造误差直接引入测量结果中。若量块按等使用，虽然可以消除量块的制造误差，但仍然存在量块的检定的测量误差和量块的磨损误差。</a:t>
            </a:r>
            <a:endParaRPr lang="en-US" altLang="zh-CN" dirty="0" smtClean="0"/>
          </a:p>
          <a:p>
            <a:r>
              <a:rPr lang="zh-CN" altLang="en-US" dirty="0" smtClean="0"/>
              <a:t>测量方法误差是指测量方法不正确或不完善而引起的误差。具体可分以下四种：</a:t>
            </a:r>
            <a:r>
              <a:rPr lang="en-US" altLang="zh-CN" dirty="0" smtClean="0"/>
              <a:t>(1</a:t>
            </a:r>
            <a:r>
              <a:rPr lang="zh-CN" altLang="en-US" dirty="0" smtClean="0"/>
              <a:t>）测量基准与设计基准不统一而引起的误差。（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）被测件安装、定位不正确而引起的误差。（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）测量力引起的误差。（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）测量条件误差。</a:t>
            </a:r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DB8172-A5E0-4937-A7C7-E3F5E644421F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4235979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 smtClean="0"/>
              <a:t>齿轮的设计基准是齿轮轴线，而齿厚卡尺测量齿厚的基准是齿顶圆。</a:t>
            </a:r>
            <a:r>
              <a:rPr lang="zh-CN" altLang="en-US" b="1" dirty="0" smtClean="0">
                <a:solidFill>
                  <a:srgbClr val="FF3300"/>
                </a:solidFill>
              </a:rPr>
              <a:t>由于测量基准与设计基准不统一而产生齿厚的测量误差。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DB8172-A5E0-4937-A7C7-E3F5E644421F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 smtClean="0"/>
              <a:t>被测件安装、定位不正确而引起的误差</a:t>
            </a:r>
            <a:endParaRPr lang="en-US" altLang="zh-CN" b="1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DB8172-A5E0-4937-A7C7-E3F5E644421F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/>
              <a:t>（</a:t>
            </a:r>
            <a:r>
              <a:rPr lang="en-US" altLang="zh-CN" b="1" dirty="0" smtClean="0"/>
              <a:t>3</a:t>
            </a:r>
            <a:r>
              <a:rPr lang="zh-CN" altLang="en-US" b="1" dirty="0" smtClean="0"/>
              <a:t>）用水平仪测量某一平面的倾斜角，由于水平仪气泡原始零位不准确而产生的系统误差为正值，若把水平仪转</a:t>
            </a:r>
            <a:r>
              <a:rPr lang="en-US" altLang="zh-CN" b="1" dirty="0" smtClean="0"/>
              <a:t>180</a:t>
            </a:r>
            <a:r>
              <a:rPr lang="en-US" altLang="zh-CN" b="1" dirty="0" smtClean="0">
                <a:cs typeface="Times New Roman" panose="02020603050405020304" pitchFamily="18" charset="0"/>
              </a:rPr>
              <a:t>°</a:t>
            </a:r>
            <a:r>
              <a:rPr lang="zh-CN" altLang="en-US" b="1" dirty="0" smtClean="0">
                <a:cs typeface="Times New Roman" panose="02020603050405020304" pitchFamily="18" charset="0"/>
              </a:rPr>
              <a:t>再测一次，取两次读数值的算术平均值为测量结果，即可消除其系统误差。</a:t>
            </a:r>
            <a:endParaRPr lang="en-US" altLang="zh-CN" b="1" dirty="0" smtClean="0">
              <a:cs typeface="Times New Roman" panose="02020603050405020304" pitchFamily="18" charset="0"/>
            </a:endParaRPr>
          </a:p>
          <a:p>
            <a:r>
              <a:rPr lang="zh-CN" altLang="en-US" b="1" dirty="0" smtClean="0">
                <a:cs typeface="Times New Roman" panose="02020603050405020304" pitchFamily="18" charset="0"/>
              </a:rPr>
              <a:t>（</a:t>
            </a:r>
            <a:r>
              <a:rPr lang="en-US" altLang="zh-CN" b="1" dirty="0" smtClean="0">
                <a:cs typeface="Times New Roman" panose="02020603050405020304" pitchFamily="18" charset="0"/>
              </a:rPr>
              <a:t>4</a:t>
            </a:r>
            <a:r>
              <a:rPr lang="zh-CN" altLang="en-US" b="1" dirty="0" smtClean="0">
                <a:cs typeface="Times New Roman" panose="02020603050405020304" pitchFamily="18" charset="0"/>
              </a:rPr>
              <a:t>）</a:t>
            </a:r>
            <a:r>
              <a:rPr lang="zh-CN" altLang="en-US" b="1" dirty="0" smtClean="0"/>
              <a:t>如多面棱体的各角之和为封闭的，即360</a:t>
            </a:r>
            <a:r>
              <a:rPr lang="zh-CN" altLang="en-US" b="1" baseline="30000" dirty="0" smtClean="0"/>
              <a:t>0</a:t>
            </a:r>
            <a:r>
              <a:rPr lang="zh-CN" altLang="en-US" b="1" dirty="0" smtClean="0"/>
              <a:t>。因此在用自准直仪检定其各面角度时，可根据其各角度之和为</a:t>
            </a:r>
            <a:r>
              <a:rPr lang="en-US" altLang="zh-CN" b="1" dirty="0" smtClean="0"/>
              <a:t>360</a:t>
            </a:r>
            <a:r>
              <a:rPr lang="en-US" altLang="zh-CN" b="1" dirty="0" smtClean="0">
                <a:cs typeface="Times New Roman" panose="02020603050405020304" pitchFamily="18" charset="0"/>
              </a:rPr>
              <a:t>°</a:t>
            </a:r>
            <a:r>
              <a:rPr lang="zh-CN" altLang="en-US" b="1" dirty="0" smtClean="0">
                <a:cs typeface="Times New Roman" panose="02020603050405020304" pitchFamily="18" charset="0"/>
              </a:rPr>
              <a:t>这一封闭条件，消除检定中的系统误差。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DB8172-A5E0-4937-A7C7-E3F5E644421F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/>
              <a:t>随机误差是指在一定测量条件下，多次测量同一量值时，测量误差的绝对值和符号以不可预定的方式变化的误差。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DB8172-A5E0-4937-A7C7-E3F5E644421F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/>
              <a:t>对于某一次测量的随机误差大小、符号不能预料，但是进行多次重复测量，其测量结果符合一定的</a:t>
            </a:r>
            <a:r>
              <a:rPr lang="zh-CN" altLang="en-US" b="1" dirty="0" smtClean="0">
                <a:solidFill>
                  <a:srgbClr val="FF3300"/>
                </a:solidFill>
              </a:rPr>
              <a:t>统计规律</a:t>
            </a:r>
            <a:r>
              <a:rPr lang="zh-CN" altLang="en-US" b="1" dirty="0" smtClean="0"/>
              <a:t>，在大多数情况符合</a:t>
            </a:r>
            <a:r>
              <a:rPr lang="zh-CN" altLang="en-US" b="1" dirty="0" smtClean="0">
                <a:solidFill>
                  <a:srgbClr val="FF3300"/>
                </a:solidFill>
              </a:rPr>
              <a:t>正态分布</a:t>
            </a:r>
            <a:r>
              <a:rPr lang="en-US" altLang="zh-CN" b="1" dirty="0" smtClean="0">
                <a:solidFill>
                  <a:srgbClr val="FF3300"/>
                </a:solidFill>
              </a:rPr>
              <a:t>.</a:t>
            </a:r>
          </a:p>
          <a:p>
            <a:r>
              <a:rPr lang="zh-CN" altLang="en-US" dirty="0" smtClean="0"/>
              <a:t>绝对值大的误差比绝对值小的误差（</a:t>
            </a:r>
            <a:r>
              <a:rPr lang="en-US" altLang="zh-CN" dirty="0" smtClean="0"/>
              <a:t>Δ1&gt;Δ2</a:t>
            </a:r>
            <a:r>
              <a:rPr lang="zh-CN" altLang="en-US" dirty="0" smtClean="0"/>
              <a:t>）出现的概率小（</a:t>
            </a:r>
            <a:r>
              <a:rPr lang="en-US" altLang="zh-CN" dirty="0" smtClean="0"/>
              <a:t>y1&lt;y2</a:t>
            </a:r>
            <a:r>
              <a:rPr lang="zh-CN" altLang="en-US" dirty="0" smtClean="0"/>
              <a:t>）</a:t>
            </a:r>
          </a:p>
          <a:p>
            <a:r>
              <a:rPr lang="zh-CN" altLang="en-US" dirty="0" smtClean="0"/>
              <a:t>绝对值相等的正、负误差（</a:t>
            </a:r>
            <a:r>
              <a:rPr lang="en-US" altLang="zh-CN" dirty="0" smtClean="0"/>
              <a:t>|Δ1|= |Δ1| </a:t>
            </a:r>
            <a:r>
              <a:rPr lang="zh-CN" altLang="en-US" dirty="0" smtClean="0"/>
              <a:t>）出现的概率相等</a:t>
            </a:r>
            <a:r>
              <a:rPr lang="en-US" altLang="zh-CN" dirty="0" err="1" smtClean="0"/>
              <a:t>yc</a:t>
            </a:r>
            <a:endParaRPr lang="en-US" altLang="zh-CN" dirty="0" smtClean="0"/>
          </a:p>
          <a:p>
            <a:r>
              <a:rPr lang="zh-CN" altLang="en-US" dirty="0" smtClean="0"/>
              <a:t>在一定的测量条件下，随机误差的绝对值有一定的界限。</a:t>
            </a:r>
          </a:p>
          <a:p>
            <a:r>
              <a:rPr lang="zh-CN" altLang="en-US" dirty="0" smtClean="0"/>
              <a:t>随着测量次数的增加，各次随机误差的算术平均值趋于零。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DB8172-A5E0-4937-A7C7-E3F5E644421F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/>
              <a:t>图为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DB8172-A5E0-4937-A7C7-E3F5E644421F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 smtClean="0"/>
              <a:t>测量精度的分类以打靶为例来说明。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DB8172-A5E0-4937-A7C7-E3F5E644421F}" type="slidenum">
              <a:rPr lang="zh-CN" altLang="en-US" smtClean="0"/>
              <a:pPr>
                <a:defRPr/>
              </a:pPr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对于重要测量，不但要给出正确的测量结果，还要给出测量结果的准确程度，即极限误差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DB8172-A5E0-4937-A7C7-E3F5E644421F}" type="slidenum">
              <a:rPr lang="zh-CN" altLang="en-US" smtClean="0"/>
              <a:pPr>
                <a:defRPr/>
              </a:pPr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484784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573016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8DD2F-46E3-4D7B-81F0-64636FB0293B}" type="slidenum">
              <a:rPr lang="zh-CN" altLang="en-US" smtClean="0"/>
              <a:pPr>
                <a:defRPr/>
              </a:pPr>
              <a:t>‹#›</a:t>
            </a:fld>
            <a:endParaRPr lang="en-US" altLang="zh-CN" sz="1400"/>
          </a:p>
        </p:txBody>
      </p:sp>
      <p:sp>
        <p:nvSpPr>
          <p:cNvPr id="8" name="圆角矩形 7"/>
          <p:cNvSpPr/>
          <p:nvPr/>
        </p:nvSpPr>
        <p:spPr>
          <a:xfrm>
            <a:off x="755576" y="3140968"/>
            <a:ext cx="7776000" cy="144016"/>
          </a:xfrm>
          <a:prstGeom prst="roundRect">
            <a:avLst/>
          </a:prstGeom>
          <a:solidFill>
            <a:srgbClr val="FF3300"/>
          </a:solidFill>
          <a:ln>
            <a:solidFill>
              <a:srgbClr val="FFFF00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accent1">
                  <a:satMod val="280000"/>
                  <a:tint val="100000"/>
                  <a:alpha val="57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自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7283152" cy="70609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251520" y="6565285"/>
            <a:ext cx="1224136" cy="258999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580365"/>
            <a:ext cx="2895600" cy="260226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6296" y="6583493"/>
            <a:ext cx="1450504" cy="27450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‹#›</a:t>
            </a:fld>
            <a:endParaRPr lang="en-US" altLang="zh-CN" sz="1400"/>
          </a:p>
        </p:txBody>
      </p:sp>
      <p:cxnSp>
        <p:nvCxnSpPr>
          <p:cNvPr id="7" name="直接连接符 6"/>
          <p:cNvCxnSpPr/>
          <p:nvPr/>
        </p:nvCxnSpPr>
        <p:spPr>
          <a:xfrm>
            <a:off x="467544" y="980728"/>
            <a:ext cx="8280000" cy="0"/>
          </a:xfrm>
          <a:prstGeom prst="line">
            <a:avLst/>
          </a:prstGeom>
          <a:ln w="76200">
            <a:solidFill>
              <a:srgbClr val="AFD24E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67544" y="6597352"/>
            <a:ext cx="8280000" cy="0"/>
          </a:xfrm>
          <a:prstGeom prst="line">
            <a:avLst/>
          </a:prstGeom>
          <a:ln w="38100">
            <a:solidFill>
              <a:srgbClr val="AFD24E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39CE16-99AC-4905-9BC3-EB8383079AD6}" type="slidenum">
              <a:rPr lang="zh-CN" altLang="en-US" smtClean="0"/>
              <a:pPr>
                <a:defRPr/>
              </a:pPr>
              <a:t>‹#›</a:t>
            </a:fld>
            <a:endParaRPr lang="en-US" altLang="zh-CN" sz="14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ltGray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8"/>
          <p:cNvSpPr>
            <a:spLocks noChangeArrowheads="1"/>
          </p:cNvSpPr>
          <p:nvPr/>
        </p:nvSpPr>
        <p:spPr bwMode="ltGray">
          <a:xfrm flipV="1">
            <a:off x="0" y="6448425"/>
            <a:ext cx="9144000" cy="1428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50000">
                <a:schemeClr val="tx1">
                  <a:gamma/>
                  <a:tint val="15294"/>
                  <a:invGamma/>
                </a:schemeClr>
              </a:gs>
              <a:gs pos="100000">
                <a:schemeClr val="tx1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79"/>
          <p:cNvSpPr>
            <a:spLocks noChangeArrowheads="1"/>
          </p:cNvSpPr>
          <p:nvPr/>
        </p:nvSpPr>
        <p:spPr bwMode="ltGray">
          <a:xfrm flipV="1">
            <a:off x="0" y="6591300"/>
            <a:ext cx="9144000" cy="1397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50000">
                <a:schemeClr val="tx1">
                  <a:gamma/>
                  <a:tint val="15294"/>
                  <a:invGamma/>
                </a:schemeClr>
              </a:gs>
              <a:gs pos="100000">
                <a:schemeClr val="tx1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80"/>
          <p:cNvSpPr>
            <a:spLocks noChangeArrowheads="1"/>
          </p:cNvSpPr>
          <p:nvPr/>
        </p:nvSpPr>
        <p:spPr bwMode="ltGray">
          <a:xfrm flipV="1">
            <a:off x="0" y="6729413"/>
            <a:ext cx="9144000" cy="1428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50000">
                <a:schemeClr val="tx1">
                  <a:gamma/>
                  <a:tint val="15294"/>
                  <a:invGamma/>
                </a:schemeClr>
              </a:gs>
              <a:gs pos="100000">
                <a:schemeClr val="tx1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990600"/>
            <a:ext cx="7467600" cy="2133600"/>
          </a:xfrm>
          <a:effectLst>
            <a:outerShdw dist="71842" dir="2700000" algn="ctr" rotWithShape="0">
              <a:schemeClr val="tx1"/>
            </a:outerShdw>
          </a:effectLst>
        </p:spPr>
        <p:txBody>
          <a:bodyPr/>
          <a:lstStyle>
            <a:lvl1pPr algn="l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ja-JP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609600" y="3505200"/>
            <a:ext cx="7467600" cy="5334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400">
                <a:solidFill>
                  <a:schemeClr val="bg2"/>
                </a:solidFill>
              </a:defRPr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ja-JP"/>
          </a:p>
        </p:txBody>
      </p:sp>
      <p:sp>
        <p:nvSpPr>
          <p:cNvPr id="7" name="Rectangle 7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64313"/>
            <a:ext cx="2133600" cy="157162"/>
          </a:xfrm>
        </p:spPr>
        <p:txBody>
          <a:bodyPr/>
          <a:lstStyle>
            <a:lvl1pPr>
              <a:defRPr sz="1400" b="0" smtClean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A644B2D-E693-42A6-9EFB-EFE7489D79D1}" type="datetime1">
              <a:rPr lang="zh-CN" altLang="en-US" smtClean="0"/>
              <a:pPr>
                <a:defRPr/>
              </a:pPr>
              <a:t>2023/2/17 Friday</a:t>
            </a:fld>
            <a:endParaRPr lang="en-US" altLang="zh-CN"/>
          </a:p>
        </p:txBody>
      </p:sp>
      <p:sp>
        <p:nvSpPr>
          <p:cNvPr id="8" name="Rectangle 7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550025"/>
            <a:ext cx="2895600" cy="171450"/>
          </a:xfrm>
        </p:spPr>
        <p:txBody>
          <a:bodyPr/>
          <a:lstStyle>
            <a:lvl1pPr algn="ctr">
              <a:defRPr sz="1400" smtClean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7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535738"/>
            <a:ext cx="2133600" cy="185737"/>
          </a:xfrm>
        </p:spPr>
        <p:txBody>
          <a:bodyPr/>
          <a:lstStyle>
            <a:lvl1pPr algn="r">
              <a:defRPr smtClean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5220310-E762-4EEF-A91A-400D257CBBD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7E59D7-CB7C-40DF-9ECE-211C377F1E2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4B95E3-0C04-4EC6-AC3C-CF8786E72A26}" type="datetime1">
              <a:rPr lang="zh-CN" altLang="en-US" smtClean="0"/>
              <a:pPr>
                <a:defRPr/>
              </a:pPr>
              <a:t>2023/2/17 Friday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C94F31-775C-4A61-858A-266ADEF2B77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CFA60-F77C-4DB1-967C-68B7CE2DCAF3}" type="datetime1">
              <a:rPr lang="zh-CN" altLang="en-US" smtClean="0"/>
              <a:pPr>
                <a:defRPr/>
              </a:pPr>
              <a:t>2023/2/17 Friday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28600" y="1066800"/>
            <a:ext cx="42672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2672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B0412E-A496-4008-9B16-1498D6F1863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0CAB4D-CEFE-423A-B5DA-D509A03BCD09}" type="datetime1">
              <a:rPr lang="zh-CN" altLang="en-US" smtClean="0"/>
              <a:pPr>
                <a:defRPr/>
              </a:pPr>
              <a:t>2023/2/17 Friday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41E30-6E77-4467-8B6D-56B8A6AE3E9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1F378B-8A41-4E78-AE4B-B3309C32A307}" type="datetime1">
              <a:rPr lang="zh-CN" altLang="en-US" smtClean="0"/>
              <a:pPr>
                <a:defRPr/>
              </a:pPr>
              <a:t>2023/2/17 Friday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0AAD88-7902-4DA8-A58E-D2F6B3C1827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D0B967-A90D-47CE-B4BB-E53E5DB5B4F5}" type="datetime1">
              <a:rPr lang="zh-CN" altLang="en-US" smtClean="0"/>
              <a:pPr>
                <a:defRPr/>
              </a:pPr>
              <a:t>2023/2/17 Friday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B08A4C-88E3-4517-9527-951409196DF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14D049-8147-4F0D-8D30-09CD12CA34B6}" type="datetime1">
              <a:rPr lang="zh-CN" altLang="en-US" smtClean="0"/>
              <a:pPr>
                <a:defRPr/>
              </a:pPr>
              <a:t>2023/2/17 Friday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CC4F80-DBFB-48EB-8E80-EFE397B2FCA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22E4C-4BA5-4C26-8E8C-25585E263D8E}" type="datetime1">
              <a:rPr lang="zh-CN" altLang="en-US" smtClean="0"/>
              <a:pPr>
                <a:defRPr/>
              </a:pPr>
              <a:t>2023/2/17 Friday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7DB612-5453-437E-A102-FF03C3A33E7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7AF7C6-88EF-4010-9A45-607CDB340DB8}" type="datetime1">
              <a:rPr lang="zh-CN" altLang="en-US" smtClean="0"/>
              <a:pPr>
                <a:defRPr/>
              </a:pPr>
              <a:t>2023/2/17 Friday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246F0-EF7F-465A-8CD2-2590CD7E1BC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A5F3D3-C0D2-40BC-A6F3-8BE7ED31085E}" type="datetime1">
              <a:rPr lang="zh-CN" altLang="en-US" smtClean="0"/>
              <a:pPr>
                <a:defRPr/>
              </a:pPr>
              <a:t>2023/2/17 Friday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46038"/>
            <a:ext cx="2171700" cy="61261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28600" y="46038"/>
            <a:ext cx="6362700" cy="61261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7ACDD-5999-4911-8D3A-2DDA6543695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BA2029-3988-48DA-9F34-0F1C9D9B565D}" type="datetime1">
              <a:rPr lang="zh-CN" altLang="en-US" smtClean="0"/>
              <a:pPr>
                <a:defRPr/>
              </a:pPr>
              <a:t>2023/2/17 Friday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484784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573016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8DD2F-46E3-4D7B-81F0-64636FB0293B}" type="slidenum">
              <a:rPr lang="zh-CN" altLang="en-US" smtClean="0"/>
              <a:pPr>
                <a:defRPr/>
              </a:pPr>
              <a:t>‹#›</a:t>
            </a:fld>
            <a:endParaRPr lang="en-US" altLang="zh-CN" sz="1400"/>
          </a:p>
        </p:txBody>
      </p:sp>
      <p:sp>
        <p:nvSpPr>
          <p:cNvPr id="8" name="圆角矩形 7"/>
          <p:cNvSpPr/>
          <p:nvPr/>
        </p:nvSpPr>
        <p:spPr>
          <a:xfrm>
            <a:off x="755576" y="3140968"/>
            <a:ext cx="7776000" cy="144016"/>
          </a:xfrm>
          <a:prstGeom prst="roundRect">
            <a:avLst/>
          </a:prstGeom>
          <a:solidFill>
            <a:srgbClr val="FF3300"/>
          </a:solidFill>
          <a:ln>
            <a:solidFill>
              <a:srgbClr val="FFFF00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accent1">
                  <a:satMod val="280000"/>
                  <a:tint val="100000"/>
                  <a:alpha val="57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自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7283152" cy="70609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251520" y="6565285"/>
            <a:ext cx="1224136" cy="258999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580365"/>
            <a:ext cx="2895600" cy="260226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6296" y="6583493"/>
            <a:ext cx="1450504" cy="27450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‹#›</a:t>
            </a:fld>
            <a:endParaRPr lang="en-US" altLang="zh-CN" sz="1400"/>
          </a:p>
        </p:txBody>
      </p:sp>
      <p:cxnSp>
        <p:nvCxnSpPr>
          <p:cNvPr id="7" name="直接连接符 6"/>
          <p:cNvCxnSpPr/>
          <p:nvPr/>
        </p:nvCxnSpPr>
        <p:spPr>
          <a:xfrm>
            <a:off x="467544" y="980728"/>
            <a:ext cx="8280000" cy="0"/>
          </a:xfrm>
          <a:prstGeom prst="line">
            <a:avLst/>
          </a:prstGeom>
          <a:ln w="76200">
            <a:solidFill>
              <a:srgbClr val="AFD24E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67544" y="6597352"/>
            <a:ext cx="8280000" cy="0"/>
          </a:xfrm>
          <a:prstGeom prst="line">
            <a:avLst/>
          </a:prstGeom>
          <a:ln w="38100">
            <a:solidFill>
              <a:srgbClr val="AFD24E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39CE16-99AC-4905-9BC3-EB8383079AD6}" type="slidenum">
              <a:rPr lang="zh-CN" altLang="en-US" smtClean="0"/>
              <a:pPr>
                <a:defRPr/>
              </a:pPr>
              <a:t>‹#›</a:t>
            </a:fld>
            <a:endParaRPr lang="en-US" altLang="zh-CN" sz="1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ja-JP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ja-JP" smtClean="0"/>
          </a:p>
        </p:txBody>
      </p:sp>
      <p:sp>
        <p:nvSpPr>
          <p:cNvPr id="129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400" smtClean="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 sz="1400" smtClean="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400" smtClean="0">
                <a:ea typeface="+mn-ea"/>
              </a:defRPr>
            </a:lvl1pPr>
          </a:lstStyle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‹#›</a:t>
            </a:fld>
            <a:endParaRPr lang="en-US" altLang="zh-CN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Rectangle 77"/>
          <p:cNvSpPr>
            <a:spLocks noChangeArrowheads="1"/>
          </p:cNvSpPr>
          <p:nvPr/>
        </p:nvSpPr>
        <p:spPr bwMode="gray">
          <a:xfrm>
            <a:off x="0" y="0"/>
            <a:ext cx="9144000" cy="79216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02" name="Rectangle 78"/>
          <p:cNvSpPr>
            <a:spLocks noChangeArrowheads="1"/>
          </p:cNvSpPr>
          <p:nvPr/>
        </p:nvSpPr>
        <p:spPr bwMode="ltGray">
          <a:xfrm flipV="1">
            <a:off x="0" y="788988"/>
            <a:ext cx="9144000" cy="71437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50000">
                <a:schemeClr val="tx1">
                  <a:gamma/>
                  <a:tint val="24314"/>
                  <a:invGamma/>
                </a:schemeClr>
              </a:gs>
              <a:gs pos="100000">
                <a:schemeClr val="tx1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03" name="Rectangle 79"/>
          <p:cNvSpPr>
            <a:spLocks noChangeArrowheads="1"/>
          </p:cNvSpPr>
          <p:nvPr/>
        </p:nvSpPr>
        <p:spPr bwMode="ltGray">
          <a:xfrm flipV="1">
            <a:off x="0" y="858838"/>
            <a:ext cx="9144000" cy="7302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50000">
                <a:schemeClr val="tx1">
                  <a:gamma/>
                  <a:tint val="24314"/>
                  <a:invGamma/>
                </a:schemeClr>
              </a:gs>
              <a:gs pos="100000">
                <a:schemeClr val="tx1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04" name="Rectangle 80"/>
          <p:cNvSpPr>
            <a:spLocks noChangeArrowheads="1"/>
          </p:cNvSpPr>
          <p:nvPr/>
        </p:nvSpPr>
        <p:spPr bwMode="ltGray">
          <a:xfrm flipV="1">
            <a:off x="0" y="6731000"/>
            <a:ext cx="9144000" cy="71438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50000">
                <a:schemeClr val="tx1">
                  <a:gamma/>
                  <a:tint val="24314"/>
                  <a:invGamma/>
                </a:schemeClr>
              </a:gs>
              <a:gs pos="100000">
                <a:schemeClr val="tx1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05" name="Rectangle 81"/>
          <p:cNvSpPr>
            <a:spLocks noChangeArrowheads="1"/>
          </p:cNvSpPr>
          <p:nvPr/>
        </p:nvSpPr>
        <p:spPr bwMode="ltGray">
          <a:xfrm flipV="1">
            <a:off x="0" y="6799263"/>
            <a:ext cx="9144000" cy="7302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50000">
                <a:schemeClr val="tx1">
                  <a:gamma/>
                  <a:tint val="24314"/>
                  <a:invGamma/>
                </a:schemeClr>
              </a:gs>
              <a:gs pos="100000">
                <a:schemeClr val="tx1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066800"/>
            <a:ext cx="8686800" cy="5105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ja-JP" smtClean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0" y="6400800"/>
            <a:ext cx="2743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latin typeface="+mn-lt"/>
                <a:ea typeface="MS PGothic" panose="020B0600070205080204" charset="-128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29000" y="6400800"/>
            <a:ext cx="2133600" cy="307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ea typeface="MS PGothic" panose="020B0600070205080204" charset="-128"/>
              </a:defRPr>
            </a:lvl1pPr>
          </a:lstStyle>
          <a:p>
            <a:pPr>
              <a:defRPr/>
            </a:pPr>
            <a:fld id="{8266D9D5-AAA8-4498-B493-A814BB01EE8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46038"/>
            <a:ext cx="8534400" cy="715962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45791" dir="2021404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ja-JP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384925"/>
            <a:ext cx="22860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000" b="1" smtClean="0">
                <a:latin typeface="+mn-lt"/>
                <a:ea typeface="MS PGothic" panose="020B0600070205080204" charset="-128"/>
              </a:defRPr>
            </a:lvl1pPr>
          </a:lstStyle>
          <a:p>
            <a:pPr>
              <a:defRPr/>
            </a:pPr>
            <a:fld id="{ABCE7D97-302B-40FE-9533-9DC7209FD245}" type="datetime1">
              <a:rPr lang="zh-CN" altLang="en-US" smtClean="0"/>
              <a:pPr>
                <a:defRPr/>
              </a:pPr>
              <a:t>2023/2/17 Friday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iming>
    <p:tnLst>
      <p:par>
        <p:cTn id="1" dur="indefinite" restart="never" nodeType="tmRoot"/>
      </p:par>
    </p:tnLst>
  </p:timing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bg1"/>
          </a:solidFill>
          <a:latin typeface="Verdana" panose="020B060403050404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bg1"/>
          </a:solidFill>
          <a:latin typeface="Verdana" panose="020B060403050404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bg1"/>
          </a:solidFill>
          <a:latin typeface="Verdana" panose="020B060403050404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bg1"/>
          </a:solidFill>
          <a:latin typeface="Verdana" panose="020B060403050404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bg1"/>
          </a:solidFill>
          <a:latin typeface="Verdana" panose="020B060403050404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bg1"/>
          </a:solidFill>
          <a:latin typeface="Verdana" panose="020B060403050404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bg1"/>
          </a:solidFill>
          <a:latin typeface="Verdana" panose="020B060403050404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 i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2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ja-JP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ja-JP" smtClean="0"/>
          </a:p>
        </p:txBody>
      </p:sp>
      <p:sp>
        <p:nvSpPr>
          <p:cNvPr id="129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400" smtClean="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 sz="1400" smtClean="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400" smtClean="0">
                <a:ea typeface="+mn-ea"/>
              </a:defRPr>
            </a:lvl1pPr>
          </a:lstStyle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‹#›</a:t>
            </a:fld>
            <a:endParaRPr lang="en-US" altLang="zh-CN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notesSlide" Target="../notesSlides/notesSlide7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0.png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9.png"/><Relationship Id="rId4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5.bin"/><Relationship Id="rId5" Type="http://schemas.openxmlformats.org/officeDocument/2006/relationships/oleObject" Target="../embeddings/oleObject14.bin"/><Relationship Id="rId4" Type="http://schemas.openxmlformats.org/officeDocument/2006/relationships/oleObject" Target="../embeddings/oleObject1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32.png"/><Relationship Id="rId4" Type="http://schemas.openxmlformats.org/officeDocument/2006/relationships/oleObject" Target="../embeddings/oleObject18.bin"/><Relationship Id="rId9" Type="http://schemas.openxmlformats.org/officeDocument/2006/relationships/oleObject" Target="../embeddings/oleObject2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5.bin"/><Relationship Id="rId5" Type="http://schemas.openxmlformats.org/officeDocument/2006/relationships/oleObject" Target="../embeddings/oleObject24.bin"/><Relationship Id="rId4" Type="http://schemas.openxmlformats.org/officeDocument/2006/relationships/oleObject" Target="../embeddings/oleObject23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9.bin"/><Relationship Id="rId5" Type="http://schemas.openxmlformats.org/officeDocument/2006/relationships/oleObject" Target="../embeddings/oleObject28.bin"/><Relationship Id="rId4" Type="http://schemas.openxmlformats.org/officeDocument/2006/relationships/oleObject" Target="../embeddings/oleObject27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4.bin"/><Relationship Id="rId5" Type="http://schemas.openxmlformats.org/officeDocument/2006/relationships/oleObject" Target="../embeddings/oleObject33.bin"/><Relationship Id="rId4" Type="http://schemas.openxmlformats.org/officeDocument/2006/relationships/oleObject" Target="../embeddings/oleObject32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5" Type="http://schemas.openxmlformats.org/officeDocument/2006/relationships/oleObject" Target="../embeddings/oleObject38.bin"/><Relationship Id="rId4" Type="http://schemas.openxmlformats.org/officeDocument/2006/relationships/oleObject" Target="../embeddings/oleObject37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1.vml"/><Relationship Id="rId5" Type="http://schemas.openxmlformats.org/officeDocument/2006/relationships/oleObject" Target="../embeddings/oleObject41.bin"/><Relationship Id="rId4" Type="http://schemas.openxmlformats.org/officeDocument/2006/relationships/oleObject" Target="../embeddings/oleObject40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4" Type="http://schemas.openxmlformats.org/officeDocument/2006/relationships/oleObject" Target="../embeddings/oleObject43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56.png"/><Relationship Id="rId4" Type="http://schemas.openxmlformats.org/officeDocument/2006/relationships/oleObject" Target="../embeddings/oleObject4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48.bin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64.png"/><Relationship Id="rId4" Type="http://schemas.openxmlformats.org/officeDocument/2006/relationships/oleObject" Target="../embeddings/oleObject46.bin"/><Relationship Id="rId9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54.bin"/><Relationship Id="rId5" Type="http://schemas.openxmlformats.org/officeDocument/2006/relationships/oleObject" Target="../embeddings/oleObject53.bin"/><Relationship Id="rId4" Type="http://schemas.openxmlformats.org/officeDocument/2006/relationships/oleObject" Target="../embeddings/oleObject52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oleObject" Target="../embeddings/oleObject57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oleObject" Target="../embeddings/oleObject59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oleObject" Target="../embeddings/oleObject62.bin"/><Relationship Id="rId4" Type="http://schemas.openxmlformats.org/officeDocument/2006/relationships/oleObject" Target="../embeddings/oleObject61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oleObject" Target="../embeddings/oleObject65.bin"/><Relationship Id="rId4" Type="http://schemas.openxmlformats.org/officeDocument/2006/relationships/oleObject" Target="../embeddings/oleObject64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69.bin"/><Relationship Id="rId5" Type="http://schemas.openxmlformats.org/officeDocument/2006/relationships/oleObject" Target="../embeddings/oleObject68.bin"/><Relationship Id="rId4" Type="http://schemas.openxmlformats.org/officeDocument/2006/relationships/oleObject" Target="../embeddings/oleObject67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73.bin"/><Relationship Id="rId5" Type="http://schemas.openxmlformats.org/officeDocument/2006/relationships/oleObject" Target="../embeddings/oleObject72.bin"/><Relationship Id="rId4" Type="http://schemas.openxmlformats.org/officeDocument/2006/relationships/oleObject" Target="../embeddings/oleObject71.bin"/><Relationship Id="rId9" Type="http://schemas.openxmlformats.org/officeDocument/2006/relationships/oleObject" Target="../embeddings/oleObject76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8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80.bin"/><Relationship Id="rId5" Type="http://schemas.openxmlformats.org/officeDocument/2006/relationships/oleObject" Target="../embeddings/oleObject79.bin"/><Relationship Id="rId4" Type="http://schemas.openxmlformats.org/officeDocument/2006/relationships/oleObject" Target="../embeddings/oleObject78.bin"/><Relationship Id="rId9" Type="http://schemas.openxmlformats.org/officeDocument/2006/relationships/oleObject" Target="../embeddings/oleObject83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1</a:t>
            </a:fld>
            <a:endParaRPr lang="en-US" altLang="zh-CN" sz="140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23728" y="329282"/>
            <a:ext cx="4824536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第2章  测 量 技 术 基 </a:t>
            </a:r>
            <a:r>
              <a:rPr lang="zh-CN" altLang="en-US" sz="3200" b="1" dirty="0" smtClean="0"/>
              <a:t>础</a:t>
            </a:r>
            <a:endParaRPr lang="zh-CN" altLang="en-US" sz="3200" b="1" dirty="0"/>
          </a:p>
        </p:txBody>
      </p:sp>
      <p:sp>
        <p:nvSpPr>
          <p:cNvPr id="6" name="Text Box 21"/>
          <p:cNvSpPr txBox="1">
            <a:spLocks noChangeArrowheads="1"/>
          </p:cNvSpPr>
          <p:nvPr/>
        </p:nvSpPr>
        <p:spPr bwMode="auto">
          <a:xfrm>
            <a:off x="950912" y="1829544"/>
            <a:ext cx="62796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2.3  测量误差及其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数据处理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Text Box 2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255712" y="2439144"/>
            <a:ext cx="59748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2.3.</a:t>
            </a:r>
            <a:r>
              <a:rPr lang="zh-CN" altLang="en-US" sz="2800" b="1" dirty="0" smtClean="0"/>
              <a:t>1  测量误差</a:t>
            </a:r>
            <a:r>
              <a:rPr lang="zh-CN" altLang="en-US" sz="2800" b="1" dirty="0"/>
              <a:t>及其表示</a:t>
            </a:r>
            <a:r>
              <a:rPr lang="zh-CN" altLang="en-US" sz="2800" b="1" dirty="0" smtClean="0"/>
              <a:t>方法</a:t>
            </a:r>
            <a:endParaRPr lang="zh-CN" altLang="en-US" sz="2800" b="1" dirty="0"/>
          </a:p>
        </p:txBody>
      </p:sp>
      <p:sp>
        <p:nvSpPr>
          <p:cNvPr id="8" name="Text Box 2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1255712" y="4267944"/>
            <a:ext cx="60967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2.3.4  测量误差的</a:t>
            </a:r>
            <a:r>
              <a:rPr lang="zh-CN" altLang="en-US" sz="2800" b="1" dirty="0" smtClean="0"/>
              <a:t>合成</a:t>
            </a:r>
            <a:endParaRPr lang="en-US" altLang="zh-CN" sz="2800" b="1" dirty="0"/>
          </a:p>
        </p:txBody>
      </p:sp>
      <p:sp>
        <p:nvSpPr>
          <p:cNvPr id="9" name="Text Box 2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255712" y="3015402"/>
            <a:ext cx="63406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2.3.2  测量误差来源与减小</a:t>
            </a:r>
            <a:r>
              <a:rPr lang="zh-CN" altLang="en-US" sz="2800" b="1" dirty="0" smtClean="0"/>
              <a:t>方法</a:t>
            </a:r>
            <a:endParaRPr lang="zh-CN" altLang="en-US" sz="2800" b="1" dirty="0"/>
          </a:p>
        </p:txBody>
      </p:sp>
      <p:sp>
        <p:nvSpPr>
          <p:cNvPr id="10" name="Text Box 24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255712" y="3625002"/>
            <a:ext cx="67726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2.3.3  测量误差分类、特性及其处理</a:t>
            </a:r>
            <a:r>
              <a:rPr lang="zh-CN" altLang="en-US" sz="2800" b="1" dirty="0" smtClean="0"/>
              <a:t>原则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2</a:t>
            </a:fld>
            <a:endParaRPr lang="en-US" altLang="zh-CN" sz="140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506139" y="332656"/>
            <a:ext cx="543401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2.3  测量误差及其数据处理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39552" y="1340768"/>
            <a:ext cx="5105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2.3.</a:t>
            </a:r>
            <a:r>
              <a:rPr lang="zh-CN" altLang="en-US" sz="2800" b="1" dirty="0" smtClean="0"/>
              <a:t>1 测量误差</a:t>
            </a:r>
            <a:r>
              <a:rPr lang="zh-CN" altLang="en-US" sz="2800" b="1" dirty="0"/>
              <a:t>及其表示方法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39552" y="2329716"/>
            <a:ext cx="5562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1. 测量误差的含义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965813" y="3049796"/>
            <a:ext cx="6624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测量误差 — 测得值与被测量真值之差。</a:t>
            </a:r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346676" y="3645024"/>
            <a:ext cx="7992888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       </a:t>
            </a:r>
            <a:r>
              <a:rPr lang="zh-CN" altLang="en-US" sz="2800" b="1" dirty="0" smtClean="0"/>
              <a:t>测量</a:t>
            </a:r>
            <a:r>
              <a:rPr lang="zh-CN" altLang="en-US" sz="2800" b="1" dirty="0"/>
              <a:t>真值</a:t>
            </a:r>
            <a:r>
              <a:rPr lang="en-US" altLang="zh-CN" sz="2800" b="1" dirty="0"/>
              <a:t>—</a:t>
            </a:r>
            <a:r>
              <a:rPr lang="zh-CN" altLang="en-US" sz="2800" b="1" dirty="0"/>
              <a:t>用</a:t>
            </a:r>
            <a:r>
              <a:rPr lang="zh-CN" altLang="en-US" sz="2800" b="1" dirty="0">
                <a:solidFill>
                  <a:srgbClr val="FF0000"/>
                </a:solidFill>
              </a:rPr>
              <a:t>相对真值</a:t>
            </a:r>
            <a:r>
              <a:rPr lang="zh-CN" altLang="en-US" sz="2800" b="1" dirty="0"/>
              <a:t>或者用不存在系统误差情况下多次测量的</a:t>
            </a:r>
            <a:r>
              <a:rPr lang="zh-CN" altLang="en-US" sz="2800" b="1" dirty="0">
                <a:solidFill>
                  <a:srgbClr val="FF0000"/>
                </a:solidFill>
              </a:rPr>
              <a:t>算术平均值</a:t>
            </a:r>
            <a:r>
              <a:rPr lang="zh-CN" altLang="en-US" sz="2800" b="1" dirty="0"/>
              <a:t>代替真值。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3</a:t>
            </a:fld>
            <a:endParaRPr lang="en-US" altLang="zh-CN" sz="1400"/>
          </a:p>
        </p:txBody>
      </p:sp>
      <p:sp>
        <p:nvSpPr>
          <p:cNvPr id="3" name="Text Box 8"/>
          <p:cNvSpPr txBox="1">
            <a:spLocks noChangeArrowheads="1"/>
          </p:cNvSpPr>
          <p:nvPr/>
        </p:nvSpPr>
        <p:spPr bwMode="auto">
          <a:xfrm>
            <a:off x="513184" y="332656"/>
            <a:ext cx="5715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2. 测量误差的表示方法</a:t>
            </a: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467544" y="1219900"/>
            <a:ext cx="347082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（1）</a:t>
            </a:r>
            <a:r>
              <a:rPr lang="zh-CN" altLang="en-US" sz="2800" b="1" dirty="0">
                <a:solidFill>
                  <a:srgbClr val="FF3300"/>
                </a:solidFill>
              </a:rPr>
              <a:t>绝对误差</a:t>
            </a:r>
            <a:r>
              <a:rPr lang="en-US" altLang="zh-CN" sz="2800" b="1" i="1" dirty="0">
                <a:solidFill>
                  <a:srgbClr val="FF3300"/>
                </a:solidFill>
              </a:rPr>
              <a:t>Δ</a:t>
            </a:r>
            <a:r>
              <a:rPr lang="en-US" altLang="zh-CN" sz="2800" b="1" dirty="0"/>
              <a:t>——</a:t>
            </a:r>
            <a:endParaRPr lang="zh-CN" altLang="en-US" sz="2800" b="1" dirty="0"/>
          </a:p>
        </p:txBody>
      </p:sp>
      <p:graphicFrame>
        <p:nvGraphicFramePr>
          <p:cNvPr id="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345135991"/>
              </p:ext>
            </p:extLst>
          </p:nvPr>
        </p:nvGraphicFramePr>
        <p:xfrm>
          <a:off x="1928795" y="1915245"/>
          <a:ext cx="3214710" cy="687836"/>
        </p:xfrm>
        <a:graphic>
          <a:graphicData uri="http://schemas.openxmlformats.org/presentationml/2006/ole">
            <p:oleObj spid="_x0000_s1046" name="Equation" r:id="rId3" imgW="25298400" imgH="5486400" progId="">
              <p:embed/>
            </p:oleObj>
          </a:graphicData>
        </a:graphic>
      </p:graphicFrame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3718400" y="1268760"/>
            <a:ext cx="43592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测得值与被测量真值之差。</a:t>
            </a:r>
          </a:p>
        </p:txBody>
      </p:sp>
      <p:sp>
        <p:nvSpPr>
          <p:cNvPr id="9" name="矩形 8"/>
          <p:cNvSpPr/>
          <p:nvPr/>
        </p:nvSpPr>
        <p:spPr>
          <a:xfrm>
            <a:off x="5643570" y="2000240"/>
            <a:ext cx="1266693" cy="523220"/>
          </a:xfrm>
          <a:prstGeom prst="rect">
            <a:avLst/>
          </a:prstGeom>
          <a:ln w="38100">
            <a:solidFill>
              <a:srgbClr val="FFCCFF"/>
            </a:solidFill>
          </a:ln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rgbClr val="FF3300"/>
                </a:solidFill>
              </a:rPr>
              <a:t>代数量</a:t>
            </a:r>
            <a:endParaRPr lang="zh-CN" altLang="en-US" sz="2800" dirty="0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453008" y="2643182"/>
            <a:ext cx="41910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（2）</a:t>
            </a:r>
            <a:r>
              <a:rPr lang="zh-CN" altLang="en-US" sz="2800" b="1" dirty="0">
                <a:solidFill>
                  <a:srgbClr val="FF0000"/>
                </a:solidFill>
              </a:rPr>
              <a:t>相对误差</a:t>
            </a:r>
            <a:r>
              <a:rPr lang="en-US" altLang="zh-CN" sz="2800" b="1" i="1" dirty="0">
                <a:solidFill>
                  <a:srgbClr val="FF0000"/>
                </a:solidFill>
              </a:rPr>
              <a:t>ε</a:t>
            </a:r>
            <a:r>
              <a:rPr lang="en-US" altLang="zh-CN" sz="2800" b="1" dirty="0"/>
              <a:t>——</a:t>
            </a:r>
            <a:endParaRPr lang="zh-CN" altLang="en-US" sz="2800" b="1" dirty="0"/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579019" y="3172904"/>
            <a:ext cx="8025429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        测量的绝对误差的绝对值与被测量真值之比</a:t>
            </a:r>
            <a:r>
              <a:rPr lang="zh-CN" altLang="en-US" sz="2800" b="1" dirty="0" smtClean="0"/>
              <a:t>。</a:t>
            </a:r>
            <a:endParaRPr lang="zh-CN" altLang="el-GR" sz="2800" b="1" dirty="0">
              <a:cs typeface="Times New Roman" panose="02020603050405020304" pitchFamily="18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187624" y="3857628"/>
            <a:ext cx="6840760" cy="1285884"/>
            <a:chOff x="971600" y="4707784"/>
            <a:chExt cx="6840760" cy="1186200"/>
          </a:xfrm>
        </p:grpSpPr>
        <p:graphicFrame>
          <p:nvGraphicFramePr>
            <p:cNvPr id="11" name="Object 5"/>
            <p:cNvGraphicFramePr>
              <a:graphicFrameLocks noChangeAspect="1"/>
            </p:cNvGraphicFramePr>
            <p:nvPr/>
          </p:nvGraphicFramePr>
          <p:xfrm>
            <a:off x="4932040" y="4707784"/>
            <a:ext cx="2880320" cy="1186200"/>
          </p:xfrm>
          <a:graphic>
            <a:graphicData uri="http://schemas.openxmlformats.org/presentationml/2006/ole">
              <p:oleObj spid="_x0000_s1047" name="Equation" r:id="rId4" imgW="21640800" imgH="10058400" progId="">
                <p:embed/>
              </p:oleObj>
            </a:graphicData>
          </a:graphic>
        </p:graphicFrame>
        <p:graphicFrame>
          <p:nvGraphicFramePr>
            <p:cNvPr id="13" name="Object 14"/>
            <p:cNvGraphicFramePr>
              <a:graphicFrameLocks noChangeAspect="1"/>
            </p:cNvGraphicFramePr>
            <p:nvPr/>
          </p:nvGraphicFramePr>
          <p:xfrm>
            <a:off x="971600" y="4713570"/>
            <a:ext cx="4176464" cy="1179289"/>
          </p:xfrm>
          <a:graphic>
            <a:graphicData uri="http://schemas.openxmlformats.org/presentationml/2006/ole">
              <p:oleObj spid="_x0000_s1048" name="Equation" r:id="rId5" imgW="24993600" imgH="11582400" progId="">
                <p:embed/>
              </p:oleObj>
            </a:graphicData>
          </a:graphic>
        </p:graphicFrame>
      </p:grpSp>
      <p:grpSp>
        <p:nvGrpSpPr>
          <p:cNvPr id="16" name="Group 17"/>
          <p:cNvGrpSpPr/>
          <p:nvPr/>
        </p:nvGrpSpPr>
        <p:grpSpPr bwMode="auto">
          <a:xfrm>
            <a:off x="1074198" y="5393119"/>
            <a:ext cx="2997733" cy="914400"/>
            <a:chOff x="678" y="3029"/>
            <a:chExt cx="1905" cy="576"/>
          </a:xfrm>
        </p:grpSpPr>
        <p:sp>
          <p:nvSpPr>
            <p:cNvPr id="17" name="Text Box 10"/>
            <p:cNvSpPr txBox="1">
              <a:spLocks noChangeArrowheads="1"/>
            </p:cNvSpPr>
            <p:nvPr/>
          </p:nvSpPr>
          <p:spPr bwMode="auto">
            <a:xfrm>
              <a:off x="678" y="3165"/>
              <a:ext cx="17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/>
                <a:t>比较测量精度高低</a:t>
              </a:r>
            </a:p>
          </p:txBody>
        </p:sp>
        <p:sp>
          <p:nvSpPr>
            <p:cNvPr id="18" name="AutoShape 11"/>
            <p:cNvSpPr/>
            <p:nvPr/>
          </p:nvSpPr>
          <p:spPr bwMode="auto">
            <a:xfrm>
              <a:off x="2391" y="3029"/>
              <a:ext cx="192" cy="576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4046567" y="5303584"/>
            <a:ext cx="37401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公称尺寸相同时用</a:t>
            </a:r>
            <a:r>
              <a:rPr lang="en-US" altLang="zh-CN" b="1" i="1" dirty="0">
                <a:solidFill>
                  <a:srgbClr val="FF3300"/>
                </a:solidFill>
              </a:rPr>
              <a:t>Δ</a:t>
            </a:r>
            <a:r>
              <a:rPr lang="zh-CN" altLang="en-US" b="1" dirty="0">
                <a:solidFill>
                  <a:srgbClr val="FF3300"/>
                </a:solidFill>
              </a:rPr>
              <a:t>评定</a:t>
            </a: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4062442" y="5896293"/>
            <a:ext cx="38671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公称尺寸不相同时用</a:t>
            </a:r>
            <a:r>
              <a:rPr lang="en-US" altLang="zh-CN" b="1" i="1" dirty="0">
                <a:solidFill>
                  <a:srgbClr val="FF3300"/>
                </a:solidFill>
              </a:rPr>
              <a:t>ε</a:t>
            </a:r>
            <a:r>
              <a:rPr lang="zh-CN" altLang="en-US" b="1" dirty="0">
                <a:solidFill>
                  <a:srgbClr val="FF3300"/>
                </a:solidFill>
              </a:rPr>
              <a:t>评定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 animBg="1"/>
      <p:bldP spid="10" grpId="0" autoUpdateAnimBg="0"/>
      <p:bldP spid="12" grpId="0" autoUpdateAnimBg="0"/>
      <p:bldP spid="19" grpId="0" autoUpdateAnimBg="0"/>
      <p:bldP spid="2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4</a:t>
            </a:fld>
            <a:endParaRPr lang="en-US" altLang="zh-CN" sz="1400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95536" y="1268760"/>
            <a:ext cx="4191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（3）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极限误差</a:t>
            </a:r>
            <a:r>
              <a:rPr lang="en-US" altLang="zh-CN" sz="2800" b="1" dirty="0" err="1" smtClean="0">
                <a:solidFill>
                  <a:srgbClr val="FF3300"/>
                </a:solidFill>
              </a:rPr>
              <a:t>Δ</a:t>
            </a:r>
            <a:r>
              <a:rPr lang="en-US" altLang="zh-CN" sz="2800" b="1" baseline="-25000" dirty="0" err="1" smtClean="0">
                <a:solidFill>
                  <a:srgbClr val="FF3300"/>
                </a:solidFill>
              </a:rPr>
              <a:t>lim</a:t>
            </a:r>
            <a:r>
              <a:rPr lang="zh-CN" altLang="en-US" sz="2800" b="1" dirty="0" smtClean="0"/>
              <a:t>——</a:t>
            </a:r>
            <a:endParaRPr lang="zh-CN" altLang="en-US" sz="2800" b="1" dirty="0"/>
          </a:p>
        </p:txBody>
      </p:sp>
      <p:graphicFrame>
        <p:nvGraphicFramePr>
          <p:cNvPr id="15" name="Object 10"/>
          <p:cNvGraphicFramePr>
            <a:graphicFrameLocks noChangeAspect="1"/>
          </p:cNvGraphicFramePr>
          <p:nvPr/>
        </p:nvGraphicFramePr>
        <p:xfrm>
          <a:off x="2490313" y="4170742"/>
          <a:ext cx="4227245" cy="777828"/>
        </p:xfrm>
        <a:graphic>
          <a:graphicData uri="http://schemas.openxmlformats.org/presentationml/2006/ole">
            <p:oleObj spid="_x0000_s26655" name="Equation" r:id="rId3" imgW="25298400" imgH="5486400" progId="">
              <p:embed/>
            </p:oleObj>
          </a:graphicData>
        </a:graphic>
      </p:graphicFrame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1328220" y="1919696"/>
            <a:ext cx="48868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测量的绝对误差的</a:t>
            </a:r>
            <a:r>
              <a:rPr lang="zh-CN" altLang="en-US" sz="2800" b="1" dirty="0" smtClean="0"/>
              <a:t>变化范围。</a:t>
            </a:r>
            <a:endParaRPr lang="zh-CN" altLang="en-US" sz="2800" b="1" dirty="0"/>
          </a:p>
        </p:txBody>
      </p:sp>
      <p:graphicFrame>
        <p:nvGraphicFramePr>
          <p:cNvPr id="17" name="Object 13"/>
          <p:cNvGraphicFramePr>
            <a:graphicFrameLocks noChangeAspect="1"/>
          </p:cNvGraphicFramePr>
          <p:nvPr/>
        </p:nvGraphicFramePr>
        <p:xfrm>
          <a:off x="2275999" y="3214686"/>
          <a:ext cx="4582017" cy="757063"/>
        </p:xfrm>
        <a:graphic>
          <a:graphicData uri="http://schemas.openxmlformats.org/presentationml/2006/ole">
            <p:oleObj spid="_x0000_s26656" name="Equation" r:id="rId4" imgW="33528000" imgH="5486400" progId="">
              <p:embed/>
            </p:oleObj>
          </a:graphicData>
        </a:graphic>
      </p:graphicFrame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513184" y="323945"/>
            <a:ext cx="5715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2. 测量误差的表示方法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5</a:t>
            </a:fld>
            <a:endParaRPr lang="en-US" altLang="zh-CN" sz="140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443830" y="332656"/>
            <a:ext cx="66484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2.3.2  测量误差来源与减小方法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90885" y="1340768"/>
            <a:ext cx="35210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1. 计量器具误差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928662" y="1916832"/>
            <a:ext cx="7555833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 smtClean="0"/>
              <a:t>      计量</a:t>
            </a:r>
            <a:r>
              <a:rPr lang="zh-CN" altLang="en-US" sz="2800" b="1" dirty="0"/>
              <a:t>器具误差是由于计量器具本身内在因素引起的误差。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799901" y="3390672"/>
            <a:ext cx="3124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（1）原理误差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799901" y="4705980"/>
            <a:ext cx="41306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 smtClean="0"/>
              <a:t>（3）仪器</a:t>
            </a:r>
            <a:r>
              <a:rPr lang="zh-CN" altLang="en-US" sz="2800" b="1" dirty="0"/>
              <a:t>基准件误差</a:t>
            </a:r>
            <a:endParaRPr lang="en-US" altLang="zh-CN" sz="2800" b="1" dirty="0"/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799901" y="4057908"/>
            <a:ext cx="43481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（2</a:t>
            </a:r>
            <a:r>
              <a:rPr lang="zh-CN" altLang="en-US" sz="2800" b="1" dirty="0" smtClean="0"/>
              <a:t>）阿</a:t>
            </a:r>
            <a:r>
              <a:rPr lang="zh-CN" altLang="en-US" sz="2800" b="1" dirty="0"/>
              <a:t>贝误差</a:t>
            </a:r>
          </a:p>
        </p:txBody>
      </p:sp>
      <p:grpSp>
        <p:nvGrpSpPr>
          <p:cNvPr id="9" name="Group 12"/>
          <p:cNvGrpSpPr/>
          <p:nvPr/>
        </p:nvGrpSpPr>
        <p:grpSpPr bwMode="auto">
          <a:xfrm>
            <a:off x="4354190" y="3107085"/>
            <a:ext cx="4248150" cy="2830366"/>
            <a:chOff x="2516" y="1296"/>
            <a:chExt cx="2676" cy="1877"/>
          </a:xfrm>
        </p:grpSpPr>
        <p:pic>
          <p:nvPicPr>
            <p:cNvPr id="10" name="Picture 8" descr="图02-09阿贝原理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5501" r="4573"/>
            <a:stretch/>
          </p:blipFill>
          <p:spPr bwMode="auto">
            <a:xfrm>
              <a:off x="2516" y="1296"/>
              <a:ext cx="2676" cy="1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3332" y="2928"/>
              <a:ext cx="1408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 b="1" dirty="0" smtClean="0"/>
                <a:t>阿</a:t>
              </a:r>
              <a:r>
                <a:rPr lang="zh-CN" altLang="en-US" sz="1800" b="1" dirty="0"/>
                <a:t>贝测长仪原理图</a:t>
              </a:r>
            </a:p>
          </p:txBody>
        </p:sp>
      </p:grpSp>
      <p:sp>
        <p:nvSpPr>
          <p:cNvPr id="13" name="AutoShape 13"/>
          <p:cNvSpPr>
            <a:spLocks noChangeArrowheads="1"/>
          </p:cNvSpPr>
          <p:nvPr/>
        </p:nvSpPr>
        <p:spPr bwMode="auto">
          <a:xfrm flipH="1">
            <a:off x="3995936" y="5320683"/>
            <a:ext cx="1224136" cy="864096"/>
          </a:xfrm>
          <a:prstGeom prst="wedgeRoundRectCallout">
            <a:avLst>
              <a:gd name="adj1" fmla="val -65789"/>
              <a:gd name="adj2" fmla="val -107045"/>
              <a:gd name="adj3" fmla="val 16667"/>
            </a:avLst>
          </a:prstGeom>
          <a:noFill/>
          <a:ln w="38100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b="1">
                <a:solidFill>
                  <a:srgbClr val="FF3300"/>
                </a:solidFill>
              </a:rPr>
              <a:t>标准刻线尺</a:t>
            </a:r>
          </a:p>
        </p:txBody>
      </p:sp>
      <p:sp>
        <p:nvSpPr>
          <p:cNvPr id="15" name="AutoShape 14"/>
          <p:cNvSpPr>
            <a:spLocks noChangeArrowheads="1"/>
          </p:cNvSpPr>
          <p:nvPr/>
        </p:nvSpPr>
        <p:spPr bwMode="auto">
          <a:xfrm flipH="1">
            <a:off x="5580112" y="2702640"/>
            <a:ext cx="1866528" cy="510336"/>
          </a:xfrm>
          <a:prstGeom prst="wedgeRoundRectCallout">
            <a:avLst>
              <a:gd name="adj1" fmla="val -54102"/>
              <a:gd name="adj2" fmla="val 322653"/>
              <a:gd name="adj3" fmla="val 16667"/>
            </a:avLst>
          </a:prstGeom>
          <a:noFill/>
          <a:ln w="38100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b="1">
                <a:solidFill>
                  <a:srgbClr val="FF3300"/>
                </a:solidFill>
              </a:rPr>
              <a:t>被测刻线尺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3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 autoUpdateAnimBg="0"/>
      <p:bldP spid="6" grpId="0" autoUpdateAnimBg="0"/>
      <p:bldP spid="7" grpId="0" autoUpdateAnimBg="0"/>
      <p:bldP spid="11" grpId="0" autoUpdateAnimBg="0"/>
      <p:bldP spid="14" grpId="0" autoUpdateAnimBg="0"/>
      <p:bldP spid="13" grpId="0" animBg="1" autoUpdateAnimBg="0"/>
      <p:bldP spid="15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6</a:t>
            </a:fld>
            <a:endParaRPr lang="en-US" altLang="zh-CN" sz="1400"/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539552" y="1105580"/>
            <a:ext cx="6172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2.  相对测量中的标准件误差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611560" y="1658704"/>
            <a:ext cx="7992888" cy="1024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800"/>
              </a:lnSpc>
            </a:pPr>
            <a:r>
              <a:rPr lang="zh-CN" altLang="en-US" sz="2800" b="1" dirty="0"/>
              <a:t>        </a:t>
            </a:r>
            <a:r>
              <a:rPr lang="zh-CN" altLang="en-US" sz="2800" b="1" dirty="0">
                <a:solidFill>
                  <a:srgbClr val="0070C0"/>
                </a:solidFill>
              </a:rPr>
              <a:t>应用相对测量法，标准件的误差将直接影响测量结果的精度</a:t>
            </a:r>
            <a:r>
              <a:rPr lang="zh-CN" altLang="en-US" sz="2800" b="1" dirty="0" smtClean="0"/>
              <a:t>。</a:t>
            </a:r>
            <a:r>
              <a:rPr lang="en-US" altLang="zh-CN" sz="2800" b="1" dirty="0" smtClean="0"/>
              <a:t>     </a:t>
            </a:r>
            <a:endParaRPr lang="zh-CN" altLang="en-US" sz="2800" b="1" dirty="0"/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539552" y="2769429"/>
            <a:ext cx="40544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3. 测量方法误差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745886" y="4403097"/>
            <a:ext cx="38884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（</a:t>
            </a:r>
            <a:r>
              <a:rPr lang="zh-CN" altLang="en-US" b="1" dirty="0" smtClean="0"/>
              <a:t>3</a:t>
            </a:r>
            <a:r>
              <a:rPr lang="zh-CN" altLang="en-US" b="1" dirty="0"/>
              <a:t>）</a:t>
            </a:r>
            <a:r>
              <a:rPr lang="zh-CN" altLang="en-US" b="1" dirty="0" smtClean="0"/>
              <a:t> </a:t>
            </a:r>
            <a:r>
              <a:rPr lang="zh-CN" altLang="en-US" b="1" dirty="0"/>
              <a:t>测量力引起的误差</a:t>
            </a:r>
            <a:endParaRPr lang="en-US" altLang="zh-CN" b="1" dirty="0"/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745887" y="4902755"/>
            <a:ext cx="33843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（</a:t>
            </a:r>
            <a:r>
              <a:rPr lang="zh-CN" altLang="en-US" b="1" dirty="0" smtClean="0"/>
              <a:t>4</a:t>
            </a:r>
            <a:r>
              <a:rPr lang="zh-CN" altLang="en-US" b="1" dirty="0"/>
              <a:t>）</a:t>
            </a:r>
            <a:r>
              <a:rPr lang="zh-CN" altLang="en-US" b="1" dirty="0" smtClean="0"/>
              <a:t> </a:t>
            </a:r>
            <a:r>
              <a:rPr lang="zh-CN" altLang="en-US" b="1" dirty="0"/>
              <a:t>测量条件误差</a:t>
            </a:r>
            <a:endParaRPr lang="en-US" altLang="zh-CN" b="1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745886" y="3411010"/>
            <a:ext cx="50405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 smtClean="0"/>
              <a:t>（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）测量基准与设计基准不统一</a:t>
            </a:r>
            <a:endParaRPr lang="en-US" altLang="zh-CN" b="1" dirty="0" smtClean="0"/>
          </a:p>
        </p:txBody>
      </p:sp>
      <p:sp>
        <p:nvSpPr>
          <p:cNvPr id="15" name="矩形 14"/>
          <p:cNvSpPr/>
          <p:nvPr/>
        </p:nvSpPr>
        <p:spPr>
          <a:xfrm>
            <a:off x="745886" y="3912073"/>
            <a:ext cx="43604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（2）被测件安装、定位不正确</a:t>
            </a:r>
            <a:endParaRPr lang="zh-CN" altLang="en-US" dirty="0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443830" y="332656"/>
            <a:ext cx="66484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2.3.2  测量误差来源与减小方法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 autoUpdateAnimBg="0"/>
      <p:bldP spid="7" grpId="0" autoUpdateAnimBg="0"/>
      <p:bldP spid="12" grpId="0" autoUpdateAnimBg="0"/>
      <p:bldP spid="13" grpId="0" autoUpdateAnimBg="0"/>
      <p:bldP spid="14" grpId="0" autoUpdateAnimBg="0"/>
      <p:bldP spid="1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7</a:t>
            </a:fld>
            <a:endParaRPr lang="en-US" altLang="zh-CN" sz="140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39552" y="332656"/>
            <a:ext cx="59766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 smtClean="0"/>
              <a:t>（</a:t>
            </a:r>
            <a:r>
              <a:rPr lang="en-US" altLang="zh-CN" sz="2800" b="1" dirty="0" smtClean="0"/>
              <a:t>1</a:t>
            </a:r>
            <a:r>
              <a:rPr lang="zh-CN" altLang="en-US" sz="2800" b="1" dirty="0" smtClean="0"/>
              <a:t>）测量基准与设计基准不统一</a:t>
            </a:r>
            <a:endParaRPr lang="en-US" altLang="zh-CN" sz="2800" b="1" dirty="0" smtClean="0"/>
          </a:p>
        </p:txBody>
      </p:sp>
      <p:grpSp>
        <p:nvGrpSpPr>
          <p:cNvPr id="6" name="Group 15"/>
          <p:cNvGrpSpPr/>
          <p:nvPr/>
        </p:nvGrpSpPr>
        <p:grpSpPr bwMode="auto">
          <a:xfrm>
            <a:off x="1907704" y="1467423"/>
            <a:ext cx="5515744" cy="5016999"/>
            <a:chOff x="672" y="720"/>
            <a:chExt cx="3792" cy="3407"/>
          </a:xfrm>
        </p:grpSpPr>
        <p:pic>
          <p:nvPicPr>
            <p:cNvPr id="7" name="Picture 4" descr="图02-11齿厚测量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720"/>
              <a:ext cx="3792" cy="3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1973" y="3855"/>
              <a:ext cx="1194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 smtClean="0"/>
                <a:t>齿轮齿厚</a:t>
              </a:r>
              <a:endParaRPr lang="zh-CN" altLang="en-US" sz="2000" b="1" dirty="0"/>
            </a:p>
          </p:txBody>
        </p:sp>
      </p:grpSp>
      <p:grpSp>
        <p:nvGrpSpPr>
          <p:cNvPr id="9" name="Group 19"/>
          <p:cNvGrpSpPr/>
          <p:nvPr/>
        </p:nvGrpSpPr>
        <p:grpSpPr bwMode="auto">
          <a:xfrm>
            <a:off x="4458816" y="5301208"/>
            <a:ext cx="2057400" cy="457200"/>
            <a:chOff x="2448" y="3312"/>
            <a:chExt cx="1296" cy="288"/>
          </a:xfrm>
        </p:grpSpPr>
        <p:sp>
          <p:nvSpPr>
            <p:cNvPr id="10" name="Line 16"/>
            <p:cNvSpPr>
              <a:spLocks noChangeShapeType="1"/>
            </p:cNvSpPr>
            <p:nvPr/>
          </p:nvSpPr>
          <p:spPr bwMode="auto">
            <a:xfrm>
              <a:off x="2976" y="3312"/>
              <a:ext cx="768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8"/>
            <p:cNvSpPr>
              <a:spLocks noChangeShapeType="1"/>
            </p:cNvSpPr>
            <p:nvPr/>
          </p:nvSpPr>
          <p:spPr bwMode="auto">
            <a:xfrm flipV="1">
              <a:off x="2448" y="3312"/>
              <a:ext cx="528" cy="2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23"/>
          <p:cNvGrpSpPr/>
          <p:nvPr/>
        </p:nvGrpSpPr>
        <p:grpSpPr bwMode="auto">
          <a:xfrm>
            <a:off x="4515751" y="2259553"/>
            <a:ext cx="2652713" cy="457200"/>
            <a:chOff x="2604" y="1242"/>
            <a:chExt cx="1671" cy="288"/>
          </a:xfrm>
        </p:grpSpPr>
        <p:sp>
          <p:nvSpPr>
            <p:cNvPr id="13" name="Line 21"/>
            <p:cNvSpPr>
              <a:spLocks noChangeShapeType="1"/>
            </p:cNvSpPr>
            <p:nvPr/>
          </p:nvSpPr>
          <p:spPr bwMode="auto">
            <a:xfrm>
              <a:off x="3363" y="1243"/>
              <a:ext cx="912" cy="0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22"/>
            <p:cNvSpPr>
              <a:spLocks noChangeShapeType="1"/>
            </p:cNvSpPr>
            <p:nvPr/>
          </p:nvSpPr>
          <p:spPr bwMode="auto">
            <a:xfrm flipV="1">
              <a:off x="2604" y="1242"/>
              <a:ext cx="768" cy="288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" name="矩形 14"/>
          <p:cNvSpPr/>
          <p:nvPr/>
        </p:nvSpPr>
        <p:spPr>
          <a:xfrm>
            <a:off x="899592" y="1124744"/>
            <a:ext cx="59046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b="1" dirty="0" smtClean="0"/>
              <a:t>如：用齿厚卡尺测量齿轮分度圆齿厚</a:t>
            </a:r>
            <a:endParaRPr lang="zh-CN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5572132" y="5429264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0070C0"/>
                </a:solidFill>
              </a:rPr>
              <a:t>齿轮轴线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643702" y="2357430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0070C0"/>
                </a:solidFill>
              </a:rPr>
              <a:t>齿顶圆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8</a:t>
            </a:fld>
            <a:endParaRPr lang="en-US" altLang="zh-CN" sz="1400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115616" y="1105580"/>
            <a:ext cx="53285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 smtClean="0"/>
              <a:t>如：套筒轴线与工作台不垂直</a:t>
            </a:r>
            <a:endParaRPr lang="en-US" altLang="zh-CN" b="1" dirty="0"/>
          </a:p>
        </p:txBody>
      </p:sp>
      <p:grpSp>
        <p:nvGrpSpPr>
          <p:cNvPr id="8" name="Group 18"/>
          <p:cNvGrpSpPr/>
          <p:nvPr/>
        </p:nvGrpSpPr>
        <p:grpSpPr bwMode="auto">
          <a:xfrm>
            <a:off x="1398984" y="1974304"/>
            <a:ext cx="6629400" cy="4191000"/>
            <a:chOff x="384" y="1248"/>
            <a:chExt cx="4176" cy="2640"/>
          </a:xfrm>
        </p:grpSpPr>
        <p:grpSp>
          <p:nvGrpSpPr>
            <p:cNvPr id="9" name="Group 13"/>
            <p:cNvGrpSpPr/>
            <p:nvPr/>
          </p:nvGrpSpPr>
          <p:grpSpPr bwMode="auto">
            <a:xfrm>
              <a:off x="384" y="1248"/>
              <a:ext cx="4176" cy="2640"/>
              <a:chOff x="384" y="1344"/>
              <a:chExt cx="4176" cy="2640"/>
            </a:xfrm>
          </p:grpSpPr>
          <p:pic>
            <p:nvPicPr>
              <p:cNvPr id="12" name="Picture 8" descr="图02-12套筒测量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" y="1344"/>
                <a:ext cx="4176" cy="25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" name="Text Box 9"/>
              <p:cNvSpPr txBox="1">
                <a:spLocks noChangeArrowheads="1"/>
              </p:cNvSpPr>
              <p:nvPr/>
            </p:nvSpPr>
            <p:spPr bwMode="auto">
              <a:xfrm>
                <a:off x="1772" y="3696"/>
                <a:ext cx="105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b="1" dirty="0" smtClean="0"/>
                  <a:t>套筒</a:t>
                </a:r>
                <a:r>
                  <a:rPr lang="zh-CN" altLang="en-US" b="1" dirty="0"/>
                  <a:t>测量</a:t>
                </a:r>
              </a:p>
            </p:txBody>
          </p:sp>
        </p:grpSp>
        <p:sp>
          <p:nvSpPr>
            <p:cNvPr id="10" name="Line 15"/>
            <p:cNvSpPr>
              <a:spLocks noChangeShapeType="1"/>
            </p:cNvSpPr>
            <p:nvPr/>
          </p:nvSpPr>
          <p:spPr bwMode="auto">
            <a:xfrm>
              <a:off x="2064" y="3168"/>
              <a:ext cx="14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6"/>
            <p:cNvSpPr>
              <a:spLocks noChangeShapeType="1"/>
            </p:cNvSpPr>
            <p:nvPr/>
          </p:nvSpPr>
          <p:spPr bwMode="auto">
            <a:xfrm>
              <a:off x="2064" y="3168"/>
              <a:ext cx="0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" name="Line 17"/>
          <p:cNvSpPr>
            <a:spLocks noChangeShapeType="1"/>
          </p:cNvSpPr>
          <p:nvPr/>
        </p:nvSpPr>
        <p:spPr bwMode="auto">
          <a:xfrm>
            <a:off x="3970559" y="2497572"/>
            <a:ext cx="609600" cy="3048000"/>
          </a:xfrm>
          <a:prstGeom prst="line">
            <a:avLst/>
          </a:prstGeom>
          <a:noFill/>
          <a:ln w="57150">
            <a:solidFill>
              <a:srgbClr val="FF3300"/>
            </a:solidFill>
            <a:prstDash val="lgDashDot"/>
            <a:rou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428727" y="1714488"/>
            <a:ext cx="7286677" cy="562384"/>
            <a:chOff x="971550" y="1268760"/>
            <a:chExt cx="7704707" cy="648072"/>
          </a:xfrm>
        </p:grpSpPr>
        <p:graphicFrame>
          <p:nvGraphicFramePr>
            <p:cNvPr id="7" name="Object 12"/>
            <p:cNvGraphicFramePr>
              <a:graphicFrameLocks noChangeAspect="1"/>
            </p:cNvGraphicFramePr>
            <p:nvPr/>
          </p:nvGraphicFramePr>
          <p:xfrm>
            <a:off x="971550" y="1340768"/>
            <a:ext cx="4227513" cy="466725"/>
          </p:xfrm>
          <a:graphic>
            <a:graphicData uri="http://schemas.openxmlformats.org/presentationml/2006/ole">
              <p:oleObj spid="_x0000_s31759" name="Equation" r:id="rId5" imgW="44196000" imgH="4876800" progId="">
                <p:embed/>
              </p:oleObj>
            </a:graphicData>
          </a:graphic>
        </p:graphicFrame>
        <p:grpSp>
          <p:nvGrpSpPr>
            <p:cNvPr id="16" name="组合 15"/>
            <p:cNvGrpSpPr/>
            <p:nvPr/>
          </p:nvGrpSpPr>
          <p:grpSpPr>
            <a:xfrm>
              <a:off x="5004048" y="1268760"/>
              <a:ext cx="3672209" cy="648072"/>
              <a:chOff x="5148263" y="1268760"/>
              <a:chExt cx="3672209" cy="648072"/>
            </a:xfrm>
          </p:grpSpPr>
          <p:graphicFrame>
            <p:nvGraphicFramePr>
              <p:cNvPr id="6" name="Object 11"/>
              <p:cNvGraphicFramePr>
                <a:graphicFrameLocks noChangeAspect="1"/>
              </p:cNvGraphicFramePr>
              <p:nvPr/>
            </p:nvGraphicFramePr>
            <p:xfrm>
              <a:off x="5148263" y="1352550"/>
              <a:ext cx="3521135" cy="492125"/>
            </p:xfrm>
            <a:graphic>
              <a:graphicData uri="http://schemas.openxmlformats.org/presentationml/2006/ole">
                <p:oleObj spid="_x0000_s31760" name="公式" r:id="rId6" imgW="34442400" imgH="4876800" progId="">
                  <p:embed/>
                </p:oleObj>
              </a:graphicData>
            </a:graphic>
          </p:graphicFrame>
          <p:sp>
            <p:nvSpPr>
              <p:cNvPr id="15" name="矩形 14"/>
              <p:cNvSpPr/>
              <p:nvPr/>
            </p:nvSpPr>
            <p:spPr>
              <a:xfrm>
                <a:off x="7668344" y="1268760"/>
                <a:ext cx="1152128" cy="6480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8" name="矩形 17"/>
          <p:cNvSpPr/>
          <p:nvPr/>
        </p:nvSpPr>
        <p:spPr>
          <a:xfrm>
            <a:off x="503978" y="361591"/>
            <a:ext cx="50529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/>
              <a:t>（2）被测件安装、定位不正确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9</a:t>
            </a:fld>
            <a:endParaRPr lang="en-US" altLang="zh-CN" sz="140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467544" y="1124744"/>
            <a:ext cx="51943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(3) 测量力引起的误差</a:t>
            </a:r>
            <a:endParaRPr lang="en-US" altLang="zh-CN" sz="2800" b="1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51520" y="1772816"/>
            <a:ext cx="8591550" cy="936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        接触测量时，如被测件硬度、刚度低，测量力过大，使零件有</a:t>
            </a:r>
            <a:r>
              <a:rPr lang="zh-CN" altLang="en-US" b="1" dirty="0">
                <a:solidFill>
                  <a:srgbClr val="FF0000"/>
                </a:solidFill>
              </a:rPr>
              <a:t>接触变形或弹性变形</a:t>
            </a:r>
            <a:r>
              <a:rPr lang="zh-CN" altLang="en-US" b="1" dirty="0"/>
              <a:t>，而引起的误差。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26405" y="4149080"/>
            <a:ext cx="47656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(4) 测量条件误差</a:t>
            </a:r>
            <a:endParaRPr lang="en-US" altLang="zh-CN" sz="2800" b="1" dirty="0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51520" y="4725144"/>
            <a:ext cx="8304213" cy="936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        测量条件主要是指温度、湿度、振动、环境等外界因素所引起误差。</a:t>
            </a:r>
            <a:r>
              <a:rPr lang="zh-CN" altLang="en-US" b="1" dirty="0">
                <a:solidFill>
                  <a:srgbClr val="FF3300"/>
                </a:solidFill>
              </a:rPr>
              <a:t>尤其是温度。</a:t>
            </a:r>
          </a:p>
        </p:txBody>
      </p:sp>
      <p:sp>
        <p:nvSpPr>
          <p:cNvPr id="8" name="Text Box 24"/>
          <p:cNvSpPr txBox="1">
            <a:spLocks noChangeArrowheads="1"/>
          </p:cNvSpPr>
          <p:nvPr/>
        </p:nvSpPr>
        <p:spPr bwMode="auto">
          <a:xfrm>
            <a:off x="251520" y="2996952"/>
            <a:ext cx="85693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        因此，对于</a:t>
            </a:r>
            <a:r>
              <a:rPr lang="zh-CN" altLang="en-US" b="1" dirty="0">
                <a:solidFill>
                  <a:srgbClr val="FF0000"/>
                </a:solidFill>
              </a:rPr>
              <a:t>软材料</a:t>
            </a:r>
            <a:r>
              <a:rPr lang="zh-CN" altLang="en-US" b="1" dirty="0"/>
              <a:t>、刚性低的零件，尽可能采用</a:t>
            </a:r>
            <a:r>
              <a:rPr lang="zh-CN" altLang="en-US" b="1" dirty="0">
                <a:solidFill>
                  <a:srgbClr val="FF0000"/>
                </a:solidFill>
              </a:rPr>
              <a:t>非接触测量法。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 autoUpdateAnimBg="0"/>
      <p:bldP spid="6" grpId="0" autoUpdateAnimBg="0"/>
      <p:bldP spid="7" grpId="0" autoUpdateAnimBg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10</a:t>
            </a:fld>
            <a:endParaRPr lang="en-US" altLang="zh-CN" sz="140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01352" y="308108"/>
            <a:ext cx="767104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2.3.3  测量误差分类、特性及其处理原则</a:t>
            </a:r>
          </a:p>
        </p:txBody>
      </p:sp>
      <p:grpSp>
        <p:nvGrpSpPr>
          <p:cNvPr id="6" name="Group 18"/>
          <p:cNvGrpSpPr/>
          <p:nvPr/>
        </p:nvGrpSpPr>
        <p:grpSpPr bwMode="auto">
          <a:xfrm>
            <a:off x="755576" y="2204418"/>
            <a:ext cx="2089151" cy="2016125"/>
            <a:chOff x="521" y="436"/>
            <a:chExt cx="1316" cy="1270"/>
          </a:xfrm>
        </p:grpSpPr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521" y="709"/>
              <a:ext cx="1051" cy="7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800" b="1" dirty="0"/>
                <a:t>按误差性 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zh-CN" altLang="en-US" sz="2800" b="1" dirty="0"/>
                <a:t>   质可分</a:t>
              </a:r>
            </a:p>
          </p:txBody>
        </p:sp>
        <p:sp>
          <p:nvSpPr>
            <p:cNvPr id="8" name="AutoShape 6"/>
            <p:cNvSpPr/>
            <p:nvPr/>
          </p:nvSpPr>
          <p:spPr bwMode="auto">
            <a:xfrm>
              <a:off x="1655" y="436"/>
              <a:ext cx="182" cy="1270"/>
            </a:xfrm>
            <a:prstGeom prst="leftBrace">
              <a:avLst>
                <a:gd name="adj1" fmla="val 39469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2988047" y="1988840"/>
            <a:ext cx="45481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系统误差</a:t>
            </a:r>
            <a:r>
              <a:rPr lang="zh-CN" altLang="en-US" sz="2800" b="1" dirty="0"/>
              <a:t> </a:t>
            </a:r>
            <a:r>
              <a:rPr lang="zh-CN" altLang="en-US" sz="2800" b="1" dirty="0" smtClean="0"/>
              <a:t>—</a:t>
            </a:r>
            <a:r>
              <a:rPr lang="zh-CN" altLang="en-US" sz="2800" b="1" dirty="0"/>
              <a:t>可消除</a:t>
            </a:r>
            <a:endParaRPr lang="en-US" altLang="zh-CN" sz="2800" b="1" dirty="0"/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3029370" y="2905780"/>
            <a:ext cx="57606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随机误差 </a:t>
            </a:r>
            <a:r>
              <a:rPr lang="zh-CN" altLang="en-US" sz="2800" b="1" dirty="0" smtClean="0"/>
              <a:t>—</a:t>
            </a:r>
            <a:r>
              <a:rPr lang="zh-CN" altLang="en-US" sz="2800" b="1" dirty="0"/>
              <a:t>不可消除，只能减小</a:t>
            </a:r>
            <a:endParaRPr lang="en-US" altLang="zh-CN" sz="2800" b="1" dirty="0"/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3030783" y="3861048"/>
            <a:ext cx="34134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粗大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误差</a:t>
            </a:r>
            <a:r>
              <a:rPr lang="zh-CN" altLang="en-US" sz="2800" b="1" dirty="0" smtClean="0"/>
              <a:t>—</a:t>
            </a:r>
            <a:r>
              <a:rPr lang="zh-CN" altLang="en-US" sz="2800" b="1" dirty="0"/>
              <a:t>剔除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9" grpId="0" autoUpdateAnimBg="0"/>
      <p:bldP spid="10" grpId="0" autoUpdateAnimBg="0"/>
      <p:bldP spid="11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11</a:t>
            </a:fld>
            <a:endParaRPr lang="en-US" altLang="zh-CN" sz="140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39553" y="1994180"/>
            <a:ext cx="8064895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 smtClean="0"/>
              <a:t>        在</a:t>
            </a:r>
            <a:r>
              <a:rPr lang="zh-CN" altLang="en-US" sz="2800" b="1" dirty="0"/>
              <a:t>一定测量条件下，多次测量同一量值时，测量误差的大小和符号固定不变或按一定的规律变化。前者为定值系统误差，后者为变值系统误差。</a:t>
            </a:r>
            <a:endParaRPr lang="en-US" altLang="zh-CN" sz="2800" b="1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39552" y="332656"/>
            <a:ext cx="4876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 smtClean="0"/>
              <a:t>1</a:t>
            </a:r>
            <a:r>
              <a:rPr lang="zh-CN" altLang="en-US" sz="3200" b="1" dirty="0" smtClean="0"/>
              <a:t>. </a:t>
            </a:r>
            <a:r>
              <a:rPr lang="zh-CN" altLang="en-US" sz="3200" b="1" dirty="0"/>
              <a:t>系统误差及其消除方法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11560" y="3794380"/>
            <a:ext cx="51816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/>
              <a:t>（2） 系统误差</a:t>
            </a:r>
            <a:r>
              <a:rPr lang="zh-CN" altLang="en-US" sz="2800" b="1" dirty="0">
                <a:solidFill>
                  <a:srgbClr val="FF3300"/>
                </a:solidFill>
              </a:rPr>
              <a:t>处理原则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611560" y="1412776"/>
            <a:ext cx="34131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（1）</a:t>
            </a:r>
            <a:r>
              <a:rPr lang="zh-CN" altLang="en-US" sz="2800" b="1" dirty="0">
                <a:solidFill>
                  <a:srgbClr val="FF3300"/>
                </a:solidFill>
              </a:rPr>
              <a:t>系统误差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971600" y="4403778"/>
            <a:ext cx="768985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   一般可以消除。若很难消除时，可设法减小。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11" grpId="0" autoUpdateAnimBg="0"/>
      <p:bldP spid="1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12</a:t>
            </a:fld>
            <a:endParaRPr lang="en-US" altLang="zh-CN" sz="1400"/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539552" y="1196752"/>
            <a:ext cx="6324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（3）</a:t>
            </a:r>
            <a:r>
              <a:rPr lang="zh-CN" altLang="en-US" sz="2800" b="1" dirty="0">
                <a:solidFill>
                  <a:srgbClr val="FF3300"/>
                </a:solidFill>
              </a:rPr>
              <a:t>消除和减小</a:t>
            </a:r>
            <a:r>
              <a:rPr lang="zh-CN" altLang="en-US" sz="2800" b="1" dirty="0"/>
              <a:t>系统误差方法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430213" y="1777240"/>
            <a:ext cx="8462267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   </a:t>
            </a:r>
            <a:r>
              <a:rPr lang="zh-CN" altLang="en-US" b="1" dirty="0" smtClean="0"/>
              <a:t>  </a:t>
            </a:r>
            <a:r>
              <a:rPr lang="zh-CN" altLang="en-US" b="1" dirty="0"/>
              <a:t>①  从产生系统误差的</a:t>
            </a:r>
            <a:r>
              <a:rPr lang="zh-CN" altLang="en-US" b="1" dirty="0">
                <a:solidFill>
                  <a:srgbClr val="FF3300"/>
                </a:solidFill>
              </a:rPr>
              <a:t>根源</a:t>
            </a:r>
            <a:r>
              <a:rPr lang="zh-CN" altLang="en-US" b="1" dirty="0"/>
              <a:t>消除：调整仪器的零位、正确选择测量基准、保证被测件与仪器处于同一温度条件下测量等。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826154" y="2719614"/>
            <a:ext cx="43924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②  用</a:t>
            </a:r>
            <a:r>
              <a:rPr lang="zh-CN" altLang="en-US" b="1" dirty="0">
                <a:solidFill>
                  <a:srgbClr val="FF3300"/>
                </a:solidFill>
              </a:rPr>
              <a:t>加修正值</a:t>
            </a:r>
            <a:r>
              <a:rPr lang="zh-CN" altLang="en-US" b="1" dirty="0"/>
              <a:t>的方法消除：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842635" y="3242834"/>
            <a:ext cx="51435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③  用</a:t>
            </a:r>
            <a:r>
              <a:rPr lang="zh-CN" altLang="en-US" b="1" dirty="0">
                <a:solidFill>
                  <a:srgbClr val="FF3300"/>
                </a:solidFill>
              </a:rPr>
              <a:t>两次测量</a:t>
            </a:r>
            <a:r>
              <a:rPr lang="zh-CN" altLang="en-US" b="1" dirty="0"/>
              <a:t>的方法消除</a:t>
            </a:r>
            <a:endParaRPr lang="en-US" altLang="zh-CN" b="1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842635" y="3753153"/>
            <a:ext cx="73596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④  利用</a:t>
            </a:r>
            <a:r>
              <a:rPr lang="zh-CN" altLang="en-US" b="1" dirty="0">
                <a:solidFill>
                  <a:srgbClr val="FF3300"/>
                </a:solidFill>
              </a:rPr>
              <a:t>被测量之间的内在联系</a:t>
            </a:r>
            <a:r>
              <a:rPr lang="zh-CN" altLang="en-US" b="1" dirty="0"/>
              <a:t>的方法消除</a:t>
            </a:r>
          </a:p>
        </p:txBody>
      </p:sp>
      <p:sp>
        <p:nvSpPr>
          <p:cNvPr id="9" name="矩形 8"/>
          <p:cNvSpPr/>
          <p:nvPr/>
        </p:nvSpPr>
        <p:spPr>
          <a:xfrm>
            <a:off x="857224" y="4572008"/>
            <a:ext cx="7488832" cy="1207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2000" b="1" dirty="0" smtClean="0"/>
              <a:t>如用周节仪按相对法测量齿轮齿距累积偏差时，可根据齿轮从第</a:t>
            </a:r>
            <a:r>
              <a:rPr lang="en-US" altLang="zh-CN" sz="2000" b="1" dirty="0" smtClean="0"/>
              <a:t>1</a:t>
            </a:r>
            <a:r>
              <a:rPr lang="zh-CN" altLang="en-US" sz="2000" b="1" dirty="0" smtClean="0"/>
              <a:t>个齿距偏差累积到最后</a:t>
            </a:r>
            <a:r>
              <a:rPr lang="en-US" altLang="zh-CN" sz="2000" b="1" dirty="0" smtClean="0"/>
              <a:t>1</a:t>
            </a:r>
            <a:r>
              <a:rPr lang="zh-CN" altLang="en-US" sz="2000" b="1" dirty="0" smtClean="0"/>
              <a:t>个齿距偏差时，其螺距偏差为零这一关系，来消除测量的系统误差。</a:t>
            </a:r>
            <a:endParaRPr lang="zh-CN" altLang="en-US" sz="2000" dirty="0"/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539552" y="332656"/>
            <a:ext cx="4876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 smtClean="0"/>
              <a:t>1</a:t>
            </a:r>
            <a:r>
              <a:rPr lang="zh-CN" altLang="en-US" sz="2800" b="1" dirty="0" smtClean="0"/>
              <a:t>. </a:t>
            </a:r>
            <a:r>
              <a:rPr lang="zh-CN" altLang="en-US" sz="2800" b="1" dirty="0"/>
              <a:t>系统误差及其消除方法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2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 autoUpdateAnimBg="0"/>
      <p:bldP spid="6" grpId="0" autoUpdateAnimBg="0"/>
      <p:bldP spid="7" grpId="0" autoUpdateAnimBg="0"/>
      <p:bldP spid="8" grpId="0" autoUpdateAnimBg="0"/>
      <p:bldP spid="1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13</a:t>
            </a:fld>
            <a:endParaRPr lang="en-US" altLang="zh-CN" sz="1400"/>
          </a:p>
        </p:txBody>
      </p:sp>
      <p:sp>
        <p:nvSpPr>
          <p:cNvPr id="3" name="Text Box 10"/>
          <p:cNvSpPr txBox="1">
            <a:spLocks noChangeArrowheads="1"/>
          </p:cNvSpPr>
          <p:nvPr/>
        </p:nvSpPr>
        <p:spPr bwMode="auto">
          <a:xfrm>
            <a:off x="467544" y="332656"/>
            <a:ext cx="6248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 smtClean="0"/>
              <a:t>2</a:t>
            </a:r>
            <a:r>
              <a:rPr lang="zh-CN" altLang="en-US" sz="2800" b="1" dirty="0" smtClean="0"/>
              <a:t>. </a:t>
            </a:r>
            <a:r>
              <a:rPr lang="zh-CN" altLang="en-US" sz="2800" b="1" dirty="0"/>
              <a:t>随机误差的评定及其处理原则</a:t>
            </a: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1038478" y="2278339"/>
            <a:ext cx="681967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 smtClean="0"/>
              <a:t>测量误差的绝对值和符号以不可预定的方式变化。</a:t>
            </a:r>
            <a:endParaRPr lang="zh-CN" altLang="en-US" b="1" dirty="0"/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642910" y="3571876"/>
            <a:ext cx="8253994" cy="1379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        随机误差产生的原因——在测量过程中各种随机因素引起的，如测量过程中温度的波动、振动、测量力不稳及测量人的视差等。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827584" y="1467137"/>
            <a:ext cx="3200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（1）随机误差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 autoUpdateAnimBg="0"/>
      <p:bldP spid="6" grpId="0" autoUpdateAnimBg="0"/>
      <p:bldP spid="7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14</a:t>
            </a:fld>
            <a:endParaRPr lang="en-US" altLang="zh-CN" sz="1400"/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395536" y="332656"/>
            <a:ext cx="6192688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 smtClean="0"/>
              <a:t>（</a:t>
            </a:r>
            <a:r>
              <a:rPr lang="zh-CN" altLang="en-US" sz="2800" b="1" dirty="0"/>
              <a:t>2）正态分布的随机误差基本特性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1055352" y="1815828"/>
            <a:ext cx="206645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①  </a:t>
            </a:r>
            <a:r>
              <a:rPr lang="zh-CN" altLang="en-US" sz="2800" b="1" dirty="0" smtClean="0">
                <a:solidFill>
                  <a:srgbClr val="FF3300"/>
                </a:solidFill>
              </a:rPr>
              <a:t>单峰性</a:t>
            </a:r>
            <a:endParaRPr lang="zh-CN" altLang="en-US" sz="2800" b="1" dirty="0"/>
          </a:p>
        </p:txBody>
      </p:sp>
      <p:grpSp>
        <p:nvGrpSpPr>
          <p:cNvPr id="7" name="Group 35"/>
          <p:cNvGrpSpPr/>
          <p:nvPr/>
        </p:nvGrpSpPr>
        <p:grpSpPr bwMode="auto">
          <a:xfrm>
            <a:off x="3528388" y="1340768"/>
            <a:ext cx="5047932" cy="4847307"/>
            <a:chOff x="2592" y="1296"/>
            <a:chExt cx="2976" cy="2794"/>
          </a:xfrm>
        </p:grpSpPr>
        <p:grpSp>
          <p:nvGrpSpPr>
            <p:cNvPr id="8" name="Group 13"/>
            <p:cNvGrpSpPr/>
            <p:nvPr/>
          </p:nvGrpSpPr>
          <p:grpSpPr bwMode="auto">
            <a:xfrm>
              <a:off x="2592" y="1296"/>
              <a:ext cx="2976" cy="2794"/>
              <a:chOff x="2400" y="768"/>
              <a:chExt cx="2976" cy="2794"/>
            </a:xfrm>
          </p:grpSpPr>
          <p:pic>
            <p:nvPicPr>
              <p:cNvPr id="15" name="Picture 5" descr="图02-13正态分布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0" y="768"/>
                <a:ext cx="2976" cy="2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" name="Text Box 8"/>
              <p:cNvSpPr txBox="1">
                <a:spLocks noChangeArrowheads="1"/>
              </p:cNvSpPr>
              <p:nvPr/>
            </p:nvSpPr>
            <p:spPr bwMode="auto">
              <a:xfrm>
                <a:off x="3200" y="3312"/>
                <a:ext cx="131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b="1" dirty="0" smtClean="0"/>
                  <a:t>正态分布</a:t>
                </a:r>
                <a:r>
                  <a:rPr lang="zh-CN" altLang="en-US" sz="2000" b="1" dirty="0"/>
                  <a:t>曲线</a:t>
                </a:r>
              </a:p>
            </p:txBody>
          </p:sp>
        </p:grpSp>
        <p:sp>
          <p:nvSpPr>
            <p:cNvPr id="9" name="Line 14"/>
            <p:cNvSpPr>
              <a:spLocks noChangeShapeType="1"/>
            </p:cNvSpPr>
            <p:nvPr/>
          </p:nvSpPr>
          <p:spPr bwMode="auto">
            <a:xfrm>
              <a:off x="3792" y="1920"/>
              <a:ext cx="0" cy="12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7"/>
            <p:cNvSpPr>
              <a:spLocks noChangeShapeType="1"/>
            </p:cNvSpPr>
            <p:nvPr/>
          </p:nvSpPr>
          <p:spPr bwMode="auto">
            <a:xfrm>
              <a:off x="4320" y="2688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8"/>
            <p:cNvSpPr>
              <a:spLocks noChangeShapeType="1"/>
            </p:cNvSpPr>
            <p:nvPr/>
          </p:nvSpPr>
          <p:spPr bwMode="auto">
            <a:xfrm>
              <a:off x="3936" y="2976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9"/>
            <p:cNvSpPr>
              <a:spLocks noChangeShapeType="1"/>
            </p:cNvSpPr>
            <p:nvPr/>
          </p:nvSpPr>
          <p:spPr bwMode="auto">
            <a:xfrm>
              <a:off x="3792" y="1920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20"/>
            <p:cNvSpPr>
              <a:spLocks noChangeShapeType="1"/>
            </p:cNvSpPr>
            <p:nvPr/>
          </p:nvSpPr>
          <p:spPr bwMode="auto">
            <a:xfrm>
              <a:off x="3936" y="2688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32"/>
            <p:cNvSpPr>
              <a:spLocks noChangeShapeType="1"/>
            </p:cNvSpPr>
            <p:nvPr/>
          </p:nvSpPr>
          <p:spPr bwMode="auto">
            <a:xfrm>
              <a:off x="3552" y="297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38"/>
          <p:cNvGrpSpPr/>
          <p:nvPr/>
        </p:nvGrpSpPr>
        <p:grpSpPr bwMode="auto">
          <a:xfrm>
            <a:off x="6083574" y="3381400"/>
            <a:ext cx="1728788" cy="860425"/>
            <a:chOff x="3893" y="2208"/>
            <a:chExt cx="1089" cy="542"/>
          </a:xfrm>
        </p:grpSpPr>
        <p:graphicFrame>
          <p:nvGraphicFramePr>
            <p:cNvPr id="18" name="Object 36"/>
            <p:cNvGraphicFramePr>
              <a:graphicFrameLocks noChangeAspect="1"/>
            </p:cNvGraphicFramePr>
            <p:nvPr/>
          </p:nvGraphicFramePr>
          <p:xfrm>
            <a:off x="4608" y="2208"/>
            <a:ext cx="374" cy="416"/>
          </p:xfrm>
          <a:graphic>
            <a:graphicData uri="http://schemas.openxmlformats.org/presentationml/2006/ole">
              <p:oleObj spid="_x0000_s37917" name="Equation" r:id="rId5" imgW="5486400" imgH="6096000" progId="">
                <p:embed/>
              </p:oleObj>
            </a:graphicData>
          </a:graphic>
        </p:graphicFrame>
        <p:sp>
          <p:nvSpPr>
            <p:cNvPr id="19" name="Line 37"/>
            <p:cNvSpPr>
              <a:spLocks noChangeShapeType="1"/>
            </p:cNvSpPr>
            <p:nvPr/>
          </p:nvSpPr>
          <p:spPr bwMode="auto">
            <a:xfrm flipH="1">
              <a:off x="3893" y="2510"/>
              <a:ext cx="720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Group 41"/>
          <p:cNvGrpSpPr/>
          <p:nvPr/>
        </p:nvGrpSpPr>
        <p:grpSpPr bwMode="auto">
          <a:xfrm>
            <a:off x="5816977" y="2669592"/>
            <a:ext cx="1176338" cy="1066800"/>
            <a:chOff x="3792" y="1824"/>
            <a:chExt cx="741" cy="672"/>
          </a:xfrm>
        </p:grpSpPr>
        <p:graphicFrame>
          <p:nvGraphicFramePr>
            <p:cNvPr id="21" name="Object 39"/>
            <p:cNvGraphicFramePr>
              <a:graphicFrameLocks noChangeAspect="1"/>
            </p:cNvGraphicFramePr>
            <p:nvPr/>
          </p:nvGraphicFramePr>
          <p:xfrm>
            <a:off x="4224" y="1824"/>
            <a:ext cx="309" cy="404"/>
          </p:xfrm>
          <a:graphic>
            <a:graphicData uri="http://schemas.openxmlformats.org/presentationml/2006/ole">
              <p:oleObj spid="_x0000_s37918" name="Equation" r:id="rId6" imgW="3962400" imgH="5181600" progId="">
                <p:embed/>
              </p:oleObj>
            </a:graphicData>
          </a:graphic>
        </p:graphicFrame>
        <p:sp>
          <p:nvSpPr>
            <p:cNvPr id="22" name="Line 40"/>
            <p:cNvSpPr>
              <a:spLocks noChangeShapeType="1"/>
            </p:cNvSpPr>
            <p:nvPr/>
          </p:nvSpPr>
          <p:spPr bwMode="auto">
            <a:xfrm flipV="1">
              <a:off x="3792" y="2160"/>
              <a:ext cx="432" cy="33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Group 44"/>
          <p:cNvGrpSpPr/>
          <p:nvPr/>
        </p:nvGrpSpPr>
        <p:grpSpPr bwMode="auto">
          <a:xfrm>
            <a:off x="4303350" y="2902096"/>
            <a:ext cx="1365250" cy="1338264"/>
            <a:chOff x="2736" y="1888"/>
            <a:chExt cx="860" cy="843"/>
          </a:xfrm>
        </p:grpSpPr>
        <p:graphicFrame>
          <p:nvGraphicFramePr>
            <p:cNvPr id="24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3540816171"/>
                </p:ext>
              </p:extLst>
            </p:nvPr>
          </p:nvGraphicFramePr>
          <p:xfrm>
            <a:off x="2736" y="1888"/>
            <a:ext cx="410" cy="432"/>
          </p:xfrm>
          <a:graphic>
            <a:graphicData uri="http://schemas.openxmlformats.org/presentationml/2006/ole">
              <p:oleObj spid="_x0000_s37919" name="Equation" r:id="rId7" imgW="5791200" imgH="6096000" progId="">
                <p:embed/>
              </p:oleObj>
            </a:graphicData>
          </a:graphic>
        </p:graphicFrame>
        <p:sp>
          <p:nvSpPr>
            <p:cNvPr id="25" name="Line 43"/>
            <p:cNvSpPr>
              <a:spLocks noChangeShapeType="1"/>
            </p:cNvSpPr>
            <p:nvPr/>
          </p:nvSpPr>
          <p:spPr bwMode="auto">
            <a:xfrm>
              <a:off x="2972" y="2251"/>
              <a:ext cx="624" cy="48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47"/>
          <p:cNvGrpSpPr/>
          <p:nvPr/>
        </p:nvGrpSpPr>
        <p:grpSpPr bwMode="auto">
          <a:xfrm>
            <a:off x="4264304" y="1412776"/>
            <a:ext cx="1524000" cy="990600"/>
            <a:chOff x="2832" y="1104"/>
            <a:chExt cx="960" cy="624"/>
          </a:xfrm>
        </p:grpSpPr>
        <p:graphicFrame>
          <p:nvGraphicFramePr>
            <p:cNvPr id="27" name="Object 45"/>
            <p:cNvGraphicFramePr>
              <a:graphicFrameLocks noChangeAspect="1"/>
            </p:cNvGraphicFramePr>
            <p:nvPr/>
          </p:nvGraphicFramePr>
          <p:xfrm>
            <a:off x="2832" y="1104"/>
            <a:ext cx="356" cy="432"/>
          </p:xfrm>
          <a:graphic>
            <a:graphicData uri="http://schemas.openxmlformats.org/presentationml/2006/ole">
              <p:oleObj spid="_x0000_s37920" name="Equation" r:id="rId8" imgW="4267200" imgH="5181600" progId="">
                <p:embed/>
              </p:oleObj>
            </a:graphicData>
          </a:graphic>
        </p:graphicFrame>
        <p:sp>
          <p:nvSpPr>
            <p:cNvPr id="28" name="Line 46"/>
            <p:cNvSpPr>
              <a:spLocks noChangeShapeType="1"/>
            </p:cNvSpPr>
            <p:nvPr/>
          </p:nvSpPr>
          <p:spPr bwMode="auto">
            <a:xfrm>
              <a:off x="3168" y="1440"/>
              <a:ext cx="624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" name="Text Box 5"/>
          <p:cNvSpPr txBox="1">
            <a:spLocks noChangeArrowheads="1"/>
          </p:cNvSpPr>
          <p:nvPr/>
        </p:nvSpPr>
        <p:spPr bwMode="auto">
          <a:xfrm>
            <a:off x="1057652" y="2711613"/>
            <a:ext cx="18069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②  </a:t>
            </a:r>
            <a:r>
              <a:rPr lang="zh-CN" altLang="en-US" sz="2800" b="1" dirty="0" smtClean="0">
                <a:solidFill>
                  <a:srgbClr val="FF3300"/>
                </a:solidFill>
              </a:rPr>
              <a:t>对称性</a:t>
            </a:r>
            <a:endParaRPr lang="zh-CN" altLang="en-US" sz="2800" b="1" dirty="0"/>
          </a:p>
        </p:txBody>
      </p:sp>
      <p:sp>
        <p:nvSpPr>
          <p:cNvPr id="30" name="Text Box 8"/>
          <p:cNvSpPr txBox="1">
            <a:spLocks noChangeArrowheads="1"/>
          </p:cNvSpPr>
          <p:nvPr/>
        </p:nvSpPr>
        <p:spPr bwMode="auto">
          <a:xfrm>
            <a:off x="1075016" y="3596966"/>
            <a:ext cx="18069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③  </a:t>
            </a:r>
            <a:r>
              <a:rPr lang="zh-CN" altLang="en-US" sz="2800" b="1" dirty="0">
                <a:solidFill>
                  <a:srgbClr val="FF3300"/>
                </a:solidFill>
              </a:rPr>
              <a:t>有界</a:t>
            </a:r>
            <a:r>
              <a:rPr lang="zh-CN" altLang="en-US" sz="2800" b="1" dirty="0" smtClean="0">
                <a:solidFill>
                  <a:srgbClr val="FF3300"/>
                </a:solidFill>
              </a:rPr>
              <a:t>性</a:t>
            </a:r>
            <a:endParaRPr lang="zh-CN" altLang="en-US" sz="2800" b="1" dirty="0"/>
          </a:p>
        </p:txBody>
      </p:sp>
      <p:sp>
        <p:nvSpPr>
          <p:cNvPr id="32" name="Text Box 16"/>
          <p:cNvSpPr txBox="1">
            <a:spLocks noChangeArrowheads="1"/>
          </p:cNvSpPr>
          <p:nvPr/>
        </p:nvSpPr>
        <p:spPr bwMode="auto">
          <a:xfrm>
            <a:off x="989992" y="4403778"/>
            <a:ext cx="2224686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 ④  </a:t>
            </a:r>
            <a:r>
              <a:rPr lang="zh-CN" altLang="en-US" sz="2800" b="1" dirty="0">
                <a:solidFill>
                  <a:srgbClr val="FF3300"/>
                </a:solidFill>
              </a:rPr>
              <a:t>抵偿</a:t>
            </a:r>
            <a:r>
              <a:rPr lang="zh-CN" altLang="en-US" sz="2800" b="1" dirty="0" smtClean="0">
                <a:solidFill>
                  <a:srgbClr val="FF3300"/>
                </a:solidFill>
              </a:rPr>
              <a:t>性</a:t>
            </a:r>
            <a:endParaRPr lang="zh-CN" altLang="en-US" sz="2800" b="1" dirty="0"/>
          </a:p>
        </p:txBody>
      </p:sp>
      <p:grpSp>
        <p:nvGrpSpPr>
          <p:cNvPr id="33" name="组合 29"/>
          <p:cNvGrpSpPr/>
          <p:nvPr/>
        </p:nvGrpSpPr>
        <p:grpSpPr bwMode="auto">
          <a:xfrm>
            <a:off x="3563888" y="1340768"/>
            <a:ext cx="4940424" cy="4328258"/>
            <a:chOff x="3969888" y="2621271"/>
            <a:chExt cx="4321175" cy="3702050"/>
          </a:xfrm>
        </p:grpSpPr>
        <p:pic>
          <p:nvPicPr>
            <p:cNvPr id="47" name="Picture 12" descr="图02-13正态分布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4500" t="3744" r="5501"/>
            <a:stretch>
              <a:fillRect/>
            </a:stretch>
          </p:blipFill>
          <p:spPr bwMode="auto">
            <a:xfrm>
              <a:off x="3969888" y="2621271"/>
              <a:ext cx="4321175" cy="370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5" name="组合 5"/>
            <p:cNvGrpSpPr/>
            <p:nvPr/>
          </p:nvGrpSpPr>
          <p:grpSpPr bwMode="auto">
            <a:xfrm>
              <a:off x="5436096" y="4429472"/>
              <a:ext cx="936104" cy="1087760"/>
              <a:chOff x="5364088" y="4285456"/>
              <a:chExt cx="936104" cy="1087760"/>
            </a:xfrm>
          </p:grpSpPr>
          <p:cxnSp>
            <p:nvCxnSpPr>
              <p:cNvPr id="44" name="直接连接符 2"/>
              <p:cNvCxnSpPr>
                <a:cxnSpLocks noChangeShapeType="1"/>
              </p:cNvCxnSpPr>
              <p:nvPr/>
            </p:nvCxnSpPr>
            <p:spPr bwMode="auto">
              <a:xfrm>
                <a:off x="5364088" y="4285456"/>
                <a:ext cx="0" cy="108776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" name="直接连接符 16"/>
              <p:cNvCxnSpPr>
                <a:cxnSpLocks noChangeShapeType="1"/>
              </p:cNvCxnSpPr>
              <p:nvPr/>
            </p:nvCxnSpPr>
            <p:spPr bwMode="auto">
              <a:xfrm>
                <a:off x="6300192" y="4285456"/>
                <a:ext cx="0" cy="108776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6" name="直接连接符 4"/>
              <p:cNvCxnSpPr>
                <a:cxnSpLocks noChangeShapeType="1"/>
              </p:cNvCxnSpPr>
              <p:nvPr/>
            </p:nvCxnSpPr>
            <p:spPr bwMode="auto">
              <a:xfrm>
                <a:off x="5364088" y="4285456"/>
                <a:ext cx="936104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36" name="直接箭头连接符 7"/>
            <p:cNvCxnSpPr>
              <a:cxnSpLocks noChangeShapeType="1"/>
            </p:cNvCxnSpPr>
            <p:nvPr/>
          </p:nvCxnSpPr>
          <p:spPr bwMode="auto">
            <a:xfrm>
              <a:off x="5076056" y="5065712"/>
              <a:ext cx="36004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直接连接符 9"/>
            <p:cNvCxnSpPr>
              <a:cxnSpLocks noChangeShapeType="1"/>
            </p:cNvCxnSpPr>
            <p:nvPr/>
          </p:nvCxnSpPr>
          <p:spPr bwMode="auto">
            <a:xfrm>
              <a:off x="5436096" y="5065712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直接箭头连接符 14"/>
            <p:cNvCxnSpPr>
              <a:cxnSpLocks noChangeShapeType="1"/>
            </p:cNvCxnSpPr>
            <p:nvPr/>
          </p:nvCxnSpPr>
          <p:spPr bwMode="auto">
            <a:xfrm flipH="1">
              <a:off x="6300192" y="5065712"/>
              <a:ext cx="432048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" name="TextBox 16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364088" y="4604047"/>
              <a:ext cx="586956" cy="461665"/>
            </a:xfrm>
            <a:prstGeom prst="rect">
              <a:avLst/>
            </a:prstGeom>
            <a:blipFill rotWithShape="1">
              <a:blip r:embed="rId9" cstate="print"/>
              <a:stretch>
                <a:fillRect b="-1316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40" name="TextBox 17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864369" y="4629524"/>
              <a:ext cx="579839" cy="461665"/>
            </a:xfrm>
            <a:prstGeom prst="rect">
              <a:avLst/>
            </a:prstGeom>
            <a:blipFill rotWithShape="1">
              <a:blip r:embed="rId10" cstate="print"/>
              <a:stretch>
                <a:fillRect b="-1316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41" name="椭圆 22"/>
            <p:cNvSpPr>
              <a:spLocks noChangeArrowheads="1"/>
            </p:cNvSpPr>
            <p:nvPr/>
          </p:nvSpPr>
          <p:spPr bwMode="auto">
            <a:xfrm>
              <a:off x="5868144" y="5025187"/>
              <a:ext cx="124780" cy="13200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2" name="直接箭头连接符 26"/>
            <p:cNvCxnSpPr>
              <a:cxnSpLocks noChangeShapeType="1"/>
            </p:cNvCxnSpPr>
            <p:nvPr/>
          </p:nvCxnSpPr>
          <p:spPr bwMode="auto">
            <a:xfrm>
              <a:off x="4668388" y="3501008"/>
              <a:ext cx="1195981" cy="92846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" name="TextBox 20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4067944" y="3039343"/>
              <a:ext cx="1542766" cy="461665"/>
            </a:xfrm>
            <a:prstGeom prst="rect">
              <a:avLst/>
            </a:prstGeom>
            <a:blipFill rotWithShape="1">
              <a:blip r:embed="rId11" cstate="print"/>
              <a:stretch>
                <a:fillRect l="-791" t="-10526" b="-28947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00"/>
                            </p:stCondLst>
                            <p:childTnLst>
                              <p:par>
                                <p:cTn id="5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29" grpId="0" autoUpdateAnimBg="0"/>
      <p:bldP spid="30" grpId="0" autoUpdateAnimBg="0"/>
      <p:bldP spid="3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15</a:t>
            </a:fld>
            <a:endParaRPr lang="en-US" altLang="zh-CN" sz="140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475656" y="332656"/>
            <a:ext cx="5544616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正态分布曲线的密度函数数学</a:t>
            </a:r>
            <a:r>
              <a:rPr lang="zh-CN" altLang="en-US" sz="2800" b="1" dirty="0" smtClean="0"/>
              <a:t>式</a:t>
            </a:r>
            <a:endParaRPr lang="zh-CN" altLang="en-US" sz="2800" b="1" dirty="0"/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487838" y="1340768"/>
          <a:ext cx="3668338" cy="1512168"/>
        </p:xfrm>
        <a:graphic>
          <a:graphicData uri="http://schemas.openxmlformats.org/presentationml/2006/ole">
            <p:oleObj spid="_x0000_s46116" name="Equation" r:id="rId3" imgW="24688800" imgH="11582400" progId="">
              <p:embed/>
            </p:oleObj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/>
        </p:nvGraphicFramePr>
        <p:xfrm>
          <a:off x="1928794" y="3181908"/>
          <a:ext cx="3291278" cy="463116"/>
        </p:xfrm>
        <a:graphic>
          <a:graphicData uri="http://schemas.openxmlformats.org/presentationml/2006/ole">
            <p:oleObj spid="_x0000_s46117" name="Equation" r:id="rId4" imgW="36880800" imgH="5181600" progId="">
              <p:embed/>
            </p:oleObj>
          </a:graphicData>
        </a:graphic>
      </p:graphicFrame>
      <p:graphicFrame>
        <p:nvGraphicFramePr>
          <p:cNvPr id="8" name="Object 11"/>
          <p:cNvGraphicFramePr>
            <a:graphicFrameLocks noChangeAspect="1"/>
          </p:cNvGraphicFramePr>
          <p:nvPr/>
        </p:nvGraphicFramePr>
        <p:xfrm>
          <a:off x="1928794" y="3830769"/>
          <a:ext cx="3435294" cy="436032"/>
        </p:xfrm>
        <a:graphic>
          <a:graphicData uri="http://schemas.openxmlformats.org/presentationml/2006/ole">
            <p:oleObj spid="_x0000_s46118" name="Equation" r:id="rId5" imgW="38404800" imgH="4876800" progId="">
              <p:embed/>
            </p:oleObj>
          </a:graphicData>
        </a:graphic>
      </p:graphicFrame>
      <p:graphicFrame>
        <p:nvGraphicFramePr>
          <p:cNvPr id="9" name="Object 12"/>
          <p:cNvGraphicFramePr>
            <a:graphicFrameLocks noChangeAspect="1"/>
          </p:cNvGraphicFramePr>
          <p:nvPr/>
        </p:nvGraphicFramePr>
        <p:xfrm>
          <a:off x="2857488" y="4479343"/>
          <a:ext cx="2385689" cy="438604"/>
        </p:xfrm>
        <a:graphic>
          <a:graphicData uri="http://schemas.openxmlformats.org/presentationml/2006/ole">
            <p:oleObj spid="_x0000_s46119" name="Equation" r:id="rId6" imgW="26517600" imgH="4876800" progId="">
              <p:embed/>
            </p:oleObj>
          </a:graphicData>
        </a:graphic>
      </p:graphicFrame>
      <p:graphicFrame>
        <p:nvGraphicFramePr>
          <p:cNvPr id="10" name="Object 13"/>
          <p:cNvGraphicFramePr>
            <a:graphicFrameLocks noChangeAspect="1"/>
          </p:cNvGraphicFramePr>
          <p:nvPr/>
        </p:nvGraphicFramePr>
        <p:xfrm>
          <a:off x="2714612" y="4903232"/>
          <a:ext cx="3802174" cy="1133431"/>
        </p:xfrm>
        <a:graphic>
          <a:graphicData uri="http://schemas.openxmlformats.org/presentationml/2006/ole">
            <p:oleObj spid="_x0000_s46120" name="Equation" r:id="rId7" imgW="42976800" imgH="128016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16</a:t>
            </a:fld>
            <a:endParaRPr lang="en-US" altLang="zh-CN" sz="1400"/>
          </a:p>
        </p:txBody>
      </p:sp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1259632" y="2132856"/>
          <a:ext cx="2376264" cy="541201"/>
        </p:xfrm>
        <a:graphic>
          <a:graphicData uri="http://schemas.openxmlformats.org/presentationml/2006/ole">
            <p:oleObj spid="_x0000_s49195" name="Equation" r:id="rId3" imgW="21336000" imgH="4876800" progId="">
              <p:embed/>
            </p:oleObj>
          </a:graphicData>
        </a:graphic>
      </p:graphicFrame>
      <p:graphicFrame>
        <p:nvGraphicFramePr>
          <p:cNvPr id="7" name="Object 11"/>
          <p:cNvGraphicFramePr>
            <a:graphicFrameLocks noChangeAspect="1"/>
          </p:cNvGraphicFramePr>
          <p:nvPr/>
        </p:nvGraphicFramePr>
        <p:xfrm>
          <a:off x="1115616" y="2924944"/>
          <a:ext cx="935062" cy="679551"/>
        </p:xfrm>
        <a:graphic>
          <a:graphicData uri="http://schemas.openxmlformats.org/presentationml/2006/ole">
            <p:oleObj spid="_x0000_s49196" name="Equation" r:id="rId4" imgW="6705600" imgH="4876800" progId="">
              <p:embed/>
            </p:oleObj>
          </a:graphicData>
        </a:graphic>
      </p:graphicFrame>
      <p:grpSp>
        <p:nvGrpSpPr>
          <p:cNvPr id="8" name="Group 24"/>
          <p:cNvGrpSpPr/>
          <p:nvPr/>
        </p:nvGrpSpPr>
        <p:grpSpPr bwMode="auto">
          <a:xfrm>
            <a:off x="4355976" y="2383432"/>
            <a:ext cx="4343400" cy="3925888"/>
            <a:chOff x="2688" y="1248"/>
            <a:chExt cx="2736" cy="2473"/>
          </a:xfrm>
        </p:grpSpPr>
        <p:pic>
          <p:nvPicPr>
            <p:cNvPr id="9" name="Picture 4" descr="图02-14分布形状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8" y="1248"/>
              <a:ext cx="2736" cy="2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Box 12"/>
            <p:cNvSpPr txBox="1">
              <a:spLocks noChangeArrowheads="1"/>
            </p:cNvSpPr>
            <p:nvPr/>
          </p:nvSpPr>
          <p:spPr bwMode="auto">
            <a:xfrm>
              <a:off x="3201" y="3471"/>
              <a:ext cx="167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 smtClean="0"/>
                <a:t>分布</a:t>
              </a:r>
              <a:r>
                <a:rPr lang="zh-CN" altLang="en-US" sz="2000" b="1" dirty="0"/>
                <a:t>形状与</a:t>
              </a:r>
              <a:r>
                <a:rPr lang="en-US" altLang="zh-CN" sz="2000" b="1" i="1" dirty="0"/>
                <a:t>σ</a:t>
              </a:r>
              <a:r>
                <a:rPr lang="en-US" altLang="zh-CN" sz="2000" b="1" dirty="0"/>
                <a:t> </a:t>
              </a:r>
              <a:r>
                <a:rPr lang="zh-CN" altLang="en-US" sz="2000" b="1" dirty="0"/>
                <a:t>的关系</a:t>
              </a:r>
            </a:p>
          </p:txBody>
        </p:sp>
      </p:grp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1331640" y="5013176"/>
            <a:ext cx="2928958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FF3300"/>
                </a:solidFill>
              </a:rPr>
              <a:t>测得值越集中，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FF3300"/>
                </a:solidFill>
              </a:rPr>
              <a:t>即测量精度越高</a:t>
            </a:r>
            <a:r>
              <a:rPr lang="zh-CN" altLang="en-US" sz="2800" dirty="0"/>
              <a:t>。</a:t>
            </a:r>
          </a:p>
        </p:txBody>
      </p:sp>
      <p:graphicFrame>
        <p:nvGraphicFramePr>
          <p:cNvPr id="12" name="Object 19"/>
          <p:cNvGraphicFramePr>
            <a:graphicFrameLocks noChangeAspect="1"/>
          </p:cNvGraphicFramePr>
          <p:nvPr/>
        </p:nvGraphicFramePr>
        <p:xfrm>
          <a:off x="827584" y="904621"/>
          <a:ext cx="3010296" cy="1156227"/>
        </p:xfrm>
        <a:graphic>
          <a:graphicData uri="http://schemas.openxmlformats.org/presentationml/2006/ole">
            <p:oleObj spid="_x0000_s49197" name="Equation" r:id="rId6" imgW="30175200" imgH="11582400" progId="">
              <p:embed/>
            </p:oleObj>
          </a:graphicData>
        </a:graphic>
      </p:graphicFrame>
      <p:graphicFrame>
        <p:nvGraphicFramePr>
          <p:cNvPr id="13" name="Object 21"/>
          <p:cNvGraphicFramePr>
            <a:graphicFrameLocks noChangeAspect="1"/>
          </p:cNvGraphicFramePr>
          <p:nvPr/>
        </p:nvGraphicFramePr>
        <p:xfrm>
          <a:off x="4207702" y="1257516"/>
          <a:ext cx="3460642" cy="1163372"/>
        </p:xfrm>
        <a:graphic>
          <a:graphicData uri="http://schemas.openxmlformats.org/presentationml/2006/ole">
            <p:oleObj spid="_x0000_s49198" name="Equation" r:id="rId7" imgW="29870400" imgH="10058400" progId="">
              <p:embed/>
            </p:oleObj>
          </a:graphicData>
        </a:graphic>
      </p:graphicFrame>
      <p:graphicFrame>
        <p:nvGraphicFramePr>
          <p:cNvPr id="1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053471570"/>
              </p:ext>
            </p:extLst>
          </p:nvPr>
        </p:nvGraphicFramePr>
        <p:xfrm>
          <a:off x="1428728" y="3946806"/>
          <a:ext cx="2567208" cy="917077"/>
        </p:xfrm>
        <a:graphic>
          <a:graphicData uri="http://schemas.openxmlformats.org/presentationml/2006/ole">
            <p:oleObj spid="_x0000_s49199" name="Equation" r:id="rId8" imgW="30784800" imgH="10972800" progId="">
              <p:embed/>
            </p:oleObj>
          </a:graphicData>
        </a:graphic>
      </p:graphicFrame>
      <p:graphicFrame>
        <p:nvGraphicFramePr>
          <p:cNvPr id="15" name="Object 23"/>
          <p:cNvGraphicFramePr>
            <a:graphicFrameLocks noChangeAspect="1"/>
          </p:cNvGraphicFramePr>
          <p:nvPr/>
        </p:nvGraphicFramePr>
        <p:xfrm>
          <a:off x="2330079" y="2924944"/>
          <a:ext cx="1928810" cy="779397"/>
        </p:xfrm>
        <a:graphic>
          <a:graphicData uri="http://schemas.openxmlformats.org/presentationml/2006/ole">
            <p:oleObj spid="_x0000_s49200" name="Equation" r:id="rId9" imgW="14325600" imgH="57912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17</a:t>
            </a:fld>
            <a:endParaRPr lang="en-US" altLang="zh-CN" sz="1400"/>
          </a:p>
        </p:txBody>
      </p:sp>
      <p:graphicFrame>
        <p:nvGraphicFramePr>
          <p:cNvPr id="5" name="Object 8"/>
          <p:cNvGraphicFramePr>
            <a:graphicFrameLocks noChangeAspect="1"/>
          </p:cNvGraphicFramePr>
          <p:nvPr/>
        </p:nvGraphicFramePr>
        <p:xfrm>
          <a:off x="785786" y="1195156"/>
          <a:ext cx="3444902" cy="721675"/>
        </p:xfrm>
        <a:graphic>
          <a:graphicData uri="http://schemas.openxmlformats.org/presentationml/2006/ole">
            <p:oleObj spid="_x0000_s50198" name="Equation" r:id="rId4" imgW="26212800" imgH="5486400" progId="">
              <p:embed/>
            </p:oleObj>
          </a:graphicData>
        </a:graphic>
      </p:graphicFrame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926554" y="4977458"/>
            <a:ext cx="338437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</a:rPr>
              <a:t>    可见</a:t>
            </a:r>
            <a:r>
              <a:rPr lang="zh-CN" altLang="en-US" sz="2800" b="1" dirty="0" smtClean="0">
                <a:solidFill>
                  <a:srgbClr val="FF3300"/>
                </a:solidFill>
              </a:rPr>
              <a:t>, </a:t>
            </a:r>
            <a:r>
              <a:rPr lang="en-US" altLang="zh-CN" sz="2800" b="1" i="1" dirty="0" smtClean="0">
                <a:solidFill>
                  <a:srgbClr val="FF3300"/>
                </a:solidFill>
              </a:rPr>
              <a:t>σ</a:t>
            </a:r>
            <a:r>
              <a:rPr lang="zh-CN" altLang="en-US" sz="2800" b="1" dirty="0" smtClean="0">
                <a:solidFill>
                  <a:srgbClr val="FF3300"/>
                </a:solidFill>
              </a:rPr>
              <a:t>表征测量精度</a:t>
            </a:r>
            <a:r>
              <a:rPr lang="zh-CN" altLang="en-US" sz="2800" b="1" dirty="0">
                <a:solidFill>
                  <a:srgbClr val="FF3300"/>
                </a:solidFill>
              </a:rPr>
              <a:t>高低。</a:t>
            </a:r>
          </a:p>
        </p:txBody>
      </p:sp>
      <p:graphicFrame>
        <p:nvGraphicFramePr>
          <p:cNvPr id="7" name="Object 10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p:oleObj spid="_x0000_s50199" name="Equation" r:id="rId5" imgW="2743200" imgH="5181600" progId="">
              <p:embed/>
            </p:oleObj>
          </a:graphicData>
        </a:graphic>
      </p:graphicFrame>
      <p:graphicFrame>
        <p:nvGraphicFramePr>
          <p:cNvPr id="8" name="Object 11"/>
          <p:cNvGraphicFramePr>
            <a:graphicFrameLocks noChangeAspect="1"/>
          </p:cNvGraphicFramePr>
          <p:nvPr/>
        </p:nvGraphicFramePr>
        <p:xfrm>
          <a:off x="1214414" y="2052996"/>
          <a:ext cx="2781522" cy="799940"/>
        </p:xfrm>
        <a:graphic>
          <a:graphicData uri="http://schemas.openxmlformats.org/presentationml/2006/ole">
            <p:oleObj spid="_x0000_s50200" name="Equation" r:id="rId6" imgW="20116800" imgH="5791200" progId="">
              <p:embed/>
            </p:oleObj>
          </a:graphicData>
        </a:graphic>
      </p:graphicFrame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896939" y="3192463"/>
            <a:ext cx="3403627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        分布曲线越平坦，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FF3300"/>
                </a:solidFill>
              </a:rPr>
              <a:t>测得值越分散，测量精度越低</a:t>
            </a:r>
            <a:r>
              <a:rPr lang="zh-CN" altLang="en-US" sz="2800" b="1" dirty="0"/>
              <a:t>。</a:t>
            </a:r>
          </a:p>
        </p:txBody>
      </p:sp>
      <p:grpSp>
        <p:nvGrpSpPr>
          <p:cNvPr id="10" name="Group 13"/>
          <p:cNvGrpSpPr/>
          <p:nvPr/>
        </p:nvGrpSpPr>
        <p:grpSpPr bwMode="auto">
          <a:xfrm>
            <a:off x="4200556" y="1027131"/>
            <a:ext cx="4800600" cy="5045075"/>
            <a:chOff x="2352" y="576"/>
            <a:chExt cx="3024" cy="3178"/>
          </a:xfrm>
        </p:grpSpPr>
        <p:pic>
          <p:nvPicPr>
            <p:cNvPr id="11" name="Picture 5" descr="图02-14分布形状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2" y="576"/>
              <a:ext cx="3024" cy="2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2736" y="3504"/>
              <a:ext cx="240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 smtClean="0"/>
                <a:t>     分布</a:t>
              </a:r>
              <a:r>
                <a:rPr lang="zh-CN" altLang="en-US" sz="2000" b="1" dirty="0"/>
                <a:t>形状与</a:t>
              </a:r>
              <a:r>
                <a:rPr lang="en-US" altLang="zh-CN" sz="2000" b="1" i="1" dirty="0"/>
                <a:t>σ</a:t>
              </a:r>
              <a:r>
                <a:rPr lang="en-US" altLang="zh-CN" sz="2000" b="1" dirty="0"/>
                <a:t> </a:t>
              </a:r>
              <a:r>
                <a:rPr lang="zh-CN" altLang="en-US" sz="2000" b="1" dirty="0"/>
                <a:t>的关系</a:t>
              </a:r>
            </a:p>
          </p:txBody>
        </p:sp>
      </p:grpSp>
      <p:sp>
        <p:nvSpPr>
          <p:cNvPr id="13" name="矩形 12"/>
          <p:cNvSpPr/>
          <p:nvPr/>
        </p:nvSpPr>
        <p:spPr>
          <a:xfrm>
            <a:off x="2363482" y="332656"/>
            <a:ext cx="45127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/>
              <a:t>三种不同测量精度分布曲线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18</a:t>
            </a:fld>
            <a:endParaRPr lang="en-US" altLang="zh-CN" sz="140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619672" y="332656"/>
            <a:ext cx="57606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 smtClean="0"/>
              <a:t>实际测量中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标准偏差</a:t>
            </a:r>
            <a:r>
              <a:rPr lang="zh-CN" altLang="en-US" sz="2800" b="1" dirty="0"/>
              <a:t>和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算术平均值</a:t>
            </a:r>
            <a:endParaRPr lang="zh-CN" altLang="en-US" sz="2800" b="1" dirty="0"/>
          </a:p>
        </p:txBody>
      </p:sp>
      <p:grpSp>
        <p:nvGrpSpPr>
          <p:cNvPr id="6" name="Group 7"/>
          <p:cNvGrpSpPr/>
          <p:nvPr/>
        </p:nvGrpSpPr>
        <p:grpSpPr bwMode="auto">
          <a:xfrm>
            <a:off x="1666894" y="1214760"/>
            <a:ext cx="5929313" cy="1854200"/>
            <a:chOff x="1536" y="816"/>
            <a:chExt cx="3735" cy="1168"/>
          </a:xfrm>
        </p:grpSpPr>
        <p:graphicFrame>
          <p:nvGraphicFramePr>
            <p:cNvPr id="7" name="Object 5"/>
            <p:cNvGraphicFramePr>
              <a:graphicFrameLocks noChangeAspect="1"/>
            </p:cNvGraphicFramePr>
            <p:nvPr/>
          </p:nvGraphicFramePr>
          <p:xfrm>
            <a:off x="1536" y="816"/>
            <a:ext cx="2016" cy="1168"/>
          </p:xfrm>
          <a:graphic>
            <a:graphicData uri="http://schemas.openxmlformats.org/presentationml/2006/ole">
              <p:oleObj spid="_x0000_s51236" name="Equation" r:id="rId3" imgW="26822400" imgH="15544800" progId="">
                <p:embed/>
              </p:oleObj>
            </a:graphicData>
          </a:graphic>
        </p:graphicFrame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4246" y="1292"/>
              <a:ext cx="1025" cy="33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 smtClean="0">
                  <a:solidFill>
                    <a:srgbClr val="FF0000"/>
                  </a:solidFill>
                </a:rPr>
                <a:t>标准偏差</a:t>
              </a:r>
              <a:endParaRPr lang="zh-CN" altLang="en-US" sz="28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Group 10"/>
          <p:cNvGrpSpPr/>
          <p:nvPr/>
        </p:nvGrpSpPr>
        <p:grpSpPr bwMode="auto">
          <a:xfrm>
            <a:off x="1750789" y="3210545"/>
            <a:ext cx="6248401" cy="1298575"/>
            <a:chOff x="1632" y="2016"/>
            <a:chExt cx="3936" cy="818"/>
          </a:xfrm>
        </p:grpSpPr>
        <p:graphicFrame>
          <p:nvGraphicFramePr>
            <p:cNvPr id="10" name="Object 8"/>
            <p:cNvGraphicFramePr>
              <a:graphicFrameLocks noChangeAspect="1"/>
            </p:cNvGraphicFramePr>
            <p:nvPr/>
          </p:nvGraphicFramePr>
          <p:xfrm>
            <a:off x="1632" y="2016"/>
            <a:ext cx="1324" cy="818"/>
          </p:xfrm>
          <a:graphic>
            <a:graphicData uri="http://schemas.openxmlformats.org/presentationml/2006/ole">
              <p:oleObj spid="_x0000_s51237" name="Equation" r:id="rId4" imgW="16764000" imgH="10363200" progId="">
                <p:embed/>
              </p:oleObj>
            </a:graphicData>
          </a:graphic>
        </p:graphicFrame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4316" y="2278"/>
              <a:ext cx="1252" cy="33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 smtClean="0">
                  <a:solidFill>
                    <a:srgbClr val="FF0000"/>
                  </a:solidFill>
                </a:rPr>
                <a:t>算数平均值</a:t>
              </a:r>
              <a:endParaRPr lang="zh-CN" altLang="en-US" sz="2800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2214546" y="5841471"/>
          <a:ext cx="4445686" cy="433863"/>
        </p:xfrm>
        <a:graphic>
          <a:graphicData uri="http://schemas.openxmlformats.org/presentationml/2006/ole">
            <p:oleObj spid="_x0000_s51238" name="Equation" r:id="rId5" imgW="49987200" imgH="4876800" progId="">
              <p:embed/>
            </p:oleObj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1357290" y="4793812"/>
          <a:ext cx="4294830" cy="484023"/>
        </p:xfrm>
        <a:graphic>
          <a:graphicData uri="http://schemas.openxmlformats.org/presentationml/2006/ole">
            <p:oleObj spid="_x0000_s51239" name="Equation" r:id="rId6" imgW="48768000" imgH="5486400" progId="">
              <p:embed/>
            </p:oleObj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2214546" y="5330408"/>
          <a:ext cx="3437004" cy="426338"/>
        </p:xfrm>
        <a:graphic>
          <a:graphicData uri="http://schemas.openxmlformats.org/presentationml/2006/ole">
            <p:oleObj spid="_x0000_s51240" name="Equation" r:id="rId7" imgW="39319200" imgH="48768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88224" y="6337126"/>
            <a:ext cx="2133600" cy="476250"/>
          </a:xfrm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8B962A3-7D74-4B87-A584-EBE942AA4183}" type="slidenum">
              <a:rPr kumimoji="0" lang="zh-CN" altLang="en-US" sz="2000" smtClean="0"/>
              <a:pPr eaLnBrk="1" hangingPunct="1"/>
              <a:t>19</a:t>
            </a:fld>
            <a:endParaRPr kumimoji="0" lang="en-US" altLang="zh-CN" sz="2000" dirty="0" smtClean="0"/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762000" y="252691"/>
            <a:ext cx="76263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由概率论可知，全部随机误差的概率之和为</a:t>
            </a:r>
          </a:p>
        </p:txBody>
      </p:sp>
      <p:graphicFrame>
        <p:nvGraphicFramePr>
          <p:cNvPr id="22541" name="Object 5"/>
          <p:cNvGraphicFramePr>
            <a:graphicFrameLocks noChangeAspect="1"/>
          </p:cNvGraphicFramePr>
          <p:nvPr/>
        </p:nvGraphicFramePr>
        <p:xfrm>
          <a:off x="1266844" y="826343"/>
          <a:ext cx="6019800" cy="1306513"/>
        </p:xfrm>
        <a:graphic>
          <a:graphicData uri="http://schemas.openxmlformats.org/presentationml/2006/ole">
            <p:oleObj spid="_x0000_s53284" name="Equation" r:id="rId3" imgW="53340000" imgH="11582400" progId="">
              <p:embed/>
            </p:oleObj>
          </a:graphicData>
        </a:graphic>
      </p:graphicFrame>
      <p:graphicFrame>
        <p:nvGraphicFramePr>
          <p:cNvPr id="38920" name="Object 8"/>
          <p:cNvGraphicFramePr>
            <a:graphicFrameLocks noChangeAspect="1"/>
          </p:cNvGraphicFramePr>
          <p:nvPr/>
        </p:nvGraphicFramePr>
        <p:xfrm>
          <a:off x="1219200" y="2286000"/>
          <a:ext cx="5210188" cy="406385"/>
        </p:xfrm>
        <a:graphic>
          <a:graphicData uri="http://schemas.openxmlformats.org/presentationml/2006/ole">
            <p:oleObj spid="_x0000_s53285" name="Equation" r:id="rId4" imgW="62484000" imgH="4876800" progId="">
              <p:embed/>
            </p:oleObj>
          </a:graphicData>
        </a:graphic>
      </p:graphicFrame>
      <p:graphicFrame>
        <p:nvGraphicFramePr>
          <p:cNvPr id="22539" name="Object 9"/>
          <p:cNvGraphicFramePr>
            <a:graphicFrameLocks noChangeAspect="1"/>
          </p:cNvGraphicFramePr>
          <p:nvPr/>
        </p:nvGraphicFramePr>
        <p:xfrm>
          <a:off x="2000264" y="2830517"/>
          <a:ext cx="4572000" cy="1241425"/>
        </p:xfrm>
        <a:graphic>
          <a:graphicData uri="http://schemas.openxmlformats.org/presentationml/2006/ole">
            <p:oleObj spid="_x0000_s53286" name="Equation" r:id="rId5" imgW="34137600" imgH="11582400" progId="">
              <p:embed/>
            </p:oleObj>
          </a:graphicData>
        </a:graphic>
      </p:graphicFrame>
      <p:graphicFrame>
        <p:nvGraphicFramePr>
          <p:cNvPr id="38924" name="Object 12"/>
          <p:cNvGraphicFramePr>
            <a:graphicFrameLocks noChangeAspect="1"/>
          </p:cNvGraphicFramePr>
          <p:nvPr/>
        </p:nvGraphicFramePr>
        <p:xfrm>
          <a:off x="1290637" y="4214818"/>
          <a:ext cx="4424371" cy="837824"/>
        </p:xfrm>
        <a:graphic>
          <a:graphicData uri="http://schemas.openxmlformats.org/presentationml/2006/ole">
            <p:oleObj spid="_x0000_s53287" name="Equation" r:id="rId6" imgW="41757600" imgH="9448800" progId="">
              <p:embed/>
            </p:oleObj>
          </a:graphicData>
        </a:graphic>
      </p:graphicFrame>
      <p:graphicFrame>
        <p:nvGraphicFramePr>
          <p:cNvPr id="22537" name="Object 13"/>
          <p:cNvGraphicFramePr>
            <a:graphicFrameLocks noChangeAspect="1"/>
          </p:cNvGraphicFramePr>
          <p:nvPr/>
        </p:nvGraphicFramePr>
        <p:xfrm>
          <a:off x="1428728" y="5143512"/>
          <a:ext cx="6477000" cy="1108075"/>
        </p:xfrm>
        <a:graphic>
          <a:graphicData uri="http://schemas.openxmlformats.org/presentationml/2006/ole">
            <p:oleObj spid="_x0000_s53288" name="Equation" r:id="rId7" imgW="61264800" imgH="112776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0040"/>
          </a:xfrm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30BDE5C-E8C1-435F-A436-DBA646928C22}" type="slidenum">
              <a:rPr kumimoji="0" lang="zh-CN" altLang="en-US" sz="2000" smtClean="0"/>
              <a:pPr eaLnBrk="1" hangingPunct="1"/>
              <a:t>20</a:t>
            </a:fld>
            <a:endParaRPr kumimoji="0" lang="en-US" altLang="zh-CN" sz="2000" dirty="0" smtClean="0"/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1597487" y="1119830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 smtClean="0"/>
              <a:t>式中</a:t>
            </a:r>
            <a:endParaRPr lang="zh-CN" altLang="en-US" sz="2800" dirty="0"/>
          </a:p>
        </p:txBody>
      </p:sp>
      <p:graphicFrame>
        <p:nvGraphicFramePr>
          <p:cNvPr id="23593" name="Object 5"/>
          <p:cNvGraphicFramePr>
            <a:graphicFrameLocks noChangeAspect="1"/>
          </p:cNvGraphicFramePr>
          <p:nvPr/>
        </p:nvGraphicFramePr>
        <p:xfrm>
          <a:off x="2687077" y="868046"/>
          <a:ext cx="4313815" cy="1120794"/>
        </p:xfrm>
        <a:graphic>
          <a:graphicData uri="http://schemas.openxmlformats.org/presentationml/2006/ole">
            <p:oleObj spid="_x0000_s54294" name="Equation" r:id="rId3" imgW="29565600" imgH="11277600" progId="">
              <p:embed/>
            </p:oleObj>
          </a:graphicData>
        </a:graphic>
      </p:graphicFrame>
      <p:graphicFrame>
        <p:nvGraphicFramePr>
          <p:cNvPr id="46089" name="Object 9"/>
          <p:cNvGraphicFramePr>
            <a:graphicFrameLocks noChangeAspect="1"/>
          </p:cNvGraphicFramePr>
          <p:nvPr/>
        </p:nvGraphicFramePr>
        <p:xfrm>
          <a:off x="1214414" y="2714620"/>
          <a:ext cx="5072098" cy="457017"/>
        </p:xfrm>
        <a:graphic>
          <a:graphicData uri="http://schemas.openxmlformats.org/presentationml/2006/ole">
            <p:oleObj spid="_x0000_s54295" name="Equation" r:id="rId4" imgW="57607200" imgH="5181600" progId="">
              <p:embed/>
            </p:oleObj>
          </a:graphicData>
        </a:graphic>
      </p:graphicFrame>
      <p:grpSp>
        <p:nvGrpSpPr>
          <p:cNvPr id="46152" name="Group 72"/>
          <p:cNvGrpSpPr/>
          <p:nvPr/>
        </p:nvGrpSpPr>
        <p:grpSpPr bwMode="auto">
          <a:xfrm>
            <a:off x="755650" y="3298992"/>
            <a:ext cx="7543800" cy="2970213"/>
            <a:chOff x="624" y="2199"/>
            <a:chExt cx="4752" cy="1871"/>
          </a:xfrm>
        </p:grpSpPr>
        <p:sp>
          <p:nvSpPr>
            <p:cNvPr id="23560" name="Rectangle 30"/>
            <p:cNvSpPr>
              <a:spLocks noChangeArrowheads="1"/>
            </p:cNvSpPr>
            <p:nvPr/>
          </p:nvSpPr>
          <p:spPr bwMode="auto">
            <a:xfrm>
              <a:off x="3696" y="3744"/>
              <a:ext cx="1680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/>
                <a:t>0.00064</a:t>
              </a:r>
            </a:p>
          </p:txBody>
        </p:sp>
        <p:sp>
          <p:nvSpPr>
            <p:cNvPr id="23561" name="Rectangle 29"/>
            <p:cNvSpPr>
              <a:spLocks noChangeArrowheads="1"/>
            </p:cNvSpPr>
            <p:nvPr/>
          </p:nvSpPr>
          <p:spPr bwMode="auto">
            <a:xfrm>
              <a:off x="1872" y="3744"/>
              <a:ext cx="1824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/>
                <a:t>0.99936</a:t>
              </a:r>
            </a:p>
          </p:txBody>
        </p:sp>
        <p:sp>
          <p:nvSpPr>
            <p:cNvPr id="23562" name="Rectangle 28"/>
            <p:cNvSpPr>
              <a:spLocks noChangeArrowheads="1"/>
            </p:cNvSpPr>
            <p:nvPr/>
          </p:nvSpPr>
          <p:spPr bwMode="auto">
            <a:xfrm>
              <a:off x="1104" y="3744"/>
              <a:ext cx="76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/>
                <a:t>4 </a:t>
              </a:r>
              <a:r>
                <a:rPr lang="en-US" altLang="zh-CN" sz="2800" i="1"/>
                <a:t>σ</a:t>
              </a:r>
              <a:endParaRPr lang="zh-CN" altLang="en-US" sz="2800" i="1"/>
            </a:p>
          </p:txBody>
        </p:sp>
        <p:sp>
          <p:nvSpPr>
            <p:cNvPr id="23563" name="Rectangle 27"/>
            <p:cNvSpPr>
              <a:spLocks noChangeArrowheads="1"/>
            </p:cNvSpPr>
            <p:nvPr/>
          </p:nvSpPr>
          <p:spPr bwMode="auto">
            <a:xfrm>
              <a:off x="624" y="3744"/>
              <a:ext cx="480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/>
                <a:t>4</a:t>
              </a:r>
            </a:p>
          </p:txBody>
        </p:sp>
        <p:sp>
          <p:nvSpPr>
            <p:cNvPr id="23564" name="Rectangle 26"/>
            <p:cNvSpPr>
              <a:spLocks noChangeArrowheads="1"/>
            </p:cNvSpPr>
            <p:nvPr/>
          </p:nvSpPr>
          <p:spPr bwMode="auto">
            <a:xfrm>
              <a:off x="3696" y="3418"/>
              <a:ext cx="1680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/>
                <a:t>0.0027</a:t>
              </a:r>
            </a:p>
          </p:txBody>
        </p:sp>
        <p:sp>
          <p:nvSpPr>
            <p:cNvPr id="23565" name="Rectangle 25"/>
            <p:cNvSpPr>
              <a:spLocks noChangeArrowheads="1"/>
            </p:cNvSpPr>
            <p:nvPr/>
          </p:nvSpPr>
          <p:spPr bwMode="auto">
            <a:xfrm>
              <a:off x="1872" y="3418"/>
              <a:ext cx="1824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/>
                <a:t>0.9973</a:t>
              </a:r>
            </a:p>
          </p:txBody>
        </p:sp>
        <p:sp>
          <p:nvSpPr>
            <p:cNvPr id="23566" name="Rectangle 24"/>
            <p:cNvSpPr>
              <a:spLocks noChangeArrowheads="1"/>
            </p:cNvSpPr>
            <p:nvPr/>
          </p:nvSpPr>
          <p:spPr bwMode="auto">
            <a:xfrm>
              <a:off x="1104" y="3418"/>
              <a:ext cx="76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/>
                <a:t>3 </a:t>
              </a:r>
              <a:r>
                <a:rPr lang="en-US" altLang="zh-CN" sz="2800" i="1"/>
                <a:t>σ</a:t>
              </a:r>
              <a:endParaRPr lang="zh-CN" altLang="en-US" sz="2800" i="1"/>
            </a:p>
          </p:txBody>
        </p:sp>
        <p:sp>
          <p:nvSpPr>
            <p:cNvPr id="23567" name="Rectangle 23"/>
            <p:cNvSpPr>
              <a:spLocks noChangeArrowheads="1"/>
            </p:cNvSpPr>
            <p:nvPr/>
          </p:nvSpPr>
          <p:spPr bwMode="auto">
            <a:xfrm>
              <a:off x="624" y="3418"/>
              <a:ext cx="480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/>
                <a:t>3</a:t>
              </a:r>
            </a:p>
          </p:txBody>
        </p:sp>
        <p:sp>
          <p:nvSpPr>
            <p:cNvPr id="23568" name="Rectangle 22"/>
            <p:cNvSpPr>
              <a:spLocks noChangeArrowheads="1"/>
            </p:cNvSpPr>
            <p:nvPr/>
          </p:nvSpPr>
          <p:spPr bwMode="auto">
            <a:xfrm>
              <a:off x="3696" y="3078"/>
              <a:ext cx="168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/>
                <a:t>0.0456</a:t>
              </a:r>
            </a:p>
          </p:txBody>
        </p:sp>
        <p:sp>
          <p:nvSpPr>
            <p:cNvPr id="23569" name="Rectangle 21"/>
            <p:cNvSpPr>
              <a:spLocks noChangeArrowheads="1"/>
            </p:cNvSpPr>
            <p:nvPr/>
          </p:nvSpPr>
          <p:spPr bwMode="auto">
            <a:xfrm>
              <a:off x="1872" y="3078"/>
              <a:ext cx="1824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/>
                <a:t>0.9544</a:t>
              </a:r>
            </a:p>
          </p:txBody>
        </p:sp>
        <p:sp>
          <p:nvSpPr>
            <p:cNvPr id="23570" name="Rectangle 20"/>
            <p:cNvSpPr>
              <a:spLocks noChangeArrowheads="1"/>
            </p:cNvSpPr>
            <p:nvPr/>
          </p:nvSpPr>
          <p:spPr bwMode="auto">
            <a:xfrm>
              <a:off x="1104" y="3078"/>
              <a:ext cx="768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/>
                <a:t>2 </a:t>
              </a:r>
              <a:r>
                <a:rPr lang="en-US" altLang="zh-CN" sz="2800" i="1"/>
                <a:t>σ</a:t>
              </a:r>
              <a:endParaRPr lang="zh-CN" altLang="en-US" sz="2800" i="1"/>
            </a:p>
          </p:txBody>
        </p:sp>
        <p:sp>
          <p:nvSpPr>
            <p:cNvPr id="23571" name="Rectangle 19"/>
            <p:cNvSpPr>
              <a:spLocks noChangeArrowheads="1"/>
            </p:cNvSpPr>
            <p:nvPr/>
          </p:nvSpPr>
          <p:spPr bwMode="auto">
            <a:xfrm>
              <a:off x="624" y="3078"/>
              <a:ext cx="48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/>
                <a:t>2</a:t>
              </a:r>
            </a:p>
          </p:txBody>
        </p:sp>
        <p:sp>
          <p:nvSpPr>
            <p:cNvPr id="23572" name="Rectangle 18"/>
            <p:cNvSpPr>
              <a:spLocks noChangeArrowheads="1"/>
            </p:cNvSpPr>
            <p:nvPr/>
          </p:nvSpPr>
          <p:spPr bwMode="auto">
            <a:xfrm>
              <a:off x="3696" y="2752"/>
              <a:ext cx="1680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/>
                <a:t>0.3174</a:t>
              </a:r>
            </a:p>
          </p:txBody>
        </p:sp>
        <p:sp>
          <p:nvSpPr>
            <p:cNvPr id="23573" name="Rectangle 17"/>
            <p:cNvSpPr>
              <a:spLocks noChangeArrowheads="1"/>
            </p:cNvSpPr>
            <p:nvPr/>
          </p:nvSpPr>
          <p:spPr bwMode="auto">
            <a:xfrm>
              <a:off x="1872" y="2752"/>
              <a:ext cx="1824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/>
                <a:t>0.6826</a:t>
              </a:r>
            </a:p>
          </p:txBody>
        </p:sp>
        <p:sp>
          <p:nvSpPr>
            <p:cNvPr id="23574" name="Rectangle 16"/>
            <p:cNvSpPr>
              <a:spLocks noChangeArrowheads="1"/>
            </p:cNvSpPr>
            <p:nvPr/>
          </p:nvSpPr>
          <p:spPr bwMode="auto">
            <a:xfrm>
              <a:off x="1104" y="2752"/>
              <a:ext cx="76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 dirty="0"/>
                <a:t>1 </a:t>
              </a:r>
              <a:r>
                <a:rPr lang="en-US" altLang="zh-CN" sz="2800" i="1" dirty="0"/>
                <a:t>σ</a:t>
              </a:r>
              <a:endParaRPr lang="zh-CN" altLang="en-US" sz="2800" i="1" dirty="0"/>
            </a:p>
          </p:txBody>
        </p:sp>
        <p:sp>
          <p:nvSpPr>
            <p:cNvPr id="23575" name="Rectangle 15"/>
            <p:cNvSpPr>
              <a:spLocks noChangeArrowheads="1"/>
            </p:cNvSpPr>
            <p:nvPr/>
          </p:nvSpPr>
          <p:spPr bwMode="auto">
            <a:xfrm>
              <a:off x="624" y="2752"/>
              <a:ext cx="480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zh-CN" altLang="en-US" sz="2800"/>
                <a:t>1</a:t>
              </a:r>
            </a:p>
          </p:txBody>
        </p:sp>
        <p:sp>
          <p:nvSpPr>
            <p:cNvPr id="23576" name="Rectangle 14"/>
            <p:cNvSpPr>
              <a:spLocks noChangeArrowheads="1"/>
            </p:cNvSpPr>
            <p:nvPr/>
          </p:nvSpPr>
          <p:spPr bwMode="auto">
            <a:xfrm>
              <a:off x="3696" y="2458"/>
              <a:ext cx="1680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zh-CN" altLang="en-US" sz="1600"/>
                <a:t>超出｜</a:t>
              </a:r>
              <a:r>
                <a:rPr lang="en-US" altLang="zh-CN" sz="1600"/>
                <a:t>δ｜</a:t>
              </a:r>
              <a:r>
                <a:rPr lang="zh-CN" altLang="en-US" sz="1600"/>
                <a:t>的概率</a:t>
              </a:r>
              <a:r>
                <a:rPr lang="en-US" altLang="zh-CN" sz="1600" i="1"/>
                <a:t>p</a:t>
              </a:r>
              <a:r>
                <a:rPr lang="en-US" altLang="zh-CN" sz="1600"/>
                <a:t>=2</a:t>
              </a:r>
              <a:r>
                <a:rPr lang="en-US" altLang="zh-CN" sz="1600" i="1"/>
                <a:t>Φ</a:t>
              </a:r>
              <a:r>
                <a:rPr lang="en-US" altLang="zh-CN" sz="1600"/>
                <a:t>(</a:t>
              </a:r>
              <a:r>
                <a:rPr lang="en-US" altLang="zh-CN" sz="1600" i="1"/>
                <a:t>t</a:t>
              </a:r>
              <a:r>
                <a:rPr lang="en-US" altLang="zh-CN" sz="1600"/>
                <a:t>)</a:t>
              </a:r>
              <a:endParaRPr lang="zh-CN" altLang="en-US" sz="2800"/>
            </a:p>
          </p:txBody>
        </p:sp>
        <p:sp>
          <p:nvSpPr>
            <p:cNvPr id="23577" name="Rectangle 13"/>
            <p:cNvSpPr>
              <a:spLocks noChangeArrowheads="1"/>
            </p:cNvSpPr>
            <p:nvPr/>
          </p:nvSpPr>
          <p:spPr bwMode="auto">
            <a:xfrm>
              <a:off x="1872" y="2458"/>
              <a:ext cx="1824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zh-CN" altLang="en-US" sz="1600"/>
                <a:t>不超出｜</a:t>
              </a:r>
              <a:r>
                <a:rPr lang="en-US" altLang="zh-CN" sz="1600"/>
                <a:t>δ｜</a:t>
              </a:r>
              <a:r>
                <a:rPr lang="zh-CN" altLang="en-US" sz="1600"/>
                <a:t>的概率</a:t>
              </a:r>
              <a:r>
                <a:rPr lang="en-US" altLang="zh-CN" sz="1600" i="1"/>
                <a:t>p</a:t>
              </a:r>
              <a:r>
                <a:rPr lang="en-US" altLang="zh-CN" sz="1600"/>
                <a:t>=2</a:t>
              </a:r>
              <a:r>
                <a:rPr lang="en-US" altLang="zh-CN" sz="1600" i="1"/>
                <a:t>Φ</a:t>
              </a:r>
              <a:r>
                <a:rPr lang="en-US" altLang="zh-CN" sz="1600"/>
                <a:t>(</a:t>
              </a:r>
              <a:r>
                <a:rPr lang="en-US" altLang="zh-CN" sz="1600" i="1"/>
                <a:t>t</a:t>
              </a:r>
              <a:r>
                <a:rPr lang="en-US" altLang="zh-CN" sz="1600"/>
                <a:t>)</a:t>
              </a:r>
              <a:endParaRPr lang="zh-CN" altLang="en-US" sz="1600"/>
            </a:p>
          </p:txBody>
        </p:sp>
        <p:sp>
          <p:nvSpPr>
            <p:cNvPr id="23578" name="Rectangle 12"/>
            <p:cNvSpPr>
              <a:spLocks noChangeArrowheads="1"/>
            </p:cNvSpPr>
            <p:nvPr/>
          </p:nvSpPr>
          <p:spPr bwMode="auto">
            <a:xfrm>
              <a:off x="1104" y="2458"/>
              <a:ext cx="768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 altLang="zh-CN" sz="2000"/>
                <a:t>δ=±</a:t>
              </a:r>
              <a:r>
                <a:rPr lang="en-US" altLang="zh-CN" sz="2000" i="1"/>
                <a:t>tσ</a:t>
              </a:r>
            </a:p>
          </p:txBody>
        </p:sp>
        <p:sp>
          <p:nvSpPr>
            <p:cNvPr id="23579" name="Rectangle 11"/>
            <p:cNvSpPr>
              <a:spLocks noChangeArrowheads="1"/>
            </p:cNvSpPr>
            <p:nvPr/>
          </p:nvSpPr>
          <p:spPr bwMode="auto">
            <a:xfrm>
              <a:off x="624" y="2458"/>
              <a:ext cx="480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t</a:t>
              </a:r>
            </a:p>
          </p:txBody>
        </p:sp>
        <p:sp>
          <p:nvSpPr>
            <p:cNvPr id="23580" name="Line 31"/>
            <p:cNvSpPr>
              <a:spLocks noChangeShapeType="1"/>
            </p:cNvSpPr>
            <p:nvPr/>
          </p:nvSpPr>
          <p:spPr bwMode="auto">
            <a:xfrm>
              <a:off x="624" y="2458"/>
              <a:ext cx="475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1" name="Line 32"/>
            <p:cNvSpPr>
              <a:spLocks noChangeShapeType="1"/>
            </p:cNvSpPr>
            <p:nvPr/>
          </p:nvSpPr>
          <p:spPr bwMode="auto">
            <a:xfrm>
              <a:off x="624" y="2752"/>
              <a:ext cx="47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2" name="Line 33"/>
            <p:cNvSpPr>
              <a:spLocks noChangeShapeType="1"/>
            </p:cNvSpPr>
            <p:nvPr/>
          </p:nvSpPr>
          <p:spPr bwMode="auto">
            <a:xfrm>
              <a:off x="624" y="3078"/>
              <a:ext cx="47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3" name="Line 34"/>
            <p:cNvSpPr>
              <a:spLocks noChangeShapeType="1"/>
            </p:cNvSpPr>
            <p:nvPr/>
          </p:nvSpPr>
          <p:spPr bwMode="auto">
            <a:xfrm>
              <a:off x="624" y="3418"/>
              <a:ext cx="47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4" name="Line 35"/>
            <p:cNvSpPr>
              <a:spLocks noChangeShapeType="1"/>
            </p:cNvSpPr>
            <p:nvPr/>
          </p:nvSpPr>
          <p:spPr bwMode="auto">
            <a:xfrm>
              <a:off x="624" y="3744"/>
              <a:ext cx="47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5" name="Line 36"/>
            <p:cNvSpPr>
              <a:spLocks noChangeShapeType="1"/>
            </p:cNvSpPr>
            <p:nvPr/>
          </p:nvSpPr>
          <p:spPr bwMode="auto">
            <a:xfrm>
              <a:off x="624" y="4070"/>
              <a:ext cx="475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6" name="Line 37"/>
            <p:cNvSpPr>
              <a:spLocks noChangeShapeType="1"/>
            </p:cNvSpPr>
            <p:nvPr/>
          </p:nvSpPr>
          <p:spPr bwMode="auto">
            <a:xfrm>
              <a:off x="624" y="2458"/>
              <a:ext cx="0" cy="161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7" name="Line 38"/>
            <p:cNvSpPr>
              <a:spLocks noChangeShapeType="1"/>
            </p:cNvSpPr>
            <p:nvPr/>
          </p:nvSpPr>
          <p:spPr bwMode="auto">
            <a:xfrm>
              <a:off x="1104" y="2458"/>
              <a:ext cx="0" cy="1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8" name="Line 39"/>
            <p:cNvSpPr>
              <a:spLocks noChangeShapeType="1"/>
            </p:cNvSpPr>
            <p:nvPr/>
          </p:nvSpPr>
          <p:spPr bwMode="auto">
            <a:xfrm>
              <a:off x="1872" y="2458"/>
              <a:ext cx="0" cy="1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9" name="Line 40"/>
            <p:cNvSpPr>
              <a:spLocks noChangeShapeType="1"/>
            </p:cNvSpPr>
            <p:nvPr/>
          </p:nvSpPr>
          <p:spPr bwMode="auto">
            <a:xfrm>
              <a:off x="3696" y="2458"/>
              <a:ext cx="0" cy="1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0" name="Line 41"/>
            <p:cNvSpPr>
              <a:spLocks noChangeShapeType="1"/>
            </p:cNvSpPr>
            <p:nvPr/>
          </p:nvSpPr>
          <p:spPr bwMode="auto">
            <a:xfrm>
              <a:off x="5376" y="2458"/>
              <a:ext cx="0" cy="161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1" name="Rectangle 65"/>
            <p:cNvSpPr>
              <a:spLocks noChangeArrowheads="1"/>
            </p:cNvSpPr>
            <p:nvPr/>
          </p:nvSpPr>
          <p:spPr bwMode="auto">
            <a:xfrm>
              <a:off x="624" y="3418"/>
              <a:ext cx="4752" cy="336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2" name="Text Box 66"/>
            <p:cNvSpPr txBox="1">
              <a:spLocks noChangeArrowheads="1"/>
            </p:cNvSpPr>
            <p:nvPr/>
          </p:nvSpPr>
          <p:spPr bwMode="auto">
            <a:xfrm>
              <a:off x="1783" y="2199"/>
              <a:ext cx="28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 smtClean="0"/>
                <a:t>表  摘自</a:t>
              </a:r>
              <a:r>
                <a:rPr lang="zh-CN" altLang="en-US" sz="2000" b="1" dirty="0"/>
                <a:t>拉普拉斯函数表</a:t>
              </a:r>
            </a:p>
          </p:txBody>
        </p:sp>
      </p:grpSp>
      <p:graphicFrame>
        <p:nvGraphicFramePr>
          <p:cNvPr id="46151" name="Object 71"/>
          <p:cNvGraphicFramePr>
            <a:graphicFrameLocks noChangeAspect="1"/>
          </p:cNvGraphicFramePr>
          <p:nvPr/>
        </p:nvGraphicFramePr>
        <p:xfrm>
          <a:off x="2714612" y="2171883"/>
          <a:ext cx="3071834" cy="474260"/>
        </p:xfrm>
        <a:graphic>
          <a:graphicData uri="http://schemas.openxmlformats.org/presentationml/2006/ole">
            <p:oleObj spid="_x0000_s54296" name="Equation" r:id="rId5" imgW="33528000" imgH="51816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46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46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37126"/>
            <a:ext cx="2133600" cy="476250"/>
          </a:xfrm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40ECBC3-5300-4654-A8C6-D9760A6D19C7}" type="slidenum">
              <a:rPr kumimoji="0" lang="zh-CN" altLang="en-US" sz="2000" smtClean="0"/>
              <a:pPr eaLnBrk="1" hangingPunct="1"/>
              <a:t>21</a:t>
            </a:fld>
            <a:endParaRPr kumimoji="0" lang="en-US" altLang="zh-CN" sz="2000" dirty="0" smtClean="0"/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755898" y="614833"/>
            <a:ext cx="72004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在符合正态分布测量中，其极限误差一般为</a:t>
            </a:r>
          </a:p>
        </p:txBody>
      </p:sp>
      <p:graphicFrame>
        <p:nvGraphicFramePr>
          <p:cNvPr id="245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593163247"/>
              </p:ext>
            </p:extLst>
          </p:nvPr>
        </p:nvGraphicFramePr>
        <p:xfrm>
          <a:off x="3071802" y="1361549"/>
          <a:ext cx="2346038" cy="725618"/>
        </p:xfrm>
        <a:graphic>
          <a:graphicData uri="http://schemas.openxmlformats.org/presentationml/2006/ole">
            <p:oleObj spid="_x0000_s55318" name="Equation" r:id="rId3" imgW="16764000" imgH="5181600" progId="">
              <p:embed/>
            </p:oleObj>
          </a:graphicData>
        </a:graphic>
      </p:graphicFrame>
      <p:sp>
        <p:nvSpPr>
          <p:cNvPr id="47118" name="Text Box 14"/>
          <p:cNvSpPr txBox="1">
            <a:spLocks noChangeArrowheads="1"/>
          </p:cNvSpPr>
          <p:nvPr/>
        </p:nvSpPr>
        <p:spPr bwMode="auto">
          <a:xfrm>
            <a:off x="1219200" y="4348633"/>
            <a:ext cx="57292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①  单次测量结果表示为</a:t>
            </a:r>
          </a:p>
        </p:txBody>
      </p:sp>
      <p:graphicFrame>
        <p:nvGraphicFramePr>
          <p:cNvPr id="4711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235238208"/>
              </p:ext>
            </p:extLst>
          </p:nvPr>
        </p:nvGraphicFramePr>
        <p:xfrm>
          <a:off x="3143240" y="5072074"/>
          <a:ext cx="2800360" cy="839837"/>
        </p:xfrm>
        <a:graphic>
          <a:graphicData uri="http://schemas.openxmlformats.org/presentationml/2006/ole">
            <p:oleObj spid="_x0000_s55319" name="Equation" r:id="rId4" imgW="18288000" imgH="5486400" progId="">
              <p:embed/>
            </p:oleObj>
          </a:graphicData>
        </a:graphic>
      </p:graphicFrame>
      <p:sp>
        <p:nvSpPr>
          <p:cNvPr id="47121" name="Text Box 17"/>
          <p:cNvSpPr txBox="1">
            <a:spLocks noChangeArrowheads="1"/>
          </p:cNvSpPr>
          <p:nvPr/>
        </p:nvSpPr>
        <p:spPr bwMode="auto">
          <a:xfrm>
            <a:off x="914400" y="3662833"/>
            <a:ext cx="55292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</a:rPr>
              <a:t>测量结果的表示方法为</a:t>
            </a:r>
            <a:endParaRPr lang="en-US" altLang="zh-CN" sz="2800" b="1" dirty="0">
              <a:solidFill>
                <a:srgbClr val="FF3300"/>
              </a:solidFill>
            </a:endParaRPr>
          </a:p>
        </p:txBody>
      </p:sp>
      <p:graphicFrame>
        <p:nvGraphicFramePr>
          <p:cNvPr id="4712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192888194"/>
              </p:ext>
            </p:extLst>
          </p:nvPr>
        </p:nvGraphicFramePr>
        <p:xfrm>
          <a:off x="1428728" y="2357430"/>
          <a:ext cx="5814602" cy="1070966"/>
        </p:xfrm>
        <a:graphic>
          <a:graphicData uri="http://schemas.openxmlformats.org/presentationml/2006/ole">
            <p:oleObj spid="_x0000_s55320" name="Equation" r:id="rId5" imgW="52425600" imgH="103632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4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47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 autoUpdateAnimBg="0"/>
      <p:bldP spid="47118" grpId="0" autoUpdateAnimBg="0"/>
      <p:bldP spid="47121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37126"/>
            <a:ext cx="2133600" cy="476250"/>
          </a:xfrm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03F9719-4433-4E65-9DE1-0B067633169D}" type="slidenum">
              <a:rPr kumimoji="0" lang="zh-CN" altLang="en-US" sz="2000" smtClean="0"/>
              <a:pPr eaLnBrk="1" hangingPunct="1"/>
              <a:t>22</a:t>
            </a:fld>
            <a:endParaRPr kumimoji="0" lang="en-US" altLang="zh-CN" sz="2000" dirty="0" smtClean="0"/>
          </a:p>
        </p:txBody>
      </p:sp>
      <p:sp>
        <p:nvSpPr>
          <p:cNvPr id="58372" name="Text Box 1028"/>
          <p:cNvSpPr txBox="1">
            <a:spLocks noChangeArrowheads="1"/>
          </p:cNvSpPr>
          <p:nvPr/>
        </p:nvSpPr>
        <p:spPr bwMode="auto">
          <a:xfrm>
            <a:off x="457200" y="4953000"/>
            <a:ext cx="7715200" cy="1076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     （3） 随机误差处理原则——不能消除，只能减小。</a:t>
            </a:r>
          </a:p>
        </p:txBody>
      </p:sp>
      <p:sp>
        <p:nvSpPr>
          <p:cNvPr id="58373" name="Text Box 1029"/>
          <p:cNvSpPr txBox="1">
            <a:spLocks noChangeArrowheads="1"/>
          </p:cNvSpPr>
          <p:nvPr/>
        </p:nvSpPr>
        <p:spPr bwMode="auto">
          <a:xfrm>
            <a:off x="1143001" y="1109947"/>
            <a:ext cx="60722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多次测量（即算术平均值）的标准偏差为</a:t>
            </a:r>
          </a:p>
        </p:txBody>
      </p:sp>
      <p:graphicFrame>
        <p:nvGraphicFramePr>
          <p:cNvPr id="25609" name="Object 1031"/>
          <p:cNvGraphicFramePr>
            <a:graphicFrameLocks noChangeAspect="1"/>
          </p:cNvGraphicFramePr>
          <p:nvPr/>
        </p:nvGraphicFramePr>
        <p:xfrm>
          <a:off x="2960629" y="1776410"/>
          <a:ext cx="2115427" cy="1295400"/>
        </p:xfrm>
        <a:graphic>
          <a:graphicData uri="http://schemas.openxmlformats.org/presentationml/2006/ole">
            <p:oleObj spid="_x0000_s56335" name="Equation" r:id="rId3" imgW="14020800" imgH="10058400" progId="">
              <p:embed/>
            </p:oleObj>
          </a:graphicData>
        </a:graphic>
      </p:graphicFrame>
      <p:sp>
        <p:nvSpPr>
          <p:cNvPr id="58377" name="Text Box 1033"/>
          <p:cNvSpPr txBox="1">
            <a:spLocks noChangeArrowheads="1"/>
          </p:cNvSpPr>
          <p:nvPr/>
        </p:nvSpPr>
        <p:spPr bwMode="auto">
          <a:xfrm>
            <a:off x="971600" y="3214686"/>
            <a:ext cx="480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   多次测量结果表示为</a:t>
            </a:r>
          </a:p>
        </p:txBody>
      </p:sp>
      <p:graphicFrame>
        <p:nvGraphicFramePr>
          <p:cNvPr id="58378" name="Object 1034"/>
          <p:cNvGraphicFramePr>
            <a:graphicFrameLocks noChangeAspect="1"/>
          </p:cNvGraphicFramePr>
          <p:nvPr/>
        </p:nvGraphicFramePr>
        <p:xfrm>
          <a:off x="2915816" y="3789040"/>
          <a:ext cx="3299258" cy="975502"/>
        </p:xfrm>
        <a:graphic>
          <a:graphicData uri="http://schemas.openxmlformats.org/presentationml/2006/ole">
            <p:oleObj spid="_x0000_s56336" name="Equation" r:id="rId4" imgW="18592800" imgH="5486400" progId="">
              <p:embed/>
            </p:oleObj>
          </a:graphicData>
        </a:graphic>
      </p:graphicFrame>
      <p:sp>
        <p:nvSpPr>
          <p:cNvPr id="58379" name="Text Box 1035"/>
          <p:cNvSpPr txBox="1">
            <a:spLocks noChangeArrowheads="1"/>
          </p:cNvSpPr>
          <p:nvPr/>
        </p:nvSpPr>
        <p:spPr bwMode="auto">
          <a:xfrm>
            <a:off x="755576" y="538443"/>
            <a:ext cx="3911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②  </a:t>
            </a:r>
            <a:r>
              <a:rPr lang="zh-CN" altLang="en-US" sz="2800" b="1" dirty="0" smtClean="0"/>
              <a:t>多次</a:t>
            </a:r>
            <a:r>
              <a:rPr lang="zh-CN" altLang="en-US" sz="2800" b="1" dirty="0"/>
              <a:t>测量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5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2" grpId="0" autoUpdateAnimBg="0"/>
      <p:bldP spid="58373" grpId="0" autoUpdateAnimBg="0"/>
      <p:bldP spid="58377" grpId="0" autoUpdateAnimBg="0"/>
      <p:bldP spid="58379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Text Box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28600" y="152400"/>
            <a:ext cx="8520113" cy="1589346"/>
          </a:xfrm>
          <a:prstGeom prst="rect">
            <a:avLst/>
          </a:prstGeom>
          <a:blipFill rotWithShape="1">
            <a:blip r:embed="rId3" cstate="print"/>
            <a:stretch>
              <a:fillRect l="-1145" t="-4215" r="-644" b="-5364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48133" name="Object 5"/>
          <p:cNvGraphicFramePr>
            <a:graphicFrameLocks noChangeAspect="1"/>
          </p:cNvGraphicFramePr>
          <p:nvPr/>
        </p:nvGraphicFramePr>
        <p:xfrm>
          <a:off x="677863" y="1728788"/>
          <a:ext cx="6062662" cy="527050"/>
        </p:xfrm>
        <a:graphic>
          <a:graphicData uri="http://schemas.openxmlformats.org/presentationml/2006/ole">
            <p:oleObj spid="_x0000_s57352" name="公式" r:id="rId4" imgW="49682400" imgH="5486400" progId="">
              <p:embed/>
            </p:oleObj>
          </a:graphicData>
        </a:graphic>
      </p:graphicFrame>
      <p:pic>
        <p:nvPicPr>
          <p:cNvPr id="26629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750" y="2276475"/>
            <a:ext cx="8107363" cy="417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416123" y="404664"/>
            <a:ext cx="4267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解： （1）单次测量</a:t>
            </a:r>
          </a:p>
        </p:txBody>
      </p:sp>
      <p:sp>
        <p:nvSpPr>
          <p:cNvPr id="49157" name="Text Box 5"/>
          <p:cNvSpPr txBox="1">
            <a:spLocks noChangeArrowheads="1"/>
          </p:cNvSpPr>
          <p:nvPr/>
        </p:nvSpPr>
        <p:spPr bwMode="auto">
          <a:xfrm>
            <a:off x="3786182" y="428604"/>
            <a:ext cx="4410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算术平均值为(见上页的表</a:t>
            </a:r>
            <a:r>
              <a:rPr lang="en-US" altLang="zh-CN" b="1" dirty="0"/>
              <a:t>)</a:t>
            </a:r>
          </a:p>
        </p:txBody>
      </p:sp>
      <p:graphicFrame>
        <p:nvGraphicFramePr>
          <p:cNvPr id="49158" name="Object 6"/>
          <p:cNvGraphicFramePr>
            <a:graphicFrameLocks noChangeAspect="1"/>
          </p:cNvGraphicFramePr>
          <p:nvPr/>
        </p:nvGraphicFramePr>
        <p:xfrm>
          <a:off x="3571868" y="1285860"/>
          <a:ext cx="3357587" cy="542110"/>
        </p:xfrm>
        <a:graphic>
          <a:graphicData uri="http://schemas.openxmlformats.org/presentationml/2006/ole">
            <p:oleObj spid="_x0000_s58411" name="Equation" r:id="rId3" imgW="22250400" imgH="4876800" progId="">
              <p:embed/>
            </p:oleObj>
          </a:graphicData>
        </a:graphic>
      </p:graphicFrame>
      <p:sp>
        <p:nvSpPr>
          <p:cNvPr id="49159" name="Text Box 7"/>
          <p:cNvSpPr txBox="1">
            <a:spLocks noChangeArrowheads="1"/>
          </p:cNvSpPr>
          <p:nvPr/>
        </p:nvSpPr>
        <p:spPr bwMode="auto">
          <a:xfrm>
            <a:off x="720923" y="2427139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标准偏差为</a:t>
            </a:r>
          </a:p>
        </p:txBody>
      </p:sp>
      <p:graphicFrame>
        <p:nvGraphicFramePr>
          <p:cNvPr id="49160" name="Object 8"/>
          <p:cNvGraphicFramePr>
            <a:graphicFrameLocks noChangeAspect="1"/>
          </p:cNvGraphicFramePr>
          <p:nvPr/>
        </p:nvGraphicFramePr>
        <p:xfrm>
          <a:off x="5327848" y="2165202"/>
          <a:ext cx="3276600" cy="1008062"/>
        </p:xfrm>
        <a:graphic>
          <a:graphicData uri="http://schemas.openxmlformats.org/presentationml/2006/ole">
            <p:oleObj spid="_x0000_s58412" name="公式" r:id="rId4" imgW="29870400" imgH="10668000" progId="">
              <p:embed/>
            </p:oleObj>
          </a:graphicData>
        </a:graphic>
      </p:graphicFrame>
      <p:sp>
        <p:nvSpPr>
          <p:cNvPr id="49161" name="Text Box 9"/>
          <p:cNvSpPr txBox="1">
            <a:spLocks noChangeArrowheads="1"/>
          </p:cNvSpPr>
          <p:nvPr/>
        </p:nvSpPr>
        <p:spPr bwMode="auto">
          <a:xfrm>
            <a:off x="797123" y="5163989"/>
            <a:ext cx="2800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测量结果为</a:t>
            </a:r>
          </a:p>
        </p:txBody>
      </p:sp>
      <p:graphicFrame>
        <p:nvGraphicFramePr>
          <p:cNvPr id="49162" name="Object 10"/>
          <p:cNvGraphicFramePr>
            <a:graphicFrameLocks noChangeAspect="1"/>
          </p:cNvGraphicFramePr>
          <p:nvPr/>
        </p:nvGraphicFramePr>
        <p:xfrm>
          <a:off x="4214810" y="5652375"/>
          <a:ext cx="3272634" cy="737198"/>
        </p:xfrm>
        <a:graphic>
          <a:graphicData uri="http://schemas.openxmlformats.org/presentationml/2006/ole">
            <p:oleObj spid="_x0000_s58413" name="Equation" r:id="rId5" imgW="24384000" imgH="5486400" progId="">
              <p:embed/>
            </p:oleObj>
          </a:graphicData>
        </a:graphic>
      </p:graphicFrame>
      <p:graphicFrame>
        <p:nvGraphicFramePr>
          <p:cNvPr id="49163" name="Object 11"/>
          <p:cNvGraphicFramePr>
            <a:graphicFrameLocks noChangeAspect="1"/>
          </p:cNvGraphicFramePr>
          <p:nvPr/>
        </p:nvGraphicFramePr>
        <p:xfrm>
          <a:off x="1357289" y="5632502"/>
          <a:ext cx="2552921" cy="766561"/>
        </p:xfrm>
        <a:graphic>
          <a:graphicData uri="http://schemas.openxmlformats.org/presentationml/2006/ole">
            <p:oleObj spid="_x0000_s58414" name="Equation" r:id="rId6" imgW="18288000" imgH="5486400" progId="">
              <p:embed/>
            </p:oleObj>
          </a:graphicData>
        </a:graphic>
      </p:graphicFrame>
      <p:graphicFrame>
        <p:nvGraphicFramePr>
          <p:cNvPr id="49164" name="Object 12"/>
          <p:cNvGraphicFramePr>
            <a:graphicFrameLocks noChangeAspect="1"/>
          </p:cNvGraphicFramePr>
          <p:nvPr/>
        </p:nvGraphicFramePr>
        <p:xfrm>
          <a:off x="1095573" y="1012677"/>
          <a:ext cx="2216150" cy="985837"/>
        </p:xfrm>
        <a:graphic>
          <a:graphicData uri="http://schemas.openxmlformats.org/presentationml/2006/ole">
            <p:oleObj spid="_x0000_s58415" name="公式" r:id="rId7" imgW="18288000" imgH="10363200" progId="">
              <p:embed/>
            </p:oleObj>
          </a:graphicData>
        </a:graphic>
      </p:graphicFrame>
      <p:graphicFrame>
        <p:nvGraphicFramePr>
          <p:cNvPr id="49165" name="Object 13"/>
          <p:cNvGraphicFramePr>
            <a:graphicFrameLocks noChangeAspect="1"/>
          </p:cNvGraphicFramePr>
          <p:nvPr/>
        </p:nvGraphicFramePr>
        <p:xfrm>
          <a:off x="2837061" y="2020739"/>
          <a:ext cx="2441575" cy="1025525"/>
        </p:xfrm>
        <a:graphic>
          <a:graphicData uri="http://schemas.openxmlformats.org/presentationml/2006/ole">
            <p:oleObj spid="_x0000_s58416" name="Equation" r:id="rId8" imgW="26822400" imgH="15544800" progId="">
              <p:embed/>
            </p:oleObj>
          </a:graphicData>
        </a:graphic>
      </p:graphicFrame>
      <p:grpSp>
        <p:nvGrpSpPr>
          <p:cNvPr id="2" name="组合 1"/>
          <p:cNvGrpSpPr/>
          <p:nvPr/>
        </p:nvGrpSpPr>
        <p:grpSpPr bwMode="auto">
          <a:xfrm>
            <a:off x="901898" y="3076427"/>
            <a:ext cx="7086600" cy="2087562"/>
            <a:chOff x="762000" y="2996952"/>
            <a:chExt cx="7086600" cy="2088232"/>
          </a:xfrm>
        </p:grpSpPr>
        <p:pic>
          <p:nvPicPr>
            <p:cNvPr id="27664" name="Picture 25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2996952"/>
              <a:ext cx="7086600" cy="1095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7665" name="Picture 26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0060" y="4189834"/>
              <a:ext cx="6972300" cy="895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7461448" y="4657577"/>
            <a:ext cx="530225" cy="350837"/>
          </a:xfrm>
          <a:prstGeom prst="rect">
            <a:avLst/>
          </a:pr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2989461" y="4657577"/>
            <a:ext cx="528637" cy="350837"/>
          </a:xfrm>
          <a:prstGeom prst="rect">
            <a:avLst/>
          </a:pr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4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 autoUpdateAnimBg="0"/>
      <p:bldP spid="49157" grpId="0" autoUpdateAnimBg="0"/>
      <p:bldP spid="49159" grpId="0" autoUpdateAnimBg="0"/>
      <p:bldP spid="49161" grpId="0" autoUpdateAnimBg="0"/>
      <p:bldP spid="5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228600" y="497681"/>
            <a:ext cx="54959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（2） 多次测量</a:t>
            </a:r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1219200" y="1116806"/>
            <a:ext cx="6016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算术平均值的标准偏差为</a:t>
            </a:r>
          </a:p>
        </p:txBody>
      </p:sp>
      <p:graphicFrame>
        <p:nvGraphicFramePr>
          <p:cNvPr id="50182" name="Object 6"/>
          <p:cNvGraphicFramePr>
            <a:graphicFrameLocks noChangeAspect="1"/>
          </p:cNvGraphicFramePr>
          <p:nvPr/>
        </p:nvGraphicFramePr>
        <p:xfrm>
          <a:off x="3786182" y="1928802"/>
          <a:ext cx="3172886" cy="1217939"/>
        </p:xfrm>
        <a:graphic>
          <a:graphicData uri="http://schemas.openxmlformats.org/presentationml/2006/ole">
            <p:oleObj spid="_x0000_s59428" name="公式" r:id="rId3" imgW="26212800" imgH="10058400" progId="">
              <p:embed/>
            </p:oleObj>
          </a:graphicData>
        </a:graphic>
      </p:graphicFrame>
      <p:sp>
        <p:nvSpPr>
          <p:cNvPr id="50183" name="Text Box 7"/>
          <p:cNvSpPr txBox="1">
            <a:spLocks noChangeArrowheads="1"/>
          </p:cNvSpPr>
          <p:nvPr/>
        </p:nvSpPr>
        <p:spPr bwMode="auto">
          <a:xfrm>
            <a:off x="1066800" y="3417094"/>
            <a:ext cx="350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测量结果为</a:t>
            </a:r>
          </a:p>
        </p:txBody>
      </p:sp>
      <p:graphicFrame>
        <p:nvGraphicFramePr>
          <p:cNvPr id="50184" name="Object 8"/>
          <p:cNvGraphicFramePr>
            <a:graphicFrameLocks noChangeAspect="1"/>
          </p:cNvGraphicFramePr>
          <p:nvPr/>
        </p:nvGraphicFramePr>
        <p:xfrm>
          <a:off x="1571604" y="5069031"/>
          <a:ext cx="5078434" cy="664225"/>
        </p:xfrm>
        <a:graphic>
          <a:graphicData uri="http://schemas.openxmlformats.org/presentationml/2006/ole">
            <p:oleObj spid="_x0000_s59429" name="Equation" r:id="rId4" imgW="39624000" imgH="5181600" progId="">
              <p:embed/>
            </p:oleObj>
          </a:graphicData>
        </a:graphic>
      </p:graphicFrame>
      <p:graphicFrame>
        <p:nvGraphicFramePr>
          <p:cNvPr id="50186" name="Object 10"/>
          <p:cNvGraphicFramePr>
            <a:graphicFrameLocks noChangeAspect="1"/>
          </p:cNvGraphicFramePr>
          <p:nvPr/>
        </p:nvGraphicFramePr>
        <p:xfrm>
          <a:off x="1245774" y="4071942"/>
          <a:ext cx="2537239" cy="702464"/>
        </p:xfrm>
        <a:graphic>
          <a:graphicData uri="http://schemas.openxmlformats.org/presentationml/2006/ole">
            <p:oleObj spid="_x0000_s59430" name="Equation" r:id="rId5" imgW="19812000" imgH="5486400" progId="">
              <p:embed/>
            </p:oleObj>
          </a:graphicData>
        </a:graphic>
      </p:graphicFrame>
      <p:graphicFrame>
        <p:nvGraphicFramePr>
          <p:cNvPr id="50187" name="Object 11"/>
          <p:cNvGraphicFramePr>
            <a:graphicFrameLocks noChangeAspect="1"/>
          </p:cNvGraphicFramePr>
          <p:nvPr/>
        </p:nvGraphicFramePr>
        <p:xfrm>
          <a:off x="1791611" y="1928801"/>
          <a:ext cx="1700269" cy="1220739"/>
        </p:xfrm>
        <a:graphic>
          <a:graphicData uri="http://schemas.openxmlformats.org/presentationml/2006/ole">
            <p:oleObj spid="_x0000_s59431" name="Equation" r:id="rId6" imgW="14020800" imgH="10058400" progId="">
              <p:embed/>
            </p:oleObj>
          </a:graphicData>
        </a:graphic>
      </p:graphicFrame>
      <p:graphicFrame>
        <p:nvGraphicFramePr>
          <p:cNvPr id="50188" name="Object 12"/>
          <p:cNvGraphicFramePr>
            <a:graphicFrameLocks noChangeAspect="1"/>
          </p:cNvGraphicFramePr>
          <p:nvPr/>
        </p:nvGraphicFramePr>
        <p:xfrm>
          <a:off x="3643306" y="4071942"/>
          <a:ext cx="4600580" cy="555470"/>
        </p:xfrm>
        <a:graphic>
          <a:graphicData uri="http://schemas.openxmlformats.org/presentationml/2006/ole">
            <p:oleObj spid="_x0000_s59432" name="Equation" r:id="rId7" imgW="35356800" imgH="42672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autoUpdateAnimBg="0"/>
      <p:bldP spid="50181" grpId="0" autoUpdateAnimBg="0"/>
      <p:bldP spid="5018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9A15834-33EF-4854-AC84-76B1FF989AF0}" type="slidenum">
              <a:rPr kumimoji="0" lang="zh-CN" altLang="en-US" sz="1400" smtClean="0"/>
              <a:pPr eaLnBrk="1" hangingPunct="1"/>
              <a:t>26</a:t>
            </a:fld>
            <a:endParaRPr kumimoji="0" lang="en-US" altLang="zh-CN" sz="1400" dirty="0" smtClean="0"/>
          </a:p>
        </p:txBody>
      </p:sp>
      <p:sp>
        <p:nvSpPr>
          <p:cNvPr id="96260" name="Text Box 4"/>
          <p:cNvSpPr txBox="1">
            <a:spLocks noChangeArrowheads="1"/>
          </p:cNvSpPr>
          <p:nvPr/>
        </p:nvSpPr>
        <p:spPr bwMode="auto">
          <a:xfrm>
            <a:off x="539552" y="332656"/>
            <a:ext cx="45370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3. 粗大误差及其剔除</a:t>
            </a:r>
          </a:p>
        </p:txBody>
      </p:sp>
      <p:sp>
        <p:nvSpPr>
          <p:cNvPr id="96261" name="Text Box 5"/>
          <p:cNvSpPr txBox="1">
            <a:spLocks noChangeArrowheads="1"/>
          </p:cNvSpPr>
          <p:nvPr/>
        </p:nvSpPr>
        <p:spPr bwMode="auto">
          <a:xfrm>
            <a:off x="1012825" y="1844824"/>
            <a:ext cx="7188200" cy="49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——超出在规定条件下预计的误差。 </a:t>
            </a:r>
          </a:p>
        </p:txBody>
      </p:sp>
      <p:sp>
        <p:nvSpPr>
          <p:cNvPr id="96262" name="Text Box 6"/>
          <p:cNvSpPr txBox="1">
            <a:spLocks noChangeArrowheads="1"/>
          </p:cNvSpPr>
          <p:nvPr/>
        </p:nvSpPr>
        <p:spPr bwMode="auto">
          <a:xfrm>
            <a:off x="683568" y="2492896"/>
            <a:ext cx="7272932" cy="1684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b="1" dirty="0"/>
              <a:t>        粗大误差是由某些不正常的原因造成的。例如测量者的</a:t>
            </a:r>
            <a:r>
              <a:rPr lang="zh-CN" altLang="en-US" b="1" dirty="0">
                <a:solidFill>
                  <a:srgbClr val="FF3300"/>
                </a:solidFill>
              </a:rPr>
              <a:t>粗心大意</a:t>
            </a:r>
            <a:r>
              <a:rPr lang="zh-CN" altLang="en-US" b="1" dirty="0"/>
              <a:t>、测量仪器和测量条件</a:t>
            </a:r>
            <a:r>
              <a:rPr lang="zh-CN" altLang="en-US" b="1" dirty="0">
                <a:solidFill>
                  <a:srgbClr val="FF3300"/>
                </a:solidFill>
              </a:rPr>
              <a:t>突然振动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rgbClr val="FF3300"/>
                </a:solidFill>
              </a:rPr>
              <a:t>读数或记录错误</a:t>
            </a:r>
            <a:r>
              <a:rPr lang="zh-CN" altLang="en-US" b="1" dirty="0"/>
              <a:t>等产生的。</a:t>
            </a:r>
          </a:p>
        </p:txBody>
      </p:sp>
      <p:sp>
        <p:nvSpPr>
          <p:cNvPr id="96263" name="Text Box 7"/>
          <p:cNvSpPr txBox="1">
            <a:spLocks noChangeArrowheads="1"/>
          </p:cNvSpPr>
          <p:nvPr/>
        </p:nvSpPr>
        <p:spPr bwMode="auto">
          <a:xfrm>
            <a:off x="435992" y="1340768"/>
            <a:ext cx="406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（1）</a:t>
            </a:r>
            <a:r>
              <a:rPr lang="zh-CN" altLang="en-US" sz="2800" b="1" dirty="0">
                <a:solidFill>
                  <a:srgbClr val="FF3300"/>
                </a:solidFill>
              </a:rPr>
              <a:t>粗大误差</a:t>
            </a:r>
          </a:p>
        </p:txBody>
      </p:sp>
      <p:sp>
        <p:nvSpPr>
          <p:cNvPr id="96264" name="Text Box 8"/>
          <p:cNvSpPr txBox="1">
            <a:spLocks noChangeArrowheads="1"/>
          </p:cNvSpPr>
          <p:nvPr/>
        </p:nvSpPr>
        <p:spPr bwMode="auto">
          <a:xfrm>
            <a:off x="1475656" y="4653136"/>
            <a:ext cx="5760640" cy="559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070C0"/>
                </a:solidFill>
              </a:rPr>
              <a:t>粗大误差一般数值较大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，应</a:t>
            </a:r>
            <a:r>
              <a:rPr lang="zh-CN" altLang="en-US" sz="2800" b="1" dirty="0">
                <a:solidFill>
                  <a:srgbClr val="0070C0"/>
                </a:solidFill>
              </a:rPr>
              <a:t>剔除。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96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9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9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0" grpId="0" autoUpdateAnimBg="0"/>
      <p:bldP spid="96261" grpId="0" autoUpdateAnimBg="0"/>
      <p:bldP spid="96262" grpId="0" autoUpdateAnimBg="0"/>
      <p:bldP spid="96263" grpId="0" autoUpdateAnimBg="0"/>
      <p:bldP spid="96264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27</a:t>
            </a:fld>
            <a:endParaRPr lang="en-US" altLang="zh-CN" sz="1400"/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467544" y="332656"/>
            <a:ext cx="66967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（2） 粗大误差的判断法 —— </a:t>
            </a:r>
            <a:r>
              <a:rPr lang="zh-CN" altLang="en-US" sz="2800" b="1" dirty="0">
                <a:solidFill>
                  <a:srgbClr val="FF3300"/>
                </a:solidFill>
              </a:rPr>
              <a:t>3</a:t>
            </a:r>
            <a:r>
              <a:rPr lang="en-US" altLang="zh-CN" sz="2800" b="1" i="1" dirty="0">
                <a:solidFill>
                  <a:srgbClr val="FF3300"/>
                </a:solidFill>
              </a:rPr>
              <a:t>σ</a:t>
            </a:r>
            <a:r>
              <a:rPr lang="zh-CN" altLang="en-US" sz="2800" b="1" dirty="0">
                <a:solidFill>
                  <a:srgbClr val="FF3300"/>
                </a:solidFill>
              </a:rPr>
              <a:t>法则</a:t>
            </a:r>
            <a:endParaRPr lang="zh-CN" altLang="en-US" sz="2800" b="1" dirty="0"/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83568" y="1124744"/>
            <a:ext cx="77041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        通常用重复测量或改变测量方法，可以发现是否有无粗大误差。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827211" y="2132856"/>
            <a:ext cx="748920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 smtClean="0"/>
              <a:t>      对于</a:t>
            </a:r>
            <a:r>
              <a:rPr lang="zh-CN" altLang="en-US" b="1" dirty="0"/>
              <a:t>等精度多次测量值，可以按</a:t>
            </a:r>
            <a:r>
              <a:rPr lang="zh-CN" altLang="en-US" b="1" dirty="0">
                <a:solidFill>
                  <a:srgbClr val="FF3300"/>
                </a:solidFill>
              </a:rPr>
              <a:t>“</a:t>
            </a:r>
            <a:r>
              <a:rPr lang="en-US" altLang="zh-CN" b="1" dirty="0">
                <a:solidFill>
                  <a:srgbClr val="FF3300"/>
                </a:solidFill>
              </a:rPr>
              <a:t>3</a:t>
            </a:r>
            <a:r>
              <a:rPr lang="el-GR" altLang="zh-CN" b="1" dirty="0">
                <a:solidFill>
                  <a:srgbClr val="FF3300"/>
                </a:solidFill>
                <a:cs typeface="Times New Roman" panose="02020603050405020304" pitchFamily="18" charset="0"/>
              </a:rPr>
              <a:t>σ</a:t>
            </a:r>
            <a:r>
              <a:rPr lang="en-US" altLang="zh-CN" b="1" dirty="0">
                <a:solidFill>
                  <a:srgbClr val="FF3300"/>
                </a:solidFill>
              </a:rPr>
              <a:t>”</a:t>
            </a:r>
            <a:r>
              <a:rPr lang="zh-CN" altLang="en-US" b="1" dirty="0"/>
              <a:t>法判断粗大误差，即</a:t>
            </a:r>
          </a:p>
        </p:txBody>
      </p:sp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3275856" y="3212976"/>
          <a:ext cx="2160240" cy="864096"/>
        </p:xfrm>
        <a:graphic>
          <a:graphicData uri="http://schemas.openxmlformats.org/presentationml/2006/ole">
            <p:oleObj spid="_x0000_s60431" name="Equation" r:id="rId3" imgW="12496800" imgH="6096000" progId="">
              <p:embed/>
            </p:oleObj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/>
        </p:nvGraphicFramePr>
        <p:xfrm>
          <a:off x="2285984" y="4357694"/>
          <a:ext cx="5029264" cy="485760"/>
        </p:xfrm>
        <a:graphic>
          <a:graphicData uri="http://schemas.openxmlformats.org/presentationml/2006/ole">
            <p:oleObj spid="_x0000_s60432" name="公式" r:id="rId4" imgW="42062400" imgH="5486400" progId="">
              <p:embed/>
            </p:oleObj>
          </a:graphicData>
        </a:graphic>
      </p:graphicFrame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971600" y="5013176"/>
            <a:ext cx="41044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则 </a:t>
            </a:r>
            <a:r>
              <a:rPr lang="en-US" altLang="zh-CN" b="1" i="1" dirty="0">
                <a:solidFill>
                  <a:srgbClr val="FF3300"/>
                </a:solidFill>
              </a:rPr>
              <a:t>x</a:t>
            </a:r>
            <a:r>
              <a:rPr lang="en-US" altLang="zh-CN" b="1" i="1" baseline="-25000" dirty="0">
                <a:solidFill>
                  <a:srgbClr val="FF3300"/>
                </a:solidFill>
              </a:rPr>
              <a:t>i</a:t>
            </a:r>
            <a:r>
              <a:rPr lang="en-US" altLang="zh-CN" b="1" i="1" baseline="-25000" dirty="0"/>
              <a:t> </a:t>
            </a:r>
            <a:r>
              <a:rPr lang="zh-CN" altLang="en-US" b="1" dirty="0"/>
              <a:t>中含有粗大误差。</a:t>
            </a:r>
            <a:endParaRPr lang="zh-CN" altLang="en-US" b="1" baseline="-25000" dirty="0"/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683568" y="5572140"/>
            <a:ext cx="6858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（3） 粗大误差的</a:t>
            </a:r>
            <a:r>
              <a:rPr lang="zh-CN" altLang="en-US" sz="2800" b="1" dirty="0">
                <a:solidFill>
                  <a:srgbClr val="FF3300"/>
                </a:solidFill>
              </a:rPr>
              <a:t>处理</a:t>
            </a:r>
            <a:r>
              <a:rPr lang="zh-CN" altLang="en-US" sz="2800" b="1" dirty="0" smtClean="0">
                <a:solidFill>
                  <a:srgbClr val="FF3300"/>
                </a:solidFill>
              </a:rPr>
              <a:t>方法</a:t>
            </a:r>
            <a:r>
              <a:rPr lang="zh-CN" altLang="en-US" sz="2800" b="1" dirty="0" smtClean="0"/>
              <a:t>——</a:t>
            </a:r>
            <a:r>
              <a:rPr lang="zh-CN" altLang="en-US" sz="2800" b="1" dirty="0" smtClean="0">
                <a:solidFill>
                  <a:srgbClr val="FF3300"/>
                </a:solidFill>
              </a:rPr>
              <a:t>剔除</a:t>
            </a:r>
            <a:endParaRPr lang="en-US" altLang="zh-CN" sz="2800" b="1" i="1" baseline="-25000" dirty="0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8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11" grpId="0" autoUpdateAnimBg="0"/>
      <p:bldP spid="12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28</a:t>
            </a:fld>
            <a:endParaRPr lang="en-US" altLang="zh-CN" sz="1400" dirty="0"/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538336" y="298226"/>
            <a:ext cx="5257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4. 测量精度的分类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467544" y="4365104"/>
            <a:ext cx="373380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 （1）精密度——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755576" y="5013176"/>
            <a:ext cx="7940675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        表示测量结果中</a:t>
            </a:r>
            <a:r>
              <a:rPr lang="zh-CN" altLang="en-US" b="1" dirty="0">
                <a:solidFill>
                  <a:srgbClr val="FF0000"/>
                </a:solidFill>
              </a:rPr>
              <a:t>随机误差</a:t>
            </a:r>
            <a:r>
              <a:rPr lang="zh-CN" altLang="en-US" b="1" dirty="0"/>
              <a:t>的影响程度</a:t>
            </a:r>
            <a:r>
              <a:rPr lang="en-US" altLang="zh-CN" b="1" dirty="0"/>
              <a:t>【</a:t>
            </a:r>
            <a:r>
              <a:rPr lang="zh-CN" altLang="en-US" b="1" dirty="0" smtClean="0"/>
              <a:t>图中</a:t>
            </a:r>
            <a:r>
              <a:rPr lang="zh-CN" altLang="en-US" b="1" dirty="0"/>
              <a:t>（</a:t>
            </a:r>
            <a:r>
              <a:rPr lang="en-US" altLang="zh-CN" b="1" dirty="0"/>
              <a:t>a)</a:t>
            </a:r>
            <a:r>
              <a:rPr lang="zh-CN" altLang="en-US" b="1" dirty="0"/>
              <a:t>、</a:t>
            </a:r>
            <a:r>
              <a:rPr lang="en-US" altLang="zh-CN" b="1" dirty="0"/>
              <a:t>(d)</a:t>
            </a:r>
            <a:r>
              <a:rPr lang="zh-CN" altLang="en-US" b="1" dirty="0"/>
              <a:t>所示表示测量精密度高</a:t>
            </a:r>
            <a:r>
              <a:rPr lang="en-US" altLang="zh-CN" b="1" dirty="0"/>
              <a:t>】</a:t>
            </a:r>
            <a:r>
              <a:rPr lang="zh-CN" altLang="en-US" b="1" dirty="0"/>
              <a:t>。</a:t>
            </a:r>
          </a:p>
        </p:txBody>
      </p:sp>
      <p:grpSp>
        <p:nvGrpSpPr>
          <p:cNvPr id="16" name="组合 15"/>
          <p:cNvGrpSpPr/>
          <p:nvPr/>
        </p:nvGrpSpPr>
        <p:grpSpPr bwMode="auto">
          <a:xfrm>
            <a:off x="1188840" y="1553470"/>
            <a:ext cx="7105650" cy="2667618"/>
            <a:chOff x="900113" y="1267742"/>
            <a:chExt cx="7105650" cy="2668197"/>
          </a:xfrm>
        </p:grpSpPr>
        <p:pic>
          <p:nvPicPr>
            <p:cNvPr id="17" name="Picture 1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0113" y="1267742"/>
              <a:ext cx="7105650" cy="21605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" name="Text Box 1032"/>
            <p:cNvSpPr txBox="1">
              <a:spLocks noChangeArrowheads="1"/>
            </p:cNvSpPr>
            <p:nvPr/>
          </p:nvSpPr>
          <p:spPr bwMode="auto">
            <a:xfrm>
              <a:off x="3119759" y="3535742"/>
              <a:ext cx="2893666" cy="400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 smtClean="0"/>
                <a:t>测量精度</a:t>
              </a:r>
              <a:r>
                <a:rPr lang="zh-CN" altLang="en-US" sz="2000" b="1" dirty="0"/>
                <a:t>分类示意图</a:t>
              </a:r>
            </a:p>
          </p:txBody>
        </p:sp>
      </p:grpSp>
      <p:sp>
        <p:nvSpPr>
          <p:cNvPr id="19" name="椭圆 18"/>
          <p:cNvSpPr>
            <a:spLocks noChangeArrowheads="1"/>
          </p:cNvSpPr>
          <p:nvPr/>
        </p:nvSpPr>
        <p:spPr bwMode="auto">
          <a:xfrm>
            <a:off x="1981002" y="1431903"/>
            <a:ext cx="914400" cy="914400"/>
          </a:xfrm>
          <a:prstGeom prst="ellipse">
            <a:avLst/>
          </a:prstGeom>
          <a:noFill/>
          <a:ln w="57150" algn="ctr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2800"/>
          </a:p>
        </p:txBody>
      </p:sp>
      <p:sp>
        <p:nvSpPr>
          <p:cNvPr id="20" name="椭圆 19"/>
          <p:cNvSpPr>
            <a:spLocks noChangeArrowheads="1"/>
          </p:cNvSpPr>
          <p:nvPr/>
        </p:nvSpPr>
        <p:spPr bwMode="auto">
          <a:xfrm>
            <a:off x="6848277" y="1892278"/>
            <a:ext cx="914400" cy="914400"/>
          </a:xfrm>
          <a:prstGeom prst="ellipse">
            <a:avLst/>
          </a:prstGeom>
          <a:noFill/>
          <a:ln w="57150" algn="ctr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2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3" grpId="0" autoUpdateAnimBg="0"/>
      <p:bldP spid="15" grpId="0" autoUpdateAnimBg="0"/>
      <p:bldP spid="19" grpId="0" animBg="1"/>
      <p:bldP spid="20" grpId="0" animBg="1"/>
      <p:bldP spid="20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29</a:t>
            </a:fld>
            <a:endParaRPr lang="en-US" altLang="zh-CN" sz="140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946150" y="1090898"/>
            <a:ext cx="685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/>
              <a:t>表示测量结果中</a:t>
            </a:r>
            <a:r>
              <a:rPr lang="zh-CN" altLang="en-US" b="1" dirty="0">
                <a:solidFill>
                  <a:srgbClr val="FF0000"/>
                </a:solidFill>
              </a:rPr>
              <a:t>系统误差</a:t>
            </a:r>
            <a:r>
              <a:rPr lang="zh-CN" altLang="en-US" b="1" dirty="0"/>
              <a:t>的影响程度。</a:t>
            </a: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467544" y="389607"/>
            <a:ext cx="2736304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（2）</a:t>
            </a:r>
            <a:r>
              <a:rPr lang="zh-CN" altLang="en-US" sz="2800" b="1" dirty="0" smtClean="0"/>
              <a:t>正确度</a:t>
            </a:r>
            <a:endParaRPr lang="zh-CN" altLang="en-US" b="1" dirty="0"/>
          </a:p>
        </p:txBody>
      </p:sp>
      <p:pic>
        <p:nvPicPr>
          <p:cNvPr id="7" name="Picture 1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914674"/>
            <a:ext cx="7105650" cy="216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Group 30"/>
          <p:cNvGrpSpPr/>
          <p:nvPr/>
        </p:nvGrpSpPr>
        <p:grpSpPr bwMode="auto">
          <a:xfrm>
            <a:off x="4230818" y="1724674"/>
            <a:ext cx="2860138" cy="1837700"/>
            <a:chOff x="3051" y="1471"/>
            <a:chExt cx="1331" cy="836"/>
          </a:xfrm>
        </p:grpSpPr>
        <p:sp>
          <p:nvSpPr>
            <p:cNvPr id="9" name="AutoShape 20"/>
            <p:cNvSpPr/>
            <p:nvPr/>
          </p:nvSpPr>
          <p:spPr bwMode="auto">
            <a:xfrm>
              <a:off x="3051" y="1471"/>
              <a:ext cx="1110" cy="287"/>
            </a:xfrm>
            <a:prstGeom prst="borderCallout2">
              <a:avLst>
                <a:gd name="adj1" fmla="val 18750"/>
                <a:gd name="adj2" fmla="val -3213"/>
                <a:gd name="adj3" fmla="val 18750"/>
                <a:gd name="adj4" fmla="val -11171"/>
                <a:gd name="adj5" fmla="val 216773"/>
                <a:gd name="adj6" fmla="val -23761"/>
              </a:avLst>
            </a:prstGeom>
            <a:noFill/>
            <a:ln w="38100">
              <a:solidFill>
                <a:srgbClr val="FF3300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2800" b="1" dirty="0"/>
                <a:t>正确度高</a:t>
              </a:r>
            </a:p>
          </p:txBody>
        </p:sp>
        <p:sp>
          <p:nvSpPr>
            <p:cNvPr id="10" name="Line 21"/>
            <p:cNvSpPr>
              <a:spLocks noChangeShapeType="1"/>
            </p:cNvSpPr>
            <p:nvPr/>
          </p:nvSpPr>
          <p:spPr bwMode="auto">
            <a:xfrm>
              <a:off x="4161" y="1588"/>
              <a:ext cx="221" cy="71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29"/>
          <p:cNvGrpSpPr/>
          <p:nvPr/>
        </p:nvGrpSpPr>
        <p:grpSpPr bwMode="auto">
          <a:xfrm>
            <a:off x="2328466" y="3952899"/>
            <a:ext cx="3251200" cy="2284413"/>
            <a:chOff x="784" y="2257"/>
            <a:chExt cx="2048" cy="1439"/>
          </a:xfrm>
        </p:grpSpPr>
        <p:sp>
          <p:nvSpPr>
            <p:cNvPr id="12" name="AutoShape 26"/>
            <p:cNvSpPr/>
            <p:nvPr/>
          </p:nvSpPr>
          <p:spPr bwMode="auto">
            <a:xfrm>
              <a:off x="1680" y="3312"/>
              <a:ext cx="1152" cy="384"/>
            </a:xfrm>
            <a:prstGeom prst="borderCallout1">
              <a:avLst>
                <a:gd name="adj1" fmla="val 16695"/>
                <a:gd name="adj2" fmla="val 100742"/>
                <a:gd name="adj3" fmla="val -346097"/>
                <a:gd name="adj4" fmla="val 118319"/>
              </a:avLst>
            </a:prstGeom>
            <a:noFill/>
            <a:ln w="38100">
              <a:solidFill>
                <a:srgbClr val="00CC66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2800" b="1"/>
                <a:t>正确度低</a:t>
              </a:r>
            </a:p>
          </p:txBody>
        </p:sp>
        <p:sp>
          <p:nvSpPr>
            <p:cNvPr id="13" name="Line 27"/>
            <p:cNvSpPr>
              <a:spLocks noChangeShapeType="1"/>
            </p:cNvSpPr>
            <p:nvPr/>
          </p:nvSpPr>
          <p:spPr bwMode="auto">
            <a:xfrm flipH="1" flipV="1">
              <a:off x="784" y="2257"/>
              <a:ext cx="896" cy="1055"/>
            </a:xfrm>
            <a:prstGeom prst="line">
              <a:avLst/>
            </a:prstGeom>
            <a:noFill/>
            <a:ln w="38100">
              <a:solidFill>
                <a:srgbClr val="00CC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30</a:t>
            </a:fld>
            <a:endParaRPr lang="en-US" altLang="zh-CN" sz="1400"/>
          </a:p>
        </p:txBody>
      </p:sp>
      <p:sp>
        <p:nvSpPr>
          <p:cNvPr id="5" name="Text Box 1029"/>
          <p:cNvSpPr txBox="1">
            <a:spLocks noChangeArrowheads="1"/>
          </p:cNvSpPr>
          <p:nvPr/>
        </p:nvSpPr>
        <p:spPr bwMode="auto">
          <a:xfrm>
            <a:off x="377378" y="317600"/>
            <a:ext cx="43386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（3）准确度——</a:t>
            </a:r>
          </a:p>
        </p:txBody>
      </p:sp>
      <p:grpSp>
        <p:nvGrpSpPr>
          <p:cNvPr id="6" name="组合 5"/>
          <p:cNvGrpSpPr/>
          <p:nvPr/>
        </p:nvGrpSpPr>
        <p:grpSpPr bwMode="auto">
          <a:xfrm>
            <a:off x="977900" y="3644579"/>
            <a:ext cx="7105650" cy="2808757"/>
            <a:chOff x="977999" y="3716685"/>
            <a:chExt cx="7105650" cy="2807946"/>
          </a:xfrm>
        </p:grpSpPr>
        <p:sp>
          <p:nvSpPr>
            <p:cNvPr id="7" name="Text Box 1032"/>
            <p:cNvSpPr txBox="1">
              <a:spLocks noChangeArrowheads="1"/>
            </p:cNvSpPr>
            <p:nvPr/>
          </p:nvSpPr>
          <p:spPr bwMode="auto">
            <a:xfrm>
              <a:off x="3227883" y="6127756"/>
              <a:ext cx="271236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 smtClean="0"/>
                <a:t>测量精度</a:t>
              </a:r>
              <a:r>
                <a:rPr lang="zh-CN" altLang="en-US" sz="2000" b="1" dirty="0"/>
                <a:t>分类示意图</a:t>
              </a:r>
            </a:p>
          </p:txBody>
        </p:sp>
        <p:pic>
          <p:nvPicPr>
            <p:cNvPr id="8" name="Picture 1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7999" y="3716685"/>
              <a:ext cx="7105650" cy="21605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9" name="Group 1041"/>
          <p:cNvGrpSpPr/>
          <p:nvPr/>
        </p:nvGrpSpPr>
        <p:grpSpPr bwMode="auto">
          <a:xfrm>
            <a:off x="2195513" y="2534145"/>
            <a:ext cx="3240088" cy="1758950"/>
            <a:chOff x="1368" y="1292"/>
            <a:chExt cx="2041" cy="1108"/>
          </a:xfrm>
        </p:grpSpPr>
        <p:sp>
          <p:nvSpPr>
            <p:cNvPr id="10" name="AutoShape 1037"/>
            <p:cNvSpPr/>
            <p:nvPr/>
          </p:nvSpPr>
          <p:spPr bwMode="auto">
            <a:xfrm>
              <a:off x="1368" y="1292"/>
              <a:ext cx="1704" cy="383"/>
            </a:xfrm>
            <a:prstGeom prst="borderCallout2">
              <a:avLst>
                <a:gd name="adj1" fmla="val 15000"/>
                <a:gd name="adj2" fmla="val -2815"/>
                <a:gd name="adj3" fmla="val 35625"/>
                <a:gd name="adj4" fmla="val -1231"/>
                <a:gd name="adj5" fmla="val 205625"/>
                <a:gd name="adj6" fmla="val 412"/>
              </a:avLst>
            </a:prstGeom>
            <a:noFill/>
            <a:ln w="38100">
              <a:solidFill>
                <a:srgbClr val="FF3300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3200" b="1" dirty="0"/>
                <a:t>准 确 度 低</a:t>
              </a:r>
            </a:p>
          </p:txBody>
        </p:sp>
        <p:sp>
          <p:nvSpPr>
            <p:cNvPr id="11" name="Line 1038"/>
            <p:cNvSpPr>
              <a:spLocks noChangeShapeType="1"/>
            </p:cNvSpPr>
            <p:nvPr/>
          </p:nvSpPr>
          <p:spPr bwMode="auto">
            <a:xfrm flipH="1">
              <a:off x="2256" y="1680"/>
              <a:ext cx="0" cy="72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040"/>
            <p:cNvSpPr>
              <a:spLocks noChangeShapeType="1"/>
            </p:cNvSpPr>
            <p:nvPr/>
          </p:nvSpPr>
          <p:spPr bwMode="auto">
            <a:xfrm>
              <a:off x="3073" y="1440"/>
              <a:ext cx="336" cy="72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" name="AutoShape 1033"/>
          <p:cNvSpPr>
            <a:spLocks noChangeArrowheads="1"/>
          </p:cNvSpPr>
          <p:nvPr/>
        </p:nvSpPr>
        <p:spPr bwMode="auto">
          <a:xfrm>
            <a:off x="6516688" y="2107108"/>
            <a:ext cx="1676400" cy="1219200"/>
          </a:xfrm>
          <a:prstGeom prst="wedgeEllipseCallout">
            <a:avLst>
              <a:gd name="adj1" fmla="val -12023"/>
              <a:gd name="adj2" fmla="val 132421"/>
            </a:avLst>
          </a:prstGeom>
          <a:noFill/>
          <a:ln w="38100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800" b="1" dirty="0" smtClean="0"/>
              <a:t>准确度</a:t>
            </a:r>
            <a:r>
              <a:rPr lang="zh-CN" altLang="en-US" sz="2800" b="1" dirty="0"/>
              <a:t>高</a:t>
            </a:r>
          </a:p>
        </p:txBody>
      </p:sp>
      <p:sp>
        <p:nvSpPr>
          <p:cNvPr id="14" name="Text Box 1028"/>
          <p:cNvSpPr txBox="1">
            <a:spLocks noChangeArrowheads="1"/>
          </p:cNvSpPr>
          <p:nvPr/>
        </p:nvSpPr>
        <p:spPr bwMode="auto">
          <a:xfrm>
            <a:off x="469924" y="1097224"/>
            <a:ext cx="8147050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       表示测量结果中</a:t>
            </a:r>
            <a:r>
              <a:rPr lang="zh-CN" altLang="en-US" b="1" dirty="0">
                <a:solidFill>
                  <a:srgbClr val="FF0000"/>
                </a:solidFill>
              </a:rPr>
              <a:t>随机误差</a:t>
            </a:r>
            <a:r>
              <a:rPr lang="zh-CN" altLang="en-US" b="1" dirty="0"/>
              <a:t>(</a:t>
            </a:r>
            <a:r>
              <a:rPr lang="zh-CN" altLang="en-US" b="1" dirty="0">
                <a:solidFill>
                  <a:srgbClr val="FF3300"/>
                </a:solidFill>
              </a:rPr>
              <a:t>精密度</a:t>
            </a:r>
            <a:r>
              <a:rPr lang="en-US" altLang="zh-CN" b="1" dirty="0"/>
              <a:t>)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rgbClr val="FF0000"/>
                </a:solidFill>
              </a:rPr>
              <a:t>系统误差</a:t>
            </a:r>
            <a:r>
              <a:rPr lang="zh-CN" altLang="en-US" b="1" dirty="0"/>
              <a:t>（</a:t>
            </a:r>
            <a:r>
              <a:rPr lang="zh-CN" altLang="en-US" b="1" dirty="0">
                <a:solidFill>
                  <a:srgbClr val="FF3300"/>
                </a:solidFill>
              </a:rPr>
              <a:t>正确度</a:t>
            </a:r>
            <a:r>
              <a:rPr lang="zh-CN" altLang="en-US" b="1" dirty="0"/>
              <a:t>）综合的影响</a:t>
            </a:r>
            <a:r>
              <a:rPr lang="zh-CN" altLang="en-US" b="1" dirty="0" smtClean="0"/>
              <a:t>程度。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3" grpId="0" animBg="1" autoUpdateAnimBg="0"/>
      <p:bldP spid="14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31</a:t>
            </a:fld>
            <a:endParaRPr lang="en-US" altLang="zh-CN" sz="140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17476" y="351445"/>
            <a:ext cx="5181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2.3.4  测量误差的合成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11560" y="1556792"/>
            <a:ext cx="7791400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        测量误差的合成可分</a:t>
            </a:r>
            <a:r>
              <a:rPr lang="zh-CN" altLang="en-US" b="1" dirty="0">
                <a:solidFill>
                  <a:srgbClr val="FF0000"/>
                </a:solidFill>
              </a:rPr>
              <a:t>系统误差的合成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rgbClr val="FF0000"/>
                </a:solidFill>
              </a:rPr>
              <a:t>随机误差的合成</a:t>
            </a:r>
            <a:r>
              <a:rPr lang="zh-CN" altLang="en-US" b="1" dirty="0"/>
              <a:t>。</a:t>
            </a:r>
          </a:p>
        </p:txBody>
      </p:sp>
      <p:grpSp>
        <p:nvGrpSpPr>
          <p:cNvPr id="7" name="Group 18"/>
          <p:cNvGrpSpPr/>
          <p:nvPr/>
        </p:nvGrpSpPr>
        <p:grpSpPr bwMode="auto">
          <a:xfrm>
            <a:off x="827584" y="3490402"/>
            <a:ext cx="1727200" cy="1376363"/>
            <a:chOff x="768" y="1197"/>
            <a:chExt cx="1088" cy="867"/>
          </a:xfrm>
        </p:grpSpPr>
        <p:sp>
          <p:nvSpPr>
            <p:cNvPr id="8" name="AutoShape 7"/>
            <p:cNvSpPr/>
            <p:nvPr/>
          </p:nvSpPr>
          <p:spPr bwMode="auto">
            <a:xfrm>
              <a:off x="768" y="1288"/>
              <a:ext cx="192" cy="776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960" y="1197"/>
              <a:ext cx="89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/>
                <a:t>系统误差</a:t>
              </a:r>
            </a:p>
          </p:txBody>
        </p:sp>
      </p:grp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115616" y="4561964"/>
            <a:ext cx="29686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随机误差</a:t>
            </a:r>
          </a:p>
        </p:txBody>
      </p:sp>
      <p:grpSp>
        <p:nvGrpSpPr>
          <p:cNvPr id="11" name="Group 19"/>
          <p:cNvGrpSpPr/>
          <p:nvPr/>
        </p:nvGrpSpPr>
        <p:grpSpPr bwMode="auto">
          <a:xfrm>
            <a:off x="2797943" y="3059097"/>
            <a:ext cx="2927350" cy="1223961"/>
            <a:chOff x="1804" y="1079"/>
            <a:chExt cx="1844" cy="771"/>
          </a:xfrm>
        </p:grpSpPr>
        <p:sp>
          <p:nvSpPr>
            <p:cNvPr id="12" name="AutoShape 11"/>
            <p:cNvSpPr/>
            <p:nvPr/>
          </p:nvSpPr>
          <p:spPr bwMode="auto">
            <a:xfrm>
              <a:off x="1804" y="1210"/>
              <a:ext cx="192" cy="640"/>
            </a:xfrm>
            <a:prstGeom prst="leftBrace">
              <a:avLst>
                <a:gd name="adj1" fmla="val 18750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1948" y="1079"/>
              <a:ext cx="170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/>
                <a:t>已定系统误差</a:t>
              </a:r>
              <a:r>
                <a:rPr lang="zh-CN" altLang="en-US" b="1" dirty="0" smtClean="0"/>
                <a:t>—</a:t>
              </a:r>
              <a:endParaRPr lang="zh-CN" altLang="en-US" b="1" dirty="0"/>
            </a:p>
          </p:txBody>
        </p:sp>
      </p:grp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3026643" y="3995028"/>
            <a:ext cx="3057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未定系统误差</a:t>
            </a:r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5649093" y="3090239"/>
            <a:ext cx="30273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代数和法合成</a:t>
            </a:r>
          </a:p>
        </p:txBody>
      </p:sp>
      <p:grpSp>
        <p:nvGrpSpPr>
          <p:cNvPr id="16" name="Group 20"/>
          <p:cNvGrpSpPr/>
          <p:nvPr/>
        </p:nvGrpSpPr>
        <p:grpSpPr bwMode="auto">
          <a:xfrm>
            <a:off x="5364088" y="4257164"/>
            <a:ext cx="3285362" cy="685800"/>
            <a:chOff x="3168" y="1680"/>
            <a:chExt cx="1799" cy="432"/>
          </a:xfrm>
        </p:grpSpPr>
        <p:sp>
          <p:nvSpPr>
            <p:cNvPr id="17" name="AutoShape 15"/>
            <p:cNvSpPr/>
            <p:nvPr/>
          </p:nvSpPr>
          <p:spPr bwMode="auto">
            <a:xfrm>
              <a:off x="3168" y="1680"/>
              <a:ext cx="144" cy="432"/>
            </a:xfrm>
            <a:prstGeom prst="rightBrace">
              <a:avLst>
                <a:gd name="adj1" fmla="val 25000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3315" y="1696"/>
              <a:ext cx="165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 smtClean="0"/>
                <a:t>—</a:t>
              </a:r>
              <a:r>
                <a:rPr lang="zh-CN" altLang="en-US" b="1" dirty="0" smtClean="0">
                  <a:solidFill>
                    <a:srgbClr val="FF0000"/>
                  </a:solidFill>
                </a:rPr>
                <a:t>方</a:t>
              </a:r>
              <a:r>
                <a:rPr lang="zh-CN" altLang="en-US" b="1" dirty="0">
                  <a:solidFill>
                    <a:srgbClr val="FF0000"/>
                  </a:solidFill>
                </a:rPr>
                <a:t>和根法合成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10" grpId="0" autoUpdateAnimBg="0"/>
      <p:bldP spid="14" grpId="0" autoUpdateAnimBg="0"/>
      <p:bldP spid="15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32</a:t>
            </a:fld>
            <a:endParaRPr lang="en-US" altLang="zh-CN" sz="1400"/>
          </a:p>
        </p:txBody>
      </p:sp>
      <p:sp>
        <p:nvSpPr>
          <p:cNvPr id="5" name="Text Box 21"/>
          <p:cNvSpPr txBox="1">
            <a:spLocks noChangeArrowheads="1"/>
          </p:cNvSpPr>
          <p:nvPr/>
        </p:nvSpPr>
        <p:spPr bwMode="auto">
          <a:xfrm>
            <a:off x="456927" y="260648"/>
            <a:ext cx="54832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1. 直接测量</a:t>
            </a:r>
            <a:r>
              <a:rPr lang="zh-CN" altLang="en-US" sz="2800" b="1" dirty="0" smtClean="0"/>
              <a:t>法的</a:t>
            </a:r>
            <a:r>
              <a:rPr lang="zh-CN" altLang="en-US" sz="2800" b="1" dirty="0"/>
              <a:t>误差合成</a:t>
            </a:r>
            <a:endParaRPr lang="en-US" altLang="zh-CN" sz="2800" b="1" dirty="0"/>
          </a:p>
        </p:txBody>
      </p:sp>
      <p:graphicFrame>
        <p:nvGraphicFramePr>
          <p:cNvPr id="6" name="Object 23"/>
          <p:cNvGraphicFramePr>
            <a:graphicFrameLocks noChangeAspect="1"/>
          </p:cNvGraphicFramePr>
          <p:nvPr/>
        </p:nvGraphicFramePr>
        <p:xfrm>
          <a:off x="1475656" y="2348880"/>
          <a:ext cx="5707354" cy="1368152"/>
        </p:xfrm>
        <a:graphic>
          <a:graphicData uri="http://schemas.openxmlformats.org/presentationml/2006/ole">
            <p:oleObj spid="_x0000_s62479" name="Equation" r:id="rId3" imgW="46939200" imgH="10363200" progId="">
              <p:embed/>
            </p:oleObj>
          </a:graphicData>
        </a:graphic>
      </p:graphicFrame>
      <p:graphicFrame>
        <p:nvGraphicFramePr>
          <p:cNvPr id="7" name="Object 27"/>
          <p:cNvGraphicFramePr>
            <a:graphicFrameLocks noChangeAspect="1"/>
          </p:cNvGraphicFramePr>
          <p:nvPr/>
        </p:nvGraphicFramePr>
        <p:xfrm>
          <a:off x="1357290" y="4134966"/>
          <a:ext cx="6090738" cy="524718"/>
        </p:xfrm>
        <a:graphic>
          <a:graphicData uri="http://schemas.openxmlformats.org/presentationml/2006/ole">
            <p:oleObj spid="_x0000_s62480" name="Equation" r:id="rId4" imgW="61569600" imgH="5486400" progId="">
              <p:embed/>
            </p:oleObj>
          </a:graphicData>
        </a:graphic>
      </p:graphicFrame>
      <p:sp>
        <p:nvSpPr>
          <p:cNvPr id="8" name="Text Box 22"/>
          <p:cNvSpPr txBox="1">
            <a:spLocks noChangeArrowheads="1"/>
          </p:cNvSpPr>
          <p:nvPr/>
        </p:nvSpPr>
        <p:spPr bwMode="auto">
          <a:xfrm>
            <a:off x="395536" y="1397719"/>
            <a:ext cx="74168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（1）</a:t>
            </a:r>
            <a:r>
              <a:rPr lang="zh-CN" altLang="en-US" b="1" dirty="0"/>
              <a:t>已定系统误差</a:t>
            </a:r>
            <a:r>
              <a:rPr lang="en-US" altLang="zh-CN" b="1" dirty="0"/>
              <a:t>Δ</a:t>
            </a:r>
            <a:r>
              <a:rPr lang="zh-CN" altLang="en-US" b="1" baseline="-25000" dirty="0"/>
              <a:t>系统</a:t>
            </a:r>
            <a:r>
              <a:rPr lang="zh-CN" altLang="en-US" b="1" dirty="0"/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按代数和法合成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8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33</a:t>
            </a:fld>
            <a:endParaRPr lang="en-US" altLang="zh-CN" sz="140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98648" y="332656"/>
            <a:ext cx="8305800" cy="559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/>
              <a:t>（2） </a:t>
            </a:r>
            <a:r>
              <a:rPr lang="zh-CN" altLang="en-US" sz="2800" b="1" dirty="0"/>
              <a:t>随机误差和未定系统误差</a:t>
            </a:r>
            <a:r>
              <a:rPr lang="zh-CN" altLang="en-US" sz="2800" dirty="0"/>
              <a:t>—</a:t>
            </a:r>
            <a:r>
              <a:rPr lang="zh-CN" altLang="en-US" sz="2800" b="1" dirty="0">
                <a:solidFill>
                  <a:srgbClr val="FF0000"/>
                </a:solidFill>
              </a:rPr>
              <a:t>按方和根法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合成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404958" y="1416744"/>
          <a:ext cx="6096000" cy="2300288"/>
        </p:xfrm>
        <a:graphic>
          <a:graphicData uri="http://schemas.openxmlformats.org/presentationml/2006/ole">
            <p:oleObj spid="_x0000_s68630" name="Equation" r:id="rId3" imgW="48463200" imgH="18288000" progId="">
              <p:embed/>
            </p:oleObj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1428728" y="3937359"/>
          <a:ext cx="6108648" cy="1003809"/>
        </p:xfrm>
        <a:graphic>
          <a:graphicData uri="http://schemas.openxmlformats.org/presentationml/2006/ole">
            <p:oleObj spid="_x0000_s68631" name="Equation" r:id="rId4" imgW="66751200" imgH="10972800" progId="">
              <p:embed/>
            </p:oleObj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2508278" y="5157192"/>
          <a:ext cx="3647898" cy="868789"/>
        </p:xfrm>
        <a:graphic>
          <a:graphicData uri="http://schemas.openxmlformats.org/presentationml/2006/ole">
            <p:oleObj spid="_x0000_s68632" name="Equation" r:id="rId5" imgW="21640800" imgH="54864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34</a:t>
            </a:fld>
            <a:endParaRPr lang="en-US" altLang="zh-CN" sz="140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80541" y="317599"/>
            <a:ext cx="60356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2. 间接测量法的测量误差合成</a:t>
            </a:r>
            <a:endParaRPr lang="en-US" altLang="zh-CN" sz="2800" b="1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69925" y="1181385"/>
            <a:ext cx="72548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设</a:t>
            </a:r>
            <a:r>
              <a:rPr lang="en-US" altLang="zh-CN" b="1" i="1" dirty="0"/>
              <a:t>Y </a:t>
            </a:r>
            <a:r>
              <a:rPr lang="zh-CN" altLang="en-US" b="1" dirty="0"/>
              <a:t>为被测量， </a:t>
            </a:r>
            <a:r>
              <a:rPr lang="en-US" altLang="zh-CN" b="1" i="1" dirty="0"/>
              <a:t>x</a:t>
            </a:r>
            <a:r>
              <a:rPr lang="en-US" altLang="zh-CN" b="1" i="1" baseline="-25000" dirty="0"/>
              <a:t>i</a:t>
            </a:r>
            <a:r>
              <a:rPr lang="zh-CN" altLang="en-US" b="1" dirty="0"/>
              <a:t>为间接测量值，则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857488" y="1725614"/>
          <a:ext cx="1721408" cy="631816"/>
        </p:xfrm>
        <a:graphic>
          <a:graphicData uri="http://schemas.openxmlformats.org/presentationml/2006/ole">
            <p:oleObj spid="_x0000_s69654" name="Equation" r:id="rId3" imgW="14935200" imgH="5486400" progId="">
              <p:embed/>
            </p:oleObj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1357290" y="5357826"/>
          <a:ext cx="6239616" cy="909944"/>
        </p:xfrm>
        <a:graphic>
          <a:graphicData uri="http://schemas.openxmlformats.org/presentationml/2006/ole">
            <p:oleObj spid="_x0000_s69655" name="Equation" r:id="rId4" imgW="71018400" imgH="10363200" progId="">
              <p:embed/>
            </p:oleObj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1655218" y="2992803"/>
          <a:ext cx="5345674" cy="2150709"/>
        </p:xfrm>
        <a:graphic>
          <a:graphicData uri="http://schemas.openxmlformats.org/presentationml/2006/ole">
            <p:oleObj spid="_x0000_s69656" name="Equation" r:id="rId5" imgW="53035200" imgH="21336000" progId="">
              <p:embed/>
            </p:oleObj>
          </a:graphicData>
        </a:graphic>
      </p:graphicFrame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439292" y="2395831"/>
            <a:ext cx="64901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（1）已定系统误差的合成—按代数和法合成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12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35</a:t>
            </a:fld>
            <a:endParaRPr lang="en-US" altLang="zh-CN" sz="140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32184" y="332656"/>
            <a:ext cx="7696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（2）随机误差与未定系统误差的合成</a:t>
            </a: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1102568" y="1132363"/>
          <a:ext cx="6997824" cy="2368645"/>
        </p:xfrm>
        <a:graphic>
          <a:graphicData uri="http://schemas.openxmlformats.org/presentationml/2006/ole">
            <p:oleObj spid="_x0000_s70685" name="Equation" r:id="rId3" imgW="79248000" imgH="26822400" progId="">
              <p:embed/>
            </p:oleObj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323117" y="4643446"/>
          <a:ext cx="4329003" cy="1449850"/>
        </p:xfrm>
        <a:graphic>
          <a:graphicData uri="http://schemas.openxmlformats.org/presentationml/2006/ole">
            <p:oleObj spid="_x0000_s70686" name="Equation" r:id="rId4" imgW="41757600" imgH="13411200" progId="">
              <p:embed/>
            </p:oleObj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1428728" y="3679808"/>
          <a:ext cx="4390328" cy="613287"/>
        </p:xfrm>
        <a:graphic>
          <a:graphicData uri="http://schemas.openxmlformats.org/presentationml/2006/ole">
            <p:oleObj spid="_x0000_s70687" name="Equation" r:id="rId5" imgW="39319200" imgH="5486400" progId="">
              <p:embed/>
            </p:oleObj>
          </a:graphicData>
        </a:graphic>
      </p:graphicFrame>
      <p:graphicFrame>
        <p:nvGraphicFramePr>
          <p:cNvPr id="11" name="Object 13"/>
          <p:cNvGraphicFramePr>
            <a:graphicFrameLocks noChangeAspect="1"/>
          </p:cNvGraphicFramePr>
          <p:nvPr/>
        </p:nvGraphicFramePr>
        <p:xfrm>
          <a:off x="5940152" y="4941168"/>
          <a:ext cx="2520280" cy="669192"/>
        </p:xfrm>
        <a:graphic>
          <a:graphicData uri="http://schemas.openxmlformats.org/presentationml/2006/ole">
            <p:oleObj spid="_x0000_s70688" name="Equation" r:id="rId6" imgW="19507200" imgH="51816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36</a:t>
            </a:fld>
            <a:endParaRPr lang="en-US" altLang="zh-CN" sz="140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00359" y="1196752"/>
            <a:ext cx="8520113" cy="3681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         </a:t>
            </a:r>
            <a:r>
              <a:rPr lang="zh-CN" altLang="en-US" sz="2800" b="1" dirty="0" smtClean="0"/>
              <a:t>例：在</a:t>
            </a:r>
            <a:r>
              <a:rPr lang="zh-CN" altLang="en-US" sz="2800" b="1" dirty="0"/>
              <a:t>立式光学计上，用四等量块做基准测量公称尺寸为100</a:t>
            </a:r>
            <a:r>
              <a:rPr lang="en-US" altLang="zh-CN" sz="2800" b="1" dirty="0"/>
              <a:t>mm</a:t>
            </a:r>
            <a:r>
              <a:rPr lang="zh-CN" altLang="en-US" sz="2800" b="1" dirty="0"/>
              <a:t>的量规。测量室温为（23±2）</a:t>
            </a:r>
            <a:r>
              <a:rPr lang="zh-CN" altLang="en-US" sz="2800" b="1" baseline="30000" dirty="0"/>
              <a:t>0</a:t>
            </a:r>
            <a:r>
              <a:rPr lang="en-US" altLang="zh-CN" sz="2800" b="1" dirty="0"/>
              <a:t>C,</a:t>
            </a:r>
            <a:r>
              <a:rPr lang="zh-CN" altLang="en-US" sz="2800" b="1" dirty="0"/>
              <a:t>量规与量块温差不超过1</a:t>
            </a:r>
            <a:r>
              <a:rPr lang="zh-CN" altLang="en-US" sz="2800" b="1" baseline="30000" dirty="0"/>
              <a:t>0</a:t>
            </a:r>
            <a:r>
              <a:rPr lang="en-US" altLang="zh-CN" sz="2800" b="1" dirty="0"/>
              <a:t>C </a:t>
            </a:r>
            <a:r>
              <a:rPr lang="zh-CN" altLang="en-US" sz="2800" b="1" dirty="0"/>
              <a:t>，已知光学计有+0.5</a:t>
            </a:r>
            <a:r>
              <a:rPr lang="en-US" altLang="zh-CN" sz="2800" b="1" dirty="0" err="1"/>
              <a:t>μm</a:t>
            </a:r>
            <a:r>
              <a:rPr lang="zh-CN" altLang="en-US" sz="2800" b="1" dirty="0"/>
              <a:t>的零位误差，100</a:t>
            </a:r>
            <a:r>
              <a:rPr lang="en-US" altLang="zh-CN" sz="2800" b="1" dirty="0"/>
              <a:t>mm</a:t>
            </a:r>
            <a:r>
              <a:rPr lang="zh-CN" altLang="en-US" sz="2800" b="1" dirty="0"/>
              <a:t>的量块有-0.6</a:t>
            </a:r>
            <a:r>
              <a:rPr lang="en-US" altLang="zh-CN" sz="2800" b="1" dirty="0" err="1"/>
              <a:t>μm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尺寸误差，量块材料的线胀系数为10×10</a:t>
            </a:r>
            <a:r>
              <a:rPr lang="zh-CN" altLang="en-US" sz="2800" b="1" baseline="30000" dirty="0"/>
              <a:t>-6</a:t>
            </a:r>
            <a:r>
              <a:rPr lang="zh-CN" altLang="en-US" sz="2800" b="1" dirty="0"/>
              <a:t>/</a:t>
            </a:r>
            <a:r>
              <a:rPr lang="zh-CN" altLang="en-US" sz="2800" b="1" baseline="30000" dirty="0"/>
              <a:t>0</a:t>
            </a:r>
            <a:r>
              <a:rPr lang="en-US" altLang="zh-CN" sz="2800" b="1" dirty="0"/>
              <a:t>C </a:t>
            </a:r>
            <a:r>
              <a:rPr lang="zh-CN" altLang="en-US" sz="2800" b="1" dirty="0"/>
              <a:t>，量规的线胀系数为11.5×10</a:t>
            </a:r>
            <a:r>
              <a:rPr lang="zh-CN" altLang="en-US" sz="2800" b="1" baseline="30000" dirty="0"/>
              <a:t>-6</a:t>
            </a:r>
            <a:r>
              <a:rPr lang="zh-CN" altLang="en-US" sz="2800" b="1" dirty="0"/>
              <a:t>/</a:t>
            </a:r>
            <a:r>
              <a:rPr lang="zh-CN" altLang="en-US" sz="2800" b="1" baseline="30000" dirty="0"/>
              <a:t>0</a:t>
            </a:r>
            <a:r>
              <a:rPr lang="en-US" altLang="zh-CN" sz="2800" b="1" dirty="0"/>
              <a:t>C。</a:t>
            </a:r>
            <a:r>
              <a:rPr lang="zh-CN" altLang="en-US" sz="2800" b="1" dirty="0"/>
              <a:t>光学计的示值误差不大于±0.5</a:t>
            </a:r>
            <a:r>
              <a:rPr lang="en-US" altLang="zh-CN" sz="2800" b="1" dirty="0" err="1"/>
              <a:t>μm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光学计的读数为+2.5</a:t>
            </a:r>
            <a:r>
              <a:rPr lang="en-US" altLang="zh-CN" sz="2800" b="1" dirty="0" err="1"/>
              <a:t>μm</a:t>
            </a:r>
            <a:r>
              <a:rPr lang="en-US" altLang="zh-CN" sz="2800" b="1" dirty="0"/>
              <a:t>。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755972" y="5142135"/>
            <a:ext cx="72564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3300"/>
                </a:solidFill>
              </a:rPr>
              <a:t>求量规的实际尺寸及极限偏差。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028384" y="6542264"/>
            <a:ext cx="658416" cy="260226"/>
          </a:xfrm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087CF1B-02DF-4604-B806-D826D01389BD}" type="slidenum">
              <a:rPr kumimoji="0" lang="zh-CN" altLang="en-US" sz="1400" smtClean="0"/>
              <a:pPr eaLnBrk="1" hangingPunct="1"/>
              <a:t>37</a:t>
            </a:fld>
            <a:endParaRPr kumimoji="0" lang="en-US" altLang="zh-CN" sz="1400" dirty="0" smtClean="0"/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1066800" y="228600"/>
            <a:ext cx="487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解</a:t>
            </a:r>
            <a:r>
              <a:rPr lang="zh-CN" altLang="en-US" b="1" dirty="0">
                <a:sym typeface="Wingdings" panose="05000000000000000000" pitchFamily="2" charset="2"/>
              </a:rPr>
              <a:t> （1） 已定系统误差：</a:t>
            </a:r>
            <a:endParaRPr lang="zh-CN" altLang="en-US" b="1" dirty="0"/>
          </a:p>
        </p:txBody>
      </p:sp>
      <p:graphicFrame>
        <p:nvGraphicFramePr>
          <p:cNvPr id="76805" name="Object 5"/>
          <p:cNvGraphicFramePr>
            <a:graphicFrameLocks noChangeAspect="1"/>
          </p:cNvGraphicFramePr>
          <p:nvPr/>
        </p:nvGraphicFramePr>
        <p:xfrm>
          <a:off x="990600" y="2509838"/>
          <a:ext cx="6705600" cy="1455737"/>
        </p:xfrm>
        <a:graphic>
          <a:graphicData uri="http://schemas.openxmlformats.org/presentationml/2006/ole">
            <p:oleObj spid="_x0000_s71730" name="Equation" r:id="rId3" imgW="78638400" imgH="17068800" progId="">
              <p:embed/>
            </p:oleObj>
          </a:graphicData>
        </a:graphic>
      </p:graphicFrame>
      <p:graphicFrame>
        <p:nvGraphicFramePr>
          <p:cNvPr id="76807" name="Object 7"/>
          <p:cNvGraphicFramePr>
            <a:graphicFrameLocks noChangeAspect="1"/>
          </p:cNvGraphicFramePr>
          <p:nvPr/>
        </p:nvGraphicFramePr>
        <p:xfrm>
          <a:off x="1371600" y="3886200"/>
          <a:ext cx="5791200" cy="1349375"/>
        </p:xfrm>
        <a:graphic>
          <a:graphicData uri="http://schemas.openxmlformats.org/presentationml/2006/ole">
            <p:oleObj spid="_x0000_s71731" name="Equation" r:id="rId4" imgW="53644800" imgH="15849600" progId="">
              <p:embed/>
            </p:oleObj>
          </a:graphicData>
        </a:graphic>
      </p:graphicFrame>
      <p:sp>
        <p:nvSpPr>
          <p:cNvPr id="76808" name="Text Box 8"/>
          <p:cNvSpPr txBox="1">
            <a:spLocks noChangeArrowheads="1"/>
          </p:cNvSpPr>
          <p:nvPr/>
        </p:nvSpPr>
        <p:spPr bwMode="auto">
          <a:xfrm>
            <a:off x="1143000" y="5181600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被测量规的实际尺寸为</a:t>
            </a:r>
          </a:p>
        </p:txBody>
      </p:sp>
      <p:graphicFrame>
        <p:nvGraphicFramePr>
          <p:cNvPr id="76809" name="Object 9"/>
          <p:cNvGraphicFramePr>
            <a:graphicFrameLocks noChangeAspect="1"/>
          </p:cNvGraphicFramePr>
          <p:nvPr/>
        </p:nvGraphicFramePr>
        <p:xfrm>
          <a:off x="5177408" y="5755160"/>
          <a:ext cx="2994992" cy="549953"/>
        </p:xfrm>
        <a:graphic>
          <a:graphicData uri="http://schemas.openxmlformats.org/presentationml/2006/ole">
            <p:oleObj spid="_x0000_s71732" name="Equation" r:id="rId5" imgW="23164800" imgH="4267200" progId="">
              <p:embed/>
            </p:oleObj>
          </a:graphicData>
        </a:graphic>
      </p:graphicFrame>
      <p:graphicFrame>
        <p:nvGraphicFramePr>
          <p:cNvPr id="76811" name="Object 11"/>
          <p:cNvGraphicFramePr>
            <a:graphicFrameLocks noChangeAspect="1"/>
          </p:cNvGraphicFramePr>
          <p:nvPr/>
        </p:nvGraphicFramePr>
        <p:xfrm>
          <a:off x="1143000" y="762000"/>
          <a:ext cx="4648200" cy="539750"/>
        </p:xfrm>
        <a:graphic>
          <a:graphicData uri="http://schemas.openxmlformats.org/presentationml/2006/ole">
            <p:oleObj spid="_x0000_s71733" name="Equation" r:id="rId6" imgW="38709600" imgH="5486400" progId="">
              <p:embed/>
            </p:oleObj>
          </a:graphicData>
        </a:graphic>
      </p:graphicFrame>
      <p:graphicFrame>
        <p:nvGraphicFramePr>
          <p:cNvPr id="76812" name="Object 12"/>
          <p:cNvGraphicFramePr>
            <a:graphicFrameLocks noChangeAspect="1"/>
          </p:cNvGraphicFramePr>
          <p:nvPr/>
        </p:nvGraphicFramePr>
        <p:xfrm>
          <a:off x="1143000" y="1295400"/>
          <a:ext cx="4572000" cy="584200"/>
        </p:xfrm>
        <a:graphic>
          <a:graphicData uri="http://schemas.openxmlformats.org/presentationml/2006/ole">
            <p:oleObj spid="_x0000_s71734" name="Equation" r:id="rId7" imgW="35356800" imgH="5486400" progId="">
              <p:embed/>
            </p:oleObj>
          </a:graphicData>
        </a:graphic>
      </p:graphicFrame>
      <p:graphicFrame>
        <p:nvGraphicFramePr>
          <p:cNvPr id="76813" name="Object 13"/>
          <p:cNvGraphicFramePr>
            <a:graphicFrameLocks noChangeAspect="1"/>
          </p:cNvGraphicFramePr>
          <p:nvPr/>
        </p:nvGraphicFramePr>
        <p:xfrm>
          <a:off x="1143000" y="1981200"/>
          <a:ext cx="6524625" cy="474663"/>
        </p:xfrm>
        <a:graphic>
          <a:graphicData uri="http://schemas.openxmlformats.org/presentationml/2006/ole">
            <p:oleObj spid="_x0000_s71735" name="公式" r:id="rId8" imgW="64922400" imgH="4876800" progId="">
              <p:embed/>
            </p:oleObj>
          </a:graphicData>
        </a:graphic>
      </p:graphicFrame>
      <p:graphicFrame>
        <p:nvGraphicFramePr>
          <p:cNvPr id="76814" name="Object 14"/>
          <p:cNvGraphicFramePr>
            <a:graphicFrameLocks noChangeAspect="1"/>
          </p:cNvGraphicFramePr>
          <p:nvPr/>
        </p:nvGraphicFramePr>
        <p:xfrm>
          <a:off x="838200" y="5791200"/>
          <a:ext cx="4357688" cy="573088"/>
        </p:xfrm>
        <a:graphic>
          <a:graphicData uri="http://schemas.openxmlformats.org/presentationml/2006/ole">
            <p:oleObj spid="_x0000_s71736" name="Equation" r:id="rId9" imgW="39319200" imgH="51816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6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6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7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6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4" grpId="0" autoUpdateAnimBg="0"/>
      <p:bldP spid="76808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Text Box 4"/>
          <p:cNvSpPr txBox="1">
            <a:spLocks noChangeArrowheads="1"/>
          </p:cNvSpPr>
          <p:nvPr/>
        </p:nvSpPr>
        <p:spPr bwMode="auto">
          <a:xfrm>
            <a:off x="228600" y="142875"/>
            <a:ext cx="5064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（2）随机误差</a:t>
            </a:r>
          </a:p>
        </p:txBody>
      </p:sp>
      <p:graphicFrame>
        <p:nvGraphicFramePr>
          <p:cNvPr id="77829" name="Object 5"/>
          <p:cNvGraphicFramePr>
            <a:graphicFrameLocks noChangeAspect="1"/>
          </p:cNvGraphicFramePr>
          <p:nvPr/>
        </p:nvGraphicFramePr>
        <p:xfrm>
          <a:off x="755576" y="1340768"/>
          <a:ext cx="7453312" cy="454025"/>
        </p:xfrm>
        <a:graphic>
          <a:graphicData uri="http://schemas.openxmlformats.org/presentationml/2006/ole">
            <p:oleObj spid="_x0000_s73778" name="Equation" r:id="rId3" imgW="60960000" imgH="5181600" progId="">
              <p:embed/>
            </p:oleObj>
          </a:graphicData>
        </a:graphic>
      </p:graphicFrame>
      <p:graphicFrame>
        <p:nvGraphicFramePr>
          <p:cNvPr id="77831" name="Object 7"/>
          <p:cNvGraphicFramePr>
            <a:graphicFrameLocks noChangeAspect="1"/>
          </p:cNvGraphicFramePr>
          <p:nvPr/>
        </p:nvGraphicFramePr>
        <p:xfrm>
          <a:off x="668338" y="1905000"/>
          <a:ext cx="5900737" cy="989013"/>
        </p:xfrm>
        <a:graphic>
          <a:graphicData uri="http://schemas.openxmlformats.org/presentationml/2006/ole">
            <p:oleObj spid="_x0000_s73779" name="Equation" r:id="rId4" imgW="55168800" imgH="11582400" progId="">
              <p:embed/>
            </p:oleObj>
          </a:graphicData>
        </a:graphic>
      </p:graphicFrame>
      <p:graphicFrame>
        <p:nvGraphicFramePr>
          <p:cNvPr id="77832" name="Object 8"/>
          <p:cNvGraphicFramePr>
            <a:graphicFrameLocks noChangeAspect="1"/>
          </p:cNvGraphicFramePr>
          <p:nvPr/>
        </p:nvGraphicFramePr>
        <p:xfrm>
          <a:off x="809972" y="2924944"/>
          <a:ext cx="6210300" cy="1398587"/>
        </p:xfrm>
        <a:graphic>
          <a:graphicData uri="http://schemas.openxmlformats.org/presentationml/2006/ole">
            <p:oleObj spid="_x0000_s73780" name="公式" r:id="rId5" imgW="79857600" imgH="17983200" progId="">
              <p:embed/>
            </p:oleObj>
          </a:graphicData>
        </a:graphic>
      </p:graphicFrame>
      <p:graphicFrame>
        <p:nvGraphicFramePr>
          <p:cNvPr id="77833" name="Object 9"/>
          <p:cNvGraphicFramePr>
            <a:graphicFrameLocks noChangeAspect="1"/>
          </p:cNvGraphicFramePr>
          <p:nvPr/>
        </p:nvGraphicFramePr>
        <p:xfrm>
          <a:off x="1259632" y="4454624"/>
          <a:ext cx="4800600" cy="990600"/>
        </p:xfrm>
        <a:graphic>
          <a:graphicData uri="http://schemas.openxmlformats.org/presentationml/2006/ole">
            <p:oleObj spid="_x0000_s73781" name="Equation" r:id="rId6" imgW="59131200" imgH="12192000" progId="">
              <p:embed/>
            </p:oleObj>
          </a:graphicData>
        </a:graphic>
      </p:graphicFrame>
      <p:graphicFrame>
        <p:nvGraphicFramePr>
          <p:cNvPr id="77834" name="Object 10"/>
          <p:cNvGraphicFramePr>
            <a:graphicFrameLocks noChangeAspect="1"/>
          </p:cNvGraphicFramePr>
          <p:nvPr/>
        </p:nvGraphicFramePr>
        <p:xfrm>
          <a:off x="3071802" y="5643578"/>
          <a:ext cx="3520982" cy="537928"/>
        </p:xfrm>
        <a:graphic>
          <a:graphicData uri="http://schemas.openxmlformats.org/presentationml/2006/ole">
            <p:oleObj spid="_x0000_s73782" name="Equation" r:id="rId7" imgW="27736800" imgH="4267200" progId="">
              <p:embed/>
            </p:oleObj>
          </a:graphicData>
        </a:graphic>
      </p:graphicFrame>
      <p:graphicFrame>
        <p:nvGraphicFramePr>
          <p:cNvPr id="77835" name="Object 11"/>
          <p:cNvGraphicFramePr>
            <a:graphicFrameLocks noChangeAspect="1"/>
          </p:cNvGraphicFramePr>
          <p:nvPr/>
        </p:nvGraphicFramePr>
        <p:xfrm>
          <a:off x="755576" y="806798"/>
          <a:ext cx="5610225" cy="461962"/>
        </p:xfrm>
        <a:graphic>
          <a:graphicData uri="http://schemas.openxmlformats.org/presentationml/2006/ole">
            <p:oleObj spid="_x0000_s73783" name="Equation" r:id="rId8" imgW="42976800" imgH="5181600" progId="">
              <p:embed/>
            </p:oleObj>
          </a:graphicData>
        </a:graphic>
      </p:graphicFrame>
      <p:graphicFrame>
        <p:nvGraphicFramePr>
          <p:cNvPr id="77847" name="Object 23"/>
          <p:cNvGraphicFramePr>
            <a:graphicFrameLocks noChangeAspect="1"/>
          </p:cNvGraphicFramePr>
          <p:nvPr/>
        </p:nvGraphicFramePr>
        <p:xfrm>
          <a:off x="681608" y="5660711"/>
          <a:ext cx="2714625" cy="495300"/>
        </p:xfrm>
        <a:graphic>
          <a:graphicData uri="http://schemas.openxmlformats.org/presentationml/2006/ole">
            <p:oleObj spid="_x0000_s73784" name="Equation" r:id="rId9" imgW="19202400" imgH="4876800" progId="">
              <p:embed/>
            </p:oleObj>
          </a:graphicData>
        </a:graphic>
      </p:graphicFrame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028384" y="6542264"/>
            <a:ext cx="658416" cy="260226"/>
          </a:xfrm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087CF1B-02DF-4604-B806-D826D01389BD}" type="slidenum">
              <a:rPr kumimoji="0" lang="zh-CN" altLang="en-US" sz="1400" smtClean="0"/>
              <a:pPr eaLnBrk="1" hangingPunct="1"/>
              <a:t>38</a:t>
            </a:fld>
            <a:endParaRPr kumimoji="0" lang="en-US" altLang="zh-CN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7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7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8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6AFA7E-2A53-4E67-AFF0-9BB9681FA3FD}" type="slidenum">
              <a:rPr lang="zh-CN" altLang="en-US" smtClean="0"/>
              <a:pPr>
                <a:defRPr/>
              </a:pPr>
              <a:t>39</a:t>
            </a:fld>
            <a:endParaRPr lang="en-US" altLang="zh-CN" sz="140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347864" y="323945"/>
            <a:ext cx="237626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 smtClean="0"/>
              <a:t>本 章 小 结</a:t>
            </a:r>
            <a:endParaRPr lang="zh-CN" altLang="en-US" sz="32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835696" y="2047488"/>
            <a:ext cx="61206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/>
              <a:t>1.  </a:t>
            </a:r>
            <a:r>
              <a:rPr lang="zh-CN" altLang="en-US" sz="2800" b="1" dirty="0" smtClean="0"/>
              <a:t>测量四要素</a:t>
            </a:r>
            <a:endParaRPr lang="en-US" altLang="zh-CN" sz="2800" b="1" dirty="0" smtClean="0"/>
          </a:p>
          <a:p>
            <a:pPr>
              <a:lnSpc>
                <a:spcPct val="150000"/>
              </a:lnSpc>
            </a:pPr>
            <a:r>
              <a:rPr lang="en-US" altLang="zh-CN" sz="2800" b="1" dirty="0" smtClean="0"/>
              <a:t>2.  </a:t>
            </a:r>
            <a:r>
              <a:rPr lang="zh-CN" altLang="en-US" sz="2800" b="1" dirty="0" smtClean="0"/>
              <a:t>定值长度</a:t>
            </a:r>
            <a:r>
              <a:rPr lang="en-US" altLang="zh-CN" sz="2800" b="1" dirty="0" smtClean="0"/>
              <a:t>—</a:t>
            </a:r>
            <a:r>
              <a:rPr lang="zh-CN" altLang="en-US" sz="2800" b="1" dirty="0" smtClean="0"/>
              <a:t>量块 （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重点掌握</a:t>
            </a:r>
            <a:r>
              <a:rPr lang="zh-CN" altLang="en-US" sz="2800" b="1" dirty="0" smtClean="0"/>
              <a:t>）</a:t>
            </a:r>
            <a:endParaRPr lang="en-US" altLang="zh-CN" sz="2800" b="1" dirty="0" smtClean="0"/>
          </a:p>
          <a:p>
            <a:pPr>
              <a:lnSpc>
                <a:spcPct val="150000"/>
              </a:lnSpc>
            </a:pPr>
            <a:r>
              <a:rPr lang="en-US" altLang="zh-CN" sz="2800" b="1" dirty="0" smtClean="0"/>
              <a:t>3.  </a:t>
            </a:r>
            <a:r>
              <a:rPr lang="zh-CN" altLang="en-US" sz="2800" b="1" dirty="0" smtClean="0"/>
              <a:t>计量器具的度量指标</a:t>
            </a:r>
            <a:endParaRPr lang="en-US" altLang="zh-CN" sz="2800" b="1" dirty="0" smtClean="0"/>
          </a:p>
          <a:p>
            <a:pPr>
              <a:lnSpc>
                <a:spcPct val="150000"/>
              </a:lnSpc>
            </a:pPr>
            <a:r>
              <a:rPr lang="en-US" altLang="zh-CN" sz="2800" b="1" dirty="0" smtClean="0"/>
              <a:t>4.  </a:t>
            </a:r>
            <a:r>
              <a:rPr lang="zh-CN" altLang="en-US" sz="2800" b="1" dirty="0" smtClean="0"/>
              <a:t>测量误差及数据处理 （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重点掌握</a:t>
            </a:r>
            <a:r>
              <a:rPr lang="zh-CN" altLang="en-US" sz="2800" b="1" dirty="0" smtClean="0"/>
              <a:t>）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090TGp_Industry_v3">
  <a:themeElements>
    <a:clrScheme name="090TGp_Industry_v3 1">
      <a:dk1>
        <a:srgbClr val="000000"/>
      </a:dk1>
      <a:lt1>
        <a:srgbClr val="FFFFFF"/>
      </a:lt1>
      <a:dk2>
        <a:srgbClr val="663300"/>
      </a:dk2>
      <a:lt2>
        <a:srgbClr val="B2B2B2"/>
      </a:lt2>
      <a:accent1>
        <a:srgbClr val="014082"/>
      </a:accent1>
      <a:accent2>
        <a:srgbClr val="BE9112"/>
      </a:accent2>
      <a:accent3>
        <a:srgbClr val="FFFFFF"/>
      </a:accent3>
      <a:accent4>
        <a:srgbClr val="000000"/>
      </a:accent4>
      <a:accent5>
        <a:srgbClr val="AAAFC1"/>
      </a:accent5>
      <a:accent6>
        <a:srgbClr val="AC830F"/>
      </a:accent6>
      <a:hlink>
        <a:srgbClr val="949248"/>
      </a:hlink>
      <a:folHlink>
        <a:srgbClr val="669900"/>
      </a:folHlink>
    </a:clrScheme>
    <a:fontScheme name="090TGp_Industry_v3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90TGp_Industry_v3 1">
        <a:dk1>
          <a:srgbClr val="000000"/>
        </a:dk1>
        <a:lt1>
          <a:srgbClr val="FFFFFF"/>
        </a:lt1>
        <a:dk2>
          <a:srgbClr val="663300"/>
        </a:dk2>
        <a:lt2>
          <a:srgbClr val="B2B2B2"/>
        </a:lt2>
        <a:accent1>
          <a:srgbClr val="014082"/>
        </a:accent1>
        <a:accent2>
          <a:srgbClr val="BE9112"/>
        </a:accent2>
        <a:accent3>
          <a:srgbClr val="FFFFFF"/>
        </a:accent3>
        <a:accent4>
          <a:srgbClr val="000000"/>
        </a:accent4>
        <a:accent5>
          <a:srgbClr val="AAAFC1"/>
        </a:accent5>
        <a:accent6>
          <a:srgbClr val="AC830F"/>
        </a:accent6>
        <a:hlink>
          <a:srgbClr val="949248"/>
        </a:hlink>
        <a:folHlink>
          <a:srgbClr val="66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0TGp_Industry_v3 2">
        <a:dk1>
          <a:srgbClr val="000000"/>
        </a:dk1>
        <a:lt1>
          <a:srgbClr val="FFFFFF"/>
        </a:lt1>
        <a:dk2>
          <a:srgbClr val="336699"/>
        </a:dk2>
        <a:lt2>
          <a:srgbClr val="B2B2B2"/>
        </a:lt2>
        <a:accent1>
          <a:srgbClr val="2C4258"/>
        </a:accent1>
        <a:accent2>
          <a:srgbClr val="7A9F31"/>
        </a:accent2>
        <a:accent3>
          <a:srgbClr val="FFFFFF"/>
        </a:accent3>
        <a:accent4>
          <a:srgbClr val="000000"/>
        </a:accent4>
        <a:accent5>
          <a:srgbClr val="ACB0B4"/>
        </a:accent5>
        <a:accent6>
          <a:srgbClr val="6E902B"/>
        </a:accent6>
        <a:hlink>
          <a:srgbClr val="AE622E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0TGp_Industry_v3 3">
        <a:dk1>
          <a:srgbClr val="000000"/>
        </a:dk1>
        <a:lt1>
          <a:srgbClr val="FFFFFF"/>
        </a:lt1>
        <a:dk2>
          <a:srgbClr val="666633"/>
        </a:dk2>
        <a:lt2>
          <a:srgbClr val="B2B2B2"/>
        </a:lt2>
        <a:accent1>
          <a:srgbClr val="5F3E25"/>
        </a:accent1>
        <a:accent2>
          <a:srgbClr val="A09B30"/>
        </a:accent2>
        <a:accent3>
          <a:srgbClr val="FFFFFF"/>
        </a:accent3>
        <a:accent4>
          <a:srgbClr val="000000"/>
        </a:accent4>
        <a:accent5>
          <a:srgbClr val="B6AFAC"/>
        </a:accent5>
        <a:accent6>
          <a:srgbClr val="918C2A"/>
        </a:accent6>
        <a:hlink>
          <a:srgbClr val="559646"/>
        </a:hlink>
        <a:folHlink>
          <a:srgbClr val="CC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02第2章  测量技术基础01（1学时）</Template>
  <TotalTime>136</TotalTime>
  <Words>2171</Words>
  <Application>Microsoft Office PowerPoint</Application>
  <PresentationFormat>全屏显示(4:3)</PresentationFormat>
  <Paragraphs>251</Paragraphs>
  <Slides>39</Slides>
  <Notes>10</Notes>
  <HiddenSlides>0</HiddenSlides>
  <MMClips>0</MMClips>
  <ScaleCrop>false</ScaleCrop>
  <HeadingPairs>
    <vt:vector size="6" baseType="variant"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39</vt:i4>
      </vt:variant>
    </vt:vector>
  </HeadingPairs>
  <TitlesOfParts>
    <vt:vector size="44" baseType="lpstr">
      <vt:lpstr>Default Design</vt:lpstr>
      <vt:lpstr>090TGp_Industry_v3</vt:lpstr>
      <vt:lpstr>1_Default Design</vt:lpstr>
      <vt:lpstr>Equation</vt:lpstr>
      <vt:lpstr>公式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微软用户</cp:lastModifiedBy>
  <cp:revision>276</cp:revision>
  <dcterms:created xsi:type="dcterms:W3CDTF">2113-01-01T00:00:00Z</dcterms:created>
  <dcterms:modified xsi:type="dcterms:W3CDTF">2023-02-17T01:17:19Z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