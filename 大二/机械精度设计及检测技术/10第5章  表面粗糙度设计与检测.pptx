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50"/>
  </p:notesMasterIdLst>
  <p:handoutMasterIdLst>
    <p:handoutMasterId r:id="rId51"/>
  </p:handoutMasterIdLst>
  <p:sldIdLst>
    <p:sldId id="271" r:id="rId2"/>
    <p:sldId id="347" r:id="rId3"/>
    <p:sldId id="256" r:id="rId4"/>
    <p:sldId id="283" r:id="rId5"/>
    <p:sldId id="257" r:id="rId6"/>
    <p:sldId id="329" r:id="rId7"/>
    <p:sldId id="279" r:id="rId8"/>
    <p:sldId id="295" r:id="rId9"/>
    <p:sldId id="284" r:id="rId10"/>
    <p:sldId id="258" r:id="rId11"/>
    <p:sldId id="294" r:id="rId12"/>
    <p:sldId id="259" r:id="rId13"/>
    <p:sldId id="280" r:id="rId14"/>
    <p:sldId id="260" r:id="rId15"/>
    <p:sldId id="269" r:id="rId16"/>
    <p:sldId id="286" r:id="rId17"/>
    <p:sldId id="296" r:id="rId18"/>
    <p:sldId id="312" r:id="rId19"/>
    <p:sldId id="311" r:id="rId20"/>
    <p:sldId id="281" r:id="rId21"/>
    <p:sldId id="287" r:id="rId22"/>
    <p:sldId id="270" r:id="rId23"/>
    <p:sldId id="330" r:id="rId24"/>
    <p:sldId id="359" r:id="rId25"/>
    <p:sldId id="275" r:id="rId26"/>
    <p:sldId id="263" r:id="rId27"/>
    <p:sldId id="297" r:id="rId28"/>
    <p:sldId id="298" r:id="rId29"/>
    <p:sldId id="363" r:id="rId30"/>
    <p:sldId id="350" r:id="rId31"/>
    <p:sldId id="354" r:id="rId32"/>
    <p:sldId id="355" r:id="rId33"/>
    <p:sldId id="356" r:id="rId34"/>
    <p:sldId id="319" r:id="rId35"/>
    <p:sldId id="320" r:id="rId36"/>
    <p:sldId id="357" r:id="rId37"/>
    <p:sldId id="321" r:id="rId38"/>
    <p:sldId id="322" r:id="rId39"/>
    <p:sldId id="352" r:id="rId40"/>
    <p:sldId id="324" r:id="rId41"/>
    <p:sldId id="323" r:id="rId42"/>
    <p:sldId id="351" r:id="rId43"/>
    <p:sldId id="325" r:id="rId44"/>
    <p:sldId id="326" r:id="rId45"/>
    <p:sldId id="342" r:id="rId46"/>
    <p:sldId id="358" r:id="rId47"/>
    <p:sldId id="313" r:id="rId48"/>
    <p:sldId id="349" r:id="rId49"/>
  </p:sldIdLst>
  <p:sldSz cx="15240000" cy="11430000"/>
  <p:notesSz cx="9928225" cy="6797675"/>
  <p:defaultTextStyle>
    <a:defPPr>
      <a:defRPr lang="en-US"/>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5759">
          <p15:clr>
            <a:srgbClr val="A4A3A4"/>
          </p15:clr>
        </p15:guide>
        <p15:guide id="2" pos="767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CC00CC"/>
    <a:srgbClr val="CC3300"/>
    <a:srgbClr val="CCFFFF"/>
    <a:srgbClr val="FFCCCC"/>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6" autoAdjust="0"/>
    <p:restoredTop sz="86908" autoAdjust="0"/>
  </p:normalViewPr>
  <p:slideViewPr>
    <p:cSldViewPr snapToGrid="0">
      <p:cViewPr varScale="1">
        <p:scale>
          <a:sx n="45" d="100"/>
          <a:sy n="45" d="100"/>
        </p:scale>
        <p:origin x="1694" y="53"/>
      </p:cViewPr>
      <p:guideLst>
        <p:guide orient="horz" pos="5759"/>
        <p:guide pos="767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3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6" Type="http://schemas.openxmlformats.org/officeDocument/2006/relationships/image" Target="../media/image19.wmf"/><Relationship Id="rId5" Type="http://schemas.openxmlformats.org/officeDocument/2006/relationships/image" Target="../media/image18.wmf"/><Relationship Id="rId4"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3313" cy="34021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622594" y="0"/>
            <a:ext cx="4303313" cy="340210"/>
          </a:xfrm>
          <a:prstGeom prst="rect">
            <a:avLst/>
          </a:prstGeom>
        </p:spPr>
        <p:txBody>
          <a:bodyPr vert="horz" lIns="91440" tIns="45720" rIns="91440" bIns="45720" rtlCol="0"/>
          <a:lstStyle>
            <a:lvl1pPr algn="r">
              <a:defRPr sz="1200"/>
            </a:lvl1pPr>
          </a:lstStyle>
          <a:p>
            <a:fld id="{F1518670-A90A-4ACF-8218-A515CC61FAD4}" type="datetimeFigureOut">
              <a:rPr lang="zh-CN" altLang="en-US" smtClean="0"/>
              <a:pPr/>
              <a:t>2023/4/5</a:t>
            </a:fld>
            <a:endParaRPr lang="zh-CN" altLang="en-US"/>
          </a:p>
        </p:txBody>
      </p:sp>
      <p:sp>
        <p:nvSpPr>
          <p:cNvPr id="4" name="页脚占位符 3"/>
          <p:cNvSpPr>
            <a:spLocks noGrp="1"/>
          </p:cNvSpPr>
          <p:nvPr>
            <p:ph type="ftr" sz="quarter" idx="2"/>
          </p:nvPr>
        </p:nvSpPr>
        <p:spPr>
          <a:xfrm>
            <a:off x="0" y="6456378"/>
            <a:ext cx="4303313" cy="34021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622594" y="6456378"/>
            <a:ext cx="4303313" cy="340210"/>
          </a:xfrm>
          <a:prstGeom prst="rect">
            <a:avLst/>
          </a:prstGeom>
        </p:spPr>
        <p:txBody>
          <a:bodyPr vert="horz" lIns="91440" tIns="45720" rIns="91440" bIns="45720" rtlCol="0" anchor="b"/>
          <a:lstStyle>
            <a:lvl1pPr algn="r">
              <a:defRPr sz="1200"/>
            </a:lvl1pPr>
          </a:lstStyle>
          <a:p>
            <a:fld id="{A8E0D5DF-590D-4BD0-9078-C96D5E8B762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bwMode="auto">
          <a:xfrm>
            <a:off x="1" y="0"/>
            <a:ext cx="4302231"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a:defRPr/>
            </a:pPr>
            <a:endParaRPr lang="zh-CN" altLang="en-US"/>
          </a:p>
        </p:txBody>
      </p:sp>
      <p:sp>
        <p:nvSpPr>
          <p:cNvPr id="18435" name="Rectangle 3"/>
          <p:cNvSpPr>
            <a:spLocks noGrp="1" noChangeArrowheads="1"/>
          </p:cNvSpPr>
          <p:nvPr>
            <p:ph type="dt" idx="1"/>
          </p:nvPr>
        </p:nvSpPr>
        <p:spPr bwMode="auto">
          <a:xfrm>
            <a:off x="5625995" y="0"/>
            <a:ext cx="4302231"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a:defRPr/>
            </a:pPr>
            <a:endParaRPr lang="en-US" altLang="zh-CN"/>
          </a:p>
        </p:txBody>
      </p:sp>
      <p:sp>
        <p:nvSpPr>
          <p:cNvPr id="87044" name="Rectangle 4"/>
          <p:cNvSpPr>
            <a:spLocks noGrp="1" noRot="1" noChangeAspect="1" noChangeArrowheads="1" noTextEdit="1"/>
          </p:cNvSpPr>
          <p:nvPr>
            <p:ph type="sldImg" idx="2"/>
          </p:nvPr>
        </p:nvSpPr>
        <p:spPr bwMode="auto">
          <a:xfrm>
            <a:off x="3263900" y="509588"/>
            <a:ext cx="3400425" cy="2549525"/>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7" name="Rectangle 5"/>
          <p:cNvSpPr>
            <a:spLocks noGrp="1" noChangeArrowheads="1"/>
          </p:cNvSpPr>
          <p:nvPr>
            <p:ph type="body" sz="quarter" idx="3"/>
          </p:nvPr>
        </p:nvSpPr>
        <p:spPr bwMode="auto">
          <a:xfrm>
            <a:off x="1323764" y="3228896"/>
            <a:ext cx="7280699" cy="3058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8438" name="Rectangle 6"/>
          <p:cNvSpPr>
            <a:spLocks noGrp="1" noChangeArrowheads="1"/>
          </p:cNvSpPr>
          <p:nvPr>
            <p:ph type="ftr" sz="quarter" idx="4"/>
          </p:nvPr>
        </p:nvSpPr>
        <p:spPr bwMode="auto">
          <a:xfrm>
            <a:off x="1" y="6457792"/>
            <a:ext cx="4302231"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a:defRPr/>
            </a:pPr>
            <a:endParaRPr lang="en-US" altLang="zh-CN"/>
          </a:p>
        </p:txBody>
      </p:sp>
      <p:sp>
        <p:nvSpPr>
          <p:cNvPr id="18439" name="Rectangle 7"/>
          <p:cNvSpPr>
            <a:spLocks noGrp="1" noChangeArrowheads="1"/>
          </p:cNvSpPr>
          <p:nvPr>
            <p:ph type="sldNum" sz="quarter" idx="5"/>
          </p:nvPr>
        </p:nvSpPr>
        <p:spPr bwMode="auto">
          <a:xfrm>
            <a:off x="5625995" y="6457792"/>
            <a:ext cx="4302231" cy="339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a:defRPr/>
            </a:pPr>
            <a:fld id="{D456E831-792A-4612-B067-15DEDD4F77F5}"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 （</a:t>
            </a:r>
            <a:r>
              <a:rPr lang="en-US" altLang="zh-CN" dirty="0" smtClean="0"/>
              <a:t>1</a:t>
            </a:r>
            <a:r>
              <a:rPr lang="zh-CN" altLang="en-US" dirty="0" smtClean="0"/>
              <a:t>）位置</a:t>
            </a:r>
            <a:r>
              <a:rPr lang="en-US" altLang="zh-CN" dirty="0" smtClean="0"/>
              <a:t>a</a:t>
            </a:r>
            <a:r>
              <a:rPr lang="zh-CN" altLang="en-US" dirty="0" smtClean="0"/>
              <a:t>处</a:t>
            </a:r>
            <a:r>
              <a:rPr lang="en-US" altLang="zh-CN" dirty="0" smtClean="0"/>
              <a:t>— </a:t>
            </a:r>
            <a:r>
              <a:rPr lang="zh-CN" altLang="en-US" dirty="0" smtClean="0"/>
              <a:t>注写表面粗糙度的单一要求，即幅度参数及极限值，该要求不能省略。</a:t>
            </a:r>
          </a:p>
          <a:p>
            <a:r>
              <a:rPr lang="zh-CN" altLang="en-US" dirty="0" smtClean="0"/>
              <a:t>① 上限或下限的标注：表示双向极限时应标注上限符号“</a:t>
            </a:r>
            <a:r>
              <a:rPr lang="en-US" altLang="zh-CN" dirty="0" smtClean="0"/>
              <a:t>U”</a:t>
            </a:r>
            <a:r>
              <a:rPr lang="zh-CN" altLang="en-US" dirty="0" smtClean="0"/>
              <a:t>和下限符号“ </a:t>
            </a:r>
            <a:r>
              <a:rPr lang="en-US" altLang="zh-CN" dirty="0" smtClean="0"/>
              <a:t>L”</a:t>
            </a:r>
            <a:r>
              <a:rPr lang="zh-CN" altLang="en-US" dirty="0" smtClean="0"/>
              <a:t>。 如果同一参数具有双向极限要求，在不引起歧义时，可省略“</a:t>
            </a:r>
            <a:r>
              <a:rPr lang="en-US" altLang="zh-CN" dirty="0" smtClean="0"/>
              <a:t>U”</a:t>
            </a:r>
            <a:r>
              <a:rPr lang="zh-CN" altLang="en-US" dirty="0" smtClean="0"/>
              <a:t>和“ </a:t>
            </a:r>
            <a:r>
              <a:rPr lang="en-US" altLang="zh-CN" dirty="0" smtClean="0"/>
              <a:t>L” </a:t>
            </a:r>
            <a:r>
              <a:rPr lang="zh-CN" altLang="en-US" dirty="0" smtClean="0"/>
              <a:t>的标注。若为单向下限值，则必需加注“ </a:t>
            </a:r>
            <a:r>
              <a:rPr lang="en-US" altLang="zh-CN" dirty="0" smtClean="0"/>
              <a:t>L” </a:t>
            </a:r>
          </a:p>
          <a:p>
            <a:r>
              <a:rPr lang="zh-CN" altLang="en-US" dirty="0" smtClean="0"/>
              <a:t>②  传输带和取样长度的标注：传输带是指两个滤波器的截止波长值之间的波长范围。长波滤波器的截止波长值就是取样长度</a:t>
            </a:r>
            <a:r>
              <a:rPr lang="en-US" altLang="zh-CN" dirty="0" err="1" smtClean="0"/>
              <a:t>lr</a:t>
            </a:r>
            <a:r>
              <a:rPr lang="zh-CN" altLang="en-US" dirty="0" smtClean="0"/>
              <a:t>。</a:t>
            </a:r>
          </a:p>
          <a:p>
            <a:r>
              <a:rPr lang="zh-CN" altLang="en-US" dirty="0" smtClean="0"/>
              <a:t>     传输带的标注时，短波在前，长波在后，并用连字号“</a:t>
            </a:r>
            <a:r>
              <a:rPr lang="en-US" altLang="zh-CN" dirty="0" smtClean="0"/>
              <a:t>—”</a:t>
            </a:r>
            <a:r>
              <a:rPr lang="zh-CN" altLang="en-US" dirty="0" smtClean="0"/>
              <a:t>隔开。</a:t>
            </a:r>
            <a:endParaRPr lang="en-US" altLang="zh-CN" dirty="0" smtClean="0"/>
          </a:p>
          <a:p>
            <a:r>
              <a:rPr lang="zh-CN" altLang="en-US" dirty="0" smtClean="0"/>
              <a:t> 在某些情况下，传输带的标注中，只标一个滤波器，也应保留连字号“</a:t>
            </a:r>
            <a:r>
              <a:rPr lang="en-US" altLang="zh-CN" dirty="0" smtClean="0"/>
              <a:t>—” </a:t>
            </a:r>
            <a:r>
              <a:rPr lang="zh-CN" altLang="en-US" dirty="0" smtClean="0"/>
              <a:t>，来区别是短波还是长波。</a:t>
            </a:r>
          </a:p>
          <a:p>
            <a:r>
              <a:rPr lang="zh-CN" altLang="en-US" dirty="0" smtClean="0"/>
              <a:t> 圈</a:t>
            </a:r>
            <a:r>
              <a:rPr lang="en-US" altLang="zh-CN" dirty="0" smtClean="0"/>
              <a:t>3</a:t>
            </a:r>
            <a:r>
              <a:rPr lang="zh-CN" altLang="en-US" dirty="0" smtClean="0"/>
              <a:t>，参数代号的标注：参数代号标注在传输带或取样长度后，它们之间用“</a:t>
            </a:r>
            <a:r>
              <a:rPr lang="en-US" altLang="zh-CN" dirty="0" smtClean="0"/>
              <a:t>/”</a:t>
            </a:r>
            <a:r>
              <a:rPr lang="zh-CN" altLang="en-US" dirty="0" smtClean="0"/>
              <a:t>隔开。</a:t>
            </a:r>
          </a:p>
          <a:p>
            <a:r>
              <a:rPr lang="zh-CN" altLang="en-US" dirty="0" smtClean="0"/>
              <a:t> 圈</a:t>
            </a:r>
            <a:r>
              <a:rPr lang="en-US" altLang="zh-CN" dirty="0" smtClean="0"/>
              <a:t>4</a:t>
            </a:r>
            <a:r>
              <a:rPr lang="zh-CN" altLang="en-US" dirty="0" smtClean="0"/>
              <a:t>，评定长度的标注：如果默认的评定长度</a:t>
            </a:r>
            <a:r>
              <a:rPr lang="en-US" altLang="zh-CN" dirty="0" smtClean="0"/>
              <a:t>( 5lr ) </a:t>
            </a:r>
            <a:r>
              <a:rPr lang="zh-CN" altLang="en-US" dirty="0" smtClean="0"/>
              <a:t>时，可省略标注。如果不等于</a:t>
            </a:r>
            <a:r>
              <a:rPr lang="en-US" altLang="zh-CN" dirty="0" smtClean="0"/>
              <a:t>5lr</a:t>
            </a:r>
            <a:r>
              <a:rPr lang="zh-CN" altLang="en-US" dirty="0" smtClean="0"/>
              <a:t>时</a:t>
            </a:r>
            <a:r>
              <a:rPr lang="en-US" altLang="zh-CN" dirty="0" smtClean="0"/>
              <a:t>,</a:t>
            </a:r>
            <a:r>
              <a:rPr lang="zh-CN" altLang="en-US" dirty="0" smtClean="0"/>
              <a:t>则应注出取样长度的个数。</a:t>
            </a:r>
            <a:endParaRPr lang="en-US" altLang="zh-CN" dirty="0" smtClean="0"/>
          </a:p>
          <a:p>
            <a:r>
              <a:rPr lang="zh-CN" altLang="en-US" dirty="0" smtClean="0"/>
              <a:t>⑤ 极限值判断规则和极限值的标注：极限值判断规则的标注如图中所示下限为“</a:t>
            </a:r>
            <a:r>
              <a:rPr lang="en-US" altLang="zh-CN" dirty="0" smtClean="0"/>
              <a:t>16</a:t>
            </a:r>
            <a:r>
              <a:rPr lang="zh-CN" altLang="en-US" dirty="0" smtClean="0"/>
              <a:t>％规则”，上限为“最大规则” 。为了避免误解，在参数代号和极限值之间插入一个空格。</a:t>
            </a:r>
          </a:p>
          <a:p>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pPr>
              <a:defRPr/>
            </a:pPr>
            <a:fld id="{D456E831-792A-4612-B067-15DEDD4F77F5}" type="slidenum">
              <a:rPr lang="zh-CN" altLang="en-US" smtClean="0"/>
              <a:pPr>
                <a:defRPr/>
              </a:pPr>
              <a:t>29</a:t>
            </a:fld>
            <a:endParaRPr lang="en-US" altLang="zh-CN"/>
          </a:p>
        </p:txBody>
      </p:sp>
    </p:spTree>
    <p:extLst>
      <p:ext uri="{BB962C8B-B14F-4D97-AF65-F5344CB8AC3E}">
        <p14:creationId xmlns:p14="http://schemas.microsoft.com/office/powerpoint/2010/main" val="2808785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a:t>
            </a:r>
            <a:r>
              <a:rPr lang="en-US" altLang="zh-CN" dirty="0" smtClean="0"/>
              <a:t>1</a:t>
            </a:r>
            <a:r>
              <a:rPr lang="zh-CN" altLang="en-US" dirty="0" smtClean="0"/>
              <a:t>）</a:t>
            </a:r>
            <a:endParaRPr lang="en-US" altLang="zh-CN" dirty="0" smtClean="0"/>
          </a:p>
          <a:p>
            <a:r>
              <a:rPr lang="zh-CN" altLang="en-US" dirty="0" smtClean="0"/>
              <a:t>①   默认为上限值</a:t>
            </a:r>
            <a:r>
              <a:rPr lang="en-US" altLang="zh-CN" dirty="0" smtClean="0"/>
              <a:t>, </a:t>
            </a:r>
            <a:r>
              <a:rPr lang="zh-CN" altLang="en-US" dirty="0" smtClean="0"/>
              <a:t>如图</a:t>
            </a:r>
            <a:r>
              <a:rPr lang="en-US" altLang="zh-CN" dirty="0" smtClean="0"/>
              <a:t>1</a:t>
            </a:r>
            <a:r>
              <a:rPr lang="zh-CN" altLang="en-US" dirty="0" smtClean="0"/>
              <a:t>、</a:t>
            </a:r>
            <a:r>
              <a:rPr lang="en-US" altLang="zh-CN" dirty="0" smtClean="0"/>
              <a:t>2</a:t>
            </a:r>
          </a:p>
          <a:p>
            <a:pPr marL="228600" indent="-228600">
              <a:buAutoNum type="circleNumDbPlain" startAt="2"/>
            </a:pPr>
            <a:r>
              <a:rPr lang="zh-CN" altLang="en-US" dirty="0" smtClean="0"/>
              <a:t>若为下限值时，必须标注“</a:t>
            </a:r>
            <a:r>
              <a:rPr lang="en-US" altLang="zh-CN" dirty="0" smtClean="0"/>
              <a:t>L”, </a:t>
            </a:r>
            <a:r>
              <a:rPr lang="zh-CN" altLang="en-US" dirty="0" smtClean="0"/>
              <a:t>如图</a:t>
            </a:r>
            <a:r>
              <a:rPr lang="en-US" altLang="zh-CN" dirty="0" smtClean="0"/>
              <a:t>3</a:t>
            </a:r>
          </a:p>
          <a:p>
            <a:pPr marL="0" indent="0">
              <a:buNone/>
            </a:pPr>
            <a:r>
              <a:rPr lang="zh-CN" altLang="en-US" dirty="0" smtClean="0"/>
              <a:t>（</a:t>
            </a:r>
            <a:r>
              <a:rPr lang="en-US" altLang="zh-CN" dirty="0" smtClean="0"/>
              <a:t>2</a:t>
            </a:r>
            <a:r>
              <a:rPr lang="zh-CN" altLang="en-US" dirty="0" smtClean="0"/>
              <a:t>）</a:t>
            </a:r>
            <a:endParaRPr lang="en-US" altLang="zh-CN" dirty="0" smtClean="0"/>
          </a:p>
          <a:p>
            <a:r>
              <a:rPr lang="zh-CN" altLang="en-US" dirty="0" smtClean="0"/>
              <a:t>①  需要标注 “</a:t>
            </a:r>
            <a:r>
              <a:rPr lang="en-US" altLang="zh-CN" dirty="0" smtClean="0"/>
              <a:t>U”</a:t>
            </a:r>
            <a:r>
              <a:rPr lang="zh-CN" altLang="en-US" dirty="0" smtClean="0"/>
              <a:t>、，“</a:t>
            </a:r>
            <a:r>
              <a:rPr lang="en-US" altLang="zh-CN" dirty="0" smtClean="0"/>
              <a:t>L”, </a:t>
            </a:r>
            <a:r>
              <a:rPr lang="zh-CN" altLang="en-US" dirty="0" smtClean="0"/>
              <a:t>如图</a:t>
            </a:r>
            <a:r>
              <a:rPr lang="en-US" altLang="zh-CN" dirty="0" smtClean="0"/>
              <a:t>4</a:t>
            </a:r>
            <a:r>
              <a:rPr lang="zh-CN" altLang="en-US" dirty="0" smtClean="0"/>
              <a:t>所示。</a:t>
            </a:r>
          </a:p>
          <a:p>
            <a:r>
              <a:rPr lang="zh-CN" altLang="en-US" dirty="0" smtClean="0"/>
              <a:t>②  不会引起误解时，可省略标注“</a:t>
            </a:r>
            <a:r>
              <a:rPr lang="en-US" altLang="zh-CN" dirty="0" smtClean="0"/>
              <a:t>U”</a:t>
            </a:r>
            <a:r>
              <a:rPr lang="zh-CN" altLang="en-US" dirty="0" smtClean="0"/>
              <a:t>、 “</a:t>
            </a:r>
            <a:r>
              <a:rPr lang="en-US" altLang="zh-CN" dirty="0" smtClean="0"/>
              <a:t>L”</a:t>
            </a:r>
            <a:r>
              <a:rPr lang="zh-CN" altLang="en-US" dirty="0" smtClean="0"/>
              <a:t>，如图</a:t>
            </a:r>
            <a:r>
              <a:rPr lang="en-US" altLang="zh-CN" dirty="0" smtClean="0"/>
              <a:t>5</a:t>
            </a:r>
            <a:r>
              <a:rPr lang="zh-CN" altLang="en-US" dirty="0" smtClean="0"/>
              <a:t>所示。</a:t>
            </a:r>
          </a:p>
          <a:p>
            <a:endParaRPr lang="zh-CN" altLang="en-US" dirty="0"/>
          </a:p>
        </p:txBody>
      </p:sp>
      <p:sp>
        <p:nvSpPr>
          <p:cNvPr id="4" name="灯片编号占位符 3"/>
          <p:cNvSpPr>
            <a:spLocks noGrp="1"/>
          </p:cNvSpPr>
          <p:nvPr>
            <p:ph type="sldNum" sz="quarter" idx="10"/>
          </p:nvPr>
        </p:nvSpPr>
        <p:spPr/>
        <p:txBody>
          <a:bodyPr/>
          <a:lstStyle/>
          <a:p>
            <a:pPr>
              <a:defRPr/>
            </a:pPr>
            <a:fld id="{D456E831-792A-4612-B067-15DEDD4F77F5}" type="slidenum">
              <a:rPr lang="zh-CN" altLang="en-US" smtClean="0"/>
              <a:pPr>
                <a:defRPr/>
              </a:pPr>
              <a:t>30</a:t>
            </a:fld>
            <a:endParaRPr lang="en-US" altLang="zh-CN"/>
          </a:p>
        </p:txBody>
      </p:sp>
    </p:spTree>
    <p:extLst>
      <p:ext uri="{BB962C8B-B14F-4D97-AF65-F5344CB8AC3E}">
        <p14:creationId xmlns:p14="http://schemas.microsoft.com/office/powerpoint/2010/main" val="1251398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3551238"/>
            <a:ext cx="12954000" cy="2449512"/>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2286000" y="6477000"/>
            <a:ext cx="10668000" cy="29210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E159AF2-6DE2-4ABC-A530-1324EFADD5CF}" type="slidenum">
              <a:rPr lang="zh-CN" altLang="en-US"/>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62000" y="457200"/>
            <a:ext cx="13716000" cy="1905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762000" y="2667000"/>
            <a:ext cx="13716000" cy="7543800"/>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7D3C3DA-9FFF-4E46-92FD-4E2B5358E3CF}" type="slidenum">
              <a:rPr lang="zh-CN" altLang="en-US"/>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203325" y="7345363"/>
            <a:ext cx="12954000" cy="227012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203325" y="4845050"/>
            <a:ext cx="12954000" cy="2500313"/>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E237AC9-920B-4598-A9B7-18C876678A2D}" type="slidenum">
              <a:rPr lang="zh-CN" altLang="en-US"/>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762000" y="457200"/>
            <a:ext cx="13716000" cy="1905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62000" y="2667000"/>
            <a:ext cx="6781800" cy="75438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7696200" y="2667000"/>
            <a:ext cx="6781800" cy="75438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4442F70-C988-48FA-8F6F-E877F87B99C5}" type="slidenum">
              <a:rPr lang="zh-CN" altLang="en-US"/>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762000" y="457200"/>
            <a:ext cx="13716000" cy="1905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62000" y="2559050"/>
            <a:ext cx="6734175" cy="1065213"/>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762000" y="3624263"/>
            <a:ext cx="6734175" cy="6586537"/>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7742238" y="2559050"/>
            <a:ext cx="6735762" cy="1065213"/>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7742238" y="3624263"/>
            <a:ext cx="6735762" cy="6586537"/>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410D5477-E2EC-439F-A47F-E7CF806772D9}" type="slidenum">
              <a:rPr lang="zh-CN" altLang="en-US"/>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762000" y="457200"/>
            <a:ext cx="13716000" cy="1905000"/>
          </a:xfrm>
          <a:prstGeom prst="rect">
            <a:avLst/>
          </a:prstGeom>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276AF821-FAA9-496E-BC7E-CF40B1C541DD}" type="slidenum">
              <a:rPr lang="zh-CN" altLang="en-US"/>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A490E35E-B073-4E17-9810-44D77E2837F4}" type="slidenum">
              <a:rPr lang="zh-CN" altLang="en-US"/>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762000" y="455613"/>
            <a:ext cx="5013325" cy="19367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957888" y="455613"/>
            <a:ext cx="8520112" cy="975518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762000" y="2392363"/>
            <a:ext cx="5013325" cy="78184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5C60D44-E422-48AD-B69B-71F7551F1803}" type="slidenum">
              <a:rPr lang="zh-CN" altLang="en-US"/>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987675" y="8001000"/>
            <a:ext cx="9144000" cy="944563"/>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987675" y="1020763"/>
            <a:ext cx="9144000" cy="6858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987675" y="8945563"/>
            <a:ext cx="9144000" cy="134143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307CE98D-6B03-49E2-ABA8-3FE3AB7C960A}" type="slidenum">
              <a:rPr lang="zh-CN" altLang="en-US"/>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762000" y="457200"/>
            <a:ext cx="13716000" cy="1905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762000" y="2667000"/>
            <a:ext cx="13716000" cy="7543800"/>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ADAA837-C965-4396-86F5-E4DAB89D322F}" type="slidenum">
              <a:rPr lang="zh-CN" altLang="en-US"/>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1049000" y="457200"/>
            <a:ext cx="3429000" cy="9753600"/>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762000" y="457200"/>
            <a:ext cx="10134600" cy="9753600"/>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0AA23AAB-BB6C-49DA-8141-E7D5828596DC}" type="slidenum">
              <a:rPr lang="zh-CN" altLang="en-US"/>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62000" y="457200"/>
            <a:ext cx="13716000" cy="9753600"/>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11BE7324-C66E-4FBB-AD4F-9150158CF813}" type="slidenum">
              <a:rPr lang="zh-CN" altLang="en-US"/>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dt" sz="half" idx="2"/>
          </p:nvPr>
        </p:nvSpPr>
        <p:spPr bwMode="auto">
          <a:xfrm>
            <a:off x="1143000" y="10414000"/>
            <a:ext cx="3175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52394" tIns="76197" rIns="152394" bIns="76197" numCol="1" anchor="t" anchorCtr="0" compatLnSpc="1"/>
          <a:lstStyle>
            <a:lvl1pPr defTabSz="1524000">
              <a:defRPr kumimoji="0" sz="2300"/>
            </a:lvl1pPr>
          </a:lstStyle>
          <a:p>
            <a:pPr>
              <a:defRPr/>
            </a:pPr>
            <a:endParaRPr lang="en-US" altLang="zh-CN"/>
          </a:p>
        </p:txBody>
      </p:sp>
      <p:sp>
        <p:nvSpPr>
          <p:cNvPr id="1029" name="Rectangle 5"/>
          <p:cNvSpPr>
            <a:spLocks noGrp="1" noChangeArrowheads="1"/>
          </p:cNvSpPr>
          <p:nvPr>
            <p:ph type="ftr" sz="quarter" idx="3"/>
          </p:nvPr>
        </p:nvSpPr>
        <p:spPr bwMode="auto">
          <a:xfrm>
            <a:off x="5207000" y="10414000"/>
            <a:ext cx="4826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52394" tIns="76197" rIns="152394" bIns="76197" numCol="1" anchor="t" anchorCtr="0" compatLnSpc="1"/>
          <a:lstStyle>
            <a:lvl1pPr algn="ctr" defTabSz="1524000">
              <a:defRPr kumimoji="0" sz="2300"/>
            </a:lvl1pPr>
          </a:lstStyle>
          <a:p>
            <a:pPr>
              <a:defRPr/>
            </a:pPr>
            <a:endParaRPr lang="en-US" altLang="zh-CN"/>
          </a:p>
        </p:txBody>
      </p:sp>
      <p:sp>
        <p:nvSpPr>
          <p:cNvPr id="1030" name="Rectangle 6"/>
          <p:cNvSpPr>
            <a:spLocks noGrp="1" noChangeArrowheads="1"/>
          </p:cNvSpPr>
          <p:nvPr>
            <p:ph type="sldNum" sz="quarter" idx="4"/>
          </p:nvPr>
        </p:nvSpPr>
        <p:spPr bwMode="auto">
          <a:xfrm>
            <a:off x="12065000" y="-127000"/>
            <a:ext cx="3175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52394" tIns="76197" rIns="152394" bIns="76197" numCol="1" anchor="t" anchorCtr="0" compatLnSpc="1"/>
          <a:lstStyle>
            <a:lvl1pPr algn="r" defTabSz="1524000">
              <a:defRPr kumimoji="0" sz="3300" b="1"/>
            </a:lvl1pPr>
          </a:lstStyle>
          <a:p>
            <a:pPr>
              <a:defRPr/>
            </a:pPr>
            <a:fld id="{34588812-D057-4369-9714-00AC7CDD1CEA}"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1524000" rtl="0" eaLnBrk="0" fontAlgn="base" hangingPunct="0">
        <a:spcBef>
          <a:spcPct val="0"/>
        </a:spcBef>
        <a:spcAft>
          <a:spcPct val="0"/>
        </a:spcAft>
        <a:defRPr kumimoji="1" sz="7300">
          <a:solidFill>
            <a:schemeClr val="tx2"/>
          </a:solidFill>
          <a:latin typeface="+mj-lt"/>
          <a:ea typeface="+mj-ea"/>
          <a:cs typeface="+mj-cs"/>
        </a:defRPr>
      </a:lvl1pPr>
      <a:lvl2pPr algn="ctr" defTabSz="1524000" rtl="0" eaLnBrk="0" fontAlgn="base" hangingPunct="0">
        <a:spcBef>
          <a:spcPct val="0"/>
        </a:spcBef>
        <a:spcAft>
          <a:spcPct val="0"/>
        </a:spcAft>
        <a:defRPr kumimoji="1" sz="7300">
          <a:solidFill>
            <a:schemeClr val="tx2"/>
          </a:solidFill>
          <a:latin typeface="Times New Roman" panose="02020603050405020304" pitchFamily="18" charset="0"/>
          <a:ea typeface="宋体" panose="02010600030101010101" pitchFamily="2" charset="-122"/>
        </a:defRPr>
      </a:lvl2pPr>
      <a:lvl3pPr algn="ctr" defTabSz="1524000" rtl="0" eaLnBrk="0" fontAlgn="base" hangingPunct="0">
        <a:spcBef>
          <a:spcPct val="0"/>
        </a:spcBef>
        <a:spcAft>
          <a:spcPct val="0"/>
        </a:spcAft>
        <a:defRPr kumimoji="1" sz="7300">
          <a:solidFill>
            <a:schemeClr val="tx2"/>
          </a:solidFill>
          <a:latin typeface="Times New Roman" panose="02020603050405020304" pitchFamily="18" charset="0"/>
          <a:ea typeface="宋体" panose="02010600030101010101" pitchFamily="2" charset="-122"/>
        </a:defRPr>
      </a:lvl3pPr>
      <a:lvl4pPr algn="ctr" defTabSz="1524000" rtl="0" eaLnBrk="0" fontAlgn="base" hangingPunct="0">
        <a:spcBef>
          <a:spcPct val="0"/>
        </a:spcBef>
        <a:spcAft>
          <a:spcPct val="0"/>
        </a:spcAft>
        <a:defRPr kumimoji="1" sz="7300">
          <a:solidFill>
            <a:schemeClr val="tx2"/>
          </a:solidFill>
          <a:latin typeface="Times New Roman" panose="02020603050405020304" pitchFamily="18" charset="0"/>
          <a:ea typeface="宋体" panose="02010600030101010101" pitchFamily="2" charset="-122"/>
        </a:defRPr>
      </a:lvl4pPr>
      <a:lvl5pPr algn="ctr" defTabSz="1524000" rtl="0" eaLnBrk="0" fontAlgn="base" hangingPunct="0">
        <a:spcBef>
          <a:spcPct val="0"/>
        </a:spcBef>
        <a:spcAft>
          <a:spcPct val="0"/>
        </a:spcAft>
        <a:defRPr kumimoji="1" sz="7300">
          <a:solidFill>
            <a:schemeClr val="tx2"/>
          </a:solidFill>
          <a:latin typeface="Times New Roman" panose="02020603050405020304" pitchFamily="18" charset="0"/>
          <a:ea typeface="宋体" panose="02010600030101010101" pitchFamily="2" charset="-122"/>
        </a:defRPr>
      </a:lvl5pPr>
      <a:lvl6pPr marL="457200" algn="ctr" defTabSz="1524000" rtl="0" fontAlgn="base">
        <a:spcBef>
          <a:spcPct val="0"/>
        </a:spcBef>
        <a:spcAft>
          <a:spcPct val="0"/>
        </a:spcAft>
        <a:defRPr kumimoji="1" sz="7300">
          <a:solidFill>
            <a:schemeClr val="tx2"/>
          </a:solidFill>
          <a:latin typeface="Times New Roman" panose="02020603050405020304" pitchFamily="18" charset="0"/>
          <a:ea typeface="宋体" panose="02010600030101010101" pitchFamily="2" charset="-122"/>
        </a:defRPr>
      </a:lvl6pPr>
      <a:lvl7pPr marL="914400" algn="ctr" defTabSz="1524000" rtl="0" fontAlgn="base">
        <a:spcBef>
          <a:spcPct val="0"/>
        </a:spcBef>
        <a:spcAft>
          <a:spcPct val="0"/>
        </a:spcAft>
        <a:defRPr kumimoji="1" sz="7300">
          <a:solidFill>
            <a:schemeClr val="tx2"/>
          </a:solidFill>
          <a:latin typeface="Times New Roman" panose="02020603050405020304" pitchFamily="18" charset="0"/>
          <a:ea typeface="宋体" panose="02010600030101010101" pitchFamily="2" charset="-122"/>
        </a:defRPr>
      </a:lvl7pPr>
      <a:lvl8pPr marL="1371600" algn="ctr" defTabSz="1524000" rtl="0" fontAlgn="base">
        <a:spcBef>
          <a:spcPct val="0"/>
        </a:spcBef>
        <a:spcAft>
          <a:spcPct val="0"/>
        </a:spcAft>
        <a:defRPr kumimoji="1" sz="7300">
          <a:solidFill>
            <a:schemeClr val="tx2"/>
          </a:solidFill>
          <a:latin typeface="Times New Roman" panose="02020603050405020304" pitchFamily="18" charset="0"/>
          <a:ea typeface="宋体" panose="02010600030101010101" pitchFamily="2" charset="-122"/>
        </a:defRPr>
      </a:lvl8pPr>
      <a:lvl9pPr marL="1828800" algn="ctr" defTabSz="1524000" rtl="0" fontAlgn="base">
        <a:spcBef>
          <a:spcPct val="0"/>
        </a:spcBef>
        <a:spcAft>
          <a:spcPct val="0"/>
        </a:spcAft>
        <a:defRPr kumimoji="1" sz="7300">
          <a:solidFill>
            <a:schemeClr val="tx2"/>
          </a:solidFill>
          <a:latin typeface="Times New Roman" panose="02020603050405020304" pitchFamily="18" charset="0"/>
          <a:ea typeface="宋体" panose="02010600030101010101" pitchFamily="2" charset="-122"/>
        </a:defRPr>
      </a:lvl9pPr>
    </p:titleStyle>
    <p:bodyStyle>
      <a:lvl1pPr marL="571500" indent="-571500" algn="l" defTabSz="1524000" rtl="0" eaLnBrk="0" fontAlgn="base" hangingPunct="0">
        <a:spcBef>
          <a:spcPct val="20000"/>
        </a:spcBef>
        <a:spcAft>
          <a:spcPct val="0"/>
        </a:spcAft>
        <a:buChar char="•"/>
        <a:defRPr kumimoji="1" sz="5300">
          <a:solidFill>
            <a:schemeClr val="tx1"/>
          </a:solidFill>
          <a:latin typeface="+mn-lt"/>
          <a:ea typeface="+mn-ea"/>
          <a:cs typeface="+mn-cs"/>
        </a:defRPr>
      </a:lvl1pPr>
      <a:lvl2pPr marL="1238250" indent="-476250" algn="l" defTabSz="1524000" rtl="0" eaLnBrk="0" fontAlgn="base" hangingPunct="0">
        <a:spcBef>
          <a:spcPct val="20000"/>
        </a:spcBef>
        <a:spcAft>
          <a:spcPct val="0"/>
        </a:spcAft>
        <a:buChar char="–"/>
        <a:defRPr kumimoji="1" sz="4700">
          <a:solidFill>
            <a:schemeClr val="tx1"/>
          </a:solidFill>
          <a:latin typeface="+mn-lt"/>
          <a:ea typeface="+mn-ea"/>
        </a:defRPr>
      </a:lvl2pPr>
      <a:lvl3pPr marL="1905000" indent="-381000" algn="l" defTabSz="1524000" rtl="0" eaLnBrk="0" fontAlgn="base" hangingPunct="0">
        <a:spcBef>
          <a:spcPct val="20000"/>
        </a:spcBef>
        <a:spcAft>
          <a:spcPct val="0"/>
        </a:spcAft>
        <a:buChar char="•"/>
        <a:defRPr kumimoji="1" sz="4000">
          <a:solidFill>
            <a:schemeClr val="tx1"/>
          </a:solidFill>
          <a:latin typeface="+mn-lt"/>
          <a:ea typeface="+mn-ea"/>
        </a:defRPr>
      </a:lvl3pPr>
      <a:lvl4pPr marL="2667000" indent="-381000" algn="l" defTabSz="1524000" rtl="0" eaLnBrk="0" fontAlgn="base" hangingPunct="0">
        <a:spcBef>
          <a:spcPct val="20000"/>
        </a:spcBef>
        <a:spcAft>
          <a:spcPct val="0"/>
        </a:spcAft>
        <a:buChar char="–"/>
        <a:defRPr kumimoji="1" sz="3300">
          <a:solidFill>
            <a:schemeClr val="tx1"/>
          </a:solidFill>
          <a:latin typeface="+mn-lt"/>
          <a:ea typeface="+mn-ea"/>
        </a:defRPr>
      </a:lvl4pPr>
      <a:lvl5pPr marL="3429000" indent="-381000" algn="l" defTabSz="1524000" rtl="0" eaLnBrk="0" fontAlgn="base" hangingPunct="0">
        <a:spcBef>
          <a:spcPct val="20000"/>
        </a:spcBef>
        <a:spcAft>
          <a:spcPct val="0"/>
        </a:spcAft>
        <a:buChar char="»"/>
        <a:defRPr kumimoji="1" sz="3300">
          <a:solidFill>
            <a:schemeClr val="tx1"/>
          </a:solidFill>
          <a:latin typeface="+mn-lt"/>
          <a:ea typeface="+mn-ea"/>
        </a:defRPr>
      </a:lvl5pPr>
      <a:lvl6pPr marL="3886200" indent="-381000" algn="l" defTabSz="1524000" rtl="0" fontAlgn="base">
        <a:spcBef>
          <a:spcPct val="20000"/>
        </a:spcBef>
        <a:spcAft>
          <a:spcPct val="0"/>
        </a:spcAft>
        <a:buChar char="»"/>
        <a:defRPr kumimoji="1" sz="3300">
          <a:solidFill>
            <a:schemeClr val="tx1"/>
          </a:solidFill>
          <a:latin typeface="+mn-lt"/>
          <a:ea typeface="+mn-ea"/>
        </a:defRPr>
      </a:lvl6pPr>
      <a:lvl7pPr marL="4343400" indent="-381000" algn="l" defTabSz="1524000" rtl="0" fontAlgn="base">
        <a:spcBef>
          <a:spcPct val="20000"/>
        </a:spcBef>
        <a:spcAft>
          <a:spcPct val="0"/>
        </a:spcAft>
        <a:buChar char="»"/>
        <a:defRPr kumimoji="1" sz="3300">
          <a:solidFill>
            <a:schemeClr val="tx1"/>
          </a:solidFill>
          <a:latin typeface="+mn-lt"/>
          <a:ea typeface="+mn-ea"/>
        </a:defRPr>
      </a:lvl7pPr>
      <a:lvl8pPr marL="4800600" indent="-381000" algn="l" defTabSz="1524000" rtl="0" fontAlgn="base">
        <a:spcBef>
          <a:spcPct val="20000"/>
        </a:spcBef>
        <a:spcAft>
          <a:spcPct val="0"/>
        </a:spcAft>
        <a:buChar char="»"/>
        <a:defRPr kumimoji="1" sz="3300">
          <a:solidFill>
            <a:schemeClr val="tx1"/>
          </a:solidFill>
          <a:latin typeface="+mn-lt"/>
          <a:ea typeface="+mn-ea"/>
        </a:defRPr>
      </a:lvl8pPr>
      <a:lvl9pPr marL="5257800" indent="-381000" algn="l" defTabSz="1524000" rtl="0" fontAlgn="base">
        <a:spcBef>
          <a:spcPct val="20000"/>
        </a:spcBef>
        <a:spcAft>
          <a:spcPct val="0"/>
        </a:spcAft>
        <a:buChar char="»"/>
        <a:defRPr kumimoji="1" sz="3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9.wmf"/><Relationship Id="rId5" Type="http://schemas.openxmlformats.org/officeDocument/2006/relationships/oleObject" Target="../embeddings/oleObject2.bin"/><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1.wmf"/><Relationship Id="rId5" Type="http://schemas.openxmlformats.org/officeDocument/2006/relationships/oleObject" Target="../embeddings/oleObject4.bin"/><Relationship Id="rId4" Type="http://schemas.openxmlformats.org/officeDocument/2006/relationships/image" Target="../media/image10.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3.wmf"/><Relationship Id="rId5" Type="http://schemas.openxmlformats.org/officeDocument/2006/relationships/oleObject" Target="../embeddings/oleObject6.bin"/><Relationship Id="rId4" Type="http://schemas.openxmlformats.org/officeDocument/2006/relationships/image" Target="../media/image12.wmf"/></Relationships>
</file>

<file path=ppt/slides/_rels/slide13.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8.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5.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10.bin"/><Relationship Id="rId14" Type="http://schemas.openxmlformats.org/officeDocument/2006/relationships/image" Target="../media/image19.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21.png"/><Relationship Id="rId4" Type="http://schemas.openxmlformats.org/officeDocument/2006/relationships/image" Target="../media/image20.wmf"/></Relationships>
</file>

<file path=ppt/slides/_rels/slide15.x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3.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15.bin"/><Relationship Id="rId5" Type="http://schemas.openxmlformats.org/officeDocument/2006/relationships/image" Target="../media/image22.wmf"/><Relationship Id="rId4" Type="http://schemas.openxmlformats.org/officeDocument/2006/relationships/oleObject" Target="../embeddings/oleObject14.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5"/>
          <p:cNvSpPr txBox="1">
            <a:spLocks noChangeArrowheads="1"/>
          </p:cNvSpPr>
          <p:nvPr/>
        </p:nvSpPr>
        <p:spPr bwMode="auto">
          <a:xfrm>
            <a:off x="1467391" y="989584"/>
            <a:ext cx="12431712" cy="888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spcBef>
                <a:spcPct val="50000"/>
              </a:spcBef>
            </a:pPr>
            <a:r>
              <a:rPr lang="zh-CN" altLang="en-US" sz="4400" b="1" dirty="0">
                <a:latin typeface="宋体" panose="02010600030101010101" pitchFamily="2" charset="-122"/>
              </a:rPr>
              <a:t>第5章 </a:t>
            </a:r>
            <a:r>
              <a:rPr lang="zh-CN" altLang="en-US" sz="4400" b="1" dirty="0" smtClean="0">
                <a:latin typeface="宋体" panose="02010600030101010101" pitchFamily="2" charset="-122"/>
              </a:rPr>
              <a:t>表面粗糙度轮廓设计与检测</a:t>
            </a:r>
            <a:r>
              <a:rPr lang="zh-CN" altLang="en-US" sz="4400" dirty="0" smtClean="0"/>
              <a:t> </a:t>
            </a:r>
            <a:endParaRPr lang="zh-CN" altLang="en-US" sz="4400" dirty="0"/>
          </a:p>
        </p:txBody>
      </p:sp>
      <p:sp>
        <p:nvSpPr>
          <p:cNvPr id="24" name="Text Box 2052"/>
          <p:cNvSpPr txBox="1">
            <a:spLocks noChangeArrowheads="1"/>
          </p:cNvSpPr>
          <p:nvPr/>
        </p:nvSpPr>
        <p:spPr bwMode="auto">
          <a:xfrm>
            <a:off x="3541398" y="2875077"/>
            <a:ext cx="6802437" cy="830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4400" b="1" dirty="0">
                <a:solidFill>
                  <a:srgbClr val="FF3300"/>
                </a:solidFill>
              </a:rPr>
              <a:t>内  容  提   要</a:t>
            </a:r>
          </a:p>
        </p:txBody>
      </p:sp>
      <p:sp>
        <p:nvSpPr>
          <p:cNvPr id="25" name="Text Box 2053"/>
          <p:cNvSpPr txBox="1">
            <a:spLocks noChangeArrowheads="1"/>
          </p:cNvSpPr>
          <p:nvPr/>
        </p:nvSpPr>
        <p:spPr bwMode="auto">
          <a:xfrm>
            <a:off x="1877529" y="4379163"/>
            <a:ext cx="11121852" cy="84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pPr>
            <a:r>
              <a:rPr lang="zh-CN" altLang="en-US" sz="3200" b="1" dirty="0"/>
              <a:t>1.表面粗糙度轮廓的含义及其对机械零件使用性能的影响；</a:t>
            </a:r>
          </a:p>
        </p:txBody>
      </p:sp>
      <p:sp>
        <p:nvSpPr>
          <p:cNvPr id="26" name="矩形 25"/>
          <p:cNvSpPr>
            <a:spLocks noChangeArrowheads="1"/>
          </p:cNvSpPr>
          <p:nvPr/>
        </p:nvSpPr>
        <p:spPr bwMode="auto">
          <a:xfrm>
            <a:off x="1937151" y="5567863"/>
            <a:ext cx="10759508"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40000"/>
              </a:lnSpc>
              <a:spcBef>
                <a:spcPct val="50000"/>
              </a:spcBef>
            </a:pPr>
            <a:r>
              <a:rPr lang="zh-CN" altLang="en-US" sz="3200" b="1" dirty="0"/>
              <a:t>2.表面粗糙度轮廓的评定基准及其评定参数；</a:t>
            </a:r>
          </a:p>
        </p:txBody>
      </p:sp>
      <p:sp>
        <p:nvSpPr>
          <p:cNvPr id="27" name="矩形 26"/>
          <p:cNvSpPr>
            <a:spLocks noChangeArrowheads="1"/>
          </p:cNvSpPr>
          <p:nvPr/>
        </p:nvSpPr>
        <p:spPr bwMode="auto">
          <a:xfrm>
            <a:off x="1947925" y="6742485"/>
            <a:ext cx="6241919"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40000"/>
              </a:lnSpc>
              <a:spcBef>
                <a:spcPct val="50000"/>
              </a:spcBef>
            </a:pPr>
            <a:r>
              <a:rPr lang="zh-CN" altLang="en-US" sz="3200" b="1" dirty="0"/>
              <a:t>3.表面粗糙度轮廓的选用；</a:t>
            </a:r>
          </a:p>
        </p:txBody>
      </p:sp>
      <p:sp>
        <p:nvSpPr>
          <p:cNvPr id="28" name="矩形 27"/>
          <p:cNvSpPr>
            <a:spLocks noChangeArrowheads="1"/>
          </p:cNvSpPr>
          <p:nvPr/>
        </p:nvSpPr>
        <p:spPr bwMode="auto">
          <a:xfrm>
            <a:off x="1962914" y="7881474"/>
            <a:ext cx="9792011"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40000"/>
              </a:lnSpc>
              <a:spcBef>
                <a:spcPct val="50000"/>
              </a:spcBef>
            </a:pPr>
            <a:r>
              <a:rPr lang="zh-CN" altLang="en-US" sz="3200" b="1" dirty="0"/>
              <a:t>4.表面粗糙度轮廓在图样上的标注方法；</a:t>
            </a:r>
          </a:p>
        </p:txBody>
      </p:sp>
      <p:cxnSp>
        <p:nvCxnSpPr>
          <p:cNvPr id="9" name="直接连接符 8"/>
          <p:cNvCxnSpPr/>
          <p:nvPr/>
        </p:nvCxnSpPr>
        <p:spPr bwMode="auto">
          <a:xfrm flipV="1">
            <a:off x="399892" y="2057259"/>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wipe(left)">
                                      <p:cBhvr>
                                        <p:cTn id="7" dur="500"/>
                                        <p:tgtEl>
                                          <p:spTgt spid="205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125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left)">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left)">
                                      <p:cBhvr>
                                        <p:cTn id="3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p:bldP spid="24" grpId="0"/>
      <p:bldP spid="25" grpId="0"/>
      <p:bldP spid="26" grpId="0"/>
      <p:bldP spid="27" grpId="0"/>
      <p:bldP spid="2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3"/>
          <p:cNvSpPr txBox="1">
            <a:spLocks noChangeArrowheads="1"/>
          </p:cNvSpPr>
          <p:nvPr/>
        </p:nvSpPr>
        <p:spPr bwMode="auto">
          <a:xfrm>
            <a:off x="5296967" y="592267"/>
            <a:ext cx="5235575" cy="769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latin typeface="宋体" panose="02010600030101010101" pitchFamily="2" charset="-122"/>
              </a:rPr>
              <a:t>5.1   概    述 </a:t>
            </a:r>
          </a:p>
        </p:txBody>
      </p:sp>
      <p:sp>
        <p:nvSpPr>
          <p:cNvPr id="7" name="Text Box 4"/>
          <p:cNvSpPr txBox="1">
            <a:spLocks noChangeArrowheads="1"/>
          </p:cNvSpPr>
          <p:nvPr/>
        </p:nvSpPr>
        <p:spPr bwMode="auto">
          <a:xfrm>
            <a:off x="752996" y="1655686"/>
            <a:ext cx="96043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t>5.1.1  表面粗糙度轮廓的定义</a:t>
            </a:r>
            <a:r>
              <a:rPr lang="zh-CN" altLang="en-US" sz="3200" dirty="0"/>
              <a:t> </a:t>
            </a:r>
          </a:p>
        </p:txBody>
      </p:sp>
      <p:sp>
        <p:nvSpPr>
          <p:cNvPr id="8" name="Text Box 4"/>
          <p:cNvSpPr txBox="1">
            <a:spLocks noChangeArrowheads="1"/>
          </p:cNvSpPr>
          <p:nvPr/>
        </p:nvSpPr>
        <p:spPr bwMode="auto">
          <a:xfrm>
            <a:off x="1171393" y="2485585"/>
            <a:ext cx="9604375"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t>1.  </a:t>
            </a:r>
            <a:r>
              <a:rPr lang="zh-CN" altLang="en-US" sz="3200" b="1" dirty="0"/>
              <a:t>表面轮廓</a:t>
            </a:r>
            <a:r>
              <a:rPr lang="zh-CN" altLang="en-US" sz="3200" dirty="0"/>
              <a:t> </a:t>
            </a:r>
          </a:p>
        </p:txBody>
      </p:sp>
      <p:sp>
        <p:nvSpPr>
          <p:cNvPr id="10" name="矩形 9"/>
          <p:cNvSpPr>
            <a:spLocks noChangeArrowheads="1"/>
          </p:cNvSpPr>
          <p:nvPr/>
        </p:nvSpPr>
        <p:spPr bwMode="auto">
          <a:xfrm>
            <a:off x="838820" y="3165191"/>
            <a:ext cx="13512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3200" b="1" dirty="0"/>
              <a:t>        表面轮廓是指</a:t>
            </a:r>
            <a:r>
              <a:rPr lang="zh-CN" altLang="en-US" sz="3200" b="1" dirty="0">
                <a:solidFill>
                  <a:srgbClr val="FF0000"/>
                </a:solidFill>
              </a:rPr>
              <a:t>垂直于零件实际表面的平面</a:t>
            </a:r>
            <a:r>
              <a:rPr lang="zh-CN" altLang="en-US" sz="3200" b="1" dirty="0"/>
              <a:t>与该</a:t>
            </a:r>
            <a:r>
              <a:rPr lang="zh-CN" altLang="en-US" sz="3200" b="1" dirty="0">
                <a:solidFill>
                  <a:srgbClr val="FF0000"/>
                </a:solidFill>
              </a:rPr>
              <a:t>零件实际表面相交</a:t>
            </a:r>
            <a:r>
              <a:rPr lang="zh-CN" altLang="en-US" sz="3200" b="1" dirty="0"/>
              <a:t>所得到的</a:t>
            </a:r>
            <a:r>
              <a:rPr lang="zh-CN" altLang="en-US" sz="3200" b="1" dirty="0" smtClean="0"/>
              <a:t>轮廓。</a:t>
            </a:r>
            <a:r>
              <a:rPr lang="zh-CN" altLang="en-US" sz="3200" b="1" dirty="0"/>
              <a:t>用表面轮廓来研究零件的表面几何形状</a:t>
            </a:r>
            <a:r>
              <a:rPr lang="zh-CN" altLang="en-US" sz="3200" b="1" dirty="0" smtClean="0"/>
              <a:t>误差。</a:t>
            </a:r>
            <a:endParaRPr lang="zh-CN" altLang="en-US" sz="3200" b="1" dirty="0"/>
          </a:p>
        </p:txBody>
      </p:sp>
      <p:pic>
        <p:nvPicPr>
          <p:cNvPr id="819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4056" y="4794021"/>
            <a:ext cx="6418685" cy="5973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5" name="任意多边形 10"/>
          <p:cNvSpPr/>
          <p:nvPr/>
        </p:nvSpPr>
        <p:spPr bwMode="auto">
          <a:xfrm>
            <a:off x="11109325" y="6537325"/>
            <a:ext cx="2081213" cy="1362075"/>
          </a:xfrm>
          <a:custGeom>
            <a:avLst/>
            <a:gdLst>
              <a:gd name="T0" fmla="*/ 0 w 2081719"/>
              <a:gd name="T1" fmla="*/ 0 h 1361873"/>
              <a:gd name="T2" fmla="*/ 1264596 w 2081719"/>
              <a:gd name="T3" fmla="*/ 719847 h 1361873"/>
              <a:gd name="T4" fmla="*/ 1070043 w 2081719"/>
              <a:gd name="T5" fmla="*/ 564204 h 1361873"/>
              <a:gd name="T6" fmla="*/ 2081719 w 2081719"/>
              <a:gd name="T7" fmla="*/ 1361873 h 13618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81719" h="1361873">
                <a:moveTo>
                  <a:pt x="0" y="0"/>
                </a:moveTo>
                <a:lnTo>
                  <a:pt x="1264596" y="719847"/>
                </a:lnTo>
                <a:cubicBezTo>
                  <a:pt x="1442937" y="813881"/>
                  <a:pt x="1070043" y="564204"/>
                  <a:pt x="1070043" y="564204"/>
                </a:cubicBezTo>
                <a:lnTo>
                  <a:pt x="2081719" y="136187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a:p>
        </p:txBody>
      </p:sp>
      <p:cxnSp>
        <p:nvCxnSpPr>
          <p:cNvPr id="11" name="直接连接符 10"/>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任意多边形 11"/>
          <p:cNvSpPr/>
          <p:nvPr/>
        </p:nvSpPr>
        <p:spPr bwMode="auto">
          <a:xfrm>
            <a:off x="6580682" y="7270230"/>
            <a:ext cx="2728210" cy="506071"/>
          </a:xfrm>
          <a:custGeom>
            <a:avLst/>
            <a:gdLst>
              <a:gd name="connsiteX0" fmla="*/ 0 w 2728210"/>
              <a:gd name="connsiteY0" fmla="*/ 2540 h 448651"/>
              <a:gd name="connsiteX1" fmla="*/ 254833 w 2728210"/>
              <a:gd name="connsiteY1" fmla="*/ 17530 h 448651"/>
              <a:gd name="connsiteX2" fmla="*/ 284813 w 2728210"/>
              <a:gd name="connsiteY2" fmla="*/ 62501 h 448651"/>
              <a:gd name="connsiteX3" fmla="*/ 329784 w 2728210"/>
              <a:gd name="connsiteY3" fmla="*/ 92481 h 448651"/>
              <a:gd name="connsiteX4" fmla="*/ 464695 w 2728210"/>
              <a:gd name="connsiteY4" fmla="*/ 77491 h 448651"/>
              <a:gd name="connsiteX5" fmla="*/ 569626 w 2728210"/>
              <a:gd name="connsiteY5" fmla="*/ 32520 h 448651"/>
              <a:gd name="connsiteX6" fmla="*/ 704538 w 2728210"/>
              <a:gd name="connsiteY6" fmla="*/ 47511 h 448651"/>
              <a:gd name="connsiteX7" fmla="*/ 764498 w 2728210"/>
              <a:gd name="connsiteY7" fmla="*/ 77491 h 448651"/>
              <a:gd name="connsiteX8" fmla="*/ 809469 w 2728210"/>
              <a:gd name="connsiteY8" fmla="*/ 92481 h 448651"/>
              <a:gd name="connsiteX9" fmla="*/ 899410 w 2728210"/>
              <a:gd name="connsiteY9" fmla="*/ 137452 h 448651"/>
              <a:gd name="connsiteX10" fmla="*/ 989351 w 2728210"/>
              <a:gd name="connsiteY10" fmla="*/ 182422 h 448651"/>
              <a:gd name="connsiteX11" fmla="*/ 1199213 w 2728210"/>
              <a:gd name="connsiteY11" fmla="*/ 167432 h 448651"/>
              <a:gd name="connsiteX12" fmla="*/ 1244184 w 2728210"/>
              <a:gd name="connsiteY12" fmla="*/ 152442 h 448651"/>
              <a:gd name="connsiteX13" fmla="*/ 1379095 w 2728210"/>
              <a:gd name="connsiteY13" fmla="*/ 137452 h 448651"/>
              <a:gd name="connsiteX14" fmla="*/ 1424066 w 2728210"/>
              <a:gd name="connsiteY14" fmla="*/ 152442 h 448651"/>
              <a:gd name="connsiteX15" fmla="*/ 1514007 w 2728210"/>
              <a:gd name="connsiteY15" fmla="*/ 212402 h 448651"/>
              <a:gd name="connsiteX16" fmla="*/ 1618938 w 2728210"/>
              <a:gd name="connsiteY16" fmla="*/ 242383 h 448651"/>
              <a:gd name="connsiteX17" fmla="*/ 1663908 w 2728210"/>
              <a:gd name="connsiteY17" fmla="*/ 257373 h 448651"/>
              <a:gd name="connsiteX18" fmla="*/ 1768839 w 2728210"/>
              <a:gd name="connsiteY18" fmla="*/ 272363 h 448651"/>
              <a:gd name="connsiteX19" fmla="*/ 2068643 w 2728210"/>
              <a:gd name="connsiteY19" fmla="*/ 317334 h 448651"/>
              <a:gd name="connsiteX20" fmla="*/ 2113613 w 2728210"/>
              <a:gd name="connsiteY20" fmla="*/ 287353 h 448651"/>
              <a:gd name="connsiteX21" fmla="*/ 2293495 w 2728210"/>
              <a:gd name="connsiteY21" fmla="*/ 287353 h 448651"/>
              <a:gd name="connsiteX22" fmla="*/ 2398426 w 2728210"/>
              <a:gd name="connsiteY22" fmla="*/ 377294 h 448651"/>
              <a:gd name="connsiteX23" fmla="*/ 2533338 w 2728210"/>
              <a:gd name="connsiteY23" fmla="*/ 437255 h 448651"/>
              <a:gd name="connsiteX24" fmla="*/ 2728210 w 2728210"/>
              <a:gd name="connsiteY24" fmla="*/ 422265 h 448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728210" h="448651">
                <a:moveTo>
                  <a:pt x="0" y="2540"/>
                </a:moveTo>
                <a:cubicBezTo>
                  <a:pt x="84944" y="7537"/>
                  <a:pt x="171567" y="0"/>
                  <a:pt x="254833" y="17530"/>
                </a:cubicBezTo>
                <a:cubicBezTo>
                  <a:pt x="272463" y="21242"/>
                  <a:pt x="272074" y="49762"/>
                  <a:pt x="284813" y="62501"/>
                </a:cubicBezTo>
                <a:cubicBezTo>
                  <a:pt x="297552" y="75240"/>
                  <a:pt x="314794" y="82488"/>
                  <a:pt x="329784" y="92481"/>
                </a:cubicBezTo>
                <a:cubicBezTo>
                  <a:pt x="374754" y="87484"/>
                  <a:pt x="420064" y="84929"/>
                  <a:pt x="464695" y="77491"/>
                </a:cubicBezTo>
                <a:cubicBezTo>
                  <a:pt x="497783" y="71976"/>
                  <a:pt x="542318" y="46175"/>
                  <a:pt x="569626" y="32520"/>
                </a:cubicBezTo>
                <a:cubicBezTo>
                  <a:pt x="614597" y="37517"/>
                  <a:pt x="660449" y="37337"/>
                  <a:pt x="704538" y="47511"/>
                </a:cubicBezTo>
                <a:cubicBezTo>
                  <a:pt x="726312" y="52536"/>
                  <a:pt x="743959" y="68689"/>
                  <a:pt x="764498" y="77491"/>
                </a:cubicBezTo>
                <a:cubicBezTo>
                  <a:pt x="779022" y="83715"/>
                  <a:pt x="794479" y="87484"/>
                  <a:pt x="809469" y="92481"/>
                </a:cubicBezTo>
                <a:cubicBezTo>
                  <a:pt x="938345" y="178398"/>
                  <a:pt x="775287" y="75390"/>
                  <a:pt x="899410" y="137452"/>
                </a:cubicBezTo>
                <a:cubicBezTo>
                  <a:pt x="1015638" y="195567"/>
                  <a:pt x="876321" y="144746"/>
                  <a:pt x="989351" y="182422"/>
                </a:cubicBezTo>
                <a:cubicBezTo>
                  <a:pt x="1059305" y="177425"/>
                  <a:pt x="1129561" y="175626"/>
                  <a:pt x="1199213" y="167432"/>
                </a:cubicBezTo>
                <a:cubicBezTo>
                  <a:pt x="1214906" y="165586"/>
                  <a:pt x="1228598" y="155040"/>
                  <a:pt x="1244184" y="152442"/>
                </a:cubicBezTo>
                <a:cubicBezTo>
                  <a:pt x="1288815" y="145004"/>
                  <a:pt x="1334125" y="142449"/>
                  <a:pt x="1379095" y="137452"/>
                </a:cubicBezTo>
                <a:cubicBezTo>
                  <a:pt x="1394085" y="142449"/>
                  <a:pt x="1410253" y="144768"/>
                  <a:pt x="1424066" y="152442"/>
                </a:cubicBezTo>
                <a:cubicBezTo>
                  <a:pt x="1455564" y="169940"/>
                  <a:pt x="1479825" y="201007"/>
                  <a:pt x="1514007" y="212402"/>
                </a:cubicBezTo>
                <a:cubicBezTo>
                  <a:pt x="1621809" y="248338"/>
                  <a:pt x="1487207" y="204746"/>
                  <a:pt x="1618938" y="242383"/>
                </a:cubicBezTo>
                <a:cubicBezTo>
                  <a:pt x="1634131" y="246724"/>
                  <a:pt x="1648414" y="254274"/>
                  <a:pt x="1663908" y="257373"/>
                </a:cubicBezTo>
                <a:cubicBezTo>
                  <a:pt x="1698554" y="264302"/>
                  <a:pt x="1733862" y="267366"/>
                  <a:pt x="1768839" y="272363"/>
                </a:cubicBezTo>
                <a:cubicBezTo>
                  <a:pt x="1917134" y="371227"/>
                  <a:pt x="1822840" y="334891"/>
                  <a:pt x="2068643" y="317334"/>
                </a:cubicBezTo>
                <a:cubicBezTo>
                  <a:pt x="2083633" y="307340"/>
                  <a:pt x="2096744" y="293679"/>
                  <a:pt x="2113613" y="287353"/>
                </a:cubicBezTo>
                <a:cubicBezTo>
                  <a:pt x="2186172" y="260143"/>
                  <a:pt x="2214703" y="276097"/>
                  <a:pt x="2293495" y="287353"/>
                </a:cubicBezTo>
                <a:cubicBezTo>
                  <a:pt x="2323213" y="317071"/>
                  <a:pt x="2357333" y="359030"/>
                  <a:pt x="2398426" y="377294"/>
                </a:cubicBezTo>
                <a:cubicBezTo>
                  <a:pt x="2558978" y="448651"/>
                  <a:pt x="2431562" y="369406"/>
                  <a:pt x="2533338" y="437255"/>
                </a:cubicBezTo>
                <a:lnTo>
                  <a:pt x="2728210" y="422265"/>
                </a:lnTo>
              </a:path>
            </a:pathLst>
          </a:custGeom>
          <a:solidFill>
            <a:srgbClr val="FF0000"/>
          </a:solidFill>
          <a:ln w="952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3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3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8">
                                            <p:txEl>
                                              <p:pRg st="0" end="0"/>
                                            </p:txEl>
                                          </p:spTgt>
                                        </p:tgtEl>
                                        <p:attrNameLst>
                                          <p:attrName>style.visibility</p:attrName>
                                        </p:attrNameLst>
                                      </p:cBhvr>
                                      <p:to>
                                        <p:strVal val="visible"/>
                                      </p:to>
                                    </p:set>
                                    <p:animEffect transition="in" filter="wipe(left)">
                                      <p:cBhvr>
                                        <p:cTn id="17" dur="300"/>
                                        <p:tgtEl>
                                          <p:spTgt spid="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2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81922"/>
                                        </p:tgtEl>
                                        <p:attrNameLst>
                                          <p:attrName>style.visibility</p:attrName>
                                        </p:attrNameLst>
                                      </p:cBhvr>
                                      <p:to>
                                        <p:strVal val="visible"/>
                                      </p:to>
                                    </p:set>
                                    <p:anim calcmode="lin" valueType="num">
                                      <p:cBhvr additive="base">
                                        <p:cTn id="27" dur="2250" fill="hold"/>
                                        <p:tgtEl>
                                          <p:spTgt spid="81922"/>
                                        </p:tgtEl>
                                        <p:attrNameLst>
                                          <p:attrName>ppt_x</p:attrName>
                                        </p:attrNameLst>
                                      </p:cBhvr>
                                      <p:tavLst>
                                        <p:tav tm="0">
                                          <p:val>
                                            <p:strVal val="#ppt_x"/>
                                          </p:val>
                                        </p:tav>
                                        <p:tav tm="100000">
                                          <p:val>
                                            <p:strVal val="#ppt_x"/>
                                          </p:val>
                                        </p:tav>
                                      </p:tavLst>
                                    </p:anim>
                                    <p:anim calcmode="lin" valueType="num">
                                      <p:cBhvr additive="base">
                                        <p:cTn id="28" dur="2250" fill="hold"/>
                                        <p:tgtEl>
                                          <p:spTgt spid="81922"/>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p:bldP spid="7" grpId="0" build="p" autoUpdateAnimBg="0"/>
      <p:bldP spid="8" grpId="0" build="p" autoUpdateAnimBg="0"/>
      <p:bldP spid="10" grpId="0"/>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3" name="Text Box 33"/>
          <p:cNvSpPr txBox="1">
            <a:spLocks noChangeArrowheads="1"/>
          </p:cNvSpPr>
          <p:nvPr/>
        </p:nvSpPr>
        <p:spPr bwMode="auto">
          <a:xfrm>
            <a:off x="1276350" y="4690825"/>
            <a:ext cx="112553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t>实际表面轮廓经</a:t>
            </a:r>
            <a:r>
              <a:rPr lang="zh-CN" altLang="en-US" sz="3200" b="1">
                <a:solidFill>
                  <a:srgbClr val="FF3300"/>
                </a:solidFill>
              </a:rPr>
              <a:t>轮廓滤波器滤波后分为</a:t>
            </a:r>
            <a:r>
              <a:rPr lang="zh-CN" altLang="en-US" sz="3200" b="1"/>
              <a:t>：</a:t>
            </a:r>
          </a:p>
        </p:txBody>
      </p:sp>
      <p:pic>
        <p:nvPicPr>
          <p:cNvPr id="5158" name="Picture 3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23963" y="2276475"/>
            <a:ext cx="12379325" cy="192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0" name="Picture 4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17650" y="5754450"/>
            <a:ext cx="11968163" cy="1017588"/>
          </a:xfrm>
          <a:prstGeom prst="rect">
            <a:avLst/>
          </a:prstGeom>
          <a:solidFill>
            <a:srgbClr val="FF3300"/>
          </a:solidFill>
          <a:ln>
            <a:noFill/>
          </a:ln>
          <a:effectLst/>
          <a:extLs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1" name="Picture 4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70038" y="6918088"/>
            <a:ext cx="12250737" cy="1227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62" name="Picture 4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36688" y="8607188"/>
            <a:ext cx="12277725" cy="1055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63" name="Rectangle 43"/>
          <p:cNvSpPr>
            <a:spLocks noChangeArrowheads="1"/>
          </p:cNvSpPr>
          <p:nvPr/>
        </p:nvSpPr>
        <p:spPr bwMode="auto">
          <a:xfrm>
            <a:off x="1524000" y="5698888"/>
            <a:ext cx="11953875" cy="914400"/>
          </a:xfrm>
          <a:prstGeom prst="rect">
            <a:avLst/>
          </a:prstGeom>
          <a:noFill/>
          <a:ln w="28575">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4" name="Oval 44"/>
          <p:cNvSpPr>
            <a:spLocks noChangeArrowheads="1"/>
          </p:cNvSpPr>
          <p:nvPr/>
        </p:nvSpPr>
        <p:spPr bwMode="auto">
          <a:xfrm>
            <a:off x="10599738" y="5462350"/>
            <a:ext cx="1389062" cy="1320800"/>
          </a:xfrm>
          <a:prstGeom prst="ellipse">
            <a:avLst/>
          </a:prstGeom>
          <a:noFill/>
          <a:ln w="5715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Text Box 4"/>
          <p:cNvSpPr txBox="1">
            <a:spLocks noChangeArrowheads="1"/>
          </p:cNvSpPr>
          <p:nvPr/>
        </p:nvSpPr>
        <p:spPr bwMode="auto">
          <a:xfrm>
            <a:off x="708025" y="773216"/>
            <a:ext cx="9604375"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t>2.  </a:t>
            </a:r>
            <a:r>
              <a:rPr lang="zh-CN" altLang="en-US" sz="3200" b="1" dirty="0"/>
              <a:t>表面几何形状误差的组成</a:t>
            </a:r>
            <a:r>
              <a:rPr lang="zh-CN" altLang="en-US" sz="3200" dirty="0"/>
              <a:t> </a:t>
            </a:r>
          </a:p>
        </p:txBody>
      </p:sp>
      <p:cxnSp>
        <p:nvCxnSpPr>
          <p:cNvPr id="11" name="直接连接符 10"/>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3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158"/>
                                        </p:tgtEl>
                                        <p:attrNameLst>
                                          <p:attrName>style.visibility</p:attrName>
                                        </p:attrNameLst>
                                      </p:cBhvr>
                                      <p:to>
                                        <p:strVal val="visible"/>
                                      </p:to>
                                    </p:set>
                                    <p:anim calcmode="lin" valueType="num">
                                      <p:cBhvr additive="base">
                                        <p:cTn id="12" dur="500" fill="hold"/>
                                        <p:tgtEl>
                                          <p:spTgt spid="5158"/>
                                        </p:tgtEl>
                                        <p:attrNameLst>
                                          <p:attrName>ppt_x</p:attrName>
                                        </p:attrNameLst>
                                      </p:cBhvr>
                                      <p:tavLst>
                                        <p:tav tm="0">
                                          <p:val>
                                            <p:strVal val="0-#ppt_w/2"/>
                                          </p:val>
                                        </p:tav>
                                        <p:tav tm="100000">
                                          <p:val>
                                            <p:strVal val="#ppt_x"/>
                                          </p:val>
                                        </p:tav>
                                      </p:tavLst>
                                    </p:anim>
                                    <p:anim calcmode="lin" valueType="num">
                                      <p:cBhvr additive="base">
                                        <p:cTn id="13" dur="500" fill="hold"/>
                                        <p:tgtEl>
                                          <p:spTgt spid="515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5153"/>
                                        </p:tgtEl>
                                        <p:attrNameLst>
                                          <p:attrName>style.visibility</p:attrName>
                                        </p:attrNameLst>
                                      </p:cBhvr>
                                      <p:to>
                                        <p:strVal val="visible"/>
                                      </p:to>
                                    </p:set>
                                    <p:animEffect transition="in" filter="wipe(left)">
                                      <p:cBhvr>
                                        <p:cTn id="18" dur="300"/>
                                        <p:tgtEl>
                                          <p:spTgt spid="5153"/>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5160"/>
                                        </p:tgtEl>
                                        <p:attrNameLst>
                                          <p:attrName>style.visibility</p:attrName>
                                        </p:attrNameLst>
                                      </p:cBhvr>
                                      <p:to>
                                        <p:strVal val="visible"/>
                                      </p:to>
                                    </p:set>
                                    <p:anim calcmode="lin" valueType="num">
                                      <p:cBhvr additive="base">
                                        <p:cTn id="23" dur="500" fill="hold"/>
                                        <p:tgtEl>
                                          <p:spTgt spid="5160"/>
                                        </p:tgtEl>
                                        <p:attrNameLst>
                                          <p:attrName>ppt_x</p:attrName>
                                        </p:attrNameLst>
                                      </p:cBhvr>
                                      <p:tavLst>
                                        <p:tav tm="0">
                                          <p:val>
                                            <p:strVal val="1+#ppt_w/2"/>
                                          </p:val>
                                        </p:tav>
                                        <p:tav tm="100000">
                                          <p:val>
                                            <p:strVal val="#ppt_x"/>
                                          </p:val>
                                        </p:tav>
                                      </p:tavLst>
                                    </p:anim>
                                    <p:anim calcmode="lin" valueType="num">
                                      <p:cBhvr additive="base">
                                        <p:cTn id="24" dur="500" fill="hold"/>
                                        <p:tgtEl>
                                          <p:spTgt spid="5160"/>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5161"/>
                                        </p:tgtEl>
                                        <p:attrNameLst>
                                          <p:attrName>style.visibility</p:attrName>
                                        </p:attrNameLst>
                                      </p:cBhvr>
                                      <p:to>
                                        <p:strVal val="visible"/>
                                      </p:to>
                                    </p:set>
                                    <p:anim calcmode="lin" valueType="num">
                                      <p:cBhvr additive="base">
                                        <p:cTn id="29" dur="500" fill="hold"/>
                                        <p:tgtEl>
                                          <p:spTgt spid="5161"/>
                                        </p:tgtEl>
                                        <p:attrNameLst>
                                          <p:attrName>ppt_x</p:attrName>
                                        </p:attrNameLst>
                                      </p:cBhvr>
                                      <p:tavLst>
                                        <p:tav tm="0">
                                          <p:val>
                                            <p:strVal val="0-#ppt_w/2"/>
                                          </p:val>
                                        </p:tav>
                                        <p:tav tm="100000">
                                          <p:val>
                                            <p:strVal val="#ppt_x"/>
                                          </p:val>
                                        </p:tav>
                                      </p:tavLst>
                                    </p:anim>
                                    <p:anim calcmode="lin" valueType="num">
                                      <p:cBhvr additive="base">
                                        <p:cTn id="30" dur="500" fill="hold"/>
                                        <p:tgtEl>
                                          <p:spTgt spid="5161"/>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162"/>
                                        </p:tgtEl>
                                        <p:attrNameLst>
                                          <p:attrName>style.visibility</p:attrName>
                                        </p:attrNameLst>
                                      </p:cBhvr>
                                      <p:to>
                                        <p:strVal val="visible"/>
                                      </p:to>
                                    </p:set>
                                    <p:anim calcmode="lin" valueType="num">
                                      <p:cBhvr additive="base">
                                        <p:cTn id="35" dur="500" fill="hold"/>
                                        <p:tgtEl>
                                          <p:spTgt spid="5162"/>
                                        </p:tgtEl>
                                        <p:attrNameLst>
                                          <p:attrName>ppt_x</p:attrName>
                                        </p:attrNameLst>
                                      </p:cBhvr>
                                      <p:tavLst>
                                        <p:tav tm="0">
                                          <p:val>
                                            <p:strVal val="#ppt_x"/>
                                          </p:val>
                                        </p:tav>
                                        <p:tav tm="100000">
                                          <p:val>
                                            <p:strVal val="#ppt_x"/>
                                          </p:val>
                                        </p:tav>
                                      </p:tavLst>
                                    </p:anim>
                                    <p:anim calcmode="lin" valueType="num">
                                      <p:cBhvr additive="base">
                                        <p:cTn id="36" dur="500" fill="hold"/>
                                        <p:tgtEl>
                                          <p:spTgt spid="516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5163"/>
                                        </p:tgtEl>
                                        <p:attrNameLst>
                                          <p:attrName>style.visibility</p:attrName>
                                        </p:attrNameLst>
                                      </p:cBhvr>
                                      <p:to>
                                        <p:strVal val="visible"/>
                                      </p:to>
                                    </p:set>
                                    <p:animEffect transition="in" filter="wipe(left)">
                                      <p:cBhvr>
                                        <p:cTn id="41" dur="500"/>
                                        <p:tgtEl>
                                          <p:spTgt spid="5163"/>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5164"/>
                                        </p:tgtEl>
                                        <p:attrNameLst>
                                          <p:attrName>style.visibility</p:attrName>
                                        </p:attrNameLst>
                                      </p:cBhvr>
                                      <p:to>
                                        <p:strVal val="visible"/>
                                      </p:to>
                                    </p:set>
                                    <p:animEffect transition="in" filter="blinds(horizontal)">
                                      <p:cBhvr>
                                        <p:cTn id="46" dur="500"/>
                                        <p:tgtEl>
                                          <p:spTgt spid="5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3" grpId="0" autoUpdateAnimBg="0"/>
      <p:bldP spid="5163" grpId="0" animBg="1"/>
      <p:bldP spid="5164" grpId="0" animBg="1"/>
      <p:bldP spid="13"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Text Box 4"/>
          <p:cNvSpPr txBox="1">
            <a:spLocks noChangeArrowheads="1"/>
          </p:cNvSpPr>
          <p:nvPr/>
        </p:nvSpPr>
        <p:spPr bwMode="auto">
          <a:xfrm>
            <a:off x="1365493" y="6035833"/>
            <a:ext cx="3814762"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一般按</a:t>
            </a:r>
            <a:r>
              <a:rPr lang="en-US" altLang="zh-CN" sz="3200" b="1" i="1" dirty="0"/>
              <a:t>S</a:t>
            </a:r>
            <a:r>
              <a:rPr lang="zh-CN" altLang="en-US" sz="3200" b="1" dirty="0"/>
              <a:t>分：</a:t>
            </a:r>
          </a:p>
        </p:txBody>
      </p:sp>
      <p:sp>
        <p:nvSpPr>
          <p:cNvPr id="50181" name="Text Box 5"/>
          <p:cNvSpPr txBox="1">
            <a:spLocks noChangeArrowheads="1"/>
          </p:cNvSpPr>
          <p:nvPr/>
        </p:nvSpPr>
        <p:spPr bwMode="auto">
          <a:xfrm>
            <a:off x="1387718" y="6805771"/>
            <a:ext cx="5637555" cy="64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i="1" dirty="0">
                <a:solidFill>
                  <a:srgbClr val="FF3300"/>
                </a:solidFill>
              </a:rPr>
              <a:t>S</a:t>
            </a:r>
            <a:r>
              <a:rPr lang="en-US" altLang="zh-CN" sz="3200" b="1" dirty="0">
                <a:solidFill>
                  <a:srgbClr val="FF3300"/>
                </a:solidFill>
              </a:rPr>
              <a:t>＜1mm </a:t>
            </a:r>
            <a:r>
              <a:rPr lang="zh-CN" altLang="en-US" sz="3200" b="1" dirty="0">
                <a:solidFill>
                  <a:srgbClr val="FF3300"/>
                </a:solidFill>
              </a:rPr>
              <a:t>为表面粗糙度轮廓</a:t>
            </a:r>
            <a:r>
              <a:rPr lang="zh-CN" altLang="en-US" sz="3200" b="1" dirty="0"/>
              <a:t>；</a:t>
            </a:r>
          </a:p>
        </p:txBody>
      </p:sp>
      <p:sp>
        <p:nvSpPr>
          <p:cNvPr id="50182" name="Text Box 6"/>
          <p:cNvSpPr txBox="1">
            <a:spLocks noChangeArrowheads="1"/>
          </p:cNvSpPr>
          <p:nvPr/>
        </p:nvSpPr>
        <p:spPr bwMode="auto">
          <a:xfrm>
            <a:off x="1355968" y="7638478"/>
            <a:ext cx="6182261" cy="64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t>1≤</a:t>
            </a:r>
            <a:r>
              <a:rPr lang="en-US" altLang="zh-CN" sz="3200" b="1" i="1" dirty="0"/>
              <a:t>S</a:t>
            </a:r>
            <a:r>
              <a:rPr lang="en-US" altLang="zh-CN" sz="3200" b="1" dirty="0"/>
              <a:t>≤10mm</a:t>
            </a:r>
            <a:r>
              <a:rPr lang="zh-CN" altLang="en-US" sz="3200" b="1" dirty="0"/>
              <a:t>为表面 波纹度轮廓；</a:t>
            </a:r>
          </a:p>
        </p:txBody>
      </p:sp>
      <p:sp>
        <p:nvSpPr>
          <p:cNvPr id="50183" name="Text Box 7"/>
          <p:cNvSpPr txBox="1">
            <a:spLocks noChangeArrowheads="1"/>
          </p:cNvSpPr>
          <p:nvPr/>
        </p:nvSpPr>
        <p:spPr bwMode="auto">
          <a:xfrm>
            <a:off x="1375018" y="8456771"/>
            <a:ext cx="6450012" cy="64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t>S＞10mm</a:t>
            </a:r>
            <a:r>
              <a:rPr lang="zh-CN" altLang="en-US" sz="3200" b="1" dirty="0"/>
              <a:t>为 </a:t>
            </a:r>
            <a:r>
              <a:rPr lang="en-US" altLang="zh-CN" sz="3200" b="1" i="1" dirty="0"/>
              <a:t>f</a:t>
            </a:r>
            <a:r>
              <a:rPr lang="zh-CN" altLang="en-US" sz="3200" b="1" baseline="-25000" dirty="0" smtClean="0"/>
              <a:t>形状</a:t>
            </a:r>
            <a:r>
              <a:rPr lang="zh-CN" altLang="en-US" sz="3200" b="1" dirty="0" smtClean="0"/>
              <a:t>（</a:t>
            </a:r>
            <a:r>
              <a:rPr lang="zh-CN" altLang="en-US" sz="3200" b="1" dirty="0"/>
              <a:t>宏观形状）。</a:t>
            </a:r>
          </a:p>
        </p:txBody>
      </p:sp>
      <p:sp>
        <p:nvSpPr>
          <p:cNvPr id="50188" name="Text Box 12"/>
          <p:cNvSpPr txBox="1">
            <a:spLocks noChangeArrowheads="1"/>
          </p:cNvSpPr>
          <p:nvPr/>
        </p:nvSpPr>
        <p:spPr bwMode="auto">
          <a:xfrm>
            <a:off x="467948" y="737895"/>
            <a:ext cx="13647737" cy="236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ts val="3840"/>
              </a:lnSpc>
              <a:spcBef>
                <a:spcPct val="50000"/>
              </a:spcBef>
            </a:pPr>
            <a:r>
              <a:rPr lang="en-US" altLang="zh-CN" sz="3200" b="1" dirty="0" smtClean="0"/>
              <a:t>  3</a:t>
            </a:r>
            <a:r>
              <a:rPr lang="en-US" altLang="zh-CN" sz="3200" b="1" dirty="0"/>
              <a:t>.</a:t>
            </a:r>
            <a:r>
              <a:rPr lang="zh-CN" altLang="en-US" sz="3200" b="1" dirty="0"/>
              <a:t>  表面粗糙度轮廓</a:t>
            </a:r>
            <a:endParaRPr lang="en-US" altLang="zh-CN" sz="3200" b="1" dirty="0"/>
          </a:p>
          <a:p>
            <a:pPr algn="just" eaLnBrk="1" hangingPunct="1">
              <a:lnSpc>
                <a:spcPct val="150000"/>
              </a:lnSpc>
              <a:spcBef>
                <a:spcPct val="50000"/>
              </a:spcBef>
            </a:pPr>
            <a:r>
              <a:rPr lang="en-US" altLang="zh-CN" sz="3200" b="1" dirty="0">
                <a:solidFill>
                  <a:srgbClr val="FF3300"/>
                </a:solidFill>
              </a:rPr>
              <a:t>        </a:t>
            </a:r>
            <a:r>
              <a:rPr lang="zh-CN" altLang="en-US" sz="3200" b="1" dirty="0">
                <a:solidFill>
                  <a:srgbClr val="FF3300"/>
                </a:solidFill>
              </a:rPr>
              <a:t>表面粗糙度轮廓</a:t>
            </a:r>
            <a:r>
              <a:rPr lang="zh-CN" altLang="en-US" sz="3200" b="1" dirty="0"/>
              <a:t>是指加工后零件表面的</a:t>
            </a:r>
            <a:r>
              <a:rPr lang="zh-CN" altLang="en-US" sz="3200" b="1" dirty="0">
                <a:solidFill>
                  <a:srgbClr val="FF3300"/>
                </a:solidFill>
              </a:rPr>
              <a:t>微小峰谷</a:t>
            </a:r>
            <a:r>
              <a:rPr lang="zh-CN" altLang="en-US" sz="3200" b="1" dirty="0"/>
              <a:t>高低</a:t>
            </a:r>
            <a:r>
              <a:rPr lang="zh-CN" altLang="en-US" sz="3200" b="1" dirty="0">
                <a:solidFill>
                  <a:srgbClr val="FF3300"/>
                </a:solidFill>
              </a:rPr>
              <a:t>（</a:t>
            </a:r>
            <a:r>
              <a:rPr lang="en-US" altLang="zh-CN" sz="3200" b="1" i="1" dirty="0">
                <a:solidFill>
                  <a:srgbClr val="FF3300"/>
                </a:solidFill>
              </a:rPr>
              <a:t>Z</a:t>
            </a:r>
            <a:r>
              <a:rPr lang="en-US" altLang="zh-CN" sz="3200" b="1" dirty="0">
                <a:solidFill>
                  <a:srgbClr val="FF3300"/>
                </a:solidFill>
              </a:rPr>
              <a:t>）</a:t>
            </a:r>
            <a:r>
              <a:rPr lang="zh-CN" altLang="en-US" sz="3200" b="1" dirty="0"/>
              <a:t>程度和</a:t>
            </a:r>
            <a:r>
              <a:rPr lang="zh-CN" altLang="en-US" sz="3200" b="1" dirty="0">
                <a:solidFill>
                  <a:srgbClr val="FF3300"/>
                </a:solidFill>
              </a:rPr>
              <a:t>间距（</a:t>
            </a:r>
            <a:r>
              <a:rPr lang="en-US" altLang="zh-CN" sz="3200" b="1" i="1" dirty="0">
                <a:solidFill>
                  <a:srgbClr val="FF3300"/>
                </a:solidFill>
              </a:rPr>
              <a:t>S</a:t>
            </a:r>
            <a:r>
              <a:rPr lang="en-US" altLang="zh-CN" sz="3200" b="1" dirty="0">
                <a:solidFill>
                  <a:srgbClr val="FF3300"/>
                </a:solidFill>
              </a:rPr>
              <a:t>）</a:t>
            </a:r>
            <a:r>
              <a:rPr lang="zh-CN" altLang="en-US" sz="3200" b="1" dirty="0"/>
              <a:t>状况（微观形状）。 </a:t>
            </a:r>
          </a:p>
        </p:txBody>
      </p:sp>
      <p:grpSp>
        <p:nvGrpSpPr>
          <p:cNvPr id="50199" name="Group 23"/>
          <p:cNvGrpSpPr/>
          <p:nvPr/>
        </p:nvGrpSpPr>
        <p:grpSpPr bwMode="auto">
          <a:xfrm>
            <a:off x="8974138" y="2768308"/>
            <a:ext cx="5056187" cy="4622800"/>
            <a:chOff x="3392" y="831"/>
            <a:chExt cx="1911" cy="1747"/>
          </a:xfrm>
        </p:grpSpPr>
        <p:grpSp>
          <p:nvGrpSpPr>
            <p:cNvPr id="6160" name="Group 16"/>
            <p:cNvGrpSpPr/>
            <p:nvPr/>
          </p:nvGrpSpPr>
          <p:grpSpPr bwMode="auto">
            <a:xfrm>
              <a:off x="3392" y="831"/>
              <a:ext cx="1911" cy="1747"/>
              <a:chOff x="3529" y="831"/>
              <a:chExt cx="1664" cy="1426"/>
            </a:xfrm>
          </p:grpSpPr>
          <p:sp>
            <p:nvSpPr>
              <p:cNvPr id="6167" name="Freeform 14"/>
              <p:cNvSpPr/>
              <p:nvPr/>
            </p:nvSpPr>
            <p:spPr bwMode="auto">
              <a:xfrm>
                <a:off x="3529" y="1207"/>
                <a:ext cx="1664" cy="512"/>
              </a:xfrm>
              <a:custGeom>
                <a:avLst/>
                <a:gdLst>
                  <a:gd name="T0" fmla="*/ 0 w 1664"/>
                  <a:gd name="T1" fmla="*/ 329 h 512"/>
                  <a:gd name="T2" fmla="*/ 46 w 1664"/>
                  <a:gd name="T3" fmla="*/ 256 h 512"/>
                  <a:gd name="T4" fmla="*/ 82 w 1664"/>
                  <a:gd name="T5" fmla="*/ 128 h 512"/>
                  <a:gd name="T6" fmla="*/ 156 w 1664"/>
                  <a:gd name="T7" fmla="*/ 210 h 512"/>
                  <a:gd name="T8" fmla="*/ 174 w 1664"/>
                  <a:gd name="T9" fmla="*/ 238 h 512"/>
                  <a:gd name="T10" fmla="*/ 201 w 1664"/>
                  <a:gd name="T11" fmla="*/ 256 h 512"/>
                  <a:gd name="T12" fmla="*/ 229 w 1664"/>
                  <a:gd name="T13" fmla="*/ 338 h 512"/>
                  <a:gd name="T14" fmla="*/ 247 w 1664"/>
                  <a:gd name="T15" fmla="*/ 366 h 512"/>
                  <a:gd name="T16" fmla="*/ 265 w 1664"/>
                  <a:gd name="T17" fmla="*/ 420 h 512"/>
                  <a:gd name="T18" fmla="*/ 329 w 1664"/>
                  <a:gd name="T19" fmla="*/ 366 h 512"/>
                  <a:gd name="T20" fmla="*/ 402 w 1664"/>
                  <a:gd name="T21" fmla="*/ 283 h 512"/>
                  <a:gd name="T22" fmla="*/ 439 w 1664"/>
                  <a:gd name="T23" fmla="*/ 238 h 512"/>
                  <a:gd name="T24" fmla="*/ 457 w 1664"/>
                  <a:gd name="T25" fmla="*/ 155 h 512"/>
                  <a:gd name="T26" fmla="*/ 485 w 1664"/>
                  <a:gd name="T27" fmla="*/ 137 h 512"/>
                  <a:gd name="T28" fmla="*/ 549 w 1664"/>
                  <a:gd name="T29" fmla="*/ 73 h 512"/>
                  <a:gd name="T30" fmla="*/ 594 w 1664"/>
                  <a:gd name="T31" fmla="*/ 0 h 512"/>
                  <a:gd name="T32" fmla="*/ 631 w 1664"/>
                  <a:gd name="T33" fmla="*/ 82 h 512"/>
                  <a:gd name="T34" fmla="*/ 677 w 1664"/>
                  <a:gd name="T35" fmla="*/ 338 h 512"/>
                  <a:gd name="T36" fmla="*/ 732 w 1664"/>
                  <a:gd name="T37" fmla="*/ 430 h 512"/>
                  <a:gd name="T38" fmla="*/ 741 w 1664"/>
                  <a:gd name="T39" fmla="*/ 466 h 512"/>
                  <a:gd name="T40" fmla="*/ 759 w 1664"/>
                  <a:gd name="T41" fmla="*/ 439 h 512"/>
                  <a:gd name="T42" fmla="*/ 768 w 1664"/>
                  <a:gd name="T43" fmla="*/ 375 h 512"/>
                  <a:gd name="T44" fmla="*/ 860 w 1664"/>
                  <a:gd name="T45" fmla="*/ 265 h 512"/>
                  <a:gd name="T46" fmla="*/ 887 w 1664"/>
                  <a:gd name="T47" fmla="*/ 219 h 512"/>
                  <a:gd name="T48" fmla="*/ 896 w 1664"/>
                  <a:gd name="T49" fmla="*/ 192 h 512"/>
                  <a:gd name="T50" fmla="*/ 924 w 1664"/>
                  <a:gd name="T51" fmla="*/ 183 h 512"/>
                  <a:gd name="T52" fmla="*/ 1024 w 1664"/>
                  <a:gd name="T53" fmla="*/ 73 h 512"/>
                  <a:gd name="T54" fmla="*/ 1042 w 1664"/>
                  <a:gd name="T55" fmla="*/ 100 h 512"/>
                  <a:gd name="T56" fmla="*/ 1052 w 1664"/>
                  <a:gd name="T57" fmla="*/ 183 h 512"/>
                  <a:gd name="T58" fmla="*/ 1079 w 1664"/>
                  <a:gd name="T59" fmla="*/ 192 h 512"/>
                  <a:gd name="T60" fmla="*/ 1106 w 1664"/>
                  <a:gd name="T61" fmla="*/ 210 h 512"/>
                  <a:gd name="T62" fmla="*/ 1152 w 1664"/>
                  <a:gd name="T63" fmla="*/ 411 h 512"/>
                  <a:gd name="T64" fmla="*/ 1161 w 1664"/>
                  <a:gd name="T65" fmla="*/ 439 h 512"/>
                  <a:gd name="T66" fmla="*/ 1180 w 1664"/>
                  <a:gd name="T67" fmla="*/ 457 h 512"/>
                  <a:gd name="T68" fmla="*/ 1198 w 1664"/>
                  <a:gd name="T69" fmla="*/ 512 h 512"/>
                  <a:gd name="T70" fmla="*/ 1271 w 1664"/>
                  <a:gd name="T71" fmla="*/ 430 h 512"/>
                  <a:gd name="T72" fmla="*/ 1271 w 1664"/>
                  <a:gd name="T73" fmla="*/ 210 h 512"/>
                  <a:gd name="T74" fmla="*/ 1326 w 1664"/>
                  <a:gd name="T75" fmla="*/ 192 h 512"/>
                  <a:gd name="T76" fmla="*/ 1353 w 1664"/>
                  <a:gd name="T77" fmla="*/ 183 h 512"/>
                  <a:gd name="T78" fmla="*/ 1426 w 1664"/>
                  <a:gd name="T79" fmla="*/ 192 h 512"/>
                  <a:gd name="T80" fmla="*/ 1454 w 1664"/>
                  <a:gd name="T81" fmla="*/ 201 h 512"/>
                  <a:gd name="T82" fmla="*/ 1509 w 1664"/>
                  <a:gd name="T83" fmla="*/ 329 h 512"/>
                  <a:gd name="T84" fmla="*/ 1527 w 1664"/>
                  <a:gd name="T85" fmla="*/ 402 h 512"/>
                  <a:gd name="T86" fmla="*/ 1664 w 1664"/>
                  <a:gd name="T87" fmla="*/ 439 h 51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664" h="512">
                    <a:moveTo>
                      <a:pt x="0" y="329"/>
                    </a:moveTo>
                    <a:cubicBezTo>
                      <a:pt x="10" y="298"/>
                      <a:pt x="28" y="283"/>
                      <a:pt x="46" y="256"/>
                    </a:cubicBezTo>
                    <a:cubicBezTo>
                      <a:pt x="60" y="211"/>
                      <a:pt x="55" y="168"/>
                      <a:pt x="82" y="128"/>
                    </a:cubicBezTo>
                    <a:cubicBezTo>
                      <a:pt x="118" y="162"/>
                      <a:pt x="101" y="192"/>
                      <a:pt x="156" y="210"/>
                    </a:cubicBezTo>
                    <a:cubicBezTo>
                      <a:pt x="162" y="219"/>
                      <a:pt x="166" y="230"/>
                      <a:pt x="174" y="238"/>
                    </a:cubicBezTo>
                    <a:cubicBezTo>
                      <a:pt x="182" y="246"/>
                      <a:pt x="195" y="247"/>
                      <a:pt x="201" y="256"/>
                    </a:cubicBezTo>
                    <a:cubicBezTo>
                      <a:pt x="203" y="259"/>
                      <a:pt x="224" y="323"/>
                      <a:pt x="229" y="338"/>
                    </a:cubicBezTo>
                    <a:cubicBezTo>
                      <a:pt x="233" y="349"/>
                      <a:pt x="243" y="356"/>
                      <a:pt x="247" y="366"/>
                    </a:cubicBezTo>
                    <a:cubicBezTo>
                      <a:pt x="255" y="383"/>
                      <a:pt x="265" y="420"/>
                      <a:pt x="265" y="420"/>
                    </a:cubicBezTo>
                    <a:cubicBezTo>
                      <a:pt x="346" y="412"/>
                      <a:pt x="395" y="429"/>
                      <a:pt x="329" y="366"/>
                    </a:cubicBezTo>
                    <a:cubicBezTo>
                      <a:pt x="341" y="329"/>
                      <a:pt x="365" y="295"/>
                      <a:pt x="402" y="283"/>
                    </a:cubicBezTo>
                    <a:cubicBezTo>
                      <a:pt x="415" y="270"/>
                      <a:pt x="433" y="256"/>
                      <a:pt x="439" y="238"/>
                    </a:cubicBezTo>
                    <a:cubicBezTo>
                      <a:pt x="448" y="211"/>
                      <a:pt x="439" y="177"/>
                      <a:pt x="457" y="155"/>
                    </a:cubicBezTo>
                    <a:cubicBezTo>
                      <a:pt x="464" y="146"/>
                      <a:pt x="477" y="144"/>
                      <a:pt x="485" y="137"/>
                    </a:cubicBezTo>
                    <a:cubicBezTo>
                      <a:pt x="508" y="117"/>
                      <a:pt x="527" y="94"/>
                      <a:pt x="549" y="73"/>
                    </a:cubicBezTo>
                    <a:cubicBezTo>
                      <a:pt x="559" y="43"/>
                      <a:pt x="576" y="27"/>
                      <a:pt x="594" y="0"/>
                    </a:cubicBezTo>
                    <a:cubicBezTo>
                      <a:pt x="606" y="33"/>
                      <a:pt x="622" y="46"/>
                      <a:pt x="631" y="82"/>
                    </a:cubicBezTo>
                    <a:cubicBezTo>
                      <a:pt x="638" y="190"/>
                      <a:pt x="646" y="242"/>
                      <a:pt x="677" y="338"/>
                    </a:cubicBezTo>
                    <a:cubicBezTo>
                      <a:pt x="691" y="381"/>
                      <a:pt x="688" y="414"/>
                      <a:pt x="732" y="430"/>
                    </a:cubicBezTo>
                    <a:cubicBezTo>
                      <a:pt x="735" y="442"/>
                      <a:pt x="729" y="462"/>
                      <a:pt x="741" y="466"/>
                    </a:cubicBezTo>
                    <a:cubicBezTo>
                      <a:pt x="751" y="469"/>
                      <a:pt x="756" y="449"/>
                      <a:pt x="759" y="439"/>
                    </a:cubicBezTo>
                    <a:cubicBezTo>
                      <a:pt x="765" y="418"/>
                      <a:pt x="762" y="396"/>
                      <a:pt x="768" y="375"/>
                    </a:cubicBezTo>
                    <a:cubicBezTo>
                      <a:pt x="777" y="346"/>
                      <a:pt x="836" y="287"/>
                      <a:pt x="860" y="265"/>
                    </a:cubicBezTo>
                    <a:cubicBezTo>
                      <a:pt x="885" y="190"/>
                      <a:pt x="850" y="282"/>
                      <a:pt x="887" y="219"/>
                    </a:cubicBezTo>
                    <a:cubicBezTo>
                      <a:pt x="892" y="211"/>
                      <a:pt x="889" y="199"/>
                      <a:pt x="896" y="192"/>
                    </a:cubicBezTo>
                    <a:cubicBezTo>
                      <a:pt x="903" y="185"/>
                      <a:pt x="915" y="186"/>
                      <a:pt x="924" y="183"/>
                    </a:cubicBezTo>
                    <a:cubicBezTo>
                      <a:pt x="941" y="131"/>
                      <a:pt x="979" y="103"/>
                      <a:pt x="1024" y="73"/>
                    </a:cubicBezTo>
                    <a:cubicBezTo>
                      <a:pt x="1030" y="82"/>
                      <a:pt x="1039" y="90"/>
                      <a:pt x="1042" y="100"/>
                    </a:cubicBezTo>
                    <a:cubicBezTo>
                      <a:pt x="1049" y="127"/>
                      <a:pt x="1042" y="157"/>
                      <a:pt x="1052" y="183"/>
                    </a:cubicBezTo>
                    <a:cubicBezTo>
                      <a:pt x="1056" y="192"/>
                      <a:pt x="1071" y="188"/>
                      <a:pt x="1079" y="192"/>
                    </a:cubicBezTo>
                    <a:cubicBezTo>
                      <a:pt x="1089" y="197"/>
                      <a:pt x="1097" y="204"/>
                      <a:pt x="1106" y="210"/>
                    </a:cubicBezTo>
                    <a:cubicBezTo>
                      <a:pt x="1131" y="281"/>
                      <a:pt x="1116" y="357"/>
                      <a:pt x="1152" y="411"/>
                    </a:cubicBezTo>
                    <a:cubicBezTo>
                      <a:pt x="1155" y="420"/>
                      <a:pt x="1156" y="431"/>
                      <a:pt x="1161" y="439"/>
                    </a:cubicBezTo>
                    <a:cubicBezTo>
                      <a:pt x="1166" y="446"/>
                      <a:pt x="1176" y="449"/>
                      <a:pt x="1180" y="457"/>
                    </a:cubicBezTo>
                    <a:cubicBezTo>
                      <a:pt x="1189" y="474"/>
                      <a:pt x="1198" y="512"/>
                      <a:pt x="1198" y="512"/>
                    </a:cubicBezTo>
                    <a:cubicBezTo>
                      <a:pt x="1240" y="498"/>
                      <a:pt x="1257" y="472"/>
                      <a:pt x="1271" y="430"/>
                    </a:cubicBezTo>
                    <a:cubicBezTo>
                      <a:pt x="1263" y="363"/>
                      <a:pt x="1247" y="271"/>
                      <a:pt x="1271" y="210"/>
                    </a:cubicBezTo>
                    <a:cubicBezTo>
                      <a:pt x="1278" y="192"/>
                      <a:pt x="1308" y="198"/>
                      <a:pt x="1326" y="192"/>
                    </a:cubicBezTo>
                    <a:cubicBezTo>
                      <a:pt x="1335" y="189"/>
                      <a:pt x="1353" y="183"/>
                      <a:pt x="1353" y="183"/>
                    </a:cubicBezTo>
                    <a:cubicBezTo>
                      <a:pt x="1377" y="186"/>
                      <a:pt x="1402" y="188"/>
                      <a:pt x="1426" y="192"/>
                    </a:cubicBezTo>
                    <a:cubicBezTo>
                      <a:pt x="1436" y="194"/>
                      <a:pt x="1448" y="193"/>
                      <a:pt x="1454" y="201"/>
                    </a:cubicBezTo>
                    <a:cubicBezTo>
                      <a:pt x="1484" y="242"/>
                      <a:pt x="1471" y="293"/>
                      <a:pt x="1509" y="329"/>
                    </a:cubicBezTo>
                    <a:cubicBezTo>
                      <a:pt x="1511" y="337"/>
                      <a:pt x="1521" y="398"/>
                      <a:pt x="1527" y="402"/>
                    </a:cubicBezTo>
                    <a:cubicBezTo>
                      <a:pt x="1551" y="419"/>
                      <a:pt x="1636" y="439"/>
                      <a:pt x="1664" y="439"/>
                    </a:cubicBezTo>
                  </a:path>
                </a:pathLst>
              </a:custGeom>
              <a:noFill/>
              <a:ln w="3810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8" name="Oval 15"/>
              <p:cNvSpPr>
                <a:spLocks noChangeArrowheads="1"/>
              </p:cNvSpPr>
              <p:nvPr/>
            </p:nvSpPr>
            <p:spPr bwMode="auto">
              <a:xfrm>
                <a:off x="3601" y="831"/>
                <a:ext cx="1517" cy="1426"/>
              </a:xfrm>
              <a:prstGeom prst="ellipse">
                <a:avLst/>
              </a:prstGeom>
              <a:noFill/>
              <a:ln w="38100">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61" name="Line 17"/>
            <p:cNvSpPr>
              <a:spLocks noChangeShapeType="1"/>
            </p:cNvSpPr>
            <p:nvPr/>
          </p:nvSpPr>
          <p:spPr bwMode="auto">
            <a:xfrm>
              <a:off x="4637" y="1930"/>
              <a:ext cx="5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2" name="Line 18"/>
            <p:cNvSpPr>
              <a:spLocks noChangeShapeType="1"/>
            </p:cNvSpPr>
            <p:nvPr/>
          </p:nvSpPr>
          <p:spPr bwMode="auto">
            <a:xfrm>
              <a:off x="4508" y="1381"/>
              <a:ext cx="54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3" name="Line 19"/>
            <p:cNvSpPr>
              <a:spLocks noChangeShapeType="1"/>
            </p:cNvSpPr>
            <p:nvPr/>
          </p:nvSpPr>
          <p:spPr bwMode="auto">
            <a:xfrm>
              <a:off x="4946" y="1381"/>
              <a:ext cx="0" cy="557"/>
            </a:xfrm>
            <a:prstGeom prst="line">
              <a:avLst/>
            </a:prstGeom>
            <a:noFill/>
            <a:ln w="381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4" name="Line 20"/>
            <p:cNvSpPr>
              <a:spLocks noChangeShapeType="1"/>
            </p:cNvSpPr>
            <p:nvPr/>
          </p:nvSpPr>
          <p:spPr bwMode="auto">
            <a:xfrm>
              <a:off x="4562" y="997"/>
              <a:ext cx="0" cy="41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5" name="Line 21"/>
            <p:cNvSpPr>
              <a:spLocks noChangeShapeType="1"/>
            </p:cNvSpPr>
            <p:nvPr/>
          </p:nvSpPr>
          <p:spPr bwMode="auto">
            <a:xfrm>
              <a:off x="4069" y="1007"/>
              <a:ext cx="0" cy="302"/>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6" name="Line 22"/>
            <p:cNvSpPr>
              <a:spLocks noChangeShapeType="1"/>
            </p:cNvSpPr>
            <p:nvPr/>
          </p:nvSpPr>
          <p:spPr bwMode="auto">
            <a:xfrm>
              <a:off x="4060" y="1097"/>
              <a:ext cx="512" cy="0"/>
            </a:xfrm>
            <a:prstGeom prst="line">
              <a:avLst/>
            </a:prstGeom>
            <a:noFill/>
            <a:ln w="381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200" name="AutoShape 24"/>
          <p:cNvSpPr>
            <a:spLocks noChangeArrowheads="1"/>
          </p:cNvSpPr>
          <p:nvPr/>
        </p:nvSpPr>
        <p:spPr bwMode="auto">
          <a:xfrm>
            <a:off x="7013575" y="2939758"/>
            <a:ext cx="1524000" cy="1331912"/>
          </a:xfrm>
          <a:prstGeom prst="wedgeRoundRectCallout">
            <a:avLst>
              <a:gd name="adj1" fmla="val 226981"/>
              <a:gd name="adj2" fmla="val -7213"/>
              <a:gd name="adj3" fmla="val 16667"/>
            </a:avLst>
          </a:prstGeom>
          <a:noFill/>
          <a:ln w="38100">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lstStyle/>
          <a:p>
            <a:pPr algn="ctr" defTabSz="1524000"/>
            <a:r>
              <a:rPr lang="zh-CN" altLang="en-US" sz="4000" b="1"/>
              <a:t>间距</a:t>
            </a:r>
            <a:r>
              <a:rPr lang="en-US" altLang="zh-CN" sz="4000" b="1" i="1">
                <a:solidFill>
                  <a:srgbClr val="FF3300"/>
                </a:solidFill>
              </a:rPr>
              <a:t>S</a:t>
            </a:r>
          </a:p>
        </p:txBody>
      </p:sp>
      <p:sp>
        <p:nvSpPr>
          <p:cNvPr id="50201" name="AutoShape 25"/>
          <p:cNvSpPr>
            <a:spLocks noChangeArrowheads="1"/>
          </p:cNvSpPr>
          <p:nvPr/>
        </p:nvSpPr>
        <p:spPr bwMode="auto">
          <a:xfrm>
            <a:off x="7593013" y="6157620"/>
            <a:ext cx="1524000" cy="1524000"/>
          </a:xfrm>
          <a:prstGeom prst="wedgeRoundRectCallout">
            <a:avLst>
              <a:gd name="adj1" fmla="val 303819"/>
              <a:gd name="adj2" fmla="val -125523"/>
              <a:gd name="adj3" fmla="val 16667"/>
            </a:avLst>
          </a:prstGeom>
          <a:noFill/>
          <a:ln w="38100">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lstStyle/>
          <a:p>
            <a:pPr algn="ctr" defTabSz="1524000"/>
            <a:r>
              <a:rPr lang="zh-CN" altLang="en-US" sz="4000" b="1"/>
              <a:t>高低</a:t>
            </a:r>
          </a:p>
          <a:p>
            <a:pPr algn="ctr" defTabSz="1524000"/>
            <a:r>
              <a:rPr lang="en-US" altLang="zh-CN" sz="4000" b="1" i="1">
                <a:solidFill>
                  <a:srgbClr val="FF3300"/>
                </a:solidFill>
              </a:rPr>
              <a:t>Z</a:t>
            </a:r>
          </a:p>
        </p:txBody>
      </p:sp>
      <p:cxnSp>
        <p:nvCxnSpPr>
          <p:cNvPr id="20" name="直接连接符 19"/>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50199"/>
                                        </p:tgtEl>
                                        <p:attrNameLst>
                                          <p:attrName>style.visibility</p:attrName>
                                        </p:attrNameLst>
                                      </p:cBhvr>
                                      <p:to>
                                        <p:strVal val="visible"/>
                                      </p:to>
                                    </p:set>
                                    <p:anim calcmode="lin" valueType="num">
                                      <p:cBhvr additive="base">
                                        <p:cTn id="7" dur="500" fill="hold"/>
                                        <p:tgtEl>
                                          <p:spTgt spid="50199"/>
                                        </p:tgtEl>
                                        <p:attrNameLst>
                                          <p:attrName>ppt_x</p:attrName>
                                        </p:attrNameLst>
                                      </p:cBhvr>
                                      <p:tavLst>
                                        <p:tav tm="0">
                                          <p:val>
                                            <p:strVal val="1+#ppt_w/2"/>
                                          </p:val>
                                        </p:tav>
                                        <p:tav tm="100000">
                                          <p:val>
                                            <p:strVal val="#ppt_x"/>
                                          </p:val>
                                        </p:tav>
                                      </p:tavLst>
                                    </p:anim>
                                    <p:anim calcmode="lin" valueType="num">
                                      <p:cBhvr additive="base">
                                        <p:cTn id="8" dur="500" fill="hold"/>
                                        <p:tgtEl>
                                          <p:spTgt spid="5019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iterate type="wd">
                                    <p:tmPct val="100000"/>
                                  </p:iterate>
                                  <p:childTnLst>
                                    <p:set>
                                      <p:cBhvr>
                                        <p:cTn id="12" dur="1" fill="hold">
                                          <p:stCondLst>
                                            <p:cond delay="0"/>
                                          </p:stCondLst>
                                        </p:cTn>
                                        <p:tgtEl>
                                          <p:spTgt spid="50201"/>
                                        </p:tgtEl>
                                        <p:attrNameLst>
                                          <p:attrName>style.visibility</p:attrName>
                                        </p:attrNameLst>
                                      </p:cBhvr>
                                      <p:to>
                                        <p:strVal val="visible"/>
                                      </p:to>
                                    </p:set>
                                    <p:animEffect transition="in" filter="wipe(left)">
                                      <p:cBhvr>
                                        <p:cTn id="13" dur="300"/>
                                        <p:tgtEl>
                                          <p:spTgt spid="50201"/>
                                        </p:tgtEl>
                                      </p:cBhvr>
                                    </p:animEffect>
                                  </p:childTnLst>
                                </p:cTn>
                              </p:par>
                            </p:childTnLst>
                          </p:cTn>
                        </p:par>
                        <p:par>
                          <p:cTn id="14" fill="hold">
                            <p:stCondLst>
                              <p:cond delay="600"/>
                            </p:stCondLst>
                            <p:childTnLst>
                              <p:par>
                                <p:cTn id="15" presetID="22" presetClass="entr" presetSubtype="8" fill="hold" grpId="0" nodeType="afterEffect">
                                  <p:stCondLst>
                                    <p:cond delay="0"/>
                                  </p:stCondLst>
                                  <p:iterate type="wd">
                                    <p:tmPct val="100000"/>
                                  </p:iterate>
                                  <p:childTnLst>
                                    <p:set>
                                      <p:cBhvr>
                                        <p:cTn id="16" dur="1" fill="hold">
                                          <p:stCondLst>
                                            <p:cond delay="0"/>
                                          </p:stCondLst>
                                        </p:cTn>
                                        <p:tgtEl>
                                          <p:spTgt spid="50188"/>
                                        </p:tgtEl>
                                        <p:attrNameLst>
                                          <p:attrName>style.visibility</p:attrName>
                                        </p:attrNameLst>
                                      </p:cBhvr>
                                      <p:to>
                                        <p:strVal val="visible"/>
                                      </p:to>
                                    </p:set>
                                    <p:animEffect transition="in" filter="wipe(left)">
                                      <p:cBhvr>
                                        <p:cTn id="17" dur="300"/>
                                        <p:tgtEl>
                                          <p:spTgt spid="501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50200"/>
                                        </p:tgtEl>
                                        <p:attrNameLst>
                                          <p:attrName>style.visibility</p:attrName>
                                        </p:attrNameLst>
                                      </p:cBhvr>
                                      <p:to>
                                        <p:strVal val="visible"/>
                                      </p:to>
                                    </p:set>
                                    <p:animEffect transition="in" filter="wipe(left)">
                                      <p:cBhvr>
                                        <p:cTn id="22" dur="300"/>
                                        <p:tgtEl>
                                          <p:spTgt spid="5020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50180"/>
                                        </p:tgtEl>
                                        <p:attrNameLst>
                                          <p:attrName>style.visibility</p:attrName>
                                        </p:attrNameLst>
                                      </p:cBhvr>
                                      <p:to>
                                        <p:strVal val="visible"/>
                                      </p:to>
                                    </p:set>
                                    <p:animEffect transition="in" filter="wipe(left)">
                                      <p:cBhvr>
                                        <p:cTn id="27" dur="300"/>
                                        <p:tgtEl>
                                          <p:spTgt spid="5018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50181"/>
                                        </p:tgtEl>
                                        <p:attrNameLst>
                                          <p:attrName>style.visibility</p:attrName>
                                        </p:attrNameLst>
                                      </p:cBhvr>
                                      <p:to>
                                        <p:strVal val="visible"/>
                                      </p:to>
                                    </p:set>
                                    <p:animEffect transition="in" filter="wipe(left)">
                                      <p:cBhvr>
                                        <p:cTn id="32" dur="300"/>
                                        <p:tgtEl>
                                          <p:spTgt spid="5018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50182"/>
                                        </p:tgtEl>
                                        <p:attrNameLst>
                                          <p:attrName>style.visibility</p:attrName>
                                        </p:attrNameLst>
                                      </p:cBhvr>
                                      <p:to>
                                        <p:strVal val="visible"/>
                                      </p:to>
                                    </p:set>
                                    <p:animEffect transition="in" filter="wipe(left)">
                                      <p:cBhvr>
                                        <p:cTn id="37" dur="300"/>
                                        <p:tgtEl>
                                          <p:spTgt spid="5018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50183"/>
                                        </p:tgtEl>
                                        <p:attrNameLst>
                                          <p:attrName>style.visibility</p:attrName>
                                        </p:attrNameLst>
                                      </p:cBhvr>
                                      <p:to>
                                        <p:strVal val="visible"/>
                                      </p:to>
                                    </p:set>
                                    <p:animEffect transition="in" filter="wipe(left)">
                                      <p:cBhvr>
                                        <p:cTn id="42" dur="300"/>
                                        <p:tgtEl>
                                          <p:spTgt spid="50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 grpId="0" autoUpdateAnimBg="0"/>
      <p:bldP spid="50181" grpId="0" autoUpdateAnimBg="0"/>
      <p:bldP spid="50182" grpId="0" autoUpdateAnimBg="0"/>
      <p:bldP spid="50183" grpId="0" autoUpdateAnimBg="0"/>
      <p:bldP spid="50188" grpId="0" autoUpdateAnimBg="0"/>
      <p:bldP spid="50200" grpId="0" animBg="1" autoUpdateAnimBg="0"/>
      <p:bldP spid="50201"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078667" y="2984083"/>
            <a:ext cx="7626350"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dirty="0"/>
              <a:t>1. </a:t>
            </a:r>
            <a:r>
              <a:rPr lang="zh-CN" altLang="en-US" sz="3600" b="1" dirty="0">
                <a:latin typeface="宋体" panose="02010600030101010101" pitchFamily="2" charset="-122"/>
              </a:rPr>
              <a:t>对摩擦和磨损的影响</a:t>
            </a:r>
            <a:r>
              <a:rPr lang="zh-CN" altLang="en-US" sz="3600" b="1" dirty="0"/>
              <a:t> </a:t>
            </a:r>
          </a:p>
        </p:txBody>
      </p:sp>
      <p:sp>
        <p:nvSpPr>
          <p:cNvPr id="6167" name="Text Box 23"/>
          <p:cNvSpPr txBox="1">
            <a:spLocks noChangeArrowheads="1"/>
          </p:cNvSpPr>
          <p:nvPr/>
        </p:nvSpPr>
        <p:spPr bwMode="auto">
          <a:xfrm>
            <a:off x="1073046" y="398281"/>
            <a:ext cx="132699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t>5.1.2 表面粗糙度轮廓对零件使用性能的影响</a:t>
            </a:r>
            <a:r>
              <a:rPr lang="zh-CN" altLang="en-US" sz="4000" dirty="0"/>
              <a:t> </a:t>
            </a:r>
          </a:p>
        </p:txBody>
      </p:sp>
      <p:sp>
        <p:nvSpPr>
          <p:cNvPr id="6175" name="Text Box 31"/>
          <p:cNvSpPr txBox="1">
            <a:spLocks noChangeArrowheads="1"/>
          </p:cNvSpPr>
          <p:nvPr/>
        </p:nvSpPr>
        <p:spPr bwMode="auto">
          <a:xfrm>
            <a:off x="454700" y="1397468"/>
            <a:ext cx="14241463" cy="148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t>        表面粗糙度轮廓对零件</a:t>
            </a:r>
            <a:r>
              <a:rPr lang="zh-CN" altLang="en-US" sz="3600" b="1" dirty="0">
                <a:solidFill>
                  <a:srgbClr val="CC3300"/>
                </a:solidFill>
              </a:rPr>
              <a:t>使用性能及其寿命</a:t>
            </a:r>
            <a:r>
              <a:rPr lang="zh-CN" altLang="en-US" sz="3600" b="1" dirty="0"/>
              <a:t>的</a:t>
            </a:r>
            <a:r>
              <a:rPr lang="zh-CN" altLang="en-US" sz="3600" b="1" dirty="0" smtClean="0"/>
              <a:t>影响较大</a:t>
            </a:r>
            <a:r>
              <a:rPr lang="zh-CN" altLang="en-US" sz="3600" b="1" dirty="0"/>
              <a:t>，尤其对在</a:t>
            </a:r>
            <a:r>
              <a:rPr lang="zh-CN" altLang="en-US" sz="3600" b="1" dirty="0">
                <a:solidFill>
                  <a:srgbClr val="CC3300"/>
                </a:solidFill>
              </a:rPr>
              <a:t>高温、高速和高压</a:t>
            </a:r>
            <a:r>
              <a:rPr lang="zh-CN" altLang="en-US" sz="3600" b="1" dirty="0"/>
              <a:t>条件下工作的机械零件影响更大。</a:t>
            </a:r>
          </a:p>
        </p:txBody>
      </p:sp>
      <p:sp>
        <p:nvSpPr>
          <p:cNvPr id="6176" name="Text Box 32"/>
          <p:cNvSpPr txBox="1">
            <a:spLocks noChangeArrowheads="1"/>
          </p:cNvSpPr>
          <p:nvPr/>
        </p:nvSpPr>
        <p:spPr bwMode="auto">
          <a:xfrm>
            <a:off x="1100685" y="3714309"/>
            <a:ext cx="11551014" cy="81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smtClean="0">
                <a:solidFill>
                  <a:srgbClr val="CC3300"/>
                </a:solidFill>
              </a:rPr>
              <a:t>     零件</a:t>
            </a:r>
            <a:r>
              <a:rPr lang="zh-CN" altLang="en-US" sz="3600" b="1" dirty="0">
                <a:solidFill>
                  <a:srgbClr val="CC3300"/>
                </a:solidFill>
              </a:rPr>
              <a:t>越粗糙，阻力越大，磨损也越</a:t>
            </a:r>
            <a:r>
              <a:rPr lang="zh-CN" altLang="en-US" sz="3600" b="1" dirty="0" smtClean="0">
                <a:solidFill>
                  <a:srgbClr val="CC3300"/>
                </a:solidFill>
              </a:rPr>
              <a:t>快</a:t>
            </a:r>
            <a:r>
              <a:rPr lang="zh-CN" altLang="en-US" sz="3600" b="1" dirty="0" smtClean="0"/>
              <a:t>。</a:t>
            </a:r>
            <a:endParaRPr lang="zh-CN" altLang="en-US" sz="3600" b="1" dirty="0"/>
          </a:p>
        </p:txBody>
      </p:sp>
      <p:sp>
        <p:nvSpPr>
          <p:cNvPr id="12" name="Text Box 11"/>
          <p:cNvSpPr txBox="1">
            <a:spLocks noChangeArrowheads="1"/>
          </p:cNvSpPr>
          <p:nvPr/>
        </p:nvSpPr>
        <p:spPr bwMode="auto">
          <a:xfrm>
            <a:off x="1108181" y="4545686"/>
            <a:ext cx="7253288"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latin typeface="宋体" panose="02010600030101010101" pitchFamily="2" charset="-122"/>
              </a:rPr>
              <a:t>2. 对配合性质的影响 </a:t>
            </a:r>
          </a:p>
        </p:txBody>
      </p:sp>
      <p:sp>
        <p:nvSpPr>
          <p:cNvPr id="13" name="矩形 12"/>
          <p:cNvSpPr/>
          <p:nvPr/>
        </p:nvSpPr>
        <p:spPr>
          <a:xfrm>
            <a:off x="1813505" y="5304287"/>
            <a:ext cx="5280613" cy="646331"/>
          </a:xfrm>
          <a:prstGeom prst="rect">
            <a:avLst/>
          </a:prstGeom>
        </p:spPr>
        <p:txBody>
          <a:bodyPr wrap="none">
            <a:spAutoFit/>
          </a:bodyPr>
          <a:lstStyle/>
          <a:p>
            <a:r>
              <a:rPr lang="zh-CN" altLang="en-US" sz="3600" b="1" dirty="0" smtClean="0">
                <a:solidFill>
                  <a:srgbClr val="CC3300"/>
                </a:solidFill>
              </a:rPr>
              <a:t>影响配合性质的稳定性。</a:t>
            </a:r>
            <a:endParaRPr lang="zh-CN" altLang="en-US" sz="3600" b="1" dirty="0">
              <a:solidFill>
                <a:srgbClr val="CC3300"/>
              </a:solidFill>
            </a:endParaRPr>
          </a:p>
        </p:txBody>
      </p:sp>
      <p:sp>
        <p:nvSpPr>
          <p:cNvPr id="14" name="Text Box 12"/>
          <p:cNvSpPr txBox="1">
            <a:spLocks noChangeArrowheads="1"/>
          </p:cNvSpPr>
          <p:nvPr/>
        </p:nvSpPr>
        <p:spPr bwMode="auto">
          <a:xfrm>
            <a:off x="1105370" y="6072184"/>
            <a:ext cx="7696200"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latin typeface="宋体" panose="02010600030101010101" pitchFamily="2" charset="-122"/>
              </a:rPr>
              <a:t>3. 对抗疲劳强度的影响 </a:t>
            </a:r>
          </a:p>
        </p:txBody>
      </p:sp>
      <p:sp>
        <p:nvSpPr>
          <p:cNvPr id="15" name="矩形 14"/>
          <p:cNvSpPr/>
          <p:nvPr/>
        </p:nvSpPr>
        <p:spPr>
          <a:xfrm>
            <a:off x="1846287" y="6868686"/>
            <a:ext cx="12109555" cy="1200329"/>
          </a:xfrm>
          <a:prstGeom prst="rect">
            <a:avLst/>
          </a:prstGeom>
        </p:spPr>
        <p:txBody>
          <a:bodyPr wrap="square">
            <a:spAutoFit/>
          </a:bodyPr>
          <a:lstStyle/>
          <a:p>
            <a:r>
              <a:rPr lang="zh-CN" altLang="en-US" sz="3600" b="1" dirty="0" smtClean="0">
                <a:solidFill>
                  <a:srgbClr val="CC3300"/>
                </a:solidFill>
              </a:rPr>
              <a:t>表面越粗糙，凹痕越深，应力越集中</a:t>
            </a:r>
            <a:r>
              <a:rPr lang="en-US" altLang="zh-CN" sz="3600" b="1" dirty="0" smtClean="0">
                <a:solidFill>
                  <a:srgbClr val="CC3300"/>
                </a:solidFill>
              </a:rPr>
              <a:t>, </a:t>
            </a:r>
            <a:r>
              <a:rPr lang="zh-CN" altLang="en-US" sz="3600" b="1" dirty="0" smtClean="0">
                <a:solidFill>
                  <a:srgbClr val="CC3300"/>
                </a:solidFill>
              </a:rPr>
              <a:t>使疲劳强度降低，导致零件表面产生裂纹而损坏。</a:t>
            </a:r>
          </a:p>
        </p:txBody>
      </p:sp>
      <p:sp>
        <p:nvSpPr>
          <p:cNvPr id="16" name="Text Box 4"/>
          <p:cNvSpPr txBox="1">
            <a:spLocks noChangeArrowheads="1"/>
          </p:cNvSpPr>
          <p:nvPr/>
        </p:nvSpPr>
        <p:spPr bwMode="auto">
          <a:xfrm>
            <a:off x="1088503" y="8105829"/>
            <a:ext cx="11545888"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latin typeface="宋体" panose="02010600030101010101" pitchFamily="2" charset="-122"/>
              </a:rPr>
              <a:t>4. 对抗腐蚀性的</a:t>
            </a:r>
            <a:r>
              <a:rPr lang="zh-CN" altLang="en-US" sz="3600" b="1" dirty="0" smtClean="0">
                <a:latin typeface="宋体" panose="02010600030101010101" pitchFamily="2" charset="-122"/>
              </a:rPr>
              <a:t>影响</a:t>
            </a:r>
            <a:endParaRPr lang="zh-CN" altLang="en-US" sz="3600" b="1" dirty="0">
              <a:latin typeface="宋体" panose="02010600030101010101" pitchFamily="2" charset="-122"/>
            </a:endParaRPr>
          </a:p>
        </p:txBody>
      </p:sp>
      <p:sp>
        <p:nvSpPr>
          <p:cNvPr id="17" name="Text Box 12"/>
          <p:cNvSpPr txBox="1">
            <a:spLocks noChangeArrowheads="1"/>
          </p:cNvSpPr>
          <p:nvPr/>
        </p:nvSpPr>
        <p:spPr bwMode="auto">
          <a:xfrm>
            <a:off x="953123" y="8821606"/>
            <a:ext cx="13517563" cy="1419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t>        </a:t>
            </a:r>
            <a:r>
              <a:rPr lang="zh-CN" altLang="en-US" sz="3600" b="1" dirty="0">
                <a:solidFill>
                  <a:srgbClr val="CC3300"/>
                </a:solidFill>
              </a:rPr>
              <a:t>粗糙的表面，易使腐蚀性的物质存积</a:t>
            </a:r>
            <a:r>
              <a:rPr lang="zh-CN" altLang="en-US" sz="3600" b="1" dirty="0" smtClean="0">
                <a:solidFill>
                  <a:srgbClr val="CC3300"/>
                </a:solidFill>
              </a:rPr>
              <a:t>在凹</a:t>
            </a:r>
            <a:r>
              <a:rPr lang="zh-CN" altLang="en-US" sz="3600" b="1" dirty="0">
                <a:solidFill>
                  <a:srgbClr val="CC3300"/>
                </a:solidFill>
              </a:rPr>
              <a:t>谷处，并渗入到金属内部，发生化学反应，致使腐蚀性加剧。</a:t>
            </a:r>
          </a:p>
        </p:txBody>
      </p:sp>
      <p:cxnSp>
        <p:nvCxnSpPr>
          <p:cNvPr id="18" name="直接连接符 17"/>
          <p:cNvCxnSpPr/>
          <p:nvPr/>
        </p:nvCxnSpPr>
        <p:spPr bwMode="auto">
          <a:xfrm flipV="1">
            <a:off x="414883" y="132274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6167">
                                            <p:txEl>
                                              <p:pRg st="0" end="0"/>
                                            </p:txEl>
                                          </p:spTgt>
                                        </p:tgtEl>
                                        <p:attrNameLst>
                                          <p:attrName>style.visibility</p:attrName>
                                        </p:attrNameLst>
                                      </p:cBhvr>
                                      <p:to>
                                        <p:strVal val="visible"/>
                                      </p:to>
                                    </p:set>
                                    <p:animEffect transition="in" filter="wipe(left)">
                                      <p:cBhvr>
                                        <p:cTn id="7" dur="300"/>
                                        <p:tgtEl>
                                          <p:spTgt spid="61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175">
                                            <p:txEl>
                                              <p:pRg st="0" end="0"/>
                                            </p:txEl>
                                          </p:spTgt>
                                        </p:tgtEl>
                                        <p:attrNameLst>
                                          <p:attrName>style.visibility</p:attrName>
                                        </p:attrNameLst>
                                      </p:cBhvr>
                                      <p:to>
                                        <p:strVal val="visible"/>
                                      </p:to>
                                    </p:set>
                                    <p:animEffect transition="in" filter="wipe(left)">
                                      <p:cBhvr>
                                        <p:cTn id="12" dur="300"/>
                                        <p:tgtEl>
                                          <p:spTgt spid="617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2">
                                            <p:txEl>
                                              <p:pRg st="0" end="0"/>
                                            </p:txEl>
                                          </p:spTgt>
                                        </p:tgtEl>
                                        <p:attrNameLst>
                                          <p:attrName>style.visibility</p:attrName>
                                        </p:attrNameLst>
                                      </p:cBhvr>
                                      <p:to>
                                        <p:strVal val="visible"/>
                                      </p:to>
                                    </p:set>
                                    <p:animEffect transition="in" filter="wipe(left)">
                                      <p:cBhvr>
                                        <p:cTn id="17" dur="300"/>
                                        <p:tgtEl>
                                          <p:spTgt spid="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6176">
                                            <p:txEl>
                                              <p:pRg st="0" end="0"/>
                                            </p:txEl>
                                          </p:spTgt>
                                        </p:tgtEl>
                                        <p:attrNameLst>
                                          <p:attrName>style.visibility</p:attrName>
                                        </p:attrNameLst>
                                      </p:cBhvr>
                                      <p:to>
                                        <p:strVal val="visible"/>
                                      </p:to>
                                    </p:set>
                                    <p:animEffect transition="in" filter="wipe(left)">
                                      <p:cBhvr>
                                        <p:cTn id="22" dur="300"/>
                                        <p:tgtEl>
                                          <p:spTgt spid="6176">
                                            <p:txEl>
                                              <p:pRg st="0" end="0"/>
                                            </p:txEl>
                                          </p:spTgt>
                                        </p:tgtEl>
                                      </p:cBhvr>
                                    </p:animEffect>
                                  </p:childTnLst>
                                </p:cTn>
                              </p:par>
                            </p:childTnLst>
                          </p:cTn>
                        </p:par>
                        <p:par>
                          <p:cTn id="23" fill="hold">
                            <p:stCondLst>
                              <p:cond delay="6600"/>
                            </p:stCondLst>
                            <p:childTnLst>
                              <p:par>
                                <p:cTn id="24" presetID="22" presetClass="entr" presetSubtype="8" fill="hold" grpId="0" nodeType="afterEffect">
                                  <p:stCondLst>
                                    <p:cond delay="0"/>
                                  </p:stCondLst>
                                  <p:iterate type="wd">
                                    <p:tmPct val="100000"/>
                                  </p:iterate>
                                  <p:childTnLst>
                                    <p:set>
                                      <p:cBhvr>
                                        <p:cTn id="25" dur="1" fill="hold">
                                          <p:stCondLst>
                                            <p:cond delay="0"/>
                                          </p:stCondLst>
                                        </p:cTn>
                                        <p:tgtEl>
                                          <p:spTgt spid="12">
                                            <p:txEl>
                                              <p:pRg st="0" end="0"/>
                                            </p:txEl>
                                          </p:spTgt>
                                        </p:tgtEl>
                                        <p:attrNameLst>
                                          <p:attrName>style.visibility</p:attrName>
                                        </p:attrNameLst>
                                      </p:cBhvr>
                                      <p:to>
                                        <p:strVal val="visible"/>
                                      </p:to>
                                    </p:set>
                                    <p:animEffect transition="in" filter="wipe(left)">
                                      <p:cBhvr>
                                        <p:cTn id="26" dur="300"/>
                                        <p:tgtEl>
                                          <p:spTgt spid="12">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10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iterate type="wd">
                                    <p:tmPct val="100000"/>
                                  </p:iterate>
                                  <p:childTnLst>
                                    <p:set>
                                      <p:cBhvr>
                                        <p:cTn id="35" dur="1" fill="hold">
                                          <p:stCondLst>
                                            <p:cond delay="0"/>
                                          </p:stCondLst>
                                        </p:cTn>
                                        <p:tgtEl>
                                          <p:spTgt spid="14">
                                            <p:txEl>
                                              <p:pRg st="0" end="0"/>
                                            </p:txEl>
                                          </p:spTgt>
                                        </p:tgtEl>
                                        <p:attrNameLst>
                                          <p:attrName>style.visibility</p:attrName>
                                        </p:attrNameLst>
                                      </p:cBhvr>
                                      <p:to>
                                        <p:strVal val="visible"/>
                                      </p:to>
                                    </p:set>
                                    <p:animEffect transition="in" filter="wipe(left)">
                                      <p:cBhvr>
                                        <p:cTn id="36" dur="300"/>
                                        <p:tgtEl>
                                          <p:spTgt spid="14">
                                            <p:txEl>
                                              <p:pRg st="0" end="0"/>
                                            </p:txEl>
                                          </p:spTgt>
                                        </p:tgtEl>
                                      </p:cBhvr>
                                    </p:animEffect>
                                  </p:childTnLst>
                                </p:cTn>
                              </p:par>
                            </p:childTnLst>
                          </p:cTn>
                        </p:par>
                        <p:par>
                          <p:cTn id="37" fill="hold">
                            <p:stCondLst>
                              <p:cond delay="3900"/>
                            </p:stCondLst>
                            <p:childTnLst>
                              <p:par>
                                <p:cTn id="38" presetID="22" presetClass="entr" presetSubtype="8" fill="hold" grpId="0" nodeType="afterEffect">
                                  <p:stCondLst>
                                    <p:cond delay="0"/>
                                  </p:stCondLst>
                                  <p:iterate type="wd">
                                    <p:tmPct val="100000"/>
                                  </p:iterate>
                                  <p:childTnLst>
                                    <p:set>
                                      <p:cBhvr>
                                        <p:cTn id="39" dur="1" fill="hold">
                                          <p:stCondLst>
                                            <p:cond delay="0"/>
                                          </p:stCondLst>
                                        </p:cTn>
                                        <p:tgtEl>
                                          <p:spTgt spid="16">
                                            <p:txEl>
                                              <p:pRg st="0" end="0"/>
                                            </p:txEl>
                                          </p:spTgt>
                                        </p:tgtEl>
                                        <p:attrNameLst>
                                          <p:attrName>style.visibility</p:attrName>
                                        </p:attrNameLst>
                                      </p:cBhvr>
                                      <p:to>
                                        <p:strVal val="visible"/>
                                      </p:to>
                                    </p:set>
                                    <p:animEffect transition="in" filter="wipe(left)">
                                      <p:cBhvr>
                                        <p:cTn id="40" dur="300"/>
                                        <p:tgtEl>
                                          <p:spTgt spid="16">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blinds(horizontal)">
                                      <p:cBhvr>
                                        <p:cTn id="45" dur="500"/>
                                        <p:tgtEl>
                                          <p:spTgt spid="1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iterate type="wd">
                                    <p:tmPct val="100000"/>
                                  </p:iterate>
                                  <p:childTnLst>
                                    <p:set>
                                      <p:cBhvr>
                                        <p:cTn id="49" dur="1" fill="hold">
                                          <p:stCondLst>
                                            <p:cond delay="0"/>
                                          </p:stCondLst>
                                        </p:cTn>
                                        <p:tgtEl>
                                          <p:spTgt spid="17">
                                            <p:txEl>
                                              <p:pRg st="0" end="0"/>
                                            </p:txEl>
                                          </p:spTgt>
                                        </p:tgtEl>
                                        <p:attrNameLst>
                                          <p:attrName>style.visibility</p:attrName>
                                        </p:attrNameLst>
                                      </p:cBhvr>
                                      <p:to>
                                        <p:strVal val="visible"/>
                                      </p:to>
                                    </p:set>
                                    <p:animEffect transition="in" filter="wipe(left)">
                                      <p:cBhvr>
                                        <p:cTn id="50" dur="3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6167" grpId="0" build="p" autoUpdateAnimBg="0"/>
      <p:bldP spid="6175" grpId="0" build="p" autoUpdateAnimBg="0"/>
      <p:bldP spid="6176" grpId="0" build="p" autoUpdateAnimBg="0"/>
      <p:bldP spid="12" grpId="0" build="p" autoUpdateAnimBg="0"/>
      <p:bldP spid="13" grpId="0"/>
      <p:bldP spid="14" grpId="0" build="p" autoUpdateAnimBg="0"/>
      <p:bldP spid="15" grpId="0"/>
      <p:bldP spid="16" grpId="0" build="p" autoUpdateAnimBg="0"/>
      <p:bldP spid="17"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7" name="Text Box 5"/>
          <p:cNvSpPr txBox="1">
            <a:spLocks noChangeArrowheads="1"/>
          </p:cNvSpPr>
          <p:nvPr/>
        </p:nvSpPr>
        <p:spPr bwMode="auto">
          <a:xfrm>
            <a:off x="1989606" y="2825749"/>
            <a:ext cx="11576492" cy="4757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lang="zh-CN" altLang="en-US" sz="3600" b="1" dirty="0"/>
              <a:t>        另外，对零件结合的密封性、接触刚度、对流体流动的阻力、零件的外观质量和测量精度等都有很大影响</a:t>
            </a:r>
            <a:r>
              <a:rPr lang="zh-CN" altLang="en-US" sz="3600" b="1" dirty="0" smtClean="0"/>
              <a:t>。</a:t>
            </a:r>
            <a:endParaRPr lang="en-US" altLang="zh-CN" sz="3600" b="1" dirty="0" smtClean="0"/>
          </a:p>
          <a:p>
            <a:pPr eaLnBrk="1" hangingPunct="1">
              <a:lnSpc>
                <a:spcPct val="150000"/>
              </a:lnSpc>
              <a:spcBef>
                <a:spcPct val="50000"/>
              </a:spcBef>
            </a:pPr>
            <a:endParaRPr lang="en-US" altLang="zh-CN" sz="3600" b="1" dirty="0" smtClean="0">
              <a:solidFill>
                <a:srgbClr val="CC00CC"/>
              </a:solidFill>
            </a:endParaRPr>
          </a:p>
          <a:p>
            <a:pPr eaLnBrk="1" hangingPunct="1">
              <a:lnSpc>
                <a:spcPct val="150000"/>
              </a:lnSpc>
              <a:spcBef>
                <a:spcPct val="50000"/>
              </a:spcBef>
            </a:pPr>
            <a:r>
              <a:rPr lang="en-US" altLang="zh-CN" sz="3600" b="1" dirty="0" smtClean="0">
                <a:solidFill>
                  <a:srgbClr val="CC00CC"/>
                </a:solidFill>
              </a:rPr>
              <a:t>        </a:t>
            </a:r>
            <a:r>
              <a:rPr lang="zh-CN" altLang="en-US" sz="3600" b="1" dirty="0" smtClean="0">
                <a:solidFill>
                  <a:srgbClr val="CC00CC"/>
                </a:solidFill>
              </a:rPr>
              <a:t>因此</a:t>
            </a:r>
            <a:r>
              <a:rPr lang="zh-CN" altLang="en-US" sz="3600" b="1" dirty="0">
                <a:solidFill>
                  <a:srgbClr val="CC00CC"/>
                </a:solidFill>
              </a:rPr>
              <a:t>，设计零件机械精度时，必须提出粗糙度轮廓精度要求</a:t>
            </a:r>
            <a:r>
              <a:rPr lang="zh-CN" altLang="en-US" sz="3600"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115717"/>
                                        </p:tgtEl>
                                        <p:attrNameLst>
                                          <p:attrName>style.visibility</p:attrName>
                                        </p:attrNameLst>
                                      </p:cBhvr>
                                      <p:to>
                                        <p:strVal val="visible"/>
                                      </p:to>
                                    </p:set>
                                    <p:animEffect transition="in" filter="wipe(left)">
                                      <p:cBhvr>
                                        <p:cTn id="7" dur="300"/>
                                        <p:tgtEl>
                                          <p:spTgt spid="1157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7"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ext Box 4"/>
          <p:cNvSpPr txBox="1">
            <a:spLocks noChangeArrowheads="1"/>
          </p:cNvSpPr>
          <p:nvPr/>
        </p:nvSpPr>
        <p:spPr bwMode="auto">
          <a:xfrm>
            <a:off x="3051852" y="490027"/>
            <a:ext cx="8928100" cy="86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700" b="1" dirty="0">
                <a:latin typeface="宋体" panose="02010600030101010101" pitchFamily="2" charset="-122"/>
              </a:rPr>
              <a:t>5.2 表面粗糙度轮廓的评定</a:t>
            </a:r>
            <a:r>
              <a:rPr lang="zh-CN" altLang="en-US" sz="4700" dirty="0"/>
              <a:t> </a:t>
            </a:r>
          </a:p>
        </p:txBody>
      </p:sp>
      <p:sp>
        <p:nvSpPr>
          <p:cNvPr id="41989" name="Text Box 5"/>
          <p:cNvSpPr txBox="1">
            <a:spLocks noChangeArrowheads="1"/>
          </p:cNvSpPr>
          <p:nvPr/>
        </p:nvSpPr>
        <p:spPr bwMode="auto">
          <a:xfrm>
            <a:off x="865188" y="1818946"/>
            <a:ext cx="82073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t>5.2.1  基本术语及定义</a:t>
            </a:r>
            <a:r>
              <a:rPr lang="zh-CN" altLang="en-US" sz="4000" dirty="0"/>
              <a:t> </a:t>
            </a:r>
          </a:p>
        </p:txBody>
      </p:sp>
      <p:sp>
        <p:nvSpPr>
          <p:cNvPr id="41990" name="Text Box 6"/>
          <p:cNvSpPr txBox="1">
            <a:spLocks noChangeArrowheads="1"/>
          </p:cNvSpPr>
          <p:nvPr/>
        </p:nvSpPr>
        <p:spPr bwMode="auto">
          <a:xfrm>
            <a:off x="1547813" y="2649891"/>
            <a:ext cx="8397875"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dirty="0"/>
              <a:t>1. </a:t>
            </a:r>
            <a:r>
              <a:rPr lang="zh-CN" altLang="en-US" sz="3600" b="1" dirty="0">
                <a:latin typeface="宋体" panose="02010600030101010101" pitchFamily="2" charset="-122"/>
              </a:rPr>
              <a:t>取样长度 </a:t>
            </a:r>
            <a:r>
              <a:rPr lang="en-US" altLang="zh-CN" sz="3600" b="1" i="1" dirty="0" err="1"/>
              <a:t>lr</a:t>
            </a:r>
            <a:r>
              <a:rPr lang="en-US" altLang="zh-CN" sz="3600" i="1" dirty="0"/>
              <a:t> </a:t>
            </a:r>
            <a:r>
              <a:rPr lang="en-US" altLang="zh-CN" sz="3600" dirty="0"/>
              <a:t>—</a:t>
            </a:r>
            <a:endParaRPr lang="zh-CN" altLang="en-US" sz="3600" dirty="0"/>
          </a:p>
        </p:txBody>
      </p:sp>
      <p:sp>
        <p:nvSpPr>
          <p:cNvPr id="41992" name="Text Box 8"/>
          <p:cNvSpPr txBox="1">
            <a:spLocks noChangeArrowheads="1"/>
          </p:cNvSpPr>
          <p:nvPr/>
        </p:nvSpPr>
        <p:spPr bwMode="auto">
          <a:xfrm>
            <a:off x="760413" y="3401424"/>
            <a:ext cx="13966825" cy="148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smtClean="0">
                <a:solidFill>
                  <a:srgbClr val="FF3300"/>
                </a:solidFill>
                <a:latin typeface="宋体" panose="02010600030101010101" pitchFamily="2" charset="-122"/>
              </a:rPr>
              <a:t>    测取样</a:t>
            </a:r>
            <a:r>
              <a:rPr lang="zh-CN" altLang="en-US" sz="3600" b="1" dirty="0">
                <a:solidFill>
                  <a:srgbClr val="FF3300"/>
                </a:solidFill>
                <a:latin typeface="宋体" panose="02010600030101010101" pitchFamily="2" charset="-122"/>
              </a:rPr>
              <a:t>长度</a:t>
            </a:r>
            <a:r>
              <a:rPr lang="zh-CN" altLang="en-US" sz="3600" b="1" dirty="0">
                <a:latin typeface="宋体" panose="02010600030101010101" pitchFamily="2" charset="-122"/>
              </a:rPr>
              <a:t>是指测量或评定表面粗糙度轮廓时规定的一段</a:t>
            </a:r>
            <a:r>
              <a:rPr lang="zh-CN" altLang="en-US" sz="3600" b="1" dirty="0">
                <a:solidFill>
                  <a:srgbClr val="FF3300"/>
                </a:solidFill>
                <a:latin typeface="宋体" panose="02010600030101010101" pitchFamily="2" charset="-122"/>
              </a:rPr>
              <a:t>基准线长度。</a:t>
            </a:r>
            <a:r>
              <a:rPr lang="en-US" altLang="zh-CN" sz="3600" b="1" i="1" dirty="0">
                <a:solidFill>
                  <a:srgbClr val="FF3300"/>
                </a:solidFill>
              </a:rPr>
              <a:t> </a:t>
            </a:r>
            <a:r>
              <a:rPr lang="en-US" altLang="zh-CN" sz="3600" b="1" i="1" dirty="0" err="1">
                <a:solidFill>
                  <a:srgbClr val="FF3300"/>
                </a:solidFill>
              </a:rPr>
              <a:t>lr</a:t>
            </a:r>
            <a:r>
              <a:rPr lang="zh-CN" altLang="en-US" sz="3600" b="1" dirty="0">
                <a:latin typeface="宋体" panose="02010600030101010101" pitchFamily="2" charset="-122"/>
              </a:rPr>
              <a:t>至少包含</a:t>
            </a:r>
            <a:r>
              <a:rPr lang="en-US" altLang="zh-CN" sz="3600" b="1" dirty="0">
                <a:solidFill>
                  <a:srgbClr val="FF0000"/>
                </a:solidFill>
                <a:latin typeface="宋体" panose="02010600030101010101" pitchFamily="2" charset="-122"/>
              </a:rPr>
              <a:t>5</a:t>
            </a:r>
            <a:r>
              <a:rPr lang="zh-CN" altLang="en-US" sz="3600" b="1" dirty="0">
                <a:solidFill>
                  <a:srgbClr val="FF0000"/>
                </a:solidFill>
                <a:latin typeface="宋体" panose="02010600030101010101" pitchFamily="2" charset="-122"/>
              </a:rPr>
              <a:t>个以上轮廓峰和谷</a:t>
            </a:r>
            <a:r>
              <a:rPr lang="zh-CN" altLang="en-US" sz="3600" b="1" dirty="0">
                <a:latin typeface="宋体" panose="02010600030101010101" pitchFamily="2" charset="-122"/>
              </a:rPr>
              <a:t>，其方向与轮廓走向</a:t>
            </a:r>
            <a:r>
              <a:rPr lang="zh-CN" altLang="en-US" sz="3600" b="1" dirty="0" smtClean="0">
                <a:latin typeface="宋体" panose="02010600030101010101" pitchFamily="2" charset="-122"/>
              </a:rPr>
              <a:t>一致。</a:t>
            </a:r>
            <a:endParaRPr lang="zh-CN" altLang="en-US" sz="3600" b="1" i="1" dirty="0">
              <a:latin typeface="宋体" panose="02010600030101010101" pitchFamily="2" charset="-122"/>
            </a:endParaRPr>
          </a:p>
        </p:txBody>
      </p:sp>
      <p:sp>
        <p:nvSpPr>
          <p:cNvPr id="42009" name="Text Box 25"/>
          <p:cNvSpPr txBox="1">
            <a:spLocks noChangeArrowheads="1"/>
          </p:cNvSpPr>
          <p:nvPr/>
        </p:nvSpPr>
        <p:spPr bwMode="auto">
          <a:xfrm>
            <a:off x="1772665" y="5584992"/>
            <a:ext cx="3398941" cy="148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600" b="1" dirty="0"/>
              <a:t>为什么要规定</a:t>
            </a:r>
          </a:p>
          <a:p>
            <a:pPr eaLnBrk="1" hangingPunct="1">
              <a:lnSpc>
                <a:spcPct val="120000"/>
              </a:lnSpc>
            </a:pPr>
            <a:r>
              <a:rPr lang="zh-CN" altLang="en-US" sz="3600" b="1" dirty="0">
                <a:solidFill>
                  <a:srgbClr val="FF3300"/>
                </a:solidFill>
                <a:latin typeface="宋体" panose="02010600030101010101" pitchFamily="2" charset="-122"/>
              </a:rPr>
              <a:t>测取样长度</a:t>
            </a:r>
            <a:r>
              <a:rPr lang="en-US" altLang="zh-CN" sz="3600" b="1" i="1" dirty="0" err="1">
                <a:solidFill>
                  <a:srgbClr val="FF3300"/>
                </a:solidFill>
              </a:rPr>
              <a:t>lr</a:t>
            </a:r>
            <a:r>
              <a:rPr lang="en-US" altLang="zh-CN" sz="3600" b="1" i="1" dirty="0"/>
              <a:t> </a:t>
            </a:r>
            <a:r>
              <a:rPr lang="en-US" altLang="zh-CN" sz="3600" b="1" baseline="-30000" dirty="0"/>
              <a:t>？</a:t>
            </a:r>
            <a:endParaRPr lang="zh-CN" altLang="en-US" sz="3600" b="1" baseline="-30000" dirty="0"/>
          </a:p>
        </p:txBody>
      </p:sp>
      <p:sp>
        <p:nvSpPr>
          <p:cNvPr id="42010" name="Text Box 26"/>
          <p:cNvSpPr txBox="1">
            <a:spLocks noChangeArrowheads="1"/>
          </p:cNvSpPr>
          <p:nvPr/>
        </p:nvSpPr>
        <p:spPr bwMode="auto">
          <a:xfrm>
            <a:off x="776288" y="7508875"/>
            <a:ext cx="6246812" cy="148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600" b="1" dirty="0">
                <a:latin typeface="宋体" panose="02010600030101010101" pitchFamily="2" charset="-122"/>
              </a:rPr>
              <a:t>① </a:t>
            </a:r>
            <a:r>
              <a:rPr lang="zh-CN" altLang="en-US" sz="3600" b="1" dirty="0"/>
              <a:t>为了</a:t>
            </a:r>
            <a:r>
              <a:rPr lang="zh-CN" altLang="en-US" sz="3600" b="1" dirty="0">
                <a:solidFill>
                  <a:srgbClr val="FF3300"/>
                </a:solidFill>
              </a:rPr>
              <a:t>限制或减弱</a:t>
            </a:r>
            <a:r>
              <a:rPr lang="zh-CN" altLang="en-US" sz="3600" b="1" dirty="0"/>
              <a:t>表面</a:t>
            </a:r>
          </a:p>
          <a:p>
            <a:pPr eaLnBrk="1" hangingPunct="1">
              <a:lnSpc>
                <a:spcPct val="120000"/>
              </a:lnSpc>
            </a:pPr>
            <a:r>
              <a:rPr lang="zh-CN" altLang="en-US" sz="3600" b="1" dirty="0"/>
              <a:t>       波纹度轮廓的影响。</a:t>
            </a:r>
          </a:p>
        </p:txBody>
      </p:sp>
      <p:sp>
        <p:nvSpPr>
          <p:cNvPr id="42012" name="Rectangle 28"/>
          <p:cNvSpPr>
            <a:spLocks noChangeArrowheads="1"/>
          </p:cNvSpPr>
          <p:nvPr/>
        </p:nvSpPr>
        <p:spPr bwMode="auto">
          <a:xfrm>
            <a:off x="779098" y="8951913"/>
            <a:ext cx="12882562"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p>
            <a:pPr defTabSz="1524000"/>
            <a:r>
              <a:rPr lang="zh-CN" altLang="en-US" sz="3600" b="1" dirty="0">
                <a:latin typeface="宋体" panose="02010600030101010101" pitchFamily="2" charset="-122"/>
              </a:rPr>
              <a:t>② </a:t>
            </a:r>
            <a:r>
              <a:rPr lang="zh-CN" altLang="en-US" sz="3600" b="1" dirty="0">
                <a:solidFill>
                  <a:srgbClr val="FF3300"/>
                </a:solidFill>
              </a:rPr>
              <a:t>排除</a:t>
            </a:r>
            <a:r>
              <a:rPr lang="zh-CN" altLang="en-US" sz="3600" b="1" dirty="0"/>
              <a:t>形状误差等对表面粗糙度轮廓测量的影响。</a:t>
            </a:r>
          </a:p>
        </p:txBody>
      </p:sp>
      <p:grpSp>
        <p:nvGrpSpPr>
          <p:cNvPr id="42016" name="Group 32"/>
          <p:cNvGrpSpPr/>
          <p:nvPr/>
        </p:nvGrpSpPr>
        <p:grpSpPr bwMode="auto">
          <a:xfrm>
            <a:off x="6071021" y="4961744"/>
            <a:ext cx="8094685" cy="3727846"/>
            <a:chOff x="4572" y="3855"/>
            <a:chExt cx="4668" cy="1930"/>
          </a:xfrm>
        </p:grpSpPr>
        <p:pic>
          <p:nvPicPr>
            <p:cNvPr id="10253" name="Picture 3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 y="3855"/>
              <a:ext cx="4668" cy="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54" name="Text Box 31"/>
            <p:cNvSpPr txBox="1">
              <a:spLocks noChangeArrowheads="1"/>
            </p:cNvSpPr>
            <p:nvPr/>
          </p:nvSpPr>
          <p:spPr bwMode="auto">
            <a:xfrm>
              <a:off x="6344" y="5546"/>
              <a:ext cx="1409"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smtClean="0"/>
                <a:t>取 </a:t>
              </a:r>
              <a:r>
                <a:rPr lang="zh-CN" altLang="en-US" b="1" dirty="0"/>
                <a:t>样 长 度 </a:t>
              </a:r>
              <a:r>
                <a:rPr lang="en-US" altLang="zh-CN" b="1" i="1" dirty="0" err="1"/>
                <a:t>lr</a:t>
              </a:r>
              <a:endParaRPr lang="en-US" altLang="zh-CN" b="1" i="1" dirty="0"/>
            </a:p>
          </p:txBody>
        </p:sp>
      </p:grpSp>
      <p:sp>
        <p:nvSpPr>
          <p:cNvPr id="42017" name="Rectangle 33"/>
          <p:cNvSpPr>
            <a:spLocks noChangeArrowheads="1"/>
          </p:cNvSpPr>
          <p:nvPr/>
        </p:nvSpPr>
        <p:spPr bwMode="auto">
          <a:xfrm>
            <a:off x="1519238" y="9678988"/>
            <a:ext cx="11768137"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p>
            <a:pPr defTabSz="1524000"/>
            <a:r>
              <a:rPr lang="zh-CN" altLang="en-US" sz="3600" b="1"/>
              <a:t>一般表面越粗糙，取样长度 </a:t>
            </a:r>
            <a:r>
              <a:rPr lang="en-US" altLang="zh-CN" sz="3600" b="1" i="1">
                <a:solidFill>
                  <a:srgbClr val="CC3300"/>
                </a:solidFill>
              </a:rPr>
              <a:t>lr </a:t>
            </a:r>
            <a:r>
              <a:rPr lang="zh-CN" altLang="en-US" sz="3600" b="1"/>
              <a:t>就越大。</a:t>
            </a:r>
          </a:p>
        </p:txBody>
      </p:sp>
      <p:cxnSp>
        <p:nvCxnSpPr>
          <p:cNvPr id="14" name="直接连接符 13"/>
          <p:cNvCxnSpPr/>
          <p:nvPr/>
        </p:nvCxnSpPr>
        <p:spPr bwMode="auto">
          <a:xfrm flipV="1">
            <a:off x="414883" y="1517614"/>
            <a:ext cx="14544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41988">
                                            <p:txEl>
                                              <p:pRg st="0" end="0"/>
                                            </p:txEl>
                                          </p:spTgt>
                                        </p:tgtEl>
                                        <p:attrNameLst>
                                          <p:attrName>style.visibility</p:attrName>
                                        </p:attrNameLst>
                                      </p:cBhvr>
                                      <p:to>
                                        <p:strVal val="visible"/>
                                      </p:to>
                                    </p:set>
                                    <p:animEffect transition="in" filter="wipe(left)">
                                      <p:cBhvr>
                                        <p:cTn id="7" dur="300"/>
                                        <p:tgtEl>
                                          <p:spTgt spid="419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41989">
                                            <p:txEl>
                                              <p:pRg st="0" end="0"/>
                                            </p:txEl>
                                          </p:spTgt>
                                        </p:tgtEl>
                                        <p:attrNameLst>
                                          <p:attrName>style.visibility</p:attrName>
                                        </p:attrNameLst>
                                      </p:cBhvr>
                                      <p:to>
                                        <p:strVal val="visible"/>
                                      </p:to>
                                    </p:set>
                                    <p:animEffect transition="in" filter="wipe(left)">
                                      <p:cBhvr>
                                        <p:cTn id="12" dur="300"/>
                                        <p:tgtEl>
                                          <p:spTgt spid="4198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41990">
                                            <p:txEl>
                                              <p:pRg st="0" end="0"/>
                                            </p:txEl>
                                          </p:spTgt>
                                        </p:tgtEl>
                                        <p:attrNameLst>
                                          <p:attrName>style.visibility</p:attrName>
                                        </p:attrNameLst>
                                      </p:cBhvr>
                                      <p:to>
                                        <p:strVal val="visible"/>
                                      </p:to>
                                    </p:set>
                                    <p:animEffect transition="in" filter="wipe(left)">
                                      <p:cBhvr>
                                        <p:cTn id="17" dur="300"/>
                                        <p:tgtEl>
                                          <p:spTgt spid="4199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41992"/>
                                        </p:tgtEl>
                                        <p:attrNameLst>
                                          <p:attrName>style.visibility</p:attrName>
                                        </p:attrNameLst>
                                      </p:cBhvr>
                                      <p:to>
                                        <p:strVal val="visible"/>
                                      </p:to>
                                    </p:set>
                                    <p:animEffect transition="in" filter="wipe(left)">
                                      <p:cBhvr>
                                        <p:cTn id="22" dur="300"/>
                                        <p:tgtEl>
                                          <p:spTgt spid="4199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42016"/>
                                        </p:tgtEl>
                                        <p:attrNameLst>
                                          <p:attrName>style.visibility</p:attrName>
                                        </p:attrNameLst>
                                      </p:cBhvr>
                                      <p:to>
                                        <p:strVal val="visible"/>
                                      </p:to>
                                    </p:set>
                                    <p:anim calcmode="lin" valueType="num">
                                      <p:cBhvr additive="base">
                                        <p:cTn id="27" dur="2000" fill="hold"/>
                                        <p:tgtEl>
                                          <p:spTgt spid="42016"/>
                                        </p:tgtEl>
                                        <p:attrNameLst>
                                          <p:attrName>ppt_x</p:attrName>
                                        </p:attrNameLst>
                                      </p:cBhvr>
                                      <p:tavLst>
                                        <p:tav tm="0">
                                          <p:val>
                                            <p:strVal val="1+#ppt_w/2"/>
                                          </p:val>
                                        </p:tav>
                                        <p:tav tm="100000">
                                          <p:val>
                                            <p:strVal val="#ppt_x"/>
                                          </p:val>
                                        </p:tav>
                                      </p:tavLst>
                                    </p:anim>
                                    <p:anim calcmode="lin" valueType="num">
                                      <p:cBhvr additive="base">
                                        <p:cTn id="28" dur="2000" fill="hold"/>
                                        <p:tgtEl>
                                          <p:spTgt spid="4201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42009"/>
                                        </p:tgtEl>
                                        <p:attrNameLst>
                                          <p:attrName>style.visibility</p:attrName>
                                        </p:attrNameLst>
                                      </p:cBhvr>
                                      <p:to>
                                        <p:strVal val="visible"/>
                                      </p:to>
                                    </p:set>
                                    <p:animEffect transition="in" filter="wipe(left)">
                                      <p:cBhvr>
                                        <p:cTn id="33" dur="300"/>
                                        <p:tgtEl>
                                          <p:spTgt spid="4200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type="wd">
                                    <p:tmPct val="100000"/>
                                  </p:iterate>
                                  <p:childTnLst>
                                    <p:set>
                                      <p:cBhvr>
                                        <p:cTn id="37" dur="1" fill="hold">
                                          <p:stCondLst>
                                            <p:cond delay="0"/>
                                          </p:stCondLst>
                                        </p:cTn>
                                        <p:tgtEl>
                                          <p:spTgt spid="42010"/>
                                        </p:tgtEl>
                                        <p:attrNameLst>
                                          <p:attrName>style.visibility</p:attrName>
                                        </p:attrNameLst>
                                      </p:cBhvr>
                                      <p:to>
                                        <p:strVal val="visible"/>
                                      </p:to>
                                    </p:set>
                                    <p:animEffect transition="in" filter="wipe(left)">
                                      <p:cBhvr>
                                        <p:cTn id="38" dur="300"/>
                                        <p:tgtEl>
                                          <p:spTgt spid="4201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iterate type="wd">
                                    <p:tmPct val="100000"/>
                                  </p:iterate>
                                  <p:childTnLst>
                                    <p:set>
                                      <p:cBhvr>
                                        <p:cTn id="42" dur="1" fill="hold">
                                          <p:stCondLst>
                                            <p:cond delay="0"/>
                                          </p:stCondLst>
                                        </p:cTn>
                                        <p:tgtEl>
                                          <p:spTgt spid="42012"/>
                                        </p:tgtEl>
                                        <p:attrNameLst>
                                          <p:attrName>style.visibility</p:attrName>
                                        </p:attrNameLst>
                                      </p:cBhvr>
                                      <p:to>
                                        <p:strVal val="visible"/>
                                      </p:to>
                                    </p:set>
                                    <p:animEffect transition="in" filter="wipe(left)">
                                      <p:cBhvr>
                                        <p:cTn id="43" dur="300"/>
                                        <p:tgtEl>
                                          <p:spTgt spid="4201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iterate type="wd">
                                    <p:tmPct val="100000"/>
                                  </p:iterate>
                                  <p:childTnLst>
                                    <p:set>
                                      <p:cBhvr>
                                        <p:cTn id="47" dur="1" fill="hold">
                                          <p:stCondLst>
                                            <p:cond delay="0"/>
                                          </p:stCondLst>
                                        </p:cTn>
                                        <p:tgtEl>
                                          <p:spTgt spid="42017"/>
                                        </p:tgtEl>
                                        <p:attrNameLst>
                                          <p:attrName>style.visibility</p:attrName>
                                        </p:attrNameLst>
                                      </p:cBhvr>
                                      <p:to>
                                        <p:strVal val="visible"/>
                                      </p:to>
                                    </p:set>
                                    <p:animEffect transition="in" filter="wipe(left)">
                                      <p:cBhvr>
                                        <p:cTn id="48" dur="300"/>
                                        <p:tgtEl>
                                          <p:spTgt spid="42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build="p" autoUpdateAnimBg="0"/>
      <p:bldP spid="41989" grpId="0" build="p" autoUpdateAnimBg="0"/>
      <p:bldP spid="41990" grpId="0" build="p" autoUpdateAnimBg="0"/>
      <p:bldP spid="41992" grpId="0" autoUpdateAnimBg="0"/>
      <p:bldP spid="42009" grpId="0" autoUpdateAnimBg="0"/>
      <p:bldP spid="42010" grpId="0" autoUpdateAnimBg="0"/>
      <p:bldP spid="42012" grpId="0" autoUpdateAnimBg="0"/>
      <p:bldP spid="4201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Text Box 4"/>
          <p:cNvSpPr txBox="1">
            <a:spLocks noChangeArrowheads="1"/>
          </p:cNvSpPr>
          <p:nvPr/>
        </p:nvSpPr>
        <p:spPr bwMode="auto">
          <a:xfrm>
            <a:off x="957290" y="456457"/>
            <a:ext cx="92741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t>2. </a:t>
            </a:r>
            <a:r>
              <a:rPr lang="zh-CN" altLang="en-US" sz="4000" b="1" dirty="0">
                <a:latin typeface="宋体" panose="02010600030101010101" pitchFamily="2" charset="-122"/>
              </a:rPr>
              <a:t>评定长度 </a:t>
            </a:r>
            <a:r>
              <a:rPr lang="en-US" altLang="zh-CN" sz="4000" b="1" i="1" dirty="0" err="1"/>
              <a:t>ln</a:t>
            </a:r>
            <a:r>
              <a:rPr lang="en-US" altLang="zh-CN" sz="4000" b="1" dirty="0"/>
              <a:t>—</a:t>
            </a:r>
            <a:endParaRPr lang="zh-CN" altLang="en-US" sz="4000" b="1" dirty="0"/>
          </a:p>
        </p:txBody>
      </p:sp>
      <p:sp>
        <p:nvSpPr>
          <p:cNvPr id="74757" name="Text Box 5"/>
          <p:cNvSpPr txBox="1">
            <a:spLocks noChangeArrowheads="1"/>
          </p:cNvSpPr>
          <p:nvPr/>
        </p:nvSpPr>
        <p:spPr bwMode="auto">
          <a:xfrm>
            <a:off x="1573678" y="7829616"/>
            <a:ext cx="9994900"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latin typeface="宋体" panose="02010600030101010101" pitchFamily="2" charset="-122"/>
              </a:rPr>
              <a:t>一般取  </a:t>
            </a:r>
            <a:r>
              <a:rPr lang="en-US" altLang="zh-CN" sz="3600" b="1" i="1" dirty="0" err="1">
                <a:solidFill>
                  <a:srgbClr val="FF3300"/>
                </a:solidFill>
              </a:rPr>
              <a:t>ln</a:t>
            </a:r>
            <a:r>
              <a:rPr lang="en-US" altLang="zh-CN" sz="3600" b="1" i="1" dirty="0">
                <a:solidFill>
                  <a:srgbClr val="FF3300"/>
                </a:solidFill>
              </a:rPr>
              <a:t> </a:t>
            </a:r>
            <a:r>
              <a:rPr lang="en-US" altLang="zh-CN" sz="3600" b="1" dirty="0">
                <a:solidFill>
                  <a:srgbClr val="FF3300"/>
                </a:solidFill>
              </a:rPr>
              <a:t>＝  5 </a:t>
            </a:r>
            <a:r>
              <a:rPr lang="en-US" altLang="zh-CN" sz="3600" b="1" i="1" dirty="0" err="1">
                <a:solidFill>
                  <a:srgbClr val="FF3300"/>
                </a:solidFill>
              </a:rPr>
              <a:t>l</a:t>
            </a:r>
            <a:r>
              <a:rPr lang="en-US" altLang="zh-CN" sz="3600" b="1" dirty="0" err="1">
                <a:solidFill>
                  <a:srgbClr val="FF3300"/>
                </a:solidFill>
              </a:rPr>
              <a:t>r</a:t>
            </a:r>
            <a:r>
              <a:rPr lang="en-US" altLang="zh-CN" sz="3600" b="1" baseline="-30000" dirty="0"/>
              <a:t>    </a:t>
            </a:r>
            <a:r>
              <a:rPr lang="en-US" altLang="zh-CN" sz="3600" b="1" dirty="0">
                <a:latin typeface="宋体" panose="02010600030101010101" pitchFamily="2" charset="-122"/>
              </a:rPr>
              <a:t>(</a:t>
            </a:r>
            <a:r>
              <a:rPr lang="zh-CN" altLang="en-US" sz="3600" b="1" dirty="0">
                <a:latin typeface="宋体" panose="02010600030101010101" pitchFamily="2" charset="-122"/>
              </a:rPr>
              <a:t>连续的)</a:t>
            </a:r>
            <a:r>
              <a:rPr lang="zh-CN" altLang="en-US" sz="3600" b="1" dirty="0"/>
              <a:t> 。</a:t>
            </a:r>
          </a:p>
        </p:txBody>
      </p:sp>
      <p:sp>
        <p:nvSpPr>
          <p:cNvPr id="74758" name="Text Box 6"/>
          <p:cNvSpPr txBox="1">
            <a:spLocks noChangeArrowheads="1"/>
          </p:cNvSpPr>
          <p:nvPr/>
        </p:nvSpPr>
        <p:spPr bwMode="auto">
          <a:xfrm>
            <a:off x="517525" y="1341588"/>
            <a:ext cx="13965238" cy="148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latin typeface="宋体" panose="02010600030101010101" pitchFamily="2" charset="-122"/>
              </a:rPr>
              <a:t>    </a:t>
            </a:r>
            <a:r>
              <a:rPr lang="zh-CN" altLang="en-US" sz="3600" b="1" dirty="0">
                <a:solidFill>
                  <a:srgbClr val="CC3300"/>
                </a:solidFill>
                <a:latin typeface="宋体" panose="02010600030101010101" pitchFamily="2" charset="-122"/>
              </a:rPr>
              <a:t>评定长度 </a:t>
            </a:r>
            <a:r>
              <a:rPr lang="en-US" altLang="zh-CN" sz="3600" b="1" i="1" dirty="0" err="1"/>
              <a:t>ln</a:t>
            </a:r>
            <a:r>
              <a:rPr lang="en-US" altLang="zh-CN" sz="3600" b="1" i="1" dirty="0"/>
              <a:t> </a:t>
            </a:r>
            <a:r>
              <a:rPr lang="zh-CN" altLang="en-US" sz="3600" b="1" dirty="0" smtClean="0">
                <a:latin typeface="宋体" panose="02010600030101010101" pitchFamily="2" charset="-122"/>
              </a:rPr>
              <a:t>是</a:t>
            </a:r>
            <a:r>
              <a:rPr lang="zh-CN" altLang="en-US" sz="3600" b="1" dirty="0">
                <a:latin typeface="宋体" panose="02010600030101010101" pitchFamily="2" charset="-122"/>
              </a:rPr>
              <a:t>指测量或评定表面粗糙度轮廓时规定的一段</a:t>
            </a:r>
            <a:r>
              <a:rPr lang="zh-CN" altLang="en-US" sz="3600" b="1" dirty="0">
                <a:solidFill>
                  <a:srgbClr val="FF3300"/>
                </a:solidFill>
                <a:latin typeface="宋体" panose="02010600030101010101" pitchFamily="2" charset="-122"/>
              </a:rPr>
              <a:t>最小的测量长度</a:t>
            </a:r>
            <a:r>
              <a:rPr lang="zh-CN" altLang="en-US" sz="3600" b="1" dirty="0">
                <a:latin typeface="宋体" panose="02010600030101010101" pitchFamily="2" charset="-122"/>
              </a:rPr>
              <a:t>。</a:t>
            </a:r>
          </a:p>
        </p:txBody>
      </p:sp>
      <p:sp>
        <p:nvSpPr>
          <p:cNvPr id="74759" name="Text Box 7"/>
          <p:cNvSpPr txBox="1">
            <a:spLocks noChangeArrowheads="1"/>
          </p:cNvSpPr>
          <p:nvPr/>
        </p:nvSpPr>
        <p:spPr bwMode="auto">
          <a:xfrm>
            <a:off x="1467188" y="8547713"/>
            <a:ext cx="11288712"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t>若被测表面比较均匀时， </a:t>
            </a:r>
            <a:r>
              <a:rPr lang="en-US" altLang="zh-CN" sz="3600" b="1" i="1" dirty="0" err="1">
                <a:solidFill>
                  <a:srgbClr val="FF3300"/>
                </a:solidFill>
              </a:rPr>
              <a:t>ln</a:t>
            </a:r>
            <a:r>
              <a:rPr lang="en-US" altLang="zh-CN" sz="3600" b="1" i="1" dirty="0">
                <a:solidFill>
                  <a:srgbClr val="FF3300"/>
                </a:solidFill>
              </a:rPr>
              <a:t> </a:t>
            </a:r>
            <a:r>
              <a:rPr lang="en-US" altLang="zh-CN" sz="3600" b="1" dirty="0">
                <a:solidFill>
                  <a:srgbClr val="FF3300"/>
                </a:solidFill>
              </a:rPr>
              <a:t>&lt;   5 </a:t>
            </a:r>
            <a:r>
              <a:rPr lang="en-US" altLang="zh-CN" sz="3600" b="1" i="1" dirty="0" err="1">
                <a:solidFill>
                  <a:srgbClr val="FF3300"/>
                </a:solidFill>
              </a:rPr>
              <a:t>lr</a:t>
            </a:r>
            <a:r>
              <a:rPr lang="en-US" altLang="zh-CN" sz="3600" dirty="0"/>
              <a:t> </a:t>
            </a:r>
            <a:r>
              <a:rPr lang="zh-CN" altLang="en-US" sz="3600" dirty="0"/>
              <a:t>。</a:t>
            </a:r>
          </a:p>
        </p:txBody>
      </p:sp>
      <p:sp>
        <p:nvSpPr>
          <p:cNvPr id="74761" name="Text Box 9"/>
          <p:cNvSpPr txBox="1">
            <a:spLocks noChangeArrowheads="1"/>
          </p:cNvSpPr>
          <p:nvPr/>
        </p:nvSpPr>
        <p:spPr bwMode="auto">
          <a:xfrm>
            <a:off x="1443038" y="9260738"/>
            <a:ext cx="11782425"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t>若被测表面不均匀时，</a:t>
            </a:r>
            <a:r>
              <a:rPr lang="en-US" altLang="zh-CN" sz="3600" b="1" i="1">
                <a:solidFill>
                  <a:srgbClr val="FF3300"/>
                </a:solidFill>
              </a:rPr>
              <a:t>ln</a:t>
            </a:r>
            <a:r>
              <a:rPr lang="en-US" altLang="zh-CN" sz="3600" b="1">
                <a:solidFill>
                  <a:srgbClr val="FF3300"/>
                </a:solidFill>
              </a:rPr>
              <a:t>  &gt;   5 </a:t>
            </a:r>
            <a:r>
              <a:rPr lang="en-US" altLang="zh-CN" sz="3600" b="1" i="1">
                <a:solidFill>
                  <a:srgbClr val="FF3300"/>
                </a:solidFill>
              </a:rPr>
              <a:t>lr</a:t>
            </a:r>
            <a:r>
              <a:rPr lang="en-US" altLang="zh-CN" sz="3600" b="1">
                <a:solidFill>
                  <a:srgbClr val="FF3300"/>
                </a:solidFill>
              </a:rPr>
              <a:t>  。</a:t>
            </a:r>
            <a:endParaRPr lang="zh-CN" altLang="en-US" sz="3600" b="1"/>
          </a:p>
        </p:txBody>
      </p:sp>
      <p:sp>
        <p:nvSpPr>
          <p:cNvPr id="74763" name="Text Box 11"/>
          <p:cNvSpPr txBox="1">
            <a:spLocks noChangeArrowheads="1"/>
          </p:cNvSpPr>
          <p:nvPr/>
        </p:nvSpPr>
        <p:spPr bwMode="auto">
          <a:xfrm>
            <a:off x="1113323" y="3613218"/>
            <a:ext cx="4957694" cy="1335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b="1" dirty="0"/>
              <a:t>为什么要规定</a:t>
            </a:r>
            <a:r>
              <a:rPr lang="zh-CN" altLang="en-US" sz="3200" b="1" dirty="0">
                <a:solidFill>
                  <a:srgbClr val="FF3300"/>
                </a:solidFill>
                <a:latin typeface="宋体" panose="02010600030101010101" pitchFamily="2" charset="-122"/>
              </a:rPr>
              <a:t>一段最小的测量长度</a:t>
            </a:r>
            <a:r>
              <a:rPr lang="en-US" altLang="zh-CN" sz="3200" b="1" i="1" dirty="0" err="1"/>
              <a:t>l</a:t>
            </a:r>
            <a:r>
              <a:rPr lang="en-US" altLang="zh-CN" sz="3200" b="1" dirty="0" err="1"/>
              <a:t>n</a:t>
            </a:r>
            <a:r>
              <a:rPr lang="en-US" altLang="zh-CN" sz="3200" b="1" dirty="0"/>
              <a:t> </a:t>
            </a:r>
            <a:r>
              <a:rPr lang="en-US" altLang="zh-CN" sz="3200" b="1" baseline="-30000" dirty="0"/>
              <a:t>？</a:t>
            </a:r>
            <a:endParaRPr lang="zh-CN" altLang="en-US" sz="3200" b="1" baseline="-30000" dirty="0"/>
          </a:p>
        </p:txBody>
      </p:sp>
      <p:sp>
        <p:nvSpPr>
          <p:cNvPr id="74764" name="Text Box 12"/>
          <p:cNvSpPr txBox="1">
            <a:spLocks noChangeArrowheads="1"/>
          </p:cNvSpPr>
          <p:nvPr/>
        </p:nvSpPr>
        <p:spPr bwMode="auto">
          <a:xfrm>
            <a:off x="674089" y="6385565"/>
            <a:ext cx="13821400" cy="148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600" b="1" dirty="0"/>
              <a:t>         因为表面的峰谷和间距的</a:t>
            </a:r>
            <a:r>
              <a:rPr lang="zh-CN" altLang="en-US" sz="3600" b="1" dirty="0">
                <a:solidFill>
                  <a:srgbClr val="FF3300"/>
                </a:solidFill>
              </a:rPr>
              <a:t>不均匀性</a:t>
            </a:r>
            <a:r>
              <a:rPr lang="zh-CN" altLang="en-US" sz="3600" b="1" dirty="0"/>
              <a:t>，为了</a:t>
            </a:r>
            <a:r>
              <a:rPr lang="zh-CN" altLang="en-US" sz="3600" b="1" dirty="0">
                <a:solidFill>
                  <a:srgbClr val="FF3300"/>
                </a:solidFill>
              </a:rPr>
              <a:t>可靠地</a:t>
            </a:r>
            <a:r>
              <a:rPr lang="zh-CN" altLang="en-US" sz="3600" b="1" dirty="0"/>
              <a:t>反映表面粗糙度轮廓的特性。</a:t>
            </a:r>
          </a:p>
        </p:txBody>
      </p:sp>
      <p:grpSp>
        <p:nvGrpSpPr>
          <p:cNvPr id="74769" name="Group 17"/>
          <p:cNvGrpSpPr/>
          <p:nvPr/>
        </p:nvGrpSpPr>
        <p:grpSpPr bwMode="auto">
          <a:xfrm>
            <a:off x="6160957" y="2256659"/>
            <a:ext cx="8118189" cy="3985248"/>
            <a:chOff x="4716" y="1263"/>
            <a:chExt cx="4668" cy="1994"/>
          </a:xfrm>
        </p:grpSpPr>
        <p:pic>
          <p:nvPicPr>
            <p:cNvPr id="11275" name="Picture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16" y="1263"/>
              <a:ext cx="4668" cy="1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76" name="Text Box 16"/>
            <p:cNvSpPr txBox="1">
              <a:spLocks noChangeArrowheads="1"/>
            </p:cNvSpPr>
            <p:nvPr/>
          </p:nvSpPr>
          <p:spPr bwMode="auto">
            <a:xfrm>
              <a:off x="5909" y="3026"/>
              <a:ext cx="251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smtClean="0"/>
                <a:t>取 </a:t>
              </a:r>
              <a:r>
                <a:rPr lang="zh-CN" altLang="en-US" b="1" dirty="0"/>
                <a:t>样 长 度 </a:t>
              </a:r>
              <a:r>
                <a:rPr lang="en-US" altLang="zh-CN" b="1" i="1" dirty="0" err="1"/>
                <a:t>lr</a:t>
              </a:r>
              <a:r>
                <a:rPr lang="en-US" altLang="zh-CN" b="1" i="1" dirty="0"/>
                <a:t> </a:t>
              </a:r>
              <a:r>
                <a:rPr lang="zh-CN" altLang="en-US" b="1" dirty="0"/>
                <a:t>和评定长度 </a:t>
              </a:r>
              <a:r>
                <a:rPr lang="en-US" altLang="zh-CN" b="1" i="1" dirty="0" err="1"/>
                <a:t>ln</a:t>
              </a:r>
              <a:endParaRPr lang="en-US" altLang="zh-CN" b="1" i="1" dirty="0"/>
            </a:p>
          </p:txBody>
        </p:sp>
      </p:grpSp>
      <p:cxnSp>
        <p:nvCxnSpPr>
          <p:cNvPr id="13" name="直接连接符 12"/>
          <p:cNvCxnSpPr/>
          <p:nvPr/>
        </p:nvCxnSpPr>
        <p:spPr bwMode="auto">
          <a:xfrm flipV="1">
            <a:off x="414883" y="132274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74756">
                                            <p:txEl>
                                              <p:pRg st="0" end="0"/>
                                            </p:txEl>
                                          </p:spTgt>
                                        </p:tgtEl>
                                        <p:attrNameLst>
                                          <p:attrName>style.visibility</p:attrName>
                                        </p:attrNameLst>
                                      </p:cBhvr>
                                      <p:to>
                                        <p:strVal val="visible"/>
                                      </p:to>
                                    </p:set>
                                    <p:animEffect transition="in" filter="wipe(left)">
                                      <p:cBhvr>
                                        <p:cTn id="7" dur="300"/>
                                        <p:tgtEl>
                                          <p:spTgt spid="747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4758"/>
                                        </p:tgtEl>
                                        <p:attrNameLst>
                                          <p:attrName>style.visibility</p:attrName>
                                        </p:attrNameLst>
                                      </p:cBhvr>
                                      <p:to>
                                        <p:strVal val="visible"/>
                                      </p:to>
                                    </p:set>
                                    <p:animEffect transition="in" filter="wipe(left)">
                                      <p:cBhvr>
                                        <p:cTn id="12" dur="300"/>
                                        <p:tgtEl>
                                          <p:spTgt spid="7475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74769"/>
                                        </p:tgtEl>
                                        <p:attrNameLst>
                                          <p:attrName>style.visibility</p:attrName>
                                        </p:attrNameLst>
                                      </p:cBhvr>
                                      <p:to>
                                        <p:strVal val="visible"/>
                                      </p:to>
                                    </p:set>
                                    <p:anim calcmode="lin" valueType="num">
                                      <p:cBhvr additive="base">
                                        <p:cTn id="17" dur="2000" fill="hold"/>
                                        <p:tgtEl>
                                          <p:spTgt spid="74769"/>
                                        </p:tgtEl>
                                        <p:attrNameLst>
                                          <p:attrName>ppt_x</p:attrName>
                                        </p:attrNameLst>
                                      </p:cBhvr>
                                      <p:tavLst>
                                        <p:tav tm="0">
                                          <p:val>
                                            <p:strVal val="1+#ppt_w/2"/>
                                          </p:val>
                                        </p:tav>
                                        <p:tav tm="100000">
                                          <p:val>
                                            <p:strVal val="#ppt_x"/>
                                          </p:val>
                                        </p:tav>
                                      </p:tavLst>
                                    </p:anim>
                                    <p:anim calcmode="lin" valueType="num">
                                      <p:cBhvr additive="base">
                                        <p:cTn id="18" dur="2000" fill="hold"/>
                                        <p:tgtEl>
                                          <p:spTgt spid="74769"/>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74763"/>
                                        </p:tgtEl>
                                        <p:attrNameLst>
                                          <p:attrName>style.visibility</p:attrName>
                                        </p:attrNameLst>
                                      </p:cBhvr>
                                      <p:to>
                                        <p:strVal val="visible"/>
                                      </p:to>
                                    </p:set>
                                    <p:animEffect transition="in" filter="wipe(left)">
                                      <p:cBhvr>
                                        <p:cTn id="23" dur="300"/>
                                        <p:tgtEl>
                                          <p:spTgt spid="7476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74764"/>
                                        </p:tgtEl>
                                        <p:attrNameLst>
                                          <p:attrName>style.visibility</p:attrName>
                                        </p:attrNameLst>
                                      </p:cBhvr>
                                      <p:to>
                                        <p:strVal val="visible"/>
                                      </p:to>
                                    </p:set>
                                    <p:animEffect transition="in" filter="wipe(left)">
                                      <p:cBhvr>
                                        <p:cTn id="28" dur="300"/>
                                        <p:tgtEl>
                                          <p:spTgt spid="7476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74757"/>
                                        </p:tgtEl>
                                        <p:attrNameLst>
                                          <p:attrName>style.visibility</p:attrName>
                                        </p:attrNameLst>
                                      </p:cBhvr>
                                      <p:to>
                                        <p:strVal val="visible"/>
                                      </p:to>
                                    </p:set>
                                    <p:animEffect transition="in" filter="wipe(left)">
                                      <p:cBhvr>
                                        <p:cTn id="33" dur="300"/>
                                        <p:tgtEl>
                                          <p:spTgt spid="7475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iterate type="wd">
                                    <p:tmPct val="100000"/>
                                  </p:iterate>
                                  <p:childTnLst>
                                    <p:set>
                                      <p:cBhvr>
                                        <p:cTn id="37" dur="1" fill="hold">
                                          <p:stCondLst>
                                            <p:cond delay="0"/>
                                          </p:stCondLst>
                                        </p:cTn>
                                        <p:tgtEl>
                                          <p:spTgt spid="74759"/>
                                        </p:tgtEl>
                                        <p:attrNameLst>
                                          <p:attrName>style.visibility</p:attrName>
                                        </p:attrNameLst>
                                      </p:cBhvr>
                                      <p:to>
                                        <p:strVal val="visible"/>
                                      </p:to>
                                    </p:set>
                                    <p:animEffect transition="in" filter="wipe(left)">
                                      <p:cBhvr>
                                        <p:cTn id="38" dur="300"/>
                                        <p:tgtEl>
                                          <p:spTgt spid="7475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iterate type="wd">
                                    <p:tmPct val="100000"/>
                                  </p:iterate>
                                  <p:childTnLst>
                                    <p:set>
                                      <p:cBhvr>
                                        <p:cTn id="42" dur="1" fill="hold">
                                          <p:stCondLst>
                                            <p:cond delay="0"/>
                                          </p:stCondLst>
                                        </p:cTn>
                                        <p:tgtEl>
                                          <p:spTgt spid="74761"/>
                                        </p:tgtEl>
                                        <p:attrNameLst>
                                          <p:attrName>style.visibility</p:attrName>
                                        </p:attrNameLst>
                                      </p:cBhvr>
                                      <p:to>
                                        <p:strVal val="visible"/>
                                      </p:to>
                                    </p:set>
                                    <p:animEffect transition="in" filter="wipe(left)">
                                      <p:cBhvr>
                                        <p:cTn id="43" dur="300"/>
                                        <p:tgtEl>
                                          <p:spTgt spid="74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build="p" autoUpdateAnimBg="0"/>
      <p:bldP spid="74757" grpId="0" autoUpdateAnimBg="0"/>
      <p:bldP spid="74758" grpId="0" autoUpdateAnimBg="0"/>
      <p:bldP spid="74759" grpId="0" autoUpdateAnimBg="0"/>
      <p:bldP spid="74761" grpId="0" autoUpdateAnimBg="0"/>
      <p:bldP spid="74763" grpId="0" autoUpdateAnimBg="0"/>
      <p:bldP spid="74764"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4" name="Text Box 10"/>
          <p:cNvSpPr txBox="1">
            <a:spLocks noChangeArrowheads="1"/>
          </p:cNvSpPr>
          <p:nvPr/>
        </p:nvSpPr>
        <p:spPr bwMode="auto">
          <a:xfrm>
            <a:off x="910633" y="639351"/>
            <a:ext cx="4297362"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dirty="0"/>
              <a:t>3</a:t>
            </a:r>
            <a:r>
              <a:rPr lang="zh-CN" altLang="en-US" sz="4000" b="1" dirty="0" smtClean="0"/>
              <a:t>. </a:t>
            </a:r>
            <a:r>
              <a:rPr lang="zh-CN" altLang="en-US" sz="4000" b="1" dirty="0">
                <a:latin typeface="宋体" panose="02010600030101010101" pitchFamily="2" charset="-122"/>
              </a:rPr>
              <a:t>中线</a:t>
            </a:r>
            <a:r>
              <a:rPr lang="zh-CN" altLang="en-US" sz="4000" b="1" dirty="0"/>
              <a:t>—</a:t>
            </a:r>
          </a:p>
        </p:txBody>
      </p:sp>
      <p:sp>
        <p:nvSpPr>
          <p:cNvPr id="52235" name="Text Box 11"/>
          <p:cNvSpPr txBox="1">
            <a:spLocks noChangeArrowheads="1"/>
          </p:cNvSpPr>
          <p:nvPr/>
        </p:nvSpPr>
        <p:spPr bwMode="auto">
          <a:xfrm>
            <a:off x="995676" y="2103229"/>
            <a:ext cx="11686003" cy="81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15000"/>
              </a:spcBef>
            </a:pPr>
            <a:r>
              <a:rPr lang="zh-CN" altLang="en-US" sz="3600" b="1" dirty="0">
                <a:latin typeface="宋体" panose="02010600030101010101" pitchFamily="2" charset="-122"/>
              </a:rPr>
              <a:t>    中线是指具有几何轮廓形状并划分轮廓的</a:t>
            </a:r>
            <a:r>
              <a:rPr lang="zh-CN" altLang="en-US" sz="3600" b="1" dirty="0" smtClean="0">
                <a:solidFill>
                  <a:srgbClr val="FF3300"/>
                </a:solidFill>
                <a:latin typeface="宋体" panose="02010600030101010101" pitchFamily="2" charset="-122"/>
              </a:rPr>
              <a:t>基准线</a:t>
            </a:r>
            <a:r>
              <a:rPr lang="zh-CN" altLang="en-US" sz="3600" b="1" dirty="0" smtClean="0">
                <a:latin typeface="宋体" panose="02010600030101010101" pitchFamily="2" charset="-122"/>
              </a:rPr>
              <a:t>。</a:t>
            </a:r>
            <a:endParaRPr lang="zh-CN" altLang="en-US" sz="3600" b="1" dirty="0">
              <a:latin typeface="宋体" panose="02010600030101010101" pitchFamily="2" charset="-122"/>
            </a:endParaRPr>
          </a:p>
        </p:txBody>
      </p:sp>
      <p:grpSp>
        <p:nvGrpSpPr>
          <p:cNvPr id="52256" name="Group 32"/>
          <p:cNvGrpSpPr/>
          <p:nvPr/>
        </p:nvGrpSpPr>
        <p:grpSpPr bwMode="auto">
          <a:xfrm>
            <a:off x="1657892" y="3642609"/>
            <a:ext cx="11908206" cy="5413303"/>
            <a:chOff x="525" y="1870"/>
            <a:chExt cx="8607" cy="4545"/>
          </a:xfrm>
        </p:grpSpPr>
        <p:pic>
          <p:nvPicPr>
            <p:cNvPr id="13318"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 y="1870"/>
              <a:ext cx="8607" cy="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9" name="Text Box 9"/>
            <p:cNvSpPr txBox="1">
              <a:spLocks noChangeArrowheads="1"/>
            </p:cNvSpPr>
            <p:nvPr/>
          </p:nvSpPr>
          <p:spPr bwMode="auto">
            <a:xfrm>
              <a:off x="2865" y="5872"/>
              <a:ext cx="4679" cy="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smtClean="0">
                  <a:latin typeface="宋体" panose="02010600030101010101" pitchFamily="2" charset="-122"/>
                </a:rPr>
                <a:t>取样</a:t>
              </a:r>
              <a:r>
                <a:rPr lang="zh-CN" altLang="en-US" sz="3200" b="1" dirty="0">
                  <a:latin typeface="宋体" panose="02010600030101010101" pitchFamily="2" charset="-122"/>
                </a:rPr>
                <a:t>长度</a:t>
              </a:r>
              <a:r>
                <a:rPr lang="en-US" altLang="zh-CN" sz="3200" b="1" i="1" dirty="0" err="1">
                  <a:solidFill>
                    <a:srgbClr val="CC3300"/>
                  </a:solidFill>
                </a:rPr>
                <a:t>lr</a:t>
              </a:r>
              <a:r>
                <a:rPr lang="en-US" altLang="zh-CN" sz="3200" b="1" i="1" dirty="0">
                  <a:solidFill>
                    <a:srgbClr val="CC3300"/>
                  </a:solidFill>
                  <a:latin typeface="宋体" panose="02010600030101010101" pitchFamily="2" charset="-122"/>
                </a:rPr>
                <a:t> </a:t>
              </a:r>
              <a:r>
                <a:rPr lang="zh-CN" altLang="en-US" sz="3200" b="1" dirty="0">
                  <a:latin typeface="宋体" panose="02010600030101010101" pitchFamily="2" charset="-122"/>
                </a:rPr>
                <a:t>和评定长度</a:t>
              </a:r>
              <a:r>
                <a:rPr lang="en-US" altLang="zh-CN" sz="3200" b="1" i="1" dirty="0" err="1">
                  <a:solidFill>
                    <a:srgbClr val="CC3300"/>
                  </a:solidFill>
                </a:rPr>
                <a:t>ln</a:t>
              </a:r>
              <a:endParaRPr lang="en-US" altLang="zh-CN" sz="3200" b="1" i="1" dirty="0">
                <a:solidFill>
                  <a:srgbClr val="CC3300"/>
                </a:solidFill>
              </a:endParaRPr>
            </a:p>
          </p:txBody>
        </p:sp>
        <p:sp>
          <p:nvSpPr>
            <p:cNvPr id="13320" name="Line 27"/>
            <p:cNvSpPr>
              <a:spLocks noChangeShapeType="1"/>
            </p:cNvSpPr>
            <p:nvPr/>
          </p:nvSpPr>
          <p:spPr bwMode="auto">
            <a:xfrm flipV="1">
              <a:off x="1044" y="2576"/>
              <a:ext cx="1404" cy="376"/>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1" name="Line 28"/>
            <p:cNvSpPr>
              <a:spLocks noChangeShapeType="1"/>
            </p:cNvSpPr>
            <p:nvPr/>
          </p:nvSpPr>
          <p:spPr bwMode="auto">
            <a:xfrm>
              <a:off x="2466" y="2556"/>
              <a:ext cx="1473" cy="648"/>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2" name="Line 29"/>
            <p:cNvSpPr>
              <a:spLocks noChangeShapeType="1"/>
            </p:cNvSpPr>
            <p:nvPr/>
          </p:nvSpPr>
          <p:spPr bwMode="auto">
            <a:xfrm>
              <a:off x="3960" y="3168"/>
              <a:ext cx="1440" cy="90"/>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3" name="Line 30"/>
            <p:cNvSpPr>
              <a:spLocks noChangeShapeType="1"/>
            </p:cNvSpPr>
            <p:nvPr/>
          </p:nvSpPr>
          <p:spPr bwMode="auto">
            <a:xfrm flipV="1">
              <a:off x="5400" y="2826"/>
              <a:ext cx="1404" cy="432"/>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4" name="Line 31"/>
            <p:cNvSpPr>
              <a:spLocks noChangeShapeType="1"/>
            </p:cNvSpPr>
            <p:nvPr/>
          </p:nvSpPr>
          <p:spPr bwMode="auto">
            <a:xfrm>
              <a:off x="6786" y="2880"/>
              <a:ext cx="1494" cy="306"/>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cxnSp>
        <p:nvCxnSpPr>
          <p:cNvPr id="13" name="直接连接符 12"/>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2234">
                                            <p:txEl>
                                              <p:pRg st="0" end="0"/>
                                            </p:txEl>
                                          </p:spTgt>
                                        </p:tgtEl>
                                        <p:attrNameLst>
                                          <p:attrName>style.visibility</p:attrName>
                                        </p:attrNameLst>
                                      </p:cBhvr>
                                      <p:to>
                                        <p:strVal val="visible"/>
                                      </p:to>
                                    </p:set>
                                    <p:animEffect transition="in" filter="wipe(left)">
                                      <p:cBhvr>
                                        <p:cTn id="7" dur="300"/>
                                        <p:tgtEl>
                                          <p:spTgt spid="5223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2235"/>
                                        </p:tgtEl>
                                        <p:attrNameLst>
                                          <p:attrName>style.visibility</p:attrName>
                                        </p:attrNameLst>
                                      </p:cBhvr>
                                      <p:to>
                                        <p:strVal val="visible"/>
                                      </p:to>
                                    </p:set>
                                    <p:animEffect transition="in" filter="wipe(left)">
                                      <p:cBhvr>
                                        <p:cTn id="12" dur="300"/>
                                        <p:tgtEl>
                                          <p:spTgt spid="5223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2256"/>
                                        </p:tgtEl>
                                        <p:attrNameLst>
                                          <p:attrName>style.visibility</p:attrName>
                                        </p:attrNameLst>
                                      </p:cBhvr>
                                      <p:to>
                                        <p:strVal val="visible"/>
                                      </p:to>
                                    </p:set>
                                    <p:anim calcmode="lin" valueType="num">
                                      <p:cBhvr additive="base">
                                        <p:cTn id="17" dur="2000" fill="hold"/>
                                        <p:tgtEl>
                                          <p:spTgt spid="52256"/>
                                        </p:tgtEl>
                                        <p:attrNameLst>
                                          <p:attrName>ppt_x</p:attrName>
                                        </p:attrNameLst>
                                      </p:cBhvr>
                                      <p:tavLst>
                                        <p:tav tm="0">
                                          <p:val>
                                            <p:strVal val="#ppt_x"/>
                                          </p:val>
                                        </p:tav>
                                        <p:tav tm="100000">
                                          <p:val>
                                            <p:strVal val="#ppt_x"/>
                                          </p:val>
                                        </p:tav>
                                      </p:tavLst>
                                    </p:anim>
                                    <p:anim calcmode="lin" valueType="num">
                                      <p:cBhvr additive="base">
                                        <p:cTn id="18" dur="2000" fill="hold"/>
                                        <p:tgtEl>
                                          <p:spTgt spid="522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4" grpId="0" build="p" autoUpdateAnimBg="0"/>
      <p:bldP spid="52235"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8"/>
          <p:cNvSpPr txBox="1">
            <a:spLocks noChangeArrowheads="1"/>
          </p:cNvSpPr>
          <p:nvPr/>
        </p:nvSpPr>
        <p:spPr bwMode="auto">
          <a:xfrm>
            <a:off x="1893888" y="1762665"/>
            <a:ext cx="11331458" cy="81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600" b="1" dirty="0"/>
              <a:t>在</a:t>
            </a:r>
            <a:r>
              <a:rPr lang="en-US" altLang="zh-CN" sz="3600" b="1" i="1" dirty="0"/>
              <a:t>l r </a:t>
            </a:r>
            <a:r>
              <a:rPr lang="zh-CN" altLang="en-US" sz="3600" b="1" dirty="0"/>
              <a:t>内，使轮廓上各点至该线的距离</a:t>
            </a:r>
            <a:r>
              <a:rPr lang="en-US" altLang="zh-CN" sz="3600" b="1" i="1" dirty="0" err="1">
                <a:solidFill>
                  <a:srgbClr val="FF3300"/>
                </a:solidFill>
              </a:rPr>
              <a:t>Z</a:t>
            </a:r>
            <a:r>
              <a:rPr lang="en-US" altLang="zh-CN" sz="3600" b="1" i="1" baseline="-30000" dirty="0" err="1">
                <a:solidFill>
                  <a:srgbClr val="FF3300"/>
                </a:solidFill>
              </a:rPr>
              <a:t>i</a:t>
            </a:r>
            <a:r>
              <a:rPr lang="zh-CN" altLang="en-US" sz="3600" b="1" dirty="0">
                <a:solidFill>
                  <a:srgbClr val="FF3300"/>
                </a:solidFill>
              </a:rPr>
              <a:t>平方和为最小</a:t>
            </a:r>
            <a:r>
              <a:rPr lang="zh-CN" altLang="en-US" sz="3600" b="1" dirty="0" smtClean="0"/>
              <a:t>。</a:t>
            </a:r>
            <a:endParaRPr lang="zh-CN" altLang="en-US" sz="3600" b="1" dirty="0"/>
          </a:p>
        </p:txBody>
      </p:sp>
      <p:sp>
        <p:nvSpPr>
          <p:cNvPr id="7191" name="Text Box 23"/>
          <p:cNvSpPr txBox="1">
            <a:spLocks noChangeArrowheads="1"/>
          </p:cNvSpPr>
          <p:nvPr/>
        </p:nvSpPr>
        <p:spPr bwMode="auto">
          <a:xfrm>
            <a:off x="677863" y="575508"/>
            <a:ext cx="10679112"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t>（1）轮廓</a:t>
            </a:r>
            <a:r>
              <a:rPr lang="zh-CN" altLang="en-US" sz="4000" b="1" dirty="0">
                <a:solidFill>
                  <a:srgbClr val="FF0000"/>
                </a:solidFill>
              </a:rPr>
              <a:t>最小二乘中线</a:t>
            </a:r>
            <a:r>
              <a:rPr lang="zh-CN" altLang="en-US" sz="4000" b="1" dirty="0"/>
              <a:t>(</a:t>
            </a:r>
            <a:r>
              <a:rPr lang="en-US" altLang="zh-CN" sz="4000" b="1" i="1" dirty="0"/>
              <a:t>m</a:t>
            </a:r>
            <a:r>
              <a:rPr lang="en-US" altLang="zh-CN" sz="4000" b="1" dirty="0"/>
              <a:t>)—</a:t>
            </a:r>
          </a:p>
        </p:txBody>
      </p:sp>
      <p:graphicFrame>
        <p:nvGraphicFramePr>
          <p:cNvPr id="7197" name="Object 29"/>
          <p:cNvGraphicFramePr>
            <a:graphicFrameLocks noChangeAspect="1"/>
          </p:cNvGraphicFramePr>
          <p:nvPr/>
        </p:nvGraphicFramePr>
        <p:xfrm>
          <a:off x="2728210" y="2972982"/>
          <a:ext cx="2859790" cy="1431945"/>
        </p:xfrm>
        <a:graphic>
          <a:graphicData uri="http://schemas.openxmlformats.org/presentationml/2006/ole">
            <mc:AlternateContent xmlns:mc="http://schemas.openxmlformats.org/markup-compatibility/2006">
              <mc:Choice xmlns:v="urn:schemas-microsoft-com:vml" Requires="v">
                <p:oleObj spid="_x0000_s1041" name="Equation" r:id="rId3" imgW="21031200" imgH="8534400" progId="">
                  <p:embed/>
                </p:oleObj>
              </mc:Choice>
              <mc:Fallback>
                <p:oleObj name="Equation" r:id="rId3" imgW="21031200" imgH="8534400" progId="">
                  <p:embed/>
                  <p:pic>
                    <p:nvPicPr>
                      <p:cNvPr id="0" name="Picture 1" descr="image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8210" y="2972982"/>
                        <a:ext cx="2859790" cy="14319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03" name="Object 35"/>
          <p:cNvGraphicFramePr>
            <a:graphicFrameLocks noChangeAspect="1"/>
          </p:cNvGraphicFramePr>
          <p:nvPr/>
        </p:nvGraphicFramePr>
        <p:xfrm>
          <a:off x="6265887" y="2837137"/>
          <a:ext cx="4422100" cy="1867307"/>
        </p:xfrm>
        <a:graphic>
          <a:graphicData uri="http://schemas.openxmlformats.org/presentationml/2006/ole">
            <mc:AlternateContent xmlns:mc="http://schemas.openxmlformats.org/markup-compatibility/2006">
              <mc:Choice xmlns:v="urn:schemas-microsoft-com:vml" Requires="v">
                <p:oleObj spid="_x0000_s1042" name="Equation" r:id="rId5" imgW="29260800" imgH="10668000" progId="">
                  <p:embed/>
                </p:oleObj>
              </mc:Choice>
              <mc:Fallback>
                <p:oleObj name="Equation" r:id="rId5" imgW="29260800" imgH="10668000" progId="">
                  <p:embed/>
                  <p:pic>
                    <p:nvPicPr>
                      <p:cNvPr id="0" name="Picture 2" descr="image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65887" y="2837137"/>
                        <a:ext cx="4422100" cy="1867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239" name="Group 71"/>
          <p:cNvGrpSpPr/>
          <p:nvPr/>
        </p:nvGrpSpPr>
        <p:grpSpPr bwMode="auto">
          <a:xfrm>
            <a:off x="1775528" y="5190278"/>
            <a:ext cx="10925175" cy="5429250"/>
            <a:chOff x="1109" y="3508"/>
            <a:chExt cx="6882" cy="3420"/>
          </a:xfrm>
        </p:grpSpPr>
        <p:sp>
          <p:nvSpPr>
            <p:cNvPr id="14348" name="Text Box 17"/>
            <p:cNvSpPr txBox="1">
              <a:spLocks noChangeArrowheads="1"/>
            </p:cNvSpPr>
            <p:nvPr/>
          </p:nvSpPr>
          <p:spPr bwMode="auto">
            <a:xfrm>
              <a:off x="3160" y="6196"/>
              <a:ext cx="3168" cy="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05443" tIns="352723" rIns="705443" bIns="352723">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000" b="1">
                  <a:latin typeface="宋体" panose="02010600030101010101" pitchFamily="2" charset="-122"/>
                </a:rPr>
                <a:t>图5.5 最小二乘中线</a:t>
              </a:r>
            </a:p>
          </p:txBody>
        </p:sp>
        <p:sp>
          <p:nvSpPr>
            <p:cNvPr id="14349" name="Line 52"/>
            <p:cNvSpPr>
              <a:spLocks noChangeShapeType="1"/>
            </p:cNvSpPr>
            <p:nvPr/>
          </p:nvSpPr>
          <p:spPr bwMode="auto">
            <a:xfrm>
              <a:off x="3725" y="4080"/>
              <a:ext cx="0" cy="915"/>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350" name="Group 53"/>
            <p:cNvGrpSpPr/>
            <p:nvPr/>
          </p:nvGrpSpPr>
          <p:grpSpPr bwMode="auto">
            <a:xfrm>
              <a:off x="3725" y="3640"/>
              <a:ext cx="815" cy="958"/>
              <a:chOff x="2368" y="385"/>
              <a:chExt cx="489" cy="575"/>
            </a:xfrm>
          </p:grpSpPr>
          <p:sp>
            <p:nvSpPr>
              <p:cNvPr id="14360" name="Line 54"/>
              <p:cNvSpPr>
                <a:spLocks noChangeShapeType="1"/>
              </p:cNvSpPr>
              <p:nvPr/>
            </p:nvSpPr>
            <p:spPr bwMode="auto">
              <a:xfrm flipV="1">
                <a:off x="2368" y="695"/>
                <a:ext cx="256" cy="26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p>
                <a:endParaRPr lang="zh-CN" altLang="en-US"/>
              </a:p>
            </p:txBody>
          </p:sp>
          <p:sp>
            <p:nvSpPr>
              <p:cNvPr id="14361" name="Text Box 55"/>
              <p:cNvSpPr txBox="1">
                <a:spLocks noChangeArrowheads="1"/>
              </p:cNvSpPr>
              <p:nvPr/>
            </p:nvSpPr>
            <p:spPr bwMode="auto">
              <a:xfrm>
                <a:off x="2613" y="385"/>
                <a:ext cx="244"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z</a:t>
                </a:r>
                <a:r>
                  <a:rPr lang="en-US" altLang="zh-CN" sz="4700" i="1" baseline="-25000"/>
                  <a:t>i</a:t>
                </a:r>
              </a:p>
            </p:txBody>
          </p:sp>
        </p:grpSp>
        <p:sp>
          <p:nvSpPr>
            <p:cNvPr id="14351" name="Line 42"/>
            <p:cNvSpPr>
              <a:spLocks noChangeShapeType="1"/>
            </p:cNvSpPr>
            <p:nvPr/>
          </p:nvSpPr>
          <p:spPr bwMode="auto">
            <a:xfrm>
              <a:off x="1109" y="4942"/>
              <a:ext cx="6400"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05443" tIns="352723" rIns="705443" bIns="352723">
              <a:spAutoFit/>
            </a:bodyPr>
            <a:lstStyle/>
            <a:p>
              <a:endParaRPr lang="zh-CN" altLang="en-US"/>
            </a:p>
          </p:txBody>
        </p:sp>
        <p:sp>
          <p:nvSpPr>
            <p:cNvPr id="14352" name="Line 43"/>
            <p:cNvSpPr>
              <a:spLocks noChangeShapeType="1"/>
            </p:cNvSpPr>
            <p:nvPr/>
          </p:nvSpPr>
          <p:spPr bwMode="auto">
            <a:xfrm>
              <a:off x="1307" y="3512"/>
              <a:ext cx="0" cy="2818"/>
            </a:xfrm>
            <a:prstGeom prst="line">
              <a:avLst/>
            </a:prstGeom>
            <a:noFill/>
            <a:ln w="3810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05443" tIns="352723" rIns="705443" bIns="352723">
              <a:spAutoFit/>
            </a:bodyPr>
            <a:lstStyle/>
            <a:p>
              <a:endParaRPr lang="zh-CN" altLang="en-US"/>
            </a:p>
          </p:txBody>
        </p:sp>
        <p:sp>
          <p:nvSpPr>
            <p:cNvPr id="14353" name="Freeform 44"/>
            <p:cNvSpPr/>
            <p:nvPr/>
          </p:nvSpPr>
          <p:spPr bwMode="auto">
            <a:xfrm>
              <a:off x="1169" y="4038"/>
              <a:ext cx="6385" cy="1695"/>
            </a:xfrm>
            <a:custGeom>
              <a:avLst/>
              <a:gdLst>
                <a:gd name="T0" fmla="*/ 37978 w 3831"/>
                <a:gd name="T1" fmla="*/ 278355 h 1017"/>
                <a:gd name="T2" fmla="*/ 46333 w 3831"/>
                <a:gd name="T3" fmla="*/ 244408 h 1017"/>
                <a:gd name="T4" fmla="*/ 58772 w 3831"/>
                <a:gd name="T5" fmla="*/ 202605 h 1017"/>
                <a:gd name="T6" fmla="*/ 84063 w 3831"/>
                <a:gd name="T7" fmla="*/ 173133 h 1017"/>
                <a:gd name="T8" fmla="*/ 138603 w 3831"/>
                <a:gd name="T9" fmla="*/ 101980 h 1017"/>
                <a:gd name="T10" fmla="*/ 197662 w 3831"/>
                <a:gd name="T11" fmla="*/ 64020 h 1017"/>
                <a:gd name="T12" fmla="*/ 260478 w 3831"/>
                <a:gd name="T13" fmla="*/ 101980 h 1017"/>
                <a:gd name="T14" fmla="*/ 310895 w 3831"/>
                <a:gd name="T15" fmla="*/ 173133 h 1017"/>
                <a:gd name="T16" fmla="*/ 336228 w 3831"/>
                <a:gd name="T17" fmla="*/ 396088 h 1017"/>
                <a:gd name="T18" fmla="*/ 479105 w 3831"/>
                <a:gd name="T19" fmla="*/ 420912 h 1017"/>
                <a:gd name="T20" fmla="*/ 508578 w 3831"/>
                <a:gd name="T21" fmla="*/ 332695 h 1017"/>
                <a:gd name="T22" fmla="*/ 542092 w 3831"/>
                <a:gd name="T23" fmla="*/ 215047 h 1017"/>
                <a:gd name="T24" fmla="*/ 575555 w 3831"/>
                <a:gd name="T25" fmla="*/ 118597 h 1017"/>
                <a:gd name="T26" fmla="*/ 592105 w 3831"/>
                <a:gd name="T27" fmla="*/ 68158 h 1017"/>
                <a:gd name="T28" fmla="*/ 609083 w 3831"/>
                <a:gd name="T29" fmla="*/ 47430 h 1017"/>
                <a:gd name="T30" fmla="*/ 642838 w 3831"/>
                <a:gd name="T31" fmla="*/ 55787 h 1017"/>
                <a:gd name="T32" fmla="*/ 701520 w 3831"/>
                <a:gd name="T33" fmla="*/ 797 h 1017"/>
                <a:gd name="T34" fmla="*/ 751953 w 3831"/>
                <a:gd name="T35" fmla="*/ 89020 h 1017"/>
                <a:gd name="T36" fmla="*/ 785592 w 3831"/>
                <a:gd name="T37" fmla="*/ 210867 h 1017"/>
                <a:gd name="T38" fmla="*/ 810895 w 3831"/>
                <a:gd name="T39" fmla="*/ 387305 h 1017"/>
                <a:gd name="T40" fmla="*/ 848403 w 3831"/>
                <a:gd name="T41" fmla="*/ 412592 h 1017"/>
                <a:gd name="T42" fmla="*/ 936537 w 3831"/>
                <a:gd name="T43" fmla="*/ 454758 h 1017"/>
                <a:gd name="T44" fmla="*/ 1016588 w 3831"/>
                <a:gd name="T45" fmla="*/ 425383 h 1017"/>
                <a:gd name="T46" fmla="*/ 1054270 w 3831"/>
                <a:gd name="T47" fmla="*/ 257200 h 1017"/>
                <a:gd name="T48" fmla="*/ 1087862 w 3831"/>
                <a:gd name="T49" fmla="*/ 185570 h 1017"/>
                <a:gd name="T50" fmla="*/ 1104722 w 3831"/>
                <a:gd name="T51" fmla="*/ 148055 h 1017"/>
                <a:gd name="T52" fmla="*/ 1150717 w 3831"/>
                <a:gd name="T53" fmla="*/ 4922 h 1017"/>
                <a:gd name="T54" fmla="*/ 1256075 w 3831"/>
                <a:gd name="T55" fmla="*/ 4922 h 1017"/>
                <a:gd name="T56" fmla="*/ 1289480 w 3831"/>
                <a:gd name="T57" fmla="*/ 34397 h 1017"/>
                <a:gd name="T58" fmla="*/ 1344237 w 3831"/>
                <a:gd name="T59" fmla="*/ 93070 h 1017"/>
                <a:gd name="T60" fmla="*/ 1444987 w 3831"/>
                <a:gd name="T61" fmla="*/ 425383 h 1017"/>
                <a:gd name="T62" fmla="*/ 1528912 w 3831"/>
                <a:gd name="T63" fmla="*/ 463063 h 1017"/>
                <a:gd name="T64" fmla="*/ 1596355 w 3831"/>
                <a:gd name="T65" fmla="*/ 400208 h 1017"/>
                <a:gd name="T66" fmla="*/ 1629847 w 3831"/>
                <a:gd name="T67" fmla="*/ 236203 h 1017"/>
                <a:gd name="T68" fmla="*/ 1730325 w 3831"/>
                <a:gd name="T69" fmla="*/ 198437 h 1017"/>
                <a:gd name="T70" fmla="*/ 1760055 w 3831"/>
                <a:gd name="T71" fmla="*/ 181388 h 101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831" h="1017">
                  <a:moveTo>
                    <a:pt x="0" y="679"/>
                  </a:moveTo>
                  <a:cubicBezTo>
                    <a:pt x="42" y="665"/>
                    <a:pt x="52" y="635"/>
                    <a:pt x="83" y="606"/>
                  </a:cubicBezTo>
                  <a:cubicBezTo>
                    <a:pt x="80" y="585"/>
                    <a:pt x="68" y="563"/>
                    <a:pt x="73" y="542"/>
                  </a:cubicBezTo>
                  <a:cubicBezTo>
                    <a:pt x="75" y="532"/>
                    <a:pt x="95" y="540"/>
                    <a:pt x="101" y="532"/>
                  </a:cubicBezTo>
                  <a:cubicBezTo>
                    <a:pt x="109" y="522"/>
                    <a:pt x="106" y="508"/>
                    <a:pt x="110" y="496"/>
                  </a:cubicBezTo>
                  <a:cubicBezTo>
                    <a:pt x="115" y="478"/>
                    <a:pt x="122" y="459"/>
                    <a:pt x="128" y="441"/>
                  </a:cubicBezTo>
                  <a:cubicBezTo>
                    <a:pt x="133" y="424"/>
                    <a:pt x="154" y="418"/>
                    <a:pt x="165" y="404"/>
                  </a:cubicBezTo>
                  <a:cubicBezTo>
                    <a:pt x="172" y="395"/>
                    <a:pt x="174" y="383"/>
                    <a:pt x="183" y="377"/>
                  </a:cubicBezTo>
                  <a:cubicBezTo>
                    <a:pt x="194" y="370"/>
                    <a:pt x="208" y="371"/>
                    <a:pt x="220" y="368"/>
                  </a:cubicBezTo>
                  <a:cubicBezTo>
                    <a:pt x="244" y="295"/>
                    <a:pt x="239" y="264"/>
                    <a:pt x="302" y="222"/>
                  </a:cubicBezTo>
                  <a:cubicBezTo>
                    <a:pt x="308" y="204"/>
                    <a:pt x="302" y="173"/>
                    <a:pt x="320" y="167"/>
                  </a:cubicBezTo>
                  <a:cubicBezTo>
                    <a:pt x="359" y="155"/>
                    <a:pt x="389" y="146"/>
                    <a:pt x="430" y="139"/>
                  </a:cubicBezTo>
                  <a:cubicBezTo>
                    <a:pt x="476" y="124"/>
                    <a:pt x="503" y="81"/>
                    <a:pt x="549" y="66"/>
                  </a:cubicBezTo>
                  <a:cubicBezTo>
                    <a:pt x="556" y="118"/>
                    <a:pt x="555" y="171"/>
                    <a:pt x="567" y="222"/>
                  </a:cubicBezTo>
                  <a:cubicBezTo>
                    <a:pt x="572" y="246"/>
                    <a:pt x="606" y="269"/>
                    <a:pt x="622" y="286"/>
                  </a:cubicBezTo>
                  <a:cubicBezTo>
                    <a:pt x="640" y="341"/>
                    <a:pt x="628" y="361"/>
                    <a:pt x="677" y="377"/>
                  </a:cubicBezTo>
                  <a:cubicBezTo>
                    <a:pt x="687" y="408"/>
                    <a:pt x="700" y="419"/>
                    <a:pt x="723" y="441"/>
                  </a:cubicBezTo>
                  <a:cubicBezTo>
                    <a:pt x="726" y="581"/>
                    <a:pt x="726" y="722"/>
                    <a:pt x="732" y="862"/>
                  </a:cubicBezTo>
                  <a:cubicBezTo>
                    <a:pt x="734" y="911"/>
                    <a:pt x="761" y="948"/>
                    <a:pt x="805" y="962"/>
                  </a:cubicBezTo>
                  <a:cubicBezTo>
                    <a:pt x="1004" y="942"/>
                    <a:pt x="936" y="954"/>
                    <a:pt x="1043" y="916"/>
                  </a:cubicBezTo>
                  <a:cubicBezTo>
                    <a:pt x="1058" y="870"/>
                    <a:pt x="1073" y="825"/>
                    <a:pt x="1088" y="779"/>
                  </a:cubicBezTo>
                  <a:cubicBezTo>
                    <a:pt x="1103" y="732"/>
                    <a:pt x="1090" y="772"/>
                    <a:pt x="1107" y="724"/>
                  </a:cubicBezTo>
                  <a:cubicBezTo>
                    <a:pt x="1110" y="715"/>
                    <a:pt x="1116" y="697"/>
                    <a:pt x="1116" y="697"/>
                  </a:cubicBezTo>
                  <a:cubicBezTo>
                    <a:pt x="1126" y="624"/>
                    <a:pt x="1147" y="536"/>
                    <a:pt x="1180" y="468"/>
                  </a:cubicBezTo>
                  <a:cubicBezTo>
                    <a:pt x="1185" y="458"/>
                    <a:pt x="1194" y="451"/>
                    <a:pt x="1198" y="441"/>
                  </a:cubicBezTo>
                  <a:cubicBezTo>
                    <a:pt x="1223" y="384"/>
                    <a:pt x="1233" y="317"/>
                    <a:pt x="1253" y="258"/>
                  </a:cubicBezTo>
                  <a:cubicBezTo>
                    <a:pt x="1262" y="231"/>
                    <a:pt x="1271" y="203"/>
                    <a:pt x="1280" y="176"/>
                  </a:cubicBezTo>
                  <a:cubicBezTo>
                    <a:pt x="1283" y="167"/>
                    <a:pt x="1280" y="151"/>
                    <a:pt x="1289" y="148"/>
                  </a:cubicBezTo>
                  <a:cubicBezTo>
                    <a:pt x="1298" y="145"/>
                    <a:pt x="1308" y="142"/>
                    <a:pt x="1317" y="139"/>
                  </a:cubicBezTo>
                  <a:cubicBezTo>
                    <a:pt x="1320" y="127"/>
                    <a:pt x="1318" y="113"/>
                    <a:pt x="1326" y="103"/>
                  </a:cubicBezTo>
                  <a:cubicBezTo>
                    <a:pt x="1349" y="74"/>
                    <a:pt x="1357" y="103"/>
                    <a:pt x="1372" y="112"/>
                  </a:cubicBezTo>
                  <a:cubicBezTo>
                    <a:pt x="1380" y="117"/>
                    <a:pt x="1390" y="118"/>
                    <a:pt x="1399" y="121"/>
                  </a:cubicBezTo>
                  <a:cubicBezTo>
                    <a:pt x="1427" y="103"/>
                    <a:pt x="1454" y="94"/>
                    <a:pt x="1481" y="75"/>
                  </a:cubicBezTo>
                  <a:cubicBezTo>
                    <a:pt x="1494" y="39"/>
                    <a:pt x="1494" y="24"/>
                    <a:pt x="1527" y="2"/>
                  </a:cubicBezTo>
                  <a:cubicBezTo>
                    <a:pt x="1546" y="60"/>
                    <a:pt x="1563" y="118"/>
                    <a:pt x="1582" y="176"/>
                  </a:cubicBezTo>
                  <a:cubicBezTo>
                    <a:pt x="1588" y="194"/>
                    <a:pt x="1637" y="194"/>
                    <a:pt x="1637" y="194"/>
                  </a:cubicBezTo>
                  <a:cubicBezTo>
                    <a:pt x="1693" y="231"/>
                    <a:pt x="1675" y="294"/>
                    <a:pt x="1683" y="359"/>
                  </a:cubicBezTo>
                  <a:cubicBezTo>
                    <a:pt x="1687" y="392"/>
                    <a:pt x="1702" y="427"/>
                    <a:pt x="1710" y="459"/>
                  </a:cubicBezTo>
                  <a:cubicBezTo>
                    <a:pt x="1721" y="570"/>
                    <a:pt x="1712" y="682"/>
                    <a:pt x="1747" y="788"/>
                  </a:cubicBezTo>
                  <a:cubicBezTo>
                    <a:pt x="1753" y="806"/>
                    <a:pt x="1760" y="824"/>
                    <a:pt x="1765" y="843"/>
                  </a:cubicBezTo>
                  <a:cubicBezTo>
                    <a:pt x="1768" y="855"/>
                    <a:pt x="1764" y="872"/>
                    <a:pt x="1774" y="880"/>
                  </a:cubicBezTo>
                  <a:cubicBezTo>
                    <a:pt x="1793" y="896"/>
                    <a:pt x="1825" y="887"/>
                    <a:pt x="1847" y="898"/>
                  </a:cubicBezTo>
                  <a:cubicBezTo>
                    <a:pt x="1949" y="948"/>
                    <a:pt x="1815" y="886"/>
                    <a:pt x="1893" y="935"/>
                  </a:cubicBezTo>
                  <a:cubicBezTo>
                    <a:pt x="1936" y="962"/>
                    <a:pt x="1992" y="972"/>
                    <a:pt x="2039" y="990"/>
                  </a:cubicBezTo>
                  <a:cubicBezTo>
                    <a:pt x="2093" y="971"/>
                    <a:pt x="2057" y="944"/>
                    <a:pt x="2103" y="935"/>
                  </a:cubicBezTo>
                  <a:cubicBezTo>
                    <a:pt x="2139" y="928"/>
                    <a:pt x="2176" y="929"/>
                    <a:pt x="2213" y="926"/>
                  </a:cubicBezTo>
                  <a:cubicBezTo>
                    <a:pt x="2185" y="840"/>
                    <a:pt x="2164" y="754"/>
                    <a:pt x="2249" y="697"/>
                  </a:cubicBezTo>
                  <a:cubicBezTo>
                    <a:pt x="2266" y="652"/>
                    <a:pt x="2280" y="606"/>
                    <a:pt x="2295" y="560"/>
                  </a:cubicBezTo>
                  <a:cubicBezTo>
                    <a:pt x="2302" y="540"/>
                    <a:pt x="2316" y="524"/>
                    <a:pt x="2323" y="505"/>
                  </a:cubicBezTo>
                  <a:cubicBezTo>
                    <a:pt x="2337" y="463"/>
                    <a:pt x="2339" y="434"/>
                    <a:pt x="2368" y="404"/>
                  </a:cubicBezTo>
                  <a:cubicBezTo>
                    <a:pt x="2374" y="386"/>
                    <a:pt x="2377" y="366"/>
                    <a:pt x="2387" y="350"/>
                  </a:cubicBezTo>
                  <a:cubicBezTo>
                    <a:pt x="2393" y="341"/>
                    <a:pt x="2401" y="332"/>
                    <a:pt x="2405" y="322"/>
                  </a:cubicBezTo>
                  <a:cubicBezTo>
                    <a:pt x="2425" y="277"/>
                    <a:pt x="2424" y="228"/>
                    <a:pt x="2460" y="194"/>
                  </a:cubicBezTo>
                  <a:cubicBezTo>
                    <a:pt x="2469" y="130"/>
                    <a:pt x="2485" y="73"/>
                    <a:pt x="2505" y="11"/>
                  </a:cubicBezTo>
                  <a:cubicBezTo>
                    <a:pt x="2508" y="2"/>
                    <a:pt x="2524" y="5"/>
                    <a:pt x="2533" y="2"/>
                  </a:cubicBezTo>
                  <a:cubicBezTo>
                    <a:pt x="2600" y="5"/>
                    <a:pt x="2668" y="0"/>
                    <a:pt x="2734" y="11"/>
                  </a:cubicBezTo>
                  <a:cubicBezTo>
                    <a:pt x="2762" y="16"/>
                    <a:pt x="2745" y="55"/>
                    <a:pt x="2761" y="66"/>
                  </a:cubicBezTo>
                  <a:cubicBezTo>
                    <a:pt x="2774" y="75"/>
                    <a:pt x="2792" y="72"/>
                    <a:pt x="2807" y="75"/>
                  </a:cubicBezTo>
                  <a:cubicBezTo>
                    <a:pt x="2833" y="102"/>
                    <a:pt x="2851" y="101"/>
                    <a:pt x="2880" y="130"/>
                  </a:cubicBezTo>
                  <a:cubicBezTo>
                    <a:pt x="2890" y="162"/>
                    <a:pt x="2908" y="175"/>
                    <a:pt x="2926" y="203"/>
                  </a:cubicBezTo>
                  <a:cubicBezTo>
                    <a:pt x="2958" y="301"/>
                    <a:pt x="3019" y="288"/>
                    <a:pt x="3118" y="295"/>
                  </a:cubicBezTo>
                  <a:cubicBezTo>
                    <a:pt x="3197" y="536"/>
                    <a:pt x="3125" y="299"/>
                    <a:pt x="3145" y="926"/>
                  </a:cubicBezTo>
                  <a:cubicBezTo>
                    <a:pt x="3146" y="968"/>
                    <a:pt x="3161" y="1004"/>
                    <a:pt x="3200" y="1017"/>
                  </a:cubicBezTo>
                  <a:cubicBezTo>
                    <a:pt x="3243" y="1014"/>
                    <a:pt x="3286" y="1015"/>
                    <a:pt x="3328" y="1008"/>
                  </a:cubicBezTo>
                  <a:cubicBezTo>
                    <a:pt x="3351" y="1004"/>
                    <a:pt x="3409" y="963"/>
                    <a:pt x="3438" y="953"/>
                  </a:cubicBezTo>
                  <a:cubicBezTo>
                    <a:pt x="3448" y="923"/>
                    <a:pt x="3464" y="900"/>
                    <a:pt x="3475" y="871"/>
                  </a:cubicBezTo>
                  <a:cubicBezTo>
                    <a:pt x="3483" y="727"/>
                    <a:pt x="3483" y="709"/>
                    <a:pt x="3520" y="596"/>
                  </a:cubicBezTo>
                  <a:cubicBezTo>
                    <a:pt x="3525" y="581"/>
                    <a:pt x="3536" y="526"/>
                    <a:pt x="3548" y="514"/>
                  </a:cubicBezTo>
                  <a:cubicBezTo>
                    <a:pt x="3593" y="469"/>
                    <a:pt x="3654" y="466"/>
                    <a:pt x="3712" y="450"/>
                  </a:cubicBezTo>
                  <a:cubicBezTo>
                    <a:pt x="3731" y="445"/>
                    <a:pt x="3767" y="432"/>
                    <a:pt x="3767" y="432"/>
                  </a:cubicBezTo>
                  <a:cubicBezTo>
                    <a:pt x="3779" y="423"/>
                    <a:pt x="3791" y="412"/>
                    <a:pt x="3804" y="404"/>
                  </a:cubicBezTo>
                  <a:cubicBezTo>
                    <a:pt x="3812" y="399"/>
                    <a:pt x="3831" y="395"/>
                    <a:pt x="3831" y="395"/>
                  </a:cubicBezTo>
                </a:path>
              </a:pathLst>
            </a:custGeom>
            <a:noFill/>
            <a:ln w="571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05443" tIns="352723" rIns="705443" bIns="352723">
              <a:spAutoFit/>
            </a:bodyPr>
            <a:lstStyle/>
            <a:p>
              <a:endParaRPr lang="zh-CN" altLang="en-US"/>
            </a:p>
          </p:txBody>
        </p:sp>
        <p:sp>
          <p:nvSpPr>
            <p:cNvPr id="14354" name="Text Box 45"/>
            <p:cNvSpPr txBox="1">
              <a:spLocks noChangeArrowheads="1"/>
            </p:cNvSpPr>
            <p:nvPr/>
          </p:nvSpPr>
          <p:spPr bwMode="auto">
            <a:xfrm>
              <a:off x="7103" y="4892"/>
              <a:ext cx="888" cy="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05443" tIns="352723" rIns="705443" bIns="352723">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300" i="1"/>
                <a:t>X</a:t>
              </a:r>
            </a:p>
          </p:txBody>
        </p:sp>
        <p:sp>
          <p:nvSpPr>
            <p:cNvPr id="14355" name="Line 48"/>
            <p:cNvSpPr>
              <a:spLocks noChangeShapeType="1"/>
            </p:cNvSpPr>
            <p:nvPr/>
          </p:nvSpPr>
          <p:spPr bwMode="auto">
            <a:xfrm flipV="1">
              <a:off x="1336" y="6022"/>
              <a:ext cx="5890" cy="14"/>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05443" tIns="352723" rIns="705443" bIns="352723">
              <a:spAutoFit/>
            </a:bodyPr>
            <a:lstStyle/>
            <a:p>
              <a:endParaRPr lang="zh-CN" altLang="en-US"/>
            </a:p>
          </p:txBody>
        </p:sp>
        <p:sp>
          <p:nvSpPr>
            <p:cNvPr id="14356" name="Line 56"/>
            <p:cNvSpPr>
              <a:spLocks noChangeShapeType="1"/>
            </p:cNvSpPr>
            <p:nvPr/>
          </p:nvSpPr>
          <p:spPr bwMode="auto">
            <a:xfrm>
              <a:off x="7224" y="4903"/>
              <a:ext cx="0" cy="131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705443" tIns="352723" rIns="705443" bIns="352723">
              <a:spAutoFit/>
            </a:bodyPr>
            <a:lstStyle/>
            <a:p>
              <a:endParaRPr lang="zh-CN" altLang="en-US"/>
            </a:p>
          </p:txBody>
        </p:sp>
        <p:sp>
          <p:nvSpPr>
            <p:cNvPr id="14357" name="Text Box 63"/>
            <p:cNvSpPr txBox="1">
              <a:spLocks noChangeArrowheads="1"/>
            </p:cNvSpPr>
            <p:nvPr/>
          </p:nvSpPr>
          <p:spPr bwMode="auto">
            <a:xfrm>
              <a:off x="1151" y="3508"/>
              <a:ext cx="90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i="1"/>
                <a:t>Z(x)</a:t>
              </a:r>
            </a:p>
          </p:txBody>
        </p:sp>
        <p:sp>
          <p:nvSpPr>
            <p:cNvPr id="14358" name="Text Box 64"/>
            <p:cNvSpPr txBox="1">
              <a:spLocks noChangeArrowheads="1"/>
            </p:cNvSpPr>
            <p:nvPr/>
          </p:nvSpPr>
          <p:spPr bwMode="auto">
            <a:xfrm>
              <a:off x="7570" y="4753"/>
              <a:ext cx="24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i="1"/>
                <a:t>x</a:t>
              </a:r>
            </a:p>
          </p:txBody>
        </p:sp>
        <p:sp>
          <p:nvSpPr>
            <p:cNvPr id="14359" name="Text Box 69"/>
            <p:cNvSpPr txBox="1">
              <a:spLocks noChangeArrowheads="1"/>
            </p:cNvSpPr>
            <p:nvPr/>
          </p:nvSpPr>
          <p:spPr bwMode="auto">
            <a:xfrm>
              <a:off x="3116" y="5550"/>
              <a:ext cx="82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i="1"/>
                <a:t>lr</a:t>
              </a:r>
            </a:p>
          </p:txBody>
        </p:sp>
      </p:grpSp>
      <p:sp>
        <p:nvSpPr>
          <p:cNvPr id="7240" name="Line 72"/>
          <p:cNvSpPr>
            <a:spLocks noChangeShapeType="1"/>
          </p:cNvSpPr>
          <p:nvPr/>
        </p:nvSpPr>
        <p:spPr bwMode="auto">
          <a:xfrm>
            <a:off x="2064453" y="7477866"/>
            <a:ext cx="9412287" cy="0"/>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41" name="Oval 73"/>
          <p:cNvSpPr>
            <a:spLocks noChangeArrowheads="1"/>
          </p:cNvSpPr>
          <p:nvPr/>
        </p:nvSpPr>
        <p:spPr bwMode="auto">
          <a:xfrm flipV="1">
            <a:off x="5738813" y="5925291"/>
            <a:ext cx="344487" cy="292100"/>
          </a:xfrm>
          <a:prstGeom prst="ellipse">
            <a:avLst/>
          </a:prstGeom>
          <a:solidFill>
            <a:srgbClr val="FF33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152394" tIns="76197" rIns="152394" bIns="76197" anchor="ctr"/>
          <a:lstStyle/>
          <a:p>
            <a:pPr algn="ctr" defTabSz="1524000"/>
            <a:endParaRPr lang="zh-CN" altLang="en-US" sz="2300"/>
          </a:p>
        </p:txBody>
      </p:sp>
      <p:sp>
        <p:nvSpPr>
          <p:cNvPr id="7242" name="AutoShape 74"/>
          <p:cNvSpPr>
            <a:spLocks noChangeArrowheads="1"/>
          </p:cNvSpPr>
          <p:nvPr/>
        </p:nvSpPr>
        <p:spPr bwMode="auto">
          <a:xfrm>
            <a:off x="9883775" y="4917228"/>
            <a:ext cx="2684463" cy="1646238"/>
          </a:xfrm>
          <a:prstGeom prst="wedgeRoundRectCallout">
            <a:avLst>
              <a:gd name="adj1" fmla="val -150986"/>
              <a:gd name="adj2" fmla="val 103537"/>
              <a:gd name="adj3" fmla="val 16667"/>
            </a:avLst>
          </a:prstGeom>
          <a:noFill/>
          <a:ln w="38100">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lstStyle/>
          <a:p>
            <a:pPr algn="ctr" defTabSz="1524000"/>
            <a:r>
              <a:rPr lang="zh-CN" altLang="en-US" sz="4700" b="1">
                <a:solidFill>
                  <a:srgbClr val="FF3300"/>
                </a:solidFill>
              </a:rPr>
              <a:t>最小二乘中线</a:t>
            </a:r>
          </a:p>
        </p:txBody>
      </p:sp>
      <p:sp>
        <p:nvSpPr>
          <p:cNvPr id="7244" name="Line 76"/>
          <p:cNvSpPr>
            <a:spLocks noChangeShapeType="1"/>
          </p:cNvSpPr>
          <p:nvPr/>
        </p:nvSpPr>
        <p:spPr bwMode="auto">
          <a:xfrm flipV="1">
            <a:off x="5926138" y="6122141"/>
            <a:ext cx="779462" cy="812800"/>
          </a:xfrm>
          <a:prstGeom prst="line">
            <a:avLst/>
          </a:prstGeom>
          <a:noFill/>
          <a:ln w="38100">
            <a:solidFill>
              <a:srgbClr val="CC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26" name="直接连接符 25"/>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7191">
                                            <p:txEl>
                                              <p:pRg st="0" end="0"/>
                                            </p:txEl>
                                          </p:spTgt>
                                        </p:tgtEl>
                                        <p:attrNameLst>
                                          <p:attrName>style.visibility</p:attrName>
                                        </p:attrNameLst>
                                      </p:cBhvr>
                                      <p:to>
                                        <p:strVal val="visible"/>
                                      </p:to>
                                    </p:set>
                                    <p:animEffect transition="in" filter="wipe(left)">
                                      <p:cBhvr>
                                        <p:cTn id="7" dur="300"/>
                                        <p:tgtEl>
                                          <p:spTgt spid="71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176"/>
                                        </p:tgtEl>
                                        <p:attrNameLst>
                                          <p:attrName>style.visibility</p:attrName>
                                        </p:attrNameLst>
                                      </p:cBhvr>
                                      <p:to>
                                        <p:strVal val="visible"/>
                                      </p:to>
                                    </p:set>
                                    <p:animEffect transition="in" filter="wipe(left)">
                                      <p:cBhvr>
                                        <p:cTn id="12" dur="300"/>
                                        <p:tgtEl>
                                          <p:spTgt spid="717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239"/>
                                        </p:tgtEl>
                                        <p:attrNameLst>
                                          <p:attrName>style.visibility</p:attrName>
                                        </p:attrNameLst>
                                      </p:cBhvr>
                                      <p:to>
                                        <p:strVal val="visible"/>
                                      </p:to>
                                    </p:set>
                                    <p:anim calcmode="lin" valueType="num">
                                      <p:cBhvr additive="base">
                                        <p:cTn id="17" dur="500" fill="hold"/>
                                        <p:tgtEl>
                                          <p:spTgt spid="7239"/>
                                        </p:tgtEl>
                                        <p:attrNameLst>
                                          <p:attrName>ppt_x</p:attrName>
                                        </p:attrNameLst>
                                      </p:cBhvr>
                                      <p:tavLst>
                                        <p:tav tm="0">
                                          <p:val>
                                            <p:strVal val="#ppt_x"/>
                                          </p:val>
                                        </p:tav>
                                        <p:tav tm="100000">
                                          <p:val>
                                            <p:strVal val="#ppt_x"/>
                                          </p:val>
                                        </p:tav>
                                      </p:tavLst>
                                    </p:anim>
                                    <p:anim calcmode="lin" valueType="num">
                                      <p:cBhvr additive="base">
                                        <p:cTn id="18" dur="500" fill="hold"/>
                                        <p:tgtEl>
                                          <p:spTgt spid="723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7240"/>
                                        </p:tgtEl>
                                        <p:attrNameLst>
                                          <p:attrName>style.visibility</p:attrName>
                                        </p:attrNameLst>
                                      </p:cBhvr>
                                      <p:to>
                                        <p:strVal val="visible"/>
                                      </p:to>
                                    </p:set>
                                    <p:anim calcmode="lin" valueType="num">
                                      <p:cBhvr>
                                        <p:cTn id="23" dur="500" fill="hold"/>
                                        <p:tgtEl>
                                          <p:spTgt spid="7240"/>
                                        </p:tgtEl>
                                        <p:attrNameLst>
                                          <p:attrName>ppt_x</p:attrName>
                                        </p:attrNameLst>
                                      </p:cBhvr>
                                      <p:tavLst>
                                        <p:tav tm="0">
                                          <p:val>
                                            <p:strVal val="#ppt_x-#ppt_w/2"/>
                                          </p:val>
                                        </p:tav>
                                        <p:tav tm="100000">
                                          <p:val>
                                            <p:strVal val="#ppt_x"/>
                                          </p:val>
                                        </p:tav>
                                      </p:tavLst>
                                    </p:anim>
                                    <p:anim calcmode="lin" valueType="num">
                                      <p:cBhvr>
                                        <p:cTn id="24" dur="500" fill="hold"/>
                                        <p:tgtEl>
                                          <p:spTgt spid="7240"/>
                                        </p:tgtEl>
                                        <p:attrNameLst>
                                          <p:attrName>ppt_y</p:attrName>
                                        </p:attrNameLst>
                                      </p:cBhvr>
                                      <p:tavLst>
                                        <p:tav tm="0">
                                          <p:val>
                                            <p:strVal val="#ppt_y"/>
                                          </p:val>
                                        </p:tav>
                                        <p:tav tm="100000">
                                          <p:val>
                                            <p:strVal val="#ppt_y"/>
                                          </p:val>
                                        </p:tav>
                                      </p:tavLst>
                                    </p:anim>
                                    <p:anim calcmode="lin" valueType="num">
                                      <p:cBhvr>
                                        <p:cTn id="25" dur="500" fill="hold"/>
                                        <p:tgtEl>
                                          <p:spTgt spid="7240"/>
                                        </p:tgtEl>
                                        <p:attrNameLst>
                                          <p:attrName>ppt_w</p:attrName>
                                        </p:attrNameLst>
                                      </p:cBhvr>
                                      <p:tavLst>
                                        <p:tav tm="0">
                                          <p:val>
                                            <p:fltVal val="0"/>
                                          </p:val>
                                        </p:tav>
                                        <p:tav tm="100000">
                                          <p:val>
                                            <p:strVal val="#ppt_w"/>
                                          </p:val>
                                        </p:tav>
                                      </p:tavLst>
                                    </p:anim>
                                    <p:anim calcmode="lin" valueType="num">
                                      <p:cBhvr>
                                        <p:cTn id="26" dur="500" fill="hold"/>
                                        <p:tgtEl>
                                          <p:spTgt spid="7240"/>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42" fill="hold" grpId="0" nodeType="clickEffect">
                                  <p:stCondLst>
                                    <p:cond delay="0"/>
                                  </p:stCondLst>
                                  <p:childTnLst>
                                    <p:set>
                                      <p:cBhvr>
                                        <p:cTn id="30" dur="1" fill="hold">
                                          <p:stCondLst>
                                            <p:cond delay="0"/>
                                          </p:stCondLst>
                                        </p:cTn>
                                        <p:tgtEl>
                                          <p:spTgt spid="7241"/>
                                        </p:tgtEl>
                                        <p:attrNameLst>
                                          <p:attrName>style.visibility</p:attrName>
                                        </p:attrNameLst>
                                      </p:cBhvr>
                                      <p:to>
                                        <p:strVal val="visible"/>
                                      </p:to>
                                    </p:set>
                                    <p:animEffect transition="in" filter="barn(outHorizontal)">
                                      <p:cBhvr>
                                        <p:cTn id="31" dur="500"/>
                                        <p:tgtEl>
                                          <p:spTgt spid="724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7244"/>
                                        </p:tgtEl>
                                        <p:attrNameLst>
                                          <p:attrName>style.visibility</p:attrName>
                                        </p:attrNameLst>
                                      </p:cBhvr>
                                      <p:to>
                                        <p:strVal val="visible"/>
                                      </p:to>
                                    </p:set>
                                    <p:animEffect transition="in" filter="wipe(down)">
                                      <p:cBhvr>
                                        <p:cTn id="36" dur="500"/>
                                        <p:tgtEl>
                                          <p:spTgt spid="724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197"/>
                                        </p:tgtEl>
                                        <p:attrNameLst>
                                          <p:attrName>style.visibility</p:attrName>
                                        </p:attrNameLst>
                                      </p:cBhvr>
                                      <p:to>
                                        <p:strVal val="visible"/>
                                      </p:to>
                                    </p:set>
                                    <p:animEffect transition="in" filter="wipe(left)">
                                      <p:cBhvr>
                                        <p:cTn id="41" dur="500"/>
                                        <p:tgtEl>
                                          <p:spTgt spid="719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7203"/>
                                        </p:tgtEl>
                                        <p:attrNameLst>
                                          <p:attrName>style.visibility</p:attrName>
                                        </p:attrNameLst>
                                      </p:cBhvr>
                                      <p:to>
                                        <p:strVal val="visible"/>
                                      </p:to>
                                    </p:set>
                                    <p:animEffect transition="in" filter="wipe(left)">
                                      <p:cBhvr>
                                        <p:cTn id="46" dur="500"/>
                                        <p:tgtEl>
                                          <p:spTgt spid="7203"/>
                                        </p:tgtEl>
                                      </p:cBhvr>
                                    </p:animEffect>
                                  </p:childTnLst>
                                </p:cTn>
                              </p:par>
                            </p:childTnLst>
                          </p:cTn>
                        </p:par>
                      </p:childTnLst>
                    </p:cTn>
                  </p:par>
                  <p:par>
                    <p:cTn id="47" fill="hold">
                      <p:stCondLst>
                        <p:cond delay="indefinite"/>
                      </p:stCondLst>
                      <p:childTnLst>
                        <p:par>
                          <p:cTn id="48" fill="hold">
                            <p:stCondLst>
                              <p:cond delay="0"/>
                            </p:stCondLst>
                            <p:childTnLst>
                              <p:par>
                                <p:cTn id="49" presetID="17" presetClass="entr" presetSubtype="8" fill="hold" grpId="0" nodeType="clickEffect">
                                  <p:stCondLst>
                                    <p:cond delay="0"/>
                                  </p:stCondLst>
                                  <p:childTnLst>
                                    <p:set>
                                      <p:cBhvr>
                                        <p:cTn id="50" dur="1" fill="hold">
                                          <p:stCondLst>
                                            <p:cond delay="0"/>
                                          </p:stCondLst>
                                        </p:cTn>
                                        <p:tgtEl>
                                          <p:spTgt spid="7242"/>
                                        </p:tgtEl>
                                        <p:attrNameLst>
                                          <p:attrName>style.visibility</p:attrName>
                                        </p:attrNameLst>
                                      </p:cBhvr>
                                      <p:to>
                                        <p:strVal val="visible"/>
                                      </p:to>
                                    </p:set>
                                    <p:anim calcmode="lin" valueType="num">
                                      <p:cBhvr>
                                        <p:cTn id="51" dur="500" fill="hold"/>
                                        <p:tgtEl>
                                          <p:spTgt spid="7242"/>
                                        </p:tgtEl>
                                        <p:attrNameLst>
                                          <p:attrName>ppt_x</p:attrName>
                                        </p:attrNameLst>
                                      </p:cBhvr>
                                      <p:tavLst>
                                        <p:tav tm="0">
                                          <p:val>
                                            <p:strVal val="#ppt_x-#ppt_w/2"/>
                                          </p:val>
                                        </p:tav>
                                        <p:tav tm="100000">
                                          <p:val>
                                            <p:strVal val="#ppt_x"/>
                                          </p:val>
                                        </p:tav>
                                      </p:tavLst>
                                    </p:anim>
                                    <p:anim calcmode="lin" valueType="num">
                                      <p:cBhvr>
                                        <p:cTn id="52" dur="500" fill="hold"/>
                                        <p:tgtEl>
                                          <p:spTgt spid="7242"/>
                                        </p:tgtEl>
                                        <p:attrNameLst>
                                          <p:attrName>ppt_y</p:attrName>
                                        </p:attrNameLst>
                                      </p:cBhvr>
                                      <p:tavLst>
                                        <p:tav tm="0">
                                          <p:val>
                                            <p:strVal val="#ppt_y"/>
                                          </p:val>
                                        </p:tav>
                                        <p:tav tm="100000">
                                          <p:val>
                                            <p:strVal val="#ppt_y"/>
                                          </p:val>
                                        </p:tav>
                                      </p:tavLst>
                                    </p:anim>
                                    <p:anim calcmode="lin" valueType="num">
                                      <p:cBhvr>
                                        <p:cTn id="53" dur="500" fill="hold"/>
                                        <p:tgtEl>
                                          <p:spTgt spid="7242"/>
                                        </p:tgtEl>
                                        <p:attrNameLst>
                                          <p:attrName>ppt_w</p:attrName>
                                        </p:attrNameLst>
                                      </p:cBhvr>
                                      <p:tavLst>
                                        <p:tav tm="0">
                                          <p:val>
                                            <p:fltVal val="0"/>
                                          </p:val>
                                        </p:tav>
                                        <p:tav tm="100000">
                                          <p:val>
                                            <p:strVal val="#ppt_w"/>
                                          </p:val>
                                        </p:tav>
                                      </p:tavLst>
                                    </p:anim>
                                    <p:anim calcmode="lin" valueType="num">
                                      <p:cBhvr>
                                        <p:cTn id="54" dur="500" fill="hold"/>
                                        <p:tgtEl>
                                          <p:spTgt spid="724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6" grpId="0" autoUpdateAnimBg="0"/>
      <p:bldP spid="7191" grpId="0" build="p" autoUpdateAnimBg="0"/>
      <p:bldP spid="7240" grpId="0" animBg="1"/>
      <p:bldP spid="7241" grpId="0" animBg="1" autoUpdateAnimBg="0"/>
      <p:bldP spid="7242" grpId="0" animBg="1" autoUpdateAnimBg="0"/>
      <p:bldP spid="724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27" name="Text Box 23"/>
          <p:cNvSpPr txBox="1">
            <a:spLocks noChangeArrowheads="1"/>
          </p:cNvSpPr>
          <p:nvPr/>
        </p:nvSpPr>
        <p:spPr bwMode="auto">
          <a:xfrm>
            <a:off x="522990" y="629484"/>
            <a:ext cx="100631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t>（2）</a:t>
            </a:r>
            <a:r>
              <a:rPr lang="zh-CN" altLang="en-US" sz="4000" b="1" dirty="0">
                <a:latin typeface="宋体" panose="02010600030101010101" pitchFamily="2" charset="-122"/>
              </a:rPr>
              <a:t>轮廓</a:t>
            </a:r>
            <a:r>
              <a:rPr lang="zh-CN" altLang="en-US" sz="4000" b="1" dirty="0">
                <a:solidFill>
                  <a:srgbClr val="FF0000"/>
                </a:solidFill>
                <a:latin typeface="宋体" panose="02010600030101010101" pitchFamily="2" charset="-122"/>
              </a:rPr>
              <a:t>算术平均中线</a:t>
            </a:r>
            <a:r>
              <a:rPr lang="zh-CN" altLang="en-US" sz="4000" b="1" dirty="0"/>
              <a:t>—</a:t>
            </a:r>
          </a:p>
        </p:txBody>
      </p:sp>
      <p:grpSp>
        <p:nvGrpSpPr>
          <p:cNvPr id="72732" name="Group 28"/>
          <p:cNvGrpSpPr/>
          <p:nvPr/>
        </p:nvGrpSpPr>
        <p:grpSpPr bwMode="auto">
          <a:xfrm>
            <a:off x="1980260" y="4710113"/>
            <a:ext cx="11128375" cy="4579937"/>
            <a:chOff x="722" y="1775"/>
            <a:chExt cx="4206" cy="1731"/>
          </a:xfrm>
        </p:grpSpPr>
        <p:sp>
          <p:nvSpPr>
            <p:cNvPr id="15389" name="Line 11"/>
            <p:cNvSpPr>
              <a:spLocks noChangeShapeType="1"/>
            </p:cNvSpPr>
            <p:nvPr/>
          </p:nvSpPr>
          <p:spPr bwMode="auto">
            <a:xfrm>
              <a:off x="4397" y="2596"/>
              <a:ext cx="0" cy="859"/>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5390" name="Line 5"/>
            <p:cNvSpPr>
              <a:spLocks noChangeShapeType="1"/>
            </p:cNvSpPr>
            <p:nvPr/>
          </p:nvSpPr>
          <p:spPr bwMode="auto">
            <a:xfrm>
              <a:off x="750" y="2673"/>
              <a:ext cx="3840" cy="0"/>
            </a:xfrm>
            <a:prstGeom prst="line">
              <a:avLst/>
            </a:prstGeom>
            <a:noFill/>
            <a:ln w="381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5391" name="Line 6"/>
            <p:cNvSpPr>
              <a:spLocks noChangeShapeType="1"/>
            </p:cNvSpPr>
            <p:nvPr/>
          </p:nvSpPr>
          <p:spPr bwMode="auto">
            <a:xfrm>
              <a:off x="869" y="1815"/>
              <a:ext cx="0" cy="1691"/>
            </a:xfrm>
            <a:prstGeom prst="line">
              <a:avLst/>
            </a:prstGeom>
            <a:noFill/>
            <a:ln w="38100">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5392" name="Text Box 8"/>
            <p:cNvSpPr txBox="1">
              <a:spLocks noChangeArrowheads="1"/>
            </p:cNvSpPr>
            <p:nvPr/>
          </p:nvSpPr>
          <p:spPr bwMode="auto">
            <a:xfrm>
              <a:off x="4453" y="2643"/>
              <a:ext cx="475"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300" i="1"/>
                <a:t>X</a:t>
              </a:r>
            </a:p>
          </p:txBody>
        </p:sp>
        <p:sp>
          <p:nvSpPr>
            <p:cNvPr id="15393" name="Text Box 9"/>
            <p:cNvSpPr txBox="1">
              <a:spLocks noChangeArrowheads="1"/>
            </p:cNvSpPr>
            <p:nvPr/>
          </p:nvSpPr>
          <p:spPr bwMode="auto">
            <a:xfrm>
              <a:off x="920" y="1775"/>
              <a:ext cx="744"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300" i="1"/>
                <a:t>Z</a:t>
              </a:r>
              <a:r>
                <a:rPr lang="en-US" altLang="zh-CN" sz="5300"/>
                <a:t>(</a:t>
              </a:r>
              <a:r>
                <a:rPr lang="en-US" altLang="zh-CN" sz="5300" i="1"/>
                <a:t>x</a:t>
              </a:r>
              <a:r>
                <a:rPr lang="en-US" altLang="zh-CN" sz="5300"/>
                <a:t>)</a:t>
              </a:r>
            </a:p>
          </p:txBody>
        </p:sp>
        <p:sp>
          <p:nvSpPr>
            <p:cNvPr id="15394" name="Line 12"/>
            <p:cNvSpPr>
              <a:spLocks noChangeShapeType="1"/>
            </p:cNvSpPr>
            <p:nvPr/>
          </p:nvSpPr>
          <p:spPr bwMode="auto">
            <a:xfrm>
              <a:off x="869" y="3339"/>
              <a:ext cx="3519"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5395" name="Text Box 13"/>
            <p:cNvSpPr txBox="1">
              <a:spLocks noChangeArrowheads="1"/>
            </p:cNvSpPr>
            <p:nvPr/>
          </p:nvSpPr>
          <p:spPr bwMode="auto">
            <a:xfrm>
              <a:off x="2129" y="2990"/>
              <a:ext cx="490" cy="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300" i="1"/>
                <a:t>lr</a:t>
              </a:r>
            </a:p>
          </p:txBody>
        </p:sp>
        <p:sp>
          <p:nvSpPr>
            <p:cNvPr id="15396" name="Freeform 27"/>
            <p:cNvSpPr/>
            <p:nvPr/>
          </p:nvSpPr>
          <p:spPr bwMode="auto">
            <a:xfrm>
              <a:off x="722" y="2213"/>
              <a:ext cx="3822" cy="996"/>
            </a:xfrm>
            <a:custGeom>
              <a:avLst/>
              <a:gdLst>
                <a:gd name="T0" fmla="*/ 101 w 3822"/>
                <a:gd name="T1" fmla="*/ 557 h 996"/>
                <a:gd name="T2" fmla="*/ 128 w 3822"/>
                <a:gd name="T3" fmla="*/ 466 h 996"/>
                <a:gd name="T4" fmla="*/ 247 w 3822"/>
                <a:gd name="T5" fmla="*/ 283 h 996"/>
                <a:gd name="T6" fmla="*/ 311 w 3822"/>
                <a:gd name="T7" fmla="*/ 246 h 996"/>
                <a:gd name="T8" fmla="*/ 467 w 3822"/>
                <a:gd name="T9" fmla="*/ 658 h 996"/>
                <a:gd name="T10" fmla="*/ 585 w 3822"/>
                <a:gd name="T11" fmla="*/ 713 h 996"/>
                <a:gd name="T12" fmla="*/ 750 w 3822"/>
                <a:gd name="T13" fmla="*/ 649 h 996"/>
                <a:gd name="T14" fmla="*/ 723 w 3822"/>
                <a:gd name="T15" fmla="*/ 512 h 996"/>
                <a:gd name="T16" fmla="*/ 768 w 3822"/>
                <a:gd name="T17" fmla="*/ 292 h 996"/>
                <a:gd name="T18" fmla="*/ 960 w 3822"/>
                <a:gd name="T19" fmla="*/ 109 h 996"/>
                <a:gd name="T20" fmla="*/ 1043 w 3822"/>
                <a:gd name="T21" fmla="*/ 384 h 996"/>
                <a:gd name="T22" fmla="*/ 1116 w 3822"/>
                <a:gd name="T23" fmla="*/ 941 h 996"/>
                <a:gd name="T24" fmla="*/ 1244 w 3822"/>
                <a:gd name="T25" fmla="*/ 758 h 996"/>
                <a:gd name="T26" fmla="*/ 1344 w 3822"/>
                <a:gd name="T27" fmla="*/ 621 h 996"/>
                <a:gd name="T28" fmla="*/ 1509 w 3822"/>
                <a:gd name="T29" fmla="*/ 438 h 996"/>
                <a:gd name="T30" fmla="*/ 1609 w 3822"/>
                <a:gd name="T31" fmla="*/ 274 h 996"/>
                <a:gd name="T32" fmla="*/ 1737 w 3822"/>
                <a:gd name="T33" fmla="*/ 0 h 996"/>
                <a:gd name="T34" fmla="*/ 1829 w 3822"/>
                <a:gd name="T35" fmla="*/ 585 h 996"/>
                <a:gd name="T36" fmla="*/ 1902 w 3822"/>
                <a:gd name="T37" fmla="*/ 676 h 996"/>
                <a:gd name="T38" fmla="*/ 2057 w 3822"/>
                <a:gd name="T39" fmla="*/ 630 h 996"/>
                <a:gd name="T40" fmla="*/ 2076 w 3822"/>
                <a:gd name="T41" fmla="*/ 475 h 996"/>
                <a:gd name="T42" fmla="*/ 2103 w 3822"/>
                <a:gd name="T43" fmla="*/ 164 h 996"/>
                <a:gd name="T44" fmla="*/ 2213 w 3822"/>
                <a:gd name="T45" fmla="*/ 329 h 996"/>
                <a:gd name="T46" fmla="*/ 2341 w 3822"/>
                <a:gd name="T47" fmla="*/ 896 h 996"/>
                <a:gd name="T48" fmla="*/ 2496 w 3822"/>
                <a:gd name="T49" fmla="*/ 996 h 996"/>
                <a:gd name="T50" fmla="*/ 2579 w 3822"/>
                <a:gd name="T51" fmla="*/ 731 h 996"/>
                <a:gd name="T52" fmla="*/ 2643 w 3822"/>
                <a:gd name="T53" fmla="*/ 594 h 996"/>
                <a:gd name="T54" fmla="*/ 2725 w 3822"/>
                <a:gd name="T55" fmla="*/ 402 h 996"/>
                <a:gd name="T56" fmla="*/ 2825 w 3822"/>
                <a:gd name="T57" fmla="*/ 201 h 996"/>
                <a:gd name="T58" fmla="*/ 2899 w 3822"/>
                <a:gd name="T59" fmla="*/ 164 h 996"/>
                <a:gd name="T60" fmla="*/ 3017 w 3822"/>
                <a:gd name="T61" fmla="*/ 201 h 996"/>
                <a:gd name="T62" fmla="*/ 3155 w 3822"/>
                <a:gd name="T63" fmla="*/ 301 h 996"/>
                <a:gd name="T64" fmla="*/ 3255 w 3822"/>
                <a:gd name="T65" fmla="*/ 932 h 996"/>
                <a:gd name="T66" fmla="*/ 3438 w 3822"/>
                <a:gd name="T67" fmla="*/ 832 h 996"/>
                <a:gd name="T68" fmla="*/ 3539 w 3822"/>
                <a:gd name="T69" fmla="*/ 630 h 996"/>
                <a:gd name="T70" fmla="*/ 3648 w 3822"/>
                <a:gd name="T71" fmla="*/ 502 h 996"/>
                <a:gd name="T72" fmla="*/ 3776 w 3822"/>
                <a:gd name="T73" fmla="*/ 274 h 9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3822" h="996">
                  <a:moveTo>
                    <a:pt x="0" y="566"/>
                  </a:moveTo>
                  <a:cubicBezTo>
                    <a:pt x="34" y="563"/>
                    <a:pt x="70" y="570"/>
                    <a:pt x="101" y="557"/>
                  </a:cubicBezTo>
                  <a:cubicBezTo>
                    <a:pt x="112" y="552"/>
                    <a:pt x="106" y="533"/>
                    <a:pt x="110" y="521"/>
                  </a:cubicBezTo>
                  <a:cubicBezTo>
                    <a:pt x="115" y="503"/>
                    <a:pt x="122" y="484"/>
                    <a:pt x="128" y="466"/>
                  </a:cubicBezTo>
                  <a:cubicBezTo>
                    <a:pt x="134" y="446"/>
                    <a:pt x="195" y="409"/>
                    <a:pt x="211" y="393"/>
                  </a:cubicBezTo>
                  <a:cubicBezTo>
                    <a:pt x="223" y="356"/>
                    <a:pt x="235" y="320"/>
                    <a:pt x="247" y="283"/>
                  </a:cubicBezTo>
                  <a:cubicBezTo>
                    <a:pt x="250" y="274"/>
                    <a:pt x="266" y="277"/>
                    <a:pt x="275" y="274"/>
                  </a:cubicBezTo>
                  <a:cubicBezTo>
                    <a:pt x="296" y="209"/>
                    <a:pt x="282" y="203"/>
                    <a:pt x="311" y="246"/>
                  </a:cubicBezTo>
                  <a:cubicBezTo>
                    <a:pt x="315" y="309"/>
                    <a:pt x="285" y="415"/>
                    <a:pt x="357" y="438"/>
                  </a:cubicBezTo>
                  <a:cubicBezTo>
                    <a:pt x="381" y="511"/>
                    <a:pt x="399" y="614"/>
                    <a:pt x="467" y="658"/>
                  </a:cubicBezTo>
                  <a:cubicBezTo>
                    <a:pt x="481" y="701"/>
                    <a:pt x="506" y="717"/>
                    <a:pt x="549" y="731"/>
                  </a:cubicBezTo>
                  <a:cubicBezTo>
                    <a:pt x="561" y="725"/>
                    <a:pt x="572" y="717"/>
                    <a:pt x="585" y="713"/>
                  </a:cubicBezTo>
                  <a:cubicBezTo>
                    <a:pt x="600" y="708"/>
                    <a:pt x="616" y="710"/>
                    <a:pt x="631" y="704"/>
                  </a:cubicBezTo>
                  <a:cubicBezTo>
                    <a:pt x="673" y="688"/>
                    <a:pt x="705" y="660"/>
                    <a:pt x="750" y="649"/>
                  </a:cubicBezTo>
                  <a:cubicBezTo>
                    <a:pt x="763" y="608"/>
                    <a:pt x="745" y="579"/>
                    <a:pt x="732" y="539"/>
                  </a:cubicBezTo>
                  <a:cubicBezTo>
                    <a:pt x="729" y="530"/>
                    <a:pt x="726" y="521"/>
                    <a:pt x="723" y="512"/>
                  </a:cubicBezTo>
                  <a:cubicBezTo>
                    <a:pt x="720" y="503"/>
                    <a:pt x="713" y="484"/>
                    <a:pt x="713" y="484"/>
                  </a:cubicBezTo>
                  <a:cubicBezTo>
                    <a:pt x="717" y="429"/>
                    <a:pt x="698" y="315"/>
                    <a:pt x="768" y="292"/>
                  </a:cubicBezTo>
                  <a:cubicBezTo>
                    <a:pt x="811" y="251"/>
                    <a:pt x="865" y="257"/>
                    <a:pt x="915" y="210"/>
                  </a:cubicBezTo>
                  <a:cubicBezTo>
                    <a:pt x="929" y="169"/>
                    <a:pt x="932" y="139"/>
                    <a:pt x="960" y="109"/>
                  </a:cubicBezTo>
                  <a:cubicBezTo>
                    <a:pt x="975" y="154"/>
                    <a:pt x="979" y="197"/>
                    <a:pt x="1006" y="237"/>
                  </a:cubicBezTo>
                  <a:cubicBezTo>
                    <a:pt x="1018" y="287"/>
                    <a:pt x="1034" y="333"/>
                    <a:pt x="1043" y="384"/>
                  </a:cubicBezTo>
                  <a:cubicBezTo>
                    <a:pt x="1049" y="533"/>
                    <a:pt x="1050" y="585"/>
                    <a:pt x="1079" y="704"/>
                  </a:cubicBezTo>
                  <a:cubicBezTo>
                    <a:pt x="1082" y="779"/>
                    <a:pt x="1055" y="883"/>
                    <a:pt x="1116" y="941"/>
                  </a:cubicBezTo>
                  <a:cubicBezTo>
                    <a:pt x="1159" y="927"/>
                    <a:pt x="1189" y="920"/>
                    <a:pt x="1225" y="896"/>
                  </a:cubicBezTo>
                  <a:cubicBezTo>
                    <a:pt x="1256" y="810"/>
                    <a:pt x="1203" y="964"/>
                    <a:pt x="1244" y="758"/>
                  </a:cubicBezTo>
                  <a:cubicBezTo>
                    <a:pt x="1246" y="747"/>
                    <a:pt x="1258" y="741"/>
                    <a:pt x="1262" y="731"/>
                  </a:cubicBezTo>
                  <a:cubicBezTo>
                    <a:pt x="1292" y="662"/>
                    <a:pt x="1266" y="640"/>
                    <a:pt x="1344" y="621"/>
                  </a:cubicBezTo>
                  <a:cubicBezTo>
                    <a:pt x="1386" y="593"/>
                    <a:pt x="1402" y="580"/>
                    <a:pt x="1436" y="548"/>
                  </a:cubicBezTo>
                  <a:cubicBezTo>
                    <a:pt x="1450" y="505"/>
                    <a:pt x="1478" y="471"/>
                    <a:pt x="1509" y="438"/>
                  </a:cubicBezTo>
                  <a:cubicBezTo>
                    <a:pt x="1527" y="383"/>
                    <a:pt x="1515" y="363"/>
                    <a:pt x="1564" y="347"/>
                  </a:cubicBezTo>
                  <a:cubicBezTo>
                    <a:pt x="1574" y="317"/>
                    <a:pt x="1591" y="301"/>
                    <a:pt x="1609" y="274"/>
                  </a:cubicBezTo>
                  <a:cubicBezTo>
                    <a:pt x="1621" y="210"/>
                    <a:pt x="1635" y="173"/>
                    <a:pt x="1683" y="128"/>
                  </a:cubicBezTo>
                  <a:cubicBezTo>
                    <a:pt x="1700" y="74"/>
                    <a:pt x="1680" y="19"/>
                    <a:pt x="1737" y="0"/>
                  </a:cubicBezTo>
                  <a:cubicBezTo>
                    <a:pt x="1748" y="73"/>
                    <a:pt x="1750" y="116"/>
                    <a:pt x="1811" y="155"/>
                  </a:cubicBezTo>
                  <a:cubicBezTo>
                    <a:pt x="1864" y="313"/>
                    <a:pt x="1801" y="117"/>
                    <a:pt x="1829" y="585"/>
                  </a:cubicBezTo>
                  <a:cubicBezTo>
                    <a:pt x="1830" y="604"/>
                    <a:pt x="1841" y="622"/>
                    <a:pt x="1847" y="640"/>
                  </a:cubicBezTo>
                  <a:cubicBezTo>
                    <a:pt x="1854" y="661"/>
                    <a:pt x="1902" y="676"/>
                    <a:pt x="1902" y="676"/>
                  </a:cubicBezTo>
                  <a:cubicBezTo>
                    <a:pt x="1951" y="668"/>
                    <a:pt x="1947" y="672"/>
                    <a:pt x="1984" y="658"/>
                  </a:cubicBezTo>
                  <a:cubicBezTo>
                    <a:pt x="2008" y="649"/>
                    <a:pt x="2057" y="630"/>
                    <a:pt x="2057" y="630"/>
                  </a:cubicBezTo>
                  <a:cubicBezTo>
                    <a:pt x="2104" y="585"/>
                    <a:pt x="2061" y="639"/>
                    <a:pt x="2057" y="594"/>
                  </a:cubicBezTo>
                  <a:cubicBezTo>
                    <a:pt x="2053" y="539"/>
                    <a:pt x="2062" y="517"/>
                    <a:pt x="2076" y="475"/>
                  </a:cubicBezTo>
                  <a:cubicBezTo>
                    <a:pt x="2079" y="390"/>
                    <a:pt x="2078" y="304"/>
                    <a:pt x="2085" y="219"/>
                  </a:cubicBezTo>
                  <a:cubicBezTo>
                    <a:pt x="2087" y="200"/>
                    <a:pt x="2103" y="164"/>
                    <a:pt x="2103" y="164"/>
                  </a:cubicBezTo>
                  <a:cubicBezTo>
                    <a:pt x="2154" y="180"/>
                    <a:pt x="2143" y="211"/>
                    <a:pt x="2158" y="256"/>
                  </a:cubicBezTo>
                  <a:cubicBezTo>
                    <a:pt x="2167" y="285"/>
                    <a:pt x="2200" y="302"/>
                    <a:pt x="2213" y="329"/>
                  </a:cubicBezTo>
                  <a:cubicBezTo>
                    <a:pt x="2239" y="382"/>
                    <a:pt x="2253" y="444"/>
                    <a:pt x="2286" y="493"/>
                  </a:cubicBezTo>
                  <a:cubicBezTo>
                    <a:pt x="2286" y="494"/>
                    <a:pt x="2257" y="822"/>
                    <a:pt x="2341" y="896"/>
                  </a:cubicBezTo>
                  <a:cubicBezTo>
                    <a:pt x="2366" y="918"/>
                    <a:pt x="2396" y="932"/>
                    <a:pt x="2423" y="950"/>
                  </a:cubicBezTo>
                  <a:cubicBezTo>
                    <a:pt x="2450" y="968"/>
                    <a:pt x="2464" y="985"/>
                    <a:pt x="2496" y="996"/>
                  </a:cubicBezTo>
                  <a:cubicBezTo>
                    <a:pt x="2506" y="957"/>
                    <a:pt x="2520" y="947"/>
                    <a:pt x="2542" y="914"/>
                  </a:cubicBezTo>
                  <a:cubicBezTo>
                    <a:pt x="2547" y="845"/>
                    <a:pt x="2529" y="778"/>
                    <a:pt x="2579" y="731"/>
                  </a:cubicBezTo>
                  <a:cubicBezTo>
                    <a:pt x="2594" y="687"/>
                    <a:pt x="2600" y="656"/>
                    <a:pt x="2633" y="621"/>
                  </a:cubicBezTo>
                  <a:cubicBezTo>
                    <a:pt x="2636" y="612"/>
                    <a:pt x="2639" y="603"/>
                    <a:pt x="2643" y="594"/>
                  </a:cubicBezTo>
                  <a:cubicBezTo>
                    <a:pt x="2648" y="584"/>
                    <a:pt x="2657" y="576"/>
                    <a:pt x="2661" y="566"/>
                  </a:cubicBezTo>
                  <a:cubicBezTo>
                    <a:pt x="2685" y="511"/>
                    <a:pt x="2691" y="453"/>
                    <a:pt x="2725" y="402"/>
                  </a:cubicBezTo>
                  <a:cubicBezTo>
                    <a:pt x="2739" y="358"/>
                    <a:pt x="2746" y="307"/>
                    <a:pt x="2780" y="274"/>
                  </a:cubicBezTo>
                  <a:cubicBezTo>
                    <a:pt x="2806" y="194"/>
                    <a:pt x="2779" y="238"/>
                    <a:pt x="2825" y="201"/>
                  </a:cubicBezTo>
                  <a:cubicBezTo>
                    <a:pt x="2832" y="195"/>
                    <a:pt x="2836" y="186"/>
                    <a:pt x="2844" y="182"/>
                  </a:cubicBezTo>
                  <a:cubicBezTo>
                    <a:pt x="2861" y="173"/>
                    <a:pt x="2899" y="164"/>
                    <a:pt x="2899" y="164"/>
                  </a:cubicBezTo>
                  <a:cubicBezTo>
                    <a:pt x="2935" y="167"/>
                    <a:pt x="2973" y="162"/>
                    <a:pt x="3008" y="173"/>
                  </a:cubicBezTo>
                  <a:cubicBezTo>
                    <a:pt x="3017" y="176"/>
                    <a:pt x="3014" y="192"/>
                    <a:pt x="3017" y="201"/>
                  </a:cubicBezTo>
                  <a:cubicBezTo>
                    <a:pt x="3032" y="244"/>
                    <a:pt x="3045" y="284"/>
                    <a:pt x="3054" y="329"/>
                  </a:cubicBezTo>
                  <a:cubicBezTo>
                    <a:pt x="3124" y="305"/>
                    <a:pt x="3090" y="314"/>
                    <a:pt x="3155" y="301"/>
                  </a:cubicBezTo>
                  <a:cubicBezTo>
                    <a:pt x="3225" y="196"/>
                    <a:pt x="3174" y="262"/>
                    <a:pt x="3182" y="557"/>
                  </a:cubicBezTo>
                  <a:cubicBezTo>
                    <a:pt x="3192" y="904"/>
                    <a:pt x="3083" y="889"/>
                    <a:pt x="3255" y="932"/>
                  </a:cubicBezTo>
                  <a:cubicBezTo>
                    <a:pt x="3292" y="929"/>
                    <a:pt x="3329" y="930"/>
                    <a:pt x="3365" y="923"/>
                  </a:cubicBezTo>
                  <a:cubicBezTo>
                    <a:pt x="3384" y="919"/>
                    <a:pt x="3425" y="851"/>
                    <a:pt x="3438" y="832"/>
                  </a:cubicBezTo>
                  <a:cubicBezTo>
                    <a:pt x="3452" y="788"/>
                    <a:pt x="3459" y="758"/>
                    <a:pt x="3484" y="722"/>
                  </a:cubicBezTo>
                  <a:cubicBezTo>
                    <a:pt x="3502" y="666"/>
                    <a:pt x="3490" y="648"/>
                    <a:pt x="3539" y="630"/>
                  </a:cubicBezTo>
                  <a:cubicBezTo>
                    <a:pt x="3552" y="591"/>
                    <a:pt x="3586" y="579"/>
                    <a:pt x="3612" y="548"/>
                  </a:cubicBezTo>
                  <a:cubicBezTo>
                    <a:pt x="3675" y="471"/>
                    <a:pt x="3590" y="563"/>
                    <a:pt x="3648" y="502"/>
                  </a:cubicBezTo>
                  <a:cubicBezTo>
                    <a:pt x="3656" y="454"/>
                    <a:pt x="3660" y="410"/>
                    <a:pt x="3694" y="374"/>
                  </a:cubicBezTo>
                  <a:cubicBezTo>
                    <a:pt x="3707" y="335"/>
                    <a:pt x="3741" y="297"/>
                    <a:pt x="3776" y="274"/>
                  </a:cubicBezTo>
                  <a:cubicBezTo>
                    <a:pt x="3786" y="243"/>
                    <a:pt x="3793" y="233"/>
                    <a:pt x="3822" y="219"/>
                  </a:cubicBezTo>
                </a:path>
              </a:pathLst>
            </a:custGeom>
            <a:noFill/>
            <a:ln w="571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grpSp>
      <p:sp>
        <p:nvSpPr>
          <p:cNvPr id="72733" name="Line 29"/>
          <p:cNvSpPr>
            <a:spLocks noChangeShapeType="1"/>
          </p:cNvSpPr>
          <p:nvPr/>
        </p:nvSpPr>
        <p:spPr bwMode="auto">
          <a:xfrm>
            <a:off x="2292660" y="7081838"/>
            <a:ext cx="9410700" cy="0"/>
          </a:xfrm>
          <a:prstGeom prst="line">
            <a:avLst/>
          </a:prstGeom>
          <a:noFill/>
          <a:ln w="571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736" name="Group 32"/>
          <p:cNvGrpSpPr/>
          <p:nvPr/>
        </p:nvGrpSpPr>
        <p:grpSpPr bwMode="auto">
          <a:xfrm>
            <a:off x="2400300" y="5710238"/>
            <a:ext cx="1477963" cy="1149350"/>
            <a:chOff x="1006" y="2108"/>
            <a:chExt cx="559" cy="434"/>
          </a:xfrm>
        </p:grpSpPr>
        <p:sp>
          <p:nvSpPr>
            <p:cNvPr id="15387" name="Line 30"/>
            <p:cNvSpPr>
              <a:spLocks noChangeShapeType="1"/>
            </p:cNvSpPr>
            <p:nvPr/>
          </p:nvSpPr>
          <p:spPr bwMode="auto">
            <a:xfrm flipV="1">
              <a:off x="1006" y="2331"/>
              <a:ext cx="247" cy="21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p>
              <a:endParaRPr lang="zh-CN" altLang="en-US"/>
            </a:p>
          </p:txBody>
        </p:sp>
        <p:sp>
          <p:nvSpPr>
            <p:cNvPr id="15388" name="Text Box 31"/>
            <p:cNvSpPr txBox="1">
              <a:spLocks noChangeArrowheads="1"/>
            </p:cNvSpPr>
            <p:nvPr/>
          </p:nvSpPr>
          <p:spPr bwMode="auto">
            <a:xfrm>
              <a:off x="1268" y="2108"/>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i="1"/>
                <a:t>F</a:t>
              </a:r>
              <a:r>
                <a:rPr lang="en-US" altLang="zh-CN" sz="4000" baseline="-25000"/>
                <a:t>1</a:t>
              </a:r>
            </a:p>
          </p:txBody>
        </p:sp>
      </p:grpSp>
      <p:grpSp>
        <p:nvGrpSpPr>
          <p:cNvPr id="72738" name="Group 34"/>
          <p:cNvGrpSpPr/>
          <p:nvPr/>
        </p:nvGrpSpPr>
        <p:grpSpPr bwMode="auto">
          <a:xfrm>
            <a:off x="7358063" y="5662613"/>
            <a:ext cx="1404937" cy="1149350"/>
            <a:chOff x="1006" y="2108"/>
            <a:chExt cx="531" cy="434"/>
          </a:xfrm>
        </p:grpSpPr>
        <p:sp>
          <p:nvSpPr>
            <p:cNvPr id="15385" name="Line 35"/>
            <p:cNvSpPr>
              <a:spLocks noChangeShapeType="1"/>
            </p:cNvSpPr>
            <p:nvPr/>
          </p:nvSpPr>
          <p:spPr bwMode="auto">
            <a:xfrm flipV="1">
              <a:off x="1006" y="2331"/>
              <a:ext cx="247" cy="21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p>
              <a:endParaRPr lang="zh-CN" altLang="en-US"/>
            </a:p>
          </p:txBody>
        </p:sp>
        <p:sp>
          <p:nvSpPr>
            <p:cNvPr id="15386" name="Text Box 36"/>
            <p:cNvSpPr txBox="1">
              <a:spLocks noChangeArrowheads="1"/>
            </p:cNvSpPr>
            <p:nvPr/>
          </p:nvSpPr>
          <p:spPr bwMode="auto">
            <a:xfrm>
              <a:off x="1268" y="2108"/>
              <a:ext cx="26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i="1"/>
                <a:t>F</a:t>
              </a:r>
              <a:r>
                <a:rPr lang="en-US" altLang="zh-CN" sz="4000" i="1" baseline="-25000"/>
                <a:t>i</a:t>
              </a:r>
            </a:p>
          </p:txBody>
        </p:sp>
      </p:grpSp>
      <p:grpSp>
        <p:nvGrpSpPr>
          <p:cNvPr id="72741" name="Group 37"/>
          <p:cNvGrpSpPr/>
          <p:nvPr/>
        </p:nvGrpSpPr>
        <p:grpSpPr bwMode="auto">
          <a:xfrm>
            <a:off x="4143375" y="5538788"/>
            <a:ext cx="1479550" cy="1147762"/>
            <a:chOff x="1006" y="2108"/>
            <a:chExt cx="559" cy="434"/>
          </a:xfrm>
        </p:grpSpPr>
        <p:sp>
          <p:nvSpPr>
            <p:cNvPr id="15383" name="Line 38"/>
            <p:cNvSpPr>
              <a:spLocks noChangeShapeType="1"/>
            </p:cNvSpPr>
            <p:nvPr/>
          </p:nvSpPr>
          <p:spPr bwMode="auto">
            <a:xfrm flipV="1">
              <a:off x="1006" y="2331"/>
              <a:ext cx="247" cy="21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p>
              <a:endParaRPr lang="zh-CN" altLang="en-US"/>
            </a:p>
          </p:txBody>
        </p:sp>
        <p:sp>
          <p:nvSpPr>
            <p:cNvPr id="15384" name="Text Box 39"/>
            <p:cNvSpPr txBox="1">
              <a:spLocks noChangeArrowheads="1"/>
            </p:cNvSpPr>
            <p:nvPr/>
          </p:nvSpPr>
          <p:spPr bwMode="auto">
            <a:xfrm>
              <a:off x="1268" y="2108"/>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i="1"/>
                <a:t>F</a:t>
              </a:r>
              <a:r>
                <a:rPr lang="en-US" altLang="zh-CN" sz="4000" baseline="-25000"/>
                <a:t>2</a:t>
              </a:r>
            </a:p>
          </p:txBody>
        </p:sp>
      </p:grpSp>
      <p:graphicFrame>
        <p:nvGraphicFramePr>
          <p:cNvPr id="72744" name="Object 40"/>
          <p:cNvGraphicFramePr>
            <a:graphicFrameLocks noChangeAspect="1"/>
          </p:cNvGraphicFramePr>
          <p:nvPr/>
        </p:nvGraphicFramePr>
        <p:xfrm>
          <a:off x="1359421" y="2887611"/>
          <a:ext cx="6096000" cy="1428750"/>
        </p:xfrm>
        <a:graphic>
          <a:graphicData uri="http://schemas.openxmlformats.org/presentationml/2006/ole">
            <mc:AlternateContent xmlns:mc="http://schemas.openxmlformats.org/markup-compatibility/2006">
              <mc:Choice xmlns:v="urn:schemas-microsoft-com:vml" Requires="v">
                <p:oleObj spid="_x0000_s25617" name="公式" r:id="rId3" imgW="48463200" imgH="10363200" progId="">
                  <p:embed/>
                </p:oleObj>
              </mc:Choice>
              <mc:Fallback>
                <p:oleObj name="公式" r:id="rId3" imgW="48463200" imgH="10363200" progId="">
                  <p:embed/>
                  <p:pic>
                    <p:nvPicPr>
                      <p:cNvPr id="0" name="Picture 2" descr="image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9421" y="2887611"/>
                        <a:ext cx="6096000" cy="142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745" name="Object 41"/>
          <p:cNvGraphicFramePr>
            <a:graphicFrameLocks noChangeAspect="1"/>
          </p:cNvGraphicFramePr>
          <p:nvPr/>
        </p:nvGraphicFramePr>
        <p:xfrm>
          <a:off x="7510463" y="2834885"/>
          <a:ext cx="5099050" cy="1565275"/>
        </p:xfrm>
        <a:graphic>
          <a:graphicData uri="http://schemas.openxmlformats.org/presentationml/2006/ole">
            <mc:AlternateContent xmlns:mc="http://schemas.openxmlformats.org/markup-compatibility/2006">
              <mc:Choice xmlns:v="urn:schemas-microsoft-com:vml" Requires="v">
                <p:oleObj spid="_x0000_s25618" name="公式" r:id="rId5" imgW="37795200" imgH="10363200" progId="">
                  <p:embed/>
                </p:oleObj>
              </mc:Choice>
              <mc:Fallback>
                <p:oleObj name="公式" r:id="rId5" imgW="37795200" imgH="10363200" progId="">
                  <p:embed/>
                  <p:pic>
                    <p:nvPicPr>
                      <p:cNvPr id="0" name="Picture 1" descr="image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10463" y="2834885"/>
                        <a:ext cx="5099050" cy="1565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2749" name="Group 45"/>
          <p:cNvGrpSpPr/>
          <p:nvPr/>
        </p:nvGrpSpPr>
        <p:grpSpPr bwMode="auto">
          <a:xfrm>
            <a:off x="2103438" y="7499350"/>
            <a:ext cx="1092200" cy="1158875"/>
            <a:chOff x="876" y="3045"/>
            <a:chExt cx="413" cy="438"/>
          </a:xfrm>
        </p:grpSpPr>
        <p:sp>
          <p:nvSpPr>
            <p:cNvPr id="15381" name="Line 42"/>
            <p:cNvSpPr>
              <a:spLocks noChangeShapeType="1"/>
            </p:cNvSpPr>
            <p:nvPr/>
          </p:nvSpPr>
          <p:spPr bwMode="auto">
            <a:xfrm flipH="1">
              <a:off x="1115" y="3045"/>
              <a:ext cx="174" cy="21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p>
              <a:endParaRPr lang="zh-CN" altLang="en-US"/>
            </a:p>
          </p:txBody>
        </p:sp>
        <p:sp>
          <p:nvSpPr>
            <p:cNvPr id="15382" name="Text Box 44"/>
            <p:cNvSpPr txBox="1">
              <a:spLocks noChangeArrowheads="1"/>
            </p:cNvSpPr>
            <p:nvPr/>
          </p:nvSpPr>
          <p:spPr bwMode="auto">
            <a:xfrm>
              <a:off x="876" y="3155"/>
              <a:ext cx="30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S</a:t>
              </a:r>
              <a:r>
                <a:rPr lang="en-US" altLang="zh-CN" sz="4700" baseline="-25000"/>
                <a:t>1</a:t>
              </a:r>
            </a:p>
          </p:txBody>
        </p:sp>
      </p:grpSp>
      <p:grpSp>
        <p:nvGrpSpPr>
          <p:cNvPr id="72750" name="Group 46"/>
          <p:cNvGrpSpPr/>
          <p:nvPr/>
        </p:nvGrpSpPr>
        <p:grpSpPr bwMode="auto">
          <a:xfrm>
            <a:off x="3675063" y="7329488"/>
            <a:ext cx="1092200" cy="1160462"/>
            <a:chOff x="876" y="3045"/>
            <a:chExt cx="413" cy="438"/>
          </a:xfrm>
        </p:grpSpPr>
        <p:sp>
          <p:nvSpPr>
            <p:cNvPr id="15379" name="Line 47"/>
            <p:cNvSpPr>
              <a:spLocks noChangeShapeType="1"/>
            </p:cNvSpPr>
            <p:nvPr/>
          </p:nvSpPr>
          <p:spPr bwMode="auto">
            <a:xfrm flipH="1">
              <a:off x="1115" y="3045"/>
              <a:ext cx="174" cy="21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p>
              <a:endParaRPr lang="zh-CN" altLang="en-US"/>
            </a:p>
          </p:txBody>
        </p:sp>
        <p:sp>
          <p:nvSpPr>
            <p:cNvPr id="15380" name="Text Box 48"/>
            <p:cNvSpPr txBox="1">
              <a:spLocks noChangeArrowheads="1"/>
            </p:cNvSpPr>
            <p:nvPr/>
          </p:nvSpPr>
          <p:spPr bwMode="auto">
            <a:xfrm>
              <a:off x="876" y="3155"/>
              <a:ext cx="303"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S</a:t>
              </a:r>
              <a:r>
                <a:rPr lang="en-US" altLang="zh-CN" sz="4700" baseline="-25000"/>
                <a:t>2</a:t>
              </a:r>
            </a:p>
          </p:txBody>
        </p:sp>
      </p:grpSp>
      <p:grpSp>
        <p:nvGrpSpPr>
          <p:cNvPr id="72753" name="Group 49"/>
          <p:cNvGrpSpPr/>
          <p:nvPr/>
        </p:nvGrpSpPr>
        <p:grpSpPr bwMode="auto">
          <a:xfrm>
            <a:off x="6942138" y="7380288"/>
            <a:ext cx="1093787" cy="1158875"/>
            <a:chOff x="876" y="3045"/>
            <a:chExt cx="413" cy="438"/>
          </a:xfrm>
        </p:grpSpPr>
        <p:sp>
          <p:nvSpPr>
            <p:cNvPr id="15377" name="Line 50"/>
            <p:cNvSpPr>
              <a:spLocks noChangeShapeType="1"/>
            </p:cNvSpPr>
            <p:nvPr/>
          </p:nvSpPr>
          <p:spPr bwMode="auto">
            <a:xfrm flipH="1">
              <a:off x="1115" y="3045"/>
              <a:ext cx="174" cy="21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p>
              <a:endParaRPr lang="zh-CN" altLang="en-US"/>
            </a:p>
          </p:txBody>
        </p:sp>
        <p:sp>
          <p:nvSpPr>
            <p:cNvPr id="15378" name="Text Box 51"/>
            <p:cNvSpPr txBox="1">
              <a:spLocks noChangeArrowheads="1"/>
            </p:cNvSpPr>
            <p:nvPr/>
          </p:nvSpPr>
          <p:spPr bwMode="auto">
            <a:xfrm>
              <a:off x="876" y="3155"/>
              <a:ext cx="269"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S</a:t>
              </a:r>
              <a:r>
                <a:rPr lang="en-US" altLang="zh-CN" sz="4700" i="1" baseline="-25000"/>
                <a:t>j</a:t>
              </a:r>
            </a:p>
          </p:txBody>
        </p:sp>
      </p:grpSp>
      <p:sp>
        <p:nvSpPr>
          <p:cNvPr id="72756" name="AutoShape 52"/>
          <p:cNvSpPr>
            <a:spLocks noChangeArrowheads="1"/>
          </p:cNvSpPr>
          <p:nvPr/>
        </p:nvSpPr>
        <p:spPr bwMode="auto">
          <a:xfrm>
            <a:off x="10379075" y="4673600"/>
            <a:ext cx="2832100" cy="1473200"/>
          </a:xfrm>
          <a:prstGeom prst="wedgeRoundRectCallout">
            <a:avLst>
              <a:gd name="adj1" fmla="val -130046"/>
              <a:gd name="adj2" fmla="val 109157"/>
              <a:gd name="adj3" fmla="val 16667"/>
            </a:avLst>
          </a:prstGeom>
          <a:solidFill>
            <a:schemeClr val="bg1"/>
          </a:solidFill>
          <a:ln w="38100">
            <a:solidFill>
              <a:srgbClr val="FF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lstStyle/>
          <a:p>
            <a:pPr algn="ctr" defTabSz="1524000"/>
            <a:r>
              <a:rPr lang="zh-CN" altLang="en-US" sz="4000" b="1">
                <a:solidFill>
                  <a:srgbClr val="FF3300"/>
                </a:solidFill>
              </a:rPr>
              <a:t>算术平均</a:t>
            </a:r>
          </a:p>
          <a:p>
            <a:pPr algn="ctr" defTabSz="1524000"/>
            <a:r>
              <a:rPr lang="zh-CN" altLang="en-US" sz="4000" b="1">
                <a:solidFill>
                  <a:srgbClr val="FF3300"/>
                </a:solidFill>
              </a:rPr>
              <a:t>中线</a:t>
            </a:r>
          </a:p>
        </p:txBody>
      </p:sp>
      <p:sp>
        <p:nvSpPr>
          <p:cNvPr id="72757" name="Text Box 53"/>
          <p:cNvSpPr txBox="1">
            <a:spLocks noChangeArrowheads="1"/>
          </p:cNvSpPr>
          <p:nvPr/>
        </p:nvSpPr>
        <p:spPr bwMode="auto">
          <a:xfrm>
            <a:off x="725124" y="1598221"/>
            <a:ext cx="13796962" cy="148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600" b="1" dirty="0"/>
              <a:t>        在取样长度</a:t>
            </a:r>
            <a:r>
              <a:rPr lang="en-US" altLang="zh-CN" sz="3600" b="1" i="1" dirty="0"/>
              <a:t>l r </a:t>
            </a:r>
            <a:r>
              <a:rPr lang="zh-CN" altLang="en-US" sz="3600" b="1" dirty="0"/>
              <a:t>内，划分实际轮廓为上、下两部分，且使上、下两部分面积相等的</a:t>
            </a:r>
            <a:r>
              <a:rPr lang="zh-CN" altLang="en-US" sz="3600" b="1" dirty="0" smtClean="0"/>
              <a:t>线。</a:t>
            </a:r>
            <a:endParaRPr lang="zh-CN" altLang="en-US" sz="3600" b="1" dirty="0"/>
          </a:p>
        </p:txBody>
      </p:sp>
      <p:cxnSp>
        <p:nvCxnSpPr>
          <p:cNvPr id="36" name="直接连接符 35"/>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72727">
                                            <p:txEl>
                                              <p:pRg st="0" end="0"/>
                                            </p:txEl>
                                          </p:spTgt>
                                        </p:tgtEl>
                                        <p:attrNameLst>
                                          <p:attrName>style.visibility</p:attrName>
                                        </p:attrNameLst>
                                      </p:cBhvr>
                                      <p:to>
                                        <p:strVal val="visible"/>
                                      </p:to>
                                    </p:set>
                                    <p:animEffect transition="in" filter="wipe(left)">
                                      <p:cBhvr>
                                        <p:cTn id="7" dur="300"/>
                                        <p:tgtEl>
                                          <p:spTgt spid="727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2757"/>
                                        </p:tgtEl>
                                        <p:attrNameLst>
                                          <p:attrName>style.visibility</p:attrName>
                                        </p:attrNameLst>
                                      </p:cBhvr>
                                      <p:to>
                                        <p:strVal val="visible"/>
                                      </p:to>
                                    </p:set>
                                    <p:animEffect transition="in" filter="wipe(left)">
                                      <p:cBhvr>
                                        <p:cTn id="12" dur="300"/>
                                        <p:tgtEl>
                                          <p:spTgt spid="7275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72732"/>
                                        </p:tgtEl>
                                        <p:attrNameLst>
                                          <p:attrName>style.visibility</p:attrName>
                                        </p:attrNameLst>
                                      </p:cBhvr>
                                      <p:to>
                                        <p:strVal val="visible"/>
                                      </p:to>
                                    </p:set>
                                    <p:anim calcmode="lin" valueType="num">
                                      <p:cBhvr additive="base">
                                        <p:cTn id="17" dur="500" fill="hold"/>
                                        <p:tgtEl>
                                          <p:spTgt spid="72732"/>
                                        </p:tgtEl>
                                        <p:attrNameLst>
                                          <p:attrName>ppt_x</p:attrName>
                                        </p:attrNameLst>
                                      </p:cBhvr>
                                      <p:tavLst>
                                        <p:tav tm="0">
                                          <p:val>
                                            <p:strVal val="0-#ppt_w/2"/>
                                          </p:val>
                                        </p:tav>
                                        <p:tav tm="100000">
                                          <p:val>
                                            <p:strVal val="#ppt_x"/>
                                          </p:val>
                                        </p:tav>
                                      </p:tavLst>
                                    </p:anim>
                                    <p:anim calcmode="lin" valueType="num">
                                      <p:cBhvr additive="base">
                                        <p:cTn id="18" dur="500" fill="hold"/>
                                        <p:tgtEl>
                                          <p:spTgt spid="7273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72733"/>
                                        </p:tgtEl>
                                        <p:attrNameLst>
                                          <p:attrName>style.visibility</p:attrName>
                                        </p:attrNameLst>
                                      </p:cBhvr>
                                      <p:to>
                                        <p:strVal val="visible"/>
                                      </p:to>
                                    </p:set>
                                    <p:anim calcmode="lin" valueType="num">
                                      <p:cBhvr>
                                        <p:cTn id="23" dur="500" fill="hold"/>
                                        <p:tgtEl>
                                          <p:spTgt spid="72733"/>
                                        </p:tgtEl>
                                        <p:attrNameLst>
                                          <p:attrName>ppt_x</p:attrName>
                                        </p:attrNameLst>
                                      </p:cBhvr>
                                      <p:tavLst>
                                        <p:tav tm="0">
                                          <p:val>
                                            <p:strVal val="#ppt_x-#ppt_w/2"/>
                                          </p:val>
                                        </p:tav>
                                        <p:tav tm="100000">
                                          <p:val>
                                            <p:strVal val="#ppt_x"/>
                                          </p:val>
                                        </p:tav>
                                      </p:tavLst>
                                    </p:anim>
                                    <p:anim calcmode="lin" valueType="num">
                                      <p:cBhvr>
                                        <p:cTn id="24" dur="500" fill="hold"/>
                                        <p:tgtEl>
                                          <p:spTgt spid="72733"/>
                                        </p:tgtEl>
                                        <p:attrNameLst>
                                          <p:attrName>ppt_y</p:attrName>
                                        </p:attrNameLst>
                                      </p:cBhvr>
                                      <p:tavLst>
                                        <p:tav tm="0">
                                          <p:val>
                                            <p:strVal val="#ppt_y"/>
                                          </p:val>
                                        </p:tav>
                                        <p:tav tm="100000">
                                          <p:val>
                                            <p:strVal val="#ppt_y"/>
                                          </p:val>
                                        </p:tav>
                                      </p:tavLst>
                                    </p:anim>
                                    <p:anim calcmode="lin" valueType="num">
                                      <p:cBhvr>
                                        <p:cTn id="25" dur="500" fill="hold"/>
                                        <p:tgtEl>
                                          <p:spTgt spid="72733"/>
                                        </p:tgtEl>
                                        <p:attrNameLst>
                                          <p:attrName>ppt_w</p:attrName>
                                        </p:attrNameLst>
                                      </p:cBhvr>
                                      <p:tavLst>
                                        <p:tav tm="0">
                                          <p:val>
                                            <p:fltVal val="0"/>
                                          </p:val>
                                        </p:tav>
                                        <p:tav tm="100000">
                                          <p:val>
                                            <p:strVal val="#ppt_w"/>
                                          </p:val>
                                        </p:tav>
                                      </p:tavLst>
                                    </p:anim>
                                    <p:anim calcmode="lin" valueType="num">
                                      <p:cBhvr>
                                        <p:cTn id="26" dur="500" fill="hold"/>
                                        <p:tgtEl>
                                          <p:spTgt spid="72733"/>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 fill="hold" nodeType="clickEffect">
                                  <p:stCondLst>
                                    <p:cond delay="0"/>
                                  </p:stCondLst>
                                  <p:childTnLst>
                                    <p:set>
                                      <p:cBhvr>
                                        <p:cTn id="30" dur="1" fill="hold">
                                          <p:stCondLst>
                                            <p:cond delay="0"/>
                                          </p:stCondLst>
                                        </p:cTn>
                                        <p:tgtEl>
                                          <p:spTgt spid="72736"/>
                                        </p:tgtEl>
                                        <p:attrNameLst>
                                          <p:attrName>style.visibility</p:attrName>
                                        </p:attrNameLst>
                                      </p:cBhvr>
                                      <p:to>
                                        <p:strVal val="visible"/>
                                      </p:to>
                                    </p:set>
                                    <p:anim calcmode="lin" valueType="num">
                                      <p:cBhvr>
                                        <p:cTn id="31" dur="500" fill="hold"/>
                                        <p:tgtEl>
                                          <p:spTgt spid="72736"/>
                                        </p:tgtEl>
                                        <p:attrNameLst>
                                          <p:attrName>ppt_x</p:attrName>
                                        </p:attrNameLst>
                                      </p:cBhvr>
                                      <p:tavLst>
                                        <p:tav tm="0">
                                          <p:val>
                                            <p:strVal val="#ppt_x"/>
                                          </p:val>
                                        </p:tav>
                                        <p:tav tm="100000">
                                          <p:val>
                                            <p:strVal val="#ppt_x"/>
                                          </p:val>
                                        </p:tav>
                                      </p:tavLst>
                                    </p:anim>
                                    <p:anim calcmode="lin" valueType="num">
                                      <p:cBhvr>
                                        <p:cTn id="32" dur="500" fill="hold"/>
                                        <p:tgtEl>
                                          <p:spTgt spid="72736"/>
                                        </p:tgtEl>
                                        <p:attrNameLst>
                                          <p:attrName>ppt_y</p:attrName>
                                        </p:attrNameLst>
                                      </p:cBhvr>
                                      <p:tavLst>
                                        <p:tav tm="0">
                                          <p:val>
                                            <p:strVal val="#ppt_y-#ppt_h/2"/>
                                          </p:val>
                                        </p:tav>
                                        <p:tav tm="100000">
                                          <p:val>
                                            <p:strVal val="#ppt_y"/>
                                          </p:val>
                                        </p:tav>
                                      </p:tavLst>
                                    </p:anim>
                                    <p:anim calcmode="lin" valueType="num">
                                      <p:cBhvr>
                                        <p:cTn id="33" dur="500" fill="hold"/>
                                        <p:tgtEl>
                                          <p:spTgt spid="72736"/>
                                        </p:tgtEl>
                                        <p:attrNameLst>
                                          <p:attrName>ppt_w</p:attrName>
                                        </p:attrNameLst>
                                      </p:cBhvr>
                                      <p:tavLst>
                                        <p:tav tm="0">
                                          <p:val>
                                            <p:strVal val="#ppt_w"/>
                                          </p:val>
                                        </p:tav>
                                        <p:tav tm="100000">
                                          <p:val>
                                            <p:strVal val="#ppt_w"/>
                                          </p:val>
                                        </p:tav>
                                      </p:tavLst>
                                    </p:anim>
                                    <p:anim calcmode="lin" valueType="num">
                                      <p:cBhvr>
                                        <p:cTn id="34" dur="500" fill="hold"/>
                                        <p:tgtEl>
                                          <p:spTgt spid="72736"/>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1" fill="hold" nodeType="clickEffect">
                                  <p:stCondLst>
                                    <p:cond delay="0"/>
                                  </p:stCondLst>
                                  <p:childTnLst>
                                    <p:set>
                                      <p:cBhvr>
                                        <p:cTn id="38" dur="1" fill="hold">
                                          <p:stCondLst>
                                            <p:cond delay="0"/>
                                          </p:stCondLst>
                                        </p:cTn>
                                        <p:tgtEl>
                                          <p:spTgt spid="72741"/>
                                        </p:tgtEl>
                                        <p:attrNameLst>
                                          <p:attrName>style.visibility</p:attrName>
                                        </p:attrNameLst>
                                      </p:cBhvr>
                                      <p:to>
                                        <p:strVal val="visible"/>
                                      </p:to>
                                    </p:set>
                                    <p:anim calcmode="lin" valueType="num">
                                      <p:cBhvr>
                                        <p:cTn id="39" dur="500" fill="hold"/>
                                        <p:tgtEl>
                                          <p:spTgt spid="72741"/>
                                        </p:tgtEl>
                                        <p:attrNameLst>
                                          <p:attrName>ppt_x</p:attrName>
                                        </p:attrNameLst>
                                      </p:cBhvr>
                                      <p:tavLst>
                                        <p:tav tm="0">
                                          <p:val>
                                            <p:strVal val="#ppt_x"/>
                                          </p:val>
                                        </p:tav>
                                        <p:tav tm="100000">
                                          <p:val>
                                            <p:strVal val="#ppt_x"/>
                                          </p:val>
                                        </p:tav>
                                      </p:tavLst>
                                    </p:anim>
                                    <p:anim calcmode="lin" valueType="num">
                                      <p:cBhvr>
                                        <p:cTn id="40" dur="500" fill="hold"/>
                                        <p:tgtEl>
                                          <p:spTgt spid="72741"/>
                                        </p:tgtEl>
                                        <p:attrNameLst>
                                          <p:attrName>ppt_y</p:attrName>
                                        </p:attrNameLst>
                                      </p:cBhvr>
                                      <p:tavLst>
                                        <p:tav tm="0">
                                          <p:val>
                                            <p:strVal val="#ppt_y-#ppt_h/2"/>
                                          </p:val>
                                        </p:tav>
                                        <p:tav tm="100000">
                                          <p:val>
                                            <p:strVal val="#ppt_y"/>
                                          </p:val>
                                        </p:tav>
                                      </p:tavLst>
                                    </p:anim>
                                    <p:anim calcmode="lin" valueType="num">
                                      <p:cBhvr>
                                        <p:cTn id="41" dur="500" fill="hold"/>
                                        <p:tgtEl>
                                          <p:spTgt spid="72741"/>
                                        </p:tgtEl>
                                        <p:attrNameLst>
                                          <p:attrName>ppt_w</p:attrName>
                                        </p:attrNameLst>
                                      </p:cBhvr>
                                      <p:tavLst>
                                        <p:tav tm="0">
                                          <p:val>
                                            <p:strVal val="#ppt_w"/>
                                          </p:val>
                                        </p:tav>
                                        <p:tav tm="100000">
                                          <p:val>
                                            <p:strVal val="#ppt_w"/>
                                          </p:val>
                                        </p:tav>
                                      </p:tavLst>
                                    </p:anim>
                                    <p:anim calcmode="lin" valueType="num">
                                      <p:cBhvr>
                                        <p:cTn id="42" dur="500" fill="hold"/>
                                        <p:tgtEl>
                                          <p:spTgt spid="72741"/>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1" fill="hold" nodeType="clickEffect">
                                  <p:stCondLst>
                                    <p:cond delay="0"/>
                                  </p:stCondLst>
                                  <p:childTnLst>
                                    <p:set>
                                      <p:cBhvr>
                                        <p:cTn id="46" dur="1" fill="hold">
                                          <p:stCondLst>
                                            <p:cond delay="0"/>
                                          </p:stCondLst>
                                        </p:cTn>
                                        <p:tgtEl>
                                          <p:spTgt spid="72738"/>
                                        </p:tgtEl>
                                        <p:attrNameLst>
                                          <p:attrName>style.visibility</p:attrName>
                                        </p:attrNameLst>
                                      </p:cBhvr>
                                      <p:to>
                                        <p:strVal val="visible"/>
                                      </p:to>
                                    </p:set>
                                    <p:anim calcmode="lin" valueType="num">
                                      <p:cBhvr>
                                        <p:cTn id="47" dur="500" fill="hold"/>
                                        <p:tgtEl>
                                          <p:spTgt spid="72738"/>
                                        </p:tgtEl>
                                        <p:attrNameLst>
                                          <p:attrName>ppt_x</p:attrName>
                                        </p:attrNameLst>
                                      </p:cBhvr>
                                      <p:tavLst>
                                        <p:tav tm="0">
                                          <p:val>
                                            <p:strVal val="#ppt_x"/>
                                          </p:val>
                                        </p:tav>
                                        <p:tav tm="100000">
                                          <p:val>
                                            <p:strVal val="#ppt_x"/>
                                          </p:val>
                                        </p:tav>
                                      </p:tavLst>
                                    </p:anim>
                                    <p:anim calcmode="lin" valueType="num">
                                      <p:cBhvr>
                                        <p:cTn id="48" dur="500" fill="hold"/>
                                        <p:tgtEl>
                                          <p:spTgt spid="72738"/>
                                        </p:tgtEl>
                                        <p:attrNameLst>
                                          <p:attrName>ppt_y</p:attrName>
                                        </p:attrNameLst>
                                      </p:cBhvr>
                                      <p:tavLst>
                                        <p:tav tm="0">
                                          <p:val>
                                            <p:strVal val="#ppt_y-#ppt_h/2"/>
                                          </p:val>
                                        </p:tav>
                                        <p:tav tm="100000">
                                          <p:val>
                                            <p:strVal val="#ppt_y"/>
                                          </p:val>
                                        </p:tav>
                                      </p:tavLst>
                                    </p:anim>
                                    <p:anim calcmode="lin" valueType="num">
                                      <p:cBhvr>
                                        <p:cTn id="49" dur="500" fill="hold"/>
                                        <p:tgtEl>
                                          <p:spTgt spid="72738"/>
                                        </p:tgtEl>
                                        <p:attrNameLst>
                                          <p:attrName>ppt_w</p:attrName>
                                        </p:attrNameLst>
                                      </p:cBhvr>
                                      <p:tavLst>
                                        <p:tav tm="0">
                                          <p:val>
                                            <p:strVal val="#ppt_w"/>
                                          </p:val>
                                        </p:tav>
                                        <p:tav tm="100000">
                                          <p:val>
                                            <p:strVal val="#ppt_w"/>
                                          </p:val>
                                        </p:tav>
                                      </p:tavLst>
                                    </p:anim>
                                    <p:anim calcmode="lin" valueType="num">
                                      <p:cBhvr>
                                        <p:cTn id="50" dur="500" fill="hold"/>
                                        <p:tgtEl>
                                          <p:spTgt spid="72738"/>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72744"/>
                                        </p:tgtEl>
                                        <p:attrNameLst>
                                          <p:attrName>style.visibility</p:attrName>
                                        </p:attrNameLst>
                                      </p:cBhvr>
                                      <p:to>
                                        <p:strVal val="visible"/>
                                      </p:to>
                                    </p:set>
                                    <p:animEffect transition="in" filter="wipe(left)">
                                      <p:cBhvr>
                                        <p:cTn id="55" dur="500"/>
                                        <p:tgtEl>
                                          <p:spTgt spid="72744"/>
                                        </p:tgtEl>
                                      </p:cBhvr>
                                    </p:animEffect>
                                  </p:childTnLst>
                                </p:cTn>
                              </p:par>
                            </p:childTnLst>
                          </p:cTn>
                        </p:par>
                      </p:childTnLst>
                    </p:cTn>
                  </p:par>
                  <p:par>
                    <p:cTn id="56" fill="hold">
                      <p:stCondLst>
                        <p:cond delay="indefinite"/>
                      </p:stCondLst>
                      <p:childTnLst>
                        <p:par>
                          <p:cTn id="57" fill="hold">
                            <p:stCondLst>
                              <p:cond delay="0"/>
                            </p:stCondLst>
                            <p:childTnLst>
                              <p:par>
                                <p:cTn id="58" presetID="17" presetClass="entr" presetSubtype="4" fill="hold" nodeType="clickEffect">
                                  <p:stCondLst>
                                    <p:cond delay="0"/>
                                  </p:stCondLst>
                                  <p:childTnLst>
                                    <p:set>
                                      <p:cBhvr>
                                        <p:cTn id="59" dur="1" fill="hold">
                                          <p:stCondLst>
                                            <p:cond delay="0"/>
                                          </p:stCondLst>
                                        </p:cTn>
                                        <p:tgtEl>
                                          <p:spTgt spid="72749"/>
                                        </p:tgtEl>
                                        <p:attrNameLst>
                                          <p:attrName>style.visibility</p:attrName>
                                        </p:attrNameLst>
                                      </p:cBhvr>
                                      <p:to>
                                        <p:strVal val="visible"/>
                                      </p:to>
                                    </p:set>
                                    <p:anim calcmode="lin" valueType="num">
                                      <p:cBhvr>
                                        <p:cTn id="60" dur="500" fill="hold"/>
                                        <p:tgtEl>
                                          <p:spTgt spid="72749"/>
                                        </p:tgtEl>
                                        <p:attrNameLst>
                                          <p:attrName>ppt_x</p:attrName>
                                        </p:attrNameLst>
                                      </p:cBhvr>
                                      <p:tavLst>
                                        <p:tav tm="0">
                                          <p:val>
                                            <p:strVal val="#ppt_x"/>
                                          </p:val>
                                        </p:tav>
                                        <p:tav tm="100000">
                                          <p:val>
                                            <p:strVal val="#ppt_x"/>
                                          </p:val>
                                        </p:tav>
                                      </p:tavLst>
                                    </p:anim>
                                    <p:anim calcmode="lin" valueType="num">
                                      <p:cBhvr>
                                        <p:cTn id="61" dur="500" fill="hold"/>
                                        <p:tgtEl>
                                          <p:spTgt spid="72749"/>
                                        </p:tgtEl>
                                        <p:attrNameLst>
                                          <p:attrName>ppt_y</p:attrName>
                                        </p:attrNameLst>
                                      </p:cBhvr>
                                      <p:tavLst>
                                        <p:tav tm="0">
                                          <p:val>
                                            <p:strVal val="#ppt_y+#ppt_h/2"/>
                                          </p:val>
                                        </p:tav>
                                        <p:tav tm="100000">
                                          <p:val>
                                            <p:strVal val="#ppt_y"/>
                                          </p:val>
                                        </p:tav>
                                      </p:tavLst>
                                    </p:anim>
                                    <p:anim calcmode="lin" valueType="num">
                                      <p:cBhvr>
                                        <p:cTn id="62" dur="500" fill="hold"/>
                                        <p:tgtEl>
                                          <p:spTgt spid="72749"/>
                                        </p:tgtEl>
                                        <p:attrNameLst>
                                          <p:attrName>ppt_w</p:attrName>
                                        </p:attrNameLst>
                                      </p:cBhvr>
                                      <p:tavLst>
                                        <p:tav tm="0">
                                          <p:val>
                                            <p:strVal val="#ppt_w"/>
                                          </p:val>
                                        </p:tav>
                                        <p:tav tm="100000">
                                          <p:val>
                                            <p:strVal val="#ppt_w"/>
                                          </p:val>
                                        </p:tav>
                                      </p:tavLst>
                                    </p:anim>
                                    <p:anim calcmode="lin" valueType="num">
                                      <p:cBhvr>
                                        <p:cTn id="63" dur="500" fill="hold"/>
                                        <p:tgtEl>
                                          <p:spTgt spid="72749"/>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17" presetClass="entr" presetSubtype="4" fill="hold" nodeType="clickEffect">
                                  <p:stCondLst>
                                    <p:cond delay="0"/>
                                  </p:stCondLst>
                                  <p:childTnLst>
                                    <p:set>
                                      <p:cBhvr>
                                        <p:cTn id="67" dur="1" fill="hold">
                                          <p:stCondLst>
                                            <p:cond delay="0"/>
                                          </p:stCondLst>
                                        </p:cTn>
                                        <p:tgtEl>
                                          <p:spTgt spid="72750"/>
                                        </p:tgtEl>
                                        <p:attrNameLst>
                                          <p:attrName>style.visibility</p:attrName>
                                        </p:attrNameLst>
                                      </p:cBhvr>
                                      <p:to>
                                        <p:strVal val="visible"/>
                                      </p:to>
                                    </p:set>
                                    <p:anim calcmode="lin" valueType="num">
                                      <p:cBhvr>
                                        <p:cTn id="68" dur="500" fill="hold"/>
                                        <p:tgtEl>
                                          <p:spTgt spid="72750"/>
                                        </p:tgtEl>
                                        <p:attrNameLst>
                                          <p:attrName>ppt_x</p:attrName>
                                        </p:attrNameLst>
                                      </p:cBhvr>
                                      <p:tavLst>
                                        <p:tav tm="0">
                                          <p:val>
                                            <p:strVal val="#ppt_x"/>
                                          </p:val>
                                        </p:tav>
                                        <p:tav tm="100000">
                                          <p:val>
                                            <p:strVal val="#ppt_x"/>
                                          </p:val>
                                        </p:tav>
                                      </p:tavLst>
                                    </p:anim>
                                    <p:anim calcmode="lin" valueType="num">
                                      <p:cBhvr>
                                        <p:cTn id="69" dur="500" fill="hold"/>
                                        <p:tgtEl>
                                          <p:spTgt spid="72750"/>
                                        </p:tgtEl>
                                        <p:attrNameLst>
                                          <p:attrName>ppt_y</p:attrName>
                                        </p:attrNameLst>
                                      </p:cBhvr>
                                      <p:tavLst>
                                        <p:tav tm="0">
                                          <p:val>
                                            <p:strVal val="#ppt_y+#ppt_h/2"/>
                                          </p:val>
                                        </p:tav>
                                        <p:tav tm="100000">
                                          <p:val>
                                            <p:strVal val="#ppt_y"/>
                                          </p:val>
                                        </p:tav>
                                      </p:tavLst>
                                    </p:anim>
                                    <p:anim calcmode="lin" valueType="num">
                                      <p:cBhvr>
                                        <p:cTn id="70" dur="500" fill="hold"/>
                                        <p:tgtEl>
                                          <p:spTgt spid="72750"/>
                                        </p:tgtEl>
                                        <p:attrNameLst>
                                          <p:attrName>ppt_w</p:attrName>
                                        </p:attrNameLst>
                                      </p:cBhvr>
                                      <p:tavLst>
                                        <p:tav tm="0">
                                          <p:val>
                                            <p:strVal val="#ppt_w"/>
                                          </p:val>
                                        </p:tav>
                                        <p:tav tm="100000">
                                          <p:val>
                                            <p:strVal val="#ppt_w"/>
                                          </p:val>
                                        </p:tav>
                                      </p:tavLst>
                                    </p:anim>
                                    <p:anim calcmode="lin" valueType="num">
                                      <p:cBhvr>
                                        <p:cTn id="71" dur="500" fill="hold"/>
                                        <p:tgtEl>
                                          <p:spTgt spid="72750"/>
                                        </p:tgtEl>
                                        <p:attrNameLst>
                                          <p:attrName>ppt_h</p:attrName>
                                        </p:attrNameLst>
                                      </p:cBhvr>
                                      <p:tavLst>
                                        <p:tav tm="0">
                                          <p:val>
                                            <p:fltVal val="0"/>
                                          </p:val>
                                        </p:tav>
                                        <p:tav tm="100000">
                                          <p:val>
                                            <p:strVal val="#ppt_h"/>
                                          </p:val>
                                        </p:tav>
                                      </p:tavLst>
                                    </p:anim>
                                  </p:childTnLst>
                                </p:cTn>
                              </p:par>
                            </p:childTnLst>
                          </p:cTn>
                        </p:par>
                      </p:childTnLst>
                    </p:cTn>
                  </p:par>
                  <p:par>
                    <p:cTn id="72" fill="hold">
                      <p:stCondLst>
                        <p:cond delay="indefinite"/>
                      </p:stCondLst>
                      <p:childTnLst>
                        <p:par>
                          <p:cTn id="73" fill="hold">
                            <p:stCondLst>
                              <p:cond delay="0"/>
                            </p:stCondLst>
                            <p:childTnLst>
                              <p:par>
                                <p:cTn id="74" presetID="17" presetClass="entr" presetSubtype="4" fill="hold" nodeType="clickEffect">
                                  <p:stCondLst>
                                    <p:cond delay="0"/>
                                  </p:stCondLst>
                                  <p:childTnLst>
                                    <p:set>
                                      <p:cBhvr>
                                        <p:cTn id="75" dur="1" fill="hold">
                                          <p:stCondLst>
                                            <p:cond delay="0"/>
                                          </p:stCondLst>
                                        </p:cTn>
                                        <p:tgtEl>
                                          <p:spTgt spid="72753"/>
                                        </p:tgtEl>
                                        <p:attrNameLst>
                                          <p:attrName>style.visibility</p:attrName>
                                        </p:attrNameLst>
                                      </p:cBhvr>
                                      <p:to>
                                        <p:strVal val="visible"/>
                                      </p:to>
                                    </p:set>
                                    <p:anim calcmode="lin" valueType="num">
                                      <p:cBhvr>
                                        <p:cTn id="76" dur="500" fill="hold"/>
                                        <p:tgtEl>
                                          <p:spTgt spid="72753"/>
                                        </p:tgtEl>
                                        <p:attrNameLst>
                                          <p:attrName>ppt_x</p:attrName>
                                        </p:attrNameLst>
                                      </p:cBhvr>
                                      <p:tavLst>
                                        <p:tav tm="0">
                                          <p:val>
                                            <p:strVal val="#ppt_x"/>
                                          </p:val>
                                        </p:tav>
                                        <p:tav tm="100000">
                                          <p:val>
                                            <p:strVal val="#ppt_x"/>
                                          </p:val>
                                        </p:tav>
                                      </p:tavLst>
                                    </p:anim>
                                    <p:anim calcmode="lin" valueType="num">
                                      <p:cBhvr>
                                        <p:cTn id="77" dur="500" fill="hold"/>
                                        <p:tgtEl>
                                          <p:spTgt spid="72753"/>
                                        </p:tgtEl>
                                        <p:attrNameLst>
                                          <p:attrName>ppt_y</p:attrName>
                                        </p:attrNameLst>
                                      </p:cBhvr>
                                      <p:tavLst>
                                        <p:tav tm="0">
                                          <p:val>
                                            <p:strVal val="#ppt_y+#ppt_h/2"/>
                                          </p:val>
                                        </p:tav>
                                        <p:tav tm="100000">
                                          <p:val>
                                            <p:strVal val="#ppt_y"/>
                                          </p:val>
                                        </p:tav>
                                      </p:tavLst>
                                    </p:anim>
                                    <p:anim calcmode="lin" valueType="num">
                                      <p:cBhvr>
                                        <p:cTn id="78" dur="500" fill="hold"/>
                                        <p:tgtEl>
                                          <p:spTgt spid="72753"/>
                                        </p:tgtEl>
                                        <p:attrNameLst>
                                          <p:attrName>ppt_w</p:attrName>
                                        </p:attrNameLst>
                                      </p:cBhvr>
                                      <p:tavLst>
                                        <p:tav tm="0">
                                          <p:val>
                                            <p:strVal val="#ppt_w"/>
                                          </p:val>
                                        </p:tav>
                                        <p:tav tm="100000">
                                          <p:val>
                                            <p:strVal val="#ppt_w"/>
                                          </p:val>
                                        </p:tav>
                                      </p:tavLst>
                                    </p:anim>
                                    <p:anim calcmode="lin" valueType="num">
                                      <p:cBhvr>
                                        <p:cTn id="79" dur="500" fill="hold"/>
                                        <p:tgtEl>
                                          <p:spTgt spid="72753"/>
                                        </p:tgtEl>
                                        <p:attrNameLst>
                                          <p:attrName>ppt_h</p:attrName>
                                        </p:attrNameLst>
                                      </p:cBhvr>
                                      <p:tavLst>
                                        <p:tav tm="0">
                                          <p:val>
                                            <p:fltVal val="0"/>
                                          </p:val>
                                        </p:tav>
                                        <p:tav tm="100000">
                                          <p:val>
                                            <p:strVal val="#ppt_h"/>
                                          </p:val>
                                        </p:tav>
                                      </p:tavLst>
                                    </p:anim>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72745"/>
                                        </p:tgtEl>
                                        <p:attrNameLst>
                                          <p:attrName>style.visibility</p:attrName>
                                        </p:attrNameLst>
                                      </p:cBhvr>
                                      <p:to>
                                        <p:strVal val="visible"/>
                                      </p:to>
                                    </p:set>
                                    <p:animEffect transition="in" filter="wipe(left)">
                                      <p:cBhvr>
                                        <p:cTn id="84" dur="500"/>
                                        <p:tgtEl>
                                          <p:spTgt spid="72745"/>
                                        </p:tgtEl>
                                      </p:cBhvr>
                                    </p:animEffect>
                                  </p:childTnLst>
                                </p:cTn>
                              </p:par>
                            </p:childTnLst>
                          </p:cTn>
                        </p:par>
                      </p:childTnLst>
                    </p:cTn>
                  </p:par>
                  <p:par>
                    <p:cTn id="85" fill="hold">
                      <p:stCondLst>
                        <p:cond delay="indefinite"/>
                      </p:stCondLst>
                      <p:childTnLst>
                        <p:par>
                          <p:cTn id="86" fill="hold">
                            <p:stCondLst>
                              <p:cond delay="0"/>
                            </p:stCondLst>
                            <p:childTnLst>
                              <p:par>
                                <p:cTn id="87" presetID="17" presetClass="entr" presetSubtype="8" fill="hold" grpId="0" nodeType="clickEffect">
                                  <p:stCondLst>
                                    <p:cond delay="0"/>
                                  </p:stCondLst>
                                  <p:childTnLst>
                                    <p:set>
                                      <p:cBhvr>
                                        <p:cTn id="88" dur="1" fill="hold">
                                          <p:stCondLst>
                                            <p:cond delay="0"/>
                                          </p:stCondLst>
                                        </p:cTn>
                                        <p:tgtEl>
                                          <p:spTgt spid="72756"/>
                                        </p:tgtEl>
                                        <p:attrNameLst>
                                          <p:attrName>style.visibility</p:attrName>
                                        </p:attrNameLst>
                                      </p:cBhvr>
                                      <p:to>
                                        <p:strVal val="visible"/>
                                      </p:to>
                                    </p:set>
                                    <p:anim calcmode="lin" valueType="num">
                                      <p:cBhvr>
                                        <p:cTn id="89" dur="500" fill="hold"/>
                                        <p:tgtEl>
                                          <p:spTgt spid="72756"/>
                                        </p:tgtEl>
                                        <p:attrNameLst>
                                          <p:attrName>ppt_x</p:attrName>
                                        </p:attrNameLst>
                                      </p:cBhvr>
                                      <p:tavLst>
                                        <p:tav tm="0">
                                          <p:val>
                                            <p:strVal val="#ppt_x-#ppt_w/2"/>
                                          </p:val>
                                        </p:tav>
                                        <p:tav tm="100000">
                                          <p:val>
                                            <p:strVal val="#ppt_x"/>
                                          </p:val>
                                        </p:tav>
                                      </p:tavLst>
                                    </p:anim>
                                    <p:anim calcmode="lin" valueType="num">
                                      <p:cBhvr>
                                        <p:cTn id="90" dur="500" fill="hold"/>
                                        <p:tgtEl>
                                          <p:spTgt spid="72756"/>
                                        </p:tgtEl>
                                        <p:attrNameLst>
                                          <p:attrName>ppt_y</p:attrName>
                                        </p:attrNameLst>
                                      </p:cBhvr>
                                      <p:tavLst>
                                        <p:tav tm="0">
                                          <p:val>
                                            <p:strVal val="#ppt_y"/>
                                          </p:val>
                                        </p:tav>
                                        <p:tav tm="100000">
                                          <p:val>
                                            <p:strVal val="#ppt_y"/>
                                          </p:val>
                                        </p:tav>
                                      </p:tavLst>
                                    </p:anim>
                                    <p:anim calcmode="lin" valueType="num">
                                      <p:cBhvr>
                                        <p:cTn id="91" dur="500" fill="hold"/>
                                        <p:tgtEl>
                                          <p:spTgt spid="72756"/>
                                        </p:tgtEl>
                                        <p:attrNameLst>
                                          <p:attrName>ppt_w</p:attrName>
                                        </p:attrNameLst>
                                      </p:cBhvr>
                                      <p:tavLst>
                                        <p:tav tm="0">
                                          <p:val>
                                            <p:fltVal val="0"/>
                                          </p:val>
                                        </p:tav>
                                        <p:tav tm="100000">
                                          <p:val>
                                            <p:strVal val="#ppt_w"/>
                                          </p:val>
                                        </p:tav>
                                      </p:tavLst>
                                    </p:anim>
                                    <p:anim calcmode="lin" valueType="num">
                                      <p:cBhvr>
                                        <p:cTn id="92" dur="500" fill="hold"/>
                                        <p:tgtEl>
                                          <p:spTgt spid="7275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27" grpId="0" build="p" autoUpdateAnimBg="0"/>
      <p:bldP spid="72733" grpId="0" animBg="1"/>
      <p:bldP spid="72756" grpId="0" animBg="1" autoUpdateAnimBg="0"/>
      <p:bldP spid="7275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495300" y="303550"/>
            <a:ext cx="69342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t>5.2.2  评定参数</a:t>
            </a:r>
            <a:r>
              <a:rPr lang="zh-CN" altLang="en-US" sz="4000" dirty="0"/>
              <a:t> </a:t>
            </a:r>
          </a:p>
        </p:txBody>
      </p:sp>
      <p:sp>
        <p:nvSpPr>
          <p:cNvPr id="8195" name="Text Box 3"/>
          <p:cNvSpPr txBox="1">
            <a:spLocks noChangeArrowheads="1"/>
          </p:cNvSpPr>
          <p:nvPr/>
        </p:nvSpPr>
        <p:spPr bwMode="auto">
          <a:xfrm>
            <a:off x="935741" y="1883558"/>
            <a:ext cx="8235950"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t>1. </a:t>
            </a:r>
            <a:r>
              <a:rPr lang="zh-CN" altLang="en-US" sz="3600" b="1" dirty="0">
                <a:latin typeface="宋体" panose="02010600030101010101" pitchFamily="2" charset="-122"/>
              </a:rPr>
              <a:t>幅度参数（高度参数）</a:t>
            </a:r>
            <a:r>
              <a:rPr lang="zh-CN" altLang="en-US" sz="3600" b="1" dirty="0"/>
              <a:t> </a:t>
            </a:r>
          </a:p>
        </p:txBody>
      </p:sp>
      <p:graphicFrame>
        <p:nvGraphicFramePr>
          <p:cNvPr id="8205" name="Object 13"/>
          <p:cNvGraphicFramePr>
            <a:graphicFrameLocks noChangeAspect="1"/>
          </p:cNvGraphicFramePr>
          <p:nvPr/>
        </p:nvGraphicFramePr>
        <p:xfrm>
          <a:off x="1200150" y="4448194"/>
          <a:ext cx="12625388" cy="1797050"/>
        </p:xfrm>
        <a:graphic>
          <a:graphicData uri="http://schemas.openxmlformats.org/presentationml/2006/ole">
            <mc:AlternateContent xmlns:mc="http://schemas.openxmlformats.org/markup-compatibility/2006">
              <mc:Choice xmlns:v="urn:schemas-microsoft-com:vml" Requires="v">
                <p:oleObj spid="_x0000_s26641" name="公式" r:id="rId3" imgW="73761600" imgH="10363200" progId="">
                  <p:embed/>
                </p:oleObj>
              </mc:Choice>
              <mc:Fallback>
                <p:oleObj name="公式" r:id="rId3" imgW="73761600" imgH="10363200" progId="">
                  <p:embed/>
                  <p:pic>
                    <p:nvPicPr>
                      <p:cNvPr id="0" name="Picture 2" descr="image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0150" y="4448194"/>
                        <a:ext cx="12625388" cy="1797050"/>
                      </a:xfrm>
                      <a:prstGeom prst="rect">
                        <a:avLst/>
                      </a:prstGeom>
                      <a:solidFill>
                        <a:srgbClr val="FFCCCC"/>
                      </a:solidFill>
                    </p:spPr>
                  </p:pic>
                </p:oleObj>
              </mc:Fallback>
            </mc:AlternateContent>
          </a:graphicData>
        </a:graphic>
      </p:graphicFrame>
      <p:sp>
        <p:nvSpPr>
          <p:cNvPr id="8220" name="Text Box 28"/>
          <p:cNvSpPr txBox="1">
            <a:spLocks noChangeArrowheads="1"/>
          </p:cNvSpPr>
          <p:nvPr/>
        </p:nvSpPr>
        <p:spPr bwMode="auto">
          <a:xfrm>
            <a:off x="1146175" y="3537972"/>
            <a:ext cx="11085799" cy="81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latin typeface="宋体" panose="02010600030101010101" pitchFamily="2" charset="-122"/>
              </a:rPr>
              <a:t>在</a:t>
            </a:r>
            <a:r>
              <a:rPr lang="en-US" altLang="zh-CN" sz="3600" b="1" i="1" dirty="0" err="1"/>
              <a:t>lr</a:t>
            </a:r>
            <a:r>
              <a:rPr lang="zh-CN" altLang="en-US" sz="3600" b="1" dirty="0">
                <a:latin typeface="宋体" panose="02010600030101010101" pitchFamily="2" charset="-122"/>
              </a:rPr>
              <a:t>内，纵坐标值</a:t>
            </a:r>
            <a:r>
              <a:rPr lang="en-US" altLang="zh-CN" sz="3600" b="1" i="1" dirty="0"/>
              <a:t>Z</a:t>
            </a:r>
            <a:r>
              <a:rPr lang="en-US" altLang="zh-CN" sz="3600" b="1" dirty="0"/>
              <a:t>(</a:t>
            </a:r>
            <a:r>
              <a:rPr lang="en-US" altLang="zh-CN" sz="3600" b="1" i="1" dirty="0"/>
              <a:t>x</a:t>
            </a:r>
            <a:r>
              <a:rPr lang="en-US" altLang="zh-CN" sz="3600" b="1" dirty="0"/>
              <a:t>)</a:t>
            </a:r>
            <a:r>
              <a:rPr lang="zh-CN" altLang="en-US" sz="3600" b="1" dirty="0">
                <a:latin typeface="宋体" panose="02010600030101010101" pitchFamily="2" charset="-122"/>
              </a:rPr>
              <a:t>的绝对值的</a:t>
            </a:r>
            <a:r>
              <a:rPr lang="zh-CN" altLang="en-US" sz="3600" b="1" dirty="0" smtClean="0">
                <a:latin typeface="宋体" panose="02010600030101010101" pitchFamily="2" charset="-122"/>
              </a:rPr>
              <a:t>算术平均值</a:t>
            </a:r>
            <a:r>
              <a:rPr lang="zh-CN" altLang="en-US" sz="3600" b="1" dirty="0" smtClean="0"/>
              <a:t>。</a:t>
            </a:r>
            <a:endParaRPr lang="zh-CN" altLang="en-US" sz="3600" b="1" dirty="0"/>
          </a:p>
        </p:txBody>
      </p:sp>
      <p:grpSp>
        <p:nvGrpSpPr>
          <p:cNvPr id="8285" name="Group 93"/>
          <p:cNvGrpSpPr/>
          <p:nvPr/>
        </p:nvGrpSpPr>
        <p:grpSpPr bwMode="auto">
          <a:xfrm>
            <a:off x="826148" y="2705673"/>
            <a:ext cx="8820150" cy="819150"/>
            <a:chOff x="341" y="1864"/>
            <a:chExt cx="5556" cy="516"/>
          </a:xfrm>
        </p:grpSpPr>
        <p:sp>
          <p:nvSpPr>
            <p:cNvPr id="16434" name="Text Box 4"/>
            <p:cNvSpPr txBox="1">
              <a:spLocks noChangeArrowheads="1"/>
            </p:cNvSpPr>
            <p:nvPr/>
          </p:nvSpPr>
          <p:spPr bwMode="auto">
            <a:xfrm>
              <a:off x="341" y="1864"/>
              <a:ext cx="5556" cy="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dirty="0">
                  <a:latin typeface="宋体" panose="02010600030101010101" pitchFamily="2" charset="-122"/>
                </a:rPr>
                <a:t>（</a:t>
              </a:r>
              <a:r>
                <a:rPr lang="zh-CN" altLang="en-US" sz="3600" dirty="0"/>
                <a:t>1</a:t>
              </a:r>
              <a:r>
                <a:rPr lang="zh-CN" altLang="en-US" sz="3600" dirty="0">
                  <a:latin typeface="宋体" panose="02010600030101010101" pitchFamily="2" charset="-122"/>
                </a:rPr>
                <a:t>）</a:t>
              </a:r>
              <a:r>
                <a:rPr lang="zh-CN" altLang="en-US" sz="3600" b="1" dirty="0">
                  <a:solidFill>
                    <a:srgbClr val="FF3300"/>
                  </a:solidFill>
                  <a:latin typeface="宋体" panose="02010600030101010101" pitchFamily="2" charset="-122"/>
                </a:rPr>
                <a:t>轮廓的算术平均偏差</a:t>
              </a:r>
              <a:endParaRPr lang="zh-CN" altLang="en-US" sz="3600" b="1" dirty="0">
                <a:solidFill>
                  <a:srgbClr val="FF3300"/>
                </a:solidFill>
              </a:endParaRPr>
            </a:p>
          </p:txBody>
        </p:sp>
        <p:graphicFrame>
          <p:nvGraphicFramePr>
            <p:cNvPr id="16435" name="Object 22"/>
            <p:cNvGraphicFramePr>
              <a:graphicFrameLocks noChangeAspect="1"/>
            </p:cNvGraphicFramePr>
            <p:nvPr/>
          </p:nvGraphicFramePr>
          <p:xfrm>
            <a:off x="4041" y="1968"/>
            <a:ext cx="1406" cy="380"/>
          </p:xfrm>
          <a:graphic>
            <a:graphicData uri="http://schemas.openxmlformats.org/presentationml/2006/ole">
              <mc:AlternateContent xmlns:mc="http://schemas.openxmlformats.org/markup-compatibility/2006">
                <mc:Choice xmlns:v="urn:schemas-microsoft-com:vml" Requires="v">
                  <p:oleObj spid="_x0000_s26642" name="公式" r:id="rId5" imgW="9753600" imgH="4267200" progId="">
                    <p:embed/>
                  </p:oleObj>
                </mc:Choice>
                <mc:Fallback>
                  <p:oleObj name="公式" r:id="rId5" imgW="9753600" imgH="4267200" progId="">
                    <p:embed/>
                    <p:pic>
                      <p:nvPicPr>
                        <p:cNvPr id="0" name="Picture 1" descr="image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41" y="1968"/>
                          <a:ext cx="1406" cy="380"/>
                        </a:xfrm>
                        <a:prstGeom prst="rect">
                          <a:avLst/>
                        </a:prstGeom>
                        <a:solidFill>
                          <a:srgbClr val="FFCCCC"/>
                        </a:solidFill>
                      </p:spPr>
                    </p:pic>
                  </p:oleObj>
                </mc:Fallback>
              </mc:AlternateContent>
            </a:graphicData>
          </a:graphic>
        </p:graphicFrame>
      </p:grpSp>
      <p:grpSp>
        <p:nvGrpSpPr>
          <p:cNvPr id="8252" name="Group 60"/>
          <p:cNvGrpSpPr/>
          <p:nvPr/>
        </p:nvGrpSpPr>
        <p:grpSpPr bwMode="auto">
          <a:xfrm>
            <a:off x="5249863" y="6853238"/>
            <a:ext cx="1679575" cy="1450975"/>
            <a:chOff x="1984" y="2396"/>
            <a:chExt cx="635" cy="548"/>
          </a:xfrm>
        </p:grpSpPr>
        <p:sp>
          <p:nvSpPr>
            <p:cNvPr id="16432" name="Line 58"/>
            <p:cNvSpPr>
              <a:spLocks noChangeShapeType="1"/>
            </p:cNvSpPr>
            <p:nvPr/>
          </p:nvSpPr>
          <p:spPr bwMode="auto">
            <a:xfrm flipV="1">
              <a:off x="1984" y="2606"/>
              <a:ext cx="403" cy="33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p>
              <a:endParaRPr lang="zh-CN" altLang="en-US"/>
            </a:p>
          </p:txBody>
        </p:sp>
        <p:sp>
          <p:nvSpPr>
            <p:cNvPr id="16433" name="Text Box 59"/>
            <p:cNvSpPr txBox="1">
              <a:spLocks noChangeArrowheads="1"/>
            </p:cNvSpPr>
            <p:nvPr/>
          </p:nvSpPr>
          <p:spPr bwMode="auto">
            <a:xfrm>
              <a:off x="2337" y="2396"/>
              <a:ext cx="282"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Z</a:t>
              </a:r>
              <a:r>
                <a:rPr lang="en-US" altLang="zh-CN" sz="4700" i="1" baseline="-25000"/>
                <a:t>i</a:t>
              </a:r>
            </a:p>
          </p:txBody>
        </p:sp>
      </p:grpSp>
      <p:grpSp>
        <p:nvGrpSpPr>
          <p:cNvPr id="8254" name="Group 62"/>
          <p:cNvGrpSpPr/>
          <p:nvPr/>
        </p:nvGrpSpPr>
        <p:grpSpPr bwMode="auto">
          <a:xfrm>
            <a:off x="1536700" y="6418628"/>
            <a:ext cx="11839575" cy="4473575"/>
            <a:chOff x="581" y="2254"/>
            <a:chExt cx="4475" cy="1691"/>
          </a:xfrm>
        </p:grpSpPr>
        <p:grpSp>
          <p:nvGrpSpPr>
            <p:cNvPr id="16423" name="Group 56"/>
            <p:cNvGrpSpPr/>
            <p:nvPr/>
          </p:nvGrpSpPr>
          <p:grpSpPr bwMode="auto">
            <a:xfrm>
              <a:off x="581" y="2254"/>
              <a:ext cx="4475" cy="1691"/>
              <a:chOff x="581" y="2542"/>
              <a:chExt cx="4475" cy="1691"/>
            </a:xfrm>
          </p:grpSpPr>
          <p:sp>
            <p:nvSpPr>
              <p:cNvPr id="16425" name="Line 48"/>
              <p:cNvSpPr>
                <a:spLocks noChangeShapeType="1"/>
              </p:cNvSpPr>
              <p:nvPr/>
            </p:nvSpPr>
            <p:spPr bwMode="auto">
              <a:xfrm>
                <a:off x="905" y="3360"/>
                <a:ext cx="4005"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6426" name="Line 49"/>
              <p:cNvSpPr>
                <a:spLocks noChangeShapeType="1"/>
              </p:cNvSpPr>
              <p:nvPr/>
            </p:nvSpPr>
            <p:spPr bwMode="auto">
              <a:xfrm>
                <a:off x="1079" y="2658"/>
                <a:ext cx="0" cy="1554"/>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6427" name="Text Box 50"/>
              <p:cNvSpPr txBox="1">
                <a:spLocks noChangeArrowheads="1"/>
              </p:cNvSpPr>
              <p:nvPr/>
            </p:nvSpPr>
            <p:spPr bwMode="auto">
              <a:xfrm>
                <a:off x="581" y="2542"/>
                <a:ext cx="696" cy="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Z</a:t>
                </a:r>
                <a:r>
                  <a:rPr lang="en-US" altLang="zh-CN" sz="4700"/>
                  <a:t>(</a:t>
                </a:r>
                <a:r>
                  <a:rPr lang="en-US" altLang="zh-CN" sz="4700" i="1"/>
                  <a:t>x)</a:t>
                </a:r>
              </a:p>
            </p:txBody>
          </p:sp>
          <p:sp>
            <p:nvSpPr>
              <p:cNvPr id="16428" name="Text Box 51"/>
              <p:cNvSpPr txBox="1">
                <a:spLocks noChangeArrowheads="1"/>
              </p:cNvSpPr>
              <p:nvPr/>
            </p:nvSpPr>
            <p:spPr bwMode="auto">
              <a:xfrm>
                <a:off x="4598" y="3338"/>
                <a:ext cx="458" cy="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X</a:t>
                </a:r>
              </a:p>
            </p:txBody>
          </p:sp>
          <p:sp>
            <p:nvSpPr>
              <p:cNvPr id="16429" name="Freeform 53"/>
              <p:cNvSpPr/>
              <p:nvPr/>
            </p:nvSpPr>
            <p:spPr bwMode="auto">
              <a:xfrm>
                <a:off x="969" y="2812"/>
                <a:ext cx="3770" cy="1193"/>
              </a:xfrm>
              <a:custGeom>
                <a:avLst/>
                <a:gdLst>
                  <a:gd name="T0" fmla="*/ 92 w 3770"/>
                  <a:gd name="T1" fmla="*/ 589 h 1193"/>
                  <a:gd name="T2" fmla="*/ 128 w 3770"/>
                  <a:gd name="T3" fmla="*/ 507 h 1193"/>
                  <a:gd name="T4" fmla="*/ 210 w 3770"/>
                  <a:gd name="T5" fmla="*/ 425 h 1193"/>
                  <a:gd name="T6" fmla="*/ 265 w 3770"/>
                  <a:gd name="T7" fmla="*/ 324 h 1193"/>
                  <a:gd name="T8" fmla="*/ 366 w 3770"/>
                  <a:gd name="T9" fmla="*/ 260 h 1193"/>
                  <a:gd name="T10" fmla="*/ 448 w 3770"/>
                  <a:gd name="T11" fmla="*/ 361 h 1193"/>
                  <a:gd name="T12" fmla="*/ 457 w 3770"/>
                  <a:gd name="T13" fmla="*/ 681 h 1193"/>
                  <a:gd name="T14" fmla="*/ 540 w 3770"/>
                  <a:gd name="T15" fmla="*/ 790 h 1193"/>
                  <a:gd name="T16" fmla="*/ 622 w 3770"/>
                  <a:gd name="T17" fmla="*/ 754 h 1193"/>
                  <a:gd name="T18" fmla="*/ 686 w 3770"/>
                  <a:gd name="T19" fmla="*/ 598 h 1193"/>
                  <a:gd name="T20" fmla="*/ 777 w 3770"/>
                  <a:gd name="T21" fmla="*/ 214 h 1193"/>
                  <a:gd name="T22" fmla="*/ 860 w 3770"/>
                  <a:gd name="T23" fmla="*/ 260 h 1193"/>
                  <a:gd name="T24" fmla="*/ 951 w 3770"/>
                  <a:gd name="T25" fmla="*/ 306 h 1193"/>
                  <a:gd name="T26" fmla="*/ 1033 w 3770"/>
                  <a:gd name="T27" fmla="*/ 233 h 1193"/>
                  <a:gd name="T28" fmla="*/ 1097 w 3770"/>
                  <a:gd name="T29" fmla="*/ 150 h 1193"/>
                  <a:gd name="T30" fmla="*/ 1134 w 3770"/>
                  <a:gd name="T31" fmla="*/ 77 h 1193"/>
                  <a:gd name="T32" fmla="*/ 1189 w 3770"/>
                  <a:gd name="T33" fmla="*/ 123 h 1193"/>
                  <a:gd name="T34" fmla="*/ 1216 w 3770"/>
                  <a:gd name="T35" fmla="*/ 205 h 1193"/>
                  <a:gd name="T36" fmla="*/ 1198 w 3770"/>
                  <a:gd name="T37" fmla="*/ 452 h 1193"/>
                  <a:gd name="T38" fmla="*/ 1262 w 3770"/>
                  <a:gd name="T39" fmla="*/ 681 h 1193"/>
                  <a:gd name="T40" fmla="*/ 1326 w 3770"/>
                  <a:gd name="T41" fmla="*/ 809 h 1193"/>
                  <a:gd name="T42" fmla="*/ 1490 w 3770"/>
                  <a:gd name="T43" fmla="*/ 900 h 1193"/>
                  <a:gd name="T44" fmla="*/ 1564 w 3770"/>
                  <a:gd name="T45" fmla="*/ 781 h 1193"/>
                  <a:gd name="T46" fmla="*/ 1692 w 3770"/>
                  <a:gd name="T47" fmla="*/ 397 h 1193"/>
                  <a:gd name="T48" fmla="*/ 1847 w 3770"/>
                  <a:gd name="T49" fmla="*/ 260 h 1193"/>
                  <a:gd name="T50" fmla="*/ 1865 w 3770"/>
                  <a:gd name="T51" fmla="*/ 178 h 1193"/>
                  <a:gd name="T52" fmla="*/ 1929 w 3770"/>
                  <a:gd name="T53" fmla="*/ 233 h 1193"/>
                  <a:gd name="T54" fmla="*/ 2012 w 3770"/>
                  <a:gd name="T55" fmla="*/ 333 h 1193"/>
                  <a:gd name="T56" fmla="*/ 2066 w 3770"/>
                  <a:gd name="T57" fmla="*/ 1001 h 1193"/>
                  <a:gd name="T58" fmla="*/ 2112 w 3770"/>
                  <a:gd name="T59" fmla="*/ 1165 h 1193"/>
                  <a:gd name="T60" fmla="*/ 2167 w 3770"/>
                  <a:gd name="T61" fmla="*/ 1074 h 1193"/>
                  <a:gd name="T62" fmla="*/ 2268 w 3770"/>
                  <a:gd name="T63" fmla="*/ 653 h 1193"/>
                  <a:gd name="T64" fmla="*/ 2313 w 3770"/>
                  <a:gd name="T65" fmla="*/ 498 h 1193"/>
                  <a:gd name="T66" fmla="*/ 2350 w 3770"/>
                  <a:gd name="T67" fmla="*/ 388 h 1193"/>
                  <a:gd name="T68" fmla="*/ 2368 w 3770"/>
                  <a:gd name="T69" fmla="*/ 242 h 1193"/>
                  <a:gd name="T70" fmla="*/ 2478 w 3770"/>
                  <a:gd name="T71" fmla="*/ 178 h 1193"/>
                  <a:gd name="T72" fmla="*/ 2588 w 3770"/>
                  <a:gd name="T73" fmla="*/ 251 h 1193"/>
                  <a:gd name="T74" fmla="*/ 2606 w 3770"/>
                  <a:gd name="T75" fmla="*/ 425 h 1193"/>
                  <a:gd name="T76" fmla="*/ 2706 w 3770"/>
                  <a:gd name="T77" fmla="*/ 937 h 1193"/>
                  <a:gd name="T78" fmla="*/ 2798 w 3770"/>
                  <a:gd name="T79" fmla="*/ 873 h 1193"/>
                  <a:gd name="T80" fmla="*/ 2844 w 3770"/>
                  <a:gd name="T81" fmla="*/ 571 h 1193"/>
                  <a:gd name="T82" fmla="*/ 2880 w 3770"/>
                  <a:gd name="T83" fmla="*/ 461 h 1193"/>
                  <a:gd name="T84" fmla="*/ 2908 w 3770"/>
                  <a:gd name="T85" fmla="*/ 361 h 1193"/>
                  <a:gd name="T86" fmla="*/ 3081 w 3770"/>
                  <a:gd name="T87" fmla="*/ 223 h 1193"/>
                  <a:gd name="T88" fmla="*/ 3154 w 3770"/>
                  <a:gd name="T89" fmla="*/ 315 h 1193"/>
                  <a:gd name="T90" fmla="*/ 3264 w 3770"/>
                  <a:gd name="T91" fmla="*/ 617 h 1193"/>
                  <a:gd name="T92" fmla="*/ 3356 w 3770"/>
                  <a:gd name="T93" fmla="*/ 836 h 1193"/>
                  <a:gd name="T94" fmla="*/ 3401 w 3770"/>
                  <a:gd name="T95" fmla="*/ 763 h 1193"/>
                  <a:gd name="T96" fmla="*/ 3484 w 3770"/>
                  <a:gd name="T97" fmla="*/ 479 h 1193"/>
                  <a:gd name="T98" fmla="*/ 3612 w 3770"/>
                  <a:gd name="T99" fmla="*/ 333 h 1193"/>
                  <a:gd name="T100" fmla="*/ 3666 w 3770"/>
                  <a:gd name="T101" fmla="*/ 315 h 1193"/>
                  <a:gd name="T102" fmla="*/ 3767 w 3770"/>
                  <a:gd name="T103" fmla="*/ 269 h 119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770" h="1193">
                    <a:moveTo>
                      <a:pt x="0" y="699"/>
                    </a:moveTo>
                    <a:cubicBezTo>
                      <a:pt x="51" y="683"/>
                      <a:pt x="75" y="638"/>
                      <a:pt x="92" y="589"/>
                    </a:cubicBezTo>
                    <a:cubicBezTo>
                      <a:pt x="95" y="565"/>
                      <a:pt x="91" y="538"/>
                      <a:pt x="101" y="516"/>
                    </a:cubicBezTo>
                    <a:cubicBezTo>
                      <a:pt x="105" y="507"/>
                      <a:pt x="119" y="511"/>
                      <a:pt x="128" y="507"/>
                    </a:cubicBezTo>
                    <a:cubicBezTo>
                      <a:pt x="156" y="493"/>
                      <a:pt x="175" y="469"/>
                      <a:pt x="201" y="452"/>
                    </a:cubicBezTo>
                    <a:cubicBezTo>
                      <a:pt x="204" y="443"/>
                      <a:pt x="205" y="433"/>
                      <a:pt x="210" y="425"/>
                    </a:cubicBezTo>
                    <a:cubicBezTo>
                      <a:pt x="215" y="417"/>
                      <a:pt x="225" y="414"/>
                      <a:pt x="229" y="406"/>
                    </a:cubicBezTo>
                    <a:cubicBezTo>
                      <a:pt x="234" y="396"/>
                      <a:pt x="245" y="336"/>
                      <a:pt x="265" y="324"/>
                    </a:cubicBezTo>
                    <a:cubicBezTo>
                      <a:pt x="281" y="314"/>
                      <a:pt x="320" y="306"/>
                      <a:pt x="320" y="306"/>
                    </a:cubicBezTo>
                    <a:cubicBezTo>
                      <a:pt x="335" y="291"/>
                      <a:pt x="351" y="275"/>
                      <a:pt x="366" y="260"/>
                    </a:cubicBezTo>
                    <a:cubicBezTo>
                      <a:pt x="375" y="251"/>
                      <a:pt x="393" y="233"/>
                      <a:pt x="393" y="233"/>
                    </a:cubicBezTo>
                    <a:cubicBezTo>
                      <a:pt x="431" y="269"/>
                      <a:pt x="411" y="322"/>
                      <a:pt x="448" y="361"/>
                    </a:cubicBezTo>
                    <a:cubicBezTo>
                      <a:pt x="473" y="435"/>
                      <a:pt x="448" y="350"/>
                      <a:pt x="448" y="516"/>
                    </a:cubicBezTo>
                    <a:cubicBezTo>
                      <a:pt x="448" y="571"/>
                      <a:pt x="449" y="627"/>
                      <a:pt x="457" y="681"/>
                    </a:cubicBezTo>
                    <a:cubicBezTo>
                      <a:pt x="460" y="700"/>
                      <a:pt x="483" y="710"/>
                      <a:pt x="494" y="726"/>
                    </a:cubicBezTo>
                    <a:cubicBezTo>
                      <a:pt x="512" y="782"/>
                      <a:pt x="520" y="735"/>
                      <a:pt x="540" y="790"/>
                    </a:cubicBezTo>
                    <a:cubicBezTo>
                      <a:pt x="564" y="787"/>
                      <a:pt x="591" y="791"/>
                      <a:pt x="613" y="781"/>
                    </a:cubicBezTo>
                    <a:cubicBezTo>
                      <a:pt x="622" y="777"/>
                      <a:pt x="621" y="763"/>
                      <a:pt x="622" y="754"/>
                    </a:cubicBezTo>
                    <a:cubicBezTo>
                      <a:pt x="627" y="724"/>
                      <a:pt x="624" y="692"/>
                      <a:pt x="631" y="662"/>
                    </a:cubicBezTo>
                    <a:cubicBezTo>
                      <a:pt x="636" y="638"/>
                      <a:pt x="670" y="615"/>
                      <a:pt x="686" y="598"/>
                    </a:cubicBezTo>
                    <a:cubicBezTo>
                      <a:pt x="708" y="531"/>
                      <a:pt x="699" y="562"/>
                      <a:pt x="713" y="507"/>
                    </a:cubicBezTo>
                    <a:cubicBezTo>
                      <a:pt x="718" y="424"/>
                      <a:pt x="710" y="285"/>
                      <a:pt x="777" y="214"/>
                    </a:cubicBezTo>
                    <a:cubicBezTo>
                      <a:pt x="787" y="183"/>
                      <a:pt x="801" y="173"/>
                      <a:pt x="823" y="150"/>
                    </a:cubicBezTo>
                    <a:cubicBezTo>
                      <a:pt x="829" y="170"/>
                      <a:pt x="842" y="238"/>
                      <a:pt x="860" y="260"/>
                    </a:cubicBezTo>
                    <a:cubicBezTo>
                      <a:pt x="867" y="268"/>
                      <a:pt x="912" y="304"/>
                      <a:pt x="924" y="315"/>
                    </a:cubicBezTo>
                    <a:cubicBezTo>
                      <a:pt x="933" y="312"/>
                      <a:pt x="944" y="313"/>
                      <a:pt x="951" y="306"/>
                    </a:cubicBezTo>
                    <a:cubicBezTo>
                      <a:pt x="980" y="276"/>
                      <a:pt x="936" y="277"/>
                      <a:pt x="978" y="251"/>
                    </a:cubicBezTo>
                    <a:cubicBezTo>
                      <a:pt x="994" y="241"/>
                      <a:pt x="1015" y="239"/>
                      <a:pt x="1033" y="233"/>
                    </a:cubicBezTo>
                    <a:cubicBezTo>
                      <a:pt x="1042" y="230"/>
                      <a:pt x="1061" y="223"/>
                      <a:pt x="1061" y="223"/>
                    </a:cubicBezTo>
                    <a:cubicBezTo>
                      <a:pt x="1082" y="161"/>
                      <a:pt x="1066" y="183"/>
                      <a:pt x="1097" y="150"/>
                    </a:cubicBezTo>
                    <a:cubicBezTo>
                      <a:pt x="1123" y="71"/>
                      <a:pt x="1086" y="169"/>
                      <a:pt x="1125" y="105"/>
                    </a:cubicBezTo>
                    <a:cubicBezTo>
                      <a:pt x="1130" y="97"/>
                      <a:pt x="1130" y="86"/>
                      <a:pt x="1134" y="77"/>
                    </a:cubicBezTo>
                    <a:cubicBezTo>
                      <a:pt x="1144" y="56"/>
                      <a:pt x="1155" y="47"/>
                      <a:pt x="1170" y="31"/>
                    </a:cubicBezTo>
                    <a:cubicBezTo>
                      <a:pt x="1195" y="102"/>
                      <a:pt x="1161" y="0"/>
                      <a:pt x="1189" y="123"/>
                    </a:cubicBezTo>
                    <a:cubicBezTo>
                      <a:pt x="1193" y="142"/>
                      <a:pt x="1201" y="160"/>
                      <a:pt x="1207" y="178"/>
                    </a:cubicBezTo>
                    <a:cubicBezTo>
                      <a:pt x="1210" y="187"/>
                      <a:pt x="1216" y="205"/>
                      <a:pt x="1216" y="205"/>
                    </a:cubicBezTo>
                    <a:cubicBezTo>
                      <a:pt x="1196" y="288"/>
                      <a:pt x="1206" y="254"/>
                      <a:pt x="1189" y="306"/>
                    </a:cubicBezTo>
                    <a:cubicBezTo>
                      <a:pt x="1192" y="355"/>
                      <a:pt x="1192" y="404"/>
                      <a:pt x="1198" y="452"/>
                    </a:cubicBezTo>
                    <a:cubicBezTo>
                      <a:pt x="1201" y="471"/>
                      <a:pt x="1211" y="488"/>
                      <a:pt x="1216" y="507"/>
                    </a:cubicBezTo>
                    <a:cubicBezTo>
                      <a:pt x="1231" y="566"/>
                      <a:pt x="1243" y="623"/>
                      <a:pt x="1262" y="681"/>
                    </a:cubicBezTo>
                    <a:cubicBezTo>
                      <a:pt x="1265" y="691"/>
                      <a:pt x="1276" y="698"/>
                      <a:pt x="1280" y="708"/>
                    </a:cubicBezTo>
                    <a:cubicBezTo>
                      <a:pt x="1298" y="749"/>
                      <a:pt x="1296" y="777"/>
                      <a:pt x="1326" y="809"/>
                    </a:cubicBezTo>
                    <a:cubicBezTo>
                      <a:pt x="1353" y="891"/>
                      <a:pt x="1358" y="978"/>
                      <a:pt x="1436" y="1028"/>
                    </a:cubicBezTo>
                    <a:cubicBezTo>
                      <a:pt x="1511" y="1003"/>
                      <a:pt x="1442" y="945"/>
                      <a:pt x="1490" y="900"/>
                    </a:cubicBezTo>
                    <a:cubicBezTo>
                      <a:pt x="1515" y="876"/>
                      <a:pt x="1503" y="888"/>
                      <a:pt x="1527" y="863"/>
                    </a:cubicBezTo>
                    <a:cubicBezTo>
                      <a:pt x="1537" y="833"/>
                      <a:pt x="1553" y="810"/>
                      <a:pt x="1564" y="781"/>
                    </a:cubicBezTo>
                    <a:cubicBezTo>
                      <a:pt x="1571" y="733"/>
                      <a:pt x="1568" y="705"/>
                      <a:pt x="1600" y="671"/>
                    </a:cubicBezTo>
                    <a:cubicBezTo>
                      <a:pt x="1630" y="580"/>
                      <a:pt x="1660" y="488"/>
                      <a:pt x="1692" y="397"/>
                    </a:cubicBezTo>
                    <a:cubicBezTo>
                      <a:pt x="1702" y="368"/>
                      <a:pt x="1747" y="366"/>
                      <a:pt x="1765" y="342"/>
                    </a:cubicBezTo>
                    <a:cubicBezTo>
                      <a:pt x="1798" y="297"/>
                      <a:pt x="1796" y="277"/>
                      <a:pt x="1847" y="260"/>
                    </a:cubicBezTo>
                    <a:cubicBezTo>
                      <a:pt x="1850" y="223"/>
                      <a:pt x="1848" y="186"/>
                      <a:pt x="1856" y="150"/>
                    </a:cubicBezTo>
                    <a:cubicBezTo>
                      <a:pt x="1858" y="140"/>
                      <a:pt x="1860" y="170"/>
                      <a:pt x="1865" y="178"/>
                    </a:cubicBezTo>
                    <a:cubicBezTo>
                      <a:pt x="1870" y="185"/>
                      <a:pt x="1877" y="191"/>
                      <a:pt x="1884" y="196"/>
                    </a:cubicBezTo>
                    <a:cubicBezTo>
                      <a:pt x="1899" y="208"/>
                      <a:pt x="1912" y="224"/>
                      <a:pt x="1929" y="233"/>
                    </a:cubicBezTo>
                    <a:cubicBezTo>
                      <a:pt x="1946" y="242"/>
                      <a:pt x="1984" y="251"/>
                      <a:pt x="1984" y="251"/>
                    </a:cubicBezTo>
                    <a:cubicBezTo>
                      <a:pt x="2005" y="315"/>
                      <a:pt x="1995" y="288"/>
                      <a:pt x="2012" y="333"/>
                    </a:cubicBezTo>
                    <a:cubicBezTo>
                      <a:pt x="2017" y="477"/>
                      <a:pt x="1980" y="569"/>
                      <a:pt x="2048" y="671"/>
                    </a:cubicBezTo>
                    <a:cubicBezTo>
                      <a:pt x="2050" y="710"/>
                      <a:pt x="2058" y="937"/>
                      <a:pt x="2066" y="1001"/>
                    </a:cubicBezTo>
                    <a:cubicBezTo>
                      <a:pt x="2070" y="1034"/>
                      <a:pt x="2085" y="1078"/>
                      <a:pt x="2094" y="1110"/>
                    </a:cubicBezTo>
                    <a:cubicBezTo>
                      <a:pt x="2099" y="1129"/>
                      <a:pt x="2106" y="1147"/>
                      <a:pt x="2112" y="1165"/>
                    </a:cubicBezTo>
                    <a:cubicBezTo>
                      <a:pt x="2115" y="1174"/>
                      <a:pt x="2121" y="1193"/>
                      <a:pt x="2121" y="1193"/>
                    </a:cubicBezTo>
                    <a:cubicBezTo>
                      <a:pt x="2189" y="1169"/>
                      <a:pt x="2138" y="1123"/>
                      <a:pt x="2167" y="1074"/>
                    </a:cubicBezTo>
                    <a:cubicBezTo>
                      <a:pt x="2181" y="1050"/>
                      <a:pt x="2240" y="1037"/>
                      <a:pt x="2240" y="1037"/>
                    </a:cubicBezTo>
                    <a:cubicBezTo>
                      <a:pt x="2276" y="928"/>
                      <a:pt x="2256" y="762"/>
                      <a:pt x="2268" y="653"/>
                    </a:cubicBezTo>
                    <a:cubicBezTo>
                      <a:pt x="2272" y="619"/>
                      <a:pt x="2286" y="586"/>
                      <a:pt x="2295" y="553"/>
                    </a:cubicBezTo>
                    <a:cubicBezTo>
                      <a:pt x="2300" y="534"/>
                      <a:pt x="2313" y="498"/>
                      <a:pt x="2313" y="498"/>
                    </a:cubicBezTo>
                    <a:cubicBezTo>
                      <a:pt x="2316" y="464"/>
                      <a:pt x="2311" y="429"/>
                      <a:pt x="2322" y="397"/>
                    </a:cubicBezTo>
                    <a:cubicBezTo>
                      <a:pt x="2325" y="388"/>
                      <a:pt x="2343" y="395"/>
                      <a:pt x="2350" y="388"/>
                    </a:cubicBezTo>
                    <a:cubicBezTo>
                      <a:pt x="2363" y="376"/>
                      <a:pt x="2365" y="355"/>
                      <a:pt x="2377" y="342"/>
                    </a:cubicBezTo>
                    <a:cubicBezTo>
                      <a:pt x="2389" y="305"/>
                      <a:pt x="2380" y="278"/>
                      <a:pt x="2368" y="242"/>
                    </a:cubicBezTo>
                    <a:cubicBezTo>
                      <a:pt x="2415" y="192"/>
                      <a:pt x="2348" y="256"/>
                      <a:pt x="2423" y="214"/>
                    </a:cubicBezTo>
                    <a:cubicBezTo>
                      <a:pt x="2519" y="160"/>
                      <a:pt x="2390" y="206"/>
                      <a:pt x="2478" y="178"/>
                    </a:cubicBezTo>
                    <a:cubicBezTo>
                      <a:pt x="2512" y="142"/>
                      <a:pt x="2554" y="164"/>
                      <a:pt x="2597" y="178"/>
                    </a:cubicBezTo>
                    <a:cubicBezTo>
                      <a:pt x="2594" y="202"/>
                      <a:pt x="2595" y="228"/>
                      <a:pt x="2588" y="251"/>
                    </a:cubicBezTo>
                    <a:cubicBezTo>
                      <a:pt x="2585" y="259"/>
                      <a:pt x="2570" y="260"/>
                      <a:pt x="2569" y="269"/>
                    </a:cubicBezTo>
                    <a:cubicBezTo>
                      <a:pt x="2561" y="361"/>
                      <a:pt x="2578" y="362"/>
                      <a:pt x="2606" y="425"/>
                    </a:cubicBezTo>
                    <a:cubicBezTo>
                      <a:pt x="2625" y="467"/>
                      <a:pt x="2620" y="495"/>
                      <a:pt x="2652" y="525"/>
                    </a:cubicBezTo>
                    <a:cubicBezTo>
                      <a:pt x="2653" y="562"/>
                      <a:pt x="2568" y="886"/>
                      <a:pt x="2706" y="937"/>
                    </a:cubicBezTo>
                    <a:cubicBezTo>
                      <a:pt x="2734" y="934"/>
                      <a:pt x="2766" y="943"/>
                      <a:pt x="2789" y="927"/>
                    </a:cubicBezTo>
                    <a:cubicBezTo>
                      <a:pt x="2804" y="917"/>
                      <a:pt x="2794" y="891"/>
                      <a:pt x="2798" y="873"/>
                    </a:cubicBezTo>
                    <a:cubicBezTo>
                      <a:pt x="2804" y="843"/>
                      <a:pt x="2808" y="844"/>
                      <a:pt x="2825" y="818"/>
                    </a:cubicBezTo>
                    <a:cubicBezTo>
                      <a:pt x="2859" y="713"/>
                      <a:pt x="2815" y="859"/>
                      <a:pt x="2844" y="571"/>
                    </a:cubicBezTo>
                    <a:cubicBezTo>
                      <a:pt x="2844" y="569"/>
                      <a:pt x="2866" y="504"/>
                      <a:pt x="2871" y="489"/>
                    </a:cubicBezTo>
                    <a:cubicBezTo>
                      <a:pt x="2874" y="480"/>
                      <a:pt x="2880" y="461"/>
                      <a:pt x="2880" y="461"/>
                    </a:cubicBezTo>
                    <a:cubicBezTo>
                      <a:pt x="2883" y="434"/>
                      <a:pt x="2882" y="405"/>
                      <a:pt x="2889" y="379"/>
                    </a:cubicBezTo>
                    <a:cubicBezTo>
                      <a:pt x="2891" y="371"/>
                      <a:pt x="2904" y="369"/>
                      <a:pt x="2908" y="361"/>
                    </a:cubicBezTo>
                    <a:cubicBezTo>
                      <a:pt x="2937" y="303"/>
                      <a:pt x="2907" y="299"/>
                      <a:pt x="2972" y="278"/>
                    </a:cubicBezTo>
                    <a:cubicBezTo>
                      <a:pt x="3017" y="248"/>
                      <a:pt x="3034" y="241"/>
                      <a:pt x="3081" y="223"/>
                    </a:cubicBezTo>
                    <a:cubicBezTo>
                      <a:pt x="3087" y="217"/>
                      <a:pt x="3093" y="200"/>
                      <a:pt x="3100" y="205"/>
                    </a:cubicBezTo>
                    <a:cubicBezTo>
                      <a:pt x="3132" y="226"/>
                      <a:pt x="3142" y="283"/>
                      <a:pt x="3154" y="315"/>
                    </a:cubicBezTo>
                    <a:cubicBezTo>
                      <a:pt x="3182" y="390"/>
                      <a:pt x="3200" y="468"/>
                      <a:pt x="3228" y="543"/>
                    </a:cubicBezTo>
                    <a:cubicBezTo>
                      <a:pt x="3253" y="611"/>
                      <a:pt x="3231" y="582"/>
                      <a:pt x="3264" y="617"/>
                    </a:cubicBezTo>
                    <a:cubicBezTo>
                      <a:pt x="3274" y="648"/>
                      <a:pt x="3288" y="667"/>
                      <a:pt x="3310" y="690"/>
                    </a:cubicBezTo>
                    <a:cubicBezTo>
                      <a:pt x="3326" y="739"/>
                      <a:pt x="3343" y="787"/>
                      <a:pt x="3356" y="836"/>
                    </a:cubicBezTo>
                    <a:cubicBezTo>
                      <a:pt x="3365" y="830"/>
                      <a:pt x="3377" y="827"/>
                      <a:pt x="3383" y="818"/>
                    </a:cubicBezTo>
                    <a:cubicBezTo>
                      <a:pt x="3393" y="802"/>
                      <a:pt x="3401" y="763"/>
                      <a:pt x="3401" y="763"/>
                    </a:cubicBezTo>
                    <a:cubicBezTo>
                      <a:pt x="3410" y="674"/>
                      <a:pt x="3429" y="617"/>
                      <a:pt x="3456" y="534"/>
                    </a:cubicBezTo>
                    <a:cubicBezTo>
                      <a:pt x="3462" y="514"/>
                      <a:pt x="3474" y="497"/>
                      <a:pt x="3484" y="479"/>
                    </a:cubicBezTo>
                    <a:cubicBezTo>
                      <a:pt x="3495" y="460"/>
                      <a:pt x="3520" y="425"/>
                      <a:pt x="3520" y="425"/>
                    </a:cubicBezTo>
                    <a:cubicBezTo>
                      <a:pt x="3544" y="350"/>
                      <a:pt x="3532" y="359"/>
                      <a:pt x="3612" y="333"/>
                    </a:cubicBezTo>
                    <a:cubicBezTo>
                      <a:pt x="3621" y="330"/>
                      <a:pt x="3630" y="327"/>
                      <a:pt x="3639" y="324"/>
                    </a:cubicBezTo>
                    <a:cubicBezTo>
                      <a:pt x="3648" y="321"/>
                      <a:pt x="3666" y="315"/>
                      <a:pt x="3666" y="315"/>
                    </a:cubicBezTo>
                    <a:cubicBezTo>
                      <a:pt x="3692" y="290"/>
                      <a:pt x="3679" y="297"/>
                      <a:pt x="3721" y="287"/>
                    </a:cubicBezTo>
                    <a:cubicBezTo>
                      <a:pt x="3770" y="276"/>
                      <a:pt x="3767" y="294"/>
                      <a:pt x="3767" y="269"/>
                    </a:cubicBezTo>
                  </a:path>
                </a:pathLst>
              </a:custGeom>
              <a:noFill/>
              <a:ln w="571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6430" name="Line 54"/>
              <p:cNvSpPr>
                <a:spLocks noChangeShapeType="1"/>
              </p:cNvSpPr>
              <p:nvPr/>
            </p:nvSpPr>
            <p:spPr bwMode="auto">
              <a:xfrm>
                <a:off x="4425" y="3355"/>
                <a:ext cx="0" cy="8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6431" name="Line 55"/>
              <p:cNvSpPr>
                <a:spLocks noChangeShapeType="1"/>
              </p:cNvSpPr>
              <p:nvPr/>
            </p:nvSpPr>
            <p:spPr bwMode="auto">
              <a:xfrm>
                <a:off x="1070" y="4121"/>
                <a:ext cx="3346"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grpSp>
        <p:sp>
          <p:nvSpPr>
            <p:cNvPr id="16424" name="Text Box 61"/>
            <p:cNvSpPr txBox="1">
              <a:spLocks noChangeArrowheads="1"/>
            </p:cNvSpPr>
            <p:nvPr/>
          </p:nvSpPr>
          <p:spPr bwMode="auto">
            <a:xfrm>
              <a:off x="1660" y="3448"/>
              <a:ext cx="471" cy="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lr</a:t>
              </a:r>
            </a:p>
          </p:txBody>
        </p:sp>
      </p:grpSp>
      <p:grpSp>
        <p:nvGrpSpPr>
          <p:cNvPr id="8264" name="Group 72"/>
          <p:cNvGrpSpPr/>
          <p:nvPr/>
        </p:nvGrpSpPr>
        <p:grpSpPr bwMode="auto">
          <a:xfrm>
            <a:off x="7385051" y="6638925"/>
            <a:ext cx="959432" cy="2938463"/>
            <a:chOff x="2791" y="2323"/>
            <a:chExt cx="363" cy="1111"/>
          </a:xfrm>
        </p:grpSpPr>
        <p:grpSp>
          <p:nvGrpSpPr>
            <p:cNvPr id="16419" name="Group 70"/>
            <p:cNvGrpSpPr/>
            <p:nvPr/>
          </p:nvGrpSpPr>
          <p:grpSpPr bwMode="auto">
            <a:xfrm>
              <a:off x="3154" y="2479"/>
              <a:ext cx="0" cy="955"/>
              <a:chOff x="3154" y="2479"/>
              <a:chExt cx="0" cy="955"/>
            </a:xfrm>
          </p:grpSpPr>
          <p:sp>
            <p:nvSpPr>
              <p:cNvPr id="16421" name="Line 68"/>
              <p:cNvSpPr>
                <a:spLocks noChangeShapeType="1"/>
              </p:cNvSpPr>
              <p:nvPr/>
            </p:nvSpPr>
            <p:spPr bwMode="auto">
              <a:xfrm>
                <a:off x="3154" y="2479"/>
                <a:ext cx="0" cy="348"/>
              </a:xfrm>
              <a:prstGeom prst="line">
                <a:avLst/>
              </a:prstGeom>
              <a:noFill/>
              <a:ln w="28575">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p>
                <a:endParaRPr lang="zh-CN" altLang="en-US"/>
              </a:p>
            </p:txBody>
          </p:sp>
          <p:sp>
            <p:nvSpPr>
              <p:cNvPr id="16422" name="Line 69"/>
              <p:cNvSpPr>
                <a:spLocks noChangeShapeType="1"/>
              </p:cNvSpPr>
              <p:nvPr/>
            </p:nvSpPr>
            <p:spPr bwMode="auto">
              <a:xfrm>
                <a:off x="3154" y="3059"/>
                <a:ext cx="0" cy="375"/>
              </a:xfrm>
              <a:prstGeom prst="line">
                <a:avLst/>
              </a:prstGeom>
              <a:noFill/>
              <a:ln w="28575">
                <a:solidFill>
                  <a:srgbClr val="FF3300"/>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p>
                <a:endParaRPr lang="zh-CN" altLang="en-US"/>
              </a:p>
            </p:txBody>
          </p:sp>
        </p:grpSp>
        <p:sp>
          <p:nvSpPr>
            <p:cNvPr id="16420" name="Text Box 71"/>
            <p:cNvSpPr txBox="1">
              <a:spLocks noChangeArrowheads="1"/>
            </p:cNvSpPr>
            <p:nvPr/>
          </p:nvSpPr>
          <p:spPr bwMode="auto">
            <a:xfrm rot="-5400000">
              <a:off x="2767" y="2347"/>
              <a:ext cx="378"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b="1" i="1">
                  <a:solidFill>
                    <a:srgbClr val="FF3300"/>
                  </a:solidFill>
                </a:rPr>
                <a:t>Ra</a:t>
              </a:r>
            </a:p>
          </p:txBody>
        </p:sp>
      </p:grpSp>
      <p:sp>
        <p:nvSpPr>
          <p:cNvPr id="8249" name="Line 57"/>
          <p:cNvSpPr>
            <a:spLocks noChangeShapeType="1"/>
          </p:cNvSpPr>
          <p:nvPr/>
        </p:nvSpPr>
        <p:spPr bwMode="auto">
          <a:xfrm>
            <a:off x="5273675" y="7820025"/>
            <a:ext cx="0" cy="822325"/>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282" name="Group 90"/>
          <p:cNvGrpSpPr/>
          <p:nvPr/>
        </p:nvGrpSpPr>
        <p:grpSpPr bwMode="auto">
          <a:xfrm>
            <a:off x="2830513" y="7916863"/>
            <a:ext cx="8921750" cy="776287"/>
            <a:chOff x="1070" y="2798"/>
            <a:chExt cx="3372" cy="293"/>
          </a:xfrm>
        </p:grpSpPr>
        <p:grpSp>
          <p:nvGrpSpPr>
            <p:cNvPr id="16399" name="Group 67"/>
            <p:cNvGrpSpPr/>
            <p:nvPr/>
          </p:nvGrpSpPr>
          <p:grpSpPr bwMode="auto">
            <a:xfrm>
              <a:off x="1070" y="2798"/>
              <a:ext cx="3364" cy="283"/>
              <a:chOff x="1070" y="2798"/>
              <a:chExt cx="3364" cy="283"/>
            </a:xfrm>
          </p:grpSpPr>
          <p:sp>
            <p:nvSpPr>
              <p:cNvPr id="16415" name="Line 63"/>
              <p:cNvSpPr>
                <a:spLocks noChangeShapeType="1"/>
              </p:cNvSpPr>
              <p:nvPr/>
            </p:nvSpPr>
            <p:spPr bwMode="auto">
              <a:xfrm>
                <a:off x="1079" y="2816"/>
                <a:ext cx="3355"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6" name="Line 64"/>
              <p:cNvSpPr>
                <a:spLocks noChangeShapeType="1"/>
              </p:cNvSpPr>
              <p:nvPr/>
            </p:nvSpPr>
            <p:spPr bwMode="auto">
              <a:xfrm>
                <a:off x="4425" y="2798"/>
                <a:ext cx="0" cy="28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7" name="Line 65"/>
              <p:cNvSpPr>
                <a:spLocks noChangeShapeType="1"/>
              </p:cNvSpPr>
              <p:nvPr/>
            </p:nvSpPr>
            <p:spPr bwMode="auto">
              <a:xfrm>
                <a:off x="1070" y="2798"/>
                <a:ext cx="0" cy="283"/>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8" name="Line 66"/>
              <p:cNvSpPr>
                <a:spLocks noChangeShapeType="1"/>
              </p:cNvSpPr>
              <p:nvPr/>
            </p:nvSpPr>
            <p:spPr bwMode="auto">
              <a:xfrm>
                <a:off x="1088" y="3063"/>
                <a:ext cx="3310" cy="0"/>
              </a:xfrm>
              <a:prstGeom prst="line">
                <a:avLst/>
              </a:prstGeom>
              <a:noFill/>
              <a:ln w="381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6400" name="Line 74"/>
            <p:cNvSpPr>
              <a:spLocks noChangeShapeType="1"/>
            </p:cNvSpPr>
            <p:nvPr/>
          </p:nvSpPr>
          <p:spPr bwMode="auto">
            <a:xfrm flipH="1">
              <a:off x="1353" y="2817"/>
              <a:ext cx="146" cy="24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1" name="Line 75"/>
            <p:cNvSpPr>
              <a:spLocks noChangeShapeType="1"/>
            </p:cNvSpPr>
            <p:nvPr/>
          </p:nvSpPr>
          <p:spPr bwMode="auto">
            <a:xfrm flipH="1">
              <a:off x="1179" y="2807"/>
              <a:ext cx="146" cy="24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2" name="Line 76"/>
            <p:cNvSpPr>
              <a:spLocks noChangeShapeType="1"/>
            </p:cNvSpPr>
            <p:nvPr/>
          </p:nvSpPr>
          <p:spPr bwMode="auto">
            <a:xfrm flipH="1">
              <a:off x="1590" y="2817"/>
              <a:ext cx="146" cy="24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3" name="Line 77"/>
            <p:cNvSpPr>
              <a:spLocks noChangeShapeType="1"/>
            </p:cNvSpPr>
            <p:nvPr/>
          </p:nvSpPr>
          <p:spPr bwMode="auto">
            <a:xfrm flipH="1">
              <a:off x="1809" y="2835"/>
              <a:ext cx="146" cy="24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4" name="Line 78"/>
            <p:cNvSpPr>
              <a:spLocks noChangeShapeType="1"/>
            </p:cNvSpPr>
            <p:nvPr/>
          </p:nvSpPr>
          <p:spPr bwMode="auto">
            <a:xfrm flipH="1">
              <a:off x="2074" y="2816"/>
              <a:ext cx="146" cy="25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5" name="Line 79"/>
            <p:cNvSpPr>
              <a:spLocks noChangeShapeType="1"/>
            </p:cNvSpPr>
            <p:nvPr/>
          </p:nvSpPr>
          <p:spPr bwMode="auto">
            <a:xfrm flipH="1">
              <a:off x="2294" y="2816"/>
              <a:ext cx="146" cy="25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6" name="Line 80"/>
            <p:cNvSpPr>
              <a:spLocks noChangeShapeType="1"/>
            </p:cNvSpPr>
            <p:nvPr/>
          </p:nvSpPr>
          <p:spPr bwMode="auto">
            <a:xfrm flipH="1">
              <a:off x="2541" y="2816"/>
              <a:ext cx="146" cy="25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7" name="Line 81"/>
            <p:cNvSpPr>
              <a:spLocks noChangeShapeType="1"/>
            </p:cNvSpPr>
            <p:nvPr/>
          </p:nvSpPr>
          <p:spPr bwMode="auto">
            <a:xfrm flipH="1">
              <a:off x="2769" y="2834"/>
              <a:ext cx="146" cy="25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8" name="Line 82"/>
            <p:cNvSpPr>
              <a:spLocks noChangeShapeType="1"/>
            </p:cNvSpPr>
            <p:nvPr/>
          </p:nvSpPr>
          <p:spPr bwMode="auto">
            <a:xfrm flipH="1">
              <a:off x="2979" y="2834"/>
              <a:ext cx="146" cy="25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09" name="Line 83"/>
            <p:cNvSpPr>
              <a:spLocks noChangeShapeType="1"/>
            </p:cNvSpPr>
            <p:nvPr/>
          </p:nvSpPr>
          <p:spPr bwMode="auto">
            <a:xfrm flipH="1">
              <a:off x="3180" y="2825"/>
              <a:ext cx="146" cy="25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0" name="Line 84"/>
            <p:cNvSpPr>
              <a:spLocks noChangeShapeType="1"/>
            </p:cNvSpPr>
            <p:nvPr/>
          </p:nvSpPr>
          <p:spPr bwMode="auto">
            <a:xfrm flipH="1">
              <a:off x="3418" y="2816"/>
              <a:ext cx="146" cy="25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1" name="Line 85"/>
            <p:cNvSpPr>
              <a:spLocks noChangeShapeType="1"/>
            </p:cNvSpPr>
            <p:nvPr/>
          </p:nvSpPr>
          <p:spPr bwMode="auto">
            <a:xfrm flipH="1">
              <a:off x="3638" y="2807"/>
              <a:ext cx="146" cy="25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2" name="Line 86"/>
            <p:cNvSpPr>
              <a:spLocks noChangeShapeType="1"/>
            </p:cNvSpPr>
            <p:nvPr/>
          </p:nvSpPr>
          <p:spPr bwMode="auto">
            <a:xfrm flipH="1">
              <a:off x="3876" y="2825"/>
              <a:ext cx="146" cy="25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3" name="Line 87"/>
            <p:cNvSpPr>
              <a:spLocks noChangeShapeType="1"/>
            </p:cNvSpPr>
            <p:nvPr/>
          </p:nvSpPr>
          <p:spPr bwMode="auto">
            <a:xfrm flipH="1">
              <a:off x="4077" y="2825"/>
              <a:ext cx="146" cy="25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414" name="Line 88"/>
            <p:cNvSpPr>
              <a:spLocks noChangeShapeType="1"/>
            </p:cNvSpPr>
            <p:nvPr/>
          </p:nvSpPr>
          <p:spPr bwMode="auto">
            <a:xfrm flipH="1">
              <a:off x="4296" y="2815"/>
              <a:ext cx="146" cy="257"/>
            </a:xfrm>
            <a:prstGeom prst="line">
              <a:avLst/>
            </a:prstGeom>
            <a:noFill/>
            <a:ln w="28575">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283" name="AutoShape 91"/>
          <p:cNvSpPr>
            <a:spLocks noChangeArrowheads="1"/>
          </p:cNvSpPr>
          <p:nvPr/>
        </p:nvSpPr>
        <p:spPr bwMode="auto">
          <a:xfrm>
            <a:off x="11077576" y="6265889"/>
            <a:ext cx="2938228" cy="1409076"/>
          </a:xfrm>
          <a:prstGeom prst="wedgeRoundRectCallout">
            <a:avLst>
              <a:gd name="adj1" fmla="val -135875"/>
              <a:gd name="adj2" fmla="val 93449"/>
              <a:gd name="adj3" fmla="val 16667"/>
            </a:avLst>
          </a:prstGeom>
          <a:solidFill>
            <a:srgbClr val="CCFFFF"/>
          </a:solidFill>
          <a:ln w="38100">
            <a:solidFill>
              <a:srgbClr val="FF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lstStyle/>
          <a:p>
            <a:pPr algn="ctr" defTabSz="1524000"/>
            <a:r>
              <a:rPr lang="zh-CN" altLang="en-US" sz="4000" b="1" dirty="0">
                <a:solidFill>
                  <a:srgbClr val="FF3300"/>
                </a:solidFill>
              </a:rPr>
              <a:t>算术平均</a:t>
            </a:r>
          </a:p>
          <a:p>
            <a:pPr algn="ctr" defTabSz="1524000"/>
            <a:r>
              <a:rPr lang="zh-CN" altLang="en-US" sz="4000" b="1" dirty="0">
                <a:solidFill>
                  <a:srgbClr val="FF3300"/>
                </a:solidFill>
              </a:rPr>
              <a:t>偏差</a:t>
            </a:r>
            <a:r>
              <a:rPr lang="en-US" altLang="zh-CN" sz="4000" b="1" i="1" dirty="0">
                <a:solidFill>
                  <a:srgbClr val="FF3300"/>
                </a:solidFill>
              </a:rPr>
              <a:t>Ra</a:t>
            </a:r>
          </a:p>
        </p:txBody>
      </p:sp>
      <p:sp>
        <p:nvSpPr>
          <p:cNvPr id="8284" name="Text Box 92"/>
          <p:cNvSpPr txBox="1">
            <a:spLocks noChangeArrowheads="1"/>
          </p:cNvSpPr>
          <p:nvPr/>
        </p:nvSpPr>
        <p:spPr bwMode="auto">
          <a:xfrm>
            <a:off x="754349" y="1255297"/>
            <a:ext cx="13335000" cy="64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dirty="0"/>
              <a:t>        GB/T3505</a:t>
            </a:r>
            <a:r>
              <a:rPr lang="zh-CN" altLang="en-US" sz="3200" b="1" dirty="0"/>
              <a:t>从</a:t>
            </a:r>
            <a:r>
              <a:rPr lang="zh-CN" altLang="en-US" sz="3200" b="1" dirty="0">
                <a:solidFill>
                  <a:srgbClr val="FF0000"/>
                </a:solidFill>
              </a:rPr>
              <a:t>幅度</a:t>
            </a:r>
            <a:r>
              <a:rPr lang="zh-CN" altLang="en-US" sz="3200" b="1" dirty="0"/>
              <a:t>、</a:t>
            </a:r>
            <a:r>
              <a:rPr lang="zh-CN" altLang="en-US" sz="3200" b="1" dirty="0">
                <a:solidFill>
                  <a:srgbClr val="FF0000"/>
                </a:solidFill>
              </a:rPr>
              <a:t>间距</a:t>
            </a:r>
            <a:r>
              <a:rPr lang="zh-CN" altLang="en-US" sz="3200" b="1" dirty="0" smtClean="0"/>
              <a:t>和</a:t>
            </a:r>
            <a:r>
              <a:rPr lang="zh-CN" altLang="en-US" sz="3200" b="1" dirty="0" smtClean="0">
                <a:solidFill>
                  <a:srgbClr val="FF0000"/>
                </a:solidFill>
              </a:rPr>
              <a:t>形状</a:t>
            </a:r>
            <a:r>
              <a:rPr lang="zh-CN" altLang="en-US" sz="3200" b="1" dirty="0"/>
              <a:t>三个方面规定了相应的评定参数。</a:t>
            </a:r>
          </a:p>
        </p:txBody>
      </p:sp>
      <p:cxnSp>
        <p:nvCxnSpPr>
          <p:cNvPr id="52" name="直接连接符 51"/>
          <p:cNvCxnSpPr/>
          <p:nvPr/>
        </p:nvCxnSpPr>
        <p:spPr bwMode="auto">
          <a:xfrm flipV="1">
            <a:off x="414883" y="117284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8194">
                                            <p:txEl>
                                              <p:pRg st="0" end="0"/>
                                            </p:txEl>
                                          </p:spTgt>
                                        </p:tgtEl>
                                        <p:attrNameLst>
                                          <p:attrName>style.visibility</p:attrName>
                                        </p:attrNameLst>
                                      </p:cBhvr>
                                      <p:to>
                                        <p:strVal val="visible"/>
                                      </p:to>
                                    </p:set>
                                    <p:animEffect transition="in" filter="wipe(left)">
                                      <p:cBhvr>
                                        <p:cTn id="7" dur="300"/>
                                        <p:tgtEl>
                                          <p:spTgt spid="81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8284">
                                            <p:txEl>
                                              <p:pRg st="0" end="0"/>
                                            </p:txEl>
                                          </p:spTgt>
                                        </p:tgtEl>
                                        <p:attrNameLst>
                                          <p:attrName>style.visibility</p:attrName>
                                        </p:attrNameLst>
                                      </p:cBhvr>
                                      <p:to>
                                        <p:strVal val="visible"/>
                                      </p:to>
                                    </p:set>
                                    <p:animEffect transition="in" filter="wipe(left)">
                                      <p:cBhvr>
                                        <p:cTn id="12" dur="300"/>
                                        <p:tgtEl>
                                          <p:spTgt spid="828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8195">
                                            <p:txEl>
                                              <p:pRg st="0" end="0"/>
                                            </p:txEl>
                                          </p:spTgt>
                                        </p:tgtEl>
                                        <p:attrNameLst>
                                          <p:attrName>style.visibility</p:attrName>
                                        </p:attrNameLst>
                                      </p:cBhvr>
                                      <p:to>
                                        <p:strVal val="visible"/>
                                      </p:to>
                                    </p:set>
                                    <p:animEffect transition="in" filter="wipe(left)">
                                      <p:cBhvr>
                                        <p:cTn id="17" dur="300"/>
                                        <p:tgtEl>
                                          <p:spTgt spid="819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285"/>
                                        </p:tgtEl>
                                        <p:attrNameLst>
                                          <p:attrName>style.visibility</p:attrName>
                                        </p:attrNameLst>
                                      </p:cBhvr>
                                      <p:to>
                                        <p:strVal val="visible"/>
                                      </p:to>
                                    </p:set>
                                    <p:animEffect transition="in" filter="wipe(left)">
                                      <p:cBhvr>
                                        <p:cTn id="22" dur="2000"/>
                                        <p:tgtEl>
                                          <p:spTgt spid="828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8220"/>
                                        </p:tgtEl>
                                        <p:attrNameLst>
                                          <p:attrName>style.visibility</p:attrName>
                                        </p:attrNameLst>
                                      </p:cBhvr>
                                      <p:to>
                                        <p:strVal val="visible"/>
                                      </p:to>
                                    </p:set>
                                    <p:animEffect transition="in" filter="wipe(left)">
                                      <p:cBhvr>
                                        <p:cTn id="27" dur="300"/>
                                        <p:tgtEl>
                                          <p:spTgt spid="822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8254"/>
                                        </p:tgtEl>
                                        <p:attrNameLst>
                                          <p:attrName>style.visibility</p:attrName>
                                        </p:attrNameLst>
                                      </p:cBhvr>
                                      <p:to>
                                        <p:strVal val="visible"/>
                                      </p:to>
                                    </p:set>
                                    <p:anim calcmode="lin" valueType="num">
                                      <p:cBhvr additive="base">
                                        <p:cTn id="32" dur="500" fill="hold"/>
                                        <p:tgtEl>
                                          <p:spTgt spid="8254"/>
                                        </p:tgtEl>
                                        <p:attrNameLst>
                                          <p:attrName>ppt_x</p:attrName>
                                        </p:attrNameLst>
                                      </p:cBhvr>
                                      <p:tavLst>
                                        <p:tav tm="0">
                                          <p:val>
                                            <p:strVal val="0-#ppt_w/2"/>
                                          </p:val>
                                        </p:tav>
                                        <p:tav tm="100000">
                                          <p:val>
                                            <p:strVal val="#ppt_x"/>
                                          </p:val>
                                        </p:tav>
                                      </p:tavLst>
                                    </p:anim>
                                    <p:anim calcmode="lin" valueType="num">
                                      <p:cBhvr additive="base">
                                        <p:cTn id="33" dur="500" fill="hold"/>
                                        <p:tgtEl>
                                          <p:spTgt spid="8254"/>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7" presetClass="entr" presetSubtype="1" fill="hold" grpId="0" nodeType="clickEffect">
                                  <p:stCondLst>
                                    <p:cond delay="0"/>
                                  </p:stCondLst>
                                  <p:childTnLst>
                                    <p:set>
                                      <p:cBhvr>
                                        <p:cTn id="37" dur="1" fill="hold">
                                          <p:stCondLst>
                                            <p:cond delay="0"/>
                                          </p:stCondLst>
                                        </p:cTn>
                                        <p:tgtEl>
                                          <p:spTgt spid="8249"/>
                                        </p:tgtEl>
                                        <p:attrNameLst>
                                          <p:attrName>style.visibility</p:attrName>
                                        </p:attrNameLst>
                                      </p:cBhvr>
                                      <p:to>
                                        <p:strVal val="visible"/>
                                      </p:to>
                                    </p:set>
                                    <p:anim calcmode="lin" valueType="num">
                                      <p:cBhvr>
                                        <p:cTn id="38" dur="500" fill="hold"/>
                                        <p:tgtEl>
                                          <p:spTgt spid="8249"/>
                                        </p:tgtEl>
                                        <p:attrNameLst>
                                          <p:attrName>ppt_x</p:attrName>
                                        </p:attrNameLst>
                                      </p:cBhvr>
                                      <p:tavLst>
                                        <p:tav tm="0">
                                          <p:val>
                                            <p:strVal val="#ppt_x"/>
                                          </p:val>
                                        </p:tav>
                                        <p:tav tm="100000">
                                          <p:val>
                                            <p:strVal val="#ppt_x"/>
                                          </p:val>
                                        </p:tav>
                                      </p:tavLst>
                                    </p:anim>
                                    <p:anim calcmode="lin" valueType="num">
                                      <p:cBhvr>
                                        <p:cTn id="39" dur="500" fill="hold"/>
                                        <p:tgtEl>
                                          <p:spTgt spid="8249"/>
                                        </p:tgtEl>
                                        <p:attrNameLst>
                                          <p:attrName>ppt_y</p:attrName>
                                        </p:attrNameLst>
                                      </p:cBhvr>
                                      <p:tavLst>
                                        <p:tav tm="0">
                                          <p:val>
                                            <p:strVal val="#ppt_y-#ppt_h/2"/>
                                          </p:val>
                                        </p:tav>
                                        <p:tav tm="100000">
                                          <p:val>
                                            <p:strVal val="#ppt_y"/>
                                          </p:val>
                                        </p:tav>
                                      </p:tavLst>
                                    </p:anim>
                                    <p:anim calcmode="lin" valueType="num">
                                      <p:cBhvr>
                                        <p:cTn id="40" dur="500" fill="hold"/>
                                        <p:tgtEl>
                                          <p:spTgt spid="8249"/>
                                        </p:tgtEl>
                                        <p:attrNameLst>
                                          <p:attrName>ppt_w</p:attrName>
                                        </p:attrNameLst>
                                      </p:cBhvr>
                                      <p:tavLst>
                                        <p:tav tm="0">
                                          <p:val>
                                            <p:strVal val="#ppt_w"/>
                                          </p:val>
                                        </p:tav>
                                        <p:tav tm="100000">
                                          <p:val>
                                            <p:strVal val="#ppt_w"/>
                                          </p:val>
                                        </p:tav>
                                      </p:tavLst>
                                    </p:anim>
                                    <p:anim calcmode="lin" valueType="num">
                                      <p:cBhvr>
                                        <p:cTn id="41" dur="500" fill="hold"/>
                                        <p:tgtEl>
                                          <p:spTgt spid="8249"/>
                                        </p:tgtEl>
                                        <p:attrNameLst>
                                          <p:attrName>ppt_h</p:attrName>
                                        </p:attrNameLst>
                                      </p:cBhvr>
                                      <p:tavLst>
                                        <p:tav tm="0">
                                          <p:val>
                                            <p:fltVal val="0"/>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7" presetClass="entr" presetSubtype="1" fill="hold" nodeType="clickEffect">
                                  <p:stCondLst>
                                    <p:cond delay="0"/>
                                  </p:stCondLst>
                                  <p:childTnLst>
                                    <p:set>
                                      <p:cBhvr>
                                        <p:cTn id="45" dur="1" fill="hold">
                                          <p:stCondLst>
                                            <p:cond delay="0"/>
                                          </p:stCondLst>
                                        </p:cTn>
                                        <p:tgtEl>
                                          <p:spTgt spid="8252"/>
                                        </p:tgtEl>
                                        <p:attrNameLst>
                                          <p:attrName>style.visibility</p:attrName>
                                        </p:attrNameLst>
                                      </p:cBhvr>
                                      <p:to>
                                        <p:strVal val="visible"/>
                                      </p:to>
                                    </p:set>
                                    <p:anim calcmode="lin" valueType="num">
                                      <p:cBhvr>
                                        <p:cTn id="46" dur="500" fill="hold"/>
                                        <p:tgtEl>
                                          <p:spTgt spid="8252"/>
                                        </p:tgtEl>
                                        <p:attrNameLst>
                                          <p:attrName>ppt_x</p:attrName>
                                        </p:attrNameLst>
                                      </p:cBhvr>
                                      <p:tavLst>
                                        <p:tav tm="0">
                                          <p:val>
                                            <p:strVal val="#ppt_x"/>
                                          </p:val>
                                        </p:tav>
                                        <p:tav tm="100000">
                                          <p:val>
                                            <p:strVal val="#ppt_x"/>
                                          </p:val>
                                        </p:tav>
                                      </p:tavLst>
                                    </p:anim>
                                    <p:anim calcmode="lin" valueType="num">
                                      <p:cBhvr>
                                        <p:cTn id="47" dur="500" fill="hold"/>
                                        <p:tgtEl>
                                          <p:spTgt spid="8252"/>
                                        </p:tgtEl>
                                        <p:attrNameLst>
                                          <p:attrName>ppt_y</p:attrName>
                                        </p:attrNameLst>
                                      </p:cBhvr>
                                      <p:tavLst>
                                        <p:tav tm="0">
                                          <p:val>
                                            <p:strVal val="#ppt_y-#ppt_h/2"/>
                                          </p:val>
                                        </p:tav>
                                        <p:tav tm="100000">
                                          <p:val>
                                            <p:strVal val="#ppt_y"/>
                                          </p:val>
                                        </p:tav>
                                      </p:tavLst>
                                    </p:anim>
                                    <p:anim calcmode="lin" valueType="num">
                                      <p:cBhvr>
                                        <p:cTn id="48" dur="500" fill="hold"/>
                                        <p:tgtEl>
                                          <p:spTgt spid="8252"/>
                                        </p:tgtEl>
                                        <p:attrNameLst>
                                          <p:attrName>ppt_w</p:attrName>
                                        </p:attrNameLst>
                                      </p:cBhvr>
                                      <p:tavLst>
                                        <p:tav tm="0">
                                          <p:val>
                                            <p:strVal val="#ppt_w"/>
                                          </p:val>
                                        </p:tav>
                                        <p:tav tm="100000">
                                          <p:val>
                                            <p:strVal val="#ppt_w"/>
                                          </p:val>
                                        </p:tav>
                                      </p:tavLst>
                                    </p:anim>
                                    <p:anim calcmode="lin" valueType="num">
                                      <p:cBhvr>
                                        <p:cTn id="49" dur="500" fill="hold"/>
                                        <p:tgtEl>
                                          <p:spTgt spid="8252"/>
                                        </p:tgtEl>
                                        <p:attrNameLst>
                                          <p:attrName>ppt_h</p:attrName>
                                        </p:attrNameLst>
                                      </p:cBhvr>
                                      <p:tavLst>
                                        <p:tav tm="0">
                                          <p:val>
                                            <p:fltVal val="0"/>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8205"/>
                                        </p:tgtEl>
                                        <p:attrNameLst>
                                          <p:attrName>style.visibility</p:attrName>
                                        </p:attrNameLst>
                                      </p:cBhvr>
                                      <p:to>
                                        <p:strVal val="visible"/>
                                      </p:to>
                                    </p:set>
                                    <p:animEffect transition="in" filter="wipe(left)">
                                      <p:cBhvr>
                                        <p:cTn id="54" dur="500"/>
                                        <p:tgtEl>
                                          <p:spTgt spid="8205"/>
                                        </p:tgtEl>
                                      </p:cBhvr>
                                    </p:animEffect>
                                  </p:childTnLst>
                                </p:cTn>
                              </p:par>
                            </p:childTnLst>
                          </p:cTn>
                        </p:par>
                      </p:childTnLst>
                    </p:cTn>
                  </p:par>
                  <p:par>
                    <p:cTn id="55" fill="hold">
                      <p:stCondLst>
                        <p:cond delay="indefinite"/>
                      </p:stCondLst>
                      <p:childTnLst>
                        <p:par>
                          <p:cTn id="56" fill="hold">
                            <p:stCondLst>
                              <p:cond delay="0"/>
                            </p:stCondLst>
                            <p:childTnLst>
                              <p:par>
                                <p:cTn id="57" presetID="17" presetClass="entr" presetSubtype="8" fill="hold" nodeType="clickEffect">
                                  <p:stCondLst>
                                    <p:cond delay="0"/>
                                  </p:stCondLst>
                                  <p:childTnLst>
                                    <p:set>
                                      <p:cBhvr>
                                        <p:cTn id="58" dur="1" fill="hold">
                                          <p:stCondLst>
                                            <p:cond delay="0"/>
                                          </p:stCondLst>
                                        </p:cTn>
                                        <p:tgtEl>
                                          <p:spTgt spid="8282"/>
                                        </p:tgtEl>
                                        <p:attrNameLst>
                                          <p:attrName>style.visibility</p:attrName>
                                        </p:attrNameLst>
                                      </p:cBhvr>
                                      <p:to>
                                        <p:strVal val="visible"/>
                                      </p:to>
                                    </p:set>
                                    <p:anim calcmode="lin" valueType="num">
                                      <p:cBhvr>
                                        <p:cTn id="59" dur="500" fill="hold"/>
                                        <p:tgtEl>
                                          <p:spTgt spid="8282"/>
                                        </p:tgtEl>
                                        <p:attrNameLst>
                                          <p:attrName>ppt_x</p:attrName>
                                        </p:attrNameLst>
                                      </p:cBhvr>
                                      <p:tavLst>
                                        <p:tav tm="0">
                                          <p:val>
                                            <p:strVal val="#ppt_x-#ppt_w/2"/>
                                          </p:val>
                                        </p:tav>
                                        <p:tav tm="100000">
                                          <p:val>
                                            <p:strVal val="#ppt_x"/>
                                          </p:val>
                                        </p:tav>
                                      </p:tavLst>
                                    </p:anim>
                                    <p:anim calcmode="lin" valueType="num">
                                      <p:cBhvr>
                                        <p:cTn id="60" dur="500" fill="hold"/>
                                        <p:tgtEl>
                                          <p:spTgt spid="8282"/>
                                        </p:tgtEl>
                                        <p:attrNameLst>
                                          <p:attrName>ppt_y</p:attrName>
                                        </p:attrNameLst>
                                      </p:cBhvr>
                                      <p:tavLst>
                                        <p:tav tm="0">
                                          <p:val>
                                            <p:strVal val="#ppt_y"/>
                                          </p:val>
                                        </p:tav>
                                        <p:tav tm="100000">
                                          <p:val>
                                            <p:strVal val="#ppt_y"/>
                                          </p:val>
                                        </p:tav>
                                      </p:tavLst>
                                    </p:anim>
                                    <p:anim calcmode="lin" valueType="num">
                                      <p:cBhvr>
                                        <p:cTn id="61" dur="500" fill="hold"/>
                                        <p:tgtEl>
                                          <p:spTgt spid="8282"/>
                                        </p:tgtEl>
                                        <p:attrNameLst>
                                          <p:attrName>ppt_w</p:attrName>
                                        </p:attrNameLst>
                                      </p:cBhvr>
                                      <p:tavLst>
                                        <p:tav tm="0">
                                          <p:val>
                                            <p:fltVal val="0"/>
                                          </p:val>
                                        </p:tav>
                                        <p:tav tm="100000">
                                          <p:val>
                                            <p:strVal val="#ppt_w"/>
                                          </p:val>
                                        </p:tav>
                                      </p:tavLst>
                                    </p:anim>
                                    <p:anim calcmode="lin" valueType="num">
                                      <p:cBhvr>
                                        <p:cTn id="62" dur="500" fill="hold"/>
                                        <p:tgtEl>
                                          <p:spTgt spid="8282"/>
                                        </p:tgtEl>
                                        <p:attrNameLst>
                                          <p:attrName>ppt_h</p:attrName>
                                        </p:attrNameLst>
                                      </p:cBhvr>
                                      <p:tavLst>
                                        <p:tav tm="0">
                                          <p:val>
                                            <p:strVal val="#ppt_h"/>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17" presetClass="entr" presetSubtype="1" fill="hold" nodeType="clickEffect">
                                  <p:stCondLst>
                                    <p:cond delay="0"/>
                                  </p:stCondLst>
                                  <p:childTnLst>
                                    <p:set>
                                      <p:cBhvr>
                                        <p:cTn id="66" dur="1" fill="hold">
                                          <p:stCondLst>
                                            <p:cond delay="0"/>
                                          </p:stCondLst>
                                        </p:cTn>
                                        <p:tgtEl>
                                          <p:spTgt spid="8264"/>
                                        </p:tgtEl>
                                        <p:attrNameLst>
                                          <p:attrName>style.visibility</p:attrName>
                                        </p:attrNameLst>
                                      </p:cBhvr>
                                      <p:to>
                                        <p:strVal val="visible"/>
                                      </p:to>
                                    </p:set>
                                    <p:anim calcmode="lin" valueType="num">
                                      <p:cBhvr>
                                        <p:cTn id="67" dur="500" fill="hold"/>
                                        <p:tgtEl>
                                          <p:spTgt spid="8264"/>
                                        </p:tgtEl>
                                        <p:attrNameLst>
                                          <p:attrName>ppt_x</p:attrName>
                                        </p:attrNameLst>
                                      </p:cBhvr>
                                      <p:tavLst>
                                        <p:tav tm="0">
                                          <p:val>
                                            <p:strVal val="#ppt_x"/>
                                          </p:val>
                                        </p:tav>
                                        <p:tav tm="100000">
                                          <p:val>
                                            <p:strVal val="#ppt_x"/>
                                          </p:val>
                                        </p:tav>
                                      </p:tavLst>
                                    </p:anim>
                                    <p:anim calcmode="lin" valueType="num">
                                      <p:cBhvr>
                                        <p:cTn id="68" dur="500" fill="hold"/>
                                        <p:tgtEl>
                                          <p:spTgt spid="8264"/>
                                        </p:tgtEl>
                                        <p:attrNameLst>
                                          <p:attrName>ppt_y</p:attrName>
                                        </p:attrNameLst>
                                      </p:cBhvr>
                                      <p:tavLst>
                                        <p:tav tm="0">
                                          <p:val>
                                            <p:strVal val="#ppt_y-#ppt_h/2"/>
                                          </p:val>
                                        </p:tav>
                                        <p:tav tm="100000">
                                          <p:val>
                                            <p:strVal val="#ppt_y"/>
                                          </p:val>
                                        </p:tav>
                                      </p:tavLst>
                                    </p:anim>
                                    <p:anim calcmode="lin" valueType="num">
                                      <p:cBhvr>
                                        <p:cTn id="69" dur="500" fill="hold"/>
                                        <p:tgtEl>
                                          <p:spTgt spid="8264"/>
                                        </p:tgtEl>
                                        <p:attrNameLst>
                                          <p:attrName>ppt_w</p:attrName>
                                        </p:attrNameLst>
                                      </p:cBhvr>
                                      <p:tavLst>
                                        <p:tav tm="0">
                                          <p:val>
                                            <p:strVal val="#ppt_w"/>
                                          </p:val>
                                        </p:tav>
                                        <p:tav tm="100000">
                                          <p:val>
                                            <p:strVal val="#ppt_w"/>
                                          </p:val>
                                        </p:tav>
                                      </p:tavLst>
                                    </p:anim>
                                    <p:anim calcmode="lin" valueType="num">
                                      <p:cBhvr>
                                        <p:cTn id="70" dur="500" fill="hold"/>
                                        <p:tgtEl>
                                          <p:spTgt spid="8264"/>
                                        </p:tgtEl>
                                        <p:attrNameLst>
                                          <p:attrName>ppt_h</p:attrName>
                                        </p:attrNameLst>
                                      </p:cBhvr>
                                      <p:tavLst>
                                        <p:tav tm="0">
                                          <p:val>
                                            <p:fltVal val="0"/>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3" presetID="17" presetClass="entr" presetSubtype="2" fill="hold" grpId="0" nodeType="clickEffect">
                                  <p:stCondLst>
                                    <p:cond delay="0"/>
                                  </p:stCondLst>
                                  <p:childTnLst>
                                    <p:set>
                                      <p:cBhvr>
                                        <p:cTn id="74" dur="1" fill="hold">
                                          <p:stCondLst>
                                            <p:cond delay="0"/>
                                          </p:stCondLst>
                                        </p:cTn>
                                        <p:tgtEl>
                                          <p:spTgt spid="8283"/>
                                        </p:tgtEl>
                                        <p:attrNameLst>
                                          <p:attrName>style.visibility</p:attrName>
                                        </p:attrNameLst>
                                      </p:cBhvr>
                                      <p:to>
                                        <p:strVal val="visible"/>
                                      </p:to>
                                    </p:set>
                                    <p:anim calcmode="lin" valueType="num">
                                      <p:cBhvr>
                                        <p:cTn id="75" dur="500" fill="hold"/>
                                        <p:tgtEl>
                                          <p:spTgt spid="8283"/>
                                        </p:tgtEl>
                                        <p:attrNameLst>
                                          <p:attrName>ppt_x</p:attrName>
                                        </p:attrNameLst>
                                      </p:cBhvr>
                                      <p:tavLst>
                                        <p:tav tm="0">
                                          <p:val>
                                            <p:strVal val="#ppt_x+#ppt_w/2"/>
                                          </p:val>
                                        </p:tav>
                                        <p:tav tm="100000">
                                          <p:val>
                                            <p:strVal val="#ppt_x"/>
                                          </p:val>
                                        </p:tav>
                                      </p:tavLst>
                                    </p:anim>
                                    <p:anim calcmode="lin" valueType="num">
                                      <p:cBhvr>
                                        <p:cTn id="76" dur="500" fill="hold"/>
                                        <p:tgtEl>
                                          <p:spTgt spid="8283"/>
                                        </p:tgtEl>
                                        <p:attrNameLst>
                                          <p:attrName>ppt_y</p:attrName>
                                        </p:attrNameLst>
                                      </p:cBhvr>
                                      <p:tavLst>
                                        <p:tav tm="0">
                                          <p:val>
                                            <p:strVal val="#ppt_y"/>
                                          </p:val>
                                        </p:tav>
                                        <p:tav tm="100000">
                                          <p:val>
                                            <p:strVal val="#ppt_y"/>
                                          </p:val>
                                        </p:tav>
                                      </p:tavLst>
                                    </p:anim>
                                    <p:anim calcmode="lin" valueType="num">
                                      <p:cBhvr>
                                        <p:cTn id="77" dur="500" fill="hold"/>
                                        <p:tgtEl>
                                          <p:spTgt spid="8283"/>
                                        </p:tgtEl>
                                        <p:attrNameLst>
                                          <p:attrName>ppt_w</p:attrName>
                                        </p:attrNameLst>
                                      </p:cBhvr>
                                      <p:tavLst>
                                        <p:tav tm="0">
                                          <p:val>
                                            <p:fltVal val="0"/>
                                          </p:val>
                                        </p:tav>
                                        <p:tav tm="100000">
                                          <p:val>
                                            <p:strVal val="#ppt_w"/>
                                          </p:val>
                                        </p:tav>
                                      </p:tavLst>
                                    </p:anim>
                                    <p:anim calcmode="lin" valueType="num">
                                      <p:cBhvr>
                                        <p:cTn id="78" dur="500" fill="hold"/>
                                        <p:tgtEl>
                                          <p:spTgt spid="828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build="p" autoUpdateAnimBg="0"/>
      <p:bldP spid="8195" grpId="0" build="p" autoUpdateAnimBg="0"/>
      <p:bldP spid="8220" grpId="0" autoUpdateAnimBg="0"/>
      <p:bldP spid="8249" grpId="0" animBg="1"/>
      <p:bldP spid="8283" grpId="0" animBg="1" autoUpdateAnimBg="0"/>
      <p:bldP spid="8284"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Text Box 4"/>
          <p:cNvSpPr txBox="1">
            <a:spLocks noChangeArrowheads="1"/>
          </p:cNvSpPr>
          <p:nvPr/>
        </p:nvSpPr>
        <p:spPr bwMode="auto">
          <a:xfrm>
            <a:off x="741180" y="344644"/>
            <a:ext cx="1106011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latin typeface="宋体" panose="02010600030101010101" pitchFamily="2" charset="-122"/>
              </a:rPr>
              <a:t>（</a:t>
            </a:r>
            <a:r>
              <a:rPr lang="zh-CN" altLang="en-US" sz="4000" b="1" dirty="0"/>
              <a:t>2</a:t>
            </a:r>
            <a:r>
              <a:rPr lang="zh-CN" altLang="en-US" sz="4000" b="1" dirty="0">
                <a:latin typeface="宋体" panose="02010600030101010101" pitchFamily="2" charset="-122"/>
              </a:rPr>
              <a:t>）</a:t>
            </a:r>
            <a:r>
              <a:rPr lang="zh-CN" altLang="en-US" sz="4000" b="1" dirty="0">
                <a:solidFill>
                  <a:srgbClr val="FF3300"/>
                </a:solidFill>
                <a:latin typeface="宋体" panose="02010600030101010101" pitchFamily="2" charset="-122"/>
              </a:rPr>
              <a:t>轮廓的最大高度 </a:t>
            </a:r>
            <a:r>
              <a:rPr lang="en-US" altLang="zh-CN" sz="4000" b="1" i="1" dirty="0" err="1" smtClean="0">
                <a:solidFill>
                  <a:srgbClr val="FF3300"/>
                </a:solidFill>
              </a:rPr>
              <a:t>Rz</a:t>
            </a:r>
            <a:endParaRPr lang="zh-CN" altLang="en-US" sz="4000" b="1" dirty="0"/>
          </a:p>
        </p:txBody>
      </p:sp>
      <p:graphicFrame>
        <p:nvGraphicFramePr>
          <p:cNvPr id="44047" name="Object 15"/>
          <p:cNvGraphicFramePr>
            <a:graphicFrameLocks noChangeAspect="1"/>
          </p:cNvGraphicFramePr>
          <p:nvPr/>
        </p:nvGraphicFramePr>
        <p:xfrm>
          <a:off x="2342083" y="2789874"/>
          <a:ext cx="10159713" cy="923611"/>
        </p:xfrm>
        <a:graphic>
          <a:graphicData uri="http://schemas.openxmlformats.org/presentationml/2006/ole">
            <mc:AlternateContent xmlns:mc="http://schemas.openxmlformats.org/markup-compatibility/2006">
              <mc:Choice xmlns:v="urn:schemas-microsoft-com:vml" Requires="v">
                <p:oleObj spid="_x0000_s27697" name="公式" r:id="rId3" imgW="60350400" imgH="5486400" progId="">
                  <p:embed/>
                </p:oleObj>
              </mc:Choice>
              <mc:Fallback>
                <p:oleObj name="公式" r:id="rId3" imgW="60350400" imgH="5486400" progId="">
                  <p:embed/>
                  <p:pic>
                    <p:nvPicPr>
                      <p:cNvPr id="0" name="Picture 6" descr="image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2083" y="2789874"/>
                        <a:ext cx="10159713" cy="923611"/>
                      </a:xfrm>
                      <a:prstGeom prst="rect">
                        <a:avLst/>
                      </a:prstGeom>
                      <a:solidFill>
                        <a:srgbClr val="FFCCCC"/>
                      </a:solidFill>
                    </p:spPr>
                  </p:pic>
                </p:oleObj>
              </mc:Fallback>
            </mc:AlternateContent>
          </a:graphicData>
        </a:graphic>
      </p:graphicFrame>
      <p:sp>
        <p:nvSpPr>
          <p:cNvPr id="44085" name="AutoShape 53"/>
          <p:cNvSpPr>
            <a:spLocks noChangeArrowheads="1"/>
          </p:cNvSpPr>
          <p:nvPr/>
        </p:nvSpPr>
        <p:spPr bwMode="auto">
          <a:xfrm>
            <a:off x="4841721" y="9563100"/>
            <a:ext cx="3749675" cy="1016000"/>
          </a:xfrm>
          <a:prstGeom prst="wedgeRoundRectCallout">
            <a:avLst>
              <a:gd name="adj1" fmla="val -115905"/>
              <a:gd name="adj2" fmla="val -300706"/>
              <a:gd name="adj3" fmla="val 16667"/>
            </a:avLst>
          </a:prstGeom>
          <a:solidFill>
            <a:srgbClr val="CCFFFF"/>
          </a:solidFill>
          <a:ln w="38100">
            <a:solidFill>
              <a:srgbClr val="FF33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lstStyle/>
          <a:p>
            <a:pPr algn="ctr" defTabSz="1524000"/>
            <a:r>
              <a:rPr lang="zh-CN" altLang="en-US" sz="4700" b="1">
                <a:solidFill>
                  <a:srgbClr val="FF3300"/>
                </a:solidFill>
              </a:rPr>
              <a:t>最大高度</a:t>
            </a:r>
            <a:r>
              <a:rPr lang="en-US" altLang="zh-CN" sz="4700" b="1" i="1">
                <a:solidFill>
                  <a:srgbClr val="FF3300"/>
                </a:solidFill>
              </a:rPr>
              <a:t>Rz</a:t>
            </a:r>
          </a:p>
        </p:txBody>
      </p:sp>
      <p:grpSp>
        <p:nvGrpSpPr>
          <p:cNvPr id="44090" name="Group 58"/>
          <p:cNvGrpSpPr/>
          <p:nvPr/>
        </p:nvGrpSpPr>
        <p:grpSpPr bwMode="auto">
          <a:xfrm>
            <a:off x="1133475" y="3868738"/>
            <a:ext cx="12293600" cy="5532437"/>
            <a:chOff x="714" y="2755"/>
            <a:chExt cx="7744" cy="3485"/>
          </a:xfrm>
        </p:grpSpPr>
        <p:graphicFrame>
          <p:nvGraphicFramePr>
            <p:cNvPr id="17416" name="Object 39"/>
            <p:cNvGraphicFramePr>
              <a:graphicFrameLocks noChangeAspect="1"/>
            </p:cNvGraphicFramePr>
            <p:nvPr/>
          </p:nvGraphicFramePr>
          <p:xfrm>
            <a:off x="2677" y="3382"/>
            <a:ext cx="969" cy="767"/>
          </p:xfrm>
          <a:graphic>
            <a:graphicData uri="http://schemas.openxmlformats.org/presentationml/2006/ole">
              <mc:AlternateContent xmlns:mc="http://schemas.openxmlformats.org/markup-compatibility/2006">
                <mc:Choice xmlns:v="urn:schemas-microsoft-com:vml" Requires="v">
                  <p:oleObj spid="_x0000_s27698" name="Equation" r:id="rId5" imgW="7315200" imgH="5791200" progId="">
                    <p:embed/>
                  </p:oleObj>
                </mc:Choice>
                <mc:Fallback>
                  <p:oleObj name="Equation" r:id="rId5" imgW="7315200" imgH="5791200" progId="">
                    <p:embed/>
                    <p:pic>
                      <p:nvPicPr>
                        <p:cNvPr id="0" name="Picture 5" descr="image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7" y="3382"/>
                          <a:ext cx="969" cy="767"/>
                        </a:xfrm>
                        <a:prstGeom prst="rect">
                          <a:avLst/>
                        </a:prstGeom>
                        <a:solidFill>
                          <a:srgbClr val="FFCCCC"/>
                        </a:solidFill>
                      </p:spPr>
                    </p:pic>
                  </p:oleObj>
                </mc:Fallback>
              </mc:AlternateContent>
            </a:graphicData>
          </a:graphic>
        </p:graphicFrame>
        <p:graphicFrame>
          <p:nvGraphicFramePr>
            <p:cNvPr id="17417" name="Object 41"/>
            <p:cNvGraphicFramePr>
              <a:graphicFrameLocks noChangeAspect="1"/>
            </p:cNvGraphicFramePr>
            <p:nvPr/>
          </p:nvGraphicFramePr>
          <p:xfrm>
            <a:off x="5854" y="5002"/>
            <a:ext cx="829" cy="630"/>
          </p:xfrm>
          <a:graphic>
            <a:graphicData uri="http://schemas.openxmlformats.org/presentationml/2006/ole">
              <mc:AlternateContent xmlns:mc="http://schemas.openxmlformats.org/markup-compatibility/2006">
                <mc:Choice xmlns:v="urn:schemas-microsoft-com:vml" Requires="v">
                  <p:oleObj spid="_x0000_s27699" name="Equation" r:id="rId7" imgW="7620000" imgH="5791200" progId="">
                    <p:embed/>
                  </p:oleObj>
                </mc:Choice>
                <mc:Fallback>
                  <p:oleObj name="Equation" r:id="rId7" imgW="7620000" imgH="5791200" progId="">
                    <p:embed/>
                    <p:pic>
                      <p:nvPicPr>
                        <p:cNvPr id="0" name="Picture 4" descr="image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54" y="5002"/>
                          <a:ext cx="829" cy="630"/>
                        </a:xfrm>
                        <a:prstGeom prst="rect">
                          <a:avLst/>
                        </a:prstGeom>
                        <a:solidFill>
                          <a:srgbClr val="CCFFFF"/>
                        </a:solidFill>
                      </p:spPr>
                    </p:pic>
                  </p:oleObj>
                </mc:Fallback>
              </mc:AlternateContent>
            </a:graphicData>
          </a:graphic>
        </p:graphicFrame>
        <p:sp>
          <p:nvSpPr>
            <p:cNvPr id="17418" name="Line 29"/>
            <p:cNvSpPr>
              <a:spLocks noChangeShapeType="1"/>
            </p:cNvSpPr>
            <p:nvPr/>
          </p:nvSpPr>
          <p:spPr bwMode="auto">
            <a:xfrm>
              <a:off x="1953" y="3792"/>
              <a:ext cx="36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19" name="Line 30"/>
            <p:cNvSpPr>
              <a:spLocks noChangeShapeType="1"/>
            </p:cNvSpPr>
            <p:nvPr/>
          </p:nvSpPr>
          <p:spPr bwMode="auto">
            <a:xfrm>
              <a:off x="2975" y="3350"/>
              <a:ext cx="717"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20" name="Line 45"/>
            <p:cNvSpPr>
              <a:spLocks noChangeShapeType="1"/>
            </p:cNvSpPr>
            <p:nvPr/>
          </p:nvSpPr>
          <p:spPr bwMode="auto">
            <a:xfrm>
              <a:off x="1077" y="3349"/>
              <a:ext cx="245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grpSp>
          <p:nvGrpSpPr>
            <p:cNvPr id="17421" name="Group 50"/>
            <p:cNvGrpSpPr/>
            <p:nvPr/>
          </p:nvGrpSpPr>
          <p:grpSpPr bwMode="auto">
            <a:xfrm>
              <a:off x="1000" y="2757"/>
              <a:ext cx="7458" cy="3483"/>
              <a:chOff x="600" y="1537"/>
              <a:chExt cx="4475" cy="2090"/>
            </a:xfrm>
          </p:grpSpPr>
          <p:grpSp>
            <p:nvGrpSpPr>
              <p:cNvPr id="17439" name="Group 17"/>
              <p:cNvGrpSpPr/>
              <p:nvPr/>
            </p:nvGrpSpPr>
            <p:grpSpPr bwMode="auto">
              <a:xfrm>
                <a:off x="600" y="1537"/>
                <a:ext cx="4475" cy="2084"/>
                <a:chOff x="581" y="2542"/>
                <a:chExt cx="4475" cy="1691"/>
              </a:xfrm>
            </p:grpSpPr>
            <p:sp>
              <p:nvSpPr>
                <p:cNvPr id="17441" name="Line 18"/>
                <p:cNvSpPr>
                  <a:spLocks noChangeShapeType="1"/>
                </p:cNvSpPr>
                <p:nvPr/>
              </p:nvSpPr>
              <p:spPr bwMode="auto">
                <a:xfrm>
                  <a:off x="905" y="3360"/>
                  <a:ext cx="4005" cy="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42" name="Line 19"/>
                <p:cNvSpPr>
                  <a:spLocks noChangeShapeType="1"/>
                </p:cNvSpPr>
                <p:nvPr/>
              </p:nvSpPr>
              <p:spPr bwMode="auto">
                <a:xfrm>
                  <a:off x="1079" y="2658"/>
                  <a:ext cx="0" cy="1554"/>
                </a:xfrm>
                <a:prstGeom prst="line">
                  <a:avLst/>
                </a:prstGeom>
                <a:noFill/>
                <a:ln w="2857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43" name="Text Box 20"/>
                <p:cNvSpPr txBox="1">
                  <a:spLocks noChangeArrowheads="1"/>
                </p:cNvSpPr>
                <p:nvPr/>
              </p:nvSpPr>
              <p:spPr bwMode="auto">
                <a:xfrm>
                  <a:off x="581" y="2542"/>
                  <a:ext cx="696"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Z</a:t>
                  </a:r>
                  <a:r>
                    <a:rPr lang="en-US" altLang="zh-CN" sz="4700"/>
                    <a:t>(</a:t>
                  </a:r>
                  <a:r>
                    <a:rPr lang="en-US" altLang="zh-CN" sz="4700" i="1"/>
                    <a:t>x)</a:t>
                  </a:r>
                </a:p>
              </p:txBody>
            </p:sp>
            <p:sp>
              <p:nvSpPr>
                <p:cNvPr id="17444" name="Text Box 21"/>
                <p:cNvSpPr txBox="1">
                  <a:spLocks noChangeArrowheads="1"/>
                </p:cNvSpPr>
                <p:nvPr/>
              </p:nvSpPr>
              <p:spPr bwMode="auto">
                <a:xfrm>
                  <a:off x="4598" y="3338"/>
                  <a:ext cx="458"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X</a:t>
                  </a:r>
                </a:p>
              </p:txBody>
            </p:sp>
            <p:sp>
              <p:nvSpPr>
                <p:cNvPr id="17445" name="Freeform 22"/>
                <p:cNvSpPr/>
                <p:nvPr/>
              </p:nvSpPr>
              <p:spPr bwMode="auto">
                <a:xfrm>
                  <a:off x="969" y="2812"/>
                  <a:ext cx="3770" cy="1193"/>
                </a:xfrm>
                <a:custGeom>
                  <a:avLst/>
                  <a:gdLst>
                    <a:gd name="T0" fmla="*/ 92 w 3770"/>
                    <a:gd name="T1" fmla="*/ 589 h 1193"/>
                    <a:gd name="T2" fmla="*/ 128 w 3770"/>
                    <a:gd name="T3" fmla="*/ 507 h 1193"/>
                    <a:gd name="T4" fmla="*/ 210 w 3770"/>
                    <a:gd name="T5" fmla="*/ 425 h 1193"/>
                    <a:gd name="T6" fmla="*/ 265 w 3770"/>
                    <a:gd name="T7" fmla="*/ 324 h 1193"/>
                    <a:gd name="T8" fmla="*/ 366 w 3770"/>
                    <a:gd name="T9" fmla="*/ 260 h 1193"/>
                    <a:gd name="T10" fmla="*/ 448 w 3770"/>
                    <a:gd name="T11" fmla="*/ 361 h 1193"/>
                    <a:gd name="T12" fmla="*/ 457 w 3770"/>
                    <a:gd name="T13" fmla="*/ 681 h 1193"/>
                    <a:gd name="T14" fmla="*/ 540 w 3770"/>
                    <a:gd name="T15" fmla="*/ 790 h 1193"/>
                    <a:gd name="T16" fmla="*/ 622 w 3770"/>
                    <a:gd name="T17" fmla="*/ 754 h 1193"/>
                    <a:gd name="T18" fmla="*/ 686 w 3770"/>
                    <a:gd name="T19" fmla="*/ 598 h 1193"/>
                    <a:gd name="T20" fmla="*/ 777 w 3770"/>
                    <a:gd name="T21" fmla="*/ 214 h 1193"/>
                    <a:gd name="T22" fmla="*/ 860 w 3770"/>
                    <a:gd name="T23" fmla="*/ 260 h 1193"/>
                    <a:gd name="T24" fmla="*/ 951 w 3770"/>
                    <a:gd name="T25" fmla="*/ 306 h 1193"/>
                    <a:gd name="T26" fmla="*/ 1033 w 3770"/>
                    <a:gd name="T27" fmla="*/ 233 h 1193"/>
                    <a:gd name="T28" fmla="*/ 1097 w 3770"/>
                    <a:gd name="T29" fmla="*/ 150 h 1193"/>
                    <a:gd name="T30" fmla="*/ 1134 w 3770"/>
                    <a:gd name="T31" fmla="*/ 77 h 1193"/>
                    <a:gd name="T32" fmla="*/ 1189 w 3770"/>
                    <a:gd name="T33" fmla="*/ 123 h 1193"/>
                    <a:gd name="T34" fmla="*/ 1216 w 3770"/>
                    <a:gd name="T35" fmla="*/ 205 h 1193"/>
                    <a:gd name="T36" fmla="*/ 1198 w 3770"/>
                    <a:gd name="T37" fmla="*/ 452 h 1193"/>
                    <a:gd name="T38" fmla="*/ 1262 w 3770"/>
                    <a:gd name="T39" fmla="*/ 681 h 1193"/>
                    <a:gd name="T40" fmla="*/ 1326 w 3770"/>
                    <a:gd name="T41" fmla="*/ 809 h 1193"/>
                    <a:gd name="T42" fmla="*/ 1490 w 3770"/>
                    <a:gd name="T43" fmla="*/ 900 h 1193"/>
                    <a:gd name="T44" fmla="*/ 1564 w 3770"/>
                    <a:gd name="T45" fmla="*/ 781 h 1193"/>
                    <a:gd name="T46" fmla="*/ 1692 w 3770"/>
                    <a:gd name="T47" fmla="*/ 397 h 1193"/>
                    <a:gd name="T48" fmla="*/ 1847 w 3770"/>
                    <a:gd name="T49" fmla="*/ 260 h 1193"/>
                    <a:gd name="T50" fmla="*/ 1865 w 3770"/>
                    <a:gd name="T51" fmla="*/ 178 h 1193"/>
                    <a:gd name="T52" fmla="*/ 1929 w 3770"/>
                    <a:gd name="T53" fmla="*/ 233 h 1193"/>
                    <a:gd name="T54" fmla="*/ 2012 w 3770"/>
                    <a:gd name="T55" fmla="*/ 333 h 1193"/>
                    <a:gd name="T56" fmla="*/ 2066 w 3770"/>
                    <a:gd name="T57" fmla="*/ 1001 h 1193"/>
                    <a:gd name="T58" fmla="*/ 2112 w 3770"/>
                    <a:gd name="T59" fmla="*/ 1165 h 1193"/>
                    <a:gd name="T60" fmla="*/ 2167 w 3770"/>
                    <a:gd name="T61" fmla="*/ 1074 h 1193"/>
                    <a:gd name="T62" fmla="*/ 2268 w 3770"/>
                    <a:gd name="T63" fmla="*/ 653 h 1193"/>
                    <a:gd name="T64" fmla="*/ 2313 w 3770"/>
                    <a:gd name="T65" fmla="*/ 498 h 1193"/>
                    <a:gd name="T66" fmla="*/ 2350 w 3770"/>
                    <a:gd name="T67" fmla="*/ 388 h 1193"/>
                    <a:gd name="T68" fmla="*/ 2368 w 3770"/>
                    <a:gd name="T69" fmla="*/ 242 h 1193"/>
                    <a:gd name="T70" fmla="*/ 2478 w 3770"/>
                    <a:gd name="T71" fmla="*/ 178 h 1193"/>
                    <a:gd name="T72" fmla="*/ 2588 w 3770"/>
                    <a:gd name="T73" fmla="*/ 251 h 1193"/>
                    <a:gd name="T74" fmla="*/ 2606 w 3770"/>
                    <a:gd name="T75" fmla="*/ 425 h 1193"/>
                    <a:gd name="T76" fmla="*/ 2706 w 3770"/>
                    <a:gd name="T77" fmla="*/ 937 h 1193"/>
                    <a:gd name="T78" fmla="*/ 2798 w 3770"/>
                    <a:gd name="T79" fmla="*/ 873 h 1193"/>
                    <a:gd name="T80" fmla="*/ 2844 w 3770"/>
                    <a:gd name="T81" fmla="*/ 571 h 1193"/>
                    <a:gd name="T82" fmla="*/ 2880 w 3770"/>
                    <a:gd name="T83" fmla="*/ 461 h 1193"/>
                    <a:gd name="T84" fmla="*/ 2908 w 3770"/>
                    <a:gd name="T85" fmla="*/ 361 h 1193"/>
                    <a:gd name="T86" fmla="*/ 3081 w 3770"/>
                    <a:gd name="T87" fmla="*/ 223 h 1193"/>
                    <a:gd name="T88" fmla="*/ 3154 w 3770"/>
                    <a:gd name="T89" fmla="*/ 315 h 1193"/>
                    <a:gd name="T90" fmla="*/ 3264 w 3770"/>
                    <a:gd name="T91" fmla="*/ 617 h 1193"/>
                    <a:gd name="T92" fmla="*/ 3356 w 3770"/>
                    <a:gd name="T93" fmla="*/ 836 h 1193"/>
                    <a:gd name="T94" fmla="*/ 3401 w 3770"/>
                    <a:gd name="T95" fmla="*/ 763 h 1193"/>
                    <a:gd name="T96" fmla="*/ 3484 w 3770"/>
                    <a:gd name="T97" fmla="*/ 479 h 1193"/>
                    <a:gd name="T98" fmla="*/ 3612 w 3770"/>
                    <a:gd name="T99" fmla="*/ 333 h 1193"/>
                    <a:gd name="T100" fmla="*/ 3666 w 3770"/>
                    <a:gd name="T101" fmla="*/ 315 h 1193"/>
                    <a:gd name="T102" fmla="*/ 3767 w 3770"/>
                    <a:gd name="T103" fmla="*/ 269 h 1193"/>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3770" h="1193">
                      <a:moveTo>
                        <a:pt x="0" y="699"/>
                      </a:moveTo>
                      <a:cubicBezTo>
                        <a:pt x="51" y="683"/>
                        <a:pt x="75" y="638"/>
                        <a:pt x="92" y="589"/>
                      </a:cubicBezTo>
                      <a:cubicBezTo>
                        <a:pt x="95" y="565"/>
                        <a:pt x="91" y="538"/>
                        <a:pt x="101" y="516"/>
                      </a:cubicBezTo>
                      <a:cubicBezTo>
                        <a:pt x="105" y="507"/>
                        <a:pt x="119" y="511"/>
                        <a:pt x="128" y="507"/>
                      </a:cubicBezTo>
                      <a:cubicBezTo>
                        <a:pt x="156" y="493"/>
                        <a:pt x="175" y="469"/>
                        <a:pt x="201" y="452"/>
                      </a:cubicBezTo>
                      <a:cubicBezTo>
                        <a:pt x="204" y="443"/>
                        <a:pt x="205" y="433"/>
                        <a:pt x="210" y="425"/>
                      </a:cubicBezTo>
                      <a:cubicBezTo>
                        <a:pt x="215" y="417"/>
                        <a:pt x="225" y="414"/>
                        <a:pt x="229" y="406"/>
                      </a:cubicBezTo>
                      <a:cubicBezTo>
                        <a:pt x="234" y="396"/>
                        <a:pt x="245" y="336"/>
                        <a:pt x="265" y="324"/>
                      </a:cubicBezTo>
                      <a:cubicBezTo>
                        <a:pt x="281" y="314"/>
                        <a:pt x="320" y="306"/>
                        <a:pt x="320" y="306"/>
                      </a:cubicBezTo>
                      <a:cubicBezTo>
                        <a:pt x="335" y="291"/>
                        <a:pt x="351" y="275"/>
                        <a:pt x="366" y="260"/>
                      </a:cubicBezTo>
                      <a:cubicBezTo>
                        <a:pt x="375" y="251"/>
                        <a:pt x="393" y="233"/>
                        <a:pt x="393" y="233"/>
                      </a:cubicBezTo>
                      <a:cubicBezTo>
                        <a:pt x="431" y="269"/>
                        <a:pt x="411" y="322"/>
                        <a:pt x="448" y="361"/>
                      </a:cubicBezTo>
                      <a:cubicBezTo>
                        <a:pt x="473" y="435"/>
                        <a:pt x="448" y="350"/>
                        <a:pt x="448" y="516"/>
                      </a:cubicBezTo>
                      <a:cubicBezTo>
                        <a:pt x="448" y="571"/>
                        <a:pt x="449" y="627"/>
                        <a:pt x="457" y="681"/>
                      </a:cubicBezTo>
                      <a:cubicBezTo>
                        <a:pt x="460" y="700"/>
                        <a:pt x="483" y="710"/>
                        <a:pt x="494" y="726"/>
                      </a:cubicBezTo>
                      <a:cubicBezTo>
                        <a:pt x="512" y="782"/>
                        <a:pt x="520" y="735"/>
                        <a:pt x="540" y="790"/>
                      </a:cubicBezTo>
                      <a:cubicBezTo>
                        <a:pt x="564" y="787"/>
                        <a:pt x="591" y="791"/>
                        <a:pt x="613" y="781"/>
                      </a:cubicBezTo>
                      <a:cubicBezTo>
                        <a:pt x="622" y="777"/>
                        <a:pt x="621" y="763"/>
                        <a:pt x="622" y="754"/>
                      </a:cubicBezTo>
                      <a:cubicBezTo>
                        <a:pt x="627" y="724"/>
                        <a:pt x="624" y="692"/>
                        <a:pt x="631" y="662"/>
                      </a:cubicBezTo>
                      <a:cubicBezTo>
                        <a:pt x="636" y="638"/>
                        <a:pt x="670" y="615"/>
                        <a:pt x="686" y="598"/>
                      </a:cubicBezTo>
                      <a:cubicBezTo>
                        <a:pt x="708" y="531"/>
                        <a:pt x="699" y="562"/>
                        <a:pt x="713" y="507"/>
                      </a:cubicBezTo>
                      <a:cubicBezTo>
                        <a:pt x="718" y="424"/>
                        <a:pt x="710" y="285"/>
                        <a:pt x="777" y="214"/>
                      </a:cubicBezTo>
                      <a:cubicBezTo>
                        <a:pt x="787" y="183"/>
                        <a:pt x="801" y="173"/>
                        <a:pt x="823" y="150"/>
                      </a:cubicBezTo>
                      <a:cubicBezTo>
                        <a:pt x="829" y="170"/>
                        <a:pt x="842" y="238"/>
                        <a:pt x="860" y="260"/>
                      </a:cubicBezTo>
                      <a:cubicBezTo>
                        <a:pt x="867" y="268"/>
                        <a:pt x="912" y="304"/>
                        <a:pt x="924" y="315"/>
                      </a:cubicBezTo>
                      <a:cubicBezTo>
                        <a:pt x="933" y="312"/>
                        <a:pt x="944" y="313"/>
                        <a:pt x="951" y="306"/>
                      </a:cubicBezTo>
                      <a:cubicBezTo>
                        <a:pt x="980" y="276"/>
                        <a:pt x="936" y="277"/>
                        <a:pt x="978" y="251"/>
                      </a:cubicBezTo>
                      <a:cubicBezTo>
                        <a:pt x="994" y="241"/>
                        <a:pt x="1015" y="239"/>
                        <a:pt x="1033" y="233"/>
                      </a:cubicBezTo>
                      <a:cubicBezTo>
                        <a:pt x="1042" y="230"/>
                        <a:pt x="1061" y="223"/>
                        <a:pt x="1061" y="223"/>
                      </a:cubicBezTo>
                      <a:cubicBezTo>
                        <a:pt x="1082" y="161"/>
                        <a:pt x="1066" y="183"/>
                        <a:pt x="1097" y="150"/>
                      </a:cubicBezTo>
                      <a:cubicBezTo>
                        <a:pt x="1123" y="71"/>
                        <a:pt x="1086" y="169"/>
                        <a:pt x="1125" y="105"/>
                      </a:cubicBezTo>
                      <a:cubicBezTo>
                        <a:pt x="1130" y="97"/>
                        <a:pt x="1130" y="86"/>
                        <a:pt x="1134" y="77"/>
                      </a:cubicBezTo>
                      <a:cubicBezTo>
                        <a:pt x="1144" y="56"/>
                        <a:pt x="1155" y="47"/>
                        <a:pt x="1170" y="31"/>
                      </a:cubicBezTo>
                      <a:cubicBezTo>
                        <a:pt x="1195" y="102"/>
                        <a:pt x="1161" y="0"/>
                        <a:pt x="1189" y="123"/>
                      </a:cubicBezTo>
                      <a:cubicBezTo>
                        <a:pt x="1193" y="142"/>
                        <a:pt x="1201" y="160"/>
                        <a:pt x="1207" y="178"/>
                      </a:cubicBezTo>
                      <a:cubicBezTo>
                        <a:pt x="1210" y="187"/>
                        <a:pt x="1216" y="205"/>
                        <a:pt x="1216" y="205"/>
                      </a:cubicBezTo>
                      <a:cubicBezTo>
                        <a:pt x="1196" y="288"/>
                        <a:pt x="1206" y="254"/>
                        <a:pt x="1189" y="306"/>
                      </a:cubicBezTo>
                      <a:cubicBezTo>
                        <a:pt x="1192" y="355"/>
                        <a:pt x="1192" y="404"/>
                        <a:pt x="1198" y="452"/>
                      </a:cubicBezTo>
                      <a:cubicBezTo>
                        <a:pt x="1201" y="471"/>
                        <a:pt x="1211" y="488"/>
                        <a:pt x="1216" y="507"/>
                      </a:cubicBezTo>
                      <a:cubicBezTo>
                        <a:pt x="1231" y="566"/>
                        <a:pt x="1243" y="623"/>
                        <a:pt x="1262" y="681"/>
                      </a:cubicBezTo>
                      <a:cubicBezTo>
                        <a:pt x="1265" y="691"/>
                        <a:pt x="1276" y="698"/>
                        <a:pt x="1280" y="708"/>
                      </a:cubicBezTo>
                      <a:cubicBezTo>
                        <a:pt x="1298" y="749"/>
                        <a:pt x="1296" y="777"/>
                        <a:pt x="1326" y="809"/>
                      </a:cubicBezTo>
                      <a:cubicBezTo>
                        <a:pt x="1353" y="891"/>
                        <a:pt x="1358" y="978"/>
                        <a:pt x="1436" y="1028"/>
                      </a:cubicBezTo>
                      <a:cubicBezTo>
                        <a:pt x="1511" y="1003"/>
                        <a:pt x="1442" y="945"/>
                        <a:pt x="1490" y="900"/>
                      </a:cubicBezTo>
                      <a:cubicBezTo>
                        <a:pt x="1515" y="876"/>
                        <a:pt x="1503" y="888"/>
                        <a:pt x="1527" y="863"/>
                      </a:cubicBezTo>
                      <a:cubicBezTo>
                        <a:pt x="1537" y="833"/>
                        <a:pt x="1553" y="810"/>
                        <a:pt x="1564" y="781"/>
                      </a:cubicBezTo>
                      <a:cubicBezTo>
                        <a:pt x="1571" y="733"/>
                        <a:pt x="1568" y="705"/>
                        <a:pt x="1600" y="671"/>
                      </a:cubicBezTo>
                      <a:cubicBezTo>
                        <a:pt x="1630" y="580"/>
                        <a:pt x="1660" y="488"/>
                        <a:pt x="1692" y="397"/>
                      </a:cubicBezTo>
                      <a:cubicBezTo>
                        <a:pt x="1702" y="368"/>
                        <a:pt x="1747" y="366"/>
                        <a:pt x="1765" y="342"/>
                      </a:cubicBezTo>
                      <a:cubicBezTo>
                        <a:pt x="1798" y="297"/>
                        <a:pt x="1796" y="277"/>
                        <a:pt x="1847" y="260"/>
                      </a:cubicBezTo>
                      <a:cubicBezTo>
                        <a:pt x="1850" y="223"/>
                        <a:pt x="1848" y="186"/>
                        <a:pt x="1856" y="150"/>
                      </a:cubicBezTo>
                      <a:cubicBezTo>
                        <a:pt x="1858" y="140"/>
                        <a:pt x="1860" y="170"/>
                        <a:pt x="1865" y="178"/>
                      </a:cubicBezTo>
                      <a:cubicBezTo>
                        <a:pt x="1870" y="185"/>
                        <a:pt x="1877" y="191"/>
                        <a:pt x="1884" y="196"/>
                      </a:cubicBezTo>
                      <a:cubicBezTo>
                        <a:pt x="1899" y="208"/>
                        <a:pt x="1912" y="224"/>
                        <a:pt x="1929" y="233"/>
                      </a:cubicBezTo>
                      <a:cubicBezTo>
                        <a:pt x="1946" y="242"/>
                        <a:pt x="1984" y="251"/>
                        <a:pt x="1984" y="251"/>
                      </a:cubicBezTo>
                      <a:cubicBezTo>
                        <a:pt x="2005" y="315"/>
                        <a:pt x="1995" y="288"/>
                        <a:pt x="2012" y="333"/>
                      </a:cubicBezTo>
                      <a:cubicBezTo>
                        <a:pt x="2017" y="477"/>
                        <a:pt x="1980" y="569"/>
                        <a:pt x="2048" y="671"/>
                      </a:cubicBezTo>
                      <a:cubicBezTo>
                        <a:pt x="2050" y="710"/>
                        <a:pt x="2058" y="937"/>
                        <a:pt x="2066" y="1001"/>
                      </a:cubicBezTo>
                      <a:cubicBezTo>
                        <a:pt x="2070" y="1034"/>
                        <a:pt x="2085" y="1078"/>
                        <a:pt x="2094" y="1110"/>
                      </a:cubicBezTo>
                      <a:cubicBezTo>
                        <a:pt x="2099" y="1129"/>
                        <a:pt x="2106" y="1147"/>
                        <a:pt x="2112" y="1165"/>
                      </a:cubicBezTo>
                      <a:cubicBezTo>
                        <a:pt x="2115" y="1174"/>
                        <a:pt x="2121" y="1193"/>
                        <a:pt x="2121" y="1193"/>
                      </a:cubicBezTo>
                      <a:cubicBezTo>
                        <a:pt x="2189" y="1169"/>
                        <a:pt x="2138" y="1123"/>
                        <a:pt x="2167" y="1074"/>
                      </a:cubicBezTo>
                      <a:cubicBezTo>
                        <a:pt x="2181" y="1050"/>
                        <a:pt x="2240" y="1037"/>
                        <a:pt x="2240" y="1037"/>
                      </a:cubicBezTo>
                      <a:cubicBezTo>
                        <a:pt x="2276" y="928"/>
                        <a:pt x="2256" y="762"/>
                        <a:pt x="2268" y="653"/>
                      </a:cubicBezTo>
                      <a:cubicBezTo>
                        <a:pt x="2272" y="619"/>
                        <a:pt x="2286" y="586"/>
                        <a:pt x="2295" y="553"/>
                      </a:cubicBezTo>
                      <a:cubicBezTo>
                        <a:pt x="2300" y="534"/>
                        <a:pt x="2313" y="498"/>
                        <a:pt x="2313" y="498"/>
                      </a:cubicBezTo>
                      <a:cubicBezTo>
                        <a:pt x="2316" y="464"/>
                        <a:pt x="2311" y="429"/>
                        <a:pt x="2322" y="397"/>
                      </a:cubicBezTo>
                      <a:cubicBezTo>
                        <a:pt x="2325" y="388"/>
                        <a:pt x="2343" y="395"/>
                        <a:pt x="2350" y="388"/>
                      </a:cubicBezTo>
                      <a:cubicBezTo>
                        <a:pt x="2363" y="376"/>
                        <a:pt x="2365" y="355"/>
                        <a:pt x="2377" y="342"/>
                      </a:cubicBezTo>
                      <a:cubicBezTo>
                        <a:pt x="2389" y="305"/>
                        <a:pt x="2380" y="278"/>
                        <a:pt x="2368" y="242"/>
                      </a:cubicBezTo>
                      <a:cubicBezTo>
                        <a:pt x="2415" y="192"/>
                        <a:pt x="2348" y="256"/>
                        <a:pt x="2423" y="214"/>
                      </a:cubicBezTo>
                      <a:cubicBezTo>
                        <a:pt x="2519" y="160"/>
                        <a:pt x="2390" y="206"/>
                        <a:pt x="2478" y="178"/>
                      </a:cubicBezTo>
                      <a:cubicBezTo>
                        <a:pt x="2512" y="142"/>
                        <a:pt x="2554" y="164"/>
                        <a:pt x="2597" y="178"/>
                      </a:cubicBezTo>
                      <a:cubicBezTo>
                        <a:pt x="2594" y="202"/>
                        <a:pt x="2595" y="228"/>
                        <a:pt x="2588" y="251"/>
                      </a:cubicBezTo>
                      <a:cubicBezTo>
                        <a:pt x="2585" y="259"/>
                        <a:pt x="2570" y="260"/>
                        <a:pt x="2569" y="269"/>
                      </a:cubicBezTo>
                      <a:cubicBezTo>
                        <a:pt x="2561" y="361"/>
                        <a:pt x="2578" y="362"/>
                        <a:pt x="2606" y="425"/>
                      </a:cubicBezTo>
                      <a:cubicBezTo>
                        <a:pt x="2625" y="467"/>
                        <a:pt x="2620" y="495"/>
                        <a:pt x="2652" y="525"/>
                      </a:cubicBezTo>
                      <a:cubicBezTo>
                        <a:pt x="2653" y="562"/>
                        <a:pt x="2568" y="886"/>
                        <a:pt x="2706" y="937"/>
                      </a:cubicBezTo>
                      <a:cubicBezTo>
                        <a:pt x="2734" y="934"/>
                        <a:pt x="2766" y="943"/>
                        <a:pt x="2789" y="927"/>
                      </a:cubicBezTo>
                      <a:cubicBezTo>
                        <a:pt x="2804" y="917"/>
                        <a:pt x="2794" y="891"/>
                        <a:pt x="2798" y="873"/>
                      </a:cubicBezTo>
                      <a:cubicBezTo>
                        <a:pt x="2804" y="843"/>
                        <a:pt x="2808" y="844"/>
                        <a:pt x="2825" y="818"/>
                      </a:cubicBezTo>
                      <a:cubicBezTo>
                        <a:pt x="2859" y="713"/>
                        <a:pt x="2815" y="859"/>
                        <a:pt x="2844" y="571"/>
                      </a:cubicBezTo>
                      <a:cubicBezTo>
                        <a:pt x="2844" y="569"/>
                        <a:pt x="2866" y="504"/>
                        <a:pt x="2871" y="489"/>
                      </a:cubicBezTo>
                      <a:cubicBezTo>
                        <a:pt x="2874" y="480"/>
                        <a:pt x="2880" y="461"/>
                        <a:pt x="2880" y="461"/>
                      </a:cubicBezTo>
                      <a:cubicBezTo>
                        <a:pt x="2883" y="434"/>
                        <a:pt x="2882" y="405"/>
                        <a:pt x="2889" y="379"/>
                      </a:cubicBezTo>
                      <a:cubicBezTo>
                        <a:pt x="2891" y="371"/>
                        <a:pt x="2904" y="369"/>
                        <a:pt x="2908" y="361"/>
                      </a:cubicBezTo>
                      <a:cubicBezTo>
                        <a:pt x="2937" y="303"/>
                        <a:pt x="2907" y="299"/>
                        <a:pt x="2972" y="278"/>
                      </a:cubicBezTo>
                      <a:cubicBezTo>
                        <a:pt x="3017" y="248"/>
                        <a:pt x="3034" y="241"/>
                        <a:pt x="3081" y="223"/>
                      </a:cubicBezTo>
                      <a:cubicBezTo>
                        <a:pt x="3087" y="217"/>
                        <a:pt x="3093" y="200"/>
                        <a:pt x="3100" y="205"/>
                      </a:cubicBezTo>
                      <a:cubicBezTo>
                        <a:pt x="3132" y="226"/>
                        <a:pt x="3142" y="283"/>
                        <a:pt x="3154" y="315"/>
                      </a:cubicBezTo>
                      <a:cubicBezTo>
                        <a:pt x="3182" y="390"/>
                        <a:pt x="3200" y="468"/>
                        <a:pt x="3228" y="543"/>
                      </a:cubicBezTo>
                      <a:cubicBezTo>
                        <a:pt x="3253" y="611"/>
                        <a:pt x="3231" y="582"/>
                        <a:pt x="3264" y="617"/>
                      </a:cubicBezTo>
                      <a:cubicBezTo>
                        <a:pt x="3274" y="648"/>
                        <a:pt x="3288" y="667"/>
                        <a:pt x="3310" y="690"/>
                      </a:cubicBezTo>
                      <a:cubicBezTo>
                        <a:pt x="3326" y="739"/>
                        <a:pt x="3343" y="787"/>
                        <a:pt x="3356" y="836"/>
                      </a:cubicBezTo>
                      <a:cubicBezTo>
                        <a:pt x="3365" y="830"/>
                        <a:pt x="3377" y="827"/>
                        <a:pt x="3383" y="818"/>
                      </a:cubicBezTo>
                      <a:cubicBezTo>
                        <a:pt x="3393" y="802"/>
                        <a:pt x="3401" y="763"/>
                        <a:pt x="3401" y="763"/>
                      </a:cubicBezTo>
                      <a:cubicBezTo>
                        <a:pt x="3410" y="674"/>
                        <a:pt x="3429" y="617"/>
                        <a:pt x="3456" y="534"/>
                      </a:cubicBezTo>
                      <a:cubicBezTo>
                        <a:pt x="3462" y="514"/>
                        <a:pt x="3474" y="497"/>
                        <a:pt x="3484" y="479"/>
                      </a:cubicBezTo>
                      <a:cubicBezTo>
                        <a:pt x="3495" y="460"/>
                        <a:pt x="3520" y="425"/>
                        <a:pt x="3520" y="425"/>
                      </a:cubicBezTo>
                      <a:cubicBezTo>
                        <a:pt x="3544" y="350"/>
                        <a:pt x="3532" y="359"/>
                        <a:pt x="3612" y="333"/>
                      </a:cubicBezTo>
                      <a:cubicBezTo>
                        <a:pt x="3621" y="330"/>
                        <a:pt x="3630" y="327"/>
                        <a:pt x="3639" y="324"/>
                      </a:cubicBezTo>
                      <a:cubicBezTo>
                        <a:pt x="3648" y="321"/>
                        <a:pt x="3666" y="315"/>
                        <a:pt x="3666" y="315"/>
                      </a:cubicBezTo>
                      <a:cubicBezTo>
                        <a:pt x="3692" y="290"/>
                        <a:pt x="3679" y="297"/>
                        <a:pt x="3721" y="287"/>
                      </a:cubicBezTo>
                      <a:cubicBezTo>
                        <a:pt x="3770" y="276"/>
                        <a:pt x="3767" y="294"/>
                        <a:pt x="3767" y="269"/>
                      </a:cubicBezTo>
                    </a:path>
                  </a:pathLst>
                </a:custGeom>
                <a:noFill/>
                <a:ln w="57150" cmpd="sng">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46" name="Line 23"/>
                <p:cNvSpPr>
                  <a:spLocks noChangeShapeType="1"/>
                </p:cNvSpPr>
                <p:nvPr/>
              </p:nvSpPr>
              <p:spPr bwMode="auto">
                <a:xfrm>
                  <a:off x="4425" y="3355"/>
                  <a:ext cx="0" cy="87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47" name="Line 24"/>
                <p:cNvSpPr>
                  <a:spLocks noChangeShapeType="1"/>
                </p:cNvSpPr>
                <p:nvPr/>
              </p:nvSpPr>
              <p:spPr bwMode="auto">
                <a:xfrm>
                  <a:off x="1070" y="4121"/>
                  <a:ext cx="3346" cy="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grpSp>
          <p:sp>
            <p:nvSpPr>
              <p:cNvPr id="17440" name="Text Box 25"/>
              <p:cNvSpPr txBox="1">
                <a:spLocks noChangeArrowheads="1"/>
              </p:cNvSpPr>
              <p:nvPr/>
            </p:nvSpPr>
            <p:spPr bwMode="auto">
              <a:xfrm>
                <a:off x="2129" y="3197"/>
                <a:ext cx="471" cy="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lr</a:t>
                </a:r>
              </a:p>
            </p:txBody>
          </p:sp>
        </p:grpSp>
        <p:sp>
          <p:nvSpPr>
            <p:cNvPr id="17422" name="Line 31"/>
            <p:cNvSpPr>
              <a:spLocks noChangeShapeType="1"/>
            </p:cNvSpPr>
            <p:nvPr/>
          </p:nvSpPr>
          <p:spPr bwMode="auto">
            <a:xfrm>
              <a:off x="2622" y="4965"/>
              <a:ext cx="56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23" name="Line 33"/>
            <p:cNvSpPr>
              <a:spLocks noChangeShapeType="1"/>
            </p:cNvSpPr>
            <p:nvPr/>
          </p:nvSpPr>
          <p:spPr bwMode="auto">
            <a:xfrm>
              <a:off x="4068" y="5452"/>
              <a:ext cx="44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24" name="Line 35"/>
            <p:cNvSpPr>
              <a:spLocks noChangeShapeType="1"/>
            </p:cNvSpPr>
            <p:nvPr/>
          </p:nvSpPr>
          <p:spPr bwMode="auto">
            <a:xfrm>
              <a:off x="5150" y="5742"/>
              <a:ext cx="93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25" name="Line 28"/>
            <p:cNvSpPr>
              <a:spLocks noChangeShapeType="1"/>
            </p:cNvSpPr>
            <p:nvPr/>
          </p:nvSpPr>
          <p:spPr bwMode="auto">
            <a:xfrm>
              <a:off x="3220" y="3337"/>
              <a:ext cx="0" cy="1112"/>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26" name="Line 32"/>
            <p:cNvSpPr>
              <a:spLocks noChangeShapeType="1"/>
            </p:cNvSpPr>
            <p:nvPr/>
          </p:nvSpPr>
          <p:spPr bwMode="auto">
            <a:xfrm>
              <a:off x="3016" y="4447"/>
              <a:ext cx="0" cy="487"/>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27" name="Line 34"/>
            <p:cNvSpPr>
              <a:spLocks noChangeShapeType="1"/>
            </p:cNvSpPr>
            <p:nvPr/>
          </p:nvSpPr>
          <p:spPr bwMode="auto">
            <a:xfrm>
              <a:off x="4467" y="4447"/>
              <a:ext cx="0" cy="1020"/>
            </a:xfrm>
            <a:prstGeom prst="line">
              <a:avLst/>
            </a:prstGeom>
            <a:noFill/>
            <a:ln w="2857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28" name="Line 36"/>
            <p:cNvSpPr>
              <a:spLocks noChangeShapeType="1"/>
            </p:cNvSpPr>
            <p:nvPr/>
          </p:nvSpPr>
          <p:spPr bwMode="auto">
            <a:xfrm>
              <a:off x="5775" y="4417"/>
              <a:ext cx="0" cy="1340"/>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graphicFrame>
          <p:nvGraphicFramePr>
            <p:cNvPr id="17429" name="Object 38"/>
            <p:cNvGraphicFramePr>
              <a:graphicFrameLocks noChangeAspect="1"/>
            </p:cNvGraphicFramePr>
            <p:nvPr/>
          </p:nvGraphicFramePr>
          <p:xfrm>
            <a:off x="1898" y="3317"/>
            <a:ext cx="470" cy="525"/>
          </p:xfrm>
          <a:graphic>
            <a:graphicData uri="http://schemas.openxmlformats.org/presentationml/2006/ole">
              <mc:AlternateContent xmlns:mc="http://schemas.openxmlformats.org/markup-compatibility/2006">
                <mc:Choice xmlns:v="urn:schemas-microsoft-com:vml" Requires="v">
                  <p:oleObj spid="_x0000_s27700" name="Equation" r:id="rId9" imgW="5181600" imgH="5791200" progId="">
                    <p:embed/>
                  </p:oleObj>
                </mc:Choice>
                <mc:Fallback>
                  <p:oleObj name="Equation" r:id="rId9" imgW="5181600" imgH="5791200" progId="">
                    <p:embed/>
                    <p:pic>
                      <p:nvPicPr>
                        <p:cNvPr id="0" name="Picture 3" descr="image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98" y="3317"/>
                          <a:ext cx="470" cy="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30" name="Object 40"/>
            <p:cNvGraphicFramePr>
              <a:graphicFrameLocks noChangeAspect="1"/>
            </p:cNvGraphicFramePr>
            <p:nvPr/>
          </p:nvGraphicFramePr>
          <p:xfrm>
            <a:off x="3108" y="4502"/>
            <a:ext cx="567" cy="598"/>
          </p:xfrm>
          <a:graphic>
            <a:graphicData uri="http://schemas.openxmlformats.org/presentationml/2006/ole">
              <mc:AlternateContent xmlns:mc="http://schemas.openxmlformats.org/markup-compatibility/2006">
                <mc:Choice xmlns:v="urn:schemas-microsoft-com:vml" Requires="v">
                  <p:oleObj spid="_x0000_s27701" name="Equation" r:id="rId11" imgW="5486400" imgH="5791200" progId="">
                    <p:embed/>
                  </p:oleObj>
                </mc:Choice>
                <mc:Fallback>
                  <p:oleObj name="Equation" r:id="rId11" imgW="5486400" imgH="5791200" progId="">
                    <p:embed/>
                    <p:pic>
                      <p:nvPicPr>
                        <p:cNvPr id="0" name="Picture 2" descr="image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08" y="4502"/>
                          <a:ext cx="567" cy="5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431" name="Object 42"/>
            <p:cNvGraphicFramePr>
              <a:graphicFrameLocks noChangeAspect="1"/>
            </p:cNvGraphicFramePr>
            <p:nvPr/>
          </p:nvGraphicFramePr>
          <p:xfrm>
            <a:off x="4450" y="4780"/>
            <a:ext cx="538" cy="569"/>
          </p:xfrm>
          <a:graphic>
            <a:graphicData uri="http://schemas.openxmlformats.org/presentationml/2006/ole">
              <mc:AlternateContent xmlns:mc="http://schemas.openxmlformats.org/markup-compatibility/2006">
                <mc:Choice xmlns:v="urn:schemas-microsoft-com:vml" Requires="v">
                  <p:oleObj spid="_x0000_s27702" name="Equation" r:id="rId13" imgW="5486400" imgH="5791200" progId="">
                    <p:embed/>
                  </p:oleObj>
                </mc:Choice>
                <mc:Fallback>
                  <p:oleObj name="Equation" r:id="rId13" imgW="5486400" imgH="5791200" progId="">
                    <p:embed/>
                    <p:pic>
                      <p:nvPicPr>
                        <p:cNvPr id="0" name="Picture 1" descr="image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50" y="4780"/>
                          <a:ext cx="538" cy="5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32" name="Line 46"/>
            <p:cNvSpPr>
              <a:spLocks noChangeShapeType="1"/>
            </p:cNvSpPr>
            <p:nvPr/>
          </p:nvSpPr>
          <p:spPr bwMode="auto">
            <a:xfrm>
              <a:off x="1110" y="5725"/>
              <a:ext cx="429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23283" tIns="211642" rIns="423283" bIns="211642">
              <a:spAutoFit/>
            </a:bodyPr>
            <a:lstStyle/>
            <a:p>
              <a:endParaRPr lang="zh-CN" altLang="en-US"/>
            </a:p>
          </p:txBody>
        </p:sp>
        <p:sp>
          <p:nvSpPr>
            <p:cNvPr id="17433" name="Line 47"/>
            <p:cNvSpPr>
              <a:spLocks noChangeShapeType="1"/>
            </p:cNvSpPr>
            <p:nvPr/>
          </p:nvSpPr>
          <p:spPr bwMode="auto">
            <a:xfrm>
              <a:off x="1372" y="3335"/>
              <a:ext cx="0" cy="2377"/>
            </a:xfrm>
            <a:prstGeom prst="line">
              <a:avLst/>
            </a:prstGeom>
            <a:noFill/>
            <a:ln w="28575">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4" name="Text Box 49"/>
            <p:cNvSpPr txBox="1">
              <a:spLocks noChangeArrowheads="1"/>
            </p:cNvSpPr>
            <p:nvPr/>
          </p:nvSpPr>
          <p:spPr bwMode="auto">
            <a:xfrm rot="-5400000">
              <a:off x="697" y="4050"/>
              <a:ext cx="640" cy="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300" b="1" i="1">
                  <a:solidFill>
                    <a:srgbClr val="FF3300"/>
                  </a:solidFill>
                </a:rPr>
                <a:t>Rz</a:t>
              </a:r>
            </a:p>
          </p:txBody>
        </p:sp>
        <p:grpSp>
          <p:nvGrpSpPr>
            <p:cNvPr id="17435" name="Group 56"/>
            <p:cNvGrpSpPr/>
            <p:nvPr/>
          </p:nvGrpSpPr>
          <p:grpSpPr bwMode="auto">
            <a:xfrm>
              <a:off x="4038" y="2755"/>
              <a:ext cx="1352" cy="1683"/>
              <a:chOff x="2423" y="1221"/>
              <a:chExt cx="811" cy="1010"/>
            </a:xfrm>
          </p:grpSpPr>
          <p:sp>
            <p:nvSpPr>
              <p:cNvPr id="17437" name="Line 54"/>
              <p:cNvSpPr>
                <a:spLocks noChangeShapeType="1"/>
              </p:cNvSpPr>
              <p:nvPr/>
            </p:nvSpPr>
            <p:spPr bwMode="auto">
              <a:xfrm flipV="1">
                <a:off x="2423" y="1566"/>
                <a:ext cx="384" cy="66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p>
                <a:endParaRPr lang="zh-CN" altLang="en-US"/>
              </a:p>
            </p:txBody>
          </p:sp>
          <p:sp>
            <p:nvSpPr>
              <p:cNvPr id="17438" name="Text Box 55"/>
              <p:cNvSpPr txBox="1">
                <a:spLocks noChangeArrowheads="1"/>
              </p:cNvSpPr>
              <p:nvPr/>
            </p:nvSpPr>
            <p:spPr bwMode="auto">
              <a:xfrm>
                <a:off x="2667" y="1221"/>
                <a:ext cx="567"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700" b="1">
                    <a:solidFill>
                      <a:srgbClr val="FF3300"/>
                    </a:solidFill>
                  </a:rPr>
                  <a:t>中线</a:t>
                </a:r>
              </a:p>
            </p:txBody>
          </p:sp>
        </p:grpSp>
        <p:sp>
          <p:nvSpPr>
            <p:cNvPr id="17436" name="Line 57"/>
            <p:cNvSpPr>
              <a:spLocks noChangeShapeType="1"/>
            </p:cNvSpPr>
            <p:nvPr/>
          </p:nvSpPr>
          <p:spPr bwMode="auto">
            <a:xfrm>
              <a:off x="2070" y="3780"/>
              <a:ext cx="0" cy="666"/>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4091" name="Text Box 59"/>
          <p:cNvSpPr txBox="1">
            <a:spLocks noChangeArrowheads="1"/>
          </p:cNvSpPr>
          <p:nvPr/>
        </p:nvSpPr>
        <p:spPr bwMode="auto">
          <a:xfrm>
            <a:off x="989715" y="1188076"/>
            <a:ext cx="12774613" cy="148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t>        轮廓最大高度</a:t>
            </a:r>
            <a:r>
              <a:rPr lang="en-US" altLang="zh-CN" sz="3600" b="1" i="1" dirty="0" err="1">
                <a:solidFill>
                  <a:srgbClr val="CC3300"/>
                </a:solidFill>
              </a:rPr>
              <a:t>Rz</a:t>
            </a:r>
            <a:r>
              <a:rPr lang="zh-CN" altLang="en-US" sz="3600" b="1" dirty="0"/>
              <a:t>是指在取样长度</a:t>
            </a:r>
            <a:r>
              <a:rPr lang="en-US" altLang="zh-CN" sz="3600" b="1" i="1" dirty="0" err="1"/>
              <a:t>lr</a:t>
            </a:r>
            <a:r>
              <a:rPr lang="zh-CN" altLang="en-US" sz="3600" b="1" dirty="0" smtClean="0"/>
              <a:t>内，最大</a:t>
            </a:r>
            <a:r>
              <a:rPr lang="zh-CN" altLang="en-US" sz="3600" b="1" dirty="0"/>
              <a:t>轮廓峰高</a:t>
            </a:r>
            <a:r>
              <a:rPr lang="en-US" altLang="zh-CN" sz="3600" b="1" i="1" dirty="0" err="1"/>
              <a:t>Zp</a:t>
            </a:r>
            <a:r>
              <a:rPr lang="zh-CN" altLang="en-US" sz="3600" b="1" dirty="0"/>
              <a:t>和最大轮廓谷深</a:t>
            </a:r>
            <a:r>
              <a:rPr lang="en-US" altLang="zh-CN" sz="3600" b="1" i="1" dirty="0" err="1"/>
              <a:t>Zv</a:t>
            </a:r>
            <a:r>
              <a:rPr lang="zh-CN" altLang="en-US" sz="3600" b="1" dirty="0"/>
              <a:t>之和。</a:t>
            </a:r>
          </a:p>
        </p:txBody>
      </p:sp>
      <p:cxnSp>
        <p:nvCxnSpPr>
          <p:cNvPr id="40" name="直接连接符 39"/>
          <p:cNvCxnSpPr/>
          <p:nvPr/>
        </p:nvCxnSpPr>
        <p:spPr bwMode="auto">
          <a:xfrm flipV="1">
            <a:off x="414883" y="112787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44036">
                                            <p:txEl>
                                              <p:pRg st="0" end="0"/>
                                            </p:txEl>
                                          </p:spTgt>
                                        </p:tgtEl>
                                        <p:attrNameLst>
                                          <p:attrName>style.visibility</p:attrName>
                                        </p:attrNameLst>
                                      </p:cBhvr>
                                      <p:to>
                                        <p:strVal val="visible"/>
                                      </p:to>
                                    </p:set>
                                    <p:animEffect transition="in" filter="wipe(left)">
                                      <p:cBhvr>
                                        <p:cTn id="7" dur="300"/>
                                        <p:tgtEl>
                                          <p:spTgt spid="440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4090"/>
                                        </p:tgtEl>
                                        <p:attrNameLst>
                                          <p:attrName>style.visibility</p:attrName>
                                        </p:attrNameLst>
                                      </p:cBhvr>
                                      <p:to>
                                        <p:strVal val="visible"/>
                                      </p:to>
                                    </p:set>
                                    <p:anim calcmode="lin" valueType="num">
                                      <p:cBhvr additive="base">
                                        <p:cTn id="12" dur="2000" fill="hold"/>
                                        <p:tgtEl>
                                          <p:spTgt spid="44090"/>
                                        </p:tgtEl>
                                        <p:attrNameLst>
                                          <p:attrName>ppt_x</p:attrName>
                                        </p:attrNameLst>
                                      </p:cBhvr>
                                      <p:tavLst>
                                        <p:tav tm="0">
                                          <p:val>
                                            <p:strVal val="#ppt_x"/>
                                          </p:val>
                                        </p:tav>
                                        <p:tav tm="100000">
                                          <p:val>
                                            <p:strVal val="#ppt_x"/>
                                          </p:val>
                                        </p:tav>
                                      </p:tavLst>
                                    </p:anim>
                                    <p:anim calcmode="lin" valueType="num">
                                      <p:cBhvr additive="base">
                                        <p:cTn id="13" dur="2000" fill="hold"/>
                                        <p:tgtEl>
                                          <p:spTgt spid="44090"/>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44091">
                                            <p:txEl>
                                              <p:pRg st="0" end="0"/>
                                            </p:txEl>
                                          </p:spTgt>
                                        </p:tgtEl>
                                        <p:attrNameLst>
                                          <p:attrName>style.visibility</p:attrName>
                                        </p:attrNameLst>
                                      </p:cBhvr>
                                      <p:to>
                                        <p:strVal val="visible"/>
                                      </p:to>
                                    </p:set>
                                    <p:animEffect transition="in" filter="wipe(left)">
                                      <p:cBhvr>
                                        <p:cTn id="18" dur="300"/>
                                        <p:tgtEl>
                                          <p:spTgt spid="4409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4047"/>
                                        </p:tgtEl>
                                        <p:attrNameLst>
                                          <p:attrName>style.visibility</p:attrName>
                                        </p:attrNameLst>
                                      </p:cBhvr>
                                      <p:to>
                                        <p:strVal val="visible"/>
                                      </p:to>
                                    </p:set>
                                    <p:animEffect transition="in" filter="wipe(left)">
                                      <p:cBhvr>
                                        <p:cTn id="23" dur="500"/>
                                        <p:tgtEl>
                                          <p:spTgt spid="44047"/>
                                        </p:tgtEl>
                                      </p:cBhvr>
                                    </p:animEffect>
                                  </p:childTnLst>
                                </p:cTn>
                              </p:par>
                            </p:childTnLst>
                          </p:cTn>
                        </p:par>
                      </p:childTnLst>
                    </p:cTn>
                  </p:par>
                  <p:par>
                    <p:cTn id="24" fill="hold">
                      <p:stCondLst>
                        <p:cond delay="indefinite"/>
                      </p:stCondLst>
                      <p:childTnLst>
                        <p:par>
                          <p:cTn id="25" fill="hold">
                            <p:stCondLst>
                              <p:cond delay="0"/>
                            </p:stCondLst>
                            <p:childTnLst>
                              <p:par>
                                <p:cTn id="26" presetID="17" presetClass="entr" presetSubtype="2" fill="hold" grpId="0" nodeType="clickEffect">
                                  <p:stCondLst>
                                    <p:cond delay="0"/>
                                  </p:stCondLst>
                                  <p:childTnLst>
                                    <p:set>
                                      <p:cBhvr>
                                        <p:cTn id="27" dur="1" fill="hold">
                                          <p:stCondLst>
                                            <p:cond delay="0"/>
                                          </p:stCondLst>
                                        </p:cTn>
                                        <p:tgtEl>
                                          <p:spTgt spid="44085"/>
                                        </p:tgtEl>
                                        <p:attrNameLst>
                                          <p:attrName>style.visibility</p:attrName>
                                        </p:attrNameLst>
                                      </p:cBhvr>
                                      <p:to>
                                        <p:strVal val="visible"/>
                                      </p:to>
                                    </p:set>
                                    <p:anim calcmode="lin" valueType="num">
                                      <p:cBhvr>
                                        <p:cTn id="28" dur="500" fill="hold"/>
                                        <p:tgtEl>
                                          <p:spTgt spid="44085"/>
                                        </p:tgtEl>
                                        <p:attrNameLst>
                                          <p:attrName>ppt_x</p:attrName>
                                        </p:attrNameLst>
                                      </p:cBhvr>
                                      <p:tavLst>
                                        <p:tav tm="0">
                                          <p:val>
                                            <p:strVal val="#ppt_x+#ppt_w/2"/>
                                          </p:val>
                                        </p:tav>
                                        <p:tav tm="100000">
                                          <p:val>
                                            <p:strVal val="#ppt_x"/>
                                          </p:val>
                                        </p:tav>
                                      </p:tavLst>
                                    </p:anim>
                                    <p:anim calcmode="lin" valueType="num">
                                      <p:cBhvr>
                                        <p:cTn id="29" dur="500" fill="hold"/>
                                        <p:tgtEl>
                                          <p:spTgt spid="44085"/>
                                        </p:tgtEl>
                                        <p:attrNameLst>
                                          <p:attrName>ppt_y</p:attrName>
                                        </p:attrNameLst>
                                      </p:cBhvr>
                                      <p:tavLst>
                                        <p:tav tm="0">
                                          <p:val>
                                            <p:strVal val="#ppt_y"/>
                                          </p:val>
                                        </p:tav>
                                        <p:tav tm="100000">
                                          <p:val>
                                            <p:strVal val="#ppt_y"/>
                                          </p:val>
                                        </p:tav>
                                      </p:tavLst>
                                    </p:anim>
                                    <p:anim calcmode="lin" valueType="num">
                                      <p:cBhvr>
                                        <p:cTn id="30" dur="500" fill="hold"/>
                                        <p:tgtEl>
                                          <p:spTgt spid="44085"/>
                                        </p:tgtEl>
                                        <p:attrNameLst>
                                          <p:attrName>ppt_w</p:attrName>
                                        </p:attrNameLst>
                                      </p:cBhvr>
                                      <p:tavLst>
                                        <p:tav tm="0">
                                          <p:val>
                                            <p:fltVal val="0"/>
                                          </p:val>
                                        </p:tav>
                                        <p:tav tm="100000">
                                          <p:val>
                                            <p:strVal val="#ppt_w"/>
                                          </p:val>
                                        </p:tav>
                                      </p:tavLst>
                                    </p:anim>
                                    <p:anim calcmode="lin" valueType="num">
                                      <p:cBhvr>
                                        <p:cTn id="31" dur="500" fill="hold"/>
                                        <p:tgtEl>
                                          <p:spTgt spid="4408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build="p" autoUpdateAnimBg="0"/>
      <p:bldP spid="44085" grpId="0" animBg="1" autoUpdateAnimBg="0"/>
      <p:bldP spid="44091"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1079500" y="277813"/>
            <a:ext cx="7243763" cy="769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t>2. </a:t>
            </a:r>
            <a:r>
              <a:rPr lang="zh-CN" altLang="en-US" sz="4000" b="1" dirty="0">
                <a:latin typeface="宋体" panose="02010600030101010101" pitchFamily="2" charset="-122"/>
              </a:rPr>
              <a:t>间距</a:t>
            </a:r>
            <a:r>
              <a:rPr lang="zh-CN" altLang="en-US" sz="4000" b="1" dirty="0" smtClean="0">
                <a:latin typeface="宋体" panose="02010600030101010101" pitchFamily="2" charset="-122"/>
              </a:rPr>
              <a:t>参数</a:t>
            </a:r>
            <a:endParaRPr lang="en-US" altLang="zh-CN" sz="4000" b="1" dirty="0"/>
          </a:p>
        </p:txBody>
      </p:sp>
      <p:sp>
        <p:nvSpPr>
          <p:cNvPr id="9220" name="Text Box 4"/>
          <p:cNvSpPr txBox="1">
            <a:spLocks noChangeArrowheads="1"/>
          </p:cNvSpPr>
          <p:nvPr/>
        </p:nvSpPr>
        <p:spPr bwMode="auto">
          <a:xfrm>
            <a:off x="1130300" y="2559609"/>
            <a:ext cx="8540750" cy="874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30000"/>
              </a:lnSpc>
              <a:spcBef>
                <a:spcPct val="50000"/>
              </a:spcBef>
            </a:pPr>
            <a:r>
              <a:rPr lang="zh-CN" altLang="en-US" sz="3600" b="1" dirty="0">
                <a:solidFill>
                  <a:srgbClr val="CC3300"/>
                </a:solidFill>
              </a:rPr>
              <a:t>轮廓单元的平均宽度</a:t>
            </a:r>
            <a:r>
              <a:rPr lang="zh-CN" altLang="en-US" sz="3600" b="1" dirty="0">
                <a:solidFill>
                  <a:srgbClr val="FF3300"/>
                </a:solidFill>
              </a:rPr>
              <a:t> </a:t>
            </a:r>
            <a:r>
              <a:rPr lang="en-US" altLang="zh-CN" sz="3600" b="1" i="1" dirty="0" err="1">
                <a:solidFill>
                  <a:srgbClr val="FF3300"/>
                </a:solidFill>
              </a:rPr>
              <a:t>Rsm</a:t>
            </a:r>
            <a:r>
              <a:rPr lang="en-US" altLang="zh-CN" sz="3600" dirty="0"/>
              <a:t>:</a:t>
            </a:r>
            <a:endParaRPr lang="zh-CN" altLang="en-US" sz="3600" dirty="0"/>
          </a:p>
        </p:txBody>
      </p:sp>
      <p:sp>
        <p:nvSpPr>
          <p:cNvPr id="9249" name="Text Box 33"/>
          <p:cNvSpPr txBox="1">
            <a:spLocks noChangeArrowheads="1"/>
          </p:cNvSpPr>
          <p:nvPr/>
        </p:nvSpPr>
        <p:spPr bwMode="auto">
          <a:xfrm>
            <a:off x="1162415" y="3342612"/>
            <a:ext cx="13312775" cy="874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30000"/>
              </a:lnSpc>
              <a:spcBef>
                <a:spcPct val="50000"/>
              </a:spcBef>
            </a:pPr>
            <a:r>
              <a:rPr lang="zh-CN" altLang="en-US" sz="3600" b="1" dirty="0"/>
              <a:t>是指在取样长度</a:t>
            </a:r>
            <a:r>
              <a:rPr lang="en-US" altLang="zh-CN" sz="3600" b="1" dirty="0"/>
              <a:t> </a:t>
            </a:r>
            <a:r>
              <a:rPr lang="en-US" altLang="zh-CN" sz="3600" b="1" i="1" dirty="0" err="1"/>
              <a:t>lr</a:t>
            </a:r>
            <a:r>
              <a:rPr lang="en-US" altLang="zh-CN" sz="3600" b="1" baseline="-30000" dirty="0"/>
              <a:t> </a:t>
            </a:r>
            <a:r>
              <a:rPr lang="zh-CN" altLang="en-US" sz="3600" b="1" dirty="0"/>
              <a:t>内，轮廓单元宽度</a:t>
            </a:r>
            <a:r>
              <a:rPr lang="en-US" altLang="zh-CN" sz="3600" b="1" i="1" dirty="0" err="1"/>
              <a:t>Xs</a:t>
            </a:r>
            <a:r>
              <a:rPr lang="en-US" altLang="zh-CN" sz="3600" b="1" baseline="-25000" dirty="0" err="1"/>
              <a:t>i</a:t>
            </a:r>
            <a:r>
              <a:rPr lang="zh-CN" altLang="en-US" sz="3600" b="1" dirty="0"/>
              <a:t>的平均值。</a:t>
            </a:r>
          </a:p>
        </p:txBody>
      </p:sp>
      <p:sp>
        <p:nvSpPr>
          <p:cNvPr id="9252" name="Text Box 36"/>
          <p:cNvSpPr txBox="1">
            <a:spLocks noChangeArrowheads="1"/>
          </p:cNvSpPr>
          <p:nvPr/>
        </p:nvSpPr>
        <p:spPr bwMode="auto">
          <a:xfrm>
            <a:off x="1154113" y="1240889"/>
            <a:ext cx="13457237"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solidFill>
                  <a:srgbClr val="CC3300"/>
                </a:solidFill>
              </a:rPr>
              <a:t>轮廓单元</a:t>
            </a:r>
            <a:r>
              <a:rPr lang="en-US" altLang="zh-CN" sz="3600" b="1" dirty="0"/>
              <a:t>:</a:t>
            </a:r>
            <a:r>
              <a:rPr lang="zh-CN" altLang="en-US" sz="3600" b="1" dirty="0"/>
              <a:t>一个轮廓峰和相邻轮廓谷的</a:t>
            </a:r>
            <a:r>
              <a:rPr lang="zh-CN" altLang="en-US" sz="3600" b="1" dirty="0" smtClean="0"/>
              <a:t>组合</a:t>
            </a:r>
            <a:r>
              <a:rPr lang="en-US" altLang="zh-CN" sz="3600" b="1" dirty="0" smtClean="0"/>
              <a:t>。</a:t>
            </a:r>
            <a:endParaRPr lang="zh-CN" altLang="en-US" sz="3600" b="1" dirty="0"/>
          </a:p>
        </p:txBody>
      </p:sp>
      <p:sp>
        <p:nvSpPr>
          <p:cNvPr id="9254" name="Text Box 38"/>
          <p:cNvSpPr txBox="1">
            <a:spLocks noChangeArrowheads="1"/>
          </p:cNvSpPr>
          <p:nvPr/>
        </p:nvSpPr>
        <p:spPr bwMode="auto">
          <a:xfrm>
            <a:off x="1154113" y="1951934"/>
            <a:ext cx="13203237"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a:solidFill>
                  <a:srgbClr val="CC3300"/>
                </a:solidFill>
              </a:rPr>
              <a:t>轮廓单元宽度</a:t>
            </a:r>
            <a:r>
              <a:rPr lang="en-US" altLang="zh-CN" sz="3600" b="1"/>
              <a:t>:</a:t>
            </a:r>
            <a:r>
              <a:rPr lang="zh-CN" altLang="en-US" sz="3600" b="1"/>
              <a:t>中线与一个轮廓单元</a:t>
            </a:r>
            <a:r>
              <a:rPr lang="zh-CN" altLang="en-US" sz="3600" b="1">
                <a:solidFill>
                  <a:srgbClr val="FF3300"/>
                </a:solidFill>
              </a:rPr>
              <a:t>相交线段的长</a:t>
            </a:r>
            <a:r>
              <a:rPr lang="zh-CN" altLang="en-US" sz="3600" b="1"/>
              <a:t>。</a:t>
            </a:r>
          </a:p>
        </p:txBody>
      </p:sp>
      <p:graphicFrame>
        <p:nvGraphicFramePr>
          <p:cNvPr id="9286" name="Object 70"/>
          <p:cNvGraphicFramePr>
            <a:graphicFrameLocks noChangeAspect="1"/>
          </p:cNvGraphicFramePr>
          <p:nvPr/>
        </p:nvGraphicFramePr>
        <p:xfrm>
          <a:off x="635754" y="5150467"/>
          <a:ext cx="4476750" cy="3203575"/>
        </p:xfrm>
        <a:graphic>
          <a:graphicData uri="http://schemas.openxmlformats.org/presentationml/2006/ole">
            <mc:AlternateContent xmlns:mc="http://schemas.openxmlformats.org/markup-compatibility/2006">
              <mc:Choice xmlns:v="urn:schemas-microsoft-com:vml" Requires="v">
                <p:oleObj spid="_x0000_s28681" name="公式" r:id="rId3" imgW="28956000" imgH="20726400" progId="">
                  <p:embed/>
                </p:oleObj>
              </mc:Choice>
              <mc:Fallback>
                <p:oleObj name="公式" r:id="rId3" imgW="28956000" imgH="20726400" progId="">
                  <p:embed/>
                  <p:pic>
                    <p:nvPicPr>
                      <p:cNvPr id="0" name="Picture 1" descr="image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754" y="5150467"/>
                        <a:ext cx="4476750" cy="3203575"/>
                      </a:xfrm>
                      <a:prstGeom prst="rect">
                        <a:avLst/>
                      </a:prstGeom>
                      <a:solidFill>
                        <a:srgbClr val="FFCCCC"/>
                      </a:solidFill>
                    </p:spPr>
                  </p:pic>
                </p:oleObj>
              </mc:Fallback>
            </mc:AlternateContent>
          </a:graphicData>
        </a:graphic>
      </p:graphicFrame>
      <p:grpSp>
        <p:nvGrpSpPr>
          <p:cNvPr id="9303" name="Group 87"/>
          <p:cNvGrpSpPr/>
          <p:nvPr/>
        </p:nvGrpSpPr>
        <p:grpSpPr bwMode="auto">
          <a:xfrm>
            <a:off x="4964175" y="4518025"/>
            <a:ext cx="8991600" cy="5414963"/>
            <a:chOff x="2814" y="3210"/>
            <a:chExt cx="5664" cy="3411"/>
          </a:xfrm>
        </p:grpSpPr>
        <p:grpSp>
          <p:nvGrpSpPr>
            <p:cNvPr id="18442" name="Group 83"/>
            <p:cNvGrpSpPr/>
            <p:nvPr/>
          </p:nvGrpSpPr>
          <p:grpSpPr bwMode="auto">
            <a:xfrm>
              <a:off x="2814" y="3210"/>
              <a:ext cx="5664" cy="3411"/>
              <a:chOff x="2814" y="3210"/>
              <a:chExt cx="5664" cy="3411"/>
            </a:xfrm>
          </p:grpSpPr>
          <p:pic>
            <p:nvPicPr>
              <p:cNvPr id="18446" name="Picture 8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14" y="3210"/>
                <a:ext cx="5664" cy="2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47" name="Text Box 82"/>
              <p:cNvSpPr txBox="1">
                <a:spLocks noChangeArrowheads="1"/>
              </p:cNvSpPr>
              <p:nvPr/>
            </p:nvSpPr>
            <p:spPr bwMode="auto">
              <a:xfrm>
                <a:off x="4760" y="6256"/>
                <a:ext cx="232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smtClean="0"/>
                  <a:t>轮 </a:t>
                </a:r>
                <a:r>
                  <a:rPr lang="zh-CN" altLang="en-US" sz="3200" b="1" dirty="0"/>
                  <a:t>廓 单 元 宽 度</a:t>
                </a:r>
              </a:p>
            </p:txBody>
          </p:sp>
        </p:grpSp>
        <p:sp>
          <p:nvSpPr>
            <p:cNvPr id="18443" name="Line 84"/>
            <p:cNvSpPr>
              <a:spLocks noChangeShapeType="1"/>
            </p:cNvSpPr>
            <p:nvPr/>
          </p:nvSpPr>
          <p:spPr bwMode="auto">
            <a:xfrm>
              <a:off x="3042" y="4533"/>
              <a:ext cx="846" cy="0"/>
            </a:xfrm>
            <a:prstGeom prst="line">
              <a:avLst/>
            </a:prstGeom>
            <a:noFill/>
            <a:ln w="762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444" name="Oval 85"/>
            <p:cNvSpPr>
              <a:spLocks noChangeArrowheads="1"/>
            </p:cNvSpPr>
            <p:nvPr/>
          </p:nvSpPr>
          <p:spPr bwMode="auto">
            <a:xfrm>
              <a:off x="3762" y="4392"/>
              <a:ext cx="216" cy="207"/>
            </a:xfrm>
            <a:prstGeom prst="ellipse">
              <a:avLst/>
            </a:prstGeom>
            <a:solidFill>
              <a:srgbClr val="CC00CC"/>
            </a:solidFill>
            <a:ln w="9525">
              <a:solidFill>
                <a:srgbClr val="FF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45" name="Oval 86"/>
            <p:cNvSpPr>
              <a:spLocks noChangeArrowheads="1"/>
            </p:cNvSpPr>
            <p:nvPr/>
          </p:nvSpPr>
          <p:spPr bwMode="auto">
            <a:xfrm>
              <a:off x="2952" y="4392"/>
              <a:ext cx="216" cy="207"/>
            </a:xfrm>
            <a:prstGeom prst="ellipse">
              <a:avLst/>
            </a:prstGeom>
            <a:solidFill>
              <a:srgbClr val="CC00CC"/>
            </a:solidFill>
            <a:ln w="9525">
              <a:solidFill>
                <a:srgbClr val="FF33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cxnSp>
        <p:nvCxnSpPr>
          <p:cNvPr id="16" name="直接连接符 15"/>
          <p:cNvCxnSpPr/>
          <p:nvPr/>
        </p:nvCxnSpPr>
        <p:spPr bwMode="auto">
          <a:xfrm flipV="1">
            <a:off x="414883" y="111288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left)">
                                      <p:cBhvr>
                                        <p:cTn id="7" dur="3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303"/>
                                        </p:tgtEl>
                                        <p:attrNameLst>
                                          <p:attrName>style.visibility</p:attrName>
                                        </p:attrNameLst>
                                      </p:cBhvr>
                                      <p:to>
                                        <p:strVal val="visible"/>
                                      </p:to>
                                    </p:set>
                                    <p:anim calcmode="lin" valueType="num">
                                      <p:cBhvr additive="base">
                                        <p:cTn id="12" dur="2000" fill="hold"/>
                                        <p:tgtEl>
                                          <p:spTgt spid="9303"/>
                                        </p:tgtEl>
                                        <p:attrNameLst>
                                          <p:attrName>ppt_x</p:attrName>
                                        </p:attrNameLst>
                                      </p:cBhvr>
                                      <p:tavLst>
                                        <p:tav tm="0">
                                          <p:val>
                                            <p:strVal val="#ppt_x"/>
                                          </p:val>
                                        </p:tav>
                                        <p:tav tm="100000">
                                          <p:val>
                                            <p:strVal val="#ppt_x"/>
                                          </p:val>
                                        </p:tav>
                                      </p:tavLst>
                                    </p:anim>
                                    <p:anim calcmode="lin" valueType="num">
                                      <p:cBhvr additive="base">
                                        <p:cTn id="13" dur="2000" fill="hold"/>
                                        <p:tgtEl>
                                          <p:spTgt spid="930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9252"/>
                                        </p:tgtEl>
                                        <p:attrNameLst>
                                          <p:attrName>style.visibility</p:attrName>
                                        </p:attrNameLst>
                                      </p:cBhvr>
                                      <p:to>
                                        <p:strVal val="visible"/>
                                      </p:to>
                                    </p:set>
                                    <p:animEffect transition="in" filter="wipe(left)">
                                      <p:cBhvr>
                                        <p:cTn id="18" dur="300"/>
                                        <p:tgtEl>
                                          <p:spTgt spid="925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9254"/>
                                        </p:tgtEl>
                                        <p:attrNameLst>
                                          <p:attrName>style.visibility</p:attrName>
                                        </p:attrNameLst>
                                      </p:cBhvr>
                                      <p:to>
                                        <p:strVal val="visible"/>
                                      </p:to>
                                    </p:set>
                                    <p:animEffect transition="in" filter="wipe(left)">
                                      <p:cBhvr>
                                        <p:cTn id="23" dur="300"/>
                                        <p:tgtEl>
                                          <p:spTgt spid="925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9220"/>
                                        </p:tgtEl>
                                        <p:attrNameLst>
                                          <p:attrName>style.visibility</p:attrName>
                                        </p:attrNameLst>
                                      </p:cBhvr>
                                      <p:to>
                                        <p:strVal val="visible"/>
                                      </p:to>
                                    </p:set>
                                    <p:animEffect transition="in" filter="wipe(left)">
                                      <p:cBhvr>
                                        <p:cTn id="28" dur="300"/>
                                        <p:tgtEl>
                                          <p:spTgt spid="922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9249"/>
                                        </p:tgtEl>
                                        <p:attrNameLst>
                                          <p:attrName>style.visibility</p:attrName>
                                        </p:attrNameLst>
                                      </p:cBhvr>
                                      <p:to>
                                        <p:strVal val="visible"/>
                                      </p:to>
                                    </p:set>
                                    <p:animEffect transition="in" filter="wipe(left)">
                                      <p:cBhvr>
                                        <p:cTn id="33" dur="300"/>
                                        <p:tgtEl>
                                          <p:spTgt spid="924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9286"/>
                                        </p:tgtEl>
                                        <p:attrNameLst>
                                          <p:attrName>style.visibility</p:attrName>
                                        </p:attrNameLst>
                                      </p:cBhvr>
                                      <p:to>
                                        <p:strVal val="visible"/>
                                      </p:to>
                                    </p:set>
                                    <p:animEffect transition="in" filter="wipe(left)">
                                      <p:cBhvr>
                                        <p:cTn id="38" dur="500"/>
                                        <p:tgtEl>
                                          <p:spTgt spid="9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autoUpdateAnimBg="0"/>
      <p:bldP spid="9220" grpId="0" autoUpdateAnimBg="0"/>
      <p:bldP spid="9249" grpId="0" autoUpdateAnimBg="0"/>
      <p:bldP spid="9252" grpId="0" autoUpdateAnimBg="0"/>
      <p:bldP spid="9254"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Text Box 4"/>
          <p:cNvSpPr txBox="1">
            <a:spLocks noChangeArrowheads="1"/>
          </p:cNvSpPr>
          <p:nvPr/>
        </p:nvSpPr>
        <p:spPr bwMode="auto">
          <a:xfrm>
            <a:off x="1127125" y="265113"/>
            <a:ext cx="843756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t>3. </a:t>
            </a:r>
            <a:r>
              <a:rPr lang="zh-CN" altLang="en-US" sz="4000" b="1" dirty="0">
                <a:latin typeface="宋体" panose="02010600030101010101" pitchFamily="2" charset="-122"/>
              </a:rPr>
              <a:t>混合参数（形状参数）</a:t>
            </a:r>
            <a:r>
              <a:rPr lang="zh-CN" altLang="en-US" sz="4000" b="1" dirty="0"/>
              <a:t> </a:t>
            </a:r>
          </a:p>
        </p:txBody>
      </p:sp>
      <p:sp>
        <p:nvSpPr>
          <p:cNvPr id="23557" name="Text Box 5"/>
          <p:cNvSpPr txBox="1">
            <a:spLocks noChangeArrowheads="1"/>
          </p:cNvSpPr>
          <p:nvPr/>
        </p:nvSpPr>
        <p:spPr bwMode="auto">
          <a:xfrm>
            <a:off x="1195598" y="1984141"/>
            <a:ext cx="12580364" cy="1335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50000"/>
              </a:spcBef>
            </a:pPr>
            <a:r>
              <a:rPr lang="zh-CN" altLang="en-US" sz="3200" b="1" dirty="0"/>
              <a:t>         在给定的轮廓截面</a:t>
            </a:r>
            <a:r>
              <a:rPr lang="zh-CN" altLang="en-US" sz="3200" b="1" dirty="0" smtClean="0"/>
              <a:t>高度</a:t>
            </a:r>
            <a:r>
              <a:rPr lang="en-US" altLang="zh-CN" sz="3200" b="1" i="1" dirty="0" smtClean="0"/>
              <a:t>C</a:t>
            </a:r>
            <a:r>
              <a:rPr lang="zh-CN" altLang="en-US" sz="3200" b="1" dirty="0"/>
              <a:t>上，轮廓的实体材料长度</a:t>
            </a:r>
            <a:r>
              <a:rPr lang="en-US" altLang="zh-CN" sz="3200" b="1" i="1" dirty="0"/>
              <a:t>Ml</a:t>
            </a:r>
            <a:r>
              <a:rPr lang="en-US" altLang="zh-CN" sz="3200" b="1" dirty="0"/>
              <a:t>(</a:t>
            </a:r>
            <a:r>
              <a:rPr lang="en-US" altLang="zh-CN" sz="3200" b="1" i="1" dirty="0"/>
              <a:t>C</a:t>
            </a:r>
            <a:r>
              <a:rPr lang="en-US" altLang="zh-CN" sz="3200" b="1" dirty="0"/>
              <a:t>)</a:t>
            </a:r>
            <a:r>
              <a:rPr lang="zh-CN" altLang="en-US" sz="3200" b="1" dirty="0"/>
              <a:t>与评定长度</a:t>
            </a:r>
            <a:r>
              <a:rPr lang="en-US" altLang="zh-CN" sz="3200" b="1" i="1" dirty="0" err="1"/>
              <a:t>ln</a:t>
            </a:r>
            <a:r>
              <a:rPr lang="zh-CN" altLang="en-US" sz="3200" b="1" dirty="0"/>
              <a:t>的</a:t>
            </a:r>
            <a:r>
              <a:rPr lang="zh-CN" altLang="en-US" sz="3200" b="1" dirty="0" smtClean="0"/>
              <a:t>比率。</a:t>
            </a:r>
            <a:endParaRPr lang="zh-CN" altLang="en-US" sz="3200" b="1" dirty="0"/>
          </a:p>
        </p:txBody>
      </p:sp>
      <p:sp>
        <p:nvSpPr>
          <p:cNvPr id="23558" name="Text Box 6"/>
          <p:cNvSpPr txBox="1">
            <a:spLocks noChangeArrowheads="1"/>
          </p:cNvSpPr>
          <p:nvPr/>
        </p:nvSpPr>
        <p:spPr bwMode="auto">
          <a:xfrm>
            <a:off x="1218584" y="1232626"/>
            <a:ext cx="9091612"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solidFill>
                  <a:srgbClr val="FF3300"/>
                </a:solidFill>
              </a:rPr>
              <a:t>轮廓的支承长度率</a:t>
            </a:r>
            <a:r>
              <a:rPr lang="en-US" altLang="zh-CN" sz="3600" i="1" dirty="0" err="1"/>
              <a:t>Rmr</a:t>
            </a:r>
            <a:r>
              <a:rPr lang="en-US" altLang="zh-CN" sz="3600" dirty="0"/>
              <a:t>(</a:t>
            </a:r>
            <a:r>
              <a:rPr lang="en-US" altLang="zh-CN" sz="3600" i="1" dirty="0"/>
              <a:t>C</a:t>
            </a:r>
            <a:r>
              <a:rPr lang="en-US" altLang="zh-CN" sz="3600" dirty="0"/>
              <a:t>)  —</a:t>
            </a:r>
            <a:endParaRPr lang="zh-CN" altLang="en-US" sz="3600" dirty="0"/>
          </a:p>
        </p:txBody>
      </p:sp>
      <p:sp>
        <p:nvSpPr>
          <p:cNvPr id="23572" name="Text Box 20"/>
          <p:cNvSpPr txBox="1">
            <a:spLocks noChangeArrowheads="1"/>
          </p:cNvSpPr>
          <p:nvPr/>
        </p:nvSpPr>
        <p:spPr bwMode="auto">
          <a:xfrm>
            <a:off x="1217483" y="5677941"/>
            <a:ext cx="2709941"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4000" b="1" dirty="0"/>
              <a:t>轮廓截面</a:t>
            </a:r>
          </a:p>
          <a:p>
            <a:pPr eaLnBrk="1" hangingPunct="1">
              <a:lnSpc>
                <a:spcPct val="120000"/>
              </a:lnSpc>
              <a:spcBef>
                <a:spcPct val="50000"/>
              </a:spcBef>
            </a:pPr>
            <a:r>
              <a:rPr lang="zh-CN" altLang="en-US" sz="4000" b="1" dirty="0"/>
              <a:t>高度</a:t>
            </a:r>
            <a:r>
              <a:rPr lang="en-US" altLang="zh-CN" sz="4000" b="1" i="1" dirty="0"/>
              <a:t>C</a:t>
            </a:r>
            <a:r>
              <a:rPr lang="en-US" altLang="zh-CN" sz="4000" i="1" dirty="0"/>
              <a:t>:</a:t>
            </a:r>
          </a:p>
        </p:txBody>
      </p:sp>
      <p:sp>
        <p:nvSpPr>
          <p:cNvPr id="23573" name="Text Box 21"/>
          <p:cNvSpPr txBox="1">
            <a:spLocks noChangeArrowheads="1"/>
          </p:cNvSpPr>
          <p:nvPr/>
        </p:nvSpPr>
        <p:spPr bwMode="auto">
          <a:xfrm>
            <a:off x="1238980" y="7921808"/>
            <a:ext cx="277838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4000" b="1" i="1" dirty="0">
                <a:solidFill>
                  <a:srgbClr val="FF3300"/>
                </a:solidFill>
              </a:rPr>
              <a:t>C </a:t>
            </a:r>
            <a:r>
              <a:rPr lang="en-US" altLang="zh-CN" sz="4000" b="1" dirty="0">
                <a:solidFill>
                  <a:srgbClr val="FF3300"/>
                </a:solidFill>
              </a:rPr>
              <a:t>= </a:t>
            </a:r>
            <a:r>
              <a:rPr lang="en-US" altLang="zh-CN" sz="4000" b="1" i="1" dirty="0" err="1">
                <a:solidFill>
                  <a:srgbClr val="FF3300"/>
                </a:solidFill>
              </a:rPr>
              <a:t>Rz</a:t>
            </a:r>
            <a:r>
              <a:rPr lang="en-US" altLang="zh-CN" sz="4000" b="1" i="1" dirty="0">
                <a:solidFill>
                  <a:srgbClr val="FF3300"/>
                </a:solidFill>
              </a:rPr>
              <a:t> </a:t>
            </a:r>
            <a:r>
              <a:rPr lang="en-US" altLang="zh-CN" sz="4000" b="1" dirty="0">
                <a:solidFill>
                  <a:srgbClr val="FF3300"/>
                </a:solidFill>
              </a:rPr>
              <a:t>%</a:t>
            </a:r>
            <a:endParaRPr lang="zh-CN" altLang="en-US" sz="4000" b="1" i="1" dirty="0">
              <a:solidFill>
                <a:srgbClr val="FF3300"/>
              </a:solidFill>
            </a:endParaRPr>
          </a:p>
        </p:txBody>
      </p:sp>
      <p:grpSp>
        <p:nvGrpSpPr>
          <p:cNvPr id="23604" name="Group 52"/>
          <p:cNvGrpSpPr/>
          <p:nvPr/>
        </p:nvGrpSpPr>
        <p:grpSpPr bwMode="auto">
          <a:xfrm>
            <a:off x="3965575" y="5063605"/>
            <a:ext cx="10077450" cy="5247200"/>
            <a:chOff x="1458" y="1950"/>
            <a:chExt cx="3809" cy="1983"/>
          </a:xfrm>
        </p:grpSpPr>
        <p:pic>
          <p:nvPicPr>
            <p:cNvPr id="19472" name="Picture 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8" y="1950"/>
              <a:ext cx="3809" cy="1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473" name="Text Box 34"/>
            <p:cNvSpPr txBox="1">
              <a:spLocks noChangeArrowheads="1"/>
            </p:cNvSpPr>
            <p:nvPr/>
          </p:nvSpPr>
          <p:spPr bwMode="auto">
            <a:xfrm>
              <a:off x="2557" y="3712"/>
              <a:ext cx="1386"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smtClean="0"/>
                <a:t> </a:t>
              </a:r>
              <a:r>
                <a:rPr lang="zh-CN" altLang="en-US" sz="2800" b="1" dirty="0" smtClean="0"/>
                <a:t>轮廓</a:t>
              </a:r>
              <a:r>
                <a:rPr lang="zh-CN" altLang="en-US" sz="2800" b="1" dirty="0"/>
                <a:t>的支承长度率</a:t>
              </a:r>
              <a:endParaRPr lang="zh-CN" altLang="en-US" sz="2800" dirty="0"/>
            </a:p>
          </p:txBody>
        </p:sp>
      </p:grpSp>
      <p:graphicFrame>
        <p:nvGraphicFramePr>
          <p:cNvPr id="23601" name="Object 49"/>
          <p:cNvGraphicFramePr>
            <a:graphicFrameLocks noChangeAspect="1"/>
          </p:cNvGraphicFramePr>
          <p:nvPr/>
        </p:nvGraphicFramePr>
        <p:xfrm>
          <a:off x="2398427" y="3128260"/>
          <a:ext cx="4961744" cy="1939336"/>
        </p:xfrm>
        <a:graphic>
          <a:graphicData uri="http://schemas.openxmlformats.org/presentationml/2006/ole">
            <mc:AlternateContent xmlns:mc="http://schemas.openxmlformats.org/markup-compatibility/2006">
              <mc:Choice xmlns:v="urn:schemas-microsoft-com:vml" Requires="v">
                <p:oleObj spid="_x0000_s29713" name="Equation" r:id="rId4" imgW="26517600" imgH="10363200" progId="">
                  <p:embed/>
                </p:oleObj>
              </mc:Choice>
              <mc:Fallback>
                <p:oleObj name="Equation" r:id="rId4" imgW="26517600" imgH="10363200" progId="">
                  <p:embed/>
                  <p:pic>
                    <p:nvPicPr>
                      <p:cNvPr id="0" name="Picture 2" descr="image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98427" y="3128260"/>
                        <a:ext cx="4961744" cy="1939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602" name="Object 50"/>
          <p:cNvGraphicFramePr>
            <a:graphicFrameLocks noChangeAspect="1"/>
          </p:cNvGraphicFramePr>
          <p:nvPr/>
        </p:nvGraphicFramePr>
        <p:xfrm>
          <a:off x="7449362" y="3597643"/>
          <a:ext cx="4917529" cy="912324"/>
        </p:xfrm>
        <a:graphic>
          <a:graphicData uri="http://schemas.openxmlformats.org/presentationml/2006/ole">
            <mc:AlternateContent xmlns:mc="http://schemas.openxmlformats.org/markup-compatibility/2006">
              <mc:Choice xmlns:v="urn:schemas-microsoft-com:vml" Requires="v">
                <p:oleObj spid="_x0000_s29714" name="公式" r:id="rId6" imgW="29565600" imgH="5486400" progId="">
                  <p:embed/>
                </p:oleObj>
              </mc:Choice>
              <mc:Fallback>
                <p:oleObj name="公式" r:id="rId6" imgW="29565600" imgH="5486400" progId="">
                  <p:embed/>
                  <p:pic>
                    <p:nvPicPr>
                      <p:cNvPr id="0" name="Picture 1" descr="image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49362" y="3597643"/>
                        <a:ext cx="4917529" cy="9123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605" name="Line 53"/>
          <p:cNvSpPr>
            <a:spLocks noChangeShapeType="1"/>
          </p:cNvSpPr>
          <p:nvPr/>
        </p:nvSpPr>
        <p:spPr bwMode="auto">
          <a:xfrm>
            <a:off x="13038138" y="5809730"/>
            <a:ext cx="0" cy="965200"/>
          </a:xfrm>
          <a:prstGeom prst="line">
            <a:avLst/>
          </a:prstGeom>
          <a:noFill/>
          <a:ln w="38100">
            <a:solidFill>
              <a:srgbClr val="FF33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09" name="Line 57"/>
          <p:cNvSpPr>
            <a:spLocks noChangeShapeType="1"/>
          </p:cNvSpPr>
          <p:nvPr/>
        </p:nvSpPr>
        <p:spPr bwMode="auto">
          <a:xfrm>
            <a:off x="4333875" y="6846368"/>
            <a:ext cx="8731250" cy="0"/>
          </a:xfrm>
          <a:prstGeom prst="line">
            <a:avLst/>
          </a:prstGeom>
          <a:noFill/>
          <a:ln w="38100">
            <a:solidFill>
              <a:schemeClr val="accent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10" name="Line 58"/>
          <p:cNvSpPr>
            <a:spLocks noChangeShapeType="1"/>
          </p:cNvSpPr>
          <p:nvPr/>
        </p:nvSpPr>
        <p:spPr bwMode="auto">
          <a:xfrm>
            <a:off x="4625610" y="6837545"/>
            <a:ext cx="1016000" cy="0"/>
          </a:xfrm>
          <a:prstGeom prst="line">
            <a:avLst/>
          </a:prstGeom>
          <a:noFill/>
          <a:ln w="762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11" name="Line 59"/>
          <p:cNvSpPr>
            <a:spLocks noChangeShapeType="1"/>
          </p:cNvSpPr>
          <p:nvPr/>
        </p:nvSpPr>
        <p:spPr bwMode="auto">
          <a:xfrm>
            <a:off x="6052718" y="6846368"/>
            <a:ext cx="268287" cy="0"/>
          </a:xfrm>
          <a:prstGeom prst="line">
            <a:avLst/>
          </a:prstGeom>
          <a:noFill/>
          <a:ln w="762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612" name="Line 60"/>
          <p:cNvSpPr>
            <a:spLocks noChangeShapeType="1"/>
          </p:cNvSpPr>
          <p:nvPr/>
        </p:nvSpPr>
        <p:spPr bwMode="auto">
          <a:xfrm>
            <a:off x="9544050" y="6870180"/>
            <a:ext cx="387350" cy="0"/>
          </a:xfrm>
          <a:prstGeom prst="line">
            <a:avLst/>
          </a:prstGeom>
          <a:noFill/>
          <a:ln w="762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59"/>
          <p:cNvSpPr>
            <a:spLocks noChangeShapeType="1"/>
          </p:cNvSpPr>
          <p:nvPr/>
        </p:nvSpPr>
        <p:spPr bwMode="auto">
          <a:xfrm>
            <a:off x="7281912" y="6861358"/>
            <a:ext cx="216000" cy="0"/>
          </a:xfrm>
          <a:prstGeom prst="line">
            <a:avLst/>
          </a:prstGeom>
          <a:noFill/>
          <a:ln w="762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60"/>
          <p:cNvSpPr>
            <a:spLocks noChangeShapeType="1"/>
          </p:cNvSpPr>
          <p:nvPr/>
        </p:nvSpPr>
        <p:spPr bwMode="auto">
          <a:xfrm>
            <a:off x="11222948" y="6855190"/>
            <a:ext cx="387350" cy="0"/>
          </a:xfrm>
          <a:prstGeom prst="line">
            <a:avLst/>
          </a:prstGeom>
          <a:noFill/>
          <a:ln w="7620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20" name="直接连接符 19"/>
          <p:cNvCxnSpPr/>
          <p:nvPr/>
        </p:nvCxnSpPr>
        <p:spPr bwMode="auto">
          <a:xfrm flipV="1">
            <a:off x="414883" y="109789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23556">
                                            <p:txEl>
                                              <p:pRg st="0" end="0"/>
                                            </p:txEl>
                                          </p:spTgt>
                                        </p:tgtEl>
                                        <p:attrNameLst>
                                          <p:attrName>style.visibility</p:attrName>
                                        </p:attrNameLst>
                                      </p:cBhvr>
                                      <p:to>
                                        <p:strVal val="visible"/>
                                      </p:to>
                                    </p:set>
                                    <p:animEffect transition="in" filter="wipe(left)">
                                      <p:cBhvr>
                                        <p:cTn id="7" dur="300"/>
                                        <p:tgtEl>
                                          <p:spTgt spid="235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3558"/>
                                        </p:tgtEl>
                                        <p:attrNameLst>
                                          <p:attrName>style.visibility</p:attrName>
                                        </p:attrNameLst>
                                      </p:cBhvr>
                                      <p:to>
                                        <p:strVal val="visible"/>
                                      </p:to>
                                    </p:set>
                                    <p:animEffect transition="in" filter="wipe(left)">
                                      <p:cBhvr>
                                        <p:cTn id="12" dur="300"/>
                                        <p:tgtEl>
                                          <p:spTgt spid="235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23557"/>
                                        </p:tgtEl>
                                        <p:attrNameLst>
                                          <p:attrName>style.visibility</p:attrName>
                                        </p:attrNameLst>
                                      </p:cBhvr>
                                      <p:to>
                                        <p:strVal val="visible"/>
                                      </p:to>
                                    </p:set>
                                    <p:animEffect transition="in" filter="wipe(left)">
                                      <p:cBhvr>
                                        <p:cTn id="17" dur="300"/>
                                        <p:tgtEl>
                                          <p:spTgt spid="2355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nodeType="clickEffect">
                                  <p:stCondLst>
                                    <p:cond delay="0"/>
                                  </p:stCondLst>
                                  <p:childTnLst>
                                    <p:set>
                                      <p:cBhvr>
                                        <p:cTn id="21" dur="1" fill="hold">
                                          <p:stCondLst>
                                            <p:cond delay="0"/>
                                          </p:stCondLst>
                                        </p:cTn>
                                        <p:tgtEl>
                                          <p:spTgt spid="23604"/>
                                        </p:tgtEl>
                                        <p:attrNameLst>
                                          <p:attrName>style.visibility</p:attrName>
                                        </p:attrNameLst>
                                      </p:cBhvr>
                                      <p:to>
                                        <p:strVal val="visible"/>
                                      </p:to>
                                    </p:set>
                                    <p:anim calcmode="lin" valueType="num">
                                      <p:cBhvr additive="base">
                                        <p:cTn id="22" dur="500" fill="hold"/>
                                        <p:tgtEl>
                                          <p:spTgt spid="23604"/>
                                        </p:tgtEl>
                                        <p:attrNameLst>
                                          <p:attrName>ppt_x</p:attrName>
                                        </p:attrNameLst>
                                      </p:cBhvr>
                                      <p:tavLst>
                                        <p:tav tm="0">
                                          <p:val>
                                            <p:strVal val="1+#ppt_w/2"/>
                                          </p:val>
                                        </p:tav>
                                        <p:tav tm="100000">
                                          <p:val>
                                            <p:strVal val="#ppt_x"/>
                                          </p:val>
                                        </p:tav>
                                      </p:tavLst>
                                    </p:anim>
                                    <p:anim calcmode="lin" valueType="num">
                                      <p:cBhvr additive="base">
                                        <p:cTn id="23" dur="500" fill="hold"/>
                                        <p:tgtEl>
                                          <p:spTgt spid="2360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1" fill="hold" grpId="0" nodeType="clickEffect">
                                  <p:stCondLst>
                                    <p:cond delay="0"/>
                                  </p:stCondLst>
                                  <p:childTnLst>
                                    <p:set>
                                      <p:cBhvr>
                                        <p:cTn id="27" dur="1" fill="hold">
                                          <p:stCondLst>
                                            <p:cond delay="0"/>
                                          </p:stCondLst>
                                        </p:cTn>
                                        <p:tgtEl>
                                          <p:spTgt spid="23605"/>
                                        </p:tgtEl>
                                        <p:attrNameLst>
                                          <p:attrName>style.visibility</p:attrName>
                                        </p:attrNameLst>
                                      </p:cBhvr>
                                      <p:to>
                                        <p:strVal val="visible"/>
                                      </p:to>
                                    </p:set>
                                    <p:anim calcmode="lin" valueType="num">
                                      <p:cBhvr>
                                        <p:cTn id="28" dur="500" fill="hold"/>
                                        <p:tgtEl>
                                          <p:spTgt spid="23605"/>
                                        </p:tgtEl>
                                        <p:attrNameLst>
                                          <p:attrName>ppt_x</p:attrName>
                                        </p:attrNameLst>
                                      </p:cBhvr>
                                      <p:tavLst>
                                        <p:tav tm="0">
                                          <p:val>
                                            <p:strVal val="#ppt_x"/>
                                          </p:val>
                                        </p:tav>
                                        <p:tav tm="100000">
                                          <p:val>
                                            <p:strVal val="#ppt_x"/>
                                          </p:val>
                                        </p:tav>
                                      </p:tavLst>
                                    </p:anim>
                                    <p:anim calcmode="lin" valueType="num">
                                      <p:cBhvr>
                                        <p:cTn id="29" dur="500" fill="hold"/>
                                        <p:tgtEl>
                                          <p:spTgt spid="23605"/>
                                        </p:tgtEl>
                                        <p:attrNameLst>
                                          <p:attrName>ppt_y</p:attrName>
                                        </p:attrNameLst>
                                      </p:cBhvr>
                                      <p:tavLst>
                                        <p:tav tm="0">
                                          <p:val>
                                            <p:strVal val="#ppt_y-#ppt_h/2"/>
                                          </p:val>
                                        </p:tav>
                                        <p:tav tm="100000">
                                          <p:val>
                                            <p:strVal val="#ppt_y"/>
                                          </p:val>
                                        </p:tav>
                                      </p:tavLst>
                                    </p:anim>
                                    <p:anim calcmode="lin" valueType="num">
                                      <p:cBhvr>
                                        <p:cTn id="30" dur="500" fill="hold"/>
                                        <p:tgtEl>
                                          <p:spTgt spid="23605"/>
                                        </p:tgtEl>
                                        <p:attrNameLst>
                                          <p:attrName>ppt_w</p:attrName>
                                        </p:attrNameLst>
                                      </p:cBhvr>
                                      <p:tavLst>
                                        <p:tav tm="0">
                                          <p:val>
                                            <p:strVal val="#ppt_w"/>
                                          </p:val>
                                        </p:tav>
                                        <p:tav tm="100000">
                                          <p:val>
                                            <p:strVal val="#ppt_w"/>
                                          </p:val>
                                        </p:tav>
                                      </p:tavLst>
                                    </p:anim>
                                    <p:anim calcmode="lin" valueType="num">
                                      <p:cBhvr>
                                        <p:cTn id="31" dur="500" fill="hold"/>
                                        <p:tgtEl>
                                          <p:spTgt spid="23605"/>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8" fill="hold" grpId="0" nodeType="clickEffect">
                                  <p:stCondLst>
                                    <p:cond delay="0"/>
                                  </p:stCondLst>
                                  <p:childTnLst>
                                    <p:set>
                                      <p:cBhvr>
                                        <p:cTn id="35" dur="1" fill="hold">
                                          <p:stCondLst>
                                            <p:cond delay="0"/>
                                          </p:stCondLst>
                                        </p:cTn>
                                        <p:tgtEl>
                                          <p:spTgt spid="23609"/>
                                        </p:tgtEl>
                                        <p:attrNameLst>
                                          <p:attrName>style.visibility</p:attrName>
                                        </p:attrNameLst>
                                      </p:cBhvr>
                                      <p:to>
                                        <p:strVal val="visible"/>
                                      </p:to>
                                    </p:set>
                                    <p:anim calcmode="lin" valueType="num">
                                      <p:cBhvr>
                                        <p:cTn id="36" dur="500" fill="hold"/>
                                        <p:tgtEl>
                                          <p:spTgt spid="23609"/>
                                        </p:tgtEl>
                                        <p:attrNameLst>
                                          <p:attrName>ppt_x</p:attrName>
                                        </p:attrNameLst>
                                      </p:cBhvr>
                                      <p:tavLst>
                                        <p:tav tm="0">
                                          <p:val>
                                            <p:strVal val="#ppt_x-#ppt_w/2"/>
                                          </p:val>
                                        </p:tav>
                                        <p:tav tm="100000">
                                          <p:val>
                                            <p:strVal val="#ppt_x"/>
                                          </p:val>
                                        </p:tav>
                                      </p:tavLst>
                                    </p:anim>
                                    <p:anim calcmode="lin" valueType="num">
                                      <p:cBhvr>
                                        <p:cTn id="37" dur="500" fill="hold"/>
                                        <p:tgtEl>
                                          <p:spTgt spid="23609"/>
                                        </p:tgtEl>
                                        <p:attrNameLst>
                                          <p:attrName>ppt_y</p:attrName>
                                        </p:attrNameLst>
                                      </p:cBhvr>
                                      <p:tavLst>
                                        <p:tav tm="0">
                                          <p:val>
                                            <p:strVal val="#ppt_y"/>
                                          </p:val>
                                        </p:tav>
                                        <p:tav tm="100000">
                                          <p:val>
                                            <p:strVal val="#ppt_y"/>
                                          </p:val>
                                        </p:tav>
                                      </p:tavLst>
                                    </p:anim>
                                    <p:anim calcmode="lin" valueType="num">
                                      <p:cBhvr>
                                        <p:cTn id="38" dur="500" fill="hold"/>
                                        <p:tgtEl>
                                          <p:spTgt spid="23609"/>
                                        </p:tgtEl>
                                        <p:attrNameLst>
                                          <p:attrName>ppt_w</p:attrName>
                                        </p:attrNameLst>
                                      </p:cBhvr>
                                      <p:tavLst>
                                        <p:tav tm="0">
                                          <p:val>
                                            <p:fltVal val="0"/>
                                          </p:val>
                                        </p:tav>
                                        <p:tav tm="100000">
                                          <p:val>
                                            <p:strVal val="#ppt_w"/>
                                          </p:val>
                                        </p:tav>
                                      </p:tavLst>
                                    </p:anim>
                                    <p:anim calcmode="lin" valueType="num">
                                      <p:cBhvr>
                                        <p:cTn id="39" dur="500" fill="hold"/>
                                        <p:tgtEl>
                                          <p:spTgt spid="23609"/>
                                        </p:tgtEl>
                                        <p:attrNameLst>
                                          <p:attrName>ppt_h</p:attrName>
                                        </p:attrNameLst>
                                      </p:cBhvr>
                                      <p:tavLst>
                                        <p:tav tm="0">
                                          <p:val>
                                            <p:strVal val="#ppt_h"/>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ID="17" presetClass="entr" presetSubtype="8" fill="hold" grpId="0" nodeType="clickEffect">
                                  <p:stCondLst>
                                    <p:cond delay="0"/>
                                  </p:stCondLst>
                                  <p:childTnLst>
                                    <p:set>
                                      <p:cBhvr>
                                        <p:cTn id="43" dur="1" fill="hold">
                                          <p:stCondLst>
                                            <p:cond delay="0"/>
                                          </p:stCondLst>
                                        </p:cTn>
                                        <p:tgtEl>
                                          <p:spTgt spid="23610"/>
                                        </p:tgtEl>
                                        <p:attrNameLst>
                                          <p:attrName>style.visibility</p:attrName>
                                        </p:attrNameLst>
                                      </p:cBhvr>
                                      <p:to>
                                        <p:strVal val="visible"/>
                                      </p:to>
                                    </p:set>
                                    <p:anim calcmode="lin" valueType="num">
                                      <p:cBhvr>
                                        <p:cTn id="44" dur="500" fill="hold"/>
                                        <p:tgtEl>
                                          <p:spTgt spid="23610"/>
                                        </p:tgtEl>
                                        <p:attrNameLst>
                                          <p:attrName>ppt_x</p:attrName>
                                        </p:attrNameLst>
                                      </p:cBhvr>
                                      <p:tavLst>
                                        <p:tav tm="0">
                                          <p:val>
                                            <p:strVal val="#ppt_x-#ppt_w/2"/>
                                          </p:val>
                                        </p:tav>
                                        <p:tav tm="100000">
                                          <p:val>
                                            <p:strVal val="#ppt_x"/>
                                          </p:val>
                                        </p:tav>
                                      </p:tavLst>
                                    </p:anim>
                                    <p:anim calcmode="lin" valueType="num">
                                      <p:cBhvr>
                                        <p:cTn id="45" dur="500" fill="hold"/>
                                        <p:tgtEl>
                                          <p:spTgt spid="23610"/>
                                        </p:tgtEl>
                                        <p:attrNameLst>
                                          <p:attrName>ppt_y</p:attrName>
                                        </p:attrNameLst>
                                      </p:cBhvr>
                                      <p:tavLst>
                                        <p:tav tm="0">
                                          <p:val>
                                            <p:strVal val="#ppt_y"/>
                                          </p:val>
                                        </p:tav>
                                        <p:tav tm="100000">
                                          <p:val>
                                            <p:strVal val="#ppt_y"/>
                                          </p:val>
                                        </p:tav>
                                      </p:tavLst>
                                    </p:anim>
                                    <p:anim calcmode="lin" valueType="num">
                                      <p:cBhvr>
                                        <p:cTn id="46" dur="500" fill="hold"/>
                                        <p:tgtEl>
                                          <p:spTgt spid="23610"/>
                                        </p:tgtEl>
                                        <p:attrNameLst>
                                          <p:attrName>ppt_w</p:attrName>
                                        </p:attrNameLst>
                                      </p:cBhvr>
                                      <p:tavLst>
                                        <p:tav tm="0">
                                          <p:val>
                                            <p:fltVal val="0"/>
                                          </p:val>
                                        </p:tav>
                                        <p:tav tm="100000">
                                          <p:val>
                                            <p:strVal val="#ppt_w"/>
                                          </p:val>
                                        </p:tav>
                                      </p:tavLst>
                                    </p:anim>
                                    <p:anim calcmode="lin" valueType="num">
                                      <p:cBhvr>
                                        <p:cTn id="47" dur="500" fill="hold"/>
                                        <p:tgtEl>
                                          <p:spTgt spid="23610"/>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8" fill="hold" grpId="0" nodeType="clickEffect">
                                  <p:stCondLst>
                                    <p:cond delay="0"/>
                                  </p:stCondLst>
                                  <p:childTnLst>
                                    <p:set>
                                      <p:cBhvr>
                                        <p:cTn id="51" dur="1" fill="hold">
                                          <p:stCondLst>
                                            <p:cond delay="0"/>
                                          </p:stCondLst>
                                        </p:cTn>
                                        <p:tgtEl>
                                          <p:spTgt spid="23611"/>
                                        </p:tgtEl>
                                        <p:attrNameLst>
                                          <p:attrName>style.visibility</p:attrName>
                                        </p:attrNameLst>
                                      </p:cBhvr>
                                      <p:to>
                                        <p:strVal val="visible"/>
                                      </p:to>
                                    </p:set>
                                    <p:anim calcmode="lin" valueType="num">
                                      <p:cBhvr>
                                        <p:cTn id="52" dur="500" fill="hold"/>
                                        <p:tgtEl>
                                          <p:spTgt spid="23611"/>
                                        </p:tgtEl>
                                        <p:attrNameLst>
                                          <p:attrName>ppt_x</p:attrName>
                                        </p:attrNameLst>
                                      </p:cBhvr>
                                      <p:tavLst>
                                        <p:tav tm="0">
                                          <p:val>
                                            <p:strVal val="#ppt_x-#ppt_w/2"/>
                                          </p:val>
                                        </p:tav>
                                        <p:tav tm="100000">
                                          <p:val>
                                            <p:strVal val="#ppt_x"/>
                                          </p:val>
                                        </p:tav>
                                      </p:tavLst>
                                    </p:anim>
                                    <p:anim calcmode="lin" valueType="num">
                                      <p:cBhvr>
                                        <p:cTn id="53" dur="500" fill="hold"/>
                                        <p:tgtEl>
                                          <p:spTgt spid="23611"/>
                                        </p:tgtEl>
                                        <p:attrNameLst>
                                          <p:attrName>ppt_y</p:attrName>
                                        </p:attrNameLst>
                                      </p:cBhvr>
                                      <p:tavLst>
                                        <p:tav tm="0">
                                          <p:val>
                                            <p:strVal val="#ppt_y"/>
                                          </p:val>
                                        </p:tav>
                                        <p:tav tm="100000">
                                          <p:val>
                                            <p:strVal val="#ppt_y"/>
                                          </p:val>
                                        </p:tav>
                                      </p:tavLst>
                                    </p:anim>
                                    <p:anim calcmode="lin" valueType="num">
                                      <p:cBhvr>
                                        <p:cTn id="54" dur="500" fill="hold"/>
                                        <p:tgtEl>
                                          <p:spTgt spid="23611"/>
                                        </p:tgtEl>
                                        <p:attrNameLst>
                                          <p:attrName>ppt_w</p:attrName>
                                        </p:attrNameLst>
                                      </p:cBhvr>
                                      <p:tavLst>
                                        <p:tav tm="0">
                                          <p:val>
                                            <p:fltVal val="0"/>
                                          </p:val>
                                        </p:tav>
                                        <p:tav tm="100000">
                                          <p:val>
                                            <p:strVal val="#ppt_w"/>
                                          </p:val>
                                        </p:tav>
                                      </p:tavLst>
                                    </p:anim>
                                    <p:anim calcmode="lin" valueType="num">
                                      <p:cBhvr>
                                        <p:cTn id="55" dur="500" fill="hold"/>
                                        <p:tgtEl>
                                          <p:spTgt spid="23611"/>
                                        </p:tgtEl>
                                        <p:attrNameLst>
                                          <p:attrName>ppt_h</p:attrName>
                                        </p:attrNameLst>
                                      </p:cBhvr>
                                      <p:tavLst>
                                        <p:tav tm="0">
                                          <p:val>
                                            <p:strVal val="#ppt_h"/>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17" presetClass="entr" presetSubtype="8" fill="hold" grpId="0" nodeType="clickEffect">
                                  <p:stCondLst>
                                    <p:cond delay="0"/>
                                  </p:stCondLst>
                                  <p:childTnLst>
                                    <p:set>
                                      <p:cBhvr>
                                        <p:cTn id="59" dur="1" fill="hold">
                                          <p:stCondLst>
                                            <p:cond delay="0"/>
                                          </p:stCondLst>
                                        </p:cTn>
                                        <p:tgtEl>
                                          <p:spTgt spid="23612"/>
                                        </p:tgtEl>
                                        <p:attrNameLst>
                                          <p:attrName>style.visibility</p:attrName>
                                        </p:attrNameLst>
                                      </p:cBhvr>
                                      <p:to>
                                        <p:strVal val="visible"/>
                                      </p:to>
                                    </p:set>
                                    <p:anim calcmode="lin" valueType="num">
                                      <p:cBhvr>
                                        <p:cTn id="60" dur="500" fill="hold"/>
                                        <p:tgtEl>
                                          <p:spTgt spid="23612"/>
                                        </p:tgtEl>
                                        <p:attrNameLst>
                                          <p:attrName>ppt_x</p:attrName>
                                        </p:attrNameLst>
                                      </p:cBhvr>
                                      <p:tavLst>
                                        <p:tav tm="0">
                                          <p:val>
                                            <p:strVal val="#ppt_x-#ppt_w/2"/>
                                          </p:val>
                                        </p:tav>
                                        <p:tav tm="100000">
                                          <p:val>
                                            <p:strVal val="#ppt_x"/>
                                          </p:val>
                                        </p:tav>
                                      </p:tavLst>
                                    </p:anim>
                                    <p:anim calcmode="lin" valueType="num">
                                      <p:cBhvr>
                                        <p:cTn id="61" dur="500" fill="hold"/>
                                        <p:tgtEl>
                                          <p:spTgt spid="23612"/>
                                        </p:tgtEl>
                                        <p:attrNameLst>
                                          <p:attrName>ppt_y</p:attrName>
                                        </p:attrNameLst>
                                      </p:cBhvr>
                                      <p:tavLst>
                                        <p:tav tm="0">
                                          <p:val>
                                            <p:strVal val="#ppt_y"/>
                                          </p:val>
                                        </p:tav>
                                        <p:tav tm="100000">
                                          <p:val>
                                            <p:strVal val="#ppt_y"/>
                                          </p:val>
                                        </p:tav>
                                      </p:tavLst>
                                    </p:anim>
                                    <p:anim calcmode="lin" valueType="num">
                                      <p:cBhvr>
                                        <p:cTn id="62" dur="500" fill="hold"/>
                                        <p:tgtEl>
                                          <p:spTgt spid="23612"/>
                                        </p:tgtEl>
                                        <p:attrNameLst>
                                          <p:attrName>ppt_w</p:attrName>
                                        </p:attrNameLst>
                                      </p:cBhvr>
                                      <p:tavLst>
                                        <p:tav tm="0">
                                          <p:val>
                                            <p:fltVal val="0"/>
                                          </p:val>
                                        </p:tav>
                                        <p:tav tm="100000">
                                          <p:val>
                                            <p:strVal val="#ppt_w"/>
                                          </p:val>
                                        </p:tav>
                                      </p:tavLst>
                                    </p:anim>
                                    <p:anim calcmode="lin" valueType="num">
                                      <p:cBhvr>
                                        <p:cTn id="63" dur="500" fill="hold"/>
                                        <p:tgtEl>
                                          <p:spTgt spid="23612"/>
                                        </p:tgtEl>
                                        <p:attrNameLst>
                                          <p:attrName>ppt_h</p:attrName>
                                        </p:attrNameLst>
                                      </p:cBhvr>
                                      <p:tavLst>
                                        <p:tav tm="0">
                                          <p:val>
                                            <p:strVal val="#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3601"/>
                                        </p:tgtEl>
                                        <p:attrNameLst>
                                          <p:attrName>style.visibility</p:attrName>
                                        </p:attrNameLst>
                                      </p:cBhvr>
                                      <p:to>
                                        <p:strVal val="visible"/>
                                      </p:to>
                                    </p:set>
                                    <p:animEffect transition="in" filter="wipe(left)">
                                      <p:cBhvr>
                                        <p:cTn id="68" dur="500"/>
                                        <p:tgtEl>
                                          <p:spTgt spid="23601"/>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23602"/>
                                        </p:tgtEl>
                                        <p:attrNameLst>
                                          <p:attrName>style.visibility</p:attrName>
                                        </p:attrNameLst>
                                      </p:cBhvr>
                                      <p:to>
                                        <p:strVal val="visible"/>
                                      </p:to>
                                    </p:set>
                                    <p:animEffect transition="in" filter="wipe(left)">
                                      <p:cBhvr>
                                        <p:cTn id="73" dur="500"/>
                                        <p:tgtEl>
                                          <p:spTgt spid="23602"/>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iterate type="wd">
                                    <p:tmPct val="100000"/>
                                  </p:iterate>
                                  <p:childTnLst>
                                    <p:set>
                                      <p:cBhvr>
                                        <p:cTn id="77" dur="1" fill="hold">
                                          <p:stCondLst>
                                            <p:cond delay="0"/>
                                          </p:stCondLst>
                                        </p:cTn>
                                        <p:tgtEl>
                                          <p:spTgt spid="23572"/>
                                        </p:tgtEl>
                                        <p:attrNameLst>
                                          <p:attrName>style.visibility</p:attrName>
                                        </p:attrNameLst>
                                      </p:cBhvr>
                                      <p:to>
                                        <p:strVal val="visible"/>
                                      </p:to>
                                    </p:set>
                                    <p:animEffect transition="in" filter="wipe(left)">
                                      <p:cBhvr>
                                        <p:cTn id="78" dur="300"/>
                                        <p:tgtEl>
                                          <p:spTgt spid="23572"/>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iterate type="wd">
                                    <p:tmPct val="100000"/>
                                  </p:iterate>
                                  <p:childTnLst>
                                    <p:set>
                                      <p:cBhvr>
                                        <p:cTn id="82" dur="1" fill="hold">
                                          <p:stCondLst>
                                            <p:cond delay="0"/>
                                          </p:stCondLst>
                                        </p:cTn>
                                        <p:tgtEl>
                                          <p:spTgt spid="23573"/>
                                        </p:tgtEl>
                                        <p:attrNameLst>
                                          <p:attrName>style.visibility</p:attrName>
                                        </p:attrNameLst>
                                      </p:cBhvr>
                                      <p:to>
                                        <p:strVal val="visible"/>
                                      </p:to>
                                    </p:set>
                                    <p:animEffect transition="in" filter="wipe(left)">
                                      <p:cBhvr>
                                        <p:cTn id="83" dur="300"/>
                                        <p:tgtEl>
                                          <p:spTgt spid="23573"/>
                                        </p:tgtEl>
                                      </p:cBhvr>
                                    </p:animEffect>
                                  </p:childTnLst>
                                </p:cTn>
                              </p:par>
                            </p:childTnLst>
                          </p:cTn>
                        </p:par>
                      </p:childTnLst>
                    </p:cTn>
                  </p:par>
                  <p:par>
                    <p:cTn id="84" fill="hold">
                      <p:stCondLst>
                        <p:cond delay="indefinite"/>
                      </p:stCondLst>
                      <p:childTnLst>
                        <p:par>
                          <p:cTn id="85" fill="hold">
                            <p:stCondLst>
                              <p:cond delay="0"/>
                            </p:stCondLst>
                            <p:childTnLst>
                              <p:par>
                                <p:cTn id="86" presetID="17" presetClass="entr" presetSubtype="8" fill="hold" grpId="0" nodeType="clickEffect">
                                  <p:stCondLst>
                                    <p:cond delay="0"/>
                                  </p:stCondLst>
                                  <p:childTnLst>
                                    <p:set>
                                      <p:cBhvr>
                                        <p:cTn id="87" dur="1" fill="hold">
                                          <p:stCondLst>
                                            <p:cond delay="0"/>
                                          </p:stCondLst>
                                        </p:cTn>
                                        <p:tgtEl>
                                          <p:spTgt spid="18"/>
                                        </p:tgtEl>
                                        <p:attrNameLst>
                                          <p:attrName>style.visibility</p:attrName>
                                        </p:attrNameLst>
                                      </p:cBhvr>
                                      <p:to>
                                        <p:strVal val="visible"/>
                                      </p:to>
                                    </p:set>
                                    <p:anim calcmode="lin" valueType="num">
                                      <p:cBhvr>
                                        <p:cTn id="88" dur="500" fill="hold"/>
                                        <p:tgtEl>
                                          <p:spTgt spid="18"/>
                                        </p:tgtEl>
                                        <p:attrNameLst>
                                          <p:attrName>ppt_x</p:attrName>
                                        </p:attrNameLst>
                                      </p:cBhvr>
                                      <p:tavLst>
                                        <p:tav tm="0">
                                          <p:val>
                                            <p:strVal val="#ppt_x-#ppt_w/2"/>
                                          </p:val>
                                        </p:tav>
                                        <p:tav tm="100000">
                                          <p:val>
                                            <p:strVal val="#ppt_x"/>
                                          </p:val>
                                        </p:tav>
                                      </p:tavLst>
                                    </p:anim>
                                    <p:anim calcmode="lin" valueType="num">
                                      <p:cBhvr>
                                        <p:cTn id="89" dur="500" fill="hold"/>
                                        <p:tgtEl>
                                          <p:spTgt spid="18"/>
                                        </p:tgtEl>
                                        <p:attrNameLst>
                                          <p:attrName>ppt_y</p:attrName>
                                        </p:attrNameLst>
                                      </p:cBhvr>
                                      <p:tavLst>
                                        <p:tav tm="0">
                                          <p:val>
                                            <p:strVal val="#ppt_y"/>
                                          </p:val>
                                        </p:tav>
                                        <p:tav tm="100000">
                                          <p:val>
                                            <p:strVal val="#ppt_y"/>
                                          </p:val>
                                        </p:tav>
                                      </p:tavLst>
                                    </p:anim>
                                    <p:anim calcmode="lin" valueType="num">
                                      <p:cBhvr>
                                        <p:cTn id="90" dur="500" fill="hold"/>
                                        <p:tgtEl>
                                          <p:spTgt spid="18"/>
                                        </p:tgtEl>
                                        <p:attrNameLst>
                                          <p:attrName>ppt_w</p:attrName>
                                        </p:attrNameLst>
                                      </p:cBhvr>
                                      <p:tavLst>
                                        <p:tav tm="0">
                                          <p:val>
                                            <p:fltVal val="0"/>
                                          </p:val>
                                        </p:tav>
                                        <p:tav tm="100000">
                                          <p:val>
                                            <p:strVal val="#ppt_w"/>
                                          </p:val>
                                        </p:tav>
                                      </p:tavLst>
                                    </p:anim>
                                    <p:anim calcmode="lin" valueType="num">
                                      <p:cBhvr>
                                        <p:cTn id="91" dur="5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92" fill="hold">
                      <p:stCondLst>
                        <p:cond delay="indefinite"/>
                      </p:stCondLst>
                      <p:childTnLst>
                        <p:par>
                          <p:cTn id="93" fill="hold">
                            <p:stCondLst>
                              <p:cond delay="0"/>
                            </p:stCondLst>
                            <p:childTnLst>
                              <p:par>
                                <p:cTn id="94" presetID="17" presetClass="entr" presetSubtype="8" fill="hold" grpId="0" nodeType="clickEffect">
                                  <p:stCondLst>
                                    <p:cond delay="0"/>
                                  </p:stCondLst>
                                  <p:childTnLst>
                                    <p:set>
                                      <p:cBhvr>
                                        <p:cTn id="95" dur="1" fill="hold">
                                          <p:stCondLst>
                                            <p:cond delay="0"/>
                                          </p:stCondLst>
                                        </p:cTn>
                                        <p:tgtEl>
                                          <p:spTgt spid="19"/>
                                        </p:tgtEl>
                                        <p:attrNameLst>
                                          <p:attrName>style.visibility</p:attrName>
                                        </p:attrNameLst>
                                      </p:cBhvr>
                                      <p:to>
                                        <p:strVal val="visible"/>
                                      </p:to>
                                    </p:set>
                                    <p:anim calcmode="lin" valueType="num">
                                      <p:cBhvr>
                                        <p:cTn id="96" dur="500" fill="hold"/>
                                        <p:tgtEl>
                                          <p:spTgt spid="19"/>
                                        </p:tgtEl>
                                        <p:attrNameLst>
                                          <p:attrName>ppt_x</p:attrName>
                                        </p:attrNameLst>
                                      </p:cBhvr>
                                      <p:tavLst>
                                        <p:tav tm="0">
                                          <p:val>
                                            <p:strVal val="#ppt_x-#ppt_w/2"/>
                                          </p:val>
                                        </p:tav>
                                        <p:tav tm="100000">
                                          <p:val>
                                            <p:strVal val="#ppt_x"/>
                                          </p:val>
                                        </p:tav>
                                      </p:tavLst>
                                    </p:anim>
                                    <p:anim calcmode="lin" valueType="num">
                                      <p:cBhvr>
                                        <p:cTn id="97" dur="500" fill="hold"/>
                                        <p:tgtEl>
                                          <p:spTgt spid="19"/>
                                        </p:tgtEl>
                                        <p:attrNameLst>
                                          <p:attrName>ppt_y</p:attrName>
                                        </p:attrNameLst>
                                      </p:cBhvr>
                                      <p:tavLst>
                                        <p:tav tm="0">
                                          <p:val>
                                            <p:strVal val="#ppt_y"/>
                                          </p:val>
                                        </p:tav>
                                        <p:tav tm="100000">
                                          <p:val>
                                            <p:strVal val="#ppt_y"/>
                                          </p:val>
                                        </p:tav>
                                      </p:tavLst>
                                    </p:anim>
                                    <p:anim calcmode="lin" valueType="num">
                                      <p:cBhvr>
                                        <p:cTn id="98" dur="500" fill="hold"/>
                                        <p:tgtEl>
                                          <p:spTgt spid="19"/>
                                        </p:tgtEl>
                                        <p:attrNameLst>
                                          <p:attrName>ppt_w</p:attrName>
                                        </p:attrNameLst>
                                      </p:cBhvr>
                                      <p:tavLst>
                                        <p:tav tm="0">
                                          <p:val>
                                            <p:fltVal val="0"/>
                                          </p:val>
                                        </p:tav>
                                        <p:tav tm="100000">
                                          <p:val>
                                            <p:strVal val="#ppt_w"/>
                                          </p:val>
                                        </p:tav>
                                      </p:tavLst>
                                    </p:anim>
                                    <p:anim calcmode="lin" valueType="num">
                                      <p:cBhvr>
                                        <p:cTn id="99" dur="500" fill="hold"/>
                                        <p:tgtEl>
                                          <p:spTgt spid="1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6" grpId="0" build="p" autoUpdateAnimBg="0"/>
      <p:bldP spid="23557" grpId="0" autoUpdateAnimBg="0"/>
      <p:bldP spid="23558" grpId="0" autoUpdateAnimBg="0"/>
      <p:bldP spid="23572" grpId="0" autoUpdateAnimBg="0"/>
      <p:bldP spid="23573" grpId="0" autoUpdateAnimBg="0"/>
      <p:bldP spid="23605" grpId="0" animBg="1"/>
      <p:bldP spid="23609" grpId="0" animBg="1"/>
      <p:bldP spid="23610" grpId="0" animBg="1"/>
      <p:bldP spid="23611" grpId="0" animBg="1"/>
      <p:bldP spid="23612" grpId="0" animBg="1"/>
      <p:bldP spid="18" grpId="0" animBg="1"/>
      <p:bldP spid="1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Text Box 1028"/>
          <p:cNvSpPr txBox="1">
            <a:spLocks noChangeArrowheads="1"/>
          </p:cNvSpPr>
          <p:nvPr/>
        </p:nvSpPr>
        <p:spPr bwMode="auto">
          <a:xfrm>
            <a:off x="849703" y="596692"/>
            <a:ext cx="11509375" cy="830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400" b="1" dirty="0"/>
              <a:t>表面粗糙度轮廓评定参数共 </a:t>
            </a:r>
            <a:r>
              <a:rPr lang="zh-CN" altLang="en-US" sz="4400" b="1" dirty="0">
                <a:solidFill>
                  <a:srgbClr val="FF3300"/>
                </a:solidFill>
              </a:rPr>
              <a:t>4个</a:t>
            </a:r>
            <a:r>
              <a:rPr lang="zh-CN" altLang="en-US" sz="4400" b="1" dirty="0"/>
              <a:t>：</a:t>
            </a:r>
          </a:p>
        </p:txBody>
      </p:sp>
      <p:grpSp>
        <p:nvGrpSpPr>
          <p:cNvPr id="56334" name="Group 1038"/>
          <p:cNvGrpSpPr/>
          <p:nvPr/>
        </p:nvGrpSpPr>
        <p:grpSpPr bwMode="auto">
          <a:xfrm>
            <a:off x="1743075" y="2784210"/>
            <a:ext cx="3575050" cy="1943100"/>
            <a:chOff x="1098" y="1480"/>
            <a:chExt cx="2252" cy="1224"/>
          </a:xfrm>
        </p:grpSpPr>
        <p:sp>
          <p:nvSpPr>
            <p:cNvPr id="20493" name="Text Box 1029"/>
            <p:cNvSpPr txBox="1">
              <a:spLocks noChangeArrowheads="1"/>
            </p:cNvSpPr>
            <p:nvPr/>
          </p:nvSpPr>
          <p:spPr bwMode="auto">
            <a:xfrm>
              <a:off x="1098" y="1480"/>
              <a:ext cx="1859" cy="1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700" b="1">
                  <a:solidFill>
                    <a:srgbClr val="FF3300"/>
                  </a:solidFill>
                </a:rPr>
                <a:t>基本参数</a:t>
              </a:r>
            </a:p>
            <a:p>
              <a:pPr eaLnBrk="1" hangingPunct="1">
                <a:spcBef>
                  <a:spcPct val="50000"/>
                </a:spcBef>
              </a:pPr>
              <a:r>
                <a:rPr lang="zh-CN" altLang="en-US" sz="4700" b="1">
                  <a:solidFill>
                    <a:srgbClr val="FF3300"/>
                  </a:solidFill>
                </a:rPr>
                <a:t>     </a:t>
              </a:r>
              <a:r>
                <a:rPr lang="zh-CN" altLang="en-US" sz="4700" b="1"/>
                <a:t>2 个</a:t>
              </a:r>
              <a:endParaRPr lang="en-US" altLang="zh-CN" sz="4700"/>
            </a:p>
          </p:txBody>
        </p:sp>
        <p:sp>
          <p:nvSpPr>
            <p:cNvPr id="20494" name="AutoShape 1031"/>
            <p:cNvSpPr/>
            <p:nvPr/>
          </p:nvSpPr>
          <p:spPr bwMode="auto">
            <a:xfrm>
              <a:off x="3007" y="1685"/>
              <a:ext cx="343" cy="960"/>
            </a:xfrm>
            <a:prstGeom prst="leftBrace">
              <a:avLst>
                <a:gd name="adj1" fmla="val 23324"/>
                <a:gd name="adj2" fmla="val 50000"/>
              </a:avLst>
            </a:prstGeom>
            <a:noFill/>
            <a:ln w="571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6328" name="Text Box 1032"/>
          <p:cNvSpPr txBox="1">
            <a:spLocks noChangeArrowheads="1"/>
          </p:cNvSpPr>
          <p:nvPr/>
        </p:nvSpPr>
        <p:spPr bwMode="auto">
          <a:xfrm>
            <a:off x="5561013" y="2760398"/>
            <a:ext cx="8751887" cy="86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b="1" i="1">
                <a:solidFill>
                  <a:srgbClr val="FF3300"/>
                </a:solidFill>
              </a:rPr>
              <a:t>Ra</a:t>
            </a:r>
            <a:r>
              <a:rPr lang="en-US" altLang="zh-CN" sz="4700" b="1" i="1"/>
              <a:t> —</a:t>
            </a:r>
            <a:r>
              <a:rPr lang="zh-CN" altLang="en-US" sz="4700" b="1"/>
              <a:t>轮廓算术平均偏差</a:t>
            </a:r>
          </a:p>
        </p:txBody>
      </p:sp>
      <p:sp>
        <p:nvSpPr>
          <p:cNvPr id="56329" name="Text Box 1033"/>
          <p:cNvSpPr txBox="1">
            <a:spLocks noChangeArrowheads="1"/>
          </p:cNvSpPr>
          <p:nvPr/>
        </p:nvSpPr>
        <p:spPr bwMode="auto">
          <a:xfrm>
            <a:off x="5561013" y="4019285"/>
            <a:ext cx="7797800" cy="86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b="1" i="1">
                <a:solidFill>
                  <a:srgbClr val="FF3300"/>
                </a:solidFill>
              </a:rPr>
              <a:t>Rz </a:t>
            </a:r>
            <a:r>
              <a:rPr lang="en-US" altLang="zh-CN" sz="4700" b="1" i="1"/>
              <a:t> —</a:t>
            </a:r>
            <a:r>
              <a:rPr lang="zh-CN" altLang="en-US" sz="4700" b="1"/>
              <a:t>轮廓最大高度</a:t>
            </a:r>
          </a:p>
        </p:txBody>
      </p:sp>
      <p:grpSp>
        <p:nvGrpSpPr>
          <p:cNvPr id="56335" name="Group 1039"/>
          <p:cNvGrpSpPr/>
          <p:nvPr/>
        </p:nvGrpSpPr>
        <p:grpSpPr bwMode="auto">
          <a:xfrm>
            <a:off x="1292225" y="5505185"/>
            <a:ext cx="3994150" cy="3017838"/>
            <a:chOff x="814" y="3194"/>
            <a:chExt cx="2516" cy="1901"/>
          </a:xfrm>
        </p:grpSpPr>
        <p:sp>
          <p:nvSpPr>
            <p:cNvPr id="20491" name="Text Box 1030"/>
            <p:cNvSpPr txBox="1">
              <a:spLocks noChangeArrowheads="1"/>
            </p:cNvSpPr>
            <p:nvPr/>
          </p:nvSpPr>
          <p:spPr bwMode="auto">
            <a:xfrm>
              <a:off x="814" y="3194"/>
              <a:ext cx="2413" cy="1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dirty="0"/>
                <a:t>  </a:t>
              </a:r>
              <a:r>
                <a:rPr lang="zh-CN" altLang="en-US" sz="4700" b="1" dirty="0">
                  <a:solidFill>
                    <a:srgbClr val="FF3300"/>
                  </a:solidFill>
                </a:rPr>
                <a:t>附加参数</a:t>
              </a:r>
            </a:p>
            <a:p>
              <a:pPr eaLnBrk="1" hangingPunct="1">
                <a:spcBef>
                  <a:spcPct val="50000"/>
                </a:spcBef>
              </a:pPr>
              <a:r>
                <a:rPr lang="zh-CN" altLang="en-US" sz="4700" b="1" dirty="0"/>
                <a:t>(辅助参数</a:t>
              </a:r>
              <a:r>
                <a:rPr lang="en-US" altLang="zh-CN" sz="4700" b="1" dirty="0"/>
                <a:t>)</a:t>
              </a:r>
            </a:p>
            <a:p>
              <a:pPr eaLnBrk="1" hangingPunct="1">
                <a:spcBef>
                  <a:spcPct val="50000"/>
                </a:spcBef>
              </a:pPr>
              <a:r>
                <a:rPr lang="zh-CN" altLang="en-US" sz="4700" b="1" dirty="0">
                  <a:solidFill>
                    <a:srgbClr val="FF3300"/>
                  </a:solidFill>
                </a:rPr>
                <a:t>      </a:t>
              </a:r>
              <a:r>
                <a:rPr lang="zh-CN" altLang="en-US" sz="4700" b="1" dirty="0"/>
                <a:t>2 个</a:t>
              </a:r>
              <a:endParaRPr lang="en-US" altLang="zh-CN" sz="4700" dirty="0"/>
            </a:p>
          </p:txBody>
        </p:sp>
        <p:sp>
          <p:nvSpPr>
            <p:cNvPr id="20492" name="AutoShape 1034"/>
            <p:cNvSpPr/>
            <p:nvPr/>
          </p:nvSpPr>
          <p:spPr bwMode="auto">
            <a:xfrm>
              <a:off x="2880" y="3437"/>
              <a:ext cx="450" cy="1158"/>
            </a:xfrm>
            <a:prstGeom prst="leftBrace">
              <a:avLst>
                <a:gd name="adj1" fmla="val 21444"/>
                <a:gd name="adj2" fmla="val 50000"/>
              </a:avLst>
            </a:prstGeom>
            <a:noFill/>
            <a:ln w="571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6331" name="Text Box 1035"/>
          <p:cNvSpPr txBox="1">
            <a:spLocks noChangeArrowheads="1"/>
          </p:cNvSpPr>
          <p:nvPr/>
        </p:nvSpPr>
        <p:spPr bwMode="auto">
          <a:xfrm>
            <a:off x="5434013" y="5470260"/>
            <a:ext cx="9159875" cy="86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Rsm</a:t>
            </a:r>
            <a:r>
              <a:rPr lang="en-US" altLang="zh-CN" sz="4000" i="1"/>
              <a:t>  — </a:t>
            </a:r>
            <a:r>
              <a:rPr lang="zh-CN" altLang="en-US" sz="4700" b="1"/>
              <a:t>轮廓单元平均宽度</a:t>
            </a:r>
            <a:r>
              <a:rPr lang="zh-CN" altLang="en-US" sz="4700" b="1">
                <a:solidFill>
                  <a:srgbClr val="FF3300"/>
                </a:solidFill>
              </a:rPr>
              <a:t> </a:t>
            </a:r>
            <a:endParaRPr lang="en-US" altLang="zh-CN" sz="4700" b="1">
              <a:solidFill>
                <a:srgbClr val="FF3300"/>
              </a:solidFill>
            </a:endParaRPr>
          </a:p>
        </p:txBody>
      </p:sp>
      <p:sp>
        <p:nvSpPr>
          <p:cNvPr id="56332" name="Text Box 1036"/>
          <p:cNvSpPr txBox="1">
            <a:spLocks noChangeArrowheads="1"/>
          </p:cNvSpPr>
          <p:nvPr/>
        </p:nvSpPr>
        <p:spPr bwMode="auto">
          <a:xfrm>
            <a:off x="5413375" y="6922823"/>
            <a:ext cx="8939213" cy="868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700" i="1"/>
              <a:t>Rmr</a:t>
            </a:r>
            <a:r>
              <a:rPr lang="en-US" altLang="zh-CN" sz="4700"/>
              <a:t>(</a:t>
            </a:r>
            <a:r>
              <a:rPr lang="en-US" altLang="zh-CN" sz="4700" i="1"/>
              <a:t>c</a:t>
            </a:r>
            <a:r>
              <a:rPr lang="en-US" altLang="zh-CN" sz="4700"/>
              <a:t>) —</a:t>
            </a:r>
            <a:r>
              <a:rPr lang="zh-CN" altLang="en-US" sz="4700" b="1"/>
              <a:t>轮廓支承长度率</a:t>
            </a:r>
            <a:endParaRPr lang="en-US" altLang="zh-CN" sz="4700" b="1"/>
          </a:p>
        </p:txBody>
      </p:sp>
      <p:cxnSp>
        <p:nvCxnSpPr>
          <p:cNvPr id="14" name="直接连接符 13"/>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56324"/>
                                        </p:tgtEl>
                                        <p:attrNameLst>
                                          <p:attrName>style.visibility</p:attrName>
                                        </p:attrNameLst>
                                      </p:cBhvr>
                                      <p:to>
                                        <p:strVal val="visible"/>
                                      </p:to>
                                    </p:set>
                                    <p:animEffect transition="in" filter="wipe(left)">
                                      <p:cBhvr>
                                        <p:cTn id="7" dur="300"/>
                                        <p:tgtEl>
                                          <p:spTgt spid="563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6334"/>
                                        </p:tgtEl>
                                        <p:attrNameLst>
                                          <p:attrName>style.visibility</p:attrName>
                                        </p:attrNameLst>
                                      </p:cBhvr>
                                      <p:to>
                                        <p:strVal val="visible"/>
                                      </p:to>
                                    </p:set>
                                    <p:animEffect transition="in" filter="wipe(left)">
                                      <p:cBhvr>
                                        <p:cTn id="12" dur="2000"/>
                                        <p:tgtEl>
                                          <p:spTgt spid="563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56328"/>
                                        </p:tgtEl>
                                        <p:attrNameLst>
                                          <p:attrName>style.visibility</p:attrName>
                                        </p:attrNameLst>
                                      </p:cBhvr>
                                      <p:to>
                                        <p:strVal val="visible"/>
                                      </p:to>
                                    </p:set>
                                    <p:animEffect transition="in" filter="wipe(left)">
                                      <p:cBhvr>
                                        <p:cTn id="17" dur="300"/>
                                        <p:tgtEl>
                                          <p:spTgt spid="563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56329"/>
                                        </p:tgtEl>
                                        <p:attrNameLst>
                                          <p:attrName>style.visibility</p:attrName>
                                        </p:attrNameLst>
                                      </p:cBhvr>
                                      <p:to>
                                        <p:strVal val="visible"/>
                                      </p:to>
                                    </p:set>
                                    <p:animEffect transition="in" filter="wipe(left)">
                                      <p:cBhvr>
                                        <p:cTn id="22" dur="300"/>
                                        <p:tgtEl>
                                          <p:spTgt spid="563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6335"/>
                                        </p:tgtEl>
                                        <p:attrNameLst>
                                          <p:attrName>style.visibility</p:attrName>
                                        </p:attrNameLst>
                                      </p:cBhvr>
                                      <p:to>
                                        <p:strVal val="visible"/>
                                      </p:to>
                                    </p:set>
                                    <p:animEffect transition="in" filter="wipe(left)">
                                      <p:cBhvr>
                                        <p:cTn id="27" dur="2000"/>
                                        <p:tgtEl>
                                          <p:spTgt spid="5633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56331"/>
                                        </p:tgtEl>
                                        <p:attrNameLst>
                                          <p:attrName>style.visibility</p:attrName>
                                        </p:attrNameLst>
                                      </p:cBhvr>
                                      <p:to>
                                        <p:strVal val="visible"/>
                                      </p:to>
                                    </p:set>
                                    <p:animEffect transition="in" filter="wipe(left)">
                                      <p:cBhvr>
                                        <p:cTn id="32" dur="300"/>
                                        <p:tgtEl>
                                          <p:spTgt spid="5633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56332"/>
                                        </p:tgtEl>
                                        <p:attrNameLst>
                                          <p:attrName>style.visibility</p:attrName>
                                        </p:attrNameLst>
                                      </p:cBhvr>
                                      <p:to>
                                        <p:strVal val="visible"/>
                                      </p:to>
                                    </p:set>
                                    <p:animEffect transition="in" filter="wipe(left)">
                                      <p:cBhvr>
                                        <p:cTn id="37" dur="300"/>
                                        <p:tgtEl>
                                          <p:spTgt spid="56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autoUpdateAnimBg="0"/>
      <p:bldP spid="56328" grpId="0" autoUpdateAnimBg="0"/>
      <p:bldP spid="56329" grpId="0" autoUpdateAnimBg="0"/>
      <p:bldP spid="56331" grpId="0" autoUpdateAnimBg="0"/>
      <p:bldP spid="56332"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4" name="Text Box 4"/>
          <p:cNvSpPr txBox="1">
            <a:spLocks noChangeArrowheads="1"/>
          </p:cNvSpPr>
          <p:nvPr/>
        </p:nvSpPr>
        <p:spPr bwMode="auto">
          <a:xfrm>
            <a:off x="772905" y="550316"/>
            <a:ext cx="786143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t>5.3</a:t>
            </a:r>
            <a:r>
              <a:rPr lang="zh-CN" altLang="en-US" sz="4000" b="1" dirty="0">
                <a:latin typeface="宋体" panose="02010600030101010101" pitchFamily="2" charset="-122"/>
              </a:rPr>
              <a:t> 表面粗糙度轮廓的设计</a:t>
            </a:r>
            <a:endParaRPr lang="zh-CN" altLang="en-US" sz="4000" dirty="0"/>
          </a:p>
        </p:txBody>
      </p:sp>
      <p:sp>
        <p:nvSpPr>
          <p:cNvPr id="76805" name="Text Box 5"/>
          <p:cNvSpPr txBox="1">
            <a:spLocks noChangeArrowheads="1"/>
          </p:cNvSpPr>
          <p:nvPr/>
        </p:nvSpPr>
        <p:spPr bwMode="auto">
          <a:xfrm>
            <a:off x="946280" y="1372850"/>
            <a:ext cx="1078706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t>5.3.1  表面粗糙度轮廓的参数数值</a:t>
            </a:r>
            <a:r>
              <a:rPr lang="zh-CN" altLang="en-US" sz="3600" dirty="0"/>
              <a:t> </a:t>
            </a:r>
          </a:p>
        </p:txBody>
      </p:sp>
      <p:sp>
        <p:nvSpPr>
          <p:cNvPr id="76806" name="Text Box 6"/>
          <p:cNvSpPr txBox="1">
            <a:spLocks noChangeArrowheads="1"/>
          </p:cNvSpPr>
          <p:nvPr/>
        </p:nvSpPr>
        <p:spPr bwMode="auto">
          <a:xfrm>
            <a:off x="722130" y="2063416"/>
            <a:ext cx="13633450" cy="626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200" b="1" dirty="0">
                <a:latin typeface="宋体" panose="02010600030101010101" pitchFamily="2" charset="-122"/>
              </a:rPr>
              <a:t>     表</a:t>
            </a:r>
            <a:r>
              <a:rPr lang="zh-CN" altLang="en-US" sz="3200" b="1" dirty="0"/>
              <a:t>5.1～5.5中基本系列摘自</a:t>
            </a:r>
            <a:r>
              <a:rPr lang="en-US" altLang="zh-CN" sz="3200" b="1" dirty="0">
                <a:solidFill>
                  <a:srgbClr val="FF3300"/>
                </a:solidFill>
              </a:rPr>
              <a:t>GB/T1031-2009</a:t>
            </a:r>
            <a:r>
              <a:rPr lang="zh-CN" altLang="en-US" sz="3200" b="1" dirty="0"/>
              <a:t>，补充系列摘自其附录。</a:t>
            </a:r>
          </a:p>
        </p:txBody>
      </p:sp>
      <p:pic>
        <p:nvPicPr>
          <p:cNvPr id="21510" name="Picture 101"/>
          <p:cNvPicPr>
            <a:picLocks noChangeAspect="1" noChangeArrowheads="1"/>
          </p:cNvPicPr>
          <p:nvPr/>
        </p:nvPicPr>
        <p:blipFill>
          <a:blip r:embed="rId2" cstate="print">
            <a:extLst>
              <a:ext uri="{28A0092B-C50C-407E-A947-70E740481C1C}">
                <a14:useLocalDpi xmlns:a14="http://schemas.microsoft.com/office/drawing/2010/main" val="0"/>
              </a:ext>
            </a:extLst>
          </a:blip>
          <a:srcRect t="3175" b="8733"/>
          <a:stretch>
            <a:fillRect/>
          </a:stretch>
        </p:blipFill>
        <p:spPr bwMode="auto">
          <a:xfrm>
            <a:off x="1890946" y="2758193"/>
            <a:ext cx="11120515" cy="3792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b="5826"/>
          <a:stretch>
            <a:fillRect/>
          </a:stretch>
        </p:blipFill>
        <p:spPr bwMode="auto">
          <a:xfrm>
            <a:off x="2113613" y="6604574"/>
            <a:ext cx="10777928" cy="4038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直接连接符 7"/>
          <p:cNvCxnSpPr/>
          <p:nvPr/>
        </p:nvCxnSpPr>
        <p:spPr bwMode="auto">
          <a:xfrm flipV="1">
            <a:off x="414883" y="127777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76804">
                                            <p:txEl>
                                              <p:pRg st="0" end="0"/>
                                            </p:txEl>
                                          </p:spTgt>
                                        </p:tgtEl>
                                        <p:attrNameLst>
                                          <p:attrName>style.visibility</p:attrName>
                                        </p:attrNameLst>
                                      </p:cBhvr>
                                      <p:to>
                                        <p:strVal val="visible"/>
                                      </p:to>
                                    </p:set>
                                    <p:animEffect transition="in" filter="wipe(left)">
                                      <p:cBhvr>
                                        <p:cTn id="7" dur="300"/>
                                        <p:tgtEl>
                                          <p:spTgt spid="768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6805">
                                            <p:txEl>
                                              <p:pRg st="0" end="0"/>
                                            </p:txEl>
                                          </p:spTgt>
                                        </p:tgtEl>
                                        <p:attrNameLst>
                                          <p:attrName>style.visibility</p:attrName>
                                        </p:attrNameLst>
                                      </p:cBhvr>
                                      <p:to>
                                        <p:strVal val="visible"/>
                                      </p:to>
                                    </p:set>
                                    <p:animEffect transition="in" filter="wipe(left)">
                                      <p:cBhvr>
                                        <p:cTn id="12" dur="300"/>
                                        <p:tgtEl>
                                          <p:spTgt spid="7680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6806">
                                            <p:txEl>
                                              <p:pRg st="0" end="0"/>
                                            </p:txEl>
                                          </p:spTgt>
                                        </p:tgtEl>
                                        <p:attrNameLst>
                                          <p:attrName>style.visibility</p:attrName>
                                        </p:attrNameLst>
                                      </p:cBhvr>
                                      <p:to>
                                        <p:strVal val="visible"/>
                                      </p:to>
                                    </p:set>
                                    <p:animEffect transition="in" filter="wipe(left)">
                                      <p:cBhvr>
                                        <p:cTn id="17" dur="300"/>
                                        <p:tgtEl>
                                          <p:spTgt spid="7680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1510"/>
                                        </p:tgtEl>
                                        <p:attrNameLst>
                                          <p:attrName>style.visibility</p:attrName>
                                        </p:attrNameLst>
                                      </p:cBhvr>
                                      <p:to>
                                        <p:strVal val="visible"/>
                                      </p:to>
                                    </p:set>
                                    <p:anim calcmode="lin" valueType="num">
                                      <p:cBhvr additive="base">
                                        <p:cTn id="22" dur="2500" fill="hold"/>
                                        <p:tgtEl>
                                          <p:spTgt spid="21510"/>
                                        </p:tgtEl>
                                        <p:attrNameLst>
                                          <p:attrName>ppt_x</p:attrName>
                                        </p:attrNameLst>
                                      </p:cBhvr>
                                      <p:tavLst>
                                        <p:tav tm="0">
                                          <p:val>
                                            <p:strVal val="#ppt_x"/>
                                          </p:val>
                                        </p:tav>
                                        <p:tav tm="100000">
                                          <p:val>
                                            <p:strVal val="#ppt_x"/>
                                          </p:val>
                                        </p:tav>
                                      </p:tavLst>
                                    </p:anim>
                                    <p:anim calcmode="lin" valueType="num">
                                      <p:cBhvr additive="base">
                                        <p:cTn id="23" dur="2500" fill="hold"/>
                                        <p:tgtEl>
                                          <p:spTgt spid="21510"/>
                                        </p:tgtEl>
                                        <p:attrNameLst>
                                          <p:attrName>ppt_y</p:attrName>
                                        </p:attrNameLst>
                                      </p:cBhvr>
                                      <p:tavLst>
                                        <p:tav tm="0">
                                          <p:val>
                                            <p:strVal val="1+#ppt_h/2"/>
                                          </p:val>
                                        </p:tav>
                                        <p:tav tm="100000">
                                          <p:val>
                                            <p:strVal val="#ppt_y"/>
                                          </p:val>
                                        </p:tav>
                                      </p:tavLst>
                                    </p:anim>
                                  </p:childTnLst>
                                </p:cTn>
                              </p:par>
                            </p:childTnLst>
                          </p:cTn>
                        </p:par>
                        <p:par>
                          <p:cTn id="24" fill="hold">
                            <p:stCondLst>
                              <p:cond delay="2500"/>
                            </p:stCondLst>
                            <p:childTnLst>
                              <p:par>
                                <p:cTn id="25" presetID="2" presetClass="entr" presetSubtype="8"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2500" fill="hold"/>
                                        <p:tgtEl>
                                          <p:spTgt spid="7"/>
                                        </p:tgtEl>
                                        <p:attrNameLst>
                                          <p:attrName>ppt_x</p:attrName>
                                        </p:attrNameLst>
                                      </p:cBhvr>
                                      <p:tavLst>
                                        <p:tav tm="0">
                                          <p:val>
                                            <p:strVal val="0-#ppt_w/2"/>
                                          </p:val>
                                        </p:tav>
                                        <p:tav tm="100000">
                                          <p:val>
                                            <p:strVal val="#ppt_x"/>
                                          </p:val>
                                        </p:tav>
                                      </p:tavLst>
                                    </p:anim>
                                    <p:anim calcmode="lin" valueType="num">
                                      <p:cBhvr additive="base">
                                        <p:cTn id="28" dur="2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build="p" autoUpdateAnimBg="0"/>
      <p:bldP spid="76805" grpId="0" build="p" autoUpdateAnimBg="0"/>
      <p:bldP spid="76806"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261" name="Group 1101"/>
          <p:cNvGrpSpPr/>
          <p:nvPr/>
        </p:nvGrpSpPr>
        <p:grpSpPr bwMode="auto">
          <a:xfrm>
            <a:off x="1117418" y="6012357"/>
            <a:ext cx="12579350" cy="1325563"/>
            <a:chOff x="685" y="3170"/>
            <a:chExt cx="7924" cy="835"/>
          </a:xfrm>
        </p:grpSpPr>
        <p:sp>
          <p:nvSpPr>
            <p:cNvPr id="23558" name="Rectangle 1071"/>
            <p:cNvSpPr>
              <a:spLocks noChangeArrowheads="1"/>
            </p:cNvSpPr>
            <p:nvPr/>
          </p:nvSpPr>
          <p:spPr bwMode="auto">
            <a:xfrm>
              <a:off x="7888" y="3641"/>
              <a:ext cx="721"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1524000">
                <a:spcBef>
                  <a:spcPct val="20000"/>
                </a:spcBef>
              </a:pPr>
              <a:r>
                <a:rPr lang="en-US" altLang="zh-CN" sz="3200" b="1"/>
                <a:t>90</a:t>
              </a:r>
            </a:p>
          </p:txBody>
        </p:sp>
        <p:sp>
          <p:nvSpPr>
            <p:cNvPr id="23559" name="Rectangle 1070"/>
            <p:cNvSpPr>
              <a:spLocks noChangeArrowheads="1"/>
            </p:cNvSpPr>
            <p:nvPr/>
          </p:nvSpPr>
          <p:spPr bwMode="auto">
            <a:xfrm>
              <a:off x="7168" y="3641"/>
              <a:ext cx="720"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1524000">
                <a:spcBef>
                  <a:spcPct val="20000"/>
                </a:spcBef>
              </a:pPr>
              <a:r>
                <a:rPr lang="en-US" altLang="zh-CN" sz="3200" b="1"/>
                <a:t>80</a:t>
              </a:r>
            </a:p>
          </p:txBody>
        </p:sp>
        <p:sp>
          <p:nvSpPr>
            <p:cNvPr id="23560" name="Rectangle 1069"/>
            <p:cNvSpPr>
              <a:spLocks noChangeArrowheads="1"/>
            </p:cNvSpPr>
            <p:nvPr/>
          </p:nvSpPr>
          <p:spPr bwMode="auto">
            <a:xfrm>
              <a:off x="6447" y="3641"/>
              <a:ext cx="721"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1524000">
                <a:spcBef>
                  <a:spcPct val="20000"/>
                </a:spcBef>
              </a:pPr>
              <a:r>
                <a:rPr lang="en-US" altLang="zh-CN" sz="3200" b="1"/>
                <a:t>70</a:t>
              </a:r>
            </a:p>
          </p:txBody>
        </p:sp>
        <p:sp>
          <p:nvSpPr>
            <p:cNvPr id="23561" name="Rectangle 1068"/>
            <p:cNvSpPr>
              <a:spLocks noChangeArrowheads="1"/>
            </p:cNvSpPr>
            <p:nvPr/>
          </p:nvSpPr>
          <p:spPr bwMode="auto">
            <a:xfrm>
              <a:off x="5729" y="3641"/>
              <a:ext cx="718"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1524000">
                <a:spcBef>
                  <a:spcPct val="20000"/>
                </a:spcBef>
              </a:pPr>
              <a:r>
                <a:rPr lang="en-US" altLang="zh-CN" sz="3200" b="1"/>
                <a:t>60</a:t>
              </a:r>
            </a:p>
          </p:txBody>
        </p:sp>
        <p:sp>
          <p:nvSpPr>
            <p:cNvPr id="23562" name="Rectangle 1067"/>
            <p:cNvSpPr>
              <a:spLocks noChangeArrowheads="1"/>
            </p:cNvSpPr>
            <p:nvPr/>
          </p:nvSpPr>
          <p:spPr bwMode="auto">
            <a:xfrm>
              <a:off x="5006" y="3641"/>
              <a:ext cx="723"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1524000">
                <a:spcBef>
                  <a:spcPct val="20000"/>
                </a:spcBef>
              </a:pPr>
              <a:r>
                <a:rPr lang="en-US" altLang="zh-CN" sz="3200" b="1"/>
                <a:t>50</a:t>
              </a:r>
            </a:p>
          </p:txBody>
        </p:sp>
        <p:sp>
          <p:nvSpPr>
            <p:cNvPr id="23563" name="Rectangle 1066"/>
            <p:cNvSpPr>
              <a:spLocks noChangeArrowheads="1"/>
            </p:cNvSpPr>
            <p:nvPr/>
          </p:nvSpPr>
          <p:spPr bwMode="auto">
            <a:xfrm>
              <a:off x="4288" y="3641"/>
              <a:ext cx="718"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1524000">
                <a:spcBef>
                  <a:spcPct val="20000"/>
                </a:spcBef>
              </a:pPr>
              <a:r>
                <a:rPr lang="en-US" altLang="zh-CN" sz="3200" b="1"/>
                <a:t>40</a:t>
              </a:r>
            </a:p>
          </p:txBody>
        </p:sp>
        <p:sp>
          <p:nvSpPr>
            <p:cNvPr id="23564" name="Rectangle 1065"/>
            <p:cNvSpPr>
              <a:spLocks noChangeArrowheads="1"/>
            </p:cNvSpPr>
            <p:nvPr/>
          </p:nvSpPr>
          <p:spPr bwMode="auto">
            <a:xfrm>
              <a:off x="3565" y="3641"/>
              <a:ext cx="723"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1524000">
                <a:spcBef>
                  <a:spcPct val="20000"/>
                </a:spcBef>
              </a:pPr>
              <a:r>
                <a:rPr lang="en-US" altLang="zh-CN" sz="3200" b="1"/>
                <a:t>30</a:t>
              </a:r>
            </a:p>
          </p:txBody>
        </p:sp>
        <p:sp>
          <p:nvSpPr>
            <p:cNvPr id="23565" name="Rectangle 1064"/>
            <p:cNvSpPr>
              <a:spLocks noChangeArrowheads="1"/>
            </p:cNvSpPr>
            <p:nvPr/>
          </p:nvSpPr>
          <p:spPr bwMode="auto">
            <a:xfrm>
              <a:off x="2847" y="3641"/>
              <a:ext cx="718"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1524000">
                <a:spcBef>
                  <a:spcPct val="20000"/>
                </a:spcBef>
              </a:pPr>
              <a:r>
                <a:rPr lang="en-US" altLang="zh-CN" sz="3200" b="1"/>
                <a:t>25</a:t>
              </a:r>
            </a:p>
          </p:txBody>
        </p:sp>
        <p:sp>
          <p:nvSpPr>
            <p:cNvPr id="23566" name="Rectangle 1063"/>
            <p:cNvSpPr>
              <a:spLocks noChangeArrowheads="1"/>
            </p:cNvSpPr>
            <p:nvPr/>
          </p:nvSpPr>
          <p:spPr bwMode="auto">
            <a:xfrm>
              <a:off x="2126" y="3641"/>
              <a:ext cx="721"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1524000">
                <a:spcBef>
                  <a:spcPct val="20000"/>
                </a:spcBef>
              </a:pPr>
              <a:r>
                <a:rPr lang="en-US" altLang="zh-CN" sz="3200" b="1"/>
                <a:t>20</a:t>
              </a:r>
            </a:p>
          </p:txBody>
        </p:sp>
        <p:sp>
          <p:nvSpPr>
            <p:cNvPr id="23567" name="Rectangle 1062"/>
            <p:cNvSpPr>
              <a:spLocks noChangeArrowheads="1"/>
            </p:cNvSpPr>
            <p:nvPr/>
          </p:nvSpPr>
          <p:spPr bwMode="auto">
            <a:xfrm>
              <a:off x="1451" y="3641"/>
              <a:ext cx="675"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1524000">
                <a:spcBef>
                  <a:spcPct val="20000"/>
                </a:spcBef>
              </a:pPr>
              <a:r>
                <a:rPr lang="en-US" altLang="zh-CN" sz="3200" b="1"/>
                <a:t>15</a:t>
              </a:r>
            </a:p>
          </p:txBody>
        </p:sp>
        <p:sp>
          <p:nvSpPr>
            <p:cNvPr id="23568" name="Rectangle 1061"/>
            <p:cNvSpPr>
              <a:spLocks noChangeArrowheads="1"/>
            </p:cNvSpPr>
            <p:nvPr/>
          </p:nvSpPr>
          <p:spPr bwMode="auto">
            <a:xfrm>
              <a:off x="685" y="3641"/>
              <a:ext cx="766"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defTabSz="1524000">
                <a:spcBef>
                  <a:spcPct val="20000"/>
                </a:spcBef>
              </a:pPr>
              <a:r>
                <a:rPr lang="en-US" altLang="zh-CN" sz="3200" b="1"/>
                <a:t>10</a:t>
              </a:r>
            </a:p>
          </p:txBody>
        </p:sp>
        <p:sp>
          <p:nvSpPr>
            <p:cNvPr id="23569" name="Line 1072"/>
            <p:cNvSpPr>
              <a:spLocks noChangeShapeType="1"/>
            </p:cNvSpPr>
            <p:nvPr/>
          </p:nvSpPr>
          <p:spPr bwMode="auto">
            <a:xfrm>
              <a:off x="685" y="3641"/>
              <a:ext cx="792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0" name="Line 1073"/>
            <p:cNvSpPr>
              <a:spLocks noChangeShapeType="1"/>
            </p:cNvSpPr>
            <p:nvPr/>
          </p:nvSpPr>
          <p:spPr bwMode="auto">
            <a:xfrm>
              <a:off x="685" y="4005"/>
              <a:ext cx="7924"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1" name="Line 1074"/>
            <p:cNvSpPr>
              <a:spLocks noChangeShapeType="1"/>
            </p:cNvSpPr>
            <p:nvPr/>
          </p:nvSpPr>
          <p:spPr bwMode="auto">
            <a:xfrm>
              <a:off x="685" y="3641"/>
              <a:ext cx="0" cy="364"/>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2" name="Line 1075"/>
            <p:cNvSpPr>
              <a:spLocks noChangeShapeType="1"/>
            </p:cNvSpPr>
            <p:nvPr/>
          </p:nvSpPr>
          <p:spPr bwMode="auto">
            <a:xfrm>
              <a:off x="1451" y="3641"/>
              <a:ext cx="0" cy="3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3" name="Line 1076"/>
            <p:cNvSpPr>
              <a:spLocks noChangeShapeType="1"/>
            </p:cNvSpPr>
            <p:nvPr/>
          </p:nvSpPr>
          <p:spPr bwMode="auto">
            <a:xfrm>
              <a:off x="2126" y="3641"/>
              <a:ext cx="0" cy="3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4" name="Line 1077"/>
            <p:cNvSpPr>
              <a:spLocks noChangeShapeType="1"/>
            </p:cNvSpPr>
            <p:nvPr/>
          </p:nvSpPr>
          <p:spPr bwMode="auto">
            <a:xfrm>
              <a:off x="2847" y="3641"/>
              <a:ext cx="0" cy="3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5" name="Line 1078"/>
            <p:cNvSpPr>
              <a:spLocks noChangeShapeType="1"/>
            </p:cNvSpPr>
            <p:nvPr/>
          </p:nvSpPr>
          <p:spPr bwMode="auto">
            <a:xfrm>
              <a:off x="3565" y="3641"/>
              <a:ext cx="0" cy="3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6" name="Line 1079"/>
            <p:cNvSpPr>
              <a:spLocks noChangeShapeType="1"/>
            </p:cNvSpPr>
            <p:nvPr/>
          </p:nvSpPr>
          <p:spPr bwMode="auto">
            <a:xfrm>
              <a:off x="4288" y="3641"/>
              <a:ext cx="0" cy="3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7" name="Line 1080"/>
            <p:cNvSpPr>
              <a:spLocks noChangeShapeType="1"/>
            </p:cNvSpPr>
            <p:nvPr/>
          </p:nvSpPr>
          <p:spPr bwMode="auto">
            <a:xfrm>
              <a:off x="5006" y="3641"/>
              <a:ext cx="0" cy="3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8" name="Line 1081"/>
            <p:cNvSpPr>
              <a:spLocks noChangeShapeType="1"/>
            </p:cNvSpPr>
            <p:nvPr/>
          </p:nvSpPr>
          <p:spPr bwMode="auto">
            <a:xfrm>
              <a:off x="5729" y="3641"/>
              <a:ext cx="0" cy="3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79" name="Line 1082"/>
            <p:cNvSpPr>
              <a:spLocks noChangeShapeType="1"/>
            </p:cNvSpPr>
            <p:nvPr/>
          </p:nvSpPr>
          <p:spPr bwMode="auto">
            <a:xfrm>
              <a:off x="6447" y="3641"/>
              <a:ext cx="0" cy="3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0" name="Line 1083"/>
            <p:cNvSpPr>
              <a:spLocks noChangeShapeType="1"/>
            </p:cNvSpPr>
            <p:nvPr/>
          </p:nvSpPr>
          <p:spPr bwMode="auto">
            <a:xfrm>
              <a:off x="7168" y="3641"/>
              <a:ext cx="0" cy="3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1" name="Line 1084"/>
            <p:cNvSpPr>
              <a:spLocks noChangeShapeType="1"/>
            </p:cNvSpPr>
            <p:nvPr/>
          </p:nvSpPr>
          <p:spPr bwMode="auto">
            <a:xfrm>
              <a:off x="7888" y="3641"/>
              <a:ext cx="0" cy="364"/>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2" name="Line 1085"/>
            <p:cNvSpPr>
              <a:spLocks noChangeShapeType="1"/>
            </p:cNvSpPr>
            <p:nvPr/>
          </p:nvSpPr>
          <p:spPr bwMode="auto">
            <a:xfrm>
              <a:off x="8609" y="3641"/>
              <a:ext cx="0" cy="364"/>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583" name="Rectangle 1095"/>
            <p:cNvSpPr>
              <a:spLocks noChangeArrowheads="1"/>
            </p:cNvSpPr>
            <p:nvPr/>
          </p:nvSpPr>
          <p:spPr bwMode="auto">
            <a:xfrm>
              <a:off x="1003" y="3170"/>
              <a:ext cx="68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3200" b="1" dirty="0"/>
                <a:t>表 5 . </a:t>
              </a:r>
              <a:r>
                <a:rPr lang="en-US" altLang="zh-CN" sz="3200" b="1" dirty="0"/>
                <a:t>4 </a:t>
              </a:r>
              <a:r>
                <a:rPr lang="zh-CN" altLang="en-US" sz="3200" b="1" dirty="0"/>
                <a:t>轮廓的支承长度率</a:t>
              </a:r>
              <a:r>
                <a:rPr lang="en-US" altLang="zh-CN" sz="3200" b="1" i="1" dirty="0" err="1"/>
                <a:t>Rsm</a:t>
              </a:r>
              <a:r>
                <a:rPr lang="en-US" altLang="zh-CN" sz="3200" b="1" dirty="0"/>
                <a:t>(c)(℅) </a:t>
              </a:r>
              <a:r>
                <a:rPr lang="zh-CN" altLang="en-US" sz="3200" b="1" dirty="0"/>
                <a:t>的数值   </a:t>
              </a:r>
              <a:r>
                <a:rPr lang="en-US" altLang="zh-CN" sz="3200" b="1" dirty="0"/>
                <a:t>( mm)</a:t>
              </a:r>
              <a:endParaRPr lang="zh-CN" altLang="en-US" sz="3200" b="1" dirty="0"/>
            </a:p>
          </p:txBody>
        </p:sp>
      </p:grpSp>
      <p:sp>
        <p:nvSpPr>
          <p:cNvPr id="93258" name="Text Box 1098"/>
          <p:cNvSpPr txBox="1">
            <a:spLocks noChangeArrowheads="1"/>
          </p:cNvSpPr>
          <p:nvPr/>
        </p:nvSpPr>
        <p:spPr bwMode="auto">
          <a:xfrm>
            <a:off x="1262063" y="7569200"/>
            <a:ext cx="12709525"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b="1" dirty="0"/>
              <a:t>        选用支承长度率</a:t>
            </a:r>
            <a:r>
              <a:rPr lang="en-US" altLang="zh-CN" sz="3200" b="1" i="1" dirty="0" err="1"/>
              <a:t>Rsm</a:t>
            </a:r>
            <a:r>
              <a:rPr lang="en-US" altLang="zh-CN" sz="3200" b="1" dirty="0"/>
              <a:t>(c) </a:t>
            </a:r>
            <a:r>
              <a:rPr lang="zh-CN" altLang="en-US" sz="3200" b="1" dirty="0"/>
              <a:t>时，必须同时给出轮廓截面高度。轮廓截面高度 </a:t>
            </a:r>
            <a:r>
              <a:rPr lang="en-US" altLang="zh-CN" sz="3200" b="1" i="1" dirty="0"/>
              <a:t>c</a:t>
            </a:r>
            <a:r>
              <a:rPr lang="zh-CN" altLang="en-US" sz="3200" b="1" dirty="0" smtClean="0"/>
              <a:t>可用</a:t>
            </a:r>
            <a:r>
              <a:rPr lang="zh-CN" altLang="en-US" sz="3200" b="1" dirty="0"/>
              <a:t>微米或</a:t>
            </a:r>
            <a:r>
              <a:rPr lang="en-US" altLang="zh-CN" sz="3200" b="1" i="1" dirty="0" err="1"/>
              <a:t>Rz</a:t>
            </a:r>
            <a:r>
              <a:rPr lang="zh-CN" altLang="en-US" sz="3200" b="1" dirty="0"/>
              <a:t>的百分数表示。</a:t>
            </a:r>
          </a:p>
          <a:p>
            <a:pPr eaLnBrk="1" hangingPunct="1">
              <a:lnSpc>
                <a:spcPct val="120000"/>
              </a:lnSpc>
            </a:pPr>
            <a:r>
              <a:rPr lang="zh-CN" altLang="en-US" sz="3200" b="1" dirty="0"/>
              <a:t>        </a:t>
            </a:r>
            <a:r>
              <a:rPr lang="en-US" altLang="zh-CN" sz="3200" b="1" i="1" dirty="0" err="1"/>
              <a:t>Rz</a:t>
            </a:r>
            <a:r>
              <a:rPr lang="en-US" altLang="zh-CN" sz="3200" b="1" i="1" dirty="0"/>
              <a:t> </a:t>
            </a:r>
            <a:r>
              <a:rPr lang="zh-CN" altLang="en-US" sz="3200" b="1" dirty="0"/>
              <a:t>的百分数系列如下：</a:t>
            </a:r>
            <a:r>
              <a:rPr lang="en-US" altLang="zh-CN" sz="3200" b="1" dirty="0"/>
              <a:t>5%</a:t>
            </a:r>
            <a:r>
              <a:rPr lang="zh-CN" altLang="en-US" sz="3200" b="1" dirty="0"/>
              <a:t>、</a:t>
            </a:r>
            <a:r>
              <a:rPr lang="en-US" altLang="zh-CN" sz="3200" b="1" dirty="0"/>
              <a:t>10%</a:t>
            </a:r>
            <a:r>
              <a:rPr lang="zh-CN" altLang="en-US" sz="3200" b="1" dirty="0"/>
              <a:t>、</a:t>
            </a:r>
            <a:r>
              <a:rPr lang="en-US" altLang="zh-CN" sz="3200" b="1" dirty="0"/>
              <a:t>15%</a:t>
            </a:r>
            <a:r>
              <a:rPr lang="zh-CN" altLang="en-US" sz="3200" b="1" dirty="0"/>
              <a:t>、</a:t>
            </a:r>
            <a:r>
              <a:rPr lang="en-US" altLang="zh-CN" sz="3200" b="1" dirty="0"/>
              <a:t>20%</a:t>
            </a:r>
            <a:r>
              <a:rPr lang="zh-CN" altLang="en-US" sz="3200" b="1" dirty="0"/>
              <a:t>、</a:t>
            </a:r>
            <a:r>
              <a:rPr lang="en-US" altLang="zh-CN" sz="3200" b="1" dirty="0"/>
              <a:t>25%</a:t>
            </a:r>
            <a:r>
              <a:rPr lang="zh-CN" altLang="en-US" sz="3200" b="1" dirty="0"/>
              <a:t>、</a:t>
            </a:r>
            <a:r>
              <a:rPr lang="en-US" altLang="zh-CN" sz="3200" b="1" dirty="0"/>
              <a:t>30%</a:t>
            </a:r>
            <a:r>
              <a:rPr lang="zh-CN" altLang="en-US" sz="3200" b="1" dirty="0"/>
              <a:t>、</a:t>
            </a:r>
            <a:r>
              <a:rPr lang="en-US" altLang="zh-CN" sz="3200" b="1" dirty="0"/>
              <a:t>40%</a:t>
            </a:r>
            <a:r>
              <a:rPr lang="zh-CN" altLang="en-US" sz="3200" b="1" dirty="0"/>
              <a:t>、</a:t>
            </a:r>
            <a:r>
              <a:rPr lang="en-US" altLang="zh-CN" sz="3200" b="1" dirty="0"/>
              <a:t>50%</a:t>
            </a:r>
            <a:r>
              <a:rPr lang="zh-CN" altLang="en-US" sz="3200" b="1" dirty="0"/>
              <a:t>、</a:t>
            </a:r>
            <a:r>
              <a:rPr lang="en-US" altLang="zh-CN" sz="3200" b="1" dirty="0"/>
              <a:t>60%</a:t>
            </a:r>
            <a:r>
              <a:rPr lang="zh-CN" altLang="en-US" sz="3200" b="1" dirty="0"/>
              <a:t>、</a:t>
            </a:r>
            <a:r>
              <a:rPr lang="en-US" altLang="zh-CN" sz="3200" b="1" dirty="0"/>
              <a:t>70%</a:t>
            </a:r>
            <a:r>
              <a:rPr lang="zh-CN" altLang="en-US" sz="3200" b="1" dirty="0"/>
              <a:t>、</a:t>
            </a:r>
            <a:r>
              <a:rPr lang="en-US" altLang="zh-CN" sz="3200" b="1" dirty="0"/>
              <a:t>80%</a:t>
            </a:r>
            <a:r>
              <a:rPr lang="zh-CN" altLang="en-US" sz="3200" b="1" dirty="0"/>
              <a:t>、</a:t>
            </a:r>
            <a:r>
              <a:rPr lang="en-US" altLang="zh-CN" sz="3200" b="1" dirty="0"/>
              <a:t>90% </a:t>
            </a:r>
            <a:r>
              <a:rPr lang="zh-CN" altLang="en-US" sz="3200" b="1" dirty="0"/>
              <a:t>。</a:t>
            </a:r>
          </a:p>
        </p:txBody>
      </p:sp>
      <p:pic>
        <p:nvPicPr>
          <p:cNvPr id="23557" name="Picture 110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98718" y="750860"/>
            <a:ext cx="12001500" cy="484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3557"/>
                                        </p:tgtEl>
                                        <p:attrNameLst>
                                          <p:attrName>style.visibility</p:attrName>
                                        </p:attrNameLst>
                                      </p:cBhvr>
                                      <p:to>
                                        <p:strVal val="visible"/>
                                      </p:to>
                                    </p:set>
                                    <p:anim calcmode="lin" valueType="num">
                                      <p:cBhvr additive="base">
                                        <p:cTn id="7" dur="500" fill="hold"/>
                                        <p:tgtEl>
                                          <p:spTgt spid="23557"/>
                                        </p:tgtEl>
                                        <p:attrNameLst>
                                          <p:attrName>ppt_x</p:attrName>
                                        </p:attrNameLst>
                                      </p:cBhvr>
                                      <p:tavLst>
                                        <p:tav tm="0">
                                          <p:val>
                                            <p:strVal val="0-#ppt_w/2"/>
                                          </p:val>
                                        </p:tav>
                                        <p:tav tm="100000">
                                          <p:val>
                                            <p:strVal val="#ppt_x"/>
                                          </p:val>
                                        </p:tav>
                                      </p:tavLst>
                                    </p:anim>
                                    <p:anim calcmode="lin" valueType="num">
                                      <p:cBhvr additive="base">
                                        <p:cTn id="8" dur="500" fill="hold"/>
                                        <p:tgtEl>
                                          <p:spTgt spid="2355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93261"/>
                                        </p:tgtEl>
                                        <p:attrNameLst>
                                          <p:attrName>style.visibility</p:attrName>
                                        </p:attrNameLst>
                                      </p:cBhvr>
                                      <p:to>
                                        <p:strVal val="visible"/>
                                      </p:to>
                                    </p:set>
                                    <p:anim calcmode="lin" valueType="num">
                                      <p:cBhvr additive="base">
                                        <p:cTn id="13" dur="2000" fill="hold"/>
                                        <p:tgtEl>
                                          <p:spTgt spid="93261"/>
                                        </p:tgtEl>
                                        <p:attrNameLst>
                                          <p:attrName>ppt_x</p:attrName>
                                        </p:attrNameLst>
                                      </p:cBhvr>
                                      <p:tavLst>
                                        <p:tav tm="0">
                                          <p:val>
                                            <p:strVal val="1+#ppt_w/2"/>
                                          </p:val>
                                        </p:tav>
                                        <p:tav tm="100000">
                                          <p:val>
                                            <p:strVal val="#ppt_x"/>
                                          </p:val>
                                        </p:tav>
                                      </p:tavLst>
                                    </p:anim>
                                    <p:anim calcmode="lin" valueType="num">
                                      <p:cBhvr additive="base">
                                        <p:cTn id="14" dur="2000" fill="hold"/>
                                        <p:tgtEl>
                                          <p:spTgt spid="9326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93258"/>
                                        </p:tgtEl>
                                        <p:attrNameLst>
                                          <p:attrName>style.visibility</p:attrName>
                                        </p:attrNameLst>
                                      </p:cBhvr>
                                      <p:to>
                                        <p:strVal val="visible"/>
                                      </p:to>
                                    </p:set>
                                    <p:animEffect transition="in" filter="checkerboard(across)">
                                      <p:cBhvr>
                                        <p:cTn id="19" dur="500"/>
                                        <p:tgtEl>
                                          <p:spTgt spid="93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5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4"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1308" y="3117955"/>
            <a:ext cx="13406826" cy="6674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165" name="Text Box 1029"/>
          <p:cNvSpPr txBox="1">
            <a:spLocks noChangeArrowheads="1"/>
          </p:cNvSpPr>
          <p:nvPr/>
        </p:nvSpPr>
        <p:spPr bwMode="auto">
          <a:xfrm>
            <a:off x="1327380" y="1129619"/>
            <a:ext cx="12750800" cy="127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b="1" dirty="0"/>
              <a:t>          如果</a:t>
            </a:r>
            <a:r>
              <a:rPr lang="zh-CN" altLang="en-US" sz="3200" b="1" dirty="0" smtClean="0"/>
              <a:t>表面粗糙度轮廓</a:t>
            </a:r>
            <a:r>
              <a:rPr lang="zh-CN" altLang="en-US" sz="3200" b="1" dirty="0"/>
              <a:t>标注图中没有标注取样长度</a:t>
            </a:r>
            <a:r>
              <a:rPr lang="zh-CN" altLang="en-US" sz="3200" b="1" dirty="0">
                <a:solidFill>
                  <a:srgbClr val="CC3300"/>
                </a:solidFill>
              </a:rPr>
              <a:t> </a:t>
            </a:r>
            <a:r>
              <a:rPr lang="en-US" altLang="zh-CN" sz="3200" b="1" i="1" dirty="0" err="1">
                <a:solidFill>
                  <a:srgbClr val="CC3300"/>
                </a:solidFill>
              </a:rPr>
              <a:t>lr</a:t>
            </a:r>
            <a:r>
              <a:rPr lang="zh-CN" altLang="en-US" sz="3200" b="1" i="1" dirty="0"/>
              <a:t>、</a:t>
            </a:r>
            <a:r>
              <a:rPr lang="zh-CN" altLang="en-US" sz="3200" b="1" dirty="0"/>
              <a:t>评定长度 </a:t>
            </a:r>
            <a:r>
              <a:rPr lang="en-US" altLang="zh-CN" sz="3200" b="1" i="1" dirty="0" err="1">
                <a:solidFill>
                  <a:srgbClr val="CC3300"/>
                </a:solidFill>
              </a:rPr>
              <a:t>ln</a:t>
            </a:r>
            <a:r>
              <a:rPr lang="en-US" altLang="zh-CN" sz="3200" b="1" i="1" dirty="0">
                <a:solidFill>
                  <a:srgbClr val="CC3300"/>
                </a:solidFill>
              </a:rPr>
              <a:t> </a:t>
            </a:r>
            <a:r>
              <a:rPr lang="zh-CN" altLang="en-US" sz="3200" b="1" dirty="0"/>
              <a:t>和</a:t>
            </a:r>
            <a:r>
              <a:rPr lang="zh-CN" altLang="en-US" sz="3200" b="1" dirty="0">
                <a:solidFill>
                  <a:srgbClr val="CC3300"/>
                </a:solidFill>
              </a:rPr>
              <a:t>传输带</a:t>
            </a:r>
            <a:r>
              <a:rPr lang="zh-CN" altLang="en-US" sz="3200" b="1" dirty="0"/>
              <a:t>，则表示采用默认的 </a:t>
            </a:r>
            <a:r>
              <a:rPr lang="en-US" altLang="zh-CN" sz="3200" b="1" i="1" dirty="0" err="1">
                <a:solidFill>
                  <a:srgbClr val="CC3300"/>
                </a:solidFill>
              </a:rPr>
              <a:t>lr</a:t>
            </a:r>
            <a:r>
              <a:rPr lang="zh-CN" altLang="en-US" sz="3200" b="1" i="1" dirty="0">
                <a:solidFill>
                  <a:srgbClr val="CC3300"/>
                </a:solidFill>
              </a:rPr>
              <a:t>、</a:t>
            </a:r>
            <a:r>
              <a:rPr lang="en-US" altLang="zh-CN" sz="3200" b="1" i="1" dirty="0" err="1">
                <a:solidFill>
                  <a:srgbClr val="CC3300"/>
                </a:solidFill>
              </a:rPr>
              <a:t>ln</a:t>
            </a:r>
            <a:r>
              <a:rPr lang="en-US" altLang="zh-CN" sz="3200" b="1" i="1" dirty="0">
                <a:solidFill>
                  <a:srgbClr val="CC3300"/>
                </a:solidFill>
              </a:rPr>
              <a:t> </a:t>
            </a:r>
            <a:r>
              <a:rPr lang="zh-CN" altLang="en-US" sz="3200" b="1" dirty="0">
                <a:solidFill>
                  <a:srgbClr val="CC3300"/>
                </a:solidFill>
              </a:rPr>
              <a:t>和传输带</a:t>
            </a:r>
            <a:r>
              <a:rPr lang="zh-CN" altLang="en-US" sz="3200" b="1" dirty="0"/>
              <a:t>，即皆为标准化</a:t>
            </a:r>
            <a:r>
              <a:rPr lang="zh-CN" altLang="en-US" sz="3200" b="1" dirty="0" smtClean="0"/>
              <a:t>值。</a:t>
            </a:r>
            <a:endParaRPr lang="zh-CN" altLang="en-US"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2165"/>
                                        </p:tgtEl>
                                        <p:attrNameLst>
                                          <p:attrName>style.visibility</p:attrName>
                                        </p:attrNameLst>
                                      </p:cBhvr>
                                      <p:to>
                                        <p:strVal val="visible"/>
                                      </p:to>
                                    </p:set>
                                    <p:animEffect transition="in" filter="wipe(left)">
                                      <p:cBhvr>
                                        <p:cTn id="7" dur="1750"/>
                                        <p:tgtEl>
                                          <p:spTgt spid="9216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2164"/>
                                        </p:tgtEl>
                                        <p:attrNameLst>
                                          <p:attrName>style.visibility</p:attrName>
                                        </p:attrNameLst>
                                      </p:cBhvr>
                                      <p:to>
                                        <p:strVal val="visible"/>
                                      </p:to>
                                    </p:set>
                                    <p:anim calcmode="lin" valueType="num">
                                      <p:cBhvr additive="base">
                                        <p:cTn id="12" dur="2000" fill="hold"/>
                                        <p:tgtEl>
                                          <p:spTgt spid="92164"/>
                                        </p:tgtEl>
                                        <p:attrNameLst>
                                          <p:attrName>ppt_x</p:attrName>
                                        </p:attrNameLst>
                                      </p:cBhvr>
                                      <p:tavLst>
                                        <p:tav tm="0">
                                          <p:val>
                                            <p:strVal val="#ppt_x"/>
                                          </p:val>
                                        </p:tav>
                                        <p:tav tm="100000">
                                          <p:val>
                                            <p:strVal val="#ppt_x"/>
                                          </p:val>
                                        </p:tav>
                                      </p:tavLst>
                                    </p:anim>
                                    <p:anim calcmode="lin" valueType="num">
                                      <p:cBhvr additive="base">
                                        <p:cTn id="13" dur="2000" fill="hold"/>
                                        <p:tgtEl>
                                          <p:spTgt spid="921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Text Box 4"/>
          <p:cNvSpPr txBox="1">
            <a:spLocks noChangeArrowheads="1"/>
          </p:cNvSpPr>
          <p:nvPr/>
        </p:nvSpPr>
        <p:spPr bwMode="auto">
          <a:xfrm>
            <a:off x="779463" y="480648"/>
            <a:ext cx="11477625" cy="769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latin typeface="宋体" panose="02010600030101010101" pitchFamily="2" charset="-122"/>
              </a:rPr>
              <a:t>5.3.2 表面粗糙度轮廓参数的选用 </a:t>
            </a:r>
          </a:p>
        </p:txBody>
      </p:sp>
      <p:sp>
        <p:nvSpPr>
          <p:cNvPr id="46085" name="Text Box 5"/>
          <p:cNvSpPr txBox="1">
            <a:spLocks noChangeArrowheads="1"/>
          </p:cNvSpPr>
          <p:nvPr/>
        </p:nvSpPr>
        <p:spPr bwMode="auto">
          <a:xfrm>
            <a:off x="1349194" y="2172606"/>
            <a:ext cx="76438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t>1</a:t>
            </a:r>
            <a:r>
              <a:rPr lang="zh-CN" altLang="en-US" sz="3600" b="1" dirty="0">
                <a:latin typeface="宋体" panose="02010600030101010101" pitchFamily="2" charset="-122"/>
              </a:rPr>
              <a:t>.评定参数的选用</a:t>
            </a:r>
            <a:r>
              <a:rPr lang="zh-CN" altLang="en-US" sz="3600" b="1" dirty="0"/>
              <a:t> </a:t>
            </a:r>
          </a:p>
        </p:txBody>
      </p:sp>
      <p:sp>
        <p:nvSpPr>
          <p:cNvPr id="46086" name="Text Box 6"/>
          <p:cNvSpPr txBox="1">
            <a:spLocks noChangeArrowheads="1"/>
          </p:cNvSpPr>
          <p:nvPr/>
        </p:nvSpPr>
        <p:spPr bwMode="auto">
          <a:xfrm>
            <a:off x="917575" y="3116075"/>
            <a:ext cx="125491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t>（1）幅度参数（高度参数）</a:t>
            </a:r>
            <a:r>
              <a:rPr lang="zh-CN" altLang="en-US" sz="3600" b="1" dirty="0">
                <a:latin typeface="宋体" panose="02010600030101010101" pitchFamily="2" charset="-122"/>
              </a:rPr>
              <a:t>的选用</a:t>
            </a:r>
            <a:r>
              <a:rPr lang="zh-CN" altLang="en-US" sz="3600" b="1" dirty="0"/>
              <a:t> — 即基本参数的选用</a:t>
            </a:r>
          </a:p>
        </p:txBody>
      </p:sp>
      <p:sp>
        <p:nvSpPr>
          <p:cNvPr id="46087" name="Text Box 7"/>
          <p:cNvSpPr txBox="1">
            <a:spLocks noChangeArrowheads="1"/>
          </p:cNvSpPr>
          <p:nvPr/>
        </p:nvSpPr>
        <p:spPr bwMode="auto">
          <a:xfrm>
            <a:off x="511487" y="3925855"/>
            <a:ext cx="13768388"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t>         一般情况下从幅度参数的轮廓算术平均偏差</a:t>
            </a:r>
            <a:r>
              <a:rPr lang="en-US" altLang="zh-CN" sz="3600" b="1" dirty="0">
                <a:solidFill>
                  <a:srgbClr val="FF3300"/>
                </a:solidFill>
              </a:rPr>
              <a:t> </a:t>
            </a:r>
            <a:r>
              <a:rPr lang="en-US" altLang="zh-CN" sz="3600" b="1" i="1" dirty="0">
                <a:solidFill>
                  <a:srgbClr val="FF3300"/>
                </a:solidFill>
              </a:rPr>
              <a:t>Ra</a:t>
            </a:r>
            <a:r>
              <a:rPr lang="en-US" altLang="zh-CN" sz="3600" b="1" i="1" dirty="0"/>
              <a:t> </a:t>
            </a:r>
            <a:r>
              <a:rPr lang="zh-CN" altLang="en-US" sz="3600" b="1" dirty="0"/>
              <a:t>和轮廓最大高度 </a:t>
            </a:r>
            <a:r>
              <a:rPr lang="en-US" altLang="zh-CN" sz="3600" b="1" i="1" u="sng" dirty="0" err="1">
                <a:solidFill>
                  <a:srgbClr val="FF3300"/>
                </a:solidFill>
              </a:rPr>
              <a:t>Rz</a:t>
            </a:r>
            <a:r>
              <a:rPr lang="en-US" altLang="zh-CN" sz="3600" b="1" i="1" dirty="0"/>
              <a:t> </a:t>
            </a:r>
            <a:r>
              <a:rPr lang="zh-CN" altLang="en-US" sz="3600" b="1" dirty="0"/>
              <a:t>中</a:t>
            </a:r>
            <a:r>
              <a:rPr lang="zh-CN" altLang="en-US" sz="3600" b="1" dirty="0">
                <a:solidFill>
                  <a:srgbClr val="CC3300"/>
                </a:solidFill>
              </a:rPr>
              <a:t>任选</a:t>
            </a:r>
            <a:r>
              <a:rPr lang="zh-CN" altLang="en-US" sz="3600" b="1" dirty="0"/>
              <a:t>一个。</a:t>
            </a:r>
          </a:p>
        </p:txBody>
      </p:sp>
      <p:sp>
        <p:nvSpPr>
          <p:cNvPr id="46088" name="Text Box 8"/>
          <p:cNvSpPr txBox="1">
            <a:spLocks noChangeArrowheads="1"/>
          </p:cNvSpPr>
          <p:nvPr/>
        </p:nvSpPr>
        <p:spPr bwMode="auto">
          <a:xfrm>
            <a:off x="653785" y="5483010"/>
            <a:ext cx="13841701"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t>          </a:t>
            </a:r>
            <a:r>
              <a:rPr lang="zh-CN" altLang="en-US" sz="3600" b="1" dirty="0">
                <a:latin typeface="宋体" panose="02010600030101010101" pitchFamily="2" charset="-122"/>
              </a:rPr>
              <a:t>但一般优先选用轮廓算术平均偏差</a:t>
            </a:r>
            <a:r>
              <a:rPr lang="en-US" altLang="zh-CN" sz="3600" b="1" i="1" dirty="0">
                <a:solidFill>
                  <a:srgbClr val="FF3300"/>
                </a:solidFill>
              </a:rPr>
              <a:t>Ra</a:t>
            </a:r>
            <a:r>
              <a:rPr lang="en-US" altLang="zh-CN" sz="3600" b="1" dirty="0">
                <a:latin typeface="宋体" panose="02010600030101010101" pitchFamily="2" charset="-122"/>
              </a:rPr>
              <a:t>，</a:t>
            </a:r>
            <a:r>
              <a:rPr lang="zh-CN" altLang="en-US" sz="3600" b="1" dirty="0">
                <a:latin typeface="宋体" panose="02010600030101010101" pitchFamily="2" charset="-122"/>
              </a:rPr>
              <a:t>因为它反映表面粗糙度特性的</a:t>
            </a:r>
            <a:r>
              <a:rPr lang="zh-CN" altLang="en-US" sz="3600" b="1" dirty="0">
                <a:solidFill>
                  <a:srgbClr val="CC3300"/>
                </a:solidFill>
                <a:latin typeface="宋体" panose="02010600030101010101" pitchFamily="2" charset="-122"/>
              </a:rPr>
              <a:t>信息量大</a:t>
            </a:r>
            <a:r>
              <a:rPr lang="zh-CN" altLang="en-US" sz="3600" b="1" dirty="0">
                <a:latin typeface="宋体" panose="02010600030101010101" pitchFamily="2" charset="-122"/>
              </a:rPr>
              <a:t>和用轮廓仪</a:t>
            </a:r>
            <a:r>
              <a:rPr lang="zh-CN" altLang="en-US" sz="3600" b="1" dirty="0">
                <a:solidFill>
                  <a:srgbClr val="CC3300"/>
                </a:solidFill>
                <a:latin typeface="宋体" panose="02010600030101010101" pitchFamily="2" charset="-122"/>
              </a:rPr>
              <a:t>测量容易</a:t>
            </a:r>
            <a:r>
              <a:rPr lang="zh-CN" altLang="en-US" sz="3600" b="1" dirty="0">
                <a:latin typeface="宋体" panose="02010600030101010101" pitchFamily="2" charset="-122"/>
              </a:rPr>
              <a:t>。</a:t>
            </a:r>
          </a:p>
        </p:txBody>
      </p:sp>
      <p:sp>
        <p:nvSpPr>
          <p:cNvPr id="46089" name="Text Box 9"/>
          <p:cNvSpPr txBox="1">
            <a:spLocks noChangeArrowheads="1"/>
          </p:cNvSpPr>
          <p:nvPr/>
        </p:nvSpPr>
        <p:spPr bwMode="auto">
          <a:xfrm>
            <a:off x="707788" y="7065385"/>
            <a:ext cx="13517875" cy="212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3600" b="1" i="1" dirty="0"/>
              <a:t>        </a:t>
            </a:r>
            <a:r>
              <a:rPr lang="en-US" altLang="zh-CN" sz="3600" b="1" i="1" dirty="0" err="1">
                <a:solidFill>
                  <a:srgbClr val="FF3300"/>
                </a:solidFill>
              </a:rPr>
              <a:t>Rz</a:t>
            </a:r>
            <a:r>
              <a:rPr lang="en-US" altLang="zh-CN" sz="3600" b="1" i="1" dirty="0">
                <a:solidFill>
                  <a:srgbClr val="FF3300"/>
                </a:solidFill>
              </a:rPr>
              <a:t> </a:t>
            </a:r>
            <a:r>
              <a:rPr lang="zh-CN" altLang="en-US" sz="3600" b="1" dirty="0">
                <a:latin typeface="宋体" panose="02010600030101010101" pitchFamily="2" charset="-122"/>
              </a:rPr>
              <a:t>用于极光滑表面或粗糙</a:t>
            </a:r>
            <a:r>
              <a:rPr lang="zh-CN" altLang="en-US" sz="3200" b="1" dirty="0"/>
              <a:t>表面</a:t>
            </a:r>
            <a:r>
              <a:rPr lang="zh-CN" altLang="en-US" sz="3600" b="1" dirty="0">
                <a:latin typeface="宋体" panose="02010600030101010101" pitchFamily="2" charset="-122"/>
              </a:rPr>
              <a:t>（</a:t>
            </a:r>
            <a:r>
              <a:rPr lang="en-US" altLang="zh-CN" sz="3600" b="1" i="1" dirty="0">
                <a:solidFill>
                  <a:srgbClr val="CC3300"/>
                </a:solidFill>
              </a:rPr>
              <a:t>Ra&lt;0.025μm</a:t>
            </a:r>
            <a:r>
              <a:rPr lang="zh-CN" altLang="en-US" sz="3600" b="1" dirty="0">
                <a:solidFill>
                  <a:srgbClr val="CC3300"/>
                </a:solidFill>
              </a:rPr>
              <a:t>或</a:t>
            </a:r>
            <a:r>
              <a:rPr lang="en-US" altLang="zh-CN" sz="3600" b="1" i="1" dirty="0">
                <a:solidFill>
                  <a:srgbClr val="CC3300"/>
                </a:solidFill>
              </a:rPr>
              <a:t>Ra</a:t>
            </a:r>
            <a:r>
              <a:rPr lang="en-US" altLang="zh-CN" sz="3600" b="1" dirty="0">
                <a:solidFill>
                  <a:srgbClr val="CC3300"/>
                </a:solidFill>
              </a:rPr>
              <a:t>&gt;6.3μm</a:t>
            </a:r>
            <a:r>
              <a:rPr lang="zh-CN" altLang="en-US" sz="3600" b="1" dirty="0">
                <a:latin typeface="宋体" panose="02010600030101010101" pitchFamily="2" charset="-122"/>
              </a:rPr>
              <a:t>），一般用双管显微镜测量。</a:t>
            </a:r>
            <a:r>
              <a:rPr lang="zh-CN" altLang="en-US" sz="3600" b="1" dirty="0"/>
              <a:t> 它用于处理部位小，峰谷小或有疲劳强度要求的的零件表面的评定。</a:t>
            </a:r>
          </a:p>
        </p:txBody>
      </p:sp>
      <p:cxnSp>
        <p:nvCxnSpPr>
          <p:cNvPr id="9" name="直接连接符 8"/>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46084">
                                            <p:txEl>
                                              <p:pRg st="0" end="0"/>
                                            </p:txEl>
                                          </p:spTgt>
                                        </p:tgtEl>
                                        <p:attrNameLst>
                                          <p:attrName>style.visibility</p:attrName>
                                        </p:attrNameLst>
                                      </p:cBhvr>
                                      <p:to>
                                        <p:strVal val="visible"/>
                                      </p:to>
                                    </p:set>
                                    <p:animEffect transition="in" filter="wipe(left)">
                                      <p:cBhvr>
                                        <p:cTn id="7" dur="300"/>
                                        <p:tgtEl>
                                          <p:spTgt spid="460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46085">
                                            <p:txEl>
                                              <p:pRg st="0" end="0"/>
                                            </p:txEl>
                                          </p:spTgt>
                                        </p:tgtEl>
                                        <p:attrNameLst>
                                          <p:attrName>style.visibility</p:attrName>
                                        </p:attrNameLst>
                                      </p:cBhvr>
                                      <p:to>
                                        <p:strVal val="visible"/>
                                      </p:to>
                                    </p:set>
                                    <p:animEffect transition="in" filter="wipe(left)">
                                      <p:cBhvr>
                                        <p:cTn id="12" dur="300"/>
                                        <p:tgtEl>
                                          <p:spTgt spid="4608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46086">
                                            <p:txEl>
                                              <p:pRg st="0" end="0"/>
                                            </p:txEl>
                                          </p:spTgt>
                                        </p:tgtEl>
                                        <p:attrNameLst>
                                          <p:attrName>style.visibility</p:attrName>
                                        </p:attrNameLst>
                                      </p:cBhvr>
                                      <p:to>
                                        <p:strVal val="visible"/>
                                      </p:to>
                                    </p:set>
                                    <p:animEffect transition="in" filter="wipe(left)">
                                      <p:cBhvr>
                                        <p:cTn id="17" dur="300"/>
                                        <p:tgtEl>
                                          <p:spTgt spid="4608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46087"/>
                                        </p:tgtEl>
                                        <p:attrNameLst>
                                          <p:attrName>style.visibility</p:attrName>
                                        </p:attrNameLst>
                                      </p:cBhvr>
                                      <p:to>
                                        <p:strVal val="visible"/>
                                      </p:to>
                                    </p:set>
                                    <p:animEffect transition="in" filter="wipe(left)">
                                      <p:cBhvr>
                                        <p:cTn id="22" dur="300"/>
                                        <p:tgtEl>
                                          <p:spTgt spid="4608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46088"/>
                                        </p:tgtEl>
                                        <p:attrNameLst>
                                          <p:attrName>style.visibility</p:attrName>
                                        </p:attrNameLst>
                                      </p:cBhvr>
                                      <p:to>
                                        <p:strVal val="visible"/>
                                      </p:to>
                                    </p:set>
                                    <p:animEffect transition="in" filter="wipe(left)">
                                      <p:cBhvr>
                                        <p:cTn id="27" dur="300"/>
                                        <p:tgtEl>
                                          <p:spTgt spid="4608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46089"/>
                                        </p:tgtEl>
                                        <p:attrNameLst>
                                          <p:attrName>style.visibility</p:attrName>
                                        </p:attrNameLst>
                                      </p:cBhvr>
                                      <p:to>
                                        <p:strVal val="visible"/>
                                      </p:to>
                                    </p:set>
                                    <p:animEffect transition="in" filter="wipe(left)">
                                      <p:cBhvr>
                                        <p:cTn id="32" dur="300"/>
                                        <p:tgtEl>
                                          <p:spTgt spid="46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build="p" autoUpdateAnimBg="0"/>
      <p:bldP spid="46085" grpId="0" build="p" autoUpdateAnimBg="0"/>
      <p:bldP spid="46086" grpId="0" build="p" autoUpdateAnimBg="0"/>
      <p:bldP spid="46087" grpId="0" autoUpdateAnimBg="0"/>
      <p:bldP spid="46088" grpId="0" autoUpdateAnimBg="0"/>
      <p:bldP spid="46089"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Text Box 1028"/>
          <p:cNvSpPr txBox="1">
            <a:spLocks noChangeArrowheads="1"/>
          </p:cNvSpPr>
          <p:nvPr/>
        </p:nvSpPr>
        <p:spPr bwMode="auto">
          <a:xfrm>
            <a:off x="304800" y="541130"/>
            <a:ext cx="1385093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b="1" dirty="0"/>
              <a:t>（2）间距参数和混合参数的</a:t>
            </a:r>
            <a:r>
              <a:rPr lang="zh-CN" altLang="en-US" sz="3600" b="1" dirty="0">
                <a:latin typeface="宋体" panose="02010600030101010101" pitchFamily="2" charset="-122"/>
              </a:rPr>
              <a:t>选用</a:t>
            </a:r>
            <a:r>
              <a:rPr lang="zh-CN" altLang="en-US" sz="3600" b="1" dirty="0"/>
              <a:t>—即附加参数的选用</a:t>
            </a:r>
            <a:r>
              <a:rPr lang="zh-CN" altLang="en-US" sz="3600" dirty="0"/>
              <a:t> </a:t>
            </a:r>
          </a:p>
        </p:txBody>
      </p:sp>
      <p:sp>
        <p:nvSpPr>
          <p:cNvPr id="58373" name="Text Box 1029"/>
          <p:cNvSpPr txBox="1">
            <a:spLocks noChangeArrowheads="1"/>
          </p:cNvSpPr>
          <p:nvPr/>
        </p:nvSpPr>
        <p:spPr bwMode="auto">
          <a:xfrm>
            <a:off x="1144615" y="6094148"/>
            <a:ext cx="12871190" cy="192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200" b="1" dirty="0"/>
              <a:t>        轮廓单元的平均宽度</a:t>
            </a:r>
            <a:r>
              <a:rPr lang="en-US" altLang="zh-CN" sz="3200" b="1" i="1" dirty="0" err="1"/>
              <a:t>Rsm</a:t>
            </a:r>
            <a:r>
              <a:rPr lang="zh-CN" altLang="en-US" sz="3200" b="1" dirty="0"/>
              <a:t>和轮廓的支承长度率</a:t>
            </a:r>
            <a:r>
              <a:rPr lang="en-US" altLang="zh-CN" sz="3200" b="1" i="1" dirty="0" err="1"/>
              <a:t>Rmr</a:t>
            </a:r>
            <a:r>
              <a:rPr lang="en-US" altLang="zh-CN" sz="3200" b="1" dirty="0"/>
              <a:t>(</a:t>
            </a:r>
            <a:r>
              <a:rPr lang="en-US" altLang="zh-CN" sz="3200" b="1" i="1" dirty="0"/>
              <a:t>c</a:t>
            </a:r>
            <a:r>
              <a:rPr lang="en-US" altLang="zh-CN" sz="3200" b="1" dirty="0"/>
              <a:t>)</a:t>
            </a:r>
            <a:r>
              <a:rPr lang="zh-CN" altLang="en-US" sz="3200" b="1" dirty="0"/>
              <a:t>一般</a:t>
            </a:r>
            <a:r>
              <a:rPr lang="zh-CN" altLang="en-US" sz="3200" b="1" dirty="0">
                <a:solidFill>
                  <a:srgbClr val="FF0000"/>
                </a:solidFill>
              </a:rPr>
              <a:t>不能作为独立参数选用</a:t>
            </a:r>
            <a:r>
              <a:rPr lang="zh-CN" altLang="en-US" sz="3200" b="1" dirty="0"/>
              <a:t>，只有少数零件的重要表面，有特殊使用要求</a:t>
            </a:r>
            <a:r>
              <a:rPr lang="zh-CN" altLang="en-US" sz="3200" b="1" dirty="0" smtClean="0"/>
              <a:t>时，才</a:t>
            </a:r>
            <a:r>
              <a:rPr lang="zh-CN" altLang="en-US" sz="3200" b="1" dirty="0">
                <a:solidFill>
                  <a:srgbClr val="FF3300"/>
                </a:solidFill>
              </a:rPr>
              <a:t>附加</a:t>
            </a:r>
            <a:r>
              <a:rPr lang="zh-CN" altLang="en-US" sz="3200" b="1" dirty="0"/>
              <a:t>选用 </a:t>
            </a:r>
            <a:r>
              <a:rPr lang="en-US" altLang="zh-CN" sz="3200" b="1" i="1" u="sng" dirty="0" err="1">
                <a:solidFill>
                  <a:srgbClr val="FF3300"/>
                </a:solidFill>
              </a:rPr>
              <a:t>Rsm</a:t>
            </a:r>
            <a:r>
              <a:rPr lang="zh-CN" altLang="en-US" sz="3200" b="1" dirty="0"/>
              <a:t>和 </a:t>
            </a:r>
            <a:r>
              <a:rPr lang="en-US" altLang="zh-CN" sz="3200" b="1" i="1" dirty="0" err="1">
                <a:solidFill>
                  <a:srgbClr val="FF3300"/>
                </a:solidFill>
              </a:rPr>
              <a:t>Rmr</a:t>
            </a:r>
            <a:r>
              <a:rPr lang="en-US" altLang="zh-CN" sz="3200" b="1" dirty="0">
                <a:solidFill>
                  <a:srgbClr val="FF3300"/>
                </a:solidFill>
              </a:rPr>
              <a:t>(</a:t>
            </a:r>
            <a:r>
              <a:rPr lang="en-US" altLang="zh-CN" sz="3200" b="1" i="1" dirty="0">
                <a:solidFill>
                  <a:srgbClr val="FF3300"/>
                </a:solidFill>
              </a:rPr>
              <a:t>c</a:t>
            </a:r>
            <a:r>
              <a:rPr lang="en-US" altLang="zh-CN" sz="3200" b="1" dirty="0">
                <a:solidFill>
                  <a:srgbClr val="FF3300"/>
                </a:solidFill>
              </a:rPr>
              <a:t>)</a:t>
            </a:r>
            <a:r>
              <a:rPr lang="en-US" altLang="zh-CN" sz="3200" b="1" dirty="0"/>
              <a:t>。 </a:t>
            </a:r>
            <a:endParaRPr lang="zh-CN" altLang="en-US" sz="3200" b="1" dirty="0"/>
          </a:p>
        </p:txBody>
      </p:sp>
      <p:sp>
        <p:nvSpPr>
          <p:cNvPr id="58375" name="Text Box 1031"/>
          <p:cNvSpPr txBox="1">
            <a:spLocks noChangeArrowheads="1"/>
          </p:cNvSpPr>
          <p:nvPr/>
        </p:nvSpPr>
        <p:spPr bwMode="auto">
          <a:xfrm>
            <a:off x="1336675" y="8148373"/>
            <a:ext cx="13095288" cy="64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200" b="1" i="1" dirty="0" err="1">
                <a:solidFill>
                  <a:srgbClr val="FF3300"/>
                </a:solidFill>
              </a:rPr>
              <a:t>Rsm</a:t>
            </a:r>
            <a:r>
              <a:rPr lang="en-US" altLang="zh-CN" sz="3200" b="1" i="1" dirty="0">
                <a:solidFill>
                  <a:srgbClr val="FF3300"/>
                </a:solidFill>
              </a:rPr>
              <a:t> —</a:t>
            </a:r>
            <a:r>
              <a:rPr lang="zh-CN" altLang="en-US" sz="3200" b="1" dirty="0"/>
              <a:t>用于对涂漆性能、抗裂纹和抗腐蚀等有要求时；</a:t>
            </a:r>
          </a:p>
        </p:txBody>
      </p:sp>
      <p:sp>
        <p:nvSpPr>
          <p:cNvPr id="58377" name="Text Box 1033"/>
          <p:cNvSpPr txBox="1">
            <a:spLocks noChangeArrowheads="1"/>
          </p:cNvSpPr>
          <p:nvPr/>
        </p:nvSpPr>
        <p:spPr bwMode="auto">
          <a:xfrm>
            <a:off x="505655" y="8853405"/>
            <a:ext cx="13794959" cy="1335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3200" b="1" i="1" dirty="0">
                <a:solidFill>
                  <a:srgbClr val="FF3300"/>
                </a:solidFill>
              </a:rPr>
              <a:t>        </a:t>
            </a:r>
            <a:r>
              <a:rPr lang="en-US" altLang="zh-CN" sz="3200" b="1" i="1" dirty="0" err="1">
                <a:solidFill>
                  <a:srgbClr val="FF3300"/>
                </a:solidFill>
              </a:rPr>
              <a:t>Rmr</a:t>
            </a:r>
            <a:r>
              <a:rPr lang="en-US" altLang="zh-CN" sz="3200" b="1" dirty="0">
                <a:solidFill>
                  <a:srgbClr val="FF3300"/>
                </a:solidFill>
              </a:rPr>
              <a:t>(</a:t>
            </a:r>
            <a:r>
              <a:rPr lang="en-US" altLang="zh-CN" sz="3200" b="1" i="1" dirty="0">
                <a:solidFill>
                  <a:srgbClr val="FF3300"/>
                </a:solidFill>
              </a:rPr>
              <a:t>c</a:t>
            </a:r>
            <a:r>
              <a:rPr lang="en-US" altLang="zh-CN" sz="3200" b="1" dirty="0">
                <a:solidFill>
                  <a:srgbClr val="FF3300"/>
                </a:solidFill>
              </a:rPr>
              <a:t>)</a:t>
            </a:r>
            <a:r>
              <a:rPr lang="en-US" altLang="zh-CN" sz="3200" b="1" i="1" dirty="0">
                <a:solidFill>
                  <a:srgbClr val="FF3300"/>
                </a:solidFill>
              </a:rPr>
              <a:t>—</a:t>
            </a:r>
            <a:r>
              <a:rPr lang="zh-CN" altLang="en-US" sz="3200" b="1" dirty="0"/>
              <a:t>用于对耐磨性和接触刚度等有要求时，但同时要给出轮廓截面高度</a:t>
            </a:r>
            <a:r>
              <a:rPr lang="en-US" altLang="zh-CN" sz="3200" b="1" i="1" dirty="0"/>
              <a:t>C</a:t>
            </a:r>
            <a:r>
              <a:rPr lang="zh-CN" altLang="en-US" sz="3200" b="1" dirty="0"/>
              <a:t>值。</a:t>
            </a:r>
            <a:r>
              <a:rPr lang="zh-CN" altLang="en-US" sz="3200" dirty="0"/>
              <a:t> </a:t>
            </a:r>
          </a:p>
        </p:txBody>
      </p:sp>
      <p:sp>
        <p:nvSpPr>
          <p:cNvPr id="58381" name="Text Box 1037"/>
          <p:cNvSpPr txBox="1">
            <a:spLocks noChangeArrowheads="1"/>
          </p:cNvSpPr>
          <p:nvPr/>
        </p:nvSpPr>
        <p:spPr bwMode="auto">
          <a:xfrm>
            <a:off x="765279" y="1585288"/>
            <a:ext cx="13985042" cy="1335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200" b="1" dirty="0" smtClean="0"/>
              <a:t>        图示三</a:t>
            </a:r>
            <a:r>
              <a:rPr lang="zh-CN" altLang="en-US" sz="3200" b="1" dirty="0"/>
              <a:t>种表面的轮廓最大高度值相同，而使用质量显然不同，由此可见，只用幅度参数不能全面地反映零件表面微观几何形状误差。</a:t>
            </a:r>
            <a:endParaRPr lang="en-US" altLang="zh-CN" sz="3200" dirty="0"/>
          </a:p>
        </p:txBody>
      </p:sp>
      <p:grpSp>
        <p:nvGrpSpPr>
          <p:cNvPr id="58384" name="Group 1040"/>
          <p:cNvGrpSpPr/>
          <p:nvPr/>
        </p:nvGrpSpPr>
        <p:grpSpPr bwMode="auto">
          <a:xfrm>
            <a:off x="1298444" y="2983040"/>
            <a:ext cx="12327614" cy="2953066"/>
            <a:chOff x="969" y="1731"/>
            <a:chExt cx="7284" cy="1509"/>
          </a:xfrm>
        </p:grpSpPr>
        <p:pic>
          <p:nvPicPr>
            <p:cNvPr id="26633" name="Picture 103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9" y="1731"/>
              <a:ext cx="7284" cy="1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34" name="Text Box 1039"/>
            <p:cNvSpPr txBox="1">
              <a:spLocks noChangeArrowheads="1"/>
            </p:cNvSpPr>
            <p:nvPr/>
          </p:nvSpPr>
          <p:spPr bwMode="auto">
            <a:xfrm>
              <a:off x="3208" y="2946"/>
              <a:ext cx="295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smtClean="0"/>
                <a:t>微观</a:t>
              </a:r>
              <a:r>
                <a:rPr lang="zh-CN" altLang="en-US" sz="2800" b="1" dirty="0"/>
                <a:t>形状对表面质量的影响</a:t>
              </a:r>
            </a:p>
          </p:txBody>
        </p:sp>
      </p:grpSp>
      <p:cxnSp>
        <p:nvCxnSpPr>
          <p:cNvPr id="11" name="直接连接符 10"/>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8372">
                                            <p:txEl>
                                              <p:pRg st="0" end="0"/>
                                            </p:txEl>
                                          </p:spTgt>
                                        </p:tgtEl>
                                        <p:attrNameLst>
                                          <p:attrName>style.visibility</p:attrName>
                                        </p:attrNameLst>
                                      </p:cBhvr>
                                      <p:to>
                                        <p:strVal val="visible"/>
                                      </p:to>
                                    </p:set>
                                    <p:animEffect transition="in" filter="wipe(left)">
                                      <p:cBhvr>
                                        <p:cTn id="7" dur="300"/>
                                        <p:tgtEl>
                                          <p:spTgt spid="583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58384"/>
                                        </p:tgtEl>
                                        <p:attrNameLst>
                                          <p:attrName>style.visibility</p:attrName>
                                        </p:attrNameLst>
                                      </p:cBhvr>
                                      <p:to>
                                        <p:strVal val="visible"/>
                                      </p:to>
                                    </p:set>
                                    <p:anim calcmode="lin" valueType="num">
                                      <p:cBhvr additive="base">
                                        <p:cTn id="12" dur="2000" fill="hold"/>
                                        <p:tgtEl>
                                          <p:spTgt spid="58384"/>
                                        </p:tgtEl>
                                        <p:attrNameLst>
                                          <p:attrName>ppt_x</p:attrName>
                                        </p:attrNameLst>
                                      </p:cBhvr>
                                      <p:tavLst>
                                        <p:tav tm="0">
                                          <p:val>
                                            <p:strVal val="0-#ppt_w/2"/>
                                          </p:val>
                                        </p:tav>
                                        <p:tav tm="100000">
                                          <p:val>
                                            <p:strVal val="#ppt_x"/>
                                          </p:val>
                                        </p:tav>
                                      </p:tavLst>
                                    </p:anim>
                                    <p:anim calcmode="lin" valueType="num">
                                      <p:cBhvr additive="base">
                                        <p:cTn id="13" dur="2000" fill="hold"/>
                                        <p:tgtEl>
                                          <p:spTgt spid="5838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58381">
                                            <p:txEl>
                                              <p:pRg st="0" end="0"/>
                                            </p:txEl>
                                          </p:spTgt>
                                        </p:tgtEl>
                                        <p:attrNameLst>
                                          <p:attrName>style.visibility</p:attrName>
                                        </p:attrNameLst>
                                      </p:cBhvr>
                                      <p:to>
                                        <p:strVal val="visible"/>
                                      </p:to>
                                    </p:set>
                                    <p:animEffect transition="in" filter="wipe(left)">
                                      <p:cBhvr>
                                        <p:cTn id="18" dur="300"/>
                                        <p:tgtEl>
                                          <p:spTgt spid="5838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58373"/>
                                        </p:tgtEl>
                                        <p:attrNameLst>
                                          <p:attrName>style.visibility</p:attrName>
                                        </p:attrNameLst>
                                      </p:cBhvr>
                                      <p:to>
                                        <p:strVal val="visible"/>
                                      </p:to>
                                    </p:set>
                                    <p:animEffect transition="in" filter="wipe(left)">
                                      <p:cBhvr>
                                        <p:cTn id="23" dur="300"/>
                                        <p:tgtEl>
                                          <p:spTgt spid="5837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58375"/>
                                        </p:tgtEl>
                                        <p:attrNameLst>
                                          <p:attrName>style.visibility</p:attrName>
                                        </p:attrNameLst>
                                      </p:cBhvr>
                                      <p:to>
                                        <p:strVal val="visible"/>
                                      </p:to>
                                    </p:set>
                                    <p:animEffect transition="in" filter="wipe(left)">
                                      <p:cBhvr>
                                        <p:cTn id="28" dur="300"/>
                                        <p:tgtEl>
                                          <p:spTgt spid="5837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58377"/>
                                        </p:tgtEl>
                                        <p:attrNameLst>
                                          <p:attrName>style.visibility</p:attrName>
                                        </p:attrNameLst>
                                      </p:cBhvr>
                                      <p:to>
                                        <p:strVal val="visible"/>
                                      </p:to>
                                    </p:set>
                                    <p:animEffect transition="in" filter="wipe(left)">
                                      <p:cBhvr>
                                        <p:cTn id="33" dur="300"/>
                                        <p:tgtEl>
                                          <p:spTgt spid="58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2" grpId="0" build="p" autoUpdateAnimBg="0"/>
      <p:bldP spid="58373" grpId="0" autoUpdateAnimBg="0"/>
      <p:bldP spid="58375" grpId="0" autoUpdateAnimBg="0"/>
      <p:bldP spid="58377" grpId="0" autoUpdateAnimBg="0"/>
      <p:bldP spid="58381"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Text Box 4"/>
          <p:cNvSpPr txBox="1">
            <a:spLocks noChangeArrowheads="1"/>
          </p:cNvSpPr>
          <p:nvPr/>
        </p:nvSpPr>
        <p:spPr bwMode="auto">
          <a:xfrm>
            <a:off x="953905" y="646400"/>
            <a:ext cx="62103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t>2. </a:t>
            </a:r>
            <a:r>
              <a:rPr lang="zh-CN" altLang="en-US" sz="4000" b="1" dirty="0">
                <a:latin typeface="宋体" panose="02010600030101010101" pitchFamily="2" charset="-122"/>
              </a:rPr>
              <a:t>参数值的选用</a:t>
            </a:r>
            <a:r>
              <a:rPr lang="zh-CN" altLang="en-US" sz="4000" b="1" dirty="0"/>
              <a:t> </a:t>
            </a:r>
          </a:p>
        </p:txBody>
      </p:sp>
      <p:sp>
        <p:nvSpPr>
          <p:cNvPr id="25605" name="Text Box 5"/>
          <p:cNvSpPr txBox="1">
            <a:spLocks noChangeArrowheads="1"/>
          </p:cNvSpPr>
          <p:nvPr/>
        </p:nvSpPr>
        <p:spPr bwMode="auto">
          <a:xfrm>
            <a:off x="657694" y="2986733"/>
            <a:ext cx="13837795" cy="148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t>         参数值的选用主要根据</a:t>
            </a:r>
            <a:r>
              <a:rPr lang="zh-CN" altLang="en-US" sz="3600" b="1" dirty="0">
                <a:solidFill>
                  <a:srgbClr val="FF0000"/>
                </a:solidFill>
              </a:rPr>
              <a:t>功能要求</a:t>
            </a:r>
            <a:r>
              <a:rPr lang="zh-CN" altLang="en-US" sz="3600" b="1" dirty="0"/>
              <a:t>，其次考虑</a:t>
            </a:r>
            <a:r>
              <a:rPr lang="zh-CN" altLang="en-US" sz="3600" b="1" dirty="0">
                <a:solidFill>
                  <a:srgbClr val="FF0000"/>
                </a:solidFill>
              </a:rPr>
              <a:t>经济性</a:t>
            </a:r>
            <a:r>
              <a:rPr lang="zh-CN" altLang="en-US" sz="3600" b="1" dirty="0"/>
              <a:t>和</a:t>
            </a:r>
            <a:r>
              <a:rPr lang="zh-CN" altLang="en-US" sz="3600" b="1" dirty="0">
                <a:solidFill>
                  <a:srgbClr val="FF0000"/>
                </a:solidFill>
              </a:rPr>
              <a:t>工艺</a:t>
            </a:r>
            <a:r>
              <a:rPr lang="zh-CN" altLang="en-US" sz="3600" b="1" dirty="0"/>
              <a:t>的可能性。在满足功能要求的前提下，参数的允许值应尽可能选大</a:t>
            </a:r>
            <a:r>
              <a:rPr lang="zh-CN" altLang="en-US" sz="3600" b="1" dirty="0" smtClean="0"/>
              <a:t>些。</a:t>
            </a:r>
            <a:endParaRPr lang="zh-CN" altLang="en-US" sz="3600" b="1" dirty="0"/>
          </a:p>
        </p:txBody>
      </p:sp>
      <p:sp>
        <p:nvSpPr>
          <p:cNvPr id="25607" name="Text Box 7"/>
          <p:cNvSpPr txBox="1">
            <a:spLocks noChangeArrowheads="1"/>
          </p:cNvSpPr>
          <p:nvPr/>
        </p:nvSpPr>
        <p:spPr bwMode="auto">
          <a:xfrm>
            <a:off x="1411808" y="4664853"/>
            <a:ext cx="6742841" cy="81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smtClean="0"/>
              <a:t>选用</a:t>
            </a:r>
            <a:r>
              <a:rPr lang="zh-CN" altLang="en-US" sz="3600" b="1" dirty="0"/>
              <a:t>时应注意符合以下原则</a:t>
            </a:r>
            <a:r>
              <a:rPr lang="en-US" altLang="zh-CN" sz="3600" b="1" dirty="0"/>
              <a:t>：</a:t>
            </a:r>
          </a:p>
        </p:txBody>
      </p:sp>
      <p:sp>
        <p:nvSpPr>
          <p:cNvPr id="25608" name="Text Box 8"/>
          <p:cNvSpPr txBox="1">
            <a:spLocks noChangeArrowheads="1"/>
          </p:cNvSpPr>
          <p:nvPr/>
        </p:nvSpPr>
        <p:spPr bwMode="auto">
          <a:xfrm>
            <a:off x="464747" y="5600853"/>
            <a:ext cx="14398625" cy="148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t>     （1）同一零件上，工作表面的幅度参数（高度参数）轮廓算术平均偏差</a:t>
            </a:r>
            <a:r>
              <a:rPr lang="en-US" altLang="zh-CN" sz="3600" b="1" i="1" dirty="0">
                <a:solidFill>
                  <a:srgbClr val="CC3300"/>
                </a:solidFill>
              </a:rPr>
              <a:t>Ra</a:t>
            </a:r>
            <a:r>
              <a:rPr lang="en-US" altLang="zh-CN" sz="3600" b="1" dirty="0"/>
              <a:t>(</a:t>
            </a:r>
            <a:r>
              <a:rPr lang="zh-CN" altLang="en-US" sz="3600" b="1" dirty="0"/>
              <a:t>或轮廓最大高度</a:t>
            </a:r>
            <a:r>
              <a:rPr lang="en-US" altLang="zh-CN" sz="3600" b="1" i="1" dirty="0" err="1">
                <a:solidFill>
                  <a:srgbClr val="CC3300"/>
                </a:solidFill>
              </a:rPr>
              <a:t>Rz</a:t>
            </a:r>
            <a:r>
              <a:rPr lang="en-US" altLang="zh-CN" sz="3600" b="1" dirty="0"/>
              <a:t>)</a:t>
            </a:r>
            <a:r>
              <a:rPr lang="zh-CN" altLang="en-US" sz="3600" b="1" dirty="0"/>
              <a:t>值</a:t>
            </a:r>
            <a:r>
              <a:rPr lang="zh-CN" altLang="en-US" sz="3600" b="1" dirty="0">
                <a:solidFill>
                  <a:srgbClr val="CC3300"/>
                </a:solidFill>
              </a:rPr>
              <a:t>小于</a:t>
            </a:r>
            <a:r>
              <a:rPr lang="zh-CN" altLang="en-US" sz="3600" b="1" dirty="0"/>
              <a:t>非工作表面；</a:t>
            </a:r>
          </a:p>
        </p:txBody>
      </p:sp>
      <p:sp>
        <p:nvSpPr>
          <p:cNvPr id="25610" name="Text Box 10"/>
          <p:cNvSpPr txBox="1">
            <a:spLocks noChangeArrowheads="1"/>
          </p:cNvSpPr>
          <p:nvPr/>
        </p:nvSpPr>
        <p:spPr bwMode="auto">
          <a:xfrm>
            <a:off x="717706" y="7344948"/>
            <a:ext cx="13852734" cy="148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t>   （2）摩擦表面的轮廓算术平均偏差</a:t>
            </a:r>
            <a:r>
              <a:rPr lang="en-US" altLang="zh-CN" sz="3600" b="1" i="1" dirty="0">
                <a:solidFill>
                  <a:srgbClr val="CC3300"/>
                </a:solidFill>
              </a:rPr>
              <a:t>Ra</a:t>
            </a:r>
            <a:r>
              <a:rPr lang="en-US" altLang="zh-CN" sz="3600" b="1" dirty="0"/>
              <a:t>(</a:t>
            </a:r>
            <a:r>
              <a:rPr lang="zh-CN" altLang="en-US" sz="3600" b="1" dirty="0"/>
              <a:t>或轮廓最大高度</a:t>
            </a:r>
            <a:r>
              <a:rPr lang="en-US" altLang="zh-CN" sz="3600" b="1" i="1" dirty="0" err="1">
                <a:solidFill>
                  <a:srgbClr val="CC3300"/>
                </a:solidFill>
              </a:rPr>
              <a:t>Rz</a:t>
            </a:r>
            <a:r>
              <a:rPr lang="en-US" altLang="zh-CN" sz="3600" b="1" dirty="0"/>
              <a:t>)</a:t>
            </a:r>
            <a:r>
              <a:rPr lang="zh-CN" altLang="en-US" sz="3600" b="1" dirty="0"/>
              <a:t>值</a:t>
            </a:r>
            <a:r>
              <a:rPr lang="zh-CN" altLang="en-US" sz="3600" b="1" dirty="0">
                <a:solidFill>
                  <a:srgbClr val="CC3300"/>
                </a:solidFill>
              </a:rPr>
              <a:t>小于</a:t>
            </a:r>
            <a:r>
              <a:rPr lang="zh-CN" altLang="en-US" sz="3600" b="1" dirty="0"/>
              <a:t>非摩擦表面；</a:t>
            </a:r>
          </a:p>
        </p:txBody>
      </p:sp>
      <p:sp>
        <p:nvSpPr>
          <p:cNvPr id="25621" name="Text Box 21"/>
          <p:cNvSpPr txBox="1">
            <a:spLocks noChangeArrowheads="1"/>
          </p:cNvSpPr>
          <p:nvPr/>
        </p:nvSpPr>
        <p:spPr bwMode="auto">
          <a:xfrm>
            <a:off x="880360" y="1998321"/>
            <a:ext cx="13925550" cy="81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t>       参数</a:t>
            </a:r>
            <a:r>
              <a:rPr lang="zh-CN" altLang="en-US" sz="3600" b="1" dirty="0" smtClean="0"/>
              <a:t>值</a:t>
            </a:r>
            <a:r>
              <a:rPr lang="zh-CN" altLang="en-US" sz="3600" b="1" dirty="0" smtClean="0">
                <a:solidFill>
                  <a:srgbClr val="FF0000"/>
                </a:solidFill>
              </a:rPr>
              <a:t>优先选取</a:t>
            </a:r>
            <a:r>
              <a:rPr lang="zh-CN" altLang="en-US" sz="3600" b="1" dirty="0">
                <a:solidFill>
                  <a:srgbClr val="FF0000"/>
                </a:solidFill>
              </a:rPr>
              <a:t>基本系列</a:t>
            </a:r>
            <a:r>
              <a:rPr lang="zh-CN" altLang="en-US" sz="3600" b="1" dirty="0"/>
              <a:t>，必要时也可选其补充系列。</a:t>
            </a:r>
          </a:p>
        </p:txBody>
      </p:sp>
      <p:cxnSp>
        <p:nvCxnSpPr>
          <p:cNvPr id="9" name="直接连接符 8"/>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25604">
                                            <p:txEl>
                                              <p:pRg st="0" end="0"/>
                                            </p:txEl>
                                          </p:spTgt>
                                        </p:tgtEl>
                                        <p:attrNameLst>
                                          <p:attrName>style.visibility</p:attrName>
                                        </p:attrNameLst>
                                      </p:cBhvr>
                                      <p:to>
                                        <p:strVal val="visible"/>
                                      </p:to>
                                    </p:set>
                                    <p:animEffect transition="in" filter="wipe(left)">
                                      <p:cBhvr>
                                        <p:cTn id="7" dur="300"/>
                                        <p:tgtEl>
                                          <p:spTgt spid="256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25621">
                                            <p:txEl>
                                              <p:pRg st="0" end="0"/>
                                            </p:txEl>
                                          </p:spTgt>
                                        </p:tgtEl>
                                        <p:attrNameLst>
                                          <p:attrName>style.visibility</p:attrName>
                                        </p:attrNameLst>
                                      </p:cBhvr>
                                      <p:to>
                                        <p:strVal val="visible"/>
                                      </p:to>
                                    </p:set>
                                    <p:animEffect transition="in" filter="wipe(left)">
                                      <p:cBhvr>
                                        <p:cTn id="12" dur="300"/>
                                        <p:tgtEl>
                                          <p:spTgt spid="256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25605"/>
                                        </p:tgtEl>
                                        <p:attrNameLst>
                                          <p:attrName>style.visibility</p:attrName>
                                        </p:attrNameLst>
                                      </p:cBhvr>
                                      <p:to>
                                        <p:strVal val="visible"/>
                                      </p:to>
                                    </p:set>
                                    <p:animEffect transition="in" filter="wipe(left)">
                                      <p:cBhvr>
                                        <p:cTn id="17" dur="300"/>
                                        <p:tgtEl>
                                          <p:spTgt spid="2560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25607"/>
                                        </p:tgtEl>
                                        <p:attrNameLst>
                                          <p:attrName>style.visibility</p:attrName>
                                        </p:attrNameLst>
                                      </p:cBhvr>
                                      <p:to>
                                        <p:strVal val="visible"/>
                                      </p:to>
                                    </p:set>
                                    <p:animEffect transition="in" filter="wipe(left)">
                                      <p:cBhvr>
                                        <p:cTn id="22" dur="300"/>
                                        <p:tgtEl>
                                          <p:spTgt spid="2560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25608">
                                            <p:txEl>
                                              <p:pRg st="0" end="0"/>
                                            </p:txEl>
                                          </p:spTgt>
                                        </p:tgtEl>
                                        <p:attrNameLst>
                                          <p:attrName>style.visibility</p:attrName>
                                        </p:attrNameLst>
                                      </p:cBhvr>
                                      <p:to>
                                        <p:strVal val="visible"/>
                                      </p:to>
                                    </p:set>
                                    <p:animEffect transition="in" filter="wipe(left)">
                                      <p:cBhvr>
                                        <p:cTn id="27" dur="300"/>
                                        <p:tgtEl>
                                          <p:spTgt spid="2560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25610">
                                            <p:txEl>
                                              <p:pRg st="0" end="0"/>
                                            </p:txEl>
                                          </p:spTgt>
                                        </p:tgtEl>
                                        <p:attrNameLst>
                                          <p:attrName>style.visibility</p:attrName>
                                        </p:attrNameLst>
                                      </p:cBhvr>
                                      <p:to>
                                        <p:strVal val="visible"/>
                                      </p:to>
                                    </p:set>
                                    <p:animEffect transition="in" filter="wipe(left)">
                                      <p:cBhvr>
                                        <p:cTn id="32" dur="300"/>
                                        <p:tgtEl>
                                          <p:spTgt spid="256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build="p" autoUpdateAnimBg="0"/>
      <p:bldP spid="25605" grpId="0" autoUpdateAnimBg="0"/>
      <p:bldP spid="25607" grpId="0" autoUpdateAnimBg="0"/>
      <p:bldP spid="25608" grpId="0" build="p" autoUpdateAnimBg="0"/>
      <p:bldP spid="25610" grpId="0" build="p" autoUpdateAnimBg="0"/>
      <p:bldP spid="25621"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Text Box 4"/>
          <p:cNvSpPr txBox="1">
            <a:spLocks noChangeArrowheads="1"/>
          </p:cNvSpPr>
          <p:nvPr/>
        </p:nvSpPr>
        <p:spPr bwMode="auto">
          <a:xfrm>
            <a:off x="426335" y="3817564"/>
            <a:ext cx="14020800" cy="2084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t>     （4）配合性质要求高的配合表面（如间隙小的配合表面）、受重载荷作用的过盈配合表面轮廓算术平均偏差</a:t>
            </a:r>
            <a:r>
              <a:rPr lang="en-US" altLang="zh-CN" sz="3600" b="1" i="1" dirty="0">
                <a:solidFill>
                  <a:srgbClr val="CC3300"/>
                </a:solidFill>
              </a:rPr>
              <a:t>Ra</a:t>
            </a:r>
            <a:r>
              <a:rPr lang="en-US" altLang="zh-CN" sz="3600" b="1" dirty="0"/>
              <a:t>(</a:t>
            </a:r>
            <a:r>
              <a:rPr lang="zh-CN" altLang="en-US" sz="3600" b="1" dirty="0"/>
              <a:t>或轮廓最大高度</a:t>
            </a:r>
            <a:r>
              <a:rPr lang="en-US" altLang="zh-CN" sz="3600" b="1" i="1" dirty="0" err="1">
                <a:solidFill>
                  <a:srgbClr val="CC3300"/>
                </a:solidFill>
              </a:rPr>
              <a:t>Rz</a:t>
            </a:r>
            <a:r>
              <a:rPr lang="en-US" altLang="zh-CN" sz="3600" b="1" dirty="0">
                <a:solidFill>
                  <a:srgbClr val="CC3300"/>
                </a:solidFill>
              </a:rPr>
              <a:t>)</a:t>
            </a:r>
            <a:r>
              <a:rPr lang="zh-CN" altLang="en-US" sz="3600" b="1" dirty="0"/>
              <a:t>值都应较小；</a:t>
            </a:r>
          </a:p>
        </p:txBody>
      </p:sp>
      <p:sp>
        <p:nvSpPr>
          <p:cNvPr id="116742" name="Text Box 6"/>
          <p:cNvSpPr txBox="1">
            <a:spLocks noChangeArrowheads="1"/>
          </p:cNvSpPr>
          <p:nvPr/>
        </p:nvSpPr>
        <p:spPr bwMode="auto">
          <a:xfrm>
            <a:off x="456315" y="6318710"/>
            <a:ext cx="14363700" cy="20846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t>     （</a:t>
            </a:r>
            <a:r>
              <a:rPr lang="en-US" altLang="zh-CN" sz="3600" b="1" dirty="0"/>
              <a:t>5</a:t>
            </a:r>
            <a:r>
              <a:rPr lang="zh-CN" altLang="en-US" sz="3600" b="1" dirty="0"/>
              <a:t>）运动速度高、单位面积压力大，以及受交变应力作用的重要零件的圆角沟槽表面的轮廓算术平均偏差</a:t>
            </a:r>
            <a:r>
              <a:rPr lang="en-US" altLang="zh-CN" sz="3600" b="1" i="1" dirty="0">
                <a:solidFill>
                  <a:srgbClr val="CC3300"/>
                </a:solidFill>
              </a:rPr>
              <a:t>Ra</a:t>
            </a:r>
            <a:r>
              <a:rPr lang="en-US" altLang="zh-CN" sz="3600" b="1" dirty="0"/>
              <a:t>(</a:t>
            </a:r>
            <a:r>
              <a:rPr lang="zh-CN" altLang="en-US" sz="3600" b="1" dirty="0"/>
              <a:t>或轮廓最大高度</a:t>
            </a:r>
            <a:r>
              <a:rPr lang="en-US" altLang="zh-CN" sz="3600" b="1" i="1" dirty="0" err="1">
                <a:solidFill>
                  <a:srgbClr val="CC3300"/>
                </a:solidFill>
              </a:rPr>
              <a:t>Rz</a:t>
            </a:r>
            <a:r>
              <a:rPr lang="en-US" altLang="zh-CN" sz="3600" b="1" dirty="0">
                <a:solidFill>
                  <a:srgbClr val="CC3300"/>
                </a:solidFill>
              </a:rPr>
              <a:t>)</a:t>
            </a:r>
            <a:r>
              <a:rPr lang="zh-CN" altLang="en-US" sz="3600" b="1" dirty="0"/>
              <a:t>值都应较小；</a:t>
            </a:r>
          </a:p>
        </p:txBody>
      </p:sp>
      <p:sp>
        <p:nvSpPr>
          <p:cNvPr id="116750" name="Text Box 14"/>
          <p:cNvSpPr txBox="1">
            <a:spLocks noChangeArrowheads="1"/>
          </p:cNvSpPr>
          <p:nvPr/>
        </p:nvSpPr>
        <p:spPr bwMode="auto">
          <a:xfrm>
            <a:off x="472844" y="1524301"/>
            <a:ext cx="14414500" cy="1419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600" b="1" dirty="0"/>
              <a:t>     （3）一般情况过盈配合表面的轮廓算术平均偏差</a:t>
            </a:r>
            <a:r>
              <a:rPr lang="en-US" altLang="zh-CN" sz="3600" b="1" i="1" dirty="0">
                <a:solidFill>
                  <a:srgbClr val="CC3300"/>
                </a:solidFill>
              </a:rPr>
              <a:t>Ra</a:t>
            </a:r>
            <a:r>
              <a:rPr lang="en-US" altLang="zh-CN" sz="3600" b="1" dirty="0"/>
              <a:t>（</a:t>
            </a:r>
            <a:r>
              <a:rPr lang="zh-CN" altLang="en-US" sz="3600" b="1" dirty="0"/>
              <a:t>或轮廓最大高度</a:t>
            </a:r>
            <a:r>
              <a:rPr lang="en-US" altLang="zh-CN" sz="3600" b="1" i="1" dirty="0" err="1">
                <a:solidFill>
                  <a:srgbClr val="CC3300"/>
                </a:solidFill>
              </a:rPr>
              <a:t>Rz</a:t>
            </a:r>
            <a:r>
              <a:rPr lang="en-US" altLang="zh-CN" sz="3600" b="1" dirty="0"/>
              <a:t>）</a:t>
            </a:r>
            <a:r>
              <a:rPr lang="zh-CN" altLang="en-US" sz="3600" b="1" dirty="0"/>
              <a:t>值小于间隙配合的表面；</a:t>
            </a:r>
            <a:endParaRPr lang="zh-CN" altLang="en-US" sz="3600" b="1"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16750"/>
                                        </p:tgtEl>
                                        <p:attrNameLst>
                                          <p:attrName>style.visibility</p:attrName>
                                        </p:attrNameLst>
                                      </p:cBhvr>
                                      <p:to>
                                        <p:strVal val="visible"/>
                                      </p:to>
                                    </p:set>
                                    <p:animEffect transition="in" filter="wipe(left)">
                                      <p:cBhvr>
                                        <p:cTn id="7" dur="300"/>
                                        <p:tgtEl>
                                          <p:spTgt spid="1167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16740">
                                            <p:txEl>
                                              <p:pRg st="0" end="0"/>
                                            </p:txEl>
                                          </p:spTgt>
                                        </p:tgtEl>
                                        <p:attrNameLst>
                                          <p:attrName>style.visibility</p:attrName>
                                        </p:attrNameLst>
                                      </p:cBhvr>
                                      <p:to>
                                        <p:strVal val="visible"/>
                                      </p:to>
                                    </p:set>
                                    <p:animEffect transition="in" filter="wipe(left)">
                                      <p:cBhvr>
                                        <p:cTn id="12" dur="300"/>
                                        <p:tgtEl>
                                          <p:spTgt spid="11674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16742">
                                            <p:txEl>
                                              <p:pRg st="0" end="0"/>
                                            </p:txEl>
                                          </p:spTgt>
                                        </p:tgtEl>
                                        <p:attrNameLst>
                                          <p:attrName>style.visibility</p:attrName>
                                        </p:attrNameLst>
                                      </p:cBhvr>
                                      <p:to>
                                        <p:strVal val="visible"/>
                                      </p:to>
                                    </p:set>
                                    <p:animEffect transition="in" filter="wipe(left)">
                                      <p:cBhvr>
                                        <p:cTn id="17" dur="300"/>
                                        <p:tgtEl>
                                          <p:spTgt spid="1167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40" grpId="0" build="p" autoUpdateAnimBg="0"/>
      <p:bldP spid="116742" grpId="0" build="p" autoUpdateAnimBg="0"/>
      <p:bldP spid="116750"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7"/>
          <p:cNvSpPr txBox="1">
            <a:spLocks noChangeArrowheads="1"/>
          </p:cNvSpPr>
          <p:nvPr/>
        </p:nvSpPr>
        <p:spPr bwMode="auto">
          <a:xfrm>
            <a:off x="378710" y="800831"/>
            <a:ext cx="14231938" cy="1419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sz="3600" b="1" dirty="0"/>
              <a:t>     （</a:t>
            </a:r>
            <a:r>
              <a:rPr lang="en-US" altLang="zh-CN" sz="3600" b="1" dirty="0"/>
              <a:t>6</a:t>
            </a:r>
            <a:r>
              <a:rPr lang="zh-CN" altLang="en-US" sz="3600" b="1" dirty="0"/>
              <a:t>） 在确定</a:t>
            </a:r>
            <a:r>
              <a:rPr lang="en-US" altLang="zh-CN" sz="3600" b="1" i="1" dirty="0">
                <a:solidFill>
                  <a:srgbClr val="FF3300"/>
                </a:solidFill>
              </a:rPr>
              <a:t>Ra</a:t>
            </a:r>
            <a:r>
              <a:rPr lang="en-US" altLang="zh-CN" sz="3600" b="1" dirty="0">
                <a:solidFill>
                  <a:srgbClr val="FF3300"/>
                </a:solidFill>
              </a:rPr>
              <a:t>(</a:t>
            </a:r>
            <a:r>
              <a:rPr lang="zh-CN" altLang="en-US" sz="3600" b="1" dirty="0">
                <a:solidFill>
                  <a:srgbClr val="FF3300"/>
                </a:solidFill>
              </a:rPr>
              <a:t>或</a:t>
            </a:r>
            <a:r>
              <a:rPr lang="en-US" altLang="zh-CN" sz="3600" b="1" i="1" dirty="0" err="1">
                <a:solidFill>
                  <a:srgbClr val="FF3300"/>
                </a:solidFill>
              </a:rPr>
              <a:t>Rz</a:t>
            </a:r>
            <a:r>
              <a:rPr lang="en-US" altLang="zh-CN" sz="3600" b="1" dirty="0">
                <a:solidFill>
                  <a:srgbClr val="FF3300"/>
                </a:solidFill>
              </a:rPr>
              <a:t>)</a:t>
            </a:r>
            <a:r>
              <a:rPr lang="zh-CN" altLang="en-US" sz="3600" b="1" dirty="0">
                <a:solidFill>
                  <a:srgbClr val="FF3300"/>
                </a:solidFill>
              </a:rPr>
              <a:t>值</a:t>
            </a:r>
            <a:r>
              <a:rPr lang="zh-CN" altLang="en-US" sz="3600" b="1" dirty="0"/>
              <a:t>时，应注意</a:t>
            </a:r>
            <a:r>
              <a:rPr lang="zh-CN" altLang="en-US" sz="3600" b="1" dirty="0">
                <a:solidFill>
                  <a:srgbClr val="FF3300"/>
                </a:solidFill>
              </a:rPr>
              <a:t>与尺寸公差</a:t>
            </a:r>
            <a:r>
              <a:rPr lang="zh-CN" altLang="en-US" sz="3600" b="1" dirty="0"/>
              <a:t>（</a:t>
            </a:r>
            <a:r>
              <a:rPr lang="en-US" altLang="zh-CN" sz="3600" b="1" i="1" dirty="0">
                <a:solidFill>
                  <a:srgbClr val="FF3300"/>
                </a:solidFill>
              </a:rPr>
              <a:t>T</a:t>
            </a:r>
            <a:r>
              <a:rPr lang="en-US" altLang="zh-CN" sz="3600" b="1" dirty="0"/>
              <a:t>）</a:t>
            </a:r>
            <a:r>
              <a:rPr lang="zh-CN" altLang="en-US" sz="3600" b="1" dirty="0">
                <a:solidFill>
                  <a:srgbClr val="FF3300"/>
                </a:solidFill>
              </a:rPr>
              <a:t>和几何公差</a:t>
            </a:r>
            <a:r>
              <a:rPr lang="zh-CN" altLang="en-US" sz="3600" b="1" dirty="0"/>
              <a:t>（</a:t>
            </a:r>
            <a:r>
              <a:rPr lang="en-US" altLang="zh-CN" sz="3600" b="1" i="1" dirty="0">
                <a:solidFill>
                  <a:srgbClr val="FF3300"/>
                </a:solidFill>
              </a:rPr>
              <a:t>t</a:t>
            </a:r>
            <a:r>
              <a:rPr lang="en-US" altLang="zh-CN" sz="3600" b="1" dirty="0"/>
              <a:t>）</a:t>
            </a:r>
            <a:r>
              <a:rPr lang="zh-CN" altLang="en-US" sz="3600" b="1" dirty="0"/>
              <a:t>的协调。</a:t>
            </a:r>
            <a:endParaRPr lang="zh-CN" altLang="en-US" sz="3600" b="1" dirty="0">
              <a:latin typeface="宋体" panose="02010600030101010101" pitchFamily="2" charset="-122"/>
            </a:endParaRPr>
          </a:p>
        </p:txBody>
      </p:sp>
      <p:sp>
        <p:nvSpPr>
          <p:cNvPr id="6" name="Rectangle 11"/>
          <p:cNvSpPr>
            <a:spLocks noChangeArrowheads="1"/>
          </p:cNvSpPr>
          <p:nvPr/>
        </p:nvSpPr>
        <p:spPr bwMode="auto">
          <a:xfrm>
            <a:off x="1088085" y="2429579"/>
            <a:ext cx="13835063"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3600" b="1" dirty="0"/>
              <a:t>① </a:t>
            </a:r>
            <a:r>
              <a:rPr lang="zh-CN" altLang="en-US" sz="3600" b="1" dirty="0">
                <a:solidFill>
                  <a:srgbClr val="FF0000"/>
                </a:solidFill>
              </a:rPr>
              <a:t>尺寸公差值越小</a:t>
            </a:r>
            <a:r>
              <a:rPr lang="zh-CN" altLang="en-US" sz="3600" b="1" dirty="0"/>
              <a:t>，几何公差值、表面粗糙度轮廓的</a:t>
            </a:r>
            <a:r>
              <a:rPr lang="en-US" altLang="zh-CN" sz="3600" b="1" i="1" dirty="0"/>
              <a:t>Ra</a:t>
            </a:r>
            <a:r>
              <a:rPr lang="zh-CN" altLang="en-US" sz="3600" b="1" dirty="0"/>
              <a:t>、</a:t>
            </a:r>
            <a:r>
              <a:rPr lang="en-US" altLang="zh-CN" sz="3600" b="1" i="1" dirty="0" err="1"/>
              <a:t>Rz</a:t>
            </a:r>
            <a:endParaRPr lang="en-US" altLang="zh-CN" sz="3600" b="1" i="1" dirty="0"/>
          </a:p>
          <a:p>
            <a:pPr>
              <a:lnSpc>
                <a:spcPct val="120000"/>
              </a:lnSpc>
            </a:pPr>
            <a:r>
              <a:rPr lang="en-US" altLang="zh-CN" sz="3600" b="1" i="1" dirty="0"/>
              <a:t>     </a:t>
            </a:r>
            <a:r>
              <a:rPr lang="zh-CN" altLang="en-US" sz="3600" b="1" dirty="0"/>
              <a:t>值应</a:t>
            </a:r>
            <a:r>
              <a:rPr lang="zh-CN" altLang="en-US" sz="3600" b="1" dirty="0">
                <a:solidFill>
                  <a:srgbClr val="FF0000"/>
                </a:solidFill>
              </a:rPr>
              <a:t>越小</a:t>
            </a:r>
            <a:r>
              <a:rPr lang="zh-CN" altLang="en-US" sz="3600" b="1" dirty="0"/>
              <a:t>。</a:t>
            </a:r>
          </a:p>
        </p:txBody>
      </p:sp>
      <p:sp>
        <p:nvSpPr>
          <p:cNvPr id="7" name="Rectangle 12"/>
          <p:cNvSpPr>
            <a:spLocks noChangeArrowheads="1"/>
          </p:cNvSpPr>
          <p:nvPr/>
        </p:nvSpPr>
        <p:spPr bwMode="auto">
          <a:xfrm>
            <a:off x="620111" y="3772604"/>
            <a:ext cx="13680506"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pPr>
            <a:r>
              <a:rPr lang="zh-CN" altLang="en-US" sz="3600" b="1" dirty="0">
                <a:latin typeface="宋体" panose="02010600030101010101" pitchFamily="2" charset="-122"/>
              </a:rPr>
              <a:t>  ②</a:t>
            </a:r>
            <a:r>
              <a:rPr lang="zh-CN" altLang="en-US" sz="3600" b="1" dirty="0"/>
              <a:t> 同一公差等级时，</a:t>
            </a:r>
            <a:r>
              <a:rPr lang="zh-CN" altLang="en-US" sz="3600" b="1" dirty="0">
                <a:solidFill>
                  <a:srgbClr val="FF0000"/>
                </a:solidFill>
              </a:rPr>
              <a:t>轴</a:t>
            </a:r>
            <a:r>
              <a:rPr lang="zh-CN" altLang="en-US" sz="3600" b="1" dirty="0"/>
              <a:t>的表面粗糙度轮廓的</a:t>
            </a:r>
            <a:r>
              <a:rPr lang="en-US" altLang="zh-CN" sz="3600" b="1" i="1" dirty="0"/>
              <a:t>Ra</a:t>
            </a:r>
            <a:r>
              <a:rPr lang="zh-CN" altLang="en-US" sz="3600" b="1" dirty="0"/>
              <a:t>、</a:t>
            </a:r>
            <a:r>
              <a:rPr lang="en-US" altLang="zh-CN" sz="3600" b="1" i="1" dirty="0" err="1"/>
              <a:t>Rz</a:t>
            </a:r>
            <a:r>
              <a:rPr lang="zh-CN" altLang="en-US" sz="3600" b="1" dirty="0"/>
              <a:t>值应</a:t>
            </a:r>
            <a:r>
              <a:rPr lang="zh-CN" altLang="en-US" sz="3600" b="1" dirty="0" smtClean="0">
                <a:solidFill>
                  <a:srgbClr val="FF0000"/>
                </a:solidFill>
              </a:rPr>
              <a:t>比孔</a:t>
            </a:r>
            <a:r>
              <a:rPr lang="zh-CN" altLang="en-US" sz="3600" b="1" dirty="0">
                <a:solidFill>
                  <a:srgbClr val="FF0000"/>
                </a:solidFill>
              </a:rPr>
              <a:t>小</a:t>
            </a:r>
            <a:r>
              <a:rPr lang="zh-CN" altLang="en-US" sz="3600" b="1" dirty="0"/>
              <a:t>。</a:t>
            </a:r>
          </a:p>
        </p:txBody>
      </p:sp>
      <p:sp>
        <p:nvSpPr>
          <p:cNvPr id="8" name="Text Box 11"/>
          <p:cNvSpPr txBox="1">
            <a:spLocks noChangeArrowheads="1"/>
          </p:cNvSpPr>
          <p:nvPr/>
        </p:nvSpPr>
        <p:spPr bwMode="auto">
          <a:xfrm>
            <a:off x="2059891" y="7564260"/>
            <a:ext cx="9989874" cy="81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3600" b="1" i="1" dirty="0"/>
              <a:t>t </a:t>
            </a:r>
            <a:r>
              <a:rPr lang="en-US" altLang="zh-CN" sz="3600" b="1" dirty="0"/>
              <a:t>≈ 0.6</a:t>
            </a:r>
            <a:r>
              <a:rPr lang="en-US" altLang="zh-CN" sz="3600" b="1" i="1" dirty="0"/>
              <a:t>T  </a:t>
            </a:r>
            <a:r>
              <a:rPr lang="zh-CN" altLang="en-US" sz="3600" b="1" dirty="0"/>
              <a:t>时</a:t>
            </a:r>
            <a:r>
              <a:rPr lang="zh-CN" altLang="en-US" sz="3600" b="1" i="1" dirty="0"/>
              <a:t>，</a:t>
            </a:r>
            <a:r>
              <a:rPr lang="zh-CN" altLang="en-US" sz="3600" b="1" dirty="0"/>
              <a:t>    </a:t>
            </a:r>
            <a:r>
              <a:rPr lang="en-US" altLang="zh-CN" sz="3600" b="1" i="1" dirty="0"/>
              <a:t>Ra≤ </a:t>
            </a:r>
            <a:r>
              <a:rPr lang="en-US" altLang="zh-CN" sz="3600" b="1" dirty="0"/>
              <a:t>0.05</a:t>
            </a:r>
            <a:r>
              <a:rPr lang="en-US" altLang="zh-CN" sz="3600" b="1" i="1" dirty="0"/>
              <a:t>T  </a:t>
            </a:r>
            <a:r>
              <a:rPr lang="en-US" altLang="zh-CN" sz="3600" b="1" dirty="0"/>
              <a:t> ，    </a:t>
            </a:r>
            <a:r>
              <a:rPr lang="en-US" altLang="zh-CN" sz="3600" b="1" i="1" dirty="0" err="1"/>
              <a:t>Rz</a:t>
            </a:r>
            <a:r>
              <a:rPr lang="en-US" altLang="zh-CN" sz="3600" b="1" i="1" dirty="0"/>
              <a:t> </a:t>
            </a:r>
            <a:r>
              <a:rPr lang="en-US" altLang="zh-CN" sz="3600" b="1" dirty="0"/>
              <a:t>≤0.2</a:t>
            </a:r>
            <a:r>
              <a:rPr lang="en-US" altLang="zh-CN" sz="3600" b="1" i="1" dirty="0"/>
              <a:t>T</a:t>
            </a:r>
          </a:p>
        </p:txBody>
      </p:sp>
      <p:sp>
        <p:nvSpPr>
          <p:cNvPr id="9" name="Text Box 12"/>
          <p:cNvSpPr txBox="1">
            <a:spLocks noChangeArrowheads="1"/>
          </p:cNvSpPr>
          <p:nvPr/>
        </p:nvSpPr>
        <p:spPr bwMode="auto">
          <a:xfrm>
            <a:off x="2059890" y="8310385"/>
            <a:ext cx="9872277" cy="818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3600" b="1" i="1" dirty="0"/>
              <a:t>t </a:t>
            </a:r>
            <a:r>
              <a:rPr lang="en-US" altLang="zh-CN" sz="3600" b="1" dirty="0"/>
              <a:t>≈ 0.4</a:t>
            </a:r>
            <a:r>
              <a:rPr lang="en-US" altLang="zh-CN" sz="3600" b="1" i="1" dirty="0"/>
              <a:t>T  </a:t>
            </a:r>
            <a:r>
              <a:rPr lang="zh-CN" altLang="en-US" sz="3600" b="1" dirty="0"/>
              <a:t>时</a:t>
            </a:r>
            <a:r>
              <a:rPr lang="zh-CN" altLang="en-US" sz="3600" b="1" i="1" dirty="0"/>
              <a:t>，</a:t>
            </a:r>
            <a:r>
              <a:rPr lang="zh-CN" altLang="en-US" sz="3600" b="1" dirty="0"/>
              <a:t>    </a:t>
            </a:r>
            <a:r>
              <a:rPr lang="en-US" altLang="zh-CN" sz="3600" b="1" i="1" dirty="0"/>
              <a:t>Ra≤ </a:t>
            </a:r>
            <a:r>
              <a:rPr lang="en-US" altLang="zh-CN" sz="3600" b="1" dirty="0"/>
              <a:t>0.025</a:t>
            </a:r>
            <a:r>
              <a:rPr lang="en-US" altLang="zh-CN" sz="3600" b="1" i="1" dirty="0"/>
              <a:t>T</a:t>
            </a:r>
            <a:r>
              <a:rPr lang="en-US" altLang="zh-CN" sz="3600" b="1" dirty="0"/>
              <a:t> ，    </a:t>
            </a:r>
            <a:r>
              <a:rPr lang="en-US" altLang="zh-CN" sz="3600" b="1" i="1" dirty="0"/>
              <a:t>Rz≤</a:t>
            </a:r>
            <a:r>
              <a:rPr lang="en-US" altLang="zh-CN" sz="3600" b="1" dirty="0"/>
              <a:t>0.1</a:t>
            </a:r>
            <a:r>
              <a:rPr lang="en-US" altLang="zh-CN" sz="3600" b="1" i="1" dirty="0"/>
              <a:t>T</a:t>
            </a:r>
            <a:endParaRPr lang="zh-CN" altLang="en-US" sz="3600" b="1" dirty="0"/>
          </a:p>
        </p:txBody>
      </p:sp>
      <p:sp>
        <p:nvSpPr>
          <p:cNvPr id="10" name="Text Box 13"/>
          <p:cNvSpPr txBox="1">
            <a:spLocks noChangeArrowheads="1"/>
          </p:cNvSpPr>
          <p:nvPr/>
        </p:nvSpPr>
        <p:spPr bwMode="auto">
          <a:xfrm>
            <a:off x="2059890" y="9085085"/>
            <a:ext cx="9677066"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i="1" dirty="0"/>
              <a:t>t </a:t>
            </a:r>
            <a:r>
              <a:rPr lang="en-US" altLang="zh-CN" sz="3600" b="1" dirty="0"/>
              <a:t>≈ 0.25</a:t>
            </a:r>
            <a:r>
              <a:rPr lang="en-US" altLang="zh-CN" sz="3600" b="1" i="1" dirty="0"/>
              <a:t>T  </a:t>
            </a:r>
            <a:r>
              <a:rPr lang="zh-CN" altLang="en-US" sz="3600" b="1" dirty="0"/>
              <a:t>时</a:t>
            </a:r>
            <a:r>
              <a:rPr lang="zh-CN" altLang="en-US" sz="3600" b="1" i="1" dirty="0"/>
              <a:t>，</a:t>
            </a:r>
            <a:r>
              <a:rPr lang="zh-CN" altLang="en-US" sz="3600" b="1" dirty="0"/>
              <a:t>   </a:t>
            </a:r>
            <a:r>
              <a:rPr lang="en-US" altLang="zh-CN" sz="3600" b="1" i="1" dirty="0"/>
              <a:t>Ra≤ </a:t>
            </a:r>
            <a:r>
              <a:rPr lang="en-US" altLang="zh-CN" sz="3600" b="1" dirty="0"/>
              <a:t>0.012</a:t>
            </a:r>
            <a:r>
              <a:rPr lang="en-US" altLang="zh-CN" sz="3600" b="1" i="1" dirty="0"/>
              <a:t>T</a:t>
            </a:r>
            <a:r>
              <a:rPr lang="en-US" altLang="zh-CN" sz="3600" b="1" dirty="0"/>
              <a:t> ，   </a:t>
            </a:r>
            <a:r>
              <a:rPr lang="en-US" altLang="zh-CN" sz="3600" b="1" i="1" dirty="0"/>
              <a:t>Rz≤</a:t>
            </a:r>
            <a:r>
              <a:rPr lang="en-US" altLang="zh-CN" sz="3600" b="1" dirty="0"/>
              <a:t>0.05</a:t>
            </a:r>
            <a:r>
              <a:rPr lang="en-US" altLang="zh-CN" sz="3600" b="1" i="1" dirty="0"/>
              <a:t>T</a:t>
            </a:r>
            <a:endParaRPr lang="zh-CN" altLang="en-US" sz="3600" b="1" dirty="0"/>
          </a:p>
        </p:txBody>
      </p:sp>
      <p:sp>
        <p:nvSpPr>
          <p:cNvPr id="11" name="Text Box 14"/>
          <p:cNvSpPr txBox="1">
            <a:spLocks noChangeArrowheads="1"/>
          </p:cNvSpPr>
          <p:nvPr/>
        </p:nvSpPr>
        <p:spPr bwMode="auto">
          <a:xfrm>
            <a:off x="470941" y="6036377"/>
            <a:ext cx="13485813" cy="1483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3600" b="1" i="1" dirty="0"/>
              <a:t>        </a:t>
            </a:r>
            <a:r>
              <a:rPr lang="zh-CN" altLang="en-US" sz="3600" b="1" dirty="0"/>
              <a:t>在协调尺寸公差</a:t>
            </a:r>
            <a:r>
              <a:rPr lang="en-US" altLang="zh-CN" sz="3600" b="1" i="1" dirty="0"/>
              <a:t>T</a:t>
            </a:r>
            <a:r>
              <a:rPr lang="zh-CN" altLang="en-US" sz="3600" b="1" dirty="0"/>
              <a:t>、几何公差</a:t>
            </a:r>
            <a:r>
              <a:rPr lang="en-US" altLang="zh-CN" sz="3600" b="1" i="1" dirty="0"/>
              <a:t>t</a:t>
            </a:r>
            <a:r>
              <a:rPr lang="zh-CN" altLang="en-US" sz="3600" b="1" dirty="0"/>
              <a:t>和表面粗糙度轮廓时，</a:t>
            </a:r>
            <a:r>
              <a:rPr lang="zh-CN" altLang="en-US" sz="3600" b="1" dirty="0">
                <a:solidFill>
                  <a:srgbClr val="FF0000"/>
                </a:solidFill>
              </a:rPr>
              <a:t>下列关系式供参考</a:t>
            </a:r>
            <a:r>
              <a:rPr lang="zh-CN" altLang="en-US" sz="3600" b="1" dirty="0"/>
              <a:t>：</a:t>
            </a:r>
          </a:p>
        </p:txBody>
      </p:sp>
      <p:sp>
        <p:nvSpPr>
          <p:cNvPr id="12" name="Rectangle 15"/>
          <p:cNvSpPr>
            <a:spLocks noChangeArrowheads="1"/>
          </p:cNvSpPr>
          <p:nvPr/>
        </p:nvSpPr>
        <p:spPr bwMode="auto">
          <a:xfrm>
            <a:off x="617300" y="4587874"/>
            <a:ext cx="14120813"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3600" b="1" dirty="0">
                <a:latin typeface="宋体" panose="02010600030101010101" pitchFamily="2" charset="-122"/>
              </a:rPr>
              <a:t>  ③</a:t>
            </a:r>
            <a:r>
              <a:rPr lang="zh-CN" altLang="en-US" sz="3600" b="1" dirty="0"/>
              <a:t> 对同一公差等级的不同尺寸的孔或轴，</a:t>
            </a:r>
            <a:r>
              <a:rPr lang="zh-CN" altLang="en-US" sz="3600" b="1" dirty="0">
                <a:solidFill>
                  <a:srgbClr val="FF0000"/>
                </a:solidFill>
              </a:rPr>
              <a:t>尺寸小</a:t>
            </a:r>
            <a:r>
              <a:rPr lang="zh-CN" altLang="en-US" sz="3600" b="1" dirty="0"/>
              <a:t>的孔或轴的</a:t>
            </a:r>
          </a:p>
          <a:p>
            <a:pPr>
              <a:lnSpc>
                <a:spcPct val="120000"/>
              </a:lnSpc>
            </a:pPr>
            <a:r>
              <a:rPr lang="zh-CN" altLang="en-US" sz="3600" b="1" dirty="0"/>
              <a:t>         表面粗糙度轮廓的</a:t>
            </a:r>
            <a:r>
              <a:rPr lang="en-US" altLang="zh-CN" sz="3600" b="1" i="1" dirty="0"/>
              <a:t>Ra</a:t>
            </a:r>
            <a:r>
              <a:rPr lang="zh-CN" altLang="en-US" sz="3600" b="1" dirty="0"/>
              <a:t>、</a:t>
            </a:r>
            <a:r>
              <a:rPr lang="en-US" altLang="zh-CN" sz="3600" b="1" i="1" dirty="0" err="1"/>
              <a:t>Rz</a:t>
            </a:r>
            <a:r>
              <a:rPr lang="zh-CN" altLang="en-US" sz="3600" b="1" dirty="0"/>
              <a:t>值</a:t>
            </a:r>
            <a:r>
              <a:rPr lang="zh-CN" altLang="en-US" sz="3600" b="1" dirty="0">
                <a:solidFill>
                  <a:srgbClr val="FF0000"/>
                </a:solidFill>
              </a:rPr>
              <a:t>比大尺寸小</a:t>
            </a:r>
            <a:r>
              <a:rPr lang="zh-CN" altLang="en-US" sz="3600" b="1" dirty="0"/>
              <a:t>一些。</a:t>
            </a:r>
          </a:p>
        </p:txBody>
      </p:sp>
      <p:sp>
        <p:nvSpPr>
          <p:cNvPr id="13" name="Text Box 13"/>
          <p:cNvSpPr txBox="1">
            <a:spLocks noChangeArrowheads="1"/>
          </p:cNvSpPr>
          <p:nvPr/>
        </p:nvSpPr>
        <p:spPr bwMode="auto">
          <a:xfrm>
            <a:off x="2104340" y="9740723"/>
            <a:ext cx="9677066"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i="1"/>
              <a:t>t </a:t>
            </a:r>
            <a:r>
              <a:rPr lang="en-US" altLang="zh-CN" sz="3600" b="1"/>
              <a:t>&lt; 0.25</a:t>
            </a:r>
            <a:r>
              <a:rPr lang="en-US" altLang="zh-CN" sz="3600" b="1" i="1"/>
              <a:t>T  </a:t>
            </a:r>
            <a:r>
              <a:rPr lang="zh-CN" altLang="en-US" sz="3600" b="1"/>
              <a:t>时</a:t>
            </a:r>
            <a:r>
              <a:rPr lang="zh-CN" altLang="en-US" sz="3600" b="1" i="1"/>
              <a:t>，</a:t>
            </a:r>
            <a:r>
              <a:rPr lang="zh-CN" altLang="en-US" sz="3600" b="1"/>
              <a:t>  </a:t>
            </a:r>
            <a:r>
              <a:rPr lang="en-US" altLang="zh-CN" sz="3600" b="1" i="1"/>
              <a:t>Ra≤ </a:t>
            </a:r>
            <a:r>
              <a:rPr lang="en-US" altLang="zh-CN" sz="3600" b="1"/>
              <a:t>0.15</a:t>
            </a:r>
            <a:r>
              <a:rPr lang="en-US" altLang="zh-CN" sz="3600" b="1" i="1"/>
              <a:t>t </a:t>
            </a:r>
            <a:r>
              <a:rPr lang="en-US" altLang="zh-CN" sz="3600" b="1"/>
              <a:t>，       </a:t>
            </a:r>
            <a:r>
              <a:rPr lang="en-US" altLang="zh-CN" sz="3600" b="1" i="1"/>
              <a:t>Rz≤</a:t>
            </a:r>
            <a:r>
              <a:rPr lang="en-US" altLang="zh-CN" sz="3600" b="1"/>
              <a:t>0.6</a:t>
            </a:r>
            <a:r>
              <a:rPr lang="en-US" altLang="zh-CN" sz="3600" b="1" i="1"/>
              <a:t>t</a:t>
            </a:r>
            <a:endParaRPr lang="zh-CN" altLang="en-US" sz="3600" b="1" i="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3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2000"/>
                                        <p:tgtEl>
                                          <p:spTgt spid="7"/>
                                        </p:tgtEl>
                                      </p:cBhvr>
                                    </p:animEffect>
                                  </p:childTnLst>
                                </p:cTn>
                              </p:par>
                            </p:childTnLst>
                          </p:cTn>
                        </p:par>
                        <p:par>
                          <p:cTn id="18" fill="hold">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20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wd">
                                    <p:tmPct val="100000"/>
                                  </p:iterate>
                                  <p:childTnLst>
                                    <p:set>
                                      <p:cBhvr>
                                        <p:cTn id="25" dur="1" fill="hold">
                                          <p:stCondLst>
                                            <p:cond delay="0"/>
                                          </p:stCondLst>
                                        </p:cTn>
                                        <p:tgtEl>
                                          <p:spTgt spid="11">
                                            <p:txEl>
                                              <p:pRg st="0" end="0"/>
                                            </p:txEl>
                                          </p:spTgt>
                                        </p:tgtEl>
                                        <p:attrNameLst>
                                          <p:attrName>style.visibility</p:attrName>
                                        </p:attrNameLst>
                                      </p:cBhvr>
                                      <p:to>
                                        <p:strVal val="visible"/>
                                      </p:to>
                                    </p:set>
                                    <p:animEffect transition="in" filter="wipe(left)">
                                      <p:cBhvr>
                                        <p:cTn id="26" dur="300"/>
                                        <p:tgtEl>
                                          <p:spTgt spid="11">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wd">
                                    <p:tmPct val="100000"/>
                                  </p:iterate>
                                  <p:childTnLst>
                                    <p:set>
                                      <p:cBhvr>
                                        <p:cTn id="30" dur="1" fill="hold">
                                          <p:stCondLst>
                                            <p:cond delay="0"/>
                                          </p:stCondLst>
                                        </p:cTn>
                                        <p:tgtEl>
                                          <p:spTgt spid="8">
                                            <p:txEl>
                                              <p:pRg st="0" end="0"/>
                                            </p:txEl>
                                          </p:spTgt>
                                        </p:tgtEl>
                                        <p:attrNameLst>
                                          <p:attrName>style.visibility</p:attrName>
                                        </p:attrNameLst>
                                      </p:cBhvr>
                                      <p:to>
                                        <p:strVal val="visible"/>
                                      </p:to>
                                    </p:set>
                                    <p:animEffect transition="in" filter="wipe(left)">
                                      <p:cBhvr>
                                        <p:cTn id="31" dur="300"/>
                                        <p:tgtEl>
                                          <p:spTgt spid="8">
                                            <p:txEl>
                                              <p:pRg st="0" end="0"/>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iterate type="wd">
                                    <p:tmPct val="100000"/>
                                  </p:iterate>
                                  <p:childTnLst>
                                    <p:set>
                                      <p:cBhvr>
                                        <p:cTn id="35" dur="1" fill="hold">
                                          <p:stCondLst>
                                            <p:cond delay="0"/>
                                          </p:stCondLst>
                                        </p:cTn>
                                        <p:tgtEl>
                                          <p:spTgt spid="9"/>
                                        </p:tgtEl>
                                        <p:attrNameLst>
                                          <p:attrName>style.visibility</p:attrName>
                                        </p:attrNameLst>
                                      </p:cBhvr>
                                      <p:to>
                                        <p:strVal val="visible"/>
                                      </p:to>
                                    </p:set>
                                    <p:animEffect transition="in" filter="wipe(left)">
                                      <p:cBhvr>
                                        <p:cTn id="36" dur="3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iterate type="wd">
                                    <p:tmPct val="100000"/>
                                  </p:iterate>
                                  <p:childTnLst>
                                    <p:set>
                                      <p:cBhvr>
                                        <p:cTn id="40" dur="1" fill="hold">
                                          <p:stCondLst>
                                            <p:cond delay="0"/>
                                          </p:stCondLst>
                                        </p:cTn>
                                        <p:tgtEl>
                                          <p:spTgt spid="10"/>
                                        </p:tgtEl>
                                        <p:attrNameLst>
                                          <p:attrName>style.visibility</p:attrName>
                                        </p:attrNameLst>
                                      </p:cBhvr>
                                      <p:to>
                                        <p:strVal val="visible"/>
                                      </p:to>
                                    </p:set>
                                    <p:animEffect transition="in" filter="wipe(left)">
                                      <p:cBhvr>
                                        <p:cTn id="41" dur="3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iterate type="wd">
                                    <p:tmPct val="100000"/>
                                  </p:iterate>
                                  <p:childTnLst>
                                    <p:set>
                                      <p:cBhvr>
                                        <p:cTn id="45" dur="1" fill="hold">
                                          <p:stCondLst>
                                            <p:cond delay="0"/>
                                          </p:stCondLst>
                                        </p:cTn>
                                        <p:tgtEl>
                                          <p:spTgt spid="13"/>
                                        </p:tgtEl>
                                        <p:attrNameLst>
                                          <p:attrName>style.visibility</p:attrName>
                                        </p:attrNameLst>
                                      </p:cBhvr>
                                      <p:to>
                                        <p:strVal val="visible"/>
                                      </p:to>
                                    </p:set>
                                    <p:animEffect transition="in" filter="wipe(left)">
                                      <p:cBhvr>
                                        <p:cTn id="46"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6" grpId="0"/>
      <p:bldP spid="7" grpId="0"/>
      <p:bldP spid="8" grpId="0" build="p" autoUpdateAnimBg="0"/>
      <p:bldP spid="9" grpId="0" autoUpdateAnimBg="0"/>
      <p:bldP spid="10" grpId="0" autoUpdateAnimBg="0"/>
      <p:bldP spid="11" grpId="0" build="p" autoUpdateAnimBg="0"/>
      <p:bldP spid="12" grpId="0"/>
      <p:bldP spid="13"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ext Box 4"/>
          <p:cNvSpPr txBox="1">
            <a:spLocks noChangeArrowheads="1"/>
          </p:cNvSpPr>
          <p:nvPr/>
        </p:nvSpPr>
        <p:spPr bwMode="auto">
          <a:xfrm>
            <a:off x="530019" y="1892924"/>
            <a:ext cx="14066838" cy="1754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4000" b="1" dirty="0"/>
              <a:t>     （</a:t>
            </a:r>
            <a:r>
              <a:rPr lang="en-US" altLang="zh-CN" sz="4000" b="1" dirty="0"/>
              <a:t>7</a:t>
            </a:r>
            <a:r>
              <a:rPr lang="zh-CN" altLang="en-US" sz="4000" b="1" dirty="0"/>
              <a:t>）要求</a:t>
            </a:r>
            <a:r>
              <a:rPr lang="zh-CN" altLang="en-US" sz="4000" b="1" dirty="0">
                <a:solidFill>
                  <a:srgbClr val="FF0000"/>
                </a:solidFill>
              </a:rPr>
              <a:t>防腐蚀</a:t>
            </a:r>
            <a:r>
              <a:rPr lang="zh-CN" altLang="en-US" sz="4000" b="1" dirty="0"/>
              <a:t>、</a:t>
            </a:r>
            <a:r>
              <a:rPr lang="zh-CN" altLang="en-US" sz="4000" b="1" dirty="0">
                <a:solidFill>
                  <a:srgbClr val="FF0000"/>
                </a:solidFill>
              </a:rPr>
              <a:t>密封性能</a:t>
            </a:r>
            <a:r>
              <a:rPr lang="zh-CN" altLang="en-US" sz="4000" b="1" dirty="0"/>
              <a:t>好或要求</a:t>
            </a:r>
            <a:r>
              <a:rPr lang="zh-CN" altLang="en-US" sz="4000" b="1" dirty="0">
                <a:solidFill>
                  <a:srgbClr val="FF0000"/>
                </a:solidFill>
              </a:rPr>
              <a:t>外表美观</a:t>
            </a:r>
            <a:r>
              <a:rPr lang="zh-CN" altLang="en-US" sz="4000" b="1" dirty="0"/>
              <a:t>的零件的表面粗糙度轮廓数值应较小。</a:t>
            </a:r>
            <a:endParaRPr lang="en-US" altLang="zh-CN" sz="4000" b="1" dirty="0"/>
          </a:p>
        </p:txBody>
      </p:sp>
      <p:sp>
        <p:nvSpPr>
          <p:cNvPr id="33797" name="Text Box 5"/>
          <p:cNvSpPr txBox="1">
            <a:spLocks noChangeArrowheads="1"/>
          </p:cNvSpPr>
          <p:nvPr/>
        </p:nvSpPr>
        <p:spPr bwMode="auto">
          <a:xfrm>
            <a:off x="555781" y="4205756"/>
            <a:ext cx="14009688" cy="2528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pPr>
            <a:r>
              <a:rPr lang="zh-CN" altLang="en-US" sz="4000" b="1" dirty="0"/>
              <a:t>    （</a:t>
            </a:r>
            <a:r>
              <a:rPr lang="en-US" altLang="zh-CN" sz="4000" b="1" dirty="0"/>
              <a:t>8</a:t>
            </a:r>
            <a:r>
              <a:rPr lang="zh-CN" altLang="en-US" sz="4000" b="1" dirty="0"/>
              <a:t>）凡是有关</a:t>
            </a:r>
            <a:r>
              <a:rPr lang="zh-CN" altLang="en-US" sz="4000" b="1" dirty="0">
                <a:solidFill>
                  <a:srgbClr val="FF0000"/>
                </a:solidFill>
              </a:rPr>
              <a:t>标准</a:t>
            </a:r>
            <a:r>
              <a:rPr lang="zh-CN" altLang="en-US" sz="4000" b="1" dirty="0"/>
              <a:t>对表面粗糙度轮廓要求</a:t>
            </a:r>
            <a:r>
              <a:rPr lang="zh-CN" altLang="en-US" sz="4000" b="1" dirty="0">
                <a:solidFill>
                  <a:srgbClr val="FF0000"/>
                </a:solidFill>
              </a:rPr>
              <a:t>已有规定</a:t>
            </a:r>
            <a:r>
              <a:rPr lang="zh-CN" altLang="en-US" sz="4000" b="1" dirty="0"/>
              <a:t>（如与滚动轴承配合的轴颈和外壳孔的表面），则应按该标准规定的表面粗糙度轮廓数值选用。</a:t>
            </a:r>
          </a:p>
        </p:txBody>
      </p:sp>
      <p:sp>
        <p:nvSpPr>
          <p:cNvPr id="33798" name="Text Box 6"/>
          <p:cNvSpPr txBox="1">
            <a:spLocks noChangeArrowheads="1"/>
          </p:cNvSpPr>
          <p:nvPr/>
        </p:nvSpPr>
        <p:spPr bwMode="auto">
          <a:xfrm>
            <a:off x="2002306" y="7719518"/>
            <a:ext cx="12080875"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60000"/>
              </a:lnSpc>
            </a:pPr>
            <a:r>
              <a:rPr lang="zh-CN" altLang="en-US" sz="4000" b="1" dirty="0">
                <a:solidFill>
                  <a:srgbClr val="FF3300"/>
                </a:solidFill>
                <a:latin typeface="宋体" panose="02010600030101010101" pitchFamily="2" charset="-122"/>
              </a:rPr>
              <a:t>选用时可参考表</a:t>
            </a:r>
            <a:r>
              <a:rPr lang="zh-CN" altLang="en-US" sz="4000" b="1" dirty="0">
                <a:solidFill>
                  <a:srgbClr val="FF3300"/>
                </a:solidFill>
              </a:rPr>
              <a:t>5.6～5.8。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33796"/>
                                        </p:tgtEl>
                                        <p:attrNameLst>
                                          <p:attrName>style.visibility</p:attrName>
                                        </p:attrNameLst>
                                      </p:cBhvr>
                                      <p:to>
                                        <p:strVal val="visible"/>
                                      </p:to>
                                    </p:set>
                                    <p:animEffect transition="in" filter="wipe(left)">
                                      <p:cBhvr>
                                        <p:cTn id="7" dur="300"/>
                                        <p:tgtEl>
                                          <p:spTgt spid="337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33797"/>
                                        </p:tgtEl>
                                        <p:attrNameLst>
                                          <p:attrName>style.visibility</p:attrName>
                                        </p:attrNameLst>
                                      </p:cBhvr>
                                      <p:to>
                                        <p:strVal val="visible"/>
                                      </p:to>
                                    </p:set>
                                    <p:animEffect transition="in" filter="wipe(left)">
                                      <p:cBhvr>
                                        <p:cTn id="12" dur="300"/>
                                        <p:tgtEl>
                                          <p:spTgt spid="337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33798"/>
                                        </p:tgtEl>
                                        <p:attrNameLst>
                                          <p:attrName>style.visibility</p:attrName>
                                        </p:attrNameLst>
                                      </p:cBhvr>
                                      <p:to>
                                        <p:strVal val="visible"/>
                                      </p:to>
                                    </p:set>
                                    <p:animEffect transition="in" filter="wipe(left)">
                                      <p:cBhvr>
                                        <p:cTn id="17" dur="300"/>
                                        <p:tgtEl>
                                          <p:spTgt spid="33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autoUpdateAnimBg="0"/>
      <p:bldP spid="33797" grpId="0" autoUpdateAnimBg="0"/>
      <p:bldP spid="33798"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1200150" y="320675"/>
            <a:ext cx="11450638"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4000" b="1" dirty="0"/>
              <a:t>5.4</a:t>
            </a:r>
            <a:r>
              <a:rPr lang="zh-CN" altLang="en-US" sz="4000" b="1" dirty="0">
                <a:latin typeface="宋体" panose="02010600030101010101" pitchFamily="2" charset="-122"/>
              </a:rPr>
              <a:t> 表面粗糙度符号、代号及其注法</a:t>
            </a:r>
            <a:r>
              <a:rPr lang="zh-CN" altLang="en-US" sz="4000" dirty="0"/>
              <a:t> </a:t>
            </a:r>
          </a:p>
        </p:txBody>
      </p:sp>
      <p:sp>
        <p:nvSpPr>
          <p:cNvPr id="12307" name="Text Box 19"/>
          <p:cNvSpPr txBox="1">
            <a:spLocks noChangeArrowheads="1"/>
          </p:cNvSpPr>
          <p:nvPr/>
        </p:nvSpPr>
        <p:spPr bwMode="auto">
          <a:xfrm>
            <a:off x="881063" y="1270000"/>
            <a:ext cx="1124598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t>图样上所标注符号、代号，是该</a:t>
            </a:r>
            <a:r>
              <a:rPr lang="zh-CN" altLang="en-US" sz="3600" b="1" dirty="0">
                <a:solidFill>
                  <a:srgbClr val="FF0000"/>
                </a:solidFill>
              </a:rPr>
              <a:t>表面完工后的要求</a:t>
            </a:r>
            <a:r>
              <a:rPr lang="zh-CN" altLang="en-US" sz="3600" b="1" dirty="0"/>
              <a:t>。</a:t>
            </a:r>
          </a:p>
        </p:txBody>
      </p:sp>
      <p:pic>
        <p:nvPicPr>
          <p:cNvPr id="33800"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6046" y="2028787"/>
            <a:ext cx="13657624" cy="894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直接连接符 5"/>
          <p:cNvCxnSpPr/>
          <p:nvPr/>
        </p:nvCxnSpPr>
        <p:spPr bwMode="auto">
          <a:xfrm flipV="1">
            <a:off x="459854" y="1187830"/>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2290">
                                            <p:txEl>
                                              <p:pRg st="0" end="0"/>
                                            </p:txEl>
                                          </p:spTgt>
                                        </p:tgtEl>
                                        <p:attrNameLst>
                                          <p:attrName>style.visibility</p:attrName>
                                        </p:attrNameLst>
                                      </p:cBhvr>
                                      <p:to>
                                        <p:strVal val="visible"/>
                                      </p:to>
                                    </p:set>
                                    <p:animEffect transition="in" filter="wipe(left)">
                                      <p:cBhvr>
                                        <p:cTn id="7" dur="300"/>
                                        <p:tgtEl>
                                          <p:spTgt spid="122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2307"/>
                                        </p:tgtEl>
                                        <p:attrNameLst>
                                          <p:attrName>style.visibility</p:attrName>
                                        </p:attrNameLst>
                                      </p:cBhvr>
                                      <p:to>
                                        <p:strVal val="visible"/>
                                      </p:to>
                                    </p:set>
                                    <p:animEffect transition="in" filter="wipe(left)">
                                      <p:cBhvr>
                                        <p:cTn id="12" dur="300"/>
                                        <p:tgtEl>
                                          <p:spTgt spid="1230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3800"/>
                                        </p:tgtEl>
                                        <p:attrNameLst>
                                          <p:attrName>style.visibility</p:attrName>
                                        </p:attrNameLst>
                                      </p:cBhvr>
                                      <p:to>
                                        <p:strVal val="visible"/>
                                      </p:to>
                                    </p:set>
                                    <p:anim calcmode="lin" valueType="num">
                                      <p:cBhvr additive="base">
                                        <p:cTn id="17" dur="2250" fill="hold"/>
                                        <p:tgtEl>
                                          <p:spTgt spid="33800"/>
                                        </p:tgtEl>
                                        <p:attrNameLst>
                                          <p:attrName>ppt_x</p:attrName>
                                        </p:attrNameLst>
                                      </p:cBhvr>
                                      <p:tavLst>
                                        <p:tav tm="0">
                                          <p:val>
                                            <p:strVal val="#ppt_x"/>
                                          </p:val>
                                        </p:tav>
                                        <p:tav tm="100000">
                                          <p:val>
                                            <p:strVal val="#ppt_x"/>
                                          </p:val>
                                        </p:tav>
                                      </p:tavLst>
                                    </p:anim>
                                    <p:anim calcmode="lin" valueType="num">
                                      <p:cBhvr additive="base">
                                        <p:cTn id="18" dur="2250" fill="hold"/>
                                        <p:tgtEl>
                                          <p:spTgt spid="338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uild="p" autoUpdateAnimBg="0"/>
      <p:bldP spid="1230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41" name="Text Box 17"/>
          <p:cNvSpPr txBox="1">
            <a:spLocks noChangeArrowheads="1"/>
          </p:cNvSpPr>
          <p:nvPr/>
        </p:nvSpPr>
        <p:spPr bwMode="auto">
          <a:xfrm>
            <a:off x="664309" y="489237"/>
            <a:ext cx="121443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000" b="1" dirty="0"/>
              <a:t>5.4.2 表面粗糙度要求标注的内容及其注法</a:t>
            </a:r>
          </a:p>
        </p:txBody>
      </p:sp>
      <p:sp>
        <p:nvSpPr>
          <p:cNvPr id="77842" name="Text Box 18"/>
          <p:cNvSpPr txBox="1">
            <a:spLocks noChangeArrowheads="1"/>
          </p:cNvSpPr>
          <p:nvPr/>
        </p:nvSpPr>
        <p:spPr bwMode="auto">
          <a:xfrm>
            <a:off x="852155" y="2392568"/>
            <a:ext cx="121443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000" b="1" dirty="0" smtClean="0"/>
              <a:t>一、 </a:t>
            </a:r>
            <a:r>
              <a:rPr lang="zh-CN" altLang="en-US" sz="4000" b="1" dirty="0"/>
              <a:t>表面粗糙度要求标注的内容</a:t>
            </a:r>
          </a:p>
        </p:txBody>
      </p:sp>
      <p:grpSp>
        <p:nvGrpSpPr>
          <p:cNvPr id="77852" name="Group 28"/>
          <p:cNvGrpSpPr/>
          <p:nvPr/>
        </p:nvGrpSpPr>
        <p:grpSpPr bwMode="auto">
          <a:xfrm>
            <a:off x="1950705" y="3861890"/>
            <a:ext cx="2468562" cy="4067907"/>
            <a:chOff x="1143" y="4498"/>
            <a:chExt cx="1555" cy="2131"/>
          </a:xfrm>
        </p:grpSpPr>
        <p:sp>
          <p:nvSpPr>
            <p:cNvPr id="34833" name="Text Box 19"/>
            <p:cNvSpPr txBox="1">
              <a:spLocks noChangeArrowheads="1"/>
            </p:cNvSpPr>
            <p:nvPr/>
          </p:nvSpPr>
          <p:spPr bwMode="auto">
            <a:xfrm>
              <a:off x="1143" y="5062"/>
              <a:ext cx="1108" cy="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4000" b="1" dirty="0"/>
                <a:t>   标注 </a:t>
              </a:r>
              <a:endParaRPr lang="en-US" altLang="zh-CN" sz="4000" b="1" dirty="0"/>
            </a:p>
            <a:p>
              <a:pPr eaLnBrk="1" hangingPunct="1">
                <a:lnSpc>
                  <a:spcPct val="120000"/>
                </a:lnSpc>
              </a:pPr>
              <a:r>
                <a:rPr lang="zh-CN" altLang="en-US" sz="4000" b="1" dirty="0"/>
                <a:t>   内容</a:t>
              </a:r>
            </a:p>
          </p:txBody>
        </p:sp>
        <p:sp>
          <p:nvSpPr>
            <p:cNvPr id="34834" name="AutoShape 20"/>
            <p:cNvSpPr/>
            <p:nvPr/>
          </p:nvSpPr>
          <p:spPr bwMode="auto">
            <a:xfrm>
              <a:off x="2273" y="4498"/>
              <a:ext cx="425" cy="2131"/>
            </a:xfrm>
            <a:prstGeom prst="leftBrace">
              <a:avLst>
                <a:gd name="adj1" fmla="val 31942"/>
                <a:gd name="adj2" fmla="val 50000"/>
              </a:avLst>
            </a:prstGeom>
            <a:noFill/>
            <a:ln w="571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845" name="Text Box 21"/>
          <p:cNvSpPr txBox="1">
            <a:spLocks noChangeArrowheads="1"/>
          </p:cNvSpPr>
          <p:nvPr/>
        </p:nvSpPr>
        <p:spPr bwMode="auto">
          <a:xfrm>
            <a:off x="4638680" y="3498353"/>
            <a:ext cx="758364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4000" b="1" dirty="0"/>
              <a:t>基本参数（</a:t>
            </a:r>
            <a:r>
              <a:rPr lang="en-US" altLang="zh-CN" sz="4000" b="1" i="1" u="sng" dirty="0"/>
              <a:t>Ra</a:t>
            </a:r>
            <a:r>
              <a:rPr lang="zh-CN" altLang="en-US" sz="4000" b="1" u="sng" dirty="0"/>
              <a:t>或</a:t>
            </a:r>
            <a:r>
              <a:rPr lang="en-US" altLang="zh-CN" sz="4000" b="1" i="1" u="sng" dirty="0" err="1"/>
              <a:t>Rz</a:t>
            </a:r>
            <a:r>
              <a:rPr lang="zh-CN" altLang="en-US" sz="4000" b="1" u="sng" dirty="0"/>
              <a:t>及其数值</a:t>
            </a:r>
            <a:r>
              <a:rPr lang="en-US" altLang="zh-CN" sz="4000" b="1" dirty="0"/>
              <a:t>)</a:t>
            </a:r>
          </a:p>
        </p:txBody>
      </p:sp>
      <p:sp>
        <p:nvSpPr>
          <p:cNvPr id="77846" name="Text Box 22"/>
          <p:cNvSpPr txBox="1">
            <a:spLocks noChangeArrowheads="1"/>
          </p:cNvSpPr>
          <p:nvPr/>
        </p:nvSpPr>
        <p:spPr bwMode="auto">
          <a:xfrm>
            <a:off x="7526005" y="6420941"/>
            <a:ext cx="3595687"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4000" b="1"/>
              <a:t>取样长度</a:t>
            </a:r>
          </a:p>
        </p:txBody>
      </p:sp>
      <p:sp>
        <p:nvSpPr>
          <p:cNvPr id="77848" name="Text Box 24"/>
          <p:cNvSpPr txBox="1">
            <a:spLocks noChangeArrowheads="1"/>
          </p:cNvSpPr>
          <p:nvPr/>
        </p:nvSpPr>
        <p:spPr bwMode="auto">
          <a:xfrm>
            <a:off x="7526005" y="5724028"/>
            <a:ext cx="3595687"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4000" b="1" dirty="0"/>
              <a:t>传输带</a:t>
            </a:r>
          </a:p>
        </p:txBody>
      </p:sp>
      <p:sp>
        <p:nvSpPr>
          <p:cNvPr id="77849" name="Text Box 25"/>
          <p:cNvSpPr txBox="1">
            <a:spLocks noChangeArrowheads="1"/>
          </p:cNvSpPr>
          <p:nvPr/>
        </p:nvSpPr>
        <p:spPr bwMode="auto">
          <a:xfrm>
            <a:off x="7526005" y="7203578"/>
            <a:ext cx="3595687"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4000" b="1"/>
              <a:t>加工工艺</a:t>
            </a:r>
          </a:p>
        </p:txBody>
      </p:sp>
      <p:sp>
        <p:nvSpPr>
          <p:cNvPr id="77850" name="Text Box 26"/>
          <p:cNvSpPr txBox="1">
            <a:spLocks noChangeArrowheads="1"/>
          </p:cNvSpPr>
          <p:nvPr/>
        </p:nvSpPr>
        <p:spPr bwMode="auto">
          <a:xfrm>
            <a:off x="7633617" y="8795841"/>
            <a:ext cx="3595688"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4000" b="1" dirty="0"/>
              <a:t>加工余量等。</a:t>
            </a:r>
            <a:endParaRPr lang="en-US" altLang="zh-CN" sz="4000" b="1" dirty="0"/>
          </a:p>
        </p:txBody>
      </p:sp>
      <p:grpSp>
        <p:nvGrpSpPr>
          <p:cNvPr id="77853" name="Group 29"/>
          <p:cNvGrpSpPr/>
          <p:nvPr/>
        </p:nvGrpSpPr>
        <p:grpSpPr bwMode="auto">
          <a:xfrm>
            <a:off x="4585955" y="6114553"/>
            <a:ext cx="3116262" cy="3311525"/>
            <a:chOff x="2803" y="4750"/>
            <a:chExt cx="1963" cy="2086"/>
          </a:xfrm>
        </p:grpSpPr>
        <p:sp>
          <p:nvSpPr>
            <p:cNvPr id="34831" name="AutoShape 23"/>
            <p:cNvSpPr/>
            <p:nvPr/>
          </p:nvSpPr>
          <p:spPr bwMode="auto">
            <a:xfrm>
              <a:off x="4236" y="4750"/>
              <a:ext cx="419" cy="2086"/>
            </a:xfrm>
            <a:prstGeom prst="leftBrace">
              <a:avLst>
                <a:gd name="adj1" fmla="val 37085"/>
                <a:gd name="adj2" fmla="val 50000"/>
              </a:avLst>
            </a:prstGeom>
            <a:noFill/>
            <a:ln w="571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2" name="Text Box 27"/>
            <p:cNvSpPr txBox="1">
              <a:spLocks noChangeArrowheads="1"/>
            </p:cNvSpPr>
            <p:nvPr/>
          </p:nvSpPr>
          <p:spPr bwMode="auto">
            <a:xfrm>
              <a:off x="2803" y="5500"/>
              <a:ext cx="1963" cy="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4000" b="1" dirty="0"/>
                <a:t>补充要求</a:t>
              </a:r>
            </a:p>
          </p:txBody>
        </p:sp>
      </p:grpSp>
      <p:sp>
        <p:nvSpPr>
          <p:cNvPr id="34828" name="左大括号 2"/>
          <p:cNvSpPr/>
          <p:nvPr/>
        </p:nvSpPr>
        <p:spPr bwMode="auto">
          <a:xfrm>
            <a:off x="7210092" y="3765053"/>
            <a:ext cx="1058863" cy="1630363"/>
          </a:xfrm>
          <a:prstGeom prst="leftBrace">
            <a:avLst>
              <a:gd name="adj1" fmla="val 8333"/>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round/>
              </a14:hiddenLine>
            </a:ext>
          </a:extLst>
        </p:spPr>
        <p:txBody>
          <a:bodyPr/>
          <a:lstStyle/>
          <a:p>
            <a:endParaRPr lang="zh-CN" altLang="en-US"/>
          </a:p>
        </p:txBody>
      </p:sp>
      <p:sp>
        <p:nvSpPr>
          <p:cNvPr id="20" name="Text Box 21"/>
          <p:cNvSpPr txBox="1">
            <a:spLocks noChangeArrowheads="1"/>
          </p:cNvSpPr>
          <p:nvPr/>
        </p:nvSpPr>
        <p:spPr bwMode="auto">
          <a:xfrm>
            <a:off x="4678030" y="4606428"/>
            <a:ext cx="9174162"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4000" b="1" dirty="0"/>
              <a:t>附加参数（</a:t>
            </a:r>
            <a:r>
              <a:rPr lang="en-US" altLang="zh-CN" sz="4000" b="1" i="1" u="sng" dirty="0" err="1"/>
              <a:t>Rsm</a:t>
            </a:r>
            <a:r>
              <a:rPr lang="zh-CN" altLang="en-US" sz="4000" b="1" u="sng" dirty="0"/>
              <a:t>或</a:t>
            </a:r>
            <a:r>
              <a:rPr lang="en-US" altLang="zh-CN" sz="4000" b="1" i="1" u="sng" dirty="0" err="1"/>
              <a:t>Rmr</a:t>
            </a:r>
            <a:r>
              <a:rPr lang="en-US" altLang="zh-CN" sz="4000" b="1" u="sng" dirty="0"/>
              <a:t>(</a:t>
            </a:r>
            <a:r>
              <a:rPr lang="en-US" altLang="zh-CN" sz="4000" b="1" i="1" u="sng" dirty="0"/>
              <a:t>c</a:t>
            </a:r>
            <a:r>
              <a:rPr lang="en-US" altLang="zh-CN" sz="4000" b="1" u="sng" dirty="0"/>
              <a:t>)</a:t>
            </a:r>
            <a:r>
              <a:rPr lang="zh-CN" altLang="en-US" sz="4000" b="1" u="sng" dirty="0"/>
              <a:t>及其数值</a:t>
            </a:r>
            <a:r>
              <a:rPr lang="en-US" altLang="zh-CN" sz="4000" b="1" dirty="0"/>
              <a:t>)</a:t>
            </a:r>
          </a:p>
        </p:txBody>
      </p:sp>
      <p:sp>
        <p:nvSpPr>
          <p:cNvPr id="21" name="Text Box 25"/>
          <p:cNvSpPr txBox="1">
            <a:spLocks noChangeArrowheads="1"/>
          </p:cNvSpPr>
          <p:nvPr/>
        </p:nvSpPr>
        <p:spPr bwMode="auto">
          <a:xfrm>
            <a:off x="7542947" y="7983041"/>
            <a:ext cx="5614988"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4000" b="1" dirty="0"/>
              <a:t>表面纹理及方向</a:t>
            </a:r>
          </a:p>
        </p:txBody>
      </p:sp>
      <p:cxnSp>
        <p:nvCxnSpPr>
          <p:cNvPr id="19" name="直接连接符 18"/>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77841"/>
                                        </p:tgtEl>
                                        <p:attrNameLst>
                                          <p:attrName>style.visibility</p:attrName>
                                        </p:attrNameLst>
                                      </p:cBhvr>
                                      <p:to>
                                        <p:strVal val="visible"/>
                                      </p:to>
                                    </p:set>
                                    <p:animEffect transition="in" filter="wipe(left)">
                                      <p:cBhvr>
                                        <p:cTn id="7" dur="300"/>
                                        <p:tgtEl>
                                          <p:spTgt spid="778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7842"/>
                                        </p:tgtEl>
                                        <p:attrNameLst>
                                          <p:attrName>style.visibility</p:attrName>
                                        </p:attrNameLst>
                                      </p:cBhvr>
                                      <p:to>
                                        <p:strVal val="visible"/>
                                      </p:to>
                                    </p:set>
                                    <p:animEffect transition="in" filter="wipe(left)">
                                      <p:cBhvr>
                                        <p:cTn id="12" dur="300"/>
                                        <p:tgtEl>
                                          <p:spTgt spid="778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7852"/>
                                        </p:tgtEl>
                                        <p:attrNameLst>
                                          <p:attrName>style.visibility</p:attrName>
                                        </p:attrNameLst>
                                      </p:cBhvr>
                                      <p:to>
                                        <p:strVal val="visible"/>
                                      </p:to>
                                    </p:set>
                                    <p:animEffect transition="in" filter="wipe(left)">
                                      <p:cBhvr>
                                        <p:cTn id="17" dur="2000"/>
                                        <p:tgtEl>
                                          <p:spTgt spid="778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77845"/>
                                        </p:tgtEl>
                                        <p:attrNameLst>
                                          <p:attrName>style.visibility</p:attrName>
                                        </p:attrNameLst>
                                      </p:cBhvr>
                                      <p:to>
                                        <p:strVal val="visible"/>
                                      </p:to>
                                    </p:set>
                                    <p:animEffect transition="in" filter="wipe(left)">
                                      <p:cBhvr>
                                        <p:cTn id="22" dur="300"/>
                                        <p:tgtEl>
                                          <p:spTgt spid="7784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20"/>
                                        </p:tgtEl>
                                        <p:attrNameLst>
                                          <p:attrName>style.visibility</p:attrName>
                                        </p:attrNameLst>
                                      </p:cBhvr>
                                      <p:to>
                                        <p:strVal val="visible"/>
                                      </p:to>
                                    </p:set>
                                    <p:animEffect transition="in" filter="wipe(left)">
                                      <p:cBhvr>
                                        <p:cTn id="27" dur="3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7853"/>
                                        </p:tgtEl>
                                        <p:attrNameLst>
                                          <p:attrName>style.visibility</p:attrName>
                                        </p:attrNameLst>
                                      </p:cBhvr>
                                      <p:to>
                                        <p:strVal val="visible"/>
                                      </p:to>
                                    </p:set>
                                    <p:animEffect transition="in" filter="wipe(left)">
                                      <p:cBhvr>
                                        <p:cTn id="32" dur="2000"/>
                                        <p:tgtEl>
                                          <p:spTgt spid="7785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77848"/>
                                        </p:tgtEl>
                                        <p:attrNameLst>
                                          <p:attrName>style.visibility</p:attrName>
                                        </p:attrNameLst>
                                      </p:cBhvr>
                                      <p:to>
                                        <p:strVal val="visible"/>
                                      </p:to>
                                    </p:set>
                                    <p:animEffect transition="in" filter="wipe(left)">
                                      <p:cBhvr>
                                        <p:cTn id="37" dur="300"/>
                                        <p:tgtEl>
                                          <p:spTgt spid="7784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iterate type="wd">
                                    <p:tmPct val="100000"/>
                                  </p:iterate>
                                  <p:childTnLst>
                                    <p:set>
                                      <p:cBhvr>
                                        <p:cTn id="41" dur="1" fill="hold">
                                          <p:stCondLst>
                                            <p:cond delay="0"/>
                                          </p:stCondLst>
                                        </p:cTn>
                                        <p:tgtEl>
                                          <p:spTgt spid="77846"/>
                                        </p:tgtEl>
                                        <p:attrNameLst>
                                          <p:attrName>style.visibility</p:attrName>
                                        </p:attrNameLst>
                                      </p:cBhvr>
                                      <p:to>
                                        <p:strVal val="visible"/>
                                      </p:to>
                                    </p:set>
                                    <p:animEffect transition="in" filter="wipe(left)">
                                      <p:cBhvr>
                                        <p:cTn id="42" dur="300"/>
                                        <p:tgtEl>
                                          <p:spTgt spid="7784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77849"/>
                                        </p:tgtEl>
                                        <p:attrNameLst>
                                          <p:attrName>style.visibility</p:attrName>
                                        </p:attrNameLst>
                                      </p:cBhvr>
                                      <p:to>
                                        <p:strVal val="visible"/>
                                      </p:to>
                                    </p:set>
                                    <p:animEffect transition="in" filter="wipe(left)">
                                      <p:cBhvr>
                                        <p:cTn id="47" dur="300"/>
                                        <p:tgtEl>
                                          <p:spTgt spid="7784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iterate type="wd">
                                    <p:tmPct val="100000"/>
                                  </p:iterate>
                                  <p:childTnLst>
                                    <p:set>
                                      <p:cBhvr>
                                        <p:cTn id="51" dur="1" fill="hold">
                                          <p:stCondLst>
                                            <p:cond delay="0"/>
                                          </p:stCondLst>
                                        </p:cTn>
                                        <p:tgtEl>
                                          <p:spTgt spid="21"/>
                                        </p:tgtEl>
                                        <p:attrNameLst>
                                          <p:attrName>style.visibility</p:attrName>
                                        </p:attrNameLst>
                                      </p:cBhvr>
                                      <p:to>
                                        <p:strVal val="visible"/>
                                      </p:to>
                                    </p:set>
                                    <p:animEffect transition="in" filter="wipe(left)">
                                      <p:cBhvr>
                                        <p:cTn id="52" dur="3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iterate type="wd">
                                    <p:tmPct val="100000"/>
                                  </p:iterate>
                                  <p:childTnLst>
                                    <p:set>
                                      <p:cBhvr>
                                        <p:cTn id="56" dur="1" fill="hold">
                                          <p:stCondLst>
                                            <p:cond delay="0"/>
                                          </p:stCondLst>
                                        </p:cTn>
                                        <p:tgtEl>
                                          <p:spTgt spid="77850"/>
                                        </p:tgtEl>
                                        <p:attrNameLst>
                                          <p:attrName>style.visibility</p:attrName>
                                        </p:attrNameLst>
                                      </p:cBhvr>
                                      <p:to>
                                        <p:strVal val="visible"/>
                                      </p:to>
                                    </p:set>
                                    <p:animEffect transition="in" filter="wipe(left)">
                                      <p:cBhvr>
                                        <p:cTn id="57" dur="300"/>
                                        <p:tgtEl>
                                          <p:spTgt spid="77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41" grpId="0" autoUpdateAnimBg="0"/>
      <p:bldP spid="77842" grpId="0" autoUpdateAnimBg="0"/>
      <p:bldP spid="77845" grpId="0" autoUpdateAnimBg="0"/>
      <p:bldP spid="77846" grpId="0" autoUpdateAnimBg="0"/>
      <p:bldP spid="77848" grpId="0" autoUpdateAnimBg="0"/>
      <p:bldP spid="77849" grpId="0" autoUpdateAnimBg="0"/>
      <p:bldP spid="77850" grpId="0" autoUpdateAnimBg="0"/>
      <p:bldP spid="20" grpId="0" autoUpdateAnimBg="0"/>
      <p:bldP spid="2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2" name="Text Box 4"/>
          <p:cNvSpPr txBox="1">
            <a:spLocks noChangeArrowheads="1"/>
          </p:cNvSpPr>
          <p:nvPr/>
        </p:nvSpPr>
        <p:spPr bwMode="auto">
          <a:xfrm>
            <a:off x="805786" y="509880"/>
            <a:ext cx="12355584" cy="757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3600" b="1" dirty="0" smtClean="0"/>
              <a:t>1. </a:t>
            </a:r>
            <a:r>
              <a:rPr lang="zh-CN" altLang="en-US" sz="3600" b="1" dirty="0" smtClean="0"/>
              <a:t>表面粗糙度</a:t>
            </a:r>
            <a:r>
              <a:rPr lang="zh-CN" altLang="en-US" sz="3600" b="1" dirty="0"/>
              <a:t>轮廓技术要求在图形中标注的内容注写的</a:t>
            </a:r>
            <a:r>
              <a:rPr lang="zh-CN" altLang="en-US" sz="3600" b="1" dirty="0" smtClean="0"/>
              <a:t>位置</a:t>
            </a:r>
            <a:endParaRPr lang="zh-CN" altLang="en-US" sz="3600" b="1" dirty="0"/>
          </a:p>
        </p:txBody>
      </p:sp>
      <p:sp>
        <p:nvSpPr>
          <p:cNvPr id="78858" name="Text Box 10"/>
          <p:cNvSpPr txBox="1">
            <a:spLocks noChangeArrowheads="1"/>
          </p:cNvSpPr>
          <p:nvPr/>
        </p:nvSpPr>
        <p:spPr bwMode="auto">
          <a:xfrm>
            <a:off x="2215304" y="8441833"/>
            <a:ext cx="859259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smtClean="0"/>
              <a:t>c </a:t>
            </a:r>
            <a:r>
              <a:rPr lang="en-US" altLang="zh-CN" sz="3200" b="1" dirty="0"/>
              <a:t>— </a:t>
            </a:r>
            <a:r>
              <a:rPr lang="zh-CN" altLang="en-US" sz="3200" b="1" dirty="0"/>
              <a:t>加工方法；</a:t>
            </a:r>
          </a:p>
        </p:txBody>
      </p:sp>
      <p:sp>
        <p:nvSpPr>
          <p:cNvPr id="78859" name="Text Box 11"/>
          <p:cNvSpPr txBox="1">
            <a:spLocks noChangeArrowheads="1"/>
          </p:cNvSpPr>
          <p:nvPr/>
        </p:nvSpPr>
        <p:spPr bwMode="auto">
          <a:xfrm>
            <a:off x="2203769" y="9031019"/>
            <a:ext cx="777967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t>d— </a:t>
            </a:r>
            <a:r>
              <a:rPr lang="zh-CN" altLang="en-US" sz="3200" b="1" dirty="0"/>
              <a:t>表面纹理和纹理方向；</a:t>
            </a:r>
          </a:p>
        </p:txBody>
      </p:sp>
      <p:sp>
        <p:nvSpPr>
          <p:cNvPr id="78860" name="Text Box 12"/>
          <p:cNvSpPr txBox="1">
            <a:spLocks noChangeArrowheads="1"/>
          </p:cNvSpPr>
          <p:nvPr/>
        </p:nvSpPr>
        <p:spPr bwMode="auto">
          <a:xfrm>
            <a:off x="2218759" y="9654204"/>
            <a:ext cx="86491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t>e—  </a:t>
            </a:r>
            <a:r>
              <a:rPr lang="zh-CN" altLang="en-US" sz="3200" b="1" dirty="0"/>
              <a:t>加工余量（</a:t>
            </a:r>
            <a:r>
              <a:rPr lang="en-US" altLang="zh-CN" sz="3200" b="1" dirty="0"/>
              <a:t>mm）。</a:t>
            </a:r>
          </a:p>
        </p:txBody>
      </p:sp>
      <p:sp>
        <p:nvSpPr>
          <p:cNvPr id="2" name="矩形 1"/>
          <p:cNvSpPr>
            <a:spLocks noChangeArrowheads="1"/>
          </p:cNvSpPr>
          <p:nvPr/>
        </p:nvSpPr>
        <p:spPr bwMode="auto">
          <a:xfrm>
            <a:off x="2236461" y="7440613"/>
            <a:ext cx="1072038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b="1" dirty="0"/>
              <a:t>a— </a:t>
            </a:r>
            <a:r>
              <a:rPr lang="zh-CN" altLang="en-US" sz="3200" b="1" dirty="0"/>
              <a:t>表面粗糙度的幅度参数</a:t>
            </a:r>
            <a:r>
              <a:rPr lang="en-US" altLang="zh-CN" sz="3200" b="1" dirty="0"/>
              <a:t>(</a:t>
            </a:r>
            <a:r>
              <a:rPr lang="zh-CN" altLang="en-US" sz="3200" b="1" dirty="0"/>
              <a:t>单位为 </a:t>
            </a:r>
            <a:r>
              <a:rPr lang="en-US" altLang="zh-CN" sz="3200" b="1" dirty="0" err="1"/>
              <a:t>μm</a:t>
            </a:r>
            <a:r>
              <a:rPr lang="en-US" altLang="zh-CN" sz="3200" b="1" dirty="0"/>
              <a:t>);</a:t>
            </a:r>
          </a:p>
          <a:p>
            <a:r>
              <a:rPr lang="en-US" altLang="zh-CN" sz="3200" b="1" dirty="0"/>
              <a:t>b— </a:t>
            </a:r>
            <a:r>
              <a:rPr lang="zh-CN" altLang="en-US" sz="3200" b="1" dirty="0"/>
              <a:t>表面粗糙度的附加参数</a:t>
            </a:r>
            <a:r>
              <a:rPr lang="en-US" altLang="zh-CN" sz="3200" b="1" dirty="0"/>
              <a:t>;</a:t>
            </a:r>
          </a:p>
        </p:txBody>
      </p:sp>
      <p:grpSp>
        <p:nvGrpSpPr>
          <p:cNvPr id="4" name="组合 3"/>
          <p:cNvGrpSpPr/>
          <p:nvPr/>
        </p:nvGrpSpPr>
        <p:grpSpPr bwMode="auto">
          <a:xfrm>
            <a:off x="1722438" y="1815576"/>
            <a:ext cx="10496550" cy="5247002"/>
            <a:chOff x="1721811" y="1862138"/>
            <a:chExt cx="10497804" cy="5246801"/>
          </a:xfrm>
        </p:grpSpPr>
        <p:pic>
          <p:nvPicPr>
            <p:cNvPr id="35849"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21811" y="1862138"/>
              <a:ext cx="10497804" cy="4603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5850" name="矩形 2"/>
            <p:cNvSpPr>
              <a:spLocks noChangeArrowheads="1"/>
            </p:cNvSpPr>
            <p:nvPr/>
          </p:nvSpPr>
          <p:spPr bwMode="auto">
            <a:xfrm>
              <a:off x="5301302" y="6585739"/>
              <a:ext cx="4172774" cy="52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800" b="1" dirty="0" smtClean="0"/>
                <a:t>粗糙度</a:t>
              </a:r>
              <a:r>
                <a:rPr lang="zh-CN" altLang="en-US" sz="2800" b="1" dirty="0"/>
                <a:t>要求的注写位置</a:t>
              </a:r>
            </a:p>
          </p:txBody>
        </p:sp>
      </p:grpSp>
      <p:cxnSp>
        <p:nvCxnSpPr>
          <p:cNvPr id="11" name="直接连接符 10"/>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78852"/>
                                        </p:tgtEl>
                                        <p:attrNameLst>
                                          <p:attrName>style.visibility</p:attrName>
                                        </p:attrNameLst>
                                      </p:cBhvr>
                                      <p:to>
                                        <p:strVal val="visible"/>
                                      </p:to>
                                    </p:set>
                                    <p:animEffect transition="in" filter="wipe(left)">
                                      <p:cBhvr>
                                        <p:cTn id="7" dur="300"/>
                                        <p:tgtEl>
                                          <p:spTgt spid="7885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2250" fill="hold"/>
                                        <p:tgtEl>
                                          <p:spTgt spid="4"/>
                                        </p:tgtEl>
                                        <p:attrNameLst>
                                          <p:attrName>ppt_x</p:attrName>
                                        </p:attrNameLst>
                                      </p:cBhvr>
                                      <p:tavLst>
                                        <p:tav tm="0">
                                          <p:val>
                                            <p:strVal val="0-#ppt_w/2"/>
                                          </p:val>
                                        </p:tav>
                                        <p:tav tm="100000">
                                          <p:val>
                                            <p:strVal val="#ppt_x"/>
                                          </p:val>
                                        </p:tav>
                                      </p:tavLst>
                                    </p:anim>
                                    <p:anim calcmode="lin" valueType="num">
                                      <p:cBhvr additive="base">
                                        <p:cTn id="13" dur="225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78858"/>
                                        </p:tgtEl>
                                        <p:attrNameLst>
                                          <p:attrName>style.visibility</p:attrName>
                                        </p:attrNameLst>
                                      </p:cBhvr>
                                      <p:to>
                                        <p:strVal val="visible"/>
                                      </p:to>
                                    </p:set>
                                    <p:animEffect transition="in" filter="wipe(left)">
                                      <p:cBhvr>
                                        <p:cTn id="23" dur="300"/>
                                        <p:tgtEl>
                                          <p:spTgt spid="7885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78859"/>
                                        </p:tgtEl>
                                        <p:attrNameLst>
                                          <p:attrName>style.visibility</p:attrName>
                                        </p:attrNameLst>
                                      </p:cBhvr>
                                      <p:to>
                                        <p:strVal val="visible"/>
                                      </p:to>
                                    </p:set>
                                    <p:animEffect transition="in" filter="wipe(left)">
                                      <p:cBhvr>
                                        <p:cTn id="28" dur="300"/>
                                        <p:tgtEl>
                                          <p:spTgt spid="7885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78860"/>
                                        </p:tgtEl>
                                        <p:attrNameLst>
                                          <p:attrName>style.visibility</p:attrName>
                                        </p:attrNameLst>
                                      </p:cBhvr>
                                      <p:to>
                                        <p:strVal val="visible"/>
                                      </p:to>
                                    </p:set>
                                    <p:animEffect transition="in" filter="wipe(left)">
                                      <p:cBhvr>
                                        <p:cTn id="33" dur="300"/>
                                        <p:tgtEl>
                                          <p:spTgt spid="78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autoUpdateAnimBg="0"/>
      <p:bldP spid="78858" grpId="0" autoUpdateAnimBg="0"/>
      <p:bldP spid="78859" grpId="0" autoUpdateAnimBg="0"/>
      <p:bldP spid="78860" grpId="0" autoUpdateAnimBg="0"/>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Text Box 4"/>
          <p:cNvSpPr txBox="1">
            <a:spLocks noChangeArrowheads="1"/>
          </p:cNvSpPr>
          <p:nvPr/>
        </p:nvSpPr>
        <p:spPr bwMode="auto">
          <a:xfrm>
            <a:off x="325438" y="306388"/>
            <a:ext cx="144907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4000" b="1" dirty="0"/>
              <a:t>2. 表面粗糙度轮廓要求在图形中注</a:t>
            </a:r>
            <a:r>
              <a:rPr lang="zh-CN" altLang="en-US" sz="4000" b="1" dirty="0" smtClean="0"/>
              <a:t>法</a:t>
            </a:r>
            <a:endParaRPr lang="zh-CN" altLang="en-US" sz="4000" b="1" dirty="0"/>
          </a:p>
        </p:txBody>
      </p:sp>
      <p:grpSp>
        <p:nvGrpSpPr>
          <p:cNvPr id="2" name="Group 13"/>
          <p:cNvGrpSpPr/>
          <p:nvPr/>
        </p:nvGrpSpPr>
        <p:grpSpPr bwMode="auto">
          <a:xfrm>
            <a:off x="866306" y="2190749"/>
            <a:ext cx="13930781" cy="7147269"/>
            <a:chOff x="617" y="741"/>
            <a:chExt cx="8388" cy="4162"/>
          </a:xfrm>
        </p:grpSpPr>
        <p:pic>
          <p:nvPicPr>
            <p:cNvPr id="36871" name="Picture 11"/>
            <p:cNvPicPr>
              <a:picLocks noChangeAspect="1" noChangeArrowheads="1"/>
            </p:cNvPicPr>
            <p:nvPr/>
          </p:nvPicPr>
          <p:blipFill rotWithShape="1">
            <a:blip r:embed="rId3">
              <a:extLst>
                <a:ext uri="{28A0092B-C50C-407E-A947-70E740481C1C}">
                  <a14:useLocalDpi xmlns:a14="http://schemas.microsoft.com/office/drawing/2010/main" val="0"/>
                </a:ext>
              </a:extLst>
            </a:blip>
            <a:srcRect r="3455"/>
            <a:stretch/>
          </p:blipFill>
          <p:spPr bwMode="auto">
            <a:xfrm>
              <a:off x="617" y="741"/>
              <a:ext cx="8388" cy="3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872" name="Text Box 12"/>
            <p:cNvSpPr txBox="1">
              <a:spLocks noChangeArrowheads="1"/>
            </p:cNvSpPr>
            <p:nvPr/>
          </p:nvSpPr>
          <p:spPr bwMode="auto">
            <a:xfrm>
              <a:off x="2161" y="4535"/>
              <a:ext cx="5552"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smtClean="0"/>
                <a:t>表面粗糙度</a:t>
              </a:r>
              <a:r>
                <a:rPr lang="zh-CN" altLang="en-US" sz="2800" b="1" dirty="0"/>
                <a:t>轮廓单一要求（幅度参数）标注示例</a:t>
              </a:r>
            </a:p>
          </p:txBody>
        </p:sp>
      </p:grpSp>
      <p:cxnSp>
        <p:nvCxnSpPr>
          <p:cNvPr id="9" name="直接连接符 8"/>
          <p:cNvCxnSpPr/>
          <p:nvPr/>
        </p:nvCxnSpPr>
        <p:spPr bwMode="auto">
          <a:xfrm flipV="1">
            <a:off x="459854" y="1217811"/>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79876"/>
                                        </p:tgtEl>
                                        <p:attrNameLst>
                                          <p:attrName>style.visibility</p:attrName>
                                        </p:attrNameLst>
                                      </p:cBhvr>
                                      <p:to>
                                        <p:strVal val="visible"/>
                                      </p:to>
                                    </p:set>
                                    <p:animEffect transition="in" filter="wipe(left)">
                                      <p:cBhvr>
                                        <p:cTn id="7" dur="300"/>
                                        <p:tgtEl>
                                          <p:spTgt spid="7987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3000" fill="hold"/>
                                        <p:tgtEl>
                                          <p:spTgt spid="2"/>
                                        </p:tgtEl>
                                        <p:attrNameLst>
                                          <p:attrName>ppt_x</p:attrName>
                                        </p:attrNameLst>
                                      </p:cBhvr>
                                      <p:tavLst>
                                        <p:tav tm="0">
                                          <p:val>
                                            <p:strVal val="0-#ppt_w/2"/>
                                          </p:val>
                                        </p:tav>
                                        <p:tav tm="100000">
                                          <p:val>
                                            <p:strVal val="#ppt_x"/>
                                          </p:val>
                                        </p:tav>
                                      </p:tavLst>
                                    </p:anim>
                                    <p:anim calcmode="lin" valueType="num">
                                      <p:cBhvr additive="base">
                                        <p:cTn id="13" dur="30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6"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4"/>
          <p:cNvSpPr txBox="1">
            <a:spLocks noChangeArrowheads="1"/>
          </p:cNvSpPr>
          <p:nvPr/>
        </p:nvSpPr>
        <p:spPr bwMode="auto">
          <a:xfrm>
            <a:off x="701802" y="563350"/>
            <a:ext cx="77376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smtClean="0"/>
              <a:t>3.  </a:t>
            </a:r>
            <a:r>
              <a:rPr lang="zh-CN" altLang="en-US" sz="3600" b="1" dirty="0" smtClean="0"/>
              <a:t>表面粗糙度</a:t>
            </a:r>
            <a:r>
              <a:rPr lang="zh-CN" altLang="en-US" sz="3600" b="1" dirty="0"/>
              <a:t>轮廓参数值的</a:t>
            </a:r>
            <a:r>
              <a:rPr lang="zh-CN" altLang="en-US" sz="3600" b="1" dirty="0" smtClean="0"/>
              <a:t>标注示例</a:t>
            </a:r>
            <a:endParaRPr lang="zh-CN" altLang="en-US" sz="3600" b="1" dirty="0"/>
          </a:p>
        </p:txBody>
      </p:sp>
      <p:sp>
        <p:nvSpPr>
          <p:cNvPr id="6" name="Text Box 15"/>
          <p:cNvSpPr txBox="1">
            <a:spLocks noChangeArrowheads="1"/>
          </p:cNvSpPr>
          <p:nvPr/>
        </p:nvSpPr>
        <p:spPr bwMode="auto">
          <a:xfrm>
            <a:off x="1236139" y="1789105"/>
            <a:ext cx="657383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a:t>
            </a:r>
            <a:r>
              <a:rPr lang="en-US" altLang="zh-CN" sz="3200" b="1" dirty="0"/>
              <a:t>1</a:t>
            </a:r>
            <a:r>
              <a:rPr lang="zh-CN" altLang="en-US" sz="3200" b="1" dirty="0"/>
              <a:t>）只标一个参数值时</a:t>
            </a:r>
          </a:p>
        </p:txBody>
      </p:sp>
      <p:grpSp>
        <p:nvGrpSpPr>
          <p:cNvPr id="10" name="Group 28"/>
          <p:cNvGrpSpPr/>
          <p:nvPr/>
        </p:nvGrpSpPr>
        <p:grpSpPr bwMode="auto">
          <a:xfrm>
            <a:off x="1410217" y="2868006"/>
            <a:ext cx="3885318" cy="2245097"/>
            <a:chOff x="4215" y="4284"/>
            <a:chExt cx="1968" cy="1194"/>
          </a:xfrm>
        </p:grpSpPr>
        <p:sp>
          <p:nvSpPr>
            <p:cNvPr id="12" name="Text Box 22"/>
            <p:cNvSpPr txBox="1">
              <a:spLocks noChangeArrowheads="1"/>
            </p:cNvSpPr>
            <p:nvPr/>
          </p:nvSpPr>
          <p:spPr bwMode="auto">
            <a:xfrm>
              <a:off x="5252" y="4346"/>
              <a:ext cx="931"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i="1" dirty="0"/>
                <a:t>Ra</a:t>
              </a:r>
              <a:r>
                <a:rPr lang="en-US" altLang="zh-CN" sz="4000" b="1" dirty="0"/>
                <a:t>  3.2</a:t>
              </a:r>
            </a:p>
          </p:txBody>
        </p:sp>
        <p:grpSp>
          <p:nvGrpSpPr>
            <p:cNvPr id="13" name="Group 24"/>
            <p:cNvGrpSpPr/>
            <p:nvPr/>
          </p:nvGrpSpPr>
          <p:grpSpPr bwMode="auto">
            <a:xfrm>
              <a:off x="4215" y="4284"/>
              <a:ext cx="1869" cy="1194"/>
              <a:chOff x="3821" y="4411"/>
              <a:chExt cx="1869" cy="1194"/>
            </a:xfrm>
          </p:grpSpPr>
          <p:sp>
            <p:nvSpPr>
              <p:cNvPr id="14" name="AutoShape 25"/>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26"/>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27"/>
              <p:cNvSpPr>
                <a:spLocks noChangeShapeType="1"/>
              </p:cNvSpPr>
              <p:nvPr/>
            </p:nvSpPr>
            <p:spPr bwMode="auto">
              <a:xfrm>
                <a:off x="4833" y="4411"/>
                <a:ext cx="85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8" name="Group 29"/>
          <p:cNvGrpSpPr/>
          <p:nvPr/>
        </p:nvGrpSpPr>
        <p:grpSpPr bwMode="auto">
          <a:xfrm>
            <a:off x="5853587" y="2882078"/>
            <a:ext cx="4060596" cy="2515106"/>
            <a:chOff x="815" y="5619"/>
            <a:chExt cx="1913" cy="1194"/>
          </a:xfrm>
        </p:grpSpPr>
        <p:grpSp>
          <p:nvGrpSpPr>
            <p:cNvPr id="20" name="Group 21"/>
            <p:cNvGrpSpPr/>
            <p:nvPr/>
          </p:nvGrpSpPr>
          <p:grpSpPr bwMode="auto">
            <a:xfrm>
              <a:off x="815" y="5619"/>
              <a:ext cx="1869" cy="1194"/>
              <a:chOff x="3821" y="4411"/>
              <a:chExt cx="1869" cy="1194"/>
            </a:xfrm>
          </p:grpSpPr>
          <p:sp>
            <p:nvSpPr>
              <p:cNvPr id="22" name="AutoShape 18"/>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19"/>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20"/>
              <p:cNvSpPr>
                <a:spLocks noChangeShapeType="1"/>
              </p:cNvSpPr>
              <p:nvPr/>
            </p:nvSpPr>
            <p:spPr bwMode="auto">
              <a:xfrm>
                <a:off x="4833" y="4411"/>
                <a:ext cx="85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1" name="Text Box 23"/>
            <p:cNvSpPr txBox="1">
              <a:spLocks noChangeArrowheads="1"/>
            </p:cNvSpPr>
            <p:nvPr/>
          </p:nvSpPr>
          <p:spPr bwMode="auto">
            <a:xfrm>
              <a:off x="1838" y="5709"/>
              <a:ext cx="890"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i="1" dirty="0" err="1"/>
                <a:t>Rz</a:t>
              </a:r>
              <a:r>
                <a:rPr lang="en-US" altLang="zh-CN" sz="4000" b="1" dirty="0"/>
                <a:t>  1.6</a:t>
              </a:r>
            </a:p>
          </p:txBody>
        </p:sp>
      </p:grpSp>
      <p:pic>
        <p:nvPicPr>
          <p:cNvPr id="26" name="Picture 3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196145" y="3165651"/>
            <a:ext cx="4345249" cy="1920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8" name="直接连接符 27"/>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 name="Group 20"/>
          <p:cNvGrpSpPr/>
          <p:nvPr/>
        </p:nvGrpSpPr>
        <p:grpSpPr bwMode="auto">
          <a:xfrm>
            <a:off x="2381250" y="7324882"/>
            <a:ext cx="4725614" cy="2529214"/>
            <a:chOff x="6654" y="2587"/>
            <a:chExt cx="1978" cy="1194"/>
          </a:xfrm>
        </p:grpSpPr>
        <p:grpSp>
          <p:nvGrpSpPr>
            <p:cNvPr id="32" name="Group 12"/>
            <p:cNvGrpSpPr/>
            <p:nvPr/>
          </p:nvGrpSpPr>
          <p:grpSpPr bwMode="auto">
            <a:xfrm>
              <a:off x="6654" y="2587"/>
              <a:ext cx="1869" cy="1194"/>
              <a:chOff x="3821" y="4411"/>
              <a:chExt cx="1869" cy="1194"/>
            </a:xfrm>
          </p:grpSpPr>
          <p:sp>
            <p:nvSpPr>
              <p:cNvPr id="34" name="AutoShape 13"/>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14"/>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15"/>
              <p:cNvSpPr>
                <a:spLocks noChangeShapeType="1"/>
              </p:cNvSpPr>
              <p:nvPr/>
            </p:nvSpPr>
            <p:spPr bwMode="auto">
              <a:xfrm>
                <a:off x="4833" y="4411"/>
                <a:ext cx="85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 name="Text Box 16"/>
            <p:cNvSpPr txBox="1">
              <a:spLocks noChangeArrowheads="1"/>
            </p:cNvSpPr>
            <p:nvPr/>
          </p:nvSpPr>
          <p:spPr bwMode="auto">
            <a:xfrm>
              <a:off x="7677" y="2677"/>
              <a:ext cx="955"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dirty="0" err="1"/>
                <a:t>U</a:t>
              </a:r>
              <a:r>
                <a:rPr lang="en-US" altLang="zh-CN" sz="4000" b="1" i="1" dirty="0" err="1"/>
                <a:t>Ra</a:t>
              </a:r>
              <a:r>
                <a:rPr lang="en-US" altLang="zh-CN" sz="4000" b="1" dirty="0"/>
                <a:t>  6.3</a:t>
              </a:r>
            </a:p>
            <a:p>
              <a:pPr eaLnBrk="1" hangingPunct="1"/>
              <a:r>
                <a:rPr lang="en-US" altLang="zh-CN" sz="4000" b="1" dirty="0" err="1"/>
                <a:t>L</a:t>
              </a:r>
              <a:r>
                <a:rPr lang="en-US" altLang="zh-CN" sz="4000" b="1" i="1" dirty="0" err="1"/>
                <a:t>Rz</a:t>
              </a:r>
              <a:r>
                <a:rPr lang="en-US" altLang="zh-CN" sz="4000" b="1" i="1" dirty="0"/>
                <a:t>   </a:t>
              </a:r>
              <a:r>
                <a:rPr lang="en-US" altLang="zh-CN" sz="4000" b="1" dirty="0"/>
                <a:t>3.2</a:t>
              </a:r>
            </a:p>
          </p:txBody>
        </p:sp>
      </p:grpSp>
      <p:grpSp>
        <p:nvGrpSpPr>
          <p:cNvPr id="38" name="Group 28"/>
          <p:cNvGrpSpPr/>
          <p:nvPr/>
        </p:nvGrpSpPr>
        <p:grpSpPr bwMode="auto">
          <a:xfrm>
            <a:off x="8761517" y="7265234"/>
            <a:ext cx="4179751" cy="2495071"/>
            <a:chOff x="6008" y="2123"/>
            <a:chExt cx="1886" cy="1194"/>
          </a:xfrm>
        </p:grpSpPr>
        <p:grpSp>
          <p:nvGrpSpPr>
            <p:cNvPr id="40" name="Group 23"/>
            <p:cNvGrpSpPr/>
            <p:nvPr/>
          </p:nvGrpSpPr>
          <p:grpSpPr bwMode="auto">
            <a:xfrm>
              <a:off x="6008" y="2123"/>
              <a:ext cx="1869" cy="1194"/>
              <a:chOff x="3821" y="4411"/>
              <a:chExt cx="1869" cy="1194"/>
            </a:xfrm>
          </p:grpSpPr>
          <p:sp>
            <p:nvSpPr>
              <p:cNvPr id="42" name="AutoShape 24"/>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25"/>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6"/>
              <p:cNvSpPr>
                <a:spLocks noChangeShapeType="1"/>
              </p:cNvSpPr>
              <p:nvPr/>
            </p:nvSpPr>
            <p:spPr bwMode="auto">
              <a:xfrm>
                <a:off x="4833" y="4411"/>
                <a:ext cx="85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1" name="Text Box 27"/>
            <p:cNvSpPr txBox="1">
              <a:spLocks noChangeArrowheads="1"/>
            </p:cNvSpPr>
            <p:nvPr/>
          </p:nvSpPr>
          <p:spPr bwMode="auto">
            <a:xfrm>
              <a:off x="7031" y="2213"/>
              <a:ext cx="863" cy="6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i="1" dirty="0" err="1"/>
                <a:t>Rz</a:t>
              </a:r>
              <a:r>
                <a:rPr lang="en-US" altLang="zh-CN" sz="4000" b="1" dirty="0"/>
                <a:t>  3.2</a:t>
              </a:r>
            </a:p>
            <a:p>
              <a:pPr eaLnBrk="1" hangingPunct="1"/>
              <a:r>
                <a:rPr lang="en-US" altLang="zh-CN" sz="4000" b="1" i="1" dirty="0" err="1"/>
                <a:t>Rz</a:t>
              </a:r>
              <a:r>
                <a:rPr lang="en-US" altLang="zh-CN" sz="4000" b="1" i="1" dirty="0"/>
                <a:t>  </a:t>
              </a:r>
              <a:r>
                <a:rPr lang="en-US" altLang="zh-CN" sz="4000" b="1" dirty="0"/>
                <a:t>1.6</a:t>
              </a:r>
            </a:p>
          </p:txBody>
        </p:sp>
      </p:grpSp>
      <p:sp>
        <p:nvSpPr>
          <p:cNvPr id="45" name="Text Box 18"/>
          <p:cNvSpPr txBox="1">
            <a:spLocks noChangeArrowheads="1"/>
          </p:cNvSpPr>
          <p:nvPr/>
        </p:nvSpPr>
        <p:spPr bwMode="auto">
          <a:xfrm>
            <a:off x="1242152" y="6206205"/>
            <a:ext cx="66389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a:t>
            </a:r>
            <a:r>
              <a:rPr lang="en-US" altLang="zh-CN" sz="3200" b="1" dirty="0"/>
              <a:t>2</a:t>
            </a:r>
            <a:r>
              <a:rPr lang="zh-CN" altLang="en-US" sz="3200" b="1" dirty="0"/>
              <a:t>）同时标注上、下限时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5"/>
                                        </p:tgtEl>
                                        <p:attrNameLst>
                                          <p:attrName>style.visibility</p:attrName>
                                        </p:attrNameLst>
                                      </p:cBhvr>
                                      <p:to>
                                        <p:strVal val="visible"/>
                                      </p:to>
                                    </p:set>
                                    <p:animEffect transition="in" filter="wipe(left)">
                                      <p:cBhvr>
                                        <p:cTn id="1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9"/>
          <p:cNvSpPr txBox="1">
            <a:spLocks noChangeArrowheads="1"/>
          </p:cNvSpPr>
          <p:nvPr/>
        </p:nvSpPr>
        <p:spPr bwMode="auto">
          <a:xfrm>
            <a:off x="674662" y="657928"/>
            <a:ext cx="65500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smtClean="0"/>
              <a:t>4. </a:t>
            </a:r>
            <a:r>
              <a:rPr lang="zh-CN" altLang="en-US" sz="3200" b="1" dirty="0"/>
              <a:t>极限值判断规则的</a:t>
            </a:r>
            <a:r>
              <a:rPr lang="zh-CN" altLang="en-US" sz="3200" b="1" dirty="0" smtClean="0"/>
              <a:t>标注示例</a:t>
            </a:r>
            <a:endParaRPr lang="zh-CN" altLang="en-US" sz="3200" b="1" dirty="0"/>
          </a:p>
        </p:txBody>
      </p:sp>
      <p:sp>
        <p:nvSpPr>
          <p:cNvPr id="6" name="Text Box 30"/>
          <p:cNvSpPr txBox="1">
            <a:spLocks noChangeArrowheads="1"/>
          </p:cNvSpPr>
          <p:nvPr/>
        </p:nvSpPr>
        <p:spPr bwMode="auto">
          <a:xfrm>
            <a:off x="898082" y="1869322"/>
            <a:ext cx="13327584" cy="127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3200" b="1" dirty="0"/>
              <a:t>(1)  </a:t>
            </a:r>
            <a:r>
              <a:rPr lang="en-US" altLang="zh-CN" sz="3200" b="1" dirty="0">
                <a:solidFill>
                  <a:srgbClr val="FF0000"/>
                </a:solidFill>
              </a:rPr>
              <a:t> 16%</a:t>
            </a:r>
            <a:r>
              <a:rPr lang="zh-CN" altLang="en-US" sz="3200" b="1" dirty="0" smtClean="0">
                <a:solidFill>
                  <a:srgbClr val="FF0000"/>
                </a:solidFill>
              </a:rPr>
              <a:t>规则</a:t>
            </a:r>
            <a:r>
              <a:rPr lang="en-US" altLang="zh-CN" sz="3200" b="1" dirty="0" smtClean="0"/>
              <a:t>(</a:t>
            </a:r>
            <a:r>
              <a:rPr lang="zh-CN" altLang="en-US" sz="3200" b="1" dirty="0" smtClean="0"/>
              <a:t>默认</a:t>
            </a:r>
            <a:r>
              <a:rPr lang="en-US" altLang="zh-CN" sz="3200" b="1" dirty="0" smtClean="0"/>
              <a:t>): </a:t>
            </a:r>
            <a:r>
              <a:rPr lang="zh-CN" altLang="en-US" sz="3200" b="1" dirty="0" smtClean="0"/>
              <a:t>同一评定长度内幅度参数所有实测值中，大于上限值的个数少于总数的</a:t>
            </a:r>
            <a:r>
              <a:rPr lang="en-US" altLang="zh-CN" sz="3200" b="1" dirty="0" smtClean="0"/>
              <a:t>16%</a:t>
            </a:r>
            <a:r>
              <a:rPr lang="zh-CN" altLang="en-US" sz="3200" b="1" dirty="0" smtClean="0"/>
              <a:t>，且小于下限值的个数少于总数的</a:t>
            </a:r>
            <a:r>
              <a:rPr lang="en-US" altLang="zh-CN" sz="3200" b="1" dirty="0" smtClean="0"/>
              <a:t>16%</a:t>
            </a:r>
            <a:r>
              <a:rPr lang="zh-CN" altLang="en-US" sz="3200" b="1" dirty="0" smtClean="0"/>
              <a:t>，为合格。</a:t>
            </a:r>
            <a:endParaRPr lang="zh-CN" altLang="en-US" sz="3200" b="1" dirty="0"/>
          </a:p>
        </p:txBody>
      </p:sp>
      <p:grpSp>
        <p:nvGrpSpPr>
          <p:cNvPr id="8" name="Group 45"/>
          <p:cNvGrpSpPr/>
          <p:nvPr/>
        </p:nvGrpSpPr>
        <p:grpSpPr bwMode="auto">
          <a:xfrm>
            <a:off x="1245375" y="3596582"/>
            <a:ext cx="3748001" cy="2183758"/>
            <a:chOff x="4215" y="4284"/>
            <a:chExt cx="1985" cy="1194"/>
          </a:xfrm>
        </p:grpSpPr>
        <p:sp>
          <p:nvSpPr>
            <p:cNvPr id="10" name="Text Box 46"/>
            <p:cNvSpPr txBox="1">
              <a:spLocks noChangeArrowheads="1"/>
            </p:cNvSpPr>
            <p:nvPr/>
          </p:nvSpPr>
          <p:spPr bwMode="auto">
            <a:xfrm>
              <a:off x="5252" y="4346"/>
              <a:ext cx="94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i="1" dirty="0"/>
                <a:t>Ra</a:t>
              </a:r>
              <a:r>
                <a:rPr lang="en-US" altLang="zh-CN" sz="3600" b="1" dirty="0"/>
                <a:t>  3.2</a:t>
              </a:r>
            </a:p>
          </p:txBody>
        </p:sp>
        <p:grpSp>
          <p:nvGrpSpPr>
            <p:cNvPr id="11" name="Group 47"/>
            <p:cNvGrpSpPr/>
            <p:nvPr/>
          </p:nvGrpSpPr>
          <p:grpSpPr bwMode="auto">
            <a:xfrm>
              <a:off x="4215" y="4284"/>
              <a:ext cx="1869" cy="1194"/>
              <a:chOff x="3821" y="4411"/>
              <a:chExt cx="1869" cy="1194"/>
            </a:xfrm>
          </p:grpSpPr>
          <p:sp>
            <p:nvSpPr>
              <p:cNvPr id="12" name="AutoShape 48"/>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49"/>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50"/>
              <p:cNvSpPr>
                <a:spLocks noChangeShapeType="1"/>
              </p:cNvSpPr>
              <p:nvPr/>
            </p:nvSpPr>
            <p:spPr bwMode="auto">
              <a:xfrm>
                <a:off x="4833" y="4411"/>
                <a:ext cx="85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6" name="Group 33"/>
          <p:cNvGrpSpPr/>
          <p:nvPr/>
        </p:nvGrpSpPr>
        <p:grpSpPr bwMode="auto">
          <a:xfrm>
            <a:off x="4958340" y="3582386"/>
            <a:ext cx="3431915" cy="2136904"/>
            <a:chOff x="6008" y="2123"/>
            <a:chExt cx="1961" cy="1194"/>
          </a:xfrm>
        </p:grpSpPr>
        <p:grpSp>
          <p:nvGrpSpPr>
            <p:cNvPr id="18" name="Group 34"/>
            <p:cNvGrpSpPr/>
            <p:nvPr/>
          </p:nvGrpSpPr>
          <p:grpSpPr bwMode="auto">
            <a:xfrm>
              <a:off x="6008" y="2123"/>
              <a:ext cx="1869" cy="1194"/>
              <a:chOff x="3821" y="4411"/>
              <a:chExt cx="1869" cy="1194"/>
            </a:xfrm>
          </p:grpSpPr>
          <p:sp>
            <p:nvSpPr>
              <p:cNvPr id="20" name="AutoShape 35"/>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36"/>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37"/>
              <p:cNvSpPr>
                <a:spLocks noChangeShapeType="1"/>
              </p:cNvSpPr>
              <p:nvPr/>
            </p:nvSpPr>
            <p:spPr bwMode="auto">
              <a:xfrm>
                <a:off x="4833" y="4411"/>
                <a:ext cx="85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9" name="Text Box 38"/>
            <p:cNvSpPr txBox="1">
              <a:spLocks noChangeArrowheads="1"/>
            </p:cNvSpPr>
            <p:nvPr/>
          </p:nvSpPr>
          <p:spPr bwMode="auto">
            <a:xfrm>
              <a:off x="7031" y="2213"/>
              <a:ext cx="938" cy="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i="1" dirty="0" err="1"/>
                <a:t>Rz</a:t>
              </a:r>
              <a:r>
                <a:rPr lang="en-US" altLang="zh-CN" sz="3600" b="1" dirty="0"/>
                <a:t>  3.2</a:t>
              </a:r>
            </a:p>
            <a:p>
              <a:pPr eaLnBrk="1" hangingPunct="1"/>
              <a:r>
                <a:rPr lang="en-US" altLang="zh-CN" sz="3600" b="1" i="1" dirty="0" err="1"/>
                <a:t>Rz</a:t>
              </a:r>
              <a:r>
                <a:rPr lang="en-US" altLang="zh-CN" sz="3600" b="1" i="1" dirty="0"/>
                <a:t>  </a:t>
              </a:r>
              <a:r>
                <a:rPr lang="en-US" altLang="zh-CN" sz="3600" b="1" dirty="0"/>
                <a:t>1.6</a:t>
              </a:r>
            </a:p>
          </p:txBody>
        </p:sp>
      </p:grpSp>
      <p:grpSp>
        <p:nvGrpSpPr>
          <p:cNvPr id="24" name="Group 39"/>
          <p:cNvGrpSpPr/>
          <p:nvPr/>
        </p:nvGrpSpPr>
        <p:grpSpPr bwMode="auto">
          <a:xfrm>
            <a:off x="8801115" y="3621254"/>
            <a:ext cx="4291397" cy="2401899"/>
            <a:chOff x="6654" y="2587"/>
            <a:chExt cx="2350" cy="1194"/>
          </a:xfrm>
        </p:grpSpPr>
        <p:grpSp>
          <p:nvGrpSpPr>
            <p:cNvPr id="26" name="Group 40"/>
            <p:cNvGrpSpPr/>
            <p:nvPr/>
          </p:nvGrpSpPr>
          <p:grpSpPr bwMode="auto">
            <a:xfrm>
              <a:off x="6654" y="2587"/>
              <a:ext cx="1869" cy="1194"/>
              <a:chOff x="3821" y="4411"/>
              <a:chExt cx="1869" cy="1194"/>
            </a:xfrm>
          </p:grpSpPr>
          <p:sp>
            <p:nvSpPr>
              <p:cNvPr id="28" name="AutoShape 41"/>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42"/>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43"/>
              <p:cNvSpPr>
                <a:spLocks noChangeShapeType="1"/>
              </p:cNvSpPr>
              <p:nvPr/>
            </p:nvSpPr>
            <p:spPr bwMode="auto">
              <a:xfrm>
                <a:off x="4833" y="4411"/>
                <a:ext cx="85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7" name="Text Box 44"/>
            <p:cNvSpPr txBox="1">
              <a:spLocks noChangeArrowheads="1"/>
            </p:cNvSpPr>
            <p:nvPr/>
          </p:nvSpPr>
          <p:spPr bwMode="auto">
            <a:xfrm>
              <a:off x="7677" y="2677"/>
              <a:ext cx="1327" cy="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err="1"/>
                <a:t>U</a:t>
              </a:r>
              <a:r>
                <a:rPr lang="en-US" altLang="zh-CN" sz="3600" b="1" i="1" dirty="0" err="1"/>
                <a:t>Ra</a:t>
              </a:r>
              <a:r>
                <a:rPr lang="en-US" altLang="zh-CN" sz="3600" b="1" dirty="0"/>
                <a:t>  6.3</a:t>
              </a:r>
            </a:p>
            <a:p>
              <a:pPr eaLnBrk="1" hangingPunct="1"/>
              <a:r>
                <a:rPr lang="en-US" altLang="zh-CN" sz="3600" b="1" dirty="0" err="1"/>
                <a:t>L</a:t>
              </a:r>
              <a:r>
                <a:rPr lang="en-US" altLang="zh-CN" sz="3600" b="1" i="1" dirty="0" err="1"/>
                <a:t>Rz</a:t>
              </a:r>
              <a:r>
                <a:rPr lang="en-US" altLang="zh-CN" sz="3600" b="1" i="1" dirty="0"/>
                <a:t>   </a:t>
              </a:r>
              <a:r>
                <a:rPr lang="en-US" altLang="zh-CN" sz="3600" b="1" dirty="0"/>
                <a:t>3.2</a:t>
              </a:r>
            </a:p>
          </p:txBody>
        </p:sp>
      </p:grpSp>
      <p:cxnSp>
        <p:nvCxnSpPr>
          <p:cNvPr id="34" name="直接连接符 33"/>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6"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73966" y="7684957"/>
            <a:ext cx="5567155" cy="2151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99815" y="7774897"/>
            <a:ext cx="5612177" cy="214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Text Box 11"/>
          <p:cNvSpPr txBox="1">
            <a:spLocks noChangeArrowheads="1"/>
          </p:cNvSpPr>
          <p:nvPr/>
        </p:nvSpPr>
        <p:spPr bwMode="auto">
          <a:xfrm>
            <a:off x="790938" y="6424844"/>
            <a:ext cx="1364896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dirty="0"/>
              <a:t>（</a:t>
            </a:r>
            <a:r>
              <a:rPr lang="en-US" altLang="zh-CN" sz="3200" b="1" dirty="0"/>
              <a:t>2</a:t>
            </a:r>
            <a:r>
              <a:rPr lang="zh-CN" altLang="en-US" sz="3200" b="1" dirty="0"/>
              <a:t>）  </a:t>
            </a:r>
            <a:r>
              <a:rPr lang="zh-CN" altLang="en-US" sz="3200" b="1" dirty="0">
                <a:solidFill>
                  <a:srgbClr val="FF0000"/>
                </a:solidFill>
              </a:rPr>
              <a:t>最大</a:t>
            </a:r>
            <a:r>
              <a:rPr lang="zh-CN" altLang="en-US" sz="3200" b="1" dirty="0" smtClean="0">
                <a:solidFill>
                  <a:srgbClr val="FF0000"/>
                </a:solidFill>
              </a:rPr>
              <a:t>规则 </a:t>
            </a:r>
            <a:r>
              <a:rPr lang="en-US" altLang="zh-CN" sz="3200" b="1" dirty="0" smtClean="0"/>
              <a:t>(max): </a:t>
            </a:r>
            <a:r>
              <a:rPr lang="zh-CN" altLang="en-US" sz="3200" b="1" dirty="0" smtClean="0"/>
              <a:t>在整个被测表面上，幅度参数所有实测值都不大于上限值。</a:t>
            </a:r>
            <a:endParaRPr lang="zh-CN" altLang="en-US"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left)">
                                      <p:cBhvr>
                                        <p:cTn id="16"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16"/>
          <p:cNvSpPr txBox="1">
            <a:spLocks noChangeArrowheads="1"/>
          </p:cNvSpPr>
          <p:nvPr/>
        </p:nvSpPr>
        <p:spPr bwMode="auto">
          <a:xfrm>
            <a:off x="748728" y="729600"/>
            <a:ext cx="981933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smtClean="0"/>
              <a:t>5</a:t>
            </a:r>
            <a:r>
              <a:rPr lang="zh-CN" altLang="en-US" sz="3600" b="1" dirty="0" smtClean="0"/>
              <a:t>、</a:t>
            </a:r>
            <a:r>
              <a:rPr lang="zh-CN" altLang="en-US" sz="3600" b="1" dirty="0"/>
              <a:t>传输带、取样长度和评定长度的</a:t>
            </a:r>
            <a:r>
              <a:rPr lang="zh-CN" altLang="en-US" sz="3600" b="1" dirty="0" smtClean="0"/>
              <a:t>标注示例</a:t>
            </a:r>
            <a:endParaRPr lang="en-US" altLang="zh-CN" sz="3600" b="1" dirty="0" smtClean="0"/>
          </a:p>
        </p:txBody>
      </p:sp>
      <p:sp>
        <p:nvSpPr>
          <p:cNvPr id="6" name="Text Box 17"/>
          <p:cNvSpPr txBox="1">
            <a:spLocks noChangeArrowheads="1"/>
          </p:cNvSpPr>
          <p:nvPr/>
        </p:nvSpPr>
        <p:spPr bwMode="auto">
          <a:xfrm>
            <a:off x="682626" y="1914083"/>
            <a:ext cx="1406769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a:t>
            </a:r>
            <a:r>
              <a:rPr lang="en-US" altLang="zh-CN" sz="3200" b="1" dirty="0"/>
              <a:t>1</a:t>
            </a:r>
            <a:r>
              <a:rPr lang="zh-CN" altLang="en-US" sz="3200" b="1" dirty="0"/>
              <a:t>）在图中未标注传输带、取样长度和评定长度的，则默认为采用标准化</a:t>
            </a:r>
            <a:r>
              <a:rPr lang="zh-CN" altLang="en-US" sz="3200" b="1" dirty="0" smtClean="0"/>
              <a:t>值</a:t>
            </a:r>
            <a:endParaRPr lang="zh-CN" altLang="en-US" sz="3200" b="1" dirty="0"/>
          </a:p>
        </p:txBody>
      </p:sp>
      <p:grpSp>
        <p:nvGrpSpPr>
          <p:cNvPr id="9" name="Group 19"/>
          <p:cNvGrpSpPr/>
          <p:nvPr/>
        </p:nvGrpSpPr>
        <p:grpSpPr bwMode="auto">
          <a:xfrm>
            <a:off x="1485900" y="2892390"/>
            <a:ext cx="3321254" cy="2202911"/>
            <a:chOff x="4215" y="4284"/>
            <a:chExt cx="1952" cy="1194"/>
          </a:xfrm>
        </p:grpSpPr>
        <p:sp>
          <p:nvSpPr>
            <p:cNvPr id="11" name="Text Box 20"/>
            <p:cNvSpPr txBox="1">
              <a:spLocks noChangeArrowheads="1"/>
            </p:cNvSpPr>
            <p:nvPr/>
          </p:nvSpPr>
          <p:spPr bwMode="auto">
            <a:xfrm>
              <a:off x="5252" y="4346"/>
              <a:ext cx="915" cy="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i="1" dirty="0"/>
                <a:t>Ra</a:t>
              </a:r>
              <a:r>
                <a:rPr lang="en-US" altLang="zh-CN" sz="3200" b="1" dirty="0"/>
                <a:t>  3.2</a:t>
              </a:r>
            </a:p>
          </p:txBody>
        </p:sp>
        <p:grpSp>
          <p:nvGrpSpPr>
            <p:cNvPr id="12" name="Group 21"/>
            <p:cNvGrpSpPr/>
            <p:nvPr/>
          </p:nvGrpSpPr>
          <p:grpSpPr bwMode="auto">
            <a:xfrm>
              <a:off x="4215" y="4284"/>
              <a:ext cx="1869" cy="1194"/>
              <a:chOff x="3821" y="4411"/>
              <a:chExt cx="1869" cy="1194"/>
            </a:xfrm>
          </p:grpSpPr>
          <p:sp>
            <p:nvSpPr>
              <p:cNvPr id="13" name="AutoShape 22"/>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23"/>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24"/>
              <p:cNvSpPr>
                <a:spLocks noChangeShapeType="1"/>
              </p:cNvSpPr>
              <p:nvPr/>
            </p:nvSpPr>
            <p:spPr bwMode="auto">
              <a:xfrm>
                <a:off x="4833" y="4411"/>
                <a:ext cx="85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pic>
        <p:nvPicPr>
          <p:cNvPr id="17" name="Picture 2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28769" y="2881995"/>
            <a:ext cx="4385273" cy="2126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0" name="Group 26"/>
          <p:cNvGrpSpPr/>
          <p:nvPr/>
        </p:nvGrpSpPr>
        <p:grpSpPr bwMode="auto">
          <a:xfrm>
            <a:off x="10060614" y="2993144"/>
            <a:ext cx="3384466" cy="2412474"/>
            <a:chOff x="6654" y="2587"/>
            <a:chExt cx="1869" cy="1194"/>
          </a:xfrm>
        </p:grpSpPr>
        <p:grpSp>
          <p:nvGrpSpPr>
            <p:cNvPr id="22" name="Group 27"/>
            <p:cNvGrpSpPr/>
            <p:nvPr/>
          </p:nvGrpSpPr>
          <p:grpSpPr bwMode="auto">
            <a:xfrm>
              <a:off x="6654" y="2587"/>
              <a:ext cx="1869" cy="1194"/>
              <a:chOff x="3821" y="4411"/>
              <a:chExt cx="1869" cy="1194"/>
            </a:xfrm>
          </p:grpSpPr>
          <p:sp>
            <p:nvSpPr>
              <p:cNvPr id="24" name="AutoShape 28"/>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9"/>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Line 30"/>
              <p:cNvSpPr>
                <a:spLocks noChangeShapeType="1"/>
              </p:cNvSpPr>
              <p:nvPr/>
            </p:nvSpPr>
            <p:spPr bwMode="auto">
              <a:xfrm>
                <a:off x="4833" y="4411"/>
                <a:ext cx="85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3" name="Text Box 31"/>
            <p:cNvSpPr txBox="1">
              <a:spLocks noChangeArrowheads="1"/>
            </p:cNvSpPr>
            <p:nvPr/>
          </p:nvSpPr>
          <p:spPr bwMode="auto">
            <a:xfrm>
              <a:off x="7677" y="2677"/>
              <a:ext cx="846"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err="1"/>
                <a:t>U</a:t>
              </a:r>
              <a:r>
                <a:rPr lang="en-US" altLang="zh-CN" sz="2800" b="1" i="1" dirty="0" err="1"/>
                <a:t>Ra</a:t>
              </a:r>
              <a:r>
                <a:rPr lang="en-US" altLang="zh-CN" sz="2800" b="1" dirty="0"/>
                <a:t>  6.3</a:t>
              </a:r>
            </a:p>
            <a:p>
              <a:pPr eaLnBrk="1" hangingPunct="1"/>
              <a:r>
                <a:rPr lang="en-US" altLang="zh-CN" sz="2800" b="1" dirty="0" err="1"/>
                <a:t>L</a:t>
              </a:r>
              <a:r>
                <a:rPr lang="en-US" altLang="zh-CN" sz="2800" b="1" i="1" dirty="0" err="1"/>
                <a:t>Rz</a:t>
              </a:r>
              <a:r>
                <a:rPr lang="en-US" altLang="zh-CN" sz="2800" b="1" i="1" dirty="0"/>
                <a:t>   </a:t>
              </a:r>
              <a:r>
                <a:rPr lang="en-US" altLang="zh-CN" sz="2800" b="1" dirty="0"/>
                <a:t>3.2</a:t>
              </a:r>
            </a:p>
          </p:txBody>
        </p:sp>
      </p:grpSp>
      <p:cxnSp>
        <p:nvCxnSpPr>
          <p:cNvPr id="33" name="直接连接符 32"/>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5"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57085" y="6466295"/>
            <a:ext cx="5634038" cy="171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1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03495" y="6151660"/>
            <a:ext cx="5030788" cy="205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AutoShape 30"/>
          <p:cNvSpPr>
            <a:spLocks noChangeArrowheads="1"/>
          </p:cNvSpPr>
          <p:nvPr/>
        </p:nvSpPr>
        <p:spPr bwMode="auto">
          <a:xfrm>
            <a:off x="1461823" y="8653870"/>
            <a:ext cx="5441950" cy="1658938"/>
          </a:xfrm>
          <a:prstGeom prst="wedgeRoundRectCallout">
            <a:avLst>
              <a:gd name="adj1" fmla="val -3852"/>
              <a:gd name="adj2" fmla="val -138995"/>
              <a:gd name="adj3" fmla="val 16667"/>
            </a:avLst>
          </a:prstGeom>
          <a:noFill/>
          <a:ln w="57150">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a:t>传输带为</a:t>
            </a:r>
            <a:r>
              <a:rPr lang="en-US" altLang="zh-CN" sz="2800" b="1"/>
              <a:t>0.008—0.8mm,</a:t>
            </a:r>
          </a:p>
          <a:p>
            <a:pPr algn="ctr"/>
            <a:r>
              <a:rPr lang="en-US" altLang="zh-CN" sz="2800" b="1" i="1"/>
              <a:t>lr </a:t>
            </a:r>
            <a:r>
              <a:rPr lang="en-US" altLang="zh-CN" sz="2800" b="1"/>
              <a:t>= 0.8 mm</a:t>
            </a:r>
          </a:p>
          <a:p>
            <a:pPr algn="ctr"/>
            <a:r>
              <a:rPr lang="en-US" altLang="zh-CN" sz="2800" b="1" i="1"/>
              <a:t>ln </a:t>
            </a:r>
            <a:r>
              <a:rPr lang="en-US" altLang="zh-CN" sz="2800" b="1"/>
              <a:t>= 5</a:t>
            </a:r>
            <a:r>
              <a:rPr lang="en-US" altLang="zh-CN" sz="2800" b="1" i="1"/>
              <a:t>lr </a:t>
            </a:r>
            <a:r>
              <a:rPr lang="en-US" altLang="zh-CN" sz="2800" b="1"/>
              <a:t>= 4.0 mm(</a:t>
            </a:r>
            <a:r>
              <a:rPr lang="zh-CN" altLang="en-US" sz="2800" b="1">
                <a:solidFill>
                  <a:srgbClr val="FF3300"/>
                </a:solidFill>
              </a:rPr>
              <a:t>默认</a:t>
            </a:r>
            <a:r>
              <a:rPr lang="en-US" altLang="zh-CN" sz="2800" b="1"/>
              <a:t>)</a:t>
            </a:r>
            <a:endParaRPr lang="en-US" altLang="zh-CN" sz="2800" b="1" i="1"/>
          </a:p>
        </p:txBody>
      </p:sp>
      <p:sp>
        <p:nvSpPr>
          <p:cNvPr id="41" name="AutoShape 31"/>
          <p:cNvSpPr>
            <a:spLocks noChangeArrowheads="1"/>
          </p:cNvSpPr>
          <p:nvPr/>
        </p:nvSpPr>
        <p:spPr bwMode="auto">
          <a:xfrm>
            <a:off x="7900340" y="8778973"/>
            <a:ext cx="5799138" cy="1658937"/>
          </a:xfrm>
          <a:prstGeom prst="wedgeRoundRectCallout">
            <a:avLst>
              <a:gd name="adj1" fmla="val -5162"/>
              <a:gd name="adj2" fmla="val -144352"/>
              <a:gd name="adj3" fmla="val 16667"/>
            </a:avLst>
          </a:prstGeom>
          <a:noFill/>
          <a:ln w="57150">
            <a:solidFill>
              <a:srgbClr val="CC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a:t>传输带</a:t>
            </a:r>
            <a:r>
              <a:rPr lang="en-US" altLang="zh-CN" sz="2800" b="1"/>
              <a:t>λs</a:t>
            </a:r>
            <a:r>
              <a:rPr lang="zh-CN" altLang="en-US" sz="2800" b="1"/>
              <a:t>为 </a:t>
            </a:r>
            <a:r>
              <a:rPr lang="zh-CN" altLang="en-US" sz="2800" b="1">
                <a:solidFill>
                  <a:srgbClr val="FF3300"/>
                </a:solidFill>
              </a:rPr>
              <a:t>默认</a:t>
            </a:r>
            <a:r>
              <a:rPr lang="zh-CN" altLang="en-US" sz="2800" b="1"/>
              <a:t>，</a:t>
            </a:r>
            <a:r>
              <a:rPr lang="en-US" altLang="zh-CN" sz="2800" b="1"/>
              <a:t>λc=0.8mm,</a:t>
            </a:r>
          </a:p>
          <a:p>
            <a:pPr algn="ctr"/>
            <a:r>
              <a:rPr lang="en-US" altLang="zh-CN" sz="2800" b="1" i="1"/>
              <a:t>lr </a:t>
            </a:r>
            <a:r>
              <a:rPr lang="en-US" altLang="zh-CN" sz="2800" b="1"/>
              <a:t>= 0.8 mm</a:t>
            </a:r>
          </a:p>
          <a:p>
            <a:pPr algn="ctr"/>
            <a:r>
              <a:rPr lang="en-US" altLang="zh-CN" sz="2800" b="1" i="1"/>
              <a:t>ln </a:t>
            </a:r>
            <a:r>
              <a:rPr lang="en-US" altLang="zh-CN" sz="2800" b="1"/>
              <a:t>= 3</a:t>
            </a:r>
            <a:r>
              <a:rPr lang="en-US" altLang="zh-CN" sz="2800" b="1" i="1"/>
              <a:t>lr </a:t>
            </a:r>
            <a:r>
              <a:rPr lang="en-US" altLang="zh-CN" sz="2800" b="1"/>
              <a:t>=2.4 mm</a:t>
            </a:r>
            <a:endParaRPr lang="en-US" altLang="zh-CN" sz="2800" b="1" i="1"/>
          </a:p>
        </p:txBody>
      </p:sp>
      <p:sp>
        <p:nvSpPr>
          <p:cNvPr id="42" name="Text Box 11"/>
          <p:cNvSpPr txBox="1">
            <a:spLocks noChangeArrowheads="1"/>
          </p:cNvSpPr>
          <p:nvPr/>
        </p:nvSpPr>
        <p:spPr bwMode="auto">
          <a:xfrm>
            <a:off x="680830" y="5606192"/>
            <a:ext cx="1272381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a:t>
            </a:r>
            <a:r>
              <a:rPr lang="en-US" altLang="zh-CN" sz="3200" b="1" dirty="0"/>
              <a:t>2</a:t>
            </a:r>
            <a:r>
              <a:rPr lang="zh-CN" altLang="en-US" sz="3200" b="1" dirty="0"/>
              <a:t>）需要标注传输带、取样长度和评定长度数值的 </a:t>
            </a:r>
            <a:r>
              <a:rPr lang="zh-CN" altLang="en-US" sz="3200" b="1" dirty="0" smtClean="0"/>
              <a:t>：</a:t>
            </a:r>
            <a:r>
              <a:rPr lang="en-US" altLang="zh-CN" sz="3200" b="1" dirty="0" smtClean="0"/>
              <a:t> </a:t>
            </a:r>
            <a:endParaRPr lang="en-US" altLang="zh-CN" sz="3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wipe(down)">
                                      <p:cBhvr>
                                        <p:cTn id="17" dur="5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wipe(down)">
                                      <p:cBhvr>
                                        <p:cTn id="22" dur="500"/>
                                        <p:tgtEl>
                                          <p:spTgt spid="41"/>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wipe(left)">
                                      <p:cBhvr>
                                        <p:cTn id="26"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40" grpId="0" animBg="1"/>
      <p:bldP spid="41" grpId="0" animBg="1"/>
      <p:bldP spid="4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47D3C3DA-9FFF-4E46-92FD-4E2B5358E3CF}" type="slidenum">
              <a:rPr lang="zh-CN" altLang="en-US" smtClean="0"/>
              <a:pPr>
                <a:defRPr/>
              </a:pPr>
              <a:t>33</a:t>
            </a:fld>
            <a:endParaRPr lang="en-US" altLang="zh-CN"/>
          </a:p>
        </p:txBody>
      </p:sp>
      <p:sp>
        <p:nvSpPr>
          <p:cNvPr id="5" name="Text Box 16"/>
          <p:cNvSpPr txBox="1">
            <a:spLocks noChangeArrowheads="1"/>
          </p:cNvSpPr>
          <p:nvPr/>
        </p:nvSpPr>
        <p:spPr bwMode="auto">
          <a:xfrm>
            <a:off x="577070" y="719866"/>
            <a:ext cx="71728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smtClean="0"/>
              <a:t>6</a:t>
            </a:r>
            <a:r>
              <a:rPr lang="zh-CN" altLang="en-US" sz="3600" b="1" dirty="0" smtClean="0"/>
              <a:t>、</a:t>
            </a:r>
            <a:r>
              <a:rPr lang="zh-CN" altLang="en-US" sz="3600" b="1" dirty="0"/>
              <a:t>表面纹理的</a:t>
            </a:r>
            <a:r>
              <a:rPr lang="zh-CN" altLang="en-US" sz="3600" b="1" dirty="0" smtClean="0"/>
              <a:t>标注</a:t>
            </a:r>
            <a:endParaRPr lang="zh-CN" altLang="en-US" sz="3600" b="1" dirty="0"/>
          </a:p>
        </p:txBody>
      </p:sp>
      <p:grpSp>
        <p:nvGrpSpPr>
          <p:cNvPr id="6" name="Group 33"/>
          <p:cNvGrpSpPr/>
          <p:nvPr/>
        </p:nvGrpSpPr>
        <p:grpSpPr bwMode="auto">
          <a:xfrm>
            <a:off x="9540095" y="2091284"/>
            <a:ext cx="3730625" cy="2779713"/>
            <a:chOff x="444" y="5073"/>
            <a:chExt cx="2350" cy="1751"/>
          </a:xfrm>
        </p:grpSpPr>
        <p:grpSp>
          <p:nvGrpSpPr>
            <p:cNvPr id="7" name="Group 19"/>
            <p:cNvGrpSpPr/>
            <p:nvPr/>
          </p:nvGrpSpPr>
          <p:grpSpPr bwMode="auto">
            <a:xfrm>
              <a:off x="444" y="5073"/>
              <a:ext cx="2350" cy="1317"/>
              <a:chOff x="6654" y="4750"/>
              <a:chExt cx="2350" cy="1317"/>
            </a:xfrm>
          </p:grpSpPr>
          <p:grpSp>
            <p:nvGrpSpPr>
              <p:cNvPr id="9" name="Group 6"/>
              <p:cNvGrpSpPr/>
              <p:nvPr/>
            </p:nvGrpSpPr>
            <p:grpSpPr bwMode="auto">
              <a:xfrm>
                <a:off x="6654" y="4750"/>
                <a:ext cx="1869" cy="1194"/>
                <a:chOff x="3821" y="4411"/>
                <a:chExt cx="1869" cy="1194"/>
              </a:xfrm>
            </p:grpSpPr>
            <p:sp>
              <p:nvSpPr>
                <p:cNvPr id="12" name="AutoShape 7"/>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8"/>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9"/>
                <p:cNvSpPr>
                  <a:spLocks noChangeShapeType="1"/>
                </p:cNvSpPr>
                <p:nvPr/>
              </p:nvSpPr>
              <p:spPr bwMode="auto">
                <a:xfrm>
                  <a:off x="4833" y="4411"/>
                  <a:ext cx="85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 name="Text Box 10"/>
              <p:cNvSpPr txBox="1">
                <a:spLocks noChangeArrowheads="1"/>
              </p:cNvSpPr>
              <p:nvPr/>
            </p:nvSpPr>
            <p:spPr bwMode="auto">
              <a:xfrm>
                <a:off x="7677" y="4840"/>
                <a:ext cx="132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i="1" dirty="0" err="1"/>
                  <a:t>Rz</a:t>
                </a:r>
                <a:r>
                  <a:rPr lang="en-US" altLang="zh-CN" sz="3200" b="1" dirty="0"/>
                  <a:t>  3.2</a:t>
                </a:r>
              </a:p>
            </p:txBody>
          </p:sp>
          <p:sp>
            <p:nvSpPr>
              <p:cNvPr id="11" name="Text Box 18"/>
              <p:cNvSpPr txBox="1">
                <a:spLocks noChangeArrowheads="1"/>
              </p:cNvSpPr>
              <p:nvPr/>
            </p:nvSpPr>
            <p:spPr bwMode="auto">
              <a:xfrm>
                <a:off x="7247" y="5701"/>
                <a:ext cx="106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pPr>
                <a:r>
                  <a:rPr lang="en-US" altLang="zh-CN" sz="3200" dirty="0">
                    <a:solidFill>
                      <a:srgbClr val="FF3300"/>
                    </a:solidFill>
                  </a:rPr>
                  <a:t>—</a:t>
                </a:r>
              </a:p>
              <a:p>
                <a:pPr eaLnBrk="1" hangingPunct="1">
                  <a:lnSpc>
                    <a:spcPct val="50000"/>
                  </a:lnSpc>
                </a:pPr>
                <a:r>
                  <a:rPr lang="en-US" altLang="zh-CN" sz="3200" dirty="0">
                    <a:solidFill>
                      <a:srgbClr val="FF3300"/>
                    </a:solidFill>
                  </a:rPr>
                  <a:t>—</a:t>
                </a:r>
              </a:p>
            </p:txBody>
          </p:sp>
        </p:grpSp>
        <p:sp>
          <p:nvSpPr>
            <p:cNvPr id="8" name="Text Box 32"/>
            <p:cNvSpPr txBox="1">
              <a:spLocks noChangeArrowheads="1"/>
            </p:cNvSpPr>
            <p:nvPr/>
          </p:nvSpPr>
          <p:spPr bwMode="auto">
            <a:xfrm>
              <a:off x="855" y="6497"/>
              <a:ext cx="9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图</a:t>
              </a:r>
              <a:r>
                <a:rPr lang="en-US" altLang="zh-CN" sz="2800" b="1"/>
                <a:t>19</a:t>
              </a:r>
            </a:p>
          </p:txBody>
        </p:sp>
      </p:grpSp>
      <p:grpSp>
        <p:nvGrpSpPr>
          <p:cNvPr id="20" name="组合 19"/>
          <p:cNvGrpSpPr/>
          <p:nvPr/>
        </p:nvGrpSpPr>
        <p:grpSpPr>
          <a:xfrm>
            <a:off x="8452892" y="5457279"/>
            <a:ext cx="6357394" cy="4571134"/>
            <a:chOff x="1317574" y="6251757"/>
            <a:chExt cx="6357394" cy="4571134"/>
          </a:xfrm>
        </p:grpSpPr>
        <p:grpSp>
          <p:nvGrpSpPr>
            <p:cNvPr id="15" name="Group 35"/>
            <p:cNvGrpSpPr/>
            <p:nvPr/>
          </p:nvGrpSpPr>
          <p:grpSpPr bwMode="auto">
            <a:xfrm>
              <a:off x="1317574" y="6918248"/>
              <a:ext cx="6357394" cy="3904643"/>
              <a:chOff x="3319" y="4922"/>
              <a:chExt cx="3580" cy="2014"/>
            </a:xfrm>
          </p:grpSpPr>
          <p:pic>
            <p:nvPicPr>
              <p:cNvPr id="16" name="Picture 2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19" y="4922"/>
                <a:ext cx="3580" cy="1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 Box 34"/>
              <p:cNvSpPr txBox="1">
                <a:spLocks noChangeArrowheads="1"/>
              </p:cNvSpPr>
              <p:nvPr/>
            </p:nvSpPr>
            <p:spPr bwMode="auto">
              <a:xfrm>
                <a:off x="4943" y="6609"/>
                <a:ext cx="9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图</a:t>
                </a:r>
                <a:r>
                  <a:rPr lang="en-US" altLang="zh-CN" sz="2800" b="1"/>
                  <a:t>20</a:t>
                </a:r>
              </a:p>
            </p:txBody>
          </p:sp>
        </p:grpSp>
        <p:sp>
          <p:nvSpPr>
            <p:cNvPr id="18" name="AutoShape 36"/>
            <p:cNvSpPr>
              <a:spLocks noChangeArrowheads="1"/>
            </p:cNvSpPr>
            <p:nvPr/>
          </p:nvSpPr>
          <p:spPr bwMode="auto">
            <a:xfrm>
              <a:off x="5065949" y="6251757"/>
              <a:ext cx="2273300" cy="1681162"/>
            </a:xfrm>
            <a:prstGeom prst="wedgeRectCallout">
              <a:avLst>
                <a:gd name="adj1" fmla="val -130797"/>
                <a:gd name="adj2" fmla="val 56320"/>
              </a:avLst>
            </a:prstGeom>
            <a:noFill/>
            <a:ln w="57150">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a:t>纹理方向平行于视图所在的投影面</a:t>
              </a:r>
            </a:p>
          </p:txBody>
        </p:sp>
      </p:grpSp>
      <p:pic>
        <p:nvPicPr>
          <p:cNvPr id="1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l="6644" r="9550"/>
          <a:stretch>
            <a:fillRect/>
          </a:stretch>
        </p:blipFill>
        <p:spPr bwMode="auto">
          <a:xfrm>
            <a:off x="336318" y="2647889"/>
            <a:ext cx="8293331" cy="5941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1" name="直接连接符 20"/>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ppt_x"/>
                                          </p:val>
                                        </p:tav>
                                        <p:tav tm="100000">
                                          <p:val>
                                            <p:strVal val="#ppt_x"/>
                                          </p:val>
                                        </p:tav>
                                      </p:tavLst>
                                    </p:anim>
                                    <p:anim calcmode="lin" valueType="num">
                                      <p:cBhvr additive="base">
                                        <p:cTn id="13" dur="500" fill="hold"/>
                                        <p:tgtEl>
                                          <p:spTgt spid="6"/>
                                        </p:tgtEl>
                                        <p:attrNameLst>
                                          <p:attrName>ppt_y</p:attrName>
                                        </p:attrNameLst>
                                      </p:cBhvr>
                                      <p:tavLst>
                                        <p:tav tm="0">
                                          <p:val>
                                            <p:strVal val="1+#ppt_h/2"/>
                                          </p:val>
                                        </p:tav>
                                        <p:tav tm="100000">
                                          <p:val>
                                            <p:strVal val="#ppt_y"/>
                                          </p:val>
                                        </p:tav>
                                      </p:tavLst>
                                    </p:anim>
                                  </p:childTnLst>
                                </p:cTn>
                              </p:par>
                            </p:childTnLst>
                          </p:cTn>
                        </p:par>
                        <p:par>
                          <p:cTn id="14" fill="hold">
                            <p:stCondLst>
                              <p:cond delay="500"/>
                            </p:stCondLst>
                            <p:childTnLst>
                              <p:par>
                                <p:cTn id="15" presetID="2" presetClass="entr" presetSubtype="8" fill="hold" nodeType="afterEffect">
                                  <p:stCondLst>
                                    <p:cond delay="0"/>
                                  </p:stCondLst>
                                  <p:childTnLst>
                                    <p:set>
                                      <p:cBhvr>
                                        <p:cTn id="16" dur="1" fill="hold">
                                          <p:stCondLst>
                                            <p:cond delay="0"/>
                                          </p:stCondLst>
                                        </p:cTn>
                                        <p:tgtEl>
                                          <p:spTgt spid="19"/>
                                        </p:tgtEl>
                                        <p:attrNameLst>
                                          <p:attrName>style.visibility</p:attrName>
                                        </p:attrNameLst>
                                      </p:cBhvr>
                                      <p:to>
                                        <p:strVal val="visible"/>
                                      </p:to>
                                    </p:set>
                                    <p:anim calcmode="lin" valueType="num">
                                      <p:cBhvr additive="base">
                                        <p:cTn id="17" dur="500" fill="hold"/>
                                        <p:tgtEl>
                                          <p:spTgt spid="19"/>
                                        </p:tgtEl>
                                        <p:attrNameLst>
                                          <p:attrName>ppt_x</p:attrName>
                                        </p:attrNameLst>
                                      </p:cBhvr>
                                      <p:tavLst>
                                        <p:tav tm="0">
                                          <p:val>
                                            <p:strVal val="0-#ppt_w/2"/>
                                          </p:val>
                                        </p:tav>
                                        <p:tav tm="100000">
                                          <p:val>
                                            <p:strVal val="#ppt_x"/>
                                          </p:val>
                                        </p:tav>
                                      </p:tavLst>
                                    </p:anim>
                                    <p:anim calcmode="lin" valueType="num">
                                      <p:cBhvr additive="base">
                                        <p:cTn id="18"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p:spPr>
        <p:txBody>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7AF6FE6-FDED-4251-A0B6-131CD3ADACD7}" type="slidenum">
              <a:rPr kumimoji="0" lang="zh-CN" altLang="en-US" sz="3300" smtClean="0"/>
              <a:pPr eaLnBrk="1" hangingPunct="1"/>
              <a:t>34</a:t>
            </a:fld>
            <a:endParaRPr kumimoji="0" lang="en-US" altLang="zh-CN" sz="3300" smtClean="0"/>
          </a:p>
        </p:txBody>
      </p:sp>
      <p:sp>
        <p:nvSpPr>
          <p:cNvPr id="103429" name="Text Box 5"/>
          <p:cNvSpPr txBox="1">
            <a:spLocks noChangeArrowheads="1"/>
          </p:cNvSpPr>
          <p:nvPr/>
        </p:nvSpPr>
        <p:spPr bwMode="auto">
          <a:xfrm>
            <a:off x="576263" y="682052"/>
            <a:ext cx="114204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smtClean="0"/>
              <a:t>7</a:t>
            </a:r>
            <a:r>
              <a:rPr lang="zh-CN" altLang="en-US" sz="3600" b="1" dirty="0" smtClean="0"/>
              <a:t>、</a:t>
            </a:r>
            <a:r>
              <a:rPr lang="zh-CN" altLang="en-US" sz="3600" b="1" dirty="0"/>
              <a:t>附加评定参数、加工方法和加工余量的标注</a:t>
            </a:r>
          </a:p>
        </p:txBody>
      </p:sp>
      <p:sp>
        <p:nvSpPr>
          <p:cNvPr id="103430" name="Text Box 6"/>
          <p:cNvSpPr txBox="1">
            <a:spLocks noChangeArrowheads="1"/>
          </p:cNvSpPr>
          <p:nvPr/>
        </p:nvSpPr>
        <p:spPr bwMode="auto">
          <a:xfrm>
            <a:off x="831669" y="2137657"/>
            <a:ext cx="77962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a:t>
            </a:r>
            <a:r>
              <a:rPr lang="en-US" altLang="zh-CN" sz="2800" b="1" dirty="0"/>
              <a:t>1</a:t>
            </a:r>
            <a:r>
              <a:rPr lang="zh-CN" altLang="en-US" sz="2800" b="1" dirty="0"/>
              <a:t>）附加评定参数的</a:t>
            </a:r>
            <a:r>
              <a:rPr lang="zh-CN" altLang="en-US" sz="2800" b="1" dirty="0" smtClean="0"/>
              <a:t>标注</a:t>
            </a:r>
            <a:endParaRPr lang="zh-CN" altLang="en-US" sz="2800" b="1" dirty="0"/>
          </a:p>
        </p:txBody>
      </p:sp>
      <p:sp>
        <p:nvSpPr>
          <p:cNvPr id="103446" name="Text Box 22"/>
          <p:cNvSpPr txBox="1">
            <a:spLocks noChangeArrowheads="1"/>
          </p:cNvSpPr>
          <p:nvPr/>
        </p:nvSpPr>
        <p:spPr bwMode="auto">
          <a:xfrm>
            <a:off x="821259" y="2935806"/>
            <a:ext cx="6704012"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t>（</a:t>
            </a:r>
            <a:r>
              <a:rPr lang="en-US" altLang="zh-CN" sz="2800" b="1" dirty="0"/>
              <a:t>2</a:t>
            </a:r>
            <a:r>
              <a:rPr lang="zh-CN" altLang="en-US" sz="2800" b="1" dirty="0"/>
              <a:t>）加工方法和加工余量的</a:t>
            </a:r>
            <a:r>
              <a:rPr lang="zh-CN" altLang="en-US" sz="2800" b="1" dirty="0" smtClean="0"/>
              <a:t>标注</a:t>
            </a:r>
            <a:endParaRPr lang="en-US" altLang="zh-CN" sz="2800" b="1" dirty="0"/>
          </a:p>
        </p:txBody>
      </p:sp>
      <p:grpSp>
        <p:nvGrpSpPr>
          <p:cNvPr id="55318" name="Group 14"/>
          <p:cNvGrpSpPr/>
          <p:nvPr/>
        </p:nvGrpSpPr>
        <p:grpSpPr bwMode="auto">
          <a:xfrm>
            <a:off x="8432800" y="2279248"/>
            <a:ext cx="3998913" cy="2398712"/>
            <a:chOff x="5360" y="677"/>
            <a:chExt cx="2519" cy="1511"/>
          </a:xfrm>
        </p:grpSpPr>
        <p:grpSp>
          <p:nvGrpSpPr>
            <p:cNvPr id="55320" name="Group 8"/>
            <p:cNvGrpSpPr/>
            <p:nvPr/>
          </p:nvGrpSpPr>
          <p:grpSpPr bwMode="auto">
            <a:xfrm>
              <a:off x="5360" y="677"/>
              <a:ext cx="2003" cy="1376"/>
              <a:chOff x="3821" y="4411"/>
              <a:chExt cx="1869" cy="1194"/>
            </a:xfrm>
          </p:grpSpPr>
          <p:sp>
            <p:nvSpPr>
              <p:cNvPr id="55323" name="AutoShape 9"/>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24" name="Line 10"/>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25" name="Line 11"/>
              <p:cNvSpPr>
                <a:spLocks noChangeShapeType="1"/>
              </p:cNvSpPr>
              <p:nvPr/>
            </p:nvSpPr>
            <p:spPr bwMode="auto">
              <a:xfrm>
                <a:off x="4833" y="4411"/>
                <a:ext cx="85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321" name="Text Box 12"/>
            <p:cNvSpPr txBox="1">
              <a:spLocks noChangeArrowheads="1"/>
            </p:cNvSpPr>
            <p:nvPr/>
          </p:nvSpPr>
          <p:spPr bwMode="auto">
            <a:xfrm>
              <a:off x="6457" y="781"/>
              <a:ext cx="1422" cy="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err="1"/>
                <a:t>U</a:t>
              </a:r>
              <a:r>
                <a:rPr lang="en-US" altLang="zh-CN" sz="3200" b="1" i="1" dirty="0" err="1"/>
                <a:t>Ra</a:t>
              </a:r>
              <a:r>
                <a:rPr lang="en-US" altLang="zh-CN" sz="3200" b="1" dirty="0"/>
                <a:t>  6.3</a:t>
              </a:r>
            </a:p>
            <a:p>
              <a:pPr eaLnBrk="1" hangingPunct="1"/>
              <a:r>
                <a:rPr lang="en-US" altLang="zh-CN" sz="3200" b="1" dirty="0" err="1"/>
                <a:t>L</a:t>
              </a:r>
              <a:r>
                <a:rPr lang="en-US" altLang="zh-CN" sz="3200" b="1" i="1" dirty="0" err="1"/>
                <a:t>Rz</a:t>
              </a:r>
              <a:r>
                <a:rPr lang="en-US" altLang="zh-CN" sz="3200" b="1" i="1" dirty="0"/>
                <a:t>   </a:t>
              </a:r>
              <a:r>
                <a:rPr lang="en-US" altLang="zh-CN" sz="3200" b="1" dirty="0"/>
                <a:t>3.2</a:t>
              </a:r>
            </a:p>
          </p:txBody>
        </p:sp>
        <p:sp>
          <p:nvSpPr>
            <p:cNvPr id="55322" name="Text Box 13"/>
            <p:cNvSpPr txBox="1">
              <a:spLocks noChangeArrowheads="1"/>
            </p:cNvSpPr>
            <p:nvPr/>
          </p:nvSpPr>
          <p:spPr bwMode="auto">
            <a:xfrm>
              <a:off x="6432" y="1861"/>
              <a:ext cx="135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a:solidFill>
                    <a:srgbClr val="FF3300"/>
                  </a:solidFill>
                </a:rPr>
                <a:t>Rsm </a:t>
              </a:r>
              <a:r>
                <a:rPr lang="en-US" altLang="zh-CN" sz="2800" b="1">
                  <a:solidFill>
                    <a:srgbClr val="FF3300"/>
                  </a:solidFill>
                </a:rPr>
                <a:t>0.05</a:t>
              </a:r>
            </a:p>
          </p:txBody>
        </p:sp>
      </p:grpSp>
      <p:grpSp>
        <p:nvGrpSpPr>
          <p:cNvPr id="55308" name="Group 29"/>
          <p:cNvGrpSpPr/>
          <p:nvPr/>
        </p:nvGrpSpPr>
        <p:grpSpPr bwMode="auto">
          <a:xfrm>
            <a:off x="2118865" y="4725485"/>
            <a:ext cx="4749800" cy="2773363"/>
            <a:chOff x="4747" y="2423"/>
            <a:chExt cx="2992" cy="1747"/>
          </a:xfrm>
        </p:grpSpPr>
        <p:grpSp>
          <p:nvGrpSpPr>
            <p:cNvPr id="55309" name="Group 15"/>
            <p:cNvGrpSpPr/>
            <p:nvPr/>
          </p:nvGrpSpPr>
          <p:grpSpPr bwMode="auto">
            <a:xfrm>
              <a:off x="5389" y="2853"/>
              <a:ext cx="2350" cy="1317"/>
              <a:chOff x="6654" y="4750"/>
              <a:chExt cx="2350" cy="1317"/>
            </a:xfrm>
          </p:grpSpPr>
          <p:grpSp>
            <p:nvGrpSpPr>
              <p:cNvPr id="55312" name="Group 16"/>
              <p:cNvGrpSpPr/>
              <p:nvPr/>
            </p:nvGrpSpPr>
            <p:grpSpPr bwMode="auto">
              <a:xfrm>
                <a:off x="6654" y="4750"/>
                <a:ext cx="1869" cy="1194"/>
                <a:chOff x="3821" y="4411"/>
                <a:chExt cx="1869" cy="1194"/>
              </a:xfrm>
            </p:grpSpPr>
            <p:sp>
              <p:nvSpPr>
                <p:cNvPr id="55315" name="AutoShape 17"/>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16" name="Line 18"/>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317" name="Line 19"/>
                <p:cNvSpPr>
                  <a:spLocks noChangeShapeType="1"/>
                </p:cNvSpPr>
                <p:nvPr/>
              </p:nvSpPr>
              <p:spPr bwMode="auto">
                <a:xfrm>
                  <a:off x="4833" y="4411"/>
                  <a:ext cx="857"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5313" name="Text Box 20"/>
              <p:cNvSpPr txBox="1">
                <a:spLocks noChangeArrowheads="1"/>
              </p:cNvSpPr>
              <p:nvPr/>
            </p:nvSpPr>
            <p:spPr bwMode="auto">
              <a:xfrm>
                <a:off x="7677" y="4840"/>
                <a:ext cx="132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i="1" dirty="0" err="1"/>
                  <a:t>Rz</a:t>
                </a:r>
                <a:r>
                  <a:rPr lang="en-US" altLang="zh-CN" sz="3200" b="1" dirty="0"/>
                  <a:t>  3.2</a:t>
                </a:r>
              </a:p>
            </p:txBody>
          </p:sp>
          <p:sp>
            <p:nvSpPr>
              <p:cNvPr id="55314" name="Text Box 21"/>
              <p:cNvSpPr txBox="1">
                <a:spLocks noChangeArrowheads="1"/>
              </p:cNvSpPr>
              <p:nvPr/>
            </p:nvSpPr>
            <p:spPr bwMode="auto">
              <a:xfrm>
                <a:off x="7247" y="5701"/>
                <a:ext cx="1066"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pPr>
                <a:r>
                  <a:rPr lang="en-US" altLang="zh-CN" sz="3200" dirty="0"/>
                  <a:t>—</a:t>
                </a:r>
              </a:p>
              <a:p>
                <a:pPr eaLnBrk="1" hangingPunct="1">
                  <a:lnSpc>
                    <a:spcPct val="50000"/>
                  </a:lnSpc>
                </a:pPr>
                <a:r>
                  <a:rPr lang="en-US" altLang="zh-CN" sz="3200" dirty="0"/>
                  <a:t>—</a:t>
                </a:r>
              </a:p>
            </p:txBody>
          </p:sp>
        </p:grpSp>
        <p:sp>
          <p:nvSpPr>
            <p:cNvPr id="55310" name="Text Box 27"/>
            <p:cNvSpPr txBox="1">
              <a:spLocks noChangeArrowheads="1"/>
            </p:cNvSpPr>
            <p:nvPr/>
          </p:nvSpPr>
          <p:spPr bwMode="auto">
            <a:xfrm>
              <a:off x="4747" y="3800"/>
              <a:ext cx="80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r>
                <a:rPr lang="en-US" altLang="zh-CN" sz="2800" b="1">
                  <a:solidFill>
                    <a:srgbClr val="FF3300"/>
                  </a:solidFill>
                </a:rPr>
                <a:t>2</a:t>
              </a:r>
            </a:p>
          </p:txBody>
        </p:sp>
        <p:sp>
          <p:nvSpPr>
            <p:cNvPr id="55311" name="Text Box 28"/>
            <p:cNvSpPr txBox="1">
              <a:spLocks noChangeArrowheads="1"/>
            </p:cNvSpPr>
            <p:nvPr/>
          </p:nvSpPr>
          <p:spPr bwMode="auto">
            <a:xfrm>
              <a:off x="6292" y="2423"/>
              <a:ext cx="10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dirty="0">
                  <a:solidFill>
                    <a:srgbClr val="FF3300"/>
                  </a:solidFill>
                </a:rPr>
                <a:t>车</a:t>
              </a:r>
            </a:p>
          </p:txBody>
        </p:sp>
      </p:grpSp>
      <p:sp>
        <p:nvSpPr>
          <p:cNvPr id="103454" name="AutoShape 30"/>
          <p:cNvSpPr>
            <a:spLocks noChangeArrowheads="1"/>
          </p:cNvSpPr>
          <p:nvPr/>
        </p:nvSpPr>
        <p:spPr bwMode="auto">
          <a:xfrm>
            <a:off x="10472738" y="5843185"/>
            <a:ext cx="3702050" cy="1011238"/>
          </a:xfrm>
          <a:prstGeom prst="wedgeRoundRectCallout">
            <a:avLst>
              <a:gd name="adj1" fmla="val -50259"/>
              <a:gd name="adj2" fmla="val -158477"/>
              <a:gd name="adj3" fmla="val 16667"/>
            </a:avLst>
          </a:prstGeom>
          <a:noFill/>
          <a:ln w="38100">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a:t>轮廓单元的平均宽度为</a:t>
            </a:r>
            <a:r>
              <a:rPr lang="en-US" altLang="zh-CN" sz="2800" b="1"/>
              <a:t>0.05mm</a:t>
            </a:r>
          </a:p>
        </p:txBody>
      </p:sp>
      <p:sp>
        <p:nvSpPr>
          <p:cNvPr id="103455" name="AutoShape 31"/>
          <p:cNvSpPr>
            <a:spLocks noChangeArrowheads="1"/>
          </p:cNvSpPr>
          <p:nvPr/>
        </p:nvSpPr>
        <p:spPr bwMode="auto">
          <a:xfrm>
            <a:off x="1537840" y="8464048"/>
            <a:ext cx="2386013" cy="1077912"/>
          </a:xfrm>
          <a:prstGeom prst="wedgeRectCallout">
            <a:avLst>
              <a:gd name="adj1" fmla="val 15935"/>
              <a:gd name="adj2" fmla="val -145583"/>
            </a:avLst>
          </a:prstGeom>
          <a:noFill/>
          <a:ln w="57150">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a:t>加工余量为</a:t>
            </a:r>
            <a:r>
              <a:rPr lang="en-US" altLang="zh-CN" sz="2800" b="1"/>
              <a:t>2mm</a:t>
            </a:r>
          </a:p>
        </p:txBody>
      </p:sp>
      <p:sp>
        <p:nvSpPr>
          <p:cNvPr id="103456" name="AutoShape 32"/>
          <p:cNvSpPr>
            <a:spLocks noChangeArrowheads="1"/>
          </p:cNvSpPr>
          <p:nvPr/>
        </p:nvSpPr>
        <p:spPr bwMode="auto">
          <a:xfrm>
            <a:off x="6801990" y="7282948"/>
            <a:ext cx="2386013" cy="1077912"/>
          </a:xfrm>
          <a:prstGeom prst="wedgeRectCallout">
            <a:avLst>
              <a:gd name="adj1" fmla="val -93380"/>
              <a:gd name="adj2" fmla="val -240722"/>
            </a:avLst>
          </a:prstGeom>
          <a:noFill/>
          <a:ln w="57150">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2800" b="1"/>
              <a:t>加工方法为</a:t>
            </a:r>
          </a:p>
          <a:p>
            <a:pPr algn="ctr"/>
            <a:r>
              <a:rPr lang="zh-CN" altLang="en-US" sz="2800" b="1"/>
              <a:t>车削</a:t>
            </a:r>
          </a:p>
        </p:txBody>
      </p:sp>
      <p:cxnSp>
        <p:nvCxnSpPr>
          <p:cNvPr id="30" name="直接连接符 29"/>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3429"/>
                                        </p:tgtEl>
                                        <p:attrNameLst>
                                          <p:attrName>style.visibility</p:attrName>
                                        </p:attrNameLst>
                                      </p:cBhvr>
                                      <p:to>
                                        <p:strVal val="visible"/>
                                      </p:to>
                                    </p:set>
                                    <p:animEffect transition="in" filter="wipe(left)">
                                      <p:cBhvr>
                                        <p:cTn id="7" dur="500"/>
                                        <p:tgtEl>
                                          <p:spTgt spid="10342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3430"/>
                                        </p:tgtEl>
                                        <p:attrNameLst>
                                          <p:attrName>style.visibility</p:attrName>
                                        </p:attrNameLst>
                                      </p:cBhvr>
                                      <p:to>
                                        <p:strVal val="visible"/>
                                      </p:to>
                                    </p:set>
                                    <p:animEffect transition="in" filter="box(in)">
                                      <p:cBhvr>
                                        <p:cTn id="12" dur="500"/>
                                        <p:tgtEl>
                                          <p:spTgt spid="1034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3454"/>
                                        </p:tgtEl>
                                        <p:attrNameLst>
                                          <p:attrName>style.visibility</p:attrName>
                                        </p:attrNameLst>
                                      </p:cBhvr>
                                      <p:to>
                                        <p:strVal val="visible"/>
                                      </p:to>
                                    </p:set>
                                    <p:animEffect transition="in" filter="wipe(down)">
                                      <p:cBhvr>
                                        <p:cTn id="17" dur="500"/>
                                        <p:tgtEl>
                                          <p:spTgt spid="103454"/>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103446"/>
                                        </p:tgtEl>
                                        <p:attrNameLst>
                                          <p:attrName>style.visibility</p:attrName>
                                        </p:attrNameLst>
                                      </p:cBhvr>
                                      <p:to>
                                        <p:strVal val="visible"/>
                                      </p:to>
                                    </p:set>
                                    <p:animEffect transition="in" filter="diamond(in)">
                                      <p:cBhvr>
                                        <p:cTn id="22" dur="2000"/>
                                        <p:tgtEl>
                                          <p:spTgt spid="1034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3455"/>
                                        </p:tgtEl>
                                        <p:attrNameLst>
                                          <p:attrName>style.visibility</p:attrName>
                                        </p:attrNameLst>
                                      </p:cBhvr>
                                      <p:to>
                                        <p:strVal val="visible"/>
                                      </p:to>
                                    </p:set>
                                    <p:animEffect transition="in" filter="wipe(down)">
                                      <p:cBhvr>
                                        <p:cTn id="27" dur="500"/>
                                        <p:tgtEl>
                                          <p:spTgt spid="10345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3456"/>
                                        </p:tgtEl>
                                        <p:attrNameLst>
                                          <p:attrName>style.visibility</p:attrName>
                                        </p:attrNameLst>
                                      </p:cBhvr>
                                      <p:to>
                                        <p:strVal val="visible"/>
                                      </p:to>
                                    </p:set>
                                    <p:animEffect transition="in" filter="wipe(down)">
                                      <p:cBhvr>
                                        <p:cTn id="32" dur="500"/>
                                        <p:tgtEl>
                                          <p:spTgt spid="1034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9" grpId="0"/>
      <p:bldP spid="103430" grpId="0"/>
      <p:bldP spid="103446" grpId="0"/>
      <p:bldP spid="103454" grpId="0" animBg="1"/>
      <p:bldP spid="103455" grpId="0" animBg="1"/>
      <p:bldP spid="10345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p:spPr>
        <p:txBody>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4CCFF75-D368-498B-A955-7999BCAA6FFF}" type="slidenum">
              <a:rPr kumimoji="0" lang="zh-CN" altLang="en-US" sz="3300" smtClean="0"/>
              <a:pPr eaLnBrk="1" hangingPunct="1"/>
              <a:t>35</a:t>
            </a:fld>
            <a:endParaRPr kumimoji="0" lang="en-US" altLang="zh-CN" sz="3300" smtClean="0"/>
          </a:p>
        </p:txBody>
      </p:sp>
      <p:sp>
        <p:nvSpPr>
          <p:cNvPr id="104452" name="Text Box 4"/>
          <p:cNvSpPr txBox="1">
            <a:spLocks noChangeArrowheads="1"/>
          </p:cNvSpPr>
          <p:nvPr/>
        </p:nvSpPr>
        <p:spPr bwMode="auto">
          <a:xfrm>
            <a:off x="616081" y="705319"/>
            <a:ext cx="113093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4000" b="1" dirty="0" smtClean="0"/>
              <a:t>二、</a:t>
            </a:r>
            <a:r>
              <a:rPr lang="zh-CN" altLang="en-US" sz="4000" b="1" dirty="0"/>
              <a:t>表面粗糙度轮廓要求在零件图上的标注方法</a:t>
            </a:r>
          </a:p>
        </p:txBody>
      </p:sp>
      <p:sp>
        <p:nvSpPr>
          <p:cNvPr id="104453" name="Text Box 5"/>
          <p:cNvSpPr txBox="1">
            <a:spLocks noChangeArrowheads="1"/>
          </p:cNvSpPr>
          <p:nvPr/>
        </p:nvSpPr>
        <p:spPr bwMode="auto">
          <a:xfrm>
            <a:off x="869375" y="2325961"/>
            <a:ext cx="386238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4000" b="1" dirty="0"/>
              <a:t>1.</a:t>
            </a:r>
            <a:r>
              <a:rPr lang="zh-CN" altLang="en-US" sz="4000" b="1" dirty="0"/>
              <a:t>一般规定</a:t>
            </a:r>
          </a:p>
        </p:txBody>
      </p:sp>
      <p:sp>
        <p:nvSpPr>
          <p:cNvPr id="104454" name="Text Box 6"/>
          <p:cNvSpPr txBox="1">
            <a:spLocks noChangeArrowheads="1"/>
          </p:cNvSpPr>
          <p:nvPr/>
        </p:nvSpPr>
        <p:spPr bwMode="auto">
          <a:xfrm>
            <a:off x="1094225" y="3438172"/>
            <a:ext cx="13041497" cy="14219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600" b="1" dirty="0"/>
              <a:t>（</a:t>
            </a:r>
            <a:r>
              <a:rPr lang="en-US" altLang="zh-CN" sz="3600" b="1" dirty="0"/>
              <a:t>1</a:t>
            </a:r>
            <a:r>
              <a:rPr lang="zh-CN" altLang="en-US" sz="3600" b="1" dirty="0"/>
              <a:t>）对零件的每一表面</a:t>
            </a:r>
            <a:r>
              <a:rPr lang="zh-CN" altLang="en-US" sz="3600" b="1" dirty="0">
                <a:solidFill>
                  <a:srgbClr val="FF3300"/>
                </a:solidFill>
              </a:rPr>
              <a:t>一般只标注一次</a:t>
            </a:r>
            <a:r>
              <a:rPr lang="zh-CN" altLang="en-US" sz="3600" b="1" dirty="0"/>
              <a:t>，并尽可能标注在相应尺寸</a:t>
            </a:r>
            <a:r>
              <a:rPr lang="zh-CN" altLang="en-US" sz="3600" b="1" dirty="0" smtClean="0"/>
              <a:t>及其极限偏差</a:t>
            </a:r>
            <a:r>
              <a:rPr lang="zh-CN" altLang="en-US" sz="3600" b="1" dirty="0"/>
              <a:t>的</a:t>
            </a:r>
            <a:r>
              <a:rPr lang="zh-CN" altLang="en-US" sz="3600" b="1" dirty="0">
                <a:solidFill>
                  <a:srgbClr val="FF3300"/>
                </a:solidFill>
              </a:rPr>
              <a:t>同一视图上</a:t>
            </a:r>
            <a:r>
              <a:rPr lang="zh-CN" altLang="en-US" sz="3600" b="1" dirty="0"/>
              <a:t>。</a:t>
            </a:r>
            <a:endParaRPr lang="en-US" altLang="zh-CN" sz="3600" b="1" dirty="0"/>
          </a:p>
        </p:txBody>
      </p:sp>
      <p:sp>
        <p:nvSpPr>
          <p:cNvPr id="104456" name="Text Box 8"/>
          <p:cNvSpPr txBox="1">
            <a:spLocks noChangeArrowheads="1"/>
          </p:cNvSpPr>
          <p:nvPr/>
        </p:nvSpPr>
        <p:spPr bwMode="auto">
          <a:xfrm>
            <a:off x="1064245" y="4949055"/>
            <a:ext cx="13214350" cy="1358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600" b="1" dirty="0"/>
              <a:t>（</a:t>
            </a:r>
            <a:r>
              <a:rPr lang="en-US" altLang="zh-CN" sz="3600" b="1" dirty="0"/>
              <a:t>2</a:t>
            </a:r>
            <a:r>
              <a:rPr lang="zh-CN" altLang="en-US" sz="3600" b="1" dirty="0"/>
              <a:t>）除非另有说明，所标注的表面粗糙度轮廓要求是对</a:t>
            </a:r>
            <a:r>
              <a:rPr lang="zh-CN" altLang="en-US" sz="3600" b="1" dirty="0">
                <a:solidFill>
                  <a:srgbClr val="FF3300"/>
                </a:solidFill>
              </a:rPr>
              <a:t>完工零件表面</a:t>
            </a:r>
            <a:r>
              <a:rPr lang="zh-CN" altLang="en-US" sz="3600" b="1" dirty="0"/>
              <a:t>。</a:t>
            </a:r>
            <a:endParaRPr lang="en-US" altLang="zh-CN" sz="3600" b="1" dirty="0"/>
          </a:p>
        </p:txBody>
      </p:sp>
      <p:sp>
        <p:nvSpPr>
          <p:cNvPr id="104457" name="Text Box 9"/>
          <p:cNvSpPr txBox="1">
            <a:spLocks noChangeArrowheads="1"/>
          </p:cNvSpPr>
          <p:nvPr/>
        </p:nvSpPr>
        <p:spPr bwMode="auto">
          <a:xfrm>
            <a:off x="1079236" y="6412938"/>
            <a:ext cx="13214350" cy="1358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600" b="1" dirty="0"/>
              <a:t>（</a:t>
            </a:r>
            <a:r>
              <a:rPr lang="en-US" altLang="zh-CN" sz="3600" b="1" dirty="0"/>
              <a:t>3</a:t>
            </a:r>
            <a:r>
              <a:rPr lang="zh-CN" altLang="en-US" sz="3600" b="1" dirty="0"/>
              <a:t>）粗糙度的符号和数字的注写和读取方向应与</a:t>
            </a:r>
            <a:r>
              <a:rPr lang="zh-CN" altLang="en-US" sz="3600" b="1" dirty="0">
                <a:solidFill>
                  <a:srgbClr val="FF3300"/>
                </a:solidFill>
              </a:rPr>
              <a:t>尺寸的注写和读取方向一致</a:t>
            </a:r>
            <a:r>
              <a:rPr lang="zh-CN" altLang="en-US" sz="3600" b="1" dirty="0"/>
              <a:t>。</a:t>
            </a:r>
            <a:endParaRPr lang="en-US" altLang="zh-CN" sz="3600" b="1" dirty="0"/>
          </a:p>
        </p:txBody>
      </p:sp>
      <p:sp>
        <p:nvSpPr>
          <p:cNvPr id="104458" name="Text Box 10"/>
          <p:cNvSpPr txBox="1">
            <a:spLocks noChangeArrowheads="1"/>
          </p:cNvSpPr>
          <p:nvPr/>
        </p:nvSpPr>
        <p:spPr bwMode="auto">
          <a:xfrm>
            <a:off x="1094226" y="7893399"/>
            <a:ext cx="13214350" cy="693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600" b="1" dirty="0"/>
              <a:t>（</a:t>
            </a:r>
            <a:r>
              <a:rPr lang="en-US" altLang="zh-CN" sz="3600" b="1" dirty="0"/>
              <a:t>4</a:t>
            </a:r>
            <a:r>
              <a:rPr lang="zh-CN" altLang="en-US" sz="3600" b="1" dirty="0"/>
              <a:t>）粗糙度的符号的尖端必须 </a:t>
            </a:r>
            <a:r>
              <a:rPr lang="zh-CN" altLang="en-US" sz="3600" b="1" dirty="0">
                <a:solidFill>
                  <a:srgbClr val="FF3300"/>
                </a:solidFill>
              </a:rPr>
              <a:t>从材料外指向并接触零件表面</a:t>
            </a:r>
            <a:r>
              <a:rPr lang="zh-CN" altLang="en-US" sz="3600" b="1" dirty="0"/>
              <a:t>。</a:t>
            </a:r>
            <a:endParaRPr lang="en-US" altLang="zh-CN" sz="3600" b="1" dirty="0"/>
          </a:p>
        </p:txBody>
      </p:sp>
      <p:cxnSp>
        <p:nvCxnSpPr>
          <p:cNvPr id="9" name="直接连接符 8"/>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4452"/>
                                        </p:tgtEl>
                                        <p:attrNameLst>
                                          <p:attrName>style.visibility</p:attrName>
                                        </p:attrNameLst>
                                      </p:cBhvr>
                                      <p:to>
                                        <p:strVal val="visible"/>
                                      </p:to>
                                    </p:set>
                                    <p:animEffect transition="in" filter="wipe(left)">
                                      <p:cBhvr>
                                        <p:cTn id="7" dur="500"/>
                                        <p:tgtEl>
                                          <p:spTgt spid="10445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4453"/>
                                        </p:tgtEl>
                                        <p:attrNameLst>
                                          <p:attrName>style.visibility</p:attrName>
                                        </p:attrNameLst>
                                      </p:cBhvr>
                                      <p:to>
                                        <p:strVal val="visible"/>
                                      </p:to>
                                    </p:set>
                                    <p:animEffect transition="in" filter="wipe(left)">
                                      <p:cBhvr>
                                        <p:cTn id="12" dur="500"/>
                                        <p:tgtEl>
                                          <p:spTgt spid="10445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4454"/>
                                        </p:tgtEl>
                                        <p:attrNameLst>
                                          <p:attrName>style.visibility</p:attrName>
                                        </p:attrNameLst>
                                      </p:cBhvr>
                                      <p:to>
                                        <p:strVal val="visible"/>
                                      </p:to>
                                    </p:set>
                                    <p:animEffect transition="in" filter="blinds(horizontal)">
                                      <p:cBhvr>
                                        <p:cTn id="17" dur="500"/>
                                        <p:tgtEl>
                                          <p:spTgt spid="104454"/>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04456"/>
                                        </p:tgtEl>
                                        <p:attrNameLst>
                                          <p:attrName>style.visibility</p:attrName>
                                        </p:attrNameLst>
                                      </p:cBhvr>
                                      <p:to>
                                        <p:strVal val="visible"/>
                                      </p:to>
                                    </p:set>
                                    <p:animEffect transition="in" filter="strips(downLeft)">
                                      <p:cBhvr>
                                        <p:cTn id="22" dur="500"/>
                                        <p:tgtEl>
                                          <p:spTgt spid="104456"/>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04457"/>
                                        </p:tgtEl>
                                        <p:attrNameLst>
                                          <p:attrName>style.visibility</p:attrName>
                                        </p:attrNameLst>
                                      </p:cBhvr>
                                      <p:to>
                                        <p:strVal val="visible"/>
                                      </p:to>
                                    </p:set>
                                    <p:animEffect transition="in" filter="checkerboard(across)">
                                      <p:cBhvr>
                                        <p:cTn id="27" dur="500"/>
                                        <p:tgtEl>
                                          <p:spTgt spid="10445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4458"/>
                                        </p:tgtEl>
                                        <p:attrNameLst>
                                          <p:attrName>style.visibility</p:attrName>
                                        </p:attrNameLst>
                                      </p:cBhvr>
                                      <p:to>
                                        <p:strVal val="visible"/>
                                      </p:to>
                                    </p:set>
                                    <p:animEffect transition="in" filter="wipe(left)">
                                      <p:cBhvr>
                                        <p:cTn id="32" dur="500"/>
                                        <p:tgtEl>
                                          <p:spTgt spid="104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2" grpId="0"/>
      <p:bldP spid="104453" grpId="0"/>
      <p:bldP spid="104454" grpId="0"/>
      <p:bldP spid="104456" grpId="0"/>
      <p:bldP spid="104457" grpId="0"/>
      <p:bldP spid="10445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47D3C3DA-9FFF-4E46-92FD-4E2B5358E3CF}" type="slidenum">
              <a:rPr lang="zh-CN" altLang="en-US" smtClean="0"/>
              <a:pPr>
                <a:defRPr/>
              </a:pPr>
              <a:t>36</a:t>
            </a:fld>
            <a:endParaRPr lang="en-US" altLang="zh-CN"/>
          </a:p>
        </p:txBody>
      </p:sp>
      <p:sp>
        <p:nvSpPr>
          <p:cNvPr id="5" name="Text Box 12"/>
          <p:cNvSpPr txBox="1">
            <a:spLocks noChangeArrowheads="1"/>
          </p:cNvSpPr>
          <p:nvPr/>
        </p:nvSpPr>
        <p:spPr bwMode="auto">
          <a:xfrm>
            <a:off x="879737" y="658292"/>
            <a:ext cx="676524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a:t>2.  </a:t>
            </a:r>
            <a:r>
              <a:rPr lang="zh-CN" altLang="en-US" sz="3600" b="1" dirty="0"/>
              <a:t>通用的标注方法</a:t>
            </a:r>
          </a:p>
        </p:txBody>
      </p:sp>
      <p:sp>
        <p:nvSpPr>
          <p:cNvPr id="6" name="Text Box 13"/>
          <p:cNvSpPr txBox="1">
            <a:spLocks noChangeArrowheads="1"/>
          </p:cNvSpPr>
          <p:nvPr/>
        </p:nvSpPr>
        <p:spPr bwMode="auto">
          <a:xfrm>
            <a:off x="1155235" y="1914576"/>
            <a:ext cx="1140652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t>（</a:t>
            </a:r>
            <a:r>
              <a:rPr lang="en-US" altLang="zh-CN" sz="3200" b="1" dirty="0"/>
              <a:t>1</a:t>
            </a:r>
            <a:r>
              <a:rPr lang="zh-CN" altLang="en-US" sz="3200" b="1" dirty="0"/>
              <a:t>）代号注写和读取方向的标注</a:t>
            </a:r>
            <a:r>
              <a:rPr lang="zh-CN" altLang="en-US" sz="3200" b="1" dirty="0" smtClean="0"/>
              <a:t>方法</a:t>
            </a:r>
            <a:endParaRPr lang="en-US" altLang="zh-CN" sz="3200" b="1" dirty="0" smtClean="0"/>
          </a:p>
          <a:p>
            <a:pPr eaLnBrk="1" hangingPunct="1">
              <a:spcBef>
                <a:spcPct val="50000"/>
              </a:spcBef>
            </a:pPr>
            <a:r>
              <a:rPr lang="en-US" altLang="zh-CN" sz="3200" b="1" dirty="0" smtClean="0"/>
              <a:t>                                   —— </a:t>
            </a:r>
            <a:r>
              <a:rPr lang="zh-CN" altLang="en-US" sz="3200" b="1" dirty="0"/>
              <a:t>与</a:t>
            </a:r>
            <a:r>
              <a:rPr lang="zh-CN" altLang="en-US" sz="3200" b="1" dirty="0">
                <a:solidFill>
                  <a:srgbClr val="FF3300"/>
                </a:solidFill>
              </a:rPr>
              <a:t>尺寸的注写和读取方向一致</a:t>
            </a:r>
          </a:p>
        </p:txBody>
      </p:sp>
      <p:pic>
        <p:nvPicPr>
          <p:cNvPr id="8" name="Picture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91527" y="4216713"/>
            <a:ext cx="8560762" cy="5092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直接连接符 6"/>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p:spPr>
        <p:txBody>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9C38A25E-863A-47E0-ABDE-42DE60586B97}" type="slidenum">
              <a:rPr kumimoji="0" lang="zh-CN" altLang="en-US" sz="3300" smtClean="0"/>
              <a:pPr eaLnBrk="1" hangingPunct="1"/>
              <a:t>37</a:t>
            </a:fld>
            <a:endParaRPr kumimoji="0" lang="en-US" altLang="zh-CN" sz="3300" smtClean="0"/>
          </a:p>
        </p:txBody>
      </p:sp>
      <p:sp>
        <p:nvSpPr>
          <p:cNvPr id="105478" name="Text Box 6"/>
          <p:cNvSpPr txBox="1">
            <a:spLocks noChangeArrowheads="1"/>
          </p:cNvSpPr>
          <p:nvPr/>
        </p:nvSpPr>
        <p:spPr bwMode="auto">
          <a:xfrm>
            <a:off x="354987" y="560956"/>
            <a:ext cx="8534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t>（</a:t>
            </a:r>
            <a:r>
              <a:rPr lang="en-US" altLang="zh-CN" sz="3600" b="1" dirty="0"/>
              <a:t>2</a:t>
            </a:r>
            <a:r>
              <a:rPr lang="zh-CN" altLang="en-US" sz="3600" b="1" dirty="0"/>
              <a:t>）  代号的标注方法</a:t>
            </a:r>
          </a:p>
        </p:txBody>
      </p:sp>
      <p:sp>
        <p:nvSpPr>
          <p:cNvPr id="105479" name="Text Box 7"/>
          <p:cNvSpPr txBox="1">
            <a:spLocks noChangeArrowheads="1"/>
          </p:cNvSpPr>
          <p:nvPr/>
        </p:nvSpPr>
        <p:spPr bwMode="auto">
          <a:xfrm>
            <a:off x="579204" y="1626249"/>
            <a:ext cx="14435946" cy="68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b="1" dirty="0"/>
              <a:t>①  标注在</a:t>
            </a:r>
            <a:r>
              <a:rPr lang="zh-CN" altLang="en-US" sz="3200" b="1" dirty="0">
                <a:solidFill>
                  <a:srgbClr val="FF0000"/>
                </a:solidFill>
              </a:rPr>
              <a:t>轮廓线</a:t>
            </a:r>
            <a:r>
              <a:rPr lang="zh-CN" altLang="en-US" sz="3200" b="1" dirty="0"/>
              <a:t>或</a:t>
            </a:r>
            <a:r>
              <a:rPr lang="zh-CN" altLang="en-US" sz="3200" b="1" dirty="0">
                <a:solidFill>
                  <a:srgbClr val="FF0000"/>
                </a:solidFill>
              </a:rPr>
              <a:t>其延长线上</a:t>
            </a:r>
            <a:r>
              <a:rPr lang="zh-CN" altLang="en-US" sz="3200" b="1" dirty="0"/>
              <a:t>和用箭头或带黑点</a:t>
            </a:r>
            <a:r>
              <a:rPr lang="en-US" altLang="zh-CN" sz="3200" b="1" dirty="0"/>
              <a:t>(</a:t>
            </a:r>
            <a:r>
              <a:rPr lang="zh-CN" altLang="en-US" sz="3200" b="1" dirty="0"/>
              <a:t>位于可见表面上</a:t>
            </a:r>
            <a:r>
              <a:rPr lang="en-US" altLang="zh-CN" sz="3200" b="1" dirty="0"/>
              <a:t>)</a:t>
            </a:r>
            <a:r>
              <a:rPr lang="zh-CN" altLang="en-US" sz="3200" b="1" dirty="0"/>
              <a:t>的指引线</a:t>
            </a:r>
            <a:r>
              <a:rPr lang="zh-CN" altLang="en-US" sz="3200" b="1" dirty="0" smtClean="0"/>
              <a:t>上</a:t>
            </a:r>
            <a:r>
              <a:rPr lang="zh-CN" altLang="en-US" sz="3200" dirty="0" smtClean="0"/>
              <a:t>。</a:t>
            </a:r>
            <a:endParaRPr lang="en-US" altLang="zh-CN" sz="3200" dirty="0"/>
          </a:p>
        </p:txBody>
      </p:sp>
      <p:pic>
        <p:nvPicPr>
          <p:cNvPr id="57360"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82189" y="2760134"/>
            <a:ext cx="7145173" cy="3790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05489" name="Group 17"/>
          <p:cNvGrpSpPr/>
          <p:nvPr/>
        </p:nvGrpSpPr>
        <p:grpSpPr bwMode="auto">
          <a:xfrm>
            <a:off x="8754256" y="2472268"/>
            <a:ext cx="4809344" cy="4228336"/>
            <a:chOff x="5289" y="3591"/>
            <a:chExt cx="3167" cy="2821"/>
          </a:xfrm>
        </p:grpSpPr>
        <p:pic>
          <p:nvPicPr>
            <p:cNvPr id="57357"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89" y="3591"/>
              <a:ext cx="3167" cy="2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359" name="Rectangle 16"/>
            <p:cNvSpPr>
              <a:spLocks noChangeArrowheads="1"/>
            </p:cNvSpPr>
            <p:nvPr/>
          </p:nvSpPr>
          <p:spPr bwMode="auto">
            <a:xfrm>
              <a:off x="5578" y="4383"/>
              <a:ext cx="956" cy="32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10" name="Picture 1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59580" y="6936188"/>
            <a:ext cx="4482172" cy="3844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35913" y="6889072"/>
            <a:ext cx="5034120" cy="382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2" name="直接连接符 11"/>
          <p:cNvCxnSpPr/>
          <p:nvPr/>
        </p:nvCxnSpPr>
        <p:spPr bwMode="auto">
          <a:xfrm flipV="1">
            <a:off x="459854" y="1322741"/>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05478"/>
                                        </p:tgtEl>
                                        <p:attrNameLst>
                                          <p:attrName>style.visibility</p:attrName>
                                        </p:attrNameLst>
                                      </p:cBhvr>
                                      <p:to>
                                        <p:strVal val="visible"/>
                                      </p:to>
                                    </p:set>
                                    <p:animEffect transition="in" filter="blinds(horizontal)">
                                      <p:cBhvr>
                                        <p:cTn id="7" dur="500"/>
                                        <p:tgtEl>
                                          <p:spTgt spid="1054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479"/>
                                        </p:tgtEl>
                                        <p:attrNameLst>
                                          <p:attrName>style.visibility</p:attrName>
                                        </p:attrNameLst>
                                      </p:cBhvr>
                                      <p:to>
                                        <p:strVal val="visible"/>
                                      </p:to>
                                    </p:set>
                                    <p:animEffect transition="in" filter="wipe(left)">
                                      <p:cBhvr>
                                        <p:cTn id="12" dur="500"/>
                                        <p:tgtEl>
                                          <p:spTgt spid="10547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05489"/>
                                        </p:tgtEl>
                                        <p:attrNameLst>
                                          <p:attrName>style.visibility</p:attrName>
                                        </p:attrNameLst>
                                      </p:cBhvr>
                                      <p:to>
                                        <p:strVal val="visible"/>
                                      </p:to>
                                    </p:set>
                                    <p:anim calcmode="lin" valueType="num">
                                      <p:cBhvr additive="base">
                                        <p:cTn id="17" dur="500" fill="hold"/>
                                        <p:tgtEl>
                                          <p:spTgt spid="105489"/>
                                        </p:tgtEl>
                                        <p:attrNameLst>
                                          <p:attrName>ppt_x</p:attrName>
                                        </p:attrNameLst>
                                      </p:cBhvr>
                                      <p:tavLst>
                                        <p:tav tm="0">
                                          <p:val>
                                            <p:strVal val="1+#ppt_w/2"/>
                                          </p:val>
                                        </p:tav>
                                        <p:tav tm="100000">
                                          <p:val>
                                            <p:strVal val="#ppt_x"/>
                                          </p:val>
                                        </p:tav>
                                      </p:tavLst>
                                    </p:anim>
                                    <p:anim calcmode="lin" valueType="num">
                                      <p:cBhvr additive="base">
                                        <p:cTn id="18" dur="500" fill="hold"/>
                                        <p:tgtEl>
                                          <p:spTgt spid="10548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8" grpId="0"/>
      <p:bldP spid="10547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4"/>
          <p:cNvSpPr>
            <a:spLocks noGrp="1"/>
          </p:cNvSpPr>
          <p:nvPr>
            <p:ph type="sldNum" sz="quarter" idx="12"/>
          </p:nvPr>
        </p:nvSpPr>
        <p:spPr>
          <a:noFill/>
        </p:spPr>
        <p:txBody>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647A2DF4-9531-4D81-BD2C-69ABCD322C60}" type="slidenum">
              <a:rPr kumimoji="0" lang="zh-CN" altLang="en-US" sz="3300" smtClean="0"/>
              <a:pPr eaLnBrk="1" hangingPunct="1"/>
              <a:t>38</a:t>
            </a:fld>
            <a:endParaRPr kumimoji="0" lang="en-US" altLang="zh-CN" sz="3300" smtClean="0"/>
          </a:p>
        </p:txBody>
      </p:sp>
      <p:sp>
        <p:nvSpPr>
          <p:cNvPr id="106502" name="Text Box 6"/>
          <p:cNvSpPr txBox="1">
            <a:spLocks noChangeArrowheads="1"/>
          </p:cNvSpPr>
          <p:nvPr/>
        </p:nvSpPr>
        <p:spPr bwMode="auto">
          <a:xfrm>
            <a:off x="819812" y="2469201"/>
            <a:ext cx="1061385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②  在不引起误解的前提下，可标注在特征尺寸线</a:t>
            </a:r>
            <a:r>
              <a:rPr lang="zh-CN" altLang="en-US" sz="3200" b="1" dirty="0" smtClean="0"/>
              <a:t>上。</a:t>
            </a:r>
            <a:endParaRPr lang="zh-CN" altLang="en-US" sz="3200" b="1" dirty="0"/>
          </a:p>
        </p:txBody>
      </p:sp>
      <p:grpSp>
        <p:nvGrpSpPr>
          <p:cNvPr id="106574" name="Group 78"/>
          <p:cNvGrpSpPr/>
          <p:nvPr/>
        </p:nvGrpSpPr>
        <p:grpSpPr bwMode="auto">
          <a:xfrm>
            <a:off x="8534414" y="4340144"/>
            <a:ext cx="4821677" cy="3986719"/>
            <a:chOff x="5916" y="1054"/>
            <a:chExt cx="2276" cy="1813"/>
          </a:xfrm>
        </p:grpSpPr>
        <p:sp>
          <p:nvSpPr>
            <p:cNvPr id="58405" name="Rectangle 14"/>
            <p:cNvSpPr>
              <a:spLocks noChangeArrowheads="1"/>
            </p:cNvSpPr>
            <p:nvPr/>
          </p:nvSpPr>
          <p:spPr bwMode="auto">
            <a:xfrm>
              <a:off x="5973" y="1054"/>
              <a:ext cx="2191" cy="1166"/>
            </a:xfrm>
            <a:prstGeom prst="rect">
              <a:avLst/>
            </a:prstGeom>
            <a:noFill/>
            <a:ln w="762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06" name="Line 15"/>
            <p:cNvSpPr>
              <a:spLocks noChangeShapeType="1"/>
            </p:cNvSpPr>
            <p:nvPr/>
          </p:nvSpPr>
          <p:spPr bwMode="auto">
            <a:xfrm>
              <a:off x="5916" y="2248"/>
              <a:ext cx="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7" name="Line 16"/>
            <p:cNvSpPr>
              <a:spLocks noChangeShapeType="1"/>
            </p:cNvSpPr>
            <p:nvPr/>
          </p:nvSpPr>
          <p:spPr bwMode="auto">
            <a:xfrm>
              <a:off x="5973" y="2164"/>
              <a:ext cx="0" cy="66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8" name="Line 17"/>
            <p:cNvSpPr>
              <a:spLocks noChangeShapeType="1"/>
            </p:cNvSpPr>
            <p:nvPr/>
          </p:nvSpPr>
          <p:spPr bwMode="auto">
            <a:xfrm>
              <a:off x="8176" y="2207"/>
              <a:ext cx="0" cy="66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9" name="Line 18"/>
            <p:cNvSpPr>
              <a:spLocks noChangeShapeType="1"/>
            </p:cNvSpPr>
            <p:nvPr/>
          </p:nvSpPr>
          <p:spPr bwMode="auto">
            <a:xfrm flipV="1">
              <a:off x="5959" y="2696"/>
              <a:ext cx="2233" cy="29"/>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8410" name="Group 42"/>
            <p:cNvGrpSpPr/>
            <p:nvPr/>
          </p:nvGrpSpPr>
          <p:grpSpPr bwMode="auto">
            <a:xfrm>
              <a:off x="7053" y="2345"/>
              <a:ext cx="1115" cy="350"/>
              <a:chOff x="7319" y="2345"/>
              <a:chExt cx="1115" cy="350"/>
            </a:xfrm>
          </p:grpSpPr>
          <p:sp>
            <p:nvSpPr>
              <p:cNvPr id="58412" name="AutoShape 37"/>
              <p:cNvSpPr>
                <a:spLocks noChangeArrowheads="1"/>
              </p:cNvSpPr>
              <p:nvPr/>
            </p:nvSpPr>
            <p:spPr bwMode="auto">
              <a:xfrm flipV="1">
                <a:off x="7319" y="2510"/>
                <a:ext cx="214" cy="185"/>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413" name="Line 38"/>
              <p:cNvSpPr>
                <a:spLocks noChangeShapeType="1"/>
              </p:cNvSpPr>
              <p:nvPr/>
            </p:nvSpPr>
            <p:spPr bwMode="auto">
              <a:xfrm flipV="1">
                <a:off x="7520" y="2345"/>
                <a:ext cx="129" cy="17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14" name="Line 39"/>
              <p:cNvSpPr>
                <a:spLocks noChangeShapeType="1"/>
              </p:cNvSpPr>
              <p:nvPr/>
            </p:nvSpPr>
            <p:spPr bwMode="auto">
              <a:xfrm>
                <a:off x="7644" y="2350"/>
                <a:ext cx="55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15" name="Text Box 40"/>
              <p:cNvSpPr txBox="1">
                <a:spLocks noChangeArrowheads="1"/>
              </p:cNvSpPr>
              <p:nvPr/>
            </p:nvSpPr>
            <p:spPr bwMode="auto">
              <a:xfrm>
                <a:off x="7576" y="2353"/>
                <a:ext cx="8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dirty="0"/>
                  <a:t>Ra  </a:t>
                </a:r>
                <a:r>
                  <a:rPr lang="en-US" altLang="zh-CN" b="1" dirty="0"/>
                  <a:t>6.3</a:t>
                </a:r>
              </a:p>
            </p:txBody>
          </p:sp>
        </p:grpSp>
        <p:sp>
          <p:nvSpPr>
            <p:cNvPr id="58411" name="Text Box 45"/>
            <p:cNvSpPr txBox="1">
              <a:spLocks noChangeArrowheads="1"/>
            </p:cNvSpPr>
            <p:nvPr/>
          </p:nvSpPr>
          <p:spPr bwMode="auto">
            <a:xfrm>
              <a:off x="6217" y="2424"/>
              <a:ext cx="624" cy="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dirty="0">
                  <a:latin typeface="Swis721 BT" pitchFamily="34" charset="0"/>
                </a:rPr>
                <a:t>Φ</a:t>
              </a:r>
              <a:r>
                <a:rPr lang="en-US" altLang="zh-CN" b="1" dirty="0"/>
                <a:t>50h7</a:t>
              </a:r>
            </a:p>
          </p:txBody>
        </p:sp>
      </p:grpSp>
      <p:grpSp>
        <p:nvGrpSpPr>
          <p:cNvPr id="106573" name="Group 77"/>
          <p:cNvGrpSpPr/>
          <p:nvPr/>
        </p:nvGrpSpPr>
        <p:grpSpPr bwMode="auto">
          <a:xfrm>
            <a:off x="1056166" y="4367719"/>
            <a:ext cx="6959430" cy="3589507"/>
            <a:chOff x="843" y="1068"/>
            <a:chExt cx="3470" cy="1559"/>
          </a:xfrm>
        </p:grpSpPr>
        <p:grpSp>
          <p:nvGrpSpPr>
            <p:cNvPr id="58383" name="Group 66"/>
            <p:cNvGrpSpPr/>
            <p:nvPr/>
          </p:nvGrpSpPr>
          <p:grpSpPr bwMode="auto">
            <a:xfrm>
              <a:off x="843" y="1068"/>
              <a:ext cx="3470" cy="1559"/>
              <a:chOff x="983" y="1068"/>
              <a:chExt cx="3470" cy="1559"/>
            </a:xfrm>
          </p:grpSpPr>
          <p:sp>
            <p:nvSpPr>
              <p:cNvPr id="58392" name="Line 49"/>
              <p:cNvSpPr>
                <a:spLocks noChangeShapeType="1"/>
              </p:cNvSpPr>
              <p:nvPr/>
            </p:nvSpPr>
            <p:spPr bwMode="auto">
              <a:xfrm>
                <a:off x="1560" y="1068"/>
                <a:ext cx="0" cy="1559"/>
              </a:xfrm>
              <a:prstGeom prst="line">
                <a:avLst/>
              </a:prstGeom>
              <a:noFill/>
              <a:ln w="762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3" name="Line 50"/>
              <p:cNvSpPr>
                <a:spLocks noChangeShapeType="1"/>
              </p:cNvSpPr>
              <p:nvPr/>
            </p:nvSpPr>
            <p:spPr bwMode="auto">
              <a:xfrm>
                <a:off x="3793" y="1097"/>
                <a:ext cx="0" cy="1475"/>
              </a:xfrm>
              <a:prstGeom prst="line">
                <a:avLst/>
              </a:prstGeom>
              <a:noFill/>
              <a:ln w="762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4" name="Line 53"/>
              <p:cNvSpPr>
                <a:spLocks noChangeShapeType="1"/>
              </p:cNvSpPr>
              <p:nvPr/>
            </p:nvSpPr>
            <p:spPr bwMode="auto">
              <a:xfrm>
                <a:off x="983" y="1096"/>
                <a:ext cx="3414" cy="0"/>
              </a:xfrm>
              <a:prstGeom prst="line">
                <a:avLst/>
              </a:prstGeom>
              <a:noFill/>
              <a:ln w="762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5" name="Line 54"/>
              <p:cNvSpPr>
                <a:spLocks noChangeShapeType="1"/>
              </p:cNvSpPr>
              <p:nvPr/>
            </p:nvSpPr>
            <p:spPr bwMode="auto">
              <a:xfrm>
                <a:off x="1039" y="2599"/>
                <a:ext cx="3414" cy="0"/>
              </a:xfrm>
              <a:prstGeom prst="line">
                <a:avLst/>
              </a:prstGeom>
              <a:noFill/>
              <a:ln w="762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6" name="Line 55"/>
              <p:cNvSpPr>
                <a:spLocks noChangeShapeType="1"/>
              </p:cNvSpPr>
              <p:nvPr/>
            </p:nvSpPr>
            <p:spPr bwMode="auto">
              <a:xfrm>
                <a:off x="1012" y="1068"/>
                <a:ext cx="0" cy="1559"/>
              </a:xfrm>
              <a:prstGeom prst="line">
                <a:avLst/>
              </a:prstGeom>
              <a:noFill/>
              <a:ln w="762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7" name="Line 56"/>
              <p:cNvSpPr>
                <a:spLocks noChangeShapeType="1"/>
              </p:cNvSpPr>
              <p:nvPr/>
            </p:nvSpPr>
            <p:spPr bwMode="auto">
              <a:xfrm>
                <a:off x="4397" y="1068"/>
                <a:ext cx="0" cy="1559"/>
              </a:xfrm>
              <a:prstGeom prst="line">
                <a:avLst/>
              </a:prstGeom>
              <a:noFill/>
              <a:ln w="762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8" name="Line 58"/>
              <p:cNvSpPr>
                <a:spLocks noChangeShapeType="1"/>
              </p:cNvSpPr>
              <p:nvPr/>
            </p:nvSpPr>
            <p:spPr bwMode="auto">
              <a:xfrm flipH="1">
                <a:off x="997" y="1124"/>
                <a:ext cx="534" cy="42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9" name="Line 59"/>
              <p:cNvSpPr>
                <a:spLocks noChangeShapeType="1"/>
              </p:cNvSpPr>
              <p:nvPr/>
            </p:nvSpPr>
            <p:spPr bwMode="auto">
              <a:xfrm flipH="1">
                <a:off x="1039" y="1615"/>
                <a:ext cx="534" cy="42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0" name="Line 60"/>
              <p:cNvSpPr>
                <a:spLocks noChangeShapeType="1"/>
              </p:cNvSpPr>
              <p:nvPr/>
            </p:nvSpPr>
            <p:spPr bwMode="auto">
              <a:xfrm flipH="1">
                <a:off x="1039" y="2078"/>
                <a:ext cx="534" cy="42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1" name="Line 61"/>
              <p:cNvSpPr>
                <a:spLocks noChangeShapeType="1"/>
              </p:cNvSpPr>
              <p:nvPr/>
            </p:nvSpPr>
            <p:spPr bwMode="auto">
              <a:xfrm flipH="1">
                <a:off x="3821" y="1124"/>
                <a:ext cx="534" cy="42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2" name="Line 62"/>
              <p:cNvSpPr>
                <a:spLocks noChangeShapeType="1"/>
              </p:cNvSpPr>
              <p:nvPr/>
            </p:nvSpPr>
            <p:spPr bwMode="auto">
              <a:xfrm flipH="1">
                <a:off x="3835" y="1672"/>
                <a:ext cx="534" cy="42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03" name="Line 63"/>
              <p:cNvSpPr>
                <a:spLocks noChangeShapeType="1"/>
              </p:cNvSpPr>
              <p:nvPr/>
            </p:nvSpPr>
            <p:spPr bwMode="auto">
              <a:xfrm flipH="1">
                <a:off x="3877" y="2135"/>
                <a:ext cx="534" cy="42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384" name="Line 67"/>
            <p:cNvSpPr>
              <a:spLocks noChangeShapeType="1"/>
            </p:cNvSpPr>
            <p:nvPr/>
          </p:nvSpPr>
          <p:spPr bwMode="auto">
            <a:xfrm>
              <a:off x="1448" y="2121"/>
              <a:ext cx="2205" cy="0"/>
            </a:xfrm>
            <a:prstGeom prst="line">
              <a:avLst/>
            </a:prstGeom>
            <a:noFill/>
            <a:ln w="381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85" name="Text Box 68"/>
            <p:cNvSpPr txBox="1">
              <a:spLocks noChangeArrowheads="1"/>
            </p:cNvSpPr>
            <p:nvPr/>
          </p:nvSpPr>
          <p:spPr bwMode="auto">
            <a:xfrm>
              <a:off x="1546" y="1829"/>
              <a:ext cx="725"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dirty="0">
                  <a:latin typeface="Swis721 BT" pitchFamily="34" charset="0"/>
                </a:rPr>
                <a:t>Φ</a:t>
              </a:r>
              <a:r>
                <a:rPr lang="en-US" altLang="zh-CN" b="1" i="1" dirty="0"/>
                <a:t> </a:t>
              </a:r>
              <a:r>
                <a:rPr lang="en-US" altLang="zh-CN" b="1" dirty="0"/>
                <a:t>50H8</a:t>
              </a:r>
            </a:p>
          </p:txBody>
        </p:sp>
        <p:grpSp>
          <p:nvGrpSpPr>
            <p:cNvPr id="58386" name="Group 69"/>
            <p:cNvGrpSpPr/>
            <p:nvPr/>
          </p:nvGrpSpPr>
          <p:grpSpPr bwMode="auto">
            <a:xfrm>
              <a:off x="2389" y="1741"/>
              <a:ext cx="1115" cy="350"/>
              <a:chOff x="3063" y="5380"/>
              <a:chExt cx="1115" cy="350"/>
            </a:xfrm>
          </p:grpSpPr>
          <p:sp>
            <p:nvSpPr>
              <p:cNvPr id="58388" name="AutoShape 70"/>
              <p:cNvSpPr>
                <a:spLocks noChangeArrowheads="1"/>
              </p:cNvSpPr>
              <p:nvPr/>
            </p:nvSpPr>
            <p:spPr bwMode="auto">
              <a:xfrm flipV="1">
                <a:off x="3063" y="5545"/>
                <a:ext cx="214" cy="185"/>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89" name="Line 71"/>
              <p:cNvSpPr>
                <a:spLocks noChangeShapeType="1"/>
              </p:cNvSpPr>
              <p:nvPr/>
            </p:nvSpPr>
            <p:spPr bwMode="auto">
              <a:xfrm flipV="1">
                <a:off x="3272" y="5380"/>
                <a:ext cx="129" cy="17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0" name="Line 72"/>
              <p:cNvSpPr>
                <a:spLocks noChangeShapeType="1"/>
              </p:cNvSpPr>
              <p:nvPr/>
            </p:nvSpPr>
            <p:spPr bwMode="auto">
              <a:xfrm>
                <a:off x="3388" y="5385"/>
                <a:ext cx="55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91" name="Text Box 73"/>
              <p:cNvSpPr txBox="1">
                <a:spLocks noChangeArrowheads="1"/>
              </p:cNvSpPr>
              <p:nvPr/>
            </p:nvSpPr>
            <p:spPr bwMode="auto">
              <a:xfrm>
                <a:off x="3320" y="5388"/>
                <a:ext cx="85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dirty="0"/>
                  <a:t>Ra </a:t>
                </a:r>
                <a:r>
                  <a:rPr lang="en-US" altLang="zh-CN" b="1" dirty="0"/>
                  <a:t>12.5</a:t>
                </a:r>
              </a:p>
            </p:txBody>
          </p:sp>
        </p:grpSp>
      </p:grpSp>
      <p:sp>
        <p:nvSpPr>
          <p:cNvPr id="37" name="Text Box 6"/>
          <p:cNvSpPr txBox="1">
            <a:spLocks noChangeArrowheads="1"/>
          </p:cNvSpPr>
          <p:nvPr/>
        </p:nvSpPr>
        <p:spPr bwMode="auto">
          <a:xfrm>
            <a:off x="414948" y="665887"/>
            <a:ext cx="8534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t>（</a:t>
            </a:r>
            <a:r>
              <a:rPr lang="en-US" altLang="zh-CN" sz="3600" b="1" dirty="0"/>
              <a:t>2</a:t>
            </a:r>
            <a:r>
              <a:rPr lang="zh-CN" altLang="en-US" sz="3600" b="1" dirty="0"/>
              <a:t>）  代号的标注方法</a:t>
            </a:r>
          </a:p>
        </p:txBody>
      </p:sp>
      <p:cxnSp>
        <p:nvCxnSpPr>
          <p:cNvPr id="38" name="直接连接符 37"/>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6502"/>
                                        </p:tgtEl>
                                        <p:attrNameLst>
                                          <p:attrName>style.visibility</p:attrName>
                                        </p:attrNameLst>
                                      </p:cBhvr>
                                      <p:to>
                                        <p:strVal val="visible"/>
                                      </p:to>
                                    </p:set>
                                    <p:animEffect transition="in" filter="wipe(left)">
                                      <p:cBhvr>
                                        <p:cTn id="7" dur="500"/>
                                        <p:tgtEl>
                                          <p:spTgt spid="10650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06573"/>
                                        </p:tgtEl>
                                        <p:attrNameLst>
                                          <p:attrName>style.visibility</p:attrName>
                                        </p:attrNameLst>
                                      </p:cBhvr>
                                      <p:to>
                                        <p:strVal val="visible"/>
                                      </p:to>
                                    </p:set>
                                    <p:anim calcmode="lin" valueType="num">
                                      <p:cBhvr additive="base">
                                        <p:cTn id="12" dur="500" fill="hold"/>
                                        <p:tgtEl>
                                          <p:spTgt spid="106573"/>
                                        </p:tgtEl>
                                        <p:attrNameLst>
                                          <p:attrName>ppt_x</p:attrName>
                                        </p:attrNameLst>
                                      </p:cBhvr>
                                      <p:tavLst>
                                        <p:tav tm="0">
                                          <p:val>
                                            <p:strVal val="0-#ppt_w/2"/>
                                          </p:val>
                                        </p:tav>
                                        <p:tav tm="100000">
                                          <p:val>
                                            <p:strVal val="#ppt_x"/>
                                          </p:val>
                                        </p:tav>
                                      </p:tavLst>
                                    </p:anim>
                                    <p:anim calcmode="lin" valueType="num">
                                      <p:cBhvr additive="base">
                                        <p:cTn id="13" dur="500" fill="hold"/>
                                        <p:tgtEl>
                                          <p:spTgt spid="10657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106574"/>
                                        </p:tgtEl>
                                        <p:attrNameLst>
                                          <p:attrName>style.visibility</p:attrName>
                                        </p:attrNameLst>
                                      </p:cBhvr>
                                      <p:to>
                                        <p:strVal val="visible"/>
                                      </p:to>
                                    </p:set>
                                    <p:anim calcmode="lin" valueType="num">
                                      <p:cBhvr additive="base">
                                        <p:cTn id="18" dur="500" fill="hold"/>
                                        <p:tgtEl>
                                          <p:spTgt spid="106574"/>
                                        </p:tgtEl>
                                        <p:attrNameLst>
                                          <p:attrName>ppt_x</p:attrName>
                                        </p:attrNameLst>
                                      </p:cBhvr>
                                      <p:tavLst>
                                        <p:tav tm="0">
                                          <p:val>
                                            <p:strVal val="1+#ppt_w/2"/>
                                          </p:val>
                                        </p:tav>
                                        <p:tav tm="100000">
                                          <p:val>
                                            <p:strVal val="#ppt_x"/>
                                          </p:val>
                                        </p:tav>
                                      </p:tavLst>
                                    </p:anim>
                                    <p:anim calcmode="lin" valueType="num">
                                      <p:cBhvr additive="base">
                                        <p:cTn id="19" dur="500" fill="hold"/>
                                        <p:tgtEl>
                                          <p:spTgt spid="106574"/>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3" presetClass="entr" presetSubtype="10" fill="hold" grpId="0"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blinds(horizontal)">
                                      <p:cBhvr>
                                        <p:cTn id="2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02" grpId="0"/>
      <p:bldP spid="3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11BE7324-C66E-4FBB-AD4F-9150158CF813}" type="slidenum">
              <a:rPr lang="zh-CN" altLang="en-US" smtClean="0"/>
              <a:pPr>
                <a:defRPr/>
              </a:pPr>
              <a:t>39</a:t>
            </a:fld>
            <a:endParaRPr lang="en-US" altLang="zh-CN"/>
          </a:p>
        </p:txBody>
      </p:sp>
      <p:sp>
        <p:nvSpPr>
          <p:cNvPr id="4" name="Text Box 9"/>
          <p:cNvSpPr txBox="1">
            <a:spLocks noChangeArrowheads="1"/>
          </p:cNvSpPr>
          <p:nvPr/>
        </p:nvSpPr>
        <p:spPr bwMode="auto">
          <a:xfrm>
            <a:off x="1081959" y="1982623"/>
            <a:ext cx="635060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smtClean="0"/>
              <a:t>③可</a:t>
            </a:r>
            <a:r>
              <a:rPr lang="zh-CN" altLang="en-US" sz="3200" b="1" dirty="0"/>
              <a:t>标注</a:t>
            </a:r>
            <a:r>
              <a:rPr lang="zh-CN" altLang="en-US" sz="3200" b="1" dirty="0" smtClean="0"/>
              <a:t>在几何</a:t>
            </a:r>
            <a:r>
              <a:rPr lang="zh-CN" altLang="en-US" sz="3200" b="1" dirty="0"/>
              <a:t>公差框格的</a:t>
            </a:r>
            <a:r>
              <a:rPr lang="zh-CN" altLang="en-US" sz="3200" b="1" dirty="0" smtClean="0"/>
              <a:t>上方。</a:t>
            </a:r>
            <a:endParaRPr lang="zh-CN" altLang="en-US" sz="3200" b="1" dirty="0"/>
          </a:p>
        </p:txBody>
      </p:sp>
      <p:pic>
        <p:nvPicPr>
          <p:cNvPr id="6"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5493" y="4001829"/>
            <a:ext cx="5499261" cy="4608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79"/>
          <p:cNvSpPr txBox="1">
            <a:spLocks noChangeArrowheads="1"/>
          </p:cNvSpPr>
          <p:nvPr/>
        </p:nvSpPr>
        <p:spPr bwMode="auto">
          <a:xfrm>
            <a:off x="1081959" y="2651204"/>
            <a:ext cx="9958574" cy="68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b="1" dirty="0"/>
              <a:t>④ 标注</a:t>
            </a:r>
            <a:r>
              <a:rPr lang="zh-CN" altLang="en-US" sz="3200" b="1" dirty="0" smtClean="0"/>
              <a:t>在几何</a:t>
            </a:r>
            <a:r>
              <a:rPr lang="zh-CN" altLang="en-US" sz="3200" b="1" dirty="0"/>
              <a:t>公差框格上面注出了特征尺寸的</a:t>
            </a:r>
            <a:r>
              <a:rPr lang="zh-CN" altLang="en-US" sz="3200" b="1" dirty="0" smtClean="0"/>
              <a:t>上方。</a:t>
            </a:r>
            <a:endParaRPr lang="zh-CN" altLang="en-US" sz="3200" b="1" dirty="0"/>
          </a:p>
        </p:txBody>
      </p:sp>
      <p:pic>
        <p:nvPicPr>
          <p:cNvPr id="10" name="Picture 8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95058" y="3988483"/>
            <a:ext cx="7347473" cy="474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6"/>
          <p:cNvSpPr txBox="1">
            <a:spLocks noChangeArrowheads="1"/>
          </p:cNvSpPr>
          <p:nvPr/>
        </p:nvSpPr>
        <p:spPr bwMode="auto">
          <a:xfrm>
            <a:off x="459918" y="665887"/>
            <a:ext cx="8534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t>（</a:t>
            </a:r>
            <a:r>
              <a:rPr lang="en-US" altLang="zh-CN" sz="3600" b="1" dirty="0"/>
              <a:t>2</a:t>
            </a:r>
            <a:r>
              <a:rPr lang="zh-CN" altLang="en-US" sz="3600" b="1" dirty="0"/>
              <a:t>）  代号的标注方法</a:t>
            </a:r>
          </a:p>
        </p:txBody>
      </p:sp>
      <p:cxnSp>
        <p:nvCxnSpPr>
          <p:cNvPr id="9" name="直接连接符 8"/>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p:spPr>
        <p:txBody>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859C3C1A-061E-4366-BFC8-63BA16AE8002}" type="slidenum">
              <a:rPr kumimoji="0" lang="zh-CN" altLang="en-US" sz="3300" smtClean="0"/>
              <a:pPr eaLnBrk="1" hangingPunct="1"/>
              <a:t>40</a:t>
            </a:fld>
            <a:endParaRPr kumimoji="0" lang="en-US" altLang="zh-CN" sz="3300" smtClean="0"/>
          </a:p>
        </p:txBody>
      </p:sp>
      <p:sp>
        <p:nvSpPr>
          <p:cNvPr id="110612" name="Text Box 20"/>
          <p:cNvSpPr txBox="1">
            <a:spLocks noChangeArrowheads="1"/>
          </p:cNvSpPr>
          <p:nvPr/>
        </p:nvSpPr>
        <p:spPr bwMode="auto">
          <a:xfrm>
            <a:off x="1140539" y="1819119"/>
            <a:ext cx="13324491" cy="1217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b="1" dirty="0" smtClean="0">
                <a:latin typeface="宋体" panose="02010600030101010101" pitchFamily="2" charset="-122"/>
                <a:ea typeface="宋体" panose="02010600030101010101" pitchFamily="2" charset="-122"/>
              </a:rPr>
              <a:t>⑤ </a:t>
            </a:r>
            <a:r>
              <a:rPr lang="zh-CN" altLang="en-US" sz="3200" b="1" dirty="0" smtClean="0"/>
              <a:t>当</a:t>
            </a:r>
            <a:r>
              <a:rPr lang="zh-CN" altLang="en-US" sz="3200" b="1" dirty="0"/>
              <a:t>图样上某个视图构成</a:t>
            </a:r>
            <a:r>
              <a:rPr lang="zh-CN" altLang="en-US" sz="3200" b="1" dirty="0">
                <a:solidFill>
                  <a:srgbClr val="FF0000"/>
                </a:solidFill>
              </a:rPr>
              <a:t>封闭的轮廓</a:t>
            </a:r>
            <a:r>
              <a:rPr lang="zh-CN" altLang="en-US" sz="3200" b="1" dirty="0"/>
              <a:t>，</a:t>
            </a:r>
            <a:r>
              <a:rPr lang="zh-CN" altLang="en-US" sz="3200" b="1" dirty="0" smtClean="0"/>
              <a:t>并且各</a:t>
            </a:r>
            <a:r>
              <a:rPr lang="zh-CN" altLang="en-US" sz="3200" b="1" dirty="0"/>
              <a:t>表面具有相同的</a:t>
            </a:r>
            <a:r>
              <a:rPr lang="zh-CN" altLang="en-US" sz="3200" b="1" dirty="0" smtClean="0"/>
              <a:t>表面粗糙度</a:t>
            </a:r>
            <a:r>
              <a:rPr lang="zh-CN" altLang="en-US" sz="3200" b="1" dirty="0"/>
              <a:t>轮廓技术要求时，用特殊符号</a:t>
            </a:r>
            <a:r>
              <a:rPr lang="zh-CN" altLang="en-US" sz="3200" b="1" dirty="0" smtClean="0"/>
              <a:t>标注。 </a:t>
            </a:r>
            <a:endParaRPr lang="zh-CN" altLang="en-US" sz="3200" b="1" dirty="0"/>
          </a:p>
        </p:txBody>
      </p:sp>
      <p:grpSp>
        <p:nvGrpSpPr>
          <p:cNvPr id="60432" name="Group 28"/>
          <p:cNvGrpSpPr/>
          <p:nvPr/>
        </p:nvGrpSpPr>
        <p:grpSpPr bwMode="auto">
          <a:xfrm>
            <a:off x="1079777" y="6479355"/>
            <a:ext cx="7412477" cy="3199995"/>
            <a:chOff x="834" y="1926"/>
            <a:chExt cx="3386" cy="1485"/>
          </a:xfrm>
        </p:grpSpPr>
        <p:pic>
          <p:nvPicPr>
            <p:cNvPr id="60433" name="Picture 2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4" y="1926"/>
              <a:ext cx="3386" cy="1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34" name="Text Box 27"/>
            <p:cNvSpPr txBox="1">
              <a:spLocks noChangeArrowheads="1"/>
            </p:cNvSpPr>
            <p:nvPr/>
          </p:nvSpPr>
          <p:spPr bwMode="auto">
            <a:xfrm>
              <a:off x="1712" y="3084"/>
              <a:ext cx="223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a:t>
              </a:r>
              <a:r>
                <a:rPr lang="en-US" altLang="zh-CN" sz="2800" b="1"/>
                <a:t>a)  </a:t>
              </a:r>
              <a:r>
                <a:rPr lang="zh-CN" altLang="en-US" sz="2800" b="1"/>
                <a:t>特殊符号</a:t>
              </a:r>
            </a:p>
          </p:txBody>
        </p:sp>
      </p:grpSp>
      <p:grpSp>
        <p:nvGrpSpPr>
          <p:cNvPr id="110622" name="Group 30"/>
          <p:cNvGrpSpPr/>
          <p:nvPr/>
        </p:nvGrpSpPr>
        <p:grpSpPr bwMode="auto">
          <a:xfrm>
            <a:off x="9176079" y="5751396"/>
            <a:ext cx="4148137" cy="3697288"/>
            <a:chOff x="5339" y="1166"/>
            <a:chExt cx="2613" cy="2329"/>
          </a:xfrm>
        </p:grpSpPr>
        <p:sp>
          <p:nvSpPr>
            <p:cNvPr id="60423" name="Rectangle 22"/>
            <p:cNvSpPr>
              <a:spLocks noChangeArrowheads="1"/>
            </p:cNvSpPr>
            <p:nvPr/>
          </p:nvSpPr>
          <p:spPr bwMode="auto">
            <a:xfrm>
              <a:off x="5339" y="2079"/>
              <a:ext cx="2613" cy="984"/>
            </a:xfrm>
            <a:prstGeom prst="rect">
              <a:avLst/>
            </a:prstGeom>
            <a:noFill/>
            <a:ln w="5715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0424" name="Group 25"/>
            <p:cNvGrpSpPr/>
            <p:nvPr/>
          </p:nvGrpSpPr>
          <p:grpSpPr bwMode="auto">
            <a:xfrm>
              <a:off x="5957" y="1166"/>
              <a:ext cx="1858" cy="907"/>
              <a:chOff x="6042" y="3554"/>
              <a:chExt cx="1858" cy="907"/>
            </a:xfrm>
          </p:grpSpPr>
          <p:sp>
            <p:nvSpPr>
              <p:cNvPr id="60426" name="AutoShape 6"/>
              <p:cNvSpPr>
                <a:spLocks noChangeArrowheads="1"/>
              </p:cNvSpPr>
              <p:nvPr/>
            </p:nvSpPr>
            <p:spPr bwMode="auto">
              <a:xfrm flipV="1">
                <a:off x="6042" y="4142"/>
                <a:ext cx="368" cy="319"/>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Line 7"/>
              <p:cNvSpPr>
                <a:spLocks noChangeShapeType="1"/>
              </p:cNvSpPr>
              <p:nvPr/>
            </p:nvSpPr>
            <p:spPr bwMode="auto">
              <a:xfrm flipV="1">
                <a:off x="6387" y="3708"/>
                <a:ext cx="306" cy="471"/>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28" name="Line 8"/>
              <p:cNvSpPr>
                <a:spLocks noChangeShapeType="1"/>
              </p:cNvSpPr>
              <p:nvPr/>
            </p:nvSpPr>
            <p:spPr bwMode="auto">
              <a:xfrm>
                <a:off x="6670" y="3718"/>
                <a:ext cx="955"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29" name="Text Box 9"/>
              <p:cNvSpPr txBox="1">
                <a:spLocks noChangeArrowheads="1"/>
              </p:cNvSpPr>
              <p:nvPr/>
            </p:nvSpPr>
            <p:spPr bwMode="auto">
              <a:xfrm>
                <a:off x="6776" y="3759"/>
                <a:ext cx="112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i="1"/>
                  <a:t>Ra </a:t>
                </a:r>
                <a:r>
                  <a:rPr lang="en-US" altLang="zh-CN" sz="3200" b="1"/>
                  <a:t>12.5</a:t>
                </a:r>
              </a:p>
            </p:txBody>
          </p:sp>
          <p:sp>
            <p:nvSpPr>
              <p:cNvPr id="60430" name="Oval 24"/>
              <p:cNvSpPr>
                <a:spLocks noChangeArrowheads="1"/>
              </p:cNvSpPr>
              <p:nvPr/>
            </p:nvSpPr>
            <p:spPr bwMode="auto">
              <a:xfrm>
                <a:off x="6463" y="3554"/>
                <a:ext cx="393" cy="393"/>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425" name="Text Box 29"/>
            <p:cNvSpPr txBox="1">
              <a:spLocks noChangeArrowheads="1"/>
            </p:cNvSpPr>
            <p:nvPr/>
          </p:nvSpPr>
          <p:spPr bwMode="auto">
            <a:xfrm>
              <a:off x="5759" y="3168"/>
              <a:ext cx="21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t>(b)  </a:t>
              </a:r>
              <a:r>
                <a:rPr lang="zh-CN" altLang="en-US" sz="2800" b="1"/>
                <a:t>标注示例</a:t>
              </a:r>
            </a:p>
          </p:txBody>
        </p:sp>
      </p:grpSp>
      <p:sp>
        <p:nvSpPr>
          <p:cNvPr id="110624" name="AutoShape 32"/>
          <p:cNvSpPr>
            <a:spLocks noChangeArrowheads="1"/>
          </p:cNvSpPr>
          <p:nvPr/>
        </p:nvSpPr>
        <p:spPr bwMode="auto">
          <a:xfrm>
            <a:off x="3451498" y="3557465"/>
            <a:ext cx="7109549" cy="1640750"/>
          </a:xfrm>
          <a:prstGeom prst="wedgeRoundRectCallout">
            <a:avLst>
              <a:gd name="adj1" fmla="val 50838"/>
              <a:gd name="adj2" fmla="val 102262"/>
              <a:gd name="adj3" fmla="val 16667"/>
            </a:avLst>
          </a:prstGeom>
          <a:noFill/>
          <a:ln w="57150">
            <a:solidFill>
              <a:srgbClr val="FF33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lnSpc>
                <a:spcPct val="120000"/>
              </a:lnSpc>
            </a:pPr>
            <a:r>
              <a:rPr lang="zh-CN" altLang="en-US" sz="3200" b="1" dirty="0"/>
              <a:t>此标注只包括上、下和左、右四个表面，不包括前、后两个表面</a:t>
            </a:r>
          </a:p>
        </p:txBody>
      </p:sp>
      <p:sp>
        <p:nvSpPr>
          <p:cNvPr id="17" name="Text Box 6"/>
          <p:cNvSpPr txBox="1">
            <a:spLocks noChangeArrowheads="1"/>
          </p:cNvSpPr>
          <p:nvPr/>
        </p:nvSpPr>
        <p:spPr bwMode="auto">
          <a:xfrm>
            <a:off x="459918" y="665887"/>
            <a:ext cx="8534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dirty="0"/>
              <a:t>（</a:t>
            </a:r>
            <a:r>
              <a:rPr lang="en-US" altLang="zh-CN" sz="3600" b="1" dirty="0"/>
              <a:t>2</a:t>
            </a:r>
            <a:r>
              <a:rPr lang="zh-CN" altLang="en-US" sz="3600" b="1" dirty="0"/>
              <a:t>）  代号的标注方法</a:t>
            </a:r>
          </a:p>
        </p:txBody>
      </p:sp>
      <p:cxnSp>
        <p:nvCxnSpPr>
          <p:cNvPr id="18" name="直接连接符 17"/>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0612"/>
                                        </p:tgtEl>
                                        <p:attrNameLst>
                                          <p:attrName>style.visibility</p:attrName>
                                        </p:attrNameLst>
                                      </p:cBhvr>
                                      <p:to>
                                        <p:strVal val="visible"/>
                                      </p:to>
                                    </p:set>
                                    <p:animEffect transition="in" filter="wipe(left)">
                                      <p:cBhvr>
                                        <p:cTn id="7" dur="3000"/>
                                        <p:tgtEl>
                                          <p:spTgt spid="1106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10622"/>
                                        </p:tgtEl>
                                        <p:attrNameLst>
                                          <p:attrName>style.visibility</p:attrName>
                                        </p:attrNameLst>
                                      </p:cBhvr>
                                      <p:to>
                                        <p:strVal val="visible"/>
                                      </p:to>
                                    </p:set>
                                    <p:anim calcmode="lin" valueType="num">
                                      <p:cBhvr additive="base">
                                        <p:cTn id="12" dur="500" fill="hold"/>
                                        <p:tgtEl>
                                          <p:spTgt spid="110622"/>
                                        </p:tgtEl>
                                        <p:attrNameLst>
                                          <p:attrName>ppt_x</p:attrName>
                                        </p:attrNameLst>
                                      </p:cBhvr>
                                      <p:tavLst>
                                        <p:tav tm="0">
                                          <p:val>
                                            <p:strVal val="1+#ppt_w/2"/>
                                          </p:val>
                                        </p:tav>
                                        <p:tav tm="100000">
                                          <p:val>
                                            <p:strVal val="#ppt_x"/>
                                          </p:val>
                                        </p:tav>
                                      </p:tavLst>
                                    </p:anim>
                                    <p:anim calcmode="lin" valueType="num">
                                      <p:cBhvr additive="base">
                                        <p:cTn id="13" dur="500" fill="hold"/>
                                        <p:tgtEl>
                                          <p:spTgt spid="11062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10624"/>
                                        </p:tgtEl>
                                        <p:attrNameLst>
                                          <p:attrName>style.visibility</p:attrName>
                                        </p:attrNameLst>
                                      </p:cBhvr>
                                      <p:to>
                                        <p:strVal val="visible"/>
                                      </p:to>
                                    </p:set>
                                    <p:animEffect transition="in" filter="wipe(up)">
                                      <p:cBhvr>
                                        <p:cTn id="18" dur="500"/>
                                        <p:tgtEl>
                                          <p:spTgt spid="110624"/>
                                        </p:tgtEl>
                                      </p:cBhvr>
                                    </p:animEffect>
                                  </p:childTnLst>
                                </p:cTn>
                              </p:par>
                            </p:childTnLst>
                          </p:cTn>
                        </p:par>
                        <p:par>
                          <p:cTn id="19" fill="hold">
                            <p:stCondLst>
                              <p:cond delay="500"/>
                            </p:stCondLst>
                            <p:childTnLst>
                              <p:par>
                                <p:cTn id="20" presetID="3" presetClass="entr" presetSubtype="1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12" grpId="0"/>
      <p:bldP spid="110624" grpId="0" animBg="1"/>
      <p:bldP spid="1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p:spPr>
        <p:txBody>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70BF4D76-B043-4C1D-8DF2-D0D214AD2234}" type="slidenum">
              <a:rPr kumimoji="0" lang="zh-CN" altLang="en-US" sz="3300" smtClean="0"/>
              <a:pPr eaLnBrk="1" hangingPunct="1"/>
              <a:t>41</a:t>
            </a:fld>
            <a:endParaRPr kumimoji="0" lang="en-US" altLang="zh-CN" sz="3300" smtClean="0"/>
          </a:p>
        </p:txBody>
      </p:sp>
      <p:sp>
        <p:nvSpPr>
          <p:cNvPr id="109578" name="Text Box 10"/>
          <p:cNvSpPr txBox="1">
            <a:spLocks noChangeArrowheads="1"/>
          </p:cNvSpPr>
          <p:nvPr/>
        </p:nvSpPr>
        <p:spPr bwMode="auto">
          <a:xfrm>
            <a:off x="540190" y="703228"/>
            <a:ext cx="54197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a:t>3.  </a:t>
            </a:r>
            <a:r>
              <a:rPr lang="zh-CN" altLang="en-US" sz="3600" b="1" dirty="0"/>
              <a:t>简化标注</a:t>
            </a:r>
          </a:p>
        </p:txBody>
      </p:sp>
      <p:sp>
        <p:nvSpPr>
          <p:cNvPr id="109579" name="Text Box 11"/>
          <p:cNvSpPr txBox="1">
            <a:spLocks noChangeArrowheads="1"/>
          </p:cNvSpPr>
          <p:nvPr/>
        </p:nvSpPr>
        <p:spPr bwMode="auto">
          <a:xfrm>
            <a:off x="888910" y="2711902"/>
            <a:ext cx="5807716"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800" b="1" dirty="0" smtClean="0">
                <a:latin typeface="+mn-lt"/>
              </a:rPr>
              <a:t>(1)</a:t>
            </a:r>
            <a:r>
              <a:rPr lang="zh-CN" altLang="en-US" sz="2800" b="1" dirty="0" smtClean="0">
                <a:latin typeface="+mn-lt"/>
              </a:rPr>
              <a:t> </a:t>
            </a:r>
            <a:r>
              <a:rPr lang="zh-CN" altLang="en-US" sz="2800" b="1" dirty="0"/>
              <a:t>某些表面有相同的表面粗糙度轮廓技术要求</a:t>
            </a:r>
            <a:r>
              <a:rPr lang="zh-CN" altLang="en-US" sz="2800" b="1" dirty="0" smtClean="0"/>
              <a:t>时，相同</a:t>
            </a:r>
            <a:r>
              <a:rPr lang="zh-CN" altLang="en-US" sz="2800" b="1" dirty="0"/>
              <a:t>要求</a:t>
            </a:r>
            <a:r>
              <a:rPr lang="zh-CN" altLang="en-US" sz="2800" b="1" dirty="0" smtClean="0"/>
              <a:t>的标注</a:t>
            </a:r>
            <a:r>
              <a:rPr lang="zh-CN" altLang="en-US" sz="2800" b="1" dirty="0"/>
              <a:t>在标题栏</a:t>
            </a:r>
            <a:r>
              <a:rPr lang="zh-CN" altLang="en-US" sz="2800" b="1" dirty="0" smtClean="0"/>
              <a:t>附近。</a:t>
            </a:r>
            <a:endParaRPr lang="zh-CN" altLang="en-US" sz="2800" b="1" dirty="0"/>
          </a:p>
        </p:txBody>
      </p:sp>
      <p:pic>
        <p:nvPicPr>
          <p:cNvPr id="59417"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89113" y="1765507"/>
            <a:ext cx="7461339" cy="4761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9583" name="Oval 15"/>
          <p:cNvSpPr>
            <a:spLocks noChangeArrowheads="1"/>
          </p:cNvSpPr>
          <p:nvPr/>
        </p:nvSpPr>
        <p:spPr bwMode="auto">
          <a:xfrm>
            <a:off x="11428881" y="5282122"/>
            <a:ext cx="3211513" cy="1360487"/>
          </a:xfrm>
          <a:prstGeom prst="ellipse">
            <a:avLst/>
          </a:prstGeom>
          <a:noFill/>
          <a:ln w="57150">
            <a:solidFill>
              <a:srgbClr val="FF33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84" name="Text Box 16"/>
          <p:cNvSpPr txBox="1">
            <a:spLocks noChangeArrowheads="1"/>
          </p:cNvSpPr>
          <p:nvPr/>
        </p:nvSpPr>
        <p:spPr bwMode="auto">
          <a:xfrm>
            <a:off x="7597336" y="7376960"/>
            <a:ext cx="6055164"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800" b="1" dirty="0"/>
              <a:t>(2)  </a:t>
            </a:r>
            <a:r>
              <a:rPr lang="zh-CN" altLang="en-US" sz="2800" b="1" dirty="0"/>
              <a:t>某零件全部表面有相同的表面粗糙度轮廓技术要求的</a:t>
            </a:r>
            <a:r>
              <a:rPr lang="zh-CN" altLang="en-US" sz="2800" b="1" dirty="0" smtClean="0"/>
              <a:t>标注。</a:t>
            </a:r>
            <a:endParaRPr lang="zh-CN" altLang="en-US" sz="2800" b="1" dirty="0"/>
          </a:p>
        </p:txBody>
      </p:sp>
      <p:grpSp>
        <p:nvGrpSpPr>
          <p:cNvPr id="109610" name="Group 42"/>
          <p:cNvGrpSpPr/>
          <p:nvPr/>
        </p:nvGrpSpPr>
        <p:grpSpPr bwMode="auto">
          <a:xfrm>
            <a:off x="1072799" y="5359941"/>
            <a:ext cx="6984641" cy="4787974"/>
            <a:chOff x="464" y="1763"/>
            <a:chExt cx="3960" cy="2592"/>
          </a:xfrm>
        </p:grpSpPr>
        <p:pic>
          <p:nvPicPr>
            <p:cNvPr id="59406" name="Picture 3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 y="1763"/>
              <a:ext cx="2586" cy="2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9410" name="Group 37"/>
            <p:cNvGrpSpPr/>
            <p:nvPr/>
          </p:nvGrpSpPr>
          <p:grpSpPr bwMode="auto">
            <a:xfrm>
              <a:off x="3183" y="3792"/>
              <a:ext cx="1241" cy="466"/>
              <a:chOff x="2673" y="5357"/>
              <a:chExt cx="1115" cy="353"/>
            </a:xfrm>
          </p:grpSpPr>
          <p:sp>
            <p:nvSpPr>
              <p:cNvPr id="59411" name="AutoShape 38"/>
              <p:cNvSpPr>
                <a:spLocks noChangeArrowheads="1"/>
              </p:cNvSpPr>
              <p:nvPr/>
            </p:nvSpPr>
            <p:spPr bwMode="auto">
              <a:xfrm flipV="1">
                <a:off x="2673" y="5525"/>
                <a:ext cx="214" cy="185"/>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12" name="Line 39"/>
              <p:cNvSpPr>
                <a:spLocks noChangeShapeType="1"/>
              </p:cNvSpPr>
              <p:nvPr/>
            </p:nvSpPr>
            <p:spPr bwMode="auto">
              <a:xfrm flipV="1">
                <a:off x="2874" y="5357"/>
                <a:ext cx="129" cy="175"/>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3" name="Line 40"/>
              <p:cNvSpPr>
                <a:spLocks noChangeShapeType="1"/>
              </p:cNvSpPr>
              <p:nvPr/>
            </p:nvSpPr>
            <p:spPr bwMode="auto">
              <a:xfrm>
                <a:off x="2998" y="5365"/>
                <a:ext cx="556"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14" name="Text Box 41"/>
              <p:cNvSpPr txBox="1">
                <a:spLocks noChangeArrowheads="1"/>
              </p:cNvSpPr>
              <p:nvPr/>
            </p:nvSpPr>
            <p:spPr bwMode="auto">
              <a:xfrm>
                <a:off x="2930" y="5368"/>
                <a:ext cx="858" cy="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dirty="0"/>
                  <a:t>Ra </a:t>
                </a:r>
                <a:r>
                  <a:rPr lang="en-US" altLang="zh-CN" b="1" dirty="0"/>
                  <a:t>12.5</a:t>
                </a:r>
              </a:p>
            </p:txBody>
          </p:sp>
        </p:grpSp>
      </p:grpSp>
      <p:cxnSp>
        <p:nvCxnSpPr>
          <p:cNvPr id="15" name="直接连接符 14"/>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9578"/>
                                        </p:tgtEl>
                                        <p:attrNameLst>
                                          <p:attrName>style.visibility</p:attrName>
                                        </p:attrNameLst>
                                      </p:cBhvr>
                                      <p:to>
                                        <p:strVal val="visible"/>
                                      </p:to>
                                    </p:set>
                                    <p:animEffect transition="in" filter="wipe(left)">
                                      <p:cBhvr>
                                        <p:cTn id="7" dur="500"/>
                                        <p:tgtEl>
                                          <p:spTgt spid="1095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9579"/>
                                        </p:tgtEl>
                                        <p:attrNameLst>
                                          <p:attrName>style.visibility</p:attrName>
                                        </p:attrNameLst>
                                      </p:cBhvr>
                                      <p:to>
                                        <p:strVal val="visible"/>
                                      </p:to>
                                    </p:set>
                                    <p:animEffect transition="in" filter="wipe(left)">
                                      <p:cBhvr>
                                        <p:cTn id="12" dur="500"/>
                                        <p:tgtEl>
                                          <p:spTgt spid="10957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9583"/>
                                        </p:tgtEl>
                                        <p:attrNameLst>
                                          <p:attrName>style.visibility</p:attrName>
                                        </p:attrNameLst>
                                      </p:cBhvr>
                                      <p:to>
                                        <p:strVal val="visible"/>
                                      </p:to>
                                    </p:set>
                                    <p:animEffect transition="in" filter="blinds(horizontal)">
                                      <p:cBhvr>
                                        <p:cTn id="17" dur="500"/>
                                        <p:tgtEl>
                                          <p:spTgt spid="10958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9584"/>
                                        </p:tgtEl>
                                        <p:attrNameLst>
                                          <p:attrName>style.visibility</p:attrName>
                                        </p:attrNameLst>
                                      </p:cBhvr>
                                      <p:to>
                                        <p:strVal val="visible"/>
                                      </p:to>
                                    </p:set>
                                    <p:animEffect transition="in" filter="wipe(left)">
                                      <p:cBhvr>
                                        <p:cTn id="22" dur="500"/>
                                        <p:tgtEl>
                                          <p:spTgt spid="10958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nodeType="clickEffect">
                                  <p:stCondLst>
                                    <p:cond delay="0"/>
                                  </p:stCondLst>
                                  <p:childTnLst>
                                    <p:set>
                                      <p:cBhvr>
                                        <p:cTn id="26" dur="1" fill="hold">
                                          <p:stCondLst>
                                            <p:cond delay="0"/>
                                          </p:stCondLst>
                                        </p:cTn>
                                        <p:tgtEl>
                                          <p:spTgt spid="109610"/>
                                        </p:tgtEl>
                                        <p:attrNameLst>
                                          <p:attrName>style.visibility</p:attrName>
                                        </p:attrNameLst>
                                      </p:cBhvr>
                                      <p:to>
                                        <p:strVal val="visible"/>
                                      </p:to>
                                    </p:set>
                                    <p:anim calcmode="lin" valueType="num">
                                      <p:cBhvr additive="base">
                                        <p:cTn id="27" dur="500" fill="hold"/>
                                        <p:tgtEl>
                                          <p:spTgt spid="109610"/>
                                        </p:tgtEl>
                                        <p:attrNameLst>
                                          <p:attrName>ppt_x</p:attrName>
                                        </p:attrNameLst>
                                      </p:cBhvr>
                                      <p:tavLst>
                                        <p:tav tm="0">
                                          <p:val>
                                            <p:strVal val="0-#ppt_w/2"/>
                                          </p:val>
                                        </p:tav>
                                        <p:tav tm="100000">
                                          <p:val>
                                            <p:strVal val="#ppt_x"/>
                                          </p:val>
                                        </p:tav>
                                      </p:tavLst>
                                    </p:anim>
                                    <p:anim calcmode="lin" valueType="num">
                                      <p:cBhvr additive="base">
                                        <p:cTn id="28" dur="500" fill="hold"/>
                                        <p:tgtEl>
                                          <p:spTgt spid="1096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8" grpId="0"/>
      <p:bldP spid="109579" grpId="0"/>
      <p:bldP spid="109583" grpId="0" animBg="1"/>
      <p:bldP spid="10958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47D3C3DA-9FFF-4E46-92FD-4E2B5358E3CF}" type="slidenum">
              <a:rPr lang="zh-CN" altLang="en-US" smtClean="0"/>
              <a:pPr>
                <a:defRPr/>
              </a:pPr>
              <a:t>42</a:t>
            </a:fld>
            <a:endParaRPr lang="en-US" altLang="zh-CN"/>
          </a:p>
        </p:txBody>
      </p:sp>
      <p:sp>
        <p:nvSpPr>
          <p:cNvPr id="5" name="Text Box 43"/>
          <p:cNvSpPr txBox="1">
            <a:spLocks noChangeArrowheads="1"/>
          </p:cNvSpPr>
          <p:nvPr/>
        </p:nvSpPr>
        <p:spPr bwMode="auto">
          <a:xfrm>
            <a:off x="1216864" y="1999857"/>
            <a:ext cx="13233654"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2800" b="1" dirty="0"/>
              <a:t>(3)  </a:t>
            </a:r>
            <a:r>
              <a:rPr lang="zh-CN" altLang="en-US" sz="2800" b="1" dirty="0"/>
              <a:t>对多个表面有相同表面粗糙度轮廓的技术要求或在图纸空间有限时的简化</a:t>
            </a:r>
            <a:r>
              <a:rPr lang="zh-CN" altLang="en-US" sz="2800" b="1" dirty="0" smtClean="0"/>
              <a:t>标注。</a:t>
            </a:r>
            <a:endParaRPr lang="zh-CN" altLang="en-US" sz="2800" b="1" dirty="0"/>
          </a:p>
        </p:txBody>
      </p:sp>
      <p:pic>
        <p:nvPicPr>
          <p:cNvPr id="7" name="Picture 4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5082" y="3553062"/>
            <a:ext cx="13745436" cy="5367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10"/>
          <p:cNvSpPr txBox="1">
            <a:spLocks noChangeArrowheads="1"/>
          </p:cNvSpPr>
          <p:nvPr/>
        </p:nvSpPr>
        <p:spPr bwMode="auto">
          <a:xfrm>
            <a:off x="705082" y="613287"/>
            <a:ext cx="54197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600" b="1" dirty="0"/>
              <a:t>3.  </a:t>
            </a:r>
            <a:r>
              <a:rPr lang="zh-CN" altLang="en-US" sz="3600" b="1" dirty="0"/>
              <a:t>简化标注</a:t>
            </a:r>
          </a:p>
        </p:txBody>
      </p:sp>
      <p:cxnSp>
        <p:nvCxnSpPr>
          <p:cNvPr id="8" name="直接连接符 7"/>
          <p:cNvCxnSpPr/>
          <p:nvPr/>
        </p:nvCxnSpPr>
        <p:spPr bwMode="auto">
          <a:xfrm flipV="1">
            <a:off x="414883" y="151761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31" name="Text Box 15"/>
          <p:cNvSpPr txBox="1">
            <a:spLocks noChangeArrowheads="1"/>
          </p:cNvSpPr>
          <p:nvPr/>
        </p:nvSpPr>
        <p:spPr bwMode="auto">
          <a:xfrm>
            <a:off x="533400" y="168275"/>
            <a:ext cx="6864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t>4</a:t>
            </a:r>
            <a:r>
              <a:rPr lang="zh-CN" altLang="en-US" sz="2800" b="1"/>
              <a:t>、 综合标注示例    </a:t>
            </a:r>
          </a:p>
        </p:txBody>
      </p:sp>
      <p:sp>
        <p:nvSpPr>
          <p:cNvPr id="111632" name="Text Box 16"/>
          <p:cNvSpPr txBox="1">
            <a:spLocks noChangeArrowheads="1"/>
          </p:cNvSpPr>
          <p:nvPr/>
        </p:nvSpPr>
        <p:spPr bwMode="auto">
          <a:xfrm>
            <a:off x="3813083" y="137471"/>
            <a:ext cx="5864106"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t>（</a:t>
            </a:r>
            <a:r>
              <a:rPr lang="en-US" altLang="zh-CN" sz="2800" b="1" dirty="0"/>
              <a:t>1</a:t>
            </a:r>
            <a:r>
              <a:rPr lang="zh-CN" altLang="en-US" sz="2800" b="1" dirty="0"/>
              <a:t>） </a:t>
            </a:r>
            <a:r>
              <a:rPr lang="zh-CN" altLang="en-US" sz="2800" b="1" dirty="0" smtClean="0"/>
              <a:t>图为</a:t>
            </a:r>
            <a:r>
              <a:rPr lang="zh-CN" altLang="en-US" sz="2800" b="1" dirty="0"/>
              <a:t>减速器输出轴的</a:t>
            </a:r>
            <a:r>
              <a:rPr lang="zh-CN" altLang="en-US" sz="2800" b="1" dirty="0" smtClean="0"/>
              <a:t>零件图。</a:t>
            </a:r>
            <a:endParaRPr lang="zh-CN" altLang="en-US" sz="2800" b="1" dirty="0"/>
          </a:p>
        </p:txBody>
      </p:sp>
      <p:pic>
        <p:nvPicPr>
          <p:cNvPr id="111645" name="Picture 2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6685" y="689549"/>
            <a:ext cx="12860067" cy="10573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1631"/>
                                        </p:tgtEl>
                                        <p:attrNameLst>
                                          <p:attrName>style.visibility</p:attrName>
                                        </p:attrNameLst>
                                      </p:cBhvr>
                                      <p:to>
                                        <p:strVal val="visible"/>
                                      </p:to>
                                    </p:set>
                                    <p:animEffect transition="in" filter="wipe(left)">
                                      <p:cBhvr>
                                        <p:cTn id="7" dur="3000"/>
                                        <p:tgtEl>
                                          <p:spTgt spid="1116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1632"/>
                                        </p:tgtEl>
                                        <p:attrNameLst>
                                          <p:attrName>style.visibility</p:attrName>
                                        </p:attrNameLst>
                                      </p:cBhvr>
                                      <p:to>
                                        <p:strVal val="visible"/>
                                      </p:to>
                                    </p:set>
                                    <p:animEffect transition="in" filter="wipe(left)">
                                      <p:cBhvr>
                                        <p:cTn id="12" dur="3000"/>
                                        <p:tgtEl>
                                          <p:spTgt spid="11163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1645"/>
                                        </p:tgtEl>
                                        <p:attrNameLst>
                                          <p:attrName>style.visibility</p:attrName>
                                        </p:attrNameLst>
                                      </p:cBhvr>
                                      <p:to>
                                        <p:strVal val="visible"/>
                                      </p:to>
                                    </p:set>
                                    <p:anim calcmode="lin" valueType="num">
                                      <p:cBhvr additive="base">
                                        <p:cTn id="17" dur="500" fill="hold"/>
                                        <p:tgtEl>
                                          <p:spTgt spid="111645"/>
                                        </p:tgtEl>
                                        <p:attrNameLst>
                                          <p:attrName>ppt_x</p:attrName>
                                        </p:attrNameLst>
                                      </p:cBhvr>
                                      <p:tavLst>
                                        <p:tav tm="0">
                                          <p:val>
                                            <p:strVal val="#ppt_x"/>
                                          </p:val>
                                        </p:tav>
                                        <p:tav tm="100000">
                                          <p:val>
                                            <p:strVal val="#ppt_x"/>
                                          </p:val>
                                        </p:tav>
                                      </p:tavLst>
                                    </p:anim>
                                    <p:anim calcmode="lin" valueType="num">
                                      <p:cBhvr additive="base">
                                        <p:cTn id="18" dur="500" fill="hold"/>
                                        <p:tgtEl>
                                          <p:spTgt spid="1116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31" grpId="0"/>
      <p:bldP spid="11163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4" name="Rectangle 4"/>
          <p:cNvSpPr>
            <a:spLocks noChangeArrowheads="1"/>
          </p:cNvSpPr>
          <p:nvPr/>
        </p:nvSpPr>
        <p:spPr bwMode="auto">
          <a:xfrm>
            <a:off x="487363" y="393700"/>
            <a:ext cx="13396912" cy="55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sz="2800" b="1" dirty="0"/>
              <a:t>（</a:t>
            </a:r>
            <a:r>
              <a:rPr lang="en-US" altLang="zh-CN" sz="2800" b="1" dirty="0"/>
              <a:t>2</a:t>
            </a:r>
            <a:r>
              <a:rPr lang="zh-CN" altLang="en-US" sz="2800" b="1" dirty="0"/>
              <a:t>） </a:t>
            </a:r>
            <a:r>
              <a:rPr lang="zh-CN" altLang="en-US" sz="2800" b="1" dirty="0" smtClean="0"/>
              <a:t>图为</a:t>
            </a:r>
            <a:r>
              <a:rPr lang="zh-CN" altLang="en-US" sz="2800" b="1" dirty="0"/>
              <a:t>减速器齿轮的</a:t>
            </a:r>
            <a:r>
              <a:rPr lang="zh-CN" altLang="en-US" sz="2800" b="1" dirty="0" smtClean="0"/>
              <a:t>零件图。</a:t>
            </a:r>
            <a:endParaRPr lang="zh-CN" altLang="en-US" sz="2800" b="1" dirty="0"/>
          </a:p>
        </p:txBody>
      </p:sp>
      <p:pic>
        <p:nvPicPr>
          <p:cNvPr id="11264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2763" y="1008335"/>
            <a:ext cx="14221549" cy="10159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2644"/>
                                        </p:tgtEl>
                                        <p:attrNameLst>
                                          <p:attrName>style.visibility</p:attrName>
                                        </p:attrNameLst>
                                      </p:cBhvr>
                                      <p:to>
                                        <p:strVal val="visible"/>
                                      </p:to>
                                    </p:set>
                                    <p:animEffect transition="in" filter="wipe(left)">
                                      <p:cBhvr>
                                        <p:cTn id="7" dur="3000"/>
                                        <p:tgtEl>
                                          <p:spTgt spid="11264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2645"/>
                                        </p:tgtEl>
                                        <p:attrNameLst>
                                          <p:attrName>style.visibility</p:attrName>
                                        </p:attrNameLst>
                                      </p:cBhvr>
                                      <p:to>
                                        <p:strVal val="visible"/>
                                      </p:to>
                                    </p:set>
                                    <p:anim calcmode="lin" valueType="num">
                                      <p:cBhvr additive="base">
                                        <p:cTn id="12" dur="3000" fill="hold"/>
                                        <p:tgtEl>
                                          <p:spTgt spid="112645"/>
                                        </p:tgtEl>
                                        <p:attrNameLst>
                                          <p:attrName>ppt_x</p:attrName>
                                        </p:attrNameLst>
                                      </p:cBhvr>
                                      <p:tavLst>
                                        <p:tav tm="0">
                                          <p:val>
                                            <p:strVal val="#ppt_x"/>
                                          </p:val>
                                        </p:tav>
                                        <p:tav tm="100000">
                                          <p:val>
                                            <p:strVal val="#ppt_x"/>
                                          </p:val>
                                        </p:tav>
                                      </p:tavLst>
                                    </p:anim>
                                    <p:anim calcmode="lin" valueType="num">
                                      <p:cBhvr additive="base">
                                        <p:cTn id="13" dur="3000" fill="hold"/>
                                        <p:tgtEl>
                                          <p:spTgt spid="1126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9028" name="Group 4"/>
          <p:cNvGrpSpPr/>
          <p:nvPr/>
        </p:nvGrpSpPr>
        <p:grpSpPr bwMode="auto">
          <a:xfrm>
            <a:off x="2986398" y="6013983"/>
            <a:ext cx="8705928" cy="4262414"/>
            <a:chOff x="3239" y="3796"/>
            <a:chExt cx="4032" cy="1147"/>
          </a:xfrm>
        </p:grpSpPr>
        <p:grpSp>
          <p:nvGrpSpPr>
            <p:cNvPr id="72713" name="Group 5"/>
            <p:cNvGrpSpPr/>
            <p:nvPr/>
          </p:nvGrpSpPr>
          <p:grpSpPr bwMode="auto">
            <a:xfrm>
              <a:off x="3407" y="3796"/>
              <a:ext cx="3696" cy="1147"/>
              <a:chOff x="3407" y="3796"/>
              <a:chExt cx="3696" cy="1147"/>
            </a:xfrm>
          </p:grpSpPr>
          <p:sp>
            <p:nvSpPr>
              <p:cNvPr id="72715" name="Rectangle 6"/>
              <p:cNvSpPr>
                <a:spLocks noChangeArrowheads="1"/>
              </p:cNvSpPr>
              <p:nvPr/>
            </p:nvSpPr>
            <p:spPr bwMode="auto">
              <a:xfrm>
                <a:off x="4723" y="4075"/>
                <a:ext cx="2380" cy="589"/>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72716" name="Group 7"/>
              <p:cNvGrpSpPr/>
              <p:nvPr/>
            </p:nvGrpSpPr>
            <p:grpSpPr bwMode="auto">
              <a:xfrm>
                <a:off x="3407" y="3796"/>
                <a:ext cx="1316" cy="1147"/>
                <a:chOff x="3407" y="3796"/>
                <a:chExt cx="1316" cy="1147"/>
              </a:xfrm>
            </p:grpSpPr>
            <p:sp>
              <p:nvSpPr>
                <p:cNvPr id="72717" name="Rectangle 8"/>
                <p:cNvSpPr>
                  <a:spLocks noChangeArrowheads="1"/>
                </p:cNvSpPr>
                <p:nvPr/>
              </p:nvSpPr>
              <p:spPr bwMode="auto">
                <a:xfrm>
                  <a:off x="3519" y="3796"/>
                  <a:ext cx="1204" cy="1147"/>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718" name="Line 9"/>
                <p:cNvSpPr>
                  <a:spLocks noChangeShapeType="1"/>
                </p:cNvSpPr>
                <p:nvPr/>
              </p:nvSpPr>
              <p:spPr bwMode="auto">
                <a:xfrm>
                  <a:off x="3407" y="3920"/>
                  <a:ext cx="0" cy="93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719" name="Line 10"/>
                <p:cNvSpPr>
                  <a:spLocks noChangeShapeType="1"/>
                </p:cNvSpPr>
                <p:nvPr/>
              </p:nvSpPr>
              <p:spPr bwMode="auto">
                <a:xfrm flipV="1">
                  <a:off x="3407" y="3796"/>
                  <a:ext cx="112" cy="12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2720" name="Line 11"/>
                <p:cNvSpPr>
                  <a:spLocks noChangeShapeType="1"/>
                </p:cNvSpPr>
                <p:nvPr/>
              </p:nvSpPr>
              <p:spPr bwMode="auto">
                <a:xfrm rot="16200000" flipV="1">
                  <a:off x="3413" y="4825"/>
                  <a:ext cx="112" cy="12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72714" name="Line 12"/>
            <p:cNvSpPr>
              <a:spLocks noChangeShapeType="1"/>
            </p:cNvSpPr>
            <p:nvPr/>
          </p:nvSpPr>
          <p:spPr bwMode="auto">
            <a:xfrm>
              <a:off x="3239" y="4370"/>
              <a:ext cx="4032" cy="0"/>
            </a:xfrm>
            <a:prstGeom prst="line">
              <a:avLst/>
            </a:prstGeom>
            <a:noFill/>
            <a:ln w="19050">
              <a:solidFill>
                <a:srgbClr val="00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29037" name="Rectangle 13"/>
          <p:cNvSpPr>
            <a:spLocks noChangeArrowheads="1"/>
          </p:cNvSpPr>
          <p:nvPr/>
        </p:nvSpPr>
        <p:spPr bwMode="auto">
          <a:xfrm>
            <a:off x="671513" y="1244928"/>
            <a:ext cx="91757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p>
            <a:pPr defTabSz="1524000"/>
            <a:r>
              <a:rPr lang="zh-CN" altLang="en-US" sz="4000" b="1" dirty="0">
                <a:ea typeface="楷体_GB2312" pitchFamily="49" charset="-122"/>
              </a:rPr>
              <a:t>  </a:t>
            </a:r>
            <a:r>
              <a:rPr lang="en-US" altLang="zh-CN" sz="4000" b="1" dirty="0" smtClean="0">
                <a:ea typeface="楷体_GB2312" pitchFamily="49" charset="-122"/>
              </a:rPr>
              <a:t>1</a:t>
            </a:r>
            <a:r>
              <a:rPr lang="zh-CN" altLang="en-US" sz="4000" b="1" dirty="0" smtClean="0">
                <a:ea typeface="楷体_GB2312" pitchFamily="49" charset="-122"/>
              </a:rPr>
              <a:t>. </a:t>
            </a:r>
            <a:r>
              <a:rPr lang="zh-CN" altLang="en-US" sz="4000" b="1" dirty="0">
                <a:ea typeface="楷体_GB2312" pitchFamily="49" charset="-122"/>
              </a:rPr>
              <a:t>试将下列要求标在图上：</a:t>
            </a:r>
          </a:p>
        </p:txBody>
      </p:sp>
      <p:sp>
        <p:nvSpPr>
          <p:cNvPr id="129038" name="Rectangle 14"/>
          <p:cNvSpPr>
            <a:spLocks noChangeArrowheads="1"/>
          </p:cNvSpPr>
          <p:nvPr/>
        </p:nvSpPr>
        <p:spPr bwMode="auto">
          <a:xfrm>
            <a:off x="1026228" y="2096868"/>
            <a:ext cx="12957175" cy="1261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p>
            <a:pPr marL="742950" indent="-742950" defTabSz="1524000">
              <a:buFontTx/>
              <a:buAutoNum type="arabicParenBoth"/>
              <a:defRPr/>
            </a:pPr>
            <a:r>
              <a:rPr lang="zh-CN" altLang="en-US" sz="3600" b="1" dirty="0">
                <a:ea typeface="楷体_GB2312" pitchFamily="49" charset="-122"/>
              </a:rPr>
              <a:t>大端圆柱面：尺寸要求</a:t>
            </a:r>
            <a:r>
              <a:rPr lang="zh-CN" altLang="en-US" sz="3600" b="1" dirty="0" smtClean="0">
                <a:ea typeface="楷体_GB2312" pitchFamily="49" charset="-122"/>
              </a:rPr>
              <a:t>为</a:t>
            </a:r>
            <a:r>
              <a:rPr lang="en-US" altLang="zh-CN" sz="3600" b="1" i="1" dirty="0" smtClean="0">
                <a:latin typeface="Swis721 BT" pitchFamily="34" charset="0"/>
                <a:ea typeface="楷体_GB2312" pitchFamily="49" charset="-122"/>
              </a:rPr>
              <a:t>Φ</a:t>
            </a:r>
            <a:r>
              <a:rPr lang="en-US" altLang="zh-CN" sz="3600" b="1" dirty="0" smtClean="0">
                <a:ea typeface="楷体_GB2312" pitchFamily="49" charset="-122"/>
              </a:rPr>
              <a:t>45 </a:t>
            </a:r>
            <a:r>
              <a:rPr lang="en-US" altLang="zh-CN" sz="3600" b="1" dirty="0">
                <a:ea typeface="楷体_GB2312" pitchFamily="49" charset="-122"/>
              </a:rPr>
              <a:t>h7 mm ，</a:t>
            </a:r>
            <a:r>
              <a:rPr lang="zh-CN" altLang="en-US" sz="3600" b="1" dirty="0">
                <a:ea typeface="楷体_GB2312" pitchFamily="49" charset="-122"/>
              </a:rPr>
              <a:t>并采用</a:t>
            </a:r>
            <a:r>
              <a:rPr lang="zh-CN" altLang="en-US" sz="3600" b="1" dirty="0" smtClean="0">
                <a:ea typeface="楷体_GB2312" pitchFamily="49" charset="-122"/>
              </a:rPr>
              <a:t>包容要求</a:t>
            </a:r>
            <a:r>
              <a:rPr lang="zh-CN" altLang="en-US" sz="3600" dirty="0">
                <a:ea typeface="楷体_GB2312" pitchFamily="49" charset="-122"/>
              </a:rPr>
              <a:t>，</a:t>
            </a:r>
            <a:r>
              <a:rPr lang="zh-CN" altLang="en-US" sz="3600" b="1" dirty="0">
                <a:ea typeface="楷体_GB2312" pitchFamily="49" charset="-122"/>
              </a:rPr>
              <a:t>表面粗糙度值</a:t>
            </a:r>
            <a:r>
              <a:rPr lang="zh-CN" altLang="en-US" sz="3600" b="1" i="1" dirty="0">
                <a:ea typeface="楷体_GB2312" pitchFamily="49" charset="-122"/>
              </a:rPr>
              <a:t>Ｒ</a:t>
            </a:r>
            <a:r>
              <a:rPr lang="en-US" altLang="zh-CN" sz="3600" b="1" i="1" dirty="0">
                <a:ea typeface="楷体_GB2312" pitchFamily="49" charset="-122"/>
              </a:rPr>
              <a:t>a</a:t>
            </a:r>
            <a:r>
              <a:rPr lang="zh-CN" altLang="en-US" sz="3600" b="1" dirty="0">
                <a:ea typeface="楷体_GB2312" pitchFamily="49" charset="-122"/>
              </a:rPr>
              <a:t>的上限值为0.8</a:t>
            </a:r>
            <a:r>
              <a:rPr lang="en-US" altLang="zh-CN" sz="3600" b="1" dirty="0" err="1" smtClean="0">
                <a:ea typeface="楷体_GB2312" pitchFamily="49" charset="-122"/>
              </a:rPr>
              <a:t>μm</a:t>
            </a:r>
            <a:r>
              <a:rPr lang="zh-CN" altLang="en-US" sz="3600" b="1" dirty="0" smtClean="0">
                <a:ea typeface="楷体_GB2312" pitchFamily="49" charset="-122"/>
              </a:rPr>
              <a:t>；</a:t>
            </a:r>
            <a:endParaRPr lang="en-US" altLang="zh-CN" sz="3600" b="1" dirty="0">
              <a:ea typeface="楷体_GB2312" pitchFamily="49" charset="-122"/>
            </a:endParaRPr>
          </a:p>
        </p:txBody>
      </p:sp>
      <p:sp>
        <p:nvSpPr>
          <p:cNvPr id="129041" name="Rectangle 17"/>
          <p:cNvSpPr>
            <a:spLocks noChangeArrowheads="1"/>
          </p:cNvSpPr>
          <p:nvPr/>
        </p:nvSpPr>
        <p:spPr bwMode="auto">
          <a:xfrm>
            <a:off x="691603" y="3275213"/>
            <a:ext cx="13474700" cy="707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p>
            <a:pPr defTabSz="1524000"/>
            <a:r>
              <a:rPr lang="en-US" altLang="zh-CN" sz="3600" b="1" dirty="0" smtClean="0">
                <a:ea typeface="楷体_GB2312" pitchFamily="49" charset="-122"/>
              </a:rPr>
              <a:t>   (2) </a:t>
            </a:r>
            <a:r>
              <a:rPr lang="zh-CN" altLang="en-US" sz="3600" b="1" dirty="0" smtClean="0">
                <a:ea typeface="楷体_GB2312" pitchFamily="49" charset="-122"/>
              </a:rPr>
              <a:t>小</a:t>
            </a:r>
            <a:r>
              <a:rPr lang="zh-CN" altLang="en-US" sz="3600" b="1" dirty="0">
                <a:ea typeface="楷体_GB2312" pitchFamily="49" charset="-122"/>
              </a:rPr>
              <a:t>端圆柱面轴线对大端圆柱面轴线的同轴 度公差</a:t>
            </a:r>
            <a:r>
              <a:rPr lang="zh-CN" altLang="en-US" sz="3600" b="1" dirty="0" smtClean="0">
                <a:ea typeface="楷体_GB2312" pitchFamily="49" charset="-122"/>
              </a:rPr>
              <a:t>为</a:t>
            </a:r>
            <a:r>
              <a:rPr lang="en-US" altLang="zh-CN" sz="3600" b="1" i="1" dirty="0" smtClean="0">
                <a:latin typeface="Swis721 BT" pitchFamily="34" charset="0"/>
                <a:ea typeface="楷体_GB2312" pitchFamily="49" charset="-122"/>
              </a:rPr>
              <a:t>Φ</a:t>
            </a:r>
            <a:r>
              <a:rPr lang="en-US" altLang="zh-CN" sz="3600" b="1" dirty="0" smtClean="0">
                <a:ea typeface="楷体_GB2312" pitchFamily="49" charset="-122"/>
              </a:rPr>
              <a:t>30μm</a:t>
            </a:r>
            <a:r>
              <a:rPr lang="zh-CN" altLang="en-US" sz="3600" b="1" dirty="0" smtClean="0">
                <a:ea typeface="楷体_GB2312" pitchFamily="49" charset="-122"/>
              </a:rPr>
              <a:t>；</a:t>
            </a:r>
            <a:endParaRPr lang="zh-CN" altLang="en-US" sz="3600" b="1" dirty="0">
              <a:ea typeface="楷体_GB2312" pitchFamily="49" charset="-122"/>
            </a:endParaRPr>
          </a:p>
        </p:txBody>
      </p:sp>
      <p:sp>
        <p:nvSpPr>
          <p:cNvPr id="129042" name="Rectangle 18"/>
          <p:cNvSpPr>
            <a:spLocks noChangeArrowheads="1"/>
          </p:cNvSpPr>
          <p:nvPr/>
        </p:nvSpPr>
        <p:spPr bwMode="auto">
          <a:xfrm>
            <a:off x="998903" y="4031675"/>
            <a:ext cx="13185775" cy="1815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52394" tIns="76197" rIns="152394" bIns="76197">
            <a:spAutoFit/>
          </a:bodyPr>
          <a:lstStyle/>
          <a:p>
            <a:pPr marL="742950" indent="-742950" defTabSz="1524000">
              <a:buFontTx/>
              <a:buAutoNum type="arabicParenBoth" startAt="3"/>
              <a:defRPr/>
            </a:pPr>
            <a:r>
              <a:rPr lang="zh-CN" altLang="en-US" sz="3600" b="1" dirty="0">
                <a:ea typeface="楷体_GB2312" pitchFamily="49" charset="-122"/>
              </a:rPr>
              <a:t>小端圆柱面：尺寸</a:t>
            </a:r>
            <a:r>
              <a:rPr lang="zh-CN" altLang="en-US" sz="3600" b="1" dirty="0" smtClean="0">
                <a:ea typeface="楷体_GB2312" pitchFamily="49" charset="-122"/>
              </a:rPr>
              <a:t>为</a:t>
            </a:r>
            <a:r>
              <a:rPr lang="en-US" altLang="zh-CN" sz="3600" b="1" i="1" dirty="0" smtClean="0">
                <a:latin typeface="Swis721 BT" pitchFamily="34" charset="0"/>
                <a:ea typeface="楷体_GB2312" pitchFamily="49" charset="-122"/>
              </a:rPr>
              <a:t>Φ</a:t>
            </a:r>
            <a:r>
              <a:rPr lang="en-US" altLang="zh-CN" sz="3600" b="1" dirty="0" smtClean="0">
                <a:ea typeface="楷体_GB2312" pitchFamily="49" charset="-122"/>
              </a:rPr>
              <a:t>25</a:t>
            </a:r>
            <a:r>
              <a:rPr lang="en-US" altLang="zh-CN" sz="3600" b="1" dirty="0" smtClean="0">
                <a:latin typeface="楷体_GB2312" pitchFamily="49" charset="-122"/>
                <a:ea typeface="楷体_GB2312" pitchFamily="49" charset="-122"/>
              </a:rPr>
              <a:t>±</a:t>
            </a:r>
            <a:r>
              <a:rPr lang="en-US" altLang="zh-CN" sz="3600" b="1" dirty="0" smtClean="0">
                <a:ea typeface="楷体_GB2312" pitchFamily="49" charset="-122"/>
              </a:rPr>
              <a:t>0.007mm</a:t>
            </a:r>
            <a:r>
              <a:rPr lang="zh-CN" altLang="en-US" sz="3600" b="1" dirty="0">
                <a:ea typeface="楷体_GB2312" pitchFamily="49" charset="-122"/>
              </a:rPr>
              <a:t>，圆度公差</a:t>
            </a:r>
            <a:r>
              <a:rPr lang="zh-CN" altLang="en-US" sz="3600" b="1" dirty="0" smtClean="0">
                <a:ea typeface="楷体_GB2312" pitchFamily="49" charset="-122"/>
              </a:rPr>
              <a:t>为0</a:t>
            </a:r>
            <a:r>
              <a:rPr lang="zh-CN" altLang="en-US" sz="3600" b="1" dirty="0">
                <a:ea typeface="楷体_GB2312" pitchFamily="49" charset="-122"/>
              </a:rPr>
              <a:t>.01</a:t>
            </a:r>
            <a:r>
              <a:rPr lang="en-US" altLang="zh-CN" sz="3600" b="1" dirty="0" smtClean="0">
                <a:ea typeface="楷体_GB2312" pitchFamily="49" charset="-122"/>
              </a:rPr>
              <a:t>mm, </a:t>
            </a:r>
            <a:r>
              <a:rPr lang="en-US" altLang="zh-CN" sz="3600" b="1" i="1" dirty="0" err="1" smtClean="0">
                <a:ea typeface="楷体_GB2312" pitchFamily="49" charset="-122"/>
              </a:rPr>
              <a:t>Rz</a:t>
            </a:r>
            <a:r>
              <a:rPr lang="zh-CN" altLang="en-US" sz="3600" b="1" dirty="0" smtClean="0">
                <a:ea typeface="楷体_GB2312" pitchFamily="49" charset="-122"/>
              </a:rPr>
              <a:t>的上</a:t>
            </a:r>
            <a:r>
              <a:rPr lang="zh-CN" altLang="en-US" sz="3600" b="1" dirty="0">
                <a:ea typeface="楷体_GB2312" pitchFamily="49" charset="-122"/>
              </a:rPr>
              <a:t>限值为1.6</a:t>
            </a:r>
            <a:r>
              <a:rPr lang="en-US" altLang="zh-CN" sz="3600" b="1" dirty="0" err="1">
                <a:ea typeface="楷体_GB2312" pitchFamily="49" charset="-122"/>
              </a:rPr>
              <a:t>μm</a:t>
            </a:r>
            <a:r>
              <a:rPr lang="en-US" altLang="zh-CN" sz="3600" b="1" dirty="0">
                <a:ea typeface="楷体_GB2312" pitchFamily="49" charset="-122"/>
              </a:rPr>
              <a:t>，</a:t>
            </a:r>
            <a:r>
              <a:rPr lang="zh-CN" altLang="en-US" sz="3600" b="1" dirty="0">
                <a:ea typeface="楷体_GB2312" pitchFamily="49" charset="-122"/>
              </a:rPr>
              <a:t>极限值判断规则</a:t>
            </a:r>
            <a:r>
              <a:rPr lang="zh-CN" altLang="en-US" sz="3600" b="1" dirty="0" smtClean="0">
                <a:ea typeface="楷体_GB2312" pitchFamily="49" charset="-122"/>
              </a:rPr>
              <a:t>采用</a:t>
            </a:r>
            <a:r>
              <a:rPr lang="zh-CN" altLang="en-US" sz="3600" b="1" dirty="0">
                <a:ea typeface="楷体_GB2312" pitchFamily="49" charset="-122"/>
              </a:rPr>
              <a:t>最大规则，其余表面</a:t>
            </a:r>
            <a:r>
              <a:rPr lang="zh-CN" altLang="en-US" sz="3600" b="1" i="1" dirty="0">
                <a:ea typeface="楷体_GB2312" pitchFamily="49" charset="-122"/>
              </a:rPr>
              <a:t>Ｒ</a:t>
            </a:r>
            <a:r>
              <a:rPr lang="en-US" altLang="zh-CN" sz="3600" b="1" i="1" dirty="0">
                <a:ea typeface="楷体_GB2312" pitchFamily="49" charset="-122"/>
              </a:rPr>
              <a:t>a </a:t>
            </a:r>
            <a:r>
              <a:rPr lang="zh-CN" altLang="en-US" sz="3600" b="1" dirty="0">
                <a:ea typeface="楷体_GB2312" pitchFamily="49" charset="-122"/>
              </a:rPr>
              <a:t>的上限值均为6.3</a:t>
            </a:r>
            <a:r>
              <a:rPr lang="en-US" altLang="zh-CN" sz="3600" b="1" dirty="0">
                <a:ea typeface="楷体_GB2312" pitchFamily="49" charset="-122"/>
              </a:rPr>
              <a:t>μ</a:t>
            </a:r>
            <a:r>
              <a:rPr lang="zh-CN" altLang="en-US" sz="3600" b="1" dirty="0">
                <a:ea typeface="楷体_GB2312" pitchFamily="49" charset="-122"/>
              </a:rPr>
              <a:t>ｍ</a:t>
            </a:r>
            <a:r>
              <a:rPr lang="en-US" altLang="zh-CN" sz="3600" b="1" dirty="0">
                <a:ea typeface="楷体_GB2312" pitchFamily="49" charset="-122"/>
              </a:rPr>
              <a:t>。</a:t>
            </a:r>
            <a:endParaRPr lang="zh-CN" altLang="en-US" sz="3600" b="1" dirty="0">
              <a:ea typeface="楷体_GB2312" pitchFamily="49" charset="-122"/>
            </a:endParaRPr>
          </a:p>
        </p:txBody>
      </p:sp>
      <p:sp>
        <p:nvSpPr>
          <p:cNvPr id="16" name="TextBox 15"/>
          <p:cNvSpPr txBox="1"/>
          <p:nvPr/>
        </p:nvSpPr>
        <p:spPr>
          <a:xfrm>
            <a:off x="6295871" y="224853"/>
            <a:ext cx="3117954" cy="769441"/>
          </a:xfrm>
          <a:prstGeom prst="rect">
            <a:avLst/>
          </a:prstGeom>
          <a:noFill/>
        </p:spPr>
        <p:txBody>
          <a:bodyPr wrap="square" rtlCol="0">
            <a:spAutoFit/>
          </a:bodyPr>
          <a:lstStyle/>
          <a:p>
            <a:r>
              <a:rPr lang="zh-CN" altLang="en-US" sz="4400" b="1" dirty="0" smtClean="0"/>
              <a:t>课 堂 练 习</a:t>
            </a:r>
            <a:endParaRPr lang="zh-CN" altLang="en-US" sz="4400" b="1" dirty="0"/>
          </a:p>
        </p:txBody>
      </p:sp>
      <p:cxnSp>
        <p:nvCxnSpPr>
          <p:cNvPr id="18" name="直接连接符 17"/>
          <p:cNvCxnSpPr/>
          <p:nvPr/>
        </p:nvCxnSpPr>
        <p:spPr bwMode="auto">
          <a:xfrm flipV="1">
            <a:off x="534803" y="1052924"/>
            <a:ext cx="14400000" cy="0"/>
          </a:xfrm>
          <a:prstGeom prst="line">
            <a:avLst/>
          </a:prstGeom>
          <a:solidFill>
            <a:schemeClr val="accent1"/>
          </a:solidFill>
          <a:ln w="3810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29037"/>
                                        </p:tgtEl>
                                        <p:attrNameLst>
                                          <p:attrName>style.visibility</p:attrName>
                                        </p:attrNameLst>
                                      </p:cBhvr>
                                      <p:to>
                                        <p:strVal val="visible"/>
                                      </p:to>
                                    </p:set>
                                    <p:animEffect transition="in" filter="wipe(left)">
                                      <p:cBhvr>
                                        <p:cTn id="7" dur="300"/>
                                        <p:tgtEl>
                                          <p:spTgt spid="12903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29028"/>
                                        </p:tgtEl>
                                        <p:attrNameLst>
                                          <p:attrName>style.visibility</p:attrName>
                                        </p:attrNameLst>
                                      </p:cBhvr>
                                      <p:to>
                                        <p:strVal val="visible"/>
                                      </p:to>
                                    </p:set>
                                    <p:anim calcmode="lin" valueType="num">
                                      <p:cBhvr additive="base">
                                        <p:cTn id="12" dur="500" fill="hold"/>
                                        <p:tgtEl>
                                          <p:spTgt spid="129028"/>
                                        </p:tgtEl>
                                        <p:attrNameLst>
                                          <p:attrName>ppt_x</p:attrName>
                                        </p:attrNameLst>
                                      </p:cBhvr>
                                      <p:tavLst>
                                        <p:tav tm="0">
                                          <p:val>
                                            <p:strVal val="0-#ppt_w/2"/>
                                          </p:val>
                                        </p:tav>
                                        <p:tav tm="100000">
                                          <p:val>
                                            <p:strVal val="#ppt_x"/>
                                          </p:val>
                                        </p:tav>
                                      </p:tavLst>
                                    </p:anim>
                                    <p:anim calcmode="lin" valueType="num">
                                      <p:cBhvr additive="base">
                                        <p:cTn id="13" dur="500" fill="hold"/>
                                        <p:tgtEl>
                                          <p:spTgt spid="129028"/>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129038"/>
                                        </p:tgtEl>
                                        <p:attrNameLst>
                                          <p:attrName>style.visibility</p:attrName>
                                        </p:attrNameLst>
                                      </p:cBhvr>
                                      <p:to>
                                        <p:strVal val="visible"/>
                                      </p:to>
                                    </p:set>
                                    <p:animEffect transition="in" filter="wipe(left)">
                                      <p:cBhvr>
                                        <p:cTn id="18" dur="300"/>
                                        <p:tgtEl>
                                          <p:spTgt spid="12903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iterate type="wd">
                                    <p:tmPct val="100000"/>
                                  </p:iterate>
                                  <p:childTnLst>
                                    <p:set>
                                      <p:cBhvr>
                                        <p:cTn id="22" dur="1" fill="hold">
                                          <p:stCondLst>
                                            <p:cond delay="0"/>
                                          </p:stCondLst>
                                        </p:cTn>
                                        <p:tgtEl>
                                          <p:spTgt spid="129041"/>
                                        </p:tgtEl>
                                        <p:attrNameLst>
                                          <p:attrName>style.visibility</p:attrName>
                                        </p:attrNameLst>
                                      </p:cBhvr>
                                      <p:to>
                                        <p:strVal val="visible"/>
                                      </p:to>
                                    </p:set>
                                    <p:animEffect transition="in" filter="wipe(left)">
                                      <p:cBhvr>
                                        <p:cTn id="23" dur="300"/>
                                        <p:tgtEl>
                                          <p:spTgt spid="12904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iterate type="wd">
                                    <p:tmPct val="100000"/>
                                  </p:iterate>
                                  <p:childTnLst>
                                    <p:set>
                                      <p:cBhvr>
                                        <p:cTn id="27" dur="1" fill="hold">
                                          <p:stCondLst>
                                            <p:cond delay="0"/>
                                          </p:stCondLst>
                                        </p:cTn>
                                        <p:tgtEl>
                                          <p:spTgt spid="129042"/>
                                        </p:tgtEl>
                                        <p:attrNameLst>
                                          <p:attrName>style.visibility</p:attrName>
                                        </p:attrNameLst>
                                      </p:cBhvr>
                                      <p:to>
                                        <p:strVal val="visible"/>
                                      </p:to>
                                    </p:set>
                                    <p:animEffect transition="in" filter="wipe(left)">
                                      <p:cBhvr>
                                        <p:cTn id="28" dur="300"/>
                                        <p:tgtEl>
                                          <p:spTgt spid="129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37" grpId="0" autoUpdateAnimBg="0"/>
      <p:bldP spid="129038" grpId="0" autoUpdateAnimBg="0"/>
      <p:bldP spid="129041" grpId="0" autoUpdateAnimBg="0"/>
      <p:bldP spid="129042"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47D3C3DA-9FFF-4E46-92FD-4E2B5358E3CF}" type="slidenum">
              <a:rPr lang="zh-CN" altLang="en-US" smtClean="0"/>
              <a:pPr>
                <a:defRPr/>
              </a:pPr>
              <a:t>46</a:t>
            </a:fld>
            <a:endParaRPr lang="en-US" altLang="zh-CN"/>
          </a:p>
        </p:txBody>
      </p:sp>
      <p:grpSp>
        <p:nvGrpSpPr>
          <p:cNvPr id="5" name="Group 4"/>
          <p:cNvGrpSpPr/>
          <p:nvPr/>
        </p:nvGrpSpPr>
        <p:grpSpPr bwMode="auto">
          <a:xfrm>
            <a:off x="3136299" y="3960327"/>
            <a:ext cx="8705928" cy="4262414"/>
            <a:chOff x="3239" y="3796"/>
            <a:chExt cx="4032" cy="1147"/>
          </a:xfrm>
        </p:grpSpPr>
        <p:grpSp>
          <p:nvGrpSpPr>
            <p:cNvPr id="6" name="Group 5"/>
            <p:cNvGrpSpPr/>
            <p:nvPr/>
          </p:nvGrpSpPr>
          <p:grpSpPr bwMode="auto">
            <a:xfrm>
              <a:off x="3407" y="3796"/>
              <a:ext cx="3696" cy="1147"/>
              <a:chOff x="3407" y="3796"/>
              <a:chExt cx="3696" cy="1147"/>
            </a:xfrm>
          </p:grpSpPr>
          <p:sp>
            <p:nvSpPr>
              <p:cNvPr id="8" name="Rectangle 6"/>
              <p:cNvSpPr>
                <a:spLocks noChangeArrowheads="1"/>
              </p:cNvSpPr>
              <p:nvPr/>
            </p:nvSpPr>
            <p:spPr bwMode="auto">
              <a:xfrm>
                <a:off x="4723" y="4075"/>
                <a:ext cx="2380" cy="589"/>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nvGrpSpPr>
              <p:cNvPr id="9" name="Group 7"/>
              <p:cNvGrpSpPr/>
              <p:nvPr/>
            </p:nvGrpSpPr>
            <p:grpSpPr bwMode="auto">
              <a:xfrm>
                <a:off x="3407" y="3796"/>
                <a:ext cx="1316" cy="1147"/>
                <a:chOff x="3407" y="3796"/>
                <a:chExt cx="1316" cy="1147"/>
              </a:xfrm>
            </p:grpSpPr>
            <p:sp>
              <p:nvSpPr>
                <p:cNvPr id="10" name="Rectangle 8"/>
                <p:cNvSpPr>
                  <a:spLocks noChangeArrowheads="1"/>
                </p:cNvSpPr>
                <p:nvPr/>
              </p:nvSpPr>
              <p:spPr bwMode="auto">
                <a:xfrm>
                  <a:off x="3519" y="3796"/>
                  <a:ext cx="1204" cy="1147"/>
                </a:xfrm>
                <a:prstGeom prst="rect">
                  <a:avLst/>
                </a:prstGeom>
                <a:solidFill>
                  <a:srgbClr val="FFFFFF"/>
                </a:solidFill>
                <a:ln w="38100">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1" name="Line 9"/>
                <p:cNvSpPr>
                  <a:spLocks noChangeShapeType="1"/>
                </p:cNvSpPr>
                <p:nvPr/>
              </p:nvSpPr>
              <p:spPr bwMode="auto">
                <a:xfrm>
                  <a:off x="3407" y="3920"/>
                  <a:ext cx="0" cy="93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 name="Line 10"/>
                <p:cNvSpPr>
                  <a:spLocks noChangeShapeType="1"/>
                </p:cNvSpPr>
                <p:nvPr/>
              </p:nvSpPr>
              <p:spPr bwMode="auto">
                <a:xfrm flipV="1">
                  <a:off x="3407" y="3796"/>
                  <a:ext cx="112" cy="12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3" name="Line 11"/>
                <p:cNvSpPr>
                  <a:spLocks noChangeShapeType="1"/>
                </p:cNvSpPr>
                <p:nvPr/>
              </p:nvSpPr>
              <p:spPr bwMode="auto">
                <a:xfrm rot="16200000" flipV="1">
                  <a:off x="3413" y="4825"/>
                  <a:ext cx="112" cy="12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7" name="Line 12"/>
            <p:cNvSpPr>
              <a:spLocks noChangeShapeType="1"/>
            </p:cNvSpPr>
            <p:nvPr/>
          </p:nvSpPr>
          <p:spPr bwMode="auto">
            <a:xfrm>
              <a:off x="3239" y="4370"/>
              <a:ext cx="4032" cy="0"/>
            </a:xfrm>
            <a:prstGeom prst="line">
              <a:avLst/>
            </a:prstGeom>
            <a:noFill/>
            <a:ln w="19050">
              <a:solidFill>
                <a:srgbClr val="000000"/>
              </a:solidFill>
              <a:prstDash val="lgDash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4" name="TextBox 13"/>
          <p:cNvSpPr txBox="1"/>
          <p:nvPr/>
        </p:nvSpPr>
        <p:spPr>
          <a:xfrm>
            <a:off x="5876144" y="974361"/>
            <a:ext cx="4002373" cy="707886"/>
          </a:xfrm>
          <a:prstGeom prst="rect">
            <a:avLst/>
          </a:prstGeom>
          <a:noFill/>
        </p:spPr>
        <p:txBody>
          <a:bodyPr wrap="square" rtlCol="0">
            <a:spAutoFit/>
          </a:bodyPr>
          <a:lstStyle/>
          <a:p>
            <a:r>
              <a:rPr lang="zh-CN" altLang="en-US" sz="4000" b="1" dirty="0" smtClean="0"/>
              <a:t>课堂练习答案</a:t>
            </a:r>
            <a:endParaRPr lang="zh-CN" altLang="en-US" sz="4000" b="1" dirty="0"/>
          </a:p>
        </p:txBody>
      </p:sp>
      <p:cxnSp>
        <p:nvCxnSpPr>
          <p:cNvPr id="16" name="直接连接符 15"/>
          <p:cNvCxnSpPr/>
          <p:nvPr/>
        </p:nvCxnSpPr>
        <p:spPr bwMode="auto">
          <a:xfrm rot="10800000">
            <a:off x="2232472" y="3957403"/>
            <a:ext cx="1620000" cy="158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p:cNvCxnSpPr/>
          <p:nvPr/>
        </p:nvCxnSpPr>
        <p:spPr bwMode="auto">
          <a:xfrm rot="10800000">
            <a:off x="2187502" y="8229600"/>
            <a:ext cx="1620000" cy="158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箭头连接符 18"/>
          <p:cNvCxnSpPr/>
          <p:nvPr/>
        </p:nvCxnSpPr>
        <p:spPr bwMode="auto">
          <a:xfrm rot="16200000" flipH="1">
            <a:off x="607099" y="6108491"/>
            <a:ext cx="4272197" cy="0"/>
          </a:xfrm>
          <a:prstGeom prst="straightConnector1">
            <a:avLst/>
          </a:prstGeom>
          <a:solidFill>
            <a:schemeClr val="accent1"/>
          </a:solidFill>
          <a:ln w="28575" cap="flat" cmpd="sng" algn="ctr">
            <a:solidFill>
              <a:schemeClr val="tx1"/>
            </a:solidFill>
            <a:prstDash val="solid"/>
            <a:round/>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Box 19"/>
          <p:cNvSpPr txBox="1"/>
          <p:nvPr/>
        </p:nvSpPr>
        <p:spPr>
          <a:xfrm rot="16200000">
            <a:off x="1439051" y="5949497"/>
            <a:ext cx="1963712" cy="584775"/>
          </a:xfrm>
          <a:prstGeom prst="rect">
            <a:avLst/>
          </a:prstGeom>
          <a:noFill/>
        </p:spPr>
        <p:txBody>
          <a:bodyPr wrap="square" rtlCol="0">
            <a:spAutoFit/>
          </a:bodyPr>
          <a:lstStyle/>
          <a:p>
            <a:r>
              <a:rPr lang="en-US" altLang="zh-CN" sz="3200" b="1" i="1" dirty="0" smtClean="0">
                <a:latin typeface="Swis721 BT" pitchFamily="34" charset="0"/>
                <a:ea typeface="楷体_GB2312" pitchFamily="49" charset="-122"/>
              </a:rPr>
              <a:t>Φ</a:t>
            </a:r>
            <a:r>
              <a:rPr lang="en-US" altLang="zh-CN" sz="3200" b="1" dirty="0" smtClean="0">
                <a:ea typeface="楷体_GB2312" pitchFamily="49" charset="-122"/>
              </a:rPr>
              <a:t>45 h7</a:t>
            </a:r>
            <a:endParaRPr lang="zh-CN" altLang="en-US" sz="3200" dirty="0"/>
          </a:p>
        </p:txBody>
      </p:sp>
      <p:pic>
        <p:nvPicPr>
          <p:cNvPr id="21" name="Picture 4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6200000">
            <a:off x="2083214" y="5180313"/>
            <a:ext cx="643104" cy="655669"/>
          </a:xfrm>
          <a:prstGeom prst="rect">
            <a:avLst/>
          </a:prstGeom>
          <a:solidFill>
            <a:srgbClr val="FFCCFF"/>
          </a:solidFill>
          <a:ln>
            <a:noFill/>
          </a:ln>
          <a:effectLst/>
          <a:extLst>
            <a:ext uri="{91240B29-F687-4F45-9708-019B960494DF}">
              <a14:hiddenLine xmlns:a14="http://schemas.microsoft.com/office/drawing/2010/main" w="9525">
                <a:solidFill>
                  <a:srgbClr val="D6009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3" name="Group 19"/>
          <p:cNvGrpSpPr/>
          <p:nvPr/>
        </p:nvGrpSpPr>
        <p:grpSpPr bwMode="auto">
          <a:xfrm>
            <a:off x="9827193" y="3043001"/>
            <a:ext cx="3184585" cy="5966058"/>
            <a:chOff x="4215" y="4283"/>
            <a:chExt cx="4021" cy="8344"/>
          </a:xfrm>
        </p:grpSpPr>
        <p:sp>
          <p:nvSpPr>
            <p:cNvPr id="25" name="Text Box 20"/>
            <p:cNvSpPr txBox="1">
              <a:spLocks noChangeArrowheads="1"/>
            </p:cNvSpPr>
            <p:nvPr/>
          </p:nvSpPr>
          <p:spPr bwMode="auto">
            <a:xfrm>
              <a:off x="5237" y="4294"/>
              <a:ext cx="2753" cy="8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i="1" dirty="0" err="1" smtClean="0"/>
                <a:t>Rz</a:t>
              </a:r>
              <a:r>
                <a:rPr lang="en-US" altLang="zh-CN" sz="3200" b="1" i="1" dirty="0" smtClean="0"/>
                <a:t> max 1.6</a:t>
              </a:r>
              <a:endParaRPr lang="en-US" altLang="zh-CN" sz="3200" b="1" dirty="0"/>
            </a:p>
          </p:txBody>
        </p:sp>
        <p:grpSp>
          <p:nvGrpSpPr>
            <p:cNvPr id="26" name="Group 21"/>
            <p:cNvGrpSpPr/>
            <p:nvPr/>
          </p:nvGrpSpPr>
          <p:grpSpPr bwMode="auto">
            <a:xfrm>
              <a:off x="4215" y="4283"/>
              <a:ext cx="4021" cy="8344"/>
              <a:chOff x="3821" y="4410"/>
              <a:chExt cx="4021" cy="8344"/>
            </a:xfrm>
          </p:grpSpPr>
          <p:sp>
            <p:nvSpPr>
              <p:cNvPr id="27" name="AutoShape 22"/>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3"/>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24"/>
              <p:cNvSpPr>
                <a:spLocks noChangeShapeType="1"/>
              </p:cNvSpPr>
              <p:nvPr/>
            </p:nvSpPr>
            <p:spPr bwMode="auto">
              <a:xfrm flipV="1">
                <a:off x="4848" y="4410"/>
                <a:ext cx="2455"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9" name="Line 24"/>
              <p:cNvSpPr>
                <a:spLocks noChangeShapeType="1"/>
              </p:cNvSpPr>
              <p:nvPr/>
            </p:nvSpPr>
            <p:spPr bwMode="auto">
              <a:xfrm flipV="1">
                <a:off x="6514" y="12754"/>
                <a:ext cx="132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0" name="Rectangle 19"/>
          <p:cNvSpPr>
            <a:spLocks noChangeArrowheads="1"/>
          </p:cNvSpPr>
          <p:nvPr/>
        </p:nvSpPr>
        <p:spPr bwMode="auto">
          <a:xfrm>
            <a:off x="2747613" y="8242460"/>
            <a:ext cx="880697" cy="66429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AutoShape 21"/>
          <p:cNvSpPr>
            <a:spLocks noChangeArrowheads="1"/>
          </p:cNvSpPr>
          <p:nvPr/>
        </p:nvSpPr>
        <p:spPr bwMode="auto">
          <a:xfrm rot="10800000">
            <a:off x="2505994" y="8252522"/>
            <a:ext cx="441346" cy="381333"/>
          </a:xfrm>
          <a:prstGeom prst="triangle">
            <a:avLst>
              <a:gd name="adj" fmla="val 50000"/>
            </a:avLst>
          </a:prstGeom>
          <a:solidFill>
            <a:schemeClr val="tx2"/>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22"/>
          <p:cNvSpPr>
            <a:spLocks noChangeShapeType="1"/>
          </p:cNvSpPr>
          <p:nvPr/>
        </p:nvSpPr>
        <p:spPr bwMode="auto">
          <a:xfrm rot="16200000" flipV="1">
            <a:off x="2627088" y="8718928"/>
            <a:ext cx="216000" cy="0"/>
          </a:xfrm>
          <a:prstGeom prst="line">
            <a:avLst/>
          </a:prstGeom>
          <a:noFill/>
          <a:ln w="190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TextBox 32"/>
          <p:cNvSpPr txBox="1"/>
          <p:nvPr/>
        </p:nvSpPr>
        <p:spPr>
          <a:xfrm>
            <a:off x="2518346" y="8844198"/>
            <a:ext cx="434715" cy="523220"/>
          </a:xfrm>
          <a:prstGeom prst="rect">
            <a:avLst/>
          </a:prstGeom>
          <a:noFill/>
          <a:ln w="28575">
            <a:solidFill>
              <a:schemeClr val="tx1"/>
            </a:solidFill>
          </a:ln>
        </p:spPr>
        <p:txBody>
          <a:bodyPr wrap="square" rtlCol="0">
            <a:spAutoFit/>
          </a:bodyPr>
          <a:lstStyle/>
          <a:p>
            <a:r>
              <a:rPr lang="en-US" altLang="zh-CN" sz="2800" dirty="0" smtClean="0"/>
              <a:t>A</a:t>
            </a:r>
            <a:endParaRPr lang="zh-CN" altLang="en-US" sz="2800" dirty="0"/>
          </a:p>
        </p:txBody>
      </p:sp>
      <p:cxnSp>
        <p:nvCxnSpPr>
          <p:cNvPr id="34" name="直接箭头连接符 33"/>
          <p:cNvCxnSpPr/>
          <p:nvPr/>
        </p:nvCxnSpPr>
        <p:spPr bwMode="auto">
          <a:xfrm rot="16200000" flipH="1">
            <a:off x="7914096" y="6085320"/>
            <a:ext cx="2160000" cy="0"/>
          </a:xfrm>
          <a:prstGeom prst="straightConnector1">
            <a:avLst/>
          </a:prstGeom>
          <a:solidFill>
            <a:schemeClr val="accent1"/>
          </a:solidFill>
          <a:ln w="28575" cap="flat" cmpd="sng" algn="ctr">
            <a:solidFill>
              <a:schemeClr val="tx1"/>
            </a:solidFill>
            <a:prstDash val="solid"/>
            <a:round/>
            <a:headEnd type="arrow"/>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5059" name="Picture 3" descr="C:\Users\Administrator\Desktop\图片1.png"/>
          <p:cNvPicPr>
            <a:picLocks noChangeAspect="1" noChangeArrowheads="1"/>
          </p:cNvPicPr>
          <p:nvPr/>
        </p:nvPicPr>
        <p:blipFill>
          <a:blip r:embed="rId3"/>
          <a:srcRect/>
          <a:stretch>
            <a:fillRect/>
          </a:stretch>
        </p:blipFill>
        <p:spPr bwMode="auto">
          <a:xfrm rot="16200000">
            <a:off x="7938494" y="5779490"/>
            <a:ext cx="1502730" cy="687947"/>
          </a:xfrm>
          <a:prstGeom prst="rect">
            <a:avLst/>
          </a:prstGeom>
          <a:noFill/>
        </p:spPr>
      </p:pic>
      <p:grpSp>
        <p:nvGrpSpPr>
          <p:cNvPr id="47" name="组合 46"/>
          <p:cNvGrpSpPr/>
          <p:nvPr/>
        </p:nvGrpSpPr>
        <p:grpSpPr>
          <a:xfrm>
            <a:off x="9368851" y="7683710"/>
            <a:ext cx="2218545" cy="511785"/>
            <a:chOff x="9428813" y="3591395"/>
            <a:chExt cx="2218545" cy="511785"/>
          </a:xfrm>
        </p:grpSpPr>
        <p:grpSp>
          <p:nvGrpSpPr>
            <p:cNvPr id="45" name="组合 44"/>
            <p:cNvGrpSpPr/>
            <p:nvPr/>
          </p:nvGrpSpPr>
          <p:grpSpPr>
            <a:xfrm>
              <a:off x="9428813" y="3591395"/>
              <a:ext cx="2218545" cy="511785"/>
              <a:chOff x="7585023" y="2856877"/>
              <a:chExt cx="2218545" cy="511785"/>
            </a:xfrm>
          </p:grpSpPr>
          <p:sp>
            <p:nvSpPr>
              <p:cNvPr id="41" name="Line 66"/>
              <p:cNvSpPr>
                <a:spLocks noChangeShapeType="1"/>
              </p:cNvSpPr>
              <p:nvPr/>
            </p:nvSpPr>
            <p:spPr bwMode="auto">
              <a:xfrm>
                <a:off x="8265539" y="2856877"/>
                <a:ext cx="0" cy="496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67"/>
              <p:cNvSpPr>
                <a:spLocks noChangeShapeType="1"/>
              </p:cNvSpPr>
              <p:nvPr/>
            </p:nvSpPr>
            <p:spPr bwMode="auto">
              <a:xfrm>
                <a:off x="9073759" y="2871862"/>
                <a:ext cx="0" cy="496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TextBox 43"/>
              <p:cNvSpPr txBox="1"/>
              <p:nvPr/>
            </p:nvSpPr>
            <p:spPr>
              <a:xfrm>
                <a:off x="7585023" y="2878112"/>
                <a:ext cx="2218545" cy="461665"/>
              </a:xfrm>
              <a:prstGeom prst="rect">
                <a:avLst/>
              </a:prstGeom>
              <a:noFill/>
              <a:ln w="28575">
                <a:solidFill>
                  <a:schemeClr val="tx1"/>
                </a:solidFill>
              </a:ln>
            </p:spPr>
            <p:txBody>
              <a:bodyPr wrap="square" rtlCol="0">
                <a:spAutoFit/>
              </a:bodyPr>
              <a:lstStyle/>
              <a:p>
                <a:r>
                  <a:rPr lang="en-US" altLang="zh-CN" dirty="0" smtClean="0"/>
                  <a:t>         </a:t>
                </a:r>
                <a:r>
                  <a:rPr lang="el-GR" altLang="zh-CN" b="1" dirty="0" smtClean="0"/>
                  <a:t>φ</a:t>
                </a:r>
                <a:r>
                  <a:rPr lang="en-US" altLang="zh-CN" b="1" dirty="0" smtClean="0"/>
                  <a:t>0.03   </a:t>
                </a:r>
                <a:r>
                  <a:rPr lang="en-US" altLang="zh-CN" dirty="0" smtClean="0"/>
                  <a:t>A</a:t>
                </a:r>
                <a:endParaRPr lang="zh-CN" altLang="en-US" dirty="0"/>
              </a:p>
            </p:txBody>
          </p:sp>
        </p:grpSp>
        <p:sp>
          <p:nvSpPr>
            <p:cNvPr id="46" name="同心圆 45"/>
            <p:cNvSpPr/>
            <p:nvPr/>
          </p:nvSpPr>
          <p:spPr bwMode="auto">
            <a:xfrm>
              <a:off x="9593705" y="3687580"/>
              <a:ext cx="329784" cy="329784"/>
            </a:xfrm>
            <a:prstGeom prst="donut">
              <a:avLst/>
            </a:prstGeom>
            <a:solidFill>
              <a:schemeClr val="bg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grpSp>
      <p:cxnSp>
        <p:nvCxnSpPr>
          <p:cNvPr id="53" name="直接连接符 52"/>
          <p:cNvCxnSpPr/>
          <p:nvPr/>
        </p:nvCxnSpPr>
        <p:spPr bwMode="auto">
          <a:xfrm rot="10800000" flipV="1">
            <a:off x="8972855" y="7959776"/>
            <a:ext cx="396000"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箭头连接符 54"/>
          <p:cNvCxnSpPr/>
          <p:nvPr/>
        </p:nvCxnSpPr>
        <p:spPr bwMode="auto">
          <a:xfrm rot="16200000" flipV="1">
            <a:off x="8616098" y="7581780"/>
            <a:ext cx="756000" cy="0"/>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 name="直接连接符 63"/>
          <p:cNvCxnSpPr/>
          <p:nvPr/>
        </p:nvCxnSpPr>
        <p:spPr bwMode="auto">
          <a:xfrm rot="10800000" flipV="1">
            <a:off x="9548735" y="4212234"/>
            <a:ext cx="239841"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6" name="直接箭头连接符 65"/>
          <p:cNvCxnSpPr/>
          <p:nvPr/>
        </p:nvCxnSpPr>
        <p:spPr bwMode="auto">
          <a:xfrm rot="16200000" flipH="1">
            <a:off x="9166486" y="4579495"/>
            <a:ext cx="764498" cy="0"/>
          </a:xfrm>
          <a:prstGeom prst="straightConnector1">
            <a:avLst/>
          </a:prstGeom>
          <a:solidFill>
            <a:schemeClr val="accent1"/>
          </a:solidFill>
          <a:ln w="2857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9" name="组合 68"/>
          <p:cNvGrpSpPr/>
          <p:nvPr/>
        </p:nvGrpSpPr>
        <p:grpSpPr>
          <a:xfrm>
            <a:off x="9773587" y="3936170"/>
            <a:ext cx="1409076" cy="496800"/>
            <a:chOff x="10223291" y="3141691"/>
            <a:chExt cx="1409076" cy="496800"/>
          </a:xfrm>
        </p:grpSpPr>
        <p:sp>
          <p:nvSpPr>
            <p:cNvPr id="61" name="TextBox 60"/>
            <p:cNvSpPr txBox="1"/>
            <p:nvPr/>
          </p:nvSpPr>
          <p:spPr>
            <a:xfrm>
              <a:off x="10223291" y="3162925"/>
              <a:ext cx="1409076" cy="461665"/>
            </a:xfrm>
            <a:prstGeom prst="rect">
              <a:avLst/>
            </a:prstGeom>
            <a:noFill/>
            <a:ln w="28575">
              <a:solidFill>
                <a:schemeClr val="tx1"/>
              </a:solidFill>
            </a:ln>
          </p:spPr>
          <p:txBody>
            <a:bodyPr wrap="square" rtlCol="0">
              <a:spAutoFit/>
            </a:bodyPr>
            <a:lstStyle/>
            <a:p>
              <a:r>
                <a:rPr lang="en-US" altLang="zh-CN" dirty="0" smtClean="0"/>
                <a:t>        </a:t>
              </a:r>
              <a:r>
                <a:rPr lang="en-US" altLang="zh-CN" b="1" dirty="0" smtClean="0"/>
                <a:t> 0.01    </a:t>
              </a:r>
              <a:endParaRPr lang="zh-CN" altLang="en-US" b="1" dirty="0"/>
            </a:p>
          </p:txBody>
        </p:sp>
        <p:sp>
          <p:nvSpPr>
            <p:cNvPr id="62" name="椭圆 61"/>
            <p:cNvSpPr/>
            <p:nvPr/>
          </p:nvSpPr>
          <p:spPr bwMode="auto">
            <a:xfrm>
              <a:off x="10418165" y="3237875"/>
              <a:ext cx="299803" cy="299803"/>
            </a:xfrm>
            <a:prstGeom prst="ellipse">
              <a:avLst/>
            </a:prstGeom>
            <a:no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p:txBody>
        </p:sp>
        <p:sp>
          <p:nvSpPr>
            <p:cNvPr id="68" name="Line 66"/>
            <p:cNvSpPr>
              <a:spLocks noChangeShapeType="1"/>
            </p:cNvSpPr>
            <p:nvPr/>
          </p:nvSpPr>
          <p:spPr bwMode="auto">
            <a:xfrm>
              <a:off x="10948776" y="3141691"/>
              <a:ext cx="0" cy="49680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 name="Group 19"/>
          <p:cNvGrpSpPr/>
          <p:nvPr/>
        </p:nvGrpSpPr>
        <p:grpSpPr bwMode="auto">
          <a:xfrm>
            <a:off x="3936058" y="2878111"/>
            <a:ext cx="2284526" cy="1009048"/>
            <a:chOff x="4215" y="4283"/>
            <a:chExt cx="2468" cy="1195"/>
          </a:xfrm>
        </p:grpSpPr>
        <p:sp>
          <p:nvSpPr>
            <p:cNvPr id="71" name="Text Box 20"/>
            <p:cNvSpPr txBox="1">
              <a:spLocks noChangeArrowheads="1"/>
            </p:cNvSpPr>
            <p:nvPr/>
          </p:nvSpPr>
          <p:spPr bwMode="auto">
            <a:xfrm>
              <a:off x="5188" y="4294"/>
              <a:ext cx="1495" cy="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i="1" dirty="0" smtClean="0"/>
                <a:t>Ra 0.8</a:t>
              </a:r>
              <a:endParaRPr lang="en-US" altLang="zh-CN" sz="3200" b="1" dirty="0"/>
            </a:p>
          </p:txBody>
        </p:sp>
        <p:grpSp>
          <p:nvGrpSpPr>
            <p:cNvPr id="72" name="Group 21"/>
            <p:cNvGrpSpPr/>
            <p:nvPr/>
          </p:nvGrpSpPr>
          <p:grpSpPr bwMode="auto">
            <a:xfrm>
              <a:off x="4215" y="4283"/>
              <a:ext cx="2355" cy="1195"/>
              <a:chOff x="3821" y="4410"/>
              <a:chExt cx="2355" cy="1195"/>
            </a:xfrm>
          </p:grpSpPr>
          <p:sp>
            <p:nvSpPr>
              <p:cNvPr id="73" name="AutoShape 22"/>
              <p:cNvSpPr>
                <a:spLocks noChangeArrowheads="1"/>
              </p:cNvSpPr>
              <p:nvPr/>
            </p:nvSpPr>
            <p:spPr bwMode="auto">
              <a:xfrm flipV="1">
                <a:off x="3821" y="5029"/>
                <a:ext cx="666" cy="576"/>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23"/>
              <p:cNvSpPr>
                <a:spLocks noChangeShapeType="1"/>
              </p:cNvSpPr>
              <p:nvPr/>
            </p:nvSpPr>
            <p:spPr bwMode="auto">
              <a:xfrm flipV="1">
                <a:off x="4482" y="4411"/>
                <a:ext cx="357" cy="618"/>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 name="Line 24"/>
              <p:cNvSpPr>
                <a:spLocks noChangeShapeType="1"/>
              </p:cNvSpPr>
              <p:nvPr/>
            </p:nvSpPr>
            <p:spPr bwMode="auto">
              <a:xfrm flipV="1">
                <a:off x="4848" y="4410"/>
                <a:ext cx="1328"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76" name="AutoShape 37"/>
          <p:cNvSpPr>
            <a:spLocks noChangeArrowheads="1"/>
          </p:cNvSpPr>
          <p:nvPr/>
        </p:nvSpPr>
        <p:spPr bwMode="auto">
          <a:xfrm flipV="1">
            <a:off x="11287908" y="9385624"/>
            <a:ext cx="453356" cy="406808"/>
          </a:xfrm>
          <a:prstGeom prst="triangle">
            <a:avLst>
              <a:gd name="adj" fmla="val 50000"/>
            </a:avLst>
          </a:prstGeom>
          <a:noFill/>
          <a:ln w="38100">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38"/>
          <p:cNvSpPr>
            <a:spLocks noChangeShapeType="1"/>
          </p:cNvSpPr>
          <p:nvPr/>
        </p:nvSpPr>
        <p:spPr bwMode="auto">
          <a:xfrm flipV="1">
            <a:off x="11713724" y="9022795"/>
            <a:ext cx="273285" cy="384819"/>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 name="Text Box 40"/>
          <p:cNvSpPr txBox="1">
            <a:spLocks noChangeArrowheads="1"/>
          </p:cNvSpPr>
          <p:nvPr/>
        </p:nvSpPr>
        <p:spPr bwMode="auto">
          <a:xfrm>
            <a:off x="11847349" y="9040387"/>
            <a:ext cx="119409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dirty="0"/>
              <a:t>Ra  </a:t>
            </a:r>
            <a:r>
              <a:rPr lang="en-US" altLang="zh-CN" b="1" dirty="0"/>
              <a:t>6.3</a:t>
            </a:r>
          </a:p>
        </p:txBody>
      </p:sp>
      <p:sp>
        <p:nvSpPr>
          <p:cNvPr id="80" name="TextBox 79"/>
          <p:cNvSpPr txBox="1"/>
          <p:nvPr/>
        </p:nvSpPr>
        <p:spPr>
          <a:xfrm>
            <a:off x="12846574" y="9039069"/>
            <a:ext cx="1648918" cy="646331"/>
          </a:xfrm>
          <a:prstGeom prst="rect">
            <a:avLst/>
          </a:prstGeom>
          <a:noFill/>
        </p:spPr>
        <p:txBody>
          <a:bodyPr wrap="square" rtlCol="0">
            <a:spAutoFit/>
          </a:bodyPr>
          <a:lstStyle/>
          <a:p>
            <a:r>
              <a:rPr lang="zh-CN" altLang="en-US" sz="3600" b="1" dirty="0" smtClean="0"/>
              <a:t>（</a:t>
            </a:r>
            <a:r>
              <a:rPr lang="zh-CN" altLang="en-US" sz="3600" b="1" dirty="0" smtClean="0">
                <a:latin typeface="宋体" panose="02010600030101010101" pitchFamily="2" charset="-122"/>
                <a:ea typeface="宋体" panose="02010600030101010101" pitchFamily="2" charset="-122"/>
              </a:rPr>
              <a:t>√</a:t>
            </a:r>
            <a:r>
              <a:rPr lang="zh-CN" altLang="en-US" sz="3600" b="1" dirty="0" smtClean="0"/>
              <a:t>）</a:t>
            </a:r>
            <a:endParaRPr lang="zh-CN" altLang="en-US" sz="36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5"/>
          <p:cNvSpPr>
            <a:spLocks noGrp="1"/>
          </p:cNvSpPr>
          <p:nvPr>
            <p:ph type="sldNum" sz="quarter" idx="12"/>
          </p:nvPr>
        </p:nvSpPr>
        <p:spPr>
          <a:noFill/>
        </p:spPr>
        <p:txBody>
          <a:bodyPr/>
          <a:lstStyle>
            <a:lvl1pPr defTabSz="15240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defTabSz="152400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defTabSz="15240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1524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ACE04A56-2CD2-494B-85CE-A8655DC706A7}" type="slidenum">
              <a:rPr kumimoji="0" lang="zh-CN" altLang="en-US" sz="3300" smtClean="0"/>
              <a:pPr eaLnBrk="1" hangingPunct="1"/>
              <a:t>47</a:t>
            </a:fld>
            <a:endParaRPr kumimoji="0" lang="en-US" altLang="zh-CN" sz="3300" smtClean="0"/>
          </a:p>
        </p:txBody>
      </p:sp>
      <p:sp>
        <p:nvSpPr>
          <p:cNvPr id="96260" name="Text Box 4"/>
          <p:cNvSpPr txBox="1">
            <a:spLocks noChangeArrowheads="1"/>
          </p:cNvSpPr>
          <p:nvPr/>
        </p:nvSpPr>
        <p:spPr bwMode="auto">
          <a:xfrm>
            <a:off x="1307897" y="5400874"/>
            <a:ext cx="122221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a:t>
            </a:r>
            <a:r>
              <a:rPr lang="en-US" altLang="zh-CN" sz="2800" b="1"/>
              <a:t>5</a:t>
            </a:r>
            <a:r>
              <a:rPr lang="zh-CN" altLang="en-US" sz="2800" b="1"/>
              <a:t>）其余表面的表面粗糙度轮廓参</a:t>
            </a:r>
            <a:r>
              <a:rPr lang="en-US" altLang="zh-CN" sz="2800" b="1" i="1"/>
              <a:t>Ra</a:t>
            </a:r>
            <a:r>
              <a:rPr lang="zh-CN" altLang="en-US" sz="2800" b="1"/>
              <a:t>的上限值为</a:t>
            </a:r>
            <a:r>
              <a:rPr lang="en-US" altLang="zh-CN" sz="2800" b="1"/>
              <a:t>25μm</a:t>
            </a:r>
            <a:r>
              <a:rPr lang="zh-CN" altLang="en-US" sz="2800" b="1"/>
              <a:t>。</a:t>
            </a:r>
            <a:r>
              <a:rPr lang="en-US" altLang="zh-CN" sz="2800" b="1"/>
              <a:t>    </a:t>
            </a:r>
          </a:p>
        </p:txBody>
      </p:sp>
      <p:sp>
        <p:nvSpPr>
          <p:cNvPr id="96261" name="Rectangle 5"/>
          <p:cNvSpPr>
            <a:spLocks noChangeArrowheads="1"/>
          </p:cNvSpPr>
          <p:nvPr/>
        </p:nvSpPr>
        <p:spPr bwMode="auto">
          <a:xfrm>
            <a:off x="833235" y="1181299"/>
            <a:ext cx="13352462"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en-US" altLang="zh-CN" sz="2800" b="1" dirty="0"/>
              <a:t>        5. </a:t>
            </a:r>
            <a:r>
              <a:rPr lang="zh-CN" altLang="en-US" sz="2800" b="1" dirty="0"/>
              <a:t>参看带孔齿坯图 </a:t>
            </a:r>
            <a:r>
              <a:rPr lang="zh-CN" altLang="en-US" sz="2800" b="1" dirty="0" smtClean="0"/>
              <a:t>，</a:t>
            </a:r>
            <a:r>
              <a:rPr lang="zh-CN" altLang="en-US" sz="2800" b="1" dirty="0"/>
              <a:t>试将下列的表面粗糙度轮廓的技术要求标注在图上（未指明要求的项目皆为默认的标准化值）。</a:t>
            </a:r>
          </a:p>
        </p:txBody>
      </p:sp>
      <p:sp>
        <p:nvSpPr>
          <p:cNvPr id="96262" name="Rectangle 6"/>
          <p:cNvSpPr>
            <a:spLocks noChangeArrowheads="1"/>
          </p:cNvSpPr>
          <p:nvPr/>
        </p:nvSpPr>
        <p:spPr bwMode="auto">
          <a:xfrm>
            <a:off x="1280910" y="2303661"/>
            <a:ext cx="1291113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b="1"/>
              <a:t>（</a:t>
            </a:r>
            <a:r>
              <a:rPr lang="en-US" altLang="zh-CN" sz="2800" b="1"/>
              <a:t>1</a:t>
            </a:r>
            <a:r>
              <a:rPr lang="zh-CN" altLang="en-US" sz="2800" b="1"/>
              <a:t>）齿顶圆</a:t>
            </a:r>
            <a:r>
              <a:rPr lang="en-US" altLang="zh-CN" sz="2800" b="1" i="1"/>
              <a:t>a</a:t>
            </a:r>
            <a:r>
              <a:rPr lang="zh-CN" altLang="en-US" sz="2800" b="1"/>
              <a:t>的表面粗糙度轮廓幅度参数</a:t>
            </a:r>
            <a:r>
              <a:rPr lang="en-US" altLang="zh-CN" sz="2800" b="1" i="1"/>
              <a:t>Ra</a:t>
            </a:r>
            <a:r>
              <a:rPr lang="zh-CN" altLang="en-US" sz="2800" b="1"/>
              <a:t>的上限值为</a:t>
            </a:r>
            <a:r>
              <a:rPr lang="en-US" altLang="zh-CN" sz="2800" b="1"/>
              <a:t>2μm</a:t>
            </a:r>
            <a:r>
              <a:rPr lang="zh-CN" altLang="en-US" sz="2800" b="1"/>
              <a:t>；</a:t>
            </a:r>
          </a:p>
        </p:txBody>
      </p:sp>
      <p:sp>
        <p:nvSpPr>
          <p:cNvPr id="96263" name="Rectangle 7"/>
          <p:cNvSpPr>
            <a:spLocks noChangeArrowheads="1"/>
          </p:cNvSpPr>
          <p:nvPr/>
        </p:nvSpPr>
        <p:spPr bwMode="auto">
          <a:xfrm>
            <a:off x="1287260" y="2871986"/>
            <a:ext cx="12168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800" b="1" i="1"/>
              <a:t>（</a:t>
            </a:r>
            <a:r>
              <a:rPr lang="en-US" altLang="zh-CN" sz="2800" b="1"/>
              <a:t>2</a:t>
            </a:r>
            <a:r>
              <a:rPr lang="zh-CN" altLang="en-US" sz="2800" b="1"/>
              <a:t>）齿坯的两端面</a:t>
            </a:r>
            <a:r>
              <a:rPr lang="en-US" altLang="zh-CN" sz="2800" b="1" i="1"/>
              <a:t>b</a:t>
            </a:r>
            <a:r>
              <a:rPr lang="zh-CN" altLang="en-US" sz="2800" b="1"/>
              <a:t>和</a:t>
            </a:r>
            <a:r>
              <a:rPr lang="en-US" altLang="zh-CN" sz="2800" b="1" i="1"/>
              <a:t>c</a:t>
            </a:r>
            <a:r>
              <a:rPr lang="zh-CN" altLang="en-US" sz="2800" b="1"/>
              <a:t>的表面粗糙度参数</a:t>
            </a:r>
            <a:r>
              <a:rPr lang="en-US" altLang="zh-CN" sz="2800" b="1" i="1"/>
              <a:t>Ra</a:t>
            </a:r>
            <a:r>
              <a:rPr lang="zh-CN" altLang="en-US" sz="2800" b="1"/>
              <a:t>的最大值为</a:t>
            </a:r>
            <a:r>
              <a:rPr lang="en-US" altLang="zh-CN" sz="2800" b="1"/>
              <a:t>3.2μm</a:t>
            </a:r>
            <a:r>
              <a:rPr lang="zh-CN" altLang="en-US" sz="2800" b="1"/>
              <a:t>；</a:t>
            </a:r>
          </a:p>
        </p:txBody>
      </p:sp>
      <p:sp>
        <p:nvSpPr>
          <p:cNvPr id="96264" name="Rectangle 8"/>
          <p:cNvSpPr>
            <a:spLocks noChangeArrowheads="1"/>
          </p:cNvSpPr>
          <p:nvPr/>
        </p:nvSpPr>
        <p:spPr bwMode="auto">
          <a:xfrm>
            <a:off x="798310" y="3362524"/>
            <a:ext cx="1358265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800" b="1" dirty="0"/>
              <a:t>      （</a:t>
            </a:r>
            <a:r>
              <a:rPr lang="en-US" altLang="zh-CN" sz="2800" b="1" dirty="0"/>
              <a:t>3</a:t>
            </a:r>
            <a:r>
              <a:rPr lang="zh-CN" altLang="en-US" sz="2800" b="1" dirty="0"/>
              <a:t>）</a:t>
            </a:r>
            <a:r>
              <a:rPr lang="az-Cyrl-AZ" altLang="en-US" sz="2800" b="1" i="1" dirty="0"/>
              <a:t>ф</a:t>
            </a:r>
            <a:r>
              <a:rPr lang="en-US" altLang="zh-CN" sz="2800" b="1" dirty="0"/>
              <a:t>30</a:t>
            </a:r>
            <a:r>
              <a:rPr lang="zh-CN" altLang="en-US" sz="2800" b="1" dirty="0"/>
              <a:t>孔最后一道工序为拉削加工，表面粗糙度轮廓幅度参数 </a:t>
            </a:r>
            <a:r>
              <a:rPr lang="en-US" altLang="zh-CN" sz="2800" b="1" i="1" dirty="0" err="1"/>
              <a:t>Rz</a:t>
            </a:r>
            <a:r>
              <a:rPr lang="en-US" altLang="zh-CN" sz="2800" b="1" dirty="0"/>
              <a:t> </a:t>
            </a:r>
            <a:r>
              <a:rPr lang="zh-CN" altLang="en-US" sz="2800" b="1" dirty="0"/>
              <a:t>的上限值为</a:t>
            </a:r>
            <a:r>
              <a:rPr lang="en-US" altLang="zh-CN" sz="2800" b="1" dirty="0"/>
              <a:t>2.5um</a:t>
            </a:r>
            <a:r>
              <a:rPr lang="zh-CN" altLang="en-US" sz="2800" b="1" dirty="0"/>
              <a:t>，并注出加工纹理方向；</a:t>
            </a:r>
          </a:p>
        </p:txBody>
      </p:sp>
      <p:sp>
        <p:nvSpPr>
          <p:cNvPr id="96265" name="Rectangle 9"/>
          <p:cNvSpPr>
            <a:spLocks noChangeArrowheads="1"/>
          </p:cNvSpPr>
          <p:nvPr/>
        </p:nvSpPr>
        <p:spPr bwMode="auto">
          <a:xfrm>
            <a:off x="1249160" y="4459486"/>
            <a:ext cx="13677900" cy="903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70000"/>
              </a:lnSpc>
              <a:spcBef>
                <a:spcPct val="50000"/>
              </a:spcBef>
            </a:pPr>
            <a:r>
              <a:rPr lang="zh-CN" altLang="en-US" sz="2800" b="1"/>
              <a:t>（</a:t>
            </a:r>
            <a:r>
              <a:rPr lang="en-US" altLang="zh-CN" sz="2800" b="1"/>
              <a:t>4</a:t>
            </a:r>
            <a:r>
              <a:rPr lang="zh-CN" altLang="en-US" sz="2800" b="1"/>
              <a:t>）尺寸为</a:t>
            </a:r>
            <a:r>
              <a:rPr lang="en-US" altLang="zh-CN" sz="2800" b="1"/>
              <a:t>8</a:t>
            </a:r>
            <a:r>
              <a:rPr lang="en-US" altLang="en-US" sz="2800" b="1"/>
              <a:t>±</a:t>
            </a:r>
            <a:r>
              <a:rPr lang="en-US" altLang="zh-CN" sz="2800" b="1"/>
              <a:t>0.018</a:t>
            </a:r>
            <a:r>
              <a:rPr lang="zh-CN" altLang="en-US" sz="2800" b="1"/>
              <a:t>键槽两侧面表面粗糙度轮廓参数</a:t>
            </a:r>
            <a:r>
              <a:rPr lang="en-US" altLang="zh-CN" sz="2800" b="1" i="1"/>
              <a:t>Ra</a:t>
            </a:r>
            <a:r>
              <a:rPr lang="zh-CN" altLang="en-US" sz="2800" b="1"/>
              <a:t>的上限值为</a:t>
            </a:r>
            <a:r>
              <a:rPr lang="en-US" altLang="zh-CN" sz="2800" b="1"/>
              <a:t>3.2μm</a:t>
            </a:r>
            <a:r>
              <a:rPr lang="zh-CN" altLang="en-US" sz="2800" b="1"/>
              <a:t>，键槽</a:t>
            </a:r>
          </a:p>
          <a:p>
            <a:pPr>
              <a:lnSpc>
                <a:spcPct val="70000"/>
              </a:lnSpc>
              <a:spcBef>
                <a:spcPct val="50000"/>
              </a:spcBef>
            </a:pPr>
            <a:r>
              <a:rPr lang="zh-CN" altLang="en-US" sz="2800" b="1"/>
              <a:t>        底面</a:t>
            </a:r>
            <a:r>
              <a:rPr lang="en-US" altLang="zh-CN" b="1" i="1"/>
              <a:t>Ra</a:t>
            </a:r>
            <a:r>
              <a:rPr lang="zh-CN" altLang="en-US" b="1"/>
              <a:t>的上限值为</a:t>
            </a:r>
            <a:r>
              <a:rPr lang="en-US" altLang="zh-CN" b="1"/>
              <a:t>6.3μm</a:t>
            </a:r>
            <a:r>
              <a:rPr lang="zh-CN" altLang="en-US"/>
              <a:t> </a:t>
            </a:r>
            <a:r>
              <a:rPr lang="zh-CN" altLang="en-US" sz="2800" b="1"/>
              <a:t>；</a:t>
            </a:r>
          </a:p>
        </p:txBody>
      </p:sp>
      <p:pic>
        <p:nvPicPr>
          <p:cNvPr id="96267"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03710" y="6253564"/>
            <a:ext cx="4125521" cy="4693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8860"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77533" y="6121026"/>
            <a:ext cx="5064254" cy="4715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5758774" y="291830"/>
            <a:ext cx="3112851" cy="707886"/>
          </a:xfrm>
          <a:prstGeom prst="rect">
            <a:avLst/>
          </a:prstGeom>
          <a:noFill/>
        </p:spPr>
        <p:txBody>
          <a:bodyPr wrap="square" rtlCol="0">
            <a:spAutoFit/>
          </a:bodyPr>
          <a:lstStyle/>
          <a:p>
            <a:r>
              <a:rPr lang="zh-CN" altLang="en-US" sz="4000" b="1" dirty="0" smtClean="0"/>
              <a:t>课 后 作 业</a:t>
            </a:r>
            <a:endParaRPr lang="zh-CN" altLang="en-US" sz="4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6261"/>
                                        </p:tgtEl>
                                        <p:attrNameLst>
                                          <p:attrName>style.visibility</p:attrName>
                                        </p:attrNameLst>
                                      </p:cBhvr>
                                      <p:to>
                                        <p:strVal val="visible"/>
                                      </p:to>
                                    </p:set>
                                    <p:animEffect transition="in" filter="blinds(horizontal)">
                                      <p:cBhvr>
                                        <p:cTn id="7" dur="500"/>
                                        <p:tgtEl>
                                          <p:spTgt spid="962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62"/>
                                        </p:tgtEl>
                                        <p:attrNameLst>
                                          <p:attrName>style.visibility</p:attrName>
                                        </p:attrNameLst>
                                      </p:cBhvr>
                                      <p:to>
                                        <p:strVal val="visible"/>
                                      </p:to>
                                    </p:set>
                                    <p:animEffect transition="in" filter="wipe(left)">
                                      <p:cBhvr>
                                        <p:cTn id="12" dur="500"/>
                                        <p:tgtEl>
                                          <p:spTgt spid="962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96263"/>
                                        </p:tgtEl>
                                        <p:attrNameLst>
                                          <p:attrName>style.visibility</p:attrName>
                                        </p:attrNameLst>
                                      </p:cBhvr>
                                      <p:to>
                                        <p:strVal val="visible"/>
                                      </p:to>
                                    </p:set>
                                    <p:animEffect transition="in" filter="wipe(right)">
                                      <p:cBhvr>
                                        <p:cTn id="17" dur="500"/>
                                        <p:tgtEl>
                                          <p:spTgt spid="9626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6264"/>
                                        </p:tgtEl>
                                        <p:attrNameLst>
                                          <p:attrName>style.visibility</p:attrName>
                                        </p:attrNameLst>
                                      </p:cBhvr>
                                      <p:to>
                                        <p:strVal val="visible"/>
                                      </p:to>
                                    </p:set>
                                    <p:animEffect transition="in" filter="box(in)">
                                      <p:cBhvr>
                                        <p:cTn id="22" dur="500"/>
                                        <p:tgtEl>
                                          <p:spTgt spid="9626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96265"/>
                                        </p:tgtEl>
                                        <p:attrNameLst>
                                          <p:attrName>style.visibility</p:attrName>
                                        </p:attrNameLst>
                                      </p:cBhvr>
                                      <p:to>
                                        <p:strVal val="visible"/>
                                      </p:to>
                                    </p:set>
                                    <p:animEffect transition="in" filter="strips(downLeft)">
                                      <p:cBhvr>
                                        <p:cTn id="27" dur="500"/>
                                        <p:tgtEl>
                                          <p:spTgt spid="96265"/>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96260"/>
                                        </p:tgtEl>
                                        <p:attrNameLst>
                                          <p:attrName>style.visibility</p:attrName>
                                        </p:attrNameLst>
                                      </p:cBhvr>
                                      <p:to>
                                        <p:strVal val="visible"/>
                                      </p:to>
                                    </p:set>
                                    <p:animEffect transition="in" filter="diamond(in)">
                                      <p:cBhvr>
                                        <p:cTn id="32" dur="2000"/>
                                        <p:tgtEl>
                                          <p:spTgt spid="96260"/>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nodeType="clickEffect">
                                  <p:stCondLst>
                                    <p:cond delay="0"/>
                                  </p:stCondLst>
                                  <p:childTnLst>
                                    <p:set>
                                      <p:cBhvr>
                                        <p:cTn id="36" dur="1" fill="hold">
                                          <p:stCondLst>
                                            <p:cond delay="0"/>
                                          </p:stCondLst>
                                        </p:cTn>
                                        <p:tgtEl>
                                          <p:spTgt spid="96267"/>
                                        </p:tgtEl>
                                        <p:attrNameLst>
                                          <p:attrName>style.visibility</p:attrName>
                                        </p:attrNameLst>
                                      </p:cBhvr>
                                      <p:to>
                                        <p:strVal val="visible"/>
                                      </p:to>
                                    </p:set>
                                    <p:anim calcmode="lin" valueType="num">
                                      <p:cBhvr additive="base">
                                        <p:cTn id="37" dur="500" fill="hold"/>
                                        <p:tgtEl>
                                          <p:spTgt spid="96267"/>
                                        </p:tgtEl>
                                        <p:attrNameLst>
                                          <p:attrName>ppt_x</p:attrName>
                                        </p:attrNameLst>
                                      </p:cBhvr>
                                      <p:tavLst>
                                        <p:tav tm="0">
                                          <p:val>
                                            <p:strVal val="1+#ppt_w/2"/>
                                          </p:val>
                                        </p:tav>
                                        <p:tav tm="100000">
                                          <p:val>
                                            <p:strVal val="#ppt_x"/>
                                          </p:val>
                                        </p:tav>
                                      </p:tavLst>
                                    </p:anim>
                                    <p:anim calcmode="lin" valueType="num">
                                      <p:cBhvr additive="base">
                                        <p:cTn id="38" dur="500" fill="hold"/>
                                        <p:tgtEl>
                                          <p:spTgt spid="9626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0" grpId="0"/>
      <p:bldP spid="96261" grpId="0"/>
      <p:bldP spid="96262" grpId="0"/>
      <p:bldP spid="96263" grpId="0"/>
      <p:bldP spid="96264" grpId="0"/>
      <p:bldP spid="9626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47D3C3DA-9FFF-4E46-92FD-4E2B5358E3CF}" type="slidenum">
              <a:rPr lang="zh-CN" altLang="en-US" smtClean="0"/>
              <a:pPr>
                <a:defRPr/>
              </a:pPr>
              <a:t>48</a:t>
            </a:fld>
            <a:endParaRPr lang="en-US" altLang="zh-CN"/>
          </a:p>
        </p:txBody>
      </p:sp>
      <p:pic>
        <p:nvPicPr>
          <p:cNvPr id="75783" name="Picture 7" descr="C:\Users\Administrator\Desktop\图片2.png"/>
          <p:cNvPicPr>
            <a:picLocks noChangeAspect="1" noChangeArrowheads="1"/>
          </p:cNvPicPr>
          <p:nvPr/>
        </p:nvPicPr>
        <p:blipFill>
          <a:blip r:embed="rId2" cstate="print"/>
          <a:srcRect r="2712"/>
          <a:stretch>
            <a:fillRect/>
          </a:stretch>
        </p:blipFill>
        <p:spPr bwMode="auto">
          <a:xfrm>
            <a:off x="170730" y="1435682"/>
            <a:ext cx="14942806" cy="7747229"/>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TotalTime>
  <Words>3374</Words>
  <Application>Microsoft Office PowerPoint</Application>
  <PresentationFormat>自定义</PresentationFormat>
  <Paragraphs>334</Paragraphs>
  <Slides>48</Slides>
  <Notes>2</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2</vt:i4>
      </vt:variant>
      <vt:variant>
        <vt:lpstr>幻灯片标题</vt:lpstr>
      </vt:variant>
      <vt:variant>
        <vt:i4>48</vt:i4>
      </vt:variant>
    </vt:vector>
  </HeadingPairs>
  <TitlesOfParts>
    <vt:vector size="55" baseType="lpstr">
      <vt:lpstr>Swis721 BT</vt:lpstr>
      <vt:lpstr>楷体_GB2312</vt:lpstr>
      <vt:lpstr>宋体</vt:lpstr>
      <vt:lpstr>Times New Roman</vt:lpstr>
      <vt:lpstr>默认设计模板</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yxm</cp:lastModifiedBy>
  <cp:revision>393</cp:revision>
  <dcterms:created xsi:type="dcterms:W3CDTF">2113-01-01T00:00:00Z</dcterms:created>
  <dcterms:modified xsi:type="dcterms:W3CDTF">2023-04-05T12:41:18Z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