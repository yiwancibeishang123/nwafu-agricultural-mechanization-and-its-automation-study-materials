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</p:sldMasterIdLst>
  <p:notesMasterIdLst>
    <p:notesMasterId r:id="rId53"/>
  </p:notesMasterIdLst>
  <p:sldIdLst>
    <p:sldId id="256" r:id="rId2"/>
    <p:sldId id="351" r:id="rId3"/>
    <p:sldId id="352" r:id="rId4"/>
    <p:sldId id="344" r:id="rId5"/>
    <p:sldId id="353" r:id="rId6"/>
    <p:sldId id="325" r:id="rId7"/>
    <p:sldId id="289" r:id="rId8"/>
    <p:sldId id="258" r:id="rId9"/>
    <p:sldId id="259" r:id="rId10"/>
    <p:sldId id="290" r:id="rId11"/>
    <p:sldId id="260" r:id="rId12"/>
    <p:sldId id="261" r:id="rId13"/>
    <p:sldId id="354" r:id="rId14"/>
    <p:sldId id="355" r:id="rId15"/>
    <p:sldId id="263" r:id="rId16"/>
    <p:sldId id="291" r:id="rId17"/>
    <p:sldId id="264" r:id="rId18"/>
    <p:sldId id="265" r:id="rId19"/>
    <p:sldId id="326" r:id="rId20"/>
    <p:sldId id="356" r:id="rId21"/>
    <p:sldId id="357" r:id="rId22"/>
    <p:sldId id="359" r:id="rId23"/>
    <p:sldId id="358" r:id="rId24"/>
    <p:sldId id="321" r:id="rId25"/>
    <p:sldId id="323" r:id="rId26"/>
    <p:sldId id="360" r:id="rId27"/>
    <p:sldId id="362" r:id="rId28"/>
    <p:sldId id="364" r:id="rId29"/>
    <p:sldId id="318" r:id="rId30"/>
    <p:sldId id="371" r:id="rId31"/>
    <p:sldId id="272" r:id="rId32"/>
    <p:sldId id="366" r:id="rId33"/>
    <p:sldId id="365" r:id="rId34"/>
    <p:sldId id="294" r:id="rId35"/>
    <p:sldId id="273" r:id="rId36"/>
    <p:sldId id="372" r:id="rId37"/>
    <p:sldId id="315" r:id="rId38"/>
    <p:sldId id="274" r:id="rId39"/>
    <p:sldId id="275" r:id="rId40"/>
    <p:sldId id="296" r:id="rId41"/>
    <p:sldId id="295" r:id="rId42"/>
    <p:sldId id="298" r:id="rId43"/>
    <p:sldId id="280" r:id="rId44"/>
    <p:sldId id="301" r:id="rId45"/>
    <p:sldId id="367" r:id="rId46"/>
    <p:sldId id="368" r:id="rId47"/>
    <p:sldId id="303" r:id="rId48"/>
    <p:sldId id="369" r:id="rId49"/>
    <p:sldId id="336" r:id="rId50"/>
    <p:sldId id="370" r:id="rId51"/>
    <p:sldId id="343" r:id="rId52"/>
  </p:sldIdLst>
  <p:sldSz cx="9144000" cy="5143500" type="screen16x9"/>
  <p:notesSz cx="6858000" cy="9144000"/>
  <p:custShowLst>
    <p:custShow name="自定义放映1" id="0">
      <p:sldLst>
        <p:sld r:id="rId12"/>
      </p:sldLst>
    </p:custShow>
  </p:custShow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17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316230" algn="l" rtl="0" fontAlgn="base">
      <a:spcBef>
        <a:spcPct val="0"/>
      </a:spcBef>
      <a:spcAft>
        <a:spcPct val="0"/>
      </a:spcAft>
      <a:defRPr kumimoji="1" sz="17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632460" algn="l" rtl="0" fontAlgn="base">
      <a:spcBef>
        <a:spcPct val="0"/>
      </a:spcBef>
      <a:spcAft>
        <a:spcPct val="0"/>
      </a:spcAft>
      <a:defRPr kumimoji="1" sz="17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948690" algn="l" rtl="0" fontAlgn="base">
      <a:spcBef>
        <a:spcPct val="0"/>
      </a:spcBef>
      <a:spcAft>
        <a:spcPct val="0"/>
      </a:spcAft>
      <a:defRPr kumimoji="1" sz="17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264920" algn="l" rtl="0" fontAlgn="base">
      <a:spcBef>
        <a:spcPct val="0"/>
      </a:spcBef>
      <a:spcAft>
        <a:spcPct val="0"/>
      </a:spcAft>
      <a:defRPr kumimoji="1" sz="17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1581150" algn="l" defTabSz="632460" rtl="0" eaLnBrk="1" latinLnBrk="0" hangingPunct="1">
      <a:defRPr kumimoji="1" sz="17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1898015" algn="l" defTabSz="632460" rtl="0" eaLnBrk="1" latinLnBrk="0" hangingPunct="1">
      <a:defRPr kumimoji="1" sz="17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2214245" algn="l" defTabSz="632460" rtl="0" eaLnBrk="1" latinLnBrk="0" hangingPunct="1">
      <a:defRPr kumimoji="1" sz="17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2530475" algn="l" defTabSz="632460" rtl="0" eaLnBrk="1" latinLnBrk="0" hangingPunct="1">
      <a:defRPr kumimoji="1" sz="17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0"/>
      </p:ext>
    </p:extLst>
  </p:showPr>
  <p:clrMru>
    <a:srgbClr val="0000FF"/>
    <a:srgbClr val="99FF66"/>
    <a:srgbClr val="CCFFCC"/>
    <a:srgbClr val="00FFFF"/>
    <a:srgbClr val="FF0000"/>
    <a:srgbClr val="00CCFF"/>
    <a:srgbClr val="FFCC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138" autoAdjust="0"/>
    <p:restoredTop sz="93772" autoAdjust="0"/>
  </p:normalViewPr>
  <p:slideViewPr>
    <p:cSldViewPr snapToGrid="0">
      <p:cViewPr varScale="1">
        <p:scale>
          <a:sx n="142" d="100"/>
          <a:sy n="142" d="100"/>
        </p:scale>
        <p:origin x="-798" y="-10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AC441EA6-81C6-4C68-9A75-9335451128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316230" algn="l" rtl="0" eaLnBrk="0" fontAlgn="base" hangingPunct="0">
      <a:spcBef>
        <a:spcPct val="30000"/>
      </a:spcBef>
      <a:spcAft>
        <a:spcPct val="0"/>
      </a:spcAft>
      <a:defRPr kumimoji="1" sz="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632460" algn="l" rtl="0" eaLnBrk="0" fontAlgn="base" hangingPunct="0">
      <a:spcBef>
        <a:spcPct val="30000"/>
      </a:spcBef>
      <a:spcAft>
        <a:spcPct val="0"/>
      </a:spcAft>
      <a:defRPr kumimoji="1" sz="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948690" algn="l" rtl="0" eaLnBrk="0" fontAlgn="base" hangingPunct="0">
      <a:spcBef>
        <a:spcPct val="30000"/>
      </a:spcBef>
      <a:spcAft>
        <a:spcPct val="0"/>
      </a:spcAft>
      <a:defRPr kumimoji="1" sz="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264920" algn="l" rtl="0" eaLnBrk="0" fontAlgn="base" hangingPunct="0">
      <a:spcBef>
        <a:spcPct val="30000"/>
      </a:spcBef>
      <a:spcAft>
        <a:spcPct val="0"/>
      </a:spcAft>
      <a:defRPr kumimoji="1" sz="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1581150" algn="l" defTabSz="632460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1898015" algn="l" defTabSz="632460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2214245" algn="l" defTabSz="632460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2530475" algn="l" defTabSz="632460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/>
              <a:t>优先选用基孔制</a:t>
            </a:r>
            <a:r>
              <a:rPr lang="en-US" altLang="zh-CN" b="1" dirty="0" smtClean="0"/>
              <a:t>H,</a:t>
            </a:r>
            <a:r>
              <a:rPr lang="zh-CN" altLang="en-US" b="1" dirty="0" smtClean="0"/>
              <a:t>主要是从工艺和经济效益考虑的。因为用定值刀具（如钻头、铰刀拉刀）加工孔，每把刀具只能加工某一尺寸的孔。而用一把车刀或一个砂轮可以加工不同尺寸轴。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441EA6-81C6-4C68-9A75-9335451128B7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 smtClean="0"/>
              <a:t>表中某一公称尺寸的孔（轴）和轴（孔）要求三种配合，采用基孔制（基轴制），则三种配合由一种孔（轴）公差带和三种轴（孔）公差带构成。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441EA6-81C6-4C68-9A75-9335451128B7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800" b="1" dirty="0" smtClean="0"/>
              <a:t>常常在仪器仪表中直接用光轧钢丝作轴。因为对于加工尺寸小（≤</a:t>
            </a:r>
            <a:r>
              <a:rPr lang="en-US" altLang="zh-CN" sz="800" b="1" dirty="0" smtClean="0"/>
              <a:t>1mm</a:t>
            </a:r>
            <a:r>
              <a:rPr lang="zh-CN" altLang="en-US" sz="800" b="1" dirty="0" smtClean="0"/>
              <a:t>）的轴比加工同级孔困难，此时采用基轴制较经济。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441EA6-81C6-4C68-9A75-9335451128B7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800" b="1" dirty="0" smtClean="0"/>
              <a:t>因为根据使用要求活塞销</a:t>
            </a:r>
            <a:r>
              <a:rPr lang="en-US" altLang="zh-CN" sz="800" b="1" dirty="0" smtClean="0"/>
              <a:t>1</a:t>
            </a:r>
            <a:r>
              <a:rPr lang="zh-CN" altLang="en-US" sz="800" b="1" dirty="0" smtClean="0"/>
              <a:t>与活塞</a:t>
            </a:r>
            <a:r>
              <a:rPr lang="en-US" altLang="zh-CN" sz="800" b="1" dirty="0" smtClean="0"/>
              <a:t>2</a:t>
            </a:r>
            <a:r>
              <a:rPr lang="zh-CN" altLang="en-US" sz="800" b="1" dirty="0" smtClean="0"/>
              <a:t>应为过渡配合，活塞销</a:t>
            </a:r>
            <a:r>
              <a:rPr lang="en-US" altLang="zh-CN" sz="800" b="1" dirty="0" smtClean="0"/>
              <a:t>1</a:t>
            </a:r>
            <a:r>
              <a:rPr lang="zh-CN" altLang="en-US" sz="800" b="1" dirty="0" smtClean="0"/>
              <a:t>与连杆</a:t>
            </a:r>
            <a:r>
              <a:rPr lang="en-US" altLang="zh-CN" sz="800" b="1" dirty="0" smtClean="0"/>
              <a:t>3</a:t>
            </a:r>
            <a:r>
              <a:rPr lang="zh-CN" altLang="en-US" sz="800" b="1" dirty="0" smtClean="0"/>
              <a:t>为间隙配合（一轴与多孔配合），采用基轴制便于加工。若采用基孔制，精度高的轴不好加工。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441EA6-81C6-4C68-9A75-9335451128B7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滚动轴承内圈与轴的配合采用基孔制，外圈与外壳孔的配合采用基轴制。图中，外壳孔按</a:t>
            </a:r>
            <a:r>
              <a:rPr lang="en-US" altLang="zh-CN" dirty="0" smtClean="0"/>
              <a:t>φ90J7</a:t>
            </a:r>
            <a:r>
              <a:rPr lang="zh-CN" altLang="en-US" dirty="0" smtClean="0"/>
              <a:t>制造，轴径按</a:t>
            </a:r>
            <a:r>
              <a:rPr lang="en-US" altLang="zh-CN" dirty="0" smtClean="0"/>
              <a:t>φ40k6</a:t>
            </a:r>
            <a:r>
              <a:rPr lang="zh-CN" altLang="en-US" dirty="0" smtClean="0"/>
              <a:t>制造。允许任一适当配合，隔圈孔与轴径配合为</a:t>
            </a:r>
            <a:r>
              <a:rPr lang="en-US" altLang="zh-CN" dirty="0" smtClean="0"/>
              <a:t>φ40D9/k6</a:t>
            </a:r>
            <a:r>
              <a:rPr lang="zh-CN" altLang="en-US" dirty="0" smtClean="0"/>
              <a:t>，轴承端盖与外壳孔配合为</a:t>
            </a:r>
            <a:r>
              <a:rPr lang="en-US" altLang="zh-CN" dirty="0" smtClean="0"/>
              <a:t>φ90J7/f6.</a:t>
            </a:r>
            <a:r>
              <a:rPr lang="en-US" altLang="zh-CN" baseline="0" dirty="0" smtClean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441EA6-81C6-4C68-9A75-9335451128B7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800" b="1" dirty="0" smtClean="0"/>
              <a:t>计算法也可用于靠过盈传递负荷的</a:t>
            </a:r>
            <a:r>
              <a:rPr lang="zh-CN" altLang="en-US" sz="800" b="1" dirty="0" smtClean="0">
                <a:solidFill>
                  <a:srgbClr val="FF0000"/>
                </a:solidFill>
              </a:rPr>
              <a:t>过盈配合。</a:t>
            </a:r>
            <a:r>
              <a:rPr lang="zh-CN" altLang="en-US" sz="800" b="1" dirty="0" smtClean="0"/>
              <a:t>根据要传递负荷的大小，按弹塑性变形理论，计算出所需的最小过盈，从标准中选择适当的过盈配合。再按此验算最大过盈是否使工件材料破坏。由于影响间隙配合和过盈配合的因素很多，理论计算是近似的，对于重要的配合还需要经过试验才能最后确定过盈配合的。试验法：如机车车轴与车轮的配合，就是用试验法确定配合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441EA6-81C6-4C68-9A75-9335451128B7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800" b="1" dirty="0" smtClean="0"/>
              <a:t>安全裕度是指测量中总的不确定度，它主要是由测量器具的不确定度和测量条件的不确定度组成。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441EA6-81C6-4C68-9A75-9335451128B7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b="1" dirty="0" smtClean="0"/>
              <a:t>如果被测零件通规能通过，止规不能通过，即被测零件合格；若通规不能通过，或者止规能通过，则被测零件不合格。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441EA6-81C6-4C68-9A75-9335451128B7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DEB2BE-64A4-4D01-8C61-45AA9BD2A59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3662484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7305A4-4A4F-47C0-B507-2BBD9E85A4A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1834304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37A3DA-CE90-433E-BB3B-7ABAB21A296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1666013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2BE334-23D8-4D15-8203-7235222A712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2976155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8056A3-0526-4CF6-B11E-A955FCB3AFB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844378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D77A3-CE2E-48D2-B909-D88F46FE86A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3309318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D68913-E8E0-42D8-80FB-CF993705873D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cxnSp>
        <p:nvCxnSpPr>
          <p:cNvPr id="5" name="直接连接符 4"/>
          <p:cNvCxnSpPr/>
          <p:nvPr userDrawn="1"/>
        </p:nvCxnSpPr>
        <p:spPr bwMode="auto">
          <a:xfrm>
            <a:off x="110590" y="595127"/>
            <a:ext cx="8917667" cy="21316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xmlns="" val="566770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8F74E8-9C1A-431D-B8FB-37C377441A5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863216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23AB7E-B3BB-45D0-98F9-049523B15E8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3125870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6F28ED-0AAF-4632-8A0D-6FF034FF768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2387483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A13087-CC7C-4E34-841C-A93D383B80B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141689341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1A13087-CC7C-4E34-841C-A93D383B80B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72041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51.xml"/><Relationship Id="rId3" Type="http://schemas.openxmlformats.org/officeDocument/2006/relationships/slide" Target="slide8.xml"/><Relationship Id="rId7" Type="http://schemas.openxmlformats.org/officeDocument/2006/relationships/slide" Target="slide4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8.xml"/><Relationship Id="rId5" Type="http://schemas.openxmlformats.org/officeDocument/2006/relationships/slide" Target="slide31.xml"/><Relationship Id="rId4" Type="http://schemas.openxmlformats.org/officeDocument/2006/relationships/slide" Target="slide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image" Target="../media/image31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4.png"/><Relationship Id="rId4" Type="http://schemas.openxmlformats.org/officeDocument/2006/relationships/oleObject" Target="../embeddings/oleObject5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37.png"/><Relationship Id="rId4" Type="http://schemas.openxmlformats.org/officeDocument/2006/relationships/oleObject" Target="../embeddings/oleObject7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4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10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48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37"/>
          <p:cNvSpPr txBox="1">
            <a:spLocks noChangeArrowheads="1"/>
          </p:cNvSpPr>
          <p:nvPr/>
        </p:nvSpPr>
        <p:spPr bwMode="auto">
          <a:xfrm>
            <a:off x="705967" y="60647"/>
            <a:ext cx="5753828" cy="494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3258" tIns="31629" rIns="63258" bIns="31629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800" b="1" dirty="0">
                <a:latin typeface="宋体" panose="02010600030101010101" pitchFamily="2" charset="-122"/>
              </a:rPr>
              <a:t>第</a:t>
            </a:r>
            <a:r>
              <a:rPr kumimoji="0" lang="en-US" altLang="zh-CN" sz="2800" b="1" dirty="0">
                <a:latin typeface="宋体" panose="02010600030101010101" pitchFamily="2" charset="-122"/>
              </a:rPr>
              <a:t>3</a:t>
            </a:r>
            <a:r>
              <a:rPr kumimoji="0" lang="zh-CN" altLang="en-US" sz="2800" b="1" dirty="0">
                <a:latin typeface="宋体" panose="02010600030101010101" pitchFamily="2" charset="-122"/>
              </a:rPr>
              <a:t>章  尺寸精度设计与</a:t>
            </a:r>
            <a:r>
              <a:rPr kumimoji="0" lang="zh-CN" altLang="en-US" sz="2800" b="1" dirty="0" smtClean="0">
                <a:latin typeface="宋体" panose="02010600030101010101" pitchFamily="2" charset="-122"/>
              </a:rPr>
              <a:t>检测</a:t>
            </a:r>
            <a:endParaRPr kumimoji="0" lang="en-US" altLang="zh-CN" sz="2800" dirty="0">
              <a:latin typeface="宋体" panose="02010600030101010101" pitchFamily="2" charset="-122"/>
            </a:endParaRPr>
          </a:p>
        </p:txBody>
      </p:sp>
      <p:sp>
        <p:nvSpPr>
          <p:cNvPr id="2052" name="Text Box 38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86376" y="744215"/>
            <a:ext cx="4554551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</a:rPr>
              <a:t>3.4 </a:t>
            </a:r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</a:rPr>
              <a:t>公差与配合的选用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2053" name="Text Box 39"/>
          <p:cNvSpPr txBox="1">
            <a:spLocks noChangeArrowheads="1"/>
          </p:cNvSpPr>
          <p:nvPr/>
        </p:nvSpPr>
        <p:spPr bwMode="auto">
          <a:xfrm>
            <a:off x="1057395" y="1179444"/>
            <a:ext cx="7022049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3.4.1</a:t>
            </a:r>
            <a:r>
              <a:rPr lang="en-US" altLang="zh-CN" sz="2000" b="1" dirty="0"/>
              <a:t>  </a:t>
            </a:r>
            <a:r>
              <a:rPr lang="zh-CN" altLang="en-US" sz="2000" b="1" dirty="0"/>
              <a:t>配合制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基准制</a:t>
            </a:r>
            <a:r>
              <a:rPr lang="en-US" altLang="zh-CN" sz="2000" b="1" dirty="0"/>
              <a:t>)</a:t>
            </a:r>
            <a:r>
              <a:rPr lang="zh-CN" altLang="en-US" sz="2000" b="1" dirty="0"/>
              <a:t>的</a:t>
            </a:r>
            <a:r>
              <a:rPr lang="zh-CN" altLang="en-US" sz="2000" b="1" dirty="0" smtClean="0"/>
              <a:t>选用</a:t>
            </a:r>
            <a:endParaRPr lang="en-US" altLang="zh-CN" sz="2000" dirty="0"/>
          </a:p>
        </p:txBody>
      </p:sp>
      <p:sp>
        <p:nvSpPr>
          <p:cNvPr id="2054" name="Text Box 40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057395" y="1542542"/>
            <a:ext cx="7022049" cy="388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3.4.2 </a:t>
            </a:r>
            <a:r>
              <a:rPr lang="zh-CN" altLang="en-US" sz="2000" b="1" dirty="0">
                <a:latin typeface="宋体" panose="02010600030101010101" pitchFamily="2" charset="-122"/>
              </a:rPr>
              <a:t>标准公差等级的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选用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sp>
        <p:nvSpPr>
          <p:cNvPr id="2055" name="Text Box 41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1057395" y="1870480"/>
            <a:ext cx="7003896" cy="388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3.4.3 </a:t>
            </a:r>
            <a:r>
              <a:rPr lang="zh-CN" altLang="en-US" sz="2000" b="1" dirty="0">
                <a:latin typeface="宋体" panose="02010600030101010101" pitchFamily="2" charset="-122"/>
              </a:rPr>
              <a:t>配合的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选用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2056" name="Text Box 42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1057395" y="2239157"/>
            <a:ext cx="7058356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3.4.4</a:t>
            </a:r>
            <a:r>
              <a:rPr lang="en-US" altLang="zh-CN" sz="2000" b="1" dirty="0"/>
              <a:t>  </a:t>
            </a:r>
            <a:r>
              <a:rPr lang="zh-CN" altLang="en-US" sz="2000" b="1" dirty="0"/>
              <a:t>线性尺寸的未注公差的</a:t>
            </a:r>
            <a:r>
              <a:rPr lang="zh-CN" altLang="en-US" sz="2000" b="1" dirty="0" smtClean="0"/>
              <a:t>选用</a:t>
            </a:r>
            <a:endParaRPr lang="en-US" altLang="zh-CN" sz="2000" dirty="0"/>
          </a:p>
        </p:txBody>
      </p:sp>
      <p:sp>
        <p:nvSpPr>
          <p:cNvPr id="2058" name="Text Box 44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769826" y="2708660"/>
            <a:ext cx="5139138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</a:rPr>
              <a:t>3.5 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</a:rPr>
              <a:t>尺 寸 精 度 的 检 </a:t>
            </a:r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</a:rPr>
              <a:t>测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sp>
        <p:nvSpPr>
          <p:cNvPr id="2059" name="Text Box 45"/>
          <p:cNvSpPr txBox="1">
            <a:spLocks noChangeArrowheads="1"/>
          </p:cNvSpPr>
          <p:nvPr/>
        </p:nvSpPr>
        <p:spPr bwMode="auto">
          <a:xfrm>
            <a:off x="1057395" y="3056862"/>
            <a:ext cx="7239890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3.5.1</a:t>
            </a:r>
            <a:r>
              <a:rPr lang="en-US" altLang="zh-CN" sz="2000" b="1" dirty="0"/>
              <a:t>  </a:t>
            </a:r>
            <a:r>
              <a:rPr lang="zh-CN" altLang="en-US" sz="2000" b="1" dirty="0"/>
              <a:t>用通用计量器具</a:t>
            </a:r>
            <a:r>
              <a:rPr lang="zh-CN" altLang="en-US" sz="2000" b="1" dirty="0" smtClean="0"/>
              <a:t>测量</a:t>
            </a:r>
            <a:endParaRPr lang="en-US" altLang="zh-CN" sz="2000" b="1" dirty="0"/>
          </a:p>
        </p:txBody>
      </p:sp>
      <p:sp>
        <p:nvSpPr>
          <p:cNvPr id="2060" name="Text Box 46">
            <a:hlinkClick r:id="rId7" action="ppaction://hlinksldjump"/>
          </p:cNvPr>
          <p:cNvSpPr txBox="1">
            <a:spLocks noChangeArrowheads="1"/>
          </p:cNvSpPr>
          <p:nvPr/>
        </p:nvSpPr>
        <p:spPr bwMode="auto">
          <a:xfrm>
            <a:off x="1057395" y="3345017"/>
            <a:ext cx="7258043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3.5.2</a:t>
            </a:r>
            <a:r>
              <a:rPr lang="en-US" altLang="zh-CN" sz="2000" b="1" dirty="0"/>
              <a:t>  </a:t>
            </a:r>
            <a:r>
              <a:rPr lang="zh-CN" altLang="en-US" sz="2000" b="1" dirty="0"/>
              <a:t>用光滑极限量规</a:t>
            </a:r>
            <a:r>
              <a:rPr lang="zh-CN" altLang="en-US" sz="2000" b="1" dirty="0" smtClean="0"/>
              <a:t>检验</a:t>
            </a:r>
            <a:endParaRPr lang="en-US" altLang="zh-CN" sz="2000" dirty="0"/>
          </a:p>
        </p:txBody>
      </p:sp>
      <p:sp>
        <p:nvSpPr>
          <p:cNvPr id="2061" name="Text Box 48">
            <a:hlinkClick r:id="rId8" action="ppaction://hlinksldjump"/>
          </p:cNvPr>
          <p:cNvSpPr txBox="1">
            <a:spLocks noChangeArrowheads="1"/>
          </p:cNvSpPr>
          <p:nvPr/>
        </p:nvSpPr>
        <p:spPr bwMode="auto">
          <a:xfrm>
            <a:off x="733520" y="3802781"/>
            <a:ext cx="8008523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本章</a:t>
            </a:r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</a:rPr>
              <a:t>重点</a:t>
            </a:r>
            <a:endParaRPr lang="en-US" altLang="zh-CN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" grpId="0"/>
      <p:bldP spid="2052" grpId="0"/>
      <p:bldP spid="2053" grpId="0"/>
      <p:bldP spid="2054" grpId="0" bldLvl="0" animBg="1"/>
      <p:bldP spid="2055" grpId="0" bldLvl="0" animBg="1"/>
      <p:bldP spid="2056" grpId="0" bldLvl="0" animBg="1"/>
      <p:bldP spid="2058" grpId="0" bldLvl="0" animBg="1"/>
      <p:bldP spid="2059" grpId="0" bldLvl="0" animBg="1"/>
      <p:bldP spid="2060" grpId="0" bldLvl="0" animBg="1"/>
      <p:bldP spid="206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D68913-E8E0-42D8-80FB-CF993705873D}" type="slidenum">
              <a:rPr lang="en-US" altLang="zh-CN" smtClean="0"/>
              <a:pPr>
                <a:defRPr/>
              </a:pPr>
              <a:t>2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224475" y="80633"/>
            <a:ext cx="7919703" cy="513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宋体" panose="02010600030101010101" pitchFamily="2" charset="-122"/>
              </a:rPr>
              <a:t>3.4 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公差与配合的选用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pSp>
        <p:nvGrpSpPr>
          <p:cNvPr id="6" name="Group 23"/>
          <p:cNvGrpSpPr/>
          <p:nvPr/>
        </p:nvGrpSpPr>
        <p:grpSpPr bwMode="auto">
          <a:xfrm>
            <a:off x="1420864" y="1450370"/>
            <a:ext cx="2093073" cy="1508647"/>
            <a:chOff x="1087" y="799"/>
            <a:chExt cx="1725" cy="1605"/>
          </a:xfrm>
        </p:grpSpPr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1087" y="1205"/>
              <a:ext cx="1349" cy="1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17994" tIns="58997" rIns="117994" bIns="58997">
              <a:spAutoFit/>
            </a:bodyPr>
            <a:lstStyle>
              <a:lvl1pPr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宋体" panose="02010600030101010101" pitchFamily="2" charset="-122"/>
                </a:rPr>
                <a:t>精度设计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宋体" panose="02010600030101010101" pitchFamily="2" charset="-122"/>
                </a:rPr>
                <a:t> </a:t>
              </a:r>
              <a:r>
                <a:rPr lang="zh-CN" altLang="en-US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内容</a:t>
              </a:r>
              <a:r>
                <a:rPr lang="zh-CN" altLang="en-US" dirty="0">
                  <a:latin typeface="宋体" panose="02010600030101010101" pitchFamily="2" charset="-122"/>
                </a:rPr>
                <a:t> </a:t>
              </a:r>
            </a:p>
          </p:txBody>
        </p:sp>
        <p:sp>
          <p:nvSpPr>
            <p:cNvPr id="8" name="AutoShape 12"/>
            <p:cNvSpPr/>
            <p:nvPr/>
          </p:nvSpPr>
          <p:spPr bwMode="auto">
            <a:xfrm>
              <a:off x="2460" y="799"/>
              <a:ext cx="352" cy="1605"/>
            </a:xfrm>
            <a:prstGeom prst="leftBrace">
              <a:avLst>
                <a:gd name="adj1" fmla="val 25402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</p:grp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3640128" y="1223219"/>
            <a:ext cx="3191178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/>
              <a:t>选用配合制（基准制）</a:t>
            </a:r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3640127" y="1793807"/>
            <a:ext cx="3329503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选用公差等级</a:t>
            </a:r>
          </a:p>
        </p:txBody>
      </p:sp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3594746" y="2305927"/>
            <a:ext cx="3026159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/>
              <a:t> </a:t>
            </a:r>
            <a:r>
              <a:rPr lang="zh-CN" altLang="en-US" b="1" dirty="0"/>
              <a:t>选用公差带与配合</a:t>
            </a:r>
          </a:p>
        </p:txBody>
      </p:sp>
      <p:sp>
        <p:nvSpPr>
          <p:cNvPr id="12" name="Text Box 16"/>
          <p:cNvSpPr txBox="1">
            <a:spLocks noChangeArrowheads="1"/>
          </p:cNvSpPr>
          <p:nvPr/>
        </p:nvSpPr>
        <p:spPr bwMode="auto">
          <a:xfrm>
            <a:off x="3667548" y="2858417"/>
            <a:ext cx="3073481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/>
              <a:t>确定未注尺寸公差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9" grpId="0" autoUpdateAnimBg="0"/>
      <p:bldP spid="10" grpId="0" autoUpdateAnimBg="0"/>
      <p:bldP spid="11" grpId="0" autoUpdateAnimBg="0"/>
      <p:bldP spid="1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D68913-E8E0-42D8-80FB-CF993705873D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269369" y="90089"/>
            <a:ext cx="4768567" cy="513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3.4.1  </a:t>
            </a:r>
            <a:r>
              <a:rPr lang="zh-CN" altLang="en-US" sz="2800" b="1" dirty="0"/>
              <a:t>配合制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基准制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的选用 </a:t>
            </a:r>
            <a:r>
              <a:rPr lang="en-US" altLang="zh-CN" sz="2800" dirty="0" smtClean="0"/>
              <a:t> </a:t>
            </a:r>
            <a:endParaRPr lang="en-US" altLang="zh-CN" sz="2800" dirty="0"/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1302370" y="2969214"/>
            <a:ext cx="5125043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/>
              <a:t>1. </a:t>
            </a:r>
            <a:r>
              <a:rPr lang="zh-CN" altLang="en-US" b="1" dirty="0"/>
              <a:t>一般情况下应</a:t>
            </a:r>
            <a:r>
              <a:rPr lang="zh-CN" altLang="en-US" b="1" dirty="0">
                <a:solidFill>
                  <a:srgbClr val="FF0000"/>
                </a:solidFill>
              </a:rPr>
              <a:t>优先选用基孔制</a:t>
            </a:r>
            <a:r>
              <a:rPr lang="zh-CN" altLang="en-US" b="1" dirty="0"/>
              <a:t> </a:t>
            </a:r>
          </a:p>
        </p:txBody>
      </p:sp>
      <p:sp>
        <p:nvSpPr>
          <p:cNvPr id="5" name="AutoShape 19"/>
          <p:cNvSpPr/>
          <p:nvPr/>
        </p:nvSpPr>
        <p:spPr bwMode="auto">
          <a:xfrm>
            <a:off x="4078048" y="1124201"/>
            <a:ext cx="196567" cy="620793"/>
          </a:xfrm>
          <a:prstGeom prst="leftBrace">
            <a:avLst>
              <a:gd name="adj1" fmla="val 27623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258" tIns="31629" rIns="63258" bIns="31629" anchor="ctr"/>
          <a:lstStyle/>
          <a:p>
            <a:endParaRPr lang="zh-CN" altLang="en-US" sz="2400"/>
          </a:p>
        </p:txBody>
      </p:sp>
      <p:sp>
        <p:nvSpPr>
          <p:cNvPr id="6" name="Text Box 20"/>
          <p:cNvSpPr txBox="1">
            <a:spLocks noChangeArrowheads="1"/>
          </p:cNvSpPr>
          <p:nvPr/>
        </p:nvSpPr>
        <p:spPr bwMode="auto">
          <a:xfrm>
            <a:off x="4251832" y="933366"/>
            <a:ext cx="2175582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基孔制 </a:t>
            </a:r>
            <a:r>
              <a:rPr lang="en-US" altLang="zh-CN" b="1" dirty="0">
                <a:solidFill>
                  <a:srgbClr val="FF0000"/>
                </a:solidFill>
              </a:rPr>
              <a:t>—H</a:t>
            </a:r>
          </a:p>
        </p:txBody>
      </p:sp>
      <p:sp>
        <p:nvSpPr>
          <p:cNvPr id="7" name="Text Box 21"/>
          <p:cNvSpPr txBox="1">
            <a:spLocks noChangeArrowheads="1"/>
          </p:cNvSpPr>
          <p:nvPr/>
        </p:nvSpPr>
        <p:spPr bwMode="auto">
          <a:xfrm>
            <a:off x="4188029" y="1477008"/>
            <a:ext cx="2586917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zh-CN" altLang="en-US" b="1" dirty="0">
                <a:solidFill>
                  <a:srgbClr val="FF0000"/>
                </a:solidFill>
              </a:rPr>
              <a:t>基准轴 </a:t>
            </a:r>
            <a:r>
              <a:rPr lang="en-US" altLang="zh-CN" b="1" dirty="0">
                <a:solidFill>
                  <a:srgbClr val="FF0000"/>
                </a:solidFill>
              </a:rPr>
              <a:t>—h</a:t>
            </a:r>
          </a:p>
        </p:txBody>
      </p:sp>
      <p:sp>
        <p:nvSpPr>
          <p:cNvPr id="8" name="Text Box 25"/>
          <p:cNvSpPr txBox="1">
            <a:spLocks noChangeArrowheads="1"/>
          </p:cNvSpPr>
          <p:nvPr/>
        </p:nvSpPr>
        <p:spPr bwMode="auto">
          <a:xfrm>
            <a:off x="878205" y="2197469"/>
            <a:ext cx="7843764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 smtClean="0"/>
              <a:t>主要</a:t>
            </a:r>
            <a:r>
              <a:rPr lang="zh-CN" altLang="en-US" b="1" dirty="0"/>
              <a:t>从</a:t>
            </a:r>
            <a:r>
              <a:rPr lang="zh-CN" altLang="en-US" b="1" dirty="0">
                <a:solidFill>
                  <a:srgbClr val="FF0000"/>
                </a:solidFill>
              </a:rPr>
              <a:t>结构、工艺和经济效益</a:t>
            </a:r>
            <a:r>
              <a:rPr lang="zh-CN" altLang="en-US" b="1" dirty="0"/>
              <a:t>等方面考虑选</a:t>
            </a:r>
            <a:r>
              <a:rPr lang="en-US" altLang="zh-CN" b="1" dirty="0"/>
              <a:t>H</a:t>
            </a:r>
            <a:r>
              <a:rPr lang="zh-CN" altLang="en-US" b="1" dirty="0"/>
              <a:t>、还是选</a:t>
            </a:r>
            <a:r>
              <a:rPr lang="en-US" altLang="zh-CN" b="1" dirty="0"/>
              <a:t>h</a:t>
            </a:r>
            <a:r>
              <a:rPr lang="zh-CN" altLang="en-US" b="1" dirty="0"/>
              <a:t>。</a:t>
            </a:r>
          </a:p>
        </p:txBody>
      </p:sp>
      <p:sp>
        <p:nvSpPr>
          <p:cNvPr id="10" name="矩形 9"/>
          <p:cNvSpPr/>
          <p:nvPr/>
        </p:nvSpPr>
        <p:spPr>
          <a:xfrm>
            <a:off x="1004670" y="1261994"/>
            <a:ext cx="3194297" cy="433208"/>
          </a:xfrm>
          <a:prstGeom prst="rect">
            <a:avLst/>
          </a:prstGeom>
        </p:spPr>
        <p:txBody>
          <a:bodyPr wrap="none" lIns="63258" tIns="31629" rIns="63258" bIns="31629">
            <a:spAutoFit/>
          </a:bodyPr>
          <a:lstStyle/>
          <a:p>
            <a:r>
              <a:rPr lang="zh-CN" altLang="en-US" sz="2400" b="1" dirty="0" smtClean="0"/>
              <a:t>配合制</a:t>
            </a:r>
            <a:r>
              <a:rPr lang="en-US" altLang="zh-CN" sz="2400" b="1" dirty="0" smtClean="0"/>
              <a:t>(</a:t>
            </a:r>
            <a:r>
              <a:rPr lang="zh-CN" altLang="en-US" sz="2400" b="1" dirty="0" smtClean="0"/>
              <a:t>基准制</a:t>
            </a:r>
            <a:r>
              <a:rPr lang="en-US" altLang="zh-CN" sz="2400" b="1" dirty="0" smtClean="0"/>
              <a:t>)</a:t>
            </a:r>
            <a:r>
              <a:rPr lang="zh-CN" altLang="en-US" sz="2400" b="1" dirty="0" smtClean="0"/>
              <a:t>的选用 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/>
      <p:bldP spid="5" grpId="0" animBg="1"/>
      <p:bldP spid="6" grpId="0"/>
      <p:bldP spid="7" grpId="0"/>
      <p:bldP spid="8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7"/>
          <p:cNvSpPr txBox="1">
            <a:spLocks noChangeArrowheads="1"/>
          </p:cNvSpPr>
          <p:nvPr/>
        </p:nvSpPr>
        <p:spPr bwMode="auto">
          <a:xfrm>
            <a:off x="471802" y="4221430"/>
            <a:ext cx="8268480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b="1" dirty="0"/>
              <a:t>         采用基孔制所需的定值刀具</a:t>
            </a:r>
            <a:r>
              <a:rPr lang="zh-CN" altLang="en-US" sz="2000" b="1" dirty="0" smtClean="0"/>
              <a:t>比基轴制</a:t>
            </a:r>
            <a:r>
              <a:rPr lang="zh-CN" altLang="en-US" sz="2000" b="1" dirty="0"/>
              <a:t>少，可以获得显著的经济效益。</a:t>
            </a:r>
          </a:p>
        </p:txBody>
      </p:sp>
      <p:pic>
        <p:nvPicPr>
          <p:cNvPr id="410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8630" y="314324"/>
            <a:ext cx="8223885" cy="3896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75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75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3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D68913-E8E0-42D8-80FB-CF993705873D}" type="slidenum">
              <a:rPr lang="en-US" altLang="zh-CN" smtClean="0"/>
              <a:pPr>
                <a:defRPr/>
              </a:pPr>
              <a:t>5</a:t>
            </a:fld>
            <a:endParaRPr lang="en-US" altLang="zh-CN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452590" y="98081"/>
            <a:ext cx="5651904" cy="513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2</a:t>
            </a:r>
            <a:r>
              <a:rPr lang="en-US" altLang="zh-CN" sz="2800" b="1" dirty="0" smtClean="0"/>
              <a:t>. </a:t>
            </a:r>
            <a:r>
              <a:rPr lang="zh-CN" altLang="en-US" sz="2800" b="1" dirty="0" smtClean="0"/>
              <a:t>在</a:t>
            </a:r>
            <a:r>
              <a:rPr lang="zh-CN" altLang="en-US" sz="2800" b="1" dirty="0"/>
              <a:t>下列情况下</a:t>
            </a:r>
            <a:r>
              <a:rPr lang="zh-CN" altLang="en-US" sz="2800" b="1" dirty="0">
                <a:solidFill>
                  <a:srgbClr val="FF0000"/>
                </a:solidFill>
              </a:rPr>
              <a:t>应选基轴制 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324282" y="765855"/>
            <a:ext cx="5861818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）采用冷拉钢材直接作轴。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318117" y="1793788"/>
            <a:ext cx="6406624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）直径小的光轧钢丝作轴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556722" y="1210474"/>
            <a:ext cx="8259032" cy="388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6068" tIns="9641" rIns="16068" bIns="9641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000" b="1" dirty="0"/>
              <a:t>        </a:t>
            </a:r>
            <a:r>
              <a:rPr lang="zh-CN" altLang="en-US" sz="2000" b="1" dirty="0"/>
              <a:t>在农业、纺织机械中，有时可以采用</a:t>
            </a:r>
            <a:r>
              <a:rPr lang="en-US" altLang="zh-CN" sz="2000" b="1" dirty="0"/>
              <a:t>IT9~IT11</a:t>
            </a:r>
            <a:r>
              <a:rPr lang="zh-CN" altLang="en-US" sz="2000" b="1" dirty="0"/>
              <a:t>的冷拉钢材直接做</a:t>
            </a:r>
            <a:r>
              <a:rPr lang="zh-CN" altLang="en-US" sz="2000" b="1" dirty="0" smtClean="0"/>
              <a:t>轴。</a:t>
            </a:r>
            <a:endParaRPr lang="zh-CN" altLang="en-US" sz="2000" b="1" dirty="0"/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569690" y="3449226"/>
            <a:ext cx="8117110" cy="882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000" b="1" dirty="0"/>
              <a:t>        </a:t>
            </a:r>
            <a:r>
              <a:rPr lang="zh-CN" altLang="en-US" sz="2000" b="1" dirty="0"/>
              <a:t>常常应用于</a:t>
            </a:r>
            <a:r>
              <a:rPr lang="zh-CN" altLang="en-US" sz="2000" b="1" dirty="0">
                <a:solidFill>
                  <a:srgbClr val="FF0000"/>
                </a:solidFill>
              </a:rPr>
              <a:t>一轴与公称尺寸相同的多孔</a:t>
            </a:r>
            <a:r>
              <a:rPr lang="zh-CN" altLang="en-US" sz="2000" b="1" dirty="0"/>
              <a:t>配合，且</a:t>
            </a:r>
            <a:r>
              <a:rPr lang="zh-CN" altLang="en-US" sz="2000" b="1" dirty="0">
                <a:solidFill>
                  <a:srgbClr val="FF0000"/>
                </a:solidFill>
              </a:rPr>
              <a:t>配合性质要求不同</a:t>
            </a:r>
            <a:r>
              <a:rPr lang="zh-CN" altLang="en-US" sz="2000" b="1" dirty="0"/>
              <a:t>的情况，此时采用</a:t>
            </a:r>
            <a:r>
              <a:rPr lang="zh-CN" altLang="en-US" sz="2000" b="1" dirty="0" smtClean="0"/>
              <a:t>基轴制。</a:t>
            </a:r>
            <a:endParaRPr lang="zh-CN" altLang="en-US" sz="2000" b="1" dirty="0"/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319641" y="2967240"/>
            <a:ext cx="4780701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）结构上的需要 </a:t>
            </a:r>
          </a:p>
        </p:txBody>
      </p:sp>
      <p:sp>
        <p:nvSpPr>
          <p:cNvPr id="19" name="矩形 18"/>
          <p:cNvSpPr/>
          <p:nvPr/>
        </p:nvSpPr>
        <p:spPr>
          <a:xfrm>
            <a:off x="873225" y="2279221"/>
            <a:ext cx="62856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/>
              <a:t>对于加工尺寸小（≤</a:t>
            </a:r>
            <a:r>
              <a:rPr lang="en-US" altLang="zh-CN" sz="2000" b="1" dirty="0" smtClean="0"/>
              <a:t>1mm</a:t>
            </a:r>
            <a:r>
              <a:rPr lang="zh-CN" altLang="en-US" sz="2000" b="1" dirty="0" smtClean="0"/>
              <a:t>）的轴比加工同级孔困难。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/>
      <p:bldP spid="5" grpId="0" build="p" autoUpdateAnimBg="0"/>
      <p:bldP spid="6" grpId="0" autoUpdateAnimBg="0"/>
      <p:bldP spid="8" grpId="0" autoUpdateAnimBg="0"/>
      <p:bldP spid="9" grpId="0" build="p" autoUpdateAnimBg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3"/>
          <p:cNvGrpSpPr/>
          <p:nvPr/>
        </p:nvGrpSpPr>
        <p:grpSpPr bwMode="auto">
          <a:xfrm>
            <a:off x="4825223" y="140677"/>
            <a:ext cx="2757268" cy="2377439"/>
            <a:chOff x="456" y="2433"/>
            <a:chExt cx="2616" cy="2616"/>
          </a:xfrm>
        </p:grpSpPr>
        <p:pic>
          <p:nvPicPr>
            <p:cNvPr id="23" name="Picture 2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2" y="2433"/>
              <a:ext cx="2580" cy="26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4" name="Rectangle 22"/>
            <p:cNvSpPr>
              <a:spLocks noChangeArrowheads="1"/>
            </p:cNvSpPr>
            <p:nvPr/>
          </p:nvSpPr>
          <p:spPr bwMode="auto">
            <a:xfrm>
              <a:off x="456" y="3132"/>
              <a:ext cx="312" cy="4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25" name="Picture 2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81491" y="2616590"/>
            <a:ext cx="2743201" cy="2338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1" name="Group 20"/>
          <p:cNvGrpSpPr/>
          <p:nvPr/>
        </p:nvGrpSpPr>
        <p:grpSpPr bwMode="auto">
          <a:xfrm>
            <a:off x="541616" y="1814732"/>
            <a:ext cx="3552092" cy="2539218"/>
            <a:chOff x="3912" y="2860"/>
            <a:chExt cx="3373" cy="2410"/>
          </a:xfrm>
        </p:grpSpPr>
        <p:grpSp>
          <p:nvGrpSpPr>
            <p:cNvPr id="12" name="Group 15"/>
            <p:cNvGrpSpPr/>
            <p:nvPr/>
          </p:nvGrpSpPr>
          <p:grpSpPr bwMode="auto">
            <a:xfrm>
              <a:off x="3912" y="2860"/>
              <a:ext cx="3373" cy="2410"/>
              <a:chOff x="3744" y="2800"/>
              <a:chExt cx="3373" cy="2410"/>
            </a:xfrm>
          </p:grpSpPr>
          <p:pic>
            <p:nvPicPr>
              <p:cNvPr id="17" name="Picture 12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 t="4845"/>
              <a:stretch>
                <a:fillRect/>
              </a:stretch>
            </p:blipFill>
            <p:spPr bwMode="auto">
              <a:xfrm>
                <a:off x="3744" y="2800"/>
                <a:ext cx="3294" cy="24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7" name="Rectangle 13"/>
              <p:cNvSpPr>
                <a:spLocks noChangeArrowheads="1"/>
              </p:cNvSpPr>
              <p:nvPr/>
            </p:nvSpPr>
            <p:spPr bwMode="auto">
              <a:xfrm>
                <a:off x="6859" y="3659"/>
                <a:ext cx="212" cy="115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Rectangle 14"/>
              <p:cNvSpPr>
                <a:spLocks noChangeArrowheads="1"/>
              </p:cNvSpPr>
              <p:nvPr/>
            </p:nvSpPr>
            <p:spPr bwMode="auto">
              <a:xfrm>
                <a:off x="6680" y="2870"/>
                <a:ext cx="437" cy="55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" name="Group 19"/>
            <p:cNvGrpSpPr/>
            <p:nvPr/>
          </p:nvGrpSpPr>
          <p:grpSpPr bwMode="auto">
            <a:xfrm>
              <a:off x="3936" y="3360"/>
              <a:ext cx="3336" cy="846"/>
              <a:chOff x="3936" y="3360"/>
              <a:chExt cx="3336" cy="846"/>
            </a:xfrm>
          </p:grpSpPr>
          <p:sp>
            <p:nvSpPr>
              <p:cNvPr id="14" name="Oval 16"/>
              <p:cNvSpPr>
                <a:spLocks noChangeArrowheads="1"/>
              </p:cNvSpPr>
              <p:nvPr/>
            </p:nvSpPr>
            <p:spPr bwMode="auto">
              <a:xfrm rot="-5400000">
                <a:off x="5172" y="3624"/>
                <a:ext cx="768" cy="396"/>
              </a:xfrm>
              <a:prstGeom prst="ellipse">
                <a:avLst/>
              </a:prstGeom>
              <a:noFill/>
              <a:ln w="38100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" name="Oval 17"/>
              <p:cNvSpPr>
                <a:spLocks noChangeArrowheads="1"/>
              </p:cNvSpPr>
              <p:nvPr/>
            </p:nvSpPr>
            <p:spPr bwMode="auto">
              <a:xfrm>
                <a:off x="3936" y="3624"/>
                <a:ext cx="768" cy="396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Oval 18"/>
              <p:cNvSpPr>
                <a:spLocks noChangeArrowheads="1"/>
              </p:cNvSpPr>
              <p:nvPr/>
            </p:nvSpPr>
            <p:spPr bwMode="auto">
              <a:xfrm>
                <a:off x="6504" y="3360"/>
                <a:ext cx="768" cy="396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0" name="Text Box 10"/>
          <p:cNvSpPr txBox="1">
            <a:spLocks noChangeArrowheads="1"/>
          </p:cNvSpPr>
          <p:nvPr/>
        </p:nvSpPr>
        <p:spPr bwMode="auto">
          <a:xfrm>
            <a:off x="467356" y="435055"/>
            <a:ext cx="2613473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）结构上的需要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28207" y="1069145"/>
            <a:ext cx="1878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采用基轴制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 autoUpdateAnimBg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277863" y="75670"/>
            <a:ext cx="5343707" cy="420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200" b="1" dirty="0"/>
              <a:t>3.  </a:t>
            </a:r>
            <a:r>
              <a:rPr lang="zh-CN" altLang="en-US" sz="2200" b="1" dirty="0"/>
              <a:t>与标准零部件</a:t>
            </a:r>
            <a:r>
              <a:rPr lang="zh-CN" altLang="en-US" sz="2200" b="1" dirty="0" smtClean="0"/>
              <a:t>配合</a:t>
            </a:r>
            <a:endParaRPr lang="zh-CN" altLang="en-US" sz="2200" b="1" dirty="0"/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736520" y="633837"/>
            <a:ext cx="4234176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/>
              <a:t>与基准件配合的选用由</a:t>
            </a:r>
            <a:r>
              <a:rPr lang="zh-CN" altLang="en-US" sz="2000" b="1" dirty="0">
                <a:solidFill>
                  <a:srgbClr val="FF0000"/>
                </a:solidFill>
              </a:rPr>
              <a:t>标准件</a:t>
            </a:r>
            <a:r>
              <a:rPr lang="zh-CN" altLang="en-US" sz="2000" b="1" dirty="0" smtClean="0"/>
              <a:t>决定。</a:t>
            </a:r>
            <a:endParaRPr lang="zh-CN" altLang="en-US" sz="2000" b="1" dirty="0"/>
          </a:p>
        </p:txBody>
      </p:sp>
      <p:sp>
        <p:nvSpPr>
          <p:cNvPr id="31" name="Text Box 10"/>
          <p:cNvSpPr txBox="1">
            <a:spLocks noChangeArrowheads="1"/>
          </p:cNvSpPr>
          <p:nvPr/>
        </p:nvSpPr>
        <p:spPr bwMode="auto">
          <a:xfrm>
            <a:off x="316804" y="4411402"/>
            <a:ext cx="7885172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/>
              <a:t>4.  </a:t>
            </a:r>
            <a:r>
              <a:rPr lang="zh-CN" altLang="en-US" sz="2000" b="1" dirty="0"/>
              <a:t>为满足特殊的</a:t>
            </a:r>
            <a:r>
              <a:rPr lang="zh-CN" altLang="en-US" sz="2000" b="1" dirty="0" smtClean="0"/>
              <a:t>需要，允许采用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任一</a:t>
            </a:r>
            <a:r>
              <a:rPr lang="zh-CN" altLang="en-US" sz="2000" b="1" dirty="0" smtClean="0"/>
              <a:t>适当的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孔</a:t>
            </a:r>
            <a:r>
              <a:rPr lang="zh-CN" altLang="en-US" sz="2000" b="1" dirty="0" smtClean="0"/>
              <a:t>、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轴公差带</a:t>
            </a:r>
            <a:r>
              <a:rPr lang="zh-CN" altLang="en-US" sz="2000" b="1" dirty="0" smtClean="0"/>
              <a:t>组成配合。 </a:t>
            </a:r>
          </a:p>
        </p:txBody>
      </p:sp>
      <p:pic>
        <p:nvPicPr>
          <p:cNvPr id="80897" name="Picture 1" descr="C:\Users\Administrator\Desktop\IMG_20220329_095423.jpg"/>
          <p:cNvPicPr>
            <a:picLocks noChangeAspect="1" noChangeArrowheads="1"/>
          </p:cNvPicPr>
          <p:nvPr/>
        </p:nvPicPr>
        <p:blipFill>
          <a:blip r:embed="rId3" cstate="print">
            <a:lum bright="20000" contrast="30000"/>
          </a:blip>
          <a:srcRect l="14501" t="39172" r="25701" b="16669"/>
          <a:stretch>
            <a:fillRect/>
          </a:stretch>
        </p:blipFill>
        <p:spPr bwMode="auto">
          <a:xfrm>
            <a:off x="2870768" y="1060408"/>
            <a:ext cx="3283527" cy="3233134"/>
          </a:xfrm>
          <a:prstGeom prst="rect">
            <a:avLst/>
          </a:prstGeom>
          <a:noFill/>
        </p:spPr>
      </p:pic>
      <p:sp>
        <p:nvSpPr>
          <p:cNvPr id="32" name="AutoShape 29"/>
          <p:cNvSpPr>
            <a:spLocks noChangeArrowheads="1"/>
          </p:cNvSpPr>
          <p:nvPr/>
        </p:nvSpPr>
        <p:spPr bwMode="auto">
          <a:xfrm rot="-5400000">
            <a:off x="1348896" y="1029371"/>
            <a:ext cx="485023" cy="609115"/>
          </a:xfrm>
          <a:prstGeom prst="wedgeEllipseCallout">
            <a:avLst>
              <a:gd name="adj1" fmla="val -140373"/>
              <a:gd name="adj2" fmla="val 284451"/>
            </a:avLst>
          </a:prstGeom>
          <a:noFill/>
          <a:ln w="38100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81628" tIns="40814" rIns="81628" bIns="40814"/>
          <a:lstStyle/>
          <a:p>
            <a:pPr algn="ctr" defTabSz="815975"/>
            <a:r>
              <a:rPr lang="zh-CN" altLang="en-US" sz="1800" dirty="0"/>
              <a:t>轴</a:t>
            </a: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2743200" y="2084696"/>
            <a:ext cx="463939" cy="693696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258" tIns="31629" rIns="63258" bIns="31629" anchor="ctr"/>
          <a:lstStyle/>
          <a:p>
            <a:endParaRPr lang="zh-CN" altLang="en-US" sz="1800"/>
          </a:p>
        </p:txBody>
      </p: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3720748" y="2091623"/>
            <a:ext cx="444096" cy="693696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258" tIns="31629" rIns="63258" bIns="31629" anchor="ctr"/>
          <a:lstStyle/>
          <a:p>
            <a:endParaRPr lang="zh-CN" altLang="en-US" sz="1800"/>
          </a:p>
        </p:txBody>
      </p:sp>
      <p:sp>
        <p:nvSpPr>
          <p:cNvPr id="35" name="Rectangle 20"/>
          <p:cNvSpPr>
            <a:spLocks noChangeArrowheads="1"/>
          </p:cNvSpPr>
          <p:nvPr/>
        </p:nvSpPr>
        <p:spPr bwMode="auto">
          <a:xfrm>
            <a:off x="4157557" y="2034815"/>
            <a:ext cx="492631" cy="802732"/>
          </a:xfrm>
          <a:prstGeom prst="rect">
            <a:avLst/>
          </a:prstGeom>
          <a:noFill/>
          <a:ln w="57150">
            <a:solidFill>
              <a:schemeClr val="accent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258" tIns="31629" rIns="63258" bIns="31629" anchor="ctr"/>
          <a:lstStyle/>
          <a:p>
            <a:endParaRPr lang="zh-CN" altLang="en-US" sz="1800"/>
          </a:p>
        </p:txBody>
      </p:sp>
      <p:sp>
        <p:nvSpPr>
          <p:cNvPr id="36" name="Rectangle 20"/>
          <p:cNvSpPr>
            <a:spLocks noChangeArrowheads="1"/>
          </p:cNvSpPr>
          <p:nvPr/>
        </p:nvSpPr>
        <p:spPr bwMode="auto">
          <a:xfrm>
            <a:off x="5688316" y="2049016"/>
            <a:ext cx="444096" cy="802732"/>
          </a:xfrm>
          <a:prstGeom prst="rect">
            <a:avLst/>
          </a:prstGeom>
          <a:noFill/>
          <a:ln w="57150">
            <a:solidFill>
              <a:schemeClr val="accent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258" tIns="31629" rIns="63258" bIns="31629" anchor="ctr"/>
          <a:lstStyle/>
          <a:p>
            <a:endParaRPr lang="zh-CN" altLang="en-US" sz="1800"/>
          </a:p>
        </p:txBody>
      </p:sp>
      <p:sp>
        <p:nvSpPr>
          <p:cNvPr id="37" name="AutoShape 28"/>
          <p:cNvSpPr>
            <a:spLocks noChangeArrowheads="1"/>
          </p:cNvSpPr>
          <p:nvPr/>
        </p:nvSpPr>
        <p:spPr bwMode="auto">
          <a:xfrm>
            <a:off x="7581310" y="1047354"/>
            <a:ext cx="1104265" cy="459740"/>
          </a:xfrm>
          <a:prstGeom prst="wedgeRectCallout">
            <a:avLst>
              <a:gd name="adj1" fmla="val -263968"/>
              <a:gd name="adj2" fmla="val 105889"/>
            </a:avLst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/>
          <a:lstStyle/>
          <a:p>
            <a:pPr algn="ctr" defTabSz="815975"/>
            <a:r>
              <a:rPr lang="zh-CN" altLang="en-US" sz="1800" dirty="0"/>
              <a:t>滚动轴承</a:t>
            </a:r>
          </a:p>
        </p:txBody>
      </p:sp>
      <p:sp>
        <p:nvSpPr>
          <p:cNvPr id="38" name="AutoShape 30"/>
          <p:cNvSpPr>
            <a:spLocks noChangeArrowheads="1"/>
          </p:cNvSpPr>
          <p:nvPr/>
        </p:nvSpPr>
        <p:spPr bwMode="auto">
          <a:xfrm>
            <a:off x="976745" y="3244396"/>
            <a:ext cx="1252667" cy="517113"/>
          </a:xfrm>
          <a:prstGeom prst="wedgeEllipseCallout">
            <a:avLst>
              <a:gd name="adj1" fmla="val 155501"/>
              <a:gd name="adj2" fmla="val 12575"/>
            </a:avLst>
          </a:prstGeom>
          <a:noFill/>
          <a:ln w="38100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/>
          <a:lstStyle/>
          <a:p>
            <a:pPr algn="ctr" defTabSz="815975"/>
            <a:r>
              <a:rPr lang="zh-CN" altLang="en-US" sz="1800" dirty="0"/>
              <a:t>外壳孔</a:t>
            </a:r>
          </a:p>
        </p:txBody>
      </p:sp>
      <p:grpSp>
        <p:nvGrpSpPr>
          <p:cNvPr id="39" name="Group 15"/>
          <p:cNvGrpSpPr/>
          <p:nvPr/>
        </p:nvGrpSpPr>
        <p:grpSpPr bwMode="auto">
          <a:xfrm>
            <a:off x="1215304" y="2002639"/>
            <a:ext cx="1514293" cy="594059"/>
            <a:chOff x="310" y="1237"/>
            <a:chExt cx="954" cy="499"/>
          </a:xfrm>
        </p:grpSpPr>
        <p:sp>
          <p:nvSpPr>
            <p:cNvPr id="40" name="Text Box 11"/>
            <p:cNvSpPr txBox="1">
              <a:spLocks noChangeArrowheads="1"/>
            </p:cNvSpPr>
            <p:nvPr/>
          </p:nvSpPr>
          <p:spPr bwMode="auto">
            <a:xfrm>
              <a:off x="310" y="1237"/>
              <a:ext cx="589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7994" tIns="58997" rIns="117994" bIns="58997">
              <a:spAutoFit/>
            </a:bodyPr>
            <a:lstStyle>
              <a:lvl1pPr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 b="1" dirty="0">
                  <a:solidFill>
                    <a:srgbClr val="FF0000"/>
                  </a:solidFill>
                </a:rPr>
                <a:t>基轴制</a:t>
              </a:r>
            </a:p>
          </p:txBody>
        </p:sp>
        <p:sp>
          <p:nvSpPr>
            <p:cNvPr id="41" name="Line 13"/>
            <p:cNvSpPr>
              <a:spLocks noChangeShapeType="1"/>
            </p:cNvSpPr>
            <p:nvPr/>
          </p:nvSpPr>
          <p:spPr bwMode="auto">
            <a:xfrm flipV="1">
              <a:off x="423" y="1520"/>
              <a:ext cx="441" cy="1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17994" tIns="58997" rIns="117994" bIns="58997">
              <a:spAutoFit/>
            </a:bodyPr>
            <a:lstStyle/>
            <a:p>
              <a:endParaRPr lang="zh-CN" altLang="en-US" sz="1800"/>
            </a:p>
          </p:txBody>
        </p:sp>
        <p:sp>
          <p:nvSpPr>
            <p:cNvPr id="42" name="Line 14"/>
            <p:cNvSpPr>
              <a:spLocks noChangeShapeType="1"/>
            </p:cNvSpPr>
            <p:nvPr/>
          </p:nvSpPr>
          <p:spPr bwMode="auto">
            <a:xfrm>
              <a:off x="864" y="1528"/>
              <a:ext cx="400" cy="20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7994" tIns="58997" rIns="117994" bIns="58997">
              <a:spAutoFit/>
            </a:bodyPr>
            <a:lstStyle/>
            <a:p>
              <a:endParaRPr lang="zh-CN" altLang="en-US" sz="1800"/>
            </a:p>
          </p:txBody>
        </p:sp>
      </p:grpSp>
      <p:grpSp>
        <p:nvGrpSpPr>
          <p:cNvPr id="43" name="Group 19"/>
          <p:cNvGrpSpPr/>
          <p:nvPr/>
        </p:nvGrpSpPr>
        <p:grpSpPr bwMode="auto">
          <a:xfrm>
            <a:off x="4068172" y="1660322"/>
            <a:ext cx="3373559" cy="743514"/>
            <a:chOff x="3002" y="1013"/>
            <a:chExt cx="1647" cy="998"/>
          </a:xfrm>
        </p:grpSpPr>
        <p:sp>
          <p:nvSpPr>
            <p:cNvPr id="44" name="Line 16"/>
            <p:cNvSpPr>
              <a:spLocks noChangeShapeType="1"/>
            </p:cNvSpPr>
            <p:nvPr/>
          </p:nvSpPr>
          <p:spPr bwMode="auto">
            <a:xfrm flipV="1">
              <a:off x="3002" y="1472"/>
              <a:ext cx="1254" cy="53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17994" tIns="58997" rIns="117994" bIns="58997">
              <a:spAutoFit/>
            </a:bodyPr>
            <a:lstStyle/>
            <a:p>
              <a:endParaRPr lang="zh-CN" altLang="en-US" sz="1800"/>
            </a:p>
          </p:txBody>
        </p:sp>
        <p:sp>
          <p:nvSpPr>
            <p:cNvPr id="45" name="Line 17"/>
            <p:cNvSpPr>
              <a:spLocks noChangeShapeType="1"/>
            </p:cNvSpPr>
            <p:nvPr/>
          </p:nvSpPr>
          <p:spPr bwMode="auto">
            <a:xfrm>
              <a:off x="4264" y="1472"/>
              <a:ext cx="38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7994" tIns="58997" rIns="117994" bIns="58997">
              <a:spAutoFit/>
            </a:bodyPr>
            <a:lstStyle/>
            <a:p>
              <a:endParaRPr lang="zh-CN" altLang="en-US" sz="1800"/>
            </a:p>
          </p:txBody>
        </p:sp>
        <p:sp>
          <p:nvSpPr>
            <p:cNvPr id="46" name="Text Box 18"/>
            <p:cNvSpPr txBox="1">
              <a:spLocks noChangeArrowheads="1"/>
            </p:cNvSpPr>
            <p:nvPr/>
          </p:nvSpPr>
          <p:spPr bwMode="auto">
            <a:xfrm>
              <a:off x="4192" y="1013"/>
              <a:ext cx="457" cy="5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7994" tIns="58997" rIns="117994" bIns="58997">
              <a:spAutoFit/>
            </a:bodyPr>
            <a:lstStyle>
              <a:lvl1pPr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 b="1" dirty="0">
                  <a:solidFill>
                    <a:srgbClr val="FF0000"/>
                  </a:solidFill>
                </a:rPr>
                <a:t>基孔制</a:t>
              </a:r>
            </a:p>
          </p:txBody>
        </p:sp>
      </p:grpSp>
      <p:sp>
        <p:nvSpPr>
          <p:cNvPr id="47" name="AutoShape 31"/>
          <p:cNvSpPr/>
          <p:nvPr/>
        </p:nvSpPr>
        <p:spPr bwMode="auto">
          <a:xfrm>
            <a:off x="7116408" y="3479300"/>
            <a:ext cx="1193962" cy="366233"/>
          </a:xfrm>
          <a:prstGeom prst="borderCallout1">
            <a:avLst>
              <a:gd name="adj1" fmla="val 18750"/>
              <a:gd name="adj2" fmla="val -6384"/>
              <a:gd name="adj3" fmla="val -83218"/>
              <a:gd name="adj4" fmla="val -128639"/>
            </a:avLst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/>
          <a:lstStyle/>
          <a:p>
            <a:pPr algn="ctr" defTabSz="815975"/>
            <a:r>
              <a:rPr lang="zh-CN" altLang="en-US" sz="1800" dirty="0"/>
              <a:t>轴承盖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3" grpId="0" autoUpdateAnimBg="0"/>
      <p:bldP spid="31" grpId="0" autoUpdateAnimBg="0"/>
      <p:bldP spid="32" grpId="0" animBg="1" autoUpdateAnimBg="0"/>
      <p:bldP spid="33" grpId="0" animBg="1"/>
      <p:bldP spid="34" grpId="0" bldLvl="0" animBg="1"/>
      <p:bldP spid="35" grpId="0" bldLvl="0" animBg="1"/>
      <p:bldP spid="36" grpId="0" animBg="1"/>
      <p:bldP spid="37" grpId="0" bldLvl="0" animBg="1" autoUpdateAnimBg="0"/>
      <p:bldP spid="38" grpId="0" bldLvl="0" animBg="1" autoUpdateAnimBg="0"/>
      <p:bldP spid="4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587100" y="63817"/>
            <a:ext cx="6544949" cy="420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3.4.2  </a:t>
            </a:r>
            <a:r>
              <a:rPr lang="zh-CN" altLang="en-US" sz="2200" b="1" dirty="0">
                <a:latin typeface="宋体" panose="02010600030101010101" pitchFamily="2" charset="-122"/>
              </a:rPr>
              <a:t>标准公差等级的选用</a:t>
            </a:r>
            <a:r>
              <a:rPr lang="zh-CN" altLang="en-US" sz="2200" dirty="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740320" y="621535"/>
            <a:ext cx="3606153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/>
              <a:t>1</a:t>
            </a:r>
            <a:r>
              <a:rPr lang="en-US" altLang="zh-CN" sz="2000" b="1" dirty="0"/>
              <a:t>.  </a:t>
            </a:r>
            <a:r>
              <a:rPr lang="zh-CN" altLang="en-US" sz="2000" b="1" dirty="0"/>
              <a:t>选用原则</a:t>
            </a:r>
            <a:r>
              <a:rPr lang="zh-CN" altLang="en-US" sz="2000" dirty="0"/>
              <a:t>： </a:t>
            </a:r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760788" y="921546"/>
            <a:ext cx="7949848" cy="821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000" dirty="0"/>
              <a:t>        </a:t>
            </a:r>
            <a:r>
              <a:rPr lang="zh-CN" altLang="en-US" sz="2000" b="1" dirty="0"/>
              <a:t>在充分满足使用条件下，考虑工艺的可能性，应</a:t>
            </a:r>
            <a:r>
              <a:rPr lang="zh-CN" altLang="en-US" sz="2000" b="1" dirty="0">
                <a:solidFill>
                  <a:srgbClr val="FF0000"/>
                </a:solidFill>
              </a:rPr>
              <a:t>尽量选用精度较低的公差等级</a:t>
            </a:r>
            <a:r>
              <a:rPr lang="zh-CN" altLang="en-US" sz="2000" dirty="0" smtClean="0"/>
              <a:t>。</a:t>
            </a:r>
            <a:endParaRPr lang="zh-CN" altLang="en-US" sz="2000" b="1" dirty="0"/>
          </a:p>
        </p:txBody>
      </p:sp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60170" y="1772529"/>
            <a:ext cx="3166110" cy="2929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26534" y="1835835"/>
            <a:ext cx="2934483" cy="2866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 build="p" autoUpdateAnimBg="0"/>
      <p:bldP spid="4102" grpId="0" build="p" autoUpdateAnimBg="0"/>
      <p:bldP spid="4103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640657" y="71898"/>
            <a:ext cx="2971558" cy="420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200" b="1" dirty="0"/>
              <a:t>2. </a:t>
            </a:r>
            <a:r>
              <a:rPr lang="zh-CN" altLang="en-US" sz="2200" b="1" dirty="0"/>
              <a:t>选用</a:t>
            </a:r>
            <a:r>
              <a:rPr lang="zh-CN" altLang="en-US" sz="2200" b="1" dirty="0" smtClean="0"/>
              <a:t>方法</a:t>
            </a:r>
            <a:endParaRPr lang="zh-CN" altLang="en-US" sz="2200" b="1" dirty="0"/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3566160" y="655320"/>
            <a:ext cx="3257550" cy="388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/>
              <a:t>计算法 </a:t>
            </a:r>
            <a:r>
              <a:rPr lang="en-US" altLang="zh-CN" sz="2000" b="1" dirty="0"/>
              <a:t>— </a:t>
            </a:r>
            <a:r>
              <a:rPr lang="zh-CN" altLang="en-US" sz="2000" b="1" dirty="0"/>
              <a:t>一般很少采用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841582" y="2303193"/>
            <a:ext cx="7239000" cy="82108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000" b="1" dirty="0"/>
              <a:t>        </a:t>
            </a:r>
            <a:r>
              <a:rPr lang="zh-CN" altLang="en-US" sz="2000" b="1" dirty="0"/>
              <a:t>根据具体情况，参照已被实践证明合理的实例来选用公差等级。 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691626" y="3270758"/>
            <a:ext cx="7491382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000" b="1" dirty="0"/>
              <a:t>        </a:t>
            </a:r>
            <a:r>
              <a:rPr lang="zh-CN" altLang="en-US" sz="2000" b="1" dirty="0"/>
              <a:t>利用类比法，应有一定的实践经验和参考有关的资料。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640662" y="4199285"/>
            <a:ext cx="7396739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000" b="1" dirty="0"/>
              <a:t>        </a:t>
            </a:r>
            <a:r>
              <a:rPr lang="zh-CN" altLang="en-US" sz="2000" b="1" dirty="0"/>
              <a:t>表</a:t>
            </a:r>
            <a:r>
              <a:rPr lang="en-US" altLang="zh-CN" sz="2000" b="1" dirty="0" smtClean="0"/>
              <a:t>3.9</a:t>
            </a:r>
            <a:r>
              <a:rPr lang="zh-CN" altLang="en-US" sz="2000" b="1" dirty="0" smtClean="0"/>
              <a:t>各种</a:t>
            </a:r>
            <a:r>
              <a:rPr lang="zh-CN" altLang="en-US" sz="2000" b="1" dirty="0"/>
              <a:t>加工方法可能达到的标准公差等供选用时参考。</a:t>
            </a:r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3566160" y="1007110"/>
            <a:ext cx="3436620" cy="388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/>
              <a:t>类比法 </a:t>
            </a:r>
            <a:r>
              <a:rPr lang="en-US" altLang="zh-CN" sz="2000" b="1" dirty="0"/>
              <a:t>— </a:t>
            </a:r>
            <a:r>
              <a:rPr lang="zh-CN" altLang="en-US" sz="2000" b="1" dirty="0"/>
              <a:t>工程上常常采用</a:t>
            </a:r>
          </a:p>
        </p:txBody>
      </p:sp>
      <p:sp>
        <p:nvSpPr>
          <p:cNvPr id="5131" name="Text Box 11"/>
          <p:cNvSpPr txBox="1">
            <a:spLocks noChangeArrowheads="1"/>
          </p:cNvSpPr>
          <p:nvPr/>
        </p:nvSpPr>
        <p:spPr bwMode="auto">
          <a:xfrm>
            <a:off x="3566160" y="1369695"/>
            <a:ext cx="2962275" cy="388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</a:rPr>
              <a:t>计算查表法 </a:t>
            </a:r>
            <a:r>
              <a:rPr lang="en-US" altLang="zh-CN" sz="2000" b="1" dirty="0">
                <a:solidFill>
                  <a:srgbClr val="FF0000"/>
                </a:solidFill>
              </a:rPr>
              <a:t>— </a:t>
            </a:r>
            <a:r>
              <a:rPr lang="zh-CN" altLang="en-US" sz="2000" b="1" dirty="0">
                <a:solidFill>
                  <a:srgbClr val="FF0000"/>
                </a:solidFill>
              </a:rPr>
              <a:t>应掌握</a:t>
            </a:r>
          </a:p>
        </p:txBody>
      </p:sp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685558" y="1757397"/>
            <a:ext cx="3412013" cy="405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</a:t>
            </a:r>
            <a:r>
              <a:rPr lang="zh-CN" altLang="en-US" sz="2000" b="1" dirty="0">
                <a:solidFill>
                  <a:srgbClr val="FF0000"/>
                </a:solidFill>
              </a:rPr>
              <a:t>类比法</a:t>
            </a:r>
            <a:endParaRPr lang="zh-CN" altLang="en-US" sz="2000" b="1" dirty="0"/>
          </a:p>
        </p:txBody>
      </p:sp>
      <p:sp>
        <p:nvSpPr>
          <p:cNvPr id="5136" name="AutoShape 16"/>
          <p:cNvSpPr/>
          <p:nvPr/>
        </p:nvSpPr>
        <p:spPr bwMode="auto">
          <a:xfrm>
            <a:off x="3201922" y="826627"/>
            <a:ext cx="381000" cy="800852"/>
          </a:xfrm>
          <a:prstGeom prst="leftBrace">
            <a:avLst>
              <a:gd name="adj1" fmla="val 22611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258" tIns="31629" rIns="63258" bIns="31629" anchor="ctr"/>
          <a:lstStyle/>
          <a:p>
            <a:endParaRPr lang="zh-CN" altLang="en-US" sz="2000"/>
          </a:p>
        </p:txBody>
      </p:sp>
      <p:sp>
        <p:nvSpPr>
          <p:cNvPr id="5137" name="Text Box 17"/>
          <p:cNvSpPr txBox="1">
            <a:spLocks noChangeArrowheads="1"/>
          </p:cNvSpPr>
          <p:nvPr/>
        </p:nvSpPr>
        <p:spPr bwMode="auto">
          <a:xfrm>
            <a:off x="1171421" y="3794573"/>
            <a:ext cx="5281383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 smtClean="0"/>
              <a:t>表</a:t>
            </a:r>
            <a:r>
              <a:rPr lang="en-US" altLang="zh-CN" sz="2000" b="1" dirty="0" smtClean="0"/>
              <a:t>3.8 </a:t>
            </a:r>
            <a:r>
              <a:rPr lang="zh-CN" altLang="en-US" sz="2000" b="1" dirty="0"/>
              <a:t>标准公差等级的应用范围，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utoUpdateAnimBg="0"/>
      <p:bldP spid="5123" grpId="0" bldLvl="0" animBg="1" autoUpdateAnimBg="0"/>
      <p:bldP spid="5124" grpId="0" animBg="1" autoUpdateAnimBg="0"/>
      <p:bldP spid="5127" grpId="0" autoUpdateAnimBg="0"/>
      <p:bldP spid="5128" grpId="0" autoUpdateAnimBg="0"/>
      <p:bldP spid="5130" grpId="0" bldLvl="0" animBg="1" autoUpdateAnimBg="0"/>
      <p:bldP spid="5131" grpId="0" bldLvl="0" animBg="1" autoUpdateAnimBg="0"/>
      <p:bldP spid="5132" grpId="0" autoUpdateAnimBg="0"/>
      <p:bldP spid="5136" grpId="0" bldLvl="0" animBg="1"/>
      <p:bldP spid="513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89" name="Group 9"/>
          <p:cNvGrpSpPr/>
          <p:nvPr/>
        </p:nvGrpSpPr>
        <p:grpSpPr bwMode="auto">
          <a:xfrm>
            <a:off x="262089" y="692726"/>
            <a:ext cx="8611328" cy="3662141"/>
            <a:chOff x="251" y="1094"/>
            <a:chExt cx="7097" cy="3527"/>
          </a:xfrm>
        </p:grpSpPr>
        <p:pic>
          <p:nvPicPr>
            <p:cNvPr id="10245" name="Picture 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" y="1094"/>
              <a:ext cx="7097" cy="35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246" name="Rectangle 8"/>
            <p:cNvSpPr>
              <a:spLocks noChangeArrowheads="1"/>
            </p:cNvSpPr>
            <p:nvPr/>
          </p:nvSpPr>
          <p:spPr bwMode="auto">
            <a:xfrm>
              <a:off x="2868" y="1140"/>
              <a:ext cx="360" cy="2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b="1" dirty="0" smtClean="0"/>
                <a:t>3.8</a:t>
              </a:r>
              <a:endParaRPr lang="en-US" altLang="zh-CN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3" name="Group 9"/>
          <p:cNvGrpSpPr/>
          <p:nvPr/>
        </p:nvGrpSpPr>
        <p:grpSpPr bwMode="auto">
          <a:xfrm>
            <a:off x="274318" y="96981"/>
            <a:ext cx="8672733" cy="4849003"/>
            <a:chOff x="502" y="24"/>
            <a:chExt cx="6453" cy="5345"/>
          </a:xfrm>
        </p:grpSpPr>
        <p:pic>
          <p:nvPicPr>
            <p:cNvPr id="11269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" y="57"/>
              <a:ext cx="6453" cy="5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270" name="Rectangle 8"/>
            <p:cNvSpPr>
              <a:spLocks noChangeArrowheads="1"/>
            </p:cNvSpPr>
            <p:nvPr/>
          </p:nvSpPr>
          <p:spPr bwMode="auto">
            <a:xfrm>
              <a:off x="2148" y="24"/>
              <a:ext cx="516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/>
                <a:t>表</a:t>
              </a:r>
              <a:r>
                <a:rPr lang="en-US" altLang="zh-CN" sz="1200" b="1" dirty="0" smtClean="0"/>
                <a:t>3.9</a:t>
              </a:r>
              <a:endParaRPr lang="en-US" altLang="zh-CN" sz="12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503552" y="62668"/>
            <a:ext cx="6854359" cy="420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200" b="1" dirty="0"/>
              <a:t>（</a:t>
            </a:r>
            <a:r>
              <a:rPr lang="en-US" altLang="zh-CN" sz="2200" b="1" dirty="0"/>
              <a:t>2</a:t>
            </a:r>
            <a:r>
              <a:rPr lang="zh-CN" altLang="en-US" sz="2200" b="1" dirty="0"/>
              <a:t>）</a:t>
            </a:r>
            <a:r>
              <a:rPr lang="zh-CN" altLang="en-US" sz="2200" b="1" dirty="0">
                <a:latin typeface="宋体" panose="02010600030101010101" pitchFamily="2" charset="-122"/>
              </a:rPr>
              <a:t>计算查表法（</a:t>
            </a:r>
            <a:r>
              <a:rPr lang="zh-CN" altLang="en-US" sz="2200" b="1" dirty="0">
                <a:solidFill>
                  <a:srgbClr val="FF0000"/>
                </a:solidFill>
                <a:latin typeface="宋体" panose="02010600030101010101" pitchFamily="2" charset="-122"/>
              </a:rPr>
              <a:t>需要掌握</a:t>
            </a:r>
            <a:r>
              <a:rPr lang="zh-CN" altLang="en-US" sz="2200" b="1" dirty="0">
                <a:latin typeface="宋体" panose="02010600030101010101" pitchFamily="2" charset="-122"/>
              </a:rPr>
              <a:t>）</a:t>
            </a:r>
            <a:endParaRPr lang="zh-CN" altLang="en-US" sz="2200" b="1" dirty="0"/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809322" y="640258"/>
            <a:ext cx="7029086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/>
              <a:t>根据使用要求已确定的极限间隙或过盈 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1013169" y="915529"/>
            <a:ext cx="1752115" cy="574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2100" dirty="0"/>
              <a:t> </a:t>
            </a:r>
            <a:r>
              <a:rPr lang="en-US" altLang="zh-CN" sz="3200" b="1" dirty="0">
                <a:solidFill>
                  <a:srgbClr val="FF0000"/>
                </a:solidFill>
              </a:rPr>
              <a:t>→</a:t>
            </a:r>
            <a:r>
              <a:rPr lang="en-US" altLang="zh-CN" sz="2500" i="1" dirty="0" err="1"/>
              <a:t>T</a:t>
            </a:r>
            <a:r>
              <a:rPr lang="en-US" altLang="zh-CN" sz="2500" baseline="-30000" dirty="0" err="1"/>
              <a:t>f</a:t>
            </a:r>
            <a:endParaRPr lang="en-US" altLang="zh-CN" sz="2500" dirty="0"/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3429000" y="1646030"/>
            <a:ext cx="3819707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</a:rPr>
              <a:t>→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查表 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3.2 </a:t>
            </a:r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914887" y="2057588"/>
            <a:ext cx="4476174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 smtClean="0">
                <a:solidFill>
                  <a:srgbClr val="FF0000"/>
                </a:solidFill>
              </a:rPr>
              <a:t>→ </a:t>
            </a:r>
            <a:r>
              <a:rPr lang="zh-CN" altLang="en-US" sz="2000" b="1" dirty="0" smtClean="0"/>
              <a:t>孔</a:t>
            </a:r>
            <a:r>
              <a:rPr lang="zh-CN" altLang="en-US" sz="2000" b="1" dirty="0"/>
              <a:t>和轴的标准公差等级 </a:t>
            </a:r>
          </a:p>
        </p:txBody>
      </p:sp>
      <p:sp>
        <p:nvSpPr>
          <p:cNvPr id="7192" name="Text Box 24"/>
          <p:cNvSpPr txBox="1">
            <a:spLocks noChangeArrowheads="1"/>
          </p:cNvSpPr>
          <p:nvPr/>
        </p:nvSpPr>
        <p:spPr bwMode="auto">
          <a:xfrm>
            <a:off x="2057886" y="1017985"/>
            <a:ext cx="2437672" cy="467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500" dirty="0"/>
              <a:t>= |</a:t>
            </a:r>
            <a:r>
              <a:rPr lang="en-US" altLang="zh-CN" sz="2500" i="1" dirty="0" err="1"/>
              <a:t>X</a:t>
            </a:r>
            <a:r>
              <a:rPr lang="en-US" altLang="zh-CN" sz="2500" baseline="-30000" dirty="0" err="1"/>
              <a:t>max</a:t>
            </a:r>
            <a:r>
              <a:rPr lang="en-US" altLang="zh-CN" sz="2500" dirty="0"/>
              <a:t>- </a:t>
            </a:r>
            <a:r>
              <a:rPr lang="en-US" altLang="zh-CN" sz="2500" i="1" dirty="0" err="1"/>
              <a:t>X</a:t>
            </a:r>
            <a:r>
              <a:rPr lang="en-US" altLang="zh-CN" sz="2500" baseline="-30000" dirty="0" err="1"/>
              <a:t>min</a:t>
            </a:r>
            <a:r>
              <a:rPr lang="en-US" altLang="zh-CN" sz="2500" dirty="0"/>
              <a:t>|</a:t>
            </a:r>
          </a:p>
        </p:txBody>
      </p:sp>
      <p:sp>
        <p:nvSpPr>
          <p:cNvPr id="7193" name="Text Box 25"/>
          <p:cNvSpPr txBox="1">
            <a:spLocks noChangeArrowheads="1"/>
          </p:cNvSpPr>
          <p:nvPr/>
        </p:nvSpPr>
        <p:spPr bwMode="auto">
          <a:xfrm>
            <a:off x="3962886" y="1017985"/>
            <a:ext cx="2225331" cy="467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500" dirty="0"/>
              <a:t>= |</a:t>
            </a:r>
            <a:r>
              <a:rPr lang="en-US" altLang="zh-CN" sz="2500" i="1" dirty="0" err="1"/>
              <a:t>Y</a:t>
            </a:r>
            <a:r>
              <a:rPr lang="en-US" altLang="zh-CN" sz="2500" baseline="-30000" dirty="0" err="1"/>
              <a:t>min</a:t>
            </a:r>
            <a:r>
              <a:rPr lang="en-US" altLang="zh-CN" sz="2500" dirty="0"/>
              <a:t>- </a:t>
            </a:r>
            <a:r>
              <a:rPr lang="en-US" altLang="zh-CN" sz="2500" i="1" dirty="0" err="1"/>
              <a:t>Y</a:t>
            </a:r>
            <a:r>
              <a:rPr lang="en-US" altLang="zh-CN" sz="2500" baseline="-30000" dirty="0" err="1"/>
              <a:t>man</a:t>
            </a:r>
            <a:r>
              <a:rPr lang="en-US" altLang="zh-CN" sz="2500" dirty="0"/>
              <a:t>|</a:t>
            </a:r>
          </a:p>
        </p:txBody>
      </p:sp>
      <p:sp>
        <p:nvSpPr>
          <p:cNvPr id="7194" name="Rectangle 26"/>
          <p:cNvSpPr>
            <a:spLocks noChangeArrowheads="1"/>
          </p:cNvSpPr>
          <p:nvPr/>
        </p:nvSpPr>
        <p:spPr bwMode="auto">
          <a:xfrm>
            <a:off x="5761109" y="1017985"/>
            <a:ext cx="2697335" cy="467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/>
          <a:p>
            <a:pPr defTabSz="815975"/>
            <a:r>
              <a:rPr lang="en-US" altLang="zh-CN" sz="2500" dirty="0"/>
              <a:t>= | </a:t>
            </a:r>
            <a:r>
              <a:rPr lang="en-US" altLang="zh-CN" sz="2500" i="1" dirty="0" err="1"/>
              <a:t>X</a:t>
            </a:r>
            <a:r>
              <a:rPr lang="en-US" altLang="zh-CN" sz="2500" baseline="-30000" dirty="0" err="1"/>
              <a:t>max</a:t>
            </a:r>
            <a:r>
              <a:rPr lang="en-US" altLang="zh-CN" sz="2500" baseline="-30000" dirty="0"/>
              <a:t> </a:t>
            </a:r>
            <a:r>
              <a:rPr lang="en-US" altLang="zh-CN" sz="2500" dirty="0"/>
              <a:t>- </a:t>
            </a:r>
            <a:r>
              <a:rPr lang="en-US" altLang="zh-CN" sz="2500" i="1" dirty="0" err="1"/>
              <a:t>Y</a:t>
            </a:r>
            <a:r>
              <a:rPr lang="en-US" altLang="zh-CN" sz="2500" baseline="-30000" dirty="0" err="1"/>
              <a:t>man</a:t>
            </a:r>
            <a:r>
              <a:rPr lang="en-US" altLang="zh-CN" sz="2500" dirty="0"/>
              <a:t>|</a:t>
            </a:r>
            <a:endParaRPr lang="en-US" altLang="zh-CN" sz="2500" baseline="-30000" dirty="0"/>
          </a:p>
        </p:txBody>
      </p:sp>
      <p:sp>
        <p:nvSpPr>
          <p:cNvPr id="7195" name="Rectangle 27"/>
          <p:cNvSpPr>
            <a:spLocks noChangeArrowheads="1"/>
          </p:cNvSpPr>
          <p:nvPr/>
        </p:nvSpPr>
        <p:spPr bwMode="auto">
          <a:xfrm>
            <a:off x="1828558" y="1581025"/>
            <a:ext cx="1753328" cy="467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/>
          <a:p>
            <a:pPr defTabSz="815975"/>
            <a:r>
              <a:rPr lang="en-US" altLang="zh-CN" sz="2500" b="1" dirty="0">
                <a:solidFill>
                  <a:srgbClr val="FF0000"/>
                </a:solidFill>
              </a:rPr>
              <a:t>= 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T</a:t>
            </a:r>
            <a:r>
              <a:rPr lang="en-US" altLang="zh-CN" sz="2500" b="1" baseline="-30000" dirty="0" err="1">
                <a:solidFill>
                  <a:srgbClr val="FF0000"/>
                </a:solidFill>
              </a:rPr>
              <a:t>D</a:t>
            </a:r>
            <a:r>
              <a:rPr lang="en-US" altLang="zh-CN" sz="2500" b="1" dirty="0" err="1">
                <a:solidFill>
                  <a:srgbClr val="FF0000"/>
                </a:solidFill>
              </a:rPr>
              <a:t>+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T</a:t>
            </a:r>
            <a:r>
              <a:rPr lang="en-US" altLang="zh-CN" sz="2500" b="1" baseline="-30000" dirty="0" err="1">
                <a:solidFill>
                  <a:srgbClr val="FF0000"/>
                </a:solidFill>
              </a:rPr>
              <a:t>d</a:t>
            </a:r>
            <a:endParaRPr lang="en-US" altLang="zh-CN" sz="2500" b="1" baseline="-30000" dirty="0">
              <a:solidFill>
                <a:srgbClr val="FF0000"/>
              </a:solidFill>
            </a:endParaRPr>
          </a:p>
        </p:txBody>
      </p:sp>
      <p:sp>
        <p:nvSpPr>
          <p:cNvPr id="7197" name="Text Box 29"/>
          <p:cNvSpPr txBox="1">
            <a:spLocks noChangeArrowheads="1"/>
          </p:cNvSpPr>
          <p:nvPr/>
        </p:nvSpPr>
        <p:spPr bwMode="auto">
          <a:xfrm>
            <a:off x="1046157" y="2568587"/>
            <a:ext cx="1647806" cy="697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为了孔、轴工艺</a:t>
            </a:r>
            <a:r>
              <a:rPr lang="zh-CN" altLang="en-US" sz="20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等价</a:t>
            </a:r>
            <a:endParaRPr lang="zh-CN" altLang="en-US" sz="2000" b="1" dirty="0">
              <a:ln w="12700">
                <a:solidFill>
                  <a:sysClr val="windowText" lastClr="000000"/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7198" name="Text Box 30"/>
          <p:cNvSpPr txBox="1">
            <a:spLocks noChangeArrowheads="1"/>
          </p:cNvSpPr>
          <p:nvPr/>
        </p:nvSpPr>
        <p:spPr bwMode="auto">
          <a:xfrm>
            <a:off x="2829072" y="2715196"/>
            <a:ext cx="5140275" cy="451757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轴的公差等级比孔的公差等级高</a:t>
            </a:r>
            <a:r>
              <a:rPr lang="zh-CN" altLang="en-US" b="1" dirty="0" smtClean="0">
                <a:solidFill>
                  <a:srgbClr val="FF0000"/>
                </a:solidFill>
              </a:rPr>
              <a:t>一级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199" name="Text Box 31"/>
          <p:cNvSpPr txBox="1">
            <a:spLocks noChangeArrowheads="1"/>
          </p:cNvSpPr>
          <p:nvPr/>
        </p:nvSpPr>
        <p:spPr bwMode="auto">
          <a:xfrm>
            <a:off x="1559273" y="3495315"/>
            <a:ext cx="551175" cy="1190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孔</a:t>
            </a:r>
          </a:p>
          <a:p>
            <a:pPr eaLnBrk="1" hangingPunct="1"/>
            <a:r>
              <a:rPr lang="zh-CN" altLang="en-US" b="1" dirty="0"/>
              <a:t>    </a:t>
            </a:r>
          </a:p>
          <a:p>
            <a:pPr eaLnBrk="1" hangingPunct="1"/>
            <a:r>
              <a:rPr lang="zh-CN" altLang="en-US" b="1" dirty="0"/>
              <a:t>轴 </a:t>
            </a:r>
          </a:p>
        </p:txBody>
      </p:sp>
      <p:grpSp>
        <p:nvGrpSpPr>
          <p:cNvPr id="7208" name="Group 40"/>
          <p:cNvGrpSpPr/>
          <p:nvPr/>
        </p:nvGrpSpPr>
        <p:grpSpPr bwMode="auto">
          <a:xfrm>
            <a:off x="3545949" y="3458748"/>
            <a:ext cx="469185" cy="1226786"/>
            <a:chOff x="2198" y="2958"/>
            <a:chExt cx="296" cy="1031"/>
          </a:xfrm>
        </p:grpSpPr>
        <p:sp>
          <p:nvSpPr>
            <p:cNvPr id="12311" name="Text Box 32"/>
            <p:cNvSpPr txBox="1">
              <a:spLocks noChangeArrowheads="1"/>
            </p:cNvSpPr>
            <p:nvPr/>
          </p:nvSpPr>
          <p:spPr bwMode="auto">
            <a:xfrm>
              <a:off x="2198" y="2958"/>
              <a:ext cx="296" cy="10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7994" tIns="58997" rIns="117994" bIns="58997">
              <a:spAutoFit/>
            </a:bodyPr>
            <a:lstStyle>
              <a:lvl1pPr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/>
                <a:t> 7</a:t>
              </a:r>
            </a:p>
            <a:p>
              <a:pPr eaLnBrk="1" hangingPunct="1"/>
              <a:endParaRPr lang="en-US" altLang="zh-CN" b="1" dirty="0"/>
            </a:p>
            <a:p>
              <a:pPr eaLnBrk="1" hangingPunct="1"/>
              <a:r>
                <a:rPr lang="en-US" altLang="zh-CN" b="1" dirty="0"/>
                <a:t> 6</a:t>
              </a:r>
            </a:p>
          </p:txBody>
        </p:sp>
        <p:sp>
          <p:nvSpPr>
            <p:cNvPr id="12312" name="Line 37"/>
            <p:cNvSpPr>
              <a:spLocks noChangeShapeType="1"/>
            </p:cNvSpPr>
            <p:nvPr/>
          </p:nvSpPr>
          <p:spPr bwMode="auto">
            <a:xfrm>
              <a:off x="2354" y="3313"/>
              <a:ext cx="0" cy="27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7994" tIns="58997" rIns="117994" bIns="58997">
              <a:spAutoFit/>
            </a:bodyPr>
            <a:lstStyle/>
            <a:p>
              <a:endParaRPr lang="zh-CN" altLang="en-US" sz="2000"/>
            </a:p>
          </p:txBody>
        </p:sp>
      </p:grpSp>
      <p:grpSp>
        <p:nvGrpSpPr>
          <p:cNvPr id="7209" name="Group 41"/>
          <p:cNvGrpSpPr/>
          <p:nvPr/>
        </p:nvGrpSpPr>
        <p:grpSpPr bwMode="auto">
          <a:xfrm>
            <a:off x="4530736" y="3458748"/>
            <a:ext cx="468858" cy="1226786"/>
            <a:chOff x="2854" y="2958"/>
            <a:chExt cx="295" cy="1031"/>
          </a:xfrm>
        </p:grpSpPr>
        <p:sp>
          <p:nvSpPr>
            <p:cNvPr id="12309" name="Text Box 33"/>
            <p:cNvSpPr txBox="1">
              <a:spLocks noChangeArrowheads="1"/>
            </p:cNvSpPr>
            <p:nvPr/>
          </p:nvSpPr>
          <p:spPr bwMode="auto">
            <a:xfrm>
              <a:off x="2854" y="2958"/>
              <a:ext cx="295" cy="10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7994" tIns="58997" rIns="117994" bIns="58997">
              <a:spAutoFit/>
            </a:bodyPr>
            <a:lstStyle>
              <a:lvl1pPr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/>
                <a:t> 8</a:t>
              </a:r>
            </a:p>
            <a:p>
              <a:pPr eaLnBrk="1" hangingPunct="1"/>
              <a:endParaRPr lang="en-US" altLang="zh-CN" b="1" dirty="0"/>
            </a:p>
            <a:p>
              <a:pPr eaLnBrk="1" hangingPunct="1"/>
              <a:r>
                <a:rPr lang="en-US" altLang="zh-CN" b="1" dirty="0"/>
                <a:t> 7</a:t>
              </a:r>
            </a:p>
          </p:txBody>
        </p:sp>
        <p:sp>
          <p:nvSpPr>
            <p:cNvPr id="12310" name="Line 38"/>
            <p:cNvSpPr>
              <a:spLocks noChangeShapeType="1"/>
            </p:cNvSpPr>
            <p:nvPr/>
          </p:nvSpPr>
          <p:spPr bwMode="auto">
            <a:xfrm>
              <a:off x="3008" y="3319"/>
              <a:ext cx="0" cy="27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7994" tIns="58997" rIns="117994" bIns="58997">
              <a:spAutoFit/>
            </a:bodyPr>
            <a:lstStyle/>
            <a:p>
              <a:endParaRPr lang="zh-CN" altLang="en-US" sz="2000"/>
            </a:p>
          </p:txBody>
        </p:sp>
      </p:grpSp>
      <p:sp>
        <p:nvSpPr>
          <p:cNvPr id="7210" name="Text Box 42"/>
          <p:cNvSpPr txBox="1">
            <a:spLocks noChangeArrowheads="1"/>
          </p:cNvSpPr>
          <p:nvPr/>
        </p:nvSpPr>
        <p:spPr bwMode="auto">
          <a:xfrm>
            <a:off x="5304880" y="3710990"/>
            <a:ext cx="2122996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/>
              <a:t>下面举例说明。</a:t>
            </a:r>
          </a:p>
        </p:txBody>
      </p:sp>
      <p:grpSp>
        <p:nvGrpSpPr>
          <p:cNvPr id="7213" name="Group 45"/>
          <p:cNvGrpSpPr/>
          <p:nvPr/>
        </p:nvGrpSpPr>
        <p:grpSpPr bwMode="auto">
          <a:xfrm>
            <a:off x="2618463" y="3458749"/>
            <a:ext cx="546019" cy="1227596"/>
            <a:chOff x="2362" y="3927"/>
            <a:chExt cx="450" cy="1306"/>
          </a:xfrm>
        </p:grpSpPr>
        <p:sp>
          <p:nvSpPr>
            <p:cNvPr id="12307" name="Text Box 43"/>
            <p:cNvSpPr txBox="1">
              <a:spLocks noChangeArrowheads="1"/>
            </p:cNvSpPr>
            <p:nvPr/>
          </p:nvSpPr>
          <p:spPr bwMode="auto">
            <a:xfrm>
              <a:off x="2362" y="3927"/>
              <a:ext cx="450" cy="1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7994" tIns="58997" rIns="117994" bIns="58997">
              <a:spAutoFit/>
            </a:bodyPr>
            <a:lstStyle>
              <a:lvl1pPr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/>
                <a:t> 6</a:t>
              </a:r>
            </a:p>
            <a:p>
              <a:pPr eaLnBrk="1" hangingPunct="1"/>
              <a:r>
                <a:rPr lang="en-US" altLang="zh-CN" b="1" dirty="0"/>
                <a:t>    </a:t>
              </a:r>
            </a:p>
            <a:p>
              <a:pPr eaLnBrk="1" hangingPunct="1"/>
              <a:r>
                <a:rPr lang="en-US" altLang="zh-CN" b="1" dirty="0"/>
                <a:t> 5</a:t>
              </a:r>
            </a:p>
          </p:txBody>
        </p:sp>
        <p:sp>
          <p:nvSpPr>
            <p:cNvPr id="12308" name="Line 44"/>
            <p:cNvSpPr>
              <a:spLocks noChangeShapeType="1"/>
            </p:cNvSpPr>
            <p:nvPr/>
          </p:nvSpPr>
          <p:spPr bwMode="auto">
            <a:xfrm>
              <a:off x="2567" y="4373"/>
              <a:ext cx="0" cy="3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7994" tIns="58997" rIns="117994" bIns="58997">
              <a:spAutoFit/>
            </a:bodyPr>
            <a:lstStyle/>
            <a:p>
              <a:endParaRPr lang="zh-CN" altLang="en-US" sz="2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7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"/>
                                        <p:tgtEl>
                                          <p:spTgt spid="7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"/>
                                        <p:tgtEl>
                                          <p:spTgt spid="7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2000"/>
                                        <p:tgtEl>
                                          <p:spTgt spid="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2000"/>
                                        <p:tgtEl>
                                          <p:spTgt spid="7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300"/>
                                        <p:tgtEl>
                                          <p:spTgt spid="7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utoUpdateAnimBg="0"/>
      <p:bldP spid="7171" grpId="0" autoUpdateAnimBg="0"/>
      <p:bldP spid="7172" grpId="0" autoUpdateAnimBg="0"/>
      <p:bldP spid="7173" grpId="0" autoUpdateAnimBg="0"/>
      <p:bldP spid="7174" grpId="0" autoUpdateAnimBg="0"/>
      <p:bldP spid="7192" grpId="0" autoUpdateAnimBg="0"/>
      <p:bldP spid="7193" grpId="0" autoUpdateAnimBg="0"/>
      <p:bldP spid="7194" grpId="0" autoUpdateAnimBg="0"/>
      <p:bldP spid="7195" grpId="0" autoUpdateAnimBg="0"/>
      <p:bldP spid="7197" grpId="0" autoUpdateAnimBg="0"/>
      <p:bldP spid="7198" grpId="0" animBg="1" autoUpdateAnimBg="0"/>
      <p:bldP spid="7199" grpId="0"/>
      <p:bldP spid="721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2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14768" y="161675"/>
            <a:ext cx="8440242" cy="857807"/>
          </a:xfrm>
          <a:prstGeom prst="rect">
            <a:avLst/>
          </a:prstGeom>
          <a:blipFill rotWithShape="1">
            <a:blip r:embed="rId2" cstate="print"/>
            <a:stretch>
              <a:fillRect l="-607" t="-1688" b="-3797"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258" tIns="31629" rIns="63258" bIns="31629"/>
          <a:lstStyle/>
          <a:p>
            <a:r>
              <a:rPr lang="zh-CN" altLang="en-US" sz="1800">
                <a:noFill/>
              </a:rPr>
              <a:t> </a:t>
            </a:r>
          </a:p>
        </p:txBody>
      </p:sp>
      <p:sp>
        <p:nvSpPr>
          <p:cNvPr id="3" name="Text Box 1030"/>
          <p:cNvSpPr txBox="1">
            <a:spLocks noChangeArrowheads="1"/>
          </p:cNvSpPr>
          <p:nvPr/>
        </p:nvSpPr>
        <p:spPr bwMode="auto">
          <a:xfrm>
            <a:off x="572713" y="1038215"/>
            <a:ext cx="3125656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/>
              <a:t>解</a:t>
            </a:r>
            <a:r>
              <a:rPr lang="en-US" altLang="zh-CN" sz="2000" b="1" dirty="0" smtClean="0"/>
              <a:t>:  </a:t>
            </a:r>
            <a:r>
              <a:rPr lang="en-US" altLang="zh-CN" sz="2000" b="1" i="1" dirty="0" err="1" smtClean="0"/>
              <a:t>T</a:t>
            </a:r>
            <a:r>
              <a:rPr lang="en-US" altLang="zh-CN" sz="2000" b="1" baseline="-30000" dirty="0" err="1" smtClean="0"/>
              <a:t>f</a:t>
            </a:r>
            <a:r>
              <a:rPr lang="en-US" altLang="zh-CN" sz="2000" b="1" dirty="0"/>
              <a:t>= |</a:t>
            </a:r>
            <a:r>
              <a:rPr lang="en-US" altLang="zh-CN" sz="2000" b="1" i="1" dirty="0" err="1"/>
              <a:t>X</a:t>
            </a:r>
            <a:r>
              <a:rPr lang="en-US" altLang="zh-CN" sz="2000" b="1" baseline="-30000" dirty="0" err="1"/>
              <a:t>max</a:t>
            </a:r>
            <a:r>
              <a:rPr lang="en-US" altLang="zh-CN" sz="2000" b="1" dirty="0"/>
              <a:t>- </a:t>
            </a:r>
            <a:r>
              <a:rPr lang="en-US" altLang="zh-CN" sz="2000" b="1" i="1" dirty="0" err="1"/>
              <a:t>X</a:t>
            </a:r>
            <a:r>
              <a:rPr lang="en-US" altLang="zh-CN" sz="2000" b="1" baseline="-30000" dirty="0" err="1"/>
              <a:t>min</a:t>
            </a:r>
            <a:r>
              <a:rPr lang="en-US" altLang="zh-CN" sz="2000" b="1" baseline="-30000" dirty="0"/>
              <a:t> </a:t>
            </a:r>
            <a:r>
              <a:rPr lang="en-US" altLang="zh-CN" sz="2000" b="1" dirty="0"/>
              <a:t>|</a:t>
            </a:r>
          </a:p>
        </p:txBody>
      </p:sp>
      <p:sp>
        <p:nvSpPr>
          <p:cNvPr id="4" name="Text Box 1031"/>
          <p:cNvSpPr txBox="1">
            <a:spLocks noChangeArrowheads="1"/>
          </p:cNvSpPr>
          <p:nvPr/>
        </p:nvSpPr>
        <p:spPr bwMode="auto">
          <a:xfrm>
            <a:off x="2667360" y="1065145"/>
            <a:ext cx="1098590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/>
              <a:t> = 45μm</a:t>
            </a:r>
            <a:endParaRPr lang="en-US" altLang="zh-CN" sz="2000" b="1" baseline="-30000" dirty="0"/>
          </a:p>
        </p:txBody>
      </p:sp>
      <p:sp>
        <p:nvSpPr>
          <p:cNvPr id="5" name="Text Box 1032"/>
          <p:cNvSpPr txBox="1">
            <a:spLocks noChangeArrowheads="1"/>
          </p:cNvSpPr>
          <p:nvPr/>
        </p:nvSpPr>
        <p:spPr bwMode="auto">
          <a:xfrm>
            <a:off x="3616165" y="1063442"/>
            <a:ext cx="1987253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/>
              <a:t>≥ </a:t>
            </a:r>
            <a:r>
              <a:rPr lang="en-US" altLang="zh-CN" sz="2000" b="1" dirty="0" err="1"/>
              <a:t>IT</a:t>
            </a:r>
            <a:r>
              <a:rPr lang="en-US" altLang="zh-CN" sz="2000" b="1" i="1" dirty="0" err="1"/>
              <a:t>n</a:t>
            </a:r>
            <a:r>
              <a:rPr lang="en-US" altLang="zh-CN" sz="2000" b="1" i="1" dirty="0"/>
              <a:t>+ </a:t>
            </a:r>
            <a:r>
              <a:rPr lang="en-US" altLang="zh-CN" sz="2000" b="1" dirty="0"/>
              <a:t>IT(</a:t>
            </a:r>
            <a:r>
              <a:rPr lang="en-US" altLang="zh-CN" sz="2000" b="1" i="1" dirty="0"/>
              <a:t>n-</a:t>
            </a:r>
            <a:r>
              <a:rPr lang="en-US" altLang="zh-CN" sz="2000" b="1" dirty="0"/>
              <a:t>1</a:t>
            </a:r>
            <a:r>
              <a:rPr lang="en-US" altLang="zh-CN" sz="2000" b="1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6" name="Text Box 1038"/>
          <p:cNvSpPr txBox="1">
            <a:spLocks noChangeArrowheads="1"/>
          </p:cNvSpPr>
          <p:nvPr/>
        </p:nvSpPr>
        <p:spPr bwMode="auto">
          <a:xfrm>
            <a:off x="426752" y="3158997"/>
            <a:ext cx="2384043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2000" b="1" dirty="0"/>
              <a:t>  </a:t>
            </a:r>
            <a:r>
              <a:rPr lang="zh-CN" altLang="en-US" sz="2000" b="1" dirty="0">
                <a:latin typeface="宋体" panose="02010600030101010101" pitchFamily="2" charset="-122"/>
              </a:rPr>
              <a:t>得</a:t>
            </a:r>
            <a:r>
              <a:rPr lang="en-US" altLang="zh-CN" sz="2000" b="1" dirty="0">
                <a:latin typeface="宋体" panose="02010600030101010101" pitchFamily="2" charset="-122"/>
              </a:rPr>
              <a:t>:  </a:t>
            </a:r>
            <a:r>
              <a:rPr lang="en-US" altLang="zh-CN" sz="2000" b="1" dirty="0"/>
              <a:t>IT5=15μm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endParaRPr lang="zh-CN" altLang="en-US" sz="2000" b="1" dirty="0"/>
          </a:p>
        </p:txBody>
      </p:sp>
      <p:sp>
        <p:nvSpPr>
          <p:cNvPr id="7" name="Text Box 1040"/>
          <p:cNvSpPr txBox="1">
            <a:spLocks noChangeArrowheads="1"/>
          </p:cNvSpPr>
          <p:nvPr/>
        </p:nvSpPr>
        <p:spPr bwMode="auto">
          <a:xfrm>
            <a:off x="1192671" y="3641311"/>
            <a:ext cx="1477382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 smtClean="0"/>
              <a:t>IT6=22μm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15" name="Text Box 1039"/>
          <p:cNvSpPr txBox="1">
            <a:spLocks noChangeArrowheads="1"/>
          </p:cNvSpPr>
          <p:nvPr/>
        </p:nvSpPr>
        <p:spPr bwMode="auto">
          <a:xfrm>
            <a:off x="4142240" y="1930275"/>
            <a:ext cx="1560843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/>
              <a:t>IT7=35μm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59462" y="1838875"/>
            <a:ext cx="2613229" cy="957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/>
              <a:t>根据</a:t>
            </a:r>
            <a:r>
              <a:rPr lang="en-US" altLang="zh-CN" sz="2000" b="1" dirty="0" err="1" smtClean="0"/>
              <a:t>T</a:t>
            </a:r>
            <a:r>
              <a:rPr lang="en-US" altLang="zh-CN" sz="2000" b="1" baseline="-25000" dirty="0" err="1" smtClean="0"/>
              <a:t>f</a:t>
            </a:r>
            <a:r>
              <a:rPr lang="en-US" altLang="zh-CN" sz="2000" b="1" dirty="0" smtClean="0"/>
              <a:t>=45um=</a:t>
            </a:r>
            <a:r>
              <a:rPr lang="en-US" altLang="zh-CN" sz="2000" b="1" dirty="0" err="1" smtClean="0"/>
              <a:t>T</a:t>
            </a:r>
            <a:r>
              <a:rPr lang="en-US" altLang="zh-CN" sz="2000" b="1" baseline="-25000" dirty="0" err="1" smtClean="0"/>
              <a:t>D</a:t>
            </a:r>
            <a:r>
              <a:rPr lang="en-US" altLang="zh-CN" sz="2000" b="1" dirty="0" err="1" smtClean="0"/>
              <a:t>+T</a:t>
            </a:r>
            <a:r>
              <a:rPr lang="en-US" altLang="zh-CN" sz="2000" b="1" baseline="-25000" dirty="0" err="1" smtClean="0"/>
              <a:t>d</a:t>
            </a:r>
            <a:r>
              <a:rPr lang="en-US" altLang="zh-CN" sz="2000" b="1" dirty="0" smtClean="0"/>
              <a:t> </a:t>
            </a:r>
            <a:r>
              <a:rPr lang="zh-CN" altLang="en-US" sz="2000" b="1" dirty="0" smtClean="0"/>
              <a:t>和 </a:t>
            </a:r>
            <a:r>
              <a:rPr lang="en-US" altLang="zh-CN" sz="2000" b="1" dirty="0" smtClean="0"/>
              <a:t>D(d)=</a:t>
            </a:r>
            <a:r>
              <a:rPr lang="el-GR" altLang="zh-CN" sz="2000" b="1" dirty="0" smtClean="0"/>
              <a:t>Φ</a:t>
            </a:r>
            <a:r>
              <a:rPr lang="en-US" altLang="zh-CN" sz="2000" b="1" dirty="0" smtClean="0"/>
              <a:t>95, </a:t>
            </a:r>
            <a:r>
              <a:rPr lang="zh-CN" altLang="en-US" sz="2000" b="1" dirty="0" smtClean="0"/>
              <a:t>查表</a:t>
            </a:r>
            <a:r>
              <a:rPr lang="en-US" altLang="zh-CN" sz="2000" b="1" dirty="0" smtClean="0"/>
              <a:t>3.2</a:t>
            </a: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32985" y="1482569"/>
            <a:ext cx="5018288" cy="3445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Rectangle 1044"/>
          <p:cNvSpPr>
            <a:spLocks noChangeArrowheads="1"/>
          </p:cNvSpPr>
          <p:nvPr/>
        </p:nvSpPr>
        <p:spPr bwMode="auto">
          <a:xfrm>
            <a:off x="5240157" y="4610041"/>
            <a:ext cx="1524000" cy="28481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258" tIns="31629" rIns="63258" bIns="31629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  <p:bldP spid="15" grpId="0" autoUpdateAnimBg="0"/>
      <p:bldP spid="16" grpId="0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28"/>
          <p:cNvSpPr txBox="1">
            <a:spLocks noChangeArrowheads="1"/>
          </p:cNvSpPr>
          <p:nvPr/>
        </p:nvSpPr>
        <p:spPr bwMode="auto">
          <a:xfrm>
            <a:off x="281504" y="283234"/>
            <a:ext cx="8293424" cy="1155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dirty="0"/>
              <a:t>         </a:t>
            </a:r>
            <a:r>
              <a:rPr lang="zh-CN" altLang="en-US" sz="2000" b="1" dirty="0"/>
              <a:t>如果孔、轴都选</a:t>
            </a:r>
            <a:r>
              <a:rPr lang="en-US" altLang="zh-CN" sz="2000" b="1" dirty="0"/>
              <a:t>6</a:t>
            </a:r>
            <a:r>
              <a:rPr lang="zh-CN" altLang="en-US" sz="2000" b="1" dirty="0"/>
              <a:t>级，则</a:t>
            </a:r>
            <a:r>
              <a:rPr lang="en-US" altLang="zh-CN" sz="2000" b="1" i="1" dirty="0" err="1"/>
              <a:t>T</a:t>
            </a:r>
            <a:r>
              <a:rPr lang="en-US" altLang="zh-CN" sz="2000" b="1" baseline="-30000" dirty="0" err="1"/>
              <a:t>f</a:t>
            </a:r>
            <a:r>
              <a:rPr lang="en-US" altLang="zh-CN" sz="2000" b="1" baseline="-30000" dirty="0"/>
              <a:t> </a:t>
            </a:r>
            <a:r>
              <a:rPr lang="en-US" altLang="zh-CN" sz="2000" b="1" dirty="0"/>
              <a:t>= IT6+IT6=22+22=44 </a:t>
            </a:r>
            <a:r>
              <a:rPr lang="zh-CN" altLang="en-US" sz="2000" b="1" dirty="0">
                <a:cs typeface="Times New Roman" panose="02020603050405020304" pitchFamily="18" charset="0"/>
              </a:rPr>
              <a:t>＜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45μm</a:t>
            </a:r>
            <a:r>
              <a:rPr lang="zh-CN" altLang="en-US" sz="2000" b="1" dirty="0"/>
              <a:t>），虽然符合上述公式要求，但不符合此时</a:t>
            </a:r>
            <a:r>
              <a:rPr lang="zh-CN" altLang="en-US" sz="2000" b="1" dirty="0">
                <a:solidFill>
                  <a:srgbClr val="FF0000"/>
                </a:solidFill>
              </a:rPr>
              <a:t>孔必须比轴低一级的标准</a:t>
            </a:r>
            <a:r>
              <a:rPr lang="zh-CN" altLang="en-US" sz="2000" b="1" dirty="0"/>
              <a:t>要求（考虑工艺等价）。</a:t>
            </a:r>
          </a:p>
        </p:txBody>
      </p:sp>
      <p:sp>
        <p:nvSpPr>
          <p:cNvPr id="6" name="Text Box 1029"/>
          <p:cNvSpPr txBox="1">
            <a:spLocks noChangeArrowheads="1"/>
          </p:cNvSpPr>
          <p:nvPr/>
        </p:nvSpPr>
        <p:spPr bwMode="auto">
          <a:xfrm>
            <a:off x="624012" y="3574006"/>
            <a:ext cx="8041041" cy="100575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50000"/>
              </a:spcBef>
            </a:pPr>
            <a:r>
              <a:rPr lang="en-US" altLang="zh-CN" sz="2000" b="1" dirty="0"/>
              <a:t>         </a:t>
            </a:r>
            <a:r>
              <a:rPr lang="zh-CN" altLang="en-US" sz="2000" b="1" dirty="0"/>
              <a:t>孔选 </a:t>
            </a:r>
            <a:r>
              <a:rPr lang="en-US" altLang="zh-CN" sz="2000" b="1" dirty="0">
                <a:solidFill>
                  <a:srgbClr val="FF0000"/>
                </a:solidFill>
              </a:rPr>
              <a:t>6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级，轴选 </a:t>
            </a:r>
            <a:r>
              <a:rPr lang="en-US" altLang="zh-CN" sz="2000" b="1" dirty="0">
                <a:solidFill>
                  <a:srgbClr val="FF0000"/>
                </a:solidFill>
              </a:rPr>
              <a:t>5 </a:t>
            </a:r>
            <a:r>
              <a:rPr lang="zh-CN" altLang="en-US" sz="2000" b="1" dirty="0"/>
              <a:t>级，虽然距要求的允许值减小</a:t>
            </a:r>
            <a:r>
              <a:rPr lang="en-US" altLang="zh-CN" sz="2000" b="1" dirty="0"/>
              <a:t>8μm</a:t>
            </a:r>
            <a:r>
              <a:rPr lang="zh-CN" altLang="en-US" sz="2000" b="1" dirty="0"/>
              <a:t>，给加工带来一定的困难。但配合精度有一定的储备，而且选用标准的公差等级，可选用标准的原材料、刀具和量具，对降低加工成本有利。</a:t>
            </a:r>
          </a:p>
        </p:txBody>
      </p:sp>
      <p:sp>
        <p:nvSpPr>
          <p:cNvPr id="7" name="Text Box 1030"/>
          <p:cNvSpPr txBox="1">
            <a:spLocks noChangeArrowheads="1"/>
          </p:cNvSpPr>
          <p:nvPr/>
        </p:nvSpPr>
        <p:spPr bwMode="auto">
          <a:xfrm>
            <a:off x="959613" y="2524446"/>
            <a:ext cx="7033939" cy="851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/>
              <a:t>因此，轴选 </a:t>
            </a:r>
            <a:r>
              <a:rPr lang="en-US" altLang="zh-CN" sz="2000" b="1" dirty="0"/>
              <a:t>IT5</a:t>
            </a:r>
            <a:r>
              <a:rPr lang="zh-CN" altLang="en-US" sz="2000" b="1" dirty="0"/>
              <a:t>，孔选</a:t>
            </a:r>
            <a:r>
              <a:rPr lang="en-US" altLang="zh-CN" sz="2000" b="1" dirty="0"/>
              <a:t>IT6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000" b="1" dirty="0"/>
              <a:t>即         </a:t>
            </a:r>
            <a:r>
              <a:rPr lang="en-US" altLang="zh-CN" sz="2000" b="1" i="1" dirty="0" err="1"/>
              <a:t>T</a:t>
            </a:r>
            <a:r>
              <a:rPr lang="en-US" altLang="zh-CN" sz="2000" b="1" baseline="-30000" dirty="0" err="1"/>
              <a:t>f</a:t>
            </a:r>
            <a:r>
              <a:rPr lang="en-US" altLang="zh-CN" sz="2000" b="1" baseline="-30000" dirty="0"/>
              <a:t> </a:t>
            </a:r>
            <a:r>
              <a:rPr lang="en-US" altLang="zh-CN" sz="2000" b="1" dirty="0"/>
              <a:t>= IT5+IT6=15+22=</a:t>
            </a:r>
            <a:r>
              <a:rPr lang="en-US" altLang="zh-CN" sz="2000" b="1" dirty="0">
                <a:solidFill>
                  <a:srgbClr val="FF0000"/>
                </a:solidFill>
              </a:rPr>
              <a:t>37 </a:t>
            </a:r>
            <a:r>
              <a:rPr lang="zh-CN" altLang="en-US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＜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45</a:t>
            </a:r>
            <a:r>
              <a:rPr lang="zh-CN" altLang="en-US" sz="2000" b="1" dirty="0"/>
              <a:t>（</a:t>
            </a:r>
            <a:r>
              <a:rPr lang="en-US" altLang="zh-CN" sz="2000" b="1" dirty="0" err="1"/>
              <a:t>μm</a:t>
            </a:r>
            <a:r>
              <a:rPr lang="zh-CN" altLang="en-US" sz="2000" b="1" dirty="0"/>
              <a:t>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66" y="1499438"/>
            <a:ext cx="7089851" cy="957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/>
              <a:t>符合题意的</a:t>
            </a:r>
            <a:r>
              <a:rPr lang="en-US" altLang="zh-CN" sz="2000" b="1" dirty="0" smtClean="0"/>
              <a:t>D(d) = </a:t>
            </a:r>
            <a:r>
              <a:rPr lang="el-GR" altLang="zh-CN" sz="2000" b="1" dirty="0" smtClean="0"/>
              <a:t>Φ</a:t>
            </a:r>
            <a:r>
              <a:rPr lang="en-US" altLang="zh-CN" sz="2000" b="1" dirty="0" smtClean="0"/>
              <a:t>95, </a:t>
            </a:r>
            <a:r>
              <a:rPr lang="en-US" altLang="zh-CN" sz="2000" b="1" dirty="0" err="1" smtClean="0"/>
              <a:t>X</a:t>
            </a:r>
            <a:r>
              <a:rPr lang="en-US" altLang="zh-CN" sz="2000" b="1" baseline="-25000" dirty="0" err="1" smtClean="0"/>
              <a:t>max</a:t>
            </a:r>
            <a:r>
              <a:rPr lang="en-US" altLang="zh-CN" sz="2000" b="1" dirty="0" smtClean="0"/>
              <a:t> ≤ +55um, </a:t>
            </a:r>
            <a:r>
              <a:rPr lang="en-US" altLang="zh-CN" sz="2000" b="1" dirty="0" err="1" smtClean="0"/>
              <a:t>X</a:t>
            </a:r>
            <a:r>
              <a:rPr lang="en-US" altLang="zh-CN" sz="2000" b="1" baseline="-25000" dirty="0" err="1" smtClean="0"/>
              <a:t>min</a:t>
            </a:r>
            <a:r>
              <a:rPr lang="en-US" altLang="zh-CN" sz="2000" b="1" dirty="0" smtClean="0"/>
              <a:t> ≥ +10um </a:t>
            </a:r>
            <a:r>
              <a:rPr lang="zh-CN" altLang="en-US" sz="2000" b="1" dirty="0" smtClean="0"/>
              <a:t>要求的是</a:t>
            </a:r>
            <a:endParaRPr lang="en-US" altLang="zh-CN" sz="2000" b="1" dirty="0" smtClean="0"/>
          </a:p>
          <a:p>
            <a:pPr>
              <a:lnSpc>
                <a:spcPct val="150000"/>
              </a:lnSpc>
            </a:pPr>
            <a:r>
              <a:rPr lang="zh-CN" altLang="en-US" sz="2000" b="1" dirty="0" smtClean="0"/>
              <a:t>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T</a:t>
            </a:r>
            <a:r>
              <a:rPr lang="en-US" altLang="zh-CN" sz="2000" b="1" baseline="-25000" dirty="0" smtClean="0">
                <a:solidFill>
                  <a:srgbClr val="FF0000"/>
                </a:solidFill>
              </a:rPr>
              <a:t>D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= IT6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，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T</a:t>
            </a:r>
            <a:r>
              <a:rPr lang="en-US" altLang="zh-CN" sz="2000" b="1" baseline="-25000" dirty="0" smtClean="0">
                <a:solidFill>
                  <a:srgbClr val="FF0000"/>
                </a:solidFill>
              </a:rPr>
              <a:t>d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= IT5</a:t>
            </a:r>
            <a:r>
              <a:rPr lang="zh-CN" altLang="en-US" sz="2000" b="1" dirty="0" smtClean="0"/>
              <a:t>。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nimBg="1" autoUpdateAnimBg="0"/>
      <p:bldP spid="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479750" y="67636"/>
            <a:ext cx="5153207" cy="513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宋体" panose="02010600030101010101" pitchFamily="2" charset="-122"/>
              </a:rPr>
              <a:t>3.4.3  </a:t>
            </a:r>
            <a:r>
              <a:rPr lang="zh-CN" altLang="en-US" sz="2800" b="1" dirty="0">
                <a:latin typeface="宋体" panose="02010600030101010101" pitchFamily="2" charset="-122"/>
              </a:rPr>
              <a:t>配合的选用 </a:t>
            </a:r>
          </a:p>
        </p:txBody>
      </p:sp>
      <p:grpSp>
        <p:nvGrpSpPr>
          <p:cNvPr id="9243" name="Group 27"/>
          <p:cNvGrpSpPr/>
          <p:nvPr/>
        </p:nvGrpSpPr>
        <p:grpSpPr bwMode="auto">
          <a:xfrm>
            <a:off x="972571" y="1813715"/>
            <a:ext cx="3550323" cy="1227598"/>
            <a:chOff x="822" y="1881"/>
            <a:chExt cx="2926" cy="1306"/>
          </a:xfrm>
        </p:grpSpPr>
        <p:sp>
          <p:nvSpPr>
            <p:cNvPr id="15378" name="Text Box 5"/>
            <p:cNvSpPr txBox="1">
              <a:spLocks noChangeArrowheads="1"/>
            </p:cNvSpPr>
            <p:nvPr/>
          </p:nvSpPr>
          <p:spPr bwMode="auto">
            <a:xfrm>
              <a:off x="822" y="1881"/>
              <a:ext cx="2468" cy="1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17994" tIns="58997" rIns="117994" bIns="58997">
              <a:spAutoFit/>
            </a:bodyPr>
            <a:lstStyle>
              <a:lvl1pPr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b="1" dirty="0"/>
                <a:t>根据使用要求和孔轴</a:t>
              </a:r>
            </a:p>
            <a:p>
              <a:pPr eaLnBrk="1" hangingPunct="1">
                <a:lnSpc>
                  <a:spcPct val="150000"/>
                </a:lnSpc>
              </a:pPr>
              <a:r>
                <a:rPr lang="zh-CN" altLang="en-US" b="1" dirty="0"/>
                <a:t>间</a:t>
              </a:r>
              <a:r>
                <a:rPr lang="zh-CN" altLang="en-US" b="1" dirty="0">
                  <a:solidFill>
                    <a:srgbClr val="FF0000"/>
                  </a:solidFill>
                </a:rPr>
                <a:t>有无相对运动</a:t>
              </a:r>
              <a:r>
                <a:rPr lang="zh-CN" altLang="en-US" b="1" dirty="0"/>
                <a:t>               </a:t>
              </a:r>
            </a:p>
          </p:txBody>
        </p:sp>
        <p:sp>
          <p:nvSpPr>
            <p:cNvPr id="15379" name="AutoShape 6"/>
            <p:cNvSpPr/>
            <p:nvPr/>
          </p:nvSpPr>
          <p:spPr bwMode="auto">
            <a:xfrm>
              <a:off x="3434" y="1893"/>
              <a:ext cx="314" cy="1197"/>
            </a:xfrm>
            <a:prstGeom prst="leftBrace">
              <a:avLst>
                <a:gd name="adj1" fmla="val 22585"/>
                <a:gd name="adj2" fmla="val 50000"/>
              </a:avLst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4598446" y="1615963"/>
            <a:ext cx="2283977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/>
              <a:t>有 </a:t>
            </a:r>
            <a:r>
              <a:rPr lang="en-US" altLang="zh-CN" b="1" dirty="0"/>
              <a:t>— </a:t>
            </a:r>
            <a:r>
              <a:rPr lang="zh-CN" altLang="en-US" b="1" dirty="0" smtClean="0"/>
              <a:t> 间隙配合</a:t>
            </a:r>
            <a:r>
              <a:rPr lang="zh-CN" altLang="en-US" dirty="0" smtClean="0"/>
              <a:t> </a:t>
            </a:r>
            <a:endParaRPr lang="zh-CN" altLang="en-US" dirty="0"/>
          </a:p>
        </p:txBody>
      </p:sp>
      <p:grpSp>
        <p:nvGrpSpPr>
          <p:cNvPr id="9244" name="Group 28"/>
          <p:cNvGrpSpPr/>
          <p:nvPr/>
        </p:nvGrpSpPr>
        <p:grpSpPr bwMode="auto">
          <a:xfrm>
            <a:off x="4564552" y="2342942"/>
            <a:ext cx="1266764" cy="1298095"/>
            <a:chOff x="3776" y="1634"/>
            <a:chExt cx="1044" cy="1381"/>
          </a:xfrm>
        </p:grpSpPr>
        <p:sp>
          <p:nvSpPr>
            <p:cNvPr id="15376" name="Text Box 8"/>
            <p:cNvSpPr txBox="1">
              <a:spLocks noChangeArrowheads="1"/>
            </p:cNvSpPr>
            <p:nvPr/>
          </p:nvSpPr>
          <p:spPr bwMode="auto">
            <a:xfrm>
              <a:off x="3776" y="2067"/>
              <a:ext cx="1044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17994" tIns="58997" rIns="117994" bIns="58997">
              <a:spAutoFit/>
            </a:bodyPr>
            <a:lstStyle>
              <a:lvl1pPr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/>
                <a:t>无 </a:t>
              </a:r>
              <a:r>
                <a:rPr lang="en-US" altLang="zh-CN" b="1" dirty="0"/>
                <a:t>— </a:t>
              </a:r>
            </a:p>
          </p:txBody>
        </p:sp>
        <p:sp>
          <p:nvSpPr>
            <p:cNvPr id="15377" name="AutoShape 9"/>
            <p:cNvSpPr/>
            <p:nvPr/>
          </p:nvSpPr>
          <p:spPr bwMode="auto">
            <a:xfrm>
              <a:off x="4485" y="1634"/>
              <a:ext cx="126" cy="1381"/>
            </a:xfrm>
            <a:prstGeom prst="leftBrace">
              <a:avLst>
                <a:gd name="adj1" fmla="val 64352"/>
                <a:gd name="adj2" fmla="val 50000"/>
              </a:avLst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967061" y="794185"/>
            <a:ext cx="4152172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宋体" panose="02010600030101010101" pitchFamily="2" charset="-122"/>
              </a:rPr>
              <a:t>1.</a:t>
            </a:r>
            <a:r>
              <a:rPr lang="zh-CN" altLang="en-US" b="1" dirty="0">
                <a:latin typeface="宋体" panose="02010600030101010101" pitchFamily="2" charset="-122"/>
              </a:rPr>
              <a:t>配合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类别</a:t>
            </a:r>
            <a:r>
              <a:rPr lang="zh-CN" altLang="en-US" b="1" dirty="0">
                <a:latin typeface="宋体" panose="02010600030101010101" pitchFamily="2" charset="-122"/>
              </a:rPr>
              <a:t>的选用：</a:t>
            </a:r>
            <a:r>
              <a:rPr lang="zh-CN" altLang="en-US" b="1" dirty="0"/>
              <a:t> </a:t>
            </a:r>
          </a:p>
        </p:txBody>
      </p:sp>
      <p:sp>
        <p:nvSpPr>
          <p:cNvPr id="9235" name="Text Box 19"/>
          <p:cNvSpPr txBox="1">
            <a:spLocks noChangeArrowheads="1"/>
          </p:cNvSpPr>
          <p:nvPr/>
        </p:nvSpPr>
        <p:spPr bwMode="auto">
          <a:xfrm>
            <a:off x="5666539" y="2196436"/>
            <a:ext cx="2494701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/>
              <a:t>间隙配合</a:t>
            </a:r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5674815" y="2761986"/>
            <a:ext cx="2395204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/>
              <a:t>过盈配合</a:t>
            </a:r>
          </a:p>
        </p:txBody>
      </p:sp>
      <p:sp>
        <p:nvSpPr>
          <p:cNvPr id="20" name="Text Box 22"/>
          <p:cNvSpPr txBox="1">
            <a:spLocks noChangeArrowheads="1"/>
          </p:cNvSpPr>
          <p:nvPr/>
        </p:nvSpPr>
        <p:spPr bwMode="auto">
          <a:xfrm>
            <a:off x="5666552" y="3411176"/>
            <a:ext cx="1592389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/>
              <a:t>过渡配合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9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9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 autoUpdateAnimBg="0"/>
      <p:bldP spid="9223" grpId="0"/>
      <p:bldP spid="9229" grpId="0" build="p" autoUpdateAnimBg="0"/>
      <p:bldP spid="9235" grpId="0" autoUpdateAnimBg="0"/>
      <p:bldP spid="9237" grpId="0" autoUpdateAnimBg="0"/>
      <p:bldP spid="20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398844" y="84484"/>
            <a:ext cx="6149389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宋体" panose="02010600030101010101" pitchFamily="2" charset="-122"/>
              </a:rPr>
              <a:t>2.</a:t>
            </a:r>
            <a:r>
              <a:rPr lang="zh-CN" altLang="en-US" b="1" dirty="0">
                <a:latin typeface="宋体" panose="02010600030101010101" pitchFamily="2" charset="-122"/>
              </a:rPr>
              <a:t>配合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种类（松紧）</a:t>
            </a:r>
            <a:r>
              <a:rPr lang="zh-CN" altLang="en-US" b="1" dirty="0">
                <a:latin typeface="宋体" panose="02010600030101010101" pitchFamily="2" charset="-122"/>
              </a:rPr>
              <a:t>的选用 </a:t>
            </a:r>
          </a:p>
        </p:txBody>
      </p:sp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442272" y="700357"/>
            <a:ext cx="3535777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（</a:t>
            </a:r>
            <a:r>
              <a:rPr lang="en-US" altLang="zh-CN" b="1" dirty="0"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</a:rPr>
              <a:t>）选用方法 </a:t>
            </a:r>
          </a:p>
        </p:txBody>
      </p:sp>
      <p:sp>
        <p:nvSpPr>
          <p:cNvPr id="10" name="Text Box 23"/>
          <p:cNvSpPr txBox="1">
            <a:spLocks noChangeArrowheads="1"/>
          </p:cNvSpPr>
          <p:nvPr/>
        </p:nvSpPr>
        <p:spPr bwMode="auto">
          <a:xfrm>
            <a:off x="484288" y="1218661"/>
            <a:ext cx="8392425" cy="821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 ① </a:t>
            </a:r>
            <a:r>
              <a:rPr lang="zh-CN" altLang="en-US" sz="2000" b="1" dirty="0">
                <a:solidFill>
                  <a:srgbClr val="FF0000"/>
                </a:solidFill>
              </a:rPr>
              <a:t>计算法</a:t>
            </a:r>
            <a:r>
              <a:rPr lang="en-US" altLang="zh-CN" sz="2000" b="1" dirty="0" smtClean="0"/>
              <a:t>: </a:t>
            </a:r>
            <a:r>
              <a:rPr lang="zh-CN" altLang="en-US" sz="2000" b="1" dirty="0" smtClean="0"/>
              <a:t>可用</a:t>
            </a:r>
            <a:r>
              <a:rPr lang="zh-CN" altLang="en-US" sz="2000" b="1" dirty="0"/>
              <a:t>于滑动轴承的</a:t>
            </a:r>
            <a:r>
              <a:rPr lang="zh-CN" altLang="en-US" sz="2000" b="1" dirty="0">
                <a:solidFill>
                  <a:srgbClr val="0070C0"/>
                </a:solidFill>
              </a:rPr>
              <a:t>间隙配合</a:t>
            </a:r>
            <a:r>
              <a:rPr lang="zh-CN" altLang="en-US" sz="2000" b="1" dirty="0" smtClean="0"/>
              <a:t>。也可用于靠过盈传递负荷的</a:t>
            </a:r>
            <a:r>
              <a:rPr lang="zh-CN" altLang="en-US" sz="2000" b="1" dirty="0" smtClean="0">
                <a:solidFill>
                  <a:srgbClr val="0070C0"/>
                </a:solidFill>
              </a:rPr>
              <a:t>过盈配合</a:t>
            </a:r>
            <a:r>
              <a:rPr lang="zh-CN" altLang="en-US" sz="2000" b="1" dirty="0" smtClean="0"/>
              <a:t>。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1" name="Rectangle 29"/>
          <p:cNvSpPr>
            <a:spLocks noChangeArrowheads="1"/>
          </p:cNvSpPr>
          <p:nvPr/>
        </p:nvSpPr>
        <p:spPr bwMode="auto">
          <a:xfrm>
            <a:off x="570423" y="2181729"/>
            <a:ext cx="8012112" cy="400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3258" tIns="31629" rIns="63258" bIns="31629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000" b="1" dirty="0"/>
              <a:t>         </a:t>
            </a:r>
            <a:endParaRPr lang="zh-CN" altLang="en-US" sz="2000" b="1" dirty="0"/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570533" y="2011052"/>
            <a:ext cx="8098070" cy="821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② </a:t>
            </a:r>
            <a:r>
              <a:rPr lang="zh-CN" altLang="en-US" sz="2000" b="1" dirty="0">
                <a:solidFill>
                  <a:srgbClr val="FF0000"/>
                </a:solidFill>
              </a:rPr>
              <a:t>试验法</a:t>
            </a:r>
            <a:r>
              <a:rPr lang="en-US" altLang="zh-CN" sz="2000" b="1" dirty="0"/>
              <a:t>: </a:t>
            </a:r>
            <a:r>
              <a:rPr lang="zh-CN" altLang="en-US" sz="2000" b="1" dirty="0"/>
              <a:t>主要用于重要的、关键性配合</a:t>
            </a:r>
            <a:r>
              <a:rPr lang="zh-CN" altLang="en-US" sz="2000" b="1" dirty="0" smtClean="0"/>
              <a:t>。用</a:t>
            </a:r>
            <a:r>
              <a:rPr lang="zh-CN" altLang="en-US" sz="2000" b="1" dirty="0"/>
              <a:t>试验法确定配合比较可靠，但需</a:t>
            </a:r>
            <a:r>
              <a:rPr lang="zh-CN" altLang="en-US" sz="2000" b="1" dirty="0" smtClean="0"/>
              <a:t>做大量试验</a:t>
            </a:r>
            <a:r>
              <a:rPr lang="zh-CN" altLang="en-US" sz="2000" b="1" dirty="0"/>
              <a:t>，成本较高。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563678" y="2875883"/>
            <a:ext cx="8152672" cy="785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000" b="1" dirty="0">
                <a:latin typeface="宋体" panose="02010600030101010101" pitchFamily="2" charset="-122"/>
              </a:rPr>
              <a:t>③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</a:rPr>
              <a:t>类比法：</a:t>
            </a:r>
            <a:r>
              <a:rPr lang="zh-CN" altLang="en-US" sz="2000" b="1" dirty="0"/>
              <a:t>是以经过生产验证的且类似的机械、结构和零部件为样板来选配合种类。</a:t>
            </a: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159950" y="3756051"/>
            <a:ext cx="5909310" cy="450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b="1" dirty="0">
                <a:solidFill>
                  <a:srgbClr val="FF0000"/>
                </a:solidFill>
              </a:rPr>
              <a:t>类比法</a:t>
            </a:r>
            <a:r>
              <a:rPr lang="zh-CN" altLang="en-US" sz="2000" b="1" dirty="0"/>
              <a:t>是确定机械和仪器配合种类</a:t>
            </a:r>
            <a:r>
              <a:rPr lang="zh-CN" altLang="en-US" sz="2000" b="1" dirty="0">
                <a:solidFill>
                  <a:srgbClr val="FF0000"/>
                </a:solidFill>
              </a:rPr>
              <a:t>最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常用的</a:t>
            </a:r>
            <a:r>
              <a:rPr lang="zh-CN" altLang="en-US" sz="2000" b="1" dirty="0">
                <a:solidFill>
                  <a:srgbClr val="FF0000"/>
                </a:solidFill>
              </a:rPr>
              <a:t>方法</a:t>
            </a:r>
            <a:r>
              <a:rPr lang="zh-CN" altLang="en-US" sz="2000" b="1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  <p:bldP spid="8" grpId="0" build="p" autoUpdateAnimBg="0"/>
      <p:bldP spid="10" grpId="0" autoUpdateAnimBg="0"/>
      <p:bldP spid="11" grpId="0"/>
      <p:bldP spid="9" grpId="0" autoUpdateAnimBg="0"/>
      <p:bldP spid="13" grpId="0" bldLvl="0" animBg="1" autoUpdateAnimBg="0"/>
      <p:bldP spid="14" grpId="0" bldLvl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220835" y="81852"/>
            <a:ext cx="8458443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）尽量</a:t>
            </a:r>
            <a:r>
              <a:rPr lang="zh-CN" altLang="en-US" b="1" dirty="0" smtClean="0"/>
              <a:t>选用优先、常用的</a:t>
            </a:r>
            <a:r>
              <a:rPr lang="zh-CN" altLang="en-US" b="1" dirty="0">
                <a:solidFill>
                  <a:srgbClr val="FF0000"/>
                </a:solidFill>
              </a:rPr>
              <a:t>标准的公差带</a:t>
            </a:r>
            <a:endParaRPr lang="zh-CN" altLang="en-US" b="1" dirty="0"/>
          </a:p>
        </p:txBody>
      </p: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236049" y="686168"/>
            <a:ext cx="8285663" cy="416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b="1" dirty="0"/>
              <a:t>        </a:t>
            </a:r>
            <a:r>
              <a:rPr lang="zh-CN" altLang="en-US" sz="2000" b="1" dirty="0" smtClean="0"/>
              <a:t>孔轴的基本偏差</a:t>
            </a:r>
            <a:r>
              <a:rPr lang="en-US" altLang="zh-CN" sz="2000" b="1" dirty="0" smtClean="0"/>
              <a:t>28</a:t>
            </a:r>
            <a:r>
              <a:rPr lang="zh-CN" altLang="en-US" sz="2000" b="1" dirty="0" smtClean="0"/>
              <a:t>种和公差等级</a:t>
            </a:r>
            <a:r>
              <a:rPr lang="en-US" altLang="zh-CN" sz="2000" b="1" dirty="0" smtClean="0"/>
              <a:t>20</a:t>
            </a:r>
            <a:r>
              <a:rPr lang="zh-CN" altLang="en-US" sz="2000" b="1" dirty="0" smtClean="0"/>
              <a:t>个可组成</a:t>
            </a:r>
            <a:r>
              <a:rPr lang="en-US" altLang="zh-CN" sz="2000" b="1" dirty="0" smtClean="0"/>
              <a:t>500</a:t>
            </a:r>
            <a:r>
              <a:rPr lang="zh-CN" altLang="en-US" sz="2000" b="1" dirty="0" smtClean="0"/>
              <a:t>多种孔、轴的公差带</a:t>
            </a:r>
            <a:endParaRPr lang="zh-CN" altLang="en-US" sz="2000" b="1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3301" y="2308520"/>
            <a:ext cx="8117049" cy="228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AutoShape 19"/>
          <p:cNvSpPr>
            <a:spLocks noChangeArrowheads="1"/>
          </p:cNvSpPr>
          <p:nvPr/>
        </p:nvSpPr>
        <p:spPr bwMode="auto">
          <a:xfrm>
            <a:off x="4154183" y="1296799"/>
            <a:ext cx="1582512" cy="667377"/>
          </a:xfrm>
          <a:prstGeom prst="wedgeRoundRectCallout">
            <a:avLst>
              <a:gd name="adj1" fmla="val -39016"/>
              <a:gd name="adj2" fmla="val 113136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/>
          <a:lstStyle/>
          <a:p>
            <a:pPr algn="ctr" defTabSz="815975"/>
            <a:r>
              <a:rPr lang="zh-CN" altLang="en-US" sz="2000" b="1" dirty="0"/>
              <a:t>常用公差带（</a:t>
            </a:r>
            <a:r>
              <a:rPr lang="en-US" altLang="zh-CN" sz="2000" b="1" dirty="0" smtClean="0"/>
              <a:t>45</a:t>
            </a:r>
            <a:r>
              <a:rPr lang="zh-CN" altLang="en-US" sz="2000" b="1" dirty="0" smtClean="0"/>
              <a:t>）</a:t>
            </a:r>
            <a:endParaRPr lang="zh-CN" altLang="en-US" sz="2000" b="1" dirty="0"/>
          </a:p>
        </p:txBody>
      </p:sp>
      <p:sp>
        <p:nvSpPr>
          <p:cNvPr id="12" name="AutoShape 20"/>
          <p:cNvSpPr>
            <a:spLocks noChangeArrowheads="1"/>
          </p:cNvSpPr>
          <p:nvPr/>
        </p:nvSpPr>
        <p:spPr bwMode="auto">
          <a:xfrm>
            <a:off x="6548510" y="1339351"/>
            <a:ext cx="2060916" cy="779332"/>
          </a:xfrm>
          <a:prstGeom prst="wedgeEllipseCallout">
            <a:avLst>
              <a:gd name="adj1" fmla="val -47166"/>
              <a:gd name="adj2" fmla="val 123609"/>
            </a:avLst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/>
          <a:lstStyle/>
          <a:p>
            <a:pPr algn="ctr" defTabSz="815975"/>
            <a:r>
              <a:rPr lang="zh-CN" altLang="en-US" sz="2000" b="1" dirty="0"/>
              <a:t>优先公差带（</a:t>
            </a:r>
            <a:r>
              <a:rPr lang="en-US" altLang="zh-CN" sz="2000" b="1" dirty="0" smtClean="0"/>
              <a:t>17</a:t>
            </a:r>
            <a:r>
              <a:rPr lang="zh-CN" altLang="en-US" sz="2000" b="1" dirty="0" smtClean="0"/>
              <a:t>）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9" grpId="0" autoUpdateAnimBg="0"/>
      <p:bldP spid="10261" grpId="0" autoUpdateAnimBg="0"/>
      <p:bldP spid="11" grpId="0" animBg="1" autoUpdateAnimBg="0"/>
      <p:bldP spid="12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257411" y="85814"/>
            <a:ext cx="8458443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）尽量</a:t>
            </a:r>
            <a:r>
              <a:rPr lang="zh-CN" altLang="en-US" b="1" dirty="0" smtClean="0"/>
              <a:t>选用优先、常用的</a:t>
            </a:r>
            <a:r>
              <a:rPr lang="zh-CN" altLang="en-US" b="1" dirty="0">
                <a:solidFill>
                  <a:srgbClr val="FF0000"/>
                </a:solidFill>
              </a:rPr>
              <a:t>标准的公差带</a:t>
            </a:r>
            <a:endParaRPr lang="zh-CN" altLang="en-US" b="1" dirty="0"/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0859" y="1719072"/>
            <a:ext cx="8339328" cy="2779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AutoShape 33"/>
          <p:cNvSpPr>
            <a:spLocks noChangeArrowheads="1"/>
          </p:cNvSpPr>
          <p:nvPr/>
        </p:nvSpPr>
        <p:spPr bwMode="auto">
          <a:xfrm>
            <a:off x="3904411" y="770693"/>
            <a:ext cx="1727847" cy="678279"/>
          </a:xfrm>
          <a:prstGeom prst="wedgeRoundRectCallout">
            <a:avLst>
              <a:gd name="adj1" fmla="val -55068"/>
              <a:gd name="adj2" fmla="val 11917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/>
          <a:lstStyle/>
          <a:p>
            <a:pPr algn="ctr" defTabSz="815975"/>
            <a:r>
              <a:rPr lang="zh-CN" altLang="en-US" sz="2000" b="1" dirty="0"/>
              <a:t>常用公差带（</a:t>
            </a:r>
            <a:r>
              <a:rPr lang="en-US" altLang="zh-CN" sz="2000" b="1" dirty="0" smtClean="0"/>
              <a:t>50</a:t>
            </a:r>
            <a:r>
              <a:rPr lang="zh-CN" altLang="en-US" sz="2000" b="1" dirty="0" smtClean="0"/>
              <a:t>）</a:t>
            </a:r>
            <a:endParaRPr lang="zh-CN" altLang="en-US" sz="2000" b="1" dirty="0"/>
          </a:p>
        </p:txBody>
      </p:sp>
      <p:sp>
        <p:nvSpPr>
          <p:cNvPr id="14" name="AutoShape 34"/>
          <p:cNvSpPr>
            <a:spLocks noChangeArrowheads="1"/>
          </p:cNvSpPr>
          <p:nvPr/>
        </p:nvSpPr>
        <p:spPr bwMode="auto">
          <a:xfrm>
            <a:off x="6472731" y="745030"/>
            <a:ext cx="2056672" cy="810252"/>
          </a:xfrm>
          <a:prstGeom prst="wedgeEllipseCallout">
            <a:avLst>
              <a:gd name="adj1" fmla="val -62037"/>
              <a:gd name="adj2" fmla="val 122500"/>
            </a:avLst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/>
          <a:lstStyle/>
          <a:p>
            <a:pPr defTabSz="815975"/>
            <a:r>
              <a:rPr lang="zh-CN" altLang="en-US" sz="2000" b="1" dirty="0"/>
              <a:t>优先公差带（</a:t>
            </a:r>
            <a:r>
              <a:rPr lang="en-US" altLang="zh-CN" sz="2000" b="1" dirty="0" smtClean="0"/>
              <a:t>17</a:t>
            </a:r>
            <a:r>
              <a:rPr lang="zh-CN" altLang="en-US" sz="2000" b="1" dirty="0" smtClean="0"/>
              <a:t>）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  <p:bldP spid="13" grpId="0" animBg="1" autoUpdateAnimBg="0"/>
      <p:bldP spid="14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837047" y="171991"/>
            <a:ext cx="6513322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/>
          <a:p>
            <a:pPr defTabSz="815975">
              <a:spcBef>
                <a:spcPct val="50000"/>
              </a:spcBef>
            </a:pPr>
            <a:r>
              <a:rPr lang="zh-CN" altLang="en-US" sz="2400" b="1" dirty="0"/>
              <a:t>尽量选用国标规定的常用、优先的</a:t>
            </a:r>
            <a:r>
              <a:rPr lang="zh-CN" altLang="en-US" sz="2400" b="1" dirty="0">
                <a:solidFill>
                  <a:srgbClr val="FF0000"/>
                </a:solidFill>
              </a:rPr>
              <a:t>标准的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配合</a:t>
            </a:r>
            <a:endParaRPr lang="zh-CN" altLang="en-US" sz="2400" dirty="0"/>
          </a:p>
        </p:txBody>
      </p:sp>
      <p:grpSp>
        <p:nvGrpSpPr>
          <p:cNvPr id="8" name="组合 7"/>
          <p:cNvGrpSpPr/>
          <p:nvPr/>
        </p:nvGrpSpPr>
        <p:grpSpPr>
          <a:xfrm>
            <a:off x="1141759" y="667839"/>
            <a:ext cx="5819873" cy="2160705"/>
            <a:chOff x="1800127" y="1033599"/>
            <a:chExt cx="6324600" cy="2588490"/>
          </a:xfrm>
        </p:grpSpPr>
        <p:pic>
          <p:nvPicPr>
            <p:cNvPr id="11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0127" y="1033599"/>
              <a:ext cx="6324600" cy="2247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2091" y="3319463"/>
              <a:ext cx="5710421" cy="3026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3" name="组合 12"/>
          <p:cNvGrpSpPr/>
          <p:nvPr/>
        </p:nvGrpSpPr>
        <p:grpSpPr>
          <a:xfrm>
            <a:off x="1135401" y="2808771"/>
            <a:ext cx="5887191" cy="2116797"/>
            <a:chOff x="1745001" y="3650019"/>
            <a:chExt cx="6324600" cy="2653124"/>
          </a:xfrm>
        </p:grpSpPr>
        <p:pic>
          <p:nvPicPr>
            <p:cNvPr id="14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5001" y="3650019"/>
              <a:ext cx="6324600" cy="2324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8511" y="6023034"/>
              <a:ext cx="5296607" cy="28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6" name="AutoShape 34"/>
          <p:cNvSpPr>
            <a:spLocks noChangeArrowheads="1"/>
          </p:cNvSpPr>
          <p:nvPr/>
        </p:nvSpPr>
        <p:spPr bwMode="auto">
          <a:xfrm>
            <a:off x="7139785" y="1586935"/>
            <a:ext cx="1707219" cy="910828"/>
          </a:xfrm>
          <a:prstGeom prst="wedgeEllipseCallout">
            <a:avLst>
              <a:gd name="adj1" fmla="val -192528"/>
              <a:gd name="adj2" fmla="val -42204"/>
            </a:avLst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/>
          <a:lstStyle/>
          <a:p>
            <a:pPr defTabSz="815975"/>
            <a:r>
              <a:rPr lang="zh-CN" altLang="en-US" sz="2000" b="1" dirty="0"/>
              <a:t>常用配合</a:t>
            </a:r>
            <a:r>
              <a:rPr lang="zh-CN" altLang="en-US" sz="2000" b="1" dirty="0" smtClean="0"/>
              <a:t>（</a:t>
            </a:r>
            <a:r>
              <a:rPr lang="en-US" altLang="zh-CN" sz="2000" b="1" dirty="0" smtClean="0"/>
              <a:t>45</a:t>
            </a:r>
            <a:r>
              <a:rPr lang="zh-CN" altLang="en-US" sz="2000" b="1" dirty="0" smtClean="0"/>
              <a:t>）</a:t>
            </a:r>
            <a:endParaRPr lang="zh-CN" altLang="en-US" sz="2000" b="1" dirty="0"/>
          </a:p>
        </p:txBody>
      </p:sp>
      <p:sp>
        <p:nvSpPr>
          <p:cNvPr id="17" name="AutoShape 34"/>
          <p:cNvSpPr>
            <a:spLocks noChangeArrowheads="1"/>
          </p:cNvSpPr>
          <p:nvPr/>
        </p:nvSpPr>
        <p:spPr bwMode="auto">
          <a:xfrm>
            <a:off x="7139785" y="3842455"/>
            <a:ext cx="1707219" cy="910828"/>
          </a:xfrm>
          <a:prstGeom prst="wedgeEllipseCallout">
            <a:avLst>
              <a:gd name="adj1" fmla="val -166819"/>
              <a:gd name="adj2" fmla="val -36850"/>
            </a:avLst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/>
          <a:lstStyle/>
          <a:p>
            <a:pPr defTabSz="815975"/>
            <a:r>
              <a:rPr lang="zh-CN" altLang="en-US" sz="2000" b="1" dirty="0"/>
              <a:t>常用配合</a:t>
            </a:r>
            <a:r>
              <a:rPr lang="zh-CN" altLang="en-US" sz="2000" b="1" dirty="0" smtClean="0"/>
              <a:t>（</a:t>
            </a:r>
            <a:r>
              <a:rPr lang="en-US" altLang="zh-CN" sz="2000" b="1" dirty="0" smtClean="0"/>
              <a:t>38</a:t>
            </a:r>
            <a:r>
              <a:rPr lang="zh-CN" altLang="en-US" sz="2000" b="1" dirty="0" smtClean="0"/>
              <a:t>）</a:t>
            </a:r>
            <a:endParaRPr lang="zh-CN" altLang="en-US" sz="2000" b="1" dirty="0"/>
          </a:p>
        </p:txBody>
      </p:sp>
      <p:sp>
        <p:nvSpPr>
          <p:cNvPr id="18" name="AutoShape 34"/>
          <p:cNvSpPr>
            <a:spLocks noChangeArrowheads="1"/>
          </p:cNvSpPr>
          <p:nvPr/>
        </p:nvSpPr>
        <p:spPr bwMode="auto">
          <a:xfrm>
            <a:off x="7249513" y="411122"/>
            <a:ext cx="1707219" cy="910828"/>
          </a:xfrm>
          <a:prstGeom prst="wedgeEllipseCallout">
            <a:avLst>
              <a:gd name="adj1" fmla="val -143060"/>
              <a:gd name="adj2" fmla="val 56866"/>
            </a:avLst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/>
          <a:lstStyle/>
          <a:p>
            <a:pPr defTabSz="815975"/>
            <a:r>
              <a:rPr lang="zh-CN" altLang="en-US" sz="2000" b="1" dirty="0"/>
              <a:t>优先配合（</a:t>
            </a:r>
            <a:r>
              <a:rPr lang="en-US" altLang="zh-CN" sz="2000" b="1" dirty="0" smtClean="0"/>
              <a:t>16</a:t>
            </a:r>
            <a:r>
              <a:rPr lang="zh-CN" altLang="en-US" sz="2000" b="1" dirty="0" smtClean="0"/>
              <a:t>）</a:t>
            </a:r>
            <a:endParaRPr lang="zh-CN" altLang="en-US" sz="2000" b="1" dirty="0"/>
          </a:p>
        </p:txBody>
      </p:sp>
      <p:sp>
        <p:nvSpPr>
          <p:cNvPr id="19" name="AutoShape 34"/>
          <p:cNvSpPr>
            <a:spLocks noChangeArrowheads="1"/>
          </p:cNvSpPr>
          <p:nvPr/>
        </p:nvSpPr>
        <p:spPr bwMode="auto">
          <a:xfrm>
            <a:off x="7119789" y="2751986"/>
            <a:ext cx="1707219" cy="910828"/>
          </a:xfrm>
          <a:prstGeom prst="wedgeEllipseCallout">
            <a:avLst>
              <a:gd name="adj1" fmla="val -118779"/>
              <a:gd name="adj2" fmla="val 32772"/>
            </a:avLst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/>
          <a:lstStyle/>
          <a:p>
            <a:pPr defTabSz="815975"/>
            <a:r>
              <a:rPr lang="zh-CN" altLang="en-US" sz="2000" b="1" dirty="0"/>
              <a:t>优先配合（</a:t>
            </a:r>
            <a:r>
              <a:rPr lang="en-US" altLang="zh-CN" sz="2000" b="1" dirty="0" smtClean="0"/>
              <a:t>18</a:t>
            </a:r>
            <a:r>
              <a:rPr lang="zh-CN" altLang="en-US" sz="2000" b="1" dirty="0" smtClean="0"/>
              <a:t>）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 autoUpdateAnimBg="0"/>
      <p:bldP spid="16" grpId="0" animBg="1" autoUpdateAnimBg="0"/>
      <p:bldP spid="17" grpId="0" animBg="1" autoUpdateAnimBg="0"/>
      <p:bldP spid="18" grpId="0" animBg="1" autoUpdateAnimBg="0"/>
      <p:bldP spid="19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85144" y="114676"/>
            <a:ext cx="8593127" cy="595387"/>
          </a:xfrm>
          <a:prstGeom prst="rect">
            <a:avLst/>
          </a:prstGeom>
          <a:blipFill rotWithShape="1">
            <a:blip r:embed="rId2" cstate="print"/>
            <a:stretch>
              <a:fillRect l="-597" t="-2424" b="-7879"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258" tIns="31629" rIns="63258" bIns="31629"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203870" y="1635543"/>
            <a:ext cx="5147140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）确定</a:t>
            </a:r>
            <a:r>
              <a:rPr lang="zh-CN" altLang="en-US" sz="2000" dirty="0"/>
              <a:t> </a:t>
            </a:r>
            <a:r>
              <a:rPr lang="zh-CN" altLang="en-US" sz="2000" b="1" dirty="0">
                <a:solidFill>
                  <a:srgbClr val="FF0000"/>
                </a:solidFill>
              </a:rPr>
              <a:t>孔、轴公差等级 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53435" y="2173225"/>
            <a:ext cx="2382389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i="1" dirty="0" err="1"/>
              <a:t>T</a:t>
            </a:r>
            <a:r>
              <a:rPr lang="en-US" altLang="zh-CN" sz="2000" b="1" baseline="-30000" dirty="0" err="1"/>
              <a:t>f</a:t>
            </a:r>
            <a:r>
              <a:rPr lang="en-US" altLang="zh-CN" sz="2000" b="1" baseline="-30000" dirty="0"/>
              <a:t> </a:t>
            </a:r>
            <a:r>
              <a:rPr lang="en-US" altLang="zh-CN" sz="2000" b="1" dirty="0"/>
              <a:t>=|+90-(+20)| = 70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569071" y="3250577"/>
            <a:ext cx="2246342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得</a:t>
            </a:r>
            <a:r>
              <a:rPr lang="en-US" altLang="zh-CN" sz="2000" b="1" i="1" dirty="0"/>
              <a:t>T</a:t>
            </a:r>
            <a:r>
              <a:rPr lang="en-US" altLang="zh-CN" sz="2000" b="1" baseline="-30000" dirty="0"/>
              <a:t>D</a:t>
            </a:r>
            <a:r>
              <a:rPr lang="en-US" altLang="zh-CN" sz="2000" b="1" dirty="0"/>
              <a:t>=</a:t>
            </a:r>
            <a:r>
              <a:rPr lang="en-US" altLang="zh-CN" sz="2000" b="1" dirty="0">
                <a:solidFill>
                  <a:srgbClr val="FF0000"/>
                </a:solidFill>
              </a:rPr>
              <a:t>IT8</a:t>
            </a:r>
            <a:r>
              <a:rPr lang="en-US" altLang="zh-CN" sz="2000" b="1" dirty="0"/>
              <a:t>=39μm</a:t>
            </a:r>
            <a:r>
              <a:rPr lang="zh-CN" altLang="en-US" sz="2000" b="1" dirty="0"/>
              <a:t>，</a:t>
            </a:r>
          </a:p>
        </p:txBody>
      </p:sp>
      <p:sp>
        <p:nvSpPr>
          <p:cNvPr id="11" name="Text Box 22"/>
          <p:cNvSpPr txBox="1">
            <a:spLocks noChangeArrowheads="1"/>
          </p:cNvSpPr>
          <p:nvPr/>
        </p:nvSpPr>
        <p:spPr bwMode="auto">
          <a:xfrm>
            <a:off x="686771" y="1259556"/>
            <a:ext cx="4114558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/>
              <a:t>解：（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</a:t>
            </a:r>
            <a:r>
              <a:rPr lang="zh-CN" altLang="en-US" sz="2000" b="1" dirty="0">
                <a:solidFill>
                  <a:srgbClr val="FF0000"/>
                </a:solidFill>
              </a:rPr>
              <a:t>确定基准制</a:t>
            </a:r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3184212" y="1268199"/>
            <a:ext cx="2793191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/>
              <a:t>依题意采用基孔制，</a:t>
            </a:r>
          </a:p>
        </p:txBody>
      </p:sp>
      <p:sp>
        <p:nvSpPr>
          <p:cNvPr id="13" name="Text Box 24"/>
          <p:cNvSpPr txBox="1">
            <a:spLocks noChangeArrowheads="1"/>
          </p:cNvSpPr>
          <p:nvPr/>
        </p:nvSpPr>
        <p:spPr bwMode="auto">
          <a:xfrm>
            <a:off x="5389001" y="1271205"/>
            <a:ext cx="3502592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/>
              <a:t>∴</a:t>
            </a:r>
            <a:r>
              <a:rPr lang="zh-CN" altLang="en-US" sz="2000" b="1" dirty="0"/>
              <a:t>孔的基本偏差为</a:t>
            </a:r>
            <a:r>
              <a:rPr lang="en-US" altLang="zh-CN" sz="2000" b="1" dirty="0">
                <a:solidFill>
                  <a:srgbClr val="FF0000"/>
                </a:solidFill>
              </a:rPr>
              <a:t>H (EI=0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）</a:t>
            </a:r>
            <a:endParaRPr lang="zh-CN" altLang="en-US" sz="2000" b="1" dirty="0"/>
          </a:p>
        </p:txBody>
      </p:sp>
      <p:sp>
        <p:nvSpPr>
          <p:cNvPr id="14" name="Text Box 26"/>
          <p:cNvSpPr txBox="1">
            <a:spLocks noChangeArrowheads="1"/>
          </p:cNvSpPr>
          <p:nvPr/>
        </p:nvSpPr>
        <p:spPr bwMode="auto">
          <a:xfrm>
            <a:off x="698191" y="2644180"/>
            <a:ext cx="1296386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/>
              <a:t>= </a:t>
            </a:r>
            <a:r>
              <a:rPr lang="en-US" altLang="zh-CN" sz="2000" b="1" i="1" dirty="0" err="1"/>
              <a:t>T</a:t>
            </a:r>
            <a:r>
              <a:rPr lang="en-US" altLang="zh-CN" sz="2000" b="1" baseline="-30000" dirty="0" err="1"/>
              <a:t>D</a:t>
            </a:r>
            <a:r>
              <a:rPr lang="en-US" altLang="zh-CN" sz="2000" b="1" dirty="0" err="1"/>
              <a:t>+</a:t>
            </a:r>
            <a:r>
              <a:rPr lang="en-US" altLang="zh-CN" sz="2000" b="1" i="1" dirty="0" err="1"/>
              <a:t>T</a:t>
            </a:r>
            <a:r>
              <a:rPr lang="en-US" altLang="zh-CN" sz="2000" b="1" baseline="-30000" dirty="0" err="1"/>
              <a:t>d</a:t>
            </a:r>
            <a:endParaRPr lang="en-US" altLang="zh-CN" sz="2000" b="1" dirty="0"/>
          </a:p>
        </p:txBody>
      </p:sp>
      <p:sp>
        <p:nvSpPr>
          <p:cNvPr id="15" name="Text Box 27"/>
          <p:cNvSpPr txBox="1">
            <a:spLocks noChangeArrowheads="1"/>
          </p:cNvSpPr>
          <p:nvPr/>
        </p:nvSpPr>
        <p:spPr bwMode="auto">
          <a:xfrm>
            <a:off x="835645" y="3793496"/>
            <a:ext cx="1875060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i="1" dirty="0"/>
              <a:t>T</a:t>
            </a:r>
            <a:r>
              <a:rPr lang="en-US" altLang="zh-CN" sz="2000" b="1" baseline="-30000" dirty="0"/>
              <a:t>d</a:t>
            </a:r>
            <a:r>
              <a:rPr lang="en-US" altLang="zh-CN" sz="2000" b="1" dirty="0"/>
              <a:t>=</a:t>
            </a:r>
            <a:r>
              <a:rPr lang="en-US" altLang="zh-CN" sz="2000" b="1" dirty="0">
                <a:solidFill>
                  <a:srgbClr val="FF0000"/>
                </a:solidFill>
              </a:rPr>
              <a:t>IT7</a:t>
            </a:r>
            <a:r>
              <a:rPr lang="en-US" altLang="zh-CN" sz="2000" b="1" dirty="0"/>
              <a:t>=25μm </a:t>
            </a:r>
          </a:p>
        </p:txBody>
      </p:sp>
      <p:sp>
        <p:nvSpPr>
          <p:cNvPr id="16" name="Rectangle 35"/>
          <p:cNvSpPr>
            <a:spLocks noChangeArrowheads="1"/>
          </p:cNvSpPr>
          <p:nvPr/>
        </p:nvSpPr>
        <p:spPr bwMode="auto">
          <a:xfrm>
            <a:off x="330976" y="665497"/>
            <a:ext cx="8320672" cy="710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/>
          <a:p>
            <a:pPr defTabSz="815975">
              <a:lnSpc>
                <a:spcPct val="120000"/>
              </a:lnSpc>
            </a:pPr>
            <a:r>
              <a:rPr lang="en-US" altLang="zh-CN" b="1" dirty="0"/>
              <a:t>         </a:t>
            </a:r>
            <a:r>
              <a:rPr lang="zh-CN" altLang="en-US" b="1" dirty="0" smtClean="0"/>
              <a:t>求</a:t>
            </a:r>
            <a:r>
              <a:rPr lang="en-US" altLang="zh-CN" b="1" dirty="0" smtClean="0"/>
              <a:t>:</a:t>
            </a:r>
            <a:r>
              <a:rPr lang="zh-CN" altLang="en-US" b="1" dirty="0" smtClean="0"/>
              <a:t>   </a:t>
            </a:r>
            <a:r>
              <a:rPr lang="zh-CN" altLang="en-US" b="1" dirty="0"/>
              <a:t>孔、轴公差带和配合代号，并指出是否是优先、常用的公差带与配合代号画出尺寸公差带图。                      </a:t>
            </a:r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-303" b="14353"/>
          <a:stretch>
            <a:fillRect/>
          </a:stretch>
        </p:blipFill>
        <p:spPr bwMode="auto">
          <a:xfrm>
            <a:off x="3057096" y="1987296"/>
            <a:ext cx="5506599" cy="2828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Rectangle 46"/>
          <p:cNvSpPr>
            <a:spLocks noChangeArrowheads="1"/>
          </p:cNvSpPr>
          <p:nvPr/>
        </p:nvSpPr>
        <p:spPr bwMode="auto">
          <a:xfrm flipV="1">
            <a:off x="5861649" y="4546269"/>
            <a:ext cx="902752" cy="21431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258" tIns="31629" rIns="63258" bIns="31629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6" grpId="0" autoUpdateAnimBg="0"/>
      <p:bldP spid="7" grpId="0" autoUpdateAnimBg="0"/>
      <p:bldP spid="9" grpId="0" autoUpdateAnimBg="0"/>
      <p:bldP spid="11" grpId="0" autoUpdateAnimBg="0"/>
      <p:bldP spid="12" grpId="0" autoUpdateAnimBg="0"/>
      <p:bldP spid="13" grpId="0" autoUpdateAnimBg="0"/>
      <p:bldP spid="14" grpId="0" autoUpdateAnimBg="0"/>
      <p:bldP spid="15" grpId="0" autoUpdateAnimBg="0"/>
      <p:bldP spid="16" grpId="0" autoUpdateAnimBg="0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59367" y="146268"/>
            <a:ext cx="6620178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/>
              <a:t>（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）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确定轴的基本偏差代号</a:t>
            </a:r>
            <a:r>
              <a:rPr lang="zh-CN" altLang="en-US" sz="2000" b="1" dirty="0"/>
              <a:t> </a:t>
            </a:r>
          </a:p>
        </p:txBody>
      </p:sp>
      <p:sp>
        <p:nvSpPr>
          <p:cNvPr id="6" name="AutoShape 5"/>
          <p:cNvSpPr/>
          <p:nvPr/>
        </p:nvSpPr>
        <p:spPr bwMode="auto">
          <a:xfrm>
            <a:off x="1267978" y="724390"/>
            <a:ext cx="229328" cy="857250"/>
          </a:xfrm>
          <a:prstGeom prst="leftBrace">
            <a:avLst>
              <a:gd name="adj1" fmla="val 40212"/>
              <a:gd name="adj2" fmla="val 50000"/>
            </a:avLst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63258" tIns="31629" rIns="63258" bIns="31629"/>
          <a:lstStyle/>
          <a:p>
            <a:endParaRPr lang="zh-CN" altLang="en-US" sz="2000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585883" y="548616"/>
            <a:ext cx="3143856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i="1" dirty="0" err="1"/>
              <a:t>X</a:t>
            </a:r>
            <a:r>
              <a:rPr lang="en-US" altLang="zh-CN" sz="2000" b="1" baseline="-30000" dirty="0" err="1"/>
              <a:t>max</a:t>
            </a:r>
            <a:r>
              <a:rPr lang="en-US" altLang="zh-CN" sz="2000" b="1" dirty="0"/>
              <a:t> = ES - </a:t>
            </a:r>
            <a:r>
              <a:rPr lang="en-US" altLang="zh-CN" sz="2000" b="1" dirty="0" err="1"/>
              <a:t>ei</a:t>
            </a:r>
            <a:endParaRPr lang="en-US" altLang="zh-CN" sz="2000" b="1" dirty="0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595465" y="971602"/>
            <a:ext cx="2884194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i="1" dirty="0" err="1"/>
              <a:t>X</a:t>
            </a:r>
            <a:r>
              <a:rPr lang="en-US" altLang="zh-CN" sz="2000" b="1" baseline="-30000" dirty="0" err="1"/>
              <a:t>min</a:t>
            </a:r>
            <a:r>
              <a:rPr lang="en-US" altLang="zh-CN" sz="2000" b="1" dirty="0"/>
              <a:t> = EI - </a:t>
            </a:r>
            <a:r>
              <a:rPr lang="en-US" altLang="zh-CN" sz="2000" b="1" dirty="0" err="1"/>
              <a:t>es</a:t>
            </a:r>
            <a:endParaRPr lang="en-US" altLang="zh-CN" sz="2000" b="1" dirty="0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560401" y="1388007"/>
            <a:ext cx="3081975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i="1" dirty="0"/>
              <a:t>T</a:t>
            </a:r>
            <a:r>
              <a:rPr lang="en-US" altLang="zh-CN" sz="2000" b="1" baseline="-30000" dirty="0"/>
              <a:t>d </a:t>
            </a:r>
            <a:r>
              <a:rPr lang="en-US" altLang="zh-CN" sz="2000" b="1" dirty="0"/>
              <a:t>= </a:t>
            </a:r>
            <a:r>
              <a:rPr lang="en-US" altLang="zh-CN" sz="2000" b="1" dirty="0" err="1"/>
              <a:t>es-ei</a:t>
            </a:r>
            <a:r>
              <a:rPr lang="en-US" altLang="zh-CN" sz="2000" b="1" dirty="0"/>
              <a:t> =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6500427" y="996981"/>
            <a:ext cx="1847972" cy="405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6486707" y="555564"/>
            <a:ext cx="2051819" cy="405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4599067" y="544478"/>
            <a:ext cx="3312516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/>
              <a:t>=</a:t>
            </a:r>
            <a:r>
              <a:rPr lang="en-US" altLang="zh-CN" sz="2000" dirty="0"/>
              <a:t> </a:t>
            </a:r>
            <a:r>
              <a:rPr lang="en-US" altLang="zh-CN" sz="2000" b="1" dirty="0"/>
              <a:t>+90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4557407" y="996857"/>
            <a:ext cx="1957176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/>
              <a:t> </a:t>
            </a:r>
            <a:r>
              <a:rPr lang="en-US" altLang="zh-CN" sz="2000" b="1" dirty="0"/>
              <a:t>= +20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3392261" y="548616"/>
            <a:ext cx="2199851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 smtClean="0">
                <a:latin typeface="宋体" panose="02010600030101010101" pitchFamily="2" charset="-122"/>
                <a:sym typeface="Symbol" panose="05050102010706020507" pitchFamily="18" charset="2"/>
              </a:rPr>
              <a:t>≤ </a:t>
            </a:r>
            <a:r>
              <a:rPr lang="en-US" altLang="zh-CN" sz="2000" b="1" dirty="0" smtClean="0"/>
              <a:t>[</a:t>
            </a:r>
            <a:r>
              <a:rPr lang="en-US" altLang="zh-CN" sz="2000" b="1" i="1" dirty="0" err="1"/>
              <a:t>X</a:t>
            </a:r>
            <a:r>
              <a:rPr lang="en-US" altLang="zh-CN" sz="2000" b="1" baseline="-30000" dirty="0" err="1"/>
              <a:t>max</a:t>
            </a:r>
            <a:r>
              <a:rPr lang="en-US" altLang="zh-CN" sz="2000" b="1" dirty="0"/>
              <a:t>]</a:t>
            </a: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3418980" y="988581"/>
            <a:ext cx="3202098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宋体" panose="02010600030101010101" pitchFamily="2" charset="-122"/>
                <a:sym typeface="Symbol" panose="05050102010706020507" pitchFamily="18" charset="2"/>
              </a:rPr>
              <a:t>≥ </a:t>
            </a:r>
            <a:r>
              <a:rPr lang="en-US" altLang="zh-CN" sz="2000" b="1" dirty="0"/>
              <a:t>[</a:t>
            </a:r>
            <a:r>
              <a:rPr lang="en-US" altLang="zh-CN" sz="2000" b="1" i="1" dirty="0" err="1"/>
              <a:t>X</a:t>
            </a:r>
            <a:r>
              <a:rPr lang="en-US" altLang="zh-CN" sz="2000" b="1" baseline="-30000" dirty="0" err="1"/>
              <a:t>min</a:t>
            </a:r>
            <a:r>
              <a:rPr lang="en-US" altLang="zh-CN" sz="2000" b="1" dirty="0"/>
              <a:t>]</a:t>
            </a: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2911422" y="1405497"/>
            <a:ext cx="677936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/>
              <a:t>25</a:t>
            </a:r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6524322" y="1406806"/>
            <a:ext cx="1747261" cy="405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）</a:t>
            </a:r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957354" y="1830732"/>
            <a:ext cx="3353771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/>
              <a:t>由式（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）得</a:t>
            </a:r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1085972" y="2216118"/>
            <a:ext cx="2950930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/>
              <a:t>得 </a:t>
            </a:r>
            <a:r>
              <a:rPr lang="en-US" altLang="zh-CN" sz="2000" b="1" dirty="0" err="1">
                <a:solidFill>
                  <a:srgbClr val="FF0000"/>
                </a:solidFill>
              </a:rPr>
              <a:t>es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≤</a:t>
            </a:r>
            <a:r>
              <a:rPr lang="en-US" altLang="zh-CN" sz="2000" b="1" dirty="0">
                <a:solidFill>
                  <a:srgbClr val="FF0000"/>
                </a:solidFill>
              </a:rPr>
              <a:t> -20</a:t>
            </a:r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3073482" y="1812300"/>
            <a:ext cx="5346134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 err="1">
                <a:solidFill>
                  <a:srgbClr val="FF0000"/>
                </a:solidFill>
              </a:rPr>
              <a:t>es</a:t>
            </a:r>
            <a:r>
              <a:rPr lang="en-US" altLang="zh-CN" sz="2000" b="1" dirty="0">
                <a:solidFill>
                  <a:srgbClr val="FF0000"/>
                </a:solidFill>
              </a:rPr>
              <a:t> ≤ EI</a:t>
            </a:r>
            <a:r>
              <a:rPr lang="zh-CN" altLang="en-US" sz="2000" b="1" dirty="0">
                <a:solidFill>
                  <a:srgbClr val="FF0000"/>
                </a:solidFill>
              </a:rPr>
              <a:t>－｜</a:t>
            </a:r>
            <a:r>
              <a:rPr lang="en-US" altLang="zh-CN" sz="2000" b="1" i="1" dirty="0" err="1">
                <a:solidFill>
                  <a:srgbClr val="FF0000"/>
                </a:solidFill>
              </a:rPr>
              <a:t>X</a:t>
            </a:r>
            <a:r>
              <a:rPr lang="en-US" altLang="zh-CN" sz="2000" b="1" baseline="-25000" dirty="0" err="1">
                <a:solidFill>
                  <a:srgbClr val="FF0000"/>
                </a:solidFill>
              </a:rPr>
              <a:t>min</a:t>
            </a:r>
            <a:r>
              <a:rPr lang="zh-CN" altLang="en-US" sz="2000" b="1" dirty="0">
                <a:solidFill>
                  <a:srgbClr val="FF0000"/>
                </a:solidFill>
              </a:rPr>
              <a:t>｜</a:t>
            </a:r>
            <a:r>
              <a:rPr lang="en-US" altLang="zh-CN" sz="2000" b="1" dirty="0"/>
              <a:t>=0 - 20</a:t>
            </a:r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1063791" y="2639700"/>
            <a:ext cx="3293102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/>
              <a:t>由式（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）得</a:t>
            </a:r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1544568" y="3793627"/>
            <a:ext cx="2444037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/>
              <a:t>∴     </a:t>
            </a:r>
            <a:r>
              <a:rPr lang="en-US" altLang="zh-CN" sz="2000" b="1" dirty="0" err="1">
                <a:solidFill>
                  <a:srgbClr val="FF0000"/>
                </a:solidFill>
              </a:rPr>
              <a:t>es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≥ </a:t>
            </a:r>
            <a:r>
              <a:rPr lang="en-US" altLang="zh-CN" sz="2000" b="1" dirty="0">
                <a:solidFill>
                  <a:srgbClr val="FF0000"/>
                </a:solidFill>
              </a:rPr>
              <a:t>- 26</a:t>
            </a:r>
          </a:p>
        </p:txBody>
      </p:sp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1138886" y="3080203"/>
            <a:ext cx="5454124" cy="697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/>
              <a:t> </a:t>
            </a:r>
            <a:r>
              <a:rPr lang="zh-CN" altLang="en-US" sz="2000" b="1" dirty="0"/>
              <a:t>解得 </a:t>
            </a:r>
            <a:r>
              <a:rPr lang="en-US" altLang="zh-CN" sz="2000" b="1" dirty="0" err="1">
                <a:solidFill>
                  <a:srgbClr val="FF0000"/>
                </a:solidFill>
              </a:rPr>
              <a:t>es≥ES</a:t>
            </a:r>
            <a:r>
              <a:rPr lang="zh-CN" altLang="en-US" sz="2000" b="1" dirty="0">
                <a:solidFill>
                  <a:srgbClr val="FF0000"/>
                </a:solidFill>
              </a:rPr>
              <a:t>＋ </a:t>
            </a:r>
            <a:r>
              <a:rPr lang="en-US" altLang="zh-CN" sz="2000" b="1" i="1" dirty="0">
                <a:solidFill>
                  <a:srgbClr val="FF0000"/>
                </a:solidFill>
              </a:rPr>
              <a:t>T</a:t>
            </a:r>
            <a:r>
              <a:rPr lang="en-US" altLang="zh-CN" sz="2000" b="1" baseline="-30000" dirty="0">
                <a:solidFill>
                  <a:srgbClr val="FF0000"/>
                </a:solidFill>
              </a:rPr>
              <a:t>d </a:t>
            </a:r>
            <a:r>
              <a:rPr lang="zh-CN" altLang="en-US" sz="2000" b="1" dirty="0">
                <a:solidFill>
                  <a:srgbClr val="FF0000"/>
                </a:solidFill>
              </a:rPr>
              <a:t>－｜</a:t>
            </a:r>
            <a:r>
              <a:rPr lang="en-US" altLang="zh-CN" sz="2000" b="1" i="1" dirty="0" err="1">
                <a:solidFill>
                  <a:srgbClr val="FF0000"/>
                </a:solidFill>
              </a:rPr>
              <a:t>X</a:t>
            </a:r>
            <a:r>
              <a:rPr lang="en-US" altLang="zh-CN" sz="2000" b="1" baseline="-25000" dirty="0" err="1">
                <a:solidFill>
                  <a:srgbClr val="FF0000"/>
                </a:solidFill>
              </a:rPr>
              <a:t>max</a:t>
            </a:r>
            <a:r>
              <a:rPr lang="zh-CN" altLang="en-US" sz="2000" b="1" dirty="0">
                <a:solidFill>
                  <a:srgbClr val="FF0000"/>
                </a:solidFill>
              </a:rPr>
              <a:t>｜</a:t>
            </a:r>
          </a:p>
          <a:p>
            <a:pPr eaLnBrk="1" hangingPunct="1"/>
            <a:r>
              <a:rPr lang="zh-CN" altLang="en-US" sz="2000" b="1" dirty="0"/>
              <a:t>          </a:t>
            </a:r>
            <a:r>
              <a:rPr lang="en-US" altLang="zh-CN" sz="2000" b="1" dirty="0" smtClean="0"/>
              <a:t>= </a:t>
            </a:r>
            <a:r>
              <a:rPr lang="en-US" altLang="zh-CN" sz="2000" b="1" dirty="0"/>
              <a:t>39 + 25 – 90 = -26</a:t>
            </a:r>
          </a:p>
        </p:txBody>
      </p:sp>
      <p:sp>
        <p:nvSpPr>
          <p:cNvPr id="24" name="Text Box 23"/>
          <p:cNvSpPr txBox="1">
            <a:spLocks noChangeArrowheads="1"/>
          </p:cNvSpPr>
          <p:nvPr/>
        </p:nvSpPr>
        <p:spPr bwMode="auto">
          <a:xfrm>
            <a:off x="2677439" y="2625078"/>
            <a:ext cx="4163093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 err="1"/>
              <a:t>ei</a:t>
            </a:r>
            <a:r>
              <a:rPr lang="en-US" altLang="zh-CN" sz="2000" b="1" dirty="0"/>
              <a:t> = </a:t>
            </a:r>
            <a:r>
              <a:rPr lang="en-US" altLang="zh-CN" sz="2000" b="1" dirty="0" err="1"/>
              <a:t>es</a:t>
            </a:r>
            <a:r>
              <a:rPr lang="en-US" altLang="zh-CN" sz="2000" b="1" dirty="0"/>
              <a:t> - </a:t>
            </a:r>
            <a:r>
              <a:rPr lang="en-US" altLang="zh-CN" sz="2000" b="1" i="1" dirty="0"/>
              <a:t>T</a:t>
            </a:r>
            <a:r>
              <a:rPr lang="en-US" altLang="zh-CN" sz="2000" b="1" baseline="-30000" dirty="0"/>
              <a:t>d</a:t>
            </a:r>
            <a:r>
              <a:rPr lang="zh-CN" altLang="en-US" sz="2000" b="1" dirty="0"/>
              <a:t>代入式（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</a:t>
            </a:r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1400986" y="4221948"/>
            <a:ext cx="3071714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/>
              <a:t>即轴的基本偏差应满足：</a:t>
            </a:r>
          </a:p>
        </p:txBody>
      </p:sp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4415864" y="4234932"/>
            <a:ext cx="1492568" cy="39020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FF0000"/>
                </a:solidFill>
              </a:rPr>
              <a:t>-26≤es≤-20</a:t>
            </a:r>
          </a:p>
        </p:txBody>
      </p:sp>
      <p:sp>
        <p:nvSpPr>
          <p:cNvPr id="27" name="Rectangle 27"/>
          <p:cNvSpPr>
            <a:spLocks noChangeArrowheads="1"/>
          </p:cNvSpPr>
          <p:nvPr/>
        </p:nvSpPr>
        <p:spPr bwMode="auto">
          <a:xfrm>
            <a:off x="3568539" y="2216118"/>
            <a:ext cx="4027194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/>
          <a:p>
            <a:pPr defTabSz="815975">
              <a:spcBef>
                <a:spcPct val="50000"/>
              </a:spcBef>
            </a:pPr>
            <a:r>
              <a:rPr lang="zh-CN" altLang="en-US" sz="2000" b="1" dirty="0"/>
              <a:t>（为什么不计算</a:t>
            </a:r>
            <a:r>
              <a:rPr lang="en-US" altLang="zh-CN" sz="2000" b="1" dirty="0" err="1"/>
              <a:t>ei</a:t>
            </a:r>
            <a:r>
              <a:rPr lang="en-US" altLang="zh-CN" sz="2000" b="1" dirty="0"/>
              <a:t>?</a:t>
            </a:r>
            <a:r>
              <a:rPr lang="zh-CN" altLang="en-US" sz="2000" b="1" dirty="0"/>
              <a:t>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0789" y="4249270"/>
            <a:ext cx="1063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 smtClean="0"/>
              <a:t>查表</a:t>
            </a:r>
            <a:r>
              <a:rPr lang="en-US" altLang="zh-CN" sz="1800" b="1" dirty="0" smtClean="0"/>
              <a:t>3.4</a:t>
            </a:r>
            <a:endParaRPr lang="zh-CN" altLang="en-US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nimBg="1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  <p:bldP spid="15" grpId="0" autoUpdateAnimBg="0"/>
      <p:bldP spid="16" grpId="0" autoUpdateAnimBg="0"/>
      <p:bldP spid="17" grpId="0" autoUpdateAnimBg="0"/>
      <p:bldP spid="18" grpId="0" autoUpdateAnimBg="0"/>
      <p:bldP spid="19" grpId="0" autoUpdateAnimBg="0"/>
      <p:bldP spid="20" grpId="0" autoUpdateAnimBg="0"/>
      <p:bldP spid="21" grpId="0" autoUpdateAnimBg="0"/>
      <p:bldP spid="22" grpId="0" autoUpdateAnimBg="0"/>
      <p:bldP spid="23" grpId="0" autoUpdateAnimBg="0"/>
      <p:bldP spid="24" grpId="0" autoUpdateAnimBg="0"/>
      <p:bldP spid="25" grpId="0" autoUpdateAnimBg="0"/>
      <p:bldP spid="26" grpId="0" animBg="1" autoUpdateAnimBg="0"/>
      <p:bldP spid="27" grpId="0" autoUpdateAnimBg="0"/>
      <p:bldP spid="2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24"/>
          <p:cNvSpPr txBox="1">
            <a:spLocks noChangeArrowheads="1"/>
          </p:cNvSpPr>
          <p:nvPr/>
        </p:nvSpPr>
        <p:spPr bwMode="auto">
          <a:xfrm>
            <a:off x="1815436" y="4509774"/>
            <a:ext cx="4256522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/>
              <a:t>轴的基本偏差代号</a:t>
            </a:r>
            <a:r>
              <a:rPr lang="zh-CN" altLang="en-US" sz="2000" b="1" dirty="0" smtClean="0"/>
              <a:t>为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f </a:t>
            </a:r>
            <a:r>
              <a:rPr lang="en-US" altLang="zh-CN" sz="2000" b="1" dirty="0">
                <a:solidFill>
                  <a:srgbClr val="FF0000"/>
                </a:solidFill>
              </a:rPr>
              <a:t>(</a:t>
            </a:r>
            <a:r>
              <a:rPr lang="en-US" altLang="zh-CN" sz="2000" b="1" dirty="0" err="1">
                <a:solidFill>
                  <a:srgbClr val="FF0000"/>
                </a:solidFill>
              </a:rPr>
              <a:t>es</a:t>
            </a:r>
            <a:r>
              <a:rPr lang="en-US" altLang="zh-CN" sz="2000" b="1" dirty="0">
                <a:solidFill>
                  <a:srgbClr val="FF0000"/>
                </a:solidFill>
              </a:rPr>
              <a:t>= -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25μm)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pic>
        <p:nvPicPr>
          <p:cNvPr id="12" name="Picture 2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35050" y="182880"/>
            <a:ext cx="6445910" cy="4250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Line 41"/>
          <p:cNvSpPr>
            <a:spLocks noChangeShapeType="1"/>
          </p:cNvSpPr>
          <p:nvPr/>
        </p:nvSpPr>
        <p:spPr bwMode="auto">
          <a:xfrm>
            <a:off x="1339590" y="4159145"/>
            <a:ext cx="464844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258" tIns="31629" rIns="63258" bIns="31629"/>
          <a:lstStyle/>
          <a:p>
            <a:endParaRPr lang="zh-CN" altLang="en-US"/>
          </a:p>
        </p:txBody>
      </p:sp>
      <p:sp>
        <p:nvSpPr>
          <p:cNvPr id="14" name="Rectangle 42"/>
          <p:cNvSpPr>
            <a:spLocks noChangeArrowheads="1"/>
          </p:cNvSpPr>
          <p:nvPr/>
        </p:nvSpPr>
        <p:spPr bwMode="auto">
          <a:xfrm>
            <a:off x="4480661" y="3809544"/>
            <a:ext cx="431962" cy="248151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258" tIns="31629" rIns="63258" bIns="31629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805814" y="594745"/>
            <a:ext cx="3842762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latin typeface="宋体" panose="02010600030101010101" pitchFamily="2" charset="-122"/>
              </a:rPr>
              <a:t>(4) </a:t>
            </a:r>
            <a:r>
              <a:rPr lang="zh-CN" altLang="en-US" sz="2000" b="1" dirty="0">
                <a:latin typeface="宋体" panose="02010600030101010101" pitchFamily="2" charset="-122"/>
              </a:rPr>
              <a:t>确定孔、轴公差带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代号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1524490" y="1092532"/>
            <a:ext cx="1297098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</a:rPr>
              <a:t>孔：</a:t>
            </a:r>
            <a:r>
              <a:rPr lang="en-US" altLang="zh-CN" sz="2000" b="1" dirty="0">
                <a:solidFill>
                  <a:srgbClr val="FF0000"/>
                </a:solidFill>
              </a:rPr>
              <a:t>H8,</a:t>
            </a:r>
          </a:p>
        </p:txBody>
      </p:sp>
      <p:sp>
        <p:nvSpPr>
          <p:cNvPr id="13" name="Text Box 26"/>
          <p:cNvSpPr txBox="1">
            <a:spLocks noChangeArrowheads="1"/>
          </p:cNvSpPr>
          <p:nvPr/>
        </p:nvSpPr>
        <p:spPr bwMode="auto">
          <a:xfrm>
            <a:off x="2697108" y="1109821"/>
            <a:ext cx="1283261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</a:rPr>
              <a:t>轴：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f7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4" name="Text Box 36"/>
          <p:cNvSpPr txBox="1">
            <a:spLocks noChangeArrowheads="1"/>
          </p:cNvSpPr>
          <p:nvPr/>
        </p:nvSpPr>
        <p:spPr bwMode="auto">
          <a:xfrm>
            <a:off x="1031645" y="2495647"/>
            <a:ext cx="1939160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/>
              <a:t>(5)  </a:t>
            </a:r>
            <a:r>
              <a:rPr lang="zh-CN" altLang="en-US" sz="2000" b="1" dirty="0"/>
              <a:t>公差带</a:t>
            </a:r>
            <a:r>
              <a:rPr lang="zh-CN" altLang="en-US" sz="2000" b="1" dirty="0" smtClean="0"/>
              <a:t>图</a:t>
            </a:r>
            <a:endParaRPr lang="zh-CN" altLang="en-US" sz="20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4497543" y="1080825"/>
            <a:ext cx="3052119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配合代号：</a:t>
            </a:r>
            <a:r>
              <a:rPr lang="el-GR" altLang="zh-CN" sz="2000" b="1" dirty="0" smtClean="0">
                <a:solidFill>
                  <a:srgbClr val="FF0000"/>
                </a:solidFill>
              </a:rPr>
              <a:t>Φ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40H8/f7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4194277" y="2035678"/>
            <a:ext cx="3029918" cy="2519484"/>
            <a:chOff x="4016343" y="2035678"/>
            <a:chExt cx="3029918" cy="2519484"/>
          </a:xfrm>
        </p:grpSpPr>
        <p:pic>
          <p:nvPicPr>
            <p:cNvPr id="9" name="Picture 1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16343" y="2035678"/>
              <a:ext cx="3029918" cy="2478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2" name="矩形 21"/>
            <p:cNvSpPr/>
            <p:nvPr/>
          </p:nvSpPr>
          <p:spPr>
            <a:xfrm rot="5400000">
              <a:off x="4061558" y="4182784"/>
              <a:ext cx="3754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altLang="zh-CN" sz="1800" b="1" dirty="0" smtClean="0"/>
                <a:t>Φ</a:t>
              </a:r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7" grpId="0" autoUpdateAnimBg="0"/>
      <p:bldP spid="13" grpId="0" autoUpdateAnimBg="0"/>
      <p:bldP spid="14" grpId="0" autoUpdateAnimBg="0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6" name="Text Box 4"/>
          <p:cNvSpPr txBox="1">
            <a:spLocks noChangeArrowheads="1"/>
          </p:cNvSpPr>
          <p:nvPr/>
        </p:nvSpPr>
        <p:spPr bwMode="auto">
          <a:xfrm>
            <a:off x="345814" y="179534"/>
            <a:ext cx="2982602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/>
              <a:t>(6)  </a:t>
            </a:r>
            <a:r>
              <a:rPr lang="zh-CN" altLang="en-US" sz="2000" b="1" dirty="0"/>
              <a:t>由图</a:t>
            </a:r>
            <a:r>
              <a:rPr lang="en-US" altLang="zh-CN" sz="2000" b="1" dirty="0"/>
              <a:t>3.18 </a:t>
            </a:r>
            <a:r>
              <a:rPr lang="zh-CN" altLang="en-US" sz="2000" b="1" dirty="0" smtClean="0"/>
              <a:t>，</a:t>
            </a:r>
            <a:r>
              <a:rPr lang="en-US" altLang="zh-CN" sz="2000" b="1" dirty="0" smtClean="0"/>
              <a:t>3.19</a:t>
            </a:r>
            <a:r>
              <a:rPr lang="zh-CN" altLang="en-US" sz="2000" b="1" dirty="0" smtClean="0"/>
              <a:t>可见</a:t>
            </a:r>
            <a:endParaRPr lang="zh-CN" altLang="en-US" sz="2000" b="1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2446" y="731520"/>
            <a:ext cx="7117553" cy="197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3296111" y="1219021"/>
            <a:ext cx="459025" cy="36594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258" tIns="31629" rIns="63258" bIns="31629" anchor="ctr"/>
          <a:lstStyle/>
          <a:p>
            <a:endParaRPr lang="zh-CN" altLang="en-US"/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23227" y="2663578"/>
            <a:ext cx="6603087" cy="2201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4161743" y="3169741"/>
            <a:ext cx="471217" cy="341555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258" tIns="31629" rIns="63258" bIns="31629" anchor="ctr"/>
          <a:lstStyle/>
          <a:p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057565" y="248987"/>
            <a:ext cx="24657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sz="2000" b="1" i="1" dirty="0" smtClean="0">
                <a:latin typeface="Times New Roman" panose="02020603050405020304"/>
                <a:cs typeface="Times New Roman" panose="02020603050405020304"/>
              </a:rPr>
              <a:t>ϕ</a:t>
            </a:r>
            <a:r>
              <a:rPr lang="en-US" altLang="zh-CN" sz="2000" b="1" dirty="0" smtClean="0">
                <a:latin typeface="Times New Roman" panose="02020603050405020304"/>
                <a:cs typeface="Times New Roman" panose="02020603050405020304"/>
              </a:rPr>
              <a:t>4</a:t>
            </a:r>
            <a:r>
              <a:rPr lang="en-US" altLang="zh-CN" sz="2000" b="1" dirty="0" smtClean="0"/>
              <a:t>0H8</a:t>
            </a:r>
            <a:r>
              <a:rPr lang="zh-CN" altLang="en-US" sz="2000" b="1" dirty="0" smtClean="0"/>
              <a:t>为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优先公差带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984413" y="3845627"/>
            <a:ext cx="23519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sz="2000" b="1" i="1" dirty="0" smtClean="0">
                <a:latin typeface="Times New Roman" panose="02020603050405020304"/>
                <a:cs typeface="Times New Roman" panose="02020603050405020304"/>
              </a:rPr>
              <a:t>ϕ</a:t>
            </a:r>
            <a:r>
              <a:rPr lang="en-US" altLang="zh-CN" sz="2000" b="1" dirty="0" smtClean="0">
                <a:latin typeface="Times New Roman" panose="02020603050405020304"/>
                <a:cs typeface="Times New Roman" panose="02020603050405020304"/>
              </a:rPr>
              <a:t>4</a:t>
            </a:r>
            <a:r>
              <a:rPr lang="en-US" altLang="zh-CN" sz="2000" b="1" dirty="0" smtClean="0"/>
              <a:t>0f7</a:t>
            </a:r>
            <a:r>
              <a:rPr lang="zh-CN" altLang="en-US" sz="2000" b="1" dirty="0" smtClean="0"/>
              <a:t>为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优先公差带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0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6" grpId="0" autoUpdateAnimBg="0"/>
      <p:bldP spid="9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345813" y="338030"/>
            <a:ext cx="2629035" cy="374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900" b="1" dirty="0"/>
              <a:t>( </a:t>
            </a:r>
            <a:r>
              <a:rPr lang="en-US" altLang="zh-CN" sz="1900" b="1" dirty="0" smtClean="0"/>
              <a:t>7 </a:t>
            </a:r>
            <a:r>
              <a:rPr lang="en-US" altLang="zh-CN" sz="1900" b="1" dirty="0"/>
              <a:t>)  </a:t>
            </a:r>
            <a:r>
              <a:rPr lang="zh-CN" altLang="en-US" sz="1900" b="1" dirty="0"/>
              <a:t>由表</a:t>
            </a:r>
            <a:r>
              <a:rPr lang="en-US" altLang="zh-CN" sz="1900" b="1" dirty="0" smtClean="0"/>
              <a:t>3.20</a:t>
            </a:r>
            <a:r>
              <a:rPr lang="zh-CN" altLang="en-US" sz="1900" b="1" dirty="0" smtClean="0"/>
              <a:t>可见</a:t>
            </a:r>
            <a:endParaRPr lang="zh-CN" altLang="en-US" sz="1900" b="1" dirty="0"/>
          </a:p>
        </p:txBody>
      </p:sp>
      <p:grpSp>
        <p:nvGrpSpPr>
          <p:cNvPr id="6" name="组合 5"/>
          <p:cNvGrpSpPr/>
          <p:nvPr/>
        </p:nvGrpSpPr>
        <p:grpSpPr>
          <a:xfrm>
            <a:off x="1007983" y="1128760"/>
            <a:ext cx="7428881" cy="3370088"/>
            <a:chOff x="1485307" y="1100109"/>
            <a:chExt cx="6324600" cy="2559012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5307" y="1100109"/>
              <a:ext cx="6324600" cy="22479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6928" y="3356496"/>
              <a:ext cx="5710421" cy="302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10" name="直接连接符 9"/>
          <p:cNvCxnSpPr/>
          <p:nvPr/>
        </p:nvCxnSpPr>
        <p:spPr bwMode="auto">
          <a:xfrm>
            <a:off x="1097280" y="2901696"/>
            <a:ext cx="2548128" cy="1219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3239643" y="2359406"/>
            <a:ext cx="430530" cy="541655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258" tIns="31629" rIns="63258" bIns="31629" anchor="ctr"/>
          <a:lstStyle/>
          <a:p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821021" y="517211"/>
            <a:ext cx="26196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sz="2000" b="1" i="1" dirty="0" smtClean="0">
                <a:latin typeface="Times New Roman" panose="02020603050405020304"/>
                <a:cs typeface="Times New Roman" panose="02020603050405020304"/>
              </a:rPr>
              <a:t>ϕ</a:t>
            </a:r>
            <a:r>
              <a:rPr lang="en-US" altLang="zh-CN" sz="2000" b="1" dirty="0" smtClean="0"/>
              <a:t>40H8/ f7 </a:t>
            </a:r>
            <a:r>
              <a:rPr lang="zh-CN" altLang="en-US" sz="2000" b="1" dirty="0" smtClean="0"/>
              <a:t>为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优先配合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07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4" grpId="0" autoUpdateAnimBg="0"/>
      <p:bldP spid="11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01125" y="1689149"/>
            <a:ext cx="4836516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/>
              <a:t>      </a:t>
            </a:r>
            <a:r>
              <a:rPr lang="zh-CN" altLang="en-US" sz="2000" b="1" dirty="0"/>
              <a:t>解</a:t>
            </a:r>
            <a:r>
              <a:rPr lang="zh-CN" altLang="en-US" sz="2000" b="1" dirty="0">
                <a:sym typeface="Wingdings" panose="05000000000000000000" pitchFamily="2" charset="2"/>
              </a:rPr>
              <a:t>  （</a:t>
            </a:r>
            <a:r>
              <a:rPr lang="en-US" altLang="zh-CN" sz="2000" b="1" dirty="0">
                <a:sym typeface="Wingdings" panose="05000000000000000000" pitchFamily="2" charset="2"/>
              </a:rPr>
              <a:t>1</a:t>
            </a:r>
            <a:r>
              <a:rPr lang="zh-CN" altLang="en-US" sz="2000" b="1" dirty="0">
                <a:sym typeface="Wingdings" panose="05000000000000000000" pitchFamily="2" charset="2"/>
              </a:rPr>
              <a:t>）确定基准制，</a:t>
            </a:r>
            <a:endParaRPr lang="zh-CN" altLang="en-US" sz="2000" b="1" dirty="0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3366802" y="1681252"/>
            <a:ext cx="4324915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ym typeface="Wingdings" panose="05000000000000000000" pitchFamily="2" charset="2"/>
              </a:rPr>
              <a:t>由题意为基轴制</a:t>
            </a:r>
            <a:r>
              <a:rPr lang="zh-CN" alt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h</a:t>
            </a:r>
            <a:r>
              <a:rPr lang="en-US" altLang="zh-CN" sz="2000" b="1" dirty="0">
                <a:sym typeface="Wingdings" panose="05000000000000000000" pitchFamily="2" charset="2"/>
              </a:rPr>
              <a:t> </a:t>
            </a:r>
            <a:r>
              <a:rPr lang="zh-CN" altLang="en-US" sz="2000" b="1" dirty="0">
                <a:sym typeface="Wingdings" panose="05000000000000000000" pitchFamily="2" charset="2"/>
              </a:rPr>
              <a:t>配合      </a:t>
            </a:r>
            <a:r>
              <a:rPr lang="zh-CN" altLang="en-US" sz="2000" b="1" dirty="0">
                <a:solidFill>
                  <a:srgbClr val="FF0000"/>
                </a:solidFill>
              </a:rPr>
              <a:t>∴ </a:t>
            </a:r>
            <a:r>
              <a:rPr lang="en-US" altLang="zh-CN" sz="2000" b="1" dirty="0" err="1">
                <a:solidFill>
                  <a:srgbClr val="FF0000"/>
                </a:solidFill>
              </a:rPr>
              <a:t>es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</a:rPr>
              <a:t>＝ </a:t>
            </a:r>
            <a:r>
              <a:rPr lang="en-US" altLang="zh-CN" sz="2000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188131" y="2150925"/>
            <a:ext cx="5633704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/>
              <a:t> 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）确定孔、轴公差等级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183427" y="2577520"/>
            <a:ext cx="6028334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 dirty="0" err="1"/>
              <a:t>T</a:t>
            </a:r>
            <a:r>
              <a:rPr lang="en-US" altLang="zh-CN" sz="2000" b="1" baseline="-25000" dirty="0" err="1"/>
              <a:t>f</a:t>
            </a:r>
            <a:r>
              <a:rPr lang="en-US" altLang="zh-CN" sz="2000" b="1" baseline="-25000" dirty="0"/>
              <a:t>  </a:t>
            </a:r>
            <a:r>
              <a:rPr lang="en-US" altLang="zh-CN" sz="2000" b="1" dirty="0"/>
              <a:t>= </a:t>
            </a:r>
            <a:r>
              <a:rPr lang="zh-CN" altLang="en-US" sz="2000" b="1" dirty="0"/>
              <a:t>｜</a:t>
            </a:r>
            <a:r>
              <a:rPr lang="en-US" altLang="zh-CN" sz="2000" b="1" i="1" dirty="0" err="1"/>
              <a:t>Y</a:t>
            </a:r>
            <a:r>
              <a:rPr lang="en-US" altLang="zh-CN" sz="2000" b="1" baseline="-25000" dirty="0" err="1"/>
              <a:t>min</a:t>
            </a:r>
            <a:r>
              <a:rPr lang="en-US" altLang="zh-CN" sz="2000" b="1" baseline="-25000" dirty="0"/>
              <a:t> </a:t>
            </a:r>
            <a:r>
              <a:rPr lang="zh-CN" altLang="en-US" sz="2000" b="1" dirty="0"/>
              <a:t>－ </a:t>
            </a:r>
            <a:r>
              <a:rPr lang="en-US" altLang="zh-CN" sz="2000" b="1" i="1" dirty="0" err="1"/>
              <a:t>Y</a:t>
            </a:r>
            <a:r>
              <a:rPr lang="en-US" altLang="zh-CN" sz="2000" b="1" baseline="-25000" dirty="0" err="1"/>
              <a:t>max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｜＝｜－</a:t>
            </a:r>
            <a:r>
              <a:rPr lang="en-US" altLang="zh-CN" sz="2000" b="1" dirty="0"/>
              <a:t>20</a:t>
            </a:r>
            <a:r>
              <a:rPr lang="zh-CN" altLang="en-US" sz="2000" b="1" dirty="0"/>
              <a:t>－（－</a:t>
            </a:r>
            <a:r>
              <a:rPr lang="en-US" altLang="zh-CN" sz="2000" b="1" dirty="0"/>
              <a:t>55</a:t>
            </a:r>
            <a:r>
              <a:rPr lang="zh-CN" altLang="en-US" sz="2000" b="1" dirty="0"/>
              <a:t>）｜</a:t>
            </a:r>
            <a:endParaRPr lang="zh-CN" altLang="en-US" sz="2000" b="1" baseline="-25000" dirty="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46340" y="3064789"/>
            <a:ext cx="2424325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/>
          <a:p>
            <a:pPr defTabSz="815975"/>
            <a:r>
              <a:rPr lang="en-US" altLang="zh-CN" sz="2000" b="1" dirty="0"/>
              <a:t>= 35 =  </a:t>
            </a:r>
            <a:r>
              <a:rPr lang="en-US" altLang="zh-CN" sz="2000" b="1" i="1" dirty="0" err="1"/>
              <a:t>T</a:t>
            </a:r>
            <a:r>
              <a:rPr lang="en-US" altLang="zh-CN" sz="2000" b="1" baseline="-25000" dirty="0" err="1"/>
              <a:t>D</a:t>
            </a:r>
            <a:r>
              <a:rPr lang="en-US" altLang="zh-CN" sz="2000" b="1" dirty="0" err="1"/>
              <a:t>+</a:t>
            </a:r>
            <a:r>
              <a:rPr lang="en-US" altLang="zh-CN" sz="2000" b="1" i="1" dirty="0" err="1"/>
              <a:t>T</a:t>
            </a:r>
            <a:r>
              <a:rPr lang="en-US" altLang="zh-CN" sz="2000" b="1" baseline="-25000" dirty="0" err="1"/>
              <a:t>d</a:t>
            </a:r>
            <a:endParaRPr lang="en-US" altLang="zh-CN" sz="2000" b="1" baseline="-25000" dirty="0"/>
          </a:p>
        </p:txBody>
      </p:sp>
      <p:sp>
        <p:nvSpPr>
          <p:cNvPr id="19" name="TextBox 18"/>
          <p:cNvSpPr txBox="1"/>
          <p:nvPr/>
        </p:nvSpPr>
        <p:spPr>
          <a:xfrm>
            <a:off x="675964" y="342148"/>
            <a:ext cx="80535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1800" b="1" dirty="0" smtClean="0"/>
              <a:t>例</a:t>
            </a:r>
            <a:r>
              <a:rPr lang="en-US" altLang="zh-CN" sz="1800" b="1" dirty="0" smtClean="0"/>
              <a:t>3.12 </a:t>
            </a:r>
            <a:r>
              <a:rPr lang="zh-CN" altLang="en-US" sz="1800" b="1" dirty="0" smtClean="0"/>
              <a:t>已知某配合的公称尺寸为</a:t>
            </a:r>
            <a:r>
              <a:rPr lang="en-US" altLang="zh-CN" sz="1800" b="1" i="1" dirty="0" smtClean="0"/>
              <a:t>D</a:t>
            </a:r>
            <a:r>
              <a:rPr lang="en-US" altLang="zh-CN" sz="1800" b="1" dirty="0" smtClean="0"/>
              <a:t>(</a:t>
            </a:r>
            <a:r>
              <a:rPr lang="en-US" altLang="zh-CN" sz="1800" b="1" i="1" dirty="0" smtClean="0"/>
              <a:t>d</a:t>
            </a:r>
            <a:r>
              <a:rPr lang="en-US" altLang="zh-CN" sz="1800" b="1" dirty="0" smtClean="0"/>
              <a:t>)=</a:t>
            </a:r>
            <a:r>
              <a:rPr lang="el-GR" altLang="zh-CN" sz="1800" b="1" dirty="0" smtClean="0"/>
              <a:t>Φ</a:t>
            </a:r>
            <a:r>
              <a:rPr lang="en-US" altLang="zh-CN" sz="1800" b="1" dirty="0" smtClean="0"/>
              <a:t>60,</a:t>
            </a:r>
            <a:r>
              <a:rPr lang="zh-CN" altLang="en-US" sz="1800" b="1" dirty="0" smtClean="0"/>
              <a:t>由于使用要求其配合的</a:t>
            </a:r>
            <a:r>
              <a:rPr lang="en-US" altLang="zh-CN" sz="1800" b="1" dirty="0" smtClean="0"/>
              <a:t>|</a:t>
            </a:r>
            <a:r>
              <a:rPr lang="en-US" altLang="zh-CN" sz="1800" b="1" i="1" dirty="0" err="1" smtClean="0"/>
              <a:t>Y</a:t>
            </a:r>
            <a:r>
              <a:rPr lang="en-US" altLang="zh-CN" sz="1800" b="1" baseline="-25000" dirty="0" err="1" smtClean="0"/>
              <a:t>min</a:t>
            </a:r>
            <a:r>
              <a:rPr lang="en-US" altLang="zh-CN" sz="1800" b="1" dirty="0" smtClean="0"/>
              <a:t>| ≥ 20um</a:t>
            </a:r>
            <a:r>
              <a:rPr lang="zh-CN" altLang="en-US" sz="1800" b="1" dirty="0" smtClean="0"/>
              <a:t>，</a:t>
            </a:r>
            <a:r>
              <a:rPr lang="en-US" altLang="zh-CN" sz="1800" b="1" dirty="0" smtClean="0"/>
              <a:t>|</a:t>
            </a:r>
            <a:r>
              <a:rPr lang="en-US" altLang="zh-CN" sz="1800" b="1" i="1" dirty="0" err="1" smtClean="0"/>
              <a:t>Y</a:t>
            </a:r>
            <a:r>
              <a:rPr lang="en-US" altLang="zh-CN" sz="1800" b="1" baseline="-25000" dirty="0" err="1" smtClean="0"/>
              <a:t>max</a:t>
            </a:r>
            <a:r>
              <a:rPr lang="en-US" altLang="zh-CN" sz="1800" b="1" dirty="0" smtClean="0"/>
              <a:t>| ≤ 55um</a:t>
            </a:r>
            <a:r>
              <a:rPr lang="zh-CN" altLang="en-US" sz="1800" b="1" dirty="0" smtClean="0"/>
              <a:t>，若采用基轴制配合，</a:t>
            </a:r>
            <a:r>
              <a:rPr lang="en-US" altLang="zh-CN" sz="1800" b="1" dirty="0" smtClean="0"/>
              <a:t> </a:t>
            </a:r>
            <a:r>
              <a:rPr lang="zh-CN" altLang="en-US" sz="1800" b="1" dirty="0" smtClean="0"/>
              <a:t>试确定孔、轴公差带代号和配合代号，并画出其尺寸公差带图，并指出是否属于优先的或常用的公差带与配合。</a:t>
            </a:r>
            <a:endParaRPr lang="zh-CN" altLang="en-US" sz="1800" b="1" dirty="0">
              <a:solidFill>
                <a:srgbClr val="FF0000"/>
              </a:solidFill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378554" y="4081549"/>
            <a:ext cx="4811035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i="1" dirty="0">
                <a:solidFill>
                  <a:srgbClr val="FF0000"/>
                </a:solidFill>
              </a:rPr>
              <a:t>T</a:t>
            </a:r>
            <a:r>
              <a:rPr lang="en-US" altLang="zh-CN" sz="2000" b="1" baseline="-25000" dirty="0">
                <a:solidFill>
                  <a:srgbClr val="FF0000"/>
                </a:solidFill>
              </a:rPr>
              <a:t>D</a:t>
            </a:r>
            <a:r>
              <a:rPr lang="zh-CN" altLang="en-US" sz="2000" b="1" dirty="0">
                <a:solidFill>
                  <a:srgbClr val="FF0000"/>
                </a:solidFill>
              </a:rPr>
              <a:t>＝</a:t>
            </a:r>
            <a:r>
              <a:rPr lang="en-US" altLang="zh-CN" sz="2000" b="1" dirty="0">
                <a:solidFill>
                  <a:srgbClr val="FF0000"/>
                </a:solidFill>
              </a:rPr>
              <a:t>IT6</a:t>
            </a:r>
            <a:r>
              <a:rPr lang="zh-CN" altLang="en-US" sz="2000" b="1" dirty="0">
                <a:solidFill>
                  <a:srgbClr val="FF0000"/>
                </a:solidFill>
              </a:rPr>
              <a:t>＝</a:t>
            </a:r>
            <a:r>
              <a:rPr lang="en-US" altLang="zh-CN" sz="2000" b="1" dirty="0">
                <a:solidFill>
                  <a:srgbClr val="FF0000"/>
                </a:solidFill>
              </a:rPr>
              <a:t>19 </a:t>
            </a:r>
            <a:r>
              <a:rPr lang="zh-CN" altLang="en-US" sz="2000" b="1" dirty="0">
                <a:solidFill>
                  <a:srgbClr val="FF0000"/>
                </a:solidFill>
              </a:rPr>
              <a:t>，    </a:t>
            </a:r>
            <a:r>
              <a:rPr lang="en-US" altLang="zh-CN" sz="2000" b="1" i="1" dirty="0">
                <a:solidFill>
                  <a:srgbClr val="FF0000"/>
                </a:solidFill>
              </a:rPr>
              <a:t>T</a:t>
            </a:r>
            <a:r>
              <a:rPr lang="en-US" altLang="zh-CN" sz="2000" b="1" baseline="-25000" dirty="0">
                <a:solidFill>
                  <a:srgbClr val="FF0000"/>
                </a:solidFill>
              </a:rPr>
              <a:t>d</a:t>
            </a:r>
            <a:r>
              <a:rPr lang="zh-CN" altLang="en-US" sz="2000" b="1" dirty="0">
                <a:solidFill>
                  <a:srgbClr val="FF0000"/>
                </a:solidFill>
              </a:rPr>
              <a:t>＝</a:t>
            </a:r>
            <a:r>
              <a:rPr lang="en-US" altLang="zh-CN" sz="2000" b="1" dirty="0">
                <a:solidFill>
                  <a:srgbClr val="FF0000"/>
                </a:solidFill>
              </a:rPr>
              <a:t>IT5</a:t>
            </a:r>
            <a:r>
              <a:rPr lang="zh-CN" altLang="en-US" sz="2000" b="1" dirty="0">
                <a:solidFill>
                  <a:srgbClr val="FF0000"/>
                </a:solidFill>
              </a:rPr>
              <a:t>＝</a:t>
            </a:r>
            <a:r>
              <a:rPr lang="en-US" altLang="zh-CN" sz="2000" b="1" dirty="0">
                <a:solidFill>
                  <a:srgbClr val="FF0000"/>
                </a:solidFill>
              </a:rPr>
              <a:t>13</a:t>
            </a:r>
            <a:r>
              <a:rPr lang="zh-CN" altLang="en-US" sz="2000" b="1" dirty="0">
                <a:solidFill>
                  <a:srgbClr val="FF0000"/>
                </a:solidFill>
              </a:rPr>
              <a:t>（</a:t>
            </a:r>
            <a:r>
              <a:rPr lang="en-US" altLang="zh-CN" sz="2000" b="1" dirty="0" err="1">
                <a:solidFill>
                  <a:srgbClr val="FF0000"/>
                </a:solidFill>
              </a:rPr>
              <a:t>μm</a:t>
            </a:r>
            <a:r>
              <a:rPr lang="zh-CN" altLang="en-US" sz="2000" b="1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1365843" y="3576559"/>
            <a:ext cx="3888909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/>
          <a:p>
            <a:pPr defTabSz="815975"/>
            <a:r>
              <a:rPr lang="zh-CN" altLang="en-US" sz="2000" b="1" dirty="0" smtClean="0"/>
              <a:t>由</a:t>
            </a:r>
            <a:r>
              <a:rPr lang="en-US" altLang="zh-CN" sz="2000" b="1" i="1" dirty="0" err="1" smtClean="0"/>
              <a:t>T</a:t>
            </a:r>
            <a:r>
              <a:rPr lang="en-US" altLang="zh-CN" sz="2000" b="1" baseline="-25000" dirty="0" err="1" smtClean="0"/>
              <a:t>f</a:t>
            </a:r>
            <a:r>
              <a:rPr lang="en-US" altLang="zh-CN" sz="2000" b="1" baseline="-25000" dirty="0" smtClean="0"/>
              <a:t> </a:t>
            </a:r>
            <a:r>
              <a:rPr lang="en-US" altLang="zh-CN" sz="2000" b="1" dirty="0" smtClean="0"/>
              <a:t>=  </a:t>
            </a:r>
            <a:r>
              <a:rPr lang="en-US" altLang="zh-CN" sz="2000" b="1" i="1" dirty="0" err="1" smtClean="0"/>
              <a:t>T</a:t>
            </a:r>
            <a:r>
              <a:rPr lang="en-US" altLang="zh-CN" sz="2000" b="1" baseline="-25000" dirty="0" err="1" smtClean="0"/>
              <a:t>D</a:t>
            </a:r>
            <a:r>
              <a:rPr lang="en-US" altLang="zh-CN" sz="2000" b="1" dirty="0" err="1" smtClean="0"/>
              <a:t>+</a:t>
            </a:r>
            <a:r>
              <a:rPr lang="en-US" altLang="zh-CN" sz="2000" b="1" i="1" dirty="0" err="1" smtClean="0"/>
              <a:t>T</a:t>
            </a:r>
            <a:r>
              <a:rPr lang="en-US" altLang="zh-CN" sz="2000" b="1" baseline="-25000" dirty="0" err="1" smtClean="0"/>
              <a:t>d</a:t>
            </a:r>
            <a:r>
              <a:rPr lang="en-US" altLang="zh-CN" sz="2000" b="1" baseline="-25000" dirty="0" smtClean="0"/>
              <a:t> </a:t>
            </a:r>
            <a:r>
              <a:rPr lang="en-US" altLang="zh-CN" sz="2000" b="1" dirty="0" smtClean="0"/>
              <a:t>≤ 35</a:t>
            </a:r>
            <a:r>
              <a:rPr lang="zh-CN" altLang="en-US" sz="2000" b="1" dirty="0" smtClean="0"/>
              <a:t>， 查表</a:t>
            </a:r>
            <a:r>
              <a:rPr lang="en-US" altLang="zh-CN" sz="2000" b="1" dirty="0" smtClean="0"/>
              <a:t>3.2 </a:t>
            </a:r>
            <a:endParaRPr lang="en-US" altLang="zh-CN" sz="2000" b="1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utoUpdateAnimBg="0"/>
      <p:bldP spid="9" grpId="0" autoUpdateAnimBg="0"/>
      <p:bldP spid="12" grpId="0" autoUpdateAnimBg="0"/>
      <p:bldP spid="10" grpId="0" autoUpdateAnimBg="0"/>
      <p:bldP spid="13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950331" y="182379"/>
            <a:ext cx="5940219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）确定孔的基本偏差代号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296142" y="522286"/>
            <a:ext cx="6924061" cy="388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i="1" dirty="0" err="1"/>
              <a:t>Y</a:t>
            </a:r>
            <a:r>
              <a:rPr lang="en-US" altLang="zh-CN" sz="2000" b="1" baseline="-25000" dirty="0" err="1"/>
              <a:t>min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＝</a:t>
            </a:r>
            <a:r>
              <a:rPr lang="en-US" altLang="zh-CN" sz="2000" b="1" dirty="0"/>
              <a:t>ES</a:t>
            </a:r>
            <a:r>
              <a:rPr lang="zh-CN" altLang="en-US" sz="2000" b="1" dirty="0"/>
              <a:t>－</a:t>
            </a:r>
            <a:r>
              <a:rPr lang="en-US" altLang="zh-CN" sz="2000" b="1" dirty="0" err="1" smtClean="0"/>
              <a:t>ei</a:t>
            </a:r>
            <a:r>
              <a:rPr lang="en-US" altLang="zh-CN" sz="2000" b="1" dirty="0" smtClean="0"/>
              <a:t> ≤</a:t>
            </a:r>
            <a:r>
              <a:rPr lang="zh-CN" altLang="en-US" sz="2000" b="1" dirty="0"/>
              <a:t>「 </a:t>
            </a:r>
            <a:r>
              <a:rPr lang="en-US" altLang="zh-CN" sz="2000" b="1" i="1" dirty="0" err="1"/>
              <a:t>Y</a:t>
            </a:r>
            <a:r>
              <a:rPr lang="en-US" altLang="zh-CN" sz="2000" b="1" baseline="-25000" dirty="0" err="1"/>
              <a:t>min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」＝－</a:t>
            </a:r>
            <a:r>
              <a:rPr lang="en-US" altLang="zh-CN" sz="2000" b="1" dirty="0"/>
              <a:t>20         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          </a:t>
            </a:r>
            <a:r>
              <a:rPr lang="zh-CN" altLang="en-US" sz="2000" b="1" baseline="-25000" dirty="0"/>
              <a:t> 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144470" y="977230"/>
            <a:ext cx="6750249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/>
              <a:t> </a:t>
            </a:r>
            <a:r>
              <a:rPr lang="en-US" altLang="zh-CN" sz="2000" b="1" dirty="0" smtClean="0"/>
              <a:t> </a:t>
            </a:r>
            <a:r>
              <a:rPr lang="en-US" altLang="zh-CN" sz="2000" b="1" i="1" dirty="0" err="1" smtClean="0"/>
              <a:t>Y</a:t>
            </a:r>
            <a:r>
              <a:rPr lang="en-US" altLang="zh-CN" sz="2000" b="1" baseline="-25000" dirty="0" err="1" smtClean="0"/>
              <a:t>max</a:t>
            </a:r>
            <a:r>
              <a:rPr lang="en-US" altLang="zh-CN" sz="2000" b="1" dirty="0" smtClean="0"/>
              <a:t> </a:t>
            </a:r>
            <a:r>
              <a:rPr lang="zh-CN" altLang="en-US" sz="2000" b="1" dirty="0"/>
              <a:t>＝</a:t>
            </a:r>
            <a:r>
              <a:rPr lang="en-US" altLang="zh-CN" sz="2000" b="1" dirty="0"/>
              <a:t>EI</a:t>
            </a:r>
            <a:r>
              <a:rPr lang="zh-CN" altLang="en-US" sz="2000" b="1" dirty="0"/>
              <a:t>－</a:t>
            </a:r>
            <a:r>
              <a:rPr lang="en-US" altLang="zh-CN" sz="2000" b="1" dirty="0" err="1" smtClean="0"/>
              <a:t>es</a:t>
            </a:r>
            <a:r>
              <a:rPr lang="en-US" altLang="zh-CN" sz="2000" b="1" dirty="0" smtClean="0"/>
              <a:t> ≥</a:t>
            </a:r>
            <a:r>
              <a:rPr lang="zh-CN" altLang="en-US" sz="2000" b="1" dirty="0"/>
              <a:t>「 </a:t>
            </a:r>
            <a:r>
              <a:rPr lang="en-US" altLang="zh-CN" sz="2000" b="1" i="1" dirty="0" err="1"/>
              <a:t>Y</a:t>
            </a:r>
            <a:r>
              <a:rPr lang="en-US" altLang="zh-CN" sz="2000" b="1" baseline="-25000" dirty="0" err="1"/>
              <a:t>max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」＝－</a:t>
            </a:r>
            <a:r>
              <a:rPr lang="en-US" altLang="zh-CN" sz="2000" b="1" dirty="0"/>
              <a:t>55         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 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102231" y="1412711"/>
            <a:ext cx="6678100" cy="388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 dirty="0"/>
              <a:t>   T</a:t>
            </a:r>
            <a:r>
              <a:rPr lang="en-US" altLang="zh-CN" sz="2000" b="1" baseline="-25000" dirty="0"/>
              <a:t>D</a:t>
            </a:r>
            <a:r>
              <a:rPr lang="zh-CN" altLang="en-US" sz="2000" b="1" dirty="0"/>
              <a:t>＝</a:t>
            </a:r>
            <a:r>
              <a:rPr lang="en-US" altLang="zh-CN" sz="2000" b="1" dirty="0"/>
              <a:t>ES</a:t>
            </a:r>
            <a:r>
              <a:rPr lang="zh-CN" altLang="en-US" sz="2000" b="1" dirty="0"/>
              <a:t>－</a:t>
            </a:r>
            <a:r>
              <a:rPr lang="en-US" altLang="zh-CN" sz="2000" b="1" dirty="0"/>
              <a:t>EI</a:t>
            </a:r>
            <a:r>
              <a:rPr lang="zh-CN" altLang="en-US" sz="2000" b="1" dirty="0"/>
              <a:t>＝</a:t>
            </a:r>
            <a:r>
              <a:rPr lang="en-US" altLang="zh-CN" sz="2000" b="1" dirty="0"/>
              <a:t>IT6 = 19                    </a:t>
            </a:r>
            <a:r>
              <a:rPr lang="en-US" altLang="zh-CN" sz="2000" b="1" dirty="0" smtClean="0"/>
              <a:t>    </a:t>
            </a:r>
            <a:r>
              <a:rPr lang="zh-CN" altLang="en-US" sz="2000" b="1" dirty="0" smtClean="0"/>
              <a:t>（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）   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132304" y="1783723"/>
            <a:ext cx="4610939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/>
              <a:t>由式（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）得 </a:t>
            </a:r>
            <a:r>
              <a:rPr lang="en-US" altLang="zh-CN" sz="2000" b="1" dirty="0"/>
              <a:t>ES≤</a:t>
            </a:r>
            <a:r>
              <a:rPr lang="zh-CN" altLang="en-US" sz="2000" b="1" dirty="0">
                <a:solidFill>
                  <a:srgbClr val="FF0000"/>
                </a:solidFill>
              </a:rPr>
              <a:t>－</a:t>
            </a:r>
            <a:r>
              <a:rPr lang="en-US" altLang="zh-CN" sz="2000" b="1" dirty="0">
                <a:solidFill>
                  <a:srgbClr val="FF0000"/>
                </a:solidFill>
              </a:rPr>
              <a:t>33 </a:t>
            </a:r>
            <a:r>
              <a:rPr lang="zh-CN" altLang="en-US" sz="2000" b="1" dirty="0"/>
              <a:t>，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131124" y="2129630"/>
            <a:ext cx="6299868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/>
              <a:t>由式（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）、（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）得</a:t>
            </a:r>
            <a:r>
              <a:rPr lang="en-US" altLang="zh-CN" sz="2000" b="1" dirty="0"/>
              <a:t>ES≥</a:t>
            </a:r>
            <a:r>
              <a:rPr lang="zh-CN" altLang="en-US" sz="2000" b="1" dirty="0">
                <a:solidFill>
                  <a:srgbClr val="FF0000"/>
                </a:solidFill>
              </a:rPr>
              <a:t>－</a:t>
            </a:r>
            <a:r>
              <a:rPr lang="en-US" altLang="zh-CN" sz="2000" b="1" dirty="0">
                <a:solidFill>
                  <a:srgbClr val="FF0000"/>
                </a:solidFill>
              </a:rPr>
              <a:t>36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1200286" y="2532877"/>
            <a:ext cx="6843167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FF0000"/>
                </a:solidFill>
              </a:rPr>
              <a:t>－</a:t>
            </a:r>
            <a:r>
              <a:rPr lang="en-US" altLang="zh-CN" sz="2000" b="1" dirty="0">
                <a:solidFill>
                  <a:srgbClr val="FF0000"/>
                </a:solidFill>
              </a:rPr>
              <a:t>36  </a:t>
            </a:r>
            <a:r>
              <a:rPr lang="en-US" altLang="zh-CN" sz="2000" b="1" dirty="0"/>
              <a:t>≤ES</a:t>
            </a:r>
            <a:r>
              <a:rPr lang="en-US" altLang="zh-CN" sz="2000" b="1" baseline="-25000" dirty="0"/>
              <a:t>≤7</a:t>
            </a:r>
            <a:r>
              <a:rPr lang="zh-CN" altLang="en-US" sz="2000" b="1" dirty="0"/>
              <a:t>（＝</a:t>
            </a:r>
            <a:r>
              <a:rPr lang="en-US" altLang="zh-CN" sz="2000" b="1" dirty="0"/>
              <a:t>ES</a:t>
            </a:r>
            <a:r>
              <a:rPr lang="zh-CN" altLang="en-US" sz="2000" b="1" baseline="-25000" dirty="0"/>
              <a:t>＞</a:t>
            </a:r>
            <a:r>
              <a:rPr lang="en-US" altLang="zh-CN" sz="2000" b="1" baseline="-25000" dirty="0"/>
              <a:t>7</a:t>
            </a:r>
            <a:r>
              <a:rPr lang="zh-CN" altLang="en-US" sz="2000" b="1" dirty="0"/>
              <a:t>＋</a:t>
            </a:r>
            <a:r>
              <a:rPr lang="en-US" altLang="zh-CN" sz="2000" b="1" dirty="0"/>
              <a:t>Δ</a:t>
            </a:r>
            <a:r>
              <a:rPr lang="zh-CN" altLang="en-US" sz="2000" b="1" dirty="0"/>
              <a:t>）≤</a:t>
            </a:r>
            <a:r>
              <a:rPr lang="zh-CN" altLang="en-US" sz="2000" b="1" dirty="0">
                <a:solidFill>
                  <a:srgbClr val="FF0000"/>
                </a:solidFill>
              </a:rPr>
              <a:t>－</a:t>
            </a:r>
            <a:r>
              <a:rPr lang="en-US" altLang="zh-CN" sz="2000" b="1" dirty="0">
                <a:solidFill>
                  <a:srgbClr val="FF0000"/>
                </a:solidFill>
              </a:rPr>
              <a:t>33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1224553" y="3373207"/>
            <a:ext cx="6716361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/>
              <a:t>即              －</a:t>
            </a:r>
            <a:r>
              <a:rPr lang="en-US" altLang="zh-CN" sz="2000" b="1"/>
              <a:t>42  ≤ </a:t>
            </a:r>
            <a:r>
              <a:rPr lang="en-US" altLang="zh-CN" sz="2000" b="1">
                <a:solidFill>
                  <a:srgbClr val="FF0000"/>
                </a:solidFill>
              </a:rPr>
              <a:t>ES</a:t>
            </a:r>
            <a:r>
              <a:rPr lang="zh-CN" altLang="en-US" sz="2000" b="1" baseline="-25000">
                <a:solidFill>
                  <a:srgbClr val="FF0000"/>
                </a:solidFill>
              </a:rPr>
              <a:t>＞</a:t>
            </a:r>
            <a:r>
              <a:rPr lang="en-US" altLang="zh-CN" sz="2000" b="1" baseline="-25000">
                <a:solidFill>
                  <a:srgbClr val="FF0000"/>
                </a:solidFill>
              </a:rPr>
              <a:t>7</a:t>
            </a:r>
            <a:r>
              <a:rPr lang="en-US" altLang="zh-CN" sz="2000" b="1" baseline="-25000"/>
              <a:t> </a:t>
            </a:r>
            <a:r>
              <a:rPr lang="en-US" altLang="zh-CN" sz="2000" b="1"/>
              <a:t>≤</a:t>
            </a:r>
            <a:r>
              <a:rPr lang="zh-CN" altLang="en-US" sz="2000" b="1"/>
              <a:t>－</a:t>
            </a:r>
            <a:r>
              <a:rPr lang="en-US" altLang="zh-CN" sz="2000" b="1"/>
              <a:t>39</a:t>
            </a:r>
          </a:p>
        </p:txBody>
      </p:sp>
      <p:sp>
        <p:nvSpPr>
          <p:cNvPr id="13" name="AutoShape 12"/>
          <p:cNvSpPr/>
          <p:nvPr/>
        </p:nvSpPr>
        <p:spPr bwMode="auto">
          <a:xfrm>
            <a:off x="1001293" y="642602"/>
            <a:ext cx="275476" cy="1076263"/>
          </a:xfrm>
          <a:prstGeom prst="leftBrace">
            <a:avLst>
              <a:gd name="adj1" fmla="val 37864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258" tIns="31629" rIns="63258" bIns="31629" anchor="ctr"/>
          <a:lstStyle/>
          <a:p>
            <a:endParaRPr lang="zh-CN" altLang="en-US" sz="2000"/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5182585" y="1793122"/>
            <a:ext cx="3313361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FF0000"/>
                </a:solidFill>
              </a:rPr>
              <a:t>(</a:t>
            </a:r>
            <a:r>
              <a:rPr lang="zh-CN" altLang="en-US" sz="2000" b="1">
                <a:solidFill>
                  <a:srgbClr val="FF0000"/>
                </a:solidFill>
              </a:rPr>
              <a:t>为什么计算上偏差？</a:t>
            </a:r>
            <a:r>
              <a:rPr lang="en-US" altLang="zh-CN" sz="2000" b="1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836154" y="2934242"/>
            <a:ext cx="7470640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/>
          <a:p>
            <a:pPr defTabSz="815975"/>
            <a:r>
              <a:rPr lang="zh-CN" altLang="en-US" sz="2000" b="1" dirty="0"/>
              <a:t>其中    </a:t>
            </a:r>
            <a:r>
              <a:rPr lang="en-US" altLang="zh-CN" sz="2000" b="1" dirty="0"/>
              <a:t>Δ</a:t>
            </a:r>
            <a:r>
              <a:rPr lang="zh-CN" altLang="en-US" sz="2000" b="1" dirty="0"/>
              <a:t>＝</a:t>
            </a:r>
            <a:r>
              <a:rPr lang="en-US" altLang="zh-CN" sz="2000" b="1" dirty="0"/>
              <a:t>IT6 - IT5 = 19-13 = 6  (</a:t>
            </a:r>
            <a:r>
              <a:rPr lang="zh-CN" altLang="en-US" sz="2000" b="1" dirty="0"/>
              <a:t>或查表</a:t>
            </a:r>
            <a:r>
              <a:rPr lang="en-US" altLang="zh-CN" sz="2000" b="1" dirty="0"/>
              <a:t>3.5)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1026772" y="3783972"/>
            <a:ext cx="4788031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/>
          <a:p>
            <a:pPr defTabSz="815975"/>
            <a:r>
              <a:rPr lang="zh-CN" altLang="en-US" sz="2000" b="1" dirty="0"/>
              <a:t>由表</a:t>
            </a:r>
            <a:r>
              <a:rPr lang="en-US" altLang="zh-CN" sz="2000" b="1" dirty="0" smtClean="0"/>
              <a:t>3.5</a:t>
            </a:r>
            <a:r>
              <a:rPr lang="zh-CN" altLang="en-US" sz="2000" b="1" dirty="0" smtClean="0"/>
              <a:t>得</a:t>
            </a:r>
            <a:endParaRPr lang="zh-CN" altLang="en-US" sz="2000" b="1" dirty="0"/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1032403" y="4185557"/>
            <a:ext cx="6573157" cy="388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/>
              <a:t>孔的基本偏差代号为  </a:t>
            </a:r>
            <a:r>
              <a:rPr lang="en-US" altLang="zh-CN" sz="2000" b="1" dirty="0">
                <a:solidFill>
                  <a:srgbClr val="FF0000"/>
                </a:solidFill>
              </a:rPr>
              <a:t>R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, </a:t>
            </a:r>
            <a:r>
              <a:rPr lang="zh-CN" altLang="en-US" sz="2000" b="1" dirty="0" smtClean="0"/>
              <a:t>公差带</a:t>
            </a:r>
            <a:r>
              <a:rPr lang="zh-CN" altLang="en-US" sz="2000" b="1" dirty="0"/>
              <a:t>代号为</a:t>
            </a:r>
            <a:r>
              <a:rPr lang="en-US" altLang="zh-CN" sz="2000" b="1" dirty="0"/>
              <a:t>R6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bldLvl="0" animBg="1" autoUpdateAnimBg="0"/>
      <p:bldP spid="7" grpId="0" autoUpdateAnimBg="0"/>
      <p:bldP spid="8" grpId="0" bldLvl="0" animBg="1" autoUpdateAnimBg="0"/>
      <p:bldP spid="9" grpId="0" bldLvl="0" animBg="1" autoUpdateAnimBg="0"/>
      <p:bldP spid="10" grpId="0" autoUpdateAnimBg="0"/>
      <p:bldP spid="11" grpId="0" autoUpdateAnimBg="0"/>
      <p:bldP spid="12" grpId="0" autoUpdateAnimBg="0"/>
      <p:bldP spid="13" grpId="0" animBg="1"/>
      <p:bldP spid="14" grpId="0" autoUpdateAnimBg="0"/>
      <p:bldP spid="15" grpId="0" autoUpdateAnimBg="0"/>
      <p:bldP spid="16" grpId="0" autoUpdateAnimBg="0"/>
      <p:bldP spid="17" grpId="0" bldLvl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970755" y="253275"/>
            <a:ext cx="3563685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/>
              <a:t>由表</a:t>
            </a:r>
            <a:r>
              <a:rPr lang="en-US" altLang="zh-CN" sz="2000" b="1" dirty="0"/>
              <a:t>3.5</a:t>
            </a:r>
            <a:r>
              <a:rPr lang="zh-CN" altLang="en-US" sz="2000" b="1" dirty="0"/>
              <a:t>可知：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685020" y="282238"/>
            <a:ext cx="3246994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/>
              <a:t>对于</a:t>
            </a:r>
            <a:r>
              <a:rPr lang="en-US" altLang="zh-CN" sz="2000" b="1" dirty="0"/>
              <a:t>&gt;IT7</a:t>
            </a:r>
            <a:r>
              <a:rPr lang="zh-CN" altLang="en-US" sz="2000" b="1" dirty="0"/>
              <a:t>的</a:t>
            </a:r>
            <a:r>
              <a:rPr lang="en-US" altLang="zh-CN" sz="2000" b="1" dirty="0"/>
              <a:t>R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991723" y="1072363"/>
            <a:ext cx="3802720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/>
              <a:t>所以≤</a:t>
            </a:r>
            <a:r>
              <a:rPr lang="en-US" altLang="zh-CN" sz="2000" b="1" dirty="0"/>
              <a:t>IT7</a:t>
            </a:r>
            <a:r>
              <a:rPr lang="zh-CN" altLang="en-US" sz="2000" b="1" dirty="0"/>
              <a:t>的</a:t>
            </a:r>
            <a:r>
              <a:rPr lang="en-US" altLang="zh-CN" sz="2000" b="1" dirty="0"/>
              <a:t>R :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3133620" y="1043406"/>
            <a:ext cx="5536633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/>
              <a:t>ES = -41+Δ=-41+6= - </a:t>
            </a:r>
            <a:r>
              <a:rPr lang="en-US" altLang="zh-CN" sz="2000" b="1" dirty="0" smtClean="0"/>
              <a:t>35μm</a:t>
            </a:r>
            <a:endParaRPr lang="zh-CN" altLang="en-US" sz="2000" b="1" dirty="0"/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3137812" y="1453232"/>
            <a:ext cx="5479605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/>
              <a:t>EI=ES-IT6=-35-19= - 54 </a:t>
            </a:r>
            <a:r>
              <a:rPr lang="en-US" altLang="zh-CN" sz="2000" b="1" dirty="0" err="1" smtClean="0"/>
              <a:t>μm</a:t>
            </a:r>
            <a:endParaRPr lang="zh-CN" altLang="en-US" sz="2000" b="1" dirty="0"/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689667" y="1922522"/>
            <a:ext cx="3067414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 smtClean="0"/>
              <a:t>（</a:t>
            </a:r>
            <a:r>
              <a:rPr lang="en-US" altLang="zh-CN" sz="2000" b="1" dirty="0" smtClean="0"/>
              <a:t>4</a:t>
            </a:r>
            <a:r>
              <a:rPr lang="zh-CN" altLang="en-US" sz="2000" b="1" dirty="0" smtClean="0"/>
              <a:t>）</a:t>
            </a:r>
            <a:r>
              <a:rPr lang="en-US" altLang="zh-CN" sz="2000" b="1" dirty="0" smtClean="0"/>
              <a:t>  </a:t>
            </a:r>
            <a:r>
              <a:rPr lang="zh-CN" altLang="en-US" sz="2000" b="1" dirty="0"/>
              <a:t>配合代号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722539" y="3035637"/>
            <a:ext cx="2591198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5</a:t>
            </a:r>
            <a:r>
              <a:rPr lang="zh-CN" altLang="en-US" sz="2000" b="1" dirty="0"/>
              <a:t>）公差带图</a:t>
            </a:r>
          </a:p>
        </p:txBody>
      </p:sp>
      <p:pic>
        <p:nvPicPr>
          <p:cNvPr id="15" name="Picture 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75420" y="2366798"/>
            <a:ext cx="4524573" cy="2472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3355558" y="1919829"/>
            <a:ext cx="13529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sz="2000" b="1" dirty="0" smtClean="0">
                <a:solidFill>
                  <a:srgbClr val="FF0000"/>
                </a:solidFill>
              </a:rPr>
              <a:t>Φ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60R6/h5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80589" y="657871"/>
            <a:ext cx="28383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其</a:t>
            </a:r>
            <a:r>
              <a:rPr lang="en-US" altLang="zh-CN" sz="2000" b="1" dirty="0" smtClean="0"/>
              <a:t>ES=-41um</a:t>
            </a:r>
            <a:r>
              <a:rPr lang="zh-CN" altLang="en-US" sz="2000" b="1" dirty="0" smtClean="0"/>
              <a:t>，</a:t>
            </a:r>
            <a:r>
              <a:rPr lang="el-GR" altLang="zh-CN" sz="2000" b="1" dirty="0" smtClean="0"/>
              <a:t>Δ</a:t>
            </a:r>
            <a:r>
              <a:rPr lang="en-US" altLang="zh-CN" sz="2000" b="1" dirty="0" smtClean="0"/>
              <a:t>=6um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4" name="Text Box 4"/>
          <p:cNvSpPr txBox="1">
            <a:spLocks noChangeArrowheads="1"/>
          </p:cNvSpPr>
          <p:nvPr/>
        </p:nvSpPr>
        <p:spPr bwMode="auto">
          <a:xfrm>
            <a:off x="502137" y="260937"/>
            <a:ext cx="3179847" cy="371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3258" tIns="31629" rIns="63258" bIns="31629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/>
              <a:t>(6)  </a:t>
            </a:r>
            <a:r>
              <a:rPr lang="zh-CN" altLang="en-US" sz="2000" b="1" dirty="0"/>
              <a:t>由图</a:t>
            </a:r>
            <a:r>
              <a:rPr lang="en-US" altLang="zh-CN" sz="2000" b="1" dirty="0" smtClean="0"/>
              <a:t>3.18</a:t>
            </a:r>
            <a:r>
              <a:rPr lang="zh-CN" altLang="en-US" sz="2000" b="1" dirty="0" smtClean="0"/>
              <a:t>，</a:t>
            </a:r>
            <a:r>
              <a:rPr lang="en-US" altLang="zh-CN" sz="2000" b="1" dirty="0" smtClean="0"/>
              <a:t>3.18 </a:t>
            </a:r>
            <a:r>
              <a:rPr lang="zh-CN" altLang="en-US" sz="2000" b="1" dirty="0"/>
              <a:t>可见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6832" y="715890"/>
            <a:ext cx="7032208" cy="1982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5565644" y="697683"/>
            <a:ext cx="596981" cy="29327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258" tIns="31629" rIns="63258" bIns="31629" anchor="ctr"/>
          <a:lstStyle/>
          <a:p>
            <a:pPr algn="ctr"/>
            <a:endParaRPr lang="zh-CN" altLang="zh-CN">
              <a:solidFill>
                <a:srgbClr val="FF0000"/>
              </a:solidFill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44130" y="2670048"/>
            <a:ext cx="6620257" cy="2206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4970493" y="1817656"/>
            <a:ext cx="2585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sz="2000" b="1" dirty="0" smtClean="0"/>
              <a:t>Φ</a:t>
            </a:r>
            <a:r>
              <a:rPr lang="en-US" altLang="zh-CN" sz="2000" b="1" dirty="0" smtClean="0"/>
              <a:t>60R6</a:t>
            </a:r>
            <a:r>
              <a:rPr lang="zh-CN" altLang="en-US" sz="2000" b="1" dirty="0" smtClean="0"/>
              <a:t>为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常用公差带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4431788" y="2672787"/>
            <a:ext cx="596981" cy="29327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258" tIns="31629" rIns="63258" bIns="31629" anchor="ctr"/>
          <a:lstStyle/>
          <a:p>
            <a:pPr algn="ctr"/>
            <a:endParaRPr lang="zh-CN" altLang="zh-CN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75293" y="3939064"/>
            <a:ext cx="2585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sz="2000" b="1" dirty="0" smtClean="0"/>
              <a:t>Φ</a:t>
            </a:r>
            <a:r>
              <a:rPr lang="en-US" altLang="zh-CN" sz="2000" b="1" dirty="0" smtClean="0"/>
              <a:t>60h5</a:t>
            </a:r>
            <a:r>
              <a:rPr lang="zh-CN" altLang="en-US" sz="2000" b="1" dirty="0" smtClean="0"/>
              <a:t>为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常用公差带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4" grpId="0"/>
      <p:bldP spid="10" grpId="0" animBg="1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47995" y="521362"/>
            <a:ext cx="747274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/>
              <a:t>由图</a:t>
            </a:r>
            <a:r>
              <a:rPr lang="en-US" altLang="zh-CN" sz="2000" b="1" dirty="0"/>
              <a:t>3. 21 </a:t>
            </a:r>
            <a:r>
              <a:rPr lang="zh-CN" altLang="en-US" sz="2000" b="1" dirty="0"/>
              <a:t>中没有</a:t>
            </a:r>
            <a:r>
              <a:rPr lang="en-US" altLang="zh-CN" sz="2000" b="1" dirty="0"/>
              <a:t>R6</a:t>
            </a:r>
            <a:r>
              <a:rPr lang="en-US" altLang="zh-CN" sz="2000" b="1" dirty="0" smtClean="0"/>
              <a:t>, </a:t>
            </a:r>
            <a:r>
              <a:rPr lang="zh-CN" altLang="en-US" sz="2000" b="1" dirty="0" smtClean="0"/>
              <a:t>所以</a:t>
            </a:r>
            <a:r>
              <a:rPr lang="en-US" altLang="zh-CN" sz="2000" b="1" dirty="0" smtClean="0"/>
              <a:t>60R6</a:t>
            </a:r>
            <a:r>
              <a:rPr lang="en-US" altLang="zh-CN" sz="2000" b="1" dirty="0"/>
              <a:t>/ h5 </a:t>
            </a:r>
            <a:r>
              <a:rPr lang="zh-CN" altLang="en-US" sz="2000" b="1" dirty="0"/>
              <a:t>为一般</a:t>
            </a:r>
            <a:r>
              <a:rPr lang="zh-CN" altLang="en-US" sz="2000" b="1" dirty="0" smtClean="0"/>
              <a:t>配合（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图中没有</a:t>
            </a:r>
            <a:r>
              <a:rPr lang="zh-CN" altLang="en-US" sz="2000" b="1" dirty="0" smtClean="0"/>
              <a:t>）</a:t>
            </a:r>
            <a:endParaRPr lang="zh-CN" altLang="en-US" sz="2000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20802" y="1214080"/>
            <a:ext cx="7630070" cy="3114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348398" y="54696"/>
            <a:ext cx="6737875" cy="513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2800" b="1" dirty="0"/>
              <a:t>3.4.4  </a:t>
            </a:r>
            <a:r>
              <a:rPr lang="zh-CN" altLang="en-US" sz="2800" b="1" dirty="0"/>
              <a:t>线性尺寸的未注公差的选用</a:t>
            </a:r>
            <a:endParaRPr lang="zh-CN" altLang="en-US" sz="2800" dirty="0"/>
          </a:p>
        </p:txBody>
      </p:sp>
      <p:sp>
        <p:nvSpPr>
          <p:cNvPr id="18456" name="Text Box 24"/>
          <p:cNvSpPr txBox="1">
            <a:spLocks noChangeArrowheads="1"/>
          </p:cNvSpPr>
          <p:nvPr/>
        </p:nvSpPr>
        <p:spPr bwMode="auto">
          <a:xfrm>
            <a:off x="653109" y="961709"/>
            <a:ext cx="7685673" cy="1596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b="1" dirty="0"/>
              <a:t>        </a:t>
            </a:r>
            <a:r>
              <a:rPr lang="zh-CN" altLang="en-US" b="1" dirty="0"/>
              <a:t>线性尺寸的未注公差（一般公差）是指在车间工艺条件下，机床设备一般加工能力可达到的公差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b="1" dirty="0" smtClean="0"/>
              <a:t>      </a:t>
            </a:r>
            <a:r>
              <a:rPr lang="zh-CN" altLang="en-US" b="1" dirty="0" smtClean="0"/>
              <a:t>在</a:t>
            </a:r>
            <a:r>
              <a:rPr lang="zh-CN" altLang="en-US" b="1" dirty="0">
                <a:solidFill>
                  <a:srgbClr val="FF0000"/>
                </a:solidFill>
              </a:rPr>
              <a:t>零件图上不单独标注它们的公差</a:t>
            </a:r>
            <a:r>
              <a:rPr lang="zh-CN" altLang="en-US" b="1" dirty="0"/>
              <a:t>。</a:t>
            </a:r>
            <a:endParaRPr lang="zh-CN" altLang="en-US" b="1" dirty="0">
              <a:cs typeface="Times New Roman" panose="02020603050405020304" pitchFamily="18" charset="0"/>
            </a:endParaRPr>
          </a:p>
        </p:txBody>
      </p:sp>
      <p:sp>
        <p:nvSpPr>
          <p:cNvPr id="18460" name="Text Box 28"/>
          <p:cNvSpPr txBox="1">
            <a:spLocks noChangeArrowheads="1"/>
          </p:cNvSpPr>
          <p:nvPr/>
        </p:nvSpPr>
        <p:spPr bwMode="auto">
          <a:xfrm>
            <a:off x="557785" y="2782961"/>
            <a:ext cx="7862884" cy="9688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b="1" dirty="0"/>
              <a:t>        </a:t>
            </a:r>
            <a:r>
              <a:rPr lang="zh-CN" altLang="en-US" b="1" dirty="0"/>
              <a:t>如果被测要素的功能要求比未注公差更小或允许更大的公差时，应在公称尺寸后直接</a:t>
            </a:r>
            <a:r>
              <a:rPr lang="zh-CN" altLang="en-US" b="1" dirty="0">
                <a:solidFill>
                  <a:srgbClr val="FF0000"/>
                </a:solidFill>
              </a:rPr>
              <a:t>注出极限偏差值</a:t>
            </a:r>
            <a:r>
              <a:rPr lang="zh-CN" altLang="en-US" b="1" dirty="0"/>
              <a:t>。</a:t>
            </a:r>
            <a:endParaRPr lang="zh-CN" altLang="en-US" b="1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1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build="p" autoUpdateAnimBg="0"/>
      <p:bldP spid="18456" grpId="0" autoUpdateAnimBg="0"/>
      <p:bldP spid="18460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D68913-E8E0-42D8-80FB-CF993705873D}" type="slidenum">
              <a:rPr lang="en-US" altLang="zh-CN" smtClean="0"/>
              <a:pPr>
                <a:defRPr/>
              </a:pPr>
              <a:t>32</a:t>
            </a:fld>
            <a:endParaRPr lang="en-US" altLang="zh-CN" dirty="0"/>
          </a:p>
        </p:txBody>
      </p:sp>
      <p:sp>
        <p:nvSpPr>
          <p:cNvPr id="3" name="Text Box 29"/>
          <p:cNvSpPr txBox="1">
            <a:spLocks noChangeArrowheads="1"/>
          </p:cNvSpPr>
          <p:nvPr/>
        </p:nvSpPr>
        <p:spPr bwMode="auto">
          <a:xfrm>
            <a:off x="624072" y="84799"/>
            <a:ext cx="5555625" cy="483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b="1" dirty="0"/>
              <a:t>1. </a:t>
            </a:r>
            <a:r>
              <a:rPr lang="zh-CN" altLang="en-US" b="1" dirty="0"/>
              <a:t>图样上采用未注公差的原因</a:t>
            </a:r>
          </a:p>
        </p:txBody>
      </p:sp>
      <p:sp>
        <p:nvSpPr>
          <p:cNvPr id="4" name="Text Box 30"/>
          <p:cNvSpPr txBox="1">
            <a:spLocks noChangeArrowheads="1"/>
          </p:cNvSpPr>
          <p:nvPr/>
        </p:nvSpPr>
        <p:spPr bwMode="auto">
          <a:xfrm>
            <a:off x="713692" y="966661"/>
            <a:ext cx="7973092" cy="483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 简化制图，使图样清晰易读。</a:t>
            </a:r>
          </a:p>
        </p:txBody>
      </p:sp>
      <p:sp>
        <p:nvSpPr>
          <p:cNvPr id="5" name="Text Box 31"/>
          <p:cNvSpPr txBox="1">
            <a:spLocks noChangeArrowheads="1"/>
          </p:cNvSpPr>
          <p:nvPr/>
        </p:nvSpPr>
        <p:spPr bwMode="auto">
          <a:xfrm>
            <a:off x="705414" y="1492395"/>
            <a:ext cx="7973092" cy="525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）节省图样设计时间。</a:t>
            </a:r>
          </a:p>
        </p:txBody>
      </p:sp>
      <p:sp>
        <p:nvSpPr>
          <p:cNvPr id="6" name="Text Box 32"/>
          <p:cNvSpPr txBox="1">
            <a:spLocks noChangeArrowheads="1"/>
          </p:cNvSpPr>
          <p:nvPr/>
        </p:nvSpPr>
        <p:spPr bwMode="auto">
          <a:xfrm>
            <a:off x="697139" y="2033865"/>
            <a:ext cx="7973092" cy="525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（</a:t>
            </a:r>
            <a:r>
              <a:rPr lang="en-US" altLang="zh-CN" b="1" dirty="0"/>
              <a:t>3</a:t>
            </a:r>
            <a:r>
              <a:rPr lang="zh-CN" altLang="en-US" b="1" dirty="0"/>
              <a:t>）可简化对未注要素的检验要求而有助于质量管理。</a:t>
            </a:r>
          </a:p>
        </p:txBody>
      </p:sp>
      <p:sp>
        <p:nvSpPr>
          <p:cNvPr id="7" name="Text Box 33"/>
          <p:cNvSpPr txBox="1">
            <a:spLocks noChangeArrowheads="1"/>
          </p:cNvSpPr>
          <p:nvPr/>
        </p:nvSpPr>
        <p:spPr bwMode="auto">
          <a:xfrm>
            <a:off x="680589" y="2561464"/>
            <a:ext cx="7973092" cy="525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（</a:t>
            </a:r>
            <a:r>
              <a:rPr lang="en-US" altLang="zh-CN" b="1" dirty="0"/>
              <a:t>4</a:t>
            </a:r>
            <a:r>
              <a:rPr lang="zh-CN" altLang="en-US" b="1" dirty="0"/>
              <a:t>）突出图样上注出公差的尺寸。</a:t>
            </a:r>
          </a:p>
        </p:txBody>
      </p:sp>
      <p:sp>
        <p:nvSpPr>
          <p:cNvPr id="8" name="Text Box 34"/>
          <p:cNvSpPr txBox="1">
            <a:spLocks noChangeArrowheads="1"/>
          </p:cNvSpPr>
          <p:nvPr/>
        </p:nvSpPr>
        <p:spPr bwMode="auto">
          <a:xfrm>
            <a:off x="701056" y="3088156"/>
            <a:ext cx="7856089" cy="9688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（</a:t>
            </a:r>
            <a:r>
              <a:rPr lang="en-US" altLang="zh-CN" b="1" dirty="0"/>
              <a:t>5</a:t>
            </a:r>
            <a:r>
              <a:rPr lang="zh-CN" altLang="en-US" b="1" dirty="0"/>
              <a:t>）由于明确了图样上尺寸的未注公差要求，便于供需双方不必要的争议。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/>
      <p:bldP spid="5" grpId="0" build="p" autoUpdateAnimBg="0"/>
      <p:bldP spid="6" grpId="0" build="p" autoUpdateAnimBg="0"/>
      <p:bldP spid="7" grpId="0" build="p" autoUpdateAnimBg="0"/>
      <p:bldP spid="8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D68913-E8E0-42D8-80FB-CF993705873D}" type="slidenum">
              <a:rPr lang="en-US" altLang="zh-CN" smtClean="0"/>
              <a:pPr>
                <a:defRPr/>
              </a:pPr>
              <a:t>33</a:t>
            </a:fld>
            <a:endParaRPr lang="en-US" altLang="zh-CN" dirty="0"/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500083" y="58125"/>
            <a:ext cx="6662646" cy="525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b="1" dirty="0"/>
              <a:t>2. </a:t>
            </a:r>
            <a:r>
              <a:rPr lang="zh-CN" altLang="en-US" b="1" dirty="0"/>
              <a:t>未注尺寸公差的</a:t>
            </a:r>
            <a:r>
              <a:rPr lang="zh-CN" altLang="en-US" b="1" dirty="0">
                <a:solidFill>
                  <a:srgbClr val="FF0000"/>
                </a:solidFill>
              </a:rPr>
              <a:t>公差等级</a:t>
            </a:r>
            <a:r>
              <a:rPr lang="zh-CN" altLang="en-US" b="1" dirty="0"/>
              <a:t> 和极限偏差</a:t>
            </a:r>
          </a:p>
        </p:txBody>
      </p:sp>
      <p:sp>
        <p:nvSpPr>
          <p:cNvPr id="4" name="AutoShape 17"/>
          <p:cNvSpPr/>
          <p:nvPr/>
        </p:nvSpPr>
        <p:spPr bwMode="auto">
          <a:xfrm>
            <a:off x="4950767" y="938588"/>
            <a:ext cx="222047" cy="1146093"/>
          </a:xfrm>
          <a:prstGeom prst="leftBrace">
            <a:avLst>
              <a:gd name="adj1" fmla="val 40210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258" tIns="31629" rIns="63258" bIns="31629" anchor="ctr"/>
          <a:lstStyle/>
          <a:p>
            <a:endParaRPr lang="zh-CN" altLang="en-US" sz="2400"/>
          </a:p>
        </p:txBody>
      </p:sp>
      <p:sp>
        <p:nvSpPr>
          <p:cNvPr id="5" name="Text Box 18"/>
          <p:cNvSpPr txBox="1">
            <a:spLocks noChangeArrowheads="1"/>
          </p:cNvSpPr>
          <p:nvPr/>
        </p:nvSpPr>
        <p:spPr bwMode="auto">
          <a:xfrm>
            <a:off x="5140551" y="779200"/>
            <a:ext cx="1963121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/>
              <a:t>f </a:t>
            </a:r>
            <a:r>
              <a:rPr lang="en-US" altLang="zh-CN" b="1" dirty="0">
                <a:latin typeface="宋体" panose="02010600030101010101" pitchFamily="2" charset="-122"/>
              </a:rPr>
              <a:t>- </a:t>
            </a:r>
            <a:r>
              <a:rPr lang="zh-CN" altLang="en-US" b="1" dirty="0">
                <a:latin typeface="宋体" panose="02010600030101010101" pitchFamily="2" charset="-122"/>
              </a:rPr>
              <a:t>精密级</a:t>
            </a:r>
          </a:p>
        </p:txBody>
      </p:sp>
      <p:sp>
        <p:nvSpPr>
          <p:cNvPr id="6" name="Text Box 19"/>
          <p:cNvSpPr txBox="1">
            <a:spLocks noChangeArrowheads="1"/>
          </p:cNvSpPr>
          <p:nvPr/>
        </p:nvSpPr>
        <p:spPr bwMode="auto">
          <a:xfrm>
            <a:off x="5111585" y="1145642"/>
            <a:ext cx="1949472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 smtClean="0"/>
              <a:t>m</a:t>
            </a:r>
            <a:r>
              <a:rPr lang="en-US" altLang="zh-CN" b="1" dirty="0" smtClean="0">
                <a:latin typeface="宋体" panose="02010600030101010101" pitchFamily="2" charset="-122"/>
              </a:rPr>
              <a:t>- </a:t>
            </a:r>
            <a:r>
              <a:rPr lang="zh-CN" altLang="en-US" b="1" dirty="0" smtClean="0">
                <a:latin typeface="宋体" panose="02010600030101010101" pitchFamily="2" charset="-122"/>
              </a:rPr>
              <a:t>中</a:t>
            </a:r>
            <a:r>
              <a:rPr lang="zh-CN" altLang="en-US" b="1" dirty="0">
                <a:latin typeface="宋体" panose="02010600030101010101" pitchFamily="2" charset="-122"/>
              </a:rPr>
              <a:t>等级</a:t>
            </a:r>
          </a:p>
        </p:txBody>
      </p:sp>
      <p:sp>
        <p:nvSpPr>
          <p:cNvPr id="7" name="Text Box 20"/>
          <p:cNvSpPr txBox="1">
            <a:spLocks noChangeArrowheads="1"/>
          </p:cNvSpPr>
          <p:nvPr/>
        </p:nvSpPr>
        <p:spPr bwMode="auto">
          <a:xfrm>
            <a:off x="5136414" y="1485767"/>
            <a:ext cx="3035866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/>
              <a:t>c </a:t>
            </a:r>
            <a:r>
              <a:rPr lang="en-US" altLang="zh-CN" b="1" dirty="0">
                <a:latin typeface="宋体" panose="02010600030101010101" pitchFamily="2" charset="-122"/>
              </a:rPr>
              <a:t>- </a:t>
            </a:r>
            <a:r>
              <a:rPr lang="zh-CN" altLang="en-US" b="1" dirty="0">
                <a:latin typeface="宋体" panose="02010600030101010101" pitchFamily="2" charset="-122"/>
              </a:rPr>
              <a:t>粗糙级</a:t>
            </a:r>
          </a:p>
        </p:txBody>
      </p:sp>
      <p:sp>
        <p:nvSpPr>
          <p:cNvPr id="8" name="Text Box 21"/>
          <p:cNvSpPr txBox="1">
            <a:spLocks noChangeArrowheads="1"/>
          </p:cNvSpPr>
          <p:nvPr/>
        </p:nvSpPr>
        <p:spPr bwMode="auto">
          <a:xfrm>
            <a:off x="5148829" y="1847695"/>
            <a:ext cx="2064025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/>
              <a:t>v </a:t>
            </a:r>
            <a:r>
              <a:rPr lang="en-US" altLang="zh-CN" b="1" dirty="0">
                <a:latin typeface="宋体" panose="02010600030101010101" pitchFamily="2" charset="-122"/>
              </a:rPr>
              <a:t>- </a:t>
            </a:r>
            <a:r>
              <a:rPr lang="zh-CN" altLang="en-US" b="1" dirty="0">
                <a:latin typeface="宋体" panose="02010600030101010101" pitchFamily="2" charset="-122"/>
              </a:rPr>
              <a:t>最粗级</a:t>
            </a:r>
          </a:p>
        </p:txBody>
      </p:sp>
      <p:sp>
        <p:nvSpPr>
          <p:cNvPr id="9" name="Text Box 35"/>
          <p:cNvSpPr txBox="1">
            <a:spLocks noChangeArrowheads="1"/>
          </p:cNvSpPr>
          <p:nvPr/>
        </p:nvSpPr>
        <p:spPr bwMode="auto">
          <a:xfrm>
            <a:off x="812045" y="1261690"/>
            <a:ext cx="4107975" cy="525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b="1" dirty="0"/>
              <a:t>(1) </a:t>
            </a:r>
            <a:r>
              <a:rPr lang="zh-CN" altLang="en-US" b="1" dirty="0"/>
              <a:t>未注尺寸公差的</a:t>
            </a:r>
            <a:r>
              <a:rPr lang="zh-CN" altLang="en-US" b="1" dirty="0">
                <a:solidFill>
                  <a:srgbClr val="FF0000"/>
                </a:solidFill>
              </a:rPr>
              <a:t>公差等级</a:t>
            </a:r>
            <a:endParaRPr lang="zh-CN" altLang="en-US" b="1" dirty="0"/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812992" y="2692349"/>
            <a:ext cx="6167835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/>
              <a:t>(2) </a:t>
            </a:r>
            <a:r>
              <a:rPr lang="zh-CN" altLang="en-US" b="1" dirty="0"/>
              <a:t>未注尺寸公差数值  </a:t>
            </a:r>
            <a:r>
              <a:rPr lang="en-US" altLang="zh-CN" b="1" dirty="0"/>
              <a:t>(</a:t>
            </a:r>
            <a:r>
              <a:rPr lang="zh-CN" altLang="en-US" b="1" dirty="0"/>
              <a:t>表 </a:t>
            </a:r>
            <a:r>
              <a:rPr lang="en-US" altLang="zh-CN" b="1" dirty="0" smtClean="0"/>
              <a:t>3.12 </a:t>
            </a:r>
            <a:r>
              <a:rPr lang="zh-CN" altLang="en-US" b="1" dirty="0"/>
              <a:t>和 表 </a:t>
            </a:r>
            <a:r>
              <a:rPr lang="en-US" altLang="zh-CN" b="1" dirty="0" smtClean="0"/>
              <a:t>3.13 </a:t>
            </a:r>
            <a:r>
              <a:rPr lang="en-US" altLang="zh-CN" b="1" dirty="0"/>
              <a:t>)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1247809" y="3370347"/>
            <a:ext cx="6729309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其尺寸的极限偏差取值，一律取</a:t>
            </a:r>
            <a:r>
              <a:rPr lang="zh-CN" altLang="en-US" b="1" dirty="0">
                <a:solidFill>
                  <a:srgbClr val="FF0000"/>
                </a:solidFill>
              </a:rPr>
              <a:t>对称分布</a:t>
            </a:r>
            <a:r>
              <a:rPr lang="zh-CN" altLang="en-US" b="1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animBg="1"/>
      <p:bldP spid="5" grpId="0" autoUpdateAnimBg="0"/>
      <p:bldP spid="6" grpId="0" autoUpdateAnimBg="0"/>
      <p:bldP spid="7" grpId="0" autoUpdateAnimBg="0"/>
      <p:bldP spid="8" grpId="0" autoUpdateAnimBg="0"/>
      <p:bldP spid="9" grpId="0" build="p" autoUpdateAnimBg="0"/>
      <p:bldP spid="10" grpId="0" autoUpdateAnimBg="0"/>
      <p:bldP spid="11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09515" y="267872"/>
            <a:ext cx="7430188" cy="2139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86703" y="2447903"/>
            <a:ext cx="7545368" cy="2452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248254" y="682754"/>
            <a:ext cx="7962983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latin typeface="宋体" panose="02010600030101010101" pitchFamily="2" charset="-122"/>
              </a:rPr>
              <a:t>在图样标题栏附近或技术要求中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注出标准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号和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公差等级 </a:t>
            </a:r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461572" y="87834"/>
            <a:ext cx="7704936" cy="420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200" b="1" dirty="0"/>
              <a:t>3.</a:t>
            </a:r>
            <a:r>
              <a:rPr lang="zh-CN" altLang="en-US" sz="2200" b="1" dirty="0"/>
              <a:t>未注尺寸公差</a:t>
            </a:r>
            <a:r>
              <a:rPr lang="zh-CN" altLang="en-US" sz="2200" b="1" dirty="0">
                <a:latin typeface="宋体" panose="02010600030101010101" pitchFamily="2" charset="-122"/>
              </a:rPr>
              <a:t>图样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标注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656022" y="3192697"/>
            <a:ext cx="3052854" cy="821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b="1" dirty="0">
                <a:cs typeface="Times New Roman" panose="02020603050405020304" pitchFamily="18" charset="0"/>
              </a:rPr>
              <a:t>       R3</a:t>
            </a:r>
            <a:r>
              <a:rPr lang="zh-CN" altLang="en-US" sz="2000" b="1" dirty="0"/>
              <a:t>加工后，按表</a:t>
            </a:r>
            <a:r>
              <a:rPr lang="en-US" altLang="zh-CN" sz="2000" b="1" dirty="0" smtClean="0"/>
              <a:t>3.13</a:t>
            </a:r>
            <a:r>
              <a:rPr lang="zh-CN" altLang="en-US" sz="2000" b="1" dirty="0" smtClean="0"/>
              <a:t>查</a:t>
            </a:r>
            <a:r>
              <a:rPr lang="zh-CN" altLang="en-US" sz="2000" b="1" dirty="0"/>
              <a:t>得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3 </a:t>
            </a:r>
            <a:r>
              <a:rPr lang="en-US" altLang="zh-CN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±0.2</a:t>
            </a:r>
            <a:r>
              <a:rPr lang="zh-CN" altLang="en-US" sz="2000" b="1" dirty="0"/>
              <a:t>。</a:t>
            </a:r>
          </a:p>
        </p:txBody>
      </p:sp>
      <p:sp>
        <p:nvSpPr>
          <p:cNvPr id="19469" name="Text Box 13"/>
          <p:cNvSpPr txBox="1">
            <a:spLocks noChangeArrowheads="1"/>
          </p:cNvSpPr>
          <p:nvPr/>
        </p:nvSpPr>
        <p:spPr bwMode="auto">
          <a:xfrm>
            <a:off x="416942" y="1231209"/>
            <a:ext cx="3390172" cy="821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000" b="1" dirty="0"/>
              <a:t>         </a:t>
            </a:r>
            <a:r>
              <a:rPr lang="zh-CN" altLang="en-US" sz="2000" b="1" dirty="0"/>
              <a:t>如未注尺寸公差为</a:t>
            </a:r>
            <a:r>
              <a:rPr lang="en-US" altLang="zh-CN" sz="2000" b="1" dirty="0"/>
              <a:t>f</a:t>
            </a:r>
            <a:r>
              <a:rPr lang="zh-CN" altLang="en-US" sz="2000" b="1" dirty="0"/>
              <a:t>级时，标注见图。</a:t>
            </a:r>
          </a:p>
        </p:txBody>
      </p:sp>
      <p:pic>
        <p:nvPicPr>
          <p:cNvPr id="19477" name="Picture 2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94434" y="1265440"/>
            <a:ext cx="4695764" cy="3409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479" name="Oval 23"/>
          <p:cNvSpPr>
            <a:spLocks noChangeArrowheads="1"/>
          </p:cNvSpPr>
          <p:nvPr/>
        </p:nvSpPr>
        <p:spPr bwMode="auto">
          <a:xfrm>
            <a:off x="6792539" y="3622165"/>
            <a:ext cx="2146461" cy="686176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258" tIns="31629" rIns="63258" bIns="31629" anchor="ctr"/>
          <a:lstStyle/>
          <a:p>
            <a:endParaRPr lang="zh-CN" altLang="en-US" sz="2000"/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627059" y="2245196"/>
            <a:ext cx="3052854" cy="821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b="1" dirty="0">
                <a:cs typeface="Times New Roman" panose="02020603050405020304" pitchFamily="18" charset="0"/>
              </a:rPr>
              <a:t>       </a:t>
            </a:r>
            <a:r>
              <a:rPr lang="zh-CN" altLang="en-US" sz="2000" b="1" dirty="0" smtClean="0">
                <a:cs typeface="Times New Roman" panose="02020603050405020304" pitchFamily="18" charset="0"/>
              </a:rPr>
              <a:t>例如图中</a:t>
            </a:r>
            <a:r>
              <a:rPr lang="el-GR" altLang="zh-CN" sz="2000" b="1" dirty="0" smtClean="0">
                <a:cs typeface="Times New Roman" panose="02020603050405020304" pitchFamily="18" charset="0"/>
              </a:rPr>
              <a:t>Φ</a:t>
            </a:r>
            <a:r>
              <a:rPr lang="en-US" altLang="zh-CN" sz="2000" b="1" dirty="0" smtClean="0">
                <a:cs typeface="Times New Roman" panose="02020603050405020304" pitchFamily="18" charset="0"/>
              </a:rPr>
              <a:t>225</a:t>
            </a:r>
            <a:r>
              <a:rPr lang="zh-CN" altLang="en-US" sz="2000" b="1" dirty="0" smtClean="0">
                <a:cs typeface="Times New Roman" panose="02020603050405020304" pitchFamily="18" charset="0"/>
              </a:rPr>
              <a:t>加工后，按表</a:t>
            </a:r>
            <a:r>
              <a:rPr lang="en-US" altLang="zh-CN" sz="2000" b="1" dirty="0" smtClean="0">
                <a:cs typeface="Times New Roman" panose="02020603050405020304" pitchFamily="18" charset="0"/>
              </a:rPr>
              <a:t>3.12</a:t>
            </a:r>
            <a:r>
              <a:rPr lang="zh-CN" altLang="en-US" sz="2000" b="1" dirty="0" smtClean="0">
                <a:cs typeface="Times New Roman" panose="02020603050405020304" pitchFamily="18" charset="0"/>
              </a:rPr>
              <a:t>查得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 </a:t>
            </a:r>
            <a:r>
              <a:rPr lang="el-GR" altLang="zh-CN" sz="20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Φ</a:t>
            </a:r>
            <a:r>
              <a:rPr lang="en-US" altLang="zh-CN" sz="20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225±0.2</a:t>
            </a:r>
            <a:r>
              <a:rPr lang="zh-CN" altLang="en-US" sz="2000" b="1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9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autoUpdateAnimBg="0"/>
      <p:bldP spid="19464" grpId="0" build="p" autoUpdateAnimBg="0"/>
      <p:bldP spid="19468" grpId="0" autoUpdateAnimBg="0"/>
      <p:bldP spid="19469" grpId="0" autoUpdateAnimBg="0"/>
      <p:bldP spid="19479" grpId="0" animBg="1"/>
      <p:bldP spid="10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D68913-E8E0-42D8-80FB-CF993705873D}" type="slidenum">
              <a:rPr lang="en-US" altLang="zh-CN" smtClean="0"/>
              <a:pPr>
                <a:defRPr/>
              </a:pPr>
              <a:t>36</a:t>
            </a:fld>
            <a:endParaRPr lang="en-US" altLang="zh-CN" dirty="0"/>
          </a:p>
        </p:txBody>
      </p:sp>
      <p:pic>
        <p:nvPicPr>
          <p:cNvPr id="11878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3607" y="1477444"/>
            <a:ext cx="7871099" cy="1108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942117" y="75172"/>
            <a:ext cx="4431248" cy="420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2200" b="1" dirty="0"/>
              <a:t>课堂练习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4" name="Text Box 4"/>
          <p:cNvSpPr txBox="1">
            <a:spLocks noChangeArrowheads="1"/>
          </p:cNvSpPr>
          <p:nvPr/>
        </p:nvSpPr>
        <p:spPr bwMode="auto">
          <a:xfrm>
            <a:off x="1942117" y="75172"/>
            <a:ext cx="4431248" cy="420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2200" b="1" dirty="0"/>
              <a:t>课堂练习</a:t>
            </a:r>
          </a:p>
        </p:txBody>
      </p:sp>
      <p:sp>
        <p:nvSpPr>
          <p:cNvPr id="97288" name="Text Box 8"/>
          <p:cNvSpPr txBox="1">
            <a:spLocks noChangeArrowheads="1"/>
          </p:cNvSpPr>
          <p:nvPr/>
        </p:nvSpPr>
        <p:spPr bwMode="auto">
          <a:xfrm>
            <a:off x="1306864" y="1426407"/>
            <a:ext cx="6097478" cy="45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b="1" dirty="0"/>
              <a:t>按基孔制选一适当的配合，并画出尺寸公差带图。</a:t>
            </a:r>
          </a:p>
        </p:txBody>
      </p:sp>
      <p:sp>
        <p:nvSpPr>
          <p:cNvPr id="97289" name="Text Box 9"/>
          <p:cNvSpPr txBox="1">
            <a:spLocks noChangeArrowheads="1"/>
          </p:cNvSpPr>
          <p:nvPr/>
        </p:nvSpPr>
        <p:spPr bwMode="auto">
          <a:xfrm>
            <a:off x="1637932" y="2083301"/>
            <a:ext cx="4057529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/>
              <a:t>解题步骤（提示）：</a:t>
            </a:r>
          </a:p>
        </p:txBody>
      </p:sp>
      <p:sp>
        <p:nvSpPr>
          <p:cNvPr id="97290" name="Text Box 10"/>
          <p:cNvSpPr txBox="1">
            <a:spLocks noChangeArrowheads="1"/>
          </p:cNvSpPr>
          <p:nvPr/>
        </p:nvSpPr>
        <p:spPr bwMode="auto">
          <a:xfrm>
            <a:off x="1791018" y="2976449"/>
            <a:ext cx="5522297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 求孔、轴的基本偏差代号及配合代号；</a:t>
            </a:r>
          </a:p>
        </p:txBody>
      </p:sp>
      <p:sp>
        <p:nvSpPr>
          <p:cNvPr id="97291" name="Text Box 11"/>
          <p:cNvSpPr txBox="1">
            <a:spLocks noChangeArrowheads="1"/>
          </p:cNvSpPr>
          <p:nvPr/>
        </p:nvSpPr>
        <p:spPr bwMode="auto">
          <a:xfrm>
            <a:off x="1776419" y="3401688"/>
            <a:ext cx="6218551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） 画公差带图。</a:t>
            </a:r>
          </a:p>
        </p:txBody>
      </p:sp>
      <p:sp>
        <p:nvSpPr>
          <p:cNvPr id="97292" name="Rectangle 12"/>
          <p:cNvSpPr>
            <a:spLocks noChangeArrowheads="1"/>
          </p:cNvSpPr>
          <p:nvPr/>
        </p:nvSpPr>
        <p:spPr bwMode="auto">
          <a:xfrm>
            <a:off x="1803232" y="2545009"/>
            <a:ext cx="4190203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/>
          <a:p>
            <a:pPr defTabSz="815975"/>
            <a:r>
              <a:rPr lang="zh-CN" altLang="en-US" sz="2000" b="1" dirty="0">
                <a:sym typeface="Wingdings" panose="05000000000000000000" pitchFamily="2" charset="2"/>
              </a:rPr>
              <a:t>（</a:t>
            </a:r>
            <a:r>
              <a:rPr lang="en-US" altLang="zh-CN" sz="2000" b="1" dirty="0">
                <a:sym typeface="Wingdings" panose="05000000000000000000" pitchFamily="2" charset="2"/>
              </a:rPr>
              <a:t>1</a:t>
            </a:r>
            <a:r>
              <a:rPr lang="zh-CN" altLang="en-US" sz="2000" b="1" dirty="0">
                <a:sym typeface="Wingdings" panose="05000000000000000000" pitchFamily="2" charset="2"/>
              </a:rPr>
              <a:t>） 求孔、轴的公差等级；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1311000" y="975414"/>
            <a:ext cx="6097478" cy="419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b="1" dirty="0" smtClean="0"/>
              <a:t>已知</a:t>
            </a:r>
            <a:r>
              <a:rPr lang="en-US" altLang="zh-CN" sz="2000" b="1" i="1" dirty="0" smtClean="0"/>
              <a:t>D</a:t>
            </a:r>
            <a:r>
              <a:rPr lang="zh-CN" altLang="en-US" sz="2000" b="1" dirty="0" smtClean="0"/>
              <a:t>（</a:t>
            </a:r>
            <a:r>
              <a:rPr lang="en-US" altLang="zh-CN" sz="2000" b="1" i="1" dirty="0" smtClean="0"/>
              <a:t>d</a:t>
            </a:r>
            <a:r>
              <a:rPr lang="zh-CN" altLang="en-US" sz="2000" b="1" dirty="0" smtClean="0"/>
              <a:t>）</a:t>
            </a:r>
            <a:r>
              <a:rPr lang="en-US" altLang="zh-CN" sz="2000" b="1" dirty="0" smtClean="0"/>
              <a:t>= </a:t>
            </a:r>
            <a:r>
              <a:rPr lang="el-GR" altLang="zh-CN" sz="2000" b="1" dirty="0" smtClean="0"/>
              <a:t>Φ</a:t>
            </a:r>
            <a:r>
              <a:rPr lang="en-US" altLang="zh-CN" sz="2000" b="1" dirty="0" smtClean="0"/>
              <a:t>25</a:t>
            </a:r>
            <a:r>
              <a:rPr lang="zh-CN" altLang="en-US" sz="2000" b="1" dirty="0" smtClean="0"/>
              <a:t>，设计要求</a:t>
            </a:r>
            <a:r>
              <a:rPr lang="en-US" altLang="zh-CN" sz="2000" b="1" i="1" dirty="0" smtClean="0"/>
              <a:t>X </a:t>
            </a:r>
            <a:r>
              <a:rPr lang="en-US" altLang="zh-CN" sz="2000" b="1" dirty="0" smtClean="0"/>
              <a:t>= 0 ~ +56um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9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9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97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97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97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4" grpId="0" autoUpdateAnimBg="0"/>
      <p:bldP spid="97288" grpId="0" autoUpdateAnimBg="0"/>
      <p:bldP spid="97289" grpId="0" autoUpdateAnimBg="0"/>
      <p:bldP spid="97290" grpId="0" autoUpdateAnimBg="0"/>
      <p:bldP spid="97291" grpId="0" autoUpdateAnimBg="0"/>
      <p:bldP spid="97292" grpId="0" autoUpdateAnimBg="0"/>
      <p:bldP spid="10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485979" y="52052"/>
            <a:ext cx="6457586" cy="420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3.5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尺 </a:t>
            </a:r>
            <a:r>
              <a:rPr lang="zh-CN" altLang="en-US" sz="2200" b="1" dirty="0">
                <a:latin typeface="宋体" panose="02010600030101010101" pitchFamily="2" charset="-122"/>
              </a:rPr>
              <a:t>寸 精 度 的 检 测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450163" y="600018"/>
            <a:ext cx="7052140" cy="374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900" b="1" dirty="0"/>
              <a:t>3.5.1  </a:t>
            </a:r>
            <a:r>
              <a:rPr lang="zh-CN" altLang="en-US" sz="1900" b="1" dirty="0"/>
              <a:t>用通用计量器具</a:t>
            </a:r>
            <a:r>
              <a:rPr lang="zh-CN" altLang="en-US" sz="1900" b="1" dirty="0" smtClean="0"/>
              <a:t>测量</a:t>
            </a:r>
            <a:endParaRPr lang="zh-CN" altLang="en-US" sz="1900" dirty="0"/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752293" y="923329"/>
            <a:ext cx="5733201" cy="359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b="1" dirty="0">
                <a:latin typeface="宋体" panose="02010600030101010101" pitchFamily="2" charset="-122"/>
              </a:rPr>
              <a:t>1.</a:t>
            </a:r>
            <a:r>
              <a:rPr lang="zh-CN" altLang="en-US" sz="1800" b="1" dirty="0">
                <a:latin typeface="宋体" panose="02010600030101010101" pitchFamily="2" charset="-122"/>
              </a:rPr>
              <a:t>测量的误收与误废</a:t>
            </a:r>
            <a:r>
              <a:rPr lang="zh-CN" altLang="en-US" sz="1800" b="1" dirty="0"/>
              <a:t> </a:t>
            </a:r>
          </a:p>
        </p:txBody>
      </p:sp>
      <p:sp>
        <p:nvSpPr>
          <p:cNvPr id="20508" name="Text Box 28"/>
          <p:cNvSpPr txBox="1">
            <a:spLocks noChangeArrowheads="1"/>
          </p:cNvSpPr>
          <p:nvPr/>
        </p:nvSpPr>
        <p:spPr bwMode="auto">
          <a:xfrm>
            <a:off x="532831" y="2080994"/>
            <a:ext cx="3981086" cy="359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b="1" dirty="0"/>
              <a:t>    </a:t>
            </a:r>
            <a:r>
              <a:rPr lang="zh-CN" altLang="en-US" sz="1800" b="1" dirty="0"/>
              <a:t>若按最大、最小极限尺寸</a:t>
            </a:r>
            <a:r>
              <a:rPr lang="zh-CN" altLang="en-US" sz="1800" b="1" dirty="0" smtClean="0"/>
              <a:t>验收</a:t>
            </a:r>
            <a:endParaRPr lang="zh-CN" altLang="en-US" sz="1800" b="1" dirty="0"/>
          </a:p>
        </p:txBody>
      </p:sp>
      <p:sp>
        <p:nvSpPr>
          <p:cNvPr id="20509" name="Text Box 29"/>
          <p:cNvSpPr txBox="1">
            <a:spLocks noChangeArrowheads="1"/>
          </p:cNvSpPr>
          <p:nvPr/>
        </p:nvSpPr>
        <p:spPr bwMode="auto">
          <a:xfrm>
            <a:off x="429849" y="2868819"/>
            <a:ext cx="3653474" cy="74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 b="1" dirty="0"/>
              <a:t>   ∴ </a:t>
            </a:r>
            <a:r>
              <a:rPr lang="zh-CN" altLang="en-US" sz="1800" b="1" dirty="0"/>
              <a:t>有可能将公差带内的合格品误判为废品， 即“</a:t>
            </a:r>
            <a:r>
              <a:rPr lang="zh-CN" altLang="en-US" sz="1800" b="1" dirty="0">
                <a:solidFill>
                  <a:srgbClr val="FF0000"/>
                </a:solidFill>
              </a:rPr>
              <a:t>误废</a:t>
            </a:r>
            <a:r>
              <a:rPr lang="zh-CN" altLang="en-US" sz="1800" b="1" dirty="0"/>
              <a:t>”；   </a:t>
            </a:r>
          </a:p>
        </p:txBody>
      </p:sp>
      <p:sp>
        <p:nvSpPr>
          <p:cNvPr id="20512" name="Text Box 32"/>
          <p:cNvSpPr txBox="1">
            <a:spLocks noChangeArrowheads="1"/>
          </p:cNvSpPr>
          <p:nvPr/>
        </p:nvSpPr>
        <p:spPr bwMode="auto">
          <a:xfrm>
            <a:off x="427422" y="3625391"/>
            <a:ext cx="3500589" cy="74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 b="1" dirty="0"/>
              <a:t>    </a:t>
            </a:r>
            <a:r>
              <a:rPr lang="zh-CN" altLang="en-US" sz="1800" b="1" dirty="0"/>
              <a:t>也可能将公差带外的不合格品误判为合格品，即“</a:t>
            </a:r>
            <a:r>
              <a:rPr lang="zh-CN" altLang="en-US" sz="1800" b="1" dirty="0">
                <a:solidFill>
                  <a:srgbClr val="FF0000"/>
                </a:solidFill>
              </a:rPr>
              <a:t>误收</a:t>
            </a:r>
            <a:r>
              <a:rPr lang="zh-CN" altLang="en-US" sz="1800" b="1" dirty="0"/>
              <a:t>”。</a:t>
            </a:r>
          </a:p>
        </p:txBody>
      </p:sp>
      <p:pic>
        <p:nvPicPr>
          <p:cNvPr id="52241" name="Picture 1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40749" y="1721079"/>
            <a:ext cx="4481464" cy="2751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17" name="Text Box 37"/>
          <p:cNvSpPr txBox="1">
            <a:spLocks noChangeArrowheads="1"/>
          </p:cNvSpPr>
          <p:nvPr/>
        </p:nvSpPr>
        <p:spPr bwMode="auto">
          <a:xfrm>
            <a:off x="602854" y="2501292"/>
            <a:ext cx="2707191" cy="359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b="1" dirty="0" smtClean="0"/>
              <a:t>∵ </a:t>
            </a:r>
            <a:r>
              <a:rPr lang="zh-CN" altLang="en-US" sz="1800" b="1" dirty="0" smtClean="0"/>
              <a:t>测量误差</a:t>
            </a:r>
            <a:r>
              <a:rPr lang="zh-CN" altLang="en-US" sz="1800" b="1" dirty="0"/>
              <a:t>的存在，</a:t>
            </a:r>
          </a:p>
        </p:txBody>
      </p:sp>
      <p:graphicFrame>
        <p:nvGraphicFramePr>
          <p:cNvPr id="20518" name="Object 38"/>
          <p:cNvGraphicFramePr>
            <a:graphicFrameLocks noChangeAspect="1"/>
          </p:cNvGraphicFramePr>
          <p:nvPr/>
        </p:nvGraphicFramePr>
        <p:xfrm>
          <a:off x="845736" y="1289617"/>
          <a:ext cx="5526264" cy="368892"/>
        </p:xfrm>
        <a:graphic>
          <a:graphicData uri="http://schemas.openxmlformats.org/presentationml/2006/ole">
            <p:oleObj spid="_x0000_s49154" name="Equation" r:id="rId4" imgW="71628000" imgH="5791200" progId="Equation.DSMT4">
              <p:embed/>
            </p:oleObj>
          </a:graphicData>
        </a:graphic>
      </p:graphicFrame>
      <p:sp>
        <p:nvSpPr>
          <p:cNvPr id="20520" name="Text Box 40"/>
          <p:cNvSpPr txBox="1">
            <a:spLocks noChangeArrowheads="1"/>
          </p:cNvSpPr>
          <p:nvPr/>
        </p:nvSpPr>
        <p:spPr bwMode="auto">
          <a:xfrm>
            <a:off x="776064" y="1660302"/>
            <a:ext cx="4242791" cy="359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b="1" dirty="0"/>
              <a:t>千分尺的 </a:t>
            </a:r>
            <a:r>
              <a:rPr lang="en-US" altLang="zh-CN" sz="1800" b="1" i="1" dirty="0" err="1"/>
              <a:t>i</a:t>
            </a:r>
            <a:r>
              <a:rPr lang="en-US" altLang="zh-CN" sz="1800" b="1" i="1" dirty="0"/>
              <a:t> =  </a:t>
            </a:r>
            <a:r>
              <a:rPr lang="en-US" altLang="zh-CN" sz="1800" b="1" dirty="0" smtClean="0"/>
              <a:t>0.01um, </a:t>
            </a:r>
            <a:r>
              <a:rPr lang="en-US" altLang="zh-CN" sz="1800" b="1" i="1" dirty="0"/>
              <a:t>u</a:t>
            </a:r>
            <a:r>
              <a:rPr lang="en-US" altLang="zh-CN" sz="1800" b="1" baseline="-25000" dirty="0"/>
              <a:t>1</a:t>
            </a:r>
            <a:r>
              <a:rPr lang="en-US" altLang="zh-CN" sz="1800" b="1" dirty="0"/>
              <a:t>=±0.004</a:t>
            </a:r>
            <a:r>
              <a:rPr lang="zh-CN" altLang="en-US" sz="1800" b="1" dirty="0"/>
              <a:t>。</a:t>
            </a:r>
          </a:p>
        </p:txBody>
      </p:sp>
      <p:sp>
        <p:nvSpPr>
          <p:cNvPr id="20521" name="Rectangle 41"/>
          <p:cNvSpPr>
            <a:spLocks noChangeArrowheads="1"/>
          </p:cNvSpPr>
          <p:nvPr/>
        </p:nvSpPr>
        <p:spPr bwMode="auto">
          <a:xfrm>
            <a:off x="6604405" y="2773844"/>
            <a:ext cx="634595" cy="475623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258" tIns="31629" rIns="63258" bIns="31629" anchor="ctr"/>
          <a:lstStyle/>
          <a:p>
            <a:endParaRPr lang="zh-CN" altLang="en-US" sz="2000"/>
          </a:p>
        </p:txBody>
      </p:sp>
      <p:sp>
        <p:nvSpPr>
          <p:cNvPr id="20522" name="Rectangle 42"/>
          <p:cNvSpPr>
            <a:spLocks noChangeArrowheads="1"/>
          </p:cNvSpPr>
          <p:nvPr/>
        </p:nvSpPr>
        <p:spPr bwMode="auto">
          <a:xfrm>
            <a:off x="6807039" y="1611104"/>
            <a:ext cx="634596" cy="476564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1628" tIns="40814" rIns="81628" bIns="40814" anchor="ctr"/>
          <a:lstStyle/>
          <a:p>
            <a:pPr algn="ctr" defTabSz="815975"/>
            <a:endParaRPr lang="zh-CN" altLang="zh-CN" sz="2100" b="1" dirty="0"/>
          </a:p>
        </p:txBody>
      </p:sp>
      <p:sp>
        <p:nvSpPr>
          <p:cNvPr id="20523" name="Rectangle 43"/>
          <p:cNvSpPr>
            <a:spLocks noChangeArrowheads="1"/>
          </p:cNvSpPr>
          <p:nvPr/>
        </p:nvSpPr>
        <p:spPr bwMode="auto">
          <a:xfrm>
            <a:off x="6985405" y="4103930"/>
            <a:ext cx="634595" cy="476564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1628" tIns="40814" rIns="81628" bIns="40814" anchor="ctr"/>
          <a:lstStyle/>
          <a:p>
            <a:pPr algn="ctr" defTabSz="815975"/>
            <a:endParaRPr lang="zh-CN" altLang="zh-CN" sz="2100" b="1" dirty="0"/>
          </a:p>
        </p:txBody>
      </p:sp>
      <p:sp>
        <p:nvSpPr>
          <p:cNvPr id="20524" name="Rectangle 44"/>
          <p:cNvSpPr>
            <a:spLocks noChangeArrowheads="1"/>
          </p:cNvSpPr>
          <p:nvPr/>
        </p:nvSpPr>
        <p:spPr bwMode="auto">
          <a:xfrm>
            <a:off x="8051962" y="2830241"/>
            <a:ext cx="634596" cy="476563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258" tIns="31629" rIns="63258" bIns="31629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2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20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2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2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0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"/>
                                        <p:tgtEl>
                                          <p:spTgt spid="20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0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0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 autoUpdateAnimBg="0"/>
      <p:bldP spid="20486" grpId="0" autoUpdateAnimBg="0"/>
      <p:bldP spid="20487" grpId="0" autoUpdateAnimBg="0"/>
      <p:bldP spid="20508" grpId="0" autoUpdateAnimBg="0"/>
      <p:bldP spid="20509" grpId="0" autoUpdateAnimBg="0"/>
      <p:bldP spid="20512" grpId="0" autoUpdateAnimBg="0"/>
      <p:bldP spid="20517" grpId="0" autoUpdateAnimBg="0"/>
      <p:bldP spid="20520" grpId="0" autoUpdateAnimBg="0"/>
      <p:bldP spid="20521" grpId="0" animBg="1"/>
      <p:bldP spid="20522" grpId="0" animBg="1" autoUpdateAnimBg="0"/>
      <p:bldP spid="20523" grpId="0" animBg="1" autoUpdateAnimBg="0"/>
      <p:bldP spid="205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529032" y="75921"/>
            <a:ext cx="7774099" cy="420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200" b="1" dirty="0"/>
              <a:t>2. </a:t>
            </a:r>
            <a:r>
              <a:rPr lang="zh-CN" altLang="en-US" sz="2200" b="1" dirty="0"/>
              <a:t>验收原则、</a:t>
            </a:r>
            <a:r>
              <a:rPr lang="zh-CN" altLang="en-US" sz="2200" b="1" dirty="0">
                <a:latin typeface="宋体" panose="02010600030101010101" pitchFamily="2" charset="-122"/>
              </a:rPr>
              <a:t>安全裕度和验收极限</a:t>
            </a:r>
            <a:r>
              <a:rPr lang="zh-CN" altLang="en-US" sz="2200" b="1" dirty="0"/>
              <a:t> </a:t>
            </a:r>
          </a:p>
        </p:txBody>
      </p:sp>
      <p:sp>
        <p:nvSpPr>
          <p:cNvPr id="21522" name="Text Box 18"/>
          <p:cNvSpPr txBox="1">
            <a:spLocks noChangeArrowheads="1"/>
          </p:cNvSpPr>
          <p:nvPr/>
        </p:nvSpPr>
        <p:spPr bwMode="auto">
          <a:xfrm>
            <a:off x="491418" y="1031926"/>
            <a:ext cx="8334678" cy="416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000" b="1" dirty="0"/>
              <a:t> </a:t>
            </a:r>
            <a:r>
              <a:rPr lang="zh-CN" altLang="en-US" sz="2000" b="1" dirty="0"/>
              <a:t>原则上只接受公差带内的工件，即只允许误废，</a:t>
            </a:r>
            <a:r>
              <a:rPr lang="zh-CN" altLang="en-US" sz="2000" b="1" dirty="0">
                <a:solidFill>
                  <a:srgbClr val="FF0000"/>
                </a:solidFill>
              </a:rPr>
              <a:t>不允许有误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收</a:t>
            </a:r>
            <a:r>
              <a:rPr lang="zh-CN" altLang="en-US" sz="2000" b="1" dirty="0" smtClean="0"/>
              <a:t>。</a:t>
            </a:r>
            <a:endParaRPr lang="zh-CN" altLang="en-US" sz="2000" b="1" dirty="0"/>
          </a:p>
        </p:txBody>
      </p:sp>
      <p:sp>
        <p:nvSpPr>
          <p:cNvPr id="21540" name="Text Box 36"/>
          <p:cNvSpPr txBox="1">
            <a:spLocks noChangeArrowheads="1"/>
          </p:cNvSpPr>
          <p:nvPr/>
        </p:nvSpPr>
        <p:spPr bwMode="auto">
          <a:xfrm>
            <a:off x="709825" y="2729021"/>
            <a:ext cx="4002852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/>
              <a:t>式中</a:t>
            </a:r>
            <a:r>
              <a:rPr lang="en-US" altLang="zh-CN" sz="2000" b="1" i="1" dirty="0"/>
              <a:t>u</a:t>
            </a:r>
            <a:r>
              <a:rPr lang="en-US" altLang="zh-CN" sz="2000" b="1" baseline="-25000" dirty="0"/>
              <a:t>1</a:t>
            </a:r>
            <a:r>
              <a:rPr lang="en-US" altLang="zh-CN" sz="2000" b="1" dirty="0">
                <a:cs typeface="Times New Roman" panose="02020603050405020304" pitchFamily="18" charset="0"/>
              </a:rPr>
              <a:t>—</a:t>
            </a:r>
            <a:r>
              <a:rPr lang="zh-CN" altLang="en-US" sz="2000" b="1" dirty="0"/>
              <a:t>计量器具的不确定度；</a:t>
            </a:r>
          </a:p>
        </p:txBody>
      </p:sp>
      <p:sp>
        <p:nvSpPr>
          <p:cNvPr id="21541" name="Text Box 37"/>
          <p:cNvSpPr txBox="1">
            <a:spLocks noChangeArrowheads="1"/>
          </p:cNvSpPr>
          <p:nvPr/>
        </p:nvSpPr>
        <p:spPr bwMode="auto">
          <a:xfrm>
            <a:off x="1157561" y="3204189"/>
            <a:ext cx="3459952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/>
              <a:t> </a:t>
            </a:r>
            <a:r>
              <a:rPr lang="en-US" altLang="zh-CN" sz="2000" b="1" i="1" dirty="0"/>
              <a:t>u</a:t>
            </a:r>
            <a:r>
              <a:rPr lang="en-US" altLang="zh-CN" sz="2000" b="1" baseline="-25000" dirty="0"/>
              <a:t>2</a:t>
            </a:r>
            <a:r>
              <a:rPr lang="en-US" altLang="zh-CN" sz="2000" b="1" dirty="0">
                <a:cs typeface="Times New Roman" panose="02020603050405020304" pitchFamily="18" charset="0"/>
              </a:rPr>
              <a:t>—</a:t>
            </a:r>
            <a:r>
              <a:rPr lang="zh-CN" altLang="en-US" sz="2000" b="1" dirty="0"/>
              <a:t>测量条件的不确定度。</a:t>
            </a:r>
          </a:p>
        </p:txBody>
      </p:sp>
      <p:sp>
        <p:nvSpPr>
          <p:cNvPr id="21607" name="Rectangle 103"/>
          <p:cNvSpPr>
            <a:spLocks noChangeArrowheads="1"/>
          </p:cNvSpPr>
          <p:nvPr/>
        </p:nvSpPr>
        <p:spPr bwMode="auto">
          <a:xfrm>
            <a:off x="358443" y="660173"/>
            <a:ext cx="4339032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/>
          <a:p>
            <a:pPr defTabSz="815975"/>
            <a:r>
              <a:rPr lang="zh-CN" altLang="en-US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</a:t>
            </a:r>
            <a:r>
              <a:rPr lang="zh-CN" altLang="en-US" sz="2000" b="1" dirty="0">
                <a:solidFill>
                  <a:srgbClr val="FF0000"/>
                </a:solidFill>
              </a:rPr>
              <a:t>验收原则</a:t>
            </a:r>
            <a:r>
              <a:rPr lang="zh-CN" altLang="en-US" sz="2000" dirty="0"/>
              <a:t>：</a:t>
            </a:r>
          </a:p>
        </p:txBody>
      </p:sp>
      <p:pic>
        <p:nvPicPr>
          <p:cNvPr id="21609" name="Picture 10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82207" y="1532855"/>
            <a:ext cx="2095599" cy="2678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610" name="Line 106"/>
          <p:cNvSpPr>
            <a:spLocks noChangeShapeType="1"/>
          </p:cNvSpPr>
          <p:nvPr/>
        </p:nvSpPr>
        <p:spPr bwMode="auto">
          <a:xfrm>
            <a:off x="8069948" y="1856197"/>
            <a:ext cx="0" cy="191842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258" tIns="31629" rIns="63258" bIns="31629"/>
          <a:lstStyle/>
          <a:p>
            <a:endParaRPr lang="zh-CN" altLang="en-US" sz="2000"/>
          </a:p>
        </p:txBody>
      </p:sp>
      <p:sp>
        <p:nvSpPr>
          <p:cNvPr id="21611" name="Text Box 107"/>
          <p:cNvSpPr txBox="1">
            <a:spLocks noChangeArrowheads="1"/>
          </p:cNvSpPr>
          <p:nvPr/>
        </p:nvSpPr>
        <p:spPr bwMode="auto">
          <a:xfrm>
            <a:off x="359153" y="1480711"/>
            <a:ext cx="3612219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 smtClean="0"/>
              <a:t>（</a:t>
            </a:r>
            <a:r>
              <a:rPr lang="en-US" altLang="zh-CN" sz="2000" b="1" dirty="0" smtClean="0"/>
              <a:t>2</a:t>
            </a:r>
            <a:r>
              <a:rPr lang="zh-CN" altLang="en-US" sz="2000" b="1" dirty="0" smtClean="0"/>
              <a:t>）</a:t>
            </a:r>
            <a:r>
              <a:rPr lang="en-US" altLang="zh-CN" sz="2000" dirty="0" smtClean="0"/>
              <a:t> </a:t>
            </a:r>
            <a:r>
              <a:rPr lang="zh-CN" altLang="en-US" sz="2000" b="1" dirty="0">
                <a:solidFill>
                  <a:srgbClr val="FF0000"/>
                </a:solidFill>
              </a:rPr>
              <a:t>安全裕度</a:t>
            </a:r>
            <a:r>
              <a:rPr lang="en-US" altLang="zh-CN" sz="2000" b="1" i="1" dirty="0"/>
              <a:t>A</a:t>
            </a:r>
          </a:p>
        </p:txBody>
      </p:sp>
      <p:graphicFrame>
        <p:nvGraphicFramePr>
          <p:cNvPr id="21613" name="Object 109"/>
          <p:cNvGraphicFramePr>
            <a:graphicFrameLocks noChangeAspect="1"/>
          </p:cNvGraphicFramePr>
          <p:nvPr/>
        </p:nvGraphicFramePr>
        <p:xfrm>
          <a:off x="862173" y="1985810"/>
          <a:ext cx="4365726" cy="636357"/>
        </p:xfrm>
        <a:graphic>
          <a:graphicData uri="http://schemas.openxmlformats.org/presentationml/2006/ole">
            <p:oleObj spid="_x0000_s65539" name="Equation" r:id="rId5" imgW="35661600" imgH="6705600" progId="">
              <p:embed/>
            </p:oleObj>
          </a:graphicData>
        </a:graphic>
      </p:graphicFrame>
      <p:graphicFrame>
        <p:nvGraphicFramePr>
          <p:cNvPr id="21614" name="Object 110"/>
          <p:cNvGraphicFramePr>
            <a:graphicFrameLocks noChangeAspect="1"/>
          </p:cNvGraphicFramePr>
          <p:nvPr/>
        </p:nvGraphicFramePr>
        <p:xfrm>
          <a:off x="1270694" y="3692910"/>
          <a:ext cx="3330269" cy="388064"/>
        </p:xfrm>
        <a:graphic>
          <a:graphicData uri="http://schemas.openxmlformats.org/presentationml/2006/ole">
            <p:oleObj spid="_x0000_s65540" name="公式" r:id="rId6" imgW="34442400" imgH="5181600" progId="">
              <p:embed/>
            </p:oleObj>
          </a:graphicData>
        </a:graphic>
      </p:graphicFrame>
      <p:sp>
        <p:nvSpPr>
          <p:cNvPr id="21616" name="Text Box 112"/>
          <p:cNvSpPr txBox="1">
            <a:spLocks noChangeArrowheads="1"/>
          </p:cNvSpPr>
          <p:nvPr/>
        </p:nvSpPr>
        <p:spPr bwMode="auto">
          <a:xfrm>
            <a:off x="1206099" y="4118629"/>
            <a:ext cx="3862408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/>
              <a:t>由表</a:t>
            </a:r>
            <a:r>
              <a:rPr lang="en-US" altLang="zh-CN" sz="2000" b="1" dirty="0" smtClean="0"/>
              <a:t>3.18</a:t>
            </a:r>
            <a:r>
              <a:rPr lang="zh-CN" altLang="en-US" sz="2000" b="1" dirty="0" smtClean="0"/>
              <a:t>查得</a:t>
            </a:r>
            <a:r>
              <a:rPr lang="zh-CN" altLang="en-US" sz="2000" b="1" dirty="0"/>
              <a:t>图中</a:t>
            </a:r>
            <a:r>
              <a:rPr lang="en-US" altLang="zh-CN" sz="2000" b="1" i="1" dirty="0"/>
              <a:t>A</a:t>
            </a:r>
            <a:r>
              <a:rPr lang="zh-CN" altLang="en-US" sz="2000" b="1" dirty="0"/>
              <a:t>为</a:t>
            </a:r>
            <a:r>
              <a:rPr lang="en-US" altLang="zh-CN" sz="2000" b="1" i="1" dirty="0"/>
              <a:t>A </a:t>
            </a:r>
            <a:r>
              <a:rPr lang="en-US" altLang="zh-CN" sz="2000" b="1" dirty="0"/>
              <a:t>= 0.0062</a:t>
            </a:r>
            <a:r>
              <a:rPr lang="zh-CN" altLang="en-US" sz="2000" b="1" dirty="0"/>
              <a:t>。</a:t>
            </a:r>
          </a:p>
        </p:txBody>
      </p: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496363" y="1667217"/>
            <a:ext cx="5211449" cy="39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600"/>
              </a:lnSpc>
              <a:spcBef>
                <a:spcPct val="50000"/>
              </a:spcBef>
            </a:pPr>
            <a:r>
              <a:rPr lang="zh-CN" altLang="en-US" sz="2000" b="1" dirty="0"/>
              <a:t>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21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21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"/>
                                        <p:tgtEl>
                                          <p:spTgt spid="21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"/>
                                        <p:tgtEl>
                                          <p:spTgt spid="2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00"/>
                                        <p:tgtEl>
                                          <p:spTgt spid="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300"/>
                                        <p:tgtEl>
                                          <p:spTgt spid="21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utoUpdateAnimBg="0"/>
      <p:bldP spid="21522" grpId="0" autoUpdateAnimBg="0"/>
      <p:bldP spid="21540" grpId="0" autoUpdateAnimBg="0"/>
      <p:bldP spid="21541" grpId="0" autoUpdateAnimBg="0"/>
      <p:bldP spid="21607" grpId="0" autoUpdateAnimBg="0"/>
      <p:bldP spid="21610" grpId="0" animBg="1"/>
      <p:bldP spid="21611" grpId="0" autoUpdateAnimBg="0"/>
      <p:bldP spid="21616" grpId="0" autoUpdateAnimBg="0"/>
      <p:bldP spid="15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374" name="Object 6"/>
          <p:cNvGraphicFramePr>
            <a:graphicFrameLocks noChangeAspect="1"/>
          </p:cNvGraphicFramePr>
          <p:nvPr/>
        </p:nvGraphicFramePr>
        <p:xfrm>
          <a:off x="1417837" y="560335"/>
          <a:ext cx="5198117" cy="387313"/>
        </p:xfrm>
        <a:graphic>
          <a:graphicData uri="http://schemas.openxmlformats.org/presentationml/2006/ole">
            <p:oleObj spid="_x0000_s66563" name="Equation" r:id="rId3" imgW="52120800" imgH="5181600" progId="">
              <p:embed/>
            </p:oleObj>
          </a:graphicData>
        </a:graphic>
      </p:graphicFrame>
      <p:graphicFrame>
        <p:nvGraphicFramePr>
          <p:cNvPr id="58375" name="Object 7"/>
          <p:cNvGraphicFramePr>
            <a:graphicFrameLocks noChangeAspect="1"/>
          </p:cNvGraphicFramePr>
          <p:nvPr/>
        </p:nvGraphicFramePr>
        <p:xfrm>
          <a:off x="2805263" y="879875"/>
          <a:ext cx="3027462" cy="379052"/>
        </p:xfrm>
        <a:graphic>
          <a:graphicData uri="http://schemas.openxmlformats.org/presentationml/2006/ole">
            <p:oleObj spid="_x0000_s66564" name="Equation" r:id="rId4" imgW="30175200" imgH="4876800" progId="">
              <p:embed/>
            </p:oleObj>
          </a:graphicData>
        </a:graphic>
      </p:graphicFrame>
      <p:grpSp>
        <p:nvGrpSpPr>
          <p:cNvPr id="58384" name="Group 16"/>
          <p:cNvGrpSpPr/>
          <p:nvPr/>
        </p:nvGrpSpPr>
        <p:grpSpPr bwMode="auto">
          <a:xfrm>
            <a:off x="651584" y="1242170"/>
            <a:ext cx="8204843" cy="3244768"/>
            <a:chOff x="381" y="1203"/>
            <a:chExt cx="6762" cy="3452"/>
          </a:xfrm>
        </p:grpSpPr>
        <p:grpSp>
          <p:nvGrpSpPr>
            <p:cNvPr id="54280" name="Group 12"/>
            <p:cNvGrpSpPr/>
            <p:nvPr/>
          </p:nvGrpSpPr>
          <p:grpSpPr bwMode="auto">
            <a:xfrm>
              <a:off x="381" y="1248"/>
              <a:ext cx="6762" cy="3407"/>
              <a:chOff x="489" y="1236"/>
              <a:chExt cx="6762" cy="3407"/>
            </a:xfrm>
          </p:grpSpPr>
          <p:pic>
            <p:nvPicPr>
              <p:cNvPr id="54282" name="Picture 4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9" y="1236"/>
                <a:ext cx="6762" cy="34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54283" name="Rectangle 10"/>
              <p:cNvSpPr>
                <a:spLocks noChangeArrowheads="1"/>
              </p:cNvSpPr>
              <p:nvPr/>
            </p:nvSpPr>
            <p:spPr bwMode="auto">
              <a:xfrm>
                <a:off x="612" y="2100"/>
                <a:ext cx="888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zh-CN" altLang="en-US" sz="1200" b="1" dirty="0"/>
                  <a:t>公称尺寸</a:t>
                </a:r>
              </a:p>
              <a:p>
                <a:pPr algn="r"/>
                <a:r>
                  <a:rPr lang="en-US" altLang="zh-CN" sz="1200" b="1" dirty="0"/>
                  <a:t>/mm</a:t>
                </a:r>
              </a:p>
            </p:txBody>
          </p:sp>
          <p:sp>
            <p:nvSpPr>
              <p:cNvPr id="54284" name="Text Box 11"/>
              <p:cNvSpPr txBox="1">
                <a:spLocks noChangeArrowheads="1"/>
              </p:cNvSpPr>
              <p:nvPr/>
            </p:nvSpPr>
            <p:spPr bwMode="auto">
              <a:xfrm>
                <a:off x="4614" y="1462"/>
                <a:ext cx="2624" cy="36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</a:pPr>
                <a:r>
                  <a:rPr lang="zh-CN" altLang="en-US" sz="1600" b="1" dirty="0"/>
                  <a:t>（摘自</a:t>
                </a:r>
                <a:r>
                  <a:rPr lang="en-US" altLang="zh-CN" sz="1600" b="1" dirty="0"/>
                  <a:t>GB/T3177-2009)</a:t>
                </a:r>
              </a:p>
            </p:txBody>
          </p:sp>
        </p:grpSp>
        <p:sp>
          <p:nvSpPr>
            <p:cNvPr id="54281" name="Text Box 15"/>
            <p:cNvSpPr txBox="1">
              <a:spLocks noChangeArrowheads="1"/>
            </p:cNvSpPr>
            <p:nvPr/>
          </p:nvSpPr>
          <p:spPr bwMode="auto">
            <a:xfrm>
              <a:off x="1048" y="1203"/>
              <a:ext cx="1184" cy="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/>
              <a:r>
                <a:rPr lang="zh-CN" altLang="en-US" sz="1600" b="1" dirty="0"/>
                <a:t>表</a:t>
              </a:r>
              <a:r>
                <a:rPr lang="en-US" altLang="zh-CN" sz="1600" b="1" dirty="0"/>
                <a:t>3.18</a:t>
              </a:r>
            </a:p>
          </p:txBody>
        </p:sp>
      </p:grpSp>
      <p:sp>
        <p:nvSpPr>
          <p:cNvPr id="58386" name="Line 18"/>
          <p:cNvSpPr>
            <a:spLocks noChangeShapeType="1"/>
          </p:cNvSpPr>
          <p:nvPr/>
        </p:nvSpPr>
        <p:spPr bwMode="auto">
          <a:xfrm>
            <a:off x="957354" y="3855463"/>
            <a:ext cx="7747404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258" tIns="31629" rIns="63258" bIns="31629"/>
          <a:lstStyle/>
          <a:p>
            <a:endParaRPr lang="zh-CN" altLang="en-US"/>
          </a:p>
        </p:txBody>
      </p:sp>
      <p:sp>
        <p:nvSpPr>
          <p:cNvPr id="58387" name="Rectangle 19"/>
          <p:cNvSpPr>
            <a:spLocks noChangeArrowheads="1"/>
          </p:cNvSpPr>
          <p:nvPr/>
        </p:nvSpPr>
        <p:spPr bwMode="auto">
          <a:xfrm>
            <a:off x="7041220" y="3678750"/>
            <a:ext cx="809321" cy="20303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258" tIns="31629" rIns="63258" bIns="31629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8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8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8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8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8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86" grpId="0" animBg="1"/>
      <p:bldP spid="5838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65" name="Text Box 45"/>
          <p:cNvSpPr txBox="1">
            <a:spLocks noChangeArrowheads="1"/>
          </p:cNvSpPr>
          <p:nvPr/>
        </p:nvSpPr>
        <p:spPr bwMode="auto">
          <a:xfrm>
            <a:off x="732348" y="1293566"/>
            <a:ext cx="2892152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 smtClean="0">
                <a:latin typeface="宋体" panose="02010600030101010101" pitchFamily="2" charset="-122"/>
              </a:rPr>
              <a:t>孔、轴尺寸的验收极限：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56366" name="Text Box 46"/>
          <p:cNvSpPr txBox="1">
            <a:spLocks noChangeArrowheads="1"/>
          </p:cNvSpPr>
          <p:nvPr/>
        </p:nvSpPr>
        <p:spPr bwMode="auto">
          <a:xfrm>
            <a:off x="835082" y="1803069"/>
            <a:ext cx="2305323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</a:rPr>
              <a:t>上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验收极限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56367" name="Text Box 47"/>
          <p:cNvSpPr txBox="1">
            <a:spLocks noChangeArrowheads="1"/>
          </p:cNvSpPr>
          <p:nvPr/>
        </p:nvSpPr>
        <p:spPr bwMode="auto">
          <a:xfrm>
            <a:off x="454780" y="2186778"/>
            <a:ext cx="3558650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上极限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尺寸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(</a:t>
            </a:r>
            <a:r>
              <a:rPr lang="en-US" altLang="zh-CN" sz="2000" b="1" dirty="0" err="1" smtClean="0">
                <a:solidFill>
                  <a:srgbClr val="FF0000"/>
                </a:solidFill>
              </a:rPr>
              <a:t>D</a:t>
            </a:r>
            <a:r>
              <a:rPr lang="en-US" altLang="zh-CN" sz="2000" b="1" baseline="-25000" dirty="0" err="1" smtClean="0">
                <a:solidFill>
                  <a:srgbClr val="FF0000"/>
                </a:solidFill>
              </a:rPr>
              <a:t>max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、</a:t>
            </a:r>
            <a:r>
              <a:rPr lang="en-US" altLang="zh-CN" sz="2000" b="1" dirty="0" err="1" smtClean="0">
                <a:solidFill>
                  <a:srgbClr val="FF0000"/>
                </a:solidFill>
              </a:rPr>
              <a:t>d</a:t>
            </a:r>
            <a:r>
              <a:rPr lang="en-US" altLang="zh-CN" sz="2000" b="1" baseline="-25000" dirty="0" err="1" smtClean="0">
                <a:solidFill>
                  <a:srgbClr val="FF0000"/>
                </a:solidFill>
              </a:rPr>
              <a:t>max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)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–  </a:t>
            </a:r>
            <a:r>
              <a:rPr lang="en-US" altLang="zh-CN" sz="2000" b="1" i="1" dirty="0">
                <a:solidFill>
                  <a:srgbClr val="FF0000"/>
                </a:solidFill>
              </a:rPr>
              <a:t>A</a:t>
            </a:r>
            <a:endParaRPr lang="en-US" altLang="zh-CN" sz="2000" b="1" dirty="0">
              <a:solidFill>
                <a:srgbClr val="FF0000"/>
              </a:solidFill>
            </a:endParaRPr>
          </a:p>
        </p:txBody>
      </p:sp>
      <p:sp>
        <p:nvSpPr>
          <p:cNvPr id="56368" name="Text Box 48"/>
          <p:cNvSpPr txBox="1">
            <a:spLocks noChangeArrowheads="1"/>
          </p:cNvSpPr>
          <p:nvPr/>
        </p:nvSpPr>
        <p:spPr bwMode="auto">
          <a:xfrm>
            <a:off x="885765" y="2650789"/>
            <a:ext cx="2933943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</a:rPr>
              <a:t>下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验收极限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56369" name="Text Box 49"/>
          <p:cNvSpPr txBox="1">
            <a:spLocks noChangeArrowheads="1"/>
          </p:cNvSpPr>
          <p:nvPr/>
        </p:nvSpPr>
        <p:spPr bwMode="auto">
          <a:xfrm>
            <a:off x="498921" y="3029789"/>
            <a:ext cx="3762761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en-US" sz="2000" b="1" dirty="0">
                <a:solidFill>
                  <a:srgbClr val="FF0000"/>
                </a:solidFill>
              </a:rPr>
              <a:t>下极限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尺寸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(</a:t>
            </a:r>
            <a:r>
              <a:rPr lang="en-US" altLang="zh-CN" sz="2000" b="1" dirty="0" err="1" smtClean="0">
                <a:solidFill>
                  <a:srgbClr val="FF0000"/>
                </a:solidFill>
              </a:rPr>
              <a:t>D</a:t>
            </a:r>
            <a:r>
              <a:rPr lang="en-US" altLang="zh-CN" sz="2000" b="1" baseline="-25000" dirty="0" err="1" smtClean="0">
                <a:solidFill>
                  <a:srgbClr val="FF0000"/>
                </a:solidFill>
              </a:rPr>
              <a:t>min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、</a:t>
            </a:r>
            <a:r>
              <a:rPr lang="en-US" altLang="zh-CN" sz="2000" b="1" dirty="0" err="1" smtClean="0">
                <a:solidFill>
                  <a:srgbClr val="FF0000"/>
                </a:solidFill>
              </a:rPr>
              <a:t>d</a:t>
            </a:r>
            <a:r>
              <a:rPr lang="en-US" altLang="zh-CN" sz="2000" b="1" baseline="-25000" dirty="0" err="1" smtClean="0">
                <a:solidFill>
                  <a:srgbClr val="FF0000"/>
                </a:solidFill>
              </a:rPr>
              <a:t>min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)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+  </a:t>
            </a:r>
            <a:r>
              <a:rPr lang="en-US" altLang="zh-CN" sz="2000" b="1" i="1" dirty="0">
                <a:solidFill>
                  <a:srgbClr val="FF0000"/>
                </a:solidFill>
              </a:rPr>
              <a:t>A</a:t>
            </a:r>
            <a:endParaRPr lang="en-US" altLang="zh-CN" sz="2000" b="1" dirty="0">
              <a:solidFill>
                <a:srgbClr val="FF0000"/>
              </a:solidFill>
            </a:endParaRPr>
          </a:p>
        </p:txBody>
      </p:sp>
      <p:sp>
        <p:nvSpPr>
          <p:cNvPr id="56373" name="Text Box 53"/>
          <p:cNvSpPr txBox="1">
            <a:spLocks noChangeArrowheads="1"/>
          </p:cNvSpPr>
          <p:nvPr/>
        </p:nvSpPr>
        <p:spPr bwMode="auto">
          <a:xfrm>
            <a:off x="440074" y="72312"/>
            <a:ext cx="3612220" cy="420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b="1" dirty="0"/>
              <a:t>(3</a:t>
            </a:r>
            <a:r>
              <a:rPr lang="en-US" altLang="zh-CN" sz="2200" b="1" dirty="0" smtClean="0"/>
              <a:t>)  </a:t>
            </a:r>
            <a:r>
              <a:rPr lang="zh-CN" altLang="en-US" sz="2200" b="1" dirty="0"/>
              <a:t>验收方法</a:t>
            </a:r>
          </a:p>
        </p:txBody>
      </p:sp>
      <p:sp>
        <p:nvSpPr>
          <p:cNvPr id="56375" name="Text Box 55"/>
          <p:cNvSpPr txBox="1">
            <a:spLocks noChangeArrowheads="1"/>
          </p:cNvSpPr>
          <p:nvPr/>
        </p:nvSpPr>
        <p:spPr bwMode="auto">
          <a:xfrm>
            <a:off x="871264" y="836767"/>
            <a:ext cx="3062561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0000FF"/>
                </a:solidFill>
              </a:rPr>
              <a:t>验收方法</a:t>
            </a:r>
            <a:r>
              <a:rPr lang="en-US" altLang="zh-CN" sz="2000" b="1" dirty="0">
                <a:solidFill>
                  <a:srgbClr val="0000FF"/>
                </a:solidFill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</a:rPr>
              <a:t>：</a:t>
            </a:r>
          </a:p>
        </p:txBody>
      </p:sp>
      <p:sp>
        <p:nvSpPr>
          <p:cNvPr id="56377" name="Text Box 57"/>
          <p:cNvSpPr txBox="1">
            <a:spLocks noChangeArrowheads="1"/>
          </p:cNvSpPr>
          <p:nvPr/>
        </p:nvSpPr>
        <p:spPr bwMode="auto">
          <a:xfrm>
            <a:off x="901260" y="3637615"/>
            <a:ext cx="3513936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0000FF"/>
                </a:solidFill>
              </a:rPr>
              <a:t>验收方法</a:t>
            </a:r>
            <a:r>
              <a:rPr lang="en-US" altLang="zh-CN" sz="2000" b="1" dirty="0">
                <a:solidFill>
                  <a:srgbClr val="0000FF"/>
                </a:solidFill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</a:rPr>
              <a:t>：</a:t>
            </a:r>
          </a:p>
        </p:txBody>
      </p:sp>
      <p:sp>
        <p:nvSpPr>
          <p:cNvPr id="56378" name="Rectangle 58"/>
          <p:cNvSpPr>
            <a:spLocks noChangeArrowheads="1"/>
          </p:cNvSpPr>
          <p:nvPr/>
        </p:nvSpPr>
        <p:spPr bwMode="auto">
          <a:xfrm>
            <a:off x="872018" y="4093854"/>
            <a:ext cx="7804433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/>
          <a:p>
            <a:pPr defTabSz="815975"/>
            <a:r>
              <a:rPr lang="zh-CN" altLang="en-US" sz="2000" b="1" dirty="0"/>
              <a:t>验收极限等于最大实体尺寸（</a:t>
            </a:r>
            <a:r>
              <a:rPr lang="en-US" altLang="zh-CN" sz="2000" b="1" dirty="0"/>
              <a:t>MMS</a:t>
            </a:r>
            <a:r>
              <a:rPr lang="zh-CN" altLang="en-US" sz="2000" b="1" dirty="0"/>
              <a:t>）和</a:t>
            </a:r>
            <a:r>
              <a:rPr lang="zh-CN" altLang="en-US" sz="2000" b="1" dirty="0" smtClean="0"/>
              <a:t>最小实体尺寸（</a:t>
            </a:r>
            <a:r>
              <a:rPr lang="en-US" altLang="zh-CN" sz="2000" b="1" dirty="0" smtClean="0"/>
              <a:t>LMS</a:t>
            </a:r>
            <a:r>
              <a:rPr lang="zh-CN" altLang="en-US" sz="2000" b="1" dirty="0"/>
              <a:t>）。</a:t>
            </a:r>
          </a:p>
        </p:txBody>
      </p:sp>
      <p:grpSp>
        <p:nvGrpSpPr>
          <p:cNvPr id="3" name="组合 2"/>
          <p:cNvGrpSpPr/>
          <p:nvPr/>
        </p:nvGrpSpPr>
        <p:grpSpPr bwMode="auto">
          <a:xfrm>
            <a:off x="4162601" y="872254"/>
            <a:ext cx="4081176" cy="2764444"/>
            <a:chOff x="6201587" y="38884"/>
            <a:chExt cx="5339539" cy="4668054"/>
          </a:xfrm>
        </p:grpSpPr>
        <p:grpSp>
          <p:nvGrpSpPr>
            <p:cNvPr id="55310" name="Group 12"/>
            <p:cNvGrpSpPr/>
            <p:nvPr/>
          </p:nvGrpSpPr>
          <p:grpSpPr bwMode="auto">
            <a:xfrm>
              <a:off x="6201587" y="366713"/>
              <a:ext cx="5339539" cy="4340225"/>
              <a:chOff x="1573" y="2460"/>
              <a:chExt cx="6275" cy="5270"/>
            </a:xfrm>
          </p:grpSpPr>
          <p:sp>
            <p:nvSpPr>
              <p:cNvPr id="55315" name="Text Box 14"/>
              <p:cNvSpPr txBox="1">
                <a:spLocks noChangeArrowheads="1"/>
              </p:cNvSpPr>
              <p:nvPr/>
            </p:nvSpPr>
            <p:spPr bwMode="auto">
              <a:xfrm>
                <a:off x="1573" y="2856"/>
                <a:ext cx="803" cy="2964"/>
              </a:xfrm>
              <a:prstGeom prst="rect">
                <a:avLst/>
              </a:prstGeom>
              <a:solidFill>
                <a:srgbClr val="FF99CC"/>
              </a:solidFill>
              <a:ln w="19050">
                <a:solidFill>
                  <a:srgbClr val="000000"/>
                </a:solidFill>
                <a:miter lim="800000"/>
              </a:ln>
            </p:spPr>
            <p:txBody>
              <a:bodyPr lIns="152259" tIns="76130" rIns="152259" bIns="76130"/>
              <a:lstStyle>
                <a:lvl1pPr defTabSz="117983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defTabSz="117983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defTabSz="117983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defTabSz="117983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defTabSz="117983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defTabSz="117983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defTabSz="117983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defTabSz="117983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defTabSz="117983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endParaRPr kumimoji="0" lang="en-US" altLang="zh-CN" sz="900" dirty="0"/>
              </a:p>
              <a:p>
                <a:pPr algn="just"/>
                <a:endParaRPr kumimoji="0" lang="en-US" altLang="zh-CN" sz="900" dirty="0"/>
              </a:p>
              <a:p>
                <a:pPr algn="just"/>
                <a:endParaRPr kumimoji="0" lang="en-US" altLang="zh-CN" sz="900" dirty="0"/>
              </a:p>
              <a:p>
                <a:pPr algn="just"/>
                <a:endParaRPr kumimoji="0" lang="en-US" altLang="zh-CN" sz="900" dirty="0"/>
              </a:p>
              <a:p>
                <a:pPr algn="just"/>
                <a:r>
                  <a:rPr kumimoji="0" lang="en-US" altLang="zh-CN" sz="1600" i="1" dirty="0"/>
                  <a:t>T</a:t>
                </a:r>
                <a:r>
                  <a:rPr kumimoji="0" lang="en-US" altLang="zh-CN" sz="1200" baseline="-25000" dirty="0"/>
                  <a:t>D</a:t>
                </a:r>
                <a:endParaRPr kumimoji="0" lang="en-US" altLang="zh-CN" sz="1200" dirty="0"/>
              </a:p>
            </p:txBody>
          </p:sp>
          <p:sp>
            <p:nvSpPr>
              <p:cNvPr id="55316" name="Line 15"/>
              <p:cNvSpPr>
                <a:spLocks noChangeShapeType="1"/>
              </p:cNvSpPr>
              <p:nvPr/>
            </p:nvSpPr>
            <p:spPr bwMode="auto">
              <a:xfrm>
                <a:off x="2842" y="3219"/>
                <a:ext cx="173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152259" tIns="76130" rIns="152259" bIns="76130"/>
              <a:lstStyle/>
              <a:p>
                <a:endParaRPr lang="zh-CN" altLang="en-US"/>
              </a:p>
            </p:txBody>
          </p:sp>
          <p:sp>
            <p:nvSpPr>
              <p:cNvPr id="55317" name="Line 16"/>
              <p:cNvSpPr>
                <a:spLocks noChangeShapeType="1"/>
              </p:cNvSpPr>
              <p:nvPr/>
            </p:nvSpPr>
            <p:spPr bwMode="auto">
              <a:xfrm>
                <a:off x="2364" y="2844"/>
                <a:ext cx="9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152259" tIns="76130" rIns="152259" bIns="76130"/>
              <a:lstStyle/>
              <a:p>
                <a:endParaRPr lang="zh-CN" altLang="en-US"/>
              </a:p>
            </p:txBody>
          </p:sp>
          <p:sp>
            <p:nvSpPr>
              <p:cNvPr id="55318" name="Line 17"/>
              <p:cNvSpPr>
                <a:spLocks noChangeShapeType="1"/>
              </p:cNvSpPr>
              <p:nvPr/>
            </p:nvSpPr>
            <p:spPr bwMode="auto">
              <a:xfrm>
                <a:off x="2378" y="5799"/>
                <a:ext cx="9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152259" tIns="76130" rIns="152259" bIns="76130"/>
              <a:lstStyle/>
              <a:p>
                <a:endParaRPr lang="zh-CN" altLang="en-US"/>
              </a:p>
            </p:txBody>
          </p:sp>
          <p:sp>
            <p:nvSpPr>
              <p:cNvPr id="55319" name="Line 18"/>
              <p:cNvSpPr>
                <a:spLocks noChangeShapeType="1"/>
              </p:cNvSpPr>
              <p:nvPr/>
            </p:nvSpPr>
            <p:spPr bwMode="auto">
              <a:xfrm>
                <a:off x="2872" y="5442"/>
                <a:ext cx="974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152259" tIns="76130" rIns="152259" bIns="76130"/>
              <a:lstStyle/>
              <a:p>
                <a:endParaRPr lang="zh-CN" altLang="en-US"/>
              </a:p>
            </p:txBody>
          </p:sp>
          <p:sp>
            <p:nvSpPr>
              <p:cNvPr id="55320" name="Line 20"/>
              <p:cNvSpPr>
                <a:spLocks noChangeShapeType="1"/>
              </p:cNvSpPr>
              <p:nvPr/>
            </p:nvSpPr>
            <p:spPr bwMode="auto">
              <a:xfrm>
                <a:off x="3062" y="2460"/>
                <a:ext cx="0" cy="3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152259" tIns="76130" rIns="152259" bIns="76130"/>
              <a:lstStyle/>
              <a:p>
                <a:endParaRPr lang="zh-CN" altLang="en-US"/>
              </a:p>
            </p:txBody>
          </p:sp>
          <p:sp>
            <p:nvSpPr>
              <p:cNvPr id="55321" name="Line 21"/>
              <p:cNvSpPr>
                <a:spLocks noChangeShapeType="1"/>
              </p:cNvSpPr>
              <p:nvPr/>
            </p:nvSpPr>
            <p:spPr bwMode="auto">
              <a:xfrm>
                <a:off x="3062" y="3210"/>
                <a:ext cx="0" cy="40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152259" tIns="76130" rIns="152259" bIns="76130"/>
              <a:lstStyle/>
              <a:p>
                <a:endParaRPr lang="zh-CN" altLang="en-US"/>
              </a:p>
            </p:txBody>
          </p:sp>
          <p:sp>
            <p:nvSpPr>
              <p:cNvPr id="55322" name="Line 22"/>
              <p:cNvSpPr>
                <a:spLocks noChangeShapeType="1"/>
              </p:cNvSpPr>
              <p:nvPr/>
            </p:nvSpPr>
            <p:spPr bwMode="auto">
              <a:xfrm>
                <a:off x="3062" y="5025"/>
                <a:ext cx="0" cy="40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152259" tIns="76130" rIns="152259" bIns="76130"/>
              <a:lstStyle/>
              <a:p>
                <a:endParaRPr lang="zh-CN" altLang="en-US"/>
              </a:p>
            </p:txBody>
          </p:sp>
          <p:sp>
            <p:nvSpPr>
              <p:cNvPr id="55323" name="Line 23"/>
              <p:cNvSpPr>
                <a:spLocks noChangeShapeType="1"/>
              </p:cNvSpPr>
              <p:nvPr/>
            </p:nvSpPr>
            <p:spPr bwMode="auto">
              <a:xfrm>
                <a:off x="3062" y="5790"/>
                <a:ext cx="0" cy="5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152259" tIns="76130" rIns="152259" bIns="76130"/>
              <a:lstStyle/>
              <a:p>
                <a:endParaRPr lang="zh-CN" altLang="en-US"/>
              </a:p>
            </p:txBody>
          </p:sp>
          <p:sp>
            <p:nvSpPr>
              <p:cNvPr id="55324" name="Line 24"/>
              <p:cNvSpPr>
                <a:spLocks noChangeShapeType="1"/>
              </p:cNvSpPr>
              <p:nvPr/>
            </p:nvSpPr>
            <p:spPr bwMode="auto">
              <a:xfrm>
                <a:off x="3736" y="5445"/>
                <a:ext cx="0" cy="21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152259" tIns="76130" rIns="152259" bIns="76130"/>
              <a:lstStyle/>
              <a:p>
                <a:endParaRPr lang="zh-CN" altLang="en-US"/>
              </a:p>
            </p:txBody>
          </p:sp>
          <p:sp>
            <p:nvSpPr>
              <p:cNvPr id="55325" name="Line 25"/>
              <p:cNvSpPr>
                <a:spLocks noChangeShapeType="1"/>
              </p:cNvSpPr>
              <p:nvPr/>
            </p:nvSpPr>
            <p:spPr bwMode="auto">
              <a:xfrm>
                <a:off x="4186" y="3210"/>
                <a:ext cx="0" cy="232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152259" tIns="76130" rIns="152259" bIns="76130"/>
              <a:lstStyle/>
              <a:p>
                <a:endParaRPr lang="zh-CN" altLang="en-US"/>
              </a:p>
            </p:txBody>
          </p:sp>
          <p:sp>
            <p:nvSpPr>
              <p:cNvPr id="55326" name="Text Box 26"/>
              <p:cNvSpPr txBox="1">
                <a:spLocks noChangeArrowheads="1"/>
              </p:cNvSpPr>
              <p:nvPr/>
            </p:nvSpPr>
            <p:spPr bwMode="auto">
              <a:xfrm>
                <a:off x="4887" y="2856"/>
                <a:ext cx="757" cy="2964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rgbClr val="000000"/>
                </a:solidFill>
                <a:miter lim="800000"/>
              </a:ln>
            </p:spPr>
            <p:txBody>
              <a:bodyPr lIns="152259" tIns="76130" rIns="152259" bIns="76130"/>
              <a:lstStyle>
                <a:lvl1pPr defTabSz="117983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defTabSz="117983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defTabSz="117983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defTabSz="117983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defTabSz="117983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defTabSz="117983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defTabSz="117983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defTabSz="117983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defTabSz="117983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endParaRPr kumimoji="0" lang="en-US" altLang="zh-CN" sz="900" dirty="0"/>
              </a:p>
              <a:p>
                <a:pPr algn="just"/>
                <a:endParaRPr kumimoji="0" lang="en-US" altLang="zh-CN" sz="900" dirty="0"/>
              </a:p>
              <a:p>
                <a:pPr algn="just"/>
                <a:endParaRPr kumimoji="0" lang="en-US" altLang="zh-CN" sz="900" dirty="0"/>
              </a:p>
              <a:p>
                <a:pPr algn="just"/>
                <a:endParaRPr kumimoji="0" lang="en-US" altLang="zh-CN" sz="900" dirty="0"/>
              </a:p>
              <a:p>
                <a:pPr algn="just"/>
                <a:r>
                  <a:rPr kumimoji="0" lang="en-US" altLang="zh-CN" sz="1600" i="1" dirty="0"/>
                  <a:t>T</a:t>
                </a:r>
                <a:r>
                  <a:rPr kumimoji="0" lang="en-US" altLang="zh-CN" sz="1200" baseline="-25000" dirty="0"/>
                  <a:t>d</a:t>
                </a:r>
                <a:endParaRPr kumimoji="0" lang="en-US" altLang="zh-CN" sz="1200" dirty="0"/>
              </a:p>
            </p:txBody>
          </p:sp>
          <p:sp>
            <p:nvSpPr>
              <p:cNvPr id="55327" name="Line 28"/>
              <p:cNvSpPr>
                <a:spLocks noChangeShapeType="1"/>
              </p:cNvSpPr>
              <p:nvPr/>
            </p:nvSpPr>
            <p:spPr bwMode="auto">
              <a:xfrm>
                <a:off x="6110" y="3219"/>
                <a:ext cx="173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152259" tIns="76130" rIns="152259" bIns="76130"/>
              <a:lstStyle/>
              <a:p>
                <a:endParaRPr lang="zh-CN" altLang="en-US"/>
              </a:p>
            </p:txBody>
          </p:sp>
          <p:sp>
            <p:nvSpPr>
              <p:cNvPr id="55328" name="Line 29"/>
              <p:cNvSpPr>
                <a:spLocks noChangeShapeType="1"/>
              </p:cNvSpPr>
              <p:nvPr/>
            </p:nvSpPr>
            <p:spPr bwMode="auto">
              <a:xfrm>
                <a:off x="5632" y="2844"/>
                <a:ext cx="9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152259" tIns="76130" rIns="152259" bIns="76130"/>
              <a:lstStyle/>
              <a:p>
                <a:endParaRPr lang="zh-CN" altLang="en-US"/>
              </a:p>
            </p:txBody>
          </p:sp>
          <p:sp>
            <p:nvSpPr>
              <p:cNvPr id="55329" name="Line 30"/>
              <p:cNvSpPr>
                <a:spLocks noChangeShapeType="1"/>
              </p:cNvSpPr>
              <p:nvPr/>
            </p:nvSpPr>
            <p:spPr bwMode="auto">
              <a:xfrm>
                <a:off x="5646" y="5799"/>
                <a:ext cx="9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152259" tIns="76130" rIns="152259" bIns="76130"/>
              <a:lstStyle/>
              <a:p>
                <a:endParaRPr lang="zh-CN" altLang="en-US"/>
              </a:p>
            </p:txBody>
          </p:sp>
          <p:sp>
            <p:nvSpPr>
              <p:cNvPr id="55330" name="Line 31"/>
              <p:cNvSpPr>
                <a:spLocks noChangeShapeType="1"/>
              </p:cNvSpPr>
              <p:nvPr/>
            </p:nvSpPr>
            <p:spPr bwMode="auto">
              <a:xfrm>
                <a:off x="6140" y="5442"/>
                <a:ext cx="974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152259" tIns="76130" rIns="152259" bIns="76130"/>
              <a:lstStyle/>
              <a:p>
                <a:endParaRPr lang="zh-CN" altLang="en-US"/>
              </a:p>
            </p:txBody>
          </p:sp>
          <p:sp>
            <p:nvSpPr>
              <p:cNvPr id="55331" name="Line 33"/>
              <p:cNvSpPr>
                <a:spLocks noChangeShapeType="1"/>
              </p:cNvSpPr>
              <p:nvPr/>
            </p:nvSpPr>
            <p:spPr bwMode="auto">
              <a:xfrm>
                <a:off x="6330" y="2460"/>
                <a:ext cx="0" cy="3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152259" tIns="76130" rIns="152259" bIns="76130"/>
              <a:lstStyle/>
              <a:p>
                <a:endParaRPr lang="zh-CN" altLang="en-US"/>
              </a:p>
            </p:txBody>
          </p:sp>
          <p:sp>
            <p:nvSpPr>
              <p:cNvPr id="55332" name="Line 34"/>
              <p:cNvSpPr>
                <a:spLocks noChangeShapeType="1"/>
              </p:cNvSpPr>
              <p:nvPr/>
            </p:nvSpPr>
            <p:spPr bwMode="auto">
              <a:xfrm>
                <a:off x="6330" y="3210"/>
                <a:ext cx="0" cy="40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152259" tIns="76130" rIns="152259" bIns="76130"/>
              <a:lstStyle/>
              <a:p>
                <a:endParaRPr lang="zh-CN" altLang="en-US"/>
              </a:p>
            </p:txBody>
          </p:sp>
          <p:sp>
            <p:nvSpPr>
              <p:cNvPr id="55333" name="Line 35"/>
              <p:cNvSpPr>
                <a:spLocks noChangeShapeType="1"/>
              </p:cNvSpPr>
              <p:nvPr/>
            </p:nvSpPr>
            <p:spPr bwMode="auto">
              <a:xfrm>
                <a:off x="6330" y="5025"/>
                <a:ext cx="0" cy="40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152259" tIns="76130" rIns="152259" bIns="76130"/>
              <a:lstStyle/>
              <a:p>
                <a:endParaRPr lang="zh-CN" altLang="en-US"/>
              </a:p>
            </p:txBody>
          </p:sp>
          <p:sp>
            <p:nvSpPr>
              <p:cNvPr id="55334" name="Line 36"/>
              <p:cNvSpPr>
                <a:spLocks noChangeShapeType="1"/>
              </p:cNvSpPr>
              <p:nvPr/>
            </p:nvSpPr>
            <p:spPr bwMode="auto">
              <a:xfrm>
                <a:off x="6330" y="5790"/>
                <a:ext cx="0" cy="5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152259" tIns="76130" rIns="152259" bIns="76130"/>
              <a:lstStyle/>
              <a:p>
                <a:endParaRPr lang="zh-CN" altLang="en-US"/>
              </a:p>
            </p:txBody>
          </p:sp>
          <p:sp>
            <p:nvSpPr>
              <p:cNvPr id="55335" name="Line 37"/>
              <p:cNvSpPr>
                <a:spLocks noChangeShapeType="1"/>
              </p:cNvSpPr>
              <p:nvPr/>
            </p:nvSpPr>
            <p:spPr bwMode="auto">
              <a:xfrm>
                <a:off x="7004" y="5445"/>
                <a:ext cx="0" cy="21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152259" tIns="76130" rIns="152259" bIns="76130"/>
              <a:lstStyle/>
              <a:p>
                <a:endParaRPr lang="zh-CN" altLang="en-US"/>
              </a:p>
            </p:txBody>
          </p:sp>
          <p:sp>
            <p:nvSpPr>
              <p:cNvPr id="55336" name="Line 38"/>
              <p:cNvSpPr>
                <a:spLocks noChangeShapeType="1"/>
              </p:cNvSpPr>
              <p:nvPr/>
            </p:nvSpPr>
            <p:spPr bwMode="auto">
              <a:xfrm>
                <a:off x="7454" y="3210"/>
                <a:ext cx="0" cy="232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152259" tIns="76130" rIns="152259" bIns="76130"/>
              <a:lstStyle/>
              <a:p>
                <a:endParaRPr lang="zh-CN" altLang="en-US"/>
              </a:p>
            </p:txBody>
          </p:sp>
          <p:sp>
            <p:nvSpPr>
              <p:cNvPr id="55337" name="WordArt 39"/>
              <p:cNvSpPr>
                <a:spLocks noChangeArrowheads="1" noChangeShapeType="1" noTextEdit="1"/>
              </p:cNvSpPr>
              <p:nvPr/>
            </p:nvSpPr>
            <p:spPr bwMode="auto">
              <a:xfrm rot="-5473479">
                <a:off x="3077" y="4186"/>
                <a:ext cx="1658" cy="3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2500" kern="10" dirty="0">
                    <a:ln w="9525">
                      <a:solidFill>
                        <a:srgbClr val="000000"/>
                      </a:solidFill>
                      <a:round/>
                    </a:ln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上验收极限</a:t>
                </a:r>
              </a:p>
            </p:txBody>
          </p:sp>
          <p:sp>
            <p:nvSpPr>
              <p:cNvPr id="55338" name="WordArt 40"/>
              <p:cNvSpPr>
                <a:spLocks noChangeArrowheads="1" noChangeShapeType="1" noTextEdit="1"/>
              </p:cNvSpPr>
              <p:nvPr/>
            </p:nvSpPr>
            <p:spPr bwMode="auto">
              <a:xfrm rot="-5473479">
                <a:off x="6319" y="4186"/>
                <a:ext cx="1658" cy="3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2500" kern="10" dirty="0">
                    <a:ln w="9525">
                      <a:solidFill>
                        <a:srgbClr val="000000"/>
                      </a:solidFill>
                      <a:round/>
                    </a:ln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上验收极限</a:t>
                </a:r>
              </a:p>
            </p:txBody>
          </p:sp>
          <p:sp>
            <p:nvSpPr>
              <p:cNvPr id="55339" name="WordArt 41"/>
              <p:cNvSpPr>
                <a:spLocks noChangeArrowheads="1" noChangeShapeType="1" noTextEdit="1"/>
              </p:cNvSpPr>
              <p:nvPr/>
            </p:nvSpPr>
            <p:spPr bwMode="auto">
              <a:xfrm rot="-5473479">
                <a:off x="5867" y="6631"/>
                <a:ext cx="1658" cy="3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49176"/>
                  </a:avLst>
                </a:prstTxWarp>
              </a:bodyPr>
              <a:lstStyle/>
              <a:p>
                <a:pPr algn="ctr"/>
                <a:r>
                  <a:rPr lang="zh-CN" altLang="en-US" sz="2500" kern="10" dirty="0">
                    <a:ln w="9525">
                      <a:solidFill>
                        <a:srgbClr val="000000"/>
                      </a:solidFill>
                      <a:round/>
                    </a:ln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下验收极限</a:t>
                </a:r>
              </a:p>
            </p:txBody>
          </p:sp>
          <p:sp>
            <p:nvSpPr>
              <p:cNvPr id="55340" name="WordArt 42"/>
              <p:cNvSpPr>
                <a:spLocks noChangeArrowheads="1" noChangeShapeType="1" noTextEdit="1"/>
              </p:cNvSpPr>
              <p:nvPr/>
            </p:nvSpPr>
            <p:spPr bwMode="auto">
              <a:xfrm rot="-5473479">
                <a:off x="2597" y="6751"/>
                <a:ext cx="1658" cy="3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49176"/>
                  </a:avLst>
                </a:prstTxWarp>
              </a:bodyPr>
              <a:lstStyle/>
              <a:p>
                <a:pPr algn="ctr"/>
                <a:r>
                  <a:rPr lang="zh-CN" altLang="en-US" sz="2500" kern="10" dirty="0">
                    <a:ln w="9525">
                      <a:solidFill>
                        <a:srgbClr val="000000"/>
                      </a:solidFill>
                      <a:round/>
                    </a:ln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下验收极限</a:t>
                </a:r>
              </a:p>
            </p:txBody>
          </p:sp>
        </p:grpSp>
        <p:sp>
          <p:nvSpPr>
            <p:cNvPr id="55311" name="TextBox 1"/>
            <p:cNvSpPr txBox="1">
              <a:spLocks noChangeArrowheads="1"/>
            </p:cNvSpPr>
            <p:nvPr/>
          </p:nvSpPr>
          <p:spPr bwMode="auto">
            <a:xfrm rot="10800000" flipH="1">
              <a:off x="6888590" y="2191957"/>
              <a:ext cx="684546" cy="809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200" b="1" i="1" dirty="0"/>
                <a:t>A</a:t>
              </a:r>
              <a:endParaRPr lang="zh-CN" altLang="en-US" sz="2200" b="1" i="1" dirty="0"/>
            </a:p>
          </p:txBody>
        </p:sp>
        <p:sp>
          <p:nvSpPr>
            <p:cNvPr id="55312" name="TextBox 45"/>
            <p:cNvSpPr txBox="1">
              <a:spLocks noChangeArrowheads="1"/>
            </p:cNvSpPr>
            <p:nvPr/>
          </p:nvSpPr>
          <p:spPr bwMode="auto">
            <a:xfrm rot="10800000" flipH="1">
              <a:off x="6821538" y="65952"/>
              <a:ext cx="684546" cy="809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200" b="1" i="1" dirty="0"/>
                <a:t>A</a:t>
              </a:r>
              <a:endParaRPr lang="zh-CN" altLang="en-US" sz="2200" b="1" i="1" dirty="0"/>
            </a:p>
          </p:txBody>
        </p:sp>
        <p:sp>
          <p:nvSpPr>
            <p:cNvPr id="55313" name="TextBox 46"/>
            <p:cNvSpPr txBox="1">
              <a:spLocks noChangeArrowheads="1"/>
            </p:cNvSpPr>
            <p:nvPr/>
          </p:nvSpPr>
          <p:spPr bwMode="auto">
            <a:xfrm rot="10800000" flipH="1">
              <a:off x="9650226" y="38884"/>
              <a:ext cx="684546" cy="809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200" b="1" i="1" dirty="0"/>
                <a:t>A</a:t>
              </a:r>
              <a:endParaRPr lang="zh-CN" altLang="en-US" sz="2200" b="1" i="1" dirty="0"/>
            </a:p>
          </p:txBody>
        </p:sp>
        <p:sp>
          <p:nvSpPr>
            <p:cNvPr id="55314" name="TextBox 47"/>
            <p:cNvSpPr txBox="1">
              <a:spLocks noChangeArrowheads="1"/>
            </p:cNvSpPr>
            <p:nvPr/>
          </p:nvSpPr>
          <p:spPr bwMode="auto">
            <a:xfrm rot="10800000" flipH="1">
              <a:off x="9631836" y="2185635"/>
              <a:ext cx="684546" cy="809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200" b="1" i="1" dirty="0"/>
                <a:t>A</a:t>
              </a:r>
              <a:endParaRPr lang="zh-CN" altLang="en-US" sz="2200" b="1" i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56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"/>
                                        <p:tgtEl>
                                          <p:spTgt spid="56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"/>
                                        <p:tgtEl>
                                          <p:spTgt spid="56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"/>
                                        <p:tgtEl>
                                          <p:spTgt spid="56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"/>
                                        <p:tgtEl>
                                          <p:spTgt spid="56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"/>
                                        <p:tgtEl>
                                          <p:spTgt spid="56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"/>
                                        <p:tgtEl>
                                          <p:spTgt spid="56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00"/>
                                        <p:tgtEl>
                                          <p:spTgt spid="56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65" grpId="0" autoUpdateAnimBg="0"/>
      <p:bldP spid="56366" grpId="0" autoUpdateAnimBg="0"/>
      <p:bldP spid="56367" grpId="0" autoUpdateAnimBg="0"/>
      <p:bldP spid="56368" grpId="0" autoUpdateAnimBg="0"/>
      <p:bldP spid="56369" grpId="0" autoUpdateAnimBg="0"/>
      <p:bldP spid="56373" grpId="0" autoUpdateAnimBg="0"/>
      <p:bldP spid="56375" grpId="0" autoUpdateAnimBg="0"/>
      <p:bldP spid="56377" grpId="0" autoUpdateAnimBg="0"/>
      <p:bldP spid="56378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3295529" y="1362423"/>
            <a:ext cx="3335570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→</a:t>
            </a:r>
            <a:r>
              <a:rPr lang="zh-CN" altLang="en-US" sz="2000" b="1" dirty="0">
                <a:latin typeface="宋体" panose="02010600030101010101" pitchFamily="2" charset="-122"/>
              </a:rPr>
              <a:t>选择计量器具</a:t>
            </a:r>
          </a:p>
        </p:txBody>
      </p:sp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501930" y="91161"/>
            <a:ext cx="4171586" cy="420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2200" b="1" dirty="0"/>
              <a:t>3</a:t>
            </a:r>
            <a:r>
              <a:rPr lang="en-US" altLang="zh-CN" sz="2200" b="1" dirty="0">
                <a:latin typeface="宋体" panose="02010600030101010101" pitchFamily="2" charset="-122"/>
              </a:rPr>
              <a:t>.</a:t>
            </a:r>
            <a:r>
              <a:rPr lang="zh-CN" altLang="en-US" sz="2200" b="1" dirty="0">
                <a:latin typeface="宋体" panose="02010600030101010101" pitchFamily="2" charset="-122"/>
              </a:rPr>
              <a:t>计量器具的选择</a:t>
            </a:r>
            <a:endParaRPr lang="zh-CN" altLang="en-US" sz="2200" b="1" dirty="0"/>
          </a:p>
        </p:txBody>
      </p:sp>
      <p:sp>
        <p:nvSpPr>
          <p:cNvPr id="62470" name="Text Box 6"/>
          <p:cNvSpPr txBox="1">
            <a:spLocks noChangeArrowheads="1"/>
          </p:cNvSpPr>
          <p:nvPr/>
        </p:nvSpPr>
        <p:spPr bwMode="auto">
          <a:xfrm>
            <a:off x="1339758" y="970259"/>
            <a:ext cx="1283477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根据</a:t>
            </a:r>
            <a:r>
              <a:rPr lang="en-US" altLang="zh-CN" sz="2000" b="1" i="1" dirty="0"/>
              <a:t>T</a:t>
            </a:r>
            <a:r>
              <a:rPr lang="zh-CN" altLang="en-US" sz="2000" b="1" baseline="-25000" dirty="0"/>
              <a:t>尺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62471" name="Text Box 7"/>
          <p:cNvSpPr txBox="1">
            <a:spLocks noChangeArrowheads="1"/>
          </p:cNvSpPr>
          <p:nvPr/>
        </p:nvSpPr>
        <p:spPr bwMode="auto">
          <a:xfrm>
            <a:off x="2657293" y="966121"/>
            <a:ext cx="2106420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→</a:t>
            </a:r>
            <a:r>
              <a:rPr lang="zh-CN" altLang="en-US" sz="2000" b="1" dirty="0"/>
              <a:t>表</a:t>
            </a:r>
            <a:r>
              <a:rPr lang="en-US" altLang="zh-CN" sz="2000" b="1" dirty="0" smtClean="0"/>
              <a:t>3.14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62472" name="Text Box 8"/>
          <p:cNvSpPr txBox="1">
            <a:spLocks noChangeArrowheads="1"/>
          </p:cNvSpPr>
          <p:nvPr/>
        </p:nvSpPr>
        <p:spPr bwMode="auto">
          <a:xfrm>
            <a:off x="5264310" y="1004296"/>
            <a:ext cx="2203972" cy="374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900" b="1" dirty="0">
                <a:latin typeface="宋体" panose="02010600030101010101" pitchFamily="2" charset="-122"/>
              </a:rPr>
              <a:t>→</a:t>
            </a:r>
            <a:r>
              <a:rPr lang="zh-CN" altLang="en-US" sz="1900" b="1" dirty="0"/>
              <a:t>表</a:t>
            </a:r>
            <a:r>
              <a:rPr lang="en-US" altLang="zh-CN" sz="1900" b="1" dirty="0" smtClean="0"/>
              <a:t>3.15</a:t>
            </a:r>
            <a:r>
              <a:rPr lang="zh-CN" altLang="en-US" sz="1900" b="1" dirty="0" smtClean="0"/>
              <a:t>和</a:t>
            </a:r>
            <a:r>
              <a:rPr lang="zh-CN" altLang="en-US" sz="1900" b="1" dirty="0"/>
              <a:t>表</a:t>
            </a:r>
            <a:r>
              <a:rPr lang="en-US" altLang="zh-CN" sz="1900" b="1" dirty="0" smtClean="0"/>
              <a:t>3.16</a:t>
            </a:r>
            <a:endParaRPr lang="en-US" altLang="zh-CN" sz="1900" b="1" dirty="0"/>
          </a:p>
        </p:txBody>
      </p:sp>
      <p:sp>
        <p:nvSpPr>
          <p:cNvPr id="62476" name="Text Box 12"/>
          <p:cNvSpPr txBox="1">
            <a:spLocks noChangeArrowheads="1"/>
          </p:cNvSpPr>
          <p:nvPr/>
        </p:nvSpPr>
        <p:spPr bwMode="auto">
          <a:xfrm>
            <a:off x="1139361" y="568076"/>
            <a:ext cx="5671318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latin typeface="宋体" panose="02010600030101010101" pitchFamily="2" charset="-122"/>
              </a:rPr>
              <a:t>计量器具选择步骤：</a:t>
            </a:r>
          </a:p>
        </p:txBody>
      </p:sp>
      <p:graphicFrame>
        <p:nvGraphicFramePr>
          <p:cNvPr id="62477" name="Object 13"/>
          <p:cNvGraphicFramePr>
            <a:graphicFrameLocks noChangeAspect="1"/>
          </p:cNvGraphicFramePr>
          <p:nvPr/>
        </p:nvGraphicFramePr>
        <p:xfrm>
          <a:off x="4063157" y="885648"/>
          <a:ext cx="981621" cy="497242"/>
        </p:xfrm>
        <a:graphic>
          <a:graphicData uri="http://schemas.openxmlformats.org/presentationml/2006/ole">
            <p:oleObj spid="_x0000_s67587" name="Equation" r:id="rId3" imgW="7924800" imgH="5181600" progId="">
              <p:embed/>
            </p:oleObj>
          </a:graphicData>
        </a:graphic>
      </p:graphicFrame>
      <p:graphicFrame>
        <p:nvGraphicFramePr>
          <p:cNvPr id="62478" name="Object 14"/>
          <p:cNvGraphicFramePr>
            <a:graphicFrameLocks noChangeAspect="1"/>
          </p:cNvGraphicFramePr>
          <p:nvPr/>
        </p:nvGraphicFramePr>
        <p:xfrm>
          <a:off x="1274044" y="1311665"/>
          <a:ext cx="1897720" cy="489723"/>
        </p:xfrm>
        <a:graphic>
          <a:graphicData uri="http://schemas.openxmlformats.org/presentationml/2006/ole">
            <p:oleObj spid="_x0000_s67588" name="Equation" r:id="rId4" imgW="16459200" imgH="5486400" progId="">
              <p:embed/>
            </p:oleObj>
          </a:graphicData>
        </a:graphic>
      </p:graphicFrame>
      <p:sp>
        <p:nvSpPr>
          <p:cNvPr id="62480" name="Text Box 16"/>
          <p:cNvSpPr txBox="1">
            <a:spLocks noChangeArrowheads="1"/>
          </p:cNvSpPr>
          <p:nvPr/>
        </p:nvSpPr>
        <p:spPr bwMode="auto">
          <a:xfrm>
            <a:off x="1215804" y="1754563"/>
            <a:ext cx="4779516" cy="374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900" b="1" dirty="0"/>
              <a:t>表</a:t>
            </a:r>
            <a:r>
              <a:rPr lang="en-US" altLang="zh-CN" sz="1900" b="1" dirty="0" smtClean="0"/>
              <a:t>3.14</a:t>
            </a:r>
            <a:r>
              <a:rPr lang="zh-CN" altLang="en-US" sz="1900" b="1" dirty="0" smtClean="0"/>
              <a:t>中 </a:t>
            </a:r>
            <a:r>
              <a:rPr lang="en-US" altLang="zh-CN" sz="1900" b="1" i="1" dirty="0"/>
              <a:t>u</a:t>
            </a:r>
            <a:r>
              <a:rPr lang="en-US" altLang="zh-CN" sz="1900" b="1" baseline="-25000" dirty="0"/>
              <a:t>1</a:t>
            </a:r>
            <a:r>
              <a:rPr lang="zh-CN" altLang="en-US" sz="1900" b="1" dirty="0"/>
              <a:t>分</a:t>
            </a:r>
            <a:r>
              <a:rPr lang="zh-CN" altLang="en-US" sz="1900" b="1" dirty="0" smtClean="0"/>
              <a:t>三档：</a:t>
            </a:r>
            <a:r>
              <a:rPr lang="en-US" altLang="zh-CN" sz="1900" b="1" dirty="0">
                <a:ea typeface="楷体_GB2312" pitchFamily="49" charset="-122"/>
              </a:rPr>
              <a:t>Ⅰ</a:t>
            </a:r>
            <a:r>
              <a:rPr lang="zh-CN" altLang="en-US" sz="1900" b="1" dirty="0">
                <a:ea typeface="楷体_GB2312" pitchFamily="49" charset="-122"/>
              </a:rPr>
              <a:t>、</a:t>
            </a:r>
            <a:r>
              <a:rPr lang="en-US" altLang="zh-CN" sz="1900" b="1" dirty="0">
                <a:ea typeface="楷体_GB2312" pitchFamily="49" charset="-122"/>
              </a:rPr>
              <a:t>Ⅱ</a:t>
            </a:r>
            <a:r>
              <a:rPr lang="zh-CN" altLang="en-US" sz="1900" b="1" dirty="0">
                <a:ea typeface="楷体_GB2312" pitchFamily="49" charset="-122"/>
              </a:rPr>
              <a:t>、</a:t>
            </a:r>
            <a:r>
              <a:rPr lang="en-US" altLang="zh-CN" sz="1900" b="1" dirty="0">
                <a:ea typeface="楷体_GB2312" pitchFamily="49" charset="-122"/>
              </a:rPr>
              <a:t>Ⅲ</a:t>
            </a:r>
            <a:r>
              <a:rPr lang="zh-CN" altLang="en-US" sz="1900" b="1" dirty="0">
                <a:ea typeface="楷体_GB2312" pitchFamily="49" charset="-122"/>
              </a:rPr>
              <a:t>，优选</a:t>
            </a:r>
            <a:r>
              <a:rPr lang="en-US" altLang="zh-CN" sz="1900" b="1" dirty="0">
                <a:ea typeface="楷体_GB2312" pitchFamily="49" charset="-122"/>
              </a:rPr>
              <a:t>Ⅰ</a:t>
            </a:r>
            <a:r>
              <a:rPr lang="zh-CN" altLang="en-US" sz="1900" b="1" dirty="0">
                <a:ea typeface="楷体_GB2312" pitchFamily="49" charset="-122"/>
              </a:rPr>
              <a:t>。</a:t>
            </a:r>
            <a:endParaRPr lang="zh-CN" altLang="en-US" sz="1900" b="1" dirty="0"/>
          </a:p>
        </p:txBody>
      </p:sp>
      <p:grpSp>
        <p:nvGrpSpPr>
          <p:cNvPr id="62488" name="Group 24"/>
          <p:cNvGrpSpPr/>
          <p:nvPr/>
        </p:nvGrpSpPr>
        <p:grpSpPr bwMode="auto">
          <a:xfrm>
            <a:off x="762436" y="2185838"/>
            <a:ext cx="7526239" cy="2576487"/>
            <a:chOff x="744" y="2284"/>
            <a:chExt cx="5884" cy="2576"/>
          </a:xfrm>
        </p:grpSpPr>
        <p:grpSp>
          <p:nvGrpSpPr>
            <p:cNvPr id="57357" name="Group 22"/>
            <p:cNvGrpSpPr/>
            <p:nvPr/>
          </p:nvGrpSpPr>
          <p:grpSpPr bwMode="auto">
            <a:xfrm>
              <a:off x="744" y="2299"/>
              <a:ext cx="5884" cy="2561"/>
              <a:chOff x="744" y="2299"/>
              <a:chExt cx="5884" cy="2561"/>
            </a:xfrm>
          </p:grpSpPr>
          <p:pic>
            <p:nvPicPr>
              <p:cNvPr id="57359" name="Picture 15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5" y="2299"/>
                <a:ext cx="5793" cy="256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57360" name="Rectangle 19"/>
              <p:cNvSpPr>
                <a:spLocks noChangeArrowheads="1"/>
              </p:cNvSpPr>
              <p:nvPr/>
            </p:nvSpPr>
            <p:spPr bwMode="auto">
              <a:xfrm>
                <a:off x="744" y="2964"/>
                <a:ext cx="888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zh-CN" altLang="en-US" sz="1100" dirty="0"/>
                  <a:t>公称尺寸</a:t>
                </a:r>
              </a:p>
              <a:p>
                <a:pPr algn="r"/>
                <a:r>
                  <a:rPr lang="en-US" altLang="zh-CN" sz="1100" dirty="0"/>
                  <a:t>/mm</a:t>
                </a:r>
              </a:p>
            </p:txBody>
          </p:sp>
          <p:sp>
            <p:nvSpPr>
              <p:cNvPr id="57361" name="Text Box 20"/>
              <p:cNvSpPr txBox="1">
                <a:spLocks noChangeArrowheads="1"/>
              </p:cNvSpPr>
              <p:nvPr/>
            </p:nvSpPr>
            <p:spPr bwMode="auto">
              <a:xfrm>
                <a:off x="4461" y="2474"/>
                <a:ext cx="1820" cy="2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zh-CN" altLang="en-US" sz="1200" b="1" dirty="0"/>
                  <a:t>（摘自</a:t>
                </a:r>
                <a:r>
                  <a:rPr lang="en-US" altLang="zh-CN" sz="1200" b="1" dirty="0"/>
                  <a:t>GB/T3177-2009)</a:t>
                </a:r>
              </a:p>
            </p:txBody>
          </p:sp>
        </p:grpSp>
        <p:sp>
          <p:nvSpPr>
            <p:cNvPr id="57358" name="Text Box 23"/>
            <p:cNvSpPr txBox="1">
              <a:spLocks noChangeArrowheads="1"/>
            </p:cNvSpPr>
            <p:nvPr/>
          </p:nvSpPr>
          <p:spPr bwMode="auto">
            <a:xfrm>
              <a:off x="1493" y="2284"/>
              <a:ext cx="860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/>
              <a:r>
                <a:rPr lang="zh-CN" altLang="en-US" sz="1200" b="1" dirty="0"/>
                <a:t>表</a:t>
              </a:r>
              <a:r>
                <a:rPr lang="en-US" altLang="zh-CN" sz="1200" b="1" dirty="0" smtClean="0"/>
                <a:t>3.14</a:t>
              </a:r>
              <a:endParaRPr lang="en-US" altLang="zh-CN" sz="12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6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62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62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00"/>
                                        <p:tgtEl>
                                          <p:spTgt spid="62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8" grpId="0" autoUpdateAnimBg="0"/>
      <p:bldP spid="62469" grpId="0" autoUpdateAnimBg="0"/>
      <p:bldP spid="62470" grpId="0" autoUpdateAnimBg="0"/>
      <p:bldP spid="62471" grpId="0" autoUpdateAnimBg="0"/>
      <p:bldP spid="62472" grpId="0" autoUpdateAnimBg="0"/>
      <p:bldP spid="62476" grpId="0" autoUpdateAnimBg="0"/>
      <p:bldP spid="62480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498200" y="97606"/>
            <a:ext cx="6825239" cy="420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200" b="1" dirty="0"/>
              <a:t>3.5.2  </a:t>
            </a:r>
            <a:r>
              <a:rPr lang="zh-CN" altLang="en-US" sz="2200" b="1" dirty="0"/>
              <a:t>用光滑极限量规检验</a:t>
            </a:r>
            <a:endParaRPr lang="zh-CN" altLang="en-US" sz="2200" dirty="0"/>
          </a:p>
        </p:txBody>
      </p:sp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679490" y="568675"/>
            <a:ext cx="5460191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/>
              <a:t>1. </a:t>
            </a:r>
            <a:r>
              <a:rPr lang="zh-CN" altLang="en-US" sz="2000" b="1" dirty="0"/>
              <a:t>量规 的作用和分类</a:t>
            </a:r>
          </a:p>
        </p:txBody>
      </p:sp>
      <p:sp>
        <p:nvSpPr>
          <p:cNvPr id="27728" name="Text Box 80"/>
          <p:cNvSpPr txBox="1">
            <a:spLocks noChangeArrowheads="1"/>
          </p:cNvSpPr>
          <p:nvPr/>
        </p:nvSpPr>
        <p:spPr bwMode="auto">
          <a:xfrm>
            <a:off x="413762" y="884683"/>
            <a:ext cx="8458442" cy="785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b="1" dirty="0"/>
              <a:t>  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）作用：</a:t>
            </a:r>
            <a:r>
              <a:rPr lang="zh-CN" altLang="en-US" sz="2000" b="1" dirty="0">
                <a:solidFill>
                  <a:srgbClr val="FF0000"/>
                </a:solidFill>
              </a:rPr>
              <a:t>量规</a:t>
            </a:r>
            <a:r>
              <a:rPr lang="zh-CN" altLang="en-US" sz="2000" b="1" dirty="0"/>
              <a:t>是一种无刻度的定值专用量具</a:t>
            </a:r>
            <a:r>
              <a:rPr lang="en-US" altLang="zh-CN" sz="2000" b="1" dirty="0"/>
              <a:t>, </a:t>
            </a:r>
            <a:r>
              <a:rPr lang="zh-CN" altLang="en-US" sz="2000" b="1" dirty="0"/>
              <a:t>用量规检验零件时，只能判断零件是否合格，不能测出零件实际尺寸的数值</a:t>
            </a:r>
            <a:r>
              <a:rPr lang="zh-CN" altLang="en-US" sz="2000" b="1" dirty="0" smtClean="0"/>
              <a:t>。</a:t>
            </a:r>
            <a:endParaRPr lang="zh-CN" altLang="en-US" sz="2000" b="1" dirty="0"/>
          </a:p>
        </p:txBody>
      </p:sp>
      <p:sp>
        <p:nvSpPr>
          <p:cNvPr id="27736" name="Text Box 88"/>
          <p:cNvSpPr txBox="1">
            <a:spLocks noChangeArrowheads="1"/>
          </p:cNvSpPr>
          <p:nvPr/>
        </p:nvSpPr>
        <p:spPr bwMode="auto">
          <a:xfrm>
            <a:off x="397320" y="3887295"/>
            <a:ext cx="8330342" cy="74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1800" b="1" dirty="0" smtClean="0"/>
              <a:t>        量规</a:t>
            </a:r>
            <a:r>
              <a:rPr lang="zh-CN" altLang="en-US" sz="1800" b="1" dirty="0"/>
              <a:t>都是成对使用的，分通</a:t>
            </a:r>
            <a:r>
              <a:rPr lang="zh-CN" altLang="en-US" sz="1800" b="1" dirty="0" smtClean="0"/>
              <a:t>规</a:t>
            </a:r>
            <a:r>
              <a:rPr lang="en-US" altLang="zh-CN" sz="1800" b="1" dirty="0" smtClean="0"/>
              <a:t>(T)</a:t>
            </a:r>
            <a:r>
              <a:rPr lang="zh-CN" altLang="en-US" sz="1800" b="1" dirty="0" smtClean="0"/>
              <a:t>和</a:t>
            </a:r>
            <a:r>
              <a:rPr lang="zh-CN" altLang="en-US" sz="1800" b="1" dirty="0"/>
              <a:t>止规</a:t>
            </a:r>
            <a:r>
              <a:rPr lang="en-US" altLang="zh-CN" sz="1800" b="1" dirty="0"/>
              <a:t>(Z)</a:t>
            </a:r>
            <a:r>
              <a:rPr lang="zh-CN" altLang="en-US" sz="1800" b="1" dirty="0"/>
              <a:t>。孔用量规称</a:t>
            </a:r>
            <a:r>
              <a:rPr lang="zh-CN" altLang="en-US" sz="1800" b="1" dirty="0">
                <a:solidFill>
                  <a:srgbClr val="FF0000"/>
                </a:solidFill>
              </a:rPr>
              <a:t>塞规</a:t>
            </a:r>
            <a:r>
              <a:rPr lang="zh-CN" altLang="en-US" sz="1800" b="1" dirty="0"/>
              <a:t>，轴用量规称</a:t>
            </a:r>
            <a:r>
              <a:rPr lang="zh-CN" altLang="en-US" sz="1800" b="1" dirty="0">
                <a:solidFill>
                  <a:srgbClr val="FF0000"/>
                </a:solidFill>
              </a:rPr>
              <a:t>卡规</a:t>
            </a:r>
            <a:r>
              <a:rPr lang="zh-CN" altLang="en-US" sz="1800" b="1" dirty="0" smtClean="0"/>
              <a:t>。</a:t>
            </a:r>
            <a:endParaRPr lang="zh-CN" altLang="en-US" sz="1800" b="1" dirty="0"/>
          </a:p>
        </p:txBody>
      </p:sp>
      <p:pic>
        <p:nvPicPr>
          <p:cNvPr id="6964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5475" y="1609460"/>
            <a:ext cx="3631633" cy="2145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9645" name="Picture 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29029" y="1581787"/>
            <a:ext cx="3683322" cy="2172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ectangle 86"/>
          <p:cNvSpPr>
            <a:spLocks noChangeArrowheads="1"/>
          </p:cNvSpPr>
          <p:nvPr/>
        </p:nvSpPr>
        <p:spPr bwMode="auto">
          <a:xfrm>
            <a:off x="5780083" y="3463820"/>
            <a:ext cx="1858892" cy="381627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258" tIns="31629" rIns="63258" bIns="31629" anchor="ctr"/>
          <a:lstStyle/>
          <a:p>
            <a:endParaRPr lang="zh-CN" altLang="en-US"/>
          </a:p>
        </p:txBody>
      </p:sp>
      <p:sp>
        <p:nvSpPr>
          <p:cNvPr id="15" name="Rectangle 85"/>
          <p:cNvSpPr>
            <a:spLocks noChangeArrowheads="1"/>
          </p:cNvSpPr>
          <p:nvPr/>
        </p:nvSpPr>
        <p:spPr bwMode="auto">
          <a:xfrm>
            <a:off x="1271693" y="3326454"/>
            <a:ext cx="1463331" cy="380687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258" tIns="31629" rIns="63258" bIns="31629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27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000" fill="hold"/>
                                        <p:tgtEl>
                                          <p:spTgt spid="69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69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500" fill="hold"/>
                                        <p:tgtEl>
                                          <p:spTgt spid="69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500" fill="hold"/>
                                        <p:tgtEl>
                                          <p:spTgt spid="69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"/>
                                        <p:tgtEl>
                                          <p:spTgt spid="27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utoUpdateAnimBg="0"/>
      <p:bldP spid="27655" grpId="0" autoUpdateAnimBg="0"/>
      <p:bldP spid="27728" grpId="0" autoUpdateAnimBg="0"/>
      <p:bldP spid="27736" grpId="0" autoUpdateAnimBg="0"/>
      <p:bldP spid="14" grpId="0" animBg="1"/>
      <p:bldP spid="1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80" name="Text Box 1096"/>
          <p:cNvSpPr txBox="1">
            <a:spLocks noChangeArrowheads="1"/>
          </p:cNvSpPr>
          <p:nvPr/>
        </p:nvSpPr>
        <p:spPr bwMode="auto">
          <a:xfrm>
            <a:off x="1917777" y="727063"/>
            <a:ext cx="2544449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① </a:t>
            </a:r>
            <a:r>
              <a:rPr lang="zh-CN" altLang="en-US" sz="2000" b="1" dirty="0"/>
              <a:t>工作量规：</a:t>
            </a:r>
          </a:p>
        </p:txBody>
      </p:sp>
      <p:sp>
        <p:nvSpPr>
          <p:cNvPr id="68681" name="Text Box 1097"/>
          <p:cNvSpPr txBox="1">
            <a:spLocks noChangeArrowheads="1"/>
          </p:cNvSpPr>
          <p:nvPr/>
        </p:nvSpPr>
        <p:spPr bwMode="auto">
          <a:xfrm>
            <a:off x="1912293" y="1385626"/>
            <a:ext cx="2230185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② </a:t>
            </a:r>
            <a:r>
              <a:rPr lang="zh-CN" altLang="en-US" sz="2000" b="1" dirty="0"/>
              <a:t>验收量规：</a:t>
            </a:r>
          </a:p>
        </p:txBody>
      </p:sp>
      <p:sp>
        <p:nvSpPr>
          <p:cNvPr id="68682" name="Text Box 1098"/>
          <p:cNvSpPr txBox="1">
            <a:spLocks noChangeArrowheads="1"/>
          </p:cNvSpPr>
          <p:nvPr/>
        </p:nvSpPr>
        <p:spPr bwMode="auto">
          <a:xfrm>
            <a:off x="1948790" y="2553569"/>
            <a:ext cx="1952322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③ </a:t>
            </a:r>
            <a:r>
              <a:rPr lang="zh-CN" altLang="en-US" sz="2000" b="1" dirty="0"/>
              <a:t>校对量规</a:t>
            </a:r>
            <a:r>
              <a:rPr lang="en-US" altLang="zh-CN" sz="2000" b="1" dirty="0"/>
              <a:t>:</a:t>
            </a:r>
          </a:p>
        </p:txBody>
      </p:sp>
      <p:grpSp>
        <p:nvGrpSpPr>
          <p:cNvPr id="68698" name="Group 1114"/>
          <p:cNvGrpSpPr/>
          <p:nvPr/>
        </p:nvGrpSpPr>
        <p:grpSpPr bwMode="auto">
          <a:xfrm>
            <a:off x="399296" y="809420"/>
            <a:ext cx="1560400" cy="2027509"/>
            <a:chOff x="559" y="-29"/>
            <a:chExt cx="1286" cy="2157"/>
          </a:xfrm>
        </p:grpSpPr>
        <p:sp>
          <p:nvSpPr>
            <p:cNvPr id="70670" name="Text Box 1099"/>
            <p:cNvSpPr txBox="1">
              <a:spLocks noChangeArrowheads="1"/>
            </p:cNvSpPr>
            <p:nvPr/>
          </p:nvSpPr>
          <p:spPr bwMode="auto">
            <a:xfrm>
              <a:off x="559" y="435"/>
              <a:ext cx="1124" cy="1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17994" tIns="58997" rIns="117994" bIns="58997">
              <a:spAutoFit/>
            </a:bodyPr>
            <a:lstStyle>
              <a:lvl1pPr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117983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11798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en-US" altLang="zh-CN" sz="2000" b="1" dirty="0">
                  <a:latin typeface="宋体" panose="02010600030101010101" pitchFamily="2" charset="-122"/>
                </a:rPr>
                <a:t>(2) </a:t>
              </a:r>
              <a:r>
                <a:rPr lang="zh-CN" altLang="en-US" sz="2000" b="1" dirty="0"/>
                <a:t>量规</a:t>
              </a:r>
              <a:r>
                <a:rPr lang="zh-CN" altLang="en-US" sz="2000" b="1" dirty="0" smtClean="0"/>
                <a:t>的分类</a:t>
              </a:r>
              <a:endParaRPr lang="zh-CN" altLang="en-US" sz="2000" b="1" dirty="0"/>
            </a:p>
          </p:txBody>
        </p:sp>
        <p:sp>
          <p:nvSpPr>
            <p:cNvPr id="70671" name="AutoShape 1100"/>
            <p:cNvSpPr/>
            <p:nvPr/>
          </p:nvSpPr>
          <p:spPr bwMode="auto">
            <a:xfrm>
              <a:off x="1548" y="-29"/>
              <a:ext cx="297" cy="2157"/>
            </a:xfrm>
            <a:prstGeom prst="leftBrace">
              <a:avLst>
                <a:gd name="adj1" fmla="val 37121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</p:grpSp>
      <p:sp>
        <p:nvSpPr>
          <p:cNvPr id="68686" name="Text Box 1102"/>
          <p:cNvSpPr txBox="1">
            <a:spLocks noChangeArrowheads="1"/>
          </p:cNvSpPr>
          <p:nvPr/>
        </p:nvSpPr>
        <p:spPr bwMode="auto">
          <a:xfrm>
            <a:off x="3422171" y="742065"/>
            <a:ext cx="4174013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/>
              <a:t>  </a:t>
            </a:r>
            <a:r>
              <a:rPr lang="zh-CN" altLang="en-US" sz="2000" b="1" dirty="0">
                <a:solidFill>
                  <a:srgbClr val="FF0000"/>
                </a:solidFill>
              </a:rPr>
              <a:t>操作者</a:t>
            </a:r>
            <a:r>
              <a:rPr lang="zh-CN" altLang="en-US" sz="2000" b="1" dirty="0"/>
              <a:t>对零件进行检验用的量规。</a:t>
            </a:r>
          </a:p>
        </p:txBody>
      </p:sp>
      <p:sp>
        <p:nvSpPr>
          <p:cNvPr id="68687" name="Text Box 1103"/>
          <p:cNvSpPr txBox="1">
            <a:spLocks noChangeArrowheads="1"/>
          </p:cNvSpPr>
          <p:nvPr/>
        </p:nvSpPr>
        <p:spPr bwMode="auto">
          <a:xfrm>
            <a:off x="3513663" y="1365325"/>
            <a:ext cx="4882624" cy="1155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b="1" dirty="0">
                <a:solidFill>
                  <a:srgbClr val="FF0000"/>
                </a:solidFill>
              </a:rPr>
              <a:t>检验人员或用户</a:t>
            </a:r>
            <a:r>
              <a:rPr lang="zh-CN" altLang="en-US" sz="2000" b="1" dirty="0"/>
              <a:t>在验收产品时用的量规。</a:t>
            </a:r>
            <a:r>
              <a:rPr lang="zh-CN" altLang="en-US" sz="2000" b="1" dirty="0">
                <a:solidFill>
                  <a:srgbClr val="FF0000"/>
                </a:solidFill>
              </a:rPr>
              <a:t>验收量规的类型同工作量规</a:t>
            </a:r>
            <a:r>
              <a:rPr lang="zh-CN" altLang="en-US" sz="2000" b="1" dirty="0"/>
              <a:t>，只是其磨损较多，但未超过磨损极限。</a:t>
            </a:r>
          </a:p>
        </p:txBody>
      </p:sp>
      <p:sp>
        <p:nvSpPr>
          <p:cNvPr id="68700" name="Text Box 1116"/>
          <p:cNvSpPr txBox="1">
            <a:spLocks noChangeArrowheads="1"/>
          </p:cNvSpPr>
          <p:nvPr/>
        </p:nvSpPr>
        <p:spPr bwMode="auto">
          <a:xfrm>
            <a:off x="3517350" y="2542141"/>
            <a:ext cx="5039150" cy="2047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</a:rPr>
              <a:t>检验轴用量规</a:t>
            </a:r>
            <a:r>
              <a:rPr lang="zh-CN" altLang="en-US" sz="2000" b="1" dirty="0"/>
              <a:t>（环规或卡规）在制造时是否符合制造公差，在使用中是否已达到磨损极限的量规</a:t>
            </a:r>
            <a:r>
              <a:rPr lang="zh-CN" altLang="en-US" sz="2000" b="1" dirty="0" smtClean="0"/>
              <a:t>。</a:t>
            </a:r>
            <a:endParaRPr lang="en-US" altLang="zh-CN" sz="2000" b="1" dirty="0" smtClean="0"/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b="1" dirty="0" smtClean="0">
                <a:solidFill>
                  <a:srgbClr val="FF0000"/>
                </a:solidFill>
              </a:rPr>
              <a:t>孔</a:t>
            </a:r>
            <a:r>
              <a:rPr lang="zh-CN" altLang="en-US" sz="2000" b="1" dirty="0">
                <a:solidFill>
                  <a:srgbClr val="FF0000"/>
                </a:solidFill>
              </a:rPr>
              <a:t>用量规</a:t>
            </a:r>
            <a:r>
              <a:rPr lang="zh-CN" altLang="en-US" sz="2000" b="1" dirty="0"/>
              <a:t>可以较方便地用通用量仪检测，所以不设校对量规。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6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6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6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68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80" grpId="0" autoUpdateAnimBg="0"/>
      <p:bldP spid="68681" grpId="0" autoUpdateAnimBg="0"/>
      <p:bldP spid="68682" grpId="0" autoUpdateAnimBg="0"/>
      <p:bldP spid="68686" grpId="0"/>
      <p:bldP spid="68687" grpId="0"/>
      <p:bldP spid="68700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493008" y="100629"/>
            <a:ext cx="7802006" cy="420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200" b="1" dirty="0"/>
              <a:t>2. </a:t>
            </a:r>
            <a:r>
              <a:rPr lang="zh-CN" altLang="en-US" sz="2200" b="1" dirty="0"/>
              <a:t>量规设计原则：</a:t>
            </a:r>
            <a:r>
              <a:rPr lang="zh-CN" altLang="en-US" sz="2200" b="1" dirty="0">
                <a:solidFill>
                  <a:srgbClr val="FF0000"/>
                </a:solidFill>
              </a:rPr>
              <a:t>泰勒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原则</a:t>
            </a:r>
            <a:endParaRPr lang="zh-CN" altLang="en-US" sz="2200" b="1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23045" y="1638979"/>
            <a:ext cx="4123051" cy="359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1" dirty="0"/>
              <a:t>(1)  </a:t>
            </a:r>
            <a:r>
              <a:rPr lang="zh-CN" altLang="en-US" sz="1800" b="1" dirty="0"/>
              <a:t>量规的尺寸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708612" y="1971585"/>
            <a:ext cx="6947790" cy="359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b="1" dirty="0"/>
              <a:t>通规的公称尺寸 </a:t>
            </a:r>
            <a:r>
              <a:rPr lang="en-US" altLang="zh-CN" sz="1800" b="1" dirty="0"/>
              <a:t>= </a:t>
            </a:r>
            <a:r>
              <a:rPr lang="zh-CN" altLang="en-US" sz="1800" b="1" dirty="0"/>
              <a:t>被测工件的最大实体尺寸（</a:t>
            </a:r>
            <a:r>
              <a:rPr lang="en-US" altLang="zh-CN" sz="1800" b="1" dirty="0"/>
              <a:t>MMS</a:t>
            </a:r>
            <a:r>
              <a:rPr lang="zh-CN" altLang="en-US" sz="1800" b="1" dirty="0"/>
              <a:t>）</a:t>
            </a:r>
            <a:r>
              <a:rPr lang="en-US" altLang="zh-CN" sz="1800" b="1" dirty="0"/>
              <a:t>,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695265" y="2291026"/>
            <a:ext cx="6887121" cy="359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b="1" dirty="0"/>
              <a:t>止规的公称尺寸 </a:t>
            </a:r>
            <a:r>
              <a:rPr lang="en-US" altLang="zh-CN" sz="1800" b="1" dirty="0"/>
              <a:t>= </a:t>
            </a:r>
            <a:r>
              <a:rPr lang="zh-CN" altLang="en-US" sz="1800" b="1" dirty="0"/>
              <a:t>被测工件的最小实体尺寸（</a:t>
            </a:r>
            <a:r>
              <a:rPr lang="en-US" altLang="zh-CN" sz="1800" b="1" dirty="0"/>
              <a:t>LMS</a:t>
            </a:r>
            <a:r>
              <a:rPr lang="zh-CN" altLang="en-US" sz="1800" b="1" dirty="0"/>
              <a:t>）。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741798" y="602914"/>
            <a:ext cx="7445369" cy="1079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 b="1" dirty="0"/>
              <a:t>         </a:t>
            </a:r>
            <a:r>
              <a:rPr lang="zh-CN" altLang="en-US" sz="1800" b="1" dirty="0"/>
              <a:t>对于要求遵守包容要求的孔、轴在用量规检验时，为了正确地评定被测零件的合格性，应按极限判断原则（泰勒原则）验收，即光滑极限量规应遵守泰勒原则来设计。</a:t>
            </a:r>
          </a:p>
        </p:txBody>
      </p:sp>
      <p:pic>
        <p:nvPicPr>
          <p:cNvPr id="8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52550" y="2769930"/>
            <a:ext cx="3631633" cy="196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1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87636" y="2902527"/>
            <a:ext cx="3188301" cy="1760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2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2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/>
      <p:bldP spid="5" grpId="0"/>
      <p:bldP spid="6" grpId="0"/>
      <p:bldP spid="7" grpId="0" build="p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386269" y="78792"/>
            <a:ext cx="5253917" cy="420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b="1" dirty="0"/>
              <a:t>（</a:t>
            </a:r>
            <a:r>
              <a:rPr lang="en-US" altLang="zh-CN" sz="2200" b="1" dirty="0"/>
              <a:t>2</a:t>
            </a:r>
            <a:r>
              <a:rPr lang="zh-CN" altLang="en-US" sz="2200" b="1" dirty="0"/>
              <a:t>）量规的</a:t>
            </a:r>
            <a:r>
              <a:rPr lang="zh-CN" altLang="en-US" sz="2200" b="1" dirty="0" smtClean="0"/>
              <a:t>形式</a:t>
            </a:r>
            <a:endParaRPr lang="en-US" altLang="zh-CN" sz="2200" b="1" dirty="0"/>
          </a:p>
        </p:txBody>
      </p:sp>
      <p:sp>
        <p:nvSpPr>
          <p:cNvPr id="4" name="Text Box 10"/>
          <p:cNvSpPr txBox="1">
            <a:spLocks noChangeArrowheads="1"/>
          </p:cNvSpPr>
          <p:nvPr/>
        </p:nvSpPr>
        <p:spPr bwMode="auto">
          <a:xfrm>
            <a:off x="815389" y="714166"/>
            <a:ext cx="8328611" cy="414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b="1" dirty="0" smtClean="0">
                <a:solidFill>
                  <a:srgbClr val="FF0000"/>
                </a:solidFill>
              </a:rPr>
              <a:t>通</a:t>
            </a:r>
            <a:r>
              <a:rPr lang="zh-CN" altLang="en-US" sz="2000" b="1" dirty="0">
                <a:solidFill>
                  <a:srgbClr val="FF0000"/>
                </a:solidFill>
              </a:rPr>
              <a:t>规为全形规</a:t>
            </a:r>
            <a:r>
              <a:rPr lang="zh-CN" altLang="en-US" sz="2000" b="1" dirty="0"/>
              <a:t>，它是控制体外作用尺寸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即实际尺寸和形状误差</a:t>
            </a:r>
            <a:r>
              <a:rPr lang="zh-CN" altLang="en-US" sz="2000" b="1" dirty="0" smtClean="0"/>
              <a:t>）</a:t>
            </a:r>
            <a:endParaRPr lang="zh-CN" altLang="en-US" sz="2000" b="1" dirty="0"/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807822" y="1147650"/>
            <a:ext cx="5110739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/>
          <a:p>
            <a:pPr defTabSz="815975"/>
            <a:r>
              <a:rPr lang="zh-CN" altLang="en-US" sz="2000" b="1" dirty="0">
                <a:solidFill>
                  <a:srgbClr val="FF0000"/>
                </a:solidFill>
              </a:rPr>
              <a:t>止规为非全形规</a:t>
            </a:r>
            <a:r>
              <a:rPr lang="zh-CN" altLang="en-US" sz="2000" b="1" dirty="0"/>
              <a:t>，它是控制实际尺寸。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838199" y="1780353"/>
            <a:ext cx="7413099" cy="2816472"/>
            <a:chOff x="732485" y="1780353"/>
            <a:chExt cx="7518814" cy="2816472"/>
          </a:xfrm>
        </p:grpSpPr>
        <p:pic>
          <p:nvPicPr>
            <p:cNvPr id="6" name="Picture 1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2485" y="1780353"/>
              <a:ext cx="7518814" cy="2816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矩形 6"/>
            <p:cNvSpPr/>
            <p:nvPr/>
          </p:nvSpPr>
          <p:spPr bwMode="auto">
            <a:xfrm>
              <a:off x="2902527" y="4232564"/>
              <a:ext cx="782782" cy="33250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Text Box 1028"/>
          <p:cNvSpPr txBox="1">
            <a:spLocks noChangeArrowheads="1"/>
          </p:cNvSpPr>
          <p:nvPr/>
        </p:nvSpPr>
        <p:spPr bwMode="auto">
          <a:xfrm>
            <a:off x="325184" y="81841"/>
            <a:ext cx="6950217" cy="420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200" b="1" dirty="0"/>
              <a:t>3. </a:t>
            </a:r>
            <a:r>
              <a:rPr lang="zh-CN" altLang="en-US" sz="2200" b="1" dirty="0"/>
              <a:t>量规公差及其工作尺寸的计算</a:t>
            </a:r>
          </a:p>
        </p:txBody>
      </p:sp>
      <p:sp>
        <p:nvSpPr>
          <p:cNvPr id="72807" name="Text Box 1127"/>
          <p:cNvSpPr txBox="1">
            <a:spLocks noChangeArrowheads="1"/>
          </p:cNvSpPr>
          <p:nvPr/>
        </p:nvSpPr>
        <p:spPr bwMode="auto">
          <a:xfrm>
            <a:off x="177432" y="550295"/>
            <a:ext cx="6950217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）量规公差及其公差带</a:t>
            </a:r>
          </a:p>
        </p:txBody>
      </p:sp>
      <p:sp>
        <p:nvSpPr>
          <p:cNvPr id="72808" name="Text Box 1128"/>
          <p:cNvSpPr txBox="1">
            <a:spLocks noChangeArrowheads="1"/>
          </p:cNvSpPr>
          <p:nvPr/>
        </p:nvSpPr>
        <p:spPr bwMode="auto">
          <a:xfrm>
            <a:off x="405788" y="868390"/>
            <a:ext cx="2771350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① </a:t>
            </a:r>
            <a:r>
              <a:rPr lang="zh-CN" altLang="en-US" sz="2000" b="1" dirty="0"/>
              <a:t>量规尺寸公差</a:t>
            </a:r>
          </a:p>
        </p:txBody>
      </p:sp>
      <p:sp>
        <p:nvSpPr>
          <p:cNvPr id="72809" name="Text Box 1129"/>
          <p:cNvSpPr txBox="1">
            <a:spLocks noChangeArrowheads="1"/>
          </p:cNvSpPr>
          <p:nvPr/>
        </p:nvSpPr>
        <p:spPr bwMode="auto">
          <a:xfrm>
            <a:off x="756147" y="1208938"/>
            <a:ext cx="7123532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/>
              <a:t>量规的制造公差</a:t>
            </a:r>
            <a:r>
              <a:rPr lang="en-US" altLang="zh-CN" sz="2000" b="1" dirty="0"/>
              <a:t>(</a:t>
            </a:r>
            <a:r>
              <a:rPr lang="en-US" altLang="zh-CN" sz="2000" b="1" i="1" dirty="0"/>
              <a:t>T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)</a:t>
            </a:r>
            <a:r>
              <a:rPr lang="zh-CN" altLang="en-US" sz="2000" b="1" dirty="0"/>
              <a:t>与被检零件的公差等级和公称尺寸</a:t>
            </a:r>
            <a:r>
              <a:rPr lang="zh-CN" altLang="en-US" sz="2000" b="1" dirty="0" smtClean="0"/>
              <a:t>有关。</a:t>
            </a:r>
            <a:endParaRPr lang="zh-CN" altLang="en-US" sz="2000" b="1" baseline="-25000" dirty="0"/>
          </a:p>
        </p:txBody>
      </p:sp>
      <p:sp>
        <p:nvSpPr>
          <p:cNvPr id="72812" name="Text Box 1132"/>
          <p:cNvSpPr txBox="1">
            <a:spLocks noChangeArrowheads="1"/>
          </p:cNvSpPr>
          <p:nvPr/>
        </p:nvSpPr>
        <p:spPr bwMode="auto">
          <a:xfrm>
            <a:off x="551868" y="4007439"/>
            <a:ext cx="7314229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例如 </a:t>
            </a:r>
            <a:r>
              <a:rPr lang="zh-CN" altLang="en-US" sz="2000" b="1" i="1" dirty="0">
                <a:latin typeface="宋体" panose="02010600030101010101" pitchFamily="2" charset="-122"/>
              </a:rPr>
              <a:t> </a:t>
            </a:r>
            <a:r>
              <a:rPr lang="zh-CN" altLang="en-US" sz="2000" b="1" dirty="0">
                <a:latin typeface="宋体" panose="02010600030101010101" pitchFamily="2" charset="-122"/>
              </a:rPr>
              <a:t>被检孔要求为</a:t>
            </a:r>
            <a:r>
              <a:rPr lang="el-GR" altLang="zh-CN" sz="2000" b="1" i="1" dirty="0">
                <a:latin typeface="Gulim" pitchFamily="34" charset="-127"/>
                <a:ea typeface="Gulim" pitchFamily="34" charset="-127"/>
              </a:rPr>
              <a:t>Φ</a:t>
            </a:r>
            <a:r>
              <a:rPr lang="en-US" altLang="zh-CN" sz="2000" b="1" i="1" dirty="0">
                <a:latin typeface="Gulim" pitchFamily="34" charset="-127"/>
                <a:ea typeface="Gulim" pitchFamily="34" charset="-127"/>
              </a:rPr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30H9</a:t>
            </a:r>
            <a:r>
              <a:rPr lang="zh-CN" altLang="en-US" sz="2000" b="1" dirty="0">
                <a:latin typeface="宋体" panose="02010600030101010101" pitchFamily="2" charset="-122"/>
              </a:rPr>
              <a:t>，由表</a:t>
            </a:r>
            <a:r>
              <a:rPr lang="en-US" altLang="zh-CN" sz="2000" b="1" dirty="0">
                <a:latin typeface="宋体" panose="02010600030101010101" pitchFamily="2" charset="-122"/>
              </a:rPr>
              <a:t>3.21</a:t>
            </a:r>
            <a:r>
              <a:rPr lang="zh-CN" altLang="en-US" sz="2000" b="1" dirty="0">
                <a:latin typeface="宋体" panose="02010600030101010101" pitchFamily="2" charset="-122"/>
              </a:rPr>
              <a:t>查得孔量规尺寸公差为</a:t>
            </a:r>
            <a:endParaRPr lang="zh-CN" altLang="el-GR" sz="2000" b="1" dirty="0">
              <a:latin typeface="宋体" panose="02010600030101010101" pitchFamily="2" charset="-122"/>
            </a:endParaRPr>
          </a:p>
        </p:txBody>
      </p:sp>
      <p:graphicFrame>
        <p:nvGraphicFramePr>
          <p:cNvPr id="72816" name="Object 1136"/>
          <p:cNvGraphicFramePr>
            <a:graphicFrameLocks noChangeAspect="1"/>
          </p:cNvGraphicFramePr>
          <p:nvPr/>
        </p:nvGraphicFramePr>
        <p:xfrm>
          <a:off x="3376521" y="4382534"/>
          <a:ext cx="1730314" cy="429994"/>
        </p:xfrm>
        <a:graphic>
          <a:graphicData uri="http://schemas.openxmlformats.org/presentationml/2006/ole">
            <p:oleObj spid="_x0000_s69634" name="公式" r:id="rId3" imgW="16154400" imgH="5181600" progId="">
              <p:embed/>
            </p:oleObj>
          </a:graphicData>
        </a:graphic>
      </p:graphicFrame>
      <p:pic>
        <p:nvPicPr>
          <p:cNvPr id="72719" name="Picture 1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14853" y="1615200"/>
            <a:ext cx="7105529" cy="2402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9" name="Group 1139"/>
          <p:cNvGrpSpPr/>
          <p:nvPr/>
        </p:nvGrpSpPr>
        <p:grpSpPr bwMode="auto">
          <a:xfrm>
            <a:off x="911868" y="3052030"/>
            <a:ext cx="6362943" cy="169194"/>
            <a:chOff x="588" y="4896"/>
            <a:chExt cx="5244" cy="180"/>
          </a:xfrm>
        </p:grpSpPr>
        <p:sp>
          <p:nvSpPr>
            <p:cNvPr id="72716" name="Line 1140"/>
            <p:cNvSpPr>
              <a:spLocks noChangeShapeType="1"/>
            </p:cNvSpPr>
            <p:nvPr/>
          </p:nvSpPr>
          <p:spPr bwMode="auto">
            <a:xfrm>
              <a:off x="588" y="5076"/>
              <a:ext cx="52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7" name="Rectangle 1141"/>
            <p:cNvSpPr>
              <a:spLocks noChangeArrowheads="1"/>
            </p:cNvSpPr>
            <p:nvPr/>
          </p:nvSpPr>
          <p:spPr bwMode="auto">
            <a:xfrm>
              <a:off x="3936" y="4896"/>
              <a:ext cx="720" cy="18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72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7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72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2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2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"/>
                                        <p:tgtEl>
                                          <p:spTgt spid="72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2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8" grpId="0" autoUpdateAnimBg="0"/>
      <p:bldP spid="72807" grpId="0" autoUpdateAnimBg="0"/>
      <p:bldP spid="72808" grpId="0" autoUpdateAnimBg="0"/>
      <p:bldP spid="72809" grpId="0" autoUpdateAnimBg="0"/>
      <p:bldP spid="72812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D68913-E8E0-42D8-80FB-CF993705873D}" type="slidenum">
              <a:rPr lang="en-US" altLang="zh-CN" smtClean="0"/>
              <a:pPr>
                <a:defRPr/>
              </a:pPr>
              <a:t>48</a:t>
            </a:fld>
            <a:endParaRPr lang="en-US" altLang="zh-CN" dirty="0"/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554174" y="51665"/>
            <a:ext cx="2771350" cy="420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②  </a:t>
            </a:r>
            <a:r>
              <a:rPr lang="zh-CN" altLang="en-US" sz="2200" b="1" dirty="0"/>
              <a:t>量规尺寸公差带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4024" y="711646"/>
            <a:ext cx="3848447" cy="2467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58883" y="681550"/>
            <a:ext cx="4509744" cy="2477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ctangle 16"/>
          <p:cNvSpPr>
            <a:spLocks noChangeArrowheads="1"/>
          </p:cNvSpPr>
          <p:nvPr/>
        </p:nvSpPr>
        <p:spPr bwMode="auto">
          <a:xfrm>
            <a:off x="7128207" y="633797"/>
            <a:ext cx="1113879" cy="2001826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258" tIns="31629" rIns="63258" bIns="31629" anchor="ctr"/>
          <a:lstStyle/>
          <a:p>
            <a:endParaRPr lang="zh-CN" altLang="en-US"/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300431" y="3236410"/>
            <a:ext cx="8622248" cy="1559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b="1" dirty="0" smtClean="0"/>
              <a:t>          量规</a:t>
            </a:r>
            <a:r>
              <a:rPr lang="zh-CN" altLang="en-US" sz="2000" b="1" dirty="0"/>
              <a:t>的公差带位于被检</a:t>
            </a:r>
            <a:r>
              <a:rPr lang="zh-CN" altLang="en-US" sz="2000" b="1" dirty="0">
                <a:solidFill>
                  <a:srgbClr val="FF0000"/>
                </a:solidFill>
              </a:rPr>
              <a:t>零件公差带之内</a:t>
            </a:r>
            <a:r>
              <a:rPr lang="zh-CN" altLang="en-US" sz="2000" b="1" dirty="0"/>
              <a:t>，这是为了在验收时不会产生误收。</a:t>
            </a:r>
            <a:r>
              <a:rPr lang="zh-CN" altLang="en-US" sz="2000" b="1" dirty="0">
                <a:solidFill>
                  <a:srgbClr val="FF0000"/>
                </a:solidFill>
              </a:rPr>
              <a:t>止规的公差带</a:t>
            </a:r>
            <a:r>
              <a:rPr lang="zh-CN" altLang="en-US" sz="2000" b="1" dirty="0"/>
              <a:t>紧靠被检尺寸最小实体尺寸。</a:t>
            </a:r>
            <a:r>
              <a:rPr lang="zh-CN" altLang="en-US" sz="2000" b="1" dirty="0">
                <a:solidFill>
                  <a:srgbClr val="FF0000"/>
                </a:solidFill>
              </a:rPr>
              <a:t>通规</a:t>
            </a:r>
            <a:r>
              <a:rPr lang="zh-CN" altLang="en-US" sz="2000" b="1" dirty="0"/>
              <a:t>的公差带中心偏离被检零件的最大实体尺寸一个</a:t>
            </a:r>
            <a:r>
              <a:rPr lang="en-US" altLang="zh-CN" sz="2000" b="1" i="1" dirty="0"/>
              <a:t>Z</a:t>
            </a:r>
            <a:r>
              <a:rPr lang="en-US" altLang="zh-CN" sz="2000" b="1" baseline="-25000" dirty="0"/>
              <a:t>1</a:t>
            </a:r>
            <a:r>
              <a:rPr lang="zh-CN" altLang="en-US" sz="2000" b="1" dirty="0"/>
              <a:t>值，这是给通规工作时留有一定的磨损公差，而通规的磨损极限尺寸为被检零件的最大实体尺寸。</a:t>
            </a:r>
            <a:endParaRPr lang="zh-CN" altLang="en-US" sz="2000" b="1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13" grpId="0" animBg="1"/>
      <p:bldP spid="18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8"/>
          <p:cNvSpPr txBox="1">
            <a:spLocks noChangeArrowheads="1"/>
          </p:cNvSpPr>
          <p:nvPr/>
        </p:nvSpPr>
        <p:spPr bwMode="auto">
          <a:xfrm>
            <a:off x="871094" y="843997"/>
            <a:ext cx="2771350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③ </a:t>
            </a:r>
            <a:r>
              <a:rPr lang="zh-CN" altLang="en-US" sz="2000" b="1" dirty="0"/>
              <a:t>量规几何公差</a:t>
            </a:r>
          </a:p>
        </p:txBody>
      </p:sp>
      <p:sp>
        <p:nvSpPr>
          <p:cNvPr id="11" name="Text Box 22"/>
          <p:cNvSpPr txBox="1">
            <a:spLocks noChangeArrowheads="1"/>
          </p:cNvSpPr>
          <p:nvPr/>
        </p:nvSpPr>
        <p:spPr bwMode="auto">
          <a:xfrm>
            <a:off x="908329" y="2559058"/>
            <a:ext cx="4096357" cy="39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④ </a:t>
            </a:r>
            <a:r>
              <a:rPr lang="zh-CN" altLang="en-US" sz="2000" b="1" dirty="0"/>
              <a:t>量规测量面的表面粗糙度轮廓</a:t>
            </a:r>
          </a:p>
        </p:txBody>
      </p:sp>
      <p:graphicFrame>
        <p:nvGraphicFramePr>
          <p:cNvPr id="94209" name="Object 1"/>
          <p:cNvGraphicFramePr>
            <a:graphicFrameLocks noGrp="1" noChangeAspect="1"/>
          </p:cNvGraphicFramePr>
          <p:nvPr/>
        </p:nvGraphicFramePr>
        <p:xfrm>
          <a:off x="1374179" y="1622001"/>
          <a:ext cx="7080874" cy="405401"/>
        </p:xfrm>
        <a:graphic>
          <a:graphicData uri="http://schemas.openxmlformats.org/presentationml/2006/ole">
            <p:oleObj spid="_x0000_s74755" name="公式" r:id="rId3" imgW="78638400" imgH="5791200" progId="">
              <p:embed/>
            </p:oleObj>
          </a:graphicData>
        </a:graphic>
      </p:graphicFrame>
      <p:graphicFrame>
        <p:nvGraphicFramePr>
          <p:cNvPr id="94210" name="Object 2"/>
          <p:cNvGraphicFramePr>
            <a:graphicFrameLocks noChangeAspect="1"/>
          </p:cNvGraphicFramePr>
          <p:nvPr/>
        </p:nvGraphicFramePr>
        <p:xfrm>
          <a:off x="1341847" y="3223006"/>
          <a:ext cx="4794918" cy="413906"/>
        </p:xfrm>
        <a:graphic>
          <a:graphicData uri="http://schemas.openxmlformats.org/presentationml/2006/ole">
            <p:oleObj spid="_x0000_s74756" name="公式" r:id="rId4" imgW="43586400" imgH="51816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4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9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1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D68913-E8E0-42D8-80FB-CF993705873D}" type="slidenum">
              <a:rPr lang="en-US" altLang="zh-CN" smtClean="0"/>
              <a:pPr>
                <a:defRPr/>
              </a:pPr>
              <a:t>50</a:t>
            </a:fld>
            <a:endParaRPr lang="en-US" altLang="zh-CN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424682" y="98000"/>
            <a:ext cx="6096000" cy="402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258" tIns="31629" rIns="63258" bIns="31629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b="1" dirty="0"/>
              <a:t>（</a:t>
            </a:r>
            <a:r>
              <a:rPr lang="en-US" altLang="zh-CN" sz="2200" b="1" dirty="0"/>
              <a:t>2</a:t>
            </a:r>
            <a:r>
              <a:rPr lang="zh-CN" altLang="en-US" sz="2200" b="1" dirty="0"/>
              <a:t>）校对量规的公差及公差带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43089" y="591012"/>
            <a:ext cx="2886247" cy="371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3258" tIns="31629" rIns="63258" bIns="31629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latin typeface="宋体" panose="02010600030101010101" pitchFamily="2" charset="-122"/>
              </a:rPr>
              <a:t>① </a:t>
            </a:r>
            <a:r>
              <a:rPr lang="zh-CN" altLang="en-US" sz="2000" b="1" dirty="0">
                <a:latin typeface="宋体" panose="02010600030101010101" pitchFamily="2" charset="-122"/>
              </a:rPr>
              <a:t>校对量规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尺寸公差</a:t>
            </a:r>
            <a:r>
              <a:rPr lang="zh-CN" altLang="en-US" sz="2000" b="1" dirty="0">
                <a:latin typeface="宋体" panose="02010600030101010101" pitchFamily="2" charset="-122"/>
              </a:rPr>
              <a:t>：</a:t>
            </a:r>
          </a:p>
        </p:txBody>
      </p:sp>
      <p:graphicFrame>
        <p:nvGraphicFramePr>
          <p:cNvPr id="5" name="Object 6"/>
          <p:cNvGraphicFramePr>
            <a:graphicFrameLocks noGrp="1" noChangeAspect="1"/>
          </p:cNvGraphicFramePr>
          <p:nvPr/>
        </p:nvGraphicFramePr>
        <p:xfrm>
          <a:off x="3491940" y="651799"/>
          <a:ext cx="1576727" cy="370950"/>
        </p:xfrm>
        <a:graphic>
          <a:graphicData uri="http://schemas.openxmlformats.org/presentationml/2006/ole">
            <p:oleObj spid="_x0000_s76802" name="公式" r:id="rId3" imgW="17068800" imgH="5181600" progId="">
              <p:embed/>
            </p:oleObj>
          </a:graphicData>
        </a:graphic>
      </p:graphicFrame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628687" y="1014813"/>
            <a:ext cx="3000253" cy="371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3258" tIns="31629" rIns="63258" bIns="31629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latin typeface="宋体" panose="02010600030101010101" pitchFamily="2" charset="-122"/>
              </a:rPr>
              <a:t>② </a:t>
            </a:r>
            <a:r>
              <a:rPr lang="zh-CN" altLang="en-US" sz="2000" b="1" dirty="0">
                <a:latin typeface="宋体" panose="02010600030101010101" pitchFamily="2" charset="-122"/>
              </a:rPr>
              <a:t>校对量规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尺寸公差带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72891" y="1030254"/>
            <a:ext cx="4140288" cy="2745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7320694" y="990600"/>
            <a:ext cx="1113879" cy="2382982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258" tIns="31629" rIns="63258" bIns="31629" anchor="ctr"/>
          <a:lstStyle/>
          <a:p>
            <a:endParaRPr lang="zh-CN" altLang="en-US" sz="2000"/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220361" y="1455623"/>
            <a:ext cx="4567146" cy="1005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258" tIns="31629" rIns="63258" bIns="31629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700" b="1" dirty="0">
                <a:latin typeface="宋体" panose="02010600030101010101" pitchFamily="2" charset="-122"/>
              </a:rPr>
              <a:t>   </a:t>
            </a:r>
            <a:r>
              <a:rPr lang="en-US" altLang="zh-CN" sz="1700" b="1" dirty="0">
                <a:solidFill>
                  <a:srgbClr val="FF0000"/>
                </a:solidFill>
                <a:latin typeface="宋体" panose="02010600030101010101" pitchFamily="2" charset="-122"/>
              </a:rPr>
              <a:t>“</a:t>
            </a:r>
            <a:r>
              <a:rPr lang="zh-CN" altLang="en-US" sz="1700" b="1" dirty="0">
                <a:solidFill>
                  <a:srgbClr val="FF0000"/>
                </a:solidFill>
                <a:latin typeface="宋体" panose="02010600030101010101" pitchFamily="2" charset="-122"/>
              </a:rPr>
              <a:t>校通</a:t>
            </a:r>
            <a:r>
              <a:rPr lang="en-US" altLang="zh-CN" sz="1700" b="1" dirty="0">
                <a:solidFill>
                  <a:srgbClr val="FF000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700" b="1" dirty="0">
                <a:solidFill>
                  <a:srgbClr val="FF0000"/>
                </a:solidFill>
                <a:latin typeface="宋体" panose="02010600030101010101" pitchFamily="2" charset="-122"/>
              </a:rPr>
              <a:t>通”</a:t>
            </a:r>
            <a:r>
              <a:rPr lang="zh-CN" altLang="en-US" sz="1700" b="1" dirty="0">
                <a:latin typeface="宋体" panose="02010600030101010101" pitchFamily="2" charset="-122"/>
              </a:rPr>
              <a:t>量规（</a:t>
            </a:r>
            <a:r>
              <a:rPr lang="en-US" altLang="zh-CN" sz="1700" b="1" dirty="0">
                <a:latin typeface="宋体" panose="02010600030101010101" pitchFamily="2" charset="-122"/>
              </a:rPr>
              <a:t>TT</a:t>
            </a:r>
            <a:r>
              <a:rPr lang="zh-CN" altLang="en-US" sz="1700" b="1" dirty="0">
                <a:latin typeface="宋体" panose="02010600030101010101" pitchFamily="2" charset="-122"/>
              </a:rPr>
              <a:t>）</a:t>
            </a:r>
            <a:r>
              <a:rPr lang="en-US" altLang="zh-CN" sz="1700" b="1" dirty="0">
                <a:latin typeface="宋体" panose="02010600030101010101" pitchFamily="2" charset="-122"/>
              </a:rPr>
              <a:t>:</a:t>
            </a:r>
            <a:r>
              <a:rPr lang="zh-CN" altLang="en-US" sz="1700" b="1" dirty="0">
                <a:latin typeface="宋体" panose="02010600030101010101" pitchFamily="2" charset="-122"/>
              </a:rPr>
              <a:t>检验时应通过被检通规。其公差带是从通规下极限偏差起向通规公差带内分布。其</a:t>
            </a:r>
            <a:r>
              <a:rPr lang="zh-CN" altLang="en-US" sz="1700" b="1" dirty="0">
                <a:solidFill>
                  <a:srgbClr val="0000FF"/>
                </a:solidFill>
                <a:latin typeface="宋体" panose="02010600030101010101" pitchFamily="2" charset="-122"/>
              </a:rPr>
              <a:t>作用是防止通规过小</a:t>
            </a:r>
            <a:r>
              <a:rPr lang="zh-CN" altLang="en-US" sz="1700" b="1" dirty="0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0" name="Text Box 16"/>
          <p:cNvSpPr txBox="1">
            <a:spLocks noChangeArrowheads="1"/>
          </p:cNvSpPr>
          <p:nvPr/>
        </p:nvSpPr>
        <p:spPr bwMode="auto">
          <a:xfrm>
            <a:off x="160287" y="4082296"/>
            <a:ext cx="8556726" cy="753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258" tIns="31629" rIns="63258" bIns="31629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</a:rPr>
              <a:t>“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</a:rPr>
              <a:t>校止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</a:rPr>
              <a:t>通”</a:t>
            </a:r>
            <a:r>
              <a:rPr lang="zh-CN" altLang="en-US" sz="1800" b="1" dirty="0">
                <a:latin typeface="宋体" panose="02010600030101010101" pitchFamily="2" charset="-122"/>
              </a:rPr>
              <a:t>量规（</a:t>
            </a:r>
            <a:r>
              <a:rPr lang="en-US" altLang="zh-CN" sz="1800" b="1" dirty="0">
                <a:latin typeface="宋体" panose="02010600030101010101" pitchFamily="2" charset="-122"/>
              </a:rPr>
              <a:t>ZT</a:t>
            </a:r>
            <a:r>
              <a:rPr lang="zh-CN" altLang="en-US" sz="1800" b="1" dirty="0">
                <a:latin typeface="宋体" panose="02010600030101010101" pitchFamily="2" charset="-122"/>
              </a:rPr>
              <a:t>）</a:t>
            </a:r>
            <a:r>
              <a:rPr lang="en-US" altLang="zh-CN" sz="1800" b="1" dirty="0">
                <a:latin typeface="宋体" panose="02010600030101010101" pitchFamily="2" charset="-122"/>
              </a:rPr>
              <a:t>:</a:t>
            </a:r>
            <a:r>
              <a:rPr lang="zh-CN" altLang="en-US" sz="1800" b="1" dirty="0">
                <a:latin typeface="宋体" panose="02010600030101010101" pitchFamily="2" charset="-122"/>
              </a:rPr>
              <a:t>检验时应通过被检止规。其公差带是从止规下极限偏差起向止规公差带内分布。其</a:t>
            </a:r>
            <a:r>
              <a:rPr lang="zh-CN" altLang="en-US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作用是防止止规尺寸过小</a:t>
            </a:r>
            <a:r>
              <a:rPr lang="zh-CN" altLang="en-US" sz="1800" b="1" dirty="0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215628" y="2472955"/>
            <a:ext cx="4559112" cy="1633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3258" tIns="31629" rIns="63258" bIns="31629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700" b="1" dirty="0">
                <a:latin typeface="宋体" panose="02010600030101010101" pitchFamily="2" charset="-122"/>
              </a:rPr>
              <a:t>   </a:t>
            </a:r>
            <a:r>
              <a:rPr lang="en-US" altLang="zh-CN" sz="1700" b="1" dirty="0">
                <a:solidFill>
                  <a:srgbClr val="FF0000"/>
                </a:solidFill>
                <a:latin typeface="宋体" panose="02010600030101010101" pitchFamily="2" charset="-122"/>
              </a:rPr>
              <a:t>“</a:t>
            </a:r>
            <a:r>
              <a:rPr lang="zh-CN" altLang="en-US" sz="1700" b="1" dirty="0">
                <a:solidFill>
                  <a:srgbClr val="FF0000"/>
                </a:solidFill>
                <a:latin typeface="宋体" panose="02010600030101010101" pitchFamily="2" charset="-122"/>
              </a:rPr>
              <a:t>校通</a:t>
            </a:r>
            <a:r>
              <a:rPr lang="en-US" altLang="zh-CN" sz="1700" b="1" dirty="0">
                <a:solidFill>
                  <a:srgbClr val="FF000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700" b="1" dirty="0">
                <a:solidFill>
                  <a:srgbClr val="FF0000"/>
                </a:solidFill>
                <a:latin typeface="宋体" panose="02010600030101010101" pitchFamily="2" charset="-122"/>
              </a:rPr>
              <a:t>损”</a:t>
            </a:r>
            <a:r>
              <a:rPr lang="zh-CN" altLang="en-US" sz="1700" b="1" dirty="0">
                <a:latin typeface="宋体" panose="02010600030101010101" pitchFamily="2" charset="-122"/>
              </a:rPr>
              <a:t>量规（</a:t>
            </a:r>
            <a:r>
              <a:rPr lang="en-US" altLang="zh-CN" sz="1700" b="1" dirty="0">
                <a:latin typeface="宋体" panose="02010600030101010101" pitchFamily="2" charset="-122"/>
              </a:rPr>
              <a:t>TS</a:t>
            </a:r>
            <a:r>
              <a:rPr lang="zh-CN" altLang="en-US" sz="1700" b="1" dirty="0">
                <a:latin typeface="宋体" panose="02010600030101010101" pitchFamily="2" charset="-122"/>
              </a:rPr>
              <a:t>）</a:t>
            </a:r>
            <a:r>
              <a:rPr lang="en-US" altLang="zh-CN" sz="1700" b="1" dirty="0">
                <a:latin typeface="宋体" panose="02010600030101010101" pitchFamily="2" charset="-122"/>
              </a:rPr>
              <a:t>:</a:t>
            </a:r>
            <a:r>
              <a:rPr lang="zh-CN" altLang="en-US" sz="1700" b="1" dirty="0">
                <a:latin typeface="宋体" panose="02010600030101010101" pitchFamily="2" charset="-122"/>
              </a:rPr>
              <a:t>检验时不通过被检通规。其公差带是从通规的磨损极限（上极限偏差）起向通规公差带内分布。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1700" b="1" dirty="0"/>
              <a:t>其</a:t>
            </a:r>
            <a:r>
              <a:rPr lang="zh-CN" altLang="en-US" sz="1700" b="1" dirty="0">
                <a:solidFill>
                  <a:srgbClr val="0000FF"/>
                </a:solidFill>
              </a:rPr>
              <a:t>作用是防止通规在使用中超出磨损极限尺寸（最大实体尺寸）</a:t>
            </a:r>
            <a:r>
              <a:rPr lang="zh-CN" altLang="en-US" sz="1700" b="1" dirty="0" smtClean="0"/>
              <a:t>。</a:t>
            </a:r>
            <a:endParaRPr lang="en-US" altLang="zh-CN" sz="17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8" grpId="0" animBg="1"/>
      <p:bldP spid="9" grpId="0"/>
      <p:bldP spid="10" grpId="0"/>
      <p:bldP spid="1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815975" eaLnBrk="0" hangingPunct="0">
              <a:defRPr kumimoji="1" sz="17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13715" indent="-197485" defTabSz="815975" eaLnBrk="0" hangingPunct="0">
              <a:defRPr kumimoji="1" sz="17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790575" indent="-158115" defTabSz="815975" eaLnBrk="0" hangingPunct="0">
              <a:defRPr kumimoji="1" sz="17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106805" indent="-158115" defTabSz="815975" eaLnBrk="0" hangingPunct="0">
              <a:defRPr kumimoji="1" sz="17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423035" indent="-158115" defTabSz="815975" eaLnBrk="0" hangingPunct="0">
              <a:defRPr kumimoji="1" sz="17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739900" indent="-158115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056130" indent="-158115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372360" indent="-158115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688590" indent="-158115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3CC9CC3-B190-43C0-A29A-333351FE0F0A}" type="slidenum">
              <a:rPr lang="en-US" altLang="zh-CN" sz="1800" smtClean="0">
                <a:solidFill>
                  <a:srgbClr val="0000FF"/>
                </a:solidFill>
              </a:rPr>
              <a:pPr eaLnBrk="1" hangingPunct="1"/>
              <a:t>51</a:t>
            </a:fld>
            <a:endParaRPr lang="en-US" altLang="zh-CN" sz="1800" dirty="0" smtClean="0">
              <a:solidFill>
                <a:srgbClr val="0000FF"/>
              </a:solidFill>
            </a:endParaRPr>
          </a:p>
        </p:txBody>
      </p:sp>
      <p:sp>
        <p:nvSpPr>
          <p:cNvPr id="147461" name="Text Box 5"/>
          <p:cNvSpPr txBox="1">
            <a:spLocks noChangeArrowheads="1"/>
          </p:cNvSpPr>
          <p:nvPr/>
        </p:nvSpPr>
        <p:spPr bwMode="auto">
          <a:xfrm>
            <a:off x="839657" y="640118"/>
            <a:ext cx="6706328" cy="513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本章重点</a:t>
            </a:r>
            <a:r>
              <a:rPr lang="en-US" altLang="zh-CN" sz="2800" b="1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147462" name="Text Box 6"/>
          <p:cNvSpPr txBox="1">
            <a:spLocks noChangeArrowheads="1"/>
          </p:cNvSpPr>
          <p:nvPr/>
        </p:nvSpPr>
        <p:spPr bwMode="auto">
          <a:xfrm>
            <a:off x="1015596" y="1213498"/>
            <a:ext cx="7507156" cy="2775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8" tIns="40814" rIns="81628" bIns="40814">
            <a:spAutoFit/>
          </a:bodyPr>
          <a:lstStyle>
            <a:lvl1pPr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83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83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500" b="1" dirty="0">
                <a:solidFill>
                  <a:srgbClr val="FF0000"/>
                </a:solidFill>
              </a:rPr>
              <a:t>1.</a:t>
            </a:r>
            <a:r>
              <a:rPr lang="en-US" altLang="zh-CN" sz="2500" b="1" dirty="0"/>
              <a:t>《</a:t>
            </a:r>
            <a:r>
              <a:rPr lang="zh-CN" altLang="en-US" sz="2500" b="1" dirty="0"/>
              <a:t>极限与配合</a:t>
            </a:r>
            <a:r>
              <a:rPr lang="en-US" altLang="zh-CN" sz="2500" b="1" dirty="0"/>
              <a:t>》</a:t>
            </a:r>
            <a:r>
              <a:rPr lang="zh-CN" altLang="en-US" sz="2500" b="1" dirty="0"/>
              <a:t>的基本术语和定义及其  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500" b="1" dirty="0"/>
              <a:t>      运算关系、尺寸公差带的图解；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500" b="1" dirty="0">
                <a:solidFill>
                  <a:srgbClr val="FF0000"/>
                </a:solidFill>
              </a:rPr>
              <a:t>2.</a:t>
            </a:r>
            <a:r>
              <a:rPr lang="en-US" altLang="zh-CN" sz="2500" b="1" dirty="0"/>
              <a:t> </a:t>
            </a:r>
            <a:r>
              <a:rPr lang="zh-CN" altLang="en-US" sz="2500" b="1" dirty="0"/>
              <a:t>标准公差和基本偏差的应用；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500" b="1" dirty="0">
                <a:solidFill>
                  <a:srgbClr val="FF0000"/>
                </a:solidFill>
              </a:rPr>
              <a:t>3.</a:t>
            </a:r>
            <a:r>
              <a:rPr lang="en-US" altLang="zh-CN" sz="2500" b="1" dirty="0"/>
              <a:t> </a:t>
            </a:r>
            <a:r>
              <a:rPr lang="zh-CN" altLang="en-US" sz="2500" b="1" dirty="0"/>
              <a:t>圆柱结合的精度设计内容和基本方法；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500" b="1" dirty="0">
                <a:solidFill>
                  <a:srgbClr val="FF0000"/>
                </a:solidFill>
              </a:rPr>
              <a:t>4.</a:t>
            </a:r>
            <a:r>
              <a:rPr lang="en-US" altLang="zh-CN" sz="2500" b="1" dirty="0"/>
              <a:t> </a:t>
            </a:r>
            <a:r>
              <a:rPr lang="zh-CN" altLang="en-US" sz="2500" b="1" dirty="0"/>
              <a:t>未注尺寸公差的应用。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7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7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74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74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74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74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1" grpId="0" build="p" autoUpdateAnimBg="0" advAuto="1000"/>
      <p:bldP spid="147462" grpId="0" build="p" autoUpdateAnimBg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1006</TotalTime>
  <Words>3308</Words>
  <Application>Microsoft Office PowerPoint</Application>
  <PresentationFormat>全屏显示(16:9)</PresentationFormat>
  <Paragraphs>357</Paragraphs>
  <Slides>51</Slides>
  <Notes>8</Notes>
  <HiddenSlides>0</HiddenSlides>
  <MMClips>0</MMClips>
  <ScaleCrop>false</ScaleCrop>
  <HeadingPairs>
    <vt:vector size="8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51</vt:i4>
      </vt:variant>
      <vt:variant>
        <vt:lpstr>自定义放映</vt:lpstr>
      </vt:variant>
      <vt:variant>
        <vt:i4>1</vt:i4>
      </vt:variant>
    </vt:vector>
  </HeadingPairs>
  <TitlesOfParts>
    <vt:vector size="55" baseType="lpstr">
      <vt:lpstr>Office 主题​​</vt:lpstr>
      <vt:lpstr>Equation</vt:lpstr>
      <vt:lpstr>公式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  <vt:lpstr>幻灯片 40</vt:lpstr>
      <vt:lpstr>幻灯片 41</vt:lpstr>
      <vt:lpstr>幻灯片 42</vt:lpstr>
      <vt:lpstr>幻灯片 43</vt:lpstr>
      <vt:lpstr>幻灯片 44</vt:lpstr>
      <vt:lpstr>幻灯片 45</vt:lpstr>
      <vt:lpstr>幻灯片 46</vt:lpstr>
      <vt:lpstr>幻灯片 47</vt:lpstr>
      <vt:lpstr>幻灯片 48</vt:lpstr>
      <vt:lpstr>幻灯片 49</vt:lpstr>
      <vt:lpstr>幻灯片 50</vt:lpstr>
      <vt:lpstr>幻灯片 51</vt:lpstr>
      <vt:lpstr>自定义放映1</vt:lpstr>
    </vt:vector>
  </TitlesOfParts>
  <Company>lww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lww</dc:creator>
  <cp:lastModifiedBy>微软用户</cp:lastModifiedBy>
  <cp:revision>412</cp:revision>
  <dcterms:created xsi:type="dcterms:W3CDTF">2006-04-27T15:15:00Z</dcterms:created>
  <dcterms:modified xsi:type="dcterms:W3CDTF">2023-03-17T01:29:03Z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2576C33F2D3544AAAB423EC2C318B3CA</vt:lpwstr>
  </property>
  <property fmtid="{D5CDD505-2E9C-101B-9397-08002B2CF9AE}" pid="3" name="KSOProductBuildVer">
    <vt:lpwstr>2052-11.1.0.10356</vt:lpwstr>
  </property>
</Properties>
</file>