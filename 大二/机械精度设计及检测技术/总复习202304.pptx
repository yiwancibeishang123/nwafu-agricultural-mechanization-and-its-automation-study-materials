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77" r:id="rId2"/>
    <p:sldId id="338" r:id="rId3"/>
    <p:sldId id="334" r:id="rId4"/>
    <p:sldId id="335" r:id="rId5"/>
    <p:sldId id="336" r:id="rId6"/>
    <p:sldId id="258" r:id="rId7"/>
    <p:sldId id="282" r:id="rId8"/>
    <p:sldId id="283" r:id="rId9"/>
    <p:sldId id="268" r:id="rId10"/>
    <p:sldId id="312" r:id="rId11"/>
    <p:sldId id="288" r:id="rId12"/>
    <p:sldId id="291" r:id="rId13"/>
    <p:sldId id="339" r:id="rId14"/>
    <p:sldId id="340" r:id="rId15"/>
    <p:sldId id="341" r:id="rId16"/>
    <p:sldId id="297" r:id="rId17"/>
    <p:sldId id="273" r:id="rId18"/>
    <p:sldId id="263" r:id="rId19"/>
    <p:sldId id="342" r:id="rId20"/>
    <p:sldId id="275" r:id="rId21"/>
    <p:sldId id="343" r:id="rId22"/>
    <p:sldId id="307" r:id="rId23"/>
    <p:sldId id="274" r:id="rId24"/>
    <p:sldId id="344" r:id="rId25"/>
    <p:sldId id="267" r:id="rId26"/>
    <p:sldId id="320" r:id="rId27"/>
    <p:sldId id="321" r:id="rId28"/>
    <p:sldId id="324" r:id="rId29"/>
    <p:sldId id="325" r:id="rId30"/>
    <p:sldId id="326" r:id="rId31"/>
    <p:sldId id="327" r:id="rId32"/>
    <p:sldId id="328" r:id="rId33"/>
    <p:sldId id="329" r:id="rId34"/>
    <p:sldId id="330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1.wmf"/><Relationship Id="rId1" Type="http://schemas.openxmlformats.org/officeDocument/2006/relationships/image" Target="../media/image2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5B774-A1C9-4479-8E82-9A7F3021BC10}" type="datetimeFigureOut">
              <a:rPr lang="zh-CN" altLang="en-US" smtClean="0"/>
              <a:t>2023/4/13 Thursday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9D66E-BE37-4848-9689-A369A98542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完整的几何量测量</a:t>
            </a:r>
            <a:r>
              <a:rPr lang="zh-CN" altLang="en-US" b="1" dirty="0" smtClean="0">
                <a:sym typeface="+mn-ea"/>
              </a:rPr>
              <a:t>应包括以下</a:t>
            </a:r>
            <a:r>
              <a:rPr lang="zh-CN" altLang="en-US" b="1" dirty="0">
                <a:sym typeface="+mn-ea"/>
              </a:rPr>
              <a:t>四个要素。被测对象，计量单位，测量方法，测量精度。被测对象指的是需测量的几何参数，如长度、角度、误差、表面粗糙度等；计量单位指测量的量值所用的单位，如长度，角度等；测量方法即测量所采用的测量原理、计量器具和测量条件等；测量精度即测量结果与真值相一致的程度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90F57D-F324-4516-86EE-D8F8D4E3A6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02D5-10DD-428B-A59E-84E3314BEC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2023/4/13 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3E939-D905-4CF2-8460-0D47DEBE3A47}" type="slidenum">
              <a:rPr kumimoji="0" lang="zh-CN" altLang="en-US" smtClean="0"/>
              <a:pPr eaLnBrk="1" hangingPunct="1"/>
              <a:t>1</a:t>
            </a:fld>
            <a:endParaRPr kumimoji="0" lang="en-US" altLang="zh-CN" smtClean="0"/>
          </a:p>
        </p:txBody>
      </p:sp>
      <p:sp>
        <p:nvSpPr>
          <p:cNvPr id="9" name="TextBox 8"/>
          <p:cNvSpPr txBox="1"/>
          <p:nvPr/>
        </p:nvSpPr>
        <p:spPr>
          <a:xfrm>
            <a:off x="3643306" y="285728"/>
            <a:ext cx="3643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第二章</a:t>
            </a:r>
            <a:endParaRPr lang="zh-CN" altLang="en-US" sz="3200" b="1" dirty="0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39552" y="1124744"/>
            <a:ext cx="6232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smtClean="0"/>
              <a:t>1.</a:t>
            </a:r>
            <a:r>
              <a:rPr lang="zh-CN" altLang="en-US" sz="2800" b="1" dirty="0" smtClean="0"/>
              <a:t> </a:t>
            </a:r>
            <a:r>
              <a:rPr lang="zh-CN" altLang="en-US" sz="2800" b="1" dirty="0"/>
              <a:t>量块的</a:t>
            </a:r>
            <a:r>
              <a:rPr lang="zh-CN" altLang="en-US" sz="2800" b="1" dirty="0" smtClean="0"/>
              <a:t>使用</a:t>
            </a:r>
            <a:endParaRPr lang="zh-CN" altLang="en-US" sz="280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057061" y="2005810"/>
            <a:ext cx="3284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量块的使用可分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755576" y="3068960"/>
            <a:ext cx="745363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 smtClean="0">
                <a:solidFill>
                  <a:srgbClr val="FF0000"/>
                </a:solidFill>
              </a:rPr>
              <a:t>量</a:t>
            </a:r>
            <a:r>
              <a:rPr lang="zh-CN" altLang="en-US" sz="2600" b="1" dirty="0">
                <a:solidFill>
                  <a:srgbClr val="FF0000"/>
                </a:solidFill>
              </a:rPr>
              <a:t>块按等使用比按级使用的测量精度要高</a:t>
            </a:r>
            <a:r>
              <a:rPr lang="zh-CN" altLang="en-US" b="1" dirty="0">
                <a:solidFill>
                  <a:srgbClr val="FF33CC"/>
                </a:solidFill>
              </a:rPr>
              <a:t>。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257461" y="1624810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按</a:t>
            </a:r>
            <a:r>
              <a:rPr lang="zh-CN" altLang="en-US" sz="2800" b="1">
                <a:solidFill>
                  <a:srgbClr val="FF33CC"/>
                </a:solidFill>
              </a:rPr>
              <a:t>级</a:t>
            </a:r>
            <a:r>
              <a:rPr lang="zh-CN" altLang="en-US" sz="2800" b="1"/>
              <a:t>使用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4257461" y="240109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按</a:t>
            </a:r>
            <a:r>
              <a:rPr lang="zh-CN" altLang="en-US" sz="2800" b="1">
                <a:solidFill>
                  <a:srgbClr val="FF33CC"/>
                </a:solidFill>
              </a:rPr>
              <a:t>等</a:t>
            </a:r>
            <a:r>
              <a:rPr lang="zh-CN" altLang="en-US" sz="2800" b="1"/>
              <a:t>使用</a:t>
            </a:r>
          </a:p>
        </p:txBody>
      </p:sp>
      <p:sp>
        <p:nvSpPr>
          <p:cNvPr id="17" name="AutoShape 13"/>
          <p:cNvSpPr/>
          <p:nvPr/>
        </p:nvSpPr>
        <p:spPr bwMode="auto">
          <a:xfrm>
            <a:off x="3800261" y="1853410"/>
            <a:ext cx="381000" cy="914400"/>
          </a:xfrm>
          <a:prstGeom prst="leftBrace">
            <a:avLst>
              <a:gd name="adj1" fmla="val 2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A59DA-DD33-4C87-A40E-512419E8D132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552" y="332656"/>
            <a:ext cx="7283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2.  </a:t>
            </a:r>
            <a:r>
              <a:rPr lang="zh-CN" altLang="en-US" sz="2800" b="1" dirty="0"/>
              <a:t>测量的四要素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0535" y="1433232"/>
            <a:ext cx="78130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   （1） </a:t>
            </a:r>
            <a:r>
              <a:rPr lang="zh-CN" altLang="en-US" b="1" dirty="0">
                <a:solidFill>
                  <a:srgbClr val="FF0000"/>
                </a:solidFill>
              </a:rPr>
              <a:t>被测对象 </a:t>
            </a:r>
            <a:r>
              <a:rPr lang="en-US" altLang="zh-CN" b="1" i="1" dirty="0"/>
              <a:t>x</a:t>
            </a:r>
            <a:r>
              <a:rPr lang="en-US" altLang="zh-CN" b="1" dirty="0"/>
              <a:t> —</a:t>
            </a:r>
            <a:r>
              <a:rPr lang="zh-CN" altLang="en-US" b="1" dirty="0"/>
              <a:t>几何参数（长度、角度、几何误差、表面粗糙度轮廓、键、螺纹、齿轮等典型零件的各个几何参数）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66729" y="2614743"/>
            <a:ext cx="787209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 （2）</a:t>
            </a:r>
            <a:r>
              <a:rPr lang="zh-CN" altLang="en-US" b="1" dirty="0">
                <a:solidFill>
                  <a:srgbClr val="FF0000"/>
                </a:solidFill>
              </a:rPr>
              <a:t>计量单位</a:t>
            </a:r>
            <a:r>
              <a:rPr lang="zh-CN" altLang="en-US" b="1" dirty="0"/>
              <a:t> — 长度</a:t>
            </a:r>
            <a:r>
              <a:rPr lang="en-US" altLang="zh-CN" b="1" dirty="0"/>
              <a:t>(m, mm, </a:t>
            </a:r>
            <a:r>
              <a:rPr lang="en-US" altLang="zh-CN" b="1" dirty="0" err="1"/>
              <a:t>μm</a:t>
            </a:r>
            <a:r>
              <a:rPr lang="en-US" altLang="zh-CN" b="1" dirty="0"/>
              <a:t>, nm)</a:t>
            </a:r>
            <a:r>
              <a:rPr lang="zh-CN" altLang="en-US" b="1" dirty="0"/>
              <a:t>；角度 </a:t>
            </a:r>
            <a:r>
              <a:rPr lang="en-US" altLang="zh-CN" b="1" dirty="0"/>
              <a:t>[</a:t>
            </a:r>
            <a:r>
              <a:rPr lang="en-US" altLang="zh-CN" b="1" dirty="0" err="1"/>
              <a:t>rad</a:t>
            </a:r>
            <a:r>
              <a:rPr lang="en-US" altLang="zh-CN" b="1" dirty="0"/>
              <a:t>, </a:t>
            </a:r>
            <a:r>
              <a:rPr lang="en-US" altLang="zh-CN" b="1" dirty="0" err="1"/>
              <a:t>μrad</a:t>
            </a:r>
            <a:r>
              <a:rPr lang="en-US" altLang="zh-CN" b="1" dirty="0"/>
              <a:t>, (</a:t>
            </a:r>
            <a:r>
              <a:rPr lang="en-US" altLang="zh-CN" b="1" dirty="0">
                <a:cs typeface="Times New Roman" panose="02020603050405020304" pitchFamily="18" charset="0"/>
              </a:rPr>
              <a:t>°)</a:t>
            </a:r>
            <a:r>
              <a:rPr lang="zh-CN" altLang="en-US" b="1" dirty="0"/>
              <a:t>，</a:t>
            </a:r>
            <a:r>
              <a:rPr lang="en-US" altLang="zh-CN" b="1" dirty="0"/>
              <a:t>(')</a:t>
            </a:r>
            <a:r>
              <a:rPr lang="zh-CN" altLang="en-US" b="1" dirty="0"/>
              <a:t>，</a:t>
            </a:r>
            <a:r>
              <a:rPr lang="en-US" altLang="zh-CN" b="1" dirty="0"/>
              <a:t>(</a:t>
            </a:r>
            <a:r>
              <a:rPr lang="en-US" altLang="zh-CN" b="1" dirty="0">
                <a:cs typeface="Times New Roman" panose="02020603050405020304" pitchFamily="18" charset="0"/>
              </a:rPr>
              <a:t>")</a:t>
            </a:r>
            <a:r>
              <a:rPr lang="en-US" altLang="zh-CN" b="1" dirty="0"/>
              <a:t>]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38484" y="3550847"/>
            <a:ext cx="7868285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（3）</a:t>
            </a:r>
            <a:r>
              <a:rPr lang="zh-CN" altLang="en-US" b="1" dirty="0">
                <a:solidFill>
                  <a:srgbClr val="FF0000"/>
                </a:solidFill>
              </a:rPr>
              <a:t>测量方法</a:t>
            </a:r>
            <a:r>
              <a:rPr lang="zh-CN" altLang="en-US" b="1" dirty="0"/>
              <a:t> — 测量时所采用的测量原理、计量器具和测量条件的综合，即获得测量结果的方式。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63245" y="4530866"/>
            <a:ext cx="785749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  （4）</a:t>
            </a:r>
            <a:r>
              <a:rPr lang="zh-CN" altLang="en-US" b="1" dirty="0">
                <a:solidFill>
                  <a:srgbClr val="FF0000"/>
                </a:solidFill>
              </a:rPr>
              <a:t>测量精度</a:t>
            </a:r>
            <a:r>
              <a:rPr lang="zh-CN" altLang="en-US" b="1" dirty="0"/>
              <a:t> — 测量结果与真值相一致的程度。</a:t>
            </a:r>
            <a:r>
              <a:rPr lang="zh-CN" altLang="en-US" b="1" dirty="0">
                <a:solidFill>
                  <a:srgbClr val="CC0000"/>
                </a:solidFill>
              </a:rPr>
              <a:t>测量精度</a:t>
            </a:r>
            <a:r>
              <a:rPr lang="zh-CN" altLang="en-US" b="1" dirty="0"/>
              <a:t>的高低用测量极限误差或测量不确定度表示。</a:t>
            </a:r>
            <a:r>
              <a:rPr lang="zh-CN" altLang="en-US" b="1" dirty="0">
                <a:solidFill>
                  <a:srgbClr val="CC0000"/>
                </a:solidFill>
              </a:rPr>
              <a:t>测量结果</a:t>
            </a:r>
            <a:r>
              <a:rPr lang="zh-CN" altLang="en-US" b="1" dirty="0"/>
              <a:t>应包括</a:t>
            </a:r>
            <a:r>
              <a:rPr lang="zh-CN" altLang="en-US" b="1" dirty="0">
                <a:solidFill>
                  <a:srgbClr val="0070C0"/>
                </a:solidFill>
              </a:rPr>
              <a:t>测量值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0070C0"/>
                </a:solidFill>
              </a:rPr>
              <a:t>测量极限误差</a:t>
            </a:r>
            <a:r>
              <a:rPr lang="zh-CN" altLang="en-US" b="1" dirty="0"/>
              <a:t>。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3573" y="928670"/>
            <a:ext cx="68407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完整的几何量测量应包括以下</a:t>
            </a:r>
            <a:r>
              <a:rPr lang="zh-CN" altLang="en-US" b="1" dirty="0">
                <a:solidFill>
                  <a:srgbClr val="FF0000"/>
                </a:solidFill>
              </a:rPr>
              <a:t>四个要素</a:t>
            </a:r>
            <a:r>
              <a:rPr lang="zh-CN" altLang="en-US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49FAE8-6556-4554-ABF3-DE79B55C33BB}" type="slidenum">
              <a:rPr kumimoji="0" lang="zh-CN" altLang="en-US" smtClean="0"/>
              <a:pPr eaLnBrk="1" hangingPunct="1"/>
              <a:t>3</a:t>
            </a:fld>
            <a:endParaRPr kumimoji="0" lang="en-US" altLang="zh-CN" sz="1400" smtClean="0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785786" y="285728"/>
            <a:ext cx="570231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/>
              <a:t>3. </a:t>
            </a:r>
            <a:r>
              <a:rPr lang="zh-CN" altLang="en-US" b="1" dirty="0" smtClean="0"/>
              <a:t>标准偏差</a:t>
            </a:r>
            <a:r>
              <a:rPr lang="zh-CN" altLang="en-US" b="1" dirty="0"/>
              <a:t>和算术平均值按下式计算：</a:t>
            </a:r>
          </a:p>
        </p:txBody>
      </p:sp>
      <p:graphicFrame>
        <p:nvGraphicFramePr>
          <p:cNvPr id="21515" name="Object 5"/>
          <p:cNvGraphicFramePr>
            <a:graphicFrameLocks noChangeAspect="1"/>
          </p:cNvGraphicFramePr>
          <p:nvPr/>
        </p:nvGraphicFramePr>
        <p:xfrm>
          <a:off x="1666894" y="928693"/>
          <a:ext cx="3200400" cy="1854200"/>
        </p:xfrm>
        <a:graphic>
          <a:graphicData uri="http://schemas.openxmlformats.org/presentationml/2006/ole">
            <p:oleObj spid="_x0000_s1085" name="Equation" r:id="rId3" imgW="26822400" imgH="15544800" progId="">
              <p:embed/>
            </p:oleObj>
          </a:graphicData>
        </a:graphic>
      </p:graphicFrame>
      <p:graphicFrame>
        <p:nvGraphicFramePr>
          <p:cNvPr id="21513" name="Object 8"/>
          <p:cNvGraphicFramePr>
            <a:graphicFrameLocks noChangeAspect="1"/>
          </p:cNvGraphicFramePr>
          <p:nvPr/>
        </p:nvGraphicFramePr>
        <p:xfrm>
          <a:off x="1666894" y="2916243"/>
          <a:ext cx="2101850" cy="1298575"/>
        </p:xfrm>
        <a:graphic>
          <a:graphicData uri="http://schemas.openxmlformats.org/presentationml/2006/ole">
            <p:oleObj spid="_x0000_s1086" name="Equation" r:id="rId4" imgW="16764000" imgH="10363200" progId="">
              <p:embed/>
            </p:oleObj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1543050" y="5726132"/>
          <a:ext cx="5010150" cy="488950"/>
        </p:xfrm>
        <a:graphic>
          <a:graphicData uri="http://schemas.openxmlformats.org/presentationml/2006/ole">
            <p:oleObj spid="_x0000_s1087" name="Equation" r:id="rId5" imgW="49987200" imgH="4876800" progId="">
              <p:embed/>
            </p:oleObj>
          </a:graphicData>
        </a:graphic>
      </p:graphicFrame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547688" y="4538682"/>
          <a:ext cx="4887912" cy="550863"/>
        </p:xfrm>
        <a:graphic>
          <a:graphicData uri="http://schemas.openxmlformats.org/presentationml/2006/ole">
            <p:oleObj spid="_x0000_s1088" name="Equation" r:id="rId6" imgW="48768000" imgH="5486400" progId="">
              <p:embed/>
            </p:oleObj>
          </a:graphicData>
        </a:graphic>
      </p:graphicFrame>
      <p:graphicFrame>
        <p:nvGraphicFramePr>
          <p:cNvPr id="37902" name="Object 14"/>
          <p:cNvGraphicFramePr>
            <a:graphicFrameLocks noChangeAspect="1"/>
          </p:cNvGraphicFramePr>
          <p:nvPr/>
        </p:nvGraphicFramePr>
        <p:xfrm>
          <a:off x="1544638" y="5148282"/>
          <a:ext cx="3941762" cy="488950"/>
        </p:xfrm>
        <a:graphic>
          <a:graphicData uri="http://schemas.openxmlformats.org/presentationml/2006/ole">
            <p:oleObj spid="_x0000_s1089" name="Equation" r:id="rId7" imgW="39319200" imgH="48768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8978578"/>
              </p:ext>
            </p:extLst>
          </p:nvPr>
        </p:nvGraphicFramePr>
        <p:xfrm>
          <a:off x="3577000" y="1313589"/>
          <a:ext cx="2571768" cy="795435"/>
        </p:xfrm>
        <a:graphic>
          <a:graphicData uri="http://schemas.openxmlformats.org/presentationml/2006/ole">
            <p:oleObj spid="_x0000_s20505" name="Equation" r:id="rId3" imgW="16764000" imgH="5181600" progId="">
              <p:embed/>
            </p:oleObj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290984" y="1242151"/>
            <a:ext cx="192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极限偏差</a:t>
            </a:r>
            <a:endParaRPr lang="zh-CN" altLang="en-US" sz="2800" b="1" dirty="0"/>
          </a:p>
        </p:txBody>
      </p:sp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1290984" y="3099539"/>
            <a:ext cx="5729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①  单次测量结果表示为</a:t>
            </a:r>
          </a:p>
        </p:txBody>
      </p:sp>
      <p:graphicFrame>
        <p:nvGraphicFramePr>
          <p:cNvPr id="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2285180"/>
              </p:ext>
            </p:extLst>
          </p:nvPr>
        </p:nvGraphicFramePr>
        <p:xfrm>
          <a:off x="2719744" y="3742481"/>
          <a:ext cx="3276600" cy="982663"/>
        </p:xfrm>
        <a:graphic>
          <a:graphicData uri="http://schemas.openxmlformats.org/presentationml/2006/ole">
            <p:oleObj spid="_x0000_s20506" name="Equation" r:id="rId4" imgW="18288000" imgH="5486400" progId="">
              <p:embed/>
            </p:oleObj>
          </a:graphicData>
        </a:graphic>
      </p:graphicFrame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1076670" y="2385159"/>
            <a:ext cx="552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测量结果的表示方法为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9"/>
          <p:cNvSpPr txBox="1">
            <a:spLocks noChangeArrowheads="1"/>
          </p:cNvSpPr>
          <p:nvPr/>
        </p:nvSpPr>
        <p:spPr bwMode="auto">
          <a:xfrm>
            <a:off x="1071538" y="1285860"/>
            <a:ext cx="7821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多次测量（即算术平均值）的标准偏差为</a:t>
            </a:r>
          </a:p>
        </p:txBody>
      </p:sp>
      <p:graphicFrame>
        <p:nvGraphicFramePr>
          <p:cNvPr id="4" name="Object 1031"/>
          <p:cNvGraphicFramePr>
            <a:graphicFrameLocks noChangeAspect="1"/>
          </p:cNvGraphicFramePr>
          <p:nvPr/>
        </p:nvGraphicFramePr>
        <p:xfrm>
          <a:off x="2438400" y="2019304"/>
          <a:ext cx="2115427" cy="1295400"/>
        </p:xfrm>
        <a:graphic>
          <a:graphicData uri="http://schemas.openxmlformats.org/presentationml/2006/ole">
            <p:oleObj spid="_x0000_s21529" name="Equation" r:id="rId3" imgW="14020800" imgH="10058400" progId="">
              <p:embed/>
            </p:oleObj>
          </a:graphicData>
        </a:graphic>
      </p:graphicFrame>
      <p:sp>
        <p:nvSpPr>
          <p:cNvPr id="6" name="Text Box 1033"/>
          <p:cNvSpPr txBox="1">
            <a:spLocks noChangeArrowheads="1"/>
          </p:cNvSpPr>
          <p:nvPr/>
        </p:nvSpPr>
        <p:spPr bwMode="auto">
          <a:xfrm>
            <a:off x="1000100" y="3429000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   多次测量结果表示为</a:t>
            </a:r>
          </a:p>
        </p:txBody>
      </p:sp>
      <p:graphicFrame>
        <p:nvGraphicFramePr>
          <p:cNvPr id="7" name="Object 1034"/>
          <p:cNvGraphicFramePr>
            <a:graphicFrameLocks noChangeAspect="1"/>
          </p:cNvGraphicFramePr>
          <p:nvPr/>
        </p:nvGraphicFramePr>
        <p:xfrm>
          <a:off x="2428860" y="4000504"/>
          <a:ext cx="3143272" cy="929381"/>
        </p:xfrm>
        <a:graphic>
          <a:graphicData uri="http://schemas.openxmlformats.org/presentationml/2006/ole">
            <p:oleObj spid="_x0000_s21530" name="Equation" r:id="rId4" imgW="18592800" imgH="5486400" progId="">
              <p:embed/>
            </p:oleObj>
          </a:graphicData>
        </a:graphic>
      </p:graphicFrame>
      <p:sp>
        <p:nvSpPr>
          <p:cNvPr id="8" name="Text Box 1035"/>
          <p:cNvSpPr txBox="1">
            <a:spLocks noChangeArrowheads="1"/>
          </p:cNvSpPr>
          <p:nvPr/>
        </p:nvSpPr>
        <p:spPr bwMode="auto">
          <a:xfrm>
            <a:off x="1000100" y="714356"/>
            <a:ext cx="391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②    </a:t>
            </a:r>
            <a:r>
              <a:rPr lang="zh-CN" altLang="en-US" sz="2800" b="1" dirty="0"/>
              <a:t>多次测量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538" y="5286388"/>
            <a:ext cx="7215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+mn-ea"/>
              </a:rPr>
              <a:t>3. </a:t>
            </a:r>
            <a:r>
              <a:rPr lang="zh-CN" altLang="en-US" sz="2800" b="1" dirty="0" smtClean="0">
                <a:latin typeface="+mn-ea"/>
              </a:rPr>
              <a:t>作业  </a:t>
            </a: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注意：判断若有粗大误差，必须剔除后重新计算。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  <p:bldP spid="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500042"/>
            <a:ext cx="8286808" cy="514353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zh-CN" altLang="en-US" b="1" dirty="0" smtClean="0"/>
              <a:t>                                  第三章</a:t>
            </a:r>
            <a:endParaRPr lang="en-US" altLang="zh-CN" b="1" dirty="0" smtClean="0"/>
          </a:p>
          <a:p>
            <a:pPr marL="514350" indent="-514350">
              <a:buNone/>
            </a:pPr>
            <a:endParaRPr lang="en-US" altLang="zh-CN" sz="2800" dirty="0" smtClean="0"/>
          </a:p>
          <a:p>
            <a:pPr marL="514350" indent="-514350">
              <a:buAutoNum type="arabicPeriod"/>
            </a:pPr>
            <a:r>
              <a:rPr lang="zh-CN" altLang="en-US" sz="2800" b="1" dirty="0" smtClean="0"/>
              <a:t>公差、偏差、公称</a:t>
            </a:r>
            <a:r>
              <a:rPr lang="zh-CN" altLang="en-US" sz="2800" b="1" dirty="0" smtClean="0"/>
              <a:t>尺寸，实际尺寸，极限尺寸，尺寸公差，尺寸偏差</a:t>
            </a:r>
            <a:endParaRPr lang="en-US" altLang="zh-CN" sz="2800" b="1" dirty="0" smtClean="0"/>
          </a:p>
          <a:p>
            <a:pPr marL="514350" indent="-514350">
              <a:buAutoNum type="arabicPeriod"/>
            </a:pPr>
            <a:r>
              <a:rPr lang="zh-CN" altLang="en-US" sz="2800" b="1" dirty="0" smtClean="0"/>
              <a:t>标准公差（等级），孔、轴基本偏差代号</a:t>
            </a:r>
            <a:endParaRPr lang="en-US" altLang="zh-CN" sz="2800" b="1" dirty="0" smtClean="0"/>
          </a:p>
          <a:p>
            <a:pPr marL="514350" indent="-514350">
              <a:buAutoNum type="arabicPeriod"/>
            </a:pPr>
            <a:r>
              <a:rPr lang="zh-CN" altLang="en-US" sz="2800" b="1" dirty="0" smtClean="0"/>
              <a:t>配合的类型（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间隙配合，过度配合，过盈配合</a:t>
            </a:r>
            <a:r>
              <a:rPr lang="zh-CN" altLang="en-US" sz="2800" b="1" dirty="0" smtClean="0"/>
              <a:t>）</a:t>
            </a:r>
            <a:endParaRPr lang="en-US" altLang="zh-CN" sz="2800" b="1" dirty="0" smtClean="0"/>
          </a:p>
          <a:p>
            <a:pPr marL="514350" indent="-514350">
              <a:buNone/>
            </a:pP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4" y="3786190"/>
            <a:ext cx="757242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标准公差（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IT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800" b="1" dirty="0" smtClean="0"/>
              <a:t>决定尺寸公差带的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大小</a:t>
            </a:r>
            <a:r>
              <a:rPr lang="zh-CN" altLang="en-US" sz="2800" b="1" dirty="0" smtClean="0"/>
              <a:t>，</a:t>
            </a:r>
            <a:endParaRPr lang="en-US" altLang="zh-CN" sz="2800" b="1" dirty="0" smtClean="0"/>
          </a:p>
          <a:p>
            <a:pPr>
              <a:lnSpc>
                <a:spcPts val="38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基本偏差（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，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，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EI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，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ei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800" b="1" dirty="0" smtClean="0"/>
              <a:t>决定公差带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位置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>
              <a:lnSpc>
                <a:spcPts val="3800"/>
              </a:lnSpc>
            </a:pPr>
            <a:r>
              <a:rPr lang="zh-CN" altLang="en-US" sz="2800" b="1" dirty="0" smtClean="0"/>
              <a:t>基本偏差为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代数值（正、负、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0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）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A31121-BF06-4C2D-8F83-82B4D05C57CD}" type="slidenum">
              <a:rPr lang="en-US" altLang="zh-CN" sz="2000" smtClean="0">
                <a:solidFill>
                  <a:schemeClr val="accent2"/>
                </a:solidFill>
              </a:rPr>
              <a:pPr eaLnBrk="1" hangingPunct="1"/>
              <a:t>7</a:t>
            </a:fld>
            <a:endParaRPr lang="en-US" altLang="zh-CN" sz="2000" smtClean="0">
              <a:solidFill>
                <a:schemeClr val="accent2"/>
              </a:solidFill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500034" y="428604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 smtClean="0"/>
              <a:t>4.  </a:t>
            </a:r>
            <a:r>
              <a:rPr lang="zh-CN" altLang="en-US" b="1" dirty="0"/>
              <a:t>基孔制 </a:t>
            </a:r>
            <a:r>
              <a:rPr lang="en-US" altLang="zh-CN" b="1" dirty="0"/>
              <a:t>— </a:t>
            </a:r>
            <a:endParaRPr lang="zh-CN" altLang="en-US" b="1" dirty="0"/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1000100" y="1142984"/>
            <a:ext cx="485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基孔制配合的孔为</a:t>
            </a:r>
            <a:r>
              <a:rPr lang="zh-CN" altLang="en-US" b="1" dirty="0">
                <a:solidFill>
                  <a:srgbClr val="FF0000"/>
                </a:solidFill>
              </a:rPr>
              <a:t>基准孔</a:t>
            </a:r>
            <a:r>
              <a:rPr lang="en-US" altLang="zh-CN" b="1" dirty="0"/>
              <a:t>,</a:t>
            </a:r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1000100" y="1714488"/>
            <a:ext cx="5938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基准孔的基本偏差为 </a:t>
            </a:r>
            <a:r>
              <a:rPr lang="en-US" altLang="zh-CN" b="1" dirty="0">
                <a:solidFill>
                  <a:srgbClr val="FF0000"/>
                </a:solidFill>
              </a:rPr>
              <a:t>EI = 0</a:t>
            </a:r>
            <a:r>
              <a:rPr lang="en-US" altLang="zh-CN" b="1" dirty="0"/>
              <a:t> </a:t>
            </a:r>
            <a:r>
              <a:rPr lang="zh-CN" altLang="en-US" b="1" dirty="0"/>
              <a:t>。</a:t>
            </a:r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5143504" y="1142984"/>
            <a:ext cx="3119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其代号为 </a:t>
            </a:r>
            <a:r>
              <a:rPr lang="en-US" altLang="zh-CN" b="1" dirty="0">
                <a:solidFill>
                  <a:srgbClr val="FF0000"/>
                </a:solidFill>
              </a:rPr>
              <a:t>H</a:t>
            </a:r>
            <a:r>
              <a:rPr lang="zh-CN" altLang="en-US" b="1" dirty="0"/>
              <a:t>。</a:t>
            </a:r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5953148" y="4862506"/>
            <a:ext cx="914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9" name="Rectangle 17"/>
          <p:cNvSpPr>
            <a:spLocks noChangeArrowheads="1"/>
          </p:cNvSpPr>
          <p:nvPr/>
        </p:nvSpPr>
        <p:spPr bwMode="auto">
          <a:xfrm>
            <a:off x="2676548" y="5243506"/>
            <a:ext cx="990600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4276748" y="5243506"/>
            <a:ext cx="990600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6334148" y="5243506"/>
            <a:ext cx="990600" cy="381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7"/>
          <p:cNvGrpSpPr/>
          <p:nvPr/>
        </p:nvGrpSpPr>
        <p:grpSpPr bwMode="auto">
          <a:xfrm>
            <a:off x="947761" y="2500306"/>
            <a:ext cx="6910387" cy="3733800"/>
            <a:chOff x="687" y="1776"/>
            <a:chExt cx="4353" cy="2352"/>
          </a:xfrm>
        </p:grpSpPr>
        <p:grpSp>
          <p:nvGrpSpPr>
            <p:cNvPr id="3" name="Group 22"/>
            <p:cNvGrpSpPr/>
            <p:nvPr/>
          </p:nvGrpSpPr>
          <p:grpSpPr bwMode="auto">
            <a:xfrm>
              <a:off x="768" y="1776"/>
              <a:ext cx="4272" cy="2352"/>
              <a:chOff x="768" y="1776"/>
              <a:chExt cx="4272" cy="2352"/>
            </a:xfrm>
          </p:grpSpPr>
          <p:sp>
            <p:nvSpPr>
              <p:cNvPr id="35857" name="Text Box 8"/>
              <p:cNvSpPr txBox="1">
                <a:spLocks noChangeArrowheads="1"/>
              </p:cNvSpPr>
              <p:nvPr/>
            </p:nvSpPr>
            <p:spPr bwMode="auto">
              <a:xfrm>
                <a:off x="2064" y="3897"/>
                <a:ext cx="19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1800" b="1" dirty="0" smtClean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基 </a:t>
                </a:r>
                <a:r>
                  <a:rPr lang="zh-CN" altLang="en-US" sz="18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孔 制 配 合</a:t>
                </a:r>
              </a:p>
            </p:txBody>
          </p:sp>
          <p:grpSp>
            <p:nvGrpSpPr>
              <p:cNvPr id="4" name="Group 21"/>
              <p:cNvGrpSpPr/>
              <p:nvPr/>
            </p:nvGrpSpPr>
            <p:grpSpPr bwMode="auto">
              <a:xfrm>
                <a:off x="768" y="1776"/>
                <a:ext cx="4272" cy="2134"/>
                <a:chOff x="768" y="1776"/>
                <a:chExt cx="4272" cy="2134"/>
              </a:xfrm>
            </p:grpSpPr>
            <p:pic>
              <p:nvPicPr>
                <p:cNvPr id="35859" name="Picture 7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xmlns="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8" y="1776"/>
                  <a:ext cx="4272" cy="213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35860" name="Oval 20"/>
                <p:cNvSpPr>
                  <a:spLocks noChangeArrowheads="1"/>
                </p:cNvSpPr>
                <p:nvPr/>
              </p:nvSpPr>
              <p:spPr bwMode="auto">
                <a:xfrm flipH="1">
                  <a:off x="3888" y="2736"/>
                  <a:ext cx="96" cy="96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" name="Group 26"/>
            <p:cNvGrpSpPr/>
            <p:nvPr/>
          </p:nvGrpSpPr>
          <p:grpSpPr bwMode="auto">
            <a:xfrm>
              <a:off x="687" y="2400"/>
              <a:ext cx="4305" cy="1561"/>
              <a:chOff x="687" y="2400"/>
              <a:chExt cx="4305" cy="1561"/>
            </a:xfrm>
          </p:grpSpPr>
          <p:sp>
            <p:nvSpPr>
              <p:cNvPr id="35855" name="Rectangle 23"/>
              <p:cNvSpPr>
                <a:spLocks noChangeArrowheads="1"/>
              </p:cNvSpPr>
              <p:nvPr/>
            </p:nvSpPr>
            <p:spPr bwMode="auto">
              <a:xfrm>
                <a:off x="1440" y="2400"/>
                <a:ext cx="3552" cy="384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56" name="Text Box 25"/>
              <p:cNvSpPr txBox="1">
                <a:spLocks noChangeArrowheads="1"/>
              </p:cNvSpPr>
              <p:nvPr/>
            </p:nvSpPr>
            <p:spPr bwMode="auto">
              <a:xfrm rot="-5400000">
                <a:off x="338" y="3325"/>
                <a:ext cx="985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2400" b="1"/>
                  <a:t>公称尺寸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61" grpId="0" autoUpdateAnimBg="0"/>
      <p:bldP spid="49162" grpId="0" autoUpdateAnimBg="0"/>
      <p:bldP spid="49163" grpId="0" autoUpdateAnimBg="0"/>
      <p:bldP spid="49168" grpId="0" animBg="1"/>
      <p:bldP spid="49169" grpId="0" animBg="1"/>
      <p:bldP spid="49170" grpId="0" animBg="1"/>
      <p:bldP spid="491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D021D1D-9BF7-4869-9C30-31FA9EC76A12}" type="slidenum">
              <a:rPr lang="en-US" altLang="zh-CN" sz="2000" smtClean="0">
                <a:solidFill>
                  <a:schemeClr val="accent2"/>
                </a:solidFill>
              </a:rPr>
              <a:pPr eaLnBrk="1" hangingPunct="1"/>
              <a:t>8</a:t>
            </a:fld>
            <a:endParaRPr lang="en-US" altLang="zh-CN" sz="2000" smtClean="0">
              <a:solidFill>
                <a:schemeClr val="accent2"/>
              </a:solidFill>
            </a:endParaRP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642910" y="571480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 smtClean="0"/>
              <a:t>5. </a:t>
            </a:r>
            <a:r>
              <a:rPr lang="zh-CN" altLang="en-US" b="1" dirty="0"/>
              <a:t>基轴制 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936625" y="1285860"/>
            <a:ext cx="4930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/>
              <a:t>基轴制配合的轴为</a:t>
            </a:r>
            <a:r>
              <a:rPr lang="zh-CN" altLang="en-US" b="1">
                <a:solidFill>
                  <a:srgbClr val="FF0000"/>
                </a:solidFill>
              </a:rPr>
              <a:t>基准轴 </a:t>
            </a:r>
            <a:r>
              <a:rPr lang="en-US" altLang="zh-CN" b="1"/>
              <a:t>, 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936625" y="1819260"/>
            <a:ext cx="594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/>
              <a:t>基准轴的基本偏差为 </a:t>
            </a:r>
            <a:r>
              <a:rPr lang="en-US" altLang="zh-CN" b="1">
                <a:solidFill>
                  <a:srgbClr val="FF0000"/>
                </a:solidFill>
              </a:rPr>
              <a:t>es = 0</a:t>
            </a:r>
            <a:r>
              <a:rPr lang="en-US" altLang="zh-CN" b="1"/>
              <a:t> </a:t>
            </a:r>
            <a:r>
              <a:rPr lang="zh-CN" altLang="en-US" b="1"/>
              <a:t>。</a:t>
            </a:r>
          </a:p>
        </p:txBody>
      </p:sp>
      <p:sp>
        <p:nvSpPr>
          <p:cNvPr id="11295" name="Text Box 31"/>
          <p:cNvSpPr txBox="1">
            <a:spLocks noChangeArrowheads="1"/>
          </p:cNvSpPr>
          <p:nvPr/>
        </p:nvSpPr>
        <p:spPr bwMode="auto">
          <a:xfrm>
            <a:off x="5127625" y="1285860"/>
            <a:ext cx="3189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/>
              <a:t>其代号为 </a:t>
            </a:r>
            <a:r>
              <a:rPr lang="en-US" altLang="zh-CN" b="1">
                <a:solidFill>
                  <a:srgbClr val="FF0000"/>
                </a:solidFill>
              </a:rPr>
              <a:t>h</a:t>
            </a:r>
            <a:r>
              <a:rPr lang="zh-CN" altLang="en-US" b="1"/>
              <a:t>。</a:t>
            </a:r>
          </a:p>
        </p:txBody>
      </p:sp>
      <p:grpSp>
        <p:nvGrpSpPr>
          <p:cNvPr id="2" name="Group 42"/>
          <p:cNvGrpSpPr/>
          <p:nvPr/>
        </p:nvGrpSpPr>
        <p:grpSpPr bwMode="auto">
          <a:xfrm>
            <a:off x="801688" y="2643182"/>
            <a:ext cx="7656512" cy="3395663"/>
            <a:chOff x="505" y="1920"/>
            <a:chExt cx="4823" cy="2139"/>
          </a:xfrm>
        </p:grpSpPr>
        <p:grpSp>
          <p:nvGrpSpPr>
            <p:cNvPr id="3" name="Group 40"/>
            <p:cNvGrpSpPr/>
            <p:nvPr/>
          </p:nvGrpSpPr>
          <p:grpSpPr bwMode="auto">
            <a:xfrm>
              <a:off x="528" y="1920"/>
              <a:ext cx="4800" cy="2139"/>
              <a:chOff x="528" y="1920"/>
              <a:chExt cx="4800" cy="2139"/>
            </a:xfrm>
          </p:grpSpPr>
          <p:grpSp>
            <p:nvGrpSpPr>
              <p:cNvPr id="4" name="Group 38"/>
              <p:cNvGrpSpPr/>
              <p:nvPr/>
            </p:nvGrpSpPr>
            <p:grpSpPr bwMode="auto">
              <a:xfrm>
                <a:off x="528" y="1920"/>
                <a:ext cx="4800" cy="2139"/>
                <a:chOff x="528" y="1920"/>
                <a:chExt cx="4800" cy="2139"/>
              </a:xfrm>
            </p:grpSpPr>
            <p:grpSp>
              <p:nvGrpSpPr>
                <p:cNvPr id="5" name="Group 35"/>
                <p:cNvGrpSpPr/>
                <p:nvPr/>
              </p:nvGrpSpPr>
              <p:grpSpPr bwMode="auto">
                <a:xfrm>
                  <a:off x="528" y="1920"/>
                  <a:ext cx="4800" cy="2139"/>
                  <a:chOff x="528" y="1920"/>
                  <a:chExt cx="4800" cy="2139"/>
                </a:xfrm>
              </p:grpSpPr>
              <p:pic>
                <p:nvPicPr>
                  <p:cNvPr id="36880" name="Picture 33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28" y="1920"/>
                    <a:ext cx="4800" cy="213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36881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448"/>
                    <a:ext cx="288" cy="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878" name="Line 36"/>
                <p:cNvSpPr>
                  <a:spLocks noChangeShapeType="1"/>
                </p:cNvSpPr>
                <p:nvPr/>
              </p:nvSpPr>
              <p:spPr bwMode="auto">
                <a:xfrm>
                  <a:off x="2880" y="2448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879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072" y="2448"/>
                  <a:ext cx="192" cy="144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876" name="Oval 39"/>
              <p:cNvSpPr>
                <a:spLocks noChangeArrowheads="1"/>
              </p:cNvSpPr>
              <p:nvPr/>
            </p:nvSpPr>
            <p:spPr bwMode="auto">
              <a:xfrm flipV="1">
                <a:off x="3024" y="2496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74" name="Text Box 41"/>
            <p:cNvSpPr txBox="1">
              <a:spLocks noChangeArrowheads="1"/>
            </p:cNvSpPr>
            <p:nvPr/>
          </p:nvSpPr>
          <p:spPr bwMode="auto">
            <a:xfrm rot="-5400000">
              <a:off x="104" y="3196"/>
              <a:ext cx="1089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/>
              <a:r>
                <a:rPr lang="zh-CN" altLang="en-US" sz="2400" b="1"/>
                <a:t>公称尺寸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3" grpId="0" build="p" autoUpdateAnimBg="0"/>
      <p:bldP spid="11285" grpId="0" autoUpdateAnimBg="0"/>
      <p:bldP spid="11294" grpId="0" autoUpdateAnimBg="0"/>
      <p:bldP spid="1129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BA06E9-BE4D-4DBE-A760-E4F41620968A}" type="slidenum">
              <a:rPr lang="en-US" altLang="zh-CN" sz="2000" smtClean="0">
                <a:solidFill>
                  <a:schemeClr val="accent2"/>
                </a:solidFill>
              </a:rPr>
              <a:pPr eaLnBrk="1" hangingPunct="1"/>
              <a:t>9</a:t>
            </a:fld>
            <a:endParaRPr lang="en-US" altLang="zh-CN" sz="2000" smtClean="0">
              <a:solidFill>
                <a:schemeClr val="accent2"/>
              </a:solidFill>
            </a:endParaRP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1076300" y="1142984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ES</a:t>
            </a:r>
            <a:r>
              <a:rPr lang="zh-CN" altLang="en-US" b="1" dirty="0"/>
              <a:t>＝</a:t>
            </a:r>
            <a:r>
              <a:rPr lang="en-US" altLang="zh-CN" b="1" i="1" dirty="0" err="1"/>
              <a:t>D</a:t>
            </a:r>
            <a:r>
              <a:rPr lang="en-US" altLang="zh-CN" b="1" baseline="-25000" dirty="0" err="1"/>
              <a:t>max</a:t>
            </a:r>
            <a:r>
              <a:rPr lang="zh-CN" altLang="en-US" b="1" dirty="0"/>
              <a:t>－</a:t>
            </a:r>
            <a:r>
              <a:rPr lang="en-US" altLang="zh-CN" b="1" i="1" dirty="0"/>
              <a:t>D </a:t>
            </a:r>
            <a:r>
              <a:rPr lang="zh-CN" altLang="en-US" b="1" dirty="0"/>
              <a:t>；    </a:t>
            </a:r>
            <a:r>
              <a:rPr lang="en-US" altLang="zh-CN" b="1" dirty="0" err="1"/>
              <a:t>es</a:t>
            </a:r>
            <a:r>
              <a:rPr lang="zh-CN" altLang="en-US" b="1" dirty="0"/>
              <a:t>＝</a:t>
            </a:r>
            <a:r>
              <a:rPr lang="en-US" altLang="zh-CN" b="1" i="1" dirty="0" err="1"/>
              <a:t>d</a:t>
            </a:r>
            <a:r>
              <a:rPr lang="en-US" altLang="zh-CN" b="1" baseline="-25000" dirty="0" err="1"/>
              <a:t>max</a:t>
            </a:r>
            <a:r>
              <a:rPr lang="zh-CN" altLang="en-US" b="1" dirty="0"/>
              <a:t>－</a:t>
            </a:r>
            <a:r>
              <a:rPr lang="en-US" altLang="zh-CN" b="1" i="1" dirty="0"/>
              <a:t>d     </a:t>
            </a:r>
            <a:r>
              <a:rPr lang="en-US" altLang="zh-CN" b="1" i="1" dirty="0" smtClean="0"/>
              <a:t>    </a:t>
            </a: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endParaRPr lang="zh-CN" altLang="en-US" b="1" baseline="-25000" dirty="0"/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1076300" y="1828784"/>
            <a:ext cx="775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EI</a:t>
            </a:r>
            <a:r>
              <a:rPr lang="zh-CN" altLang="en-US" b="1" dirty="0"/>
              <a:t>＝</a:t>
            </a:r>
            <a:r>
              <a:rPr lang="en-US" altLang="zh-CN" b="1" i="1" dirty="0" err="1"/>
              <a:t>D</a:t>
            </a:r>
            <a:r>
              <a:rPr lang="en-US" altLang="zh-CN" b="1" dirty="0" err="1"/>
              <a:t>min</a:t>
            </a:r>
            <a:r>
              <a:rPr lang="zh-CN" altLang="en-US" b="1" dirty="0"/>
              <a:t>－</a:t>
            </a:r>
            <a:r>
              <a:rPr lang="en-US" altLang="zh-CN" b="1" i="1" dirty="0"/>
              <a:t>D </a:t>
            </a:r>
            <a:r>
              <a:rPr lang="zh-CN" altLang="en-US" b="1" dirty="0"/>
              <a:t>；    </a:t>
            </a:r>
            <a:r>
              <a:rPr lang="en-US" altLang="zh-CN" b="1" dirty="0" err="1"/>
              <a:t>ei</a:t>
            </a:r>
            <a:r>
              <a:rPr lang="zh-CN" altLang="en-US" b="1" dirty="0"/>
              <a:t>＝</a:t>
            </a:r>
            <a:r>
              <a:rPr lang="en-US" altLang="zh-CN" b="1" i="1" dirty="0" err="1"/>
              <a:t>d</a:t>
            </a:r>
            <a:r>
              <a:rPr lang="en-US" altLang="zh-CN" b="1" baseline="-25000" dirty="0" err="1"/>
              <a:t>min</a:t>
            </a:r>
            <a:r>
              <a:rPr lang="zh-CN" altLang="en-US" b="1" dirty="0"/>
              <a:t>－</a:t>
            </a:r>
            <a:r>
              <a:rPr lang="en-US" altLang="zh-CN" b="1" i="1" dirty="0"/>
              <a:t>d          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en-US" b="1" i="1" dirty="0"/>
              <a:t>                     </a:t>
            </a:r>
            <a:endParaRPr lang="zh-CN" altLang="en-US" b="1" dirty="0"/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1076300" y="2514584"/>
            <a:ext cx="760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 dirty="0"/>
              <a:t>T</a:t>
            </a:r>
            <a:r>
              <a:rPr lang="en-US" altLang="zh-CN" b="1" baseline="-25000" dirty="0"/>
              <a:t>D</a:t>
            </a:r>
            <a:r>
              <a:rPr lang="zh-CN" altLang="en-US" b="1" dirty="0"/>
              <a:t>＝｜</a:t>
            </a:r>
            <a:r>
              <a:rPr lang="en-US" altLang="zh-CN" b="1" dirty="0"/>
              <a:t>ES</a:t>
            </a:r>
            <a:r>
              <a:rPr lang="zh-CN" altLang="en-US" b="1" dirty="0"/>
              <a:t>－</a:t>
            </a:r>
            <a:r>
              <a:rPr lang="en-US" altLang="zh-CN" b="1" dirty="0"/>
              <a:t>EI</a:t>
            </a:r>
            <a:r>
              <a:rPr lang="zh-CN" altLang="en-US" b="1" dirty="0"/>
              <a:t>｜；</a:t>
            </a:r>
            <a:r>
              <a:rPr lang="en-US" altLang="zh-CN" b="1" i="1" dirty="0"/>
              <a:t>T</a:t>
            </a:r>
            <a:r>
              <a:rPr lang="en-US" altLang="zh-CN" b="1" baseline="-25000" dirty="0"/>
              <a:t>d</a:t>
            </a:r>
            <a:r>
              <a:rPr lang="zh-CN" altLang="en-US" b="1" dirty="0"/>
              <a:t>＝｜</a:t>
            </a:r>
            <a:r>
              <a:rPr lang="en-US" altLang="zh-CN" b="1" dirty="0" err="1"/>
              <a:t>es</a:t>
            </a:r>
            <a:r>
              <a:rPr lang="zh-CN" altLang="en-US" b="1" dirty="0"/>
              <a:t>－</a:t>
            </a:r>
            <a:r>
              <a:rPr lang="en-US" altLang="zh-CN" b="1" dirty="0" err="1"/>
              <a:t>ei</a:t>
            </a:r>
            <a:r>
              <a:rPr lang="zh-CN" altLang="en-US" b="1" dirty="0"/>
              <a:t>｜    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</a:p>
        </p:txBody>
      </p:sp>
      <p:sp>
        <p:nvSpPr>
          <p:cNvPr id="21536" name="Text Box 32"/>
          <p:cNvSpPr txBox="1">
            <a:spLocks noChangeArrowheads="1"/>
          </p:cNvSpPr>
          <p:nvPr/>
        </p:nvSpPr>
        <p:spPr bwMode="auto">
          <a:xfrm>
            <a:off x="1076300" y="3200384"/>
            <a:ext cx="7532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 dirty="0"/>
              <a:t> </a:t>
            </a:r>
            <a:r>
              <a:rPr lang="en-US" altLang="zh-CN" b="1" i="1" dirty="0" err="1"/>
              <a:t>X</a:t>
            </a:r>
            <a:r>
              <a:rPr lang="en-US" altLang="zh-CN" b="1" baseline="-25000" dirty="0" err="1"/>
              <a:t>max</a:t>
            </a:r>
            <a:r>
              <a:rPr lang="zh-CN" altLang="en-US" b="1" dirty="0"/>
              <a:t>（</a:t>
            </a:r>
            <a:r>
              <a:rPr lang="en-US" altLang="zh-CN" b="1" i="1" dirty="0" err="1"/>
              <a:t>Y</a:t>
            </a:r>
            <a:r>
              <a:rPr lang="en-US" altLang="zh-CN" b="1" baseline="-25000" dirty="0" err="1"/>
              <a:t>min</a:t>
            </a:r>
            <a:r>
              <a:rPr lang="en-US" altLang="zh-CN" b="1" i="1" dirty="0"/>
              <a:t> </a:t>
            </a:r>
            <a:r>
              <a:rPr lang="zh-CN" altLang="en-US" b="1" dirty="0"/>
              <a:t>）＝</a:t>
            </a:r>
            <a:r>
              <a:rPr lang="en-US" altLang="zh-CN" b="1" dirty="0"/>
              <a:t>ES</a:t>
            </a:r>
            <a:r>
              <a:rPr lang="zh-CN" altLang="en-US" b="1" dirty="0"/>
              <a:t>－</a:t>
            </a:r>
            <a:r>
              <a:rPr lang="en-US" altLang="zh-CN" b="1" dirty="0" err="1"/>
              <a:t>ei</a:t>
            </a:r>
            <a:r>
              <a:rPr lang="en-US" altLang="zh-CN" b="1" dirty="0"/>
              <a:t> </a:t>
            </a:r>
            <a:r>
              <a:rPr lang="zh-CN" altLang="en-US" b="1" dirty="0"/>
              <a:t>；                   （</a:t>
            </a:r>
            <a:r>
              <a:rPr lang="en-US" altLang="zh-CN" b="1" dirty="0"/>
              <a:t>4</a:t>
            </a:r>
            <a:r>
              <a:rPr lang="zh-CN" altLang="en-US" b="1" dirty="0"/>
              <a:t>）              </a:t>
            </a:r>
          </a:p>
        </p:txBody>
      </p:sp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1076300" y="3886184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/>
              <a:t> X</a:t>
            </a:r>
            <a:r>
              <a:rPr lang="en-US" altLang="zh-CN" b="1" baseline="-25000"/>
              <a:t>min</a:t>
            </a:r>
            <a:r>
              <a:rPr lang="zh-CN" altLang="en-US" b="1"/>
              <a:t>（</a:t>
            </a:r>
            <a:r>
              <a:rPr lang="en-US" altLang="zh-CN" b="1" i="1"/>
              <a:t>Y</a:t>
            </a:r>
            <a:r>
              <a:rPr lang="en-US" altLang="zh-CN" b="1" baseline="-25000"/>
              <a:t>max</a:t>
            </a:r>
            <a:r>
              <a:rPr lang="en-US" altLang="zh-CN" b="1" i="1"/>
              <a:t> </a:t>
            </a:r>
            <a:r>
              <a:rPr lang="zh-CN" altLang="en-US" b="1"/>
              <a:t>）＝</a:t>
            </a:r>
            <a:r>
              <a:rPr lang="en-US" altLang="zh-CN" b="1"/>
              <a:t>EI</a:t>
            </a:r>
            <a:r>
              <a:rPr lang="zh-CN" altLang="en-US" b="1"/>
              <a:t>－</a:t>
            </a:r>
            <a:r>
              <a:rPr lang="en-US" altLang="zh-CN" b="1"/>
              <a:t>es                        </a:t>
            </a:r>
            <a:r>
              <a:rPr lang="zh-CN" altLang="en-US" b="1"/>
              <a:t>（</a:t>
            </a:r>
            <a:r>
              <a:rPr lang="en-US" altLang="zh-CN" b="1"/>
              <a:t>5</a:t>
            </a:r>
            <a:r>
              <a:rPr lang="zh-CN" altLang="en-US" b="1"/>
              <a:t>）</a:t>
            </a:r>
          </a:p>
        </p:txBody>
      </p:sp>
      <p:sp>
        <p:nvSpPr>
          <p:cNvPr id="21538" name="Text Box 34"/>
          <p:cNvSpPr txBox="1">
            <a:spLocks noChangeArrowheads="1"/>
          </p:cNvSpPr>
          <p:nvPr/>
        </p:nvSpPr>
        <p:spPr bwMode="auto">
          <a:xfrm>
            <a:off x="1000100" y="4571984"/>
            <a:ext cx="769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i="1"/>
              <a:t> T</a:t>
            </a:r>
            <a:r>
              <a:rPr lang="en-US" altLang="zh-CN" b="1" baseline="-25000"/>
              <a:t>f </a:t>
            </a:r>
            <a:r>
              <a:rPr lang="zh-CN" altLang="en-US" b="1"/>
              <a:t>＝ ｜</a:t>
            </a:r>
            <a:r>
              <a:rPr lang="en-US" altLang="zh-CN" b="1" i="1"/>
              <a:t>X</a:t>
            </a:r>
            <a:r>
              <a:rPr lang="en-US" altLang="zh-CN" b="1" baseline="-25000"/>
              <a:t>max</a:t>
            </a:r>
            <a:r>
              <a:rPr lang="zh-CN" altLang="en-US" b="1"/>
              <a:t>（</a:t>
            </a:r>
            <a:r>
              <a:rPr lang="en-US" altLang="zh-CN" b="1" i="1"/>
              <a:t>Y</a:t>
            </a:r>
            <a:r>
              <a:rPr lang="en-US" altLang="zh-CN" b="1" baseline="-25000"/>
              <a:t>min</a:t>
            </a:r>
            <a:r>
              <a:rPr lang="en-US" altLang="zh-CN" b="1" i="1"/>
              <a:t> </a:t>
            </a:r>
            <a:r>
              <a:rPr lang="zh-CN" altLang="en-US" b="1"/>
              <a:t>） － </a:t>
            </a:r>
            <a:r>
              <a:rPr lang="en-US" altLang="zh-CN" b="1" i="1"/>
              <a:t>X</a:t>
            </a:r>
            <a:r>
              <a:rPr lang="en-US" altLang="zh-CN" b="1" baseline="-25000"/>
              <a:t>min</a:t>
            </a:r>
            <a:r>
              <a:rPr lang="zh-CN" altLang="en-US" b="1"/>
              <a:t>（</a:t>
            </a:r>
            <a:r>
              <a:rPr lang="en-US" altLang="zh-CN" b="1" i="1"/>
              <a:t>Y</a:t>
            </a:r>
            <a:r>
              <a:rPr lang="en-US" altLang="zh-CN" b="1" baseline="-25000"/>
              <a:t>max</a:t>
            </a:r>
            <a:r>
              <a:rPr lang="en-US" altLang="zh-CN" b="1" i="1"/>
              <a:t> </a:t>
            </a:r>
            <a:r>
              <a:rPr lang="zh-CN" altLang="en-US" b="1"/>
              <a:t>）｜               </a:t>
            </a:r>
          </a:p>
        </p:txBody>
      </p:sp>
      <p:sp>
        <p:nvSpPr>
          <p:cNvPr id="21541" name="Text Box 37"/>
          <p:cNvSpPr txBox="1">
            <a:spLocks noChangeArrowheads="1"/>
          </p:cNvSpPr>
          <p:nvPr/>
        </p:nvSpPr>
        <p:spPr bwMode="auto">
          <a:xfrm>
            <a:off x="990600" y="362744"/>
            <a:ext cx="7542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</a:rPr>
              <a:t>必须掌握的六个计算公式</a:t>
            </a:r>
          </a:p>
        </p:txBody>
      </p: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1381100" y="5181584"/>
            <a:ext cx="7372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＝</a:t>
            </a:r>
            <a:r>
              <a:rPr lang="en-US" altLang="zh-CN" b="1" i="1" dirty="0"/>
              <a:t>T</a:t>
            </a:r>
            <a:r>
              <a:rPr lang="en-US" altLang="zh-CN" b="1" baseline="-25000" dirty="0"/>
              <a:t>D</a:t>
            </a:r>
            <a:r>
              <a:rPr lang="zh-CN" altLang="en-US" b="1" dirty="0"/>
              <a:t>＋</a:t>
            </a:r>
            <a:r>
              <a:rPr lang="en-US" altLang="zh-CN" b="1" i="1" dirty="0"/>
              <a:t>T</a:t>
            </a:r>
            <a:r>
              <a:rPr lang="en-US" altLang="zh-CN" b="1" baseline="-25000" dirty="0"/>
              <a:t>d                                                                   </a:t>
            </a:r>
            <a:r>
              <a:rPr lang="zh-CN" altLang="en-US" b="1" dirty="0"/>
              <a:t>（</a:t>
            </a:r>
            <a:r>
              <a:rPr lang="en-US" altLang="zh-CN" b="1" dirty="0"/>
              <a:t>6</a:t>
            </a:r>
            <a:r>
              <a:rPr lang="zh-CN" altLang="en-US" b="1" dirty="0"/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786" y="5857892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例题及课后作业题。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注：设计题最后要验算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3" grpId="0" autoUpdateAnimBg="0"/>
      <p:bldP spid="21534" grpId="0" autoUpdateAnimBg="0"/>
      <p:bldP spid="21535" grpId="0" autoUpdateAnimBg="0"/>
      <p:bldP spid="21536" grpId="0" autoUpdateAnimBg="0"/>
      <p:bldP spid="21537" grpId="0" autoUpdateAnimBg="0"/>
      <p:bldP spid="21538" grpId="0" autoUpdateAnimBg="0"/>
      <p:bldP spid="21541" grpId="0" autoUpdateAnimBg="0"/>
      <p:bldP spid="2154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51CE22-1B46-4F7A-A815-CAD5E9B72319}" type="slidenum">
              <a:rPr lang="en-US" altLang="zh-CN" sz="2000" smtClean="0">
                <a:solidFill>
                  <a:schemeClr val="accent2"/>
                </a:solidFill>
              </a:rPr>
              <a:pPr eaLnBrk="1" hangingPunct="1"/>
              <a:t>10</a:t>
            </a:fld>
            <a:endParaRPr lang="en-US" altLang="zh-CN" sz="2000" smtClean="0">
              <a:solidFill>
                <a:schemeClr val="accent2"/>
              </a:solidFill>
            </a:endParaRPr>
          </a:p>
        </p:txBody>
      </p:sp>
      <p:sp>
        <p:nvSpPr>
          <p:cNvPr id="42001" name="Text Box 1041"/>
          <p:cNvSpPr txBox="1">
            <a:spLocks noChangeArrowheads="1"/>
          </p:cNvSpPr>
          <p:nvPr/>
        </p:nvSpPr>
        <p:spPr bwMode="auto">
          <a:xfrm>
            <a:off x="1752600" y="838200"/>
            <a:ext cx="217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accent1"/>
                </a:solidFill>
              </a:rPr>
              <a:t>画法</a:t>
            </a:r>
            <a:r>
              <a:rPr lang="en-US" altLang="zh-CN" b="1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2002" name="Text Box 1042"/>
          <p:cNvSpPr txBox="1">
            <a:spLocks noChangeArrowheads="1"/>
          </p:cNvSpPr>
          <p:nvPr/>
        </p:nvSpPr>
        <p:spPr bwMode="auto">
          <a:xfrm>
            <a:off x="6072198" y="857232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画法</a:t>
            </a:r>
            <a:r>
              <a:rPr lang="en-US" altLang="zh-CN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42003" name="Text Box 1043"/>
          <p:cNvSpPr txBox="1">
            <a:spLocks noChangeArrowheads="1"/>
          </p:cNvSpPr>
          <p:nvPr/>
        </p:nvSpPr>
        <p:spPr bwMode="auto">
          <a:xfrm>
            <a:off x="539750" y="228600"/>
            <a:ext cx="673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/>
              <a:t>画</a:t>
            </a:r>
            <a:r>
              <a:rPr lang="zh-CN" altLang="en-US" b="1" dirty="0"/>
              <a:t>尺寸公差带</a:t>
            </a:r>
            <a:r>
              <a:rPr lang="zh-CN" altLang="en-US" b="1" dirty="0" smtClean="0"/>
              <a:t>图</a:t>
            </a:r>
            <a:endParaRPr lang="zh-CN" altLang="en-US" b="1" dirty="0"/>
          </a:p>
        </p:txBody>
      </p:sp>
      <p:sp>
        <p:nvSpPr>
          <p:cNvPr id="42015" name="Line 1055"/>
          <p:cNvSpPr>
            <a:spLocks noChangeShapeType="1"/>
          </p:cNvSpPr>
          <p:nvPr/>
        </p:nvSpPr>
        <p:spPr bwMode="auto">
          <a:xfrm>
            <a:off x="4572000" y="1295400"/>
            <a:ext cx="0" cy="50139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 bwMode="auto">
          <a:xfrm>
            <a:off x="685800" y="1676400"/>
            <a:ext cx="3651140" cy="4240213"/>
            <a:chOff x="685800" y="1676400"/>
            <a:chExt cx="3651250" cy="4240942"/>
          </a:xfrm>
        </p:grpSpPr>
        <p:pic>
          <p:nvPicPr>
            <p:cNvPr id="21515" name="Picture 105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676400"/>
              <a:ext cx="3651250" cy="419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116026" y="5517223"/>
              <a:ext cx="3170331" cy="4001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zh-CN" sz="2000" b="1" dirty="0"/>
                <a:t>(a)  </a:t>
              </a:r>
              <a:r>
                <a:rPr lang="zh-CN" altLang="en-US" sz="2000" b="1" dirty="0"/>
                <a:t>公差单位为</a:t>
              </a:r>
              <a:r>
                <a:rPr lang="en-US" altLang="zh-CN" sz="2000" b="1" dirty="0"/>
                <a:t>mm</a:t>
              </a:r>
              <a:r>
                <a:rPr lang="zh-CN" altLang="en-US" sz="2000" b="1" dirty="0"/>
                <a:t>的画法</a:t>
              </a:r>
            </a:p>
          </p:txBody>
        </p:sp>
      </p:grpSp>
      <p:grpSp>
        <p:nvGrpSpPr>
          <p:cNvPr id="4" name="组合 3"/>
          <p:cNvGrpSpPr/>
          <p:nvPr/>
        </p:nvGrpSpPr>
        <p:grpSpPr bwMode="auto">
          <a:xfrm>
            <a:off x="4975225" y="1708150"/>
            <a:ext cx="3606549" cy="4168775"/>
            <a:chOff x="4974965" y="1676400"/>
            <a:chExt cx="3607060" cy="4168934"/>
          </a:xfrm>
        </p:grpSpPr>
        <p:pic>
          <p:nvPicPr>
            <p:cNvPr id="21513" name="Picture 105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1676400"/>
              <a:ext cx="3541712" cy="411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4974965" y="5445269"/>
              <a:ext cx="3312020" cy="4000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zh-CN" sz="2000" b="1" dirty="0"/>
                <a:t>(b)  </a:t>
              </a:r>
              <a:r>
                <a:rPr lang="zh-CN" altLang="en-US" sz="2000" b="1" dirty="0"/>
                <a:t>公差单位为</a:t>
              </a:r>
              <a:r>
                <a:rPr lang="en-US" altLang="zh-CN" sz="2000" b="1" dirty="0" err="1"/>
                <a:t>μm</a:t>
              </a:r>
              <a:r>
                <a:rPr lang="zh-CN" altLang="en-US" sz="2000" b="1" dirty="0"/>
                <a:t>的画法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1" grpId="0" autoUpdateAnimBg="0"/>
      <p:bldP spid="42002" grpId="0" autoUpdateAnimBg="0"/>
      <p:bldP spid="42003" grpId="0" autoUpdateAnimBg="0"/>
      <p:bldP spid="420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91313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39420" indent="-168910" defTabSz="91313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676275" indent="-135255" defTabSz="91313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946785" indent="-135255" defTabSz="91313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216660" indent="-135255" defTabSz="91313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487170" indent="-135255" algn="ctr" defTabSz="91313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1757680" indent="-135255" algn="ctr" defTabSz="91313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028190" indent="-135255" algn="ctr" defTabSz="91313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298700" indent="-135255" algn="ctr" defTabSz="91313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B76239-C0E1-4A07-A460-22E8EFA55A08}" type="slidenum">
              <a:rPr lang="en-US" altLang="zh-CN" sz="2000" smtClean="0">
                <a:solidFill>
                  <a:srgbClr val="0000FF"/>
                </a:solidFill>
              </a:rPr>
              <a:pPr eaLnBrk="1" hangingPunct="1"/>
              <a:t>11</a:t>
            </a:fld>
            <a:endParaRPr lang="en-US" altLang="zh-CN" sz="2000" dirty="0" smtClean="0">
              <a:solidFill>
                <a:srgbClr val="0000FF"/>
              </a:solidFill>
            </a:endParaRPr>
          </a:p>
        </p:txBody>
      </p:sp>
      <p:sp>
        <p:nvSpPr>
          <p:cNvPr id="6172" name="Text Box 28"/>
          <p:cNvSpPr txBox="1">
            <a:spLocks noChangeArrowheads="1"/>
          </p:cNvSpPr>
          <p:nvPr/>
        </p:nvSpPr>
        <p:spPr bwMode="auto">
          <a:xfrm>
            <a:off x="3571868" y="142852"/>
            <a:ext cx="1785950" cy="584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5" tIns="45712" rIns="91425" bIns="45712">
            <a:spAutoFit/>
          </a:bodyPr>
          <a:lstStyle>
            <a:lvl1pPr defTabSz="154432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4432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4432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4432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4432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154432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154432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154432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154432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 b="1" dirty="0" smtClean="0">
                <a:latin typeface="宋体" panose="02010600030101010101" pitchFamily="2" charset="-122"/>
              </a:rPr>
              <a:t>第四章</a:t>
            </a:r>
            <a:endParaRPr lang="zh-CN" altLang="en-US" sz="3200" b="1" dirty="0">
              <a:latin typeface="宋体" panose="02010600030101010101" pitchFamily="2" charset="-122"/>
            </a:endParaRPr>
          </a:p>
        </p:txBody>
      </p:sp>
      <p:sp>
        <p:nvSpPr>
          <p:cNvPr id="6183" name="Text Box 39"/>
          <p:cNvSpPr txBox="1">
            <a:spLocks noChangeArrowheads="1"/>
          </p:cNvSpPr>
          <p:nvPr/>
        </p:nvSpPr>
        <p:spPr bwMode="auto">
          <a:xfrm>
            <a:off x="376354" y="893990"/>
            <a:ext cx="6481662" cy="534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87" tIns="27043" rIns="54087" bIns="2704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sz="2600" b="1" dirty="0"/>
              <a:t>1. </a:t>
            </a:r>
            <a:r>
              <a:rPr lang="zh-CN" altLang="en-US" sz="2600" b="1" dirty="0"/>
              <a:t>几何公差的类型、几何特征及其</a:t>
            </a:r>
            <a:r>
              <a:rPr lang="zh-CN" altLang="en-US" sz="2600" b="1" dirty="0" smtClean="0"/>
              <a:t>符号。</a:t>
            </a:r>
            <a:endParaRPr lang="zh-CN" altLang="en-US" sz="2600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57224" y="1643050"/>
            <a:ext cx="7358114" cy="941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FF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87" tIns="27043" rIns="54087" bIns="2704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1" dirty="0" smtClean="0">
                <a:solidFill>
                  <a:srgbClr val="FF3300"/>
                </a:solidFill>
              </a:rPr>
              <a:t>        几何</a:t>
            </a:r>
            <a:r>
              <a:rPr lang="zh-CN" altLang="en-US" b="1" dirty="0">
                <a:solidFill>
                  <a:srgbClr val="FF3300"/>
                </a:solidFill>
              </a:rPr>
              <a:t>公差</a:t>
            </a:r>
            <a:r>
              <a:rPr lang="zh-CN" altLang="en-US" b="1" dirty="0"/>
              <a:t>分为</a:t>
            </a:r>
            <a:r>
              <a:rPr lang="zh-CN" altLang="en-US" b="1" dirty="0">
                <a:solidFill>
                  <a:srgbClr val="FF3300"/>
                </a:solidFill>
              </a:rPr>
              <a:t>形状</a:t>
            </a:r>
            <a:r>
              <a:rPr lang="zh-CN" altLang="en-US" b="1" dirty="0"/>
              <a:t>公差</a:t>
            </a:r>
            <a:r>
              <a:rPr lang="en-US" altLang="zh-CN" b="1" dirty="0"/>
              <a:t>(6</a:t>
            </a:r>
            <a:r>
              <a:rPr lang="zh-CN" altLang="en-US" b="1" dirty="0"/>
              <a:t>项</a:t>
            </a:r>
            <a:r>
              <a:rPr lang="en-US" altLang="zh-CN" b="1" dirty="0"/>
              <a:t>)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3300"/>
                </a:solidFill>
              </a:rPr>
              <a:t>方向</a:t>
            </a:r>
            <a:r>
              <a:rPr lang="zh-CN" altLang="en-US" b="1" dirty="0"/>
              <a:t>公差（</a:t>
            </a:r>
            <a:r>
              <a:rPr lang="en-US" altLang="zh-CN" b="1" dirty="0"/>
              <a:t>5</a:t>
            </a:r>
            <a:r>
              <a:rPr lang="zh-CN" altLang="en-US" b="1" dirty="0"/>
              <a:t>项）、</a:t>
            </a:r>
            <a:r>
              <a:rPr lang="zh-CN" altLang="en-US" b="1" dirty="0">
                <a:solidFill>
                  <a:srgbClr val="FF3300"/>
                </a:solidFill>
              </a:rPr>
              <a:t>位置</a:t>
            </a:r>
            <a:r>
              <a:rPr lang="zh-CN" altLang="en-US" b="1" dirty="0"/>
              <a:t>公差（</a:t>
            </a:r>
            <a:r>
              <a:rPr lang="en-US" altLang="zh-CN" b="1" dirty="0"/>
              <a:t>6</a:t>
            </a:r>
            <a:r>
              <a:rPr lang="zh-CN" altLang="en-US" b="1" dirty="0"/>
              <a:t>项）和</a:t>
            </a:r>
            <a:r>
              <a:rPr lang="zh-CN" altLang="en-US" b="1" dirty="0">
                <a:solidFill>
                  <a:srgbClr val="FF3300"/>
                </a:solidFill>
              </a:rPr>
              <a:t>跳动</a:t>
            </a:r>
            <a:r>
              <a:rPr lang="zh-CN" altLang="en-US" b="1" dirty="0"/>
              <a:t>公差（</a:t>
            </a:r>
            <a:r>
              <a:rPr lang="en-US" altLang="zh-CN" b="1" dirty="0"/>
              <a:t>2</a:t>
            </a:r>
            <a:r>
              <a:rPr lang="zh-CN" altLang="en-US" b="1" dirty="0"/>
              <a:t>项）共</a:t>
            </a:r>
            <a:r>
              <a:rPr lang="zh-CN" altLang="en-US" b="1" dirty="0">
                <a:solidFill>
                  <a:srgbClr val="FF3300"/>
                </a:solidFill>
              </a:rPr>
              <a:t>四类（</a:t>
            </a:r>
            <a:r>
              <a:rPr lang="en-US" altLang="zh-CN" b="1" dirty="0">
                <a:solidFill>
                  <a:srgbClr val="FF3300"/>
                </a:solidFill>
              </a:rPr>
              <a:t>19</a:t>
            </a:r>
            <a:r>
              <a:rPr lang="zh-CN" altLang="en-US" b="1" dirty="0">
                <a:solidFill>
                  <a:srgbClr val="FF3300"/>
                </a:solidFill>
              </a:rPr>
              <a:t>项）</a:t>
            </a:r>
            <a:r>
              <a:rPr lang="zh-CN" altLang="en-US" b="1" dirty="0"/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428596" y="2786058"/>
            <a:ext cx="3500462" cy="616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kumimoji="1" lang="zh-CN" altLang="en-US" sz="2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几何公差的标注方法</a:t>
            </a:r>
            <a:endParaRPr kumimoji="1" lang="en-US" altLang="zh-CN" sz="26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4810" y="2928934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课后习题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034" y="3643314"/>
            <a:ext cx="8429684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kumimoji="1" lang="zh-CN" altLang="en-US" sz="2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公差原则与公差要求</a:t>
            </a:r>
            <a:endParaRPr kumimoji="1" lang="en-US" altLang="zh-CN" sz="26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 smtClean="0"/>
              <a:t>    </a:t>
            </a:r>
            <a:r>
              <a:rPr lang="zh-CN" altLang="en-US" sz="2400" b="1" dirty="0" smtClean="0"/>
              <a:t>体外（体内）作用尺寸，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最大（最小）实体尺寸</a:t>
            </a:r>
            <a:r>
              <a:rPr lang="zh-CN" altLang="en-US" sz="2400" b="1" dirty="0" smtClean="0"/>
              <a:t>，最大实体实效尺寸，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包容要求</a:t>
            </a:r>
            <a:r>
              <a:rPr lang="zh-CN" altLang="en-US" sz="2400" b="1" dirty="0" smtClean="0"/>
              <a:t>，最大实体要求，及其合格判定条件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2" grpId="0" autoUpdateAnimBg="0"/>
      <p:bldP spid="6183" grpId="0" autoUpdateAnimBg="0"/>
      <p:bldP spid="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66C53D-F0BD-4839-9D50-C3D1072E673F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12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1398588" y="174625"/>
            <a:ext cx="6184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4.3 公差原则与公差要求 </a:t>
            </a:r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11138" y="930261"/>
            <a:ext cx="36099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   </a:t>
            </a:r>
            <a:r>
              <a:rPr lang="zh-CN" altLang="en-US" sz="2800" b="1" dirty="0"/>
              <a:t>公差原则 </a:t>
            </a:r>
            <a:r>
              <a:rPr lang="zh-CN" altLang="en-US" sz="2800" b="1" dirty="0">
                <a:cs typeface="Times New Roman" panose="02020603050405020304" pitchFamily="18" charset="0"/>
              </a:rPr>
              <a:t>—</a:t>
            </a:r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238032" y="1500851"/>
            <a:ext cx="4767360" cy="142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/>
              <a:t> </a:t>
            </a:r>
            <a:r>
              <a:rPr lang="zh-CN" altLang="en-US" sz="2800" b="1" dirty="0"/>
              <a:t>是指处理 </a:t>
            </a:r>
            <a:r>
              <a:rPr lang="en-US" altLang="zh-CN" sz="2800" b="1" i="1" dirty="0">
                <a:solidFill>
                  <a:srgbClr val="FF3300"/>
                </a:solidFill>
              </a:rPr>
              <a:t>t</a:t>
            </a:r>
            <a:r>
              <a:rPr lang="zh-CN" altLang="en-US" sz="2800" b="1" baseline="-30000" dirty="0">
                <a:solidFill>
                  <a:srgbClr val="FF3300"/>
                </a:solidFill>
              </a:rPr>
              <a:t>几何</a:t>
            </a:r>
            <a:r>
              <a:rPr lang="zh-CN" altLang="en-US" sz="2800" b="1" dirty="0"/>
              <a:t>和 </a:t>
            </a:r>
            <a:r>
              <a:rPr lang="en-US" altLang="zh-CN" sz="2800" b="1" i="1" dirty="0">
                <a:solidFill>
                  <a:srgbClr val="FF3300"/>
                </a:solidFill>
              </a:rPr>
              <a:t>T</a:t>
            </a:r>
            <a:r>
              <a:rPr lang="zh-CN" altLang="en-US" sz="2800" b="1" baseline="-30000" dirty="0">
                <a:solidFill>
                  <a:srgbClr val="FF3300"/>
                </a:solidFill>
              </a:rPr>
              <a:t>尺</a:t>
            </a:r>
            <a:r>
              <a:rPr lang="zh-CN" altLang="en-US" sz="2800" b="1" dirty="0"/>
              <a:t>之间</a:t>
            </a:r>
            <a:r>
              <a:rPr lang="zh-CN" altLang="en-US" sz="2800" b="1" dirty="0" smtClean="0"/>
              <a:t>关</a:t>
            </a:r>
            <a:endParaRPr lang="en-US" altLang="zh-CN" sz="2800" b="1" dirty="0" smtClean="0"/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 smtClean="0"/>
              <a:t> 系</a:t>
            </a:r>
            <a:r>
              <a:rPr lang="zh-CN" altLang="en-US" sz="2800" b="1" dirty="0"/>
              <a:t>应遵循的原则。</a:t>
            </a:r>
          </a:p>
        </p:txBody>
      </p:sp>
      <p:sp>
        <p:nvSpPr>
          <p:cNvPr id="3082" name="Rectangle 13"/>
          <p:cNvSpPr>
            <a:spLocks noChangeArrowheads="1"/>
          </p:cNvSpPr>
          <p:nvPr/>
        </p:nvSpPr>
        <p:spPr bwMode="auto">
          <a:xfrm>
            <a:off x="4787905" y="4025619"/>
            <a:ext cx="434975" cy="13176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1"/>
          <p:cNvGrpSpPr/>
          <p:nvPr/>
        </p:nvGrpSpPr>
        <p:grpSpPr>
          <a:xfrm>
            <a:off x="5088467" y="797976"/>
            <a:ext cx="3692102" cy="2348444"/>
            <a:chOff x="733302" y="2087939"/>
            <a:chExt cx="3757736" cy="2348444"/>
          </a:xfrm>
        </p:grpSpPr>
        <p:pic>
          <p:nvPicPr>
            <p:cNvPr id="3081" name="Picture 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302" y="2087939"/>
              <a:ext cx="3757736" cy="2348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" name="直接连接符 7"/>
            <p:cNvCxnSpPr/>
            <p:nvPr/>
          </p:nvCxnSpPr>
          <p:spPr bwMode="auto">
            <a:xfrm>
              <a:off x="2853485" y="2904565"/>
              <a:ext cx="163755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oup 34"/>
          <p:cNvGrpSpPr/>
          <p:nvPr/>
        </p:nvGrpSpPr>
        <p:grpSpPr bwMode="auto">
          <a:xfrm>
            <a:off x="288458" y="3082453"/>
            <a:ext cx="2362200" cy="1900238"/>
            <a:chOff x="97" y="397"/>
            <a:chExt cx="1488" cy="1197"/>
          </a:xfrm>
        </p:grpSpPr>
        <p:sp>
          <p:nvSpPr>
            <p:cNvPr id="26" name="Text Box 4"/>
            <p:cNvSpPr txBox="1">
              <a:spLocks noChangeArrowheads="1"/>
            </p:cNvSpPr>
            <p:nvPr/>
          </p:nvSpPr>
          <p:spPr bwMode="auto">
            <a:xfrm>
              <a:off x="97" y="580"/>
              <a:ext cx="1403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800" i="1" dirty="0">
                  <a:solidFill>
                    <a:srgbClr val="FF3300"/>
                  </a:solidFill>
                </a:rPr>
                <a:t>t</a:t>
              </a:r>
              <a:r>
                <a:rPr lang="zh-CN" altLang="en-US" sz="2800" b="1" baseline="-30000" dirty="0">
                  <a:solidFill>
                    <a:srgbClr val="FF3300"/>
                  </a:solidFill>
                </a:rPr>
                <a:t>几何</a:t>
              </a:r>
              <a:r>
                <a:rPr lang="zh-CN" altLang="en-US" sz="2800" b="1" baseline="-30000" dirty="0"/>
                <a:t> </a:t>
              </a:r>
              <a:r>
                <a:rPr lang="zh-CN" altLang="en-US" sz="2800" b="1" dirty="0"/>
                <a:t>和 </a:t>
              </a:r>
              <a:r>
                <a:rPr lang="en-US" altLang="zh-CN" sz="2800" b="1" i="1" dirty="0">
                  <a:solidFill>
                    <a:srgbClr val="FF3300"/>
                  </a:solidFill>
                </a:rPr>
                <a:t>T</a:t>
              </a:r>
              <a:r>
                <a:rPr lang="zh-CN" altLang="en-US" sz="2800" b="1" baseline="-30000" dirty="0">
                  <a:solidFill>
                    <a:srgbClr val="FF3300"/>
                  </a:solidFill>
                </a:rPr>
                <a:t>尺</a:t>
              </a:r>
              <a:r>
                <a:rPr lang="zh-CN" altLang="en-US" sz="2800" b="1" dirty="0"/>
                <a:t> 之 间的 关系：</a:t>
              </a:r>
            </a:p>
          </p:txBody>
        </p:sp>
        <p:sp>
          <p:nvSpPr>
            <p:cNvPr id="27" name="AutoShape 5"/>
            <p:cNvSpPr/>
            <p:nvPr/>
          </p:nvSpPr>
          <p:spPr bwMode="auto">
            <a:xfrm>
              <a:off x="1381" y="397"/>
              <a:ext cx="204" cy="1197"/>
            </a:xfrm>
            <a:prstGeom prst="leftBrace">
              <a:avLst>
                <a:gd name="adj1" fmla="val 4889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2755433" y="2914178"/>
            <a:ext cx="36083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无</a:t>
            </a:r>
            <a:r>
              <a:rPr lang="zh-CN" altLang="en-US" sz="2800" dirty="0"/>
              <a:t>：</a:t>
            </a:r>
            <a:r>
              <a:rPr lang="zh-CN" altLang="en-US" sz="2800" b="1" dirty="0"/>
              <a:t>独立原则</a:t>
            </a:r>
            <a:r>
              <a:rPr lang="zh-CN" altLang="en-US" dirty="0"/>
              <a:t> </a:t>
            </a:r>
          </a:p>
        </p:txBody>
      </p:sp>
      <p:grpSp>
        <p:nvGrpSpPr>
          <p:cNvPr id="4" name="Group 35"/>
          <p:cNvGrpSpPr/>
          <p:nvPr/>
        </p:nvGrpSpPr>
        <p:grpSpPr bwMode="auto">
          <a:xfrm>
            <a:off x="2755433" y="3907953"/>
            <a:ext cx="1438275" cy="1914525"/>
            <a:chOff x="1651" y="917"/>
            <a:chExt cx="906" cy="1206"/>
          </a:xfrm>
        </p:grpSpPr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1651" y="1330"/>
              <a:ext cx="9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/>
                <a:t>有： </a:t>
              </a:r>
            </a:p>
          </p:txBody>
        </p:sp>
        <p:sp>
          <p:nvSpPr>
            <p:cNvPr id="31" name="AutoShape 8"/>
            <p:cNvSpPr/>
            <p:nvPr/>
          </p:nvSpPr>
          <p:spPr bwMode="auto">
            <a:xfrm>
              <a:off x="2104" y="917"/>
              <a:ext cx="261" cy="1206"/>
            </a:xfrm>
            <a:prstGeom prst="leftBrace">
              <a:avLst>
                <a:gd name="adj1" fmla="val 3850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3893670" y="3649190"/>
            <a:ext cx="260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包容要求</a:t>
            </a:r>
            <a:r>
              <a:rPr lang="zh-CN" altLang="en-US" sz="2800"/>
              <a:t> 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3893670" y="4277840"/>
            <a:ext cx="2911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最大实体要求</a:t>
            </a:r>
            <a:r>
              <a:rPr lang="zh-CN" altLang="en-US" b="1"/>
              <a:t> </a:t>
            </a:r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3893670" y="4925540"/>
            <a:ext cx="3333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最小实体要求</a:t>
            </a:r>
            <a:r>
              <a:rPr lang="zh-CN" altLang="en-US"/>
              <a:t> 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3893670" y="5598640"/>
            <a:ext cx="2867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可逆要求</a:t>
            </a:r>
            <a:r>
              <a:rPr lang="zh-CN" altLang="en-US" sz="2800"/>
              <a:t> </a:t>
            </a:r>
          </a:p>
        </p:txBody>
      </p:sp>
      <p:grpSp>
        <p:nvGrpSpPr>
          <p:cNvPr id="5" name="Group 31"/>
          <p:cNvGrpSpPr/>
          <p:nvPr/>
        </p:nvGrpSpPr>
        <p:grpSpPr bwMode="auto">
          <a:xfrm>
            <a:off x="6490820" y="4276253"/>
            <a:ext cx="510072" cy="510069"/>
            <a:chOff x="4004" y="1149"/>
            <a:chExt cx="356" cy="356"/>
          </a:xfrm>
        </p:grpSpPr>
        <p:sp>
          <p:nvSpPr>
            <p:cNvPr id="37" name="Oval 15"/>
            <p:cNvSpPr>
              <a:spLocks noChangeArrowheads="1"/>
            </p:cNvSpPr>
            <p:nvPr/>
          </p:nvSpPr>
          <p:spPr bwMode="auto">
            <a:xfrm>
              <a:off x="4004" y="1149"/>
              <a:ext cx="356" cy="3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4053" y="1251"/>
              <a:ext cx="249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9"/>
          <p:cNvGrpSpPr/>
          <p:nvPr/>
        </p:nvGrpSpPr>
        <p:grpSpPr bwMode="auto">
          <a:xfrm>
            <a:off x="5867401" y="3479800"/>
            <a:ext cx="561987" cy="520704"/>
            <a:chOff x="3748" y="647"/>
            <a:chExt cx="400" cy="382"/>
          </a:xfrm>
        </p:grpSpPr>
        <p:sp>
          <p:nvSpPr>
            <p:cNvPr id="40" name="Oval 18"/>
            <p:cNvSpPr>
              <a:spLocks noChangeArrowheads="1"/>
            </p:cNvSpPr>
            <p:nvPr/>
          </p:nvSpPr>
          <p:spPr bwMode="auto">
            <a:xfrm>
              <a:off x="3748" y="647"/>
              <a:ext cx="400" cy="38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3813" y="738"/>
              <a:ext cx="257" cy="2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endParaRPr lang="zh-CN" altLang="en-US" sz="3600" kern="10" dirty="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3"/>
          <p:cNvGrpSpPr/>
          <p:nvPr/>
        </p:nvGrpSpPr>
        <p:grpSpPr bwMode="auto">
          <a:xfrm>
            <a:off x="6265333" y="4919133"/>
            <a:ext cx="521245" cy="510131"/>
            <a:chOff x="3837" y="1544"/>
            <a:chExt cx="385" cy="351"/>
          </a:xfrm>
        </p:grpSpPr>
        <p:sp>
          <p:nvSpPr>
            <p:cNvPr id="43" name="Oval 21"/>
            <p:cNvSpPr>
              <a:spLocks noChangeArrowheads="1"/>
            </p:cNvSpPr>
            <p:nvPr/>
          </p:nvSpPr>
          <p:spPr bwMode="auto">
            <a:xfrm>
              <a:off x="3837" y="1544"/>
              <a:ext cx="385" cy="35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3925" y="1630"/>
              <a:ext cx="256" cy="2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</a:t>
              </a:r>
              <a:endParaRPr lang="zh-CN" altLang="en-US" sz="3600" kern="10" dirty="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32"/>
          <p:cNvGrpSpPr/>
          <p:nvPr/>
        </p:nvGrpSpPr>
        <p:grpSpPr bwMode="auto">
          <a:xfrm>
            <a:off x="5832008" y="5633565"/>
            <a:ext cx="525942" cy="510079"/>
            <a:chOff x="3589" y="2004"/>
            <a:chExt cx="359" cy="335"/>
          </a:xfrm>
        </p:grpSpPr>
        <p:sp>
          <p:nvSpPr>
            <p:cNvPr id="46" name="Oval 24"/>
            <p:cNvSpPr>
              <a:spLocks noChangeArrowheads="1"/>
            </p:cNvSpPr>
            <p:nvPr/>
          </p:nvSpPr>
          <p:spPr bwMode="auto">
            <a:xfrm>
              <a:off x="3589" y="2004"/>
              <a:ext cx="359" cy="33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3651" y="2083"/>
              <a:ext cx="230" cy="18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build="p" autoUpdateAnimBg="0"/>
      <p:bldP spid="81925" grpId="0" autoUpdateAnimBg="0"/>
      <p:bldP spid="81926" grpId="0" autoUpdateAnimBg="0"/>
      <p:bldP spid="28" grpId="0" autoUpdateAnimBg="0"/>
      <p:bldP spid="32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444607" y="351680"/>
            <a:ext cx="4283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4.3.3 </a:t>
            </a:r>
            <a:r>
              <a:rPr lang="zh-CN" altLang="en-US" b="1" dirty="0">
                <a:latin typeface="宋体" panose="02010600030101010101" pitchFamily="2" charset="-122"/>
              </a:rPr>
              <a:t>包容要求（</a:t>
            </a:r>
            <a:r>
              <a:rPr lang="en-US" altLang="zh-CN" b="1" dirty="0">
                <a:latin typeface="宋体" panose="02010600030101010101" pitchFamily="2" charset="-122"/>
              </a:rPr>
              <a:t>ER）</a:t>
            </a:r>
            <a:endParaRPr lang="zh-CN" altLang="en-US" b="1" dirty="0"/>
          </a:p>
        </p:txBody>
      </p:sp>
      <p:grpSp>
        <p:nvGrpSpPr>
          <p:cNvPr id="3" name="Group 48"/>
          <p:cNvGrpSpPr/>
          <p:nvPr/>
        </p:nvGrpSpPr>
        <p:grpSpPr bwMode="auto">
          <a:xfrm>
            <a:off x="3116086" y="2000240"/>
            <a:ext cx="3474338" cy="1396169"/>
            <a:chOff x="192" y="2337"/>
            <a:chExt cx="2459" cy="1195"/>
          </a:xfrm>
        </p:grpSpPr>
        <p:pic>
          <p:nvPicPr>
            <p:cNvPr id="24599" name="Picture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b="27341"/>
            <a:stretch>
              <a:fillRect/>
            </a:stretch>
          </p:blipFill>
          <p:spPr bwMode="auto">
            <a:xfrm>
              <a:off x="192" y="2337"/>
              <a:ext cx="1693" cy="1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600" name="Text Box 42"/>
            <p:cNvSpPr txBox="1">
              <a:spLocks noChangeArrowheads="1"/>
            </p:cNvSpPr>
            <p:nvPr/>
          </p:nvSpPr>
          <p:spPr bwMode="auto">
            <a:xfrm>
              <a:off x="1913" y="2843"/>
              <a:ext cx="738" cy="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/>
                <a:t>包容要求</a:t>
              </a:r>
            </a:p>
          </p:txBody>
        </p:sp>
      </p:grp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357158" y="1142984"/>
            <a:ext cx="81703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      含义：实际要素应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遵守最大实体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边界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MMB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），即其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体外作用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尺寸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应不超出最大实体尺寸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MMS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）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,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其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实际尺寸不超出最小实体尺寸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（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LMS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）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5" name="Group 62"/>
          <p:cNvGrpSpPr/>
          <p:nvPr/>
        </p:nvGrpSpPr>
        <p:grpSpPr bwMode="auto">
          <a:xfrm>
            <a:off x="803827" y="3484569"/>
            <a:ext cx="3904204" cy="2515357"/>
            <a:chOff x="1914" y="2553"/>
            <a:chExt cx="2046" cy="1827"/>
          </a:xfrm>
        </p:grpSpPr>
        <p:grpSp>
          <p:nvGrpSpPr>
            <p:cNvPr id="6" name="Group 52"/>
            <p:cNvGrpSpPr/>
            <p:nvPr/>
          </p:nvGrpSpPr>
          <p:grpSpPr bwMode="auto">
            <a:xfrm>
              <a:off x="1914" y="2553"/>
              <a:ext cx="2046" cy="1827"/>
              <a:chOff x="1914" y="2553"/>
              <a:chExt cx="2046" cy="1827"/>
            </a:xfrm>
          </p:grpSpPr>
          <p:pic>
            <p:nvPicPr>
              <p:cNvPr id="24595" name="Picture 47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b="7358"/>
              <a:stretch>
                <a:fillRect/>
              </a:stretch>
            </p:blipFill>
            <p:spPr bwMode="auto">
              <a:xfrm>
                <a:off x="1914" y="2553"/>
                <a:ext cx="2046" cy="15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596" name="Text Box 51"/>
              <p:cNvSpPr txBox="1">
                <a:spLocks noChangeArrowheads="1"/>
              </p:cNvSpPr>
              <p:nvPr/>
            </p:nvSpPr>
            <p:spPr bwMode="auto">
              <a:xfrm>
                <a:off x="2293" y="4135"/>
                <a:ext cx="1063" cy="2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/>
                  <a:t>圆柱表面有形状误差</a:t>
                </a:r>
                <a:endParaRPr lang="en-US" altLang="zh-CN" sz="1600" b="1"/>
              </a:p>
            </p:txBody>
          </p:sp>
        </p:grpSp>
        <p:sp>
          <p:nvSpPr>
            <p:cNvPr id="24593" name="Line 58"/>
            <p:cNvSpPr>
              <a:spLocks noChangeShapeType="1"/>
            </p:cNvSpPr>
            <p:nvPr/>
          </p:nvSpPr>
          <p:spPr bwMode="auto">
            <a:xfrm>
              <a:off x="2011" y="2885"/>
              <a:ext cx="1496" cy="0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Line 59"/>
            <p:cNvSpPr>
              <a:spLocks noChangeShapeType="1"/>
            </p:cNvSpPr>
            <p:nvPr/>
          </p:nvSpPr>
          <p:spPr bwMode="auto">
            <a:xfrm>
              <a:off x="2037" y="3674"/>
              <a:ext cx="1496" cy="0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3"/>
          <p:cNvGrpSpPr/>
          <p:nvPr/>
        </p:nvGrpSpPr>
        <p:grpSpPr bwMode="auto">
          <a:xfrm>
            <a:off x="5055151" y="3475631"/>
            <a:ext cx="3445939" cy="2509686"/>
            <a:chOff x="3823" y="2725"/>
            <a:chExt cx="1806" cy="1765"/>
          </a:xfrm>
        </p:grpSpPr>
        <p:grpSp>
          <p:nvGrpSpPr>
            <p:cNvPr id="8" name="Group 54"/>
            <p:cNvGrpSpPr/>
            <p:nvPr/>
          </p:nvGrpSpPr>
          <p:grpSpPr bwMode="auto">
            <a:xfrm>
              <a:off x="3823" y="2725"/>
              <a:ext cx="1806" cy="1765"/>
              <a:chOff x="3823" y="2725"/>
              <a:chExt cx="1806" cy="1765"/>
            </a:xfrm>
          </p:grpSpPr>
          <p:pic>
            <p:nvPicPr>
              <p:cNvPr id="24590" name="Picture 49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b="13582"/>
              <a:stretch>
                <a:fillRect/>
              </a:stretch>
            </p:blipFill>
            <p:spPr bwMode="auto">
              <a:xfrm>
                <a:off x="3823" y="2725"/>
                <a:ext cx="1806" cy="15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4591" name="Text Box 53"/>
              <p:cNvSpPr txBox="1">
                <a:spLocks noChangeArrowheads="1"/>
              </p:cNvSpPr>
              <p:nvPr/>
            </p:nvSpPr>
            <p:spPr bwMode="auto">
              <a:xfrm>
                <a:off x="4074" y="4253"/>
                <a:ext cx="1140" cy="2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600" b="1" dirty="0"/>
                  <a:t>圆柱轴线有形状误差</a:t>
                </a:r>
              </a:p>
            </p:txBody>
          </p:sp>
        </p:grpSp>
        <p:sp>
          <p:nvSpPr>
            <p:cNvPr id="24588" name="Line 60"/>
            <p:cNvSpPr>
              <a:spLocks noChangeShapeType="1"/>
            </p:cNvSpPr>
            <p:nvPr/>
          </p:nvSpPr>
          <p:spPr bwMode="auto">
            <a:xfrm>
              <a:off x="3931" y="3091"/>
              <a:ext cx="1476" cy="0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61"/>
            <p:cNvSpPr>
              <a:spLocks noChangeShapeType="1"/>
            </p:cNvSpPr>
            <p:nvPr/>
          </p:nvSpPr>
          <p:spPr bwMode="auto">
            <a:xfrm>
              <a:off x="3911" y="3804"/>
              <a:ext cx="1476" cy="0"/>
            </a:xfrm>
            <a:prstGeom prst="line">
              <a:avLst/>
            </a:prstGeom>
            <a:noFill/>
            <a:ln w="57150">
              <a:solidFill>
                <a:srgbClr val="D60093"/>
              </a:solidFill>
              <a:rou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23" name="直接连接符 22"/>
          <p:cNvCxnSpPr/>
          <p:nvPr/>
        </p:nvCxnSpPr>
        <p:spPr bwMode="auto">
          <a:xfrm flipV="1">
            <a:off x="243344" y="927489"/>
            <a:ext cx="873290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 autoUpdateAnimBg="0"/>
      <p:bldP spid="24622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3" name="Text Box 15"/>
          <p:cNvSpPr txBox="1">
            <a:spLocks noChangeArrowheads="1"/>
          </p:cNvSpPr>
          <p:nvPr/>
        </p:nvSpPr>
        <p:spPr bwMode="auto">
          <a:xfrm>
            <a:off x="633450" y="1121038"/>
            <a:ext cx="63375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 smtClean="0"/>
              <a:t>对</a:t>
            </a:r>
            <a:r>
              <a:rPr lang="zh-CN" altLang="en-US" sz="2000" b="1" dirty="0"/>
              <a:t>轴、孔有包容要求时，其合格条件由以下公式给出</a:t>
            </a:r>
          </a:p>
        </p:txBody>
      </p:sp>
      <p:graphicFrame>
        <p:nvGraphicFramePr>
          <p:cNvPr id="63504" name="Object 16"/>
          <p:cNvGraphicFramePr>
            <a:graphicFrameLocks noChangeAspect="1"/>
          </p:cNvGraphicFramePr>
          <p:nvPr/>
        </p:nvGraphicFramePr>
        <p:xfrm>
          <a:off x="1383030" y="1659304"/>
          <a:ext cx="4828540" cy="1002665"/>
        </p:xfrm>
        <a:graphic>
          <a:graphicData uri="http://schemas.openxmlformats.org/presentationml/2006/ole">
            <p:oleObj spid="_x0000_s49154" name="公式" r:id="rId3" imgW="42367200" imgH="11582400" progId="">
              <p:embed/>
            </p:oleObj>
          </a:graphicData>
        </a:graphic>
      </p:graphicFrame>
      <p:graphicFrame>
        <p:nvGraphicFramePr>
          <p:cNvPr id="63505" name="Object 17"/>
          <p:cNvGraphicFramePr>
            <a:graphicFrameLocks noChangeAspect="1"/>
          </p:cNvGraphicFramePr>
          <p:nvPr/>
        </p:nvGraphicFramePr>
        <p:xfrm>
          <a:off x="1913890" y="2886124"/>
          <a:ext cx="4897120" cy="918210"/>
        </p:xfrm>
        <a:graphic>
          <a:graphicData uri="http://schemas.openxmlformats.org/presentationml/2006/ole">
            <p:oleObj spid="_x0000_s49155" name="公式" r:id="rId4" imgW="46939200" imgH="11582400" progId="">
              <p:embed/>
            </p:oleObj>
          </a:graphicData>
        </a:graphic>
      </p:graphicFrame>
      <p:graphicFrame>
        <p:nvGraphicFramePr>
          <p:cNvPr id="63506" name="Object 18"/>
          <p:cNvGraphicFramePr>
            <a:graphicFrameLocks noChangeAspect="1"/>
          </p:cNvGraphicFramePr>
          <p:nvPr/>
        </p:nvGraphicFramePr>
        <p:xfrm>
          <a:off x="1383030" y="3928794"/>
          <a:ext cx="4828540" cy="989330"/>
        </p:xfrm>
        <a:graphic>
          <a:graphicData uri="http://schemas.openxmlformats.org/presentationml/2006/ole">
            <p:oleObj spid="_x0000_s49156" name="公式" r:id="rId5" imgW="42976800" imgH="11582400" progId="">
              <p:embed/>
            </p:oleObj>
          </a:graphicData>
        </a:graphic>
      </p:graphicFrame>
      <p:graphicFrame>
        <p:nvGraphicFramePr>
          <p:cNvPr id="63507" name="Object 19"/>
          <p:cNvGraphicFramePr>
            <a:graphicFrameLocks noChangeAspect="1"/>
          </p:cNvGraphicFramePr>
          <p:nvPr/>
        </p:nvGraphicFramePr>
        <p:xfrm>
          <a:off x="1956922" y="5061634"/>
          <a:ext cx="4970780" cy="926465"/>
        </p:xfrm>
        <a:graphic>
          <a:graphicData uri="http://schemas.openxmlformats.org/presentationml/2006/ole">
            <p:oleObj spid="_x0000_s49157" name="公式" r:id="rId6" imgW="47244000" imgH="11582400" progId="">
              <p:embed/>
            </p:oleObj>
          </a:graphicData>
        </a:graphic>
      </p:graphicFrame>
      <p:cxnSp>
        <p:nvCxnSpPr>
          <p:cNvPr id="8" name="直接连接符 7"/>
          <p:cNvCxnSpPr/>
          <p:nvPr/>
        </p:nvCxnSpPr>
        <p:spPr bwMode="auto">
          <a:xfrm flipV="1">
            <a:off x="205879" y="895024"/>
            <a:ext cx="873290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78791" y="351680"/>
            <a:ext cx="4283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4.3.3 </a:t>
            </a:r>
            <a:r>
              <a:rPr lang="zh-CN" altLang="en-US" b="1" dirty="0">
                <a:latin typeface="宋体" panose="02010600030101010101" pitchFamily="2" charset="-122"/>
              </a:rPr>
              <a:t>包容要求（</a:t>
            </a:r>
            <a:r>
              <a:rPr lang="en-US" altLang="zh-CN" b="1" dirty="0">
                <a:latin typeface="宋体" panose="02010600030101010101" pitchFamily="2" charset="-122"/>
              </a:rPr>
              <a:t>ER）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3" grpId="0" bldLvl="0" animBg="1"/>
      <p:bldP spid="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Text Box 1028"/>
          <p:cNvSpPr txBox="1">
            <a:spLocks noChangeArrowheads="1"/>
          </p:cNvSpPr>
          <p:nvPr/>
        </p:nvSpPr>
        <p:spPr bwMode="auto">
          <a:xfrm>
            <a:off x="398194" y="1203778"/>
            <a:ext cx="8420789" cy="1106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 b="1" dirty="0"/>
              <a:t>         用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最大实体实效边界</a:t>
            </a: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 dirty="0"/>
              <a:t>MMVB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latin typeface="宋体" panose="02010600030101010101" pitchFamily="2" charset="-122"/>
              </a:rPr>
              <a:t>控制被测要素的实际尺寸和几何误差的综合结果，要求</a:t>
            </a:r>
            <a:r>
              <a:rPr lang="zh-CN" altLang="en-US" sz="2000" b="1" dirty="0">
                <a:solidFill>
                  <a:srgbClr val="D60093"/>
                </a:solidFill>
                <a:latin typeface="宋体" panose="02010600030101010101" pitchFamily="2" charset="-122"/>
              </a:rPr>
              <a:t>体外作用尺寸（</a:t>
            </a:r>
            <a:r>
              <a:rPr lang="en-US" altLang="zh-CN" sz="2000" b="1" dirty="0">
                <a:solidFill>
                  <a:srgbClr val="D60093"/>
                </a:solidFill>
                <a:latin typeface="宋体" panose="02010600030101010101" pitchFamily="2" charset="-122"/>
              </a:rPr>
              <a:t>EFS</a:t>
            </a:r>
            <a:r>
              <a:rPr lang="zh-CN" altLang="en-US" sz="2000" b="1" dirty="0">
                <a:solidFill>
                  <a:srgbClr val="D60093"/>
                </a:solidFill>
                <a:latin typeface="宋体" panose="02010600030101010101" pitchFamily="2" charset="-122"/>
              </a:rPr>
              <a:t>）不超出最大实体实效尺寸（</a:t>
            </a:r>
            <a:r>
              <a:rPr lang="en-US" altLang="zh-CN" sz="2000" b="1" dirty="0">
                <a:solidFill>
                  <a:srgbClr val="D60093"/>
                </a:solidFill>
                <a:latin typeface="宋体" panose="02010600030101010101" pitchFamily="2" charset="-122"/>
              </a:rPr>
              <a:t>MMVS</a:t>
            </a:r>
            <a:r>
              <a:rPr lang="zh-CN" altLang="en-US" sz="2000" b="1" dirty="0">
                <a:solidFill>
                  <a:srgbClr val="D60093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</a:rPr>
              <a:t>,</a:t>
            </a:r>
            <a:r>
              <a:rPr lang="zh-CN" altLang="en-US" sz="2000" b="1" dirty="0"/>
              <a:t>并且</a:t>
            </a:r>
            <a:r>
              <a:rPr lang="zh-CN" altLang="en-US" sz="2000" b="1" dirty="0">
                <a:solidFill>
                  <a:srgbClr val="D60093"/>
                </a:solidFill>
              </a:rPr>
              <a:t>实际尺寸不超出其极限尺寸</a:t>
            </a:r>
            <a:r>
              <a:rPr lang="zh-CN" altLang="en-US" sz="2000" b="1" dirty="0"/>
              <a:t>。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65543" name="Text Box 1031"/>
          <p:cNvSpPr txBox="1">
            <a:spLocks noChangeArrowheads="1"/>
          </p:cNvSpPr>
          <p:nvPr/>
        </p:nvSpPr>
        <p:spPr bwMode="auto">
          <a:xfrm>
            <a:off x="488945" y="466579"/>
            <a:ext cx="65913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cs typeface="Times New Roman" panose="02020603050405020304" pitchFamily="18" charset="0"/>
              </a:rPr>
              <a:t>2.</a:t>
            </a:r>
            <a:r>
              <a:rPr lang="zh-CN" altLang="en-US" b="1" dirty="0">
                <a:latin typeface="宋体" panose="02010600030101010101" pitchFamily="2" charset="-122"/>
              </a:rPr>
              <a:t> 最大实体要求的含义</a:t>
            </a:r>
          </a:p>
        </p:txBody>
      </p:sp>
      <p:sp>
        <p:nvSpPr>
          <p:cNvPr id="65555" name="Text Box 1043"/>
          <p:cNvSpPr txBox="1">
            <a:spLocks noChangeArrowheads="1"/>
          </p:cNvSpPr>
          <p:nvPr/>
        </p:nvSpPr>
        <p:spPr bwMode="auto">
          <a:xfrm>
            <a:off x="483235" y="2444115"/>
            <a:ext cx="34673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3. 合格性的判据</a:t>
            </a:r>
            <a:endParaRPr lang="en-US" altLang="zh-CN" b="1" dirty="0"/>
          </a:p>
        </p:txBody>
      </p:sp>
      <p:sp>
        <p:nvSpPr>
          <p:cNvPr id="65562" name="Text Box 1050"/>
          <p:cNvSpPr txBox="1">
            <a:spLocks noChangeArrowheads="1"/>
          </p:cNvSpPr>
          <p:nvPr/>
        </p:nvSpPr>
        <p:spPr bwMode="auto">
          <a:xfrm>
            <a:off x="236062" y="2920061"/>
            <a:ext cx="58312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1" dirty="0"/>
              <a:t>        对轴、孔有最大实体要求时，其合格</a:t>
            </a:r>
            <a:r>
              <a:rPr lang="zh-CN" altLang="en-US" sz="2000" b="1" dirty="0" smtClean="0"/>
              <a:t>性判断</a:t>
            </a:r>
            <a:endParaRPr lang="zh-CN" altLang="en-US" sz="2000" b="1" dirty="0"/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169049" y="1028454"/>
            <a:ext cx="873290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84680" y="3493135"/>
          <a:ext cx="4311015" cy="1010920"/>
        </p:xfrm>
        <a:graphic>
          <a:graphicData uri="http://schemas.openxmlformats.org/presentationml/2006/ole">
            <p:oleObj spid="_x0000_s50178" r:id="rId3" imgW="52730400" imgH="11582400" progId="">
              <p:embed/>
            </p:oleObj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84680" y="4774565"/>
          <a:ext cx="4638675" cy="915670"/>
        </p:xfrm>
        <a:graphic>
          <a:graphicData uri="http://schemas.openxmlformats.org/presentationml/2006/ole">
            <p:oleObj spid="_x0000_s50179" r:id="rId4" imgW="54559200" imgH="11582400" progId="">
              <p:embed/>
            </p:oleObj>
          </a:graphicData>
        </a:graphic>
      </p:graphicFrame>
      <p:pic>
        <p:nvPicPr>
          <p:cNvPr id="33803" name="Picture 10" descr="C:\Documents and Settings\Administrator\桌面\2015年第9版资料\2015年第9版图\j4b20b.t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910" y="3517900"/>
            <a:ext cx="481965" cy="47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 descr="C:\Documents and Settings\Administrator\桌面\2015年第9版资料\2015年第9版图\j4b20b.t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615" y="4810125"/>
            <a:ext cx="465455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ldLvl="0" animBg="1" autoUpdateAnimBg="0"/>
      <p:bldP spid="65543" grpId="0" bldLvl="0" animBg="1" autoUpdateAnimBg="0"/>
      <p:bldP spid="65555" grpId="0" bldLvl="0" animBg="1" autoUpdateAnimBg="0"/>
      <p:bldP spid="65562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45770" indent="-17145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68580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96012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23444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50876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178308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05740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33172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3F1DE7-B1B8-4F1C-BA60-582E175CB653}" type="slidenum">
              <a:rPr kumimoji="0" lang="zh-CN" altLang="en-US" sz="2000" smtClean="0"/>
              <a:pPr eaLnBrk="1" hangingPunct="1"/>
              <a:t>16</a:t>
            </a:fld>
            <a:endParaRPr kumimoji="0" lang="en-US" altLang="zh-CN" sz="2000" dirty="0" smtClean="0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642910" y="3214686"/>
            <a:ext cx="2288857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一般按</a:t>
            </a:r>
            <a:r>
              <a:rPr lang="en-US" altLang="zh-CN" b="1" i="1" dirty="0"/>
              <a:t>S</a:t>
            </a:r>
            <a:r>
              <a:rPr lang="zh-CN" altLang="en-US" b="1" dirty="0"/>
              <a:t>分：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571472" y="3857628"/>
            <a:ext cx="4209097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FF3300"/>
                </a:solidFill>
              </a:rPr>
              <a:t>S</a:t>
            </a:r>
            <a:r>
              <a:rPr lang="en-US" altLang="zh-CN" b="1" dirty="0">
                <a:solidFill>
                  <a:srgbClr val="FF3300"/>
                </a:solidFill>
              </a:rPr>
              <a:t>＜1mm </a:t>
            </a:r>
            <a:r>
              <a:rPr lang="zh-CN" altLang="en-US" b="1" dirty="0">
                <a:solidFill>
                  <a:srgbClr val="FF3300"/>
                </a:solidFill>
              </a:rPr>
              <a:t>为表面粗糙度轮廓</a:t>
            </a:r>
            <a:r>
              <a:rPr lang="zh-CN" altLang="en-US" b="1" dirty="0"/>
              <a:t>；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552786" y="4401325"/>
            <a:ext cx="5103495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1≤</a:t>
            </a:r>
            <a:r>
              <a:rPr lang="en-US" altLang="zh-CN" b="1" i="1" dirty="0"/>
              <a:t>S</a:t>
            </a:r>
            <a:r>
              <a:rPr lang="en-US" altLang="zh-CN" b="1" dirty="0"/>
              <a:t>≤10mm</a:t>
            </a:r>
            <a:r>
              <a:rPr lang="zh-CN" altLang="en-US" b="1" dirty="0"/>
              <a:t>为表面 波纹度轮廓；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559117" y="4955461"/>
            <a:ext cx="4227197" cy="83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/>
              <a:t>S＞10mm</a:t>
            </a:r>
            <a:r>
              <a:rPr lang="zh-CN" altLang="en-US" b="1" dirty="0"/>
              <a:t>为 </a:t>
            </a:r>
            <a:r>
              <a:rPr lang="en-US" altLang="zh-CN" b="1" i="1" dirty="0"/>
              <a:t>f</a:t>
            </a:r>
            <a:r>
              <a:rPr lang="zh-CN" altLang="en-US" b="1" baseline="-25000" dirty="0"/>
              <a:t>形状.</a:t>
            </a:r>
            <a:r>
              <a:rPr lang="zh-CN" altLang="en-US" b="1" dirty="0"/>
              <a:t>（宏观形状）。</a:t>
            </a:r>
          </a:p>
        </p:txBody>
      </p:sp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214282" y="1285860"/>
            <a:ext cx="8188642" cy="1679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305"/>
              </a:lnSpc>
              <a:spcBef>
                <a:spcPct val="50000"/>
              </a:spcBef>
            </a:pPr>
            <a:r>
              <a:rPr lang="zh-CN" altLang="en-US" b="1" dirty="0" smtClean="0">
                <a:solidFill>
                  <a:srgbClr val="FF3300"/>
                </a:solidFill>
              </a:rPr>
              <a:t> 表面粗糙度</a:t>
            </a:r>
            <a:r>
              <a:rPr lang="zh-CN" altLang="en-US" b="1" dirty="0">
                <a:solidFill>
                  <a:srgbClr val="FF3300"/>
                </a:solidFill>
              </a:rPr>
              <a:t>轮廓</a:t>
            </a:r>
            <a:endParaRPr lang="en-US" altLang="zh-CN" b="1" dirty="0">
              <a:solidFill>
                <a:srgbClr val="FF3300"/>
              </a:solidFill>
            </a:endParaRP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FF3300"/>
                </a:solidFill>
              </a:rPr>
              <a:t>        </a:t>
            </a:r>
            <a:r>
              <a:rPr lang="zh-CN" altLang="en-US" b="1" dirty="0">
                <a:solidFill>
                  <a:srgbClr val="FF3300"/>
                </a:solidFill>
              </a:rPr>
              <a:t>表面粗糙度轮廓</a:t>
            </a:r>
            <a:r>
              <a:rPr lang="zh-CN" altLang="en-US" b="1" dirty="0"/>
              <a:t>是指加工后零件表面的</a:t>
            </a:r>
            <a:r>
              <a:rPr lang="zh-CN" altLang="en-US" b="1" dirty="0">
                <a:solidFill>
                  <a:srgbClr val="FF3300"/>
                </a:solidFill>
              </a:rPr>
              <a:t>微小峰谷</a:t>
            </a:r>
            <a:r>
              <a:rPr lang="zh-CN" altLang="en-US" b="1" dirty="0"/>
              <a:t>高低</a:t>
            </a:r>
            <a:r>
              <a:rPr lang="zh-CN" altLang="en-US" b="1" dirty="0">
                <a:solidFill>
                  <a:srgbClr val="FF3300"/>
                </a:solidFill>
              </a:rPr>
              <a:t>（</a:t>
            </a:r>
            <a:r>
              <a:rPr lang="en-US" altLang="zh-CN" b="1" i="1" dirty="0">
                <a:solidFill>
                  <a:srgbClr val="FF3300"/>
                </a:solidFill>
              </a:rPr>
              <a:t>Z</a:t>
            </a:r>
            <a:r>
              <a:rPr lang="en-US" altLang="zh-CN" b="1" dirty="0">
                <a:solidFill>
                  <a:srgbClr val="FF3300"/>
                </a:solidFill>
              </a:rPr>
              <a:t>）</a:t>
            </a:r>
            <a:r>
              <a:rPr lang="zh-CN" altLang="en-US" b="1" dirty="0"/>
              <a:t>程度和</a:t>
            </a:r>
            <a:r>
              <a:rPr lang="zh-CN" altLang="en-US" b="1" dirty="0">
                <a:solidFill>
                  <a:srgbClr val="FF3300"/>
                </a:solidFill>
              </a:rPr>
              <a:t>间距（</a:t>
            </a:r>
            <a:r>
              <a:rPr lang="en-US" altLang="zh-CN" b="1" i="1" dirty="0">
                <a:solidFill>
                  <a:srgbClr val="FF3300"/>
                </a:solidFill>
              </a:rPr>
              <a:t>S</a:t>
            </a:r>
            <a:r>
              <a:rPr lang="en-US" altLang="zh-CN" b="1" dirty="0">
                <a:solidFill>
                  <a:srgbClr val="FF3300"/>
                </a:solidFill>
              </a:rPr>
              <a:t>）</a:t>
            </a:r>
            <a:r>
              <a:rPr lang="zh-CN" altLang="en-US" b="1" dirty="0"/>
              <a:t>状况（微观形状）。 </a:t>
            </a:r>
          </a:p>
        </p:txBody>
      </p:sp>
      <p:grpSp>
        <p:nvGrpSpPr>
          <p:cNvPr id="2" name="Group 23"/>
          <p:cNvGrpSpPr/>
          <p:nvPr/>
        </p:nvGrpSpPr>
        <p:grpSpPr bwMode="auto">
          <a:xfrm>
            <a:off x="5753130" y="3124219"/>
            <a:ext cx="3033712" cy="2773680"/>
            <a:chOff x="3392" y="831"/>
            <a:chExt cx="1911" cy="1747"/>
          </a:xfrm>
        </p:grpSpPr>
        <p:grpSp>
          <p:nvGrpSpPr>
            <p:cNvPr id="3" name="Group 16"/>
            <p:cNvGrpSpPr/>
            <p:nvPr/>
          </p:nvGrpSpPr>
          <p:grpSpPr bwMode="auto">
            <a:xfrm>
              <a:off x="3392" y="831"/>
              <a:ext cx="1911" cy="1747"/>
              <a:chOff x="3529" y="831"/>
              <a:chExt cx="1664" cy="1426"/>
            </a:xfrm>
          </p:grpSpPr>
          <p:sp>
            <p:nvSpPr>
              <p:cNvPr id="6167" name="Freeform 14"/>
              <p:cNvSpPr/>
              <p:nvPr/>
            </p:nvSpPr>
            <p:spPr bwMode="auto">
              <a:xfrm>
                <a:off x="3529" y="1207"/>
                <a:ext cx="1664" cy="512"/>
              </a:xfrm>
              <a:custGeom>
                <a:avLst/>
                <a:gdLst>
                  <a:gd name="T0" fmla="*/ 0 w 1664"/>
                  <a:gd name="T1" fmla="*/ 329 h 512"/>
                  <a:gd name="T2" fmla="*/ 46 w 1664"/>
                  <a:gd name="T3" fmla="*/ 256 h 512"/>
                  <a:gd name="T4" fmla="*/ 82 w 1664"/>
                  <a:gd name="T5" fmla="*/ 128 h 512"/>
                  <a:gd name="T6" fmla="*/ 156 w 1664"/>
                  <a:gd name="T7" fmla="*/ 210 h 512"/>
                  <a:gd name="T8" fmla="*/ 174 w 1664"/>
                  <a:gd name="T9" fmla="*/ 238 h 512"/>
                  <a:gd name="T10" fmla="*/ 201 w 1664"/>
                  <a:gd name="T11" fmla="*/ 256 h 512"/>
                  <a:gd name="T12" fmla="*/ 229 w 1664"/>
                  <a:gd name="T13" fmla="*/ 338 h 512"/>
                  <a:gd name="T14" fmla="*/ 247 w 1664"/>
                  <a:gd name="T15" fmla="*/ 366 h 512"/>
                  <a:gd name="T16" fmla="*/ 265 w 1664"/>
                  <a:gd name="T17" fmla="*/ 420 h 512"/>
                  <a:gd name="T18" fmla="*/ 329 w 1664"/>
                  <a:gd name="T19" fmla="*/ 366 h 512"/>
                  <a:gd name="T20" fmla="*/ 402 w 1664"/>
                  <a:gd name="T21" fmla="*/ 283 h 512"/>
                  <a:gd name="T22" fmla="*/ 439 w 1664"/>
                  <a:gd name="T23" fmla="*/ 238 h 512"/>
                  <a:gd name="T24" fmla="*/ 457 w 1664"/>
                  <a:gd name="T25" fmla="*/ 155 h 512"/>
                  <a:gd name="T26" fmla="*/ 485 w 1664"/>
                  <a:gd name="T27" fmla="*/ 137 h 512"/>
                  <a:gd name="T28" fmla="*/ 549 w 1664"/>
                  <a:gd name="T29" fmla="*/ 73 h 512"/>
                  <a:gd name="T30" fmla="*/ 594 w 1664"/>
                  <a:gd name="T31" fmla="*/ 0 h 512"/>
                  <a:gd name="T32" fmla="*/ 631 w 1664"/>
                  <a:gd name="T33" fmla="*/ 82 h 512"/>
                  <a:gd name="T34" fmla="*/ 677 w 1664"/>
                  <a:gd name="T35" fmla="*/ 338 h 512"/>
                  <a:gd name="T36" fmla="*/ 732 w 1664"/>
                  <a:gd name="T37" fmla="*/ 430 h 512"/>
                  <a:gd name="T38" fmla="*/ 741 w 1664"/>
                  <a:gd name="T39" fmla="*/ 466 h 512"/>
                  <a:gd name="T40" fmla="*/ 759 w 1664"/>
                  <a:gd name="T41" fmla="*/ 439 h 512"/>
                  <a:gd name="T42" fmla="*/ 768 w 1664"/>
                  <a:gd name="T43" fmla="*/ 375 h 512"/>
                  <a:gd name="T44" fmla="*/ 860 w 1664"/>
                  <a:gd name="T45" fmla="*/ 265 h 512"/>
                  <a:gd name="T46" fmla="*/ 887 w 1664"/>
                  <a:gd name="T47" fmla="*/ 219 h 512"/>
                  <a:gd name="T48" fmla="*/ 896 w 1664"/>
                  <a:gd name="T49" fmla="*/ 192 h 512"/>
                  <a:gd name="T50" fmla="*/ 924 w 1664"/>
                  <a:gd name="T51" fmla="*/ 183 h 512"/>
                  <a:gd name="T52" fmla="*/ 1024 w 1664"/>
                  <a:gd name="T53" fmla="*/ 73 h 512"/>
                  <a:gd name="T54" fmla="*/ 1042 w 1664"/>
                  <a:gd name="T55" fmla="*/ 100 h 512"/>
                  <a:gd name="T56" fmla="*/ 1052 w 1664"/>
                  <a:gd name="T57" fmla="*/ 183 h 512"/>
                  <a:gd name="T58" fmla="*/ 1079 w 1664"/>
                  <a:gd name="T59" fmla="*/ 192 h 512"/>
                  <a:gd name="T60" fmla="*/ 1106 w 1664"/>
                  <a:gd name="T61" fmla="*/ 210 h 512"/>
                  <a:gd name="T62" fmla="*/ 1152 w 1664"/>
                  <a:gd name="T63" fmla="*/ 411 h 512"/>
                  <a:gd name="T64" fmla="*/ 1161 w 1664"/>
                  <a:gd name="T65" fmla="*/ 439 h 512"/>
                  <a:gd name="T66" fmla="*/ 1180 w 1664"/>
                  <a:gd name="T67" fmla="*/ 457 h 512"/>
                  <a:gd name="T68" fmla="*/ 1198 w 1664"/>
                  <a:gd name="T69" fmla="*/ 512 h 512"/>
                  <a:gd name="T70" fmla="*/ 1271 w 1664"/>
                  <a:gd name="T71" fmla="*/ 430 h 512"/>
                  <a:gd name="T72" fmla="*/ 1271 w 1664"/>
                  <a:gd name="T73" fmla="*/ 210 h 512"/>
                  <a:gd name="T74" fmla="*/ 1326 w 1664"/>
                  <a:gd name="T75" fmla="*/ 192 h 512"/>
                  <a:gd name="T76" fmla="*/ 1353 w 1664"/>
                  <a:gd name="T77" fmla="*/ 183 h 512"/>
                  <a:gd name="T78" fmla="*/ 1426 w 1664"/>
                  <a:gd name="T79" fmla="*/ 192 h 512"/>
                  <a:gd name="T80" fmla="*/ 1454 w 1664"/>
                  <a:gd name="T81" fmla="*/ 201 h 512"/>
                  <a:gd name="T82" fmla="*/ 1509 w 1664"/>
                  <a:gd name="T83" fmla="*/ 329 h 512"/>
                  <a:gd name="T84" fmla="*/ 1527 w 1664"/>
                  <a:gd name="T85" fmla="*/ 402 h 512"/>
                  <a:gd name="T86" fmla="*/ 1664 w 1664"/>
                  <a:gd name="T87" fmla="*/ 439 h 51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664" h="512">
                    <a:moveTo>
                      <a:pt x="0" y="329"/>
                    </a:moveTo>
                    <a:cubicBezTo>
                      <a:pt x="10" y="298"/>
                      <a:pt x="28" y="283"/>
                      <a:pt x="46" y="256"/>
                    </a:cubicBezTo>
                    <a:cubicBezTo>
                      <a:pt x="60" y="211"/>
                      <a:pt x="55" y="168"/>
                      <a:pt x="82" y="128"/>
                    </a:cubicBezTo>
                    <a:cubicBezTo>
                      <a:pt x="118" y="162"/>
                      <a:pt x="101" y="192"/>
                      <a:pt x="156" y="210"/>
                    </a:cubicBezTo>
                    <a:cubicBezTo>
                      <a:pt x="162" y="219"/>
                      <a:pt x="166" y="230"/>
                      <a:pt x="174" y="238"/>
                    </a:cubicBezTo>
                    <a:cubicBezTo>
                      <a:pt x="182" y="246"/>
                      <a:pt x="195" y="247"/>
                      <a:pt x="201" y="256"/>
                    </a:cubicBezTo>
                    <a:cubicBezTo>
                      <a:pt x="203" y="259"/>
                      <a:pt x="224" y="323"/>
                      <a:pt x="229" y="338"/>
                    </a:cubicBezTo>
                    <a:cubicBezTo>
                      <a:pt x="233" y="349"/>
                      <a:pt x="243" y="356"/>
                      <a:pt x="247" y="366"/>
                    </a:cubicBezTo>
                    <a:cubicBezTo>
                      <a:pt x="255" y="383"/>
                      <a:pt x="265" y="420"/>
                      <a:pt x="265" y="420"/>
                    </a:cubicBezTo>
                    <a:cubicBezTo>
                      <a:pt x="346" y="412"/>
                      <a:pt x="395" y="429"/>
                      <a:pt x="329" y="366"/>
                    </a:cubicBezTo>
                    <a:cubicBezTo>
                      <a:pt x="341" y="329"/>
                      <a:pt x="365" y="295"/>
                      <a:pt x="402" y="283"/>
                    </a:cubicBezTo>
                    <a:cubicBezTo>
                      <a:pt x="415" y="270"/>
                      <a:pt x="433" y="256"/>
                      <a:pt x="439" y="238"/>
                    </a:cubicBezTo>
                    <a:cubicBezTo>
                      <a:pt x="448" y="211"/>
                      <a:pt x="439" y="177"/>
                      <a:pt x="457" y="155"/>
                    </a:cubicBezTo>
                    <a:cubicBezTo>
                      <a:pt x="464" y="146"/>
                      <a:pt x="477" y="144"/>
                      <a:pt x="485" y="137"/>
                    </a:cubicBezTo>
                    <a:cubicBezTo>
                      <a:pt x="508" y="117"/>
                      <a:pt x="527" y="94"/>
                      <a:pt x="549" y="73"/>
                    </a:cubicBezTo>
                    <a:cubicBezTo>
                      <a:pt x="559" y="43"/>
                      <a:pt x="576" y="27"/>
                      <a:pt x="594" y="0"/>
                    </a:cubicBezTo>
                    <a:cubicBezTo>
                      <a:pt x="606" y="33"/>
                      <a:pt x="622" y="46"/>
                      <a:pt x="631" y="82"/>
                    </a:cubicBezTo>
                    <a:cubicBezTo>
                      <a:pt x="638" y="190"/>
                      <a:pt x="646" y="242"/>
                      <a:pt x="677" y="338"/>
                    </a:cubicBezTo>
                    <a:cubicBezTo>
                      <a:pt x="691" y="381"/>
                      <a:pt x="688" y="414"/>
                      <a:pt x="732" y="430"/>
                    </a:cubicBezTo>
                    <a:cubicBezTo>
                      <a:pt x="735" y="442"/>
                      <a:pt x="729" y="462"/>
                      <a:pt x="741" y="466"/>
                    </a:cubicBezTo>
                    <a:cubicBezTo>
                      <a:pt x="751" y="469"/>
                      <a:pt x="756" y="449"/>
                      <a:pt x="759" y="439"/>
                    </a:cubicBezTo>
                    <a:cubicBezTo>
                      <a:pt x="765" y="418"/>
                      <a:pt x="762" y="396"/>
                      <a:pt x="768" y="375"/>
                    </a:cubicBezTo>
                    <a:cubicBezTo>
                      <a:pt x="777" y="346"/>
                      <a:pt x="836" y="287"/>
                      <a:pt x="860" y="265"/>
                    </a:cubicBezTo>
                    <a:cubicBezTo>
                      <a:pt x="885" y="190"/>
                      <a:pt x="850" y="282"/>
                      <a:pt x="887" y="219"/>
                    </a:cubicBezTo>
                    <a:cubicBezTo>
                      <a:pt x="892" y="211"/>
                      <a:pt x="889" y="199"/>
                      <a:pt x="896" y="192"/>
                    </a:cubicBezTo>
                    <a:cubicBezTo>
                      <a:pt x="903" y="185"/>
                      <a:pt x="915" y="186"/>
                      <a:pt x="924" y="183"/>
                    </a:cubicBezTo>
                    <a:cubicBezTo>
                      <a:pt x="941" y="131"/>
                      <a:pt x="979" y="103"/>
                      <a:pt x="1024" y="73"/>
                    </a:cubicBezTo>
                    <a:cubicBezTo>
                      <a:pt x="1030" y="82"/>
                      <a:pt x="1039" y="90"/>
                      <a:pt x="1042" y="100"/>
                    </a:cubicBezTo>
                    <a:cubicBezTo>
                      <a:pt x="1049" y="127"/>
                      <a:pt x="1042" y="157"/>
                      <a:pt x="1052" y="183"/>
                    </a:cubicBezTo>
                    <a:cubicBezTo>
                      <a:pt x="1056" y="192"/>
                      <a:pt x="1071" y="188"/>
                      <a:pt x="1079" y="192"/>
                    </a:cubicBezTo>
                    <a:cubicBezTo>
                      <a:pt x="1089" y="197"/>
                      <a:pt x="1097" y="204"/>
                      <a:pt x="1106" y="210"/>
                    </a:cubicBezTo>
                    <a:cubicBezTo>
                      <a:pt x="1131" y="281"/>
                      <a:pt x="1116" y="357"/>
                      <a:pt x="1152" y="411"/>
                    </a:cubicBezTo>
                    <a:cubicBezTo>
                      <a:pt x="1155" y="420"/>
                      <a:pt x="1156" y="431"/>
                      <a:pt x="1161" y="439"/>
                    </a:cubicBezTo>
                    <a:cubicBezTo>
                      <a:pt x="1166" y="446"/>
                      <a:pt x="1176" y="449"/>
                      <a:pt x="1180" y="457"/>
                    </a:cubicBezTo>
                    <a:cubicBezTo>
                      <a:pt x="1189" y="474"/>
                      <a:pt x="1198" y="512"/>
                      <a:pt x="1198" y="512"/>
                    </a:cubicBezTo>
                    <a:cubicBezTo>
                      <a:pt x="1240" y="498"/>
                      <a:pt x="1257" y="472"/>
                      <a:pt x="1271" y="430"/>
                    </a:cubicBezTo>
                    <a:cubicBezTo>
                      <a:pt x="1263" y="363"/>
                      <a:pt x="1247" y="271"/>
                      <a:pt x="1271" y="210"/>
                    </a:cubicBezTo>
                    <a:cubicBezTo>
                      <a:pt x="1278" y="192"/>
                      <a:pt x="1308" y="198"/>
                      <a:pt x="1326" y="192"/>
                    </a:cubicBezTo>
                    <a:cubicBezTo>
                      <a:pt x="1335" y="189"/>
                      <a:pt x="1353" y="183"/>
                      <a:pt x="1353" y="183"/>
                    </a:cubicBezTo>
                    <a:cubicBezTo>
                      <a:pt x="1377" y="186"/>
                      <a:pt x="1402" y="188"/>
                      <a:pt x="1426" y="192"/>
                    </a:cubicBezTo>
                    <a:cubicBezTo>
                      <a:pt x="1436" y="194"/>
                      <a:pt x="1448" y="193"/>
                      <a:pt x="1454" y="201"/>
                    </a:cubicBezTo>
                    <a:cubicBezTo>
                      <a:pt x="1484" y="242"/>
                      <a:pt x="1471" y="293"/>
                      <a:pt x="1509" y="329"/>
                    </a:cubicBezTo>
                    <a:cubicBezTo>
                      <a:pt x="1511" y="337"/>
                      <a:pt x="1521" y="398"/>
                      <a:pt x="1527" y="402"/>
                    </a:cubicBezTo>
                    <a:cubicBezTo>
                      <a:pt x="1551" y="419"/>
                      <a:pt x="1636" y="439"/>
                      <a:pt x="1664" y="439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8" name="Oval 15"/>
              <p:cNvSpPr>
                <a:spLocks noChangeArrowheads="1"/>
              </p:cNvSpPr>
              <p:nvPr/>
            </p:nvSpPr>
            <p:spPr bwMode="auto">
              <a:xfrm>
                <a:off x="3601" y="831"/>
                <a:ext cx="1517" cy="1426"/>
              </a:xfrm>
              <a:prstGeom prst="ellips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4637" y="1930"/>
              <a:ext cx="5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18"/>
            <p:cNvSpPr>
              <a:spLocks noChangeShapeType="1"/>
            </p:cNvSpPr>
            <p:nvPr/>
          </p:nvSpPr>
          <p:spPr bwMode="auto">
            <a:xfrm>
              <a:off x="4508" y="1381"/>
              <a:ext cx="5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>
              <a:off x="4946" y="1381"/>
              <a:ext cx="0" cy="5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>
              <a:off x="4562" y="997"/>
              <a:ext cx="0" cy="4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Line 21"/>
            <p:cNvSpPr>
              <a:spLocks noChangeShapeType="1"/>
            </p:cNvSpPr>
            <p:nvPr/>
          </p:nvSpPr>
          <p:spPr bwMode="auto">
            <a:xfrm>
              <a:off x="4069" y="1007"/>
              <a:ext cx="0" cy="3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>
              <a:off x="4060" y="1097"/>
              <a:ext cx="51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200" name="AutoShape 24"/>
          <p:cNvSpPr>
            <a:spLocks noChangeArrowheads="1"/>
          </p:cNvSpPr>
          <p:nvPr/>
        </p:nvSpPr>
        <p:spPr bwMode="auto">
          <a:xfrm>
            <a:off x="4576792" y="3227089"/>
            <a:ext cx="914400" cy="799147"/>
          </a:xfrm>
          <a:prstGeom prst="wedgeRoundRectCallout">
            <a:avLst>
              <a:gd name="adj1" fmla="val 226981"/>
              <a:gd name="adj2" fmla="val -7213"/>
              <a:gd name="adj3" fmla="val 16667"/>
            </a:avLst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/>
          <a:lstStyle/>
          <a:p>
            <a:pPr algn="ctr"/>
            <a:r>
              <a:rPr lang="zh-CN" altLang="en-US" sz="2400" b="1" dirty="0"/>
              <a:t>间距</a:t>
            </a:r>
            <a:r>
              <a:rPr lang="en-US" altLang="zh-CN" sz="2400" b="1" i="1" dirty="0">
                <a:solidFill>
                  <a:srgbClr val="FF3300"/>
                </a:solidFill>
              </a:rPr>
              <a:t>S</a:t>
            </a:r>
          </a:p>
        </p:txBody>
      </p:sp>
      <p:sp>
        <p:nvSpPr>
          <p:cNvPr id="50201" name="AutoShape 25"/>
          <p:cNvSpPr>
            <a:spLocks noChangeArrowheads="1"/>
          </p:cNvSpPr>
          <p:nvPr/>
        </p:nvSpPr>
        <p:spPr bwMode="auto">
          <a:xfrm>
            <a:off x="4924455" y="5157806"/>
            <a:ext cx="914400" cy="914400"/>
          </a:xfrm>
          <a:prstGeom prst="wedgeRoundRectCallout">
            <a:avLst>
              <a:gd name="adj1" fmla="val 303819"/>
              <a:gd name="adj2" fmla="val -125523"/>
              <a:gd name="adj3" fmla="val 16667"/>
            </a:avLst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/>
          <a:lstStyle/>
          <a:p>
            <a:pPr algn="ctr"/>
            <a:r>
              <a:rPr lang="zh-CN" altLang="en-US" sz="2400" b="1" dirty="0"/>
              <a:t>高低</a:t>
            </a:r>
          </a:p>
          <a:p>
            <a:pPr algn="ctr"/>
            <a:r>
              <a:rPr lang="en-US" altLang="zh-CN" sz="2400" b="1" i="1" dirty="0">
                <a:solidFill>
                  <a:srgbClr val="FF3300"/>
                </a:solidFill>
              </a:rPr>
              <a:t>Z</a:t>
            </a:r>
          </a:p>
        </p:txBody>
      </p:sp>
      <p:sp>
        <p:nvSpPr>
          <p:cNvPr id="24" name="矩形 23"/>
          <p:cNvSpPr/>
          <p:nvPr/>
        </p:nvSpPr>
        <p:spPr>
          <a:xfrm>
            <a:off x="2714612" y="357166"/>
            <a:ext cx="39950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600" b="1" dirty="0" smtClean="0"/>
              <a:t>第五章 表面粗糙度</a:t>
            </a:r>
            <a:endParaRPr lang="en-US" altLang="zh-CN" sz="3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utoUpdateAnimBg="0"/>
      <p:bldP spid="50181" grpId="0" autoUpdateAnimBg="0"/>
      <p:bldP spid="50182" grpId="0" autoUpdateAnimBg="0"/>
      <p:bldP spid="50183" grpId="0" autoUpdateAnimBg="0"/>
      <p:bldP spid="50188" grpId="0" autoUpdateAnimBg="0"/>
      <p:bldP spid="50200" grpId="0" animBg="1" autoUpdateAnimBg="0"/>
      <p:bldP spid="50201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45770" indent="-17145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68580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96012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234440" indent="-137160" defTabSz="914400" eaLnBrk="0" hangingPunct="0"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50876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178308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05740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331720" indent="-137160" defTabSz="9144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6541B8-DB04-4868-8E2C-51F1607B918E}" type="slidenum">
              <a:rPr kumimoji="0" lang="zh-CN" altLang="en-US" sz="2000" smtClean="0"/>
              <a:pPr eaLnBrk="1" hangingPunct="1"/>
              <a:t>17</a:t>
            </a:fld>
            <a:endParaRPr kumimoji="0" lang="en-US" altLang="zh-CN" sz="2000" dirty="0" smtClean="0"/>
          </a:p>
        </p:txBody>
      </p:sp>
      <p:sp>
        <p:nvSpPr>
          <p:cNvPr id="56324" name="Text Box 1028"/>
          <p:cNvSpPr txBox="1">
            <a:spLocks noChangeArrowheads="1"/>
          </p:cNvSpPr>
          <p:nvPr/>
        </p:nvSpPr>
        <p:spPr bwMode="auto">
          <a:xfrm>
            <a:off x="357174" y="1000108"/>
            <a:ext cx="6905625" cy="538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表面粗糙度轮廓</a:t>
            </a:r>
            <a:r>
              <a:rPr lang="zh-CN" altLang="en-US" sz="2900" b="1" dirty="0"/>
              <a:t>评定</a:t>
            </a:r>
            <a:r>
              <a:rPr lang="zh-CN" altLang="en-US" sz="2800" b="1" dirty="0"/>
              <a:t>参数共 </a:t>
            </a:r>
            <a:r>
              <a:rPr lang="zh-CN" altLang="en-US" sz="2800" b="1" dirty="0">
                <a:solidFill>
                  <a:srgbClr val="FF3300"/>
                </a:solidFill>
              </a:rPr>
              <a:t>4个</a:t>
            </a:r>
            <a:r>
              <a:rPr lang="zh-CN" altLang="en-US" sz="2800" b="1" dirty="0"/>
              <a:t>：</a:t>
            </a:r>
          </a:p>
        </p:txBody>
      </p:sp>
      <p:grpSp>
        <p:nvGrpSpPr>
          <p:cNvPr id="2" name="Group 1038"/>
          <p:cNvGrpSpPr/>
          <p:nvPr/>
        </p:nvGrpSpPr>
        <p:grpSpPr bwMode="auto">
          <a:xfrm>
            <a:off x="428596" y="2055484"/>
            <a:ext cx="2684147" cy="1230630"/>
            <a:chOff x="675" y="1688"/>
            <a:chExt cx="2818" cy="1292"/>
          </a:xfrm>
        </p:grpSpPr>
        <p:sp>
          <p:nvSpPr>
            <p:cNvPr id="20493" name="Text Box 1029"/>
            <p:cNvSpPr txBox="1">
              <a:spLocks noChangeArrowheads="1"/>
            </p:cNvSpPr>
            <p:nvPr/>
          </p:nvSpPr>
          <p:spPr bwMode="auto">
            <a:xfrm>
              <a:off x="675" y="1688"/>
              <a:ext cx="2550" cy="1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52394" tIns="76197" rIns="152394" bIns="76197">
              <a:spAutoFit/>
            </a:bodyPr>
            <a:lstStyle>
              <a:lvl1pPr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3300"/>
                  </a:solidFill>
                </a:rPr>
                <a:t>基本</a:t>
              </a:r>
              <a:r>
                <a:rPr lang="zh-CN" altLang="en-US" sz="2800" b="1" dirty="0" smtClean="0">
                  <a:solidFill>
                    <a:srgbClr val="FF3300"/>
                  </a:solidFill>
                </a:rPr>
                <a:t>参数</a:t>
              </a:r>
              <a:r>
                <a:rPr lang="zh-CN" altLang="en-US" sz="2800" b="1" dirty="0" smtClean="0"/>
                <a:t>2 个</a:t>
              </a:r>
              <a:endParaRPr lang="zh-CN" altLang="en-US" sz="2800" b="1" dirty="0">
                <a:solidFill>
                  <a:srgbClr val="FF33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 smtClean="0">
                  <a:solidFill>
                    <a:srgbClr val="0066FF"/>
                  </a:solidFill>
                </a:rPr>
                <a:t>（</a:t>
              </a:r>
              <a:r>
                <a:rPr lang="zh-CN" altLang="en-US" sz="2800" b="1" dirty="0" smtClean="0">
                  <a:solidFill>
                    <a:srgbClr val="0066FF"/>
                  </a:solidFill>
                </a:rPr>
                <a:t>幅度参数</a:t>
              </a:r>
              <a:r>
                <a:rPr lang="zh-CN" altLang="en-US" sz="2800" b="1" dirty="0" smtClean="0">
                  <a:solidFill>
                    <a:srgbClr val="0066FF"/>
                  </a:solidFill>
                </a:rPr>
                <a:t>）</a:t>
              </a:r>
              <a:endParaRPr lang="en-US" altLang="zh-CN" sz="2800" b="1" dirty="0">
                <a:solidFill>
                  <a:srgbClr val="0066FF"/>
                </a:solidFill>
              </a:endParaRPr>
            </a:p>
          </p:txBody>
        </p:sp>
        <p:sp>
          <p:nvSpPr>
            <p:cNvPr id="20494" name="AutoShape 1031"/>
            <p:cNvSpPr/>
            <p:nvPr/>
          </p:nvSpPr>
          <p:spPr bwMode="auto">
            <a:xfrm>
              <a:off x="3150" y="1855"/>
              <a:ext cx="343" cy="960"/>
            </a:xfrm>
            <a:prstGeom prst="leftBrace">
              <a:avLst>
                <a:gd name="adj1" fmla="val 23324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28" name="Text Box 1032"/>
          <p:cNvSpPr txBox="1">
            <a:spLocks noChangeArrowheads="1"/>
          </p:cNvSpPr>
          <p:nvPr/>
        </p:nvSpPr>
        <p:spPr bwMode="auto">
          <a:xfrm>
            <a:off x="3122266" y="1976451"/>
            <a:ext cx="5251132" cy="52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>
                <a:solidFill>
                  <a:srgbClr val="FF3300"/>
                </a:solidFill>
              </a:rPr>
              <a:t>Ra</a:t>
            </a:r>
            <a:r>
              <a:rPr lang="en-US" altLang="zh-CN" sz="2800" b="1" i="1" dirty="0"/>
              <a:t> —</a:t>
            </a:r>
            <a:r>
              <a:rPr lang="zh-CN" altLang="en-US" sz="2800" b="1" dirty="0"/>
              <a:t>轮廓算术平均偏差</a:t>
            </a:r>
          </a:p>
        </p:txBody>
      </p:sp>
      <p:sp>
        <p:nvSpPr>
          <p:cNvPr id="56329" name="Text Box 1033"/>
          <p:cNvSpPr txBox="1">
            <a:spLocks noChangeArrowheads="1"/>
          </p:cNvSpPr>
          <p:nvPr/>
        </p:nvSpPr>
        <p:spPr bwMode="auto">
          <a:xfrm>
            <a:off x="3122266" y="2731783"/>
            <a:ext cx="4678680" cy="52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 err="1">
                <a:solidFill>
                  <a:srgbClr val="FF3300"/>
                </a:solidFill>
              </a:rPr>
              <a:t>Rz</a:t>
            </a:r>
            <a:r>
              <a:rPr lang="en-US" altLang="zh-CN" sz="2800" b="1" i="1" dirty="0">
                <a:solidFill>
                  <a:srgbClr val="FF3300"/>
                </a:solidFill>
              </a:rPr>
              <a:t> </a:t>
            </a:r>
            <a:r>
              <a:rPr lang="en-US" altLang="zh-CN" sz="2800" b="1" i="1" dirty="0"/>
              <a:t> —</a:t>
            </a:r>
            <a:r>
              <a:rPr lang="zh-CN" altLang="en-US" sz="2800" b="1" dirty="0"/>
              <a:t>轮廓最大高度</a:t>
            </a:r>
          </a:p>
        </p:txBody>
      </p:sp>
      <p:grpSp>
        <p:nvGrpSpPr>
          <p:cNvPr id="3" name="Group 1039"/>
          <p:cNvGrpSpPr/>
          <p:nvPr/>
        </p:nvGrpSpPr>
        <p:grpSpPr bwMode="auto">
          <a:xfrm>
            <a:off x="489599" y="3623324"/>
            <a:ext cx="2396490" cy="1877378"/>
            <a:chOff x="814" y="3194"/>
            <a:chExt cx="2516" cy="1971"/>
          </a:xfrm>
        </p:grpSpPr>
        <p:sp>
          <p:nvSpPr>
            <p:cNvPr id="20491" name="Text Box 1030"/>
            <p:cNvSpPr txBox="1">
              <a:spLocks noChangeArrowheads="1"/>
            </p:cNvSpPr>
            <p:nvPr/>
          </p:nvSpPr>
          <p:spPr bwMode="auto">
            <a:xfrm>
              <a:off x="814" y="3194"/>
              <a:ext cx="2413" cy="1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52394" tIns="76197" rIns="152394" bIns="76197">
              <a:spAutoFit/>
            </a:bodyPr>
            <a:lstStyle>
              <a:lvl1pPr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1524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1524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  </a:t>
              </a:r>
              <a:r>
                <a:rPr lang="zh-CN" altLang="en-US" sz="2800" b="1" dirty="0">
                  <a:solidFill>
                    <a:srgbClr val="FF3300"/>
                  </a:solidFill>
                </a:rPr>
                <a:t>附加参数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(辅助参数</a:t>
              </a:r>
              <a:r>
                <a:rPr lang="en-US" altLang="zh-CN" sz="2800" b="1" dirty="0"/>
                <a:t>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3300"/>
                  </a:solidFill>
                </a:rPr>
                <a:t>      </a:t>
              </a:r>
              <a:r>
                <a:rPr lang="zh-CN" altLang="en-US" sz="2800" b="1" dirty="0"/>
                <a:t>2 个</a:t>
              </a:r>
              <a:endParaRPr lang="en-US" altLang="zh-CN" sz="2800" dirty="0"/>
            </a:p>
          </p:txBody>
        </p:sp>
        <p:sp>
          <p:nvSpPr>
            <p:cNvPr id="20492" name="AutoShape 1034"/>
            <p:cNvSpPr/>
            <p:nvPr/>
          </p:nvSpPr>
          <p:spPr bwMode="auto">
            <a:xfrm>
              <a:off x="2880" y="3437"/>
              <a:ext cx="450" cy="1158"/>
            </a:xfrm>
            <a:prstGeom prst="leftBrace">
              <a:avLst>
                <a:gd name="adj1" fmla="val 21444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31" name="Text Box 1035"/>
          <p:cNvSpPr txBox="1">
            <a:spLocks noChangeArrowheads="1"/>
          </p:cNvSpPr>
          <p:nvPr/>
        </p:nvSpPr>
        <p:spPr bwMode="auto">
          <a:xfrm>
            <a:off x="2974672" y="3602368"/>
            <a:ext cx="5495925" cy="52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 err="1"/>
              <a:t>Rsm</a:t>
            </a:r>
            <a:r>
              <a:rPr lang="en-US" altLang="zh-CN" i="1" dirty="0"/>
              <a:t>  — </a:t>
            </a:r>
            <a:r>
              <a:rPr lang="zh-CN" altLang="en-US" sz="2800" b="1" dirty="0"/>
              <a:t>轮廓单元平均宽度</a:t>
            </a:r>
            <a:r>
              <a:rPr lang="zh-CN" altLang="en-US" sz="2800" b="1" dirty="0">
                <a:solidFill>
                  <a:srgbClr val="FF3300"/>
                </a:solidFill>
              </a:rPr>
              <a:t> 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  <p:sp>
        <p:nvSpPr>
          <p:cNvPr id="56332" name="Text Box 1036"/>
          <p:cNvSpPr txBox="1">
            <a:spLocks noChangeArrowheads="1"/>
          </p:cNvSpPr>
          <p:nvPr/>
        </p:nvSpPr>
        <p:spPr bwMode="auto">
          <a:xfrm>
            <a:off x="2962289" y="4473906"/>
            <a:ext cx="5363528" cy="52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>
            <a:lvl1pPr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5240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524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 err="1"/>
              <a:t>Rmr</a:t>
            </a:r>
            <a:r>
              <a:rPr lang="en-US" altLang="zh-CN" sz="2800" dirty="0"/>
              <a:t>(</a:t>
            </a:r>
            <a:r>
              <a:rPr lang="en-US" altLang="zh-CN" sz="2800" i="1" dirty="0"/>
              <a:t>c</a:t>
            </a:r>
            <a:r>
              <a:rPr lang="en-US" altLang="zh-CN" sz="2800" dirty="0"/>
              <a:t>) —</a:t>
            </a:r>
            <a:r>
              <a:rPr lang="zh-CN" altLang="en-US" sz="2800" b="1" dirty="0"/>
              <a:t>轮廓支承长度率</a:t>
            </a:r>
            <a:endParaRPr lang="en-US" altLang="zh-CN" sz="2800" b="1" dirty="0"/>
          </a:p>
        </p:txBody>
      </p:sp>
      <p:sp>
        <p:nvSpPr>
          <p:cNvPr id="14" name="矩形 13"/>
          <p:cNvSpPr/>
          <p:nvPr/>
        </p:nvSpPr>
        <p:spPr>
          <a:xfrm>
            <a:off x="6858032" y="3620160"/>
            <a:ext cx="228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66FF"/>
                </a:solidFill>
              </a:rPr>
              <a:t>（间距参数</a:t>
            </a:r>
            <a:r>
              <a:rPr lang="zh-CN" altLang="en-US" sz="2800" b="1" dirty="0" smtClean="0">
                <a:solidFill>
                  <a:srgbClr val="0066FF"/>
                </a:solidFill>
              </a:rPr>
              <a:t>）</a:t>
            </a:r>
            <a:endParaRPr lang="en-US" altLang="zh-CN" sz="2800" b="1" dirty="0">
              <a:solidFill>
                <a:srgbClr val="0066FF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858032" y="4477416"/>
            <a:ext cx="228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66FF"/>
                </a:solidFill>
              </a:rPr>
              <a:t>（混合参数</a:t>
            </a:r>
            <a:r>
              <a:rPr lang="zh-CN" altLang="en-US" sz="2800" b="1" dirty="0" smtClean="0">
                <a:solidFill>
                  <a:srgbClr val="0066FF"/>
                </a:solidFill>
              </a:rPr>
              <a:t>）</a:t>
            </a:r>
            <a:endParaRPr lang="en-US" altLang="zh-CN" sz="2800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8" grpId="0" autoUpdateAnimBg="0"/>
      <p:bldP spid="56329" grpId="0" autoUpdateAnimBg="0"/>
      <p:bldP spid="56331" grpId="0" autoUpdateAnimBg="0"/>
      <p:bldP spid="5633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符号及标注方法</a:t>
            </a:r>
            <a:endParaRPr lang="zh-CN" altLang="en-US" sz="2800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472" y="785794"/>
            <a:ext cx="7786742" cy="4357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71472" y="5214950"/>
            <a:ext cx="6643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参数极限值判断原则“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16%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规则</a:t>
            </a:r>
            <a:r>
              <a:rPr lang="zh-CN" altLang="en-US" sz="2400" dirty="0" smtClean="0"/>
              <a:t>”“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最大规则</a:t>
            </a:r>
            <a:r>
              <a:rPr lang="zh-CN" altLang="en-US" sz="2400" dirty="0" smtClean="0"/>
              <a:t>”</a:t>
            </a:r>
            <a:endParaRPr lang="zh-CN" altLang="en-US" sz="2400" dirty="0"/>
          </a:p>
        </p:txBody>
      </p:sp>
      <p:grpSp>
        <p:nvGrpSpPr>
          <p:cNvPr id="7" name="Group 28"/>
          <p:cNvGrpSpPr/>
          <p:nvPr/>
        </p:nvGrpSpPr>
        <p:grpSpPr bwMode="auto">
          <a:xfrm>
            <a:off x="3500431" y="5715012"/>
            <a:ext cx="1357564" cy="752466"/>
            <a:chOff x="4215" y="4284"/>
            <a:chExt cx="2042" cy="1194"/>
          </a:xfrm>
        </p:grpSpPr>
        <p:sp>
          <p:nvSpPr>
            <p:cNvPr id="9" name="Text Box 22"/>
            <p:cNvSpPr txBox="1">
              <a:spLocks noChangeArrowheads="1"/>
            </p:cNvSpPr>
            <p:nvPr/>
          </p:nvSpPr>
          <p:spPr bwMode="auto">
            <a:xfrm>
              <a:off x="5037" y="4312"/>
              <a:ext cx="1220" cy="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600" b="1" i="1" dirty="0"/>
                <a:t>Ra</a:t>
              </a:r>
              <a:r>
                <a:rPr lang="en-US" altLang="zh-CN" sz="1600" b="1" dirty="0"/>
                <a:t>  3.2</a:t>
              </a:r>
            </a:p>
          </p:txBody>
        </p:sp>
        <p:grpSp>
          <p:nvGrpSpPr>
            <p:cNvPr id="10" name="Group 24"/>
            <p:cNvGrpSpPr/>
            <p:nvPr/>
          </p:nvGrpSpPr>
          <p:grpSpPr bwMode="auto">
            <a:xfrm>
              <a:off x="4215" y="4284"/>
              <a:ext cx="1869" cy="1194"/>
              <a:chOff x="3821" y="4411"/>
              <a:chExt cx="1869" cy="1194"/>
            </a:xfrm>
          </p:grpSpPr>
          <p:sp>
            <p:nvSpPr>
              <p:cNvPr id="11" name="AutoShape 25"/>
              <p:cNvSpPr>
                <a:spLocks noChangeArrowheads="1"/>
              </p:cNvSpPr>
              <p:nvPr/>
            </p:nvSpPr>
            <p:spPr bwMode="auto">
              <a:xfrm flipV="1">
                <a:off x="3821" y="5029"/>
                <a:ext cx="666" cy="576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26"/>
              <p:cNvSpPr>
                <a:spLocks noChangeShapeType="1"/>
              </p:cNvSpPr>
              <p:nvPr/>
            </p:nvSpPr>
            <p:spPr bwMode="auto">
              <a:xfrm flipV="1">
                <a:off x="4482" y="4411"/>
                <a:ext cx="357" cy="6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27"/>
              <p:cNvSpPr>
                <a:spLocks noChangeShapeType="1"/>
              </p:cNvSpPr>
              <p:nvPr/>
            </p:nvSpPr>
            <p:spPr bwMode="auto">
              <a:xfrm>
                <a:off x="4833" y="4411"/>
                <a:ext cx="85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86512" y="5643578"/>
            <a:ext cx="2027971" cy="774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0AC41F-A0E9-4229-AF44-1D502C9E95E6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19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04825" y="894170"/>
            <a:ext cx="460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1.</a:t>
            </a:r>
            <a:r>
              <a:rPr lang="zh-CN" altLang="en-US" b="1" dirty="0">
                <a:latin typeface="宋体" panose="02010600030101010101" pitchFamily="2" charset="-122"/>
              </a:rPr>
              <a:t> 滚动轴承的公差等级</a:t>
            </a:r>
            <a:r>
              <a:rPr lang="zh-CN" altLang="en-US" b="1" dirty="0"/>
              <a:t> 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90563" y="1454557"/>
            <a:ext cx="5180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/>
              <a:t>根据（1）</a:t>
            </a:r>
            <a:r>
              <a:rPr lang="zh-CN" altLang="en-US" b="1" dirty="0">
                <a:solidFill>
                  <a:srgbClr val="FF0000"/>
                </a:solidFill>
              </a:rPr>
              <a:t>尺寸精度</a:t>
            </a:r>
            <a:r>
              <a:rPr lang="zh-CN" altLang="en-US" b="1" dirty="0"/>
              <a:t>（</a:t>
            </a:r>
            <a:r>
              <a:rPr lang="en-US" altLang="zh-CN" b="1" i="1" dirty="0">
                <a:solidFill>
                  <a:srgbClr val="FF3300"/>
                </a:solidFill>
              </a:rPr>
              <a:t>D</a:t>
            </a:r>
            <a:r>
              <a:rPr lang="zh-CN" altLang="en-US" b="1" i="1" dirty="0">
                <a:solidFill>
                  <a:srgbClr val="FF3300"/>
                </a:solidFill>
              </a:rPr>
              <a:t>、</a:t>
            </a:r>
            <a:r>
              <a:rPr lang="en-US" altLang="zh-CN" b="1" i="1" dirty="0">
                <a:solidFill>
                  <a:srgbClr val="FF3300"/>
                </a:solidFill>
              </a:rPr>
              <a:t>d</a:t>
            </a:r>
            <a:r>
              <a:rPr lang="zh-CN" altLang="en-US" b="1" i="1" dirty="0">
                <a:solidFill>
                  <a:srgbClr val="FF3300"/>
                </a:solidFill>
              </a:rPr>
              <a:t>、</a:t>
            </a:r>
            <a:r>
              <a:rPr lang="en-US" altLang="zh-CN" b="1" i="1" dirty="0">
                <a:solidFill>
                  <a:srgbClr val="FF3300"/>
                </a:solidFill>
              </a:rPr>
              <a:t>B</a:t>
            </a:r>
            <a:r>
              <a:rPr lang="zh-CN" altLang="en-US" b="1" dirty="0"/>
              <a:t>）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12775" y="2599145"/>
            <a:ext cx="3997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① </a:t>
            </a:r>
            <a:r>
              <a:rPr lang="zh-CN" altLang="en-US" b="1" dirty="0" smtClean="0"/>
              <a:t>向心轴承</a:t>
            </a:r>
            <a:r>
              <a:rPr lang="zh-CN" altLang="en-US" b="1" dirty="0"/>
              <a:t>的公差等级为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822325" y="5231220"/>
            <a:ext cx="619283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/>
              <a:t>其中 </a:t>
            </a:r>
            <a:r>
              <a:rPr lang="zh-CN" altLang="en-US" b="1" dirty="0" smtClean="0"/>
              <a:t>普通级</a:t>
            </a:r>
            <a:r>
              <a:rPr lang="zh-CN" altLang="en-US" b="1" dirty="0"/>
              <a:t>精度最低；其次依次增高。</a:t>
            </a:r>
          </a:p>
        </p:txBody>
      </p:sp>
      <p:sp>
        <p:nvSpPr>
          <p:cNvPr id="6268" name="Text Box 124"/>
          <p:cNvSpPr txBox="1">
            <a:spLocks noChangeArrowheads="1"/>
          </p:cNvSpPr>
          <p:nvPr/>
        </p:nvSpPr>
        <p:spPr bwMode="auto">
          <a:xfrm>
            <a:off x="839788" y="3127782"/>
            <a:ext cx="4525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 </a:t>
            </a:r>
            <a:r>
              <a:rPr lang="zh-CN" altLang="en-US" b="1" dirty="0" smtClean="0">
                <a:solidFill>
                  <a:srgbClr val="0066FF"/>
                </a:solidFill>
              </a:rPr>
              <a:t>普通级</a:t>
            </a:r>
            <a:r>
              <a:rPr lang="en-US" altLang="zh-CN" b="1" dirty="0" smtClean="0">
                <a:solidFill>
                  <a:srgbClr val="0066FF"/>
                </a:solidFill>
              </a:rPr>
              <a:t>、</a:t>
            </a:r>
            <a:r>
              <a:rPr lang="en-US" altLang="zh-CN" b="1" dirty="0">
                <a:solidFill>
                  <a:srgbClr val="0066FF"/>
                </a:solidFill>
              </a:rPr>
              <a:t>6、5、4、2 </a:t>
            </a:r>
            <a:r>
              <a:rPr lang="zh-CN" altLang="en-US" b="1" dirty="0">
                <a:solidFill>
                  <a:srgbClr val="FF3300"/>
                </a:solidFill>
              </a:rPr>
              <a:t>五 </a:t>
            </a:r>
            <a:r>
              <a:rPr lang="zh-CN" altLang="en-US" b="1" dirty="0"/>
              <a:t>级；</a:t>
            </a:r>
          </a:p>
        </p:txBody>
      </p:sp>
      <p:sp>
        <p:nvSpPr>
          <p:cNvPr id="6269" name="Text Box 125"/>
          <p:cNvSpPr txBox="1">
            <a:spLocks noChangeArrowheads="1"/>
          </p:cNvSpPr>
          <p:nvPr/>
        </p:nvSpPr>
        <p:spPr bwMode="auto">
          <a:xfrm>
            <a:off x="912813" y="4172357"/>
            <a:ext cx="4573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 smtClean="0">
                <a:solidFill>
                  <a:srgbClr val="0066FF"/>
                </a:solidFill>
              </a:rPr>
              <a:t>普通级</a:t>
            </a:r>
            <a:r>
              <a:rPr lang="en-US" altLang="zh-CN" b="1" dirty="0" smtClean="0">
                <a:solidFill>
                  <a:srgbClr val="0066FF"/>
                </a:solidFill>
              </a:rPr>
              <a:t>、6X、5、4 </a:t>
            </a:r>
            <a:r>
              <a:rPr lang="zh-CN" altLang="en-US" b="1" dirty="0" smtClean="0">
                <a:solidFill>
                  <a:srgbClr val="0066FF"/>
                </a:solidFill>
              </a:rPr>
              <a:t>、</a:t>
            </a:r>
            <a:r>
              <a:rPr lang="en-US" altLang="zh-CN" b="1" dirty="0" smtClean="0">
                <a:solidFill>
                  <a:srgbClr val="0066FF"/>
                </a:solidFill>
              </a:rPr>
              <a:t>2</a:t>
            </a:r>
            <a:r>
              <a:rPr lang="zh-CN" altLang="en-US" b="1" dirty="0" smtClean="0">
                <a:solidFill>
                  <a:srgbClr val="FF3300"/>
                </a:solidFill>
              </a:rPr>
              <a:t>五 </a:t>
            </a:r>
            <a:r>
              <a:rPr lang="zh-CN" altLang="en-US" b="1" dirty="0"/>
              <a:t>级。</a:t>
            </a:r>
          </a:p>
        </p:txBody>
      </p:sp>
      <p:pic>
        <p:nvPicPr>
          <p:cNvPr id="6364" name="Picture 2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566" y="688534"/>
            <a:ext cx="1813292" cy="40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65" name="Rectangle 221"/>
          <p:cNvSpPr>
            <a:spLocks noChangeArrowheads="1"/>
          </p:cNvSpPr>
          <p:nvPr/>
        </p:nvSpPr>
        <p:spPr bwMode="auto">
          <a:xfrm>
            <a:off x="5757951" y="2299107"/>
            <a:ext cx="479425" cy="60325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67" name="Oval 223"/>
          <p:cNvSpPr>
            <a:spLocks noChangeArrowheads="1"/>
          </p:cNvSpPr>
          <p:nvPr/>
        </p:nvSpPr>
        <p:spPr bwMode="auto">
          <a:xfrm>
            <a:off x="6253930" y="2275748"/>
            <a:ext cx="325438" cy="558800"/>
          </a:xfrm>
          <a:prstGeom prst="ellips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68" name="Rectangle 224"/>
          <p:cNvSpPr>
            <a:spLocks noChangeArrowheads="1"/>
          </p:cNvSpPr>
          <p:nvPr/>
        </p:nvSpPr>
        <p:spPr bwMode="auto">
          <a:xfrm>
            <a:off x="6902538" y="4232682"/>
            <a:ext cx="417513" cy="3556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70" name="Rectangle 226"/>
          <p:cNvSpPr>
            <a:spLocks noChangeArrowheads="1"/>
          </p:cNvSpPr>
          <p:nvPr/>
        </p:nvSpPr>
        <p:spPr bwMode="auto">
          <a:xfrm>
            <a:off x="1329151" y="1956207"/>
            <a:ext cx="3765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 dirty="0"/>
              <a:t>（2）</a:t>
            </a:r>
            <a:r>
              <a:rPr lang="zh-CN" altLang="en-US" b="1" dirty="0">
                <a:solidFill>
                  <a:srgbClr val="FF0000"/>
                </a:solidFill>
              </a:rPr>
              <a:t>旋转精度分</a:t>
            </a:r>
          </a:p>
        </p:txBody>
      </p:sp>
      <p:sp>
        <p:nvSpPr>
          <p:cNvPr id="6371" name="Text Box 227"/>
          <p:cNvSpPr txBox="1">
            <a:spLocks noChangeArrowheads="1"/>
          </p:cNvSpPr>
          <p:nvPr/>
        </p:nvSpPr>
        <p:spPr bwMode="auto">
          <a:xfrm>
            <a:off x="619832" y="3643720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② </a:t>
            </a:r>
            <a:r>
              <a:rPr lang="zh-CN" altLang="en-US" b="1" dirty="0"/>
              <a:t>圆锥滚子轴承的公差等级为</a:t>
            </a:r>
          </a:p>
        </p:txBody>
      </p:sp>
      <p:sp>
        <p:nvSpPr>
          <p:cNvPr id="6372" name="Text Box 228"/>
          <p:cNvSpPr txBox="1">
            <a:spLocks noChangeArrowheads="1"/>
          </p:cNvSpPr>
          <p:nvPr/>
        </p:nvSpPr>
        <p:spPr bwMode="auto">
          <a:xfrm>
            <a:off x="649408" y="4700995"/>
            <a:ext cx="458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宋体" panose="02010600030101010101" pitchFamily="2" charset="-122"/>
              </a:rPr>
              <a:t>③ </a:t>
            </a:r>
            <a:r>
              <a:rPr lang="zh-CN" altLang="en-US" b="1" dirty="0"/>
              <a:t>推力轴承的公差等级为</a:t>
            </a:r>
          </a:p>
        </p:txBody>
      </p:sp>
      <p:sp>
        <p:nvSpPr>
          <p:cNvPr id="6373" name="Text Box 229"/>
          <p:cNvSpPr txBox="1">
            <a:spLocks noChangeArrowheads="1"/>
          </p:cNvSpPr>
          <p:nvPr/>
        </p:nvSpPr>
        <p:spPr bwMode="auto">
          <a:xfrm>
            <a:off x="4437243" y="4740329"/>
            <a:ext cx="359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 dirty="0"/>
              <a:t>  </a:t>
            </a:r>
            <a:r>
              <a:rPr lang="zh-CN" altLang="en-US" b="1" dirty="0" smtClean="0">
                <a:solidFill>
                  <a:srgbClr val="0066FF"/>
                </a:solidFill>
              </a:rPr>
              <a:t>普通级</a:t>
            </a:r>
            <a:r>
              <a:rPr lang="en-US" altLang="zh-CN" b="1" dirty="0" smtClean="0">
                <a:solidFill>
                  <a:srgbClr val="0066FF"/>
                </a:solidFill>
              </a:rPr>
              <a:t>、</a:t>
            </a:r>
            <a:r>
              <a:rPr lang="en-US" altLang="zh-CN" b="1" dirty="0">
                <a:solidFill>
                  <a:srgbClr val="0066FF"/>
                </a:solidFill>
              </a:rPr>
              <a:t>6、5、4 </a:t>
            </a:r>
            <a:r>
              <a:rPr lang="zh-CN" altLang="en-US" b="1" dirty="0">
                <a:solidFill>
                  <a:srgbClr val="FF3300"/>
                </a:solidFill>
              </a:rPr>
              <a:t>四 </a:t>
            </a:r>
            <a:r>
              <a:rPr lang="zh-CN" altLang="en-US" b="1" dirty="0"/>
              <a:t>级。</a:t>
            </a:r>
          </a:p>
        </p:txBody>
      </p:sp>
      <p:sp>
        <p:nvSpPr>
          <p:cNvPr id="18" name="矩形 17"/>
          <p:cNvSpPr/>
          <p:nvPr/>
        </p:nvSpPr>
        <p:spPr>
          <a:xfrm>
            <a:off x="1714480" y="142852"/>
            <a:ext cx="58326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200" b="1" dirty="0" smtClean="0"/>
              <a:t>第六章 滚动轴承与孔轴配合</a:t>
            </a:r>
            <a:endParaRPr lang="en-US" altLang="zh-CN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6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"/>
                                        <p:tgtEl>
                                          <p:spTgt spid="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  <p:bldP spid="6148" grpId="0" autoUpdateAnimBg="0"/>
      <p:bldP spid="6149" grpId="0" autoUpdateAnimBg="0"/>
      <p:bldP spid="6151" grpId="0" autoUpdateAnimBg="0"/>
      <p:bldP spid="6268" grpId="0" autoUpdateAnimBg="0"/>
      <p:bldP spid="6269" grpId="0" autoUpdateAnimBg="0"/>
      <p:bldP spid="6365" grpId="0" animBg="1"/>
      <p:bldP spid="6367" grpId="0" animBg="1"/>
      <p:bldP spid="6368" grpId="0" animBg="1"/>
      <p:bldP spid="6370" grpId="0" autoUpdateAnimBg="0"/>
      <p:bldP spid="6371" grpId="0" autoUpdateAnimBg="0"/>
      <p:bldP spid="6372" grpId="0" autoUpdateAnimBg="0"/>
      <p:bldP spid="637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508694-452F-47B5-94B0-5DC1384E069A}" type="slidenum">
              <a:rPr kumimoji="0" lang="zh-CN" altLang="en-US" sz="2000" smtClean="0">
                <a:solidFill>
                  <a:srgbClr val="0000FF"/>
                </a:solidFill>
              </a:rPr>
              <a:pPr eaLnBrk="1" hangingPunct="1"/>
              <a:t>20</a:t>
            </a:fld>
            <a:endParaRPr kumimoji="0" lang="en-US" altLang="zh-CN" sz="2000" smtClean="0">
              <a:solidFill>
                <a:srgbClr val="0000FF"/>
              </a:solidFill>
            </a:endParaRPr>
          </a:p>
        </p:txBody>
      </p:sp>
      <p:sp>
        <p:nvSpPr>
          <p:cNvPr id="49156" name="Text Box 1028"/>
          <p:cNvSpPr txBox="1">
            <a:spLocks noChangeArrowheads="1"/>
          </p:cNvSpPr>
          <p:nvPr/>
        </p:nvSpPr>
        <p:spPr bwMode="auto">
          <a:xfrm>
            <a:off x="755576" y="285728"/>
            <a:ext cx="460851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 smtClean="0">
                <a:latin typeface="宋体" panose="02010600030101010101" pitchFamily="2" charset="-122"/>
              </a:rPr>
              <a:t>滚动轴承</a:t>
            </a:r>
            <a:r>
              <a:rPr lang="zh-CN" altLang="en-US" sz="2800" b="1" dirty="0">
                <a:latin typeface="宋体" panose="02010600030101010101" pitchFamily="2" charset="-122"/>
              </a:rPr>
              <a:t>内、外圈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公差带</a:t>
            </a:r>
            <a:endParaRPr lang="zh-CN" altLang="en-US" sz="2800" b="1" dirty="0"/>
          </a:p>
        </p:txBody>
      </p:sp>
      <p:pic>
        <p:nvPicPr>
          <p:cNvPr id="12300" name="Picture 10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76350" y="2057401"/>
            <a:ext cx="5656169" cy="322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160" name="Text Box 1032"/>
          <p:cNvSpPr txBox="1">
            <a:spLocks noChangeArrowheads="1"/>
          </p:cNvSpPr>
          <p:nvPr/>
        </p:nvSpPr>
        <p:spPr bwMode="auto">
          <a:xfrm>
            <a:off x="674688" y="1031555"/>
            <a:ext cx="351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(1) 内圈 </a:t>
            </a:r>
            <a:r>
              <a:rPr lang="zh-CN" altLang="en-US" b="1" dirty="0">
                <a:cs typeface="Times New Roman" panose="02020603050405020304" pitchFamily="18" charset="0"/>
              </a:rPr>
              <a:t>— </a:t>
            </a:r>
            <a:r>
              <a:rPr lang="zh-CN" altLang="en-US" b="1" dirty="0"/>
              <a:t>基准孔</a:t>
            </a:r>
          </a:p>
        </p:txBody>
      </p:sp>
      <p:sp>
        <p:nvSpPr>
          <p:cNvPr id="49162" name="Text Box 1034"/>
          <p:cNvSpPr txBox="1">
            <a:spLocks noChangeArrowheads="1"/>
          </p:cNvSpPr>
          <p:nvPr/>
        </p:nvSpPr>
        <p:spPr bwMode="auto">
          <a:xfrm>
            <a:off x="4445000" y="1031555"/>
            <a:ext cx="187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>
                <a:solidFill>
                  <a:srgbClr val="FF3300"/>
                </a:solidFill>
              </a:rPr>
              <a:t>ES = 0</a:t>
            </a:r>
          </a:p>
        </p:txBody>
      </p:sp>
      <p:sp>
        <p:nvSpPr>
          <p:cNvPr id="49163" name="Text Box 1035"/>
          <p:cNvSpPr txBox="1">
            <a:spLocks noChangeArrowheads="1"/>
          </p:cNvSpPr>
          <p:nvPr/>
        </p:nvSpPr>
        <p:spPr bwMode="auto">
          <a:xfrm>
            <a:off x="701675" y="1688780"/>
            <a:ext cx="5014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/>
              <a:t>(2) 外圈 </a:t>
            </a:r>
            <a:r>
              <a:rPr lang="zh-CN" altLang="en-US" b="1" dirty="0">
                <a:cs typeface="Times New Roman" panose="02020603050405020304" pitchFamily="18" charset="0"/>
              </a:rPr>
              <a:t>—</a:t>
            </a:r>
            <a:r>
              <a:rPr lang="zh-CN" altLang="en-US" b="1" dirty="0"/>
              <a:t>基准轴</a:t>
            </a:r>
          </a:p>
        </p:txBody>
      </p:sp>
      <p:sp>
        <p:nvSpPr>
          <p:cNvPr id="49165" name="Text Box 1037"/>
          <p:cNvSpPr txBox="1">
            <a:spLocks noChangeArrowheads="1"/>
          </p:cNvSpPr>
          <p:nvPr/>
        </p:nvSpPr>
        <p:spPr bwMode="auto">
          <a:xfrm>
            <a:off x="4475163" y="1665288"/>
            <a:ext cx="2382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b="1">
                <a:solidFill>
                  <a:srgbClr val="FF3300"/>
                </a:solidFill>
              </a:rPr>
              <a:t>es = 0</a:t>
            </a:r>
          </a:p>
        </p:txBody>
      </p:sp>
      <p:sp>
        <p:nvSpPr>
          <p:cNvPr id="49167" name="Text Box 1039"/>
          <p:cNvSpPr txBox="1">
            <a:spLocks noChangeArrowheads="1"/>
          </p:cNvSpPr>
          <p:nvPr/>
        </p:nvSpPr>
        <p:spPr bwMode="auto">
          <a:xfrm>
            <a:off x="968375" y="5429264"/>
            <a:ext cx="7151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/>
              <a:t>其特点—— 内、外圈的</a:t>
            </a:r>
            <a:r>
              <a:rPr lang="zh-CN" altLang="en-US" sz="2800" b="1" dirty="0">
                <a:solidFill>
                  <a:srgbClr val="FF3300"/>
                </a:solidFill>
              </a:rPr>
              <a:t>公差带都在零线下面。</a:t>
            </a:r>
          </a:p>
        </p:txBody>
      </p:sp>
      <p:sp>
        <p:nvSpPr>
          <p:cNvPr id="49169" name="Line 1041"/>
          <p:cNvSpPr>
            <a:spLocks noChangeShapeType="1"/>
          </p:cNvSpPr>
          <p:nvPr/>
        </p:nvSpPr>
        <p:spPr bwMode="auto">
          <a:xfrm>
            <a:off x="1443038" y="2571744"/>
            <a:ext cx="5167312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170" name="Line 1042"/>
          <p:cNvSpPr>
            <a:spLocks noChangeShapeType="1"/>
          </p:cNvSpPr>
          <p:nvPr/>
        </p:nvSpPr>
        <p:spPr bwMode="auto">
          <a:xfrm>
            <a:off x="1428750" y="4000504"/>
            <a:ext cx="5132388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utoUpdateAnimBg="0"/>
      <p:bldP spid="49160" grpId="0" autoUpdateAnimBg="0"/>
      <p:bldP spid="49162" grpId="0" autoUpdateAnimBg="0"/>
      <p:bldP spid="49163" grpId="0" autoUpdateAnimBg="0"/>
      <p:bldP spid="49165" grpId="0" autoUpdateAnimBg="0"/>
      <p:bldP spid="49167" grpId="0" autoUpdateAnimBg="0"/>
      <p:bldP spid="49169" grpId="0" animBg="1"/>
      <p:bldP spid="491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24078" indent="-24003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60120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344168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728216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112264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496312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880360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264408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EA2479-6869-4318-9930-567686C3E4C3}" type="slidenum">
              <a:rPr kumimoji="0" lang="zh-CN" altLang="en-US" sz="1700" i="0" smtClean="0">
                <a:solidFill>
                  <a:srgbClr val="0000FF"/>
                </a:solidFill>
              </a:rPr>
              <a:pPr eaLnBrk="1" hangingPunct="1"/>
              <a:t>21</a:t>
            </a:fld>
            <a:endParaRPr kumimoji="0" lang="en-US" altLang="zh-CN" sz="1700" i="0" dirty="0" smtClean="0">
              <a:solidFill>
                <a:srgbClr val="0000FF"/>
              </a:solidFill>
            </a:endParaRPr>
          </a:p>
        </p:txBody>
      </p:sp>
      <p:sp>
        <p:nvSpPr>
          <p:cNvPr id="32773" name="Text Box 2053"/>
          <p:cNvSpPr txBox="1">
            <a:spLocks noChangeArrowheads="1"/>
          </p:cNvSpPr>
          <p:nvPr/>
        </p:nvSpPr>
        <p:spPr bwMode="auto">
          <a:xfrm>
            <a:off x="381000" y="664369"/>
            <a:ext cx="746760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/>
              <a:t>8.</a:t>
            </a:r>
            <a:r>
              <a:rPr lang="zh-CN" altLang="en-US" sz="2400" b="1" i="0" dirty="0" smtClean="0"/>
              <a:t>1普通平键</a:t>
            </a:r>
            <a:r>
              <a:rPr lang="zh-CN" altLang="en-US" sz="2400" b="1" i="0" dirty="0"/>
              <a:t>结合的结构和几何参数</a:t>
            </a:r>
            <a:r>
              <a:rPr lang="zh-CN" altLang="en-US" sz="2000" i="0" dirty="0"/>
              <a:t> </a:t>
            </a:r>
          </a:p>
        </p:txBody>
      </p:sp>
      <p:sp>
        <p:nvSpPr>
          <p:cNvPr id="32774" name="Text Box 2054"/>
          <p:cNvSpPr txBox="1">
            <a:spLocks noChangeArrowheads="1"/>
          </p:cNvSpPr>
          <p:nvPr/>
        </p:nvSpPr>
        <p:spPr bwMode="auto">
          <a:xfrm>
            <a:off x="714349" y="5499649"/>
            <a:ext cx="7394038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>
                <a:latin typeface="宋体" panose="02010600030101010101" pitchFamily="2" charset="-122"/>
              </a:rPr>
              <a:t>平键是以</a:t>
            </a:r>
            <a:r>
              <a:rPr lang="zh-CN" altLang="en-US" sz="24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侧面相互接触传递转矩</a:t>
            </a:r>
            <a:r>
              <a:rPr lang="zh-CN" altLang="en-US" sz="2400" b="1" i="0" dirty="0">
                <a:latin typeface="宋体" panose="02010600030101010101" pitchFamily="2" charset="-122"/>
              </a:rPr>
              <a:t>，故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宽度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b="1" i="0" dirty="0">
                <a:latin typeface="宋体" panose="02010600030101010101" pitchFamily="2" charset="-122"/>
              </a:rPr>
              <a:t>为配合尺寸。 </a:t>
            </a:r>
          </a:p>
        </p:txBody>
      </p:sp>
      <p:sp>
        <p:nvSpPr>
          <p:cNvPr id="32775" name="Text Box 2055"/>
          <p:cNvSpPr txBox="1">
            <a:spLocks noChangeArrowheads="1"/>
          </p:cNvSpPr>
          <p:nvPr/>
        </p:nvSpPr>
        <p:spPr bwMode="auto">
          <a:xfrm>
            <a:off x="548640" y="1198722"/>
            <a:ext cx="472440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/>
              <a:t>1. 结构  </a:t>
            </a:r>
          </a:p>
        </p:txBody>
      </p:sp>
      <p:pic>
        <p:nvPicPr>
          <p:cNvPr id="32780" name="Picture 206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49" y="1683068"/>
            <a:ext cx="2832100" cy="3733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81" name="Picture 206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749" y="1834515"/>
            <a:ext cx="3032760" cy="312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2077"/>
          <p:cNvGrpSpPr/>
          <p:nvPr/>
        </p:nvGrpSpPr>
        <p:grpSpPr bwMode="auto">
          <a:xfrm>
            <a:off x="4263749" y="3816192"/>
            <a:ext cx="1828800" cy="1170146"/>
            <a:chOff x="2688" y="2736"/>
            <a:chExt cx="1152" cy="737"/>
          </a:xfrm>
        </p:grpSpPr>
        <p:sp>
          <p:nvSpPr>
            <p:cNvPr id="5139" name="AutoShape 2075"/>
            <p:cNvSpPr/>
            <p:nvPr/>
          </p:nvSpPr>
          <p:spPr bwMode="auto">
            <a:xfrm>
              <a:off x="2688" y="3089"/>
              <a:ext cx="576" cy="38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9065"/>
                <a:gd name="adj5" fmla="val -89065"/>
                <a:gd name="adj6" fmla="val -150347"/>
              </a:avLst>
            </a:prstGeom>
            <a:solidFill>
              <a:schemeClr val="bg1"/>
            </a:solidFill>
            <a:ln w="57150">
              <a:solidFill>
                <a:schemeClr val="tx2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轴</a:t>
              </a:r>
            </a:p>
          </p:txBody>
        </p:sp>
        <p:sp>
          <p:nvSpPr>
            <p:cNvPr id="5140" name="Line 2076"/>
            <p:cNvSpPr>
              <a:spLocks noChangeShapeType="1"/>
            </p:cNvSpPr>
            <p:nvPr/>
          </p:nvSpPr>
          <p:spPr bwMode="auto">
            <a:xfrm flipV="1">
              <a:off x="3264" y="2736"/>
              <a:ext cx="57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80"/>
          <p:cNvGrpSpPr/>
          <p:nvPr/>
        </p:nvGrpSpPr>
        <p:grpSpPr bwMode="auto">
          <a:xfrm>
            <a:off x="4187549" y="2901792"/>
            <a:ext cx="2133600" cy="1067276"/>
            <a:chOff x="2544" y="2064"/>
            <a:chExt cx="1344" cy="672"/>
          </a:xfrm>
        </p:grpSpPr>
        <p:sp>
          <p:nvSpPr>
            <p:cNvPr id="5137" name="AutoShape 2072"/>
            <p:cNvSpPr/>
            <p:nvPr/>
          </p:nvSpPr>
          <p:spPr bwMode="auto">
            <a:xfrm>
              <a:off x="2544" y="2352"/>
              <a:ext cx="576" cy="384"/>
            </a:xfrm>
            <a:prstGeom prst="borderCallout1">
              <a:avLst>
                <a:gd name="adj1" fmla="val 18750"/>
                <a:gd name="adj2" fmla="val -8333"/>
                <a:gd name="adj3" fmla="val -92968"/>
                <a:gd name="adj4" fmla="val -165801"/>
              </a:avLst>
            </a:prstGeom>
            <a:solidFill>
              <a:schemeClr val="bg1"/>
            </a:solidFill>
            <a:ln w="57150">
              <a:solidFill>
                <a:srgbClr val="FF33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>
                  <a:solidFill>
                    <a:srgbClr val="FF3300"/>
                  </a:solidFill>
                </a:rPr>
                <a:t>键</a:t>
              </a:r>
            </a:p>
          </p:txBody>
        </p:sp>
        <p:sp>
          <p:nvSpPr>
            <p:cNvPr id="5138" name="Line 2078"/>
            <p:cNvSpPr>
              <a:spLocks noChangeShapeType="1"/>
            </p:cNvSpPr>
            <p:nvPr/>
          </p:nvSpPr>
          <p:spPr bwMode="auto">
            <a:xfrm flipV="1">
              <a:off x="3120" y="2064"/>
              <a:ext cx="768" cy="28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83"/>
          <p:cNvGrpSpPr/>
          <p:nvPr/>
        </p:nvGrpSpPr>
        <p:grpSpPr bwMode="auto">
          <a:xfrm>
            <a:off x="3730349" y="1683068"/>
            <a:ext cx="1981200" cy="837248"/>
            <a:chOff x="2256" y="1296"/>
            <a:chExt cx="1248" cy="528"/>
          </a:xfrm>
        </p:grpSpPr>
        <p:sp>
          <p:nvSpPr>
            <p:cNvPr id="5135" name="AutoShape 2081"/>
            <p:cNvSpPr/>
            <p:nvPr/>
          </p:nvSpPr>
          <p:spPr bwMode="auto">
            <a:xfrm>
              <a:off x="2256" y="1296"/>
              <a:ext cx="768" cy="384"/>
            </a:xfrm>
            <a:prstGeom prst="borderCallout1">
              <a:avLst>
                <a:gd name="adj1" fmla="val 18750"/>
                <a:gd name="adj2" fmla="val -6250"/>
                <a:gd name="adj3" fmla="val 103648"/>
                <a:gd name="adj4" fmla="val -89454"/>
              </a:avLst>
            </a:prstGeom>
            <a:solidFill>
              <a:schemeClr val="bg1"/>
            </a:solidFill>
            <a:ln w="571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轮毂</a:t>
              </a:r>
              <a:endParaRPr lang="en-US" altLang="zh-CN" b="1" i="0"/>
            </a:p>
          </p:txBody>
        </p:sp>
        <p:sp>
          <p:nvSpPr>
            <p:cNvPr id="5136" name="Line 2082"/>
            <p:cNvSpPr>
              <a:spLocks noChangeShapeType="1"/>
            </p:cNvSpPr>
            <p:nvPr/>
          </p:nvSpPr>
          <p:spPr bwMode="auto">
            <a:xfrm>
              <a:off x="3024" y="1440"/>
              <a:ext cx="48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05" name="Line 2085"/>
          <p:cNvSpPr>
            <a:spLocks noChangeShapeType="1"/>
          </p:cNvSpPr>
          <p:nvPr/>
        </p:nvSpPr>
        <p:spPr bwMode="auto">
          <a:xfrm>
            <a:off x="6473549" y="2597468"/>
            <a:ext cx="0" cy="532924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/>
          <a:lstStyle/>
          <a:p>
            <a:endParaRPr lang="zh-CN" altLang="en-US"/>
          </a:p>
        </p:txBody>
      </p:sp>
      <p:sp>
        <p:nvSpPr>
          <p:cNvPr id="32806" name="Line 2086"/>
          <p:cNvSpPr>
            <a:spLocks noChangeShapeType="1"/>
          </p:cNvSpPr>
          <p:nvPr/>
        </p:nvSpPr>
        <p:spPr bwMode="auto">
          <a:xfrm>
            <a:off x="6046829" y="2597468"/>
            <a:ext cx="0" cy="532924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987824" y="116632"/>
            <a:ext cx="2872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第八章  键与花键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build="p" autoUpdateAnimBg="0"/>
      <p:bldP spid="32774" grpId="0" bldLvl="0" animBg="1" autoUpdateAnimBg="0"/>
      <p:bldP spid="32775" grpId="0" build="p" autoUpdateAnimBg="0"/>
      <p:bldP spid="32805" grpId="0" bldLvl="0" animBg="1"/>
      <p:bldP spid="32806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24205" indent="-24003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60120" indent="-19177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344295" indent="-19177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728470" indent="-19177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112010" indent="-19177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496185" indent="-19177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880360" indent="-19177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264535" indent="-191770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6A605B-2773-4DE4-B6CF-21F011045CE2}" type="slidenum">
              <a:rPr kumimoji="0" lang="zh-CN" altLang="en-US" sz="1700" i="0" smtClean="0">
                <a:solidFill>
                  <a:srgbClr val="0000FF"/>
                </a:solidFill>
              </a:rPr>
              <a:pPr eaLnBrk="1" hangingPunct="1"/>
              <a:t>22</a:t>
            </a:fld>
            <a:endParaRPr kumimoji="0" lang="en-US" altLang="zh-CN" sz="1700" i="0" dirty="0" smtClean="0">
              <a:solidFill>
                <a:srgbClr val="0000FF"/>
              </a:solidFill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285720" y="971550"/>
            <a:ext cx="4462780" cy="4695576"/>
            <a:chOff x="264" y="807"/>
            <a:chExt cx="3514" cy="3571"/>
          </a:xfrm>
        </p:grpSpPr>
        <p:pic>
          <p:nvPicPr>
            <p:cNvPr id="18440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" y="807"/>
              <a:ext cx="3514" cy="2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41" name="Text Box 7"/>
            <p:cNvSpPr txBox="1">
              <a:spLocks noChangeArrowheads="1"/>
            </p:cNvSpPr>
            <p:nvPr/>
          </p:nvSpPr>
          <p:spPr bwMode="auto">
            <a:xfrm>
              <a:off x="675" y="3980"/>
              <a:ext cx="2970" cy="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 b="1" i="0" dirty="0" smtClean="0"/>
                <a:t>轴</a:t>
              </a:r>
              <a:r>
                <a:rPr lang="zh-CN" altLang="en-US" sz="2800" b="1" i="0" dirty="0"/>
                <a:t>键槽的公差标注</a:t>
              </a:r>
            </a:p>
          </p:txBody>
        </p:sp>
      </p:grpSp>
      <p:grpSp>
        <p:nvGrpSpPr>
          <p:cNvPr id="3" name="Group 11"/>
          <p:cNvGrpSpPr/>
          <p:nvPr/>
        </p:nvGrpSpPr>
        <p:grpSpPr bwMode="auto">
          <a:xfrm>
            <a:off x="4872702" y="1148698"/>
            <a:ext cx="3914140" cy="4494880"/>
            <a:chOff x="3717" y="897"/>
            <a:chExt cx="3082" cy="3436"/>
          </a:xfrm>
        </p:grpSpPr>
        <p:pic>
          <p:nvPicPr>
            <p:cNvPr id="18438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7" y="897"/>
              <a:ext cx="2987" cy="2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3825" y="3933"/>
              <a:ext cx="2974" cy="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 b="1" i="0" dirty="0" smtClean="0"/>
                <a:t>孔</a:t>
              </a:r>
              <a:r>
                <a:rPr lang="zh-CN" altLang="en-US" sz="2800" b="1" i="0" dirty="0"/>
                <a:t>键槽的公差标注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285728"/>
            <a:ext cx="7786742" cy="4525963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/>
              <a:t>                                  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>
                <a:solidFill>
                  <a:srgbClr val="FF0000"/>
                </a:solidFill>
              </a:rPr>
              <a:t>平键</a:t>
            </a:r>
            <a:r>
              <a:rPr lang="zh-CN" altLang="en-US" b="1" dirty="0" smtClean="0"/>
              <a:t>采用</a:t>
            </a:r>
            <a:r>
              <a:rPr lang="zh-CN" altLang="en-US" b="1" dirty="0" smtClean="0">
                <a:solidFill>
                  <a:srgbClr val="FF0000"/>
                </a:solidFill>
              </a:rPr>
              <a:t>基轴制</a:t>
            </a:r>
            <a:r>
              <a:rPr lang="zh-CN" altLang="en-US" b="1" dirty="0" smtClean="0"/>
              <a:t>；</a:t>
            </a:r>
            <a:r>
              <a:rPr lang="zh-CN" altLang="en-US" b="1" dirty="0" smtClean="0">
                <a:solidFill>
                  <a:srgbClr val="FF0000"/>
                </a:solidFill>
              </a:rPr>
              <a:t>花键</a:t>
            </a:r>
            <a:r>
              <a:rPr lang="zh-CN" altLang="en-US" b="1" dirty="0" smtClean="0"/>
              <a:t>采用</a:t>
            </a:r>
            <a:r>
              <a:rPr lang="zh-CN" altLang="en-US" b="1" dirty="0" smtClean="0">
                <a:solidFill>
                  <a:srgbClr val="FF0000"/>
                </a:solidFill>
              </a:rPr>
              <a:t>基孔制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931341" y="1700808"/>
            <a:ext cx="2362200" cy="50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>
                <a:latin typeface="宋体" panose="02010600030101010101" pitchFamily="2" charset="-122"/>
              </a:rPr>
              <a:t>键数 </a:t>
            </a:r>
            <a:r>
              <a:rPr lang="en-US" altLang="zh-CN" sz="2800" b="1" dirty="0">
                <a:latin typeface="宋体" panose="02010600030101010101" pitchFamily="2" charset="-122"/>
              </a:rPr>
              <a:t>N </a:t>
            </a:r>
            <a:r>
              <a:rPr lang="en-US" altLang="zh-CN" sz="2800" b="1" i="0" dirty="0">
                <a:latin typeface="宋体" panose="02010600030101010101" pitchFamily="2" charset="-122"/>
              </a:rPr>
              <a:t>、</a:t>
            </a:r>
            <a:endParaRPr lang="zh-CN" altLang="en-US" sz="2800" b="1" i="0" dirty="0">
              <a:latin typeface="宋体" panose="02010600030101010101" pitchFamily="2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28662" y="5715016"/>
            <a:ext cx="5943600" cy="57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N</a:t>
            </a:r>
            <a:r>
              <a:rPr lang="en-US" altLang="zh-CN" b="1" i="0" dirty="0"/>
              <a:t>×</a:t>
            </a:r>
            <a:r>
              <a:rPr lang="en-US" altLang="zh-CN" b="1" dirty="0"/>
              <a:t>d</a:t>
            </a:r>
            <a:r>
              <a:rPr lang="en-US" altLang="zh-CN" b="1" i="0" dirty="0"/>
              <a:t>×</a:t>
            </a:r>
            <a:r>
              <a:rPr lang="en-US" altLang="zh-CN" b="1" dirty="0"/>
              <a:t>D</a:t>
            </a:r>
            <a:r>
              <a:rPr lang="en-US" altLang="zh-CN" b="1" i="0" dirty="0"/>
              <a:t>×</a:t>
            </a:r>
            <a:r>
              <a:rPr lang="en-US" altLang="zh-CN" b="1" dirty="0"/>
              <a:t>B</a:t>
            </a:r>
            <a:r>
              <a:rPr lang="en-US" altLang="zh-CN" b="1" i="0" dirty="0"/>
              <a:t>＝6×23×26×6</a:t>
            </a: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571612"/>
            <a:ext cx="3497612" cy="3956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971600" y="2852936"/>
            <a:ext cx="2133600" cy="59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和键宽 </a:t>
            </a:r>
            <a:r>
              <a:rPr lang="en-US" altLang="zh-CN" sz="2800" b="1" dirty="0" smtClean="0"/>
              <a:t>B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827584" y="5013176"/>
            <a:ext cx="3352800" cy="50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>
                <a:solidFill>
                  <a:srgbClr val="FF3300"/>
                </a:solidFill>
              </a:rPr>
              <a:t>其表示方法为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827584" y="3518683"/>
            <a:ext cx="3293110" cy="1062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i="0" dirty="0"/>
              <a:t>如 </a:t>
            </a:r>
            <a:r>
              <a:rPr lang="en-US" altLang="zh-CN" b="1" dirty="0"/>
              <a:t>N </a:t>
            </a:r>
            <a:r>
              <a:rPr lang="en-US" altLang="zh-CN" b="1" i="0" dirty="0"/>
              <a:t>= 6， </a:t>
            </a:r>
            <a:r>
              <a:rPr lang="en-US" altLang="zh-CN" b="1" dirty="0"/>
              <a:t>d </a:t>
            </a:r>
            <a:r>
              <a:rPr lang="en-US" altLang="zh-CN" b="1" i="0" dirty="0"/>
              <a:t>= 23,</a:t>
            </a:r>
          </a:p>
          <a:p>
            <a:pPr algn="l" eaLnBrk="1" hangingPunct="1"/>
            <a:r>
              <a:rPr lang="en-US" altLang="zh-CN" b="1" dirty="0"/>
              <a:t>    D </a:t>
            </a:r>
            <a:r>
              <a:rPr lang="en-US" altLang="zh-CN" b="1" i="0" dirty="0"/>
              <a:t>= 26,  </a:t>
            </a:r>
            <a:r>
              <a:rPr lang="en-US" altLang="zh-CN" b="1" dirty="0"/>
              <a:t>B </a:t>
            </a:r>
            <a:r>
              <a:rPr lang="en-US" altLang="zh-CN" b="1" i="0" dirty="0"/>
              <a:t>= 6 。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931341" y="2276872"/>
            <a:ext cx="1813560" cy="50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/>
          <a:p>
            <a:pPr algn="l"/>
            <a:r>
              <a:rPr lang="zh-CN" altLang="en-US" sz="2800" b="1" dirty="0">
                <a:latin typeface="宋体" panose="02010600030101010101" pitchFamily="2" charset="-122"/>
              </a:rPr>
              <a:t>大径 </a:t>
            </a:r>
            <a:r>
              <a:rPr lang="en-US" altLang="zh-CN" sz="2800" b="1" dirty="0"/>
              <a:t>D</a:t>
            </a:r>
            <a:r>
              <a:rPr lang="en-US" altLang="zh-CN" sz="2800" b="1" dirty="0">
                <a:latin typeface="宋体" panose="02010600030101010101" pitchFamily="2" charset="-122"/>
              </a:rPr>
              <a:t>、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851581" y="2276872"/>
            <a:ext cx="1828800" cy="508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/>
          <a:p>
            <a:pPr algn="l"/>
            <a:r>
              <a:rPr lang="zh-CN" altLang="en-US" sz="2800" b="1" dirty="0">
                <a:latin typeface="宋体" panose="02010600030101010101" pitchFamily="2" charset="-122"/>
              </a:rPr>
              <a:t>小径 </a:t>
            </a:r>
            <a:r>
              <a:rPr lang="en-US" altLang="zh-CN" sz="2800" b="1" dirty="0"/>
              <a:t>d、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24078" indent="-240030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60120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344168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728216" indent="-192024" eaLnBrk="0" hangingPunct="0"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112264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496312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880360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264408" indent="-192024" algn="ctr" eaLnBrk="0" fontAlgn="base" hangingPunct="0">
              <a:spcBef>
                <a:spcPct val="0"/>
              </a:spcBef>
              <a:spcAft>
                <a:spcPct val="0"/>
              </a:spcAft>
              <a:defRPr kumimoji="1" sz="27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D45E42-0DBA-4788-AE61-01811BC3F3BA}" type="slidenum">
              <a:rPr kumimoji="0" lang="zh-CN" altLang="en-US" sz="1700" i="0" smtClean="0">
                <a:solidFill>
                  <a:srgbClr val="0000FF"/>
                </a:solidFill>
              </a:rPr>
              <a:pPr eaLnBrk="1" hangingPunct="1"/>
              <a:t>24</a:t>
            </a:fld>
            <a:endParaRPr kumimoji="0" lang="en-US" altLang="zh-CN" sz="1700" i="0" dirty="0" smtClean="0">
              <a:solidFill>
                <a:srgbClr val="0000FF"/>
              </a:solidFill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05741" y="172879"/>
            <a:ext cx="4108450" cy="44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810" tIns="38405" rIns="76810" bIns="38405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 dirty="0"/>
              <a:t>（3）标注</a:t>
            </a:r>
            <a:r>
              <a:rPr lang="zh-CN" altLang="en-US" sz="2400" b="1" i="0" dirty="0" smtClean="0"/>
              <a:t>示例</a:t>
            </a:r>
            <a:endParaRPr lang="zh-CN" altLang="en-US" sz="2400" b="1" i="0" dirty="0"/>
          </a:p>
        </p:txBody>
      </p:sp>
      <p:pic>
        <p:nvPicPr>
          <p:cNvPr id="4711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464" y="2231128"/>
            <a:ext cx="4996180" cy="384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23656" y="831807"/>
            <a:ext cx="2556386" cy="446892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en-US" altLang="zh-CN" sz="2400" b="1" dirty="0" smtClean="0"/>
              <a:t>a. </a:t>
            </a:r>
            <a:r>
              <a:rPr lang="zh-CN" altLang="en-US" sz="2400" b="1" dirty="0" smtClean="0"/>
              <a:t>装配图的标注</a:t>
            </a:r>
            <a:endParaRPr lang="zh-CN" alt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80042" y="643778"/>
            <a:ext cx="5049848" cy="816224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zh-CN" altLang="en-US" sz="2400" b="1" dirty="0" smtClean="0"/>
              <a:t>内花键：</a:t>
            </a:r>
            <a:r>
              <a:rPr lang="en-US" altLang="zh-CN" sz="2400" b="1" dirty="0" smtClean="0"/>
              <a:t>6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×23H7×26H10×6H11</a:t>
            </a:r>
          </a:p>
          <a:p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外花键：</a:t>
            </a:r>
            <a:r>
              <a:rPr lang="en-US" altLang="zh-CN" sz="2400" b="1" dirty="0" smtClean="0"/>
              <a:t>6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×23f7×26a11×6d10</a:t>
            </a:r>
            <a:endParaRPr lang="zh-CN" altLang="en-US" sz="2400" b="1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rot="16200000" flipV="1">
            <a:off x="2799915" y="2369989"/>
            <a:ext cx="341405" cy="2989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1924465" y="1995678"/>
            <a:ext cx="1077615" cy="446892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键数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 rot="5400000" flipH="1" flipV="1">
            <a:off x="3809403" y="2401830"/>
            <a:ext cx="341405" cy="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3441299" y="1760229"/>
            <a:ext cx="1077615" cy="446892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小径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 rot="5400000" flipH="1" flipV="1">
            <a:off x="5020737" y="2401830"/>
            <a:ext cx="341405" cy="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4597570" y="1760229"/>
            <a:ext cx="1077615" cy="446892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大径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 flipV="1">
            <a:off x="6520758" y="2231128"/>
            <a:ext cx="399886" cy="34140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6381836" y="1760229"/>
            <a:ext cx="1586230" cy="816224"/>
          </a:xfrm>
          <a:prstGeom prst="rect">
            <a:avLst/>
          </a:prstGeom>
          <a:noFill/>
        </p:spPr>
        <p:txBody>
          <a:bodyPr wrap="square" lIns="76810" tIns="38405" rIns="76810" bIns="38405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键（槽）宽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0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857256"/>
          </a:xfrm>
        </p:spPr>
        <p:txBody>
          <a:bodyPr>
            <a:normAutofit/>
          </a:bodyPr>
          <a:lstStyle/>
          <a:p>
            <a:r>
              <a:rPr lang="zh-CN" altLang="en-US" sz="3600" dirty="0" smtClean="0"/>
              <a:t>作业题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习题二</a:t>
            </a:r>
            <a:endParaRPr lang="en-US" altLang="zh-CN" dirty="0" smtClean="0"/>
          </a:p>
          <a:p>
            <a:pPr marL="514350" indent="-514350">
              <a:buAutoNum type="arabicPeriod"/>
            </a:pPr>
            <a:r>
              <a:rPr lang="zh-CN" altLang="en-US" sz="2400" b="1" dirty="0" smtClean="0"/>
              <a:t>算术平均值</a:t>
            </a:r>
            <a:endParaRPr lang="en-US" altLang="zh-CN" sz="2400" b="1" dirty="0" smtClean="0"/>
          </a:p>
          <a:p>
            <a:pPr marL="514350" indent="-514350">
              <a:buNone/>
            </a:pPr>
            <a:endParaRPr lang="en-US" altLang="zh-CN" dirty="0" smtClean="0"/>
          </a:p>
          <a:p>
            <a:pPr marL="514350" indent="-514350">
              <a:buNone/>
            </a:pPr>
            <a:r>
              <a:rPr lang="zh-CN" altLang="en-US" dirty="0" smtClean="0"/>
              <a:t>    </a:t>
            </a:r>
            <a:r>
              <a:rPr lang="zh-CN" altLang="en-US" sz="2400" b="1" dirty="0" smtClean="0"/>
              <a:t>单次测量标准偏差</a:t>
            </a:r>
            <a:endParaRPr lang="en-US" altLang="zh-CN" sz="2400" b="1" dirty="0" smtClean="0"/>
          </a:p>
          <a:p>
            <a:pPr>
              <a:buNone/>
            </a:pPr>
            <a:r>
              <a:rPr lang="en-US" altLang="zh-CN" sz="2800" dirty="0" smtClean="0"/>
              <a:t>    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3</a:t>
            </a:r>
            <a:r>
              <a:rPr lang="el-GR" altLang="zh-CN" sz="2400" b="1" dirty="0" smtClean="0">
                <a:solidFill>
                  <a:srgbClr val="FF0000"/>
                </a:solidFill>
              </a:rPr>
              <a:t>σ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法则判断有无粗大误差，若有粗大误差重新据算平均值和标准偏差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sz="2400" b="1" dirty="0" smtClean="0"/>
              <a:t>单次测量结果表示  </a:t>
            </a:r>
            <a:endParaRPr lang="en-US" altLang="zh-CN" sz="2400" b="1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3000364" y="1285860"/>
          <a:ext cx="1428760" cy="882723"/>
        </p:xfrm>
        <a:graphic>
          <a:graphicData uri="http://schemas.openxmlformats.org/presentationml/2006/ole">
            <p:oleObj spid="_x0000_s35901" name="Equation" r:id="rId3" imgW="16764000" imgH="10363200" progId="">
              <p:embed/>
            </p:oleObj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929058" y="2214554"/>
          <a:ext cx="1643074" cy="951940"/>
        </p:xfrm>
        <a:graphic>
          <a:graphicData uri="http://schemas.openxmlformats.org/presentationml/2006/ole">
            <p:oleObj spid="_x0000_s35902" name="Equation" r:id="rId4" imgW="26822400" imgH="15544800" progId="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3428992" y="3857628"/>
          <a:ext cx="2490125" cy="743177"/>
        </p:xfrm>
        <a:graphic>
          <a:graphicData uri="http://schemas.openxmlformats.org/presentationml/2006/ole">
            <p:oleObj spid="_x0000_s35903" name="Equation" r:id="rId5" imgW="18288000" imgH="5486400" progId="">
              <p:embed/>
            </p:oleObj>
          </a:graphicData>
        </a:graphic>
      </p:graphicFrame>
      <p:sp>
        <p:nvSpPr>
          <p:cNvPr id="8" name="矩形 7"/>
          <p:cNvSpPr/>
          <p:nvPr/>
        </p:nvSpPr>
        <p:spPr>
          <a:xfrm>
            <a:off x="642910" y="4857760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多次测量（即算术平均值）的标准偏差</a:t>
            </a:r>
          </a:p>
        </p:txBody>
      </p:sp>
      <p:graphicFrame>
        <p:nvGraphicFramePr>
          <p:cNvPr id="9" name="Object 1031"/>
          <p:cNvGraphicFramePr>
            <a:graphicFrameLocks noChangeAspect="1"/>
          </p:cNvGraphicFramePr>
          <p:nvPr/>
        </p:nvGraphicFramePr>
        <p:xfrm>
          <a:off x="6286512" y="4429132"/>
          <a:ext cx="1633245" cy="1000132"/>
        </p:xfrm>
        <a:graphic>
          <a:graphicData uri="http://schemas.openxmlformats.org/presentationml/2006/ole">
            <p:oleObj spid="_x0000_s35904" name="Equation" r:id="rId6" imgW="14020800" imgH="10058400" progId="">
              <p:embed/>
            </p:oleObj>
          </a:graphicData>
        </a:graphic>
      </p:graphicFrame>
      <p:sp>
        <p:nvSpPr>
          <p:cNvPr id="10" name="矩形 9"/>
          <p:cNvSpPr/>
          <p:nvPr/>
        </p:nvSpPr>
        <p:spPr>
          <a:xfrm>
            <a:off x="714348" y="5500702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多次测量结果表示为</a:t>
            </a:r>
          </a:p>
        </p:txBody>
      </p:sp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3786182" y="5572140"/>
          <a:ext cx="2571768" cy="760728"/>
        </p:xfrm>
        <a:graphic>
          <a:graphicData uri="http://schemas.openxmlformats.org/presentationml/2006/ole">
            <p:oleObj spid="_x0000_s35905" name="Equation" r:id="rId7" imgW="18592800" imgH="54864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</a:ln>
        </p:spPr>
        <p:txBody>
          <a:bodyPr/>
          <a:lstStyle/>
          <a:p>
            <a:fld id="{75C27205-8C63-4C13-9360-A697A7E55F6E}" type="slidenum">
              <a:rPr lang="en-US" altLang="zh-CN" smtClean="0">
                <a:latin typeface="Arial" panose="020B0604020202020204" pitchFamily="34" charset="0"/>
              </a:rPr>
              <a:pPr/>
              <a:t>26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graphicFrame>
        <p:nvGraphicFramePr>
          <p:cNvPr id="26628" name="Object 52"/>
          <p:cNvGraphicFramePr>
            <a:graphicFrameLocks noGrp="1" noChangeAspect="1"/>
          </p:cNvGraphicFramePr>
          <p:nvPr>
            <p:ph/>
          </p:nvPr>
        </p:nvGraphicFramePr>
        <p:xfrm>
          <a:off x="785786" y="214290"/>
          <a:ext cx="6143668" cy="543247"/>
        </p:xfrm>
        <a:graphic>
          <a:graphicData uri="http://schemas.openxmlformats.org/presentationml/2006/ole">
            <p:oleObj spid="_x0000_s46117" name="公式" r:id="rId3" imgW="54254400" imgH="5791200" progId="">
              <p:embed/>
            </p:oleObj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228600" y="914400"/>
            <a:ext cx="8458200" cy="1422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/>
              <a:t>        </a:t>
            </a:r>
            <a:r>
              <a:rPr lang="zh-CN" altLang="en-US" sz="2400" b="1" dirty="0"/>
              <a:t>试不用查表法计算</a:t>
            </a:r>
            <a:r>
              <a:rPr lang="en-US" altLang="zh-CN" sz="2400" b="1" dirty="0">
                <a:cs typeface="Arial" panose="020B0604020202020204" pitchFamily="34" charset="0"/>
              </a:rPr>
              <a:t>¢30H7/n6</a:t>
            </a:r>
            <a:r>
              <a:rPr lang="zh-CN" altLang="en-US" sz="2400" b="1" dirty="0">
                <a:cs typeface="Arial" panose="020B0604020202020204" pitchFamily="34" charset="0"/>
              </a:rPr>
              <a:t>与</a:t>
            </a:r>
            <a:r>
              <a:rPr lang="en-US" altLang="zh-CN" sz="2400" b="1" dirty="0"/>
              <a:t>¢30T7/h6</a:t>
            </a:r>
            <a:r>
              <a:rPr lang="zh-CN" altLang="en-US" sz="2400" b="1" dirty="0"/>
              <a:t>的配合公差，并画 出尺寸公差带图。</a:t>
            </a:r>
            <a:endParaRPr lang="en-US" altLang="zh-CN" sz="2400" b="1" dirty="0"/>
          </a:p>
          <a:p>
            <a:pPr>
              <a:lnSpc>
                <a:spcPct val="120000"/>
              </a:lnSpc>
            </a:pPr>
            <a:endParaRPr lang="zh-CN" altLang="en-US" sz="2400" b="1" dirty="0"/>
          </a:p>
        </p:txBody>
      </p:sp>
      <p:sp>
        <p:nvSpPr>
          <p:cNvPr id="39" name="矩形 38"/>
          <p:cNvSpPr/>
          <p:nvPr/>
        </p:nvSpPr>
        <p:spPr>
          <a:xfrm>
            <a:off x="928662" y="2428868"/>
            <a:ext cx="76438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¢30H7/n6</a:t>
            </a: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与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¢30N7/h6</a:t>
            </a: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配合性质相同。</a:t>
            </a:r>
            <a:endParaRPr lang="en-US" altLang="zh-CN" sz="2400" b="1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由题已知  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IT7= -0.007-(-0.028)=0.021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                    IT6=+0.054-(+0.041)=0.013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由                                 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/                  </a:t>
            </a: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得，</a:t>
            </a:r>
            <a:endParaRPr lang="en-US" altLang="zh-CN" sz="2400" b="1" dirty="0" smtClean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                                 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1" baseline="-25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max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(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Y</a:t>
            </a:r>
            <a:r>
              <a:rPr lang="en-US" altLang="zh-CN" sz="2400" b="1" baseline="-25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min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)=ES-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ei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=+0.006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                                 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1" baseline="-25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min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(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Y</a:t>
            </a:r>
            <a:r>
              <a:rPr lang="en-US" altLang="zh-CN" sz="2400" b="1" baseline="-25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max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)=EI-</a:t>
            </a:r>
            <a:r>
              <a:rPr lang="en-US" altLang="zh-CN" sz="2400" b="1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es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=-0.028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可得</a:t>
            </a:r>
            <a:r>
              <a:rPr lang="en-US" altLang="zh-CN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¢30H7/n6</a:t>
            </a:r>
            <a:r>
              <a:rPr lang="zh-CN" altLang="en-US" sz="24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的各偏差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910" y="1928802"/>
            <a:ext cx="17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解题思路：</a:t>
            </a:r>
            <a:endParaRPr lang="zh-CN" altLang="en-US" sz="2800" b="1" dirty="0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357290" y="4071942"/>
          <a:ext cx="2238372" cy="694162"/>
        </p:xfrm>
        <a:graphic>
          <a:graphicData uri="http://schemas.openxmlformats.org/presentationml/2006/ole">
            <p:oleObj spid="_x0000_s46118" name="Equation" r:id="rId4" imgW="21640800" imgH="6705600" progId="Equation.DSMT4">
              <p:embed/>
            </p:oleObj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3714744" y="4214818"/>
          <a:ext cx="1227734" cy="562712"/>
        </p:xfrm>
        <a:graphic>
          <a:graphicData uri="http://schemas.openxmlformats.org/presentationml/2006/ole">
            <p:oleObj spid="_x0000_s46119" name="Equation" r:id="rId5" imgW="14630400" imgH="6705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000100" y="500042"/>
            <a:ext cx="2133600" cy="604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CC00FF"/>
                </a:solidFill>
                <a:latin typeface="Times New Roman" panose="02020603050405020304" pitchFamily="18" charset="0"/>
              </a:rPr>
              <a:t>答  案  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kumimoji="1"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3428992" y="1071546"/>
            <a:ext cx="4572000" cy="1117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 dirty="0">
                <a:latin typeface="宋体" panose="02010600030101010101" pitchFamily="2" charset="-122"/>
              </a:rPr>
              <a:t>①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对</a:t>
            </a:r>
            <a:r>
              <a:rPr lang="en-US" altLang="zh-CN" sz="2400" b="1" dirty="0"/>
              <a:t>¢30H7/ n6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 </a:t>
            </a:r>
            <a:r>
              <a:rPr kumimoji="1" lang="en-US" altLang="zh-CN" sz="2800" b="1" dirty="0" err="1">
                <a:latin typeface="宋体" panose="02010600030101010101" pitchFamily="2" charset="-122"/>
              </a:rPr>
              <a:t>T</a:t>
            </a:r>
            <a:r>
              <a:rPr kumimoji="1" lang="en-US" altLang="zh-CN" sz="2800" b="1" baseline="-25000" dirty="0" err="1">
                <a:latin typeface="宋体" panose="02010600030101010101" pitchFamily="2" charset="-122"/>
              </a:rPr>
              <a:t>f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=0.034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dirty="0">
                <a:latin typeface="宋体" panose="02010600030101010101" pitchFamily="2" charset="-122"/>
              </a:rPr>
              <a:t>②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对</a:t>
            </a:r>
            <a:r>
              <a:rPr lang="en-US" altLang="zh-CN" sz="2400" b="1" dirty="0"/>
              <a:t>¢30T7/ h6   </a:t>
            </a:r>
            <a:r>
              <a:rPr lang="en-US" altLang="zh-CN" sz="2400" b="1" dirty="0" err="1"/>
              <a:t>T</a:t>
            </a:r>
            <a:r>
              <a:rPr lang="en-US" altLang="zh-CN" sz="2400" b="1" baseline="-25000" dirty="0" err="1"/>
              <a:t>f</a:t>
            </a:r>
            <a:r>
              <a:rPr lang="en-US" altLang="zh-CN" sz="2400" b="1" dirty="0"/>
              <a:t>=0.034</a:t>
            </a:r>
            <a:endParaRPr lang="en-US" altLang="zh-CN" sz="2400" b="1" baseline="-25000" dirty="0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16534" y="2428868"/>
            <a:ext cx="3886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/>
              <a:t>（</a:t>
            </a:r>
            <a:r>
              <a:rPr kumimoji="1" lang="en-US" altLang="zh-CN" sz="2400" b="1" dirty="0"/>
              <a:t>2</a:t>
            </a:r>
            <a:r>
              <a:rPr kumimoji="1" lang="zh-CN" altLang="en-US" sz="2400" b="1" dirty="0"/>
              <a:t>）尺寸公差带图：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642910" y="1285860"/>
            <a:ext cx="24987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/>
              <a:t>（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）配合公差：</a:t>
            </a:r>
          </a:p>
        </p:txBody>
      </p:sp>
      <p:grpSp>
        <p:nvGrpSpPr>
          <p:cNvPr id="7" name="Group 31"/>
          <p:cNvGrpSpPr/>
          <p:nvPr/>
        </p:nvGrpSpPr>
        <p:grpSpPr bwMode="auto">
          <a:xfrm>
            <a:off x="942972" y="3262331"/>
            <a:ext cx="3200400" cy="2881313"/>
            <a:chOff x="528" y="2064"/>
            <a:chExt cx="2016" cy="1815"/>
          </a:xfrm>
        </p:grpSpPr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715" y="2740"/>
              <a:ext cx="173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 flipH="1">
              <a:off x="768" y="2736"/>
              <a:ext cx="2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613" y="2630"/>
              <a:ext cx="68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1" name="Group 17"/>
            <p:cNvGrpSpPr/>
            <p:nvPr/>
          </p:nvGrpSpPr>
          <p:grpSpPr bwMode="auto">
            <a:xfrm>
              <a:off x="1632" y="2135"/>
              <a:ext cx="439" cy="361"/>
              <a:chOff x="2959" y="11608"/>
              <a:chExt cx="840" cy="713"/>
            </a:xfrm>
          </p:grpSpPr>
          <p:sp>
            <p:nvSpPr>
              <p:cNvPr id="20" name="Rectangle 18"/>
              <p:cNvSpPr>
                <a:spLocks noChangeArrowheads="1"/>
              </p:cNvSpPr>
              <p:nvPr/>
            </p:nvSpPr>
            <p:spPr bwMode="auto">
              <a:xfrm>
                <a:off x="2959" y="11608"/>
                <a:ext cx="840" cy="71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21" name="Text Box 19"/>
              <p:cNvSpPr txBox="1">
                <a:spLocks noChangeArrowheads="1"/>
              </p:cNvSpPr>
              <p:nvPr/>
            </p:nvSpPr>
            <p:spPr bwMode="auto">
              <a:xfrm>
                <a:off x="3155" y="11674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400" b="1">
                    <a:latin typeface="Times New Roman" panose="02020603050405020304" pitchFamily="18" charset="0"/>
                  </a:rPr>
                  <a:t>n6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720" y="2195"/>
              <a:ext cx="308" cy="1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1500" b="1">
                  <a:latin typeface="Times New Roman" panose="02020603050405020304" pitchFamily="18" charset="0"/>
                </a:rPr>
                <a:t>+21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2112" y="2064"/>
              <a:ext cx="308" cy="1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1500" b="1">
                  <a:latin typeface="Times New Roman" panose="02020603050405020304" pitchFamily="18" charset="0"/>
                </a:rPr>
                <a:t>+28</a:t>
              </a:r>
            </a:p>
          </p:txBody>
        </p:sp>
        <p:grpSp>
          <p:nvGrpSpPr>
            <p:cNvPr id="14" name="Group 22"/>
            <p:cNvGrpSpPr/>
            <p:nvPr/>
          </p:nvGrpSpPr>
          <p:grpSpPr bwMode="auto">
            <a:xfrm>
              <a:off x="960" y="2237"/>
              <a:ext cx="411" cy="503"/>
              <a:chOff x="4723" y="12445"/>
              <a:chExt cx="784" cy="992"/>
            </a:xfrm>
          </p:grpSpPr>
          <p:sp>
            <p:nvSpPr>
              <p:cNvPr id="18" name="Rectangle 23"/>
              <p:cNvSpPr>
                <a:spLocks noChangeArrowheads="1"/>
              </p:cNvSpPr>
              <p:nvPr/>
            </p:nvSpPr>
            <p:spPr bwMode="auto">
              <a:xfrm>
                <a:off x="4723" y="12445"/>
                <a:ext cx="784" cy="9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9" name="Text Box 24"/>
              <p:cNvSpPr txBox="1">
                <a:spLocks noChangeArrowheads="1"/>
              </p:cNvSpPr>
              <p:nvPr/>
            </p:nvSpPr>
            <p:spPr bwMode="auto">
              <a:xfrm>
                <a:off x="4891" y="12697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800" b="1" baseline="-25000">
                    <a:latin typeface="Times New Roman" panose="02020603050405020304" pitchFamily="18" charset="0"/>
                  </a:rPr>
                  <a:t>H7</a:t>
                </a:r>
              </a:p>
            </p:txBody>
          </p:sp>
        </p:grp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2016" y="2496"/>
              <a:ext cx="308" cy="1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1500" b="1">
                  <a:latin typeface="Times New Roman" panose="02020603050405020304" pitchFamily="18" charset="0"/>
                </a:rPr>
                <a:t>+15</a:t>
              </a:r>
            </a:p>
          </p:txBody>
        </p:sp>
        <p:sp>
          <p:nvSpPr>
            <p:cNvPr id="16" name="Text Box 29"/>
            <p:cNvSpPr txBox="1">
              <a:spLocks noChangeArrowheads="1"/>
            </p:cNvSpPr>
            <p:nvPr/>
          </p:nvSpPr>
          <p:spPr bwMode="auto">
            <a:xfrm>
              <a:off x="672" y="3648"/>
              <a:ext cx="1872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1800" b="1"/>
                <a:t>图 作业题</a:t>
              </a:r>
              <a:r>
                <a:rPr lang="en-US" altLang="zh-CN" sz="1800" b="1"/>
                <a:t>8 </a:t>
              </a:r>
              <a:r>
                <a:rPr kumimoji="1" lang="en-US" altLang="zh-CN" sz="1800" b="1"/>
                <a:t>①</a:t>
              </a:r>
              <a:r>
                <a:rPr lang="en-US" altLang="zh-CN" sz="1800"/>
                <a:t> </a:t>
              </a:r>
              <a:r>
                <a:rPr lang="en-US" altLang="zh-CN" sz="1800" b="1"/>
                <a:t>¢30H7/ n6</a:t>
              </a:r>
              <a:r>
                <a:rPr kumimoji="1" lang="en-US" altLang="zh-CN" sz="1800"/>
                <a:t> </a:t>
              </a:r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 rot="-5400000">
              <a:off x="211" y="3043"/>
              <a:ext cx="92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>
                  <a:cs typeface="Arial" panose="020B0604020202020204" pitchFamily="34" charset="0"/>
                </a:rPr>
                <a:t>¢30mm</a:t>
              </a:r>
            </a:p>
          </p:txBody>
        </p:sp>
      </p:grpSp>
      <p:grpSp>
        <p:nvGrpSpPr>
          <p:cNvPr id="22" name="Group 48"/>
          <p:cNvGrpSpPr/>
          <p:nvPr/>
        </p:nvGrpSpPr>
        <p:grpSpPr bwMode="auto">
          <a:xfrm>
            <a:off x="4857752" y="3429018"/>
            <a:ext cx="3124200" cy="2714626"/>
            <a:chOff x="1680" y="720"/>
            <a:chExt cx="1968" cy="1575"/>
          </a:xfrm>
        </p:grpSpPr>
        <p:sp>
          <p:nvSpPr>
            <p:cNvPr id="23" name="Line 49"/>
            <p:cNvSpPr>
              <a:spLocks noChangeShapeType="1"/>
            </p:cNvSpPr>
            <p:nvPr/>
          </p:nvSpPr>
          <p:spPr bwMode="auto">
            <a:xfrm>
              <a:off x="1867" y="830"/>
              <a:ext cx="173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4" name="WordArt 50"/>
            <p:cNvSpPr>
              <a:spLocks noChangeArrowheads="1" noChangeShapeType="1" noTextEdit="1"/>
            </p:cNvSpPr>
            <p:nvPr/>
          </p:nvSpPr>
          <p:spPr bwMode="auto">
            <a:xfrm>
              <a:off x="1765" y="720"/>
              <a:ext cx="68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5" name="Group 51"/>
            <p:cNvGrpSpPr/>
            <p:nvPr/>
          </p:nvGrpSpPr>
          <p:grpSpPr bwMode="auto">
            <a:xfrm>
              <a:off x="2880" y="840"/>
              <a:ext cx="439" cy="361"/>
              <a:chOff x="2959" y="11608"/>
              <a:chExt cx="840" cy="713"/>
            </a:xfrm>
          </p:grpSpPr>
          <p:sp>
            <p:nvSpPr>
              <p:cNvPr id="35" name="Rectangle 52"/>
              <p:cNvSpPr>
                <a:spLocks noChangeArrowheads="1"/>
              </p:cNvSpPr>
              <p:nvPr/>
            </p:nvSpPr>
            <p:spPr bwMode="auto">
              <a:xfrm>
                <a:off x="2959" y="11608"/>
                <a:ext cx="840" cy="71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6" name="Text Box 53"/>
              <p:cNvSpPr txBox="1">
                <a:spLocks noChangeArrowheads="1"/>
              </p:cNvSpPr>
              <p:nvPr/>
            </p:nvSpPr>
            <p:spPr bwMode="auto">
              <a:xfrm>
                <a:off x="3155" y="11674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400" b="1">
                    <a:latin typeface="Times New Roman" panose="02020603050405020304" pitchFamily="18" charset="0"/>
                  </a:rPr>
                  <a:t>h6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" name="Text Box 54"/>
            <p:cNvSpPr txBox="1">
              <a:spLocks noChangeArrowheads="1"/>
            </p:cNvSpPr>
            <p:nvPr/>
          </p:nvSpPr>
          <p:spPr bwMode="auto">
            <a:xfrm>
              <a:off x="2208" y="1248"/>
              <a:ext cx="624" cy="2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1800" b="1">
                  <a:latin typeface="Times New Roman" panose="02020603050405020304" pitchFamily="18" charset="0"/>
                </a:rPr>
                <a:t>-0.033</a:t>
              </a:r>
            </a:p>
          </p:txBody>
        </p:sp>
        <p:sp>
          <p:nvSpPr>
            <p:cNvPr id="27" name="Text Box 55"/>
            <p:cNvSpPr txBox="1">
              <a:spLocks noChangeArrowheads="1"/>
            </p:cNvSpPr>
            <p:nvPr/>
          </p:nvSpPr>
          <p:spPr bwMode="auto">
            <a:xfrm>
              <a:off x="3072" y="1210"/>
              <a:ext cx="528" cy="2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-0.013</a:t>
              </a:r>
            </a:p>
          </p:txBody>
        </p:sp>
        <p:grpSp>
          <p:nvGrpSpPr>
            <p:cNvPr id="28" name="Group 56"/>
            <p:cNvGrpSpPr/>
            <p:nvPr/>
          </p:nvGrpSpPr>
          <p:grpSpPr bwMode="auto">
            <a:xfrm>
              <a:off x="2160" y="1417"/>
              <a:ext cx="411" cy="503"/>
              <a:chOff x="4723" y="12445"/>
              <a:chExt cx="784" cy="992"/>
            </a:xfrm>
          </p:grpSpPr>
          <p:sp>
            <p:nvSpPr>
              <p:cNvPr id="33" name="Rectangle 57"/>
              <p:cNvSpPr>
                <a:spLocks noChangeArrowheads="1"/>
              </p:cNvSpPr>
              <p:nvPr/>
            </p:nvSpPr>
            <p:spPr bwMode="auto">
              <a:xfrm>
                <a:off x="4723" y="12445"/>
                <a:ext cx="784" cy="9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4" name="Text Box 58"/>
              <p:cNvSpPr txBox="1">
                <a:spLocks noChangeArrowheads="1"/>
              </p:cNvSpPr>
              <p:nvPr/>
            </p:nvSpPr>
            <p:spPr bwMode="auto">
              <a:xfrm>
                <a:off x="4891" y="12697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800" b="1" baseline="-25000">
                    <a:latin typeface="Times New Roman" panose="02020603050405020304" pitchFamily="18" charset="0"/>
                  </a:rPr>
                  <a:t>T7</a:t>
                </a:r>
              </a:p>
            </p:txBody>
          </p:sp>
        </p:grpSp>
        <p:sp>
          <p:nvSpPr>
            <p:cNvPr id="29" name="Text Box 59"/>
            <p:cNvSpPr txBox="1">
              <a:spLocks noChangeArrowheads="1"/>
            </p:cNvSpPr>
            <p:nvPr/>
          </p:nvSpPr>
          <p:spPr bwMode="auto">
            <a:xfrm>
              <a:off x="2592" y="1824"/>
              <a:ext cx="672" cy="2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 dirty="0">
                  <a:latin typeface="Times New Roman" panose="02020603050405020304" pitchFamily="18" charset="0"/>
                </a:rPr>
                <a:t>-0.054</a:t>
              </a:r>
            </a:p>
          </p:txBody>
        </p:sp>
        <p:sp>
          <p:nvSpPr>
            <p:cNvPr id="30" name="Text Box 60"/>
            <p:cNvSpPr txBox="1">
              <a:spLocks noChangeArrowheads="1"/>
            </p:cNvSpPr>
            <p:nvPr/>
          </p:nvSpPr>
          <p:spPr bwMode="auto">
            <a:xfrm>
              <a:off x="1776" y="2064"/>
              <a:ext cx="1872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1800" b="1"/>
                <a:t>图 作业题</a:t>
              </a:r>
              <a:r>
                <a:rPr lang="en-US" altLang="zh-CN" sz="1800" b="1"/>
                <a:t>8 </a:t>
              </a:r>
              <a:r>
                <a:rPr kumimoji="1" lang="en-US" altLang="zh-CN" sz="1800" b="1"/>
                <a:t>②</a:t>
              </a:r>
              <a:r>
                <a:rPr lang="en-US" altLang="zh-CN" sz="1800"/>
                <a:t> </a:t>
              </a:r>
              <a:r>
                <a:rPr lang="en-US" altLang="zh-CN" sz="1800" b="1"/>
                <a:t>¢30T7/ h6</a:t>
              </a:r>
            </a:p>
          </p:txBody>
        </p:sp>
        <p:sp>
          <p:nvSpPr>
            <p:cNvPr id="31" name="Text Box 61"/>
            <p:cNvSpPr txBox="1">
              <a:spLocks noChangeArrowheads="1"/>
            </p:cNvSpPr>
            <p:nvPr/>
          </p:nvSpPr>
          <p:spPr bwMode="auto">
            <a:xfrm rot="-5400000">
              <a:off x="1363" y="1133"/>
              <a:ext cx="92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>
                  <a:cs typeface="Arial" panose="020B0604020202020204" pitchFamily="34" charset="0"/>
                </a:rPr>
                <a:t>¢30mm</a:t>
              </a:r>
            </a:p>
          </p:txBody>
        </p:sp>
        <p:sp>
          <p:nvSpPr>
            <p:cNvPr id="32" name="Line 62"/>
            <p:cNvSpPr>
              <a:spLocks noChangeShapeType="1"/>
            </p:cNvSpPr>
            <p:nvPr/>
          </p:nvSpPr>
          <p:spPr bwMode="auto">
            <a:xfrm flipV="1">
              <a:off x="1968" y="826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52"/>
            <a:ext cx="8429684" cy="471490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zh-CN" altLang="en-US" dirty="0" smtClean="0"/>
              <a:t>习题三  </a:t>
            </a:r>
            <a:r>
              <a:rPr lang="en-US" altLang="zh-CN" dirty="0" smtClean="0"/>
              <a:t>10</a:t>
            </a:r>
          </a:p>
          <a:p>
            <a:pPr>
              <a:buNone/>
            </a:pPr>
            <a:r>
              <a:rPr lang="en-US" altLang="zh-CN" dirty="0" smtClean="0"/>
              <a:t> </a:t>
            </a:r>
          </a:p>
          <a:p>
            <a:pPr>
              <a:buNone/>
            </a:pPr>
            <a:endParaRPr lang="en-US" altLang="zh-CN" sz="2800" b="1" i="1" dirty="0" smtClean="0"/>
          </a:p>
          <a:p>
            <a:pPr>
              <a:buNone/>
            </a:pPr>
            <a:r>
              <a:rPr lang="zh-CN" altLang="en-US" sz="2800" b="1" i="1" dirty="0" smtClean="0"/>
              <a:t> 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确定孔、轴公差等级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pSp>
        <p:nvGrpSpPr>
          <p:cNvPr id="2" name="Group 1043"/>
          <p:cNvGrpSpPr/>
          <p:nvPr/>
        </p:nvGrpSpPr>
        <p:grpSpPr bwMode="auto">
          <a:xfrm>
            <a:off x="1214414" y="3286124"/>
            <a:ext cx="6143668" cy="3429024"/>
            <a:chOff x="997" y="2924"/>
            <a:chExt cx="5275" cy="2288"/>
          </a:xfrm>
        </p:grpSpPr>
        <p:grpSp>
          <p:nvGrpSpPr>
            <p:cNvPr id="4" name="Group 1033"/>
            <p:cNvGrpSpPr/>
            <p:nvPr/>
          </p:nvGrpSpPr>
          <p:grpSpPr bwMode="auto">
            <a:xfrm>
              <a:off x="997" y="2924"/>
              <a:ext cx="5275" cy="2288"/>
              <a:chOff x="1056" y="2400"/>
              <a:chExt cx="4032" cy="1806"/>
            </a:xfrm>
          </p:grpSpPr>
          <p:pic>
            <p:nvPicPr>
              <p:cNvPr id="22" name="Picture 1034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" y="2400"/>
                <a:ext cx="4032" cy="18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3" name="Rectangle 1035"/>
              <p:cNvSpPr>
                <a:spLocks noChangeArrowheads="1"/>
              </p:cNvSpPr>
              <p:nvPr/>
            </p:nvSpPr>
            <p:spPr bwMode="auto">
              <a:xfrm>
                <a:off x="2448" y="2400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17994" tIns="58997" rIns="117994" bIns="58997" anchor="ctr"/>
              <a:lstStyle/>
              <a:p>
                <a:pPr algn="ctr" defTabSz="1179195"/>
                <a:r>
                  <a:rPr lang="en-US" altLang="zh-CN" sz="2600"/>
                  <a:t>3.2</a:t>
                </a:r>
              </a:p>
            </p:txBody>
          </p:sp>
        </p:grpSp>
        <p:sp>
          <p:nvSpPr>
            <p:cNvPr id="21" name="Line 1042"/>
            <p:cNvSpPr>
              <a:spLocks noChangeShapeType="1"/>
            </p:cNvSpPr>
            <p:nvPr/>
          </p:nvSpPr>
          <p:spPr bwMode="auto">
            <a:xfrm>
              <a:off x="1116" y="3144"/>
              <a:ext cx="8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428860" y="226368"/>
          <a:ext cx="6215106" cy="487988"/>
        </p:xfrm>
        <a:graphic>
          <a:graphicData uri="http://schemas.openxmlformats.org/presentationml/2006/ole">
            <p:oleObj spid="_x0000_s47129" name="公式" r:id="rId4" imgW="69799200" imgH="5486400" progId="">
              <p:embed/>
            </p:oleObj>
          </a:graphicData>
        </a:graphic>
      </p:graphicFrame>
      <p:cxnSp>
        <p:nvCxnSpPr>
          <p:cNvPr id="27" name="直接连接符 26"/>
          <p:cNvCxnSpPr/>
          <p:nvPr/>
        </p:nvCxnSpPr>
        <p:spPr>
          <a:xfrm>
            <a:off x="1500166" y="6072206"/>
            <a:ext cx="554400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286380" y="5786454"/>
            <a:ext cx="1000132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 Box 1032"/>
          <p:cNvSpPr txBox="1">
            <a:spLocks noChangeArrowheads="1"/>
          </p:cNvSpPr>
          <p:nvPr/>
        </p:nvSpPr>
        <p:spPr bwMode="auto">
          <a:xfrm>
            <a:off x="3643306" y="1785926"/>
            <a:ext cx="250033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≥ </a:t>
            </a:r>
            <a:r>
              <a:rPr lang="en-US" altLang="zh-CN" b="1" dirty="0" err="1"/>
              <a:t>IT</a:t>
            </a:r>
            <a:r>
              <a:rPr lang="en-US" altLang="zh-CN" b="1" i="1" dirty="0" err="1"/>
              <a:t>n</a:t>
            </a:r>
            <a:r>
              <a:rPr lang="en-US" altLang="zh-CN" b="1" i="1" dirty="0"/>
              <a:t>+ </a:t>
            </a:r>
            <a:r>
              <a:rPr lang="en-US" altLang="zh-CN" b="1" dirty="0"/>
              <a:t>IT(</a:t>
            </a:r>
            <a:r>
              <a:rPr lang="en-US" altLang="zh-CN" b="1" i="1" dirty="0"/>
              <a:t>n-</a:t>
            </a:r>
            <a:r>
              <a:rPr lang="en-US" altLang="zh-CN" b="1" dirty="0"/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929058" y="2285992"/>
          <a:ext cx="1450887" cy="393460"/>
        </p:xfrm>
        <a:graphic>
          <a:graphicData uri="http://schemas.openxmlformats.org/presentationml/2006/ole">
            <p:oleObj spid="_x0000_s47130" name="公式" r:id="rId5" imgW="17983200" imgH="4876800" progId="">
              <p:embed/>
            </p:oleObj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71472" y="785794"/>
            <a:ext cx="6000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确定基准制</a:t>
            </a:r>
            <a:r>
              <a:rPr lang="zh-CN" altLang="en-US" sz="2400" dirty="0" smtClean="0"/>
              <a:t>：采用基孔制</a:t>
            </a:r>
            <a:r>
              <a:rPr lang="en-US" altLang="zh-CN" sz="2400" dirty="0" smtClean="0">
                <a:solidFill>
                  <a:srgbClr val="FF0000"/>
                </a:solidFill>
              </a:rPr>
              <a:t>H</a:t>
            </a:r>
            <a:r>
              <a:rPr lang="zh-CN" altLang="en-US" sz="2400" dirty="0" smtClean="0"/>
              <a:t>，则</a:t>
            </a:r>
            <a:r>
              <a:rPr lang="en-US" altLang="zh-CN" sz="2400" dirty="0" smtClean="0">
                <a:solidFill>
                  <a:srgbClr val="FF0000"/>
                </a:solidFill>
              </a:rPr>
              <a:t>EI=0</a:t>
            </a:r>
            <a:r>
              <a:rPr lang="zh-CN" altLang="en-US" sz="2400" dirty="0" smtClean="0"/>
              <a:t> </a:t>
            </a:r>
            <a:endParaRPr lang="zh-CN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1125392" y="1740864"/>
            <a:ext cx="76438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i="1" dirty="0" err="1" smtClean="0"/>
              <a:t>T</a:t>
            </a:r>
            <a:r>
              <a:rPr lang="en-US" altLang="zh-CN" sz="2400" b="1" baseline="-30000" dirty="0" err="1" smtClean="0"/>
              <a:t>f</a:t>
            </a:r>
            <a:r>
              <a:rPr lang="en-US" altLang="zh-CN" sz="2400" b="1" dirty="0" smtClean="0"/>
              <a:t>= |</a:t>
            </a:r>
            <a:r>
              <a:rPr lang="en-US" altLang="zh-CN" sz="2400" b="1" i="1" dirty="0" err="1" smtClean="0"/>
              <a:t>X</a:t>
            </a:r>
            <a:r>
              <a:rPr lang="en-US" altLang="zh-CN" sz="2400" b="1" baseline="-30000" dirty="0" err="1" smtClean="0"/>
              <a:t>max</a:t>
            </a:r>
            <a:r>
              <a:rPr lang="en-US" altLang="zh-CN" sz="2400" b="1" dirty="0" smtClean="0"/>
              <a:t>- </a:t>
            </a:r>
            <a:r>
              <a:rPr lang="en-US" altLang="zh-CN" sz="2400" b="1" i="1" dirty="0" err="1" smtClean="0"/>
              <a:t>X</a:t>
            </a:r>
            <a:r>
              <a:rPr lang="en-US" altLang="zh-CN" sz="2400" b="1" baseline="-30000" dirty="0" err="1" smtClean="0"/>
              <a:t>min</a:t>
            </a:r>
            <a:r>
              <a:rPr lang="en-US" altLang="zh-CN" sz="2400" b="1" baseline="-30000" dirty="0" smtClean="0"/>
              <a:t> </a:t>
            </a:r>
            <a:r>
              <a:rPr lang="en-US" altLang="zh-CN" sz="2400" b="1" dirty="0" smtClean="0"/>
              <a:t>|=70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 smtClean="0"/>
              <a:t>根据</a:t>
            </a:r>
            <a:r>
              <a:rPr lang="en-US" altLang="zh-CN" sz="2400" dirty="0" err="1" smtClean="0"/>
              <a:t>T</a:t>
            </a:r>
            <a:r>
              <a:rPr lang="en-US" altLang="zh-CN" sz="2400" baseline="-25000" dirty="0" err="1" smtClean="0"/>
              <a:t>f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T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err="1" smtClean="0"/>
              <a:t>+T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smtClean="0"/>
              <a:t>=70um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400" dirty="0" smtClean="0"/>
              <a:t>查表</a:t>
            </a:r>
            <a:r>
              <a:rPr lang="en-US" altLang="zh-CN" sz="2400" dirty="0" smtClean="0"/>
              <a:t>3.2 </a:t>
            </a:r>
            <a:r>
              <a:rPr lang="zh-CN" altLang="en-US" sz="2400" dirty="0" smtClean="0"/>
              <a:t>得 </a:t>
            </a:r>
            <a:r>
              <a:rPr lang="en-US" altLang="zh-CN" sz="2400" dirty="0" smtClean="0">
                <a:solidFill>
                  <a:srgbClr val="FF0000"/>
                </a:solidFill>
              </a:rPr>
              <a:t>T</a:t>
            </a:r>
            <a:r>
              <a:rPr lang="en-US" altLang="zh-CN" sz="2400" baseline="-25000" dirty="0" smtClean="0">
                <a:solidFill>
                  <a:srgbClr val="FF0000"/>
                </a:solidFill>
              </a:rPr>
              <a:t>D</a:t>
            </a:r>
            <a:r>
              <a:rPr lang="en-US" altLang="zh-CN" sz="2400" dirty="0" smtClean="0">
                <a:solidFill>
                  <a:srgbClr val="FF0000"/>
                </a:solidFill>
              </a:rPr>
              <a:t>=IT8=39um</a:t>
            </a:r>
            <a:r>
              <a:rPr lang="zh-CN" altLang="en-US" sz="2400" dirty="0" smtClean="0"/>
              <a:t>，</a:t>
            </a:r>
            <a:r>
              <a:rPr lang="en-US" altLang="zh-CN" sz="2400" dirty="0" smtClean="0">
                <a:solidFill>
                  <a:srgbClr val="FF0000"/>
                </a:solidFill>
              </a:rPr>
              <a:t>T</a:t>
            </a:r>
            <a:r>
              <a:rPr lang="en-US" altLang="zh-CN" sz="2400" baseline="-25000" dirty="0" smtClean="0">
                <a:solidFill>
                  <a:srgbClr val="FF0000"/>
                </a:solidFill>
              </a:rPr>
              <a:t>d</a:t>
            </a:r>
            <a:r>
              <a:rPr lang="en-US" altLang="zh-CN" sz="2400" dirty="0" smtClean="0">
                <a:solidFill>
                  <a:srgbClr val="FF0000"/>
                </a:solidFill>
              </a:rPr>
              <a:t>=IT7=25um</a:t>
            </a:r>
            <a:r>
              <a:rPr lang="zh-CN" altLang="en-US" sz="2400" dirty="0" smtClean="0">
                <a:solidFill>
                  <a:srgbClr val="FF0000"/>
                </a:solidFill>
              </a:rPr>
              <a:t>，</a:t>
            </a:r>
            <a:r>
              <a:rPr lang="en-US" altLang="zh-CN" sz="2400" dirty="0" smtClean="0">
                <a:solidFill>
                  <a:srgbClr val="FF0000"/>
                </a:solidFill>
              </a:rPr>
              <a:t>ES=EI+IT8=39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285720" y="142852"/>
            <a:ext cx="866140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确定轴的基本偏差代号</a:t>
            </a:r>
            <a:r>
              <a:rPr lang="zh-CN" altLang="en-US" b="1" dirty="0"/>
              <a:t> </a:t>
            </a:r>
          </a:p>
        </p:txBody>
      </p:sp>
      <p:sp>
        <p:nvSpPr>
          <p:cNvPr id="28" name="AutoShape 5"/>
          <p:cNvSpPr/>
          <p:nvPr/>
        </p:nvSpPr>
        <p:spPr bwMode="auto">
          <a:xfrm>
            <a:off x="842939" y="857232"/>
            <a:ext cx="300037" cy="1447800"/>
          </a:xfrm>
          <a:prstGeom prst="leftBrace">
            <a:avLst>
              <a:gd name="adj1" fmla="val 40212"/>
              <a:gd name="adj2" fmla="val 50000"/>
            </a:avLst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1209702" y="642918"/>
            <a:ext cx="4113212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 err="1"/>
              <a:t>X</a:t>
            </a:r>
            <a:r>
              <a:rPr lang="en-US" altLang="zh-CN" b="1" baseline="-30000" dirty="0" err="1"/>
              <a:t>max</a:t>
            </a:r>
            <a:r>
              <a:rPr lang="en-US" altLang="zh-CN" b="1" dirty="0"/>
              <a:t> = ES - </a:t>
            </a:r>
            <a:r>
              <a:rPr lang="en-US" altLang="zh-CN" b="1" dirty="0" err="1"/>
              <a:t>ei</a:t>
            </a:r>
            <a:endParaRPr lang="en-US" altLang="zh-CN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1276377" y="1357293"/>
            <a:ext cx="3773487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 err="1"/>
              <a:t>X</a:t>
            </a:r>
            <a:r>
              <a:rPr lang="en-US" altLang="zh-CN" b="1" baseline="-30000" dirty="0" err="1"/>
              <a:t>min</a:t>
            </a:r>
            <a:r>
              <a:rPr lang="en-US" altLang="zh-CN" b="1" dirty="0"/>
              <a:t> = EI - </a:t>
            </a:r>
            <a:r>
              <a:rPr lang="en-US" altLang="zh-CN" b="1" dirty="0" err="1"/>
              <a:t>es</a:t>
            </a:r>
            <a:endParaRPr lang="en-US" altLang="zh-CN" b="1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1176364" y="2060556"/>
            <a:ext cx="403225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/>
              <a:t>T</a:t>
            </a:r>
            <a:r>
              <a:rPr lang="en-US" altLang="zh-CN" b="1" baseline="-30000" dirty="0"/>
              <a:t>d </a:t>
            </a:r>
            <a:r>
              <a:rPr lang="en-US" altLang="zh-CN" b="1" dirty="0"/>
              <a:t>= </a:t>
            </a:r>
            <a:r>
              <a:rPr lang="en-US" altLang="zh-CN" b="1" dirty="0" err="1"/>
              <a:t>es-ei</a:t>
            </a:r>
            <a:r>
              <a:rPr lang="en-US" altLang="zh-CN" b="1" dirty="0"/>
              <a:t> =</a:t>
            </a: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5786446" y="1357298"/>
            <a:ext cx="2417763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5715008" y="642918"/>
            <a:ext cx="2684463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4366479" y="669294"/>
            <a:ext cx="1214446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=</a:t>
            </a:r>
            <a:r>
              <a:rPr lang="en-US" altLang="zh-CN" dirty="0"/>
              <a:t> </a:t>
            </a:r>
            <a:r>
              <a:rPr lang="en-US" altLang="zh-CN" b="1" dirty="0" smtClean="0"/>
              <a:t>+120</a:t>
            </a:r>
            <a:endParaRPr lang="en-US" altLang="zh-CN" b="1" dirty="0"/>
          </a:p>
        </p:txBody>
      </p:sp>
      <p:sp>
        <p:nvSpPr>
          <p:cNvPr id="35" name="Text Box 12"/>
          <p:cNvSpPr txBox="1">
            <a:spLocks noChangeArrowheads="1"/>
          </p:cNvSpPr>
          <p:nvPr/>
        </p:nvSpPr>
        <p:spPr bwMode="auto">
          <a:xfrm>
            <a:off x="4500562" y="1357298"/>
            <a:ext cx="2560638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</a:t>
            </a:r>
            <a:r>
              <a:rPr lang="en-US" altLang="zh-CN" b="1" dirty="0"/>
              <a:t>= </a:t>
            </a:r>
            <a:r>
              <a:rPr lang="en-US" altLang="zh-CN" b="1" dirty="0" smtClean="0"/>
              <a:t>+50</a:t>
            </a:r>
            <a:endParaRPr lang="en-US" altLang="zh-CN" b="1" dirty="0"/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>
            <a:off x="3143240" y="642918"/>
            <a:ext cx="2878138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宋体" panose="02010600030101010101" pitchFamily="2" charset="-122"/>
                <a:sym typeface="Symbol" panose="05050102010706020507" pitchFamily="18" charset="2"/>
              </a:rPr>
              <a:t>≤</a:t>
            </a:r>
            <a:r>
              <a:rPr lang="en-US" altLang="zh-CN" b="1" dirty="0"/>
              <a:t>[</a:t>
            </a:r>
            <a:r>
              <a:rPr lang="en-US" altLang="zh-CN" b="1" i="1" dirty="0" err="1"/>
              <a:t>X</a:t>
            </a:r>
            <a:r>
              <a:rPr lang="en-US" altLang="zh-CN" b="1" baseline="-30000" dirty="0" err="1"/>
              <a:t>max</a:t>
            </a:r>
            <a:r>
              <a:rPr lang="en-US" altLang="zh-CN" b="1" dirty="0"/>
              <a:t>]</a:t>
            </a:r>
          </a:p>
        </p:txBody>
      </p:sp>
      <p:sp>
        <p:nvSpPr>
          <p:cNvPr id="37" name="Text Box 14"/>
          <p:cNvSpPr txBox="1">
            <a:spLocks noChangeArrowheads="1"/>
          </p:cNvSpPr>
          <p:nvPr/>
        </p:nvSpPr>
        <p:spPr bwMode="auto">
          <a:xfrm>
            <a:off x="3214678" y="1357298"/>
            <a:ext cx="1500198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宋体" panose="02010600030101010101" pitchFamily="2" charset="-122"/>
                <a:sym typeface="Symbol" panose="05050102010706020507" pitchFamily="18" charset="2"/>
              </a:rPr>
              <a:t>≥ </a:t>
            </a:r>
            <a:r>
              <a:rPr lang="en-US" altLang="zh-CN" b="1" dirty="0"/>
              <a:t>[</a:t>
            </a:r>
            <a:r>
              <a:rPr lang="en-US" altLang="zh-CN" b="1" i="1" dirty="0" err="1"/>
              <a:t>X</a:t>
            </a:r>
            <a:r>
              <a:rPr lang="en-US" altLang="zh-CN" b="1" baseline="-30000" dirty="0" err="1"/>
              <a:t>min</a:t>
            </a:r>
            <a:r>
              <a:rPr lang="en-US" altLang="zh-CN" b="1" dirty="0"/>
              <a:t>]</a:t>
            </a: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2714612" y="2071678"/>
            <a:ext cx="2036762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25</a:t>
            </a:r>
          </a:p>
        </p:txBody>
      </p:sp>
      <p:sp>
        <p:nvSpPr>
          <p:cNvPr id="39" name="Text Box 16"/>
          <p:cNvSpPr txBox="1">
            <a:spLocks noChangeArrowheads="1"/>
          </p:cNvSpPr>
          <p:nvPr/>
        </p:nvSpPr>
        <p:spPr bwMode="auto">
          <a:xfrm>
            <a:off x="5840316" y="2107948"/>
            <a:ext cx="228600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928662" y="2643182"/>
            <a:ext cx="438785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由式（</a:t>
            </a:r>
            <a:r>
              <a:rPr lang="en-US" altLang="zh-CN" b="1" dirty="0"/>
              <a:t>2</a:t>
            </a:r>
            <a:r>
              <a:rPr lang="zh-CN" altLang="en-US" b="1" dirty="0"/>
              <a:t>）得</a:t>
            </a: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1000100" y="3286124"/>
            <a:ext cx="3860800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得 </a:t>
            </a:r>
            <a:r>
              <a:rPr lang="en-US" altLang="zh-CN" b="1" dirty="0" err="1">
                <a:solidFill>
                  <a:srgbClr val="FF0000"/>
                </a:solidFill>
              </a:rPr>
              <a:t>es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-50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3214679" y="2643182"/>
            <a:ext cx="3643338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solidFill>
                  <a:srgbClr val="FF0000"/>
                </a:solidFill>
              </a:rPr>
              <a:t>es</a:t>
            </a:r>
            <a:r>
              <a:rPr lang="en-US" altLang="zh-CN" b="1" dirty="0">
                <a:solidFill>
                  <a:srgbClr val="FF0000"/>
                </a:solidFill>
              </a:rPr>
              <a:t> ≤ EI</a:t>
            </a:r>
            <a:r>
              <a:rPr lang="zh-CN" altLang="en-US" b="1" dirty="0">
                <a:solidFill>
                  <a:srgbClr val="FF0000"/>
                </a:solidFill>
              </a:rPr>
              <a:t>－｜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min</a:t>
            </a:r>
            <a:r>
              <a:rPr lang="zh-CN" altLang="en-US" b="1" dirty="0">
                <a:solidFill>
                  <a:srgbClr val="FF0000"/>
                </a:solidFill>
              </a:rPr>
              <a:t>｜</a:t>
            </a:r>
            <a:r>
              <a:rPr lang="en-US" altLang="zh-CN" b="1" dirty="0"/>
              <a:t>=0 - </a:t>
            </a:r>
            <a:r>
              <a:rPr lang="en-US" altLang="zh-CN" b="1" dirty="0" smtClean="0"/>
              <a:t>50</a:t>
            </a:r>
            <a:endParaRPr lang="en-US" altLang="zh-CN" b="1" dirty="0"/>
          </a:p>
        </p:txBody>
      </p:sp>
      <p:sp>
        <p:nvSpPr>
          <p:cNvPr id="43" name="Text Box 20"/>
          <p:cNvSpPr txBox="1">
            <a:spLocks noChangeArrowheads="1"/>
          </p:cNvSpPr>
          <p:nvPr/>
        </p:nvSpPr>
        <p:spPr bwMode="auto">
          <a:xfrm>
            <a:off x="1214414" y="3786190"/>
            <a:ext cx="4308475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由式（</a:t>
            </a:r>
            <a:r>
              <a:rPr lang="en-US" altLang="zh-CN" b="1" dirty="0"/>
              <a:t>3</a:t>
            </a:r>
            <a:r>
              <a:rPr lang="zh-CN" altLang="en-US" b="1" dirty="0"/>
              <a:t>）得</a:t>
            </a:r>
          </a:p>
        </p:txBody>
      </p:sp>
      <p:sp>
        <p:nvSpPr>
          <p:cNvPr id="44" name="Text Box 21"/>
          <p:cNvSpPr txBox="1">
            <a:spLocks noChangeArrowheads="1"/>
          </p:cNvSpPr>
          <p:nvPr/>
        </p:nvSpPr>
        <p:spPr bwMode="auto">
          <a:xfrm>
            <a:off x="1357290" y="5572140"/>
            <a:ext cx="7469188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∴     </a:t>
            </a:r>
            <a:r>
              <a:rPr lang="en-US" altLang="zh-CN" b="1" dirty="0" err="1">
                <a:solidFill>
                  <a:srgbClr val="FF0000"/>
                </a:solidFill>
              </a:rPr>
              <a:t>es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≥ </a:t>
            </a:r>
            <a:r>
              <a:rPr lang="en-US" altLang="zh-CN" b="1" dirty="0">
                <a:solidFill>
                  <a:srgbClr val="FF0000"/>
                </a:solidFill>
              </a:rPr>
              <a:t>- </a:t>
            </a:r>
            <a:r>
              <a:rPr lang="en-US" altLang="zh-CN" b="1" dirty="0" smtClean="0">
                <a:solidFill>
                  <a:srgbClr val="FF0000"/>
                </a:solidFill>
              </a:rPr>
              <a:t>56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5" name="Text Box 22"/>
          <p:cNvSpPr txBox="1">
            <a:spLocks noChangeArrowheads="1"/>
          </p:cNvSpPr>
          <p:nvPr/>
        </p:nvSpPr>
        <p:spPr bwMode="auto">
          <a:xfrm>
            <a:off x="1285852" y="4786322"/>
            <a:ext cx="7135812" cy="857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 </a:t>
            </a:r>
            <a:r>
              <a:rPr lang="zh-CN" altLang="en-US" b="1" dirty="0"/>
              <a:t>解得 </a:t>
            </a:r>
            <a:r>
              <a:rPr lang="en-US" altLang="zh-CN" b="1" dirty="0" err="1">
                <a:solidFill>
                  <a:srgbClr val="FF0000"/>
                </a:solidFill>
              </a:rPr>
              <a:t>es≥ES</a:t>
            </a:r>
            <a:r>
              <a:rPr lang="zh-CN" altLang="en-US" b="1" dirty="0">
                <a:solidFill>
                  <a:srgbClr val="FF0000"/>
                </a:solidFill>
              </a:rPr>
              <a:t>＋ </a:t>
            </a:r>
            <a:r>
              <a:rPr lang="en-US" altLang="zh-CN" b="1" i="1" dirty="0">
                <a:solidFill>
                  <a:srgbClr val="FF0000"/>
                </a:solidFill>
              </a:rPr>
              <a:t>T</a:t>
            </a:r>
            <a:r>
              <a:rPr lang="en-US" altLang="zh-CN" b="1" baseline="-30000" dirty="0">
                <a:solidFill>
                  <a:srgbClr val="FF0000"/>
                </a:solidFill>
              </a:rPr>
              <a:t>d </a:t>
            </a:r>
            <a:r>
              <a:rPr lang="zh-CN" altLang="en-US" b="1" dirty="0">
                <a:solidFill>
                  <a:srgbClr val="FF0000"/>
                </a:solidFill>
              </a:rPr>
              <a:t>－｜</a:t>
            </a:r>
            <a:r>
              <a:rPr lang="en-US" altLang="zh-CN" b="1" i="1" dirty="0" err="1">
                <a:solidFill>
                  <a:srgbClr val="FF0000"/>
                </a:solidFill>
              </a:rPr>
              <a:t>X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max</a:t>
            </a:r>
            <a:r>
              <a:rPr lang="zh-CN" altLang="en-US" b="1" dirty="0">
                <a:solidFill>
                  <a:srgbClr val="FF0000"/>
                </a:solidFill>
              </a:rPr>
              <a:t>｜</a:t>
            </a:r>
          </a:p>
          <a:p>
            <a:pPr eaLnBrk="1" hangingPunct="1"/>
            <a:r>
              <a:rPr lang="zh-CN" altLang="en-US" b="1" dirty="0"/>
              <a:t>              </a:t>
            </a:r>
            <a:r>
              <a:rPr lang="en-US" altLang="zh-CN" b="1" dirty="0"/>
              <a:t>= 39 + 25 – </a:t>
            </a:r>
            <a:r>
              <a:rPr lang="en-US" altLang="zh-CN" b="1" dirty="0" smtClean="0"/>
              <a:t>120 </a:t>
            </a:r>
            <a:r>
              <a:rPr lang="en-US" altLang="zh-CN" b="1" dirty="0"/>
              <a:t>= </a:t>
            </a:r>
            <a:r>
              <a:rPr lang="en-US" altLang="zh-CN" b="1" dirty="0" smtClean="0"/>
              <a:t>-56</a:t>
            </a:r>
            <a:endParaRPr lang="en-US" altLang="zh-CN" b="1" dirty="0"/>
          </a:p>
        </p:txBody>
      </p:sp>
      <p:sp>
        <p:nvSpPr>
          <p:cNvPr id="46" name="Text Box 23"/>
          <p:cNvSpPr txBox="1">
            <a:spLocks noChangeArrowheads="1"/>
          </p:cNvSpPr>
          <p:nvPr/>
        </p:nvSpPr>
        <p:spPr bwMode="auto">
          <a:xfrm>
            <a:off x="1285852" y="4286256"/>
            <a:ext cx="5446713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/>
              <a:t>ei</a:t>
            </a:r>
            <a:r>
              <a:rPr lang="en-US" altLang="zh-CN" b="1" dirty="0"/>
              <a:t> = </a:t>
            </a:r>
            <a:r>
              <a:rPr lang="en-US" altLang="zh-CN" b="1" dirty="0" err="1"/>
              <a:t>es</a:t>
            </a:r>
            <a:r>
              <a:rPr lang="en-US" altLang="zh-CN" b="1" dirty="0"/>
              <a:t> - </a:t>
            </a:r>
            <a:r>
              <a:rPr lang="en-US" altLang="zh-CN" b="1" i="1" dirty="0"/>
              <a:t>T</a:t>
            </a:r>
            <a:r>
              <a:rPr lang="en-US" altLang="zh-CN" b="1" baseline="-30000" dirty="0"/>
              <a:t>d</a:t>
            </a:r>
            <a:r>
              <a:rPr lang="zh-CN" altLang="en-US" b="1" dirty="0"/>
              <a:t>代入式（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1285852" y="6072206"/>
            <a:ext cx="6796087" cy="48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即轴的基本偏差应满足：</a:t>
            </a:r>
          </a:p>
        </p:txBody>
      </p:sp>
      <p:sp>
        <p:nvSpPr>
          <p:cNvPr id="48" name="Text Box 26"/>
          <p:cNvSpPr txBox="1">
            <a:spLocks noChangeArrowheads="1"/>
          </p:cNvSpPr>
          <p:nvPr/>
        </p:nvSpPr>
        <p:spPr bwMode="auto">
          <a:xfrm>
            <a:off x="5286380" y="6072206"/>
            <a:ext cx="2143140" cy="48847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7994" tIns="58997" rIns="117994" bIns="58997">
            <a:spAutoFit/>
          </a:bodyPr>
          <a:lstStyle>
            <a:lvl1pPr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919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919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-56</a:t>
            </a:r>
            <a:r>
              <a:rPr lang="en-US" altLang="zh-CN" b="1" dirty="0">
                <a:solidFill>
                  <a:srgbClr val="FF0000"/>
                </a:solidFill>
              </a:rPr>
              <a:t>≤es≤</a:t>
            </a:r>
            <a:r>
              <a:rPr lang="en-US" altLang="zh-CN" b="1" dirty="0" smtClean="0">
                <a:solidFill>
                  <a:srgbClr val="FF0000"/>
                </a:solidFill>
              </a:rPr>
              <a:t>-50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43570" y="3429000"/>
            <a:ext cx="250033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/>
              <a:t>因是基孔制间隙配合，轴的基本偏差为</a:t>
            </a:r>
            <a:r>
              <a:rPr lang="en-US" altLang="zh-CN" sz="2400" dirty="0" err="1" smtClean="0"/>
              <a:t>es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28" grpId="0" animBg="1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  <p:bldP spid="48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52"/>
            <a:ext cx="8229600" cy="562612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b="1" dirty="0" smtClean="0"/>
              <a:t>查表</a:t>
            </a:r>
            <a:r>
              <a:rPr lang="en-US" altLang="zh-CN" sz="2400" b="1" dirty="0" smtClean="0"/>
              <a:t>3.4</a:t>
            </a:r>
            <a:r>
              <a:rPr lang="zh-CN" altLang="en-US" sz="2400" b="1" dirty="0" smtClean="0"/>
              <a:t>，轴的基本偏差代号为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e (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es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 = -50μm)</a:t>
            </a:r>
            <a:endParaRPr lang="zh-CN" altLang="en-US" sz="2800" dirty="0"/>
          </a:p>
        </p:txBody>
      </p:sp>
      <p:grpSp>
        <p:nvGrpSpPr>
          <p:cNvPr id="2" name="Group 21"/>
          <p:cNvGrpSpPr/>
          <p:nvPr/>
        </p:nvGrpSpPr>
        <p:grpSpPr bwMode="auto">
          <a:xfrm>
            <a:off x="5795994" y="3357562"/>
            <a:ext cx="3276600" cy="3109913"/>
            <a:chOff x="192" y="624"/>
            <a:chExt cx="2064" cy="1959"/>
          </a:xfrm>
        </p:grpSpPr>
        <p:sp>
          <p:nvSpPr>
            <p:cNvPr id="20" name="Line 7"/>
            <p:cNvSpPr>
              <a:spLocks noChangeShapeType="1"/>
            </p:cNvSpPr>
            <p:nvPr/>
          </p:nvSpPr>
          <p:spPr bwMode="auto">
            <a:xfrm flipV="1">
              <a:off x="523" y="1392"/>
              <a:ext cx="130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 flipH="1">
              <a:off x="624" y="1392"/>
              <a:ext cx="2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2" name="WordArt 9"/>
            <p:cNvSpPr>
              <a:spLocks noChangeArrowheads="1" noChangeShapeType="1" noTextEdit="1"/>
            </p:cNvSpPr>
            <p:nvPr/>
          </p:nvSpPr>
          <p:spPr bwMode="auto">
            <a:xfrm>
              <a:off x="421" y="1286"/>
              <a:ext cx="68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10"/>
            <p:cNvGrpSpPr/>
            <p:nvPr/>
          </p:nvGrpSpPr>
          <p:grpSpPr bwMode="auto">
            <a:xfrm>
              <a:off x="864" y="1824"/>
              <a:ext cx="439" cy="432"/>
              <a:chOff x="2959" y="11608"/>
              <a:chExt cx="840" cy="713"/>
            </a:xfrm>
          </p:grpSpPr>
          <p:sp>
            <p:nvSpPr>
              <p:cNvPr id="32" name="Rectangle 11"/>
              <p:cNvSpPr>
                <a:spLocks noChangeArrowheads="1"/>
              </p:cNvSpPr>
              <p:nvPr/>
            </p:nvSpPr>
            <p:spPr bwMode="auto">
              <a:xfrm>
                <a:off x="2959" y="11608"/>
                <a:ext cx="840" cy="71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3" name="Text Box 12"/>
              <p:cNvSpPr txBox="1">
                <a:spLocks noChangeArrowheads="1"/>
              </p:cNvSpPr>
              <p:nvPr/>
            </p:nvSpPr>
            <p:spPr bwMode="auto">
              <a:xfrm>
                <a:off x="3155" y="11674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400" b="1">
                    <a:latin typeface="Times New Roman" panose="02020603050405020304" pitchFamily="18" charset="0"/>
                  </a:rPr>
                  <a:t>e7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" name="Text Box 13"/>
            <p:cNvSpPr txBox="1">
              <a:spLocks noChangeArrowheads="1"/>
            </p:cNvSpPr>
            <p:nvPr/>
          </p:nvSpPr>
          <p:spPr bwMode="auto">
            <a:xfrm>
              <a:off x="432" y="624"/>
              <a:ext cx="480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+39</a:t>
              </a: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1392" y="1715"/>
              <a:ext cx="384" cy="1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-50</a:t>
              </a:r>
            </a:p>
          </p:txBody>
        </p:sp>
        <p:grpSp>
          <p:nvGrpSpPr>
            <p:cNvPr id="5" name="Group 15"/>
            <p:cNvGrpSpPr/>
            <p:nvPr/>
          </p:nvGrpSpPr>
          <p:grpSpPr bwMode="auto">
            <a:xfrm>
              <a:off x="768" y="720"/>
              <a:ext cx="411" cy="676"/>
              <a:chOff x="4723" y="12445"/>
              <a:chExt cx="784" cy="992"/>
            </a:xfrm>
          </p:grpSpPr>
          <p:sp>
            <p:nvSpPr>
              <p:cNvPr id="30" name="Rectangle 16"/>
              <p:cNvSpPr>
                <a:spLocks noChangeArrowheads="1"/>
              </p:cNvSpPr>
              <p:nvPr/>
            </p:nvSpPr>
            <p:spPr bwMode="auto">
              <a:xfrm>
                <a:off x="4723" y="12445"/>
                <a:ext cx="784" cy="9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1" name="Text Box 17"/>
              <p:cNvSpPr txBox="1">
                <a:spLocks noChangeArrowheads="1"/>
              </p:cNvSpPr>
              <p:nvPr/>
            </p:nvSpPr>
            <p:spPr bwMode="auto">
              <a:xfrm>
                <a:off x="4891" y="12697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1179195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1179195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2800" b="1" baseline="-25000">
                    <a:latin typeface="Times New Roman" panose="02020603050405020304" pitchFamily="18" charset="0"/>
                  </a:rPr>
                  <a:t>H8</a:t>
                </a:r>
              </a:p>
            </p:txBody>
          </p:sp>
        </p:grp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1392" y="2147"/>
              <a:ext cx="384" cy="1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1179195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179195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-75</a:t>
              </a:r>
            </a:p>
          </p:txBody>
        </p: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>
              <a:off x="192" y="2352"/>
              <a:ext cx="20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 dirty="0"/>
                <a:t>图 作业题</a:t>
              </a:r>
              <a:r>
                <a:rPr lang="en-US" altLang="zh-CN" sz="1800" b="1" dirty="0"/>
                <a:t>10 </a:t>
              </a:r>
              <a:r>
                <a:rPr kumimoji="1" lang="en-US" altLang="zh-CN" sz="1800" b="1" dirty="0"/>
                <a:t>①</a:t>
              </a:r>
              <a:r>
                <a:rPr lang="en-US" altLang="zh-CN" sz="1800" dirty="0"/>
                <a:t> </a:t>
              </a:r>
              <a:r>
                <a:rPr lang="en-US" altLang="zh-CN" sz="1800" b="1" dirty="0" smtClean="0"/>
                <a:t>Φ35H8</a:t>
              </a:r>
              <a:r>
                <a:rPr lang="en-US" altLang="zh-CN" sz="1800" b="1" dirty="0"/>
                <a:t>/ e7</a:t>
              </a:r>
              <a:r>
                <a:rPr kumimoji="1" lang="en-US" altLang="zh-CN" sz="1800" dirty="0"/>
                <a:t> </a:t>
              </a:r>
            </a:p>
          </p:txBody>
        </p:sp>
        <p:sp>
          <p:nvSpPr>
            <p:cNvPr id="29" name="Text Box 20"/>
            <p:cNvSpPr txBox="1">
              <a:spLocks noChangeArrowheads="1"/>
            </p:cNvSpPr>
            <p:nvPr/>
          </p:nvSpPr>
          <p:spPr bwMode="auto">
            <a:xfrm rot="-5400000">
              <a:off x="19" y="1699"/>
              <a:ext cx="9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 smtClean="0">
                  <a:cs typeface="Arial" panose="020B0604020202020204" pitchFamily="34" charset="0"/>
                </a:rPr>
                <a:t>Φ35mm</a:t>
              </a:r>
              <a:endParaRPr lang="en-US" altLang="zh-CN" sz="2400" b="1" dirty="0">
                <a:cs typeface="Arial" panose="020B0604020202020204" pitchFamily="34" charset="0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857224" y="5286388"/>
            <a:ext cx="3500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宋体" panose="02010600030101010101" pitchFamily="2" charset="-122"/>
              </a:rPr>
              <a:t>配合代号：</a:t>
            </a:r>
            <a:r>
              <a:rPr lang="el-GR" altLang="zh-CN" sz="2400" b="1" dirty="0" smtClean="0">
                <a:latin typeface="宋体" panose="02010600030101010101" pitchFamily="2" charset="-122"/>
              </a:rPr>
              <a:t>Φ</a:t>
            </a:r>
            <a:r>
              <a:rPr lang="en-US" altLang="zh-CN" sz="2400" b="1" dirty="0" smtClean="0">
                <a:latin typeface="宋体" panose="02010600030101010101" pitchFamily="2" charset="-122"/>
              </a:rPr>
              <a:t>35H8/e7</a:t>
            </a:r>
            <a:endParaRPr lang="zh-CN" altLang="en-US" sz="2400" dirty="0"/>
          </a:p>
        </p:txBody>
      </p:sp>
      <p:grpSp>
        <p:nvGrpSpPr>
          <p:cNvPr id="6" name="Group 40"/>
          <p:cNvGrpSpPr/>
          <p:nvPr/>
        </p:nvGrpSpPr>
        <p:grpSpPr bwMode="auto">
          <a:xfrm>
            <a:off x="428596" y="785794"/>
            <a:ext cx="5572164" cy="3429024"/>
            <a:chOff x="778" y="3246"/>
            <a:chExt cx="5482" cy="1992"/>
          </a:xfrm>
        </p:grpSpPr>
        <p:pic>
          <p:nvPicPr>
            <p:cNvPr id="36" name="Picture 3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" y="3246"/>
              <a:ext cx="5482" cy="1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780" y="3564"/>
              <a:ext cx="564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zh-CN" altLang="en-US" sz="1600" dirty="0"/>
                <a:t>公称</a:t>
              </a:r>
            </a:p>
            <a:p>
              <a:pPr algn="r"/>
              <a:r>
                <a:rPr lang="zh-CN" altLang="en-US" sz="1600" dirty="0"/>
                <a:t>尺寸</a:t>
              </a:r>
            </a:p>
            <a:p>
              <a:pPr algn="r"/>
              <a:r>
                <a:rPr lang="en-US" altLang="zh-CN" sz="1600" dirty="0"/>
                <a:t>/mm</a:t>
              </a: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972" y="3576"/>
              <a:ext cx="0" cy="4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642910" y="3875212"/>
            <a:ext cx="4752000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2465130" y="3571876"/>
            <a:ext cx="32092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00034" y="4429132"/>
            <a:ext cx="50720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</a:rPr>
              <a:t>(4) 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确定孔、轴公差带代号和配合代号  </a:t>
            </a:r>
            <a:endParaRPr lang="en-US" altLang="zh-CN" sz="2000" b="1" dirty="0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孔：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H8  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轴：</a:t>
            </a:r>
            <a:r>
              <a:rPr lang="en-US" altLang="zh-CN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e7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465130" y="2071678"/>
            <a:ext cx="32092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28767" y="5733256"/>
            <a:ext cx="5167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验算：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Xmax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=ES-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ei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=114&lt;120</a:t>
            </a:r>
          </a:p>
          <a:p>
            <a:r>
              <a:rPr lang="en-US" altLang="zh-CN" sz="2800" b="1" dirty="0" smtClean="0">
                <a:solidFill>
                  <a:srgbClr val="FF0000"/>
                </a:solidFill>
              </a:rPr>
              <a:t>             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Xmin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=EI-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es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=50   </a:t>
            </a:r>
            <a:r>
              <a:rPr lang="zh-CN" altLang="en-US" sz="2800" b="1" dirty="0">
                <a:solidFill>
                  <a:srgbClr val="FF0000"/>
                </a:solidFill>
              </a:rPr>
              <a:t>满足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</a:ln>
        </p:spPr>
        <p:txBody>
          <a:bodyPr/>
          <a:lstStyle/>
          <a:p>
            <a:fld id="{2B133A35-7553-496A-81EB-F150AC42908B}" type="slidenum">
              <a:rPr lang="en-US" altLang="zh-CN" smtClean="0">
                <a:latin typeface="Arial" panose="020B0604020202020204" pitchFamily="34" charset="0"/>
              </a:rPr>
              <a:pPr/>
              <a:t>31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28600" y="1987550"/>
            <a:ext cx="449580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）公差带图为：</a:t>
            </a:r>
          </a:p>
        </p:txBody>
      </p:sp>
      <p:grpSp>
        <p:nvGrpSpPr>
          <p:cNvPr id="2" name="Group 37"/>
          <p:cNvGrpSpPr/>
          <p:nvPr/>
        </p:nvGrpSpPr>
        <p:grpSpPr bwMode="auto">
          <a:xfrm>
            <a:off x="1366838" y="2567007"/>
            <a:ext cx="3276600" cy="3719513"/>
            <a:chOff x="2112" y="240"/>
            <a:chExt cx="2064" cy="2343"/>
          </a:xfrm>
        </p:grpSpPr>
        <p:sp>
          <p:nvSpPr>
            <p:cNvPr id="12312" name="Line 23"/>
            <p:cNvSpPr>
              <a:spLocks noChangeShapeType="1"/>
            </p:cNvSpPr>
            <p:nvPr/>
          </p:nvSpPr>
          <p:spPr bwMode="auto">
            <a:xfrm flipV="1">
              <a:off x="2443" y="1392"/>
              <a:ext cx="130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2313" name="Line 24"/>
            <p:cNvSpPr>
              <a:spLocks noChangeShapeType="1"/>
            </p:cNvSpPr>
            <p:nvPr/>
          </p:nvSpPr>
          <p:spPr bwMode="auto">
            <a:xfrm flipH="1">
              <a:off x="2544" y="1392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2314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2341" y="1286"/>
              <a:ext cx="68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3" name="Group 26"/>
            <p:cNvGrpSpPr/>
            <p:nvPr/>
          </p:nvGrpSpPr>
          <p:grpSpPr bwMode="auto">
            <a:xfrm>
              <a:off x="3168" y="288"/>
              <a:ext cx="439" cy="432"/>
              <a:chOff x="2959" y="11608"/>
              <a:chExt cx="840" cy="713"/>
            </a:xfrm>
          </p:grpSpPr>
          <p:sp>
            <p:nvSpPr>
              <p:cNvPr id="12324" name="Rectangle 27"/>
              <p:cNvSpPr>
                <a:spLocks noChangeArrowheads="1"/>
              </p:cNvSpPr>
              <p:nvPr/>
            </p:nvSpPr>
            <p:spPr bwMode="auto">
              <a:xfrm>
                <a:off x="2959" y="11608"/>
                <a:ext cx="840" cy="71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2325" name="Text Box 28"/>
              <p:cNvSpPr txBox="1">
                <a:spLocks noChangeArrowheads="1"/>
              </p:cNvSpPr>
              <p:nvPr/>
            </p:nvSpPr>
            <p:spPr bwMode="auto">
              <a:xfrm>
                <a:off x="3155" y="11674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400" b="1">
                    <a:latin typeface="Times New Roman" panose="02020603050405020304" pitchFamily="18" charset="0"/>
                  </a:rPr>
                  <a:t>u6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316" name="Text Box 29"/>
            <p:cNvSpPr txBox="1">
              <a:spLocks noChangeArrowheads="1"/>
            </p:cNvSpPr>
            <p:nvPr/>
          </p:nvSpPr>
          <p:spPr bwMode="auto">
            <a:xfrm>
              <a:off x="2352" y="768"/>
              <a:ext cx="480" cy="2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+25</a:t>
              </a:r>
            </a:p>
          </p:txBody>
        </p:sp>
        <p:sp>
          <p:nvSpPr>
            <p:cNvPr id="12317" name="Text Box 30"/>
            <p:cNvSpPr txBox="1">
              <a:spLocks noChangeArrowheads="1"/>
            </p:cNvSpPr>
            <p:nvPr/>
          </p:nvSpPr>
          <p:spPr bwMode="auto">
            <a:xfrm>
              <a:off x="2784" y="240"/>
              <a:ext cx="384" cy="1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+76</a:t>
              </a:r>
            </a:p>
          </p:txBody>
        </p:sp>
        <p:grpSp>
          <p:nvGrpSpPr>
            <p:cNvPr id="4" name="Group 31"/>
            <p:cNvGrpSpPr/>
            <p:nvPr/>
          </p:nvGrpSpPr>
          <p:grpSpPr bwMode="auto">
            <a:xfrm>
              <a:off x="2688" y="864"/>
              <a:ext cx="411" cy="532"/>
              <a:chOff x="4723" y="12445"/>
              <a:chExt cx="784" cy="992"/>
            </a:xfrm>
          </p:grpSpPr>
          <p:sp>
            <p:nvSpPr>
              <p:cNvPr id="12322" name="Rectangle 32"/>
              <p:cNvSpPr>
                <a:spLocks noChangeArrowheads="1"/>
              </p:cNvSpPr>
              <p:nvPr/>
            </p:nvSpPr>
            <p:spPr bwMode="auto">
              <a:xfrm>
                <a:off x="4723" y="12445"/>
                <a:ext cx="784" cy="9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2323" name="Text Box 33"/>
              <p:cNvSpPr txBox="1">
                <a:spLocks noChangeArrowheads="1"/>
              </p:cNvSpPr>
              <p:nvPr/>
            </p:nvSpPr>
            <p:spPr bwMode="auto">
              <a:xfrm>
                <a:off x="4891" y="12697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800" b="1" baseline="-25000">
                    <a:latin typeface="Times New Roman" panose="02020603050405020304" pitchFamily="18" charset="0"/>
                  </a:rPr>
                  <a:t>H7</a:t>
                </a:r>
              </a:p>
            </p:txBody>
          </p:sp>
        </p:grpSp>
        <p:sp>
          <p:nvSpPr>
            <p:cNvPr id="12319" name="Text Box 34"/>
            <p:cNvSpPr txBox="1">
              <a:spLocks noChangeArrowheads="1"/>
            </p:cNvSpPr>
            <p:nvPr/>
          </p:nvSpPr>
          <p:spPr bwMode="auto">
            <a:xfrm>
              <a:off x="2832" y="576"/>
              <a:ext cx="576" cy="25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+60</a:t>
              </a:r>
            </a:p>
          </p:txBody>
        </p:sp>
        <p:sp>
          <p:nvSpPr>
            <p:cNvPr id="12320" name="Text Box 35"/>
            <p:cNvSpPr txBox="1">
              <a:spLocks noChangeArrowheads="1"/>
            </p:cNvSpPr>
            <p:nvPr/>
          </p:nvSpPr>
          <p:spPr bwMode="auto">
            <a:xfrm>
              <a:off x="2112" y="2352"/>
              <a:ext cx="2064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1800" b="1"/>
                <a:t>图 作业题</a:t>
              </a:r>
              <a:r>
                <a:rPr lang="en-US" altLang="zh-CN" sz="1800" b="1"/>
                <a:t>10 ② ¢40H7/u6</a:t>
              </a:r>
            </a:p>
          </p:txBody>
        </p:sp>
        <p:sp>
          <p:nvSpPr>
            <p:cNvPr id="12321" name="Text Box 36"/>
            <p:cNvSpPr txBox="1">
              <a:spLocks noChangeArrowheads="1"/>
            </p:cNvSpPr>
            <p:nvPr/>
          </p:nvSpPr>
          <p:spPr bwMode="auto">
            <a:xfrm rot="-5400000">
              <a:off x="1939" y="1699"/>
              <a:ext cx="92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>
                  <a:cs typeface="Arial" panose="020B0604020202020204" pitchFamily="34" charset="0"/>
                </a:rPr>
                <a:t>¢40mm</a:t>
              </a:r>
            </a:p>
          </p:txBody>
        </p:sp>
      </p:grpSp>
      <p:grpSp>
        <p:nvGrpSpPr>
          <p:cNvPr id="5" name="Group 53"/>
          <p:cNvGrpSpPr/>
          <p:nvPr/>
        </p:nvGrpSpPr>
        <p:grpSpPr bwMode="auto">
          <a:xfrm>
            <a:off x="4929190" y="2714620"/>
            <a:ext cx="3048000" cy="3352800"/>
            <a:chOff x="3744" y="480"/>
            <a:chExt cx="1920" cy="2112"/>
          </a:xfrm>
        </p:grpSpPr>
        <p:sp>
          <p:nvSpPr>
            <p:cNvPr id="12298" name="Line 39"/>
            <p:cNvSpPr>
              <a:spLocks noChangeShapeType="1"/>
            </p:cNvSpPr>
            <p:nvPr/>
          </p:nvSpPr>
          <p:spPr bwMode="auto">
            <a:xfrm flipV="1">
              <a:off x="4027" y="1392"/>
              <a:ext cx="1301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2299" name="Line 40"/>
            <p:cNvSpPr>
              <a:spLocks noChangeShapeType="1"/>
            </p:cNvSpPr>
            <p:nvPr/>
          </p:nvSpPr>
          <p:spPr bwMode="auto">
            <a:xfrm flipH="1">
              <a:off x="4128" y="1392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2300" name="WordArt 41"/>
            <p:cNvSpPr>
              <a:spLocks noChangeArrowheads="1" noChangeShapeType="1" noTextEdit="1"/>
            </p:cNvSpPr>
            <p:nvPr/>
          </p:nvSpPr>
          <p:spPr bwMode="auto">
            <a:xfrm>
              <a:off x="3925" y="1286"/>
              <a:ext cx="68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6" name="Group 42"/>
            <p:cNvGrpSpPr/>
            <p:nvPr/>
          </p:nvGrpSpPr>
          <p:grpSpPr bwMode="auto">
            <a:xfrm>
              <a:off x="4800" y="720"/>
              <a:ext cx="439" cy="576"/>
              <a:chOff x="2959" y="11608"/>
              <a:chExt cx="840" cy="713"/>
            </a:xfrm>
          </p:grpSpPr>
          <p:sp>
            <p:nvSpPr>
              <p:cNvPr id="12310" name="Rectangle 43"/>
              <p:cNvSpPr>
                <a:spLocks noChangeArrowheads="1"/>
              </p:cNvSpPr>
              <p:nvPr/>
            </p:nvSpPr>
            <p:spPr bwMode="auto">
              <a:xfrm>
                <a:off x="2959" y="11608"/>
                <a:ext cx="840" cy="71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2311" name="Text Box 44"/>
              <p:cNvSpPr txBox="1">
                <a:spLocks noChangeArrowheads="1"/>
              </p:cNvSpPr>
              <p:nvPr/>
            </p:nvSpPr>
            <p:spPr bwMode="auto">
              <a:xfrm>
                <a:off x="3155" y="11674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400" b="1">
                    <a:latin typeface="Times New Roman" panose="02020603050405020304" pitchFamily="18" charset="0"/>
                  </a:rPr>
                  <a:t>k7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302" name="Text Box 45"/>
            <p:cNvSpPr txBox="1">
              <a:spLocks noChangeArrowheads="1"/>
            </p:cNvSpPr>
            <p:nvPr/>
          </p:nvSpPr>
          <p:spPr bwMode="auto">
            <a:xfrm>
              <a:off x="3936" y="480"/>
              <a:ext cx="480" cy="24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+46</a:t>
              </a:r>
            </a:p>
          </p:txBody>
        </p:sp>
        <p:sp>
          <p:nvSpPr>
            <p:cNvPr id="12303" name="Text Box 46"/>
            <p:cNvSpPr txBox="1">
              <a:spLocks noChangeArrowheads="1"/>
            </p:cNvSpPr>
            <p:nvPr/>
          </p:nvSpPr>
          <p:spPr bwMode="auto">
            <a:xfrm>
              <a:off x="5184" y="528"/>
              <a:ext cx="384" cy="15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+32</a:t>
              </a:r>
            </a:p>
          </p:txBody>
        </p:sp>
        <p:grpSp>
          <p:nvGrpSpPr>
            <p:cNvPr id="7" name="Group 47"/>
            <p:cNvGrpSpPr/>
            <p:nvPr/>
          </p:nvGrpSpPr>
          <p:grpSpPr bwMode="auto">
            <a:xfrm>
              <a:off x="4272" y="576"/>
              <a:ext cx="411" cy="820"/>
              <a:chOff x="4723" y="12445"/>
              <a:chExt cx="784" cy="992"/>
            </a:xfrm>
          </p:grpSpPr>
          <p:sp>
            <p:nvSpPr>
              <p:cNvPr id="12308" name="Rectangle 48"/>
              <p:cNvSpPr>
                <a:spLocks noChangeArrowheads="1"/>
              </p:cNvSpPr>
              <p:nvPr/>
            </p:nvSpPr>
            <p:spPr bwMode="auto">
              <a:xfrm>
                <a:off x="4723" y="12445"/>
                <a:ext cx="784" cy="99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12309" name="Text Box 49"/>
              <p:cNvSpPr txBox="1">
                <a:spLocks noChangeArrowheads="1"/>
              </p:cNvSpPr>
              <p:nvPr/>
            </p:nvSpPr>
            <p:spPr bwMode="auto">
              <a:xfrm>
                <a:off x="4891" y="12697"/>
                <a:ext cx="448" cy="49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just" defTabSz="1179830" eaLnBrk="0" hangingPunct="0"/>
                <a:r>
                  <a:rPr lang="en-US" altLang="zh-CN" sz="2800" b="1" baseline="-25000">
                    <a:latin typeface="Times New Roman" panose="02020603050405020304" pitchFamily="18" charset="0"/>
                  </a:rPr>
                  <a:t>H8</a:t>
                </a:r>
              </a:p>
            </p:txBody>
          </p:sp>
        </p:grpSp>
        <p:sp>
          <p:nvSpPr>
            <p:cNvPr id="12305" name="Text Box 50"/>
            <p:cNvSpPr txBox="1">
              <a:spLocks noChangeArrowheads="1"/>
            </p:cNvSpPr>
            <p:nvPr/>
          </p:nvSpPr>
          <p:spPr bwMode="auto">
            <a:xfrm>
              <a:off x="5280" y="1200"/>
              <a:ext cx="384" cy="1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just" defTabSz="1179830" eaLnBrk="0" hangingPunct="0"/>
              <a:r>
                <a:rPr lang="en-US" altLang="zh-CN" sz="2000" b="1">
                  <a:latin typeface="Times New Roman" panose="02020603050405020304" pitchFamily="18" charset="0"/>
                </a:rPr>
                <a:t>+2</a:t>
              </a:r>
            </a:p>
          </p:txBody>
        </p:sp>
        <p:sp>
          <p:nvSpPr>
            <p:cNvPr id="12306" name="Text Box 51"/>
            <p:cNvSpPr txBox="1">
              <a:spLocks noChangeArrowheads="1"/>
            </p:cNvSpPr>
            <p:nvPr/>
          </p:nvSpPr>
          <p:spPr bwMode="auto">
            <a:xfrm>
              <a:off x="3744" y="2361"/>
              <a:ext cx="1920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1800" b="1"/>
                <a:t>图 作业题</a:t>
              </a:r>
              <a:r>
                <a:rPr lang="en-US" altLang="zh-CN" sz="1800" b="1"/>
                <a:t>10 ③ ¢60H8/k7</a:t>
              </a:r>
            </a:p>
          </p:txBody>
        </p:sp>
        <p:sp>
          <p:nvSpPr>
            <p:cNvPr id="12307" name="Text Box 52"/>
            <p:cNvSpPr txBox="1">
              <a:spLocks noChangeArrowheads="1"/>
            </p:cNvSpPr>
            <p:nvPr/>
          </p:nvSpPr>
          <p:spPr bwMode="auto">
            <a:xfrm rot="-5400000">
              <a:off x="3523" y="1699"/>
              <a:ext cx="92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>
                  <a:cs typeface="Arial" panose="020B0604020202020204" pitchFamily="34" charset="0"/>
                </a:rPr>
                <a:t>¢60mm</a:t>
              </a:r>
            </a:p>
          </p:txBody>
        </p:sp>
      </p:grpSp>
      <p:sp>
        <p:nvSpPr>
          <p:cNvPr id="28726" name="Rectangle 54"/>
          <p:cNvSpPr>
            <a:spLocks noChangeArrowheads="1"/>
          </p:cNvSpPr>
          <p:nvPr/>
        </p:nvSpPr>
        <p:spPr bwMode="auto">
          <a:xfrm>
            <a:off x="457200" y="157163"/>
            <a:ext cx="1828800" cy="604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CC00FF"/>
                </a:solidFill>
                <a:latin typeface="Times New Roman" panose="02020603050405020304" pitchFamily="18" charset="0"/>
              </a:rPr>
              <a:t>答  案  </a:t>
            </a:r>
            <a:r>
              <a:rPr kumimoji="1"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kumimoji="1" lang="en-US" altLang="zh-CN" sz="2400" b="1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228600" y="765175"/>
            <a:ext cx="5791200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/>
              <a:t>（</a:t>
            </a:r>
            <a:r>
              <a:rPr lang="en-US" altLang="zh-CN" sz="2400" b="1"/>
              <a:t>1</a:t>
            </a:r>
            <a:r>
              <a:rPr lang="zh-CN" altLang="en-US" sz="2400" b="1"/>
              <a:t>）配合制、公差等级及其配合为：</a:t>
            </a:r>
          </a:p>
        </p:txBody>
      </p:sp>
      <p:sp>
        <p:nvSpPr>
          <p:cNvPr id="28728" name="Text Box 56"/>
          <p:cNvSpPr txBox="1">
            <a:spLocks noChangeArrowheads="1"/>
          </p:cNvSpPr>
          <p:nvPr/>
        </p:nvSpPr>
        <p:spPr bwMode="auto">
          <a:xfrm>
            <a:off x="669925" y="1450975"/>
            <a:ext cx="72548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400" b="1" dirty="0" smtClean="0">
                <a:latin typeface="宋体" panose="02010600030101010101" pitchFamily="2" charset="-122"/>
              </a:rPr>
              <a:t>② </a:t>
            </a:r>
            <a:r>
              <a:rPr lang="en-US" altLang="zh-CN" sz="2400" b="1" dirty="0"/>
              <a:t>¢40H7/u6</a:t>
            </a:r>
            <a:r>
              <a:rPr lang="zh-CN" altLang="en-US" sz="2400" b="1" dirty="0"/>
              <a:t>；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 smtClean="0">
                <a:latin typeface="宋体" panose="02010600030101010101" pitchFamily="2" charset="-122"/>
              </a:rPr>
              <a:t>  ③ </a:t>
            </a:r>
            <a:r>
              <a:rPr lang="en-US" altLang="zh-CN" sz="2400" b="1" dirty="0"/>
              <a:t>¢60H8/k7</a:t>
            </a:r>
            <a:r>
              <a:rPr lang="zh-CN" altLang="en-US" sz="2400" b="1" dirty="0"/>
              <a:t>。</a:t>
            </a:r>
            <a:r>
              <a:rPr lang="zh-CN" altLang="en-US" sz="2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726" grpId="0"/>
      <p:bldP spid="28727" grpId="0"/>
      <p:bldP spid="287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82709E-B034-4B8B-99DC-269B9370504D}" type="slidenum">
              <a:rPr lang="en-US" altLang="zh-CN" sz="1400" smtClean="0"/>
              <a:pPr eaLnBrk="1" hangingPunct="1"/>
              <a:t>32</a:t>
            </a:fld>
            <a:endParaRPr lang="en-US" altLang="zh-CN" sz="1400" dirty="0" smtClean="0"/>
          </a:p>
        </p:txBody>
      </p:sp>
      <p:sp>
        <p:nvSpPr>
          <p:cNvPr id="29699" name="Rectangle 16"/>
          <p:cNvSpPr>
            <a:spLocks noChangeArrowheads="1"/>
          </p:cNvSpPr>
          <p:nvPr/>
        </p:nvSpPr>
        <p:spPr bwMode="auto">
          <a:xfrm>
            <a:off x="2905125" y="5821363"/>
            <a:ext cx="541338" cy="3746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8"/>
          <p:cNvGrpSpPr/>
          <p:nvPr/>
        </p:nvGrpSpPr>
        <p:grpSpPr bwMode="auto">
          <a:xfrm>
            <a:off x="5638800" y="1614488"/>
            <a:ext cx="3276600" cy="3490912"/>
            <a:chOff x="3552" y="912"/>
            <a:chExt cx="2064" cy="2199"/>
          </a:xfrm>
        </p:grpSpPr>
        <p:pic>
          <p:nvPicPr>
            <p:cNvPr id="29709" name="Picture 2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2" y="912"/>
              <a:ext cx="2064" cy="20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10" name="Text Box 27"/>
            <p:cNvSpPr txBox="1">
              <a:spLocks noChangeArrowheads="1"/>
            </p:cNvSpPr>
            <p:nvPr/>
          </p:nvSpPr>
          <p:spPr bwMode="auto">
            <a:xfrm>
              <a:off x="3840" y="2880"/>
              <a:ext cx="16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800" b="1" dirty="0"/>
                <a:t>图</a:t>
              </a:r>
              <a:r>
                <a:rPr lang="en-US" altLang="zh-CN" sz="1800" b="1" dirty="0" smtClean="0"/>
                <a:t>4.57  </a:t>
              </a:r>
              <a:r>
                <a:rPr lang="zh-CN" altLang="en-US" sz="1800" b="1" dirty="0"/>
                <a:t>作业题 </a:t>
              </a:r>
              <a:r>
                <a:rPr lang="en-US" altLang="zh-CN" sz="1800" b="1" dirty="0"/>
                <a:t>3 </a:t>
              </a:r>
              <a:r>
                <a:rPr lang="zh-CN" altLang="en-US" sz="1800" b="1" dirty="0"/>
                <a:t>图</a:t>
              </a:r>
            </a:p>
          </p:txBody>
        </p:sp>
      </p:grp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152400" y="161925"/>
            <a:ext cx="8610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图</a:t>
            </a:r>
            <a:r>
              <a:rPr lang="en-US" altLang="zh-CN" sz="2400" b="1" dirty="0" smtClean="0"/>
              <a:t>4.57</a:t>
            </a:r>
            <a:r>
              <a:rPr lang="zh-CN" altLang="en-US" sz="2400" b="1" dirty="0" smtClean="0"/>
              <a:t>中</a:t>
            </a:r>
            <a:r>
              <a:rPr lang="zh-CN" altLang="en-US" sz="2400" b="1" dirty="0"/>
              <a:t>所示为单列圆锥滚子轴承内圈，将下列几何公差要求标注在图</a:t>
            </a:r>
            <a:r>
              <a:rPr lang="en-US" altLang="zh-CN" sz="2400" b="1" dirty="0" smtClean="0"/>
              <a:t>4.57</a:t>
            </a:r>
            <a:r>
              <a:rPr lang="zh-CN" altLang="en-US" sz="2400" b="1" dirty="0" smtClean="0"/>
              <a:t>中</a:t>
            </a:r>
            <a:r>
              <a:rPr lang="zh-CN" altLang="en-US" sz="2400" b="1" dirty="0"/>
              <a:t>。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auto">
          <a:xfrm>
            <a:off x="152400" y="1143000"/>
            <a:ext cx="73485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圆锥截面圆度公差为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级。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152400" y="1692275"/>
            <a:ext cx="6111875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 圆锥素线直线度公差为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         （</a:t>
            </a:r>
            <a:r>
              <a:rPr lang="en-US" altLang="zh-CN" sz="2400" b="1" i="1" dirty="0"/>
              <a:t>L</a:t>
            </a:r>
            <a:r>
              <a:rPr lang="en-US" altLang="zh-CN" sz="2400" b="1" dirty="0"/>
              <a:t>=50</a:t>
            </a:r>
            <a:r>
              <a:rPr lang="zh-CN" altLang="en-US" sz="2400" b="1" dirty="0"/>
              <a:t>）。</a:t>
            </a:r>
          </a:p>
        </p:txBody>
      </p:sp>
      <p:sp>
        <p:nvSpPr>
          <p:cNvPr id="67616" name="Text Box 32"/>
          <p:cNvSpPr txBox="1">
            <a:spLocks noChangeArrowheads="1"/>
          </p:cNvSpPr>
          <p:nvPr/>
        </p:nvSpPr>
        <p:spPr bwMode="auto">
          <a:xfrm>
            <a:off x="152400" y="2536825"/>
            <a:ext cx="5486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圆锥面对</a:t>
            </a:r>
            <a:r>
              <a:rPr lang="en-US" altLang="zh-CN" sz="2400" b="1" dirty="0">
                <a:cs typeface="Arial" panose="020B0604020202020204" pitchFamily="34" charset="0"/>
              </a:rPr>
              <a:t>¢80H7</a:t>
            </a:r>
            <a:r>
              <a:rPr lang="zh-CN" altLang="en-US" sz="2400" b="1" dirty="0">
                <a:cs typeface="Arial" panose="020B0604020202020204" pitchFamily="34" charset="0"/>
              </a:rPr>
              <a:t>轴线的斜向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cs typeface="Arial" panose="020B0604020202020204" pitchFamily="34" charset="0"/>
              </a:rPr>
              <a:t>          圆跳动公差值为</a:t>
            </a:r>
            <a:r>
              <a:rPr lang="en-US" altLang="zh-CN" sz="2400" b="1" dirty="0" smtClean="0">
                <a:cs typeface="Arial" panose="020B0604020202020204" pitchFamily="34" charset="0"/>
              </a:rPr>
              <a:t>0.02mm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67617" name="Text Box 33"/>
          <p:cNvSpPr txBox="1">
            <a:spLocks noChangeArrowheads="1"/>
          </p:cNvSpPr>
          <p:nvPr/>
        </p:nvSpPr>
        <p:spPr bwMode="auto">
          <a:xfrm>
            <a:off x="152400" y="3429000"/>
            <a:ext cx="56388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 </a:t>
            </a:r>
            <a:r>
              <a:rPr lang="en-US" altLang="zh-CN" sz="2400" b="1" dirty="0"/>
              <a:t>¢80H7</a:t>
            </a:r>
            <a:r>
              <a:rPr lang="zh-CN" altLang="en-US" sz="2400" b="1" dirty="0"/>
              <a:t>孔表面的圆柱度</a:t>
            </a:r>
            <a:r>
              <a:rPr lang="zh-CN" altLang="en-US" sz="2400" b="1" dirty="0" smtClean="0"/>
              <a:t>公差值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          为</a:t>
            </a:r>
            <a:r>
              <a:rPr lang="en-US" altLang="zh-CN" sz="2400" b="1" dirty="0"/>
              <a:t>0.005</a:t>
            </a:r>
            <a:r>
              <a:rPr lang="zh-CN" altLang="en-US" sz="2400" b="1" dirty="0"/>
              <a:t>。</a:t>
            </a:r>
          </a:p>
        </p:txBody>
      </p:sp>
      <p:sp>
        <p:nvSpPr>
          <p:cNvPr id="67618" name="Text Box 34"/>
          <p:cNvSpPr txBox="1">
            <a:spLocks noChangeArrowheads="1"/>
          </p:cNvSpPr>
          <p:nvPr/>
        </p:nvSpPr>
        <p:spPr bwMode="auto">
          <a:xfrm>
            <a:off x="152400" y="4289425"/>
            <a:ext cx="5562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 右端面对左端面的平行度公差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          值为</a:t>
            </a:r>
            <a:r>
              <a:rPr lang="en-US" altLang="zh-CN" sz="2400" b="1" dirty="0"/>
              <a:t>0.004</a:t>
            </a:r>
            <a:r>
              <a:rPr lang="zh-CN" altLang="en-US" sz="2400" b="1" dirty="0" smtClean="0"/>
              <a:t>。</a:t>
            </a:r>
            <a:endParaRPr lang="en-US" altLang="zh-CN" sz="2400" b="1" dirty="0"/>
          </a:p>
        </p:txBody>
      </p:sp>
      <p:sp>
        <p:nvSpPr>
          <p:cNvPr id="67619" name="Text Box 35"/>
          <p:cNvSpPr txBox="1">
            <a:spLocks noChangeArrowheads="1"/>
          </p:cNvSpPr>
          <p:nvPr/>
        </p:nvSpPr>
        <p:spPr bwMode="auto">
          <a:xfrm>
            <a:off x="152400" y="5184775"/>
            <a:ext cx="6172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（</a:t>
            </a:r>
            <a:r>
              <a:rPr lang="en-US" altLang="zh-CN" sz="2400" b="1"/>
              <a:t>6</a:t>
            </a:r>
            <a:r>
              <a:rPr lang="zh-CN" altLang="en-US" sz="2400" b="1"/>
              <a:t>） </a:t>
            </a:r>
            <a:r>
              <a:rPr lang="en-US" altLang="zh-CN" sz="2400" b="1"/>
              <a:t>¢80H7</a:t>
            </a:r>
            <a:r>
              <a:rPr lang="zh-CN" altLang="en-US" sz="2400" b="1"/>
              <a:t>遵守单一要素的包容要求 。</a:t>
            </a:r>
          </a:p>
        </p:txBody>
      </p:sp>
      <p:sp>
        <p:nvSpPr>
          <p:cNvPr id="67620" name="Text Box 36"/>
          <p:cNvSpPr txBox="1">
            <a:spLocks noChangeArrowheads="1"/>
          </p:cNvSpPr>
          <p:nvPr/>
        </p:nvSpPr>
        <p:spPr bwMode="auto">
          <a:xfrm>
            <a:off x="152400" y="5638800"/>
            <a:ext cx="79248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（</a:t>
            </a:r>
            <a:r>
              <a:rPr lang="en-US" altLang="zh-CN" sz="2400" b="1"/>
              <a:t>7</a:t>
            </a:r>
            <a:r>
              <a:rPr lang="zh-CN" altLang="en-US" sz="2400" b="1"/>
              <a:t>） 其余几何公差按</a:t>
            </a:r>
            <a:r>
              <a:rPr lang="en-US" altLang="zh-CN" sz="2400" b="1"/>
              <a:t>GB/T1184—K</a:t>
            </a:r>
            <a:r>
              <a:rPr lang="zh-CN" altLang="en-US" sz="2400" b="1"/>
              <a:t>级要求。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13" grpId="0"/>
      <p:bldP spid="67614" grpId="0"/>
      <p:bldP spid="67615" grpId="0"/>
      <p:bldP spid="67616" grpId="0"/>
      <p:bldP spid="67617" grpId="0"/>
      <p:bldP spid="67618" grpId="0"/>
      <p:bldP spid="67619" grpId="0"/>
      <p:bldP spid="676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D90284-81F0-41E7-8F96-2D660A6E2BE9}" type="slidenum">
              <a:rPr lang="en-US" altLang="zh-CN" sz="1400" smtClean="0"/>
              <a:pPr eaLnBrk="1" hangingPunct="1"/>
              <a:t>33</a:t>
            </a:fld>
            <a:endParaRPr lang="en-US" altLang="zh-CN" sz="1400" smtClean="0"/>
          </a:p>
        </p:txBody>
      </p:sp>
      <p:sp>
        <p:nvSpPr>
          <p:cNvPr id="68634" name="Rectangle 26"/>
          <p:cNvSpPr>
            <a:spLocks noChangeArrowheads="1"/>
          </p:cNvSpPr>
          <p:nvPr/>
        </p:nvSpPr>
        <p:spPr bwMode="auto">
          <a:xfrm>
            <a:off x="381000" y="304800"/>
            <a:ext cx="2971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CC00FF"/>
                </a:solidFill>
                <a:latin typeface="Times New Roman" panose="02020603050405020304" pitchFamily="18" charset="0"/>
              </a:rPr>
              <a:t>答  案  </a:t>
            </a:r>
            <a:r>
              <a:rPr kumimoji="1" lang="en-US" altLang="zh-CN" sz="2800" b="1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kumimoji="1" lang="en-US" altLang="zh-CN" sz="2400" b="1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724025" y="404664"/>
            <a:ext cx="6643688" cy="6080125"/>
            <a:chOff x="1724025" y="701675"/>
            <a:chExt cx="6643688" cy="6080125"/>
          </a:xfrm>
        </p:grpSpPr>
        <p:grpSp>
          <p:nvGrpSpPr>
            <p:cNvPr id="2" name="Group 25"/>
            <p:cNvGrpSpPr/>
            <p:nvPr/>
          </p:nvGrpSpPr>
          <p:grpSpPr bwMode="auto">
            <a:xfrm>
              <a:off x="1724025" y="701675"/>
              <a:ext cx="6643688" cy="6080125"/>
              <a:chOff x="912" y="442"/>
              <a:chExt cx="4185" cy="3830"/>
            </a:xfrm>
          </p:grpSpPr>
          <p:grpSp>
            <p:nvGrpSpPr>
              <p:cNvPr id="3" name="Group 23"/>
              <p:cNvGrpSpPr/>
              <p:nvPr/>
            </p:nvGrpSpPr>
            <p:grpSpPr bwMode="auto">
              <a:xfrm>
                <a:off x="912" y="442"/>
                <a:ext cx="4185" cy="3830"/>
                <a:chOff x="912" y="442"/>
                <a:chExt cx="4185" cy="3830"/>
              </a:xfrm>
            </p:grpSpPr>
            <p:sp>
              <p:nvSpPr>
                <p:cNvPr id="3072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59" y="4022"/>
                  <a:ext cx="877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zh-CN" altLang="en-US" sz="2000" dirty="0">
                      <a:latin typeface="宋体" panose="02010600030101010101" pitchFamily="2" charset="-122"/>
                    </a:rPr>
                    <a:t>图</a:t>
                  </a:r>
                  <a:r>
                    <a:rPr kumimoji="1" lang="en-US" altLang="zh-CN" sz="2000" dirty="0" smtClean="0">
                      <a:latin typeface="Times New Roman" panose="02020603050405020304" pitchFamily="18" charset="0"/>
                    </a:rPr>
                    <a:t>4.57</a:t>
                  </a:r>
                  <a:endParaRPr kumimoji="1"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" name="Group 22"/>
                <p:cNvGrpSpPr/>
                <p:nvPr/>
              </p:nvGrpSpPr>
              <p:grpSpPr bwMode="auto">
                <a:xfrm>
                  <a:off x="912" y="442"/>
                  <a:ext cx="4185" cy="3542"/>
                  <a:chOff x="912" y="384"/>
                  <a:chExt cx="4185" cy="3542"/>
                </a:xfrm>
              </p:grpSpPr>
              <p:pic>
                <p:nvPicPr>
                  <p:cNvPr id="30729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xmlns="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2" y="384"/>
                    <a:ext cx="3428" cy="354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sp>
                <p:nvSpPr>
                  <p:cNvPr id="68617" name="WordArt 9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089" y="2601"/>
                    <a:ext cx="1008" cy="621"/>
                  </a:xfrm>
                  <a:prstGeom prst="rect">
                    <a:avLst/>
                  </a:prstGeom>
                  <a:extLst>
                    <a:ext uri="{AF507438-7753-43E0-B8FC-AC1667EBCBE1}">
                      <a14:hiddenEffects xmlns:a14="http://schemas.microsoft.com/office/drawing/2010/main" xmlns="">
                        <a:effectLst/>
                      </a14:hiddenEffects>
                    </a:ext>
                  </a:extLst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>
                      <a:defRPr/>
                    </a:pPr>
                    <a:r>
                      <a:rPr lang="zh-CN" altLang="en-US" sz="1800" kern="10" dirty="0">
                        <a:ln w="9525">
                          <a:solidFill>
                            <a:srgbClr val="000000"/>
                          </a:solidFill>
                          <a:round/>
                        </a:ln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技术条件</a:t>
                    </a:r>
                  </a:p>
                  <a:p>
                    <a:pPr algn="ctr">
                      <a:defRPr/>
                    </a:pPr>
                    <a:endParaRPr lang="zh-CN" altLang="en-US" sz="1800" kern="10" dirty="0">
                      <a:ln w="9525">
                        <a:solidFill>
                          <a:srgbClr val="000000"/>
                        </a:solidFill>
                        <a:round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  <a:p>
                    <a:pPr algn="ctr">
                      <a:defRPr/>
                    </a:pPr>
                    <a:r>
                      <a:rPr lang="zh-CN" altLang="en-US" sz="1800" kern="10" dirty="0">
                        <a:ln w="9525">
                          <a:solidFill>
                            <a:srgbClr val="000000"/>
                          </a:solidFill>
                          <a:round/>
                        </a:ln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未注几何公差：</a:t>
                    </a:r>
                  </a:p>
                  <a:p>
                    <a:pPr algn="ctr">
                      <a:defRPr/>
                    </a:pPr>
                    <a:endParaRPr lang="zh-CN" altLang="en-US" sz="1800" kern="10" dirty="0">
                      <a:ln w="9525">
                        <a:solidFill>
                          <a:srgbClr val="000000"/>
                        </a:solidFill>
                        <a:round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  <a:p>
                    <a:pPr algn="ctr">
                      <a:defRPr/>
                    </a:pPr>
                    <a:r>
                      <a:rPr lang="en-US" altLang="zh-CN" sz="1800" kern="10" dirty="0">
                        <a:ln w="9525">
                          <a:solidFill>
                            <a:srgbClr val="000000"/>
                          </a:solidFill>
                          <a:round/>
                        </a:ln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GB/T1184--K</a:t>
                    </a:r>
                    <a:endParaRPr lang="zh-CN" altLang="en-US" sz="1800" kern="10" dirty="0">
                      <a:ln w="9525">
                        <a:solidFill>
                          <a:srgbClr val="000000"/>
                        </a:solidFill>
                        <a:round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0731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427" y="3284"/>
                    <a:ext cx="341" cy="30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32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3619"/>
                    <a:ext cx="341" cy="23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" name="Group 12"/>
                  <p:cNvGrpSpPr/>
                  <p:nvPr/>
                </p:nvGrpSpPr>
                <p:grpSpPr bwMode="auto">
                  <a:xfrm>
                    <a:off x="1478" y="3262"/>
                    <a:ext cx="207" cy="430"/>
                    <a:chOff x="4731" y="610"/>
                    <a:chExt cx="245" cy="508"/>
                  </a:xfrm>
                </p:grpSpPr>
                <p:sp>
                  <p:nvSpPr>
                    <p:cNvPr id="30740" name="AutoShape 13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731" y="610"/>
                      <a:ext cx="245" cy="212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tx2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41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54" y="828"/>
                      <a:ext cx="0" cy="89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42" name="Rectangle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0" y="917"/>
                      <a:ext cx="201" cy="20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r>
                        <a:rPr kumimoji="1" lang="en-US" altLang="zh-CN" sz="2400" i="1">
                          <a:latin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</p:grpSp>
              <p:grpSp>
                <p:nvGrpSpPr>
                  <p:cNvPr id="6" name="Group 16"/>
                  <p:cNvGrpSpPr/>
                  <p:nvPr/>
                </p:nvGrpSpPr>
                <p:grpSpPr bwMode="auto">
                  <a:xfrm>
                    <a:off x="1771" y="3607"/>
                    <a:ext cx="423" cy="207"/>
                    <a:chOff x="3831" y="189"/>
                    <a:chExt cx="423" cy="207"/>
                  </a:xfrm>
                </p:grpSpPr>
                <p:sp>
                  <p:nvSpPr>
                    <p:cNvPr id="30737" name="AutoShape 17"/>
                    <p:cNvSpPr>
                      <a:spLocks noChangeArrowheads="1"/>
                    </p:cNvSpPr>
                    <p:nvPr/>
                  </p:nvSpPr>
                  <p:spPr bwMode="auto">
                    <a:xfrm rot="5400000" flipV="1">
                      <a:off x="4061" y="203"/>
                      <a:ext cx="207" cy="179"/>
                    </a:xfrm>
                    <a:prstGeom prst="triangle">
                      <a:avLst>
                        <a:gd name="adj" fmla="val 50000"/>
                      </a:avLst>
                    </a:prstGeom>
                    <a:solidFill>
                      <a:schemeClr val="tx2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38" name="Line 18"/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4044" y="255"/>
                      <a:ext cx="0" cy="7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739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1" y="214"/>
                      <a:ext cx="169" cy="17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 xmlns="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r>
                        <a:rPr kumimoji="1" lang="en-US" altLang="zh-CN" sz="2400" i="1">
                          <a:latin typeface="Times New Roman" panose="02020603050405020304" pitchFamily="18" charset="0"/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30735" name="Oval 20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305" y="1589"/>
                    <a:ext cx="240" cy="2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>
                    <a:solidFill>
                      <a:srgbClr val="CC00FF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r>
                      <a:rPr kumimoji="1" lang="en-US" altLang="zh-CN" sz="2400">
                        <a:latin typeface="Times New Roman" panose="02020603050405020304" pitchFamily="18" charset="0"/>
                      </a:rPr>
                      <a:t>E</a:t>
                    </a:r>
                  </a:p>
                </p:txBody>
              </p:sp>
              <p:sp>
                <p:nvSpPr>
                  <p:cNvPr id="30736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208" y="374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0726" name="Rectangle 24"/>
              <p:cNvSpPr>
                <a:spLocks noChangeArrowheads="1"/>
              </p:cNvSpPr>
              <p:nvPr/>
            </p:nvSpPr>
            <p:spPr bwMode="auto">
              <a:xfrm flipV="1">
                <a:off x="3774" y="3696"/>
                <a:ext cx="192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cxnSp>
          <p:nvCxnSpPr>
            <p:cNvPr id="24" name="直接箭头连接符 23"/>
            <p:cNvCxnSpPr/>
            <p:nvPr/>
          </p:nvCxnSpPr>
          <p:spPr>
            <a:xfrm rot="10800000" flipV="1">
              <a:off x="7072330" y="1500174"/>
              <a:ext cx="428628" cy="7143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572396" y="1142984"/>
              <a:ext cx="714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FF0000"/>
                  </a:solidFill>
                </a:rPr>
                <a:t>查表</a:t>
              </a:r>
              <a:r>
                <a:rPr lang="en-US" altLang="zh-CN" sz="1800" dirty="0" smtClean="0">
                  <a:solidFill>
                    <a:srgbClr val="FF0000"/>
                  </a:solidFill>
                </a:rPr>
                <a:t>4.15</a:t>
              </a:r>
              <a:endParaRPr lang="zh-CN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169988" y="5761304"/>
              <a:ext cx="714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FF0000"/>
                  </a:solidFill>
                </a:rPr>
                <a:t>查表</a:t>
              </a:r>
              <a:r>
                <a:rPr lang="en-US" altLang="zh-CN" sz="1800" dirty="0" smtClean="0">
                  <a:solidFill>
                    <a:srgbClr val="FF0000"/>
                  </a:solidFill>
                </a:rPr>
                <a:t>4.14</a:t>
              </a:r>
              <a:endParaRPr lang="zh-CN" altLang="en-US" sz="1800" dirty="0">
                <a:solidFill>
                  <a:srgbClr val="FF0000"/>
                </a:solidFill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rot="10800000">
              <a:off x="6741360" y="6047056"/>
              <a:ext cx="428628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30726" idx="1"/>
              <a:endCxn id="30726" idx="1"/>
            </p:cNvCxnSpPr>
            <p:nvPr/>
          </p:nvCxnSpPr>
          <p:spPr>
            <a:xfrm rot="10800000">
              <a:off x="6267464" y="5943600"/>
              <a:ext cx="1588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5508104" y="5794375"/>
              <a:ext cx="1135597" cy="5905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339" y="5873947"/>
              <a:ext cx="1271265" cy="74077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8179D19-267E-4782-AE33-405A9E96C8A3}" type="slidenum">
              <a:rPr lang="en-US" altLang="zh-CN" sz="1400" smtClean="0"/>
              <a:pPr eaLnBrk="1" hangingPunct="1"/>
              <a:t>34</a:t>
            </a:fld>
            <a:endParaRPr lang="en-US" altLang="zh-CN" sz="1400" smtClean="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52400" y="161925"/>
            <a:ext cx="861060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/>
              <a:t>4. </a:t>
            </a:r>
            <a:r>
              <a:rPr lang="zh-CN" altLang="en-US" sz="2400" b="1" dirty="0"/>
              <a:t>在不改变几何公差特征项目的前提下，要求改正图</a:t>
            </a:r>
            <a:r>
              <a:rPr lang="en-US" altLang="zh-CN" sz="2400" b="1" dirty="0" smtClean="0"/>
              <a:t>4.58</a:t>
            </a:r>
            <a:r>
              <a:rPr lang="zh-CN" altLang="en-US" sz="2400" b="1" dirty="0" smtClean="0"/>
              <a:t>中</a:t>
            </a:r>
            <a:r>
              <a:rPr lang="zh-CN" altLang="en-US" sz="2400" b="1" dirty="0"/>
              <a:t>的错误（按改正后的答案标注在图中）。</a:t>
            </a:r>
            <a:endParaRPr lang="zh-CN" altLang="en-US" sz="2400" b="1" dirty="0">
              <a:cs typeface="Arial" panose="020B0604020202020204" pitchFamily="34" charset="0"/>
            </a:endParaRPr>
          </a:p>
        </p:txBody>
      </p:sp>
      <p:grpSp>
        <p:nvGrpSpPr>
          <p:cNvPr id="2" name="Group 25"/>
          <p:cNvGrpSpPr/>
          <p:nvPr/>
        </p:nvGrpSpPr>
        <p:grpSpPr bwMode="auto">
          <a:xfrm>
            <a:off x="395536" y="2104267"/>
            <a:ext cx="4267200" cy="3567113"/>
            <a:chOff x="288" y="1257"/>
            <a:chExt cx="2688" cy="2247"/>
          </a:xfrm>
        </p:grpSpPr>
        <p:grpSp>
          <p:nvGrpSpPr>
            <p:cNvPr id="3" name="Group 26"/>
            <p:cNvGrpSpPr/>
            <p:nvPr/>
          </p:nvGrpSpPr>
          <p:grpSpPr bwMode="auto">
            <a:xfrm>
              <a:off x="288" y="1257"/>
              <a:ext cx="2688" cy="2247"/>
              <a:chOff x="192" y="1248"/>
              <a:chExt cx="2688" cy="2247"/>
            </a:xfrm>
          </p:grpSpPr>
          <p:pic>
            <p:nvPicPr>
              <p:cNvPr id="31770" name="Picture 27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" y="1248"/>
                <a:ext cx="2688" cy="20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1771" name="Text Box 28"/>
              <p:cNvSpPr txBox="1">
                <a:spLocks noChangeArrowheads="1"/>
              </p:cNvSpPr>
              <p:nvPr/>
            </p:nvSpPr>
            <p:spPr bwMode="auto">
              <a:xfrm>
                <a:off x="720" y="3264"/>
                <a:ext cx="183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1800" b="1" dirty="0"/>
                  <a:t>图</a:t>
                </a:r>
                <a:r>
                  <a:rPr lang="en-US" altLang="zh-CN" sz="1800" b="1" dirty="0" smtClean="0"/>
                  <a:t>4.58</a:t>
                </a:r>
                <a:r>
                  <a:rPr lang="zh-CN" altLang="en-US" sz="1800" b="1" dirty="0" smtClean="0"/>
                  <a:t>作业题</a:t>
                </a:r>
                <a:r>
                  <a:rPr lang="en-US" altLang="zh-CN" sz="1800" b="1" dirty="0"/>
                  <a:t>4</a:t>
                </a:r>
                <a:r>
                  <a:rPr lang="zh-CN" altLang="en-US" sz="1800" b="1" dirty="0"/>
                  <a:t>图</a:t>
                </a:r>
              </a:p>
            </p:txBody>
          </p:sp>
        </p:grpSp>
        <p:sp>
          <p:nvSpPr>
            <p:cNvPr id="31767" name="Rectangle 29"/>
            <p:cNvSpPr>
              <a:spLocks noChangeArrowheads="1"/>
            </p:cNvSpPr>
            <p:nvPr/>
          </p:nvSpPr>
          <p:spPr bwMode="auto">
            <a:xfrm>
              <a:off x="384" y="1632"/>
              <a:ext cx="144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30"/>
            <p:cNvSpPr>
              <a:spLocks noChangeShapeType="1"/>
            </p:cNvSpPr>
            <p:nvPr/>
          </p:nvSpPr>
          <p:spPr bwMode="auto">
            <a:xfrm>
              <a:off x="4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Line 31"/>
            <p:cNvSpPr>
              <a:spLocks noChangeShapeType="1"/>
            </p:cNvSpPr>
            <p:nvPr/>
          </p:nvSpPr>
          <p:spPr bwMode="auto">
            <a:xfrm>
              <a:off x="384" y="172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Rectangle 54"/>
          <p:cNvSpPr>
            <a:spLocks noChangeArrowheads="1"/>
          </p:cNvSpPr>
          <p:nvPr/>
        </p:nvSpPr>
        <p:spPr bwMode="auto">
          <a:xfrm>
            <a:off x="493713" y="1125538"/>
            <a:ext cx="21336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>
                <a:solidFill>
                  <a:srgbClr val="CC00FF"/>
                </a:solidFill>
                <a:latin typeface="Times New Roman" panose="02020603050405020304" pitchFamily="18" charset="0"/>
              </a:rPr>
              <a:t>答  案  </a:t>
            </a:r>
            <a:r>
              <a:rPr kumimoji="1" lang="zh-CN" altLang="en-US" sz="2800" b="1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endParaRPr kumimoji="1" lang="zh-CN" altLang="en-US" sz="2400" b="1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50" y="1988840"/>
            <a:ext cx="4230850" cy="3831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1987</Words>
  <Application>Microsoft Office PowerPoint</Application>
  <PresentationFormat>全屏显示(4:3)</PresentationFormat>
  <Paragraphs>331</Paragraphs>
  <Slides>34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Office 主题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作业题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总复习</dc:title>
  <dc:creator>Administrator</dc:creator>
  <cp:lastModifiedBy>微软用户</cp:lastModifiedBy>
  <cp:revision>172</cp:revision>
  <dcterms:created xsi:type="dcterms:W3CDTF">2016-12-20T07:17:00Z</dcterms:created>
  <dcterms:modified xsi:type="dcterms:W3CDTF">2023-04-13T07:27:23Z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