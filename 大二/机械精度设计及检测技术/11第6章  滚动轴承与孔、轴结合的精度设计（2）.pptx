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311" r:id="rId3"/>
    <p:sldId id="278" r:id="rId4"/>
    <p:sldId id="257" r:id="rId5"/>
    <p:sldId id="279" r:id="rId6"/>
    <p:sldId id="274" r:id="rId7"/>
    <p:sldId id="258" r:id="rId8"/>
    <p:sldId id="275" r:id="rId9"/>
    <p:sldId id="281" r:id="rId10"/>
    <p:sldId id="259" r:id="rId11"/>
    <p:sldId id="282" r:id="rId12"/>
    <p:sldId id="302" r:id="rId13"/>
    <p:sldId id="312" r:id="rId14"/>
    <p:sldId id="260" r:id="rId15"/>
    <p:sldId id="313" r:id="rId16"/>
    <p:sldId id="283" r:id="rId17"/>
    <p:sldId id="261" r:id="rId18"/>
    <p:sldId id="314" r:id="rId19"/>
    <p:sldId id="303" r:id="rId20"/>
    <p:sldId id="315" r:id="rId21"/>
    <p:sldId id="304" r:id="rId22"/>
    <p:sldId id="284" r:id="rId23"/>
    <p:sldId id="262" r:id="rId24"/>
    <p:sldId id="263" r:id="rId25"/>
    <p:sldId id="264" r:id="rId26"/>
    <p:sldId id="27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267" r:id="rId36"/>
    <p:sldId id="298" r:id="rId37"/>
  </p:sldIdLst>
  <p:sldSz cx="9144000" cy="6858000" type="screen4x3"/>
  <p:notesSz cx="9928225" cy="6797675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FF3300"/>
    <a:srgbClr val="0066FF"/>
    <a:srgbClr val="9933FF"/>
    <a:srgbClr val="0066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87905" autoAdjust="0"/>
  </p:normalViewPr>
  <p:slideViewPr>
    <p:cSldViewPr snapToGrid="0">
      <p:cViewPr varScale="1">
        <p:scale>
          <a:sx n="76" d="100"/>
          <a:sy n="76" d="100"/>
        </p:scale>
        <p:origin x="1642" y="62"/>
      </p:cViewPr>
      <p:guideLst>
        <p:guide orient="horz" pos="4319"/>
        <p:guide pos="5759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8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5C08E-F357-467B-AB3F-85FB78550597}" type="datetimeFigureOut">
              <a:rPr lang="zh-CN" altLang="en-US" smtClean="0"/>
              <a:pPr/>
              <a:t>2023/4/5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71749-CDD8-4187-A6BD-665ADD0FD22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5995" y="0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3900" y="509588"/>
            <a:ext cx="34004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764" y="3228896"/>
            <a:ext cx="7280699" cy="305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7792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5995" y="6457792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8B3C8840-49F9-46EF-8349-855FED657D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滚动轴承特点：标准件</a:t>
            </a:r>
            <a:r>
              <a:rPr lang="en-US" altLang="zh-CN" dirty="0" smtClean="0"/>
              <a:t>,</a:t>
            </a:r>
            <a:r>
              <a:rPr lang="zh-CN" altLang="en-US" dirty="0" smtClean="0"/>
              <a:t>具有效率高、起动快、摩擦阻力小、更换简单、成本低等优点。广泛用于机床、汽车、仪器仪表等各种机器部位中的转动支承。</a:t>
            </a:r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C8840-49F9-46EF-8349-855FED657D14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327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33F66-A4A8-4A5D-9B87-0D870F5E30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F9DC-2301-4B62-AE59-C1445ECBA7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D77FC-B120-4C94-928F-A82D070E7A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37177-5F7C-4224-9182-E0379BA97B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73CD8-8195-4106-969B-5C1EE79B74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B7C1B-F995-484A-AEC6-1C2632CC01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B1D05-F786-4C79-A88D-3BF7B0C440A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5CE682-60F7-4393-BC42-18C4BE87AE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064E5-DFE2-4D8C-8D47-9C53A3A728E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6D497-66C4-4B3B-95EC-5625F9D4C6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6E5B4-4801-4233-9A8E-DE4CDC94E3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2000" b="1">
                <a:solidFill>
                  <a:srgbClr val="0000FF"/>
                </a:solidFill>
              </a:defRPr>
            </a:lvl1pPr>
          </a:lstStyle>
          <a:p>
            <a:pPr>
              <a:defRPr/>
            </a:pPr>
            <a:fld id="{A436D938-AE43-4F12-BE4D-1C85AE950D2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B75808-7466-4CE8-8449-30A4109E1B5B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09536" y="174625"/>
            <a:ext cx="80010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latin typeface="宋体" panose="02010600030101010101" pitchFamily="2" charset="-122"/>
              </a:rPr>
              <a:t>第6章 滚 动 轴 承 与 孔、轴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latin typeface="宋体" panose="02010600030101010101" pitchFamily="2" charset="-122"/>
              </a:rPr>
              <a:t>       结 合 的 精 度 设 计</a:t>
            </a:r>
            <a:r>
              <a:rPr lang="zh-CN" altLang="en-US" sz="3200" dirty="0">
                <a:latin typeface="宋体" panose="02010600030101010101" pitchFamily="2" charset="-122"/>
              </a:rPr>
              <a:t> </a:t>
            </a:r>
          </a:p>
        </p:txBody>
      </p:sp>
      <p:pic>
        <p:nvPicPr>
          <p:cNvPr id="14" name="Picture 4" descr="huadongzhoucheng"/>
          <p:cNvPicPr>
            <a:picLocks noChangeAspect="1" noChangeArrowheads="1"/>
          </p:cNvPicPr>
          <p:nvPr/>
        </p:nvPicPr>
        <p:blipFill>
          <a:blip r:embed="rId3" cstate="print"/>
          <a:srcRect l="22272" t="17990" r="19714" b="25000"/>
          <a:stretch>
            <a:fillRect/>
          </a:stretch>
        </p:blipFill>
        <p:spPr bwMode="auto">
          <a:xfrm>
            <a:off x="1234002" y="3040810"/>
            <a:ext cx="3345336" cy="2444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5" descr="6000%20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3220031"/>
            <a:ext cx="1872149" cy="227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263525" y="1813155"/>
            <a:ext cx="8424863" cy="10577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支承轴及轴上零件，保持轴的旋转精度，减少转轴与支承之间的摩擦和磨损。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2106700" y="5578938"/>
            <a:ext cx="15827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 dirty="0">
                <a:solidFill>
                  <a:srgbClr val="CC3300"/>
                </a:solidFill>
                <a:latin typeface="+mn-ea"/>
                <a:ea typeface="+mn-ea"/>
              </a:rPr>
              <a:t>滑动轴承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5688921" y="5538506"/>
            <a:ext cx="18002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 dirty="0">
                <a:solidFill>
                  <a:srgbClr val="CC3300"/>
                </a:solidFill>
                <a:latin typeface="+mn-ea"/>
                <a:ea typeface="+mn-ea"/>
              </a:rPr>
              <a:t>滚动轴承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441311" y="1233717"/>
            <a:ext cx="2672003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/>
              <a:t>6.1</a:t>
            </a:r>
            <a:r>
              <a:rPr lang="zh-CN" altLang="en-US" sz="3200" b="1" dirty="0">
                <a:latin typeface="宋体" panose="02010600030101010101" pitchFamily="2" charset="-122"/>
              </a:rPr>
              <a:t>  概  述</a:t>
            </a:r>
            <a:r>
              <a:rPr lang="zh-CN" altLang="en-US" sz="32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16F1-EA6A-4700-9A74-6B9AAE2B497F}" type="slidenum">
              <a:rPr lang="zh-CN" altLang="en-US">
                <a:ea typeface="宋体" panose="02010600030101010101" pitchFamily="2" charset="-122"/>
              </a:rPr>
              <a:pPr/>
              <a:t>2</a:t>
            </a:fld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395288" y="1565689"/>
            <a:ext cx="4427537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外圈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,2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内圈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,3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滚动体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,4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保持架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4481159" y="683574"/>
            <a:ext cx="4316613" cy="5891444"/>
            <a:chOff x="2770" y="192"/>
            <a:chExt cx="2990" cy="3840"/>
          </a:xfrm>
        </p:grpSpPr>
        <p:grpSp>
          <p:nvGrpSpPr>
            <p:cNvPr id="3" name="Group 7"/>
            <p:cNvGrpSpPr/>
            <p:nvPr/>
          </p:nvGrpSpPr>
          <p:grpSpPr bwMode="auto">
            <a:xfrm>
              <a:off x="2770" y="192"/>
              <a:ext cx="2990" cy="3840"/>
              <a:chOff x="2770" y="192"/>
              <a:chExt cx="2990" cy="3840"/>
            </a:xfrm>
          </p:grpSpPr>
          <p:grpSp>
            <p:nvGrpSpPr>
              <p:cNvPr id="4" name="Group 8"/>
              <p:cNvGrpSpPr/>
              <p:nvPr/>
            </p:nvGrpSpPr>
            <p:grpSpPr bwMode="auto">
              <a:xfrm>
                <a:off x="2770" y="192"/>
                <a:ext cx="2990" cy="3840"/>
                <a:chOff x="2770" y="192"/>
                <a:chExt cx="2990" cy="3840"/>
              </a:xfrm>
            </p:grpSpPr>
            <p:grpSp>
              <p:nvGrpSpPr>
                <p:cNvPr id="5" name="Group 9"/>
                <p:cNvGrpSpPr/>
                <p:nvPr/>
              </p:nvGrpSpPr>
              <p:grpSpPr bwMode="auto">
                <a:xfrm>
                  <a:off x="2770" y="192"/>
                  <a:ext cx="2990" cy="3840"/>
                  <a:chOff x="2770" y="192"/>
                  <a:chExt cx="2990" cy="3840"/>
                </a:xfrm>
              </p:grpSpPr>
              <p:graphicFrame>
                <p:nvGraphicFramePr>
                  <p:cNvPr id="1026" name="Object 10"/>
                  <p:cNvGraphicFramePr>
                    <a:graphicFrameLocks noChangeAspect="1"/>
                  </p:cNvGraphicFramePr>
                  <p:nvPr/>
                </p:nvGraphicFramePr>
                <p:xfrm>
                  <a:off x="2880" y="192"/>
                  <a:ext cx="2880" cy="38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32" name="Flash Movie" r:id="rId3" imgW="72913875" imgH="97802700" progId="">
                          <p:embed/>
                        </p:oleObj>
                      </mc:Choice>
                      <mc:Fallback>
                        <p:oleObj name="Flash Movie" r:id="rId3" imgW="72913875" imgH="97802700" progId="">
                          <p:embed/>
                          <p:pic>
                            <p:nvPicPr>
                              <p:cNvPr id="0" name="Object 10" descr="image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80" y="192"/>
                                <a:ext cx="2880" cy="384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045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4" y="3696"/>
                    <a:ext cx="24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0"/>
                      </a:spcBef>
                    </a:pPr>
                    <a:r>
                      <a:rPr lang="en-US" altLang="zh-CN" b="1">
                        <a:latin typeface="宋体" panose="02010600030101010101" pitchFamily="2" charset="-122"/>
                      </a:rPr>
                      <a:t>C</a:t>
                    </a:r>
                  </a:p>
                </p:txBody>
              </p:sp>
              <p:sp>
                <p:nvSpPr>
                  <p:cNvPr id="1046" name="Text Box 12"/>
                  <p:cNvSpPr txBox="1">
                    <a:spLocks noChangeArrowheads="1"/>
                  </p:cNvSpPr>
                  <p:nvPr/>
                </p:nvSpPr>
                <p:spPr bwMode="auto">
                  <a:xfrm rot="-10699544">
                    <a:off x="2770" y="2011"/>
                    <a:ext cx="346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vert="eaVert" wrap="none">
                    <a:spAutoFit/>
                  </a:bodyPr>
                  <a:lstStyle/>
                  <a:p>
                    <a:pPr algn="l">
                      <a:spcBef>
                        <a:spcPct val="0"/>
                      </a:spcBef>
                    </a:pPr>
                    <a:r>
                      <a:rPr lang="en-US" altLang="zh-CN" b="1">
                        <a:latin typeface="宋体" panose="02010600030101010101" pitchFamily="2" charset="-122"/>
                      </a:rPr>
                      <a:t>D</a:t>
                    </a:r>
                  </a:p>
                </p:txBody>
              </p:sp>
              <p:sp>
                <p:nvSpPr>
                  <p:cNvPr id="1047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20" y="672"/>
                    <a:ext cx="0" cy="244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8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120" y="1008"/>
                    <a:ext cx="0" cy="240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9" name="Line 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04" y="1344"/>
                    <a:ext cx="0" cy="120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0" name="Line 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88" y="3648"/>
                    <a:ext cx="105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43" name="Line 17"/>
                <p:cNvSpPr>
                  <a:spLocks noChangeShapeType="1"/>
                </p:cNvSpPr>
                <p:nvPr/>
              </p:nvSpPr>
              <p:spPr bwMode="auto">
                <a:xfrm>
                  <a:off x="3504" y="1536"/>
                  <a:ext cx="0" cy="12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4" name="Line 18"/>
                <p:cNvSpPr>
                  <a:spLocks noChangeShapeType="1"/>
                </p:cNvSpPr>
                <p:nvPr/>
              </p:nvSpPr>
              <p:spPr bwMode="auto">
                <a:xfrm>
                  <a:off x="3936" y="3648"/>
                  <a:ext cx="10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041" name="Text Box 19"/>
              <p:cNvSpPr txBox="1">
                <a:spLocks noChangeArrowheads="1"/>
              </p:cNvSpPr>
              <p:nvPr/>
            </p:nvSpPr>
            <p:spPr bwMode="auto">
              <a:xfrm rot="10753540">
                <a:off x="3106" y="2015"/>
                <a:ext cx="346" cy="1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eaVert"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b="1">
                    <a:latin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1038" name="Line 20"/>
            <p:cNvSpPr>
              <a:spLocks noChangeShapeType="1"/>
            </p:cNvSpPr>
            <p:nvPr/>
          </p:nvSpPr>
          <p:spPr bwMode="auto">
            <a:xfrm>
              <a:off x="3923" y="1661"/>
              <a:ext cx="10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Rectangle 21"/>
            <p:cNvSpPr>
              <a:spLocks noChangeArrowheads="1"/>
            </p:cNvSpPr>
            <p:nvPr/>
          </p:nvSpPr>
          <p:spPr bwMode="auto">
            <a:xfrm>
              <a:off x="4377" y="1389"/>
              <a:ext cx="21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lang="en-US" altLang="zh-CN" b="1">
                  <a:latin typeface="宋体" panose="02010600030101010101" pitchFamily="2" charset="-122"/>
                </a:rPr>
                <a:t>B</a:t>
              </a:r>
            </a:p>
          </p:txBody>
        </p:sp>
      </p:grpSp>
      <p:pic>
        <p:nvPicPr>
          <p:cNvPr id="97302" name="Picture 22"/>
          <p:cNvPicPr>
            <a:picLocks noChangeAspect="1" noChangeArrowheads="1"/>
          </p:cNvPicPr>
          <p:nvPr/>
        </p:nvPicPr>
        <p:blipFill>
          <a:blip r:embed="rId5" cstate="print"/>
          <a:srcRect l="16020" t="16537" r="45589" b="19490"/>
          <a:stretch>
            <a:fillRect/>
          </a:stretch>
        </p:blipFill>
        <p:spPr bwMode="auto">
          <a:xfrm>
            <a:off x="672747" y="2286414"/>
            <a:ext cx="2881312" cy="3600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7303" name="AutoShape 23"/>
          <p:cNvSpPr>
            <a:spLocks noChangeArrowheads="1"/>
          </p:cNvSpPr>
          <p:nvPr/>
        </p:nvSpPr>
        <p:spPr bwMode="auto">
          <a:xfrm>
            <a:off x="124706" y="5913144"/>
            <a:ext cx="1223962" cy="430213"/>
          </a:xfrm>
          <a:prstGeom prst="wedgeRoundRectCallout">
            <a:avLst>
              <a:gd name="adj1" fmla="val 54412"/>
              <a:gd name="adj2" fmla="val -24889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/>
          <a:p>
            <a:r>
              <a:rPr kumimoji="0" lang="zh-CN" altLang="en-US" sz="2000" b="1">
                <a:latin typeface="Comic Sans MS" panose="030F0702030302020204" pitchFamily="66" charset="0"/>
                <a:ea typeface="仿宋_GB2312" panose="02010609030101010101" pitchFamily="49" charset="-122"/>
              </a:rPr>
              <a:t>外圈</a:t>
            </a:r>
            <a:endParaRPr kumimoji="0" lang="zh-CN" altLang="en-US" sz="2000">
              <a:latin typeface="Comic Sans MS" panose="030F0702030302020204" pitchFamily="66" charset="0"/>
              <a:ea typeface="仿宋_GB2312" panose="02010609030101010101" pitchFamily="49" charset="-122"/>
            </a:endParaRPr>
          </a:p>
        </p:txBody>
      </p:sp>
      <p:sp>
        <p:nvSpPr>
          <p:cNvPr id="97304" name="AutoShape 24"/>
          <p:cNvSpPr>
            <a:spLocks noChangeArrowheads="1"/>
          </p:cNvSpPr>
          <p:nvPr/>
        </p:nvSpPr>
        <p:spPr bwMode="auto">
          <a:xfrm>
            <a:off x="1682397" y="5984582"/>
            <a:ext cx="1223962" cy="430212"/>
          </a:xfrm>
          <a:prstGeom prst="wedgeRoundRectCallout">
            <a:avLst>
              <a:gd name="adj1" fmla="val -46111"/>
              <a:gd name="adj2" fmla="val -309778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/>
          <a:p>
            <a:r>
              <a:rPr kumimoji="0" lang="zh-CN" altLang="en-US" sz="2000" b="1">
                <a:latin typeface="Comic Sans MS" panose="030F0702030302020204" pitchFamily="66" charset="0"/>
                <a:ea typeface="仿宋_GB2312" panose="02010609030101010101" pitchFamily="49" charset="-122"/>
              </a:rPr>
              <a:t>内圈</a:t>
            </a:r>
            <a:endParaRPr kumimoji="0" lang="zh-CN" altLang="en-US" sz="2000">
              <a:latin typeface="Comic Sans MS" panose="030F0702030302020204" pitchFamily="66" charset="0"/>
              <a:ea typeface="仿宋_GB2312" panose="02010609030101010101" pitchFamily="49" charset="-122"/>
            </a:endParaRPr>
          </a:p>
        </p:txBody>
      </p:sp>
      <p:sp>
        <p:nvSpPr>
          <p:cNvPr id="97305" name="AutoShape 25"/>
          <p:cNvSpPr>
            <a:spLocks noChangeArrowheads="1"/>
          </p:cNvSpPr>
          <p:nvPr/>
        </p:nvSpPr>
        <p:spPr bwMode="auto">
          <a:xfrm>
            <a:off x="3600450" y="4340345"/>
            <a:ext cx="1222375" cy="442674"/>
          </a:xfrm>
          <a:prstGeom prst="wedgeRoundRectCallout">
            <a:avLst>
              <a:gd name="adj1" fmla="val -93769"/>
              <a:gd name="adj2" fmla="val -125278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/>
          <a:p>
            <a:r>
              <a:rPr kumimoji="0" lang="zh-CN" altLang="en-US" sz="2000" b="1" dirty="0">
                <a:latin typeface="Comic Sans MS" panose="030F0702030302020204" pitchFamily="66" charset="0"/>
                <a:ea typeface="仿宋_GB2312" panose="02010609030101010101" pitchFamily="49" charset="-122"/>
              </a:rPr>
              <a:t>滚动体</a:t>
            </a:r>
          </a:p>
        </p:txBody>
      </p:sp>
      <p:sp>
        <p:nvSpPr>
          <p:cNvPr id="97306" name="AutoShape 26"/>
          <p:cNvSpPr>
            <a:spLocks noChangeArrowheads="1"/>
          </p:cNvSpPr>
          <p:nvPr/>
        </p:nvSpPr>
        <p:spPr bwMode="auto">
          <a:xfrm>
            <a:off x="3107678" y="6003925"/>
            <a:ext cx="1222375" cy="430213"/>
          </a:xfrm>
          <a:prstGeom prst="wedgeRoundRectCallout">
            <a:avLst>
              <a:gd name="adj1" fmla="val -42727"/>
              <a:gd name="adj2" fmla="val -273616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/>
          <a:p>
            <a:r>
              <a:rPr kumimoji="0" lang="zh-CN" altLang="en-US" sz="2000" b="1" dirty="0">
                <a:latin typeface="Comic Sans MS" panose="030F0702030302020204" pitchFamily="66" charset="0"/>
                <a:ea typeface="仿宋_GB2312" panose="02010609030101010101" pitchFamily="49" charset="-122"/>
              </a:rPr>
              <a:t>保持架</a:t>
            </a:r>
          </a:p>
        </p:txBody>
      </p:sp>
      <p:sp>
        <p:nvSpPr>
          <p:cNvPr id="97307" name="Text Box 27"/>
          <p:cNvSpPr txBox="1">
            <a:spLocks noChangeArrowheads="1"/>
          </p:cNvSpPr>
          <p:nvPr/>
        </p:nvSpPr>
        <p:spPr bwMode="auto">
          <a:xfrm>
            <a:off x="312738" y="255588"/>
            <a:ext cx="5991225" cy="604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/>
              <a:t>6.1.1 滚动轴承的组成及种类</a:t>
            </a:r>
            <a:r>
              <a:rPr lang="zh-CN" altLang="en-US" sz="2800" dirty="0"/>
              <a:t> </a:t>
            </a:r>
          </a:p>
        </p:txBody>
      </p:sp>
      <p:sp>
        <p:nvSpPr>
          <p:cNvPr id="97308" name="Text Box 28"/>
          <p:cNvSpPr txBox="1">
            <a:spLocks noChangeArrowheads="1"/>
          </p:cNvSpPr>
          <p:nvPr/>
        </p:nvSpPr>
        <p:spPr bwMode="auto">
          <a:xfrm>
            <a:off x="231775" y="871538"/>
            <a:ext cx="27749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lang="zh-CN" altLang="en-US" sz="2800" b="1" dirty="0"/>
              <a:t>1.</a:t>
            </a:r>
            <a:r>
              <a:rPr lang="zh-CN" altLang="en-US" sz="2800" b="1" dirty="0">
                <a:latin typeface="宋体" panose="02010600030101010101" pitchFamily="2" charset="-122"/>
              </a:rPr>
              <a:t> 组成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5" grpId="0" autoUpdateAnimBg="0"/>
      <p:bldP spid="97303" grpId="0" animBg="1"/>
      <p:bldP spid="97304" grpId="0" animBg="1"/>
      <p:bldP spid="97305" grpId="0" animBg="1"/>
      <p:bldP spid="9730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0B5EE0-5273-4151-AED9-B135466AA747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3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43015" name="Text Box 1031"/>
          <p:cNvSpPr txBox="1">
            <a:spLocks noChangeArrowheads="1"/>
          </p:cNvSpPr>
          <p:nvPr/>
        </p:nvSpPr>
        <p:spPr bwMode="auto">
          <a:xfrm>
            <a:off x="465932" y="457200"/>
            <a:ext cx="30210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/>
              <a:t> 2.</a:t>
            </a:r>
            <a:r>
              <a:rPr lang="zh-CN" altLang="en-US" sz="2800" b="1" dirty="0">
                <a:latin typeface="宋体" panose="02010600030101010101" pitchFamily="2" charset="-122"/>
              </a:rPr>
              <a:t> 种类 </a:t>
            </a:r>
          </a:p>
        </p:txBody>
      </p:sp>
      <p:grpSp>
        <p:nvGrpSpPr>
          <p:cNvPr id="43042" name="Group 1058"/>
          <p:cNvGrpSpPr/>
          <p:nvPr/>
        </p:nvGrpSpPr>
        <p:grpSpPr bwMode="auto">
          <a:xfrm>
            <a:off x="354013" y="2611504"/>
            <a:ext cx="1982787" cy="1181100"/>
            <a:chOff x="403" y="1887"/>
            <a:chExt cx="1249" cy="744"/>
          </a:xfrm>
        </p:grpSpPr>
        <p:sp>
          <p:nvSpPr>
            <p:cNvPr id="5152" name="Text Box 1032"/>
            <p:cNvSpPr txBox="1">
              <a:spLocks noChangeArrowheads="1"/>
            </p:cNvSpPr>
            <p:nvPr/>
          </p:nvSpPr>
          <p:spPr bwMode="auto">
            <a:xfrm>
              <a:off x="403" y="1931"/>
              <a:ext cx="1249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b="1" dirty="0"/>
                <a:t>按滚动体</a:t>
              </a:r>
            </a:p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b="1" dirty="0"/>
                <a:t>  形状分 </a:t>
              </a:r>
            </a:p>
          </p:txBody>
        </p:sp>
        <p:sp>
          <p:nvSpPr>
            <p:cNvPr id="5153" name="AutoShape 1033"/>
            <p:cNvSpPr/>
            <p:nvPr/>
          </p:nvSpPr>
          <p:spPr bwMode="auto">
            <a:xfrm flipV="1">
              <a:off x="1289" y="1887"/>
              <a:ext cx="249" cy="744"/>
            </a:xfrm>
            <a:prstGeom prst="leftBrace">
              <a:avLst>
                <a:gd name="adj1" fmla="val 2490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3018" name="Text Box 1034"/>
          <p:cNvSpPr txBox="1">
            <a:spLocks noChangeArrowheads="1"/>
          </p:cNvSpPr>
          <p:nvPr/>
        </p:nvSpPr>
        <p:spPr bwMode="auto">
          <a:xfrm>
            <a:off x="2093913" y="2417829"/>
            <a:ext cx="1687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球轴承</a:t>
            </a:r>
          </a:p>
        </p:txBody>
      </p:sp>
      <p:grpSp>
        <p:nvGrpSpPr>
          <p:cNvPr id="43045" name="Group 1061"/>
          <p:cNvGrpSpPr/>
          <p:nvPr/>
        </p:nvGrpSpPr>
        <p:grpSpPr bwMode="auto">
          <a:xfrm>
            <a:off x="2109788" y="3078229"/>
            <a:ext cx="1414462" cy="877888"/>
            <a:chOff x="1329" y="2181"/>
            <a:chExt cx="891" cy="553"/>
          </a:xfrm>
        </p:grpSpPr>
        <p:sp>
          <p:nvSpPr>
            <p:cNvPr id="5150" name="Text Box 1035"/>
            <p:cNvSpPr txBox="1">
              <a:spLocks noChangeArrowheads="1"/>
            </p:cNvSpPr>
            <p:nvPr/>
          </p:nvSpPr>
          <p:spPr bwMode="auto">
            <a:xfrm>
              <a:off x="1329" y="2181"/>
              <a:ext cx="891" cy="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zh-CN" altLang="en-US" b="1"/>
                <a:t>滚子</a:t>
              </a:r>
            </a:p>
            <a:p>
              <a:pPr algn="just" eaLnBrk="1" hangingPunct="1">
                <a:spcBef>
                  <a:spcPct val="15000"/>
                </a:spcBef>
              </a:pPr>
              <a:r>
                <a:rPr lang="zh-CN" altLang="en-US" b="1"/>
                <a:t>轴承</a:t>
              </a:r>
            </a:p>
          </p:txBody>
        </p:sp>
        <p:sp>
          <p:nvSpPr>
            <p:cNvPr id="5151" name="AutoShape 1037"/>
            <p:cNvSpPr/>
            <p:nvPr/>
          </p:nvSpPr>
          <p:spPr bwMode="auto">
            <a:xfrm>
              <a:off x="1828" y="2227"/>
              <a:ext cx="144" cy="497"/>
            </a:xfrm>
            <a:prstGeom prst="leftBrace">
              <a:avLst>
                <a:gd name="adj1" fmla="val 2876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3022" name="Text Box 1038"/>
          <p:cNvSpPr txBox="1">
            <a:spLocks noChangeArrowheads="1"/>
          </p:cNvSpPr>
          <p:nvPr/>
        </p:nvSpPr>
        <p:spPr bwMode="auto">
          <a:xfrm>
            <a:off x="3121025" y="2936942"/>
            <a:ext cx="162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圆柱轴承</a:t>
            </a:r>
            <a:endParaRPr lang="en-US" altLang="zh-CN" b="1"/>
          </a:p>
        </p:txBody>
      </p:sp>
      <p:sp>
        <p:nvSpPr>
          <p:cNvPr id="43023" name="Text Box 1039"/>
          <p:cNvSpPr txBox="1">
            <a:spLocks noChangeArrowheads="1"/>
          </p:cNvSpPr>
          <p:nvPr/>
        </p:nvSpPr>
        <p:spPr bwMode="auto">
          <a:xfrm>
            <a:off x="3135313" y="3579879"/>
            <a:ext cx="162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圆锥轴承</a:t>
            </a:r>
          </a:p>
        </p:txBody>
      </p:sp>
      <p:pic>
        <p:nvPicPr>
          <p:cNvPr id="5148" name="Picture 104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703" y="724423"/>
            <a:ext cx="3462338" cy="4606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044" name="Group 1060"/>
          <p:cNvGrpSpPr/>
          <p:nvPr/>
        </p:nvGrpSpPr>
        <p:grpSpPr bwMode="auto">
          <a:xfrm>
            <a:off x="334963" y="4289492"/>
            <a:ext cx="1712912" cy="1406525"/>
            <a:chOff x="441" y="3097"/>
            <a:chExt cx="1079" cy="886"/>
          </a:xfrm>
        </p:grpSpPr>
        <p:sp>
          <p:nvSpPr>
            <p:cNvPr id="5146" name="Text Box 1043"/>
            <p:cNvSpPr txBox="1">
              <a:spLocks noChangeArrowheads="1"/>
            </p:cNvSpPr>
            <p:nvPr/>
          </p:nvSpPr>
          <p:spPr bwMode="auto">
            <a:xfrm>
              <a:off x="441" y="3143"/>
              <a:ext cx="1072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b="1"/>
                <a:t>按负荷</a:t>
              </a:r>
            </a:p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b="1"/>
                <a:t>方向分 </a:t>
              </a:r>
            </a:p>
          </p:txBody>
        </p:sp>
        <p:sp>
          <p:nvSpPr>
            <p:cNvPr id="5147" name="AutoShape 1044"/>
            <p:cNvSpPr/>
            <p:nvPr/>
          </p:nvSpPr>
          <p:spPr bwMode="auto">
            <a:xfrm>
              <a:off x="1198" y="3097"/>
              <a:ext cx="322" cy="886"/>
            </a:xfrm>
            <a:prstGeom prst="leftBrace">
              <a:avLst>
                <a:gd name="adj1" fmla="val 2293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3029" name="Text Box 1045"/>
          <p:cNvSpPr txBox="1">
            <a:spLocks noChangeArrowheads="1"/>
          </p:cNvSpPr>
          <p:nvPr/>
        </p:nvSpPr>
        <p:spPr bwMode="auto">
          <a:xfrm>
            <a:off x="1992313" y="4141854"/>
            <a:ext cx="221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向心轴承 </a:t>
            </a:r>
            <a:r>
              <a:rPr lang="zh-CN" altLang="en-US" b="1">
                <a:cs typeface="Times New Roman" panose="02020603050405020304" pitchFamily="18" charset="0"/>
              </a:rPr>
              <a:t>—</a:t>
            </a:r>
            <a:endParaRPr lang="zh-CN" altLang="en-US" b="1"/>
          </a:p>
        </p:txBody>
      </p:sp>
      <p:sp>
        <p:nvSpPr>
          <p:cNvPr id="43030" name="Text Box 1046"/>
          <p:cNvSpPr txBox="1">
            <a:spLocks noChangeArrowheads="1"/>
          </p:cNvSpPr>
          <p:nvPr/>
        </p:nvSpPr>
        <p:spPr bwMode="auto">
          <a:xfrm>
            <a:off x="1960563" y="4767329"/>
            <a:ext cx="2405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推力轴承</a:t>
            </a:r>
            <a:r>
              <a:rPr lang="zh-CN" altLang="en-US" b="1"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43031" name="Text Box 1047"/>
          <p:cNvSpPr txBox="1">
            <a:spLocks noChangeArrowheads="1"/>
          </p:cNvSpPr>
          <p:nvPr/>
        </p:nvSpPr>
        <p:spPr bwMode="auto">
          <a:xfrm>
            <a:off x="1976438" y="5415029"/>
            <a:ext cx="264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向心推力轴承</a:t>
            </a:r>
            <a:r>
              <a:rPr lang="zh-CN" altLang="en-US" b="1">
                <a:cs typeface="Times New Roman" panose="02020603050405020304" pitchFamily="18" charset="0"/>
              </a:rPr>
              <a:t>—</a:t>
            </a:r>
            <a:endParaRPr lang="zh-CN" altLang="en-US" b="1"/>
          </a:p>
        </p:txBody>
      </p:sp>
      <p:sp>
        <p:nvSpPr>
          <p:cNvPr id="43032" name="Text Box 1048"/>
          <p:cNvSpPr txBox="1">
            <a:spLocks noChangeArrowheads="1"/>
          </p:cNvSpPr>
          <p:nvPr/>
        </p:nvSpPr>
        <p:spPr bwMode="auto">
          <a:xfrm>
            <a:off x="3624263" y="4141854"/>
            <a:ext cx="180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径向力</a:t>
            </a:r>
          </a:p>
        </p:txBody>
      </p:sp>
      <p:sp>
        <p:nvSpPr>
          <p:cNvPr id="43033" name="Text Box 1049"/>
          <p:cNvSpPr txBox="1">
            <a:spLocks noChangeArrowheads="1"/>
          </p:cNvSpPr>
          <p:nvPr/>
        </p:nvSpPr>
        <p:spPr bwMode="auto">
          <a:xfrm>
            <a:off x="3619500" y="4768917"/>
            <a:ext cx="2484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轴向力</a:t>
            </a:r>
          </a:p>
        </p:txBody>
      </p:sp>
      <p:sp>
        <p:nvSpPr>
          <p:cNvPr id="43034" name="Text Box 1050"/>
          <p:cNvSpPr txBox="1">
            <a:spLocks noChangeArrowheads="1"/>
          </p:cNvSpPr>
          <p:nvPr/>
        </p:nvSpPr>
        <p:spPr bwMode="auto">
          <a:xfrm>
            <a:off x="4151313" y="5428023"/>
            <a:ext cx="369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 smtClean="0"/>
              <a:t> 径向力</a:t>
            </a:r>
            <a:r>
              <a:rPr lang="zh-CN" altLang="en-US" b="1" dirty="0"/>
              <a:t>、轴向力</a:t>
            </a:r>
          </a:p>
        </p:txBody>
      </p:sp>
      <p:sp>
        <p:nvSpPr>
          <p:cNvPr id="43040" name="Line 1056"/>
          <p:cNvSpPr>
            <a:spLocks noChangeShapeType="1"/>
          </p:cNvSpPr>
          <p:nvPr/>
        </p:nvSpPr>
        <p:spPr bwMode="auto">
          <a:xfrm>
            <a:off x="7289800" y="77402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3041" name="Line 1057"/>
          <p:cNvSpPr>
            <a:spLocks noChangeShapeType="1"/>
          </p:cNvSpPr>
          <p:nvPr/>
        </p:nvSpPr>
        <p:spPr bwMode="auto">
          <a:xfrm>
            <a:off x="7108825" y="2700566"/>
            <a:ext cx="1427163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8" grpId="0" autoUpdateAnimBg="0"/>
      <p:bldP spid="43022" grpId="0" autoUpdateAnimBg="0"/>
      <p:bldP spid="43023" grpId="0" autoUpdateAnimBg="0"/>
      <p:bldP spid="43029" grpId="0" autoUpdateAnimBg="0"/>
      <p:bldP spid="43030" grpId="0" autoUpdateAnimBg="0"/>
      <p:bldP spid="43031" grpId="0" autoUpdateAnimBg="0"/>
      <p:bldP spid="43032" grpId="0" autoUpdateAnimBg="0"/>
      <p:bldP spid="43033" grpId="0" autoUpdateAnimBg="0"/>
      <p:bldP spid="43034" grpId="0" autoUpdateAnimBg="0"/>
      <p:bldP spid="43040" grpId="0" animBg="1"/>
      <p:bldP spid="430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10AC41F-A0E9-4229-AF44-1D502C9E95E6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4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09550" y="281451"/>
            <a:ext cx="7977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/>
              <a:t>6.1.2 滚动轴承的公差等级及其应用</a:t>
            </a:r>
            <a:r>
              <a:rPr lang="zh-CN" altLang="en-US" dirty="0"/>
              <a:t> 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504825" y="894170"/>
            <a:ext cx="460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1.</a:t>
            </a:r>
            <a:r>
              <a:rPr lang="zh-CN" altLang="en-US" b="1" dirty="0">
                <a:latin typeface="宋体" panose="02010600030101010101" pitchFamily="2" charset="-122"/>
              </a:rPr>
              <a:t> 滚动轴承的公差等级</a:t>
            </a:r>
            <a:r>
              <a:rPr lang="zh-CN" altLang="en-US" b="1" dirty="0"/>
              <a:t> 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690563" y="1454557"/>
            <a:ext cx="5180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根据（1）</a:t>
            </a:r>
            <a:r>
              <a:rPr lang="zh-CN" altLang="en-US" b="1" dirty="0">
                <a:solidFill>
                  <a:srgbClr val="FF0000"/>
                </a:solidFill>
              </a:rPr>
              <a:t>尺寸精度</a:t>
            </a:r>
            <a:r>
              <a:rPr lang="zh-CN" altLang="en-US" b="1" dirty="0"/>
              <a:t>（</a:t>
            </a:r>
            <a:r>
              <a:rPr lang="en-US" altLang="zh-CN" b="1" i="1" dirty="0">
                <a:solidFill>
                  <a:srgbClr val="FF3300"/>
                </a:solidFill>
              </a:rPr>
              <a:t>D</a:t>
            </a:r>
            <a:r>
              <a:rPr lang="zh-CN" altLang="en-US" b="1" i="1" dirty="0">
                <a:solidFill>
                  <a:srgbClr val="FF3300"/>
                </a:solidFill>
              </a:rPr>
              <a:t>、</a:t>
            </a:r>
            <a:r>
              <a:rPr lang="en-US" altLang="zh-CN" b="1" i="1" dirty="0">
                <a:solidFill>
                  <a:srgbClr val="FF3300"/>
                </a:solidFill>
              </a:rPr>
              <a:t>d</a:t>
            </a:r>
            <a:r>
              <a:rPr lang="zh-CN" altLang="en-US" b="1" i="1" dirty="0">
                <a:solidFill>
                  <a:srgbClr val="FF3300"/>
                </a:solidFill>
              </a:rPr>
              <a:t>、</a:t>
            </a:r>
            <a:r>
              <a:rPr lang="en-US" altLang="zh-CN" b="1" i="1" dirty="0">
                <a:solidFill>
                  <a:srgbClr val="FF3300"/>
                </a:solidFill>
              </a:rPr>
              <a:t>B</a:t>
            </a:r>
            <a:r>
              <a:rPr lang="zh-CN" altLang="en-US" b="1" dirty="0"/>
              <a:t>）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12775" y="2599145"/>
            <a:ext cx="3997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① </a:t>
            </a:r>
            <a:r>
              <a:rPr lang="zh-CN" altLang="en-US" b="1" dirty="0" smtClean="0"/>
              <a:t>向心轴承</a:t>
            </a:r>
            <a:r>
              <a:rPr lang="zh-CN" altLang="en-US" b="1" dirty="0"/>
              <a:t>的公差等级为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822325" y="5231220"/>
            <a:ext cx="6192838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/>
              <a:t>其中 </a:t>
            </a:r>
            <a:r>
              <a:rPr lang="zh-CN" altLang="en-US" b="1" dirty="0" smtClean="0"/>
              <a:t>普通级</a:t>
            </a:r>
            <a:r>
              <a:rPr lang="zh-CN" altLang="en-US" b="1" dirty="0"/>
              <a:t>精度最低；其次依次增高。</a:t>
            </a:r>
          </a:p>
        </p:txBody>
      </p:sp>
      <p:sp>
        <p:nvSpPr>
          <p:cNvPr id="6268" name="Text Box 124"/>
          <p:cNvSpPr txBox="1">
            <a:spLocks noChangeArrowheads="1"/>
          </p:cNvSpPr>
          <p:nvPr/>
        </p:nvSpPr>
        <p:spPr bwMode="auto">
          <a:xfrm>
            <a:off x="839788" y="3127782"/>
            <a:ext cx="4525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 </a:t>
            </a:r>
            <a:r>
              <a:rPr lang="zh-CN" altLang="en-US" b="1" dirty="0" smtClean="0"/>
              <a:t>普通级</a:t>
            </a:r>
            <a:r>
              <a:rPr lang="en-US" altLang="zh-CN" b="1" dirty="0" smtClean="0"/>
              <a:t>、</a:t>
            </a:r>
            <a:r>
              <a:rPr lang="en-US" altLang="zh-CN" b="1" dirty="0"/>
              <a:t>6、5、4、2 </a:t>
            </a:r>
            <a:r>
              <a:rPr lang="zh-CN" altLang="en-US" b="1" dirty="0">
                <a:solidFill>
                  <a:srgbClr val="FF3300"/>
                </a:solidFill>
              </a:rPr>
              <a:t>五 </a:t>
            </a:r>
            <a:r>
              <a:rPr lang="zh-CN" altLang="en-US" b="1" dirty="0"/>
              <a:t>级；</a:t>
            </a:r>
          </a:p>
        </p:txBody>
      </p:sp>
      <p:sp>
        <p:nvSpPr>
          <p:cNvPr id="6269" name="Text Box 125"/>
          <p:cNvSpPr txBox="1">
            <a:spLocks noChangeArrowheads="1"/>
          </p:cNvSpPr>
          <p:nvPr/>
        </p:nvSpPr>
        <p:spPr bwMode="auto">
          <a:xfrm>
            <a:off x="836613" y="4172357"/>
            <a:ext cx="4573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 smtClean="0"/>
              <a:t>普通级</a:t>
            </a:r>
            <a:r>
              <a:rPr lang="en-US" altLang="zh-CN" b="1" dirty="0" smtClean="0"/>
              <a:t>、6X、5、4 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2</a:t>
            </a:r>
            <a:r>
              <a:rPr lang="zh-CN" altLang="en-US" b="1" dirty="0" smtClean="0">
                <a:solidFill>
                  <a:srgbClr val="FF3300"/>
                </a:solidFill>
              </a:rPr>
              <a:t>五 </a:t>
            </a:r>
            <a:r>
              <a:rPr lang="zh-CN" altLang="en-US" b="1" dirty="0"/>
              <a:t>级。</a:t>
            </a:r>
          </a:p>
        </p:txBody>
      </p:sp>
      <p:pic>
        <p:nvPicPr>
          <p:cNvPr id="6364" name="Picture 2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566" y="688534"/>
            <a:ext cx="1813292" cy="403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65" name="Rectangle 221"/>
          <p:cNvSpPr>
            <a:spLocks noChangeArrowheads="1"/>
          </p:cNvSpPr>
          <p:nvPr/>
        </p:nvSpPr>
        <p:spPr bwMode="auto">
          <a:xfrm>
            <a:off x="5757951" y="2299107"/>
            <a:ext cx="479425" cy="60325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367" name="Oval 223"/>
          <p:cNvSpPr>
            <a:spLocks noChangeArrowheads="1"/>
          </p:cNvSpPr>
          <p:nvPr/>
        </p:nvSpPr>
        <p:spPr bwMode="auto">
          <a:xfrm>
            <a:off x="6253930" y="2275748"/>
            <a:ext cx="325438" cy="558800"/>
          </a:xfrm>
          <a:prstGeom prst="ellips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368" name="Rectangle 224"/>
          <p:cNvSpPr>
            <a:spLocks noChangeArrowheads="1"/>
          </p:cNvSpPr>
          <p:nvPr/>
        </p:nvSpPr>
        <p:spPr bwMode="auto">
          <a:xfrm>
            <a:off x="6902538" y="4232682"/>
            <a:ext cx="417513" cy="35560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370" name="Rectangle 226"/>
          <p:cNvSpPr>
            <a:spLocks noChangeArrowheads="1"/>
          </p:cNvSpPr>
          <p:nvPr/>
        </p:nvSpPr>
        <p:spPr bwMode="auto">
          <a:xfrm>
            <a:off x="1329151" y="1956207"/>
            <a:ext cx="3765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（2）</a:t>
            </a:r>
            <a:r>
              <a:rPr lang="zh-CN" altLang="en-US" b="1" dirty="0">
                <a:solidFill>
                  <a:srgbClr val="FF0000"/>
                </a:solidFill>
              </a:rPr>
              <a:t>旋转精度分</a:t>
            </a:r>
          </a:p>
        </p:txBody>
      </p:sp>
      <p:sp>
        <p:nvSpPr>
          <p:cNvPr id="6371" name="Text Box 227"/>
          <p:cNvSpPr txBox="1">
            <a:spLocks noChangeArrowheads="1"/>
          </p:cNvSpPr>
          <p:nvPr/>
        </p:nvSpPr>
        <p:spPr bwMode="auto">
          <a:xfrm>
            <a:off x="619832" y="3643720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② </a:t>
            </a:r>
            <a:r>
              <a:rPr lang="zh-CN" altLang="en-US" b="1" dirty="0"/>
              <a:t>圆锥滚子轴承的公差等级为</a:t>
            </a:r>
          </a:p>
        </p:txBody>
      </p:sp>
      <p:sp>
        <p:nvSpPr>
          <p:cNvPr id="6372" name="Text Box 228"/>
          <p:cNvSpPr txBox="1">
            <a:spLocks noChangeArrowheads="1"/>
          </p:cNvSpPr>
          <p:nvPr/>
        </p:nvSpPr>
        <p:spPr bwMode="auto">
          <a:xfrm>
            <a:off x="649408" y="4700995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③ </a:t>
            </a:r>
            <a:r>
              <a:rPr lang="zh-CN" altLang="en-US" b="1" dirty="0"/>
              <a:t>推力轴承的公差等级为</a:t>
            </a:r>
          </a:p>
        </p:txBody>
      </p:sp>
      <p:sp>
        <p:nvSpPr>
          <p:cNvPr id="6373" name="Text Box 229"/>
          <p:cNvSpPr txBox="1">
            <a:spLocks noChangeArrowheads="1"/>
          </p:cNvSpPr>
          <p:nvPr/>
        </p:nvSpPr>
        <p:spPr bwMode="auto">
          <a:xfrm>
            <a:off x="4437243" y="4740329"/>
            <a:ext cx="3594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 dirty="0"/>
              <a:t>  </a:t>
            </a:r>
            <a:r>
              <a:rPr lang="zh-CN" altLang="en-US" b="1" dirty="0" smtClean="0"/>
              <a:t>普通级</a:t>
            </a:r>
            <a:r>
              <a:rPr lang="en-US" altLang="zh-CN" b="1" dirty="0" smtClean="0"/>
              <a:t>、</a:t>
            </a:r>
            <a:r>
              <a:rPr lang="en-US" altLang="zh-CN" b="1" dirty="0"/>
              <a:t>6、5、4 </a:t>
            </a:r>
            <a:r>
              <a:rPr lang="zh-CN" altLang="en-US" b="1" dirty="0">
                <a:solidFill>
                  <a:srgbClr val="FF3300"/>
                </a:solidFill>
              </a:rPr>
              <a:t>四 </a:t>
            </a:r>
            <a:r>
              <a:rPr lang="zh-CN" altLang="en-US" b="1" dirty="0"/>
              <a:t>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6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"/>
                                        <p:tgtEl>
                                          <p:spTgt spid="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"/>
                                        <p:tgtEl>
                                          <p:spTgt spid="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"/>
                                        <p:tgtEl>
                                          <p:spTgt spid="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6147" grpId="0" build="p" autoUpdateAnimBg="0"/>
      <p:bldP spid="6148" grpId="0" autoUpdateAnimBg="0"/>
      <p:bldP spid="6149" grpId="0" autoUpdateAnimBg="0"/>
      <p:bldP spid="6151" grpId="0" autoUpdateAnimBg="0"/>
      <p:bldP spid="6268" grpId="0" autoUpdateAnimBg="0"/>
      <p:bldP spid="6269" grpId="0" autoUpdateAnimBg="0"/>
      <p:bldP spid="6365" grpId="0" animBg="1"/>
      <p:bldP spid="6367" grpId="0" animBg="1"/>
      <p:bldP spid="6368" grpId="0" animBg="1"/>
      <p:bldP spid="6370" grpId="0" autoUpdateAnimBg="0"/>
      <p:bldP spid="6371" grpId="0" autoUpdateAnimBg="0"/>
      <p:bldP spid="6372" grpId="0" autoUpdateAnimBg="0"/>
      <p:bldP spid="637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2A3B97-10BE-4165-AF0E-A4438920E7B0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5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45153" name="Text Box 1121"/>
          <p:cNvSpPr txBox="1">
            <a:spLocks noChangeArrowheads="1"/>
          </p:cNvSpPr>
          <p:nvPr/>
        </p:nvSpPr>
        <p:spPr bwMode="auto">
          <a:xfrm>
            <a:off x="108902" y="12357"/>
            <a:ext cx="236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/>
              <a:t>向心轴承</a:t>
            </a:r>
            <a:r>
              <a:rPr lang="zh-CN" altLang="en-US" sz="2800" b="1" dirty="0" smtClean="0"/>
              <a:t>公差</a:t>
            </a:r>
            <a:endParaRPr lang="zh-CN" altLang="en-US" sz="2800" b="1" dirty="0"/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52" y="421284"/>
            <a:ext cx="6652750" cy="6256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B3F5F4-F3BD-4324-8722-66114828297F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6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409932" y="559435"/>
            <a:ext cx="8005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 dirty="0"/>
              <a:t>由表</a:t>
            </a:r>
            <a:r>
              <a:rPr lang="en-US" altLang="zh-CN" sz="2800" b="1" dirty="0"/>
              <a:t>6.1</a:t>
            </a:r>
            <a:r>
              <a:rPr lang="zh-CN" altLang="en-US" sz="2800" b="1" dirty="0"/>
              <a:t>中可见，轴承的内外径尺寸有</a:t>
            </a:r>
            <a:r>
              <a:rPr lang="zh-CN" altLang="en-US" sz="2800" b="1" dirty="0">
                <a:solidFill>
                  <a:srgbClr val="FF3300"/>
                </a:solidFill>
              </a:rPr>
              <a:t>2种公差</a:t>
            </a:r>
            <a:r>
              <a:rPr lang="zh-CN" altLang="en-US" sz="2800" b="1" dirty="0"/>
              <a:t>：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463907" y="1186815"/>
            <a:ext cx="7481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 dirty="0"/>
              <a:t>（1）单一平面内的</a:t>
            </a:r>
            <a:r>
              <a:rPr lang="zh-CN" altLang="en-US" sz="2800" b="1" dirty="0">
                <a:solidFill>
                  <a:srgbClr val="FF3300"/>
                </a:solidFill>
              </a:rPr>
              <a:t>平均直径</a:t>
            </a:r>
            <a:r>
              <a:rPr lang="zh-CN" altLang="en-US" sz="2800" b="1" dirty="0"/>
              <a:t>公差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6836002" y="1847346"/>
            <a:ext cx="147398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配合尺寸</a:t>
            </a: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5762049" y="2592425"/>
            <a:ext cx="2547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为控制配合尺寸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498832" y="3374708"/>
            <a:ext cx="6750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 dirty="0"/>
              <a:t>（2）单一平面内的</a:t>
            </a:r>
            <a:r>
              <a:rPr lang="zh-CN" altLang="en-US" sz="2800" b="1" dirty="0">
                <a:solidFill>
                  <a:srgbClr val="FF3300"/>
                </a:solidFill>
              </a:rPr>
              <a:t>直径</a:t>
            </a:r>
            <a:r>
              <a:rPr lang="zh-CN" altLang="en-US" sz="2800" b="1" dirty="0"/>
              <a:t>公差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5210533" y="4090988"/>
            <a:ext cx="162547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实际尺寸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5581878" y="4912659"/>
            <a:ext cx="2507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为控制实际尺寸</a:t>
            </a:r>
          </a:p>
        </p:txBody>
      </p:sp>
      <p:graphicFrame>
        <p:nvGraphicFramePr>
          <p:cNvPr id="32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470447"/>
              </p:ext>
            </p:extLst>
          </p:nvPr>
        </p:nvGraphicFramePr>
        <p:xfrm>
          <a:off x="777597" y="1809115"/>
          <a:ext cx="574833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公式" r:id="rId3" imgW="57302400" imgH="5791200" progId="">
                  <p:embed/>
                </p:oleObj>
              </mc:Choice>
              <mc:Fallback>
                <p:oleObj name="公式" r:id="rId3" imgW="57302400" imgH="5791200" progId="">
                  <p:embed/>
                  <p:pic>
                    <p:nvPicPr>
                      <p:cNvPr id="0" name="Picture 4" descr="image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597" y="1809115"/>
                        <a:ext cx="5748337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779110"/>
              </p:ext>
            </p:extLst>
          </p:nvPr>
        </p:nvGraphicFramePr>
        <p:xfrm>
          <a:off x="815697" y="2558415"/>
          <a:ext cx="4648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公式" r:id="rId5" imgW="46329600" imgH="5791200" progId="">
                  <p:embed/>
                </p:oleObj>
              </mc:Choice>
              <mc:Fallback>
                <p:oleObj name="公式" r:id="rId5" imgW="46329600" imgH="5791200" progId="">
                  <p:embed/>
                  <p:pic>
                    <p:nvPicPr>
                      <p:cNvPr id="0" name="Picture 3" descr="image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697" y="2558415"/>
                        <a:ext cx="464820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934105"/>
              </p:ext>
            </p:extLst>
          </p:nvPr>
        </p:nvGraphicFramePr>
        <p:xfrm>
          <a:off x="1278294" y="4060190"/>
          <a:ext cx="288131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公式" r:id="rId7" imgW="25298400" imgH="5486400" progId="">
                  <p:embed/>
                </p:oleObj>
              </mc:Choice>
              <mc:Fallback>
                <p:oleObj name="公式" r:id="rId7" imgW="25298400" imgH="5486400" progId="">
                  <p:embed/>
                  <p:pic>
                    <p:nvPicPr>
                      <p:cNvPr id="0" name="Picture 2" descr="image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294" y="4060190"/>
                        <a:ext cx="2881313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683741"/>
              </p:ext>
            </p:extLst>
          </p:nvPr>
        </p:nvGraphicFramePr>
        <p:xfrm>
          <a:off x="1234311" y="4907915"/>
          <a:ext cx="39449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公式" r:id="rId9" imgW="39319200" imgH="5486400" progId="">
                  <p:embed/>
                </p:oleObj>
              </mc:Choice>
              <mc:Fallback>
                <p:oleObj name="公式" r:id="rId9" imgW="39319200" imgH="5486400" progId="">
                  <p:embed/>
                  <p:pic>
                    <p:nvPicPr>
                      <p:cNvPr id="0" name="Picture 1" descr="image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311" y="4907915"/>
                        <a:ext cx="3944938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utoUpdateAnimBg="0"/>
      <p:bldP spid="32773" grpId="0" build="p" autoUpdateAnimBg="0"/>
      <p:bldP spid="32775" grpId="0" autoUpdateAnimBg="0"/>
      <p:bldP spid="32777" grpId="0" autoUpdateAnimBg="0"/>
      <p:bldP spid="32778" grpId="0" build="p" autoUpdateAnimBg="0"/>
      <p:bldP spid="32780" grpId="0" autoUpdateAnimBg="0"/>
      <p:bldP spid="3278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4A0E537-5143-4F88-8D12-799AFE8D56DA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7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500063" y="217488"/>
            <a:ext cx="393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/>
              <a:t>2.</a:t>
            </a:r>
            <a:r>
              <a:rPr lang="zh-CN" altLang="en-US" sz="2800" b="1">
                <a:latin typeface="宋体" panose="02010600030101010101" pitchFamily="2" charset="-122"/>
              </a:rPr>
              <a:t> 各公差等级的应用</a:t>
            </a:r>
            <a:r>
              <a:rPr lang="zh-CN" altLang="en-US" sz="2800" b="1"/>
              <a:t> 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25487" y="800100"/>
            <a:ext cx="8155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 smtClean="0">
                <a:solidFill>
                  <a:srgbClr val="FF3300"/>
                </a:solidFill>
              </a:rPr>
              <a:t>普通级</a:t>
            </a:r>
            <a:r>
              <a:rPr lang="zh-CN" altLang="en-US" b="1" dirty="0"/>
              <a:t>：最广泛地应用于精度要求不高的一般旋转机构中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53988" y="2215917"/>
            <a:ext cx="8726487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   </a:t>
            </a:r>
            <a:endParaRPr lang="zh-CN" altLang="en-US" b="1" dirty="0"/>
          </a:p>
        </p:txBody>
      </p:sp>
      <p:sp>
        <p:nvSpPr>
          <p:cNvPr id="7208" name="Text Box 40"/>
          <p:cNvSpPr txBox="1">
            <a:spLocks noChangeArrowheads="1"/>
          </p:cNvSpPr>
          <p:nvPr/>
        </p:nvSpPr>
        <p:spPr bwMode="auto">
          <a:xfrm>
            <a:off x="425486" y="1373832"/>
            <a:ext cx="82663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6(6</a:t>
            </a:r>
            <a:r>
              <a:rPr lang="en-US" altLang="zh-CN" b="1" dirty="0"/>
              <a:t>X</a:t>
            </a:r>
            <a:r>
              <a:rPr lang="en-US" altLang="zh-CN" b="1" dirty="0" smtClean="0"/>
              <a:t>)</a:t>
            </a:r>
            <a:r>
              <a:rPr lang="zh-CN" altLang="en-US" b="1" dirty="0" smtClean="0"/>
              <a:t>级</a:t>
            </a:r>
            <a:r>
              <a:rPr lang="zh-CN" altLang="en-US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中等级</a:t>
            </a:r>
            <a:r>
              <a:rPr lang="zh-CN" altLang="en-US" b="1" dirty="0" smtClean="0">
                <a:latin typeface="宋体" panose="02010600030101010101" pitchFamily="2" charset="-122"/>
              </a:rPr>
              <a:t>) </a:t>
            </a:r>
            <a:r>
              <a:rPr lang="zh-CN" altLang="en-US" b="1" dirty="0">
                <a:latin typeface="宋体" panose="02010600030101010101" pitchFamily="2" charset="-122"/>
              </a:rPr>
              <a:t>：多用于旋转精度和运动平稳性要求较高或转速较高的旋转机构中（如普通机床主轴支承）。 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4" name="Text Box 47"/>
          <p:cNvSpPr txBox="1">
            <a:spLocks noChangeArrowheads="1"/>
          </p:cNvSpPr>
          <p:nvPr/>
        </p:nvSpPr>
        <p:spPr bwMode="auto">
          <a:xfrm>
            <a:off x="134938" y="2697528"/>
            <a:ext cx="8658225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 </a:t>
            </a:r>
            <a:endParaRPr lang="zh-CN" altLang="en-US" b="1" dirty="0"/>
          </a:p>
        </p:txBody>
      </p:sp>
      <p:sp>
        <p:nvSpPr>
          <p:cNvPr id="36" name="Text Box 49"/>
          <p:cNvSpPr txBox="1">
            <a:spLocks noChangeArrowheads="1"/>
          </p:cNvSpPr>
          <p:nvPr/>
        </p:nvSpPr>
        <p:spPr bwMode="auto">
          <a:xfrm>
            <a:off x="514910" y="2267316"/>
            <a:ext cx="8315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 dirty="0" smtClean="0">
                <a:latin typeface="宋体" panose="02010600030101010101" pitchFamily="2" charset="-122"/>
              </a:rPr>
              <a:t>5</a:t>
            </a:r>
            <a:r>
              <a:rPr lang="zh-CN" altLang="en-US" b="1" dirty="0" smtClean="0">
                <a:latin typeface="宋体" panose="02010600030101010101" pitchFamily="2" charset="-122"/>
              </a:rPr>
              <a:t>、4级</a:t>
            </a:r>
            <a:r>
              <a:rPr lang="zh-CN" altLang="en-US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精密级</a:t>
            </a:r>
            <a:r>
              <a:rPr lang="zh-CN" altLang="en-US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：多用于转速很高和旋转精度要求很高的机床或机器的旋转机构中（如精密机床主轴支承）。 </a:t>
            </a:r>
          </a:p>
        </p:txBody>
      </p:sp>
      <p:sp>
        <p:nvSpPr>
          <p:cNvPr id="37" name="Text Box 50"/>
          <p:cNvSpPr txBox="1">
            <a:spLocks noChangeArrowheads="1"/>
          </p:cNvSpPr>
          <p:nvPr/>
        </p:nvSpPr>
        <p:spPr bwMode="auto">
          <a:xfrm>
            <a:off x="542962" y="3173891"/>
            <a:ext cx="82772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 smtClean="0"/>
              <a:t>2级</a:t>
            </a:r>
            <a:r>
              <a:rPr lang="zh-CN" altLang="en-US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超精级</a:t>
            </a:r>
            <a:r>
              <a:rPr lang="zh-CN" altLang="en-US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：多用于特别精密机床的主轴支承（如坐标镗床主轴支承</a:t>
            </a:r>
            <a:r>
              <a:rPr lang="zh-CN" altLang="en-US" b="1" dirty="0" smtClean="0">
                <a:latin typeface="宋体" panose="02010600030101010101" pitchFamily="2" charset="-122"/>
              </a:rPr>
              <a:t>）。 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pSp>
        <p:nvGrpSpPr>
          <p:cNvPr id="38" name="Group 5"/>
          <p:cNvGrpSpPr/>
          <p:nvPr/>
        </p:nvGrpSpPr>
        <p:grpSpPr bwMode="auto">
          <a:xfrm>
            <a:off x="2596591" y="3874938"/>
            <a:ext cx="5106988" cy="1703256"/>
            <a:chOff x="3408" y="2640"/>
            <a:chExt cx="1968" cy="672"/>
          </a:xfrm>
        </p:grpSpPr>
        <p:sp>
          <p:nvSpPr>
            <p:cNvPr id="39" name="Line 6"/>
            <p:cNvSpPr>
              <a:spLocks noChangeShapeType="1"/>
            </p:cNvSpPr>
            <p:nvPr/>
          </p:nvSpPr>
          <p:spPr bwMode="auto">
            <a:xfrm>
              <a:off x="3408" y="2976"/>
              <a:ext cx="19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0" name="Group 7"/>
            <p:cNvGrpSpPr/>
            <p:nvPr/>
          </p:nvGrpSpPr>
          <p:grpSpPr bwMode="auto">
            <a:xfrm>
              <a:off x="3648" y="2640"/>
              <a:ext cx="240" cy="672"/>
              <a:chOff x="3648" y="2640"/>
              <a:chExt cx="240" cy="672"/>
            </a:xfrm>
          </p:grpSpPr>
          <p:grpSp>
            <p:nvGrpSpPr>
              <p:cNvPr id="52" name="Group 8"/>
              <p:cNvGrpSpPr/>
              <p:nvPr/>
            </p:nvGrpSpPr>
            <p:grpSpPr bwMode="auto">
              <a:xfrm>
                <a:off x="3648" y="2640"/>
                <a:ext cx="240" cy="240"/>
                <a:chOff x="3648" y="2640"/>
                <a:chExt cx="240" cy="240"/>
              </a:xfrm>
            </p:grpSpPr>
            <p:grpSp>
              <p:nvGrpSpPr>
                <p:cNvPr id="58" name="Group 9"/>
                <p:cNvGrpSpPr/>
                <p:nvPr/>
              </p:nvGrpSpPr>
              <p:grpSpPr bwMode="auto">
                <a:xfrm>
                  <a:off x="3648" y="2640"/>
                  <a:ext cx="240" cy="240"/>
                  <a:chOff x="3648" y="2592"/>
                  <a:chExt cx="240" cy="240"/>
                </a:xfrm>
              </p:grpSpPr>
              <p:sp>
                <p:nvSpPr>
                  <p:cNvPr id="60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592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832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9" name="Oval 12"/>
                <p:cNvSpPr>
                  <a:spLocks noChangeArrowheads="1"/>
                </p:cNvSpPr>
                <p:nvPr/>
              </p:nvSpPr>
              <p:spPr bwMode="auto">
                <a:xfrm>
                  <a:off x="3696" y="2688"/>
                  <a:ext cx="144" cy="14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" name="Group 13"/>
              <p:cNvGrpSpPr/>
              <p:nvPr/>
            </p:nvGrpSpPr>
            <p:grpSpPr bwMode="auto">
              <a:xfrm>
                <a:off x="3648" y="3072"/>
                <a:ext cx="240" cy="240"/>
                <a:chOff x="3648" y="2640"/>
                <a:chExt cx="240" cy="240"/>
              </a:xfrm>
            </p:grpSpPr>
            <p:grpSp>
              <p:nvGrpSpPr>
                <p:cNvPr id="54" name="Group 14"/>
                <p:cNvGrpSpPr/>
                <p:nvPr/>
              </p:nvGrpSpPr>
              <p:grpSpPr bwMode="auto">
                <a:xfrm>
                  <a:off x="3648" y="2640"/>
                  <a:ext cx="240" cy="240"/>
                  <a:chOff x="3648" y="2592"/>
                  <a:chExt cx="240" cy="240"/>
                </a:xfrm>
              </p:grpSpPr>
              <p:sp>
                <p:nvSpPr>
                  <p:cNvPr id="56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592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832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5" name="Oval 17"/>
                <p:cNvSpPr>
                  <a:spLocks noChangeArrowheads="1"/>
                </p:cNvSpPr>
                <p:nvPr/>
              </p:nvSpPr>
              <p:spPr bwMode="auto">
                <a:xfrm>
                  <a:off x="3696" y="2688"/>
                  <a:ext cx="144" cy="14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1" name="Group 18"/>
            <p:cNvGrpSpPr/>
            <p:nvPr/>
          </p:nvGrpSpPr>
          <p:grpSpPr bwMode="auto">
            <a:xfrm>
              <a:off x="4800" y="2640"/>
              <a:ext cx="240" cy="672"/>
              <a:chOff x="3648" y="2640"/>
              <a:chExt cx="240" cy="672"/>
            </a:xfrm>
          </p:grpSpPr>
          <p:grpSp>
            <p:nvGrpSpPr>
              <p:cNvPr id="42" name="Group 19"/>
              <p:cNvGrpSpPr/>
              <p:nvPr/>
            </p:nvGrpSpPr>
            <p:grpSpPr bwMode="auto">
              <a:xfrm>
                <a:off x="3648" y="2640"/>
                <a:ext cx="240" cy="240"/>
                <a:chOff x="3648" y="2640"/>
                <a:chExt cx="240" cy="240"/>
              </a:xfrm>
            </p:grpSpPr>
            <p:grpSp>
              <p:nvGrpSpPr>
                <p:cNvPr id="48" name="Group 20"/>
                <p:cNvGrpSpPr/>
                <p:nvPr/>
              </p:nvGrpSpPr>
              <p:grpSpPr bwMode="auto">
                <a:xfrm>
                  <a:off x="3648" y="2640"/>
                  <a:ext cx="240" cy="240"/>
                  <a:chOff x="3648" y="2592"/>
                  <a:chExt cx="240" cy="240"/>
                </a:xfrm>
              </p:grpSpPr>
              <p:sp>
                <p:nvSpPr>
                  <p:cNvPr id="50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592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1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832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9" name="Oval 23"/>
                <p:cNvSpPr>
                  <a:spLocks noChangeArrowheads="1"/>
                </p:cNvSpPr>
                <p:nvPr/>
              </p:nvSpPr>
              <p:spPr bwMode="auto">
                <a:xfrm>
                  <a:off x="3696" y="2688"/>
                  <a:ext cx="144" cy="14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Group 24"/>
              <p:cNvGrpSpPr/>
              <p:nvPr/>
            </p:nvGrpSpPr>
            <p:grpSpPr bwMode="auto">
              <a:xfrm>
                <a:off x="3648" y="3072"/>
                <a:ext cx="240" cy="240"/>
                <a:chOff x="3648" y="2640"/>
                <a:chExt cx="240" cy="240"/>
              </a:xfrm>
            </p:grpSpPr>
            <p:grpSp>
              <p:nvGrpSpPr>
                <p:cNvPr id="44" name="Group 25"/>
                <p:cNvGrpSpPr/>
                <p:nvPr/>
              </p:nvGrpSpPr>
              <p:grpSpPr bwMode="auto">
                <a:xfrm>
                  <a:off x="3648" y="2640"/>
                  <a:ext cx="240" cy="240"/>
                  <a:chOff x="3648" y="2592"/>
                  <a:chExt cx="240" cy="240"/>
                </a:xfrm>
              </p:grpSpPr>
              <p:sp>
                <p:nvSpPr>
                  <p:cNvPr id="46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592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832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5" name="Oval 28"/>
                <p:cNvSpPr>
                  <a:spLocks noChangeArrowheads="1"/>
                </p:cNvSpPr>
                <p:nvPr/>
              </p:nvSpPr>
              <p:spPr bwMode="auto">
                <a:xfrm>
                  <a:off x="3696" y="2688"/>
                  <a:ext cx="144" cy="14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2" name="Text Box 54"/>
          <p:cNvSpPr txBox="1">
            <a:spLocks noChangeArrowheads="1"/>
          </p:cNvSpPr>
          <p:nvPr/>
        </p:nvSpPr>
        <p:spPr bwMode="auto">
          <a:xfrm>
            <a:off x="6149416" y="5726664"/>
            <a:ext cx="896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4  级</a:t>
            </a:r>
            <a:endParaRPr lang="en-US" altLang="zh-CN" sz="2800" b="1">
              <a:solidFill>
                <a:srgbClr val="FF3300"/>
              </a:solidFill>
            </a:endParaRPr>
          </a:p>
        </p:txBody>
      </p:sp>
      <p:sp>
        <p:nvSpPr>
          <p:cNvPr id="63" name="Text Box 55"/>
          <p:cNvSpPr txBox="1">
            <a:spLocks noChangeArrowheads="1"/>
          </p:cNvSpPr>
          <p:nvPr/>
        </p:nvSpPr>
        <p:spPr bwMode="auto">
          <a:xfrm>
            <a:off x="3076016" y="5726664"/>
            <a:ext cx="896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5  级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  <p:sp>
        <p:nvSpPr>
          <p:cNvPr id="64" name="Text Box 56"/>
          <p:cNvSpPr txBox="1">
            <a:spLocks noChangeArrowheads="1"/>
          </p:cNvSpPr>
          <p:nvPr/>
        </p:nvSpPr>
        <p:spPr bwMode="auto">
          <a:xfrm>
            <a:off x="7444083" y="5726664"/>
            <a:ext cx="896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2  级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  <p:sp>
        <p:nvSpPr>
          <p:cNvPr id="66" name="Text Box 55"/>
          <p:cNvSpPr txBox="1">
            <a:spLocks noChangeArrowheads="1"/>
          </p:cNvSpPr>
          <p:nvPr/>
        </p:nvSpPr>
        <p:spPr bwMode="auto">
          <a:xfrm>
            <a:off x="1417015" y="5726664"/>
            <a:ext cx="14045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3300"/>
                </a:solidFill>
              </a:rPr>
              <a:t>6(6X</a:t>
            </a:r>
            <a:r>
              <a:rPr lang="en-US" altLang="zh-CN" sz="2800" b="1" dirty="0" smtClean="0">
                <a:solidFill>
                  <a:srgbClr val="FF3300"/>
                </a:solidFill>
              </a:rPr>
              <a:t>)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级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 autoUpdateAnimBg="0"/>
      <p:bldP spid="7171" grpId="0" autoUpdateAnimBg="0"/>
      <p:bldP spid="7173" grpId="0" autoUpdateAnimBg="0"/>
      <p:bldP spid="7208" grpId="0" autoUpdateAnimBg="0"/>
      <p:bldP spid="34" grpId="0" autoUpdateAnimBg="0"/>
      <p:bldP spid="36" grpId="0" autoUpdateAnimBg="0"/>
      <p:bldP spid="37" grpId="0" autoUpdateAnimBg="0"/>
      <p:bldP spid="62" grpId="0" autoUpdateAnimBg="0"/>
      <p:bldP spid="63" grpId="0" autoUpdateAnimBg="0"/>
      <p:bldP spid="64" grpId="0" autoUpdateAnimBg="0"/>
      <p:bldP spid="6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A19871-BE6E-4E75-8C09-53EDB2908BAA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8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81000" y="242888"/>
            <a:ext cx="7400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/>
              <a:t>6.1.3  滚动轴承与孔、轴配合公差带</a:t>
            </a:r>
            <a:r>
              <a:rPr lang="zh-CN" altLang="en-US"/>
              <a:t> 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428625" y="892702"/>
            <a:ext cx="7504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1. 滚动轴承与孔、轴结合的特点 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479425" y="1426102"/>
            <a:ext cx="8151813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30000"/>
              </a:spcBef>
              <a:buFontTx/>
              <a:buAutoNum type="arabicParenBoth"/>
            </a:pPr>
            <a:r>
              <a:rPr lang="zh-CN" altLang="en-US" b="1"/>
              <a:t>标准部件：是配合的</a:t>
            </a:r>
            <a:r>
              <a:rPr lang="zh-CN" altLang="en-US" b="1">
                <a:solidFill>
                  <a:srgbClr val="FF3300"/>
                </a:solidFill>
              </a:rPr>
              <a:t>基准件。</a:t>
            </a:r>
            <a:r>
              <a:rPr lang="zh-CN" altLang="en-US" b="1"/>
              <a:t>即轴承内圈内径为</a:t>
            </a:r>
            <a:r>
              <a:rPr lang="zh-CN" altLang="en-US" b="1">
                <a:solidFill>
                  <a:srgbClr val="FF3300"/>
                </a:solidFill>
              </a:rPr>
              <a:t>基准孔</a:t>
            </a:r>
          </a:p>
          <a:p>
            <a:pPr algn="l"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b="1"/>
              <a:t>                          外圈外径为</a:t>
            </a:r>
            <a:r>
              <a:rPr lang="zh-CN" altLang="en-US" b="1">
                <a:solidFill>
                  <a:srgbClr val="FF3300"/>
                </a:solidFill>
              </a:rPr>
              <a:t>基准轴。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469900" y="3554940"/>
            <a:ext cx="5189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(3)  薄壁件：</a:t>
            </a:r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506413" y="2507190"/>
            <a:ext cx="425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(2)  易损件：</a:t>
            </a:r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917575" y="3010427"/>
            <a:ext cx="76263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/>
              <a:t>  需常拆卸，故一般选</a:t>
            </a:r>
            <a:r>
              <a:rPr lang="zh-CN" altLang="en-US" b="1">
                <a:solidFill>
                  <a:srgbClr val="FF3300"/>
                </a:solidFill>
              </a:rPr>
              <a:t>较松</a:t>
            </a:r>
            <a:r>
              <a:rPr lang="zh-CN" altLang="en-US" b="1"/>
              <a:t>的过盈配合或过渡配合。</a:t>
            </a:r>
          </a:p>
        </p:txBody>
      </p:sp>
      <p:sp>
        <p:nvSpPr>
          <p:cNvPr id="34839" name="Text Box 23"/>
          <p:cNvSpPr txBox="1">
            <a:spLocks noChangeArrowheads="1"/>
          </p:cNvSpPr>
          <p:nvPr/>
        </p:nvSpPr>
        <p:spPr bwMode="auto">
          <a:xfrm>
            <a:off x="387350" y="3981977"/>
            <a:ext cx="821055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/>
              <a:t>        轴承内、外圈为薄壁零件，在自由状态存放时易变形，当轴承内圈与轴颈，外圈与外壳孔装配后，这种变形会得到矫正。因此，</a:t>
            </a:r>
            <a:r>
              <a:rPr lang="zh-CN" altLang="en-US" b="1">
                <a:solidFill>
                  <a:srgbClr val="FF3300"/>
                </a:solidFill>
              </a:rPr>
              <a:t>轴承内、外圈与轴颈、外壳孔配合采用单一径向平面平均直径。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34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34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build="p" autoUpdateAnimBg="0"/>
      <p:bldP spid="34821" grpId="0" build="p" autoUpdateAnimBg="0"/>
      <p:bldP spid="34822" grpId="0" build="p" autoUpdateAnimBg="0"/>
      <p:bldP spid="34823" grpId="0" build="p" autoUpdateAnimBg="0"/>
      <p:bldP spid="34824" grpId="0" build="p" autoUpdateAnimBg="0"/>
      <p:bldP spid="34826" grpId="0" autoUpdateAnimBg="0"/>
      <p:bldP spid="3483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508694-452F-47B5-94B0-5DC1384E069A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9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49156" name="Text Box 1028"/>
          <p:cNvSpPr txBox="1">
            <a:spLocks noChangeArrowheads="1"/>
          </p:cNvSpPr>
          <p:nvPr/>
        </p:nvSpPr>
        <p:spPr bwMode="auto">
          <a:xfrm>
            <a:off x="473075" y="258763"/>
            <a:ext cx="7553325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/>
              <a:t>2.</a:t>
            </a:r>
            <a:r>
              <a:rPr lang="zh-CN" altLang="en-US" sz="2800" b="1" dirty="0">
                <a:latin typeface="宋体" panose="02010600030101010101" pitchFamily="2" charset="-122"/>
              </a:rPr>
              <a:t> 滚动轴承内、外圈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公差带</a:t>
            </a:r>
            <a:endParaRPr lang="zh-CN" altLang="en-US" sz="2800" b="1" dirty="0"/>
          </a:p>
        </p:txBody>
      </p:sp>
      <p:sp>
        <p:nvSpPr>
          <p:cNvPr id="49160" name="Text Box 1032"/>
          <p:cNvSpPr txBox="1">
            <a:spLocks noChangeArrowheads="1"/>
          </p:cNvSpPr>
          <p:nvPr/>
        </p:nvSpPr>
        <p:spPr bwMode="auto">
          <a:xfrm>
            <a:off x="674688" y="1006475"/>
            <a:ext cx="3519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/>
              <a:t>(1) 内圈 </a:t>
            </a:r>
            <a:r>
              <a:rPr lang="zh-CN" altLang="en-US" b="1">
                <a:cs typeface="Times New Roman" panose="02020603050405020304" pitchFamily="18" charset="0"/>
              </a:rPr>
              <a:t>— </a:t>
            </a:r>
            <a:r>
              <a:rPr lang="zh-CN" altLang="en-US" b="1"/>
              <a:t>基准孔</a:t>
            </a:r>
          </a:p>
        </p:txBody>
      </p:sp>
      <p:sp>
        <p:nvSpPr>
          <p:cNvPr id="49162" name="Text Box 1034"/>
          <p:cNvSpPr txBox="1">
            <a:spLocks noChangeArrowheads="1"/>
          </p:cNvSpPr>
          <p:nvPr/>
        </p:nvSpPr>
        <p:spPr bwMode="auto">
          <a:xfrm>
            <a:off x="4445000" y="1006475"/>
            <a:ext cx="1876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>
                <a:solidFill>
                  <a:srgbClr val="FF3300"/>
                </a:solidFill>
              </a:rPr>
              <a:t>ES = 0</a:t>
            </a:r>
          </a:p>
        </p:txBody>
      </p:sp>
      <p:sp>
        <p:nvSpPr>
          <p:cNvPr id="49163" name="Text Box 1035"/>
          <p:cNvSpPr txBox="1">
            <a:spLocks noChangeArrowheads="1"/>
          </p:cNvSpPr>
          <p:nvPr/>
        </p:nvSpPr>
        <p:spPr bwMode="auto">
          <a:xfrm>
            <a:off x="671538" y="1553172"/>
            <a:ext cx="5014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(2) 外圈 </a:t>
            </a:r>
            <a:r>
              <a:rPr lang="zh-CN" altLang="en-US" b="1" dirty="0">
                <a:cs typeface="Times New Roman" panose="02020603050405020304" pitchFamily="18" charset="0"/>
              </a:rPr>
              <a:t>—</a:t>
            </a:r>
            <a:r>
              <a:rPr lang="zh-CN" altLang="en-US" b="1" dirty="0"/>
              <a:t>基准轴</a:t>
            </a:r>
          </a:p>
        </p:txBody>
      </p:sp>
      <p:sp>
        <p:nvSpPr>
          <p:cNvPr id="49165" name="Text Box 1037"/>
          <p:cNvSpPr txBox="1">
            <a:spLocks noChangeArrowheads="1"/>
          </p:cNvSpPr>
          <p:nvPr/>
        </p:nvSpPr>
        <p:spPr bwMode="auto">
          <a:xfrm>
            <a:off x="4485216" y="1554754"/>
            <a:ext cx="2382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 dirty="0" err="1">
                <a:solidFill>
                  <a:srgbClr val="FF3300"/>
                </a:solidFill>
              </a:rPr>
              <a:t>es</a:t>
            </a:r>
            <a:r>
              <a:rPr lang="en-US" altLang="zh-CN" b="1" dirty="0">
                <a:solidFill>
                  <a:srgbClr val="FF3300"/>
                </a:solidFill>
              </a:rPr>
              <a:t> = 0</a:t>
            </a:r>
          </a:p>
        </p:txBody>
      </p:sp>
      <p:sp>
        <p:nvSpPr>
          <p:cNvPr id="49167" name="Text Box 1039"/>
          <p:cNvSpPr txBox="1">
            <a:spLocks noChangeArrowheads="1"/>
          </p:cNvSpPr>
          <p:nvPr/>
        </p:nvSpPr>
        <p:spPr bwMode="auto">
          <a:xfrm>
            <a:off x="1229629" y="5794787"/>
            <a:ext cx="64171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其特点—— 内、外圈的</a:t>
            </a:r>
            <a:r>
              <a:rPr lang="zh-CN" altLang="en-US" b="1" dirty="0">
                <a:solidFill>
                  <a:srgbClr val="FF3300"/>
                </a:solidFill>
              </a:rPr>
              <a:t>公差带都在零线下面</a:t>
            </a:r>
            <a:r>
              <a:rPr lang="zh-CN" altLang="en-US" b="1" dirty="0"/>
              <a:t>。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400" y="2094884"/>
            <a:ext cx="5897239" cy="362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Line 1041"/>
          <p:cNvSpPr>
            <a:spLocks noChangeShapeType="1"/>
          </p:cNvSpPr>
          <p:nvPr/>
        </p:nvSpPr>
        <p:spPr bwMode="auto">
          <a:xfrm>
            <a:off x="1655276" y="2630316"/>
            <a:ext cx="5745929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4" name="Line 1042"/>
          <p:cNvSpPr>
            <a:spLocks noChangeShapeType="1"/>
          </p:cNvSpPr>
          <p:nvPr/>
        </p:nvSpPr>
        <p:spPr bwMode="auto">
          <a:xfrm>
            <a:off x="1673444" y="3890659"/>
            <a:ext cx="5707094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 bwMode="auto">
          <a:xfrm>
            <a:off x="2057622" y="4926062"/>
            <a:ext cx="1195754" cy="63073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utoUpdateAnimBg="0"/>
      <p:bldP spid="49160" grpId="0" autoUpdateAnimBg="0"/>
      <p:bldP spid="49162" grpId="0" autoUpdateAnimBg="0"/>
      <p:bldP spid="49163" grpId="0" autoUpdateAnimBg="0"/>
      <p:bldP spid="49165" grpId="0" autoUpdateAnimBg="0"/>
      <p:bldP spid="49167" grpId="0" autoUpdateAnimBg="0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98F958-0E6A-442D-BF95-FD1DD6F27017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10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11163" y="203200"/>
            <a:ext cx="853916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/>
              <a:t>3.</a:t>
            </a:r>
            <a:r>
              <a:rPr lang="zh-CN" altLang="en-US" sz="2800" b="1" dirty="0">
                <a:latin typeface="宋体" panose="02010600030101010101" pitchFamily="2" charset="-122"/>
              </a:rPr>
              <a:t> 与滚动轴承配合的孔、轴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公差带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8213" name="Text Box 21"/>
          <p:cNvSpPr txBox="1">
            <a:spLocks noChangeArrowheads="1"/>
          </p:cNvSpPr>
          <p:nvPr/>
        </p:nvSpPr>
        <p:spPr bwMode="auto">
          <a:xfrm>
            <a:off x="212725" y="765175"/>
            <a:ext cx="84264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dirty="0"/>
              <a:t> </a:t>
            </a: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en-US" dirty="0"/>
              <a:t> </a:t>
            </a:r>
            <a:r>
              <a:rPr lang="en-US" altLang="zh-CN" dirty="0" smtClean="0"/>
              <a:t>GB/T275-2015</a:t>
            </a:r>
            <a:r>
              <a:rPr lang="zh-CN" altLang="en-US" b="1" dirty="0" smtClean="0"/>
              <a:t>规定</a:t>
            </a:r>
            <a:r>
              <a:rPr lang="zh-CN" altLang="en-US" b="1" dirty="0"/>
              <a:t>了滚动轴承外圈外径与外壳孔配合</a:t>
            </a:r>
            <a:r>
              <a:rPr lang="en-US" altLang="zh-CN" b="1" dirty="0"/>
              <a:t>16</a:t>
            </a:r>
            <a:r>
              <a:rPr lang="zh-CN" altLang="en-US" b="1" dirty="0"/>
              <a:t>种公差带（</a:t>
            </a:r>
            <a:r>
              <a:rPr lang="zh-CN" altLang="en-US" b="1" dirty="0">
                <a:solidFill>
                  <a:srgbClr val="FF3300"/>
                </a:solidFill>
              </a:rPr>
              <a:t>均选自</a:t>
            </a:r>
            <a:r>
              <a:rPr lang="en-US" altLang="zh-CN" b="1" dirty="0">
                <a:solidFill>
                  <a:srgbClr val="FF3300"/>
                </a:solidFill>
              </a:rPr>
              <a:t>GB/T 1801 </a:t>
            </a:r>
            <a:r>
              <a:rPr lang="zh-CN" altLang="en-US" b="1" dirty="0">
                <a:solidFill>
                  <a:srgbClr val="FF3300"/>
                </a:solidFill>
                <a:cs typeface="Times New Roman" panose="02020603050405020304" pitchFamily="18" charset="0"/>
              </a:rPr>
              <a:t>—</a:t>
            </a:r>
            <a:r>
              <a:rPr lang="en-US" altLang="zh-CN" b="1" dirty="0">
                <a:solidFill>
                  <a:srgbClr val="FF3300"/>
                </a:solidFill>
                <a:cs typeface="Times New Roman" panose="02020603050405020304" pitchFamily="18" charset="0"/>
              </a:rPr>
              <a:t>2009</a:t>
            </a:r>
            <a:r>
              <a:rPr lang="zh-CN" altLang="en-US" b="1" dirty="0">
                <a:solidFill>
                  <a:srgbClr val="FF3300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21" y="2170617"/>
            <a:ext cx="7465672" cy="4414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1428758" y="3509672"/>
            <a:ext cx="5549804" cy="375027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" name="圆角矩形标注 10"/>
          <p:cNvSpPr/>
          <p:nvPr/>
        </p:nvSpPr>
        <p:spPr bwMode="auto">
          <a:xfrm>
            <a:off x="5925538" y="1660359"/>
            <a:ext cx="1994061" cy="510778"/>
          </a:xfrm>
          <a:prstGeom prst="wedgeRoundRectCallout">
            <a:avLst>
              <a:gd name="adj1" fmla="val -187539"/>
              <a:gd name="adj2" fmla="val 255502"/>
              <a:gd name="adj3" fmla="val 16667"/>
            </a:avLst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孔的公差带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68" y="1666663"/>
            <a:ext cx="4271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C00000"/>
                </a:solidFill>
              </a:rPr>
              <a:t>轴承外圈： </a:t>
            </a:r>
            <a:r>
              <a:rPr lang="en-US" altLang="zh-CN" sz="2800" b="1" dirty="0" err="1" smtClean="0"/>
              <a:t>es</a:t>
            </a:r>
            <a:r>
              <a:rPr lang="en-US" altLang="zh-CN" sz="2800" b="1" dirty="0" smtClean="0"/>
              <a:t> = 0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  <p:bldP spid="8213" grpId="0" autoUpdateAnimBg="0"/>
      <p:bldP spid="10" grpId="0" animBg="1"/>
      <p:bldP spid="11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72A0B6-613D-491A-B26F-4A4AD194AF77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11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373063" y="5562611"/>
            <a:ext cx="83105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         </a:t>
            </a:r>
            <a:r>
              <a:rPr lang="zh-CN" altLang="en-US" b="1" dirty="0"/>
              <a:t>由图可见，轴承内圈与轴的配合比极限与配合标准中基孔制（</a:t>
            </a:r>
            <a:r>
              <a:rPr lang="en-US" altLang="zh-CN" b="1" dirty="0">
                <a:solidFill>
                  <a:srgbClr val="FF3300"/>
                </a:solidFill>
              </a:rPr>
              <a:t>H</a:t>
            </a:r>
            <a:r>
              <a:rPr lang="zh-CN" altLang="en-US" b="1" dirty="0"/>
              <a:t>）的配合要</a:t>
            </a:r>
            <a:r>
              <a:rPr lang="zh-CN" altLang="en-US" b="1" dirty="0">
                <a:solidFill>
                  <a:srgbClr val="FF3300"/>
                </a:solidFill>
              </a:rPr>
              <a:t>紧</a:t>
            </a:r>
            <a:r>
              <a:rPr lang="zh-CN" altLang="en-US" b="1" dirty="0"/>
              <a:t>。</a:t>
            </a:r>
          </a:p>
        </p:txBody>
      </p: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261938" y="252413"/>
            <a:ext cx="842645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dirty="0"/>
              <a:t>     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 smtClean="0"/>
              <a:t>）</a:t>
            </a:r>
            <a:r>
              <a:rPr lang="en-US" altLang="zh-CN" dirty="0" smtClean="0"/>
              <a:t>GB/T275-2015</a:t>
            </a:r>
            <a:r>
              <a:rPr lang="zh-CN" altLang="en-US" b="1" dirty="0" smtClean="0"/>
              <a:t>规定</a:t>
            </a:r>
            <a:r>
              <a:rPr lang="zh-CN" altLang="en-US" b="1" dirty="0"/>
              <a:t>了滚动轴承内圈内径与轴颈配合</a:t>
            </a:r>
            <a:r>
              <a:rPr lang="en-US" altLang="zh-CN" b="1" dirty="0"/>
              <a:t>17</a:t>
            </a:r>
            <a:r>
              <a:rPr lang="zh-CN" altLang="en-US" b="1" dirty="0"/>
              <a:t>种公差带（</a:t>
            </a:r>
            <a:r>
              <a:rPr lang="zh-CN" altLang="en-US" b="1" dirty="0">
                <a:solidFill>
                  <a:srgbClr val="FF3300"/>
                </a:solidFill>
              </a:rPr>
              <a:t>均选自</a:t>
            </a:r>
            <a:r>
              <a:rPr lang="en-US" altLang="zh-CN" b="1" dirty="0">
                <a:solidFill>
                  <a:srgbClr val="FF3300"/>
                </a:solidFill>
              </a:rPr>
              <a:t>GB/T 1801 </a:t>
            </a:r>
            <a:r>
              <a:rPr lang="zh-CN" altLang="en-US" b="1" dirty="0">
                <a:solidFill>
                  <a:srgbClr val="FF3300"/>
                </a:solidFill>
                <a:cs typeface="Times New Roman" panose="02020603050405020304" pitchFamily="18" charset="0"/>
              </a:rPr>
              <a:t>—</a:t>
            </a:r>
            <a:r>
              <a:rPr lang="en-US" altLang="zh-CN" b="1" dirty="0">
                <a:solidFill>
                  <a:srgbClr val="FF3300"/>
                </a:solidFill>
                <a:cs typeface="Times New Roman" panose="02020603050405020304" pitchFamily="18" charset="0"/>
              </a:rPr>
              <a:t>2009</a:t>
            </a:r>
            <a:r>
              <a:rPr lang="zh-CN" altLang="en-US" b="1" dirty="0">
                <a:solidFill>
                  <a:srgbClr val="FF3300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54552" y="2697965"/>
            <a:ext cx="245043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</a:rPr>
              <a:t>轴承内圈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基准孔</a:t>
            </a:r>
            <a:r>
              <a:rPr lang="zh-CN" altLang="en-US" b="1" dirty="0" smtClean="0">
                <a:solidFill>
                  <a:srgbClr val="FF0000"/>
                </a:solidFill>
              </a:rPr>
              <a:t>：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ES = 0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 algn="l"/>
            <a:r>
              <a:rPr lang="zh-CN" altLang="en-US" sz="2800" b="1" dirty="0" smtClean="0"/>
              <a:t>基准孔</a:t>
            </a:r>
            <a:r>
              <a:rPr lang="en-US" altLang="zh-CN" sz="2800" b="1" dirty="0" smtClean="0"/>
              <a:t>H</a:t>
            </a:r>
            <a:r>
              <a:rPr lang="zh-CN" altLang="en-US" sz="2800" b="1" dirty="0" smtClean="0"/>
              <a:t>：</a:t>
            </a:r>
            <a:endParaRPr lang="en-US" altLang="zh-CN" sz="2800" b="1" dirty="0" smtClean="0"/>
          </a:p>
          <a:p>
            <a:pPr algn="l"/>
            <a:r>
              <a:rPr lang="en-US" altLang="zh-CN" sz="2800" b="1" dirty="0" smtClean="0"/>
              <a:t>EI = 0</a:t>
            </a:r>
            <a:endParaRPr lang="zh-CN" altLang="en-US" sz="2800" b="1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150" y="1309592"/>
            <a:ext cx="5545028" cy="39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3624653" y="2074673"/>
            <a:ext cx="3716990" cy="461665"/>
          </a:xfrm>
          <a:prstGeom prst="rect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</a:rPr>
              <a:t>    H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AutoShape 13"/>
          <p:cNvSpPr>
            <a:spLocks noChangeArrowheads="1"/>
          </p:cNvSpPr>
          <p:nvPr/>
        </p:nvSpPr>
        <p:spPr bwMode="auto">
          <a:xfrm>
            <a:off x="1334802" y="1352812"/>
            <a:ext cx="2289851" cy="497773"/>
          </a:xfrm>
          <a:prstGeom prst="wedgeRoundRectCallout">
            <a:avLst>
              <a:gd name="adj1" fmla="val 167025"/>
              <a:gd name="adj2" fmla="val 57207"/>
              <a:gd name="adj3" fmla="val 16667"/>
            </a:avLst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/>
              <a:t>轴颈的公差带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3624653" y="2550494"/>
            <a:ext cx="3716990" cy="269081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autoUpdateAnimBg="0"/>
      <p:bldP spid="51216" grpId="0" autoUpdateAnimBg="0"/>
      <p:bldP spid="10" grpId="0"/>
      <p:bldP spid="16" grpId="0" animBg="1" autoUpdateAnimBg="0"/>
      <p:bldP spid="17" grpId="0" animBg="1" autoUpdateAnimBg="0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B4F358-4017-4AD5-ABF0-B0182827C08D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12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423494" y="1019946"/>
            <a:ext cx="758416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 </a:t>
            </a: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 </a:t>
            </a:r>
            <a:r>
              <a:rPr lang="en-US" altLang="zh-CN" b="1" dirty="0" smtClean="0">
                <a:latin typeface="宋体" pitchFamily="2" charset="-122"/>
              </a:rPr>
              <a:t>GB/T275</a:t>
            </a:r>
            <a:r>
              <a:rPr lang="en-US" altLang="zh-CN" b="1" dirty="0" smtClean="0"/>
              <a:t>—</a:t>
            </a:r>
            <a:r>
              <a:rPr lang="en-US" altLang="zh-CN" b="1" dirty="0" smtClean="0">
                <a:latin typeface="宋体" pitchFamily="2" charset="-122"/>
              </a:rPr>
              <a:t>2015</a:t>
            </a:r>
            <a:r>
              <a:rPr lang="zh-CN" altLang="en-US" b="1" dirty="0" smtClean="0">
                <a:latin typeface="宋体" panose="02010600030101010101" pitchFamily="2" charset="-122"/>
              </a:rPr>
              <a:t>规定</a:t>
            </a:r>
            <a:r>
              <a:rPr lang="zh-CN" altLang="en-US" b="1" dirty="0">
                <a:latin typeface="宋体" panose="02010600030101010101" pitchFamily="2" charset="-122"/>
              </a:rPr>
              <a:t>的与滚动轴承配合的外壳孔、轴颈</a:t>
            </a:r>
            <a:r>
              <a:rPr lang="zh-CN" altLang="en-US" b="1" dirty="0" smtClean="0">
                <a:latin typeface="宋体" panose="02010600030101010101" pitchFamily="2" charset="-122"/>
              </a:rPr>
              <a:t>公差带适用范围</a:t>
            </a:r>
            <a:r>
              <a:rPr lang="zh-CN" altLang="en-US" b="1" dirty="0">
                <a:latin typeface="宋体" panose="02010600030101010101" pitchFamily="2" charset="-122"/>
              </a:rPr>
              <a:t>为：</a:t>
            </a: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874652" y="2303509"/>
            <a:ext cx="715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① 对轴承的旋转精度和运转平稳性无特殊要求。</a:t>
            </a: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864834" y="2852306"/>
            <a:ext cx="7332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②  轴为实体或厚壁空心的轴。</a:t>
            </a: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877179" y="3368414"/>
            <a:ext cx="752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③  轴与外壳孔的材料为钢或铸铁。</a:t>
            </a:r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895874" y="3908040"/>
            <a:ext cx="6956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④  轴承的工作温度不超过</a:t>
            </a:r>
            <a:r>
              <a:rPr lang="en-US" altLang="zh-CN" b="1" dirty="0"/>
              <a:t>100</a:t>
            </a:r>
            <a:r>
              <a:rPr lang="en-US" altLang="zh-CN" b="1" dirty="0">
                <a:latin typeface="宋体" panose="02010600030101010101" pitchFamily="2" charset="-122"/>
              </a:rPr>
              <a:t>℃</a:t>
            </a:r>
            <a:r>
              <a:rPr lang="zh-CN" altLang="en-US" b="1" dirty="0">
                <a:cs typeface="Times New Roman" panose="02020603050405020304" pitchFamily="18" charset="0"/>
              </a:rPr>
              <a:t>的场合。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 build="p" autoUpdateAnimBg="0"/>
      <p:bldP spid="15364" grpId="0"/>
      <p:bldP spid="15365" grpId="0"/>
      <p:bldP spid="15366" grpId="0"/>
      <p:bldP spid="153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40F9DC-2301-4B62-AE59-C1445ECBA775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71609" y="811875"/>
            <a:ext cx="733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 smtClean="0"/>
              <a:t>（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）</a:t>
            </a:r>
            <a:r>
              <a:rPr lang="en-US" altLang="zh-CN" b="1" dirty="0" smtClean="0"/>
              <a:t> </a:t>
            </a:r>
            <a:r>
              <a:rPr lang="zh-CN" altLang="en-US" b="1" dirty="0"/>
              <a:t>轴颈与外壳孔的公差等级的选用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288509" y="1609540"/>
            <a:ext cx="8620125" cy="146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15000"/>
              </a:spcBef>
            </a:pPr>
            <a:r>
              <a:rPr lang="zh-CN" altLang="en-US" b="1" dirty="0" smtClean="0"/>
              <a:t>         轴颈与外壳孔的公差等级与滚动轴承的公差等级有关。</a:t>
            </a:r>
          </a:p>
          <a:p>
            <a:pPr algn="l" eaLnBrk="1" hangingPunct="1">
              <a:lnSpc>
                <a:spcPct val="120000"/>
              </a:lnSpc>
              <a:spcBef>
                <a:spcPct val="15000"/>
              </a:spcBef>
            </a:pPr>
            <a:r>
              <a:rPr lang="zh-CN" altLang="en-US" b="1" dirty="0" smtClean="0"/>
              <a:t>         对</a:t>
            </a:r>
            <a:r>
              <a:rPr lang="zh-CN" altLang="en-US" b="1" dirty="0" smtClean="0">
                <a:solidFill>
                  <a:srgbClr val="FF3300"/>
                </a:solidFill>
              </a:rPr>
              <a:t>普通级、</a:t>
            </a:r>
            <a:r>
              <a:rPr lang="en-US" altLang="zh-CN" b="1" dirty="0" smtClean="0">
                <a:solidFill>
                  <a:srgbClr val="FF3300"/>
                </a:solidFill>
              </a:rPr>
              <a:t>6</a:t>
            </a:r>
            <a:r>
              <a:rPr lang="zh-CN" altLang="en-US" b="1" dirty="0" smtClean="0">
                <a:solidFill>
                  <a:srgbClr val="FF3300"/>
                </a:solidFill>
              </a:rPr>
              <a:t>级的轴承</a:t>
            </a:r>
            <a:r>
              <a:rPr lang="zh-CN" altLang="en-US" b="1" dirty="0" smtClean="0"/>
              <a:t>：轴一般取</a:t>
            </a:r>
            <a:r>
              <a:rPr lang="en-US" altLang="zh-CN" b="1" dirty="0" smtClean="0"/>
              <a:t>IT6; </a:t>
            </a:r>
            <a:r>
              <a:rPr lang="zh-CN" altLang="en-US" b="1" dirty="0" smtClean="0"/>
              <a:t>孔取</a:t>
            </a:r>
            <a:r>
              <a:rPr lang="en-US" altLang="zh-CN" b="1" dirty="0" smtClean="0"/>
              <a:t>IT7</a:t>
            </a:r>
            <a:r>
              <a:rPr lang="zh-CN" altLang="en-US" b="1" dirty="0" smtClean="0"/>
              <a:t>。对旋转精度和运转平稳性要求高的场合，轴取</a:t>
            </a:r>
            <a:r>
              <a:rPr lang="en-US" altLang="zh-CN" b="1" dirty="0" smtClean="0"/>
              <a:t>IT5; </a:t>
            </a:r>
            <a:r>
              <a:rPr lang="zh-CN" altLang="en-US" b="1" dirty="0" smtClean="0"/>
              <a:t>孔取</a:t>
            </a:r>
            <a:r>
              <a:rPr lang="en-US" altLang="zh-CN" b="1" dirty="0" smtClean="0"/>
              <a:t>IT6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895350" y="3248118"/>
            <a:ext cx="635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对</a:t>
            </a:r>
            <a:r>
              <a:rPr lang="en-US" altLang="zh-CN" b="1" dirty="0">
                <a:solidFill>
                  <a:srgbClr val="FF3300"/>
                </a:solidFill>
              </a:rPr>
              <a:t>5</a:t>
            </a:r>
            <a:r>
              <a:rPr lang="zh-CN" altLang="en-US" b="1" dirty="0">
                <a:solidFill>
                  <a:srgbClr val="FF3300"/>
                </a:solidFill>
              </a:rPr>
              <a:t>级的轴承</a:t>
            </a:r>
            <a:r>
              <a:rPr lang="zh-CN" altLang="en-US" b="1" dirty="0"/>
              <a:t>：轴、孔均取</a:t>
            </a:r>
            <a:r>
              <a:rPr lang="en-US" altLang="zh-CN" b="1" dirty="0"/>
              <a:t>IT6</a:t>
            </a:r>
            <a:r>
              <a:rPr lang="zh-CN" altLang="en-US" b="1" dirty="0"/>
              <a:t>。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92334" y="3906329"/>
            <a:ext cx="83899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        对</a:t>
            </a:r>
            <a:r>
              <a:rPr lang="en-US" altLang="zh-CN" b="1" dirty="0">
                <a:solidFill>
                  <a:srgbClr val="FF3300"/>
                </a:solidFill>
              </a:rPr>
              <a:t>4</a:t>
            </a:r>
            <a:r>
              <a:rPr lang="zh-CN" altLang="en-US" b="1" dirty="0">
                <a:solidFill>
                  <a:srgbClr val="FF3300"/>
                </a:solidFill>
              </a:rPr>
              <a:t>级的轴承</a:t>
            </a:r>
            <a:r>
              <a:rPr lang="zh-CN" altLang="en-US" b="1" dirty="0"/>
              <a:t>：轴取</a:t>
            </a:r>
            <a:r>
              <a:rPr lang="en-US" altLang="zh-CN" b="1" dirty="0"/>
              <a:t>IT5</a:t>
            </a:r>
            <a:r>
              <a:rPr lang="zh-CN" altLang="en-US" b="1" dirty="0"/>
              <a:t>、孔取</a:t>
            </a:r>
            <a:r>
              <a:rPr lang="en-US" altLang="zh-CN" b="1" dirty="0"/>
              <a:t>IT6,</a:t>
            </a:r>
            <a:r>
              <a:rPr lang="zh-CN" altLang="en-US" b="1" dirty="0"/>
              <a:t>要求更高的场合，轴取</a:t>
            </a:r>
            <a:r>
              <a:rPr lang="en-US" altLang="zh-CN" b="1" dirty="0"/>
              <a:t>IT4</a:t>
            </a:r>
            <a:r>
              <a:rPr lang="zh-CN" altLang="en-US" b="1" dirty="0"/>
              <a:t>、孔取</a:t>
            </a:r>
            <a:r>
              <a:rPr lang="en-US" altLang="zh-CN" b="1" dirty="0"/>
              <a:t>IT5</a:t>
            </a:r>
            <a:r>
              <a:rPr lang="zh-CN" altLang="en-US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A933554-0D78-4A2D-85DB-4741FC159921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14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652463" y="291040"/>
            <a:ext cx="7559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宋体" panose="02010600030101010101" pitchFamily="2" charset="-122"/>
              </a:rPr>
              <a:t>6.2 滚动轴承与孔、轴结合的精度设计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069883" y="917687"/>
            <a:ext cx="185102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600" b="1" dirty="0"/>
              <a:t>设计内容： 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825980" y="1361571"/>
            <a:ext cx="3567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（1</a:t>
            </a:r>
            <a:r>
              <a:rPr lang="zh-CN" altLang="en-US" b="1" dirty="0" smtClean="0"/>
              <a:t>）配合</a:t>
            </a:r>
            <a:r>
              <a:rPr lang="zh-CN" altLang="en-US" b="1" dirty="0" smtClean="0">
                <a:latin typeface="宋体" panose="02010600030101010101" pitchFamily="2" charset="-122"/>
              </a:rPr>
              <a:t>选用</a:t>
            </a:r>
            <a:r>
              <a:rPr lang="zh-CN" altLang="en-US" b="1" dirty="0">
                <a:latin typeface="宋体" panose="02010600030101010101" pitchFamily="2" charset="-122"/>
              </a:rPr>
              <a:t>依据； 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823436" y="1787699"/>
            <a:ext cx="431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（2）孔、轴公差带； 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843548" y="2216680"/>
            <a:ext cx="649259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（3）配合表面的几何公差和表面粗糙度轮廓 。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613422" y="2802612"/>
            <a:ext cx="4827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6.2.1  配合选用的依据</a:t>
            </a:r>
            <a:r>
              <a:rPr lang="zh-CN" altLang="en-US"/>
              <a:t> </a:t>
            </a:r>
          </a:p>
        </p:txBody>
      </p:sp>
      <p:sp>
        <p:nvSpPr>
          <p:cNvPr id="9296" name="Text Box 80"/>
          <p:cNvSpPr txBox="1">
            <a:spLocks noChangeArrowheads="1"/>
          </p:cNvSpPr>
          <p:nvPr/>
        </p:nvSpPr>
        <p:spPr bwMode="auto">
          <a:xfrm>
            <a:off x="956322" y="3275627"/>
            <a:ext cx="4827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选用轴与外壳孔公差带主要根据：</a:t>
            </a:r>
          </a:p>
        </p:txBody>
      </p:sp>
      <p:grpSp>
        <p:nvGrpSpPr>
          <p:cNvPr id="9302" name="Group 86"/>
          <p:cNvGrpSpPr/>
          <p:nvPr/>
        </p:nvGrpSpPr>
        <p:grpSpPr bwMode="auto">
          <a:xfrm>
            <a:off x="1950705" y="3776864"/>
            <a:ext cx="3076575" cy="1731962"/>
            <a:chOff x="226" y="1774"/>
            <a:chExt cx="1938" cy="1091"/>
          </a:xfrm>
        </p:grpSpPr>
        <p:sp>
          <p:nvSpPr>
            <p:cNvPr id="16405" name="AutoShape 81"/>
            <p:cNvSpPr/>
            <p:nvPr/>
          </p:nvSpPr>
          <p:spPr bwMode="auto">
            <a:xfrm>
              <a:off x="226" y="1863"/>
              <a:ext cx="189" cy="1002"/>
            </a:xfrm>
            <a:prstGeom prst="leftBrace">
              <a:avLst>
                <a:gd name="adj1" fmla="val 4418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06" name="Text Box 82"/>
            <p:cNvSpPr txBox="1">
              <a:spLocks noChangeArrowheads="1"/>
            </p:cNvSpPr>
            <p:nvPr/>
          </p:nvSpPr>
          <p:spPr bwMode="auto">
            <a:xfrm>
              <a:off x="470" y="1774"/>
              <a:ext cx="16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b="1">
                  <a:latin typeface="宋体" panose="02010600030101010101" pitchFamily="2" charset="-122"/>
                </a:rPr>
                <a:t>负荷类型</a:t>
              </a:r>
              <a:r>
                <a:rPr lang="zh-CN" altLang="en-US" b="1"/>
                <a:t> </a:t>
              </a:r>
            </a:p>
          </p:txBody>
        </p:sp>
      </p:grpSp>
      <p:sp>
        <p:nvSpPr>
          <p:cNvPr id="9299" name="Text Box 83"/>
          <p:cNvSpPr txBox="1">
            <a:spLocks noChangeArrowheads="1"/>
          </p:cNvSpPr>
          <p:nvPr/>
        </p:nvSpPr>
        <p:spPr bwMode="auto">
          <a:xfrm>
            <a:off x="2338055" y="4253114"/>
            <a:ext cx="275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latin typeface="宋体" panose="02010600030101010101" pitchFamily="2" charset="-122"/>
              </a:rPr>
              <a:t>负荷大小</a:t>
            </a:r>
            <a:r>
              <a:rPr lang="en-US" altLang="zh-CN" b="1"/>
              <a:t> </a:t>
            </a:r>
          </a:p>
        </p:txBody>
      </p:sp>
      <p:sp>
        <p:nvSpPr>
          <p:cNvPr id="9300" name="Text Box 84"/>
          <p:cNvSpPr txBox="1">
            <a:spLocks noChangeArrowheads="1"/>
          </p:cNvSpPr>
          <p:nvPr/>
        </p:nvSpPr>
        <p:spPr bwMode="auto">
          <a:xfrm>
            <a:off x="2338055" y="4727776"/>
            <a:ext cx="275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latin typeface="宋体" panose="02010600030101010101" pitchFamily="2" charset="-122"/>
              </a:rPr>
              <a:t>轴承类型和尺寸</a:t>
            </a:r>
            <a:endParaRPr lang="en-US" altLang="zh-CN" b="1"/>
          </a:p>
        </p:txBody>
      </p:sp>
      <p:sp>
        <p:nvSpPr>
          <p:cNvPr id="9301" name="Text Box 85"/>
          <p:cNvSpPr txBox="1">
            <a:spLocks noChangeArrowheads="1"/>
          </p:cNvSpPr>
          <p:nvPr/>
        </p:nvSpPr>
        <p:spPr bwMode="auto">
          <a:xfrm>
            <a:off x="2338055" y="5211964"/>
            <a:ext cx="275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latin typeface="宋体" panose="02010600030101010101" pitchFamily="2" charset="-122"/>
              </a:rPr>
              <a:t>工作条件等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9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9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9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9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9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/>
      <p:bldP spid="9220" grpId="0" autoUpdateAnimBg="0"/>
      <p:bldP spid="9221" grpId="0" autoUpdateAnimBg="0"/>
      <p:bldP spid="9222" grpId="0" autoUpdateAnimBg="0"/>
      <p:bldP spid="9223" grpId="0" autoUpdateAnimBg="0"/>
      <p:bldP spid="9224" grpId="0" build="p" autoUpdateAnimBg="0"/>
      <p:bldP spid="9296" grpId="0" build="p" autoUpdateAnimBg="0"/>
      <p:bldP spid="9299" grpId="0" build="p" autoUpdateAnimBg="0"/>
      <p:bldP spid="9300" grpId="0" build="p" autoUpdateAnimBg="0"/>
      <p:bldP spid="930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FB1D05-F786-4C79-A88D-3BF7B0C440AC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511175" y="702091"/>
            <a:ext cx="3767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1.</a:t>
            </a:r>
            <a:r>
              <a:rPr lang="zh-CN" altLang="en-US" b="1" dirty="0">
                <a:latin typeface="宋体" panose="02010600030101010101" pitchFamily="2" charset="-122"/>
              </a:rPr>
              <a:t> 负荷</a:t>
            </a:r>
            <a:r>
              <a:rPr lang="zh-CN" altLang="en-US" b="1" dirty="0" smtClean="0">
                <a:latin typeface="宋体" panose="02010600030101010101" pitchFamily="2" charset="-122"/>
              </a:rPr>
              <a:t>类型</a:t>
            </a:r>
            <a:endParaRPr lang="en-US" altLang="zh-CN" b="1" dirty="0"/>
          </a:p>
        </p:txBody>
      </p:sp>
      <p:sp>
        <p:nvSpPr>
          <p:cNvPr id="4" name="Text Box 26"/>
          <p:cNvSpPr txBox="1">
            <a:spLocks noChangeArrowheads="1"/>
          </p:cNvSpPr>
          <p:nvPr/>
        </p:nvSpPr>
        <p:spPr bwMode="auto">
          <a:xfrm>
            <a:off x="905510" y="1273810"/>
            <a:ext cx="19005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FF3300"/>
                </a:solidFill>
              </a:rPr>
              <a:t>旋转</a:t>
            </a:r>
            <a:r>
              <a:rPr lang="zh-CN" altLang="en-US" b="1" dirty="0"/>
              <a:t>负荷</a:t>
            </a:r>
          </a:p>
        </p:txBody>
      </p:sp>
      <p:sp>
        <p:nvSpPr>
          <p:cNvPr id="5" name="Text Box 71"/>
          <p:cNvSpPr txBox="1">
            <a:spLocks noChangeArrowheads="1"/>
          </p:cNvSpPr>
          <p:nvPr/>
        </p:nvSpPr>
        <p:spPr bwMode="auto">
          <a:xfrm>
            <a:off x="3007995" y="1283335"/>
            <a:ext cx="200850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FF3300"/>
                </a:solidFill>
              </a:rPr>
              <a:t>定向</a:t>
            </a:r>
            <a:r>
              <a:rPr lang="zh-CN" altLang="en-US" b="1" dirty="0"/>
              <a:t>负荷</a:t>
            </a:r>
          </a:p>
        </p:txBody>
      </p:sp>
      <p:pic>
        <p:nvPicPr>
          <p:cNvPr id="6" name="Picture 7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07"/>
          <a:stretch>
            <a:fillRect/>
          </a:stretch>
        </p:blipFill>
        <p:spPr bwMode="auto">
          <a:xfrm>
            <a:off x="1349406" y="2133423"/>
            <a:ext cx="2556771" cy="297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76"/>
          <a:stretch>
            <a:fillRect/>
          </a:stretch>
        </p:blipFill>
        <p:spPr bwMode="auto">
          <a:xfrm>
            <a:off x="4761044" y="2187920"/>
            <a:ext cx="2509768" cy="288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rc 78"/>
          <p:cNvSpPr/>
          <p:nvPr/>
        </p:nvSpPr>
        <p:spPr bwMode="auto">
          <a:xfrm>
            <a:off x="2259580" y="2961784"/>
            <a:ext cx="741363" cy="549275"/>
          </a:xfrm>
          <a:custGeom>
            <a:avLst/>
            <a:gdLst>
              <a:gd name="T0" fmla="*/ 19402654 w 43200"/>
              <a:gd name="T1" fmla="*/ 144261172 h 33893"/>
              <a:gd name="T2" fmla="*/ 218335934 w 43200"/>
              <a:gd name="T3" fmla="*/ 91937660 h 33893"/>
              <a:gd name="T4" fmla="*/ 109168121 w 43200"/>
              <a:gd name="T5" fmla="*/ 91937660 h 3389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33893" fill="none" extrusionOk="0">
                <a:moveTo>
                  <a:pt x="3839" y="33892"/>
                </a:moveTo>
                <a:cubicBezTo>
                  <a:pt x="1339" y="30280"/>
                  <a:pt x="0" y="2599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33893" stroke="0" extrusionOk="0">
                <a:moveTo>
                  <a:pt x="3839" y="33892"/>
                </a:moveTo>
                <a:cubicBezTo>
                  <a:pt x="1339" y="30280"/>
                  <a:pt x="0" y="2599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3839" y="33892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Arc 79"/>
          <p:cNvSpPr/>
          <p:nvPr/>
        </p:nvSpPr>
        <p:spPr bwMode="auto">
          <a:xfrm rot="16200000">
            <a:off x="4508338" y="2445491"/>
            <a:ext cx="1393825" cy="962025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1908321648 h 21600"/>
              <a:gd name="T4" fmla="*/ 0 w 21600"/>
              <a:gd name="T5" fmla="*/ 190832164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80728" y="5149049"/>
            <a:ext cx="2965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内圈：旋转负荷</a:t>
            </a:r>
            <a:endParaRPr lang="en-US" altLang="zh-CN" dirty="0" smtClean="0"/>
          </a:p>
          <a:p>
            <a:r>
              <a:rPr lang="zh-CN" altLang="en-US" dirty="0" smtClean="0"/>
              <a:t>外圈：定向负荷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36489" y="5157926"/>
            <a:ext cx="2965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内圈：定向负荷</a:t>
            </a:r>
            <a:endParaRPr lang="en-US" altLang="zh-CN" dirty="0" smtClean="0"/>
          </a:p>
          <a:p>
            <a:r>
              <a:rPr lang="zh-CN" altLang="en-US" dirty="0" smtClean="0"/>
              <a:t>外圈：旋转负荷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ldLvl="0" animBg="1" autoUpdateAnimBg="0"/>
      <p:bldP spid="5" grpId="0" bldLvl="0" animBg="1" autoUpdateAnimBg="0"/>
      <p:bldP spid="8" grpId="0" animBg="1"/>
      <p:bldP spid="9" grpId="0" bldLvl="0" animBg="1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230CA2-D84C-4A8F-B7BE-C8D14DD7C80E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16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pic>
        <p:nvPicPr>
          <p:cNvPr id="53254" name="Picture 103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00" y="2288995"/>
            <a:ext cx="3200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300" name="Text Box 1076"/>
          <p:cNvSpPr txBox="1">
            <a:spLocks noChangeArrowheads="1"/>
          </p:cNvSpPr>
          <p:nvPr/>
        </p:nvSpPr>
        <p:spPr bwMode="auto">
          <a:xfrm>
            <a:off x="4075790" y="242888"/>
            <a:ext cx="427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rgbClr val="FF3300"/>
                </a:solidFill>
                <a:latin typeface="宋体" panose="02010600030101010101" pitchFamily="2" charset="-122"/>
              </a:rPr>
              <a:t>① </a:t>
            </a:r>
            <a:r>
              <a:rPr lang="zh-CN" altLang="en-US" b="1">
                <a:solidFill>
                  <a:srgbClr val="FF3300"/>
                </a:solidFill>
              </a:rPr>
              <a:t>旋转</a:t>
            </a:r>
            <a:r>
              <a:rPr lang="zh-CN" altLang="en-US" b="1"/>
              <a:t>负荷</a:t>
            </a:r>
            <a:r>
              <a:rPr lang="en-US" altLang="zh-CN" b="1"/>
              <a:t>:</a:t>
            </a:r>
            <a:r>
              <a:rPr lang="zh-CN" altLang="en-US" b="1"/>
              <a:t>选紧一些配合</a:t>
            </a:r>
          </a:p>
        </p:txBody>
      </p:sp>
      <p:sp>
        <p:nvSpPr>
          <p:cNvPr id="53301" name="Text Box 1077"/>
          <p:cNvSpPr txBox="1">
            <a:spLocks noChangeArrowheads="1"/>
          </p:cNvSpPr>
          <p:nvPr/>
        </p:nvSpPr>
        <p:spPr bwMode="auto">
          <a:xfrm>
            <a:off x="4075790" y="779463"/>
            <a:ext cx="4194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rgbClr val="FF3300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b="1">
                <a:solidFill>
                  <a:srgbClr val="FF3300"/>
                </a:solidFill>
              </a:rPr>
              <a:t>定向</a:t>
            </a:r>
            <a:r>
              <a:rPr lang="zh-CN" altLang="en-US" b="1"/>
              <a:t>负荷</a:t>
            </a:r>
            <a:r>
              <a:rPr lang="en-US" altLang="zh-CN" b="1"/>
              <a:t>:</a:t>
            </a:r>
            <a:r>
              <a:rPr lang="zh-CN" altLang="en-US" b="1"/>
              <a:t>选松一些配合</a:t>
            </a:r>
            <a:endParaRPr lang="en-US" altLang="zh-CN" b="1"/>
          </a:p>
        </p:txBody>
      </p:sp>
      <p:sp>
        <p:nvSpPr>
          <p:cNvPr id="53302" name="Text Box 1078"/>
          <p:cNvSpPr txBox="1">
            <a:spLocks noChangeArrowheads="1"/>
          </p:cNvSpPr>
          <p:nvPr/>
        </p:nvSpPr>
        <p:spPr bwMode="auto">
          <a:xfrm>
            <a:off x="4090078" y="1303338"/>
            <a:ext cx="4157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rgbClr val="FF3300"/>
                </a:solidFill>
                <a:latin typeface="宋体" panose="02010600030101010101" pitchFamily="2" charset="-122"/>
              </a:rPr>
              <a:t>③ </a:t>
            </a:r>
            <a:r>
              <a:rPr lang="zh-CN" altLang="en-US" b="1">
                <a:solidFill>
                  <a:srgbClr val="FF3300"/>
                </a:solidFill>
              </a:rPr>
              <a:t>摆动</a:t>
            </a:r>
            <a:r>
              <a:rPr lang="zh-CN" altLang="en-US" b="1"/>
              <a:t>负荷：正常</a:t>
            </a:r>
          </a:p>
        </p:txBody>
      </p:sp>
      <p:pic>
        <p:nvPicPr>
          <p:cNvPr id="53304" name="Picture 108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235" y="2204211"/>
            <a:ext cx="2375193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307" name="Picture 108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288" y="2291523"/>
            <a:ext cx="2386599" cy="3779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330" name="Group 1106"/>
          <p:cNvGrpSpPr/>
          <p:nvPr/>
        </p:nvGrpSpPr>
        <p:grpSpPr bwMode="auto">
          <a:xfrm>
            <a:off x="967465" y="328613"/>
            <a:ext cx="3082925" cy="1335087"/>
            <a:chOff x="1322" y="183"/>
            <a:chExt cx="1942" cy="841"/>
          </a:xfrm>
        </p:grpSpPr>
        <p:sp>
          <p:nvSpPr>
            <p:cNvPr id="17428" name="Text Box 1075"/>
            <p:cNvSpPr txBox="1">
              <a:spLocks noChangeArrowheads="1"/>
            </p:cNvSpPr>
            <p:nvPr/>
          </p:nvSpPr>
          <p:spPr bwMode="auto">
            <a:xfrm>
              <a:off x="1322" y="410"/>
              <a:ext cx="186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b="1" dirty="0"/>
                <a:t>负荷有</a:t>
              </a:r>
              <a:r>
                <a:rPr lang="zh-CN" altLang="en-US" b="1" dirty="0" smtClean="0"/>
                <a:t>三种类型</a:t>
              </a:r>
              <a:endParaRPr lang="en-US" altLang="zh-CN" b="1" dirty="0"/>
            </a:p>
          </p:txBody>
        </p:sp>
        <p:sp>
          <p:nvSpPr>
            <p:cNvPr id="17429" name="AutoShape 1084"/>
            <p:cNvSpPr/>
            <p:nvPr/>
          </p:nvSpPr>
          <p:spPr bwMode="auto">
            <a:xfrm>
              <a:off x="3007" y="183"/>
              <a:ext cx="257" cy="841"/>
            </a:xfrm>
            <a:prstGeom prst="leftBrace">
              <a:avLst>
                <a:gd name="adj1" fmla="val 2727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3316" name="Line 1092"/>
          <p:cNvSpPr>
            <a:spLocks noChangeShapeType="1"/>
          </p:cNvSpPr>
          <p:nvPr/>
        </p:nvSpPr>
        <p:spPr bwMode="auto">
          <a:xfrm>
            <a:off x="1600787" y="3676470"/>
            <a:ext cx="0" cy="1270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317" name="Line 1093"/>
          <p:cNvSpPr>
            <a:spLocks noChangeShapeType="1"/>
          </p:cNvSpPr>
          <p:nvPr/>
        </p:nvSpPr>
        <p:spPr bwMode="auto">
          <a:xfrm>
            <a:off x="1600787" y="3692345"/>
            <a:ext cx="433388" cy="820738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318" name="Line 1094"/>
          <p:cNvSpPr>
            <a:spLocks noChangeShapeType="1"/>
          </p:cNvSpPr>
          <p:nvPr/>
        </p:nvSpPr>
        <p:spPr bwMode="auto">
          <a:xfrm>
            <a:off x="2050050" y="4481333"/>
            <a:ext cx="0" cy="125571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319" name="Line 1095"/>
          <p:cNvSpPr>
            <a:spLocks noChangeShapeType="1"/>
          </p:cNvSpPr>
          <p:nvPr/>
        </p:nvSpPr>
        <p:spPr bwMode="auto">
          <a:xfrm>
            <a:off x="1584912" y="4946470"/>
            <a:ext cx="465138" cy="852488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320" name="Line 1096"/>
          <p:cNvSpPr>
            <a:spLocks noChangeShapeType="1"/>
          </p:cNvSpPr>
          <p:nvPr/>
        </p:nvSpPr>
        <p:spPr bwMode="auto">
          <a:xfrm>
            <a:off x="1616662" y="3692345"/>
            <a:ext cx="417513" cy="207645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322" name="Line 1098"/>
          <p:cNvSpPr>
            <a:spLocks noChangeShapeType="1"/>
          </p:cNvSpPr>
          <p:nvPr/>
        </p:nvSpPr>
        <p:spPr bwMode="auto">
          <a:xfrm>
            <a:off x="1600787" y="2753426"/>
            <a:ext cx="0" cy="93600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323" name="Line 1099"/>
          <p:cNvSpPr>
            <a:spLocks noChangeShapeType="1"/>
          </p:cNvSpPr>
          <p:nvPr/>
        </p:nvSpPr>
        <p:spPr bwMode="auto">
          <a:xfrm flipH="1" flipV="1">
            <a:off x="1600786" y="3703104"/>
            <a:ext cx="0" cy="345114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53324" name="Line 1100"/>
          <p:cNvSpPr>
            <a:spLocks noChangeShapeType="1"/>
          </p:cNvSpPr>
          <p:nvPr/>
        </p:nvSpPr>
        <p:spPr bwMode="auto">
          <a:xfrm>
            <a:off x="1602384" y="3685348"/>
            <a:ext cx="0" cy="2184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325" name="AutoShape 1101"/>
          <p:cNvSpPr>
            <a:spLocks noChangeArrowheads="1"/>
          </p:cNvSpPr>
          <p:nvPr/>
        </p:nvSpPr>
        <p:spPr bwMode="auto">
          <a:xfrm>
            <a:off x="2351357" y="1722893"/>
            <a:ext cx="1409700" cy="982662"/>
          </a:xfrm>
          <a:prstGeom prst="wedgeRoundRectCallout">
            <a:avLst>
              <a:gd name="adj1" fmla="val -68806"/>
              <a:gd name="adj2" fmla="val 287644"/>
              <a:gd name="adj3" fmla="val 16667"/>
            </a:avLst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摆动</a:t>
            </a:r>
          </a:p>
          <a:p>
            <a:pPr>
              <a:spcBef>
                <a:spcPct val="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负荷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0260" y="6152225"/>
            <a:ext cx="4314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定向负荷，</a:t>
            </a:r>
            <a:r>
              <a:rPr lang="en-US" altLang="zh-CN" dirty="0" smtClean="0"/>
              <a:t>P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旋转负荷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5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3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3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3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3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3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3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3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3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3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3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3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00" grpId="0" autoUpdateAnimBg="0"/>
      <p:bldP spid="53301" grpId="0" autoUpdateAnimBg="0"/>
      <p:bldP spid="53302" grpId="0" autoUpdateAnimBg="0"/>
      <p:bldP spid="53316" grpId="0" animBg="1"/>
      <p:bldP spid="53317" grpId="0" animBg="1"/>
      <p:bldP spid="53318" grpId="0" animBg="1"/>
      <p:bldP spid="53319" grpId="0" animBg="1"/>
      <p:bldP spid="53320" grpId="0" animBg="1"/>
      <p:bldP spid="53322" grpId="0" animBg="1"/>
      <p:bldP spid="53323" grpId="0" animBg="1"/>
      <p:bldP spid="53324" grpId="0" animBg="1"/>
      <p:bldP spid="53325" grpId="0" animBg="1" autoUpdateAnimBg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8398CE-8E76-44F4-BD85-D02F68722D07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17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58128" y="335364"/>
            <a:ext cx="463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2. </a:t>
            </a:r>
            <a:r>
              <a:rPr lang="zh-CN" altLang="en-US" b="1" dirty="0">
                <a:latin typeface="宋体" panose="02010600030101010101" pitchFamily="2" charset="-122"/>
              </a:rPr>
              <a:t>负荷</a:t>
            </a:r>
            <a:r>
              <a:rPr lang="zh-CN" altLang="en-US" b="1" dirty="0" smtClean="0">
                <a:latin typeface="宋体" panose="02010600030101010101" pitchFamily="2" charset="-122"/>
              </a:rPr>
              <a:t>大小</a:t>
            </a:r>
            <a:endParaRPr lang="zh-CN" altLang="en-US" b="1" dirty="0"/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022307" y="3885867"/>
            <a:ext cx="566258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b="1" i="1" dirty="0"/>
              <a:t>P</a:t>
            </a:r>
            <a:r>
              <a:rPr lang="en-US" altLang="zh-CN" b="1" dirty="0"/>
              <a:t>: </a:t>
            </a:r>
            <a:r>
              <a:rPr lang="zh-CN" altLang="en-US" b="1" dirty="0"/>
              <a:t>径向当量负荷；</a:t>
            </a:r>
            <a:r>
              <a:rPr lang="en-US" altLang="zh-CN" b="1" i="1" dirty="0"/>
              <a:t>C</a:t>
            </a:r>
            <a:r>
              <a:rPr lang="en-US" altLang="zh-CN" b="1" dirty="0"/>
              <a:t>: </a:t>
            </a:r>
            <a:r>
              <a:rPr lang="zh-CN" altLang="en-US" b="1" dirty="0"/>
              <a:t>径向额定动负荷。</a:t>
            </a: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907550" y="2124037"/>
            <a:ext cx="4090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① </a:t>
            </a:r>
            <a:r>
              <a:rPr lang="zh-CN" altLang="en-US" b="1" dirty="0">
                <a:solidFill>
                  <a:srgbClr val="FF3300"/>
                </a:solidFill>
              </a:rPr>
              <a:t>轻负荷：</a:t>
            </a:r>
            <a:r>
              <a:rPr lang="zh-CN" altLang="en-US" b="1" dirty="0"/>
              <a:t>负荷</a:t>
            </a:r>
            <a:r>
              <a:rPr lang="en-US" altLang="zh-CN" b="1" i="1" dirty="0"/>
              <a:t>P</a:t>
            </a:r>
            <a:r>
              <a:rPr lang="en-US" altLang="zh-CN" b="1" dirty="0"/>
              <a:t>≤</a:t>
            </a:r>
            <a:r>
              <a:rPr lang="en-US" altLang="zh-CN" b="1" dirty="0" smtClean="0"/>
              <a:t>0.06</a:t>
            </a:r>
            <a:r>
              <a:rPr lang="en-US" altLang="zh-CN" b="1" i="1" dirty="0" smtClean="0"/>
              <a:t>C</a:t>
            </a:r>
            <a:r>
              <a:rPr lang="en-US" altLang="zh-CN" b="1" dirty="0" smtClean="0"/>
              <a:t> 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903619" y="2675315"/>
            <a:ext cx="5239729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15000"/>
              </a:spcBef>
            </a:pP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b="1" dirty="0">
                <a:solidFill>
                  <a:srgbClr val="FF3300"/>
                </a:solidFill>
              </a:rPr>
              <a:t>正常负荷：</a:t>
            </a:r>
            <a:r>
              <a:rPr lang="zh-CN" altLang="en-US" b="1" dirty="0"/>
              <a:t>负荷</a:t>
            </a:r>
            <a:r>
              <a:rPr lang="en-US" altLang="zh-CN" b="1" i="1" dirty="0" smtClean="0"/>
              <a:t>P</a:t>
            </a:r>
            <a:r>
              <a:rPr lang="en-US" altLang="zh-CN" b="1" dirty="0" smtClean="0"/>
              <a:t>&gt;0.06～ 0.12</a:t>
            </a:r>
            <a:r>
              <a:rPr lang="en-US" altLang="zh-CN" b="1" i="1" dirty="0" smtClean="0"/>
              <a:t>C</a:t>
            </a:r>
            <a:r>
              <a:rPr lang="en-US" altLang="zh-CN" b="1" dirty="0" smtClean="0"/>
              <a:t> 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901197" y="3320316"/>
            <a:ext cx="4459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③ </a:t>
            </a:r>
            <a:r>
              <a:rPr lang="zh-CN" altLang="en-US" b="1" dirty="0">
                <a:solidFill>
                  <a:srgbClr val="FF3300"/>
                </a:solidFill>
              </a:rPr>
              <a:t>重负荷：</a:t>
            </a:r>
            <a:r>
              <a:rPr lang="zh-CN" altLang="en-US" b="1" dirty="0"/>
              <a:t>负荷</a:t>
            </a:r>
            <a:r>
              <a:rPr lang="en-US" altLang="zh-CN" b="1" i="1" dirty="0" smtClean="0"/>
              <a:t>P</a:t>
            </a:r>
            <a:r>
              <a:rPr lang="en-US" altLang="zh-CN" b="1" dirty="0" smtClean="0"/>
              <a:t>&gt;0.12</a:t>
            </a:r>
            <a:r>
              <a:rPr lang="en-US" altLang="zh-CN" b="1" i="1" dirty="0" smtClean="0"/>
              <a:t>C</a:t>
            </a:r>
            <a:r>
              <a:rPr lang="en-US" altLang="zh-CN" b="1" dirty="0"/>
              <a:t>。</a:t>
            </a:r>
            <a:endParaRPr lang="zh-CN" altLang="en-US" b="1" dirty="0"/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473538" y="1043612"/>
            <a:ext cx="84041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滚动轴承套圈与轴、外壳孔配合的最小过盈取决于负荷大小。</a:t>
            </a:r>
          </a:p>
        </p:txBody>
      </p:sp>
      <p:sp>
        <p:nvSpPr>
          <p:cNvPr id="10268" name="Text Box 28"/>
          <p:cNvSpPr txBox="1">
            <a:spLocks noChangeArrowheads="1"/>
          </p:cNvSpPr>
          <p:nvPr/>
        </p:nvSpPr>
        <p:spPr bwMode="auto">
          <a:xfrm>
            <a:off x="887320" y="1557839"/>
            <a:ext cx="298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负荷</a:t>
            </a:r>
            <a:r>
              <a:rPr lang="zh-CN" altLang="en-US" b="1" dirty="0" smtClean="0">
                <a:latin typeface="宋体" panose="02010600030101010101" pitchFamily="2" charset="-122"/>
              </a:rPr>
              <a:t>大小</a:t>
            </a:r>
            <a:r>
              <a:rPr lang="zh-CN" altLang="en-US" b="1" dirty="0" smtClean="0"/>
              <a:t>分</a:t>
            </a:r>
            <a:r>
              <a:rPr lang="zh-CN" altLang="en-US" b="1" dirty="0"/>
              <a:t>：</a:t>
            </a:r>
            <a:endParaRPr lang="en-US" altLang="zh-CN" b="1" dirty="0"/>
          </a:p>
        </p:txBody>
      </p: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1020424" y="4688712"/>
            <a:ext cx="44211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/>
              <a:t>轻负荷：选松一些的配合。</a:t>
            </a: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/>
              <a:t>重负荷：选紧一些的配合。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0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 autoUpdateAnimBg="0"/>
      <p:bldP spid="10243" grpId="0" autoUpdateAnimBg="0"/>
      <p:bldP spid="10254" grpId="0" autoUpdateAnimBg="0"/>
      <p:bldP spid="10255" grpId="0" autoUpdateAnimBg="0"/>
      <p:bldP spid="10256" grpId="0" autoUpdateAnimBg="0"/>
      <p:bldP spid="10267" grpId="0" build="p" autoUpdateAnimBg="0"/>
      <p:bldP spid="10268" grpId="0" build="p" autoUpdateAnimBg="0"/>
      <p:bldP spid="1026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FB1D05-F786-4C79-A88D-3BF7B0C440AC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51898" y="580517"/>
            <a:ext cx="3770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3. </a:t>
            </a:r>
            <a:r>
              <a:rPr lang="zh-CN" altLang="en-US" b="1" dirty="0">
                <a:latin typeface="宋体" panose="02010600030101010101" pitchFamily="2" charset="-122"/>
              </a:rPr>
              <a:t>工作条件</a:t>
            </a:r>
            <a:endParaRPr lang="zh-CN" altLang="en-US" b="1" dirty="0"/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408913" y="1244662"/>
            <a:ext cx="45974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）工作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温度</a:t>
            </a:r>
            <a:r>
              <a:rPr lang="zh-CN" altLang="en-US" b="1" dirty="0">
                <a:latin typeface="宋体" panose="02010600030101010101" pitchFamily="2" charset="-122"/>
              </a:rPr>
              <a:t>的影响</a:t>
            </a:r>
          </a:p>
        </p:txBody>
      </p:sp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941943" y="1923157"/>
            <a:ext cx="28067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如温度</a:t>
            </a:r>
            <a:r>
              <a:rPr lang="zh-CN" altLang="en-US" b="1" dirty="0">
                <a:solidFill>
                  <a:srgbClr val="FF3300"/>
                </a:solidFill>
              </a:rPr>
              <a:t>↑</a:t>
            </a:r>
          </a:p>
        </p:txBody>
      </p:sp>
      <p:grpSp>
        <p:nvGrpSpPr>
          <p:cNvPr id="8" name="Group 26"/>
          <p:cNvGrpSpPr/>
          <p:nvPr/>
        </p:nvGrpSpPr>
        <p:grpSpPr bwMode="auto">
          <a:xfrm>
            <a:off x="5403573" y="1052574"/>
            <a:ext cx="2968625" cy="4238625"/>
            <a:chOff x="2876" y="855"/>
            <a:chExt cx="1870" cy="2670"/>
          </a:xfrm>
        </p:grpSpPr>
        <p:pic>
          <p:nvPicPr>
            <p:cNvPr id="9" name="Picture 1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6" y="855"/>
              <a:ext cx="1870" cy="2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Line 22"/>
            <p:cNvSpPr>
              <a:spLocks noChangeShapeType="1"/>
            </p:cNvSpPr>
            <p:nvPr/>
          </p:nvSpPr>
          <p:spPr bwMode="auto">
            <a:xfrm>
              <a:off x="3192" y="1416"/>
              <a:ext cx="508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23"/>
            <p:cNvSpPr>
              <a:spLocks noChangeShapeType="1"/>
            </p:cNvSpPr>
            <p:nvPr/>
          </p:nvSpPr>
          <p:spPr bwMode="auto">
            <a:xfrm>
              <a:off x="3197" y="3173"/>
              <a:ext cx="508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24"/>
            <p:cNvSpPr>
              <a:spLocks noChangeShapeType="1"/>
            </p:cNvSpPr>
            <p:nvPr/>
          </p:nvSpPr>
          <p:spPr bwMode="auto">
            <a:xfrm>
              <a:off x="3319" y="2714"/>
              <a:ext cx="381" cy="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25"/>
            <p:cNvSpPr>
              <a:spLocks noChangeShapeType="1"/>
            </p:cNvSpPr>
            <p:nvPr/>
          </p:nvSpPr>
          <p:spPr bwMode="auto">
            <a:xfrm>
              <a:off x="3299" y="1894"/>
              <a:ext cx="381" cy="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" name="Text Box 30"/>
          <p:cNvSpPr txBox="1">
            <a:spLocks noChangeArrowheads="1"/>
          </p:cNvSpPr>
          <p:nvPr/>
        </p:nvSpPr>
        <p:spPr bwMode="auto">
          <a:xfrm>
            <a:off x="751042" y="4173817"/>
            <a:ext cx="4309230" cy="97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选配合时，要考虑温度的影响，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并加以修正。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969" y="2769833"/>
            <a:ext cx="3586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与</a:t>
            </a:r>
            <a:r>
              <a:rPr lang="el-GR" altLang="zh-CN" b="1" dirty="0" smtClean="0"/>
              <a:t>Φ</a:t>
            </a:r>
            <a:r>
              <a:rPr lang="en-US" altLang="zh-CN" b="1" dirty="0" smtClean="0"/>
              <a:t>90H6</a:t>
            </a:r>
            <a:r>
              <a:rPr lang="zh-CN" altLang="en-US" b="1" dirty="0" smtClean="0"/>
              <a:t>孔的配合变紧</a:t>
            </a:r>
            <a:endParaRPr lang="en-US" altLang="zh-CN" b="1" dirty="0" smtClean="0"/>
          </a:p>
          <a:p>
            <a:r>
              <a:rPr lang="zh-CN" altLang="en-US" b="1" dirty="0" smtClean="0"/>
              <a:t>与</a:t>
            </a:r>
            <a:r>
              <a:rPr lang="el-GR" altLang="zh-CN" b="1" dirty="0" smtClean="0"/>
              <a:t>Φ</a:t>
            </a:r>
            <a:r>
              <a:rPr lang="en-US" altLang="zh-CN" b="1" dirty="0" smtClean="0"/>
              <a:t>45k5</a:t>
            </a:r>
            <a:r>
              <a:rPr lang="zh-CN" altLang="en-US" b="1" dirty="0" smtClean="0"/>
              <a:t>轴的配合变松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autoUpdateAnimBg="0"/>
      <p:bldP spid="5" grpId="0" animBg="1" autoUpdateAnimBg="0"/>
      <p:bldP spid="14" grpId="0" autoUpdateAnimBg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3D35DB-17C8-4B8A-B27C-9D12C33C2369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19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244768" y="506629"/>
            <a:ext cx="690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 </a:t>
            </a:r>
            <a:r>
              <a:rPr lang="zh-CN" altLang="en-US" b="1">
                <a:latin typeface="宋体" panose="02010600030101010101" pitchFamily="2" charset="-122"/>
              </a:rPr>
              <a:t>旋转精度和旋转速度的影响</a:t>
            </a:r>
            <a:endParaRPr lang="zh-CN" altLang="en-US" b="1"/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428795" y="1497661"/>
            <a:ext cx="840740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/>
              <a:t>         因机器要求有较高</a:t>
            </a:r>
            <a:r>
              <a:rPr lang="zh-CN" altLang="en-US" b="1" dirty="0" smtClean="0"/>
              <a:t>的</a:t>
            </a:r>
            <a:r>
              <a:rPr lang="zh-CN" altLang="en-US" b="1" dirty="0" smtClean="0">
                <a:latin typeface="宋体" panose="02010600030101010101" pitchFamily="2" charset="-122"/>
              </a:rPr>
              <a:t>旋转</a:t>
            </a:r>
            <a:r>
              <a:rPr lang="zh-CN" altLang="en-US" b="1" dirty="0">
                <a:latin typeface="宋体" panose="02010600030101010101" pitchFamily="2" charset="-122"/>
              </a:rPr>
              <a:t>精度和速度时，则应选用较高精度等级的轴承。因此，与轴承配合的轴、外壳孔也应选择较高的标准公差等级。</a:t>
            </a:r>
            <a:endParaRPr lang="zh-CN" altLang="en-US" b="1" dirty="0"/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305093" y="3602224"/>
            <a:ext cx="84074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/>
              <a:t>        关于轴承的旋转速度对配合的影响，一般为</a:t>
            </a:r>
            <a:r>
              <a:rPr lang="zh-CN" altLang="en-US" b="1" dirty="0">
                <a:solidFill>
                  <a:srgbClr val="FF0000"/>
                </a:solidFill>
              </a:rPr>
              <a:t>速度越高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配合应该越紧</a:t>
            </a:r>
            <a:r>
              <a:rPr lang="zh-CN" altLang="en-US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6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6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build="p" autoUpdateAnimBg="0"/>
      <p:bldP spid="96261" grpId="0" build="p" autoUpdateAnimBg="0"/>
      <p:bldP spid="96262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40F9DC-2301-4B62-AE59-C1445ECBA775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26576" y="631085"/>
            <a:ext cx="690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>
                <a:latin typeface="宋体" panose="02010600030101010101" pitchFamily="2" charset="-122"/>
              </a:rPr>
              <a:t>4. </a:t>
            </a:r>
            <a:r>
              <a:rPr lang="zh-CN" altLang="en-US" b="1" dirty="0">
                <a:latin typeface="宋体" panose="02010600030101010101" pitchFamily="2" charset="-122"/>
              </a:rPr>
              <a:t>轴和外壳孔的结构与材料</a:t>
            </a:r>
            <a:endParaRPr lang="zh-CN" altLang="en-US" b="1" dirty="0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89595" y="1769924"/>
            <a:ext cx="7915214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为了装卸方便，可以选用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剖分式外壳</a:t>
            </a:r>
            <a:r>
              <a:rPr lang="zh-CN" altLang="en-US" b="1" dirty="0">
                <a:latin typeface="宋体" panose="02010600030101010101" pitchFamily="2" charset="-122"/>
              </a:rPr>
              <a:t>。如果剖分式的外壳孔与外圈配合较紧，会使外圈产生椭圆变形，因此，宜采用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较松配合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  <a:endParaRPr lang="zh-CN" altLang="en-US" b="1" dirty="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12332" y="3568238"/>
            <a:ext cx="8010231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当轴承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安装在薄壁</a:t>
            </a:r>
            <a:r>
              <a:rPr lang="zh-CN" altLang="en-US" b="1" dirty="0">
                <a:latin typeface="宋体" panose="02010600030101010101" pitchFamily="2" charset="-122"/>
              </a:rPr>
              <a:t>外壳、轻合金外壳或薄壁的心轴上时，为了保证轴承工作有足够的支承刚度和强度，所采用的配合应比在厚壁外壳、铸铁外壳或实心轴上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紧些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5BF3F1-8D4B-4182-9B84-D9A120A453BB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21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506413" y="464484"/>
            <a:ext cx="543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/>
              <a:t>5. </a:t>
            </a:r>
            <a:r>
              <a:rPr lang="zh-CN" altLang="en-US" b="1"/>
              <a:t>安装和拆卸的条件</a:t>
            </a: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339540" y="1265971"/>
            <a:ext cx="8080375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/>
              <a:t>        考虑轴承安装和拆卸方便，宜采用</a:t>
            </a:r>
            <a:r>
              <a:rPr lang="zh-CN" altLang="en-US" b="1" dirty="0">
                <a:solidFill>
                  <a:srgbClr val="FF0000"/>
                </a:solidFill>
              </a:rPr>
              <a:t>较松的配合</a:t>
            </a:r>
            <a:r>
              <a:rPr lang="zh-CN" altLang="en-US" b="1" dirty="0"/>
              <a:t>，这对重型机械用的大型和特大型轴承尤为重要。如果要求装卸方便，而又需紧配合时，可采用分离型轴承，或内圈带锥孔、带紧定套和推卸套的轴承。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222250" y="3426128"/>
            <a:ext cx="8651875" cy="24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/>
              <a:t>        除上述条件外，还需考虑：当要求轴承内圈或外圈能</a:t>
            </a:r>
            <a:r>
              <a:rPr lang="zh-CN" altLang="en-US" b="1" dirty="0">
                <a:solidFill>
                  <a:srgbClr val="FF0000"/>
                </a:solidFill>
              </a:rPr>
              <a:t>沿轴向移动</a:t>
            </a:r>
            <a:r>
              <a:rPr lang="zh-CN" altLang="en-US" b="1" dirty="0"/>
              <a:t>时，则内圈与轴或外圈与孔应选</a:t>
            </a:r>
            <a:r>
              <a:rPr lang="zh-CN" altLang="en-US" b="1" dirty="0">
                <a:solidFill>
                  <a:srgbClr val="FF0000"/>
                </a:solidFill>
              </a:rPr>
              <a:t>较松的配合</a:t>
            </a:r>
            <a:r>
              <a:rPr lang="zh-CN" altLang="en-US" b="1" dirty="0"/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/>
              <a:t>        滚动轴承的</a:t>
            </a:r>
            <a:r>
              <a:rPr lang="zh-CN" altLang="en-US" b="1" dirty="0">
                <a:solidFill>
                  <a:srgbClr val="FF0000"/>
                </a:solidFill>
              </a:rPr>
              <a:t>尺寸愈大</a:t>
            </a:r>
            <a:r>
              <a:rPr lang="zh-CN" altLang="en-US" b="1" dirty="0"/>
              <a:t>，选取的</a:t>
            </a:r>
            <a:r>
              <a:rPr lang="zh-CN" altLang="en-US" b="1" dirty="0">
                <a:solidFill>
                  <a:srgbClr val="FF0000"/>
                </a:solidFill>
              </a:rPr>
              <a:t>配合愈紧</a:t>
            </a:r>
            <a:r>
              <a:rPr lang="zh-CN" altLang="en-US" b="1" dirty="0"/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/>
              <a:t>        </a:t>
            </a:r>
            <a:r>
              <a:rPr lang="zh-CN" altLang="en-US" b="1" dirty="0" smtClean="0"/>
              <a:t>滚动轴承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工作温度</a:t>
            </a:r>
            <a:r>
              <a:rPr lang="zh-CN" altLang="en-US" b="1" dirty="0"/>
              <a:t>高于</a:t>
            </a:r>
            <a:r>
              <a:rPr lang="en-US" altLang="zh-CN" b="1" dirty="0"/>
              <a:t>100</a:t>
            </a:r>
            <a:r>
              <a:rPr lang="en-US" altLang="zh-CN" b="1" dirty="0">
                <a:latin typeface="宋体" panose="02010600030101010101" pitchFamily="2" charset="-122"/>
              </a:rPr>
              <a:t>℃</a:t>
            </a:r>
            <a:r>
              <a:rPr lang="zh-CN" altLang="en-US" b="1" dirty="0">
                <a:latin typeface="宋体" panose="02010600030101010101" pitchFamily="2" charset="-122"/>
              </a:rPr>
              <a:t>，应对所选的配合进行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适当修正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/>
      <p:bldP spid="97285" grpId="0"/>
      <p:bldP spid="9728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F91DD2B-4449-403D-98AA-CCF4761A6FC9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22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222250" y="217488"/>
            <a:ext cx="535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6.2.2 孔、轴尺寸公差带的选用</a:t>
            </a:r>
            <a:r>
              <a:rPr lang="zh-CN" altLang="en-US"/>
              <a:t> </a:t>
            </a:r>
          </a:p>
        </p:txBody>
      </p: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4506913" y="190500"/>
            <a:ext cx="430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>
                <a:latin typeface="宋体" panose="02010600030101010101" pitchFamily="2" charset="-122"/>
              </a:rPr>
              <a:t>（参照表</a:t>
            </a:r>
            <a:r>
              <a:rPr lang="zh-CN" altLang="en-US" b="1" dirty="0"/>
              <a:t>6</a:t>
            </a:r>
            <a:r>
              <a:rPr lang="zh-CN" altLang="en-US" b="1" dirty="0" smtClean="0"/>
              <a:t>.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 </a:t>
            </a:r>
            <a:r>
              <a:rPr lang="zh-CN" altLang="en-US" b="1" dirty="0"/>
              <a:t>—表6</a:t>
            </a:r>
            <a:r>
              <a:rPr lang="zh-CN" altLang="en-US" b="1" dirty="0" smtClean="0"/>
              <a:t>.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选用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45" y="691978"/>
            <a:ext cx="7306322" cy="5948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build="p" autoUpdateAnimBg="0"/>
      <p:bldP spid="5530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1BE139-01E7-46B2-8FFD-12E538B8CE6F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23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914400"/>
            <a:ext cx="8886825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7EEFE9-1942-4F98-AB81-EA5C681EEF9C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24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68" y="1122923"/>
            <a:ext cx="8117960" cy="4252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5F5F82-0E49-405F-9122-31A207217668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25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80975" y="120650"/>
            <a:ext cx="8258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6.2.3  孔、轴几何公差和表面粗糙度轮廓参数值的选用 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244475" y="569913"/>
            <a:ext cx="5938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1. </a:t>
            </a:r>
            <a:r>
              <a:rPr lang="zh-CN" altLang="en-US" b="1" dirty="0">
                <a:latin typeface="宋体" panose="02010600030101010101" pitchFamily="2" charset="-122"/>
              </a:rPr>
              <a:t>几何</a:t>
            </a:r>
            <a:r>
              <a:rPr lang="zh-CN" altLang="en-US" b="1" dirty="0" smtClean="0">
                <a:latin typeface="宋体" panose="02010600030101010101" pitchFamily="2" charset="-122"/>
              </a:rPr>
              <a:t>公差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407988" y="5149850"/>
            <a:ext cx="843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例如6级向心轴承，</a:t>
            </a:r>
            <a:r>
              <a:rPr lang="en-US" altLang="zh-CN" b="1" i="1"/>
              <a:t>d </a:t>
            </a:r>
            <a:r>
              <a:rPr lang="en-US" altLang="zh-CN" b="1"/>
              <a:t>=</a:t>
            </a:r>
            <a:r>
              <a:rPr lang="en-US" altLang="zh-CN" b="1" i="1">
                <a:latin typeface="Swis721 BT" pitchFamily="34" charset="0"/>
                <a:ea typeface="Dotum" pitchFamily="34" charset="-127"/>
              </a:rPr>
              <a:t>Φ</a:t>
            </a:r>
            <a:r>
              <a:rPr lang="en-US" altLang="zh-CN" b="1"/>
              <a:t>45， </a:t>
            </a:r>
            <a:r>
              <a:rPr lang="en-US" altLang="zh-CN" b="1" i="1"/>
              <a:t>D </a:t>
            </a:r>
            <a:r>
              <a:rPr lang="en-US" altLang="zh-CN" b="1"/>
              <a:t>=</a:t>
            </a:r>
            <a:r>
              <a:rPr lang="en-US" altLang="zh-CN" b="1" i="1">
                <a:latin typeface="Swis721 BT" pitchFamily="34" charset="0"/>
                <a:ea typeface="Batang" pitchFamily="18" charset="-127"/>
              </a:rPr>
              <a:t>Φ</a:t>
            </a:r>
            <a:r>
              <a:rPr lang="en-US" altLang="zh-CN" b="1"/>
              <a:t>100。</a:t>
            </a: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466725" y="5575300"/>
            <a:ext cx="6772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轴   颈：     </a:t>
            </a:r>
            <a:r>
              <a:rPr lang="en-US" altLang="zh-CN" b="1" i="1"/>
              <a:t>t = </a:t>
            </a:r>
            <a:r>
              <a:rPr lang="en-US" altLang="zh-CN" b="1"/>
              <a:t>?      </a:t>
            </a:r>
            <a:r>
              <a:rPr lang="zh-CN" altLang="en-US" b="1"/>
              <a:t>轴肩： </a:t>
            </a:r>
            <a:r>
              <a:rPr lang="en-US" altLang="zh-CN" b="1" i="1"/>
              <a:t>t</a:t>
            </a:r>
            <a:r>
              <a:rPr lang="en-US" altLang="zh-CN" b="1" baseline="-25000"/>
              <a:t>1</a:t>
            </a:r>
            <a:r>
              <a:rPr lang="en-US" altLang="zh-CN" b="1" i="1"/>
              <a:t> = </a:t>
            </a:r>
            <a:r>
              <a:rPr lang="en-US" altLang="zh-CN" b="1"/>
              <a:t>?</a:t>
            </a:r>
            <a:endParaRPr lang="zh-CN" altLang="en-US" b="1"/>
          </a:p>
        </p:txBody>
      </p:sp>
      <p:sp>
        <p:nvSpPr>
          <p:cNvPr id="13343" name="Rectangle 31"/>
          <p:cNvSpPr>
            <a:spLocks noChangeArrowheads="1"/>
          </p:cNvSpPr>
          <p:nvPr/>
        </p:nvSpPr>
        <p:spPr bwMode="auto">
          <a:xfrm>
            <a:off x="442913" y="6002338"/>
            <a:ext cx="688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外壳孔：</a:t>
            </a:r>
            <a:r>
              <a:rPr lang="en-US" altLang="zh-CN" dirty="0"/>
              <a:t>     </a:t>
            </a:r>
            <a:r>
              <a:rPr lang="en-US" altLang="zh-CN" b="1" i="1" dirty="0"/>
              <a:t>t = </a:t>
            </a:r>
            <a:r>
              <a:rPr lang="en-US" altLang="zh-CN" b="1" dirty="0"/>
              <a:t>?    </a:t>
            </a:r>
            <a:r>
              <a:rPr lang="zh-CN" altLang="en-US" b="1" dirty="0"/>
              <a:t>外壳孔肩： </a:t>
            </a:r>
            <a:r>
              <a:rPr lang="en-US" altLang="zh-CN" b="1" i="1" dirty="0"/>
              <a:t>t</a:t>
            </a:r>
            <a:r>
              <a:rPr lang="en-US" altLang="zh-CN" b="1" baseline="-25000" dirty="0"/>
              <a:t>1</a:t>
            </a:r>
            <a:r>
              <a:rPr lang="en-US" altLang="zh-CN" b="1" i="1" dirty="0"/>
              <a:t> = </a:t>
            </a:r>
            <a:r>
              <a:rPr lang="en-US" altLang="zh-CN" b="1" dirty="0"/>
              <a:t>?</a:t>
            </a:r>
            <a:endParaRPr lang="zh-CN" altLang="en-US" b="1" dirty="0"/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06" y="1092593"/>
            <a:ext cx="7599277" cy="4062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椭圆 17"/>
          <p:cNvSpPr>
            <a:spLocks noChangeArrowheads="1"/>
          </p:cNvSpPr>
          <p:nvPr/>
        </p:nvSpPr>
        <p:spPr bwMode="auto">
          <a:xfrm>
            <a:off x="2785849" y="1398888"/>
            <a:ext cx="1150938" cy="457200"/>
          </a:xfrm>
          <a:prstGeom prst="ellipse">
            <a:avLst/>
          </a:prstGeom>
          <a:noFill/>
          <a:ln w="38100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" name="椭圆 18"/>
          <p:cNvSpPr>
            <a:spLocks noChangeArrowheads="1"/>
          </p:cNvSpPr>
          <p:nvPr/>
        </p:nvSpPr>
        <p:spPr bwMode="auto">
          <a:xfrm>
            <a:off x="5446455" y="1281112"/>
            <a:ext cx="2066453" cy="649188"/>
          </a:xfrm>
          <a:prstGeom prst="ellipse">
            <a:avLst/>
          </a:prstGeom>
          <a:noFill/>
          <a:ln w="38100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323" grpId="0" autoUpdateAnimBg="0"/>
      <p:bldP spid="13329" grpId="0" autoUpdateAnimBg="0"/>
      <p:bldP spid="13334" grpId="0" autoUpdateAnimBg="0"/>
      <p:bldP spid="13343" grpId="0" autoUpdateAnimBg="0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501812-635D-4228-91DC-2D38D19C1E73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26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276225" y="131763"/>
            <a:ext cx="705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2. </a:t>
            </a:r>
            <a:r>
              <a:rPr lang="zh-CN" altLang="en-US" b="1" dirty="0">
                <a:latin typeface="宋体" panose="02010600030101010101" pitchFamily="2" charset="-122"/>
              </a:rPr>
              <a:t>表面粗糙度（如表6</a:t>
            </a:r>
            <a:r>
              <a:rPr lang="zh-CN" altLang="en-US" b="1" dirty="0" smtClean="0">
                <a:latin typeface="宋体" panose="02010600030101010101" pitchFamily="2" charset="-122"/>
              </a:rPr>
              <a:t>.</a:t>
            </a:r>
            <a:r>
              <a:rPr lang="en-US" altLang="zh-CN" b="1" dirty="0" smtClean="0">
                <a:latin typeface="宋体" panose="02010600030101010101" pitchFamily="2" charset="-122"/>
              </a:rPr>
              <a:t>6</a:t>
            </a:r>
            <a:r>
              <a:rPr lang="zh-CN" altLang="en-US" b="1" dirty="0" smtClean="0">
                <a:latin typeface="宋体" panose="02010600030101010101" pitchFamily="2" charset="-122"/>
              </a:rPr>
              <a:t>所</a:t>
            </a:r>
            <a:r>
              <a:rPr lang="zh-CN" altLang="en-US" b="1" dirty="0">
                <a:latin typeface="宋体" panose="02010600030101010101" pitchFamily="2" charset="-122"/>
              </a:rPr>
              <a:t>示）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397865" y="4870450"/>
            <a:ext cx="3711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例如 </a:t>
            </a:r>
            <a:r>
              <a:rPr lang="en-US" altLang="zh-CN" b="1" i="1"/>
              <a:t>d </a:t>
            </a:r>
            <a:r>
              <a:rPr lang="en-US" altLang="zh-CN" b="1"/>
              <a:t>=</a:t>
            </a:r>
            <a:r>
              <a:rPr lang="en-US" altLang="zh-CN" b="1" i="1">
                <a:latin typeface="Swis721 BT" pitchFamily="34" charset="0"/>
              </a:rPr>
              <a:t>Φ</a:t>
            </a:r>
            <a:r>
              <a:rPr lang="en-US" altLang="zh-CN" b="1"/>
              <a:t>45h6 ，</a:t>
            </a:r>
            <a:endParaRPr lang="zh-CN" altLang="en-US" b="1"/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389927" y="5295900"/>
            <a:ext cx="8012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轴颈</a:t>
            </a:r>
            <a:r>
              <a:rPr lang="en-US" altLang="zh-CN" b="1" i="1" dirty="0"/>
              <a:t>Ra</a:t>
            </a:r>
            <a:r>
              <a:rPr lang="zh-CN" altLang="en-US" b="1" dirty="0"/>
              <a:t>的上限值为0.8</a:t>
            </a:r>
            <a:r>
              <a:rPr lang="en-US" altLang="zh-CN" b="1" dirty="0" err="1"/>
              <a:t>μm</a:t>
            </a:r>
            <a:r>
              <a:rPr lang="en-US" altLang="zh-CN" b="1" dirty="0"/>
              <a:t>, </a:t>
            </a:r>
            <a:r>
              <a:rPr lang="zh-CN" altLang="en-US" b="1" dirty="0"/>
              <a:t>端面</a:t>
            </a:r>
            <a:r>
              <a:rPr lang="zh-CN" altLang="en-US" b="1" dirty="0" smtClean="0"/>
              <a:t>为</a:t>
            </a:r>
            <a:r>
              <a:rPr lang="en-US" altLang="zh-CN" b="1" dirty="0" smtClean="0"/>
              <a:t>6</a:t>
            </a:r>
            <a:r>
              <a:rPr lang="zh-CN" altLang="en-US" b="1" dirty="0" smtClean="0"/>
              <a:t>.</a:t>
            </a:r>
            <a:r>
              <a:rPr lang="en-US" altLang="zh-CN" b="1" dirty="0" smtClean="0"/>
              <a:t>3 </a:t>
            </a:r>
            <a:r>
              <a:rPr lang="en-US" altLang="zh-CN" b="1" dirty="0" err="1" smtClean="0"/>
              <a:t>μm</a:t>
            </a:r>
            <a:r>
              <a:rPr lang="zh-CN" altLang="en-US" b="1" dirty="0" smtClean="0"/>
              <a:t> </a:t>
            </a:r>
            <a:r>
              <a:rPr lang="zh-CN" altLang="en-US" b="1" dirty="0"/>
              <a:t>。</a:t>
            </a:r>
          </a:p>
        </p:txBody>
      </p:sp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416915" y="5762625"/>
            <a:ext cx="848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/>
              <a:t>外壳孔</a:t>
            </a:r>
            <a:r>
              <a:rPr lang="en-US" altLang="zh-CN" b="1" i="1"/>
              <a:t>Ra</a:t>
            </a:r>
            <a:r>
              <a:rPr lang="zh-CN" altLang="en-US" b="1"/>
              <a:t>的上限值为1.6</a:t>
            </a:r>
            <a:r>
              <a:rPr lang="en-US" altLang="zh-CN" b="1"/>
              <a:t>μm，</a:t>
            </a:r>
            <a:r>
              <a:rPr lang="zh-CN" altLang="en-US" b="1"/>
              <a:t>端面为3.2 </a:t>
            </a:r>
            <a:r>
              <a:rPr lang="en-US" altLang="zh-CN" b="1"/>
              <a:t>μm</a:t>
            </a:r>
            <a:r>
              <a:rPr lang="zh-CN" altLang="en-US" b="1"/>
              <a:t> 。</a:t>
            </a:r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3379190" y="4906963"/>
            <a:ext cx="3457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 i="1"/>
              <a:t>D</a:t>
            </a:r>
            <a:r>
              <a:rPr lang="en-US" altLang="zh-CN" b="1"/>
              <a:t>=</a:t>
            </a:r>
            <a:r>
              <a:rPr lang="en-US" altLang="zh-CN" b="1" i="1">
                <a:latin typeface="Swis721 BT" pitchFamily="34" charset="0"/>
              </a:rPr>
              <a:t>Φ</a:t>
            </a:r>
            <a:r>
              <a:rPr lang="en-US" altLang="zh-CN" b="1"/>
              <a:t>100J7。</a:t>
            </a:r>
            <a:endParaRPr lang="zh-CN" altLang="en-US" b="1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6" y="1174744"/>
            <a:ext cx="8512268" cy="3335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4622071" y="2918297"/>
            <a:ext cx="554037" cy="37465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4637947" y="3982436"/>
            <a:ext cx="511175" cy="417512"/>
          </a:xfrm>
          <a:prstGeom prst="rect">
            <a:avLst/>
          </a:prstGeom>
          <a:noFill/>
          <a:ln w="76200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2584751" y="3253732"/>
            <a:ext cx="681037" cy="35560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2591659" y="3957380"/>
            <a:ext cx="682625" cy="465137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utoUpdateAnimBg="0"/>
      <p:bldP spid="36871" grpId="0" autoUpdateAnimBg="0"/>
      <p:bldP spid="36872" grpId="0" bldLvl="0" animBg="1" autoUpdateAnimBg="0"/>
      <p:bldP spid="36874" grpId="0" autoUpdateAnimBg="0"/>
      <p:bldP spid="36878" grpId="0" autoUpdateAnimBg="0"/>
      <p:bldP spid="14" grpId="0" animBg="1"/>
      <p:bldP spid="15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D0F1B376-CC33-409F-92F9-22454C769ABB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27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28679" name="Text Box 62"/>
          <p:cNvSpPr txBox="1">
            <a:spLocks noChangeArrowheads="1"/>
          </p:cNvSpPr>
          <p:nvPr/>
        </p:nvSpPr>
        <p:spPr bwMode="auto">
          <a:xfrm>
            <a:off x="979813" y="425030"/>
            <a:ext cx="723560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6.2.4 </a:t>
            </a:r>
            <a:r>
              <a:rPr lang="zh-CN" altLang="en-US" b="1" dirty="0"/>
              <a:t>滚动轴承与孔、轴结合的精度设计举例</a:t>
            </a:r>
          </a:p>
        </p:txBody>
      </p:sp>
      <p:sp>
        <p:nvSpPr>
          <p:cNvPr id="2" name="矩形 1"/>
          <p:cNvSpPr/>
          <p:nvPr/>
        </p:nvSpPr>
        <p:spPr>
          <a:xfrm>
            <a:off x="445362" y="886662"/>
            <a:ext cx="789964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 smtClean="0"/>
              <a:t>         某</a:t>
            </a:r>
            <a:r>
              <a:rPr lang="zh-CN" altLang="en-US" sz="2000" b="1" dirty="0"/>
              <a:t>一圆柱齿轮减速器的小齿轮轴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如图</a:t>
            </a:r>
            <a:r>
              <a:rPr lang="en-US" altLang="zh-CN" sz="2000" b="1" dirty="0"/>
              <a:t>6. 6 </a:t>
            </a:r>
            <a:r>
              <a:rPr lang="zh-CN" altLang="en-US" sz="2000" b="1" dirty="0"/>
              <a:t>所示。要求齿轮轴的旋转精度比较高</a:t>
            </a:r>
            <a:r>
              <a:rPr lang="en-US" altLang="zh-CN" sz="2000" b="1" dirty="0"/>
              <a:t>,</a:t>
            </a:r>
            <a:r>
              <a:rPr lang="zh-CN" altLang="en-US" sz="2000" b="1" dirty="0" smtClean="0"/>
              <a:t>两端</a:t>
            </a:r>
            <a:r>
              <a:rPr lang="zh-CN" altLang="en-US" sz="2000" b="1" dirty="0"/>
              <a:t>装有</a:t>
            </a:r>
            <a:r>
              <a:rPr lang="en-US" altLang="zh-CN" sz="2000" b="1" dirty="0"/>
              <a:t>6 </a:t>
            </a:r>
            <a:r>
              <a:rPr lang="zh-CN" altLang="en-US" sz="2000" b="1" dirty="0"/>
              <a:t>级单列向心球轴承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代号</a:t>
            </a:r>
            <a:r>
              <a:rPr lang="en-US" altLang="zh-CN" sz="2000" b="1" dirty="0"/>
              <a:t>6308),</a:t>
            </a:r>
            <a:r>
              <a:rPr lang="zh-CN" altLang="en-US" sz="2000" b="1" dirty="0"/>
              <a:t>轴承尺寸为</a:t>
            </a:r>
            <a:r>
              <a:rPr lang="en-US" altLang="zh-CN" sz="2000" b="1" dirty="0"/>
              <a:t>:40 mm </a:t>
            </a:r>
            <a:r>
              <a:rPr lang="en-US" altLang="zh-CN" sz="2000" b="1" dirty="0">
                <a:latin typeface="隶书"/>
                <a:ea typeface="隶书"/>
              </a:rPr>
              <a:t>×</a:t>
            </a:r>
            <a:r>
              <a:rPr lang="en-US" altLang="zh-CN" sz="2000" b="1" dirty="0" smtClean="0"/>
              <a:t>90 </a:t>
            </a:r>
            <a:r>
              <a:rPr lang="en-US" altLang="zh-CN" sz="2000" b="1" dirty="0"/>
              <a:t>mm </a:t>
            </a:r>
            <a:r>
              <a:rPr lang="en-US" altLang="zh-CN" sz="2000" b="1" dirty="0">
                <a:latin typeface="隶书"/>
                <a:ea typeface="隶书"/>
              </a:rPr>
              <a:t>× </a:t>
            </a:r>
            <a:r>
              <a:rPr lang="en-US" altLang="zh-CN" sz="2000" b="1" dirty="0" smtClean="0"/>
              <a:t>23 </a:t>
            </a:r>
            <a:r>
              <a:rPr lang="en-US" altLang="zh-CN" sz="2000" b="1" dirty="0"/>
              <a:t>mm,</a:t>
            </a:r>
            <a:r>
              <a:rPr lang="zh-CN" altLang="en-US" sz="2000" b="1" dirty="0"/>
              <a:t>径向</a:t>
            </a:r>
            <a:r>
              <a:rPr lang="zh-CN" altLang="en-US" sz="2000" b="1" dirty="0" smtClean="0"/>
              <a:t>额定动载荷</a:t>
            </a:r>
            <a:r>
              <a:rPr lang="en-US" altLang="zh-CN" sz="2000" b="1" i="1" dirty="0"/>
              <a:t>C</a:t>
            </a:r>
            <a:r>
              <a:rPr lang="en-US" altLang="zh-CN" sz="2000" b="1" dirty="0"/>
              <a:t>r 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32 000 N,</a:t>
            </a:r>
            <a:r>
              <a:rPr lang="zh-CN" altLang="en-US" sz="2000" b="1" dirty="0"/>
              <a:t>轴承承受的径向当量动载荷</a:t>
            </a:r>
            <a:r>
              <a:rPr lang="en-US" altLang="zh-CN" sz="2000" b="1" i="1" dirty="0" err="1"/>
              <a:t>P</a:t>
            </a:r>
            <a:r>
              <a:rPr lang="en-US" altLang="zh-CN" sz="2000" b="1" dirty="0" err="1"/>
              <a:t>r</a:t>
            </a:r>
            <a:r>
              <a:rPr lang="en-US" altLang="zh-CN" sz="2000" b="1" dirty="0"/>
              <a:t> = 3 600 N</a:t>
            </a:r>
            <a:r>
              <a:rPr lang="zh-CN" altLang="en-US" sz="2000" b="1" dirty="0"/>
              <a:t>。试用查表法确定</a:t>
            </a:r>
            <a:r>
              <a:rPr lang="zh-CN" altLang="en-US" sz="2000" b="1" dirty="0" smtClean="0"/>
              <a:t>轴颈和</a:t>
            </a:r>
            <a:r>
              <a:rPr lang="zh-CN" altLang="en-US" sz="2000" b="1" dirty="0"/>
              <a:t>轴承座孔的公差带代号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画出公差带图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并确定孔、轴的几何公差值和表面粗糙度</a:t>
            </a:r>
            <a:r>
              <a:rPr lang="zh-CN" altLang="en-US" sz="2000" b="1" dirty="0" smtClean="0"/>
              <a:t>轮廓幅度</a:t>
            </a:r>
            <a:r>
              <a:rPr lang="zh-CN" altLang="en-US" sz="2000" b="1" dirty="0"/>
              <a:t>参数值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将它们分别标注在装配图和零件图上。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03" y="2875485"/>
            <a:ext cx="5515715" cy="357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utoShape 61"/>
          <p:cNvSpPr>
            <a:spLocks noChangeArrowheads="1"/>
          </p:cNvSpPr>
          <p:nvPr/>
        </p:nvSpPr>
        <p:spPr bwMode="auto">
          <a:xfrm>
            <a:off x="5846467" y="2848852"/>
            <a:ext cx="1655163" cy="640072"/>
          </a:xfrm>
          <a:prstGeom prst="wedgeEllipseCallout">
            <a:avLst>
              <a:gd name="adj1" fmla="val -148441"/>
              <a:gd name="adj2" fmla="val 24468"/>
            </a:avLst>
          </a:prstGeom>
          <a:solidFill>
            <a:schemeClr val="bg1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/>
              <a:t>外壳孔</a:t>
            </a:r>
          </a:p>
        </p:txBody>
      </p:sp>
      <p:sp>
        <p:nvSpPr>
          <p:cNvPr id="10" name="AutoShape 60"/>
          <p:cNvSpPr>
            <a:spLocks noChangeArrowheads="1"/>
          </p:cNvSpPr>
          <p:nvPr/>
        </p:nvSpPr>
        <p:spPr bwMode="auto">
          <a:xfrm>
            <a:off x="6314594" y="4660950"/>
            <a:ext cx="1568777" cy="639019"/>
          </a:xfrm>
          <a:prstGeom prst="wedgeEllipseCallout">
            <a:avLst>
              <a:gd name="adj1" fmla="val -166055"/>
              <a:gd name="adj2" fmla="val -83494"/>
            </a:avLst>
          </a:prstGeom>
          <a:solidFill>
            <a:schemeClr val="bg1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 smtClean="0"/>
              <a:t>轴 颈</a:t>
            </a:r>
            <a:endParaRPr lang="zh-CN" altLang="en-US" b="1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" grpId="0"/>
      <p:bldP spid="9" grpId="0" animBg="1" autoUpdateAnimBg="0"/>
      <p:bldP spid="10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879A2BF-FE38-4BF8-A17C-A25E307FD356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28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495402" y="203200"/>
            <a:ext cx="7078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 smtClean="0"/>
              <a:t>解：（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）确定轴颈公差带</a:t>
            </a:r>
            <a:r>
              <a:rPr lang="zh-CN" altLang="en-US" b="1" dirty="0"/>
              <a:t>代号（见图</a:t>
            </a:r>
            <a:r>
              <a:rPr lang="en-US" altLang="zh-CN" b="1" dirty="0"/>
              <a:t>6.6</a:t>
            </a:r>
            <a:r>
              <a:rPr lang="zh-CN" altLang="en-US" b="1" dirty="0"/>
              <a:t>所示）</a:t>
            </a:r>
          </a:p>
        </p:txBody>
      </p:sp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530327" y="671513"/>
            <a:ext cx="4389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①  轴承内圈同轴一起旋转</a:t>
            </a: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424623" y="1188076"/>
            <a:ext cx="274470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 </a:t>
            </a:r>
            <a:r>
              <a:rPr lang="zh-CN" altLang="en-US" b="1" dirty="0" smtClean="0"/>
              <a:t>②载荷大小，</a:t>
            </a:r>
            <a:endParaRPr lang="zh-CN" altLang="en-US" b="1" dirty="0"/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4401132" y="677863"/>
            <a:ext cx="316339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b="1" dirty="0"/>
              <a:t>内圈承受旋转负荷；</a:t>
            </a: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566504" y="2753124"/>
            <a:ext cx="4424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>
                <a:latin typeface="宋体" pitchFamily="2" charset="-122"/>
              </a:rPr>
              <a:t>③查表</a:t>
            </a:r>
            <a:r>
              <a:rPr lang="zh-CN" altLang="en-US" b="1" dirty="0"/>
              <a:t>6</a:t>
            </a:r>
            <a:r>
              <a:rPr lang="zh-CN" altLang="en-US" b="1" dirty="0" smtClean="0"/>
              <a:t>.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得</a:t>
            </a:r>
            <a:r>
              <a:rPr lang="zh-CN" altLang="en-US" b="1" dirty="0"/>
              <a:t>轴颈公差带代号</a:t>
            </a:r>
          </a:p>
        </p:txBody>
      </p:sp>
      <p:sp>
        <p:nvSpPr>
          <p:cNvPr id="61481" name="AutoShape 41"/>
          <p:cNvSpPr>
            <a:spLocks noChangeArrowheads="1"/>
          </p:cNvSpPr>
          <p:nvPr/>
        </p:nvSpPr>
        <p:spPr bwMode="auto">
          <a:xfrm>
            <a:off x="6348611" y="2851169"/>
            <a:ext cx="1644084" cy="609600"/>
          </a:xfrm>
          <a:prstGeom prst="wedgeEllipseCallout">
            <a:avLst>
              <a:gd name="adj1" fmla="val -22597"/>
              <a:gd name="adj2" fmla="val 232135"/>
            </a:avLst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b="1" i="1" dirty="0">
                <a:latin typeface="Swis721 BT" pitchFamily="34" charset="0"/>
              </a:rPr>
              <a:t>Φ</a:t>
            </a:r>
            <a:r>
              <a:rPr lang="en-US" altLang="zh-CN" b="1" dirty="0"/>
              <a:t>40k5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6016280" y="4010706"/>
            <a:ext cx="1828800" cy="1533525"/>
            <a:chOff x="4041" y="743"/>
            <a:chExt cx="1290" cy="1064"/>
          </a:xfrm>
        </p:grpSpPr>
        <p:grpSp>
          <p:nvGrpSpPr>
            <p:cNvPr id="3" name="Group 42"/>
            <p:cNvGrpSpPr>
              <a:grpSpLocks/>
            </p:cNvGrpSpPr>
            <p:nvPr/>
          </p:nvGrpSpPr>
          <p:grpSpPr bwMode="auto">
            <a:xfrm>
              <a:off x="4041" y="743"/>
              <a:ext cx="1290" cy="1064"/>
              <a:chOff x="3622" y="997"/>
              <a:chExt cx="1290" cy="850"/>
            </a:xfrm>
          </p:grpSpPr>
          <p:grpSp>
            <p:nvGrpSpPr>
              <p:cNvPr id="5" name="Group 30"/>
              <p:cNvGrpSpPr>
                <a:grpSpLocks/>
              </p:cNvGrpSpPr>
              <p:nvPr/>
            </p:nvGrpSpPr>
            <p:grpSpPr bwMode="auto">
              <a:xfrm>
                <a:off x="3622" y="997"/>
                <a:ext cx="1290" cy="850"/>
                <a:chOff x="1640" y="429"/>
                <a:chExt cx="1592" cy="1026"/>
              </a:xfrm>
            </p:grpSpPr>
            <p:sp>
              <p:nvSpPr>
                <p:cNvPr id="29715" name="Rectangle 31"/>
                <p:cNvSpPr>
                  <a:spLocks noChangeArrowheads="1"/>
                </p:cNvSpPr>
                <p:nvPr/>
              </p:nvSpPr>
              <p:spPr bwMode="auto">
                <a:xfrm>
                  <a:off x="1943" y="634"/>
                  <a:ext cx="762" cy="634"/>
                </a:xfrm>
                <a:prstGeom prst="rect">
                  <a:avLst/>
                </a:prstGeom>
                <a:noFill/>
                <a:ln w="762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6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1855" y="634"/>
                  <a:ext cx="69" cy="8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7" name="Line 33"/>
                <p:cNvSpPr>
                  <a:spLocks noChangeShapeType="1"/>
                </p:cNvSpPr>
                <p:nvPr/>
              </p:nvSpPr>
              <p:spPr bwMode="auto">
                <a:xfrm flipH="1" flipV="1">
                  <a:off x="1835" y="1171"/>
                  <a:ext cx="98" cy="8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8" name="Line 34"/>
                <p:cNvSpPr>
                  <a:spLocks noChangeShapeType="1"/>
                </p:cNvSpPr>
                <p:nvPr/>
              </p:nvSpPr>
              <p:spPr bwMode="auto">
                <a:xfrm>
                  <a:off x="1855" y="693"/>
                  <a:ext cx="0" cy="517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9" name="Line 35"/>
                <p:cNvSpPr>
                  <a:spLocks noChangeShapeType="1"/>
                </p:cNvSpPr>
                <p:nvPr/>
              </p:nvSpPr>
              <p:spPr bwMode="auto">
                <a:xfrm>
                  <a:off x="2704" y="450"/>
                  <a:ext cx="0" cy="1005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0" name="Line 36"/>
                <p:cNvSpPr>
                  <a:spLocks noChangeShapeType="1"/>
                </p:cNvSpPr>
                <p:nvPr/>
              </p:nvSpPr>
              <p:spPr bwMode="auto">
                <a:xfrm>
                  <a:off x="2704" y="440"/>
                  <a:ext cx="332" cy="0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1" name="Line 37"/>
                <p:cNvSpPr>
                  <a:spLocks noChangeShapeType="1"/>
                </p:cNvSpPr>
                <p:nvPr/>
              </p:nvSpPr>
              <p:spPr bwMode="auto">
                <a:xfrm>
                  <a:off x="2716" y="1427"/>
                  <a:ext cx="332" cy="0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2" name="Freeform 38"/>
                <p:cNvSpPr>
                  <a:spLocks/>
                </p:cNvSpPr>
                <p:nvPr/>
              </p:nvSpPr>
              <p:spPr bwMode="auto">
                <a:xfrm>
                  <a:off x="3016" y="429"/>
                  <a:ext cx="118" cy="986"/>
                </a:xfrm>
                <a:custGeom>
                  <a:avLst/>
                  <a:gdLst>
                    <a:gd name="T0" fmla="*/ 0 w 118"/>
                    <a:gd name="T1" fmla="*/ 0 h 986"/>
                    <a:gd name="T2" fmla="*/ 88 w 118"/>
                    <a:gd name="T3" fmla="*/ 176 h 986"/>
                    <a:gd name="T4" fmla="*/ 108 w 118"/>
                    <a:gd name="T5" fmla="*/ 234 h 986"/>
                    <a:gd name="T6" fmla="*/ 118 w 118"/>
                    <a:gd name="T7" fmla="*/ 264 h 986"/>
                    <a:gd name="T8" fmla="*/ 108 w 118"/>
                    <a:gd name="T9" fmla="*/ 586 h 986"/>
                    <a:gd name="T10" fmla="*/ 59 w 118"/>
                    <a:gd name="T11" fmla="*/ 703 h 986"/>
                    <a:gd name="T12" fmla="*/ 30 w 118"/>
                    <a:gd name="T13" fmla="*/ 986 h 98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8" h="986">
                      <a:moveTo>
                        <a:pt x="0" y="0"/>
                      </a:moveTo>
                      <a:cubicBezTo>
                        <a:pt x="44" y="65"/>
                        <a:pt x="64" y="102"/>
                        <a:pt x="88" y="176"/>
                      </a:cubicBezTo>
                      <a:cubicBezTo>
                        <a:pt x="94" y="195"/>
                        <a:pt x="101" y="215"/>
                        <a:pt x="108" y="234"/>
                      </a:cubicBezTo>
                      <a:cubicBezTo>
                        <a:pt x="111" y="244"/>
                        <a:pt x="118" y="264"/>
                        <a:pt x="118" y="264"/>
                      </a:cubicBezTo>
                      <a:cubicBezTo>
                        <a:pt x="115" y="371"/>
                        <a:pt x="116" y="479"/>
                        <a:pt x="108" y="586"/>
                      </a:cubicBezTo>
                      <a:cubicBezTo>
                        <a:pt x="105" y="629"/>
                        <a:pt x="73" y="664"/>
                        <a:pt x="59" y="703"/>
                      </a:cubicBezTo>
                      <a:cubicBezTo>
                        <a:pt x="51" y="799"/>
                        <a:pt x="30" y="891"/>
                        <a:pt x="30" y="986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3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1640" y="929"/>
                  <a:ext cx="1592" cy="2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9714" name="Line 40"/>
              <p:cNvSpPr>
                <a:spLocks noChangeShapeType="1"/>
              </p:cNvSpPr>
              <p:nvPr/>
            </p:nvSpPr>
            <p:spPr bwMode="auto">
              <a:xfrm>
                <a:off x="4139" y="1181"/>
                <a:ext cx="0" cy="49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9712" name="Text Box 43"/>
            <p:cNvSpPr txBox="1">
              <a:spLocks noChangeArrowheads="1"/>
            </p:cNvSpPr>
            <p:nvPr/>
          </p:nvSpPr>
          <p:spPr bwMode="auto">
            <a:xfrm rot="-5400000">
              <a:off x="4201" y="1095"/>
              <a:ext cx="517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Swis721 BT" pitchFamily="34" charset="0"/>
                </a:rPr>
                <a:t>Φ</a:t>
              </a:r>
              <a:r>
                <a:rPr lang="en-US" altLang="zh-CN" b="1"/>
                <a:t>40</a:t>
              </a:r>
            </a:p>
          </p:txBody>
        </p:sp>
      </p:grp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52" y="1731310"/>
            <a:ext cx="7249209" cy="101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658" y="1115530"/>
            <a:ext cx="3172704" cy="5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5885150" y="1178351"/>
            <a:ext cx="189244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 smtClean="0"/>
              <a:t>查表</a:t>
            </a:r>
            <a:r>
              <a:rPr lang="en-US" altLang="zh-CN" b="1" dirty="0" smtClean="0"/>
              <a:t>6.2</a:t>
            </a:r>
            <a:endParaRPr lang="en-US" altLang="zh-CN" b="1" dirty="0"/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12" y="3211220"/>
            <a:ext cx="5188803" cy="353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 bwMode="auto">
          <a:xfrm>
            <a:off x="4691628" y="2052629"/>
            <a:ext cx="1441884" cy="67235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4931105" y="5563524"/>
            <a:ext cx="918305" cy="36469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1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1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1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 build="p" autoUpdateAnimBg="0"/>
      <p:bldP spid="61450" grpId="0" autoUpdateAnimBg="0"/>
      <p:bldP spid="61451" grpId="0" autoUpdateAnimBg="0"/>
      <p:bldP spid="61456" grpId="0" autoUpdateAnimBg="0"/>
      <p:bldP spid="61457" grpId="0" autoUpdateAnimBg="0"/>
      <p:bldP spid="61481" grpId="0" animBg="1" autoUpdateAnimBg="0"/>
      <p:bldP spid="32" grpId="0"/>
      <p:bldP spid="4" grpId="0" animBg="1"/>
      <p:bldP spid="3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62BF19BC-6395-4D66-B32C-BE6ADC127EDB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29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73737" name="Rectangle 1033"/>
          <p:cNvSpPr>
            <a:spLocks noChangeArrowheads="1"/>
          </p:cNvSpPr>
          <p:nvPr/>
        </p:nvSpPr>
        <p:spPr bwMode="auto">
          <a:xfrm>
            <a:off x="686612" y="456036"/>
            <a:ext cx="6351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>
                <a:latin typeface="宋体" pitchFamily="2" charset="-122"/>
              </a:rPr>
              <a:t>④查表</a:t>
            </a:r>
            <a:r>
              <a:rPr lang="zh-CN" altLang="en-US" b="1" dirty="0"/>
              <a:t>6</a:t>
            </a:r>
            <a:r>
              <a:rPr lang="zh-CN" altLang="en-US" b="1" dirty="0" smtClean="0"/>
              <a:t>.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得</a:t>
            </a:r>
            <a:r>
              <a:rPr lang="zh-CN" altLang="en-US" b="1" dirty="0"/>
              <a:t>外壳孔的公差带代号为</a:t>
            </a:r>
          </a:p>
        </p:txBody>
      </p:sp>
      <p:sp>
        <p:nvSpPr>
          <p:cNvPr id="73738" name="Text Box 1034"/>
          <p:cNvSpPr txBox="1">
            <a:spLocks noChangeArrowheads="1"/>
          </p:cNvSpPr>
          <p:nvPr/>
        </p:nvSpPr>
        <p:spPr bwMode="auto">
          <a:xfrm>
            <a:off x="5661620" y="523097"/>
            <a:ext cx="135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H7</a:t>
            </a:r>
          </a:p>
        </p:txBody>
      </p:sp>
      <p:sp>
        <p:nvSpPr>
          <p:cNvPr id="73739" name="Rectangle 1035"/>
          <p:cNvSpPr>
            <a:spLocks noChangeArrowheads="1"/>
          </p:cNvSpPr>
          <p:nvPr/>
        </p:nvSpPr>
        <p:spPr bwMode="auto">
          <a:xfrm>
            <a:off x="695490" y="1044729"/>
            <a:ext cx="4783138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/>
              <a:t>∵齿轮旋转精度较高， </a:t>
            </a:r>
            <a:r>
              <a:rPr lang="zh-CN" altLang="en-US" b="1" dirty="0">
                <a:solidFill>
                  <a:srgbClr val="FF3300"/>
                </a:solidFill>
              </a:rPr>
              <a:t>∴取</a:t>
            </a:r>
            <a:r>
              <a:rPr lang="en-US" altLang="zh-CN" b="1" dirty="0">
                <a:solidFill>
                  <a:srgbClr val="FF3300"/>
                </a:solidFill>
              </a:rPr>
              <a:t>H6</a:t>
            </a:r>
          </a:p>
        </p:txBody>
      </p:sp>
      <p:grpSp>
        <p:nvGrpSpPr>
          <p:cNvPr id="2" name="Group 1075"/>
          <p:cNvGrpSpPr>
            <a:grpSpLocks/>
          </p:cNvGrpSpPr>
          <p:nvPr/>
        </p:nvGrpSpPr>
        <p:grpSpPr bwMode="auto">
          <a:xfrm>
            <a:off x="6712538" y="2364288"/>
            <a:ext cx="1720850" cy="2403475"/>
            <a:chOff x="3716" y="818"/>
            <a:chExt cx="1084" cy="1514"/>
          </a:xfrm>
        </p:grpSpPr>
        <p:sp>
          <p:nvSpPr>
            <p:cNvPr id="30730" name="Rectangle 1049"/>
            <p:cNvSpPr>
              <a:spLocks noChangeArrowheads="1"/>
            </p:cNvSpPr>
            <p:nvPr/>
          </p:nvSpPr>
          <p:spPr bwMode="auto">
            <a:xfrm>
              <a:off x="3825" y="1127"/>
              <a:ext cx="547" cy="918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1" name="Rectangle 1050"/>
            <p:cNvSpPr>
              <a:spLocks noChangeArrowheads="1"/>
            </p:cNvSpPr>
            <p:nvPr/>
          </p:nvSpPr>
          <p:spPr bwMode="auto">
            <a:xfrm>
              <a:off x="4383" y="1042"/>
              <a:ext cx="111" cy="1086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2" name="Rectangle 1051"/>
            <p:cNvSpPr>
              <a:spLocks noChangeArrowheads="1"/>
            </p:cNvSpPr>
            <p:nvPr/>
          </p:nvSpPr>
          <p:spPr bwMode="auto">
            <a:xfrm>
              <a:off x="4492" y="1232"/>
              <a:ext cx="194" cy="715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3" name="Line 1052"/>
            <p:cNvSpPr>
              <a:spLocks noChangeShapeType="1"/>
            </p:cNvSpPr>
            <p:nvPr/>
          </p:nvSpPr>
          <p:spPr bwMode="auto">
            <a:xfrm>
              <a:off x="3826" y="826"/>
              <a:ext cx="0" cy="1457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4" name="Line 1053"/>
            <p:cNvSpPr>
              <a:spLocks noChangeShapeType="1"/>
            </p:cNvSpPr>
            <p:nvPr/>
          </p:nvSpPr>
          <p:spPr bwMode="auto">
            <a:xfrm>
              <a:off x="4679" y="829"/>
              <a:ext cx="0" cy="145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5" name="Line 1054"/>
            <p:cNvSpPr>
              <a:spLocks noChangeShapeType="1"/>
            </p:cNvSpPr>
            <p:nvPr/>
          </p:nvSpPr>
          <p:spPr bwMode="auto">
            <a:xfrm flipV="1">
              <a:off x="3716" y="1611"/>
              <a:ext cx="1084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6" name="Freeform 1055"/>
            <p:cNvSpPr>
              <a:spLocks/>
            </p:cNvSpPr>
            <p:nvPr/>
          </p:nvSpPr>
          <p:spPr bwMode="auto">
            <a:xfrm>
              <a:off x="3816" y="818"/>
              <a:ext cx="853" cy="63"/>
            </a:xfrm>
            <a:custGeom>
              <a:avLst/>
              <a:gdLst>
                <a:gd name="T0" fmla="*/ 0 w 899"/>
                <a:gd name="T1" fmla="*/ 7 h 88"/>
                <a:gd name="T2" fmla="*/ 150 w 899"/>
                <a:gd name="T3" fmla="*/ 17 h 88"/>
                <a:gd name="T4" fmla="*/ 201 w 899"/>
                <a:gd name="T5" fmla="*/ 25 h 88"/>
                <a:gd name="T6" fmla="*/ 350 w 899"/>
                <a:gd name="T7" fmla="*/ 21 h 88"/>
                <a:gd name="T8" fmla="*/ 459 w 899"/>
                <a:gd name="T9" fmla="*/ 7 h 88"/>
                <a:gd name="T10" fmla="*/ 768 w 89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9" h="88">
                  <a:moveTo>
                    <a:pt x="0" y="19"/>
                  </a:moveTo>
                  <a:cubicBezTo>
                    <a:pt x="130" y="30"/>
                    <a:pt x="85" y="17"/>
                    <a:pt x="176" y="48"/>
                  </a:cubicBezTo>
                  <a:cubicBezTo>
                    <a:pt x="196" y="55"/>
                    <a:pt x="235" y="68"/>
                    <a:pt x="235" y="68"/>
                  </a:cubicBezTo>
                  <a:cubicBezTo>
                    <a:pt x="293" y="65"/>
                    <a:pt x="352" y="63"/>
                    <a:pt x="410" y="58"/>
                  </a:cubicBezTo>
                  <a:cubicBezTo>
                    <a:pt x="452" y="54"/>
                    <a:pt x="497" y="20"/>
                    <a:pt x="537" y="19"/>
                  </a:cubicBezTo>
                  <a:cubicBezTo>
                    <a:pt x="893" y="9"/>
                    <a:pt x="802" y="88"/>
                    <a:pt x="899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7" name="Freeform 1056"/>
            <p:cNvSpPr>
              <a:spLocks/>
            </p:cNvSpPr>
            <p:nvPr/>
          </p:nvSpPr>
          <p:spPr bwMode="auto">
            <a:xfrm>
              <a:off x="3831" y="2248"/>
              <a:ext cx="847" cy="77"/>
            </a:xfrm>
            <a:custGeom>
              <a:avLst/>
              <a:gdLst>
                <a:gd name="T0" fmla="*/ 3 w 892"/>
                <a:gd name="T1" fmla="*/ 0 h 107"/>
                <a:gd name="T2" fmla="*/ 10 w 892"/>
                <a:gd name="T3" fmla="*/ 29 h 107"/>
                <a:gd name="T4" fmla="*/ 95 w 892"/>
                <a:gd name="T5" fmla="*/ 40 h 107"/>
                <a:gd name="T6" fmla="*/ 271 w 892"/>
                <a:gd name="T7" fmla="*/ 29 h 107"/>
                <a:gd name="T8" fmla="*/ 421 w 892"/>
                <a:gd name="T9" fmla="*/ 11 h 107"/>
                <a:gd name="T10" fmla="*/ 471 w 892"/>
                <a:gd name="T11" fmla="*/ 3 h 107"/>
                <a:gd name="T12" fmla="*/ 654 w 892"/>
                <a:gd name="T13" fmla="*/ 7 h 107"/>
                <a:gd name="T14" fmla="*/ 763 w 892"/>
                <a:gd name="T15" fmla="*/ 3 h 1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2" h="107">
                  <a:moveTo>
                    <a:pt x="3" y="0"/>
                  </a:moveTo>
                  <a:cubicBezTo>
                    <a:pt x="6" y="26"/>
                    <a:pt x="0" y="55"/>
                    <a:pt x="13" y="78"/>
                  </a:cubicBezTo>
                  <a:cubicBezTo>
                    <a:pt x="15" y="81"/>
                    <a:pt x="90" y="100"/>
                    <a:pt x="111" y="107"/>
                  </a:cubicBezTo>
                  <a:cubicBezTo>
                    <a:pt x="204" y="100"/>
                    <a:pt x="239" y="98"/>
                    <a:pt x="316" y="78"/>
                  </a:cubicBezTo>
                  <a:cubicBezTo>
                    <a:pt x="367" y="43"/>
                    <a:pt x="432" y="49"/>
                    <a:pt x="492" y="29"/>
                  </a:cubicBezTo>
                  <a:cubicBezTo>
                    <a:pt x="511" y="23"/>
                    <a:pt x="550" y="9"/>
                    <a:pt x="550" y="9"/>
                  </a:cubicBezTo>
                  <a:cubicBezTo>
                    <a:pt x="622" y="12"/>
                    <a:pt x="693" y="13"/>
                    <a:pt x="765" y="19"/>
                  </a:cubicBezTo>
                  <a:cubicBezTo>
                    <a:pt x="799" y="22"/>
                    <a:pt x="892" y="72"/>
                    <a:pt x="892" y="9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8" name="Line 1057"/>
            <p:cNvSpPr>
              <a:spLocks noChangeShapeType="1"/>
            </p:cNvSpPr>
            <p:nvPr/>
          </p:nvSpPr>
          <p:spPr bwMode="auto">
            <a:xfrm flipH="1">
              <a:off x="3825" y="867"/>
              <a:ext cx="232" cy="1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9" name="Line 1058"/>
            <p:cNvSpPr>
              <a:spLocks noChangeShapeType="1"/>
            </p:cNvSpPr>
            <p:nvPr/>
          </p:nvSpPr>
          <p:spPr bwMode="auto">
            <a:xfrm flipH="1">
              <a:off x="3882" y="846"/>
              <a:ext cx="473" cy="2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0" name="Line 1059"/>
            <p:cNvSpPr>
              <a:spLocks noChangeShapeType="1"/>
            </p:cNvSpPr>
            <p:nvPr/>
          </p:nvSpPr>
          <p:spPr bwMode="auto">
            <a:xfrm flipH="1">
              <a:off x="4140" y="860"/>
              <a:ext cx="436" cy="2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1" name="Line 1060"/>
            <p:cNvSpPr>
              <a:spLocks noChangeShapeType="1"/>
            </p:cNvSpPr>
            <p:nvPr/>
          </p:nvSpPr>
          <p:spPr bwMode="auto">
            <a:xfrm flipH="1">
              <a:off x="4492" y="972"/>
              <a:ext cx="168" cy="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2" name="Line 1061"/>
            <p:cNvSpPr>
              <a:spLocks noChangeShapeType="1"/>
            </p:cNvSpPr>
            <p:nvPr/>
          </p:nvSpPr>
          <p:spPr bwMode="auto">
            <a:xfrm flipH="1">
              <a:off x="4501" y="1092"/>
              <a:ext cx="167" cy="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3" name="Line 1062"/>
            <p:cNvSpPr>
              <a:spLocks noChangeShapeType="1"/>
            </p:cNvSpPr>
            <p:nvPr/>
          </p:nvSpPr>
          <p:spPr bwMode="auto">
            <a:xfrm flipH="1">
              <a:off x="3788" y="2066"/>
              <a:ext cx="204" cy="1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4" name="Line 1063"/>
            <p:cNvSpPr>
              <a:spLocks noChangeShapeType="1"/>
            </p:cNvSpPr>
            <p:nvPr/>
          </p:nvSpPr>
          <p:spPr bwMode="auto">
            <a:xfrm flipH="1">
              <a:off x="3873" y="2066"/>
              <a:ext cx="333" cy="2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5" name="Line 1064"/>
            <p:cNvSpPr>
              <a:spLocks noChangeShapeType="1"/>
            </p:cNvSpPr>
            <p:nvPr/>
          </p:nvSpPr>
          <p:spPr bwMode="auto">
            <a:xfrm flipH="1">
              <a:off x="4076" y="2129"/>
              <a:ext cx="296" cy="2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6" name="Line 1065"/>
            <p:cNvSpPr>
              <a:spLocks noChangeShapeType="1"/>
            </p:cNvSpPr>
            <p:nvPr/>
          </p:nvSpPr>
          <p:spPr bwMode="auto">
            <a:xfrm flipH="1">
              <a:off x="4512" y="1946"/>
              <a:ext cx="83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7" name="Line 1066"/>
            <p:cNvSpPr>
              <a:spLocks noChangeShapeType="1"/>
            </p:cNvSpPr>
            <p:nvPr/>
          </p:nvSpPr>
          <p:spPr bwMode="auto">
            <a:xfrm flipH="1">
              <a:off x="4391" y="2094"/>
              <a:ext cx="278" cy="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" name="Group 1072"/>
            <p:cNvGrpSpPr>
              <a:grpSpLocks/>
            </p:cNvGrpSpPr>
            <p:nvPr/>
          </p:nvGrpSpPr>
          <p:grpSpPr bwMode="auto">
            <a:xfrm>
              <a:off x="3828" y="1086"/>
              <a:ext cx="288" cy="950"/>
              <a:chOff x="3828" y="1210"/>
              <a:chExt cx="288" cy="908"/>
            </a:xfrm>
          </p:grpSpPr>
          <p:sp>
            <p:nvSpPr>
              <p:cNvPr id="30749" name="Line 1067"/>
              <p:cNvSpPr>
                <a:spLocks noChangeShapeType="1"/>
              </p:cNvSpPr>
              <p:nvPr/>
            </p:nvSpPr>
            <p:spPr bwMode="auto">
              <a:xfrm>
                <a:off x="4069" y="1210"/>
                <a:ext cx="0" cy="908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50" name="Text Box 1071"/>
              <p:cNvSpPr txBox="1">
                <a:spLocks noChangeArrowheads="1"/>
              </p:cNvSpPr>
              <p:nvPr/>
            </p:nvSpPr>
            <p:spPr bwMode="auto">
              <a:xfrm rot="-5400000">
                <a:off x="3717" y="1453"/>
                <a:ext cx="51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i="1">
                    <a:latin typeface="Swis721 BT" pitchFamily="34" charset="0"/>
                  </a:rPr>
                  <a:t>Φ</a:t>
                </a:r>
                <a:r>
                  <a:rPr lang="en-US" altLang="zh-CN" sz="2000" b="1" i="1"/>
                  <a:t> </a:t>
                </a:r>
                <a:r>
                  <a:rPr lang="en-US" altLang="zh-CN" sz="2000" b="1"/>
                  <a:t>9</a:t>
                </a:r>
                <a:r>
                  <a:rPr lang="en-US" altLang="zh-CN" b="1"/>
                  <a:t>0</a:t>
                </a:r>
              </a:p>
            </p:txBody>
          </p:sp>
        </p:grpSp>
      </p:grp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53" y="2062068"/>
            <a:ext cx="6573549" cy="344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ectangle 1069"/>
          <p:cNvSpPr>
            <a:spLocks noChangeArrowheads="1"/>
          </p:cNvSpPr>
          <p:nvPr/>
        </p:nvSpPr>
        <p:spPr bwMode="auto">
          <a:xfrm>
            <a:off x="5743717" y="2867777"/>
            <a:ext cx="736984" cy="383903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 dirty="0"/>
          </a:p>
        </p:txBody>
      </p:sp>
      <p:sp>
        <p:nvSpPr>
          <p:cNvPr id="37" name="AutoShape 1068"/>
          <p:cNvSpPr>
            <a:spLocks noChangeArrowheads="1"/>
          </p:cNvSpPr>
          <p:nvPr/>
        </p:nvSpPr>
        <p:spPr bwMode="auto">
          <a:xfrm>
            <a:off x="5469749" y="1349406"/>
            <a:ext cx="1341995" cy="575389"/>
          </a:xfrm>
          <a:prstGeom prst="wedgeRoundRectCallout">
            <a:avLst>
              <a:gd name="adj1" fmla="val 66553"/>
              <a:gd name="adj2" fmla="val 266327"/>
              <a:gd name="adj3" fmla="val 16667"/>
            </a:avLst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b="1" i="1" dirty="0">
                <a:latin typeface="Swis721 BT" pitchFamily="34" charset="0"/>
              </a:rPr>
              <a:t>Φ</a:t>
            </a:r>
            <a:r>
              <a:rPr lang="en-US" altLang="zh-CN" b="1" dirty="0"/>
              <a:t>90H6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7" grpId="0" autoUpdateAnimBg="0"/>
      <p:bldP spid="73738" grpId="0" autoUpdateAnimBg="0"/>
      <p:bldP spid="73739" grpId="0" autoUpdateAnimBg="0"/>
      <p:bldP spid="36" grpId="0" animBg="1"/>
      <p:bldP spid="37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1FD72A90-A4CE-4F85-8A2E-FEB3B3FE11E8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30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1064366" y="285277"/>
            <a:ext cx="6821488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>
                <a:latin typeface="宋体" pitchFamily="2" charset="-122"/>
              </a:rPr>
              <a:t>⑤ </a:t>
            </a:r>
            <a:r>
              <a:rPr lang="zh-CN" altLang="en-US" b="1" dirty="0"/>
              <a:t>查表6.1得</a:t>
            </a:r>
            <a:r>
              <a:rPr lang="en-US" altLang="zh-CN" b="1" dirty="0">
                <a:solidFill>
                  <a:srgbClr val="FF3300"/>
                </a:solidFill>
              </a:rPr>
              <a:t>6</a:t>
            </a:r>
            <a:r>
              <a:rPr lang="zh-CN" altLang="en-US" b="1" dirty="0">
                <a:solidFill>
                  <a:srgbClr val="FF3300"/>
                </a:solidFill>
              </a:rPr>
              <a:t>级轴承</a:t>
            </a:r>
            <a:r>
              <a:rPr lang="zh-CN" altLang="en-US" b="1" dirty="0"/>
              <a:t>内、外圈的极限偏差</a:t>
            </a:r>
            <a:endParaRPr lang="en-US" altLang="zh-CN" b="1" dirty="0"/>
          </a:p>
        </p:txBody>
      </p:sp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1006642" y="749300"/>
            <a:ext cx="433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轴承内圈</a:t>
            </a:r>
            <a:r>
              <a:rPr lang="en-US" altLang="zh-CN" b="1" dirty="0"/>
              <a:t>(</a:t>
            </a:r>
            <a:r>
              <a:rPr lang="el-GR" altLang="zh-CN" b="1" i="1" dirty="0">
                <a:latin typeface="Swis721 BT" pitchFamily="34" charset="0"/>
                <a:ea typeface="Arial Unicode MS" pitchFamily="34" charset="-122"/>
                <a:cs typeface="Times New Roman" pitchFamily="18" charset="0"/>
              </a:rPr>
              <a:t>Φ</a:t>
            </a:r>
            <a:r>
              <a:rPr lang="en-US" altLang="zh-CN" b="1" dirty="0">
                <a:cs typeface="Times New Roman" pitchFamily="18" charset="0"/>
              </a:rPr>
              <a:t>40)</a:t>
            </a:r>
            <a:r>
              <a:rPr lang="zh-CN" altLang="en-US" b="1" dirty="0"/>
              <a:t>极限偏差为</a:t>
            </a:r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4637255" y="747713"/>
            <a:ext cx="339704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ES = 0,   EI = -10μm。 </a:t>
            </a:r>
          </a:p>
        </p:txBody>
      </p:sp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1014580" y="1151118"/>
            <a:ext cx="4135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轴承外圈</a:t>
            </a:r>
            <a:r>
              <a:rPr lang="en-US" altLang="zh-CN" b="1" dirty="0"/>
              <a:t>(</a:t>
            </a:r>
            <a:r>
              <a:rPr lang="el-GR" altLang="zh-CN" b="1" i="1" dirty="0">
                <a:latin typeface="Swis721 BT" pitchFamily="34" charset="0"/>
                <a:ea typeface="Arial Unicode MS" pitchFamily="34" charset="-122"/>
                <a:cs typeface="Times New Roman" pitchFamily="18" charset="0"/>
              </a:rPr>
              <a:t>Φ</a:t>
            </a:r>
            <a:r>
              <a:rPr lang="en-US" altLang="zh-CN" b="1" dirty="0">
                <a:ea typeface="Arial Unicode MS" pitchFamily="34" charset="-122"/>
                <a:cs typeface="Times New Roman" pitchFamily="18" charset="0"/>
              </a:rPr>
              <a:t>90)</a:t>
            </a:r>
            <a:r>
              <a:rPr lang="zh-CN" altLang="en-US" b="1" dirty="0"/>
              <a:t>极限偏差为</a:t>
            </a:r>
          </a:p>
        </p:txBody>
      </p:sp>
      <p:sp>
        <p:nvSpPr>
          <p:cNvPr id="83976" name="Text Box 8"/>
          <p:cNvSpPr txBox="1">
            <a:spLocks noChangeArrowheads="1"/>
          </p:cNvSpPr>
          <p:nvPr/>
        </p:nvSpPr>
        <p:spPr bwMode="auto">
          <a:xfrm>
            <a:off x="4653131" y="1140886"/>
            <a:ext cx="3549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es</a:t>
            </a:r>
            <a:r>
              <a:rPr lang="en-US" altLang="zh-CN" b="1" dirty="0">
                <a:solidFill>
                  <a:srgbClr val="FF0000"/>
                </a:solidFill>
              </a:rPr>
              <a:t> = 0,    </a:t>
            </a:r>
            <a:r>
              <a:rPr lang="en-US" altLang="zh-CN" b="1" dirty="0" err="1">
                <a:solidFill>
                  <a:srgbClr val="FF0000"/>
                </a:solidFill>
              </a:rPr>
              <a:t>ei</a:t>
            </a:r>
            <a:r>
              <a:rPr lang="en-US" altLang="zh-CN" b="1" dirty="0">
                <a:solidFill>
                  <a:srgbClr val="FF0000"/>
                </a:solidFill>
              </a:rPr>
              <a:t> = -13 </a:t>
            </a:r>
            <a:r>
              <a:rPr lang="en-US" altLang="zh-CN" b="1" dirty="0" err="1">
                <a:solidFill>
                  <a:srgbClr val="FF0000"/>
                </a:solidFill>
              </a:rPr>
              <a:t>μm</a:t>
            </a:r>
            <a:r>
              <a:rPr lang="en-US" altLang="zh-CN" b="1" dirty="0"/>
              <a:t>。 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58" y="1704606"/>
            <a:ext cx="6132528" cy="4574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 bwMode="auto">
          <a:xfrm>
            <a:off x="2894120" y="5822311"/>
            <a:ext cx="1051998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2805344" y="3534858"/>
            <a:ext cx="115484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autoUpdateAnimBg="0"/>
      <p:bldP spid="83973" grpId="0" autoUpdateAnimBg="0"/>
      <p:bldP spid="83974" grpId="0" autoUpdateAnimBg="0"/>
      <p:bldP spid="83975" grpId="0" autoUpdateAnimBg="0"/>
      <p:bldP spid="83976" grpId="0" autoUpdateAnimBg="0"/>
      <p:bldP spid="4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BF127498-BFA1-410C-8F8B-DEB5A86F1135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31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1069842" y="192088"/>
            <a:ext cx="6902327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宋体" pitchFamily="2" charset="-122"/>
              </a:rPr>
              <a:t>⑥</a:t>
            </a:r>
            <a:r>
              <a:rPr lang="zh-CN" altLang="en-US" b="1" dirty="0"/>
              <a:t> 画滚动轴承与孔、轴配合的尺寸公差带</a:t>
            </a:r>
            <a:r>
              <a:rPr lang="zh-CN" altLang="en-US" b="1" dirty="0" smtClean="0"/>
              <a:t>图</a:t>
            </a:r>
            <a:endParaRPr lang="en-US" altLang="zh-CN" b="1" dirty="0" smtClean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b="1" dirty="0"/>
              <a:t> </a:t>
            </a:r>
            <a:r>
              <a:rPr lang="en-US" altLang="zh-CN" b="1" dirty="0" smtClean="0"/>
              <a:t>  </a:t>
            </a:r>
            <a:r>
              <a:rPr lang="zh-CN" altLang="en-US" b="1" dirty="0" smtClean="0"/>
              <a:t>（</a:t>
            </a:r>
            <a:r>
              <a:rPr lang="zh-CN" altLang="en-US" b="1" dirty="0"/>
              <a:t>见图6.7）</a:t>
            </a:r>
          </a:p>
        </p:txBody>
      </p:sp>
      <p:pic>
        <p:nvPicPr>
          <p:cNvPr id="32863" name="Picture 9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452" y="1057222"/>
            <a:ext cx="6477000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866" name="Picture 9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452" y="5410148"/>
            <a:ext cx="5990583" cy="356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867" name="Picture 9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134" y="5884045"/>
            <a:ext cx="6032291" cy="353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A2A0FB03-5C08-49F4-B4E5-D880668E6CE8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32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401023" y="259749"/>
            <a:ext cx="6418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zh-CN" altLang="en-US" b="1" dirty="0"/>
              <a:t>（2）确定配合表面的几何 公差(查表6</a:t>
            </a:r>
            <a:r>
              <a:rPr lang="zh-CN" altLang="en-US" b="1" dirty="0" smtClean="0"/>
              <a:t>.</a:t>
            </a:r>
            <a:r>
              <a:rPr lang="en-US" altLang="zh-CN" b="1" dirty="0" smtClean="0"/>
              <a:t>5)</a:t>
            </a:r>
            <a:endParaRPr lang="en-US" altLang="zh-CN" b="1" dirty="0"/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1395918" y="697312"/>
            <a:ext cx="239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圆柱度公差</a:t>
            </a:r>
            <a:endParaRPr lang="en-US" altLang="zh-CN" b="1" dirty="0"/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1412087" y="1268225"/>
            <a:ext cx="240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轴向圆跳动</a:t>
            </a:r>
            <a:endParaRPr lang="en-US" altLang="zh-CN" b="1" dirty="0"/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3450144" y="729062"/>
            <a:ext cx="190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altLang="zh-CN" b="1" i="1" dirty="0"/>
              <a:t>t </a:t>
            </a:r>
            <a:r>
              <a:rPr lang="en-US" altLang="zh-CN" b="1" dirty="0"/>
              <a:t>= 0.0025</a:t>
            </a:r>
            <a:endParaRPr lang="zh-CN" altLang="en-US" b="1" dirty="0"/>
          </a:p>
        </p:txBody>
      </p:sp>
      <p:sp>
        <p:nvSpPr>
          <p:cNvPr id="41001" name="Text Box 41"/>
          <p:cNvSpPr txBox="1">
            <a:spLocks noChangeArrowheads="1"/>
          </p:cNvSpPr>
          <p:nvPr/>
        </p:nvSpPr>
        <p:spPr bwMode="auto">
          <a:xfrm>
            <a:off x="1387395" y="1817262"/>
            <a:ext cx="3779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圆柱度公差 </a:t>
            </a:r>
            <a:r>
              <a:rPr lang="zh-CN" altLang="en-US" b="1" i="1" dirty="0"/>
              <a:t> </a:t>
            </a:r>
            <a:r>
              <a:rPr lang="en-US" altLang="zh-CN" b="1" i="1" dirty="0"/>
              <a:t>t </a:t>
            </a:r>
            <a:r>
              <a:rPr lang="en-US" altLang="zh-CN" b="1" dirty="0"/>
              <a:t>= 0.006</a:t>
            </a:r>
          </a:p>
        </p:txBody>
      </p:sp>
      <p:grpSp>
        <p:nvGrpSpPr>
          <p:cNvPr id="3" name="Group 59"/>
          <p:cNvGrpSpPr>
            <a:grpSpLocks/>
          </p:cNvGrpSpPr>
          <p:nvPr/>
        </p:nvGrpSpPr>
        <p:grpSpPr bwMode="auto">
          <a:xfrm>
            <a:off x="5986463" y="453372"/>
            <a:ext cx="2170113" cy="2185088"/>
            <a:chOff x="3075" y="314"/>
            <a:chExt cx="1592" cy="1463"/>
          </a:xfrm>
        </p:grpSpPr>
        <p:grpSp>
          <p:nvGrpSpPr>
            <p:cNvPr id="4" name="Group 60"/>
            <p:cNvGrpSpPr>
              <a:grpSpLocks/>
            </p:cNvGrpSpPr>
            <p:nvPr/>
          </p:nvGrpSpPr>
          <p:grpSpPr bwMode="auto">
            <a:xfrm>
              <a:off x="3075" y="751"/>
              <a:ext cx="1592" cy="1026"/>
              <a:chOff x="1640" y="429"/>
              <a:chExt cx="1592" cy="1026"/>
            </a:xfrm>
          </p:grpSpPr>
          <p:sp>
            <p:nvSpPr>
              <p:cNvPr id="33841" name="Rectangle 61"/>
              <p:cNvSpPr>
                <a:spLocks noChangeArrowheads="1"/>
              </p:cNvSpPr>
              <p:nvPr/>
            </p:nvSpPr>
            <p:spPr bwMode="auto">
              <a:xfrm>
                <a:off x="1943" y="634"/>
                <a:ext cx="762" cy="634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42" name="Line 62"/>
              <p:cNvSpPr>
                <a:spLocks noChangeShapeType="1"/>
              </p:cNvSpPr>
              <p:nvPr/>
            </p:nvSpPr>
            <p:spPr bwMode="auto">
              <a:xfrm flipH="1">
                <a:off x="1855" y="634"/>
                <a:ext cx="69" cy="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43" name="Line 63"/>
              <p:cNvSpPr>
                <a:spLocks noChangeShapeType="1"/>
              </p:cNvSpPr>
              <p:nvPr/>
            </p:nvSpPr>
            <p:spPr bwMode="auto">
              <a:xfrm flipH="1" flipV="1">
                <a:off x="1835" y="1171"/>
                <a:ext cx="98" cy="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44" name="Line 64"/>
              <p:cNvSpPr>
                <a:spLocks noChangeShapeType="1"/>
              </p:cNvSpPr>
              <p:nvPr/>
            </p:nvSpPr>
            <p:spPr bwMode="auto">
              <a:xfrm>
                <a:off x="1855" y="693"/>
                <a:ext cx="0" cy="517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45" name="Line 65"/>
              <p:cNvSpPr>
                <a:spLocks noChangeShapeType="1"/>
              </p:cNvSpPr>
              <p:nvPr/>
            </p:nvSpPr>
            <p:spPr bwMode="auto">
              <a:xfrm>
                <a:off x="2704" y="450"/>
                <a:ext cx="0" cy="1005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46" name="Line 66"/>
              <p:cNvSpPr>
                <a:spLocks noChangeShapeType="1"/>
              </p:cNvSpPr>
              <p:nvPr/>
            </p:nvSpPr>
            <p:spPr bwMode="auto">
              <a:xfrm>
                <a:off x="2704" y="440"/>
                <a:ext cx="332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47" name="Line 67"/>
              <p:cNvSpPr>
                <a:spLocks noChangeShapeType="1"/>
              </p:cNvSpPr>
              <p:nvPr/>
            </p:nvSpPr>
            <p:spPr bwMode="auto">
              <a:xfrm>
                <a:off x="2716" y="1427"/>
                <a:ext cx="332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48" name="Freeform 68"/>
              <p:cNvSpPr>
                <a:spLocks/>
              </p:cNvSpPr>
              <p:nvPr/>
            </p:nvSpPr>
            <p:spPr bwMode="auto">
              <a:xfrm>
                <a:off x="3016" y="429"/>
                <a:ext cx="118" cy="986"/>
              </a:xfrm>
              <a:custGeom>
                <a:avLst/>
                <a:gdLst>
                  <a:gd name="T0" fmla="*/ 0 w 118"/>
                  <a:gd name="T1" fmla="*/ 0 h 986"/>
                  <a:gd name="T2" fmla="*/ 88 w 118"/>
                  <a:gd name="T3" fmla="*/ 176 h 986"/>
                  <a:gd name="T4" fmla="*/ 108 w 118"/>
                  <a:gd name="T5" fmla="*/ 234 h 986"/>
                  <a:gd name="T6" fmla="*/ 118 w 118"/>
                  <a:gd name="T7" fmla="*/ 264 h 986"/>
                  <a:gd name="T8" fmla="*/ 108 w 118"/>
                  <a:gd name="T9" fmla="*/ 586 h 986"/>
                  <a:gd name="T10" fmla="*/ 59 w 118"/>
                  <a:gd name="T11" fmla="*/ 703 h 986"/>
                  <a:gd name="T12" fmla="*/ 30 w 118"/>
                  <a:gd name="T13" fmla="*/ 986 h 9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8" h="986">
                    <a:moveTo>
                      <a:pt x="0" y="0"/>
                    </a:moveTo>
                    <a:cubicBezTo>
                      <a:pt x="44" y="65"/>
                      <a:pt x="64" y="102"/>
                      <a:pt x="88" y="176"/>
                    </a:cubicBezTo>
                    <a:cubicBezTo>
                      <a:pt x="94" y="195"/>
                      <a:pt x="101" y="215"/>
                      <a:pt x="108" y="234"/>
                    </a:cubicBezTo>
                    <a:cubicBezTo>
                      <a:pt x="111" y="244"/>
                      <a:pt x="118" y="264"/>
                      <a:pt x="118" y="264"/>
                    </a:cubicBezTo>
                    <a:cubicBezTo>
                      <a:pt x="115" y="371"/>
                      <a:pt x="116" y="479"/>
                      <a:pt x="108" y="586"/>
                    </a:cubicBezTo>
                    <a:cubicBezTo>
                      <a:pt x="105" y="629"/>
                      <a:pt x="73" y="664"/>
                      <a:pt x="59" y="703"/>
                    </a:cubicBezTo>
                    <a:cubicBezTo>
                      <a:pt x="51" y="799"/>
                      <a:pt x="30" y="891"/>
                      <a:pt x="30" y="986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49" name="Line 69"/>
              <p:cNvSpPr>
                <a:spLocks noChangeShapeType="1"/>
              </p:cNvSpPr>
              <p:nvPr/>
            </p:nvSpPr>
            <p:spPr bwMode="auto">
              <a:xfrm flipV="1">
                <a:off x="1640" y="929"/>
                <a:ext cx="1592" cy="2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3837" name="Line 70"/>
            <p:cNvSpPr>
              <a:spLocks noChangeShapeType="1"/>
            </p:cNvSpPr>
            <p:nvPr/>
          </p:nvSpPr>
          <p:spPr bwMode="auto">
            <a:xfrm>
              <a:off x="3729" y="946"/>
              <a:ext cx="0" cy="6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8" name="Line 71"/>
            <p:cNvSpPr>
              <a:spLocks noChangeShapeType="1"/>
            </p:cNvSpPr>
            <p:nvPr/>
          </p:nvSpPr>
          <p:spPr bwMode="auto">
            <a:xfrm>
              <a:off x="3730" y="594"/>
              <a:ext cx="0" cy="3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9" name="Line 72"/>
            <p:cNvSpPr>
              <a:spLocks noChangeShapeType="1"/>
            </p:cNvSpPr>
            <p:nvPr/>
          </p:nvSpPr>
          <p:spPr bwMode="auto">
            <a:xfrm>
              <a:off x="3739" y="595"/>
              <a:ext cx="7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0" name="Text Box 73"/>
            <p:cNvSpPr txBox="1">
              <a:spLocks noChangeArrowheads="1"/>
            </p:cNvSpPr>
            <p:nvPr/>
          </p:nvSpPr>
          <p:spPr bwMode="auto">
            <a:xfrm>
              <a:off x="3656" y="314"/>
              <a:ext cx="8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latin typeface="Swis721 BT" pitchFamily="34" charset="0"/>
                </a:rPr>
                <a:t>Φ</a:t>
              </a:r>
              <a:r>
                <a:rPr lang="en-US" altLang="zh-CN" dirty="0"/>
                <a:t>40k5</a:t>
              </a:r>
            </a:p>
          </p:txBody>
        </p:sp>
      </p:grpSp>
      <p:grpSp>
        <p:nvGrpSpPr>
          <p:cNvPr id="5" name="Group 74"/>
          <p:cNvGrpSpPr>
            <a:grpSpLocks/>
          </p:cNvGrpSpPr>
          <p:nvPr/>
        </p:nvGrpSpPr>
        <p:grpSpPr bwMode="auto">
          <a:xfrm>
            <a:off x="6824663" y="2713039"/>
            <a:ext cx="1438275" cy="3162300"/>
            <a:chOff x="1896" y="1601"/>
            <a:chExt cx="1142" cy="2109"/>
          </a:xfrm>
        </p:grpSpPr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1896" y="1601"/>
              <a:ext cx="1142" cy="2109"/>
              <a:chOff x="1896" y="1601"/>
              <a:chExt cx="1142" cy="2109"/>
            </a:xfrm>
          </p:grpSpPr>
          <p:sp>
            <p:nvSpPr>
              <p:cNvPr id="33818" name="Rectangle 76"/>
              <p:cNvSpPr>
                <a:spLocks noChangeArrowheads="1"/>
              </p:cNvSpPr>
              <p:nvPr/>
            </p:nvSpPr>
            <p:spPr bwMode="auto">
              <a:xfrm>
                <a:off x="2011" y="2031"/>
                <a:ext cx="576" cy="1279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19" name="Rectangle 77"/>
              <p:cNvSpPr>
                <a:spLocks noChangeArrowheads="1"/>
              </p:cNvSpPr>
              <p:nvPr/>
            </p:nvSpPr>
            <p:spPr bwMode="auto">
              <a:xfrm>
                <a:off x="2599" y="1913"/>
                <a:ext cx="117" cy="1513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0" name="Rectangle 78"/>
              <p:cNvSpPr>
                <a:spLocks noChangeArrowheads="1"/>
              </p:cNvSpPr>
              <p:nvPr/>
            </p:nvSpPr>
            <p:spPr bwMode="auto">
              <a:xfrm>
                <a:off x="2714" y="2178"/>
                <a:ext cx="204" cy="996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1" name="Line 79"/>
              <p:cNvSpPr>
                <a:spLocks noChangeShapeType="1"/>
              </p:cNvSpPr>
              <p:nvPr/>
            </p:nvSpPr>
            <p:spPr bwMode="auto">
              <a:xfrm>
                <a:off x="2012" y="1612"/>
                <a:ext cx="0" cy="203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2" name="Line 80"/>
              <p:cNvSpPr>
                <a:spLocks noChangeShapeType="1"/>
              </p:cNvSpPr>
              <p:nvPr/>
            </p:nvSpPr>
            <p:spPr bwMode="auto">
              <a:xfrm>
                <a:off x="2911" y="1617"/>
                <a:ext cx="0" cy="203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3" name="Line 81"/>
              <p:cNvSpPr>
                <a:spLocks noChangeShapeType="1"/>
              </p:cNvSpPr>
              <p:nvPr/>
            </p:nvSpPr>
            <p:spPr bwMode="auto">
              <a:xfrm flipV="1">
                <a:off x="1896" y="2705"/>
                <a:ext cx="1142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4" name="Freeform 82"/>
              <p:cNvSpPr>
                <a:spLocks/>
              </p:cNvSpPr>
              <p:nvPr/>
            </p:nvSpPr>
            <p:spPr bwMode="auto">
              <a:xfrm>
                <a:off x="2001" y="1601"/>
                <a:ext cx="899" cy="88"/>
              </a:xfrm>
              <a:custGeom>
                <a:avLst/>
                <a:gdLst>
                  <a:gd name="T0" fmla="*/ 0 w 899"/>
                  <a:gd name="T1" fmla="*/ 19 h 88"/>
                  <a:gd name="T2" fmla="*/ 176 w 899"/>
                  <a:gd name="T3" fmla="*/ 48 h 88"/>
                  <a:gd name="T4" fmla="*/ 235 w 899"/>
                  <a:gd name="T5" fmla="*/ 68 h 88"/>
                  <a:gd name="T6" fmla="*/ 410 w 899"/>
                  <a:gd name="T7" fmla="*/ 58 h 88"/>
                  <a:gd name="T8" fmla="*/ 537 w 899"/>
                  <a:gd name="T9" fmla="*/ 19 h 88"/>
                  <a:gd name="T10" fmla="*/ 899 w 899"/>
                  <a:gd name="T11" fmla="*/ 0 h 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9" h="88">
                    <a:moveTo>
                      <a:pt x="0" y="19"/>
                    </a:moveTo>
                    <a:cubicBezTo>
                      <a:pt x="130" y="30"/>
                      <a:pt x="85" y="17"/>
                      <a:pt x="176" y="48"/>
                    </a:cubicBezTo>
                    <a:cubicBezTo>
                      <a:pt x="196" y="55"/>
                      <a:pt x="235" y="68"/>
                      <a:pt x="235" y="68"/>
                    </a:cubicBezTo>
                    <a:cubicBezTo>
                      <a:pt x="293" y="65"/>
                      <a:pt x="352" y="63"/>
                      <a:pt x="410" y="58"/>
                    </a:cubicBezTo>
                    <a:cubicBezTo>
                      <a:pt x="452" y="54"/>
                      <a:pt x="497" y="20"/>
                      <a:pt x="537" y="19"/>
                    </a:cubicBezTo>
                    <a:cubicBezTo>
                      <a:pt x="893" y="9"/>
                      <a:pt x="802" y="88"/>
                      <a:pt x="899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5" name="Freeform 83"/>
              <p:cNvSpPr>
                <a:spLocks/>
              </p:cNvSpPr>
              <p:nvPr/>
            </p:nvSpPr>
            <p:spPr bwMode="auto">
              <a:xfrm>
                <a:off x="2017" y="3593"/>
                <a:ext cx="892" cy="107"/>
              </a:xfrm>
              <a:custGeom>
                <a:avLst/>
                <a:gdLst>
                  <a:gd name="T0" fmla="*/ 3 w 892"/>
                  <a:gd name="T1" fmla="*/ 0 h 107"/>
                  <a:gd name="T2" fmla="*/ 13 w 892"/>
                  <a:gd name="T3" fmla="*/ 78 h 107"/>
                  <a:gd name="T4" fmla="*/ 111 w 892"/>
                  <a:gd name="T5" fmla="*/ 107 h 107"/>
                  <a:gd name="T6" fmla="*/ 316 w 892"/>
                  <a:gd name="T7" fmla="*/ 78 h 107"/>
                  <a:gd name="T8" fmla="*/ 492 w 892"/>
                  <a:gd name="T9" fmla="*/ 29 h 107"/>
                  <a:gd name="T10" fmla="*/ 550 w 892"/>
                  <a:gd name="T11" fmla="*/ 9 h 107"/>
                  <a:gd name="T12" fmla="*/ 765 w 892"/>
                  <a:gd name="T13" fmla="*/ 19 h 107"/>
                  <a:gd name="T14" fmla="*/ 892 w 892"/>
                  <a:gd name="T15" fmla="*/ 9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2" h="107">
                    <a:moveTo>
                      <a:pt x="3" y="0"/>
                    </a:moveTo>
                    <a:cubicBezTo>
                      <a:pt x="6" y="26"/>
                      <a:pt x="0" y="55"/>
                      <a:pt x="13" y="78"/>
                    </a:cubicBezTo>
                    <a:cubicBezTo>
                      <a:pt x="15" y="81"/>
                      <a:pt x="90" y="100"/>
                      <a:pt x="111" y="107"/>
                    </a:cubicBezTo>
                    <a:cubicBezTo>
                      <a:pt x="204" y="100"/>
                      <a:pt x="239" y="98"/>
                      <a:pt x="316" y="78"/>
                    </a:cubicBezTo>
                    <a:cubicBezTo>
                      <a:pt x="367" y="43"/>
                      <a:pt x="432" y="49"/>
                      <a:pt x="492" y="29"/>
                    </a:cubicBezTo>
                    <a:cubicBezTo>
                      <a:pt x="511" y="23"/>
                      <a:pt x="550" y="9"/>
                      <a:pt x="550" y="9"/>
                    </a:cubicBezTo>
                    <a:cubicBezTo>
                      <a:pt x="622" y="12"/>
                      <a:pt x="693" y="13"/>
                      <a:pt x="765" y="19"/>
                    </a:cubicBezTo>
                    <a:cubicBezTo>
                      <a:pt x="799" y="22"/>
                      <a:pt x="892" y="72"/>
                      <a:pt x="892" y="9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6" name="Line 84"/>
              <p:cNvSpPr>
                <a:spLocks noChangeShapeType="1"/>
              </p:cNvSpPr>
              <p:nvPr/>
            </p:nvSpPr>
            <p:spPr bwMode="auto">
              <a:xfrm flipH="1">
                <a:off x="2011" y="1669"/>
                <a:ext cx="244" cy="1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7" name="Line 85"/>
              <p:cNvSpPr>
                <a:spLocks noChangeShapeType="1"/>
              </p:cNvSpPr>
              <p:nvPr/>
            </p:nvSpPr>
            <p:spPr bwMode="auto">
              <a:xfrm flipH="1">
                <a:off x="2071" y="1640"/>
                <a:ext cx="498" cy="3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8" name="Line 86"/>
              <p:cNvSpPr>
                <a:spLocks noChangeShapeType="1"/>
              </p:cNvSpPr>
              <p:nvPr/>
            </p:nvSpPr>
            <p:spPr bwMode="auto">
              <a:xfrm flipH="1">
                <a:off x="2343" y="1659"/>
                <a:ext cx="459" cy="35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29" name="Line 87"/>
              <p:cNvSpPr>
                <a:spLocks noChangeShapeType="1"/>
              </p:cNvSpPr>
              <p:nvPr/>
            </p:nvSpPr>
            <p:spPr bwMode="auto">
              <a:xfrm flipH="1">
                <a:off x="2714" y="1816"/>
                <a:ext cx="176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30" name="Line 88"/>
              <p:cNvSpPr>
                <a:spLocks noChangeShapeType="1"/>
              </p:cNvSpPr>
              <p:nvPr/>
            </p:nvSpPr>
            <p:spPr bwMode="auto">
              <a:xfrm flipH="1">
                <a:off x="2723" y="1982"/>
                <a:ext cx="176" cy="1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31" name="Line 89"/>
              <p:cNvSpPr>
                <a:spLocks noChangeShapeType="1"/>
              </p:cNvSpPr>
              <p:nvPr/>
            </p:nvSpPr>
            <p:spPr bwMode="auto">
              <a:xfrm flipH="1">
                <a:off x="1972" y="3339"/>
                <a:ext cx="215" cy="21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32" name="Line 90"/>
              <p:cNvSpPr>
                <a:spLocks noChangeShapeType="1"/>
              </p:cNvSpPr>
              <p:nvPr/>
            </p:nvSpPr>
            <p:spPr bwMode="auto">
              <a:xfrm flipH="1">
                <a:off x="2061" y="3339"/>
                <a:ext cx="351" cy="32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33" name="Line 91"/>
              <p:cNvSpPr>
                <a:spLocks noChangeShapeType="1"/>
              </p:cNvSpPr>
              <p:nvPr/>
            </p:nvSpPr>
            <p:spPr bwMode="auto">
              <a:xfrm flipH="1">
                <a:off x="2275" y="3427"/>
                <a:ext cx="312" cy="28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34" name="Line 92"/>
              <p:cNvSpPr>
                <a:spLocks noChangeShapeType="1"/>
              </p:cNvSpPr>
              <p:nvPr/>
            </p:nvSpPr>
            <p:spPr bwMode="auto">
              <a:xfrm flipH="1">
                <a:off x="2735" y="3172"/>
                <a:ext cx="87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35" name="Line 93"/>
              <p:cNvSpPr>
                <a:spLocks noChangeShapeType="1"/>
              </p:cNvSpPr>
              <p:nvPr/>
            </p:nvSpPr>
            <p:spPr bwMode="auto">
              <a:xfrm flipH="1">
                <a:off x="2607" y="3378"/>
                <a:ext cx="293" cy="2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3816" name="Text Box 94"/>
            <p:cNvSpPr txBox="1">
              <a:spLocks noChangeArrowheads="1"/>
            </p:cNvSpPr>
            <p:nvPr/>
          </p:nvSpPr>
          <p:spPr bwMode="auto">
            <a:xfrm rot="16200000">
              <a:off x="1778" y="2554"/>
              <a:ext cx="7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latin typeface="Swis721 BT" pitchFamily="34" charset="0"/>
                </a:rPr>
                <a:t>Φ</a:t>
              </a:r>
              <a:r>
                <a:rPr lang="en-US" altLang="zh-CN" dirty="0"/>
                <a:t>90H6</a:t>
              </a:r>
            </a:p>
          </p:txBody>
        </p:sp>
        <p:sp>
          <p:nvSpPr>
            <p:cNvPr id="33817" name="Line 95"/>
            <p:cNvSpPr>
              <a:spLocks noChangeShapeType="1"/>
            </p:cNvSpPr>
            <p:nvPr/>
          </p:nvSpPr>
          <p:spPr bwMode="auto">
            <a:xfrm>
              <a:off x="2324" y="2040"/>
              <a:ext cx="0" cy="12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910988"/>
            <a:ext cx="6288623" cy="3534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2146300" y="5017289"/>
            <a:ext cx="631825" cy="37941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4" name="矩形 63"/>
          <p:cNvSpPr/>
          <p:nvPr/>
        </p:nvSpPr>
        <p:spPr bwMode="auto">
          <a:xfrm>
            <a:off x="4683506" y="5014301"/>
            <a:ext cx="631825" cy="37941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6" name="矩形 65"/>
          <p:cNvSpPr/>
          <p:nvPr/>
        </p:nvSpPr>
        <p:spPr bwMode="auto">
          <a:xfrm>
            <a:off x="3469259" y="5496888"/>
            <a:ext cx="631825" cy="37941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7" name="矩形 66"/>
          <p:cNvSpPr/>
          <p:nvPr/>
        </p:nvSpPr>
        <p:spPr bwMode="auto">
          <a:xfrm>
            <a:off x="5902764" y="5477886"/>
            <a:ext cx="631825" cy="37941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8" name="Text Box 8"/>
          <p:cNvSpPr txBox="1">
            <a:spLocks noChangeArrowheads="1"/>
          </p:cNvSpPr>
          <p:nvPr/>
        </p:nvSpPr>
        <p:spPr bwMode="auto">
          <a:xfrm>
            <a:off x="1343004" y="2372046"/>
            <a:ext cx="240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轴向圆跳动</a:t>
            </a:r>
            <a:endParaRPr lang="en-US" altLang="zh-CN" b="1" dirty="0"/>
          </a:p>
        </p:txBody>
      </p:sp>
      <p:pic>
        <p:nvPicPr>
          <p:cNvPr id="33894" name="Picture 1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935" y="2443070"/>
            <a:ext cx="1451937" cy="3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922" name="Picture 1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31" y="697312"/>
            <a:ext cx="752475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923" name="Picture 13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53" y="1749888"/>
            <a:ext cx="65722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925" name="Picture 13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796" y="1345825"/>
            <a:ext cx="15525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build="p" autoUpdateAnimBg="0"/>
      <p:bldP spid="40967" grpId="0"/>
      <p:bldP spid="40968" grpId="0"/>
      <p:bldP spid="40978" grpId="0"/>
      <p:bldP spid="41001" grpId="0"/>
      <p:bldP spid="2" grpId="0" animBg="1"/>
      <p:bldP spid="64" grpId="0" animBg="1"/>
      <p:bldP spid="66" grpId="0" animBg="1"/>
      <p:bldP spid="67" grpId="0" animBg="1"/>
      <p:bldP spid="5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03BEC385-F15B-4984-9737-C56B24FD3581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33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641931" y="366766"/>
            <a:ext cx="64513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（3）确定各表面的</a:t>
            </a:r>
            <a:r>
              <a:rPr lang="en-US" altLang="zh-CN" b="1" i="1" dirty="0"/>
              <a:t>Ra</a:t>
            </a:r>
            <a:r>
              <a:rPr lang="zh-CN" altLang="en-US" b="1" dirty="0"/>
              <a:t>上限值 （查表6</a:t>
            </a:r>
            <a:r>
              <a:rPr lang="zh-CN" altLang="en-US" b="1" dirty="0" smtClean="0"/>
              <a:t>.</a:t>
            </a:r>
            <a:r>
              <a:rPr lang="en-US" altLang="zh-CN" b="1" dirty="0" smtClean="0"/>
              <a:t>6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903401" y="833024"/>
            <a:ext cx="27860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轴:</a:t>
            </a:r>
            <a:r>
              <a:rPr lang="en-US" altLang="zh-CN" b="1" i="1" dirty="0">
                <a:latin typeface="Swis721 BT" pitchFamily="34" charset="0"/>
              </a:rPr>
              <a:t>Φ</a:t>
            </a:r>
            <a:r>
              <a:rPr lang="en-US" altLang="zh-CN" b="1" dirty="0"/>
              <a:t>40k5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441700" y="1387867"/>
            <a:ext cx="2247900" cy="2016125"/>
            <a:chOff x="1640" y="429"/>
            <a:chExt cx="1592" cy="1026"/>
          </a:xfrm>
        </p:grpSpPr>
        <p:sp>
          <p:nvSpPr>
            <p:cNvPr id="34827" name="Rectangle 19"/>
            <p:cNvSpPr>
              <a:spLocks noChangeArrowheads="1"/>
            </p:cNvSpPr>
            <p:nvPr/>
          </p:nvSpPr>
          <p:spPr bwMode="auto">
            <a:xfrm>
              <a:off x="1943" y="634"/>
              <a:ext cx="762" cy="634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8" name="Line 20"/>
            <p:cNvSpPr>
              <a:spLocks noChangeShapeType="1"/>
            </p:cNvSpPr>
            <p:nvPr/>
          </p:nvSpPr>
          <p:spPr bwMode="auto">
            <a:xfrm flipH="1">
              <a:off x="1855" y="634"/>
              <a:ext cx="69" cy="8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9" name="Line 21"/>
            <p:cNvSpPr>
              <a:spLocks noChangeShapeType="1"/>
            </p:cNvSpPr>
            <p:nvPr/>
          </p:nvSpPr>
          <p:spPr bwMode="auto">
            <a:xfrm flipH="1" flipV="1">
              <a:off x="1835" y="1171"/>
              <a:ext cx="98" cy="8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0" name="Line 22"/>
            <p:cNvSpPr>
              <a:spLocks noChangeShapeType="1"/>
            </p:cNvSpPr>
            <p:nvPr/>
          </p:nvSpPr>
          <p:spPr bwMode="auto">
            <a:xfrm>
              <a:off x="1855" y="693"/>
              <a:ext cx="0" cy="517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1" name="Line 23"/>
            <p:cNvSpPr>
              <a:spLocks noChangeShapeType="1"/>
            </p:cNvSpPr>
            <p:nvPr/>
          </p:nvSpPr>
          <p:spPr bwMode="auto">
            <a:xfrm>
              <a:off x="2704" y="450"/>
              <a:ext cx="0" cy="100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2" name="Line 24"/>
            <p:cNvSpPr>
              <a:spLocks noChangeShapeType="1"/>
            </p:cNvSpPr>
            <p:nvPr/>
          </p:nvSpPr>
          <p:spPr bwMode="auto">
            <a:xfrm>
              <a:off x="2704" y="440"/>
              <a:ext cx="33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3" name="Line 25"/>
            <p:cNvSpPr>
              <a:spLocks noChangeShapeType="1"/>
            </p:cNvSpPr>
            <p:nvPr/>
          </p:nvSpPr>
          <p:spPr bwMode="auto">
            <a:xfrm>
              <a:off x="2716" y="1427"/>
              <a:ext cx="33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4" name="Freeform 26"/>
            <p:cNvSpPr>
              <a:spLocks/>
            </p:cNvSpPr>
            <p:nvPr/>
          </p:nvSpPr>
          <p:spPr bwMode="auto">
            <a:xfrm>
              <a:off x="3016" y="429"/>
              <a:ext cx="118" cy="986"/>
            </a:xfrm>
            <a:custGeom>
              <a:avLst/>
              <a:gdLst>
                <a:gd name="T0" fmla="*/ 0 w 118"/>
                <a:gd name="T1" fmla="*/ 0 h 986"/>
                <a:gd name="T2" fmla="*/ 88 w 118"/>
                <a:gd name="T3" fmla="*/ 176 h 986"/>
                <a:gd name="T4" fmla="*/ 108 w 118"/>
                <a:gd name="T5" fmla="*/ 234 h 986"/>
                <a:gd name="T6" fmla="*/ 118 w 118"/>
                <a:gd name="T7" fmla="*/ 264 h 986"/>
                <a:gd name="T8" fmla="*/ 108 w 118"/>
                <a:gd name="T9" fmla="*/ 586 h 986"/>
                <a:gd name="T10" fmla="*/ 59 w 118"/>
                <a:gd name="T11" fmla="*/ 703 h 986"/>
                <a:gd name="T12" fmla="*/ 30 w 118"/>
                <a:gd name="T13" fmla="*/ 986 h 9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8" h="986">
                  <a:moveTo>
                    <a:pt x="0" y="0"/>
                  </a:moveTo>
                  <a:cubicBezTo>
                    <a:pt x="44" y="65"/>
                    <a:pt x="64" y="102"/>
                    <a:pt x="88" y="176"/>
                  </a:cubicBezTo>
                  <a:cubicBezTo>
                    <a:pt x="94" y="195"/>
                    <a:pt x="101" y="215"/>
                    <a:pt x="108" y="234"/>
                  </a:cubicBezTo>
                  <a:cubicBezTo>
                    <a:pt x="111" y="244"/>
                    <a:pt x="118" y="264"/>
                    <a:pt x="118" y="264"/>
                  </a:cubicBezTo>
                  <a:cubicBezTo>
                    <a:pt x="115" y="371"/>
                    <a:pt x="116" y="479"/>
                    <a:pt x="108" y="586"/>
                  </a:cubicBezTo>
                  <a:cubicBezTo>
                    <a:pt x="105" y="629"/>
                    <a:pt x="73" y="664"/>
                    <a:pt x="59" y="703"/>
                  </a:cubicBezTo>
                  <a:cubicBezTo>
                    <a:pt x="51" y="799"/>
                    <a:pt x="30" y="891"/>
                    <a:pt x="30" y="98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5" name="Line 27"/>
            <p:cNvSpPr>
              <a:spLocks noChangeShapeType="1"/>
            </p:cNvSpPr>
            <p:nvPr/>
          </p:nvSpPr>
          <p:spPr bwMode="auto">
            <a:xfrm flipV="1">
              <a:off x="1640" y="929"/>
              <a:ext cx="1592" cy="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7856" name="AutoShape 32"/>
          <p:cNvSpPr>
            <a:spLocks noChangeArrowheads="1"/>
          </p:cNvSpPr>
          <p:nvPr/>
        </p:nvSpPr>
        <p:spPr bwMode="auto">
          <a:xfrm>
            <a:off x="1438182" y="1754188"/>
            <a:ext cx="1401855" cy="864725"/>
          </a:xfrm>
          <a:prstGeom prst="wedgeRoundRectCallout">
            <a:avLst>
              <a:gd name="adj1" fmla="val 182593"/>
              <a:gd name="adj2" fmla="val 19666"/>
              <a:gd name="adj3" fmla="val 16667"/>
            </a:avLst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b="1" dirty="0"/>
              <a:t>轴肩</a:t>
            </a:r>
          </a:p>
          <a:p>
            <a:pPr>
              <a:spcBef>
                <a:spcPct val="0"/>
              </a:spcBef>
            </a:pPr>
            <a:r>
              <a:rPr lang="en-US" altLang="zh-CN" b="1" dirty="0" smtClean="0"/>
              <a:t>6.3</a:t>
            </a:r>
            <a:r>
              <a:rPr lang="zh-CN" altLang="en-US" b="1" dirty="0" smtClean="0"/>
              <a:t> </a:t>
            </a:r>
            <a:r>
              <a:rPr lang="en-US" altLang="zh-CN" b="1" dirty="0" err="1">
                <a:ea typeface="楷体_GB2312" pitchFamily="49" charset="-122"/>
              </a:rPr>
              <a:t>μm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77858" name="AutoShape 34"/>
          <p:cNvSpPr>
            <a:spLocks/>
          </p:cNvSpPr>
          <p:nvPr/>
        </p:nvSpPr>
        <p:spPr bwMode="auto">
          <a:xfrm>
            <a:off x="6081713" y="1066095"/>
            <a:ext cx="1766147" cy="476974"/>
          </a:xfrm>
          <a:prstGeom prst="borderCallout3">
            <a:avLst>
              <a:gd name="adj1" fmla="val 41821"/>
              <a:gd name="adj2" fmla="val -1262"/>
              <a:gd name="adj3" fmla="val 39845"/>
              <a:gd name="adj4" fmla="val -101539"/>
              <a:gd name="adj5" fmla="val 39845"/>
              <a:gd name="adj6" fmla="val -102607"/>
              <a:gd name="adj7" fmla="val 142927"/>
              <a:gd name="adj8" fmla="val -101799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/>
              <a:t>轴颈0.</a:t>
            </a:r>
            <a:r>
              <a:rPr lang="zh-CN" altLang="en-US" b="1" dirty="0" smtClean="0"/>
              <a:t>4 </a:t>
            </a:r>
            <a:r>
              <a:rPr lang="en-US" altLang="zh-CN" b="1" dirty="0" err="1" smtClean="0"/>
              <a:t>μm</a:t>
            </a:r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00" y="3423271"/>
            <a:ext cx="7817360" cy="304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6614965" y="4952766"/>
            <a:ext cx="604837" cy="38735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6614964" y="5879022"/>
            <a:ext cx="604837" cy="38735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build="p" autoUpdateAnimBg="0"/>
      <p:bldP spid="77829" grpId="0" autoUpdateAnimBg="0"/>
      <p:bldP spid="77856" grpId="0" animBg="1"/>
      <p:bldP spid="77858" grpId="0" animBg="1"/>
      <p:bldP spid="21" grpId="0" animBg="1"/>
      <p:bldP spid="2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70580890-6F7E-43AB-B8FB-50CC91B3A9C2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34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86041" name="Text Box 25"/>
          <p:cNvSpPr txBox="1">
            <a:spLocks noChangeArrowheads="1"/>
          </p:cNvSpPr>
          <p:nvPr/>
        </p:nvSpPr>
        <p:spPr bwMode="auto">
          <a:xfrm>
            <a:off x="973885" y="393700"/>
            <a:ext cx="20711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孔</a:t>
            </a:r>
            <a:r>
              <a:rPr lang="en-US" altLang="zh-CN" b="1" i="1" dirty="0">
                <a:latin typeface="Swis721 BT" pitchFamily="34" charset="0"/>
              </a:rPr>
              <a:t>Φ</a:t>
            </a:r>
            <a:r>
              <a:rPr lang="en-US" altLang="zh-CN" b="1" dirty="0"/>
              <a:t>90H6:</a:t>
            </a: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00" y="3574197"/>
            <a:ext cx="7817360" cy="304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4652331" y="5455920"/>
            <a:ext cx="652462" cy="31115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4666690" y="6074899"/>
            <a:ext cx="652462" cy="31115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550" y="349837"/>
            <a:ext cx="1514475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AutoShape 28"/>
          <p:cNvSpPr>
            <a:spLocks/>
          </p:cNvSpPr>
          <p:nvPr/>
        </p:nvSpPr>
        <p:spPr bwMode="auto">
          <a:xfrm>
            <a:off x="5245216" y="1578168"/>
            <a:ext cx="1342516" cy="803830"/>
          </a:xfrm>
          <a:prstGeom prst="borderCallout3">
            <a:avLst>
              <a:gd name="adj1" fmla="val 10343"/>
              <a:gd name="adj2" fmla="val -3917"/>
              <a:gd name="adj3" fmla="val 10343"/>
              <a:gd name="adj4" fmla="val -92495"/>
              <a:gd name="adj5" fmla="val 10343"/>
              <a:gd name="adj6" fmla="val -110350"/>
              <a:gd name="adj7" fmla="val -68491"/>
              <a:gd name="adj8" fmla="val -110570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b="1" dirty="0"/>
              <a:t>外壳</a:t>
            </a:r>
            <a:r>
              <a:rPr lang="zh-CN" altLang="en-US" b="1" dirty="0" smtClean="0"/>
              <a:t>孔</a:t>
            </a:r>
            <a:endParaRPr lang="en-US" altLang="zh-CN" b="1" dirty="0" smtClean="0"/>
          </a:p>
          <a:p>
            <a:pPr>
              <a:spcBef>
                <a:spcPts val="0"/>
              </a:spcBef>
            </a:pPr>
            <a:r>
              <a:rPr lang="zh-CN" altLang="en-US" b="1" dirty="0" smtClean="0"/>
              <a:t>1</a:t>
            </a:r>
            <a:r>
              <a:rPr lang="zh-CN" altLang="en-US" b="1" dirty="0"/>
              <a:t>.6</a:t>
            </a:r>
            <a:r>
              <a:rPr lang="en-US" altLang="zh-CN" b="1" dirty="0" err="1"/>
              <a:t>μm</a:t>
            </a:r>
            <a:endParaRPr lang="zh-CN" altLang="en-US" b="1" dirty="0"/>
          </a:p>
        </p:txBody>
      </p:sp>
      <p:sp>
        <p:nvSpPr>
          <p:cNvPr id="33" name="AutoShape 32"/>
          <p:cNvSpPr>
            <a:spLocks/>
          </p:cNvSpPr>
          <p:nvPr/>
        </p:nvSpPr>
        <p:spPr bwMode="auto">
          <a:xfrm>
            <a:off x="1043235" y="2173579"/>
            <a:ext cx="1577358" cy="807282"/>
          </a:xfrm>
          <a:prstGeom prst="borderCallout1">
            <a:avLst>
              <a:gd name="adj1" fmla="val 10028"/>
              <a:gd name="adj2" fmla="val 103370"/>
              <a:gd name="adj3" fmla="val 8508"/>
              <a:gd name="adj4" fmla="val 193794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/>
              <a:t>外壳孔</a:t>
            </a:r>
            <a:r>
              <a:rPr lang="zh-CN" altLang="en-US" b="1" dirty="0" smtClean="0"/>
              <a:t>肩</a:t>
            </a:r>
            <a:r>
              <a:rPr lang="en-US" altLang="zh-CN" b="1" dirty="0" smtClean="0"/>
              <a:t>6</a:t>
            </a:r>
            <a:r>
              <a:rPr lang="zh-CN" altLang="en-US" b="1" dirty="0" smtClean="0"/>
              <a:t>.</a:t>
            </a:r>
            <a:r>
              <a:rPr lang="en-US" altLang="zh-CN" b="1" dirty="0" smtClean="0"/>
              <a:t>3μm</a:t>
            </a:r>
            <a:endParaRPr lang="zh-CN" altLang="en-US" b="1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41" grpId="0" autoUpdateAnimBg="0"/>
      <p:bldP spid="30" grpId="0" animBg="1"/>
      <p:bldP spid="31" grpId="0" animBg="1"/>
      <p:bldP spid="32" grpId="0" animBg="1" autoUpdateAnimBg="0"/>
      <p:bldP spid="33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BA5659-E554-4F66-BAC4-033FF7000783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35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57457" y="289099"/>
            <a:ext cx="16269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（4）</a:t>
            </a:r>
            <a:r>
              <a:rPr lang="zh-CN" altLang="en-US" b="1" dirty="0" smtClean="0"/>
              <a:t>标注</a:t>
            </a:r>
            <a:endParaRPr lang="zh-CN" altLang="en-US" b="1" dirty="0"/>
          </a:p>
        </p:txBody>
      </p:sp>
      <p:pic>
        <p:nvPicPr>
          <p:cNvPr id="19480" name="Picture 2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13" y="1003177"/>
            <a:ext cx="4456201" cy="5527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82" name="Text Box 26"/>
          <p:cNvSpPr txBox="1">
            <a:spLocks noChangeArrowheads="1"/>
          </p:cNvSpPr>
          <p:nvPr/>
        </p:nvSpPr>
        <p:spPr bwMode="auto">
          <a:xfrm>
            <a:off x="2583773" y="306499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装配图的</a:t>
            </a:r>
            <a:r>
              <a:rPr lang="zh-CN" altLang="en-US" b="1" dirty="0" smtClean="0"/>
              <a:t>标注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9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build="p" autoUpdateAnimBg="0"/>
      <p:bldP spid="1948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1246D3-5CF2-4CA6-9E4B-7C3C0ABB8C9E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36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563245" y="364173"/>
            <a:ext cx="539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零件图的</a:t>
            </a:r>
            <a:r>
              <a:rPr lang="zh-CN" altLang="en-US" b="1" dirty="0" smtClean="0"/>
              <a:t>标注</a:t>
            </a:r>
            <a:endParaRPr lang="en-US" altLang="zh-CN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61" y="1077750"/>
            <a:ext cx="7595319" cy="516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bldLvl="0" animBg="1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1950</Words>
  <Application>Microsoft Office PowerPoint</Application>
  <PresentationFormat>全屏显示(4:3)</PresentationFormat>
  <Paragraphs>245</Paragraphs>
  <Slides>36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Arial Unicode MS</vt:lpstr>
      <vt:lpstr>Batang</vt:lpstr>
      <vt:lpstr>Dotum</vt:lpstr>
      <vt:lpstr>Swis721 BT</vt:lpstr>
      <vt:lpstr>仿宋_GB2312</vt:lpstr>
      <vt:lpstr>华文新魏</vt:lpstr>
      <vt:lpstr>楷体_GB2312</vt:lpstr>
      <vt:lpstr>隶书</vt:lpstr>
      <vt:lpstr>宋体</vt:lpstr>
      <vt:lpstr>Comic Sans MS</vt:lpstr>
      <vt:lpstr>Times New Roman</vt:lpstr>
      <vt:lpstr>默认设计模板</vt:lpstr>
      <vt:lpstr>Flash Movie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yxm</cp:lastModifiedBy>
  <cp:revision>228</cp:revision>
  <dcterms:created xsi:type="dcterms:W3CDTF">2113-01-01T00:00:00Z</dcterms:created>
  <dcterms:modified xsi:type="dcterms:W3CDTF">2023-04-05T13:04:21Z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00383D074BAA4F038C9F3041A79C910A</vt:lpwstr>
  </property>
  <property fmtid="{D5CDD505-2E9C-101B-9397-08002B2CF9AE}" pid="3" name="KSOProductBuildVer">
    <vt:lpwstr>2052-11.1.0.10314</vt:lpwstr>
  </property>
</Properties>
</file>