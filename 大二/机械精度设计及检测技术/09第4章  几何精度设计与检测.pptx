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56" r:id="rId2"/>
    <p:sldId id="334" r:id="rId3"/>
    <p:sldId id="307" r:id="rId4"/>
    <p:sldId id="257" r:id="rId5"/>
    <p:sldId id="336" r:id="rId6"/>
    <p:sldId id="320" r:id="rId7"/>
    <p:sldId id="337" r:id="rId8"/>
    <p:sldId id="346" r:id="rId9"/>
    <p:sldId id="258" r:id="rId10"/>
    <p:sldId id="289" r:id="rId11"/>
    <p:sldId id="310" r:id="rId12"/>
    <p:sldId id="261" r:id="rId13"/>
    <p:sldId id="338" r:id="rId14"/>
    <p:sldId id="290" r:id="rId15"/>
    <p:sldId id="262" r:id="rId16"/>
    <p:sldId id="311" r:id="rId17"/>
    <p:sldId id="263" r:id="rId18"/>
    <p:sldId id="312" r:id="rId19"/>
    <p:sldId id="264" r:id="rId20"/>
    <p:sldId id="321" r:id="rId21"/>
    <p:sldId id="313" r:id="rId22"/>
    <p:sldId id="265" r:id="rId23"/>
    <p:sldId id="286" r:id="rId24"/>
    <p:sldId id="339" r:id="rId25"/>
    <p:sldId id="267" r:id="rId26"/>
    <p:sldId id="314" r:id="rId27"/>
    <p:sldId id="291" r:id="rId28"/>
    <p:sldId id="350" r:id="rId29"/>
    <p:sldId id="315" r:id="rId30"/>
    <p:sldId id="287" r:id="rId31"/>
    <p:sldId id="316" r:id="rId32"/>
    <p:sldId id="270" r:id="rId33"/>
    <p:sldId id="332" r:id="rId34"/>
    <p:sldId id="341" r:id="rId35"/>
    <p:sldId id="342" r:id="rId36"/>
    <p:sldId id="349" r:id="rId37"/>
    <p:sldId id="343" r:id="rId38"/>
    <p:sldId id="344" r:id="rId39"/>
    <p:sldId id="323" r:id="rId40"/>
  </p:sldIdLst>
  <p:sldSz cx="9144000" cy="5143500" type="screen16x9"/>
  <p:notesSz cx="9928225" cy="6797675"/>
  <p:defaultTextStyle>
    <a:defPPr>
      <a:defRPr lang="en-US"/>
    </a:defPPr>
    <a:lvl1pPr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0"/>
      </p:ext>
    </p:extLst>
  </p:showPr>
  <p:clrMru>
    <a:srgbClr val="020000"/>
    <a:srgbClr val="0000FF"/>
    <a:srgbClr val="CC3300"/>
    <a:srgbClr val="006600"/>
    <a:srgbClr val="FFFF00"/>
    <a:srgbClr val="FF9900"/>
    <a:srgbClr val="008080"/>
    <a:srgbClr val="FFCC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29" autoAdjust="0"/>
    <p:restoredTop sz="93184" autoAdjust="0"/>
  </p:normalViewPr>
  <p:slideViewPr>
    <p:cSldViewPr snapToGrid="0">
      <p:cViewPr varScale="1">
        <p:scale>
          <a:sx n="141" d="100"/>
          <a:sy n="141" d="100"/>
        </p:scale>
        <p:origin x="-780" y="-10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3313" cy="34021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594" y="0"/>
            <a:ext cx="4303313" cy="340210"/>
          </a:xfrm>
          <a:prstGeom prst="rect">
            <a:avLst/>
          </a:prstGeom>
        </p:spPr>
        <p:txBody>
          <a:bodyPr vert="horz" lIns="91440" tIns="45720" rIns="91440" bIns="45720" rtlCol="0"/>
          <a:lstStyle>
            <a:lvl1pPr algn="r">
              <a:defRPr sz="1200"/>
            </a:lvl1pPr>
          </a:lstStyle>
          <a:p>
            <a:fld id="{45188723-0F21-407C-BADA-1C28834E6B41}" type="datetimeFigureOut">
              <a:rPr lang="zh-CN" altLang="en-US" smtClean="0"/>
              <a:pPr/>
              <a:t>2022/4/20 Wednesday</a:t>
            </a:fld>
            <a:endParaRPr lang="zh-CN" altLang="en-US"/>
          </a:p>
        </p:txBody>
      </p:sp>
      <p:sp>
        <p:nvSpPr>
          <p:cNvPr id="4" name="页脚占位符 3"/>
          <p:cNvSpPr>
            <a:spLocks noGrp="1"/>
          </p:cNvSpPr>
          <p:nvPr>
            <p:ph type="ftr" sz="quarter" idx="2"/>
          </p:nvPr>
        </p:nvSpPr>
        <p:spPr>
          <a:xfrm>
            <a:off x="0" y="6456378"/>
            <a:ext cx="4303313" cy="34021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94" y="6456378"/>
            <a:ext cx="4303313" cy="340210"/>
          </a:xfrm>
          <a:prstGeom prst="rect">
            <a:avLst/>
          </a:prstGeom>
        </p:spPr>
        <p:txBody>
          <a:bodyPr vert="horz" lIns="91440" tIns="45720" rIns="91440" bIns="45720" rtlCol="0" anchor="b"/>
          <a:lstStyle>
            <a:lvl1pPr algn="r">
              <a:defRPr sz="1200"/>
            </a:lvl1pPr>
          </a:lstStyle>
          <a:p>
            <a:fld id="{34903022-78EE-4AA7-81E5-797083526DC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0"/>
            <a:ext cx="4302231" cy="339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zh-CN" altLang="en-US"/>
          </a:p>
        </p:txBody>
      </p:sp>
      <p:sp>
        <p:nvSpPr>
          <p:cNvPr id="26627" name="Rectangle 3"/>
          <p:cNvSpPr>
            <a:spLocks noGrp="1" noChangeArrowheads="1"/>
          </p:cNvSpPr>
          <p:nvPr>
            <p:ph type="dt" idx="1"/>
          </p:nvPr>
        </p:nvSpPr>
        <p:spPr bwMode="auto">
          <a:xfrm>
            <a:off x="5625995" y="0"/>
            <a:ext cx="4302231" cy="339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9876" name="Rectangle 4"/>
          <p:cNvSpPr>
            <a:spLocks noGrp="1" noRot="1" noChangeAspect="1" noChangeArrowheads="1" noTextEdit="1"/>
          </p:cNvSpPr>
          <p:nvPr>
            <p:ph type="sldImg" idx="2"/>
          </p:nvPr>
        </p:nvSpPr>
        <p:spPr bwMode="auto">
          <a:xfrm>
            <a:off x="2698750" y="509588"/>
            <a:ext cx="4530725" cy="2549525"/>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26629" name="Rectangle 5"/>
          <p:cNvSpPr>
            <a:spLocks noGrp="1" noChangeArrowheads="1"/>
          </p:cNvSpPr>
          <p:nvPr>
            <p:ph type="body" sz="quarter" idx="3"/>
          </p:nvPr>
        </p:nvSpPr>
        <p:spPr bwMode="auto">
          <a:xfrm>
            <a:off x="1323764" y="3228896"/>
            <a:ext cx="7280699" cy="30589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630" name="Rectangle 6"/>
          <p:cNvSpPr>
            <a:spLocks noGrp="1" noChangeArrowheads="1"/>
          </p:cNvSpPr>
          <p:nvPr>
            <p:ph type="ftr" sz="quarter" idx="4"/>
          </p:nvPr>
        </p:nvSpPr>
        <p:spPr bwMode="auto">
          <a:xfrm>
            <a:off x="1" y="6457792"/>
            <a:ext cx="4302231" cy="339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26631" name="Rectangle 7"/>
          <p:cNvSpPr>
            <a:spLocks noGrp="1" noChangeArrowheads="1"/>
          </p:cNvSpPr>
          <p:nvPr>
            <p:ph type="sldNum" sz="quarter" idx="5"/>
          </p:nvPr>
        </p:nvSpPr>
        <p:spPr bwMode="auto">
          <a:xfrm>
            <a:off x="5625995" y="6457792"/>
            <a:ext cx="4302231" cy="339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198F9237-A9C4-4BD6-A30E-55230B00E1CA}" type="slidenum">
              <a:rPr lang="zh-CN" altLang="en-US"/>
              <a:pPr>
                <a:defRPr/>
              </a:pPr>
              <a:t>‹#›</a:t>
            </a:fld>
            <a:endParaRPr lang="en-US" altLang="zh-CN"/>
          </a:p>
        </p:txBody>
      </p:sp>
    </p:spTree>
    <p:extLst>
      <p:ext uri="{BB962C8B-B14F-4D97-AF65-F5344CB8AC3E}">
        <p14:creationId xmlns="" xmlns:p14="http://schemas.microsoft.com/office/powerpoint/2010/main" val="36367250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8F9237-A9C4-4BD6-A30E-55230B00E1CA}" type="slidenum">
              <a:rPr lang="zh-CN" altLang="en-US" smtClean="0"/>
              <a:pPr>
                <a:defRPr/>
              </a:pPr>
              <a:t>12</a:t>
            </a:fld>
            <a:endParaRPr lang="en-US" altLang="zh-CN"/>
          </a:p>
        </p:txBody>
      </p:sp>
    </p:spTree>
    <p:extLst>
      <p:ext uri="{BB962C8B-B14F-4D97-AF65-F5344CB8AC3E}">
        <p14:creationId xmlns="" xmlns:p14="http://schemas.microsoft.com/office/powerpoint/2010/main" val="2506017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6EE5A7C-939A-421E-941C-DADF4F496615}" type="slidenum">
              <a:rPr lang="zh-CN" altLang="en-US"/>
              <a:pPr>
                <a:defRPr/>
              </a:pPr>
              <a:t>‹#›</a:t>
            </a:fld>
            <a:endParaRPr lang="en-US" altLang="zh-CN"/>
          </a:p>
        </p:txBody>
      </p:sp>
    </p:spTree>
    <p:extLst>
      <p:ext uri="{BB962C8B-B14F-4D97-AF65-F5344CB8AC3E}">
        <p14:creationId xmlns="" xmlns:p14="http://schemas.microsoft.com/office/powerpoint/2010/main" val="1040020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782521F-9C76-41EF-BC5B-469E4EF7072D}" type="slidenum">
              <a:rPr lang="zh-CN" altLang="en-US"/>
              <a:pPr>
                <a:defRPr/>
              </a:pPr>
              <a:t>‹#›</a:t>
            </a:fld>
            <a:endParaRPr lang="en-US" altLang="zh-CN"/>
          </a:p>
        </p:txBody>
      </p:sp>
    </p:spTree>
    <p:extLst>
      <p:ext uri="{BB962C8B-B14F-4D97-AF65-F5344CB8AC3E}">
        <p14:creationId xmlns="" xmlns:p14="http://schemas.microsoft.com/office/powerpoint/2010/main" val="687599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CAC058B-392D-4468-AE56-3C43A4BBEF5A}" type="slidenum">
              <a:rPr lang="zh-CN" altLang="en-US"/>
              <a:pPr>
                <a:defRPr/>
              </a:pPr>
              <a:t>‹#›</a:t>
            </a:fld>
            <a:endParaRPr lang="en-US" altLang="zh-CN"/>
          </a:p>
        </p:txBody>
      </p:sp>
    </p:spTree>
    <p:extLst>
      <p:ext uri="{BB962C8B-B14F-4D97-AF65-F5344CB8AC3E}">
        <p14:creationId xmlns="" xmlns:p14="http://schemas.microsoft.com/office/powerpoint/2010/main" val="3826851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A8CFAEE-5766-4288-B0E4-AF48F7BC5A14}" type="slidenum">
              <a:rPr lang="zh-CN" altLang="en-US"/>
              <a:pPr>
                <a:defRPr/>
              </a:pPr>
              <a:t>‹#›</a:t>
            </a:fld>
            <a:endParaRPr lang="en-US" altLang="zh-CN"/>
          </a:p>
        </p:txBody>
      </p:sp>
    </p:spTree>
    <p:extLst>
      <p:ext uri="{BB962C8B-B14F-4D97-AF65-F5344CB8AC3E}">
        <p14:creationId xmlns="" xmlns:p14="http://schemas.microsoft.com/office/powerpoint/2010/main" val="543788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5A1A88D-4570-40CC-9F57-070F81134E30}" type="slidenum">
              <a:rPr lang="zh-CN" altLang="en-US"/>
              <a:pPr>
                <a:defRPr/>
              </a:pPr>
              <a:t>‹#›</a:t>
            </a:fld>
            <a:endParaRPr lang="en-US" altLang="zh-CN"/>
          </a:p>
        </p:txBody>
      </p:sp>
    </p:spTree>
    <p:extLst>
      <p:ext uri="{BB962C8B-B14F-4D97-AF65-F5344CB8AC3E}">
        <p14:creationId xmlns="" xmlns:p14="http://schemas.microsoft.com/office/powerpoint/2010/main" val="938226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944EF20-8C64-4501-A4CE-FB5012C65A29}" type="slidenum">
              <a:rPr lang="zh-CN" altLang="en-US"/>
              <a:pPr>
                <a:defRPr/>
              </a:pPr>
              <a:t>‹#›</a:t>
            </a:fld>
            <a:endParaRPr lang="en-US" altLang="zh-CN"/>
          </a:p>
        </p:txBody>
      </p:sp>
    </p:spTree>
    <p:extLst>
      <p:ext uri="{BB962C8B-B14F-4D97-AF65-F5344CB8AC3E}">
        <p14:creationId xmlns="" xmlns:p14="http://schemas.microsoft.com/office/powerpoint/2010/main" val="1054550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0373DC7-2589-4FCB-9590-055F7B458AAA}" type="slidenum">
              <a:rPr lang="zh-CN" altLang="en-US"/>
              <a:pPr>
                <a:defRPr/>
              </a:pPr>
              <a:t>‹#›</a:t>
            </a:fld>
            <a:endParaRPr lang="en-US" altLang="zh-CN"/>
          </a:p>
        </p:txBody>
      </p:sp>
    </p:spTree>
    <p:extLst>
      <p:ext uri="{BB962C8B-B14F-4D97-AF65-F5344CB8AC3E}">
        <p14:creationId xmlns="" xmlns:p14="http://schemas.microsoft.com/office/powerpoint/2010/main" val="167564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B3F959B-2515-4D7F-BACE-8301E9D9ACEB}" type="slidenum">
              <a:rPr lang="zh-CN" altLang="en-US"/>
              <a:pPr>
                <a:defRPr/>
              </a:pPr>
              <a:t>‹#›</a:t>
            </a:fld>
            <a:endParaRPr lang="en-US" altLang="zh-CN"/>
          </a:p>
        </p:txBody>
      </p:sp>
    </p:spTree>
    <p:extLst>
      <p:ext uri="{BB962C8B-B14F-4D97-AF65-F5344CB8AC3E}">
        <p14:creationId xmlns="" xmlns:p14="http://schemas.microsoft.com/office/powerpoint/2010/main" val="2126602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9A5E84D-478C-492D-8A90-0C79AEE7630E}" type="slidenum">
              <a:rPr lang="zh-CN" altLang="en-US"/>
              <a:pPr>
                <a:defRPr/>
              </a:pPr>
              <a:t>‹#›</a:t>
            </a:fld>
            <a:endParaRPr lang="en-US" altLang="zh-CN"/>
          </a:p>
        </p:txBody>
      </p:sp>
    </p:spTree>
    <p:extLst>
      <p:ext uri="{BB962C8B-B14F-4D97-AF65-F5344CB8AC3E}">
        <p14:creationId xmlns="" xmlns:p14="http://schemas.microsoft.com/office/powerpoint/2010/main" val="170909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4840CDD-EB41-4727-924F-31995C80EB15}" type="slidenum">
              <a:rPr lang="zh-CN" altLang="en-US"/>
              <a:pPr>
                <a:defRPr/>
              </a:pPr>
              <a:t>‹#›</a:t>
            </a:fld>
            <a:endParaRPr lang="en-US" altLang="zh-CN"/>
          </a:p>
        </p:txBody>
      </p:sp>
    </p:spTree>
    <p:extLst>
      <p:ext uri="{BB962C8B-B14F-4D97-AF65-F5344CB8AC3E}">
        <p14:creationId xmlns="" xmlns:p14="http://schemas.microsoft.com/office/powerpoint/2010/main" val="2889578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EC79C34-1D8C-48C0-9EC3-AB6786EB1AD7}" type="slidenum">
              <a:rPr lang="zh-CN" altLang="en-US"/>
              <a:pPr>
                <a:defRPr/>
              </a:pPr>
              <a:t>‹#›</a:t>
            </a:fld>
            <a:endParaRPr lang="en-US" altLang="zh-CN"/>
          </a:p>
        </p:txBody>
      </p:sp>
    </p:spTree>
    <p:extLst>
      <p:ext uri="{BB962C8B-B14F-4D97-AF65-F5344CB8AC3E}">
        <p14:creationId xmlns="" xmlns:p14="http://schemas.microsoft.com/office/powerpoint/2010/main" val="1993186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4D8D435-BC99-4FE7-A9EF-7D39DF06D978}" type="slidenum">
              <a:rPr lang="zh-CN" altLang="en-US"/>
              <a:pPr>
                <a:defRPr/>
              </a:pPr>
              <a:t>‹#›</a:t>
            </a:fld>
            <a:endParaRPr lang="en-US" altLang="zh-CN"/>
          </a:p>
        </p:txBody>
      </p:sp>
    </p:spTree>
    <p:extLst>
      <p:ext uri="{BB962C8B-B14F-4D97-AF65-F5344CB8AC3E}">
        <p14:creationId xmlns="" xmlns:p14="http://schemas.microsoft.com/office/powerpoint/2010/main" val="183429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857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485900"/>
            <a:ext cx="7772400" cy="3086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0" sz="1400"/>
            </a:lvl1pPr>
          </a:lstStyle>
          <a:p>
            <a:pPr>
              <a:defRPr/>
            </a:pPr>
            <a:endParaRPr lang="en-US" altLang="zh-CN"/>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vl1pPr>
          </a:lstStyle>
          <a:p>
            <a:pPr>
              <a:defRPr/>
            </a:pPr>
            <a:endParaRPr lang="en-US" altLang="zh-CN"/>
          </a:p>
        </p:txBody>
      </p:sp>
      <p:sp>
        <p:nvSpPr>
          <p:cNvPr id="1030" name="Rectangle 6"/>
          <p:cNvSpPr>
            <a:spLocks noGrp="1" noChangeArrowheads="1"/>
          </p:cNvSpPr>
          <p:nvPr>
            <p:ph type="sldNum" sz="quarter" idx="4"/>
          </p:nvPr>
        </p:nvSpPr>
        <p:spPr bwMode="auto">
          <a:xfrm>
            <a:off x="7239000" y="0"/>
            <a:ext cx="19050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2000" b="1">
                <a:solidFill>
                  <a:srgbClr val="0000FF"/>
                </a:solidFill>
              </a:defRPr>
            </a:lvl1pPr>
          </a:lstStyle>
          <a:p>
            <a:pPr>
              <a:defRPr/>
            </a:pPr>
            <a:fld id="{CCD6FE79-1211-4467-9DB1-31B9709AFB2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oleObject" Target="../embeddings/oleObject1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灯片编号占位符 3"/>
          <p:cNvSpPr>
            <a:spLocks noGrp="1"/>
          </p:cNvSpPr>
          <p:nvPr>
            <p:ph type="sldNum" sz="quarter" idx="12"/>
          </p:nvPr>
        </p:nvSpPr>
        <p:spPr>
          <a:xfrm>
            <a:off x="7058025" y="33338"/>
            <a:ext cx="1905000" cy="342900"/>
          </a:xfrm>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A6FEF54-E349-4E49-A8B2-C4939DC2C2FC}" type="slidenum">
              <a:rPr kumimoji="0" lang="zh-CN" altLang="en-US" sz="2000" smtClean="0">
                <a:solidFill>
                  <a:srgbClr val="FF0000"/>
                </a:solidFill>
              </a:rPr>
              <a:pPr eaLnBrk="1" hangingPunct="1"/>
              <a:t>1</a:t>
            </a:fld>
            <a:endParaRPr kumimoji="0" lang="en-US" altLang="zh-CN" sz="2000">
              <a:solidFill>
                <a:srgbClr val="FF0000"/>
              </a:solidFill>
            </a:endParaRPr>
          </a:p>
        </p:txBody>
      </p:sp>
      <p:sp>
        <p:nvSpPr>
          <p:cNvPr id="2051" name="Text Box 38"/>
          <p:cNvSpPr txBox="1">
            <a:spLocks noChangeArrowheads="1"/>
          </p:cNvSpPr>
          <p:nvPr/>
        </p:nvSpPr>
        <p:spPr bwMode="auto">
          <a:xfrm>
            <a:off x="864046" y="206803"/>
            <a:ext cx="7373645" cy="5869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154564" tIns="77281" rIns="154564" bIns="77281">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a:r>
              <a:rPr kumimoji="0" lang="zh-CN" altLang="en-US" sz="2800" b="1" dirty="0">
                <a:latin typeface="宋体" pitchFamily="2" charset="-122"/>
              </a:rPr>
              <a:t>第4章 几何精度精度设计与检测 (4)      </a:t>
            </a:r>
            <a:endParaRPr kumimoji="0" lang="zh-CN" altLang="en-US" sz="2800" dirty="0">
              <a:latin typeface="宋体" pitchFamily="2" charset="-122"/>
            </a:endParaRPr>
          </a:p>
        </p:txBody>
      </p:sp>
      <p:sp>
        <p:nvSpPr>
          <p:cNvPr id="14" name="Text Box 4"/>
          <p:cNvSpPr txBox="1">
            <a:spLocks noChangeArrowheads="1"/>
          </p:cNvSpPr>
          <p:nvPr/>
        </p:nvSpPr>
        <p:spPr bwMode="auto">
          <a:xfrm>
            <a:off x="795517" y="1217590"/>
            <a:ext cx="515143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b="1" dirty="0">
                <a:latin typeface="宋体" pitchFamily="2" charset="-122"/>
              </a:rPr>
              <a:t>4.4 几何</a:t>
            </a:r>
            <a:r>
              <a:rPr lang="zh-CN" altLang="en-US" b="1" dirty="0" smtClean="0">
                <a:latin typeface="宋体" pitchFamily="2" charset="-122"/>
              </a:rPr>
              <a:t>精度的设计</a:t>
            </a:r>
            <a:r>
              <a:rPr lang="zh-CN" altLang="en-US" b="1" dirty="0" smtClean="0"/>
              <a:t> </a:t>
            </a:r>
            <a:endParaRPr lang="zh-CN" altLang="en-US" b="1" dirty="0"/>
          </a:p>
        </p:txBody>
      </p:sp>
      <p:sp>
        <p:nvSpPr>
          <p:cNvPr id="15" name="Text Box 6"/>
          <p:cNvSpPr txBox="1">
            <a:spLocks noChangeArrowheads="1"/>
          </p:cNvSpPr>
          <p:nvPr/>
        </p:nvSpPr>
        <p:spPr bwMode="auto">
          <a:xfrm>
            <a:off x="1793875" y="1821410"/>
            <a:ext cx="53467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latin typeface="宋体" pitchFamily="2" charset="-122"/>
              </a:rPr>
              <a:t>几何公差特征项目</a:t>
            </a:r>
            <a:r>
              <a:rPr lang="zh-CN" altLang="en-US" b="1" dirty="0">
                <a:cs typeface="Times New Roman" pitchFamily="18" charset="0"/>
              </a:rPr>
              <a:t>—</a:t>
            </a:r>
            <a:r>
              <a:rPr lang="zh-CN" altLang="en-US" b="1" dirty="0"/>
              <a:t>19项</a:t>
            </a:r>
          </a:p>
        </p:txBody>
      </p:sp>
      <p:sp>
        <p:nvSpPr>
          <p:cNvPr id="16" name="Text Box 7"/>
          <p:cNvSpPr txBox="1">
            <a:spLocks noChangeArrowheads="1"/>
          </p:cNvSpPr>
          <p:nvPr/>
        </p:nvSpPr>
        <p:spPr bwMode="auto">
          <a:xfrm>
            <a:off x="1778001" y="2259338"/>
            <a:ext cx="70326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latin typeface="宋体" pitchFamily="2" charset="-122"/>
              </a:rPr>
              <a:t>公差原则</a:t>
            </a:r>
            <a:r>
              <a:rPr lang="zh-CN" altLang="en-US" b="1" dirty="0">
                <a:cs typeface="Times New Roman" pitchFamily="18" charset="0"/>
              </a:rPr>
              <a:t>—</a:t>
            </a:r>
            <a:r>
              <a:rPr lang="zh-CN" altLang="en-US" b="1" dirty="0"/>
              <a:t>独立原则和相关要求</a:t>
            </a:r>
          </a:p>
        </p:txBody>
      </p:sp>
      <p:sp>
        <p:nvSpPr>
          <p:cNvPr id="17" name="Text Box 8"/>
          <p:cNvSpPr txBox="1">
            <a:spLocks noChangeArrowheads="1"/>
          </p:cNvSpPr>
          <p:nvPr/>
        </p:nvSpPr>
        <p:spPr bwMode="auto">
          <a:xfrm>
            <a:off x="1778001" y="2701916"/>
            <a:ext cx="671036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latin typeface="宋体" pitchFamily="2" charset="-122"/>
              </a:rPr>
              <a:t>基准</a:t>
            </a:r>
            <a:r>
              <a:rPr lang="zh-CN" altLang="en-US" b="1" dirty="0">
                <a:cs typeface="Times New Roman" pitchFamily="18" charset="0"/>
              </a:rPr>
              <a:t>—</a:t>
            </a:r>
            <a:r>
              <a:rPr lang="zh-CN" altLang="en-US" b="1" dirty="0"/>
              <a:t>单一基准、公共基准和基准体系</a:t>
            </a:r>
          </a:p>
        </p:txBody>
      </p:sp>
      <p:sp>
        <p:nvSpPr>
          <p:cNvPr id="18" name="Rectangle 12"/>
          <p:cNvSpPr>
            <a:spLocks noChangeArrowheads="1"/>
          </p:cNvSpPr>
          <p:nvPr/>
        </p:nvSpPr>
        <p:spPr bwMode="auto">
          <a:xfrm>
            <a:off x="1778001" y="3142280"/>
            <a:ext cx="6740525"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dirty="0">
                <a:latin typeface="宋体" pitchFamily="2" charset="-122"/>
              </a:rPr>
              <a:t>公差值</a:t>
            </a:r>
            <a:r>
              <a:rPr lang="zh-CN" altLang="en-US" b="1" dirty="0">
                <a:cs typeface="Times New Roman" pitchFamily="18" charset="0"/>
              </a:rPr>
              <a:t>—</a:t>
            </a:r>
            <a:r>
              <a:rPr lang="zh-CN" altLang="en-US" b="1" dirty="0"/>
              <a:t>未注公差值和注出公差值</a:t>
            </a:r>
          </a:p>
        </p:txBody>
      </p:sp>
      <p:grpSp>
        <p:nvGrpSpPr>
          <p:cNvPr id="19" name="Group 18"/>
          <p:cNvGrpSpPr>
            <a:grpSpLocks/>
          </p:cNvGrpSpPr>
          <p:nvPr/>
        </p:nvGrpSpPr>
        <p:grpSpPr bwMode="auto">
          <a:xfrm>
            <a:off x="502772" y="2014065"/>
            <a:ext cx="1370013" cy="1450181"/>
            <a:chOff x="232" y="707"/>
            <a:chExt cx="863" cy="1218"/>
          </a:xfrm>
        </p:grpSpPr>
        <p:sp>
          <p:nvSpPr>
            <p:cNvPr id="20" name="Text Box 5"/>
            <p:cNvSpPr txBox="1">
              <a:spLocks noChangeArrowheads="1"/>
            </p:cNvSpPr>
            <p:nvPr/>
          </p:nvSpPr>
          <p:spPr bwMode="auto">
            <a:xfrm>
              <a:off x="232" y="857"/>
              <a:ext cx="863" cy="85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a:t>设计</a:t>
              </a:r>
            </a:p>
            <a:p>
              <a:pPr algn="l" eaLnBrk="1" hangingPunct="1">
                <a:spcBef>
                  <a:spcPct val="50000"/>
                </a:spcBef>
              </a:pPr>
              <a:r>
                <a:rPr lang="zh-CN" altLang="en-US" b="1"/>
                <a:t>内容</a:t>
              </a:r>
            </a:p>
          </p:txBody>
        </p:sp>
        <p:sp>
          <p:nvSpPr>
            <p:cNvPr id="21" name="AutoShape 17"/>
            <p:cNvSpPr>
              <a:spLocks/>
            </p:cNvSpPr>
            <p:nvPr/>
          </p:nvSpPr>
          <p:spPr bwMode="auto">
            <a:xfrm>
              <a:off x="815" y="707"/>
              <a:ext cx="247" cy="1218"/>
            </a:xfrm>
            <a:prstGeom prst="leftBrace">
              <a:avLst>
                <a:gd name="adj1" fmla="val 41093"/>
                <a:gd name="adj2" fmla="val 50000"/>
              </a:avLst>
            </a:prstGeom>
            <a:noFill/>
            <a:ln w="38100">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12" name="直接连接符 11">
            <a:extLst>
              <a:ext uri="{FF2B5EF4-FFF2-40B4-BE49-F238E27FC236}">
                <a16:creationId xmlns="" xmlns:a16="http://schemas.microsoft.com/office/drawing/2014/main" id="{B124C57C-66FD-4D21-B6C6-FD22C0C75932}"/>
              </a:ext>
            </a:extLst>
          </p:cNvPr>
          <p:cNvCxnSpPr/>
          <p:nvPr/>
        </p:nvCxnSpPr>
        <p:spPr bwMode="auto">
          <a:xfrm flipV="1">
            <a:off x="230121" y="869256"/>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left)">
                                      <p:cBhvr>
                                        <p:cTn id="7" dur="500"/>
                                        <p:tgtEl>
                                          <p:spTgt spid="2051"/>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wipe(left)">
                                      <p:cBhvr>
                                        <p:cTn id="11" dur="300"/>
                                        <p:tgtEl>
                                          <p:spTgt spid="1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20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wd">
                                    <p:tmPct val="100000"/>
                                  </p:iterate>
                                  <p:childTnLst>
                                    <p:set>
                                      <p:cBhvr>
                                        <p:cTn id="20" dur="1" fill="hold">
                                          <p:stCondLst>
                                            <p:cond delay="0"/>
                                          </p:stCondLst>
                                        </p:cTn>
                                        <p:tgtEl>
                                          <p:spTgt spid="15">
                                            <p:txEl>
                                              <p:pRg st="0" end="0"/>
                                            </p:txEl>
                                          </p:spTgt>
                                        </p:tgtEl>
                                        <p:attrNameLst>
                                          <p:attrName>style.visibility</p:attrName>
                                        </p:attrNameLst>
                                      </p:cBhvr>
                                      <p:to>
                                        <p:strVal val="visible"/>
                                      </p:to>
                                    </p:set>
                                    <p:animEffect transition="in" filter="wipe(left)">
                                      <p:cBhvr>
                                        <p:cTn id="21" dur="300"/>
                                        <p:tgtEl>
                                          <p:spTgt spid="1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wipe(left)">
                                      <p:cBhvr>
                                        <p:cTn id="26" dur="300"/>
                                        <p:tgtEl>
                                          <p:spTgt spid="1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7">
                                            <p:txEl>
                                              <p:pRg st="0" end="0"/>
                                            </p:txEl>
                                          </p:spTgt>
                                        </p:tgtEl>
                                        <p:attrNameLst>
                                          <p:attrName>style.visibility</p:attrName>
                                        </p:attrNameLst>
                                      </p:cBhvr>
                                      <p:to>
                                        <p:strVal val="visible"/>
                                      </p:to>
                                    </p:set>
                                    <p:animEffect transition="in" filter="wipe(left)">
                                      <p:cBhvr>
                                        <p:cTn id="31" dur="300"/>
                                        <p:tgtEl>
                                          <p:spTgt spid="1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8">
                                            <p:txEl>
                                              <p:pRg st="0" end="0"/>
                                            </p:txEl>
                                          </p:spTgt>
                                        </p:tgtEl>
                                        <p:attrNameLst>
                                          <p:attrName>style.visibility</p:attrName>
                                        </p:attrNameLst>
                                      </p:cBhvr>
                                      <p:to>
                                        <p:strVal val="visible"/>
                                      </p:to>
                                    </p:set>
                                    <p:animEffect transition="in" filter="wipe(left)">
                                      <p:cBhvr>
                                        <p:cTn id="36" dur="3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14" grpId="0" build="p" autoUpdateAnimBg="0"/>
      <p:bldP spid="15" grpId="0" build="p" autoUpdateAnimBg="0"/>
      <p:bldP spid="16" grpId="0" build="p" autoUpdateAnimBg="0"/>
      <p:bldP spid="17" grpId="0" build="p" autoUpdateAnimBg="0"/>
      <p:bldP spid="18"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C6087AC-EAE2-43F6-BD59-BFA92A872E67}" type="slidenum">
              <a:rPr kumimoji="0" lang="zh-CN" altLang="en-US" sz="2000" smtClean="0">
                <a:solidFill>
                  <a:srgbClr val="0000FF"/>
                </a:solidFill>
              </a:rPr>
              <a:pPr eaLnBrk="1" hangingPunct="1"/>
              <a:t>2</a:t>
            </a:fld>
            <a:endParaRPr kumimoji="0" lang="en-US" altLang="zh-CN" sz="2000">
              <a:solidFill>
                <a:srgbClr val="0000FF"/>
              </a:solidFill>
            </a:endParaRPr>
          </a:p>
        </p:txBody>
      </p:sp>
      <p:sp>
        <p:nvSpPr>
          <p:cNvPr id="150537" name="Text Box 9"/>
          <p:cNvSpPr txBox="1">
            <a:spLocks noChangeArrowheads="1"/>
          </p:cNvSpPr>
          <p:nvPr/>
        </p:nvSpPr>
        <p:spPr bwMode="auto">
          <a:xfrm>
            <a:off x="275200" y="137010"/>
            <a:ext cx="69929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4.4.1</a:t>
            </a:r>
            <a:r>
              <a:rPr lang="zh-CN" altLang="en-US" b="1" dirty="0">
                <a:latin typeface="宋体" pitchFamily="2" charset="-122"/>
              </a:rPr>
              <a:t>几何公差特征项目的选用</a:t>
            </a:r>
            <a:r>
              <a:rPr lang="zh-CN" altLang="en-US" dirty="0">
                <a:latin typeface="宋体" pitchFamily="2" charset="-122"/>
              </a:rPr>
              <a:t> </a:t>
            </a:r>
          </a:p>
        </p:txBody>
      </p:sp>
      <p:sp>
        <p:nvSpPr>
          <p:cNvPr id="150538" name="Text Box 10"/>
          <p:cNvSpPr txBox="1">
            <a:spLocks noChangeArrowheads="1"/>
          </p:cNvSpPr>
          <p:nvPr/>
        </p:nvSpPr>
        <p:spPr bwMode="auto">
          <a:xfrm>
            <a:off x="445857" y="1187319"/>
            <a:ext cx="7737475"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latin typeface="宋体" pitchFamily="2" charset="-122"/>
              </a:rPr>
              <a:t>1.根据 </a:t>
            </a:r>
            <a:r>
              <a:rPr lang="en-US" altLang="zh-CN" sz="2000" b="1" i="1" dirty="0"/>
              <a:t>f</a:t>
            </a:r>
            <a:r>
              <a:rPr lang="zh-CN" altLang="en-US" sz="2000" b="1" baseline="-30000" dirty="0">
                <a:latin typeface="宋体" pitchFamily="2" charset="-122"/>
              </a:rPr>
              <a:t>几何 </a:t>
            </a:r>
            <a:r>
              <a:rPr lang="zh-CN" altLang="en-US" sz="2000" b="1" dirty="0">
                <a:latin typeface="宋体" pitchFamily="2" charset="-122"/>
              </a:rPr>
              <a:t>对零件工作性能的影响 ；</a:t>
            </a:r>
          </a:p>
        </p:txBody>
      </p:sp>
      <p:sp>
        <p:nvSpPr>
          <p:cNvPr id="150539" name="Text Box 11"/>
          <p:cNvSpPr txBox="1">
            <a:spLocks noChangeArrowheads="1"/>
          </p:cNvSpPr>
          <p:nvPr/>
        </p:nvSpPr>
        <p:spPr bwMode="auto">
          <a:xfrm>
            <a:off x="463613" y="1775824"/>
            <a:ext cx="8245475" cy="4263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2.  根据加工中可能产生的 </a:t>
            </a:r>
            <a:r>
              <a:rPr lang="en-US" altLang="zh-CN" sz="2000" b="1" i="1" dirty="0"/>
              <a:t>f</a:t>
            </a:r>
            <a:r>
              <a:rPr lang="zh-CN" altLang="en-US" sz="2000" b="1" baseline="-30000" dirty="0"/>
              <a:t>几何</a:t>
            </a:r>
            <a:r>
              <a:rPr lang="zh-CN" altLang="en-US" sz="2000" b="1" dirty="0"/>
              <a:t>和检测条件等因素来选用。                 </a:t>
            </a:r>
          </a:p>
        </p:txBody>
      </p:sp>
      <p:sp>
        <p:nvSpPr>
          <p:cNvPr id="150547" name="Text Box 19"/>
          <p:cNvSpPr txBox="1">
            <a:spLocks noChangeArrowheads="1"/>
          </p:cNvSpPr>
          <p:nvPr/>
        </p:nvSpPr>
        <p:spPr bwMode="auto">
          <a:xfrm>
            <a:off x="203494" y="2308946"/>
            <a:ext cx="8245475" cy="7956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例如机床导轨规定直线度和平面度公差，是为了保证工作台运动时平稳和有较高的运动精度。</a:t>
            </a:r>
          </a:p>
        </p:txBody>
      </p:sp>
      <p:sp>
        <p:nvSpPr>
          <p:cNvPr id="150548" name="Text Box 20"/>
          <p:cNvSpPr txBox="1">
            <a:spLocks noChangeArrowheads="1"/>
          </p:cNvSpPr>
          <p:nvPr/>
        </p:nvSpPr>
        <p:spPr bwMode="auto">
          <a:xfrm>
            <a:off x="233887" y="3135495"/>
            <a:ext cx="8794750" cy="7956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与滚动轴承内孔配合的轴颈规定圆柱度公差和轴肩的轴向圆跳动公差，是为了保证滚动轴承的装配精度和旋转精度。</a:t>
            </a:r>
          </a:p>
        </p:txBody>
      </p:sp>
      <p:cxnSp>
        <p:nvCxnSpPr>
          <p:cNvPr id="8" name="直接连接符 7">
            <a:extLst>
              <a:ext uri="{FF2B5EF4-FFF2-40B4-BE49-F238E27FC236}">
                <a16:creationId xmlns="" xmlns:a16="http://schemas.microsoft.com/office/drawing/2014/main" id="{1E49E67D-4D7A-4E90-8845-6820C516DEA8}"/>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50537">
                                            <p:txEl>
                                              <p:pRg st="0" end="0"/>
                                            </p:txEl>
                                          </p:spTgt>
                                        </p:tgtEl>
                                        <p:attrNameLst>
                                          <p:attrName>style.visibility</p:attrName>
                                        </p:attrNameLst>
                                      </p:cBhvr>
                                      <p:to>
                                        <p:strVal val="visible"/>
                                      </p:to>
                                    </p:set>
                                    <p:animEffect transition="in" filter="wipe(left)">
                                      <p:cBhvr>
                                        <p:cTn id="7" dur="300"/>
                                        <p:tgtEl>
                                          <p:spTgt spid="15053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0538"/>
                                        </p:tgtEl>
                                        <p:attrNameLst>
                                          <p:attrName>style.visibility</p:attrName>
                                        </p:attrNameLst>
                                      </p:cBhvr>
                                      <p:to>
                                        <p:strVal val="visible"/>
                                      </p:to>
                                    </p:set>
                                    <p:animEffect transition="in" filter="wipe(left)">
                                      <p:cBhvr>
                                        <p:cTn id="12" dur="300"/>
                                        <p:tgtEl>
                                          <p:spTgt spid="1505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50539"/>
                                        </p:tgtEl>
                                        <p:attrNameLst>
                                          <p:attrName>style.visibility</p:attrName>
                                        </p:attrNameLst>
                                      </p:cBhvr>
                                      <p:to>
                                        <p:strVal val="visible"/>
                                      </p:to>
                                    </p:set>
                                    <p:animEffect transition="in" filter="wipe(left)">
                                      <p:cBhvr>
                                        <p:cTn id="17" dur="300"/>
                                        <p:tgtEl>
                                          <p:spTgt spid="1505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50547"/>
                                        </p:tgtEl>
                                        <p:attrNameLst>
                                          <p:attrName>style.visibility</p:attrName>
                                        </p:attrNameLst>
                                      </p:cBhvr>
                                      <p:to>
                                        <p:strVal val="visible"/>
                                      </p:to>
                                    </p:set>
                                    <p:animEffect transition="in" filter="wipe(left)">
                                      <p:cBhvr>
                                        <p:cTn id="22" dur="300"/>
                                        <p:tgtEl>
                                          <p:spTgt spid="1505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50548"/>
                                        </p:tgtEl>
                                        <p:attrNameLst>
                                          <p:attrName>style.visibility</p:attrName>
                                        </p:attrNameLst>
                                      </p:cBhvr>
                                      <p:to>
                                        <p:strVal val="visible"/>
                                      </p:to>
                                    </p:set>
                                    <p:animEffect transition="in" filter="wipe(left)">
                                      <p:cBhvr>
                                        <p:cTn id="27" dur="300"/>
                                        <p:tgtEl>
                                          <p:spTgt spid="150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7" grpId="0" build="p" autoUpdateAnimBg="0"/>
      <p:bldP spid="150538" grpId="0" autoUpdateAnimBg="0"/>
      <p:bldP spid="150539" grpId="0" autoUpdateAnimBg="0"/>
      <p:bldP spid="150547" grpId="0" autoUpdateAnimBg="0"/>
      <p:bldP spid="15054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F569365-8D75-4983-86A9-0CE1BA325F32}" type="slidenum">
              <a:rPr kumimoji="0" lang="zh-CN" altLang="en-US" sz="2000" smtClean="0">
                <a:solidFill>
                  <a:srgbClr val="0000FF"/>
                </a:solidFill>
              </a:rPr>
              <a:pPr eaLnBrk="1" hangingPunct="1"/>
              <a:t>3</a:t>
            </a:fld>
            <a:endParaRPr kumimoji="0" lang="en-US" altLang="zh-CN" sz="2000">
              <a:solidFill>
                <a:srgbClr val="0000FF"/>
              </a:solidFill>
            </a:endParaRPr>
          </a:p>
        </p:txBody>
      </p:sp>
      <p:sp>
        <p:nvSpPr>
          <p:cNvPr id="97284" name="Text Box 4"/>
          <p:cNvSpPr txBox="1">
            <a:spLocks noChangeArrowheads="1"/>
          </p:cNvSpPr>
          <p:nvPr/>
        </p:nvSpPr>
        <p:spPr bwMode="auto">
          <a:xfrm>
            <a:off x="165100" y="144066"/>
            <a:ext cx="74517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 4.4.2 公差原则和公差要求的选用 </a:t>
            </a:r>
          </a:p>
        </p:txBody>
      </p:sp>
      <p:sp>
        <p:nvSpPr>
          <p:cNvPr id="97285" name="Text Box 5"/>
          <p:cNvSpPr txBox="1">
            <a:spLocks noChangeArrowheads="1"/>
          </p:cNvSpPr>
          <p:nvPr/>
        </p:nvSpPr>
        <p:spPr bwMode="auto">
          <a:xfrm>
            <a:off x="561975" y="1298363"/>
            <a:ext cx="820420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1. 对于有</a:t>
            </a:r>
            <a:r>
              <a:rPr lang="zh-CN" altLang="en-US" sz="2000" b="1" dirty="0">
                <a:solidFill>
                  <a:srgbClr val="FF3300"/>
                </a:solidFill>
              </a:rPr>
              <a:t>特殊功能要求</a:t>
            </a:r>
            <a:r>
              <a:rPr lang="zh-CN" altLang="en-US" sz="2000" b="1" dirty="0"/>
              <a:t>的要素，一般采用</a:t>
            </a:r>
            <a:r>
              <a:rPr lang="zh-CN" altLang="en-US" sz="2000" b="1" dirty="0">
                <a:solidFill>
                  <a:srgbClr val="FF3300"/>
                </a:solidFill>
              </a:rPr>
              <a:t>独立原则</a:t>
            </a:r>
            <a:r>
              <a:rPr lang="zh-CN" altLang="en-US" sz="2000" b="1" dirty="0"/>
              <a:t>；</a:t>
            </a:r>
          </a:p>
        </p:txBody>
      </p:sp>
      <p:sp>
        <p:nvSpPr>
          <p:cNvPr id="97288" name="Text Box 8"/>
          <p:cNvSpPr txBox="1">
            <a:spLocks noChangeArrowheads="1"/>
          </p:cNvSpPr>
          <p:nvPr/>
        </p:nvSpPr>
        <p:spPr bwMode="auto">
          <a:xfrm>
            <a:off x="534988" y="544234"/>
            <a:ext cx="8076578"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      根据功能要求、零件大小和检测方便来选用；但应考虑</a:t>
            </a:r>
            <a:r>
              <a:rPr lang="en-US" altLang="zh-CN" sz="2000" b="1" i="1" dirty="0"/>
              <a:t>T</a:t>
            </a:r>
            <a:r>
              <a:rPr lang="zh-CN" altLang="en-US" sz="2000" b="1" baseline="-25000" dirty="0"/>
              <a:t>尺寸  </a:t>
            </a:r>
            <a:r>
              <a:rPr lang="zh-CN" altLang="en-US" sz="2000" b="1" dirty="0"/>
              <a:t>和 </a:t>
            </a:r>
            <a:r>
              <a:rPr lang="en-US" altLang="zh-CN" sz="2000" b="1" i="1" dirty="0"/>
              <a:t>t</a:t>
            </a:r>
            <a:r>
              <a:rPr lang="zh-CN" altLang="en-US" sz="2000" b="1" baseline="-25000" dirty="0"/>
              <a:t>几何 </a:t>
            </a:r>
            <a:r>
              <a:rPr lang="zh-CN" altLang="en-US" sz="2000" b="1" dirty="0"/>
              <a:t>相互补偿的可能性。</a:t>
            </a:r>
          </a:p>
        </p:txBody>
      </p:sp>
      <p:sp>
        <p:nvSpPr>
          <p:cNvPr id="97289" name="Text Box 9"/>
          <p:cNvSpPr txBox="1">
            <a:spLocks noChangeArrowheads="1"/>
          </p:cNvSpPr>
          <p:nvPr/>
        </p:nvSpPr>
        <p:spPr bwMode="auto">
          <a:xfrm>
            <a:off x="620455" y="2294916"/>
            <a:ext cx="8067675"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2. 有</a:t>
            </a:r>
            <a:r>
              <a:rPr lang="zh-CN" altLang="en-US" sz="2000" b="1" dirty="0">
                <a:solidFill>
                  <a:srgbClr val="FF3300"/>
                </a:solidFill>
              </a:rPr>
              <a:t>配合性质</a:t>
            </a:r>
            <a:r>
              <a:rPr lang="zh-CN" altLang="en-US" sz="2000" b="1" dirty="0"/>
              <a:t>要求的要素，一般采用包容要求（</a:t>
            </a:r>
            <a:r>
              <a:rPr lang="en-US" altLang="zh-CN" sz="2000" b="1" dirty="0">
                <a:solidFill>
                  <a:srgbClr val="FF3300"/>
                </a:solidFill>
              </a:rPr>
              <a:t>ER</a:t>
            </a:r>
            <a:r>
              <a:rPr lang="en-US" altLang="zh-CN" sz="2000" b="1" dirty="0"/>
              <a:t>）；</a:t>
            </a:r>
            <a:endParaRPr lang="zh-CN" altLang="en-US" sz="2000" b="1" dirty="0"/>
          </a:p>
        </p:txBody>
      </p:sp>
      <p:sp>
        <p:nvSpPr>
          <p:cNvPr id="97291" name="Text Box 11"/>
          <p:cNvSpPr txBox="1">
            <a:spLocks noChangeArrowheads="1"/>
          </p:cNvSpPr>
          <p:nvPr/>
        </p:nvSpPr>
        <p:spPr bwMode="auto">
          <a:xfrm>
            <a:off x="130175" y="2986669"/>
            <a:ext cx="8089900" cy="707886"/>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10000"/>
              </a:spcBef>
            </a:pPr>
            <a:r>
              <a:rPr lang="zh-CN" altLang="en-US" sz="2000" b="1" dirty="0"/>
              <a:t>       3. 对于保证</a:t>
            </a:r>
            <a:r>
              <a:rPr lang="zh-CN" altLang="en-US" sz="2000" b="1" dirty="0">
                <a:solidFill>
                  <a:srgbClr val="FF3300"/>
                </a:solidFill>
              </a:rPr>
              <a:t>可装配性</a:t>
            </a:r>
            <a:r>
              <a:rPr lang="zh-CN" altLang="en-US" sz="2000" b="1" dirty="0"/>
              <a:t>、</a:t>
            </a:r>
            <a:r>
              <a:rPr lang="zh-CN" altLang="en-US" sz="2000" b="1" dirty="0">
                <a:solidFill>
                  <a:srgbClr val="FF0000"/>
                </a:solidFill>
              </a:rPr>
              <a:t>无配合性质要求</a:t>
            </a:r>
            <a:r>
              <a:rPr lang="zh-CN" altLang="en-US" sz="2000" b="1" dirty="0"/>
              <a:t>的要素，一般</a:t>
            </a:r>
            <a:r>
              <a:rPr lang="zh-CN" altLang="en-US" sz="2000" b="1" dirty="0" smtClean="0"/>
              <a:t>采用</a:t>
            </a:r>
            <a:r>
              <a:rPr lang="zh-CN" altLang="en-US" sz="2000" b="1" dirty="0">
                <a:solidFill>
                  <a:srgbClr val="FF0000"/>
                </a:solidFill>
              </a:rPr>
              <a:t>最大实体要求</a:t>
            </a:r>
            <a:r>
              <a:rPr lang="zh-CN" altLang="en-US" sz="2000" b="1" dirty="0"/>
              <a:t>（</a:t>
            </a:r>
            <a:r>
              <a:rPr lang="en-US" altLang="zh-CN" sz="2000" b="1" dirty="0">
                <a:solidFill>
                  <a:srgbClr val="FF3300"/>
                </a:solidFill>
              </a:rPr>
              <a:t>MMR</a:t>
            </a:r>
            <a:r>
              <a:rPr lang="en-US" altLang="zh-CN" sz="2000" b="1" dirty="0"/>
              <a:t>）；</a:t>
            </a:r>
          </a:p>
        </p:txBody>
      </p:sp>
      <p:sp>
        <p:nvSpPr>
          <p:cNvPr id="97294" name="Text Box 14"/>
          <p:cNvSpPr txBox="1">
            <a:spLocks noChangeArrowheads="1"/>
          </p:cNvSpPr>
          <p:nvPr/>
        </p:nvSpPr>
        <p:spPr bwMode="auto">
          <a:xfrm>
            <a:off x="141289" y="3915357"/>
            <a:ext cx="8250237"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pPr>
            <a:r>
              <a:rPr lang="en-US" altLang="zh-CN" sz="2000" b="1" dirty="0"/>
              <a:t>       4. </a:t>
            </a:r>
            <a:r>
              <a:rPr lang="zh-CN" altLang="en-US" sz="2000" b="1" dirty="0"/>
              <a:t>对于保证</a:t>
            </a:r>
            <a:r>
              <a:rPr lang="zh-CN" altLang="en-US" sz="2000" b="1" dirty="0">
                <a:solidFill>
                  <a:srgbClr val="FF3300"/>
                </a:solidFill>
              </a:rPr>
              <a:t>临界值</a:t>
            </a:r>
            <a:r>
              <a:rPr lang="zh-CN" altLang="en-US" sz="2000" b="1" dirty="0"/>
              <a:t>的设计，以控制</a:t>
            </a:r>
            <a:r>
              <a:rPr lang="zh-CN" altLang="en-US" sz="2000" b="1" dirty="0">
                <a:solidFill>
                  <a:srgbClr val="FF3300"/>
                </a:solidFill>
              </a:rPr>
              <a:t>最小壁厚</a:t>
            </a:r>
            <a:r>
              <a:rPr lang="zh-CN" altLang="en-US" sz="2000" b="1" dirty="0"/>
              <a:t>，保证最低强度要求的要素</a:t>
            </a:r>
            <a:r>
              <a:rPr lang="en-US" altLang="zh-CN" sz="2000" b="1" dirty="0"/>
              <a:t>，</a:t>
            </a:r>
            <a:r>
              <a:rPr lang="zh-CN" altLang="en-US" sz="2000" b="1" dirty="0"/>
              <a:t>一般采用</a:t>
            </a:r>
            <a:r>
              <a:rPr lang="zh-CN" altLang="en-US" sz="2000" b="1" dirty="0">
                <a:solidFill>
                  <a:srgbClr val="FF0000"/>
                </a:solidFill>
              </a:rPr>
              <a:t>最小实体要求</a:t>
            </a:r>
            <a:r>
              <a:rPr lang="zh-CN" altLang="en-US" sz="2000" b="1" dirty="0"/>
              <a:t>（</a:t>
            </a:r>
            <a:r>
              <a:rPr lang="en-US" altLang="zh-CN" sz="2000" b="1" dirty="0">
                <a:solidFill>
                  <a:srgbClr val="FF3300"/>
                </a:solidFill>
              </a:rPr>
              <a:t>LMR</a:t>
            </a:r>
            <a:r>
              <a:rPr lang="en-US" altLang="zh-CN" sz="2000" b="1" dirty="0"/>
              <a:t>）。</a:t>
            </a:r>
          </a:p>
        </p:txBody>
      </p:sp>
      <p:sp>
        <p:nvSpPr>
          <p:cNvPr id="97295" name="Text Box 15"/>
          <p:cNvSpPr txBox="1">
            <a:spLocks noChangeArrowheads="1"/>
          </p:cNvSpPr>
          <p:nvPr/>
        </p:nvSpPr>
        <p:spPr bwMode="auto">
          <a:xfrm>
            <a:off x="193675" y="1619833"/>
            <a:ext cx="8204200"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        例如测量用的平板，规定平面度公差；检验直线度用的刀口尺规定直线度公差。采用独立原则。</a:t>
            </a:r>
          </a:p>
        </p:txBody>
      </p:sp>
      <p:sp>
        <p:nvSpPr>
          <p:cNvPr id="97296" name="Text Box 16"/>
          <p:cNvSpPr txBox="1">
            <a:spLocks noChangeArrowheads="1"/>
          </p:cNvSpPr>
          <p:nvPr/>
        </p:nvSpPr>
        <p:spPr bwMode="auto">
          <a:xfrm>
            <a:off x="682626" y="2652104"/>
            <a:ext cx="8067675"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例如齿轮内孔与轴的配合，采用包容原则。</a:t>
            </a:r>
          </a:p>
        </p:txBody>
      </p:sp>
      <p:sp>
        <p:nvSpPr>
          <p:cNvPr id="97297" name="Text Box 17"/>
          <p:cNvSpPr txBox="1">
            <a:spLocks noChangeArrowheads="1"/>
          </p:cNvSpPr>
          <p:nvPr/>
        </p:nvSpPr>
        <p:spPr bwMode="auto">
          <a:xfrm>
            <a:off x="303213" y="3610557"/>
            <a:ext cx="8513762"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10000"/>
              </a:spcBef>
            </a:pPr>
            <a:r>
              <a:rPr lang="zh-CN" altLang="en-US" sz="2000" b="1"/>
              <a:t>       如法兰盘和箱体盖上孔的位置度公差采用最大实体原则</a:t>
            </a:r>
            <a:endParaRPr lang="en-US" altLang="zh-CN" sz="2000" b="1"/>
          </a:p>
        </p:txBody>
      </p:sp>
      <p:cxnSp>
        <p:nvCxnSpPr>
          <p:cNvPr id="12" name="直接连接符 11">
            <a:extLst>
              <a:ext uri="{FF2B5EF4-FFF2-40B4-BE49-F238E27FC236}">
                <a16:creationId xmlns="" xmlns:a16="http://schemas.microsoft.com/office/drawing/2014/main" id="{BD921B59-C5D6-46B5-B783-7536704B594B}"/>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7284">
                                            <p:txEl>
                                              <p:pRg st="0" end="0"/>
                                            </p:txEl>
                                          </p:spTgt>
                                        </p:tgtEl>
                                        <p:attrNameLst>
                                          <p:attrName>style.visibility</p:attrName>
                                        </p:attrNameLst>
                                      </p:cBhvr>
                                      <p:to>
                                        <p:strVal val="visible"/>
                                      </p:to>
                                    </p:set>
                                    <p:animEffect transition="in" filter="wipe(left)">
                                      <p:cBhvr>
                                        <p:cTn id="7" dur="300"/>
                                        <p:tgtEl>
                                          <p:spTgt spid="972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7288"/>
                                        </p:tgtEl>
                                        <p:attrNameLst>
                                          <p:attrName>style.visibility</p:attrName>
                                        </p:attrNameLst>
                                      </p:cBhvr>
                                      <p:to>
                                        <p:strVal val="visible"/>
                                      </p:to>
                                    </p:set>
                                    <p:animEffect transition="in" filter="wipe(left)">
                                      <p:cBhvr>
                                        <p:cTn id="12" dur="300"/>
                                        <p:tgtEl>
                                          <p:spTgt spid="972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97285">
                                            <p:txEl>
                                              <p:pRg st="0" end="0"/>
                                            </p:txEl>
                                          </p:spTgt>
                                        </p:tgtEl>
                                        <p:attrNameLst>
                                          <p:attrName>style.visibility</p:attrName>
                                        </p:attrNameLst>
                                      </p:cBhvr>
                                      <p:to>
                                        <p:strVal val="visible"/>
                                      </p:to>
                                    </p:set>
                                    <p:animEffect transition="in" filter="wipe(left)">
                                      <p:cBhvr>
                                        <p:cTn id="17" dur="300"/>
                                        <p:tgtEl>
                                          <p:spTgt spid="9728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97295">
                                            <p:txEl>
                                              <p:pRg st="0" end="0"/>
                                            </p:txEl>
                                          </p:spTgt>
                                        </p:tgtEl>
                                        <p:attrNameLst>
                                          <p:attrName>style.visibility</p:attrName>
                                        </p:attrNameLst>
                                      </p:cBhvr>
                                      <p:to>
                                        <p:strVal val="visible"/>
                                      </p:to>
                                    </p:set>
                                    <p:animEffect transition="in" filter="wipe(left)">
                                      <p:cBhvr>
                                        <p:cTn id="22" dur="300"/>
                                        <p:tgtEl>
                                          <p:spTgt spid="9729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97289">
                                            <p:txEl>
                                              <p:pRg st="0" end="0"/>
                                            </p:txEl>
                                          </p:spTgt>
                                        </p:tgtEl>
                                        <p:attrNameLst>
                                          <p:attrName>style.visibility</p:attrName>
                                        </p:attrNameLst>
                                      </p:cBhvr>
                                      <p:to>
                                        <p:strVal val="visible"/>
                                      </p:to>
                                    </p:set>
                                    <p:animEffect transition="in" filter="wipe(left)">
                                      <p:cBhvr>
                                        <p:cTn id="27" dur="300"/>
                                        <p:tgtEl>
                                          <p:spTgt spid="9728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97296">
                                            <p:txEl>
                                              <p:pRg st="0" end="0"/>
                                            </p:txEl>
                                          </p:spTgt>
                                        </p:tgtEl>
                                        <p:attrNameLst>
                                          <p:attrName>style.visibility</p:attrName>
                                        </p:attrNameLst>
                                      </p:cBhvr>
                                      <p:to>
                                        <p:strVal val="visible"/>
                                      </p:to>
                                    </p:set>
                                    <p:animEffect transition="in" filter="wipe(left)">
                                      <p:cBhvr>
                                        <p:cTn id="32" dur="300"/>
                                        <p:tgtEl>
                                          <p:spTgt spid="9729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97291">
                                            <p:txEl>
                                              <p:pRg st="0" end="0"/>
                                            </p:txEl>
                                          </p:spTgt>
                                        </p:tgtEl>
                                        <p:attrNameLst>
                                          <p:attrName>style.visibility</p:attrName>
                                        </p:attrNameLst>
                                      </p:cBhvr>
                                      <p:to>
                                        <p:strVal val="visible"/>
                                      </p:to>
                                    </p:set>
                                    <p:animEffect transition="in" filter="wipe(left)">
                                      <p:cBhvr>
                                        <p:cTn id="37" dur="300"/>
                                        <p:tgtEl>
                                          <p:spTgt spid="97291">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97297">
                                            <p:txEl>
                                              <p:pRg st="0" end="0"/>
                                            </p:txEl>
                                          </p:spTgt>
                                        </p:tgtEl>
                                        <p:attrNameLst>
                                          <p:attrName>style.visibility</p:attrName>
                                        </p:attrNameLst>
                                      </p:cBhvr>
                                      <p:to>
                                        <p:strVal val="visible"/>
                                      </p:to>
                                    </p:set>
                                    <p:animEffect transition="in" filter="wipe(left)">
                                      <p:cBhvr>
                                        <p:cTn id="42" dur="300"/>
                                        <p:tgtEl>
                                          <p:spTgt spid="97297">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97294">
                                            <p:txEl>
                                              <p:pRg st="0" end="0"/>
                                            </p:txEl>
                                          </p:spTgt>
                                        </p:tgtEl>
                                        <p:attrNameLst>
                                          <p:attrName>style.visibility</p:attrName>
                                        </p:attrNameLst>
                                      </p:cBhvr>
                                      <p:to>
                                        <p:strVal val="visible"/>
                                      </p:to>
                                    </p:set>
                                    <p:animEffect transition="in" filter="wipe(left)">
                                      <p:cBhvr>
                                        <p:cTn id="47" dur="300"/>
                                        <p:tgtEl>
                                          <p:spTgt spid="972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4" grpId="0" build="p" autoUpdateAnimBg="0"/>
      <p:bldP spid="97285" grpId="0" build="p" autoUpdateAnimBg="0"/>
      <p:bldP spid="97288" grpId="0" autoUpdateAnimBg="0"/>
      <p:bldP spid="97289" grpId="0" build="p" autoUpdateAnimBg="0"/>
      <p:bldP spid="97291" grpId="0" build="p" autoUpdateAnimBg="0"/>
      <p:bldP spid="97294" grpId="0" build="p" autoUpdateAnimBg="0"/>
      <p:bldP spid="97295" grpId="0" build="p" autoUpdateAnimBg="0"/>
      <p:bldP spid="97296" grpId="0" build="p" autoUpdateAnimBg="0"/>
      <p:bldP spid="9729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B44F49B-F2FA-4B44-9FB9-2B2974696FE2}" type="slidenum">
              <a:rPr kumimoji="0" lang="zh-CN" altLang="en-US" sz="2000" smtClean="0">
                <a:solidFill>
                  <a:srgbClr val="0000FF"/>
                </a:solidFill>
              </a:rPr>
              <a:pPr eaLnBrk="1" hangingPunct="1"/>
              <a:t>4</a:t>
            </a:fld>
            <a:endParaRPr kumimoji="0" lang="en-US" altLang="zh-CN" sz="2000">
              <a:solidFill>
                <a:srgbClr val="0000FF"/>
              </a:solidFill>
            </a:endParaRPr>
          </a:p>
        </p:txBody>
      </p:sp>
      <p:sp>
        <p:nvSpPr>
          <p:cNvPr id="6155" name="Text Box 11"/>
          <p:cNvSpPr txBox="1">
            <a:spLocks noChangeArrowheads="1"/>
          </p:cNvSpPr>
          <p:nvPr/>
        </p:nvSpPr>
        <p:spPr bwMode="auto">
          <a:xfrm>
            <a:off x="363538" y="159544"/>
            <a:ext cx="531971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4.4.3 基准要素的选用</a:t>
            </a:r>
            <a:r>
              <a:rPr lang="zh-CN" altLang="en-US" dirty="0"/>
              <a:t> </a:t>
            </a:r>
          </a:p>
        </p:txBody>
      </p:sp>
      <p:sp>
        <p:nvSpPr>
          <p:cNvPr id="6159" name="Text Box 15"/>
          <p:cNvSpPr txBox="1">
            <a:spLocks noChangeArrowheads="1"/>
          </p:cNvSpPr>
          <p:nvPr/>
        </p:nvSpPr>
        <p:spPr bwMode="auto">
          <a:xfrm>
            <a:off x="220664" y="1662736"/>
            <a:ext cx="8366125" cy="75405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15000"/>
              </a:spcBef>
            </a:pPr>
            <a:r>
              <a:rPr lang="zh-CN" altLang="en-US" sz="2000" b="1"/>
              <a:t> </a:t>
            </a:r>
            <a:r>
              <a:rPr lang="zh-CN" altLang="en-US" sz="2000" b="1">
                <a:latin typeface="宋体" pitchFamily="2" charset="-122"/>
              </a:rPr>
              <a:t>①  </a:t>
            </a:r>
            <a:r>
              <a:rPr lang="zh-CN" altLang="en-US" sz="2000" b="1">
                <a:solidFill>
                  <a:srgbClr val="FF0000"/>
                </a:solidFill>
                <a:latin typeface="宋体" pitchFamily="2" charset="-122"/>
              </a:rPr>
              <a:t>从设计考虑</a:t>
            </a:r>
            <a:r>
              <a:rPr lang="zh-CN" altLang="en-US" sz="2000" b="1">
                <a:latin typeface="宋体" pitchFamily="2" charset="-122"/>
              </a:rPr>
              <a:t>：根据零件的形体的功能要求及要素间的几</a:t>
            </a:r>
          </a:p>
          <a:p>
            <a:pPr algn="just" eaLnBrk="1" hangingPunct="1">
              <a:spcBef>
                <a:spcPct val="15000"/>
              </a:spcBef>
            </a:pPr>
            <a:r>
              <a:rPr lang="zh-CN" altLang="en-US" sz="2000" b="1">
                <a:latin typeface="宋体" pitchFamily="2" charset="-122"/>
              </a:rPr>
              <a:t>                 何关系来选择基准。</a:t>
            </a:r>
            <a:endParaRPr lang="en-US" altLang="zh-CN" sz="2000" b="1"/>
          </a:p>
        </p:txBody>
      </p:sp>
      <p:sp>
        <p:nvSpPr>
          <p:cNvPr id="6179" name="Text Box 35"/>
          <p:cNvSpPr txBox="1">
            <a:spLocks noChangeArrowheads="1"/>
          </p:cNvSpPr>
          <p:nvPr/>
        </p:nvSpPr>
        <p:spPr bwMode="auto">
          <a:xfrm>
            <a:off x="281071" y="687364"/>
            <a:ext cx="8372475"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在确定被测要素的</a:t>
            </a:r>
            <a:r>
              <a:rPr lang="zh-CN" altLang="en-US" sz="2000" b="1" dirty="0">
                <a:solidFill>
                  <a:srgbClr val="FF0000"/>
                </a:solidFill>
              </a:rPr>
              <a:t>方向、位置</a:t>
            </a:r>
            <a:r>
              <a:rPr lang="zh-CN" altLang="en-US" sz="2000" b="1" dirty="0"/>
              <a:t>和 </a:t>
            </a:r>
            <a:r>
              <a:rPr lang="zh-CN" altLang="en-US" sz="2000" b="1" dirty="0">
                <a:solidFill>
                  <a:srgbClr val="FF0000"/>
                </a:solidFill>
              </a:rPr>
              <a:t>跳动公差</a:t>
            </a:r>
            <a:r>
              <a:rPr lang="zh-CN" altLang="en-US" sz="2000" b="1" dirty="0"/>
              <a:t>时，同时要确定</a:t>
            </a:r>
            <a:r>
              <a:rPr lang="zh-CN" altLang="en-US" sz="2000" b="1" dirty="0">
                <a:solidFill>
                  <a:srgbClr val="FF0000"/>
                </a:solidFill>
              </a:rPr>
              <a:t>基准要素</a:t>
            </a:r>
            <a:r>
              <a:rPr lang="zh-CN" altLang="en-US" sz="2000" b="1" dirty="0"/>
              <a:t>。基准的选用应遵循设计、工艺、测量和工作等</a:t>
            </a:r>
            <a:r>
              <a:rPr lang="zh-CN" altLang="en-US" sz="2000" b="1" dirty="0">
                <a:solidFill>
                  <a:srgbClr val="FF3300"/>
                </a:solidFill>
              </a:rPr>
              <a:t>基准统一的原则。</a:t>
            </a:r>
          </a:p>
        </p:txBody>
      </p:sp>
      <p:sp>
        <p:nvSpPr>
          <p:cNvPr id="6180" name="Text Box 36"/>
          <p:cNvSpPr txBox="1">
            <a:spLocks noChangeArrowheads="1"/>
          </p:cNvSpPr>
          <p:nvPr/>
        </p:nvSpPr>
        <p:spPr bwMode="auto">
          <a:xfrm>
            <a:off x="345240" y="2468413"/>
            <a:ext cx="8366125"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15000"/>
              </a:spcBef>
            </a:pPr>
            <a:r>
              <a:rPr lang="zh-CN" altLang="en-US" sz="2000" b="1" dirty="0"/>
              <a:t>        例如旋转零件，常选用与轴承配合的轴颈表面或轴两端中心孔做基准。</a:t>
            </a:r>
            <a:endParaRPr lang="en-US" altLang="zh-CN" sz="2000" b="1" dirty="0"/>
          </a:p>
        </p:txBody>
      </p:sp>
      <p:sp>
        <p:nvSpPr>
          <p:cNvPr id="6181" name="Text Box 37"/>
          <p:cNvSpPr txBox="1">
            <a:spLocks noChangeArrowheads="1"/>
          </p:cNvSpPr>
          <p:nvPr/>
        </p:nvSpPr>
        <p:spPr bwMode="auto">
          <a:xfrm>
            <a:off x="269875" y="3010523"/>
            <a:ext cx="8496300" cy="87716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15000"/>
              </a:spcBef>
            </a:pPr>
            <a:r>
              <a:rPr lang="zh-CN" altLang="en-US" sz="2000" b="1"/>
              <a:t> </a:t>
            </a:r>
            <a:r>
              <a:rPr lang="zh-CN" altLang="en-US" sz="2000" b="1">
                <a:latin typeface="宋体" pitchFamily="2" charset="-122"/>
              </a:rPr>
              <a:t>②  </a:t>
            </a:r>
            <a:r>
              <a:rPr lang="zh-CN" altLang="en-US" sz="2000" b="1">
                <a:solidFill>
                  <a:srgbClr val="FF0000"/>
                </a:solidFill>
                <a:latin typeface="宋体" pitchFamily="2" charset="-122"/>
              </a:rPr>
              <a:t>从加工工艺考虑</a:t>
            </a:r>
            <a:r>
              <a:rPr lang="zh-CN" altLang="en-US" sz="2000" b="1">
                <a:latin typeface="宋体" pitchFamily="2" charset="-122"/>
              </a:rPr>
              <a:t>：应选择零件加工时在工夹具中定位的</a:t>
            </a:r>
          </a:p>
          <a:p>
            <a:pPr algn="just" eaLnBrk="1" hangingPunct="1">
              <a:lnSpc>
                <a:spcPct val="120000"/>
              </a:lnSpc>
              <a:spcBef>
                <a:spcPct val="15000"/>
              </a:spcBef>
            </a:pPr>
            <a:r>
              <a:rPr lang="zh-CN" altLang="en-US" sz="2000" b="1">
                <a:latin typeface="宋体" pitchFamily="2" charset="-122"/>
              </a:rPr>
              <a:t>                    相应要素做基准。</a:t>
            </a:r>
            <a:endParaRPr lang="en-US" altLang="zh-CN" sz="2000" b="1"/>
          </a:p>
        </p:txBody>
      </p:sp>
      <p:sp>
        <p:nvSpPr>
          <p:cNvPr id="6182" name="Text Box 38"/>
          <p:cNvSpPr txBox="1">
            <a:spLocks noChangeArrowheads="1"/>
          </p:cNvSpPr>
          <p:nvPr/>
        </p:nvSpPr>
        <p:spPr bwMode="auto">
          <a:xfrm>
            <a:off x="269875" y="3757046"/>
            <a:ext cx="8496300" cy="87716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15000"/>
              </a:spcBef>
            </a:pPr>
            <a:r>
              <a:rPr lang="zh-CN" altLang="en-US" sz="2000" b="1"/>
              <a:t> </a:t>
            </a:r>
            <a:r>
              <a:rPr lang="zh-CN" altLang="en-US" sz="2000" b="1">
                <a:latin typeface="宋体" pitchFamily="2" charset="-122"/>
              </a:rPr>
              <a:t>③  </a:t>
            </a:r>
            <a:r>
              <a:rPr lang="zh-CN" altLang="en-US" sz="2000" b="1">
                <a:solidFill>
                  <a:srgbClr val="FF0000"/>
                </a:solidFill>
                <a:latin typeface="宋体" pitchFamily="2" charset="-122"/>
              </a:rPr>
              <a:t>从测量考虑</a:t>
            </a:r>
            <a:r>
              <a:rPr lang="zh-CN" altLang="en-US" sz="2000" b="1">
                <a:latin typeface="宋体" pitchFamily="2" charset="-122"/>
              </a:rPr>
              <a:t>：应选择零件在测量、检验时在计量器具中</a:t>
            </a:r>
          </a:p>
          <a:p>
            <a:pPr algn="just" eaLnBrk="1" hangingPunct="1">
              <a:lnSpc>
                <a:spcPct val="120000"/>
              </a:lnSpc>
              <a:spcBef>
                <a:spcPct val="15000"/>
              </a:spcBef>
            </a:pPr>
            <a:r>
              <a:rPr lang="zh-CN" altLang="en-US" sz="2000" b="1">
                <a:latin typeface="宋体" pitchFamily="2" charset="-122"/>
              </a:rPr>
              <a:t>                 定位的相应要素做基准。</a:t>
            </a:r>
            <a:endParaRPr lang="en-US" altLang="zh-CN" sz="2000" b="1"/>
          </a:p>
        </p:txBody>
      </p:sp>
      <p:cxnSp>
        <p:nvCxnSpPr>
          <p:cNvPr id="9" name="直接连接符 8">
            <a:extLst>
              <a:ext uri="{FF2B5EF4-FFF2-40B4-BE49-F238E27FC236}">
                <a16:creationId xmlns="" xmlns:a16="http://schemas.microsoft.com/office/drawing/2014/main" id="{59E78400-4C7E-47F7-BC07-0027274755DA}"/>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155">
                                            <p:txEl>
                                              <p:pRg st="0" end="0"/>
                                            </p:txEl>
                                          </p:spTgt>
                                        </p:tgtEl>
                                        <p:attrNameLst>
                                          <p:attrName>style.visibility</p:attrName>
                                        </p:attrNameLst>
                                      </p:cBhvr>
                                      <p:to>
                                        <p:strVal val="visible"/>
                                      </p:to>
                                    </p:set>
                                    <p:animEffect transition="in" filter="wipe(left)">
                                      <p:cBhvr>
                                        <p:cTn id="7" dur="300"/>
                                        <p:tgtEl>
                                          <p:spTgt spid="6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179">
                                            <p:txEl>
                                              <p:pRg st="0" end="0"/>
                                            </p:txEl>
                                          </p:spTgt>
                                        </p:tgtEl>
                                        <p:attrNameLst>
                                          <p:attrName>style.visibility</p:attrName>
                                        </p:attrNameLst>
                                      </p:cBhvr>
                                      <p:to>
                                        <p:strVal val="visible"/>
                                      </p:to>
                                    </p:set>
                                    <p:animEffect transition="in" filter="wipe(left)">
                                      <p:cBhvr>
                                        <p:cTn id="12" dur="300"/>
                                        <p:tgtEl>
                                          <p:spTgt spid="617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159"/>
                                        </p:tgtEl>
                                        <p:attrNameLst>
                                          <p:attrName>style.visibility</p:attrName>
                                        </p:attrNameLst>
                                      </p:cBhvr>
                                      <p:to>
                                        <p:strVal val="visible"/>
                                      </p:to>
                                    </p:set>
                                    <p:animEffect transition="in" filter="wipe(left)">
                                      <p:cBhvr>
                                        <p:cTn id="17" dur="300"/>
                                        <p:tgtEl>
                                          <p:spTgt spid="61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180"/>
                                        </p:tgtEl>
                                        <p:attrNameLst>
                                          <p:attrName>style.visibility</p:attrName>
                                        </p:attrNameLst>
                                      </p:cBhvr>
                                      <p:to>
                                        <p:strVal val="visible"/>
                                      </p:to>
                                    </p:set>
                                    <p:animEffect transition="in" filter="wipe(left)">
                                      <p:cBhvr>
                                        <p:cTn id="22" dur="300"/>
                                        <p:tgtEl>
                                          <p:spTgt spid="61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6181"/>
                                        </p:tgtEl>
                                        <p:attrNameLst>
                                          <p:attrName>style.visibility</p:attrName>
                                        </p:attrNameLst>
                                      </p:cBhvr>
                                      <p:to>
                                        <p:strVal val="visible"/>
                                      </p:to>
                                    </p:set>
                                    <p:animEffect transition="in" filter="wipe(left)">
                                      <p:cBhvr>
                                        <p:cTn id="27" dur="300"/>
                                        <p:tgtEl>
                                          <p:spTgt spid="61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6182"/>
                                        </p:tgtEl>
                                        <p:attrNameLst>
                                          <p:attrName>style.visibility</p:attrName>
                                        </p:attrNameLst>
                                      </p:cBhvr>
                                      <p:to>
                                        <p:strVal val="visible"/>
                                      </p:to>
                                    </p:set>
                                    <p:animEffect transition="in" filter="wipe(left)">
                                      <p:cBhvr>
                                        <p:cTn id="32" dur="300"/>
                                        <p:tgtEl>
                                          <p:spTgt spid="6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5" grpId="0" build="p" autoUpdateAnimBg="0"/>
      <p:bldP spid="6159" grpId="0" autoUpdateAnimBg="0"/>
      <p:bldP spid="6179" grpId="0" build="p" autoUpdateAnimBg="0"/>
      <p:bldP spid="6180" grpId="0" autoUpdateAnimBg="0"/>
      <p:bldP spid="6181" grpId="0" autoUpdateAnimBg="0"/>
      <p:bldP spid="618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D4587AAC-3E0A-422B-9038-BDBE5932D26C}" type="slidenum">
              <a:rPr kumimoji="0" lang="zh-CN" altLang="en-US" sz="2000" smtClean="0">
                <a:solidFill>
                  <a:srgbClr val="0000FF"/>
                </a:solidFill>
              </a:rPr>
              <a:pPr eaLnBrk="1" hangingPunct="1"/>
              <a:t>5</a:t>
            </a:fld>
            <a:endParaRPr kumimoji="0" lang="en-US" altLang="zh-CN" sz="2000">
              <a:solidFill>
                <a:srgbClr val="0000FF"/>
              </a:solidFill>
            </a:endParaRPr>
          </a:p>
        </p:txBody>
      </p:sp>
      <p:sp>
        <p:nvSpPr>
          <p:cNvPr id="152580" name="Text Box 4"/>
          <p:cNvSpPr txBox="1">
            <a:spLocks noChangeArrowheads="1"/>
          </p:cNvSpPr>
          <p:nvPr/>
        </p:nvSpPr>
        <p:spPr bwMode="auto">
          <a:xfrm>
            <a:off x="651293" y="2021986"/>
            <a:ext cx="8131759"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根据需要可采用</a:t>
            </a:r>
            <a:r>
              <a:rPr lang="zh-CN" altLang="en-US" sz="2000" b="1" dirty="0">
                <a:solidFill>
                  <a:srgbClr val="FF3300"/>
                </a:solidFill>
              </a:rPr>
              <a:t>单一基准、公共基准、三基面</a:t>
            </a:r>
            <a:r>
              <a:rPr lang="zh-CN" altLang="en-US" sz="2000" b="1" dirty="0" smtClean="0">
                <a:solidFill>
                  <a:srgbClr val="FF3300"/>
                </a:solidFill>
              </a:rPr>
              <a:t>体系</a:t>
            </a:r>
            <a:r>
              <a:rPr lang="zh-CN" altLang="en-US" sz="2000" b="1" dirty="0" smtClean="0"/>
              <a:t>。</a:t>
            </a:r>
            <a:endParaRPr lang="zh-CN" altLang="en-US" sz="2000" b="1" dirty="0"/>
          </a:p>
        </p:txBody>
      </p:sp>
      <p:sp>
        <p:nvSpPr>
          <p:cNvPr id="152581" name="Text Box 5"/>
          <p:cNvSpPr txBox="1">
            <a:spLocks noChangeArrowheads="1"/>
          </p:cNvSpPr>
          <p:nvPr/>
        </p:nvSpPr>
        <p:spPr bwMode="auto">
          <a:xfrm>
            <a:off x="586205" y="2614917"/>
            <a:ext cx="7845408"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a:t>        基准要素通常应有</a:t>
            </a:r>
            <a:r>
              <a:rPr lang="zh-CN" altLang="en-US" sz="2000" b="1">
                <a:solidFill>
                  <a:srgbClr val="FF3300"/>
                </a:solidFill>
              </a:rPr>
              <a:t>较高的形状精度，它的长度较大、面积较大、刚度较大</a:t>
            </a:r>
            <a:r>
              <a:rPr lang="zh-CN" altLang="en-US" sz="2000" b="1"/>
              <a:t>。</a:t>
            </a:r>
          </a:p>
        </p:txBody>
      </p:sp>
      <p:sp>
        <p:nvSpPr>
          <p:cNvPr id="152582" name="Text Box 6"/>
          <p:cNvSpPr txBox="1">
            <a:spLocks noChangeArrowheads="1"/>
          </p:cNvSpPr>
          <p:nvPr/>
        </p:nvSpPr>
        <p:spPr bwMode="auto">
          <a:xfrm>
            <a:off x="430630" y="1080200"/>
            <a:ext cx="8239526" cy="87716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15000"/>
              </a:spcBef>
            </a:pPr>
            <a:r>
              <a:rPr lang="zh-CN" altLang="en-US" sz="2000" b="1" dirty="0">
                <a:latin typeface="宋体" pitchFamily="2" charset="-122"/>
              </a:rPr>
              <a:t>④</a:t>
            </a:r>
            <a:r>
              <a:rPr lang="zh-CN" altLang="en-US" sz="2000" b="1" dirty="0"/>
              <a:t> </a:t>
            </a:r>
            <a:r>
              <a:rPr lang="zh-CN" altLang="en-US" sz="2000" b="1" dirty="0">
                <a:solidFill>
                  <a:srgbClr val="FF0000"/>
                </a:solidFill>
              </a:rPr>
              <a:t>从</a:t>
            </a:r>
            <a:r>
              <a:rPr lang="zh-CN" altLang="en-US" sz="2000" b="1" dirty="0">
                <a:solidFill>
                  <a:srgbClr val="FF0000"/>
                </a:solidFill>
                <a:latin typeface="宋体" pitchFamily="2" charset="-122"/>
              </a:rPr>
              <a:t>装配关系考虑</a:t>
            </a:r>
            <a:r>
              <a:rPr lang="zh-CN" altLang="en-US" sz="2000" b="1" dirty="0">
                <a:latin typeface="宋体" pitchFamily="2" charset="-122"/>
              </a:rPr>
              <a:t>：应选择零件相配合、相接触的表面做</a:t>
            </a:r>
          </a:p>
          <a:p>
            <a:pPr algn="just" eaLnBrk="1" hangingPunct="1">
              <a:lnSpc>
                <a:spcPct val="120000"/>
              </a:lnSpc>
              <a:spcBef>
                <a:spcPct val="15000"/>
              </a:spcBef>
            </a:pPr>
            <a:r>
              <a:rPr lang="zh-CN" altLang="en-US" sz="2000" b="1" dirty="0">
                <a:latin typeface="宋体" pitchFamily="2" charset="-122"/>
              </a:rPr>
              <a:t>                   基准，以保证零件的正确装配。</a:t>
            </a:r>
            <a:endParaRPr lang="en-US" altLang="zh-CN" sz="2000" b="1" dirty="0"/>
          </a:p>
        </p:txBody>
      </p:sp>
      <p:sp>
        <p:nvSpPr>
          <p:cNvPr id="6" name="Text Box 11"/>
          <p:cNvSpPr txBox="1">
            <a:spLocks noChangeArrowheads="1"/>
          </p:cNvSpPr>
          <p:nvPr/>
        </p:nvSpPr>
        <p:spPr bwMode="auto">
          <a:xfrm>
            <a:off x="363538" y="159544"/>
            <a:ext cx="531971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4.4.3 基准要素的选用</a:t>
            </a:r>
            <a:r>
              <a:rPr lang="zh-CN" altLang="en-US" dirty="0"/>
              <a:t> </a:t>
            </a:r>
          </a:p>
        </p:txBody>
      </p:sp>
      <p:cxnSp>
        <p:nvCxnSpPr>
          <p:cNvPr id="7" name="直接连接符 6">
            <a:extLst>
              <a:ext uri="{FF2B5EF4-FFF2-40B4-BE49-F238E27FC236}">
                <a16:creationId xmlns="" xmlns:a16="http://schemas.microsoft.com/office/drawing/2014/main" id="{59E78400-4C7E-47F7-BC07-0027274755DA}"/>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2582"/>
                                        </p:tgtEl>
                                        <p:attrNameLst>
                                          <p:attrName>style.visibility</p:attrName>
                                        </p:attrNameLst>
                                      </p:cBhvr>
                                      <p:to>
                                        <p:strVal val="visible"/>
                                      </p:to>
                                    </p:set>
                                    <p:animEffect transition="in" filter="wipe(left)">
                                      <p:cBhvr>
                                        <p:cTn id="7" dur="300"/>
                                        <p:tgtEl>
                                          <p:spTgt spid="152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2580"/>
                                        </p:tgtEl>
                                        <p:attrNameLst>
                                          <p:attrName>style.visibility</p:attrName>
                                        </p:attrNameLst>
                                      </p:cBhvr>
                                      <p:to>
                                        <p:strVal val="visible"/>
                                      </p:to>
                                    </p:set>
                                    <p:animEffect transition="in" filter="wipe(left)">
                                      <p:cBhvr>
                                        <p:cTn id="12" dur="300"/>
                                        <p:tgtEl>
                                          <p:spTgt spid="1525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52581"/>
                                        </p:tgtEl>
                                        <p:attrNameLst>
                                          <p:attrName>style.visibility</p:attrName>
                                        </p:attrNameLst>
                                      </p:cBhvr>
                                      <p:to>
                                        <p:strVal val="visible"/>
                                      </p:to>
                                    </p:set>
                                    <p:animEffect transition="in" filter="wipe(left)">
                                      <p:cBhvr>
                                        <p:cTn id="17" dur="300"/>
                                        <p:tgtEl>
                                          <p:spTgt spid="152581"/>
                                        </p:tgtEl>
                                      </p:cBhvr>
                                    </p:animEffect>
                                  </p:childTnLst>
                                </p:cTn>
                              </p:par>
                            </p:childTnLst>
                          </p:cTn>
                        </p:par>
                        <p:par>
                          <p:cTn id="18" fill="hold">
                            <p:stCondLst>
                              <p:cond delay="63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wipe(left)">
                                      <p:cBhvr>
                                        <p:cTn id="21"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autoUpdateAnimBg="0"/>
      <p:bldP spid="152581" grpId="0" autoUpdateAnimBg="0"/>
      <p:bldP spid="152582" grpId="0" autoUpdateAnimBg="0"/>
      <p:bldP spid="6"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DA4DAEE-4619-4D7C-ACCC-E1BEFD5C9A0B}" type="slidenum">
              <a:rPr kumimoji="0" lang="zh-CN" altLang="en-US" sz="2000" smtClean="0">
                <a:solidFill>
                  <a:srgbClr val="0000FF"/>
                </a:solidFill>
              </a:rPr>
              <a:pPr eaLnBrk="1" hangingPunct="1"/>
              <a:t>6</a:t>
            </a:fld>
            <a:endParaRPr kumimoji="0" lang="en-US" altLang="zh-CN" sz="2000">
              <a:solidFill>
                <a:srgbClr val="0000FF"/>
              </a:solidFill>
            </a:endParaRPr>
          </a:p>
        </p:txBody>
      </p:sp>
      <p:sp>
        <p:nvSpPr>
          <p:cNvPr id="123908" name="Text Box 4"/>
          <p:cNvSpPr txBox="1">
            <a:spLocks noChangeArrowheads="1"/>
          </p:cNvSpPr>
          <p:nvPr/>
        </p:nvSpPr>
        <p:spPr bwMode="auto">
          <a:xfrm>
            <a:off x="558800" y="133350"/>
            <a:ext cx="68453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4.4.4 几何公差值的选用</a:t>
            </a:r>
            <a:r>
              <a:rPr lang="zh-CN" altLang="en-US" dirty="0"/>
              <a:t> </a:t>
            </a:r>
          </a:p>
        </p:txBody>
      </p:sp>
      <p:sp>
        <p:nvSpPr>
          <p:cNvPr id="123909" name="Text Box 5"/>
          <p:cNvSpPr txBox="1">
            <a:spLocks noChangeArrowheads="1"/>
          </p:cNvSpPr>
          <p:nvPr/>
        </p:nvSpPr>
        <p:spPr bwMode="auto">
          <a:xfrm>
            <a:off x="606426" y="1507896"/>
            <a:ext cx="587216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a:t>1.   </a:t>
            </a:r>
            <a:r>
              <a:rPr lang="zh-CN" altLang="en-US" sz="2000" b="1">
                <a:solidFill>
                  <a:srgbClr val="FF3300"/>
                </a:solidFill>
                <a:latin typeface="宋体" pitchFamily="2" charset="-122"/>
              </a:rPr>
              <a:t>未注</a:t>
            </a:r>
            <a:r>
              <a:rPr lang="zh-CN" altLang="en-US" sz="2000" b="1">
                <a:latin typeface="宋体" pitchFamily="2" charset="-122"/>
              </a:rPr>
              <a:t>几何公差值的规定 </a:t>
            </a:r>
          </a:p>
        </p:txBody>
      </p:sp>
      <p:grpSp>
        <p:nvGrpSpPr>
          <p:cNvPr id="123920" name="Group 16"/>
          <p:cNvGrpSpPr>
            <a:grpSpLocks/>
          </p:cNvGrpSpPr>
          <p:nvPr/>
        </p:nvGrpSpPr>
        <p:grpSpPr bwMode="auto">
          <a:xfrm>
            <a:off x="1458914" y="711996"/>
            <a:ext cx="1436687" cy="722710"/>
            <a:chOff x="919" y="512"/>
            <a:chExt cx="905" cy="607"/>
          </a:xfrm>
        </p:grpSpPr>
        <p:sp>
          <p:nvSpPr>
            <p:cNvPr id="7179" name="Text Box 14"/>
            <p:cNvSpPr txBox="1">
              <a:spLocks noChangeArrowheads="1"/>
            </p:cNvSpPr>
            <p:nvPr/>
          </p:nvSpPr>
          <p:spPr bwMode="auto">
            <a:xfrm>
              <a:off x="919" y="524"/>
              <a:ext cx="785" cy="59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dirty="0"/>
                <a:t>几何</a:t>
              </a:r>
            </a:p>
            <a:p>
              <a:pPr eaLnBrk="1" hangingPunct="1"/>
              <a:r>
                <a:rPr lang="zh-CN" altLang="en-US" sz="2000" b="1" dirty="0"/>
                <a:t>公差值</a:t>
              </a:r>
            </a:p>
          </p:txBody>
        </p:sp>
        <p:sp>
          <p:nvSpPr>
            <p:cNvPr id="7180" name="AutoShape 15"/>
            <p:cNvSpPr>
              <a:spLocks/>
            </p:cNvSpPr>
            <p:nvPr/>
          </p:nvSpPr>
          <p:spPr bwMode="auto">
            <a:xfrm>
              <a:off x="1666" y="512"/>
              <a:ext cx="158" cy="576"/>
            </a:xfrm>
            <a:prstGeom prst="leftBrace">
              <a:avLst>
                <a:gd name="adj1" fmla="val 30380"/>
                <a:gd name="adj2" fmla="val 50000"/>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23921" name="Text Box 17"/>
          <p:cNvSpPr txBox="1">
            <a:spLocks noChangeArrowheads="1"/>
          </p:cNvSpPr>
          <p:nvPr/>
        </p:nvSpPr>
        <p:spPr bwMode="auto">
          <a:xfrm>
            <a:off x="3057525" y="639368"/>
            <a:ext cx="3167063"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b="1" dirty="0">
                <a:latin typeface="宋体" pitchFamily="2" charset="-122"/>
              </a:rPr>
              <a:t>① </a:t>
            </a:r>
            <a:r>
              <a:rPr lang="zh-CN" altLang="en-US" sz="2000" b="1" dirty="0"/>
              <a:t>注出公差</a:t>
            </a:r>
          </a:p>
        </p:txBody>
      </p:sp>
      <p:sp>
        <p:nvSpPr>
          <p:cNvPr id="123922" name="Text Box 18"/>
          <p:cNvSpPr txBox="1">
            <a:spLocks noChangeArrowheads="1"/>
          </p:cNvSpPr>
          <p:nvPr/>
        </p:nvSpPr>
        <p:spPr bwMode="auto">
          <a:xfrm>
            <a:off x="3055938" y="1106093"/>
            <a:ext cx="3167062"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b="1">
                <a:latin typeface="宋体" pitchFamily="2" charset="-122"/>
              </a:rPr>
              <a:t>② 未</a:t>
            </a:r>
            <a:r>
              <a:rPr lang="zh-CN" altLang="en-US" sz="2000" b="1"/>
              <a:t>注出公差</a:t>
            </a:r>
          </a:p>
        </p:txBody>
      </p:sp>
      <p:sp>
        <p:nvSpPr>
          <p:cNvPr id="123923" name="Text Box 19"/>
          <p:cNvSpPr txBox="1">
            <a:spLocks noChangeArrowheads="1"/>
          </p:cNvSpPr>
          <p:nvPr/>
        </p:nvSpPr>
        <p:spPr bwMode="auto">
          <a:xfrm>
            <a:off x="414338" y="1879951"/>
            <a:ext cx="853440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a:t>
            </a:r>
            <a:r>
              <a:rPr lang="zh-CN" altLang="en-US" sz="2000" b="1" dirty="0">
                <a:latin typeface="宋体" pitchFamily="2" charset="-122"/>
              </a:rPr>
              <a:t>未注几何公差应用于几何精度要求不高，用一般的加工方法和加工设备都能保证零件的几何精度要求，</a:t>
            </a:r>
            <a:r>
              <a:rPr lang="zh-CN" altLang="en-US" sz="2000" b="1" dirty="0">
                <a:solidFill>
                  <a:srgbClr val="FF0000"/>
                </a:solidFill>
                <a:latin typeface="宋体" pitchFamily="2" charset="-122"/>
              </a:rPr>
              <a:t>图样上不必注出</a:t>
            </a:r>
            <a:r>
              <a:rPr lang="zh-CN" altLang="en-US" sz="2000" b="1" dirty="0" smtClean="0">
                <a:latin typeface="宋体" pitchFamily="2" charset="-122"/>
              </a:rPr>
              <a:t>。</a:t>
            </a:r>
            <a:endParaRPr lang="zh-CN" altLang="en-US" sz="2000" b="1" dirty="0">
              <a:latin typeface="宋体" pitchFamily="2" charset="-122"/>
            </a:endParaRPr>
          </a:p>
        </p:txBody>
      </p:sp>
      <p:sp>
        <p:nvSpPr>
          <p:cNvPr id="123924" name="Text Box 20"/>
          <p:cNvSpPr txBox="1">
            <a:spLocks noChangeArrowheads="1"/>
          </p:cNvSpPr>
          <p:nvPr/>
        </p:nvSpPr>
        <p:spPr bwMode="auto">
          <a:xfrm>
            <a:off x="193675" y="2738628"/>
            <a:ext cx="8680450"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（1）</a:t>
            </a:r>
            <a:r>
              <a:rPr lang="zh-CN" altLang="en-US" sz="2000" b="1" dirty="0">
                <a:solidFill>
                  <a:srgbClr val="FF0000"/>
                </a:solidFill>
              </a:rPr>
              <a:t>线轮廓度、面轮廓度、倾斜度、位置度</a:t>
            </a:r>
            <a:r>
              <a:rPr lang="zh-CN" altLang="en-US" sz="2000" b="1" dirty="0"/>
              <a:t>和</a:t>
            </a:r>
            <a:r>
              <a:rPr lang="zh-CN" altLang="en-US" sz="2000" b="1" dirty="0">
                <a:solidFill>
                  <a:srgbClr val="FF0000"/>
                </a:solidFill>
              </a:rPr>
              <a:t>全跳动</a:t>
            </a:r>
            <a:r>
              <a:rPr lang="zh-CN" altLang="en-US" sz="2000" b="1" dirty="0"/>
              <a:t>的未注几何公差均由各要素注出或未注</a:t>
            </a:r>
            <a:r>
              <a:rPr lang="zh-CN" altLang="en-US" sz="2000" b="1" dirty="0">
                <a:solidFill>
                  <a:srgbClr val="0070C0"/>
                </a:solidFill>
              </a:rPr>
              <a:t>线性尺寸公差或角度公差</a:t>
            </a:r>
            <a:r>
              <a:rPr lang="zh-CN" altLang="en-US" sz="2000" b="1" dirty="0"/>
              <a:t>控制。对这些项目的未注公差</a:t>
            </a:r>
            <a:r>
              <a:rPr lang="zh-CN" altLang="en-US" sz="2000" b="1" dirty="0">
                <a:solidFill>
                  <a:srgbClr val="FF0000"/>
                </a:solidFill>
              </a:rPr>
              <a:t>不作特殊标注</a:t>
            </a:r>
            <a:r>
              <a:rPr lang="zh-CN" altLang="en-US" sz="2000" b="1" dirty="0"/>
              <a:t>。</a:t>
            </a:r>
            <a:endParaRPr lang="en-US" altLang="zh-CN" sz="2000" b="1" dirty="0">
              <a:latin typeface="宋体" pitchFamily="2" charset="-122"/>
            </a:endParaRPr>
          </a:p>
        </p:txBody>
      </p:sp>
      <p:sp>
        <p:nvSpPr>
          <p:cNvPr id="123925" name="Text Box 21"/>
          <p:cNvSpPr txBox="1">
            <a:spLocks noChangeArrowheads="1"/>
          </p:cNvSpPr>
          <p:nvPr/>
        </p:nvSpPr>
        <p:spPr bwMode="auto">
          <a:xfrm>
            <a:off x="206375" y="3817120"/>
            <a:ext cx="868045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a:t>
            </a:r>
            <a:r>
              <a:rPr lang="en-US" altLang="zh-CN" sz="2000" b="1" dirty="0"/>
              <a:t>2</a:t>
            </a:r>
            <a:r>
              <a:rPr lang="zh-CN" altLang="en-US" sz="2000" b="1" dirty="0"/>
              <a:t>）</a:t>
            </a:r>
            <a:r>
              <a:rPr lang="zh-CN" altLang="en-US" sz="2000" b="1" dirty="0">
                <a:solidFill>
                  <a:srgbClr val="FF0000"/>
                </a:solidFill>
              </a:rPr>
              <a:t>圆度</a:t>
            </a:r>
            <a:r>
              <a:rPr lang="zh-CN" altLang="en-US" sz="2000" b="1" dirty="0"/>
              <a:t>的未注几何公差值等于给出的</a:t>
            </a:r>
            <a:r>
              <a:rPr lang="zh-CN" altLang="en-US" sz="2000" b="1" dirty="0">
                <a:solidFill>
                  <a:srgbClr val="0070C0"/>
                </a:solidFill>
              </a:rPr>
              <a:t>直径尺寸公差</a:t>
            </a:r>
            <a:r>
              <a:rPr lang="zh-CN" altLang="en-US" sz="2000" b="1" dirty="0"/>
              <a:t>值，但不能大于表</a:t>
            </a:r>
            <a:r>
              <a:rPr lang="en-US" altLang="zh-CN" sz="2000" b="1" dirty="0" smtClean="0"/>
              <a:t>4.17</a:t>
            </a:r>
            <a:r>
              <a:rPr lang="zh-CN" altLang="en-US" sz="2000" b="1" dirty="0" smtClean="0"/>
              <a:t>中</a:t>
            </a:r>
            <a:r>
              <a:rPr lang="zh-CN" altLang="en-US" sz="2000" b="1" dirty="0"/>
              <a:t>圆跳动公差值。</a:t>
            </a:r>
            <a:endParaRPr lang="zh-CN" altLang="en-US" sz="2000" b="1" dirty="0">
              <a:latin typeface="宋体" pitchFamily="2" charset="-122"/>
            </a:endParaRPr>
          </a:p>
        </p:txBody>
      </p:sp>
      <p:cxnSp>
        <p:nvCxnSpPr>
          <p:cNvPr id="13" name="直接连接符 12">
            <a:extLst>
              <a:ext uri="{FF2B5EF4-FFF2-40B4-BE49-F238E27FC236}">
                <a16:creationId xmlns="" xmlns:a16="http://schemas.microsoft.com/office/drawing/2014/main" id="{A8F83BF7-B11F-4593-B589-4762B63C7BE5}"/>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3908">
                                            <p:txEl>
                                              <p:pRg st="0" end="0"/>
                                            </p:txEl>
                                          </p:spTgt>
                                        </p:tgtEl>
                                        <p:attrNameLst>
                                          <p:attrName>style.visibility</p:attrName>
                                        </p:attrNameLst>
                                      </p:cBhvr>
                                      <p:to>
                                        <p:strVal val="visible"/>
                                      </p:to>
                                    </p:set>
                                    <p:animEffect transition="in" filter="wipe(left)">
                                      <p:cBhvr>
                                        <p:cTn id="7" dur="300"/>
                                        <p:tgtEl>
                                          <p:spTgt spid="1239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3920"/>
                                        </p:tgtEl>
                                        <p:attrNameLst>
                                          <p:attrName>style.visibility</p:attrName>
                                        </p:attrNameLst>
                                      </p:cBhvr>
                                      <p:to>
                                        <p:strVal val="visible"/>
                                      </p:to>
                                    </p:set>
                                    <p:animEffect transition="in" filter="wipe(left)">
                                      <p:cBhvr>
                                        <p:cTn id="12" dur="2000"/>
                                        <p:tgtEl>
                                          <p:spTgt spid="1239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921"/>
                                        </p:tgtEl>
                                        <p:attrNameLst>
                                          <p:attrName>style.visibility</p:attrName>
                                        </p:attrNameLst>
                                      </p:cBhvr>
                                      <p:to>
                                        <p:strVal val="visible"/>
                                      </p:to>
                                    </p:set>
                                    <p:animEffect transition="in" filter="wipe(left)">
                                      <p:cBhvr>
                                        <p:cTn id="17" dur="3000"/>
                                        <p:tgtEl>
                                          <p:spTgt spid="1239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22"/>
                                        </p:tgtEl>
                                        <p:attrNameLst>
                                          <p:attrName>style.visibility</p:attrName>
                                        </p:attrNameLst>
                                      </p:cBhvr>
                                      <p:to>
                                        <p:strVal val="visible"/>
                                      </p:to>
                                    </p:set>
                                    <p:animEffect transition="in" filter="wipe(left)">
                                      <p:cBhvr>
                                        <p:cTn id="22" dur="2000"/>
                                        <p:tgtEl>
                                          <p:spTgt spid="1239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23909">
                                            <p:txEl>
                                              <p:pRg st="0" end="0"/>
                                            </p:txEl>
                                          </p:spTgt>
                                        </p:tgtEl>
                                        <p:attrNameLst>
                                          <p:attrName>style.visibility</p:attrName>
                                        </p:attrNameLst>
                                      </p:cBhvr>
                                      <p:to>
                                        <p:strVal val="visible"/>
                                      </p:to>
                                    </p:set>
                                    <p:animEffect transition="in" filter="wipe(left)">
                                      <p:cBhvr>
                                        <p:cTn id="27" dur="300"/>
                                        <p:tgtEl>
                                          <p:spTgt spid="12390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23923">
                                            <p:txEl>
                                              <p:pRg st="0" end="0"/>
                                            </p:txEl>
                                          </p:spTgt>
                                        </p:tgtEl>
                                        <p:attrNameLst>
                                          <p:attrName>style.visibility</p:attrName>
                                        </p:attrNameLst>
                                      </p:cBhvr>
                                      <p:to>
                                        <p:strVal val="visible"/>
                                      </p:to>
                                    </p:set>
                                    <p:animEffect transition="in" filter="wipe(left)">
                                      <p:cBhvr>
                                        <p:cTn id="32" dur="300"/>
                                        <p:tgtEl>
                                          <p:spTgt spid="12392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23924">
                                            <p:txEl>
                                              <p:pRg st="0" end="0"/>
                                            </p:txEl>
                                          </p:spTgt>
                                        </p:tgtEl>
                                        <p:attrNameLst>
                                          <p:attrName>style.visibility</p:attrName>
                                        </p:attrNameLst>
                                      </p:cBhvr>
                                      <p:to>
                                        <p:strVal val="visible"/>
                                      </p:to>
                                    </p:set>
                                    <p:animEffect transition="in" filter="wipe(left)">
                                      <p:cBhvr>
                                        <p:cTn id="37" dur="300"/>
                                        <p:tgtEl>
                                          <p:spTgt spid="12392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23925">
                                            <p:txEl>
                                              <p:pRg st="0" end="0"/>
                                            </p:txEl>
                                          </p:spTgt>
                                        </p:tgtEl>
                                        <p:attrNameLst>
                                          <p:attrName>style.visibility</p:attrName>
                                        </p:attrNameLst>
                                      </p:cBhvr>
                                      <p:to>
                                        <p:strVal val="visible"/>
                                      </p:to>
                                    </p:set>
                                    <p:animEffect transition="in" filter="wipe(left)">
                                      <p:cBhvr>
                                        <p:cTn id="42" dur="300"/>
                                        <p:tgtEl>
                                          <p:spTgt spid="1239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build="p" autoUpdateAnimBg="0"/>
      <p:bldP spid="123909" grpId="0" build="p" autoUpdateAnimBg="0"/>
      <p:bldP spid="123921" grpId="0"/>
      <p:bldP spid="123922" grpId="0"/>
      <p:bldP spid="123923" grpId="0" build="p" autoUpdateAnimBg="0"/>
      <p:bldP spid="123924" grpId="0" build="p" autoUpdateAnimBg="0"/>
      <p:bldP spid="12392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CD2C72A4-8E5E-4D9F-9FA4-96F7E280CCA6}" type="slidenum">
              <a:rPr kumimoji="0" lang="zh-CN" altLang="en-US" sz="2000" smtClean="0">
                <a:solidFill>
                  <a:srgbClr val="0000FF"/>
                </a:solidFill>
              </a:rPr>
              <a:pPr eaLnBrk="1" hangingPunct="1"/>
              <a:t>7</a:t>
            </a:fld>
            <a:endParaRPr kumimoji="0" lang="en-US" altLang="zh-CN" sz="2000">
              <a:solidFill>
                <a:srgbClr val="0000FF"/>
              </a:solidFill>
            </a:endParaRPr>
          </a:p>
        </p:txBody>
      </p:sp>
      <p:sp>
        <p:nvSpPr>
          <p:cNvPr id="153604" name="Text Box 4"/>
          <p:cNvSpPr txBox="1">
            <a:spLocks noChangeArrowheads="1"/>
          </p:cNvSpPr>
          <p:nvPr/>
        </p:nvSpPr>
        <p:spPr bwMode="auto">
          <a:xfrm>
            <a:off x="176213" y="1113235"/>
            <a:ext cx="8772525" cy="1164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a:t>
            </a:r>
            <a:r>
              <a:rPr lang="en-US" altLang="zh-CN" sz="2000" b="1" dirty="0"/>
              <a:t>4</a:t>
            </a:r>
            <a:r>
              <a:rPr lang="zh-CN" altLang="en-US" sz="2000" b="1" dirty="0"/>
              <a:t>）</a:t>
            </a:r>
            <a:r>
              <a:rPr lang="zh-CN" altLang="en-US" sz="2000" b="1" dirty="0">
                <a:solidFill>
                  <a:srgbClr val="FF3300"/>
                </a:solidFill>
                <a:latin typeface="宋体" pitchFamily="2" charset="-122"/>
              </a:rPr>
              <a:t>直线度、平面度、垂直度、对称度</a:t>
            </a:r>
            <a:r>
              <a:rPr lang="zh-CN" altLang="en-US" sz="2000" b="1" dirty="0">
                <a:latin typeface="宋体" pitchFamily="2" charset="-122"/>
              </a:rPr>
              <a:t>和</a:t>
            </a:r>
            <a:r>
              <a:rPr lang="zh-CN" altLang="en-US" sz="2000" b="1" dirty="0">
                <a:solidFill>
                  <a:srgbClr val="FF3300"/>
                </a:solidFill>
                <a:latin typeface="宋体" pitchFamily="2" charset="-122"/>
              </a:rPr>
              <a:t>圆跳动</a:t>
            </a:r>
            <a:r>
              <a:rPr lang="zh-CN" altLang="en-US" sz="2000" b="1" dirty="0">
                <a:latin typeface="宋体" pitchFamily="2" charset="-122"/>
              </a:rPr>
              <a:t>的未注公差，标准规定：① </a:t>
            </a:r>
            <a:r>
              <a:rPr lang="en-US" altLang="zh-CN" sz="2000" b="1" dirty="0">
                <a:solidFill>
                  <a:srgbClr val="FF3300"/>
                </a:solidFill>
              </a:rPr>
              <a:t>H、K、L</a:t>
            </a:r>
            <a:r>
              <a:rPr lang="en-US" altLang="zh-CN" sz="2000" b="1" dirty="0"/>
              <a:t> </a:t>
            </a:r>
            <a:r>
              <a:rPr lang="zh-CN" altLang="en-US" sz="2000" b="1" dirty="0"/>
              <a:t>三级，其中</a:t>
            </a:r>
            <a:r>
              <a:rPr lang="en-US" altLang="zh-CN" sz="2000" b="1" dirty="0"/>
              <a:t>H</a:t>
            </a:r>
            <a:r>
              <a:rPr lang="zh-CN" altLang="en-US" sz="2000" b="1" dirty="0"/>
              <a:t>级最高，</a:t>
            </a:r>
            <a:r>
              <a:rPr lang="en-US" altLang="zh-CN" sz="2000" b="1" dirty="0"/>
              <a:t>L</a:t>
            </a:r>
            <a:r>
              <a:rPr lang="zh-CN" altLang="en-US" sz="2000" b="1" dirty="0"/>
              <a:t>级最低。② </a:t>
            </a:r>
            <a:r>
              <a:rPr lang="zh-CN" altLang="en-US" sz="2000" b="1" dirty="0">
                <a:solidFill>
                  <a:srgbClr val="FF3300"/>
                </a:solidFill>
              </a:rPr>
              <a:t>未注</a:t>
            </a:r>
            <a:r>
              <a:rPr lang="zh-CN" altLang="en-US" sz="2000" b="1" dirty="0"/>
              <a:t>几何公差的公差数值（表4</a:t>
            </a:r>
            <a:r>
              <a:rPr lang="zh-CN" altLang="en-US" sz="2000" b="1" dirty="0" smtClean="0"/>
              <a:t>.</a:t>
            </a:r>
            <a:r>
              <a:rPr lang="en-US" altLang="zh-CN" sz="2000" b="1" dirty="0" smtClean="0"/>
              <a:t>9</a:t>
            </a:r>
            <a:r>
              <a:rPr lang="zh-CN" altLang="en-US" sz="2000" b="1" dirty="0" smtClean="0"/>
              <a:t>～4</a:t>
            </a:r>
            <a:r>
              <a:rPr lang="zh-CN" altLang="en-US" sz="2000" b="1" dirty="0"/>
              <a:t>.12）</a:t>
            </a:r>
          </a:p>
        </p:txBody>
      </p:sp>
      <p:sp>
        <p:nvSpPr>
          <p:cNvPr id="153611" name="Text Box 11"/>
          <p:cNvSpPr txBox="1">
            <a:spLocks noChangeArrowheads="1"/>
          </p:cNvSpPr>
          <p:nvPr/>
        </p:nvSpPr>
        <p:spPr bwMode="auto">
          <a:xfrm>
            <a:off x="252413" y="322598"/>
            <a:ext cx="868045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a:t>
            </a:r>
            <a:r>
              <a:rPr lang="en-US" altLang="zh-CN" sz="2000" b="1" dirty="0"/>
              <a:t>3</a:t>
            </a:r>
            <a:r>
              <a:rPr lang="zh-CN" altLang="en-US" sz="2000" b="1" dirty="0"/>
              <a:t>）</a:t>
            </a:r>
            <a:r>
              <a:rPr lang="zh-CN" altLang="en-US" sz="2000" b="1" dirty="0">
                <a:solidFill>
                  <a:srgbClr val="FF0000"/>
                </a:solidFill>
              </a:rPr>
              <a:t>圆柱度的未注几何公差值不作规定</a:t>
            </a:r>
            <a:r>
              <a:rPr lang="zh-CN" altLang="en-US" sz="2000" b="1" dirty="0"/>
              <a:t>。圆柱度误差由</a:t>
            </a:r>
            <a:r>
              <a:rPr lang="zh-CN" altLang="en-US" sz="2000" b="1" dirty="0">
                <a:solidFill>
                  <a:srgbClr val="FF0000"/>
                </a:solidFill>
              </a:rPr>
              <a:t>圆度</a:t>
            </a:r>
            <a:r>
              <a:rPr lang="zh-CN" altLang="en-US" sz="2000" b="1" dirty="0"/>
              <a:t>、</a:t>
            </a:r>
            <a:r>
              <a:rPr lang="zh-CN" altLang="en-US" sz="2000" b="1" dirty="0">
                <a:solidFill>
                  <a:srgbClr val="FF0000"/>
                </a:solidFill>
              </a:rPr>
              <a:t>直线度</a:t>
            </a:r>
            <a:r>
              <a:rPr lang="zh-CN" altLang="en-US" sz="2000" b="1" dirty="0"/>
              <a:t>和相应线的</a:t>
            </a:r>
            <a:r>
              <a:rPr lang="zh-CN" altLang="en-US" sz="2000" b="1" dirty="0">
                <a:solidFill>
                  <a:srgbClr val="FF0000"/>
                </a:solidFill>
              </a:rPr>
              <a:t>平行度</a:t>
            </a:r>
            <a:r>
              <a:rPr lang="zh-CN" altLang="en-US" sz="2000" b="1" dirty="0"/>
              <a:t>误差组成，而其中每一项均由它们的注出或未注公差控制。</a:t>
            </a:r>
            <a:endParaRPr lang="zh-CN" altLang="en-US" sz="2000" b="1" dirty="0">
              <a:latin typeface="宋体" pitchFamily="2" charset="-122"/>
            </a:endParaRPr>
          </a:p>
        </p:txBody>
      </p:sp>
      <p:grpSp>
        <p:nvGrpSpPr>
          <p:cNvPr id="2" name="组合 1"/>
          <p:cNvGrpSpPr>
            <a:grpSpLocks/>
          </p:cNvGrpSpPr>
          <p:nvPr/>
        </p:nvGrpSpPr>
        <p:grpSpPr bwMode="auto">
          <a:xfrm>
            <a:off x="479144" y="2223329"/>
            <a:ext cx="8231733" cy="2765523"/>
            <a:chOff x="506410" y="3314696"/>
            <a:chExt cx="8328023" cy="3360858"/>
          </a:xfrm>
        </p:grpSpPr>
        <p:pic>
          <p:nvPicPr>
            <p:cNvPr id="8199" name="Picture 10"/>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06410" y="3314696"/>
              <a:ext cx="8324850" cy="269557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8200" name="矩形 10"/>
            <p:cNvSpPr>
              <a:spLocks noChangeArrowheads="1"/>
            </p:cNvSpPr>
            <p:nvPr/>
          </p:nvSpPr>
          <p:spPr bwMode="auto">
            <a:xfrm>
              <a:off x="590545" y="6039700"/>
              <a:ext cx="8243888" cy="6358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l"/>
              <a:r>
                <a:rPr lang="zh-CN" altLang="en-US" sz="1400" b="1" dirty="0"/>
                <a:t>注</a:t>
              </a:r>
              <a:r>
                <a:rPr lang="en-US" altLang="zh-CN" sz="1400" b="1" dirty="0"/>
                <a:t>: </a:t>
              </a:r>
              <a:r>
                <a:rPr lang="zh-CN" altLang="en-US" sz="1400" b="1" dirty="0"/>
                <a:t>对于直线度</a:t>
              </a:r>
              <a:r>
                <a:rPr lang="en-US" altLang="zh-CN" sz="1400" b="1" dirty="0"/>
                <a:t>,</a:t>
              </a:r>
              <a:r>
                <a:rPr lang="zh-CN" altLang="en-US" sz="1400" b="1" dirty="0"/>
                <a:t>应按其相应线的长度选择公差值；对于平面度，应按其表面的较长边或圆表面的直径选择公差值。</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3611">
                                            <p:txEl>
                                              <p:pRg st="0" end="0"/>
                                            </p:txEl>
                                          </p:spTgt>
                                        </p:tgtEl>
                                        <p:attrNameLst>
                                          <p:attrName>style.visibility</p:attrName>
                                        </p:attrNameLst>
                                      </p:cBhvr>
                                      <p:to>
                                        <p:strVal val="visible"/>
                                      </p:to>
                                    </p:set>
                                    <p:animEffect transition="in" filter="wipe(left)">
                                      <p:cBhvr>
                                        <p:cTn id="7" dur="300"/>
                                        <p:tgtEl>
                                          <p:spTgt spid="153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3604">
                                            <p:txEl>
                                              <p:pRg st="0" end="0"/>
                                            </p:txEl>
                                          </p:spTgt>
                                        </p:tgtEl>
                                        <p:attrNameLst>
                                          <p:attrName>style.visibility</p:attrName>
                                        </p:attrNameLst>
                                      </p:cBhvr>
                                      <p:to>
                                        <p:strVal val="visible"/>
                                      </p:to>
                                    </p:set>
                                    <p:animEffect transition="in" filter="wipe(left)">
                                      <p:cBhvr>
                                        <p:cTn id="12" dur="300"/>
                                        <p:tgtEl>
                                          <p:spTgt spid="15360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500" fill="hold"/>
                                        <p:tgtEl>
                                          <p:spTgt spid="2"/>
                                        </p:tgtEl>
                                        <p:attrNameLst>
                                          <p:attrName>ppt_x</p:attrName>
                                        </p:attrNameLst>
                                      </p:cBhvr>
                                      <p:tavLst>
                                        <p:tav tm="0">
                                          <p:val>
                                            <p:strVal val="0-#ppt_w/2"/>
                                          </p:val>
                                        </p:tav>
                                        <p:tav tm="100000">
                                          <p:val>
                                            <p:strVal val="#ppt_x"/>
                                          </p:val>
                                        </p:tav>
                                      </p:tavLst>
                                    </p:anim>
                                    <p:anim calcmode="lin" valueType="num">
                                      <p:cBhvr additive="base">
                                        <p:cTn id="18" dur="2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build="p" autoUpdateAnimBg="0"/>
      <p:bldP spid="15361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0797DF7-BF40-4954-8B2B-134D87767912}" type="slidenum">
              <a:rPr kumimoji="0" lang="zh-CN" altLang="en-US" sz="2000" smtClean="0">
                <a:solidFill>
                  <a:srgbClr val="0000FF"/>
                </a:solidFill>
              </a:rPr>
              <a:pPr eaLnBrk="1" hangingPunct="1"/>
              <a:t>8</a:t>
            </a:fld>
            <a:endParaRPr kumimoji="0" lang="en-US" altLang="zh-CN" sz="2000">
              <a:solidFill>
                <a:srgbClr val="0000FF"/>
              </a:solidFill>
            </a:endParaRPr>
          </a:p>
        </p:txBody>
      </p:sp>
      <p:pic>
        <p:nvPicPr>
          <p:cNvPr id="922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73492" y="201919"/>
            <a:ext cx="7751941" cy="159309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922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42320" y="1886020"/>
            <a:ext cx="7783113" cy="1641622"/>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41488" y="3771147"/>
            <a:ext cx="7783113" cy="107849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107ED23D-FDB8-4E4F-99C8-7FD86EE4343D}" type="slidenum">
              <a:rPr kumimoji="0" lang="zh-CN" altLang="en-US" sz="2000" smtClean="0">
                <a:solidFill>
                  <a:srgbClr val="0000FF"/>
                </a:solidFill>
              </a:rPr>
              <a:pPr eaLnBrk="1" hangingPunct="1"/>
              <a:t>9</a:t>
            </a:fld>
            <a:endParaRPr kumimoji="0" lang="en-US" altLang="zh-CN" sz="2000">
              <a:solidFill>
                <a:srgbClr val="0000FF"/>
              </a:solidFill>
            </a:endParaRPr>
          </a:p>
        </p:txBody>
      </p:sp>
      <p:sp>
        <p:nvSpPr>
          <p:cNvPr id="7170" name="Text Box 2"/>
          <p:cNvSpPr txBox="1">
            <a:spLocks noChangeArrowheads="1"/>
          </p:cNvSpPr>
          <p:nvPr/>
        </p:nvSpPr>
        <p:spPr bwMode="auto">
          <a:xfrm>
            <a:off x="198439" y="117872"/>
            <a:ext cx="57753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a:t>
            </a:r>
            <a:r>
              <a:rPr lang="en-US" altLang="zh-CN" b="1" dirty="0"/>
              <a:t>5</a:t>
            </a:r>
            <a:r>
              <a:rPr lang="zh-CN" altLang="en-US" b="1" dirty="0"/>
              <a:t>）</a:t>
            </a:r>
            <a:r>
              <a:rPr lang="zh-CN" altLang="en-US" b="1" dirty="0">
                <a:solidFill>
                  <a:srgbClr val="FF3300"/>
                </a:solidFill>
                <a:latin typeface="宋体" pitchFamily="2" charset="-122"/>
              </a:rPr>
              <a:t>未注</a:t>
            </a:r>
            <a:r>
              <a:rPr lang="zh-CN" altLang="en-US" b="1" dirty="0">
                <a:latin typeface="宋体" pitchFamily="2" charset="-122"/>
              </a:rPr>
              <a:t>几何公差的图样标注</a:t>
            </a:r>
            <a:r>
              <a:rPr lang="zh-CN" altLang="en-US" b="1" dirty="0"/>
              <a:t> </a:t>
            </a:r>
          </a:p>
        </p:txBody>
      </p:sp>
      <p:sp>
        <p:nvSpPr>
          <p:cNvPr id="7171" name="Text Box 3"/>
          <p:cNvSpPr txBox="1">
            <a:spLocks noChangeArrowheads="1"/>
          </p:cNvSpPr>
          <p:nvPr/>
        </p:nvSpPr>
        <p:spPr bwMode="auto">
          <a:xfrm>
            <a:off x="262857" y="574759"/>
            <a:ext cx="81168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在标题栏附近或技术要求中注出</a:t>
            </a:r>
            <a:r>
              <a:rPr lang="zh-CN" altLang="en-US" sz="2000" b="1" dirty="0">
                <a:solidFill>
                  <a:srgbClr val="FF3300"/>
                </a:solidFill>
              </a:rPr>
              <a:t>标准号和公差等级</a:t>
            </a:r>
            <a:r>
              <a:rPr lang="zh-CN" altLang="en-US" sz="2000" b="1" dirty="0"/>
              <a:t>。</a:t>
            </a:r>
          </a:p>
        </p:txBody>
      </p:sp>
      <p:sp>
        <p:nvSpPr>
          <p:cNvPr id="7239" name="Text Box 71"/>
          <p:cNvSpPr txBox="1">
            <a:spLocks noChangeArrowheads="1"/>
          </p:cNvSpPr>
          <p:nvPr/>
        </p:nvSpPr>
        <p:spPr bwMode="auto">
          <a:xfrm>
            <a:off x="583610" y="2205098"/>
            <a:ext cx="1863011"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其</a:t>
            </a:r>
            <a:r>
              <a:rPr lang="zh-CN" altLang="en-US" sz="2000" b="1" dirty="0">
                <a:solidFill>
                  <a:srgbClr val="FF3300"/>
                </a:solidFill>
                <a:latin typeface="宋体" pitchFamily="2" charset="-122"/>
              </a:rPr>
              <a:t>未注</a:t>
            </a:r>
            <a:r>
              <a:rPr lang="zh-CN" altLang="en-US" sz="2000" b="1" dirty="0">
                <a:latin typeface="宋体" pitchFamily="2" charset="-122"/>
              </a:rPr>
              <a:t>几何</a:t>
            </a:r>
          </a:p>
          <a:p>
            <a:pPr algn="l" eaLnBrk="1" hangingPunct="1">
              <a:lnSpc>
                <a:spcPct val="120000"/>
              </a:lnSpc>
            </a:pPr>
            <a:r>
              <a:rPr lang="zh-CN" altLang="en-US" sz="2000" b="1" dirty="0">
                <a:latin typeface="宋体" pitchFamily="2" charset="-122"/>
              </a:rPr>
              <a:t>公差等级为</a:t>
            </a:r>
            <a:r>
              <a:rPr lang="en-US" altLang="zh-CN" sz="2000" b="1" dirty="0">
                <a:solidFill>
                  <a:srgbClr val="FF3300"/>
                </a:solidFill>
                <a:latin typeface="宋体" pitchFamily="2" charset="-122"/>
              </a:rPr>
              <a:t>K</a:t>
            </a:r>
            <a:r>
              <a:rPr lang="zh-CN" altLang="en-US" sz="2000" b="1" dirty="0">
                <a:solidFill>
                  <a:srgbClr val="FF3300"/>
                </a:solidFill>
              </a:rPr>
              <a:t>级</a:t>
            </a:r>
            <a:endParaRPr lang="en-US" altLang="zh-CN" sz="2000" b="1" dirty="0">
              <a:solidFill>
                <a:srgbClr val="FF3300"/>
              </a:solidFill>
            </a:endParaRPr>
          </a:p>
        </p:txBody>
      </p:sp>
      <p:grpSp>
        <p:nvGrpSpPr>
          <p:cNvPr id="7276" name="Group 108"/>
          <p:cNvGrpSpPr>
            <a:grpSpLocks/>
          </p:cNvGrpSpPr>
          <p:nvPr/>
        </p:nvGrpSpPr>
        <p:grpSpPr bwMode="auto">
          <a:xfrm>
            <a:off x="2926085" y="1081793"/>
            <a:ext cx="5533814" cy="3630216"/>
            <a:chOff x="1773" y="828"/>
            <a:chExt cx="3846" cy="3049"/>
          </a:xfrm>
        </p:grpSpPr>
        <p:grpSp>
          <p:nvGrpSpPr>
            <p:cNvPr id="11273" name="Group 72"/>
            <p:cNvGrpSpPr>
              <a:grpSpLocks/>
            </p:cNvGrpSpPr>
            <p:nvPr/>
          </p:nvGrpSpPr>
          <p:grpSpPr bwMode="auto">
            <a:xfrm>
              <a:off x="1773" y="828"/>
              <a:ext cx="3846" cy="3049"/>
              <a:chOff x="2352" y="720"/>
              <a:chExt cx="3399" cy="3049"/>
            </a:xfrm>
          </p:grpSpPr>
          <p:pic>
            <p:nvPicPr>
              <p:cNvPr id="11281" name="Picture 7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352" y="720"/>
                <a:ext cx="3169" cy="27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282" name="Rectangle 74"/>
              <p:cNvSpPr>
                <a:spLocks noChangeArrowheads="1"/>
              </p:cNvSpPr>
              <p:nvPr/>
            </p:nvSpPr>
            <p:spPr bwMode="auto">
              <a:xfrm>
                <a:off x="4368" y="2352"/>
                <a:ext cx="1200" cy="91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283" name="Text Box 75"/>
              <p:cNvSpPr txBox="1">
                <a:spLocks noChangeArrowheads="1"/>
              </p:cNvSpPr>
              <p:nvPr/>
            </p:nvSpPr>
            <p:spPr bwMode="auto">
              <a:xfrm>
                <a:off x="4503" y="2966"/>
                <a:ext cx="1248" cy="59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solidFill>
                      <a:srgbClr val="FF3300"/>
                    </a:solidFill>
                  </a:rPr>
                  <a:t>未注几何公差按</a:t>
                </a:r>
                <a:r>
                  <a:rPr lang="en-US" altLang="zh-CN" sz="2000" b="1" dirty="0">
                    <a:solidFill>
                      <a:srgbClr val="FF3300"/>
                    </a:solidFill>
                  </a:rPr>
                  <a:t>GB/T1184</a:t>
                </a:r>
                <a:r>
                  <a:rPr lang="en-US" altLang="zh-CN" sz="2000" b="1" dirty="0">
                    <a:solidFill>
                      <a:srgbClr val="FF3300"/>
                    </a:solidFill>
                    <a:cs typeface="Times New Roman" pitchFamily="18" charset="0"/>
                  </a:rPr>
                  <a:t>—K</a:t>
                </a:r>
              </a:p>
            </p:txBody>
          </p:sp>
          <p:sp>
            <p:nvSpPr>
              <p:cNvPr id="11284" name="Text Box 76"/>
              <p:cNvSpPr txBox="1">
                <a:spLocks noChangeArrowheads="1"/>
              </p:cNvSpPr>
              <p:nvPr/>
            </p:nvSpPr>
            <p:spPr bwMode="auto">
              <a:xfrm>
                <a:off x="4515" y="2435"/>
                <a:ext cx="1235" cy="59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未注尺寸公差按</a:t>
                </a:r>
                <a:r>
                  <a:rPr lang="en-US" altLang="zh-CN" sz="2000" b="1" dirty="0"/>
                  <a:t>GB/T1804</a:t>
                </a:r>
                <a:r>
                  <a:rPr lang="en-US" altLang="zh-CN" sz="2000" b="1" dirty="0">
                    <a:cs typeface="Times New Roman" pitchFamily="18" charset="0"/>
                  </a:rPr>
                  <a:t>—f</a:t>
                </a:r>
              </a:p>
            </p:txBody>
          </p:sp>
          <p:grpSp>
            <p:nvGrpSpPr>
              <p:cNvPr id="11285" name="Group 77"/>
              <p:cNvGrpSpPr>
                <a:grpSpLocks/>
              </p:cNvGrpSpPr>
              <p:nvPr/>
            </p:nvGrpSpPr>
            <p:grpSpPr bwMode="auto">
              <a:xfrm>
                <a:off x="4162" y="3029"/>
                <a:ext cx="156" cy="252"/>
                <a:chOff x="789" y="3465"/>
                <a:chExt cx="392" cy="629"/>
              </a:xfrm>
            </p:grpSpPr>
            <p:grpSp>
              <p:nvGrpSpPr>
                <p:cNvPr id="11300" name="Group 78"/>
                <p:cNvGrpSpPr>
                  <a:grpSpLocks/>
                </p:cNvGrpSpPr>
                <p:nvPr/>
              </p:nvGrpSpPr>
              <p:grpSpPr bwMode="auto">
                <a:xfrm>
                  <a:off x="789" y="3702"/>
                  <a:ext cx="392" cy="392"/>
                  <a:chOff x="4583" y="3145"/>
                  <a:chExt cx="392" cy="392"/>
                </a:xfrm>
              </p:grpSpPr>
              <p:sp>
                <p:nvSpPr>
                  <p:cNvPr id="11303" name="Oval 79"/>
                  <p:cNvSpPr>
                    <a:spLocks noChangeArrowheads="1"/>
                  </p:cNvSpPr>
                  <p:nvPr/>
                </p:nvSpPr>
                <p:spPr bwMode="auto">
                  <a:xfrm>
                    <a:off x="4583" y="3145"/>
                    <a:ext cx="392" cy="392"/>
                  </a:xfrm>
                  <a:prstGeom prst="ellipse">
                    <a:avLst/>
                  </a:prstGeom>
                  <a:solidFill>
                    <a:srgbClr val="FFFFFF"/>
                  </a:solidFill>
                  <a:ln w="19050">
                    <a:solidFill>
                      <a:srgbClr val="000000"/>
                    </a:solidFill>
                    <a:round/>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Lst>
                </p:spPr>
                <p:txBody>
                  <a:bodyPr/>
                  <a:lstStyle/>
                  <a:p>
                    <a:endParaRPr lang="zh-CN" altLang="en-US" sz="2000"/>
                  </a:p>
                </p:txBody>
              </p:sp>
              <p:sp>
                <p:nvSpPr>
                  <p:cNvPr id="11304" name="WordArt 80"/>
                  <p:cNvSpPr>
                    <a:spLocks noChangeArrowheads="1" noChangeShapeType="1" noTextEdit="1"/>
                  </p:cNvSpPr>
                  <p:nvPr/>
                </p:nvSpPr>
                <p:spPr bwMode="auto">
                  <a:xfrm>
                    <a:off x="4611" y="3238"/>
                    <a:ext cx="252" cy="217"/>
                  </a:xfrm>
                  <a:prstGeom prst="rect">
                    <a:avLst/>
                  </a:prstGeom>
                </p:spPr>
                <p:txBody>
                  <a:bodyPr wrap="none" fromWordArt="1">
                    <a:prstTxWarp prst="textPlain">
                      <a:avLst>
                        <a:gd name="adj" fmla="val 50000"/>
                      </a:avLst>
                    </a:prstTxWarp>
                  </a:bodyPr>
                  <a:lstStyle/>
                  <a:p>
                    <a:r>
                      <a:rPr lang="en-US" altLang="zh-CN" sz="2000" i="1" kern="10">
                        <a:ln w="9525">
                          <a:solidFill>
                            <a:srgbClr val="000000"/>
                          </a:solidFill>
                          <a:round/>
                          <a:headEnd/>
                          <a:tailEnd/>
                        </a:ln>
                        <a:solidFill>
                          <a:srgbClr val="000000"/>
                        </a:solidFill>
                        <a:latin typeface="宋体"/>
                        <a:ea typeface="宋体"/>
                      </a:rPr>
                      <a:t>A</a:t>
                    </a:r>
                    <a:endParaRPr lang="zh-CN" altLang="en-US" sz="2000" i="1" kern="10">
                      <a:ln w="9525">
                        <a:solidFill>
                          <a:srgbClr val="000000"/>
                        </a:solidFill>
                        <a:round/>
                        <a:headEnd/>
                        <a:tailEnd/>
                      </a:ln>
                      <a:solidFill>
                        <a:srgbClr val="000000"/>
                      </a:solidFill>
                      <a:latin typeface="宋体"/>
                      <a:ea typeface="宋体"/>
                    </a:endParaRPr>
                  </a:p>
                </p:txBody>
              </p:sp>
            </p:grpSp>
            <p:sp>
              <p:nvSpPr>
                <p:cNvPr id="11301" name="Line 81"/>
                <p:cNvSpPr>
                  <a:spLocks noChangeShapeType="1"/>
                </p:cNvSpPr>
                <p:nvPr/>
              </p:nvSpPr>
              <p:spPr bwMode="auto">
                <a:xfrm>
                  <a:off x="989" y="3465"/>
                  <a:ext cx="0" cy="225"/>
                </a:xfrm>
                <a:prstGeom prst="line">
                  <a:avLst/>
                </a:prstGeom>
                <a:noFill/>
                <a:ln w="19050">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sz="2000"/>
                </a:p>
              </p:txBody>
            </p:sp>
            <p:sp>
              <p:nvSpPr>
                <p:cNvPr id="11302" name="Line 82"/>
                <p:cNvSpPr>
                  <a:spLocks noChangeShapeType="1"/>
                </p:cNvSpPr>
                <p:nvPr/>
              </p:nvSpPr>
              <p:spPr bwMode="auto">
                <a:xfrm>
                  <a:off x="825" y="3480"/>
                  <a:ext cx="300" cy="0"/>
                </a:xfrm>
                <a:prstGeom prst="line">
                  <a:avLst/>
                </a:prstGeom>
                <a:noFill/>
                <a:ln w="57150">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sz="2000"/>
                </a:p>
              </p:txBody>
            </p:sp>
          </p:grpSp>
          <p:grpSp>
            <p:nvGrpSpPr>
              <p:cNvPr id="11286" name="Group 83"/>
              <p:cNvGrpSpPr>
                <a:grpSpLocks/>
              </p:cNvGrpSpPr>
              <p:nvPr/>
            </p:nvGrpSpPr>
            <p:grpSpPr bwMode="auto">
              <a:xfrm>
                <a:off x="3266" y="3565"/>
                <a:ext cx="979" cy="204"/>
                <a:chOff x="8503" y="2634"/>
                <a:chExt cx="2448" cy="510"/>
              </a:xfrm>
            </p:grpSpPr>
            <p:grpSp>
              <p:nvGrpSpPr>
                <p:cNvPr id="11289" name="Group 84"/>
                <p:cNvGrpSpPr>
                  <a:grpSpLocks/>
                </p:cNvGrpSpPr>
                <p:nvPr/>
              </p:nvGrpSpPr>
              <p:grpSpPr bwMode="auto">
                <a:xfrm>
                  <a:off x="8503" y="2634"/>
                  <a:ext cx="2448" cy="510"/>
                  <a:chOff x="2877" y="7278"/>
                  <a:chExt cx="2448" cy="510"/>
                </a:xfrm>
              </p:grpSpPr>
              <p:sp>
                <p:nvSpPr>
                  <p:cNvPr id="11297" name="Rectangle 85"/>
                  <p:cNvSpPr>
                    <a:spLocks noChangeArrowheads="1"/>
                  </p:cNvSpPr>
                  <p:nvPr/>
                </p:nvSpPr>
                <p:spPr bwMode="auto">
                  <a:xfrm>
                    <a:off x="2877" y="7278"/>
                    <a:ext cx="2448" cy="510"/>
                  </a:xfrm>
                  <a:prstGeom prst="rect">
                    <a:avLst/>
                  </a:prstGeom>
                  <a:solidFill>
                    <a:srgbClr val="FFFFFF"/>
                  </a:solidFill>
                  <a:ln w="19050">
                    <a:solidFill>
                      <a:srgbClr val="000000"/>
                    </a:solidFill>
                    <a:miter lim="800000"/>
                    <a:headEnd/>
                    <a:tailEnd/>
                  </a:ln>
                </p:spPr>
                <p:txBody>
                  <a:bodyPr/>
                  <a:lstStyle/>
                  <a:p>
                    <a:endParaRPr lang="zh-CN" altLang="en-US" sz="2000"/>
                  </a:p>
                </p:txBody>
              </p:sp>
              <p:sp>
                <p:nvSpPr>
                  <p:cNvPr id="11298" name="Line 86"/>
                  <p:cNvSpPr>
                    <a:spLocks noChangeShapeType="1"/>
                  </p:cNvSpPr>
                  <p:nvPr/>
                </p:nvSpPr>
                <p:spPr bwMode="auto">
                  <a:xfrm>
                    <a:off x="3405" y="7278"/>
                    <a:ext cx="0" cy="510"/>
                  </a:xfrm>
                  <a:prstGeom prst="line">
                    <a:avLst/>
                  </a:prstGeom>
                  <a:noFill/>
                  <a:ln w="19050">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sz="2000"/>
                  </a:p>
                </p:txBody>
              </p:sp>
              <p:sp>
                <p:nvSpPr>
                  <p:cNvPr id="11299" name="Line 87"/>
                  <p:cNvSpPr>
                    <a:spLocks noChangeShapeType="1"/>
                  </p:cNvSpPr>
                  <p:nvPr/>
                </p:nvSpPr>
                <p:spPr bwMode="auto">
                  <a:xfrm>
                    <a:off x="4391" y="7278"/>
                    <a:ext cx="0" cy="510"/>
                  </a:xfrm>
                  <a:prstGeom prst="line">
                    <a:avLst/>
                  </a:prstGeom>
                  <a:noFill/>
                  <a:ln w="19050">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sz="2000"/>
                  </a:p>
                </p:txBody>
              </p:sp>
            </p:grpSp>
            <p:sp>
              <p:nvSpPr>
                <p:cNvPr id="11290" name="WordArt 88"/>
                <p:cNvSpPr>
                  <a:spLocks noChangeArrowheads="1" noChangeShapeType="1" noTextEdit="1"/>
                </p:cNvSpPr>
                <p:nvPr/>
              </p:nvSpPr>
              <p:spPr bwMode="auto">
                <a:xfrm>
                  <a:off x="10321" y="2757"/>
                  <a:ext cx="224" cy="270"/>
                </a:xfrm>
                <a:prstGeom prst="rect">
                  <a:avLst/>
                </a:prstGeom>
              </p:spPr>
              <p:txBody>
                <a:bodyPr wrap="none" fromWordArt="1">
                  <a:prstTxWarp prst="textPlain">
                    <a:avLst>
                      <a:gd name="adj" fmla="val 50000"/>
                    </a:avLst>
                  </a:prstTxWarp>
                </a:bodyPr>
                <a:lstStyle/>
                <a:p>
                  <a:r>
                    <a:rPr lang="en-US" altLang="zh-CN" sz="2000" b="1" i="1" kern="10">
                      <a:ln w="19050">
                        <a:solidFill>
                          <a:srgbClr val="000000"/>
                        </a:solidFill>
                        <a:round/>
                        <a:headEnd/>
                        <a:tailEnd/>
                      </a:ln>
                      <a:solidFill>
                        <a:srgbClr val="000000"/>
                      </a:solidFill>
                      <a:latin typeface="宋体"/>
                      <a:ea typeface="宋体"/>
                    </a:rPr>
                    <a:t>A</a:t>
                  </a:r>
                  <a:endParaRPr lang="zh-CN" altLang="en-US" sz="2000" b="1" i="1" kern="10">
                    <a:ln w="19050">
                      <a:solidFill>
                        <a:srgbClr val="000000"/>
                      </a:solidFill>
                      <a:round/>
                      <a:headEnd/>
                      <a:tailEnd/>
                    </a:ln>
                    <a:solidFill>
                      <a:srgbClr val="000000"/>
                    </a:solidFill>
                    <a:latin typeface="宋体"/>
                    <a:ea typeface="宋体"/>
                  </a:endParaRPr>
                </a:p>
              </p:txBody>
            </p:sp>
            <p:grpSp>
              <p:nvGrpSpPr>
                <p:cNvPr id="11291" name="Group 89"/>
                <p:cNvGrpSpPr>
                  <a:grpSpLocks/>
                </p:cNvGrpSpPr>
                <p:nvPr/>
              </p:nvGrpSpPr>
              <p:grpSpPr bwMode="auto">
                <a:xfrm>
                  <a:off x="8579" y="2751"/>
                  <a:ext cx="330" cy="330"/>
                  <a:chOff x="839" y="1665"/>
                  <a:chExt cx="330" cy="330"/>
                </a:xfrm>
              </p:grpSpPr>
              <p:sp>
                <p:nvSpPr>
                  <p:cNvPr id="11295" name="Oval 90"/>
                  <p:cNvSpPr>
                    <a:spLocks noChangeArrowheads="1"/>
                  </p:cNvSpPr>
                  <p:nvPr/>
                </p:nvSpPr>
                <p:spPr bwMode="auto">
                  <a:xfrm>
                    <a:off x="839" y="1665"/>
                    <a:ext cx="330" cy="330"/>
                  </a:xfrm>
                  <a:prstGeom prst="ellipse">
                    <a:avLst/>
                  </a:prstGeom>
                  <a:solidFill>
                    <a:srgbClr val="FFFFFF"/>
                  </a:solidFill>
                  <a:ln w="19050">
                    <a:solidFill>
                      <a:srgbClr val="000000"/>
                    </a:solidFill>
                    <a:round/>
                    <a:headEnd/>
                    <a:tailEnd/>
                  </a:ln>
                </p:spPr>
                <p:txBody>
                  <a:bodyPr/>
                  <a:lstStyle/>
                  <a:p>
                    <a:endParaRPr lang="zh-CN" altLang="en-US" sz="2000"/>
                  </a:p>
                </p:txBody>
              </p:sp>
              <p:sp>
                <p:nvSpPr>
                  <p:cNvPr id="11296" name="Oval 91"/>
                  <p:cNvSpPr>
                    <a:spLocks noChangeArrowheads="1"/>
                  </p:cNvSpPr>
                  <p:nvPr/>
                </p:nvSpPr>
                <p:spPr bwMode="auto">
                  <a:xfrm>
                    <a:off x="899" y="1725"/>
                    <a:ext cx="210" cy="210"/>
                  </a:xfrm>
                  <a:prstGeom prst="ellipse">
                    <a:avLst/>
                  </a:prstGeom>
                  <a:solidFill>
                    <a:srgbClr val="FFFFFF"/>
                  </a:solidFill>
                  <a:ln w="19050">
                    <a:solidFill>
                      <a:srgbClr val="000000"/>
                    </a:solidFill>
                    <a:round/>
                    <a:headEnd/>
                    <a:tailEnd/>
                  </a:ln>
                </p:spPr>
                <p:txBody>
                  <a:bodyPr/>
                  <a:lstStyle/>
                  <a:p>
                    <a:endParaRPr lang="zh-CN" altLang="en-US" sz="2000"/>
                  </a:p>
                </p:txBody>
              </p:sp>
            </p:grpSp>
            <p:grpSp>
              <p:nvGrpSpPr>
                <p:cNvPr id="11292" name="Group 92"/>
                <p:cNvGrpSpPr>
                  <a:grpSpLocks/>
                </p:cNvGrpSpPr>
                <p:nvPr/>
              </p:nvGrpSpPr>
              <p:grpSpPr bwMode="auto">
                <a:xfrm>
                  <a:off x="9089" y="2751"/>
                  <a:ext cx="840" cy="284"/>
                  <a:chOff x="9089" y="1206"/>
                  <a:chExt cx="840" cy="284"/>
                </a:xfrm>
              </p:grpSpPr>
              <p:sp>
                <p:nvSpPr>
                  <p:cNvPr id="11293" name="WordArt 93"/>
                  <p:cNvSpPr>
                    <a:spLocks noChangeArrowheads="1" noChangeShapeType="1" noTextEdit="1"/>
                  </p:cNvSpPr>
                  <p:nvPr/>
                </p:nvSpPr>
                <p:spPr bwMode="auto">
                  <a:xfrm>
                    <a:off x="9089" y="1206"/>
                    <a:ext cx="284" cy="284"/>
                  </a:xfrm>
                  <a:prstGeom prst="rect">
                    <a:avLst/>
                  </a:prstGeom>
                </p:spPr>
                <p:txBody>
                  <a:bodyPr wrap="none" fromWordArt="1">
                    <a:prstTxWarp prst="textPlain">
                      <a:avLst>
                        <a:gd name="adj" fmla="val 50000"/>
                      </a:avLst>
                    </a:prstTxWarp>
                  </a:bodyPr>
                  <a:lstStyle/>
                  <a:p>
                    <a:r>
                      <a:rPr lang="az-Cyrl-AZ" altLang="zh-CN" sz="2000" i="1" kern="10">
                        <a:ln w="19050">
                          <a:solidFill>
                            <a:srgbClr val="000000"/>
                          </a:solidFill>
                          <a:round/>
                          <a:headEnd/>
                          <a:tailEnd/>
                        </a:ln>
                        <a:solidFill>
                          <a:srgbClr val="000000"/>
                        </a:solidFill>
                        <a:latin typeface="Times New Roman"/>
                        <a:cs typeface="Times New Roman"/>
                      </a:rPr>
                      <a:t>Ф</a:t>
                    </a:r>
                    <a:endParaRPr lang="zh-CN" altLang="en-US" sz="2000" i="1" kern="10">
                      <a:ln w="19050">
                        <a:solidFill>
                          <a:srgbClr val="000000"/>
                        </a:solidFill>
                        <a:round/>
                        <a:headEnd/>
                        <a:tailEnd/>
                      </a:ln>
                      <a:solidFill>
                        <a:srgbClr val="000000"/>
                      </a:solidFill>
                      <a:latin typeface="Times New Roman"/>
                      <a:cs typeface="Times New Roman"/>
                    </a:endParaRPr>
                  </a:p>
                </p:txBody>
              </p:sp>
              <p:sp>
                <p:nvSpPr>
                  <p:cNvPr id="11294" name="WordArt 94"/>
                  <p:cNvSpPr>
                    <a:spLocks noChangeArrowheads="1" noChangeShapeType="1" noTextEdit="1"/>
                  </p:cNvSpPr>
                  <p:nvPr/>
                </p:nvSpPr>
                <p:spPr bwMode="auto">
                  <a:xfrm>
                    <a:off x="9435" y="1213"/>
                    <a:ext cx="494" cy="270"/>
                  </a:xfrm>
                  <a:prstGeom prst="rect">
                    <a:avLst/>
                  </a:prstGeom>
                </p:spPr>
                <p:txBody>
                  <a:bodyPr wrap="none" fromWordArt="1">
                    <a:prstTxWarp prst="textPlain">
                      <a:avLst>
                        <a:gd name="adj" fmla="val 50000"/>
                      </a:avLst>
                    </a:prstTxWarp>
                  </a:bodyPr>
                  <a:lstStyle/>
                  <a:p>
                    <a:r>
                      <a:rPr lang="en-US" altLang="zh-CN" sz="2000" kern="10">
                        <a:ln w="19050">
                          <a:solidFill>
                            <a:srgbClr val="000000"/>
                          </a:solidFill>
                          <a:round/>
                          <a:headEnd/>
                          <a:tailEnd/>
                        </a:ln>
                        <a:solidFill>
                          <a:srgbClr val="000000"/>
                        </a:solidFill>
                        <a:latin typeface="宋体"/>
                        <a:ea typeface="宋体"/>
                      </a:rPr>
                      <a:t>0.03</a:t>
                    </a:r>
                    <a:endParaRPr lang="zh-CN" altLang="en-US" sz="2000" kern="10">
                      <a:ln w="19050">
                        <a:solidFill>
                          <a:srgbClr val="000000"/>
                        </a:solidFill>
                        <a:round/>
                        <a:headEnd/>
                        <a:tailEnd/>
                      </a:ln>
                      <a:solidFill>
                        <a:srgbClr val="000000"/>
                      </a:solidFill>
                      <a:latin typeface="宋体"/>
                      <a:ea typeface="宋体"/>
                    </a:endParaRPr>
                  </a:p>
                </p:txBody>
              </p:sp>
            </p:grpSp>
          </p:grpSp>
          <p:sp>
            <p:nvSpPr>
              <p:cNvPr id="11287" name="Line 95"/>
              <p:cNvSpPr>
                <a:spLocks noChangeShapeType="1"/>
              </p:cNvSpPr>
              <p:nvPr/>
            </p:nvSpPr>
            <p:spPr bwMode="auto">
              <a:xfrm>
                <a:off x="3024" y="2835"/>
                <a:ext cx="0" cy="837"/>
              </a:xfrm>
              <a:prstGeom prst="line">
                <a:avLst/>
              </a:prstGeom>
              <a:noFill/>
              <a:ln w="1905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288" name="Line 96"/>
              <p:cNvSpPr>
                <a:spLocks noChangeShapeType="1"/>
              </p:cNvSpPr>
              <p:nvPr/>
            </p:nvSpPr>
            <p:spPr bwMode="auto">
              <a:xfrm>
                <a:off x="3024" y="3663"/>
                <a:ext cx="243"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grpSp>
          <p:nvGrpSpPr>
            <p:cNvPr id="11274" name="Group 107"/>
            <p:cNvGrpSpPr>
              <a:grpSpLocks/>
            </p:cNvGrpSpPr>
            <p:nvPr/>
          </p:nvGrpSpPr>
          <p:grpSpPr bwMode="auto">
            <a:xfrm>
              <a:off x="3784" y="3099"/>
              <a:ext cx="305" cy="519"/>
              <a:chOff x="3784" y="3099"/>
              <a:chExt cx="305" cy="519"/>
            </a:xfrm>
          </p:grpSpPr>
          <p:sp>
            <p:nvSpPr>
              <p:cNvPr id="11275" name="Rectangle 101"/>
              <p:cNvSpPr>
                <a:spLocks noChangeArrowheads="1"/>
              </p:cNvSpPr>
              <p:nvPr/>
            </p:nvSpPr>
            <p:spPr bwMode="auto">
              <a:xfrm>
                <a:off x="3784" y="3116"/>
                <a:ext cx="242" cy="300"/>
              </a:xfrm>
              <a:prstGeom prst="rect">
                <a:avLst/>
              </a:prstGeom>
              <a:solidFill>
                <a:schemeClr val="bg1"/>
              </a:solidFill>
              <a:ln w="9525">
                <a:solidFill>
                  <a:schemeClr val="bg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nvGrpSpPr>
              <p:cNvPr id="11276" name="Group 102"/>
              <p:cNvGrpSpPr>
                <a:grpSpLocks/>
              </p:cNvGrpSpPr>
              <p:nvPr/>
            </p:nvGrpSpPr>
            <p:grpSpPr bwMode="auto">
              <a:xfrm>
                <a:off x="3791" y="3105"/>
                <a:ext cx="239" cy="513"/>
                <a:chOff x="4977" y="893"/>
                <a:chExt cx="239" cy="513"/>
              </a:xfrm>
            </p:grpSpPr>
            <p:sp>
              <p:nvSpPr>
                <p:cNvPr id="11278" name="AutoShape 103"/>
                <p:cNvSpPr>
                  <a:spLocks noChangeArrowheads="1"/>
                </p:cNvSpPr>
                <p:nvPr/>
              </p:nvSpPr>
              <p:spPr bwMode="auto">
                <a:xfrm flipV="1">
                  <a:off x="4977" y="893"/>
                  <a:ext cx="239" cy="207"/>
                </a:xfrm>
                <a:prstGeom prst="triangle">
                  <a:avLst>
                    <a:gd name="adj" fmla="val 50000"/>
                  </a:avLst>
                </a:prstGeom>
                <a:solidFill>
                  <a:schemeClr val="tx2"/>
                </a:solidFill>
                <a:ln w="9525">
                  <a:solidFill>
                    <a:schemeClr val="tx2"/>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279" name="Line 104"/>
                <p:cNvSpPr>
                  <a:spLocks noChangeShapeType="1"/>
                </p:cNvSpPr>
                <p:nvPr/>
              </p:nvSpPr>
              <p:spPr bwMode="auto">
                <a:xfrm>
                  <a:off x="5103" y="1094"/>
                  <a:ext cx="0" cy="10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280" name="Rectangle 105"/>
                <p:cNvSpPr>
                  <a:spLocks noChangeArrowheads="1"/>
                </p:cNvSpPr>
                <p:nvPr/>
              </p:nvSpPr>
              <p:spPr bwMode="auto">
                <a:xfrm>
                  <a:off x="5000" y="1193"/>
                  <a:ext cx="213" cy="213"/>
                </a:xfrm>
                <a:prstGeom prst="rect">
                  <a:avLst/>
                </a:prstGeom>
                <a:noFill/>
                <a:ln w="12700">
                  <a:solidFill>
                    <a:schemeClr val="tx2"/>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i="1"/>
                    <a:t>A</a:t>
                  </a:r>
                </a:p>
              </p:txBody>
            </p:sp>
          </p:grpSp>
          <p:sp>
            <p:nvSpPr>
              <p:cNvPr id="11277" name="Line 106"/>
              <p:cNvSpPr>
                <a:spLocks noChangeShapeType="1"/>
              </p:cNvSpPr>
              <p:nvPr/>
            </p:nvSpPr>
            <p:spPr bwMode="auto">
              <a:xfrm>
                <a:off x="3991" y="3099"/>
                <a:ext cx="9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grpSp>
      <p:sp>
        <p:nvSpPr>
          <p:cNvPr id="7277" name="Rectangle 109"/>
          <p:cNvSpPr>
            <a:spLocks noChangeArrowheads="1"/>
          </p:cNvSpPr>
          <p:nvPr/>
        </p:nvSpPr>
        <p:spPr bwMode="auto">
          <a:xfrm>
            <a:off x="6577014" y="3415904"/>
            <a:ext cx="2244725" cy="57269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8575">
                <a:solidFill>
                  <a:srgbClr val="FF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cxnSp>
        <p:nvCxnSpPr>
          <p:cNvPr id="40" name="直接连接符 39">
            <a:extLst>
              <a:ext uri="{FF2B5EF4-FFF2-40B4-BE49-F238E27FC236}">
                <a16:creationId xmlns="" xmlns:a16="http://schemas.microsoft.com/office/drawing/2014/main" id="{23DAA096-F371-409A-8CB3-B4E7DCED66CE}"/>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170"/>
                                        </p:tgtEl>
                                        <p:attrNameLst>
                                          <p:attrName>style.visibility</p:attrName>
                                        </p:attrNameLst>
                                      </p:cBhvr>
                                      <p:to>
                                        <p:strVal val="visible"/>
                                      </p:to>
                                    </p:set>
                                    <p:animEffect transition="in" filter="wipe(left)">
                                      <p:cBhvr>
                                        <p:cTn id="7" dur="300"/>
                                        <p:tgtEl>
                                          <p:spTgt spid="7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171"/>
                                        </p:tgtEl>
                                        <p:attrNameLst>
                                          <p:attrName>style.visibility</p:attrName>
                                        </p:attrNameLst>
                                      </p:cBhvr>
                                      <p:to>
                                        <p:strVal val="visible"/>
                                      </p:to>
                                    </p:set>
                                    <p:animEffect transition="in" filter="wipe(left)">
                                      <p:cBhvr>
                                        <p:cTn id="12" dur="300"/>
                                        <p:tgtEl>
                                          <p:spTgt spid="71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7276"/>
                                        </p:tgtEl>
                                        <p:attrNameLst>
                                          <p:attrName>style.visibility</p:attrName>
                                        </p:attrNameLst>
                                      </p:cBhvr>
                                      <p:to>
                                        <p:strVal val="visible"/>
                                      </p:to>
                                    </p:set>
                                    <p:anim calcmode="lin" valueType="num">
                                      <p:cBhvr additive="base">
                                        <p:cTn id="17" dur="500" fill="hold"/>
                                        <p:tgtEl>
                                          <p:spTgt spid="7276"/>
                                        </p:tgtEl>
                                        <p:attrNameLst>
                                          <p:attrName>ppt_x</p:attrName>
                                        </p:attrNameLst>
                                      </p:cBhvr>
                                      <p:tavLst>
                                        <p:tav tm="0">
                                          <p:val>
                                            <p:strVal val="1+#ppt_w/2"/>
                                          </p:val>
                                        </p:tav>
                                        <p:tav tm="100000">
                                          <p:val>
                                            <p:strVal val="#ppt_x"/>
                                          </p:val>
                                        </p:tav>
                                      </p:tavLst>
                                    </p:anim>
                                    <p:anim calcmode="lin" valueType="num">
                                      <p:cBhvr additive="base">
                                        <p:cTn id="18" dur="500" fill="hold"/>
                                        <p:tgtEl>
                                          <p:spTgt spid="727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239"/>
                                        </p:tgtEl>
                                        <p:attrNameLst>
                                          <p:attrName>style.visibility</p:attrName>
                                        </p:attrNameLst>
                                      </p:cBhvr>
                                      <p:to>
                                        <p:strVal val="visible"/>
                                      </p:to>
                                    </p:set>
                                    <p:animEffect transition="in" filter="wipe(left)">
                                      <p:cBhvr>
                                        <p:cTn id="23" dur="300"/>
                                        <p:tgtEl>
                                          <p:spTgt spid="72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42" fill="hold" grpId="0" nodeType="clickEffect" nodePh="1">
                                  <p:stCondLst>
                                    <p:cond delay="0"/>
                                  </p:stCondLst>
                                  <p:endCondLst>
                                    <p:cond evt="begin" delay="0">
                                      <p:tn val="26"/>
                                    </p:cond>
                                  </p:endCondLst>
                                  <p:childTnLst>
                                    <p:set>
                                      <p:cBhvr>
                                        <p:cTn id="27" dur="1" fill="hold">
                                          <p:stCondLst>
                                            <p:cond delay="0"/>
                                          </p:stCondLst>
                                        </p:cTn>
                                        <p:tgtEl>
                                          <p:spTgt spid="7277"/>
                                        </p:tgtEl>
                                        <p:attrNameLst>
                                          <p:attrName>style.visibility</p:attrName>
                                        </p:attrNameLst>
                                      </p:cBhvr>
                                      <p:to>
                                        <p:strVal val="visible"/>
                                      </p:to>
                                    </p:set>
                                    <p:animEffect transition="in" filter="barn(outHorizontal)">
                                      <p:cBhvr>
                                        <p:cTn id="28" dur="500"/>
                                        <p:tgtEl>
                                          <p:spTgt spid="7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71" grpId="0" autoUpdateAnimBg="0"/>
      <p:bldP spid="7239" grpId="0" autoUpdateAnimBg="0"/>
      <p:bldP spid="727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2A9D00B-5E45-4959-A2E6-7D562D51CD29}" type="slidenum">
              <a:rPr kumimoji="0" lang="zh-CN" altLang="en-US" sz="2000" smtClean="0">
                <a:solidFill>
                  <a:srgbClr val="0000FF"/>
                </a:solidFill>
              </a:rPr>
              <a:pPr eaLnBrk="1" hangingPunct="1"/>
              <a:t>10</a:t>
            </a:fld>
            <a:endParaRPr kumimoji="0" lang="en-US" altLang="zh-CN" sz="2000">
              <a:solidFill>
                <a:srgbClr val="0000FF"/>
              </a:solidFill>
            </a:endParaRPr>
          </a:p>
        </p:txBody>
      </p:sp>
      <p:sp>
        <p:nvSpPr>
          <p:cNvPr id="60420" name="Text Box 4"/>
          <p:cNvSpPr txBox="1">
            <a:spLocks noChangeArrowheads="1"/>
          </p:cNvSpPr>
          <p:nvPr/>
        </p:nvSpPr>
        <p:spPr bwMode="auto">
          <a:xfrm>
            <a:off x="387350" y="150156"/>
            <a:ext cx="59309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2.  </a:t>
            </a:r>
            <a:r>
              <a:rPr lang="zh-CN" altLang="en-US" b="1" dirty="0">
                <a:solidFill>
                  <a:srgbClr val="FF3300"/>
                </a:solidFill>
                <a:latin typeface="宋体" pitchFamily="2" charset="-122"/>
              </a:rPr>
              <a:t>注出</a:t>
            </a:r>
            <a:r>
              <a:rPr lang="zh-CN" altLang="en-US" b="1" dirty="0">
                <a:latin typeface="宋体" pitchFamily="2" charset="-122"/>
              </a:rPr>
              <a:t>几何公差值的规定</a:t>
            </a:r>
            <a:r>
              <a:rPr lang="zh-CN" altLang="en-US" b="1" dirty="0"/>
              <a:t> </a:t>
            </a:r>
          </a:p>
        </p:txBody>
      </p:sp>
      <p:sp>
        <p:nvSpPr>
          <p:cNvPr id="60421" name="Text Box 5"/>
          <p:cNvSpPr txBox="1">
            <a:spLocks noChangeArrowheads="1"/>
          </p:cNvSpPr>
          <p:nvPr/>
        </p:nvSpPr>
        <p:spPr bwMode="auto">
          <a:xfrm>
            <a:off x="426013" y="624701"/>
            <a:ext cx="829945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注出几何公差值由被测要素的</a:t>
            </a:r>
            <a:r>
              <a:rPr lang="zh-CN" altLang="en-US" sz="2000" b="1" dirty="0">
                <a:solidFill>
                  <a:srgbClr val="FF0000"/>
                </a:solidFill>
              </a:rPr>
              <a:t>公差等级</a:t>
            </a:r>
            <a:r>
              <a:rPr lang="zh-CN" altLang="en-US" sz="2000" b="1" dirty="0"/>
              <a:t>和</a:t>
            </a:r>
            <a:r>
              <a:rPr lang="zh-CN" altLang="en-US" sz="2000" b="1" dirty="0">
                <a:solidFill>
                  <a:srgbClr val="FF0000"/>
                </a:solidFill>
              </a:rPr>
              <a:t>主参数</a:t>
            </a:r>
            <a:r>
              <a:rPr lang="zh-CN" altLang="en-US" sz="2000" b="1" dirty="0"/>
              <a:t>确定。</a:t>
            </a:r>
          </a:p>
        </p:txBody>
      </p:sp>
      <p:sp>
        <p:nvSpPr>
          <p:cNvPr id="60422" name="Text Box 6"/>
          <p:cNvSpPr txBox="1">
            <a:spLocks noChangeArrowheads="1"/>
          </p:cNvSpPr>
          <p:nvPr/>
        </p:nvSpPr>
        <p:spPr bwMode="auto">
          <a:xfrm>
            <a:off x="337013" y="2905607"/>
            <a:ext cx="375920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（2）</a:t>
            </a:r>
            <a:r>
              <a:rPr lang="zh-CN" altLang="en-US" sz="2000" b="1" dirty="0">
                <a:latin typeface="宋体" pitchFamily="2" charset="-122"/>
              </a:rPr>
              <a:t>主参数</a:t>
            </a:r>
            <a:endParaRPr lang="en-US" altLang="zh-CN" sz="2000" b="1" dirty="0">
              <a:latin typeface="宋体" pitchFamily="2" charset="-122"/>
            </a:endParaRPr>
          </a:p>
        </p:txBody>
      </p:sp>
      <p:sp>
        <p:nvSpPr>
          <p:cNvPr id="60425" name="Text Box 9"/>
          <p:cNvSpPr txBox="1">
            <a:spLocks noChangeArrowheads="1"/>
          </p:cNvSpPr>
          <p:nvPr/>
        </p:nvSpPr>
        <p:spPr bwMode="auto">
          <a:xfrm>
            <a:off x="579807" y="1399026"/>
            <a:ext cx="6926363"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圆度、圆柱度： 0、1、2、…、12 共 </a:t>
            </a:r>
            <a:r>
              <a:rPr lang="zh-CN" altLang="en-US" sz="2000" b="1" dirty="0">
                <a:solidFill>
                  <a:srgbClr val="FF3300"/>
                </a:solidFill>
              </a:rPr>
              <a:t>13</a:t>
            </a:r>
            <a:r>
              <a:rPr lang="zh-CN" altLang="en-US" sz="2000" b="1" dirty="0"/>
              <a:t>个 等级；</a:t>
            </a:r>
          </a:p>
        </p:txBody>
      </p:sp>
      <p:sp>
        <p:nvSpPr>
          <p:cNvPr id="60428" name="Text Box 12"/>
          <p:cNvSpPr txBox="1">
            <a:spLocks noChangeArrowheads="1"/>
          </p:cNvSpPr>
          <p:nvPr/>
        </p:nvSpPr>
        <p:spPr bwMode="auto">
          <a:xfrm>
            <a:off x="561682" y="2527414"/>
            <a:ext cx="435610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常用公差等级为  </a:t>
            </a:r>
            <a:r>
              <a:rPr lang="zh-CN" altLang="en-US" sz="2000" b="1" dirty="0">
                <a:solidFill>
                  <a:srgbClr val="FF3300"/>
                </a:solidFill>
              </a:rPr>
              <a:t>4 </a:t>
            </a:r>
            <a:r>
              <a:rPr lang="en-US" altLang="zh-CN" sz="2000" b="1" dirty="0">
                <a:solidFill>
                  <a:srgbClr val="FF3300"/>
                </a:solidFill>
                <a:cs typeface="Times New Roman" pitchFamily="18" charset="0"/>
              </a:rPr>
              <a:t>—8</a:t>
            </a:r>
            <a:r>
              <a:rPr lang="en-US" altLang="zh-CN" sz="2000" b="1" dirty="0">
                <a:cs typeface="Times New Roman" pitchFamily="18" charset="0"/>
              </a:rPr>
              <a:t> </a:t>
            </a:r>
            <a:r>
              <a:rPr lang="zh-CN" altLang="en-US" sz="2000" b="1" dirty="0"/>
              <a:t>级。</a:t>
            </a:r>
          </a:p>
        </p:txBody>
      </p:sp>
      <p:sp>
        <p:nvSpPr>
          <p:cNvPr id="60429" name="Text Box 13"/>
          <p:cNvSpPr txBox="1">
            <a:spLocks noChangeArrowheads="1"/>
          </p:cNvSpPr>
          <p:nvPr/>
        </p:nvSpPr>
        <p:spPr bwMode="auto">
          <a:xfrm>
            <a:off x="687388" y="3288220"/>
            <a:ext cx="3482975"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en-US" altLang="zh-CN" sz="2000" b="1" i="1" dirty="0">
                <a:solidFill>
                  <a:srgbClr val="FF3300"/>
                </a:solidFill>
              </a:rPr>
              <a:t>d  </a:t>
            </a:r>
            <a:r>
              <a:rPr lang="en-US" altLang="zh-CN" sz="2000" b="1" dirty="0">
                <a:solidFill>
                  <a:srgbClr val="FF3300"/>
                </a:solidFill>
              </a:rPr>
              <a:t>( </a:t>
            </a:r>
            <a:r>
              <a:rPr lang="en-US" altLang="zh-CN" sz="2000" b="1" i="1" dirty="0">
                <a:solidFill>
                  <a:srgbClr val="FF3300"/>
                </a:solidFill>
              </a:rPr>
              <a:t>D </a:t>
            </a:r>
            <a:r>
              <a:rPr lang="en-US" altLang="zh-CN" sz="2000" b="1" dirty="0">
                <a:solidFill>
                  <a:srgbClr val="FF3300"/>
                </a:solidFill>
              </a:rPr>
              <a:t>) 、</a:t>
            </a:r>
            <a:r>
              <a:rPr lang="en-US" altLang="zh-CN" sz="2000" b="1" i="1" dirty="0" smtClean="0">
                <a:solidFill>
                  <a:srgbClr val="FF3300"/>
                </a:solidFill>
              </a:rPr>
              <a:t>L</a:t>
            </a:r>
            <a:r>
              <a:rPr lang="en-US" altLang="zh-CN" sz="2000" b="1" dirty="0" smtClean="0">
                <a:solidFill>
                  <a:srgbClr val="FF3300"/>
                </a:solidFill>
              </a:rPr>
              <a:t>(</a:t>
            </a:r>
            <a:r>
              <a:rPr lang="en-US" altLang="zh-CN" sz="2000" b="1" i="1" dirty="0" smtClean="0">
                <a:solidFill>
                  <a:srgbClr val="FF3300"/>
                </a:solidFill>
                <a:latin typeface="Batang" pitchFamily="18" charset="-127"/>
                <a:ea typeface="Batang" pitchFamily="18" charset="-127"/>
              </a:rPr>
              <a:t>l</a:t>
            </a:r>
            <a:r>
              <a:rPr lang="en-US" altLang="zh-CN" sz="2000" b="1" dirty="0" smtClean="0">
                <a:solidFill>
                  <a:srgbClr val="FF3300"/>
                </a:solidFill>
              </a:rPr>
              <a:t>)、</a:t>
            </a:r>
            <a:r>
              <a:rPr lang="en-US" altLang="zh-CN" sz="2000" b="1" i="1" dirty="0">
                <a:solidFill>
                  <a:srgbClr val="FF3300"/>
                </a:solidFill>
              </a:rPr>
              <a:t>B。</a:t>
            </a:r>
          </a:p>
        </p:txBody>
      </p:sp>
      <p:sp>
        <p:nvSpPr>
          <p:cNvPr id="60430" name="Text Box 14"/>
          <p:cNvSpPr txBox="1">
            <a:spLocks noChangeArrowheads="1"/>
          </p:cNvSpPr>
          <p:nvPr/>
        </p:nvSpPr>
        <p:spPr bwMode="auto">
          <a:xfrm>
            <a:off x="559170" y="2149109"/>
            <a:ext cx="6727081"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其中 </a:t>
            </a:r>
            <a:r>
              <a:rPr lang="zh-CN" altLang="en-US" sz="2000" b="1" dirty="0">
                <a:solidFill>
                  <a:srgbClr val="FF3300"/>
                </a:solidFill>
              </a:rPr>
              <a:t>0</a:t>
            </a:r>
            <a:r>
              <a:rPr lang="zh-CN" altLang="en-US" sz="2000" b="1" dirty="0"/>
              <a:t> 级精度最高，此后依次降低，</a:t>
            </a:r>
            <a:r>
              <a:rPr lang="zh-CN" altLang="en-US" sz="2000" b="1" dirty="0">
                <a:solidFill>
                  <a:srgbClr val="FF3300"/>
                </a:solidFill>
              </a:rPr>
              <a:t>12</a:t>
            </a:r>
            <a:r>
              <a:rPr lang="zh-CN" altLang="en-US" sz="2000" b="1" dirty="0"/>
              <a:t> 级最低。</a:t>
            </a:r>
          </a:p>
        </p:txBody>
      </p:sp>
      <p:sp>
        <p:nvSpPr>
          <p:cNvPr id="60431" name="Text Box 15"/>
          <p:cNvSpPr txBox="1">
            <a:spLocks noChangeArrowheads="1"/>
          </p:cNvSpPr>
          <p:nvPr/>
        </p:nvSpPr>
        <p:spPr bwMode="auto">
          <a:xfrm>
            <a:off x="589332" y="1777604"/>
            <a:ext cx="5747795"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其余</a:t>
            </a:r>
            <a:r>
              <a:rPr lang="en-US" altLang="zh-CN" sz="2000" b="1" dirty="0"/>
              <a:t>:   </a:t>
            </a:r>
            <a:r>
              <a:rPr lang="zh-CN" altLang="en-US" sz="2000" b="1" dirty="0"/>
              <a:t>1、2、…、12 共 </a:t>
            </a:r>
            <a:r>
              <a:rPr lang="zh-CN" altLang="en-US" sz="2000" b="1" dirty="0">
                <a:solidFill>
                  <a:srgbClr val="FF3300"/>
                </a:solidFill>
              </a:rPr>
              <a:t>12 个等级；</a:t>
            </a:r>
            <a:r>
              <a:rPr lang="en-US" altLang="zh-CN" sz="2000" b="1" dirty="0"/>
              <a:t> </a:t>
            </a:r>
          </a:p>
        </p:txBody>
      </p:sp>
      <p:sp>
        <p:nvSpPr>
          <p:cNvPr id="60443" name="Text Box 27"/>
          <p:cNvSpPr txBox="1">
            <a:spLocks noChangeArrowheads="1"/>
          </p:cNvSpPr>
          <p:nvPr/>
        </p:nvSpPr>
        <p:spPr bwMode="auto">
          <a:xfrm>
            <a:off x="472522" y="3742316"/>
            <a:ext cx="3860800"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图中圆度公差</a:t>
            </a:r>
            <a:r>
              <a:rPr lang="zh-CN" altLang="en-US" sz="2000" b="1" dirty="0">
                <a:latin typeface="宋体" pitchFamily="2" charset="-122"/>
              </a:rPr>
              <a:t>主参数为</a:t>
            </a:r>
            <a:r>
              <a:rPr lang="zh-CN" altLang="en-US" sz="2000" b="1" dirty="0"/>
              <a:t> </a:t>
            </a:r>
            <a:r>
              <a:rPr lang="en-US" altLang="zh-CN" sz="2000" b="1" i="1" dirty="0"/>
              <a:t>d</a:t>
            </a:r>
            <a:r>
              <a:rPr lang="en-US" altLang="zh-CN" sz="2000" b="1" dirty="0"/>
              <a:t>, </a:t>
            </a:r>
            <a:r>
              <a:rPr lang="zh-CN" altLang="en-US" sz="2000" b="1" dirty="0"/>
              <a:t>直线度为</a:t>
            </a:r>
            <a:r>
              <a:rPr lang="en-US" altLang="zh-CN" sz="2000" b="1" i="1" dirty="0"/>
              <a:t>l</a:t>
            </a:r>
            <a:r>
              <a:rPr lang="en-US" altLang="zh-CN" sz="2000" b="1" dirty="0"/>
              <a:t>。</a:t>
            </a:r>
            <a:endParaRPr lang="zh-CN" altLang="en-US" sz="2000" b="1" dirty="0"/>
          </a:p>
        </p:txBody>
      </p:sp>
      <p:sp>
        <p:nvSpPr>
          <p:cNvPr id="60457" name="Text Box 41"/>
          <p:cNvSpPr txBox="1">
            <a:spLocks noChangeArrowheads="1"/>
          </p:cNvSpPr>
          <p:nvPr/>
        </p:nvSpPr>
        <p:spPr bwMode="auto">
          <a:xfrm>
            <a:off x="313863" y="1025099"/>
            <a:ext cx="354806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（1）公差等级 </a:t>
            </a:r>
          </a:p>
        </p:txBody>
      </p:sp>
      <p:grpSp>
        <p:nvGrpSpPr>
          <p:cNvPr id="7" name="组合 6"/>
          <p:cNvGrpSpPr>
            <a:grpSpLocks/>
          </p:cNvGrpSpPr>
          <p:nvPr/>
        </p:nvGrpSpPr>
        <p:grpSpPr bwMode="auto">
          <a:xfrm>
            <a:off x="4544907" y="2479039"/>
            <a:ext cx="3948854" cy="2460457"/>
            <a:chOff x="4486267" y="3567747"/>
            <a:chExt cx="4100170" cy="3104509"/>
          </a:xfrm>
        </p:grpSpPr>
        <p:pic>
          <p:nvPicPr>
            <p:cNvPr id="12302" name="Picture 27"/>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486267" y="3567747"/>
              <a:ext cx="4100170" cy="271875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12303" name="直接连接符 2"/>
            <p:cNvCxnSpPr>
              <a:cxnSpLocks noChangeShapeType="1"/>
            </p:cNvCxnSpPr>
            <p:nvPr/>
          </p:nvCxnSpPr>
          <p:spPr bwMode="auto">
            <a:xfrm>
              <a:off x="5257800" y="5957888"/>
              <a:ext cx="0" cy="700087"/>
            </a:xfrm>
            <a:prstGeom prst="line">
              <a:avLst/>
            </a:prstGeom>
            <a:noFill/>
            <a:ln w="9525" algn="ctr">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304" name="直接连接符 29"/>
            <p:cNvCxnSpPr>
              <a:cxnSpLocks noChangeShapeType="1"/>
            </p:cNvCxnSpPr>
            <p:nvPr/>
          </p:nvCxnSpPr>
          <p:spPr bwMode="auto">
            <a:xfrm>
              <a:off x="8386406" y="5972169"/>
              <a:ext cx="0" cy="700087"/>
            </a:xfrm>
            <a:prstGeom prst="line">
              <a:avLst/>
            </a:prstGeom>
            <a:noFill/>
            <a:ln w="9525" algn="ctr">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305" name="直接连接符 4"/>
            <p:cNvCxnSpPr>
              <a:cxnSpLocks noChangeShapeType="1"/>
            </p:cNvCxnSpPr>
            <p:nvPr/>
          </p:nvCxnSpPr>
          <p:spPr bwMode="auto">
            <a:xfrm>
              <a:off x="5279052" y="6472239"/>
              <a:ext cx="3128606" cy="0"/>
            </a:xfrm>
            <a:prstGeom prst="line">
              <a:avLst/>
            </a:prstGeom>
            <a:noFill/>
            <a:ln w="9525" algn="ctr">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2306" name="TextBox 5"/>
            <p:cNvSpPr txBox="1">
              <a:spLocks noChangeArrowheads="1"/>
            </p:cNvSpPr>
            <p:nvPr/>
          </p:nvSpPr>
          <p:spPr bwMode="auto">
            <a:xfrm>
              <a:off x="5986463" y="6069795"/>
              <a:ext cx="1465262" cy="5975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i="1">
                  <a:solidFill>
                    <a:srgbClr val="FF0000"/>
                  </a:solidFill>
                </a:rPr>
                <a:t>l</a:t>
              </a:r>
              <a:endParaRPr lang="zh-CN" altLang="en-US" b="1" i="1">
                <a:solidFill>
                  <a:srgbClr val="FF0000"/>
                </a:solidFill>
              </a:endParaRPr>
            </a:p>
          </p:txBody>
        </p:sp>
      </p:grpSp>
      <p:cxnSp>
        <p:nvCxnSpPr>
          <p:cNvPr id="19" name="直接连接符 18">
            <a:extLst>
              <a:ext uri="{FF2B5EF4-FFF2-40B4-BE49-F238E27FC236}">
                <a16:creationId xmlns="" xmlns:a16="http://schemas.microsoft.com/office/drawing/2014/main" id="{9265FF07-D97D-4088-BE51-041A240ED2B5}"/>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0420">
                                            <p:txEl>
                                              <p:pRg st="0" end="0"/>
                                            </p:txEl>
                                          </p:spTgt>
                                        </p:tgtEl>
                                        <p:attrNameLst>
                                          <p:attrName>style.visibility</p:attrName>
                                        </p:attrNameLst>
                                      </p:cBhvr>
                                      <p:to>
                                        <p:strVal val="visible"/>
                                      </p:to>
                                    </p:set>
                                    <p:animEffect transition="in" filter="wipe(left)">
                                      <p:cBhvr>
                                        <p:cTn id="7" dur="300"/>
                                        <p:tgtEl>
                                          <p:spTgt spid="604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0421">
                                            <p:txEl>
                                              <p:pRg st="0" end="0"/>
                                            </p:txEl>
                                          </p:spTgt>
                                        </p:tgtEl>
                                        <p:attrNameLst>
                                          <p:attrName>style.visibility</p:attrName>
                                        </p:attrNameLst>
                                      </p:cBhvr>
                                      <p:to>
                                        <p:strVal val="visible"/>
                                      </p:to>
                                    </p:set>
                                    <p:animEffect transition="in" filter="wipe(left)">
                                      <p:cBhvr>
                                        <p:cTn id="12" dur="300"/>
                                        <p:tgtEl>
                                          <p:spTgt spid="604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0457">
                                            <p:txEl>
                                              <p:pRg st="0" end="0"/>
                                            </p:txEl>
                                          </p:spTgt>
                                        </p:tgtEl>
                                        <p:attrNameLst>
                                          <p:attrName>style.visibility</p:attrName>
                                        </p:attrNameLst>
                                      </p:cBhvr>
                                      <p:to>
                                        <p:strVal val="visible"/>
                                      </p:to>
                                    </p:set>
                                    <p:animEffect transition="in" filter="wipe(left)">
                                      <p:cBhvr>
                                        <p:cTn id="17" dur="300"/>
                                        <p:tgtEl>
                                          <p:spTgt spid="6045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0425"/>
                                        </p:tgtEl>
                                        <p:attrNameLst>
                                          <p:attrName>style.visibility</p:attrName>
                                        </p:attrNameLst>
                                      </p:cBhvr>
                                      <p:to>
                                        <p:strVal val="visible"/>
                                      </p:to>
                                    </p:set>
                                    <p:animEffect transition="in" filter="wipe(left)">
                                      <p:cBhvr>
                                        <p:cTn id="22" dur="300"/>
                                        <p:tgtEl>
                                          <p:spTgt spid="604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60431"/>
                                        </p:tgtEl>
                                        <p:attrNameLst>
                                          <p:attrName>style.visibility</p:attrName>
                                        </p:attrNameLst>
                                      </p:cBhvr>
                                      <p:to>
                                        <p:strVal val="visible"/>
                                      </p:to>
                                    </p:set>
                                    <p:animEffect transition="in" filter="wipe(left)">
                                      <p:cBhvr>
                                        <p:cTn id="27" dur="300"/>
                                        <p:tgtEl>
                                          <p:spTgt spid="604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60430"/>
                                        </p:tgtEl>
                                        <p:attrNameLst>
                                          <p:attrName>style.visibility</p:attrName>
                                        </p:attrNameLst>
                                      </p:cBhvr>
                                      <p:to>
                                        <p:strVal val="visible"/>
                                      </p:to>
                                    </p:set>
                                    <p:animEffect transition="in" filter="wipe(left)">
                                      <p:cBhvr>
                                        <p:cTn id="32" dur="300"/>
                                        <p:tgtEl>
                                          <p:spTgt spid="604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60428"/>
                                        </p:tgtEl>
                                        <p:attrNameLst>
                                          <p:attrName>style.visibility</p:attrName>
                                        </p:attrNameLst>
                                      </p:cBhvr>
                                      <p:to>
                                        <p:strVal val="visible"/>
                                      </p:to>
                                    </p:set>
                                    <p:animEffect transition="in" filter="wipe(left)">
                                      <p:cBhvr>
                                        <p:cTn id="37" dur="300"/>
                                        <p:tgtEl>
                                          <p:spTgt spid="604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60422">
                                            <p:txEl>
                                              <p:pRg st="0" end="0"/>
                                            </p:txEl>
                                          </p:spTgt>
                                        </p:tgtEl>
                                        <p:attrNameLst>
                                          <p:attrName>style.visibility</p:attrName>
                                        </p:attrNameLst>
                                      </p:cBhvr>
                                      <p:to>
                                        <p:strVal val="visible"/>
                                      </p:to>
                                    </p:set>
                                    <p:animEffect transition="in" filter="wipe(left)">
                                      <p:cBhvr>
                                        <p:cTn id="42" dur="300"/>
                                        <p:tgtEl>
                                          <p:spTgt spid="60422">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1+#ppt_w/2"/>
                                          </p:val>
                                        </p:tav>
                                        <p:tav tm="100000">
                                          <p:val>
                                            <p:strVal val="#ppt_x"/>
                                          </p:val>
                                        </p:tav>
                                      </p:tavLst>
                                    </p:anim>
                                    <p:anim calcmode="lin" valueType="num">
                                      <p:cBhvr additive="base">
                                        <p:cTn id="4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60429"/>
                                        </p:tgtEl>
                                        <p:attrNameLst>
                                          <p:attrName>style.visibility</p:attrName>
                                        </p:attrNameLst>
                                      </p:cBhvr>
                                      <p:to>
                                        <p:strVal val="visible"/>
                                      </p:to>
                                    </p:set>
                                    <p:animEffect transition="in" filter="wipe(left)">
                                      <p:cBhvr>
                                        <p:cTn id="53" dur="300"/>
                                        <p:tgtEl>
                                          <p:spTgt spid="6042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iterate type="wd">
                                    <p:tmPct val="100000"/>
                                  </p:iterate>
                                  <p:childTnLst>
                                    <p:set>
                                      <p:cBhvr>
                                        <p:cTn id="57" dur="1" fill="hold">
                                          <p:stCondLst>
                                            <p:cond delay="0"/>
                                          </p:stCondLst>
                                        </p:cTn>
                                        <p:tgtEl>
                                          <p:spTgt spid="60443"/>
                                        </p:tgtEl>
                                        <p:attrNameLst>
                                          <p:attrName>style.visibility</p:attrName>
                                        </p:attrNameLst>
                                      </p:cBhvr>
                                      <p:to>
                                        <p:strVal val="visible"/>
                                      </p:to>
                                    </p:set>
                                    <p:animEffect transition="in" filter="wipe(left)">
                                      <p:cBhvr>
                                        <p:cTn id="58" dur="300"/>
                                        <p:tgtEl>
                                          <p:spTgt spid="60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uild="p" autoUpdateAnimBg="0"/>
      <p:bldP spid="60421" grpId="0" build="p" autoUpdateAnimBg="0"/>
      <p:bldP spid="60422" grpId="0" build="p" autoUpdateAnimBg="0"/>
      <p:bldP spid="60425" grpId="0" autoUpdateAnimBg="0"/>
      <p:bldP spid="60428" grpId="0" autoUpdateAnimBg="0"/>
      <p:bldP spid="60429" grpId="0" autoUpdateAnimBg="0"/>
      <p:bldP spid="60430" grpId="0" autoUpdateAnimBg="0"/>
      <p:bldP spid="60431" grpId="0" autoUpdateAnimBg="0"/>
      <p:bldP spid="60443" grpId="0" autoUpdateAnimBg="0"/>
      <p:bldP spid="6045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188202C-DB0C-4805-ABD1-655275593CCD}" type="slidenum">
              <a:rPr kumimoji="0" lang="zh-CN" altLang="en-US" sz="2000" smtClean="0">
                <a:solidFill>
                  <a:srgbClr val="0000FF"/>
                </a:solidFill>
              </a:rPr>
              <a:pPr eaLnBrk="1" hangingPunct="1"/>
              <a:t>11</a:t>
            </a:fld>
            <a:endParaRPr kumimoji="0" lang="en-US" altLang="zh-CN" sz="2000">
              <a:solidFill>
                <a:srgbClr val="0000FF"/>
              </a:solidFill>
            </a:endParaRPr>
          </a:p>
        </p:txBody>
      </p:sp>
      <p:sp>
        <p:nvSpPr>
          <p:cNvPr id="103428" name="Text Box 1028"/>
          <p:cNvSpPr txBox="1">
            <a:spLocks noChangeArrowheads="1"/>
          </p:cNvSpPr>
          <p:nvPr/>
        </p:nvSpPr>
        <p:spPr bwMode="auto">
          <a:xfrm>
            <a:off x="95250" y="63812"/>
            <a:ext cx="87249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b="1" dirty="0"/>
              <a:t>（3）</a:t>
            </a:r>
            <a:r>
              <a:rPr lang="zh-CN" altLang="en-US" b="1" dirty="0">
                <a:solidFill>
                  <a:srgbClr val="FF3300"/>
                </a:solidFill>
                <a:latin typeface="宋体" pitchFamily="2" charset="-122"/>
              </a:rPr>
              <a:t>注出</a:t>
            </a:r>
            <a:r>
              <a:rPr lang="zh-CN" altLang="en-US" b="1" dirty="0">
                <a:latin typeface="宋体" pitchFamily="2" charset="-122"/>
              </a:rPr>
              <a:t>几何公差的数值（表</a:t>
            </a:r>
            <a:r>
              <a:rPr lang="en-US" altLang="zh-CN" b="1" dirty="0" smtClean="0">
                <a:latin typeface="宋体" pitchFamily="2" charset="-122"/>
              </a:rPr>
              <a:t>4.13-4.18</a:t>
            </a:r>
            <a:r>
              <a:rPr lang="zh-CN" altLang="en-US" b="1" dirty="0" smtClean="0">
                <a:latin typeface="宋体" pitchFamily="2" charset="-122"/>
              </a:rPr>
              <a:t>）</a:t>
            </a:r>
            <a:endParaRPr lang="zh-CN" altLang="en-US" b="1" dirty="0"/>
          </a:p>
        </p:txBody>
      </p:sp>
      <p:grpSp>
        <p:nvGrpSpPr>
          <p:cNvPr id="8" name="组合 7"/>
          <p:cNvGrpSpPr>
            <a:grpSpLocks/>
          </p:cNvGrpSpPr>
          <p:nvPr/>
        </p:nvGrpSpPr>
        <p:grpSpPr bwMode="auto">
          <a:xfrm>
            <a:off x="683146" y="919477"/>
            <a:ext cx="7487741" cy="3588751"/>
            <a:chOff x="698488" y="1028302"/>
            <a:chExt cx="7896225" cy="4899352"/>
          </a:xfrm>
        </p:grpSpPr>
        <p:pic>
          <p:nvPicPr>
            <p:cNvPr id="13318" name="Picture 7"/>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98488" y="1028302"/>
              <a:ext cx="7896225" cy="394334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319" name="矩形 9"/>
            <p:cNvSpPr>
              <a:spLocks noChangeArrowheads="1"/>
            </p:cNvSpPr>
            <p:nvPr/>
          </p:nvSpPr>
          <p:spPr bwMode="auto">
            <a:xfrm>
              <a:off x="764366" y="5129321"/>
              <a:ext cx="6599401" cy="7983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l"/>
              <a:r>
                <a:rPr lang="zh-CN" altLang="en-US" sz="1600" b="1" dirty="0"/>
                <a:t>注</a:t>
              </a:r>
              <a:r>
                <a:rPr lang="en-US" altLang="zh-CN" sz="1600" b="1" dirty="0"/>
                <a:t>:  </a:t>
              </a:r>
              <a:r>
                <a:rPr lang="zh-CN" altLang="en-US" sz="1600" b="1" dirty="0"/>
                <a:t>棱线和回转表面轴线、素线以其长度的公称尺寸为主参数</a:t>
              </a:r>
              <a:r>
                <a:rPr lang="en-US" altLang="zh-CN" sz="1600" b="1" i="1" dirty="0"/>
                <a:t>L</a:t>
              </a:r>
              <a:r>
                <a:rPr lang="zh-CN" altLang="en-US" sz="1600" b="1" dirty="0"/>
                <a:t>。 </a:t>
              </a:r>
              <a:r>
                <a:rPr lang="zh-CN" altLang="en-US" sz="1600" b="1" dirty="0" smtClean="0"/>
                <a:t>矩形</a:t>
              </a:r>
              <a:r>
                <a:rPr lang="zh-CN" altLang="en-US" sz="1600" b="1" dirty="0"/>
                <a:t>平面以其较长边、圆平面以其直径的公称尺寸为主参数 </a:t>
              </a:r>
              <a:r>
                <a:rPr lang="en-US" altLang="zh-CN" sz="1600" b="1" i="1" dirty="0"/>
                <a:t>L</a:t>
              </a:r>
              <a:r>
                <a:rPr lang="zh-CN" altLang="en-US" sz="1600" b="1" dirty="0"/>
                <a:t>。</a:t>
              </a:r>
            </a:p>
          </p:txBody>
        </p:sp>
      </p:grpSp>
      <p:sp>
        <p:nvSpPr>
          <p:cNvPr id="9" name="TextBox 8"/>
          <p:cNvSpPr txBox="1"/>
          <p:nvPr/>
        </p:nvSpPr>
        <p:spPr>
          <a:xfrm>
            <a:off x="4046770" y="1470002"/>
            <a:ext cx="326571" cy="338554"/>
          </a:xfrm>
          <a:prstGeom prst="rect">
            <a:avLst/>
          </a:prstGeom>
          <a:solidFill>
            <a:schemeClr val="bg1"/>
          </a:solidFill>
        </p:spPr>
        <p:txBody>
          <a:bodyPr wrap="square" rtlCol="0">
            <a:spAutoFit/>
          </a:bodyPr>
          <a:lstStyle/>
          <a:p>
            <a:r>
              <a:rPr lang="en-US" altLang="zh-CN" sz="1600" dirty="0"/>
              <a:t>5</a:t>
            </a:r>
            <a:endParaRPr lang="zh-CN" altLang="en-US" sz="1600" dirty="0"/>
          </a:p>
        </p:txBody>
      </p:sp>
      <p:cxnSp>
        <p:nvCxnSpPr>
          <p:cNvPr id="10" name="直接连接符 9">
            <a:extLst>
              <a:ext uri="{FF2B5EF4-FFF2-40B4-BE49-F238E27FC236}">
                <a16:creationId xmlns="" xmlns:a16="http://schemas.microsoft.com/office/drawing/2014/main" id="{A21F8033-62D5-4F30-A8DE-5112B0B6BE65}"/>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3428">
                                            <p:txEl>
                                              <p:pRg st="0" end="0"/>
                                            </p:txEl>
                                          </p:spTgt>
                                        </p:tgtEl>
                                        <p:attrNameLst>
                                          <p:attrName>style.visibility</p:attrName>
                                        </p:attrNameLst>
                                      </p:cBhvr>
                                      <p:to>
                                        <p:strVal val="visible"/>
                                      </p:to>
                                    </p:set>
                                    <p:animEffect transition="in" filter="wipe(left)">
                                      <p:cBhvr>
                                        <p:cTn id="7" dur="300"/>
                                        <p:tgtEl>
                                          <p:spTgt spid="1034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2500" fill="hold"/>
                                        <p:tgtEl>
                                          <p:spTgt spid="8"/>
                                        </p:tgtEl>
                                        <p:attrNameLst>
                                          <p:attrName>ppt_x</p:attrName>
                                        </p:attrNameLst>
                                      </p:cBhvr>
                                      <p:tavLst>
                                        <p:tav tm="0">
                                          <p:val>
                                            <p:strVal val="0-#ppt_w/2"/>
                                          </p:val>
                                        </p:tav>
                                        <p:tav tm="100000">
                                          <p:val>
                                            <p:strVal val="#ppt_x"/>
                                          </p:val>
                                        </p:tav>
                                      </p:tavLst>
                                    </p:anim>
                                    <p:anim calcmode="lin" valueType="num">
                                      <p:cBhvr additive="base">
                                        <p:cTn id="13" dur="2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2519026-3EA2-4240-99B4-574DDEBCF22C}" type="slidenum">
              <a:rPr kumimoji="0" lang="zh-CN" altLang="en-US" sz="2000" smtClean="0">
                <a:solidFill>
                  <a:srgbClr val="0000FF"/>
                </a:solidFill>
              </a:rPr>
              <a:pPr eaLnBrk="1" hangingPunct="1"/>
              <a:t>12</a:t>
            </a:fld>
            <a:endParaRPr kumimoji="0" lang="en-US" altLang="zh-CN" sz="2000">
              <a:solidFill>
                <a:srgbClr val="0000FF"/>
              </a:solidFill>
            </a:endParaRPr>
          </a:p>
        </p:txBody>
      </p:sp>
      <p:sp>
        <p:nvSpPr>
          <p:cNvPr id="10242" name="Text Box 2"/>
          <p:cNvSpPr txBox="1">
            <a:spLocks noChangeArrowheads="1"/>
          </p:cNvSpPr>
          <p:nvPr/>
        </p:nvSpPr>
        <p:spPr bwMode="auto">
          <a:xfrm>
            <a:off x="584200" y="139304"/>
            <a:ext cx="504825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a:t>3. </a:t>
            </a:r>
            <a:r>
              <a:rPr lang="zh-CN" altLang="en-US" b="1">
                <a:latin typeface="宋体" pitchFamily="2" charset="-122"/>
              </a:rPr>
              <a:t>几何公差值的选用原则</a:t>
            </a:r>
            <a:endParaRPr lang="zh-CN" altLang="en-US" b="1"/>
          </a:p>
        </p:txBody>
      </p:sp>
      <p:sp>
        <p:nvSpPr>
          <p:cNvPr id="10247" name="Rectangle 7"/>
          <p:cNvSpPr>
            <a:spLocks noChangeArrowheads="1"/>
          </p:cNvSpPr>
          <p:nvPr/>
        </p:nvSpPr>
        <p:spPr bwMode="auto">
          <a:xfrm>
            <a:off x="443060" y="1286256"/>
            <a:ext cx="7694389" cy="7819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zh-CN" altLang="en-US" sz="2000" b="1" dirty="0"/>
              <a:t>（1）</a:t>
            </a:r>
            <a:r>
              <a:rPr lang="zh-CN" altLang="en-US" sz="2000" b="1" dirty="0">
                <a:latin typeface="宋体" pitchFamily="2" charset="-122"/>
              </a:rPr>
              <a:t>对同一要素的形状公差小于方向公差</a:t>
            </a:r>
          </a:p>
          <a:p>
            <a:pPr algn="just">
              <a:lnSpc>
                <a:spcPct val="120000"/>
              </a:lnSpc>
            </a:pPr>
            <a:r>
              <a:rPr lang="zh-CN" altLang="en-US" sz="2000" b="1" dirty="0">
                <a:latin typeface="宋体" pitchFamily="2" charset="-122"/>
              </a:rPr>
              <a:t>     （如</a:t>
            </a:r>
            <a:r>
              <a:rPr lang="zh-CN" altLang="en-US" sz="2000" b="1" dirty="0">
                <a:solidFill>
                  <a:srgbClr val="FF0000"/>
                </a:solidFill>
                <a:latin typeface="宋体" pitchFamily="2" charset="-122"/>
              </a:rPr>
              <a:t>平面度公差小于平行度公差</a:t>
            </a:r>
            <a:r>
              <a:rPr lang="zh-CN" altLang="en-US" sz="2000" b="1" dirty="0">
                <a:latin typeface="宋体" pitchFamily="2" charset="-122"/>
              </a:rPr>
              <a:t>）；</a:t>
            </a:r>
          </a:p>
        </p:txBody>
      </p:sp>
      <p:sp>
        <p:nvSpPr>
          <p:cNvPr id="10261" name="Text Box 21"/>
          <p:cNvSpPr txBox="1">
            <a:spLocks noChangeArrowheads="1"/>
          </p:cNvSpPr>
          <p:nvPr/>
        </p:nvSpPr>
        <p:spPr bwMode="auto">
          <a:xfrm>
            <a:off x="125414" y="3677794"/>
            <a:ext cx="8664575" cy="4263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     （2）</a:t>
            </a:r>
            <a:r>
              <a:rPr lang="zh-CN" altLang="en-US" sz="2000" b="1" dirty="0">
                <a:solidFill>
                  <a:srgbClr val="FF0000"/>
                </a:solidFill>
              </a:rPr>
              <a:t>圆柱形零件的形状公差小于尺寸公差</a:t>
            </a:r>
            <a:r>
              <a:rPr lang="zh-CN" altLang="en-US" sz="2000" b="1" dirty="0"/>
              <a:t>（轴线的直线度公差除外）等。 </a:t>
            </a:r>
          </a:p>
        </p:txBody>
      </p:sp>
      <p:sp>
        <p:nvSpPr>
          <p:cNvPr id="10265" name="Text Box 25"/>
          <p:cNvSpPr txBox="1">
            <a:spLocks noChangeArrowheads="1"/>
          </p:cNvSpPr>
          <p:nvPr/>
        </p:nvSpPr>
        <p:spPr bwMode="auto">
          <a:xfrm>
            <a:off x="584200" y="2034640"/>
            <a:ext cx="7770812"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pPr>
            <a:r>
              <a:rPr lang="zh-CN" altLang="en-US" sz="2000" b="1" dirty="0">
                <a:latin typeface="宋体" pitchFamily="2" charset="-122"/>
              </a:rPr>
              <a:t>对</a:t>
            </a:r>
            <a:r>
              <a:rPr lang="zh-CN" altLang="en-US" sz="2000" b="1" dirty="0">
                <a:solidFill>
                  <a:srgbClr val="FF0000"/>
                </a:solidFill>
                <a:latin typeface="宋体" pitchFamily="2" charset="-122"/>
              </a:rPr>
              <a:t>同一基准的同一要素</a:t>
            </a:r>
            <a:r>
              <a:rPr lang="zh-CN" altLang="en-US" sz="2000" b="1" dirty="0">
                <a:latin typeface="宋体" pitchFamily="2" charset="-122"/>
              </a:rPr>
              <a:t>的方向公差小于位置公差；</a:t>
            </a:r>
            <a:endParaRPr lang="zh-CN" altLang="en-US" sz="2000" b="1" dirty="0"/>
          </a:p>
        </p:txBody>
      </p:sp>
      <p:sp>
        <p:nvSpPr>
          <p:cNvPr id="10266" name="Text Box 26"/>
          <p:cNvSpPr txBox="1">
            <a:spLocks noChangeArrowheads="1"/>
          </p:cNvSpPr>
          <p:nvPr/>
        </p:nvSpPr>
        <p:spPr bwMode="auto">
          <a:xfrm>
            <a:off x="584200" y="2413544"/>
            <a:ext cx="7477125"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latin typeface="宋体" pitchFamily="2" charset="-122"/>
              </a:rPr>
              <a:t>圆跳动公差大于其它几何公差，小于全跳动公差。</a:t>
            </a:r>
          </a:p>
        </p:txBody>
      </p:sp>
      <p:sp>
        <p:nvSpPr>
          <p:cNvPr id="10272" name="Text Box 32"/>
          <p:cNvSpPr txBox="1">
            <a:spLocks noChangeArrowheads="1"/>
          </p:cNvSpPr>
          <p:nvPr/>
        </p:nvSpPr>
        <p:spPr bwMode="auto">
          <a:xfrm>
            <a:off x="457645" y="4174950"/>
            <a:ext cx="701683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b="1" dirty="0"/>
              <a:t>（3）</a:t>
            </a:r>
            <a:r>
              <a:rPr lang="zh-CN" altLang="en-US" sz="2000" b="1" dirty="0">
                <a:solidFill>
                  <a:srgbClr val="FF0000"/>
                </a:solidFill>
              </a:rPr>
              <a:t>平行度公差应小于其相应的距离公差值</a:t>
            </a:r>
            <a:r>
              <a:rPr lang="zh-CN" altLang="en-US" sz="2000" b="1" dirty="0"/>
              <a:t>。</a:t>
            </a:r>
          </a:p>
        </p:txBody>
      </p:sp>
      <p:graphicFrame>
        <p:nvGraphicFramePr>
          <p:cNvPr id="10274" name="Object 34"/>
          <p:cNvGraphicFramePr>
            <a:graphicFrameLocks noChangeAspect="1"/>
          </p:cNvGraphicFramePr>
          <p:nvPr>
            <p:extLst>
              <p:ext uri="{D42A27DB-BD31-4B8C-83A1-F6EECF244321}">
                <p14:modId xmlns="" xmlns:p14="http://schemas.microsoft.com/office/powerpoint/2010/main" val="2363854773"/>
              </p:ext>
            </p:extLst>
          </p:nvPr>
        </p:nvGraphicFramePr>
        <p:xfrm>
          <a:off x="937651" y="3020446"/>
          <a:ext cx="6536824" cy="459490"/>
        </p:xfrm>
        <a:graphic>
          <a:graphicData uri="http://schemas.openxmlformats.org/presentationml/2006/ole">
            <p:oleObj spid="_x0000_s14359" name="Equation" r:id="rId4" imgW="58521600" imgH="5486400" progId="">
              <p:embed/>
            </p:oleObj>
          </a:graphicData>
        </a:graphic>
      </p:graphicFrame>
      <p:sp>
        <p:nvSpPr>
          <p:cNvPr id="10297" name="Text Box 57"/>
          <p:cNvSpPr txBox="1">
            <a:spLocks noChangeArrowheads="1"/>
          </p:cNvSpPr>
          <p:nvPr/>
        </p:nvSpPr>
        <p:spPr bwMode="auto">
          <a:xfrm>
            <a:off x="169864" y="552323"/>
            <a:ext cx="8745537"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几何公差值的选用主要根据零件的功能要求、结构特点和工艺上的可能性等因素综合考虑。另外还应考虑下列情况：</a:t>
            </a:r>
          </a:p>
        </p:txBody>
      </p:sp>
      <p:cxnSp>
        <p:nvCxnSpPr>
          <p:cNvPr id="11" name="直接连接符 10">
            <a:extLst>
              <a:ext uri="{FF2B5EF4-FFF2-40B4-BE49-F238E27FC236}">
                <a16:creationId xmlns="" xmlns:a16="http://schemas.microsoft.com/office/drawing/2014/main" id="{C772438D-3B21-4408-9C5E-8302774867C6}"/>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wipe(left)">
                                      <p:cBhvr>
                                        <p:cTn id="7" dur="300"/>
                                        <p:tgtEl>
                                          <p:spTgt spid="102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297">
                                            <p:txEl>
                                              <p:pRg st="0" end="0"/>
                                            </p:txEl>
                                          </p:spTgt>
                                        </p:tgtEl>
                                        <p:attrNameLst>
                                          <p:attrName>style.visibility</p:attrName>
                                        </p:attrNameLst>
                                      </p:cBhvr>
                                      <p:to>
                                        <p:strVal val="visible"/>
                                      </p:to>
                                    </p:set>
                                    <p:animEffect transition="in" filter="wipe(left)">
                                      <p:cBhvr>
                                        <p:cTn id="12" dur="300"/>
                                        <p:tgtEl>
                                          <p:spTgt spid="1029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247">
                                            <p:txEl>
                                              <p:pRg st="0" end="0"/>
                                            </p:txEl>
                                          </p:spTgt>
                                        </p:tgtEl>
                                        <p:attrNameLst>
                                          <p:attrName>style.visibility</p:attrName>
                                        </p:attrNameLst>
                                      </p:cBhvr>
                                      <p:to>
                                        <p:strVal val="visible"/>
                                      </p:to>
                                    </p:set>
                                    <p:animEffect transition="in" filter="wipe(left)">
                                      <p:cBhvr>
                                        <p:cTn id="17" dur="300"/>
                                        <p:tgtEl>
                                          <p:spTgt spid="1024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0247">
                                            <p:txEl>
                                              <p:pRg st="1" end="1"/>
                                            </p:txEl>
                                          </p:spTgt>
                                        </p:tgtEl>
                                        <p:attrNameLst>
                                          <p:attrName>style.visibility</p:attrName>
                                        </p:attrNameLst>
                                      </p:cBhvr>
                                      <p:to>
                                        <p:strVal val="visible"/>
                                      </p:to>
                                    </p:set>
                                    <p:animEffect transition="in" filter="wipe(left)">
                                      <p:cBhvr>
                                        <p:cTn id="22" dur="300"/>
                                        <p:tgtEl>
                                          <p:spTgt spid="1024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0265"/>
                                        </p:tgtEl>
                                        <p:attrNameLst>
                                          <p:attrName>style.visibility</p:attrName>
                                        </p:attrNameLst>
                                      </p:cBhvr>
                                      <p:to>
                                        <p:strVal val="visible"/>
                                      </p:to>
                                    </p:set>
                                    <p:animEffect transition="in" filter="wipe(left)">
                                      <p:cBhvr>
                                        <p:cTn id="27" dur="300"/>
                                        <p:tgtEl>
                                          <p:spTgt spid="102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0266"/>
                                        </p:tgtEl>
                                        <p:attrNameLst>
                                          <p:attrName>style.visibility</p:attrName>
                                        </p:attrNameLst>
                                      </p:cBhvr>
                                      <p:to>
                                        <p:strVal val="visible"/>
                                      </p:to>
                                    </p:set>
                                    <p:animEffect transition="in" filter="wipe(left)">
                                      <p:cBhvr>
                                        <p:cTn id="32" dur="300"/>
                                        <p:tgtEl>
                                          <p:spTgt spid="102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274"/>
                                        </p:tgtEl>
                                        <p:attrNameLst>
                                          <p:attrName>style.visibility</p:attrName>
                                        </p:attrNameLst>
                                      </p:cBhvr>
                                      <p:to>
                                        <p:strVal val="visible"/>
                                      </p:to>
                                    </p:set>
                                    <p:animEffect transition="in" filter="wipe(left)">
                                      <p:cBhvr>
                                        <p:cTn id="37" dur="500"/>
                                        <p:tgtEl>
                                          <p:spTgt spid="102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0261">
                                            <p:txEl>
                                              <p:pRg st="0" end="0"/>
                                            </p:txEl>
                                          </p:spTgt>
                                        </p:tgtEl>
                                        <p:attrNameLst>
                                          <p:attrName>style.visibility</p:attrName>
                                        </p:attrNameLst>
                                      </p:cBhvr>
                                      <p:to>
                                        <p:strVal val="visible"/>
                                      </p:to>
                                    </p:set>
                                    <p:animEffect transition="in" filter="wipe(left)">
                                      <p:cBhvr>
                                        <p:cTn id="42" dur="300"/>
                                        <p:tgtEl>
                                          <p:spTgt spid="10261">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0272"/>
                                        </p:tgtEl>
                                        <p:attrNameLst>
                                          <p:attrName>style.visibility</p:attrName>
                                        </p:attrNameLst>
                                      </p:cBhvr>
                                      <p:to>
                                        <p:strVal val="visible"/>
                                      </p:to>
                                    </p:set>
                                    <p:animEffect transition="in" filter="wipe(left)">
                                      <p:cBhvr>
                                        <p:cTn id="47" dur="300"/>
                                        <p:tgtEl>
                                          <p:spTgt spid="10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autoUpdateAnimBg="0"/>
      <p:bldP spid="10247" grpId="0" build="p" autoUpdateAnimBg="0"/>
      <p:bldP spid="10261" grpId="0" build="p" autoUpdateAnimBg="0"/>
      <p:bldP spid="10265" grpId="0" autoUpdateAnimBg="0"/>
      <p:bldP spid="10266" grpId="0" autoUpdateAnimBg="0"/>
      <p:bldP spid="10272" grpId="0" autoUpdateAnimBg="0"/>
      <p:bldP spid="10297"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EE89474-4C41-42EA-A8A3-687B3BC771BE}" type="slidenum">
              <a:rPr kumimoji="0" lang="zh-CN" altLang="en-US" sz="2000" smtClean="0">
                <a:solidFill>
                  <a:srgbClr val="0000FF"/>
                </a:solidFill>
              </a:rPr>
              <a:pPr eaLnBrk="1" hangingPunct="1"/>
              <a:t>13</a:t>
            </a:fld>
            <a:endParaRPr kumimoji="0" lang="en-US" altLang="zh-CN" sz="2000">
              <a:solidFill>
                <a:srgbClr val="0000FF"/>
              </a:solidFill>
            </a:endParaRPr>
          </a:p>
        </p:txBody>
      </p:sp>
      <p:sp>
        <p:nvSpPr>
          <p:cNvPr id="154628" name="Text Box 4"/>
          <p:cNvSpPr txBox="1">
            <a:spLocks noChangeArrowheads="1"/>
          </p:cNvSpPr>
          <p:nvPr/>
        </p:nvSpPr>
        <p:spPr bwMode="auto">
          <a:xfrm>
            <a:off x="335196" y="498994"/>
            <a:ext cx="8064500"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a:t>
            </a:r>
            <a:r>
              <a:rPr lang="en-US" altLang="zh-CN" sz="2000" b="1" dirty="0"/>
              <a:t>4</a:t>
            </a:r>
            <a:r>
              <a:rPr lang="zh-CN" altLang="en-US" sz="2000" b="1" dirty="0"/>
              <a:t>）对于某些情况，考虑加工难易程度和主参数外其他因素的影响，在满足零件功能要求的条件下，可适当降低</a:t>
            </a:r>
            <a:r>
              <a:rPr lang="en-US" altLang="zh-CN" sz="2000" b="1" dirty="0"/>
              <a:t>1~2</a:t>
            </a:r>
            <a:r>
              <a:rPr lang="zh-CN" altLang="en-US" sz="2000" b="1" dirty="0"/>
              <a:t>级。如：</a:t>
            </a:r>
            <a:endParaRPr lang="en-US" altLang="zh-CN" sz="2000" b="1" dirty="0"/>
          </a:p>
        </p:txBody>
      </p:sp>
      <p:sp>
        <p:nvSpPr>
          <p:cNvPr id="154629" name="Text Box 5"/>
          <p:cNvSpPr txBox="1">
            <a:spLocks noChangeArrowheads="1"/>
          </p:cNvSpPr>
          <p:nvPr/>
        </p:nvSpPr>
        <p:spPr bwMode="auto">
          <a:xfrm>
            <a:off x="862013" y="1426534"/>
            <a:ext cx="3656012"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a:t>
            </a:r>
            <a:r>
              <a:rPr lang="zh-CN" altLang="en-US" sz="2000" b="1" dirty="0">
                <a:latin typeface="宋体" pitchFamily="2" charset="-122"/>
              </a:rPr>
              <a:t>① 孔相对于轴；</a:t>
            </a:r>
            <a:endParaRPr lang="zh-CN" altLang="zh-CN" sz="2000" b="1" dirty="0">
              <a:latin typeface="宋体" pitchFamily="2" charset="-122"/>
            </a:endParaRPr>
          </a:p>
        </p:txBody>
      </p:sp>
      <p:sp>
        <p:nvSpPr>
          <p:cNvPr id="154630" name="Text Box 6"/>
          <p:cNvSpPr txBox="1">
            <a:spLocks noChangeArrowheads="1"/>
          </p:cNvSpPr>
          <p:nvPr/>
        </p:nvSpPr>
        <p:spPr bwMode="auto">
          <a:xfrm>
            <a:off x="862013" y="1892869"/>
            <a:ext cx="5027612"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a:t> </a:t>
            </a:r>
            <a:r>
              <a:rPr lang="zh-CN" altLang="en-US" sz="2000" b="1">
                <a:latin typeface="宋体" pitchFamily="2" charset="-122"/>
              </a:rPr>
              <a:t>② 细长比较大的轴或孔；</a:t>
            </a:r>
            <a:endParaRPr lang="zh-CN" altLang="zh-CN" sz="2000" b="1">
              <a:latin typeface="宋体" pitchFamily="2" charset="-122"/>
            </a:endParaRPr>
          </a:p>
        </p:txBody>
      </p:sp>
      <p:sp>
        <p:nvSpPr>
          <p:cNvPr id="154631" name="Rectangle 7"/>
          <p:cNvSpPr>
            <a:spLocks noChangeArrowheads="1"/>
          </p:cNvSpPr>
          <p:nvPr/>
        </p:nvSpPr>
        <p:spPr bwMode="auto">
          <a:xfrm>
            <a:off x="924159" y="2419125"/>
            <a:ext cx="3443287"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t>③ 跨距较大的轴或孔；</a:t>
            </a:r>
          </a:p>
        </p:txBody>
      </p:sp>
      <p:sp>
        <p:nvSpPr>
          <p:cNvPr id="154632" name="Rectangle 8"/>
          <p:cNvSpPr>
            <a:spLocks noChangeArrowheads="1"/>
          </p:cNvSpPr>
          <p:nvPr/>
        </p:nvSpPr>
        <p:spPr bwMode="auto">
          <a:xfrm>
            <a:off x="924160" y="2884660"/>
            <a:ext cx="7513637"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t>④ 宽度较大（一般大于</a:t>
            </a:r>
            <a:r>
              <a:rPr lang="en-US" altLang="zh-CN" sz="2000" b="1"/>
              <a:t>1/2</a:t>
            </a:r>
            <a:r>
              <a:rPr lang="zh-CN" altLang="en-US" sz="2000" b="1"/>
              <a:t>长度）的零件表面；</a:t>
            </a:r>
          </a:p>
        </p:txBody>
      </p:sp>
      <p:sp>
        <p:nvSpPr>
          <p:cNvPr id="154633" name="Rectangle 9"/>
          <p:cNvSpPr>
            <a:spLocks noChangeArrowheads="1"/>
          </p:cNvSpPr>
          <p:nvPr/>
        </p:nvSpPr>
        <p:spPr bwMode="auto">
          <a:xfrm>
            <a:off x="924160" y="3399010"/>
            <a:ext cx="7513637"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latin typeface="宋体" pitchFamily="2" charset="-122"/>
              </a:rPr>
              <a:t>⑤ 线对线和线对面相对于面对面的平行度</a:t>
            </a:r>
            <a:r>
              <a:rPr lang="zh-CN" altLang="en-US" sz="2000" b="1"/>
              <a:t>；</a:t>
            </a:r>
          </a:p>
        </p:txBody>
      </p:sp>
      <p:sp>
        <p:nvSpPr>
          <p:cNvPr id="154634" name="Rectangle 10"/>
          <p:cNvSpPr>
            <a:spLocks noChangeArrowheads="1"/>
          </p:cNvSpPr>
          <p:nvPr/>
        </p:nvSpPr>
        <p:spPr bwMode="auto">
          <a:xfrm>
            <a:off x="909638" y="3951460"/>
            <a:ext cx="711835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t>⑥  线对线和线对面相对于面对面的垂直度。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4628"/>
                                        </p:tgtEl>
                                        <p:attrNameLst>
                                          <p:attrName>style.visibility</p:attrName>
                                        </p:attrNameLst>
                                      </p:cBhvr>
                                      <p:to>
                                        <p:strVal val="visible"/>
                                      </p:to>
                                    </p:set>
                                    <p:animEffect transition="in" filter="wipe(left)">
                                      <p:cBhvr>
                                        <p:cTn id="7" dur="300"/>
                                        <p:tgtEl>
                                          <p:spTgt spid="154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4629"/>
                                        </p:tgtEl>
                                        <p:attrNameLst>
                                          <p:attrName>style.visibility</p:attrName>
                                        </p:attrNameLst>
                                      </p:cBhvr>
                                      <p:to>
                                        <p:strVal val="visible"/>
                                      </p:to>
                                    </p:set>
                                    <p:animEffect transition="in" filter="wipe(left)">
                                      <p:cBhvr>
                                        <p:cTn id="12" dur="300"/>
                                        <p:tgtEl>
                                          <p:spTgt spid="1546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54630"/>
                                        </p:tgtEl>
                                        <p:attrNameLst>
                                          <p:attrName>style.visibility</p:attrName>
                                        </p:attrNameLst>
                                      </p:cBhvr>
                                      <p:to>
                                        <p:strVal val="visible"/>
                                      </p:to>
                                    </p:set>
                                    <p:animEffect transition="in" filter="wipe(left)">
                                      <p:cBhvr>
                                        <p:cTn id="17" dur="300"/>
                                        <p:tgtEl>
                                          <p:spTgt spid="1546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4631"/>
                                        </p:tgtEl>
                                        <p:attrNameLst>
                                          <p:attrName>style.visibility</p:attrName>
                                        </p:attrNameLst>
                                      </p:cBhvr>
                                      <p:to>
                                        <p:strVal val="visible"/>
                                      </p:to>
                                    </p:set>
                                    <p:animEffect transition="in" filter="wipe(left)">
                                      <p:cBhvr>
                                        <p:cTn id="22" dur="2000"/>
                                        <p:tgtEl>
                                          <p:spTgt spid="1546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632"/>
                                        </p:tgtEl>
                                        <p:attrNameLst>
                                          <p:attrName>style.visibility</p:attrName>
                                        </p:attrNameLst>
                                      </p:cBhvr>
                                      <p:to>
                                        <p:strVal val="visible"/>
                                      </p:to>
                                    </p:set>
                                    <p:animEffect transition="in" filter="wipe(left)">
                                      <p:cBhvr>
                                        <p:cTn id="27" dur="2000"/>
                                        <p:tgtEl>
                                          <p:spTgt spid="1546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4633"/>
                                        </p:tgtEl>
                                        <p:attrNameLst>
                                          <p:attrName>style.visibility</p:attrName>
                                        </p:attrNameLst>
                                      </p:cBhvr>
                                      <p:to>
                                        <p:strVal val="visible"/>
                                      </p:to>
                                    </p:set>
                                    <p:animEffect transition="in" filter="wipe(left)">
                                      <p:cBhvr>
                                        <p:cTn id="32" dur="2000"/>
                                        <p:tgtEl>
                                          <p:spTgt spid="1546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634"/>
                                        </p:tgtEl>
                                        <p:attrNameLst>
                                          <p:attrName>style.visibility</p:attrName>
                                        </p:attrNameLst>
                                      </p:cBhvr>
                                      <p:to>
                                        <p:strVal val="visible"/>
                                      </p:to>
                                    </p:set>
                                    <p:animEffect transition="in" filter="wipe(left)">
                                      <p:cBhvr>
                                        <p:cTn id="37" dur="2000"/>
                                        <p:tgtEl>
                                          <p:spTgt spid="154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utoUpdateAnimBg="0"/>
      <p:bldP spid="154629" grpId="0" autoUpdateAnimBg="0"/>
      <p:bldP spid="154630" grpId="0" autoUpdateAnimBg="0"/>
      <p:bldP spid="154631" grpId="0"/>
      <p:bldP spid="154632" grpId="0"/>
      <p:bldP spid="154633" grpId="0"/>
      <p:bldP spid="1546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7F51E2F-AFF6-421C-8CFE-DAD12D57B85A}" type="slidenum">
              <a:rPr kumimoji="0" lang="zh-CN" altLang="en-US" sz="2000" smtClean="0">
                <a:solidFill>
                  <a:srgbClr val="0000FF"/>
                </a:solidFill>
              </a:rPr>
              <a:pPr eaLnBrk="1" hangingPunct="1"/>
              <a:t>14</a:t>
            </a:fld>
            <a:endParaRPr kumimoji="0" lang="en-US" altLang="zh-CN" sz="2000">
              <a:solidFill>
                <a:srgbClr val="0000FF"/>
              </a:solidFill>
            </a:endParaRPr>
          </a:p>
        </p:txBody>
      </p:sp>
      <p:sp>
        <p:nvSpPr>
          <p:cNvPr id="62468" name="Text Box 4100"/>
          <p:cNvSpPr txBox="1">
            <a:spLocks noChangeArrowheads="1"/>
          </p:cNvSpPr>
          <p:nvPr/>
        </p:nvSpPr>
        <p:spPr bwMode="auto">
          <a:xfrm>
            <a:off x="341313" y="189031"/>
            <a:ext cx="7364412" cy="4263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a:t>
            </a:r>
            <a:r>
              <a:rPr lang="en-US" altLang="zh-CN" sz="2000" b="1" dirty="0"/>
              <a:t>5</a:t>
            </a:r>
            <a:r>
              <a:rPr lang="zh-CN" altLang="en-US" sz="2000" b="1" dirty="0"/>
              <a:t>）</a:t>
            </a:r>
            <a:r>
              <a:rPr lang="zh-CN" altLang="en-US" sz="2000" b="1" dirty="0">
                <a:latin typeface="宋体" pitchFamily="2" charset="-122"/>
              </a:rPr>
              <a:t>对位置度的公差值按下式计算</a:t>
            </a:r>
          </a:p>
        </p:txBody>
      </p:sp>
      <p:sp>
        <p:nvSpPr>
          <p:cNvPr id="62469" name="Text Box 4101"/>
          <p:cNvSpPr txBox="1">
            <a:spLocks noChangeArrowheads="1"/>
          </p:cNvSpPr>
          <p:nvPr/>
        </p:nvSpPr>
        <p:spPr bwMode="auto">
          <a:xfrm>
            <a:off x="684213" y="651919"/>
            <a:ext cx="8070758"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latin typeface="宋体" pitchFamily="2" charset="-122"/>
              </a:rPr>
              <a:t>对用</a:t>
            </a:r>
            <a:r>
              <a:rPr lang="zh-CN" altLang="en-US" sz="2000" b="1" dirty="0">
                <a:solidFill>
                  <a:srgbClr val="FF0000"/>
                </a:solidFill>
                <a:latin typeface="宋体" pitchFamily="2" charset="-122"/>
              </a:rPr>
              <a:t>螺栓连接</a:t>
            </a:r>
            <a:r>
              <a:rPr lang="zh-CN" altLang="en-US" sz="2000" b="1" dirty="0">
                <a:latin typeface="宋体" pitchFamily="2" charset="-122"/>
              </a:rPr>
              <a:t>时位置度公差等于</a:t>
            </a:r>
            <a:r>
              <a:rPr lang="en-US" altLang="zh-CN" sz="2000" b="1" i="1" dirty="0" err="1"/>
              <a:t>X</a:t>
            </a:r>
            <a:r>
              <a:rPr lang="en-US" altLang="zh-CN" sz="2000" b="1" baseline="-30000" dirty="0" err="1"/>
              <a:t>min</a:t>
            </a:r>
            <a:r>
              <a:rPr lang="en-US" altLang="zh-CN" sz="2000" b="1" dirty="0">
                <a:latin typeface="宋体" pitchFamily="2" charset="-122"/>
              </a:rPr>
              <a:t>（</a:t>
            </a:r>
            <a:r>
              <a:rPr lang="zh-CN" altLang="en-US" sz="2000" b="1" dirty="0">
                <a:latin typeface="宋体" pitchFamily="2" charset="-122"/>
              </a:rPr>
              <a:t>连接件均为通孔）；</a:t>
            </a:r>
            <a:endParaRPr lang="zh-CN" altLang="en-US" sz="2000" b="1" dirty="0"/>
          </a:p>
        </p:txBody>
      </p:sp>
      <p:sp>
        <p:nvSpPr>
          <p:cNvPr id="62471" name="Text Box 4103"/>
          <p:cNvSpPr txBox="1">
            <a:spLocks noChangeArrowheads="1"/>
          </p:cNvSpPr>
          <p:nvPr/>
        </p:nvSpPr>
        <p:spPr bwMode="auto">
          <a:xfrm>
            <a:off x="188950" y="1554643"/>
            <a:ext cx="8482013"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latin typeface="宋体" pitchFamily="2" charset="-122"/>
              </a:rPr>
              <a:t>    对</a:t>
            </a:r>
            <a:r>
              <a:rPr lang="zh-CN" altLang="en-US" sz="2000" b="1" dirty="0">
                <a:solidFill>
                  <a:srgbClr val="FF0000"/>
                </a:solidFill>
                <a:latin typeface="宋体" pitchFamily="2" charset="-122"/>
              </a:rPr>
              <a:t>螺钉连接</a:t>
            </a:r>
            <a:r>
              <a:rPr lang="zh-CN" altLang="en-US" sz="2000" b="1" dirty="0">
                <a:latin typeface="宋体" pitchFamily="2" charset="-122"/>
              </a:rPr>
              <a:t>时位置度公差等于</a:t>
            </a:r>
            <a:r>
              <a:rPr lang="zh-CN" altLang="en-US" sz="2000" b="1" dirty="0"/>
              <a:t>0.5</a:t>
            </a:r>
            <a:r>
              <a:rPr lang="en-US" altLang="zh-CN" sz="2000" b="1" i="1" dirty="0" err="1"/>
              <a:t>X</a:t>
            </a:r>
            <a:r>
              <a:rPr lang="en-US" altLang="zh-CN" sz="2000" b="1" baseline="-30000" dirty="0" err="1"/>
              <a:t>min</a:t>
            </a:r>
            <a:r>
              <a:rPr lang="en-US" altLang="zh-CN" sz="2000" b="1" dirty="0">
                <a:latin typeface="宋体" pitchFamily="2" charset="-122"/>
              </a:rPr>
              <a:t>（</a:t>
            </a:r>
            <a:r>
              <a:rPr lang="zh-CN" altLang="en-US" sz="2000" b="1" dirty="0">
                <a:latin typeface="宋体" pitchFamily="2" charset="-122"/>
              </a:rPr>
              <a:t>连接件中有一个零件为螺孔）。</a:t>
            </a:r>
            <a:endParaRPr lang="zh-CN" altLang="en-US" sz="2000" b="1" dirty="0"/>
          </a:p>
        </p:txBody>
      </p:sp>
      <p:sp>
        <p:nvSpPr>
          <p:cNvPr id="62472" name="Text Box 4104"/>
          <p:cNvSpPr txBox="1">
            <a:spLocks noChangeArrowheads="1"/>
          </p:cNvSpPr>
          <p:nvPr/>
        </p:nvSpPr>
        <p:spPr bwMode="auto">
          <a:xfrm>
            <a:off x="684213" y="2559752"/>
            <a:ext cx="3745744"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latin typeface="宋体" pitchFamily="2" charset="-122"/>
              </a:rPr>
              <a:t>计算值按表</a:t>
            </a:r>
            <a:r>
              <a:rPr lang="zh-CN" altLang="en-US" sz="2000" b="1" dirty="0"/>
              <a:t>4.</a:t>
            </a:r>
            <a:r>
              <a:rPr lang="zh-CN" altLang="en-US" sz="2000" b="1" dirty="0" smtClean="0"/>
              <a:t>1</a:t>
            </a:r>
            <a:r>
              <a:rPr lang="en-US" altLang="zh-CN" sz="2000" b="1" dirty="0" smtClean="0"/>
              <a:t>8</a:t>
            </a:r>
            <a:r>
              <a:rPr lang="zh-CN" altLang="en-US" sz="2000" b="1" dirty="0" smtClean="0">
                <a:latin typeface="宋体" pitchFamily="2" charset="-122"/>
              </a:rPr>
              <a:t>进行</a:t>
            </a:r>
            <a:r>
              <a:rPr lang="zh-CN" altLang="en-US" sz="2000" b="1" dirty="0">
                <a:latin typeface="宋体" pitchFamily="2" charset="-122"/>
              </a:rPr>
              <a:t>规范圆整</a:t>
            </a:r>
            <a:endParaRPr lang="zh-CN" altLang="en-US" sz="2000" b="1" dirty="0"/>
          </a:p>
        </p:txBody>
      </p:sp>
      <p:graphicFrame>
        <p:nvGraphicFramePr>
          <p:cNvPr id="62474" name="Object 4106"/>
          <p:cNvGraphicFramePr>
            <a:graphicFrameLocks noChangeAspect="1"/>
          </p:cNvGraphicFramePr>
          <p:nvPr>
            <p:extLst>
              <p:ext uri="{D42A27DB-BD31-4B8C-83A1-F6EECF244321}">
                <p14:modId xmlns="" xmlns:p14="http://schemas.microsoft.com/office/powerpoint/2010/main" val="4172805463"/>
              </p:ext>
            </p:extLst>
          </p:nvPr>
        </p:nvGraphicFramePr>
        <p:xfrm>
          <a:off x="1606858" y="1168928"/>
          <a:ext cx="5042516" cy="351556"/>
        </p:xfrm>
        <a:graphic>
          <a:graphicData uri="http://schemas.openxmlformats.org/presentationml/2006/ole">
            <p:oleObj spid="_x0000_s16414" name="公式" r:id="rId3" imgW="44805600" imgH="5181600" progId="">
              <p:embed/>
            </p:oleObj>
          </a:graphicData>
        </a:graphic>
      </p:graphicFrame>
      <p:graphicFrame>
        <p:nvGraphicFramePr>
          <p:cNvPr id="62475" name="Object 4107"/>
          <p:cNvGraphicFramePr>
            <a:graphicFrameLocks noChangeAspect="1"/>
          </p:cNvGraphicFramePr>
          <p:nvPr/>
        </p:nvGraphicFramePr>
        <p:xfrm>
          <a:off x="1606858" y="2155955"/>
          <a:ext cx="5690587" cy="340946"/>
        </p:xfrm>
        <a:graphic>
          <a:graphicData uri="http://schemas.openxmlformats.org/presentationml/2006/ole">
            <p:oleObj spid="_x0000_s16415" name="公式" r:id="rId4" imgW="52120800" imgH="5181600" progId="">
              <p:embed/>
            </p:oleObj>
          </a:graphicData>
        </a:graphic>
      </p:graphicFrame>
      <p:grpSp>
        <p:nvGrpSpPr>
          <p:cNvPr id="62477" name="Group 4109"/>
          <p:cNvGrpSpPr>
            <a:grpSpLocks/>
          </p:cNvGrpSpPr>
          <p:nvPr/>
        </p:nvGrpSpPr>
        <p:grpSpPr bwMode="auto">
          <a:xfrm>
            <a:off x="387998" y="2909705"/>
            <a:ext cx="8475663" cy="1771047"/>
            <a:chOff x="250" y="2243"/>
            <a:chExt cx="5339" cy="1730"/>
          </a:xfrm>
        </p:grpSpPr>
        <p:pic>
          <p:nvPicPr>
            <p:cNvPr id="16394" name="Picture 4102"/>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50" y="2243"/>
              <a:ext cx="5339" cy="17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6395" name="Rectangle 4108"/>
            <p:cNvSpPr>
              <a:spLocks noChangeArrowheads="1"/>
            </p:cNvSpPr>
            <p:nvPr/>
          </p:nvSpPr>
          <p:spPr bwMode="auto">
            <a:xfrm>
              <a:off x="1992" y="2354"/>
              <a:ext cx="576" cy="20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sz="2000" dirty="0"/>
                <a:t>表4.</a:t>
              </a:r>
              <a:r>
                <a:rPr lang="zh-CN" altLang="en-US" sz="2000" dirty="0" smtClean="0"/>
                <a:t>1</a:t>
              </a:r>
              <a:r>
                <a:rPr lang="en-US" altLang="zh-CN" sz="2000" dirty="0" smtClean="0"/>
                <a:t>8</a:t>
              </a:r>
              <a:endParaRPr lang="zh-CN"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2468">
                                            <p:txEl>
                                              <p:pRg st="0" end="0"/>
                                            </p:txEl>
                                          </p:spTgt>
                                        </p:tgtEl>
                                        <p:attrNameLst>
                                          <p:attrName>style.visibility</p:attrName>
                                        </p:attrNameLst>
                                      </p:cBhvr>
                                      <p:to>
                                        <p:strVal val="visible"/>
                                      </p:to>
                                    </p:set>
                                    <p:animEffect transition="in" filter="wipe(left)">
                                      <p:cBhvr>
                                        <p:cTn id="7" dur="300"/>
                                        <p:tgtEl>
                                          <p:spTgt spid="6246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2469"/>
                                        </p:tgtEl>
                                        <p:attrNameLst>
                                          <p:attrName>style.visibility</p:attrName>
                                        </p:attrNameLst>
                                      </p:cBhvr>
                                      <p:to>
                                        <p:strVal val="visible"/>
                                      </p:to>
                                    </p:set>
                                    <p:animEffect transition="in" filter="wipe(left)">
                                      <p:cBhvr>
                                        <p:cTn id="12" dur="300"/>
                                        <p:tgtEl>
                                          <p:spTgt spid="624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474"/>
                                        </p:tgtEl>
                                        <p:attrNameLst>
                                          <p:attrName>style.visibility</p:attrName>
                                        </p:attrNameLst>
                                      </p:cBhvr>
                                      <p:to>
                                        <p:strVal val="visible"/>
                                      </p:to>
                                    </p:set>
                                    <p:animEffect transition="in" filter="wipe(left)">
                                      <p:cBhvr>
                                        <p:cTn id="17" dur="500"/>
                                        <p:tgtEl>
                                          <p:spTgt spid="624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2471"/>
                                        </p:tgtEl>
                                        <p:attrNameLst>
                                          <p:attrName>style.visibility</p:attrName>
                                        </p:attrNameLst>
                                      </p:cBhvr>
                                      <p:to>
                                        <p:strVal val="visible"/>
                                      </p:to>
                                    </p:set>
                                    <p:animEffect transition="in" filter="wipe(left)">
                                      <p:cBhvr>
                                        <p:cTn id="22" dur="300"/>
                                        <p:tgtEl>
                                          <p:spTgt spid="624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2475"/>
                                        </p:tgtEl>
                                        <p:attrNameLst>
                                          <p:attrName>style.visibility</p:attrName>
                                        </p:attrNameLst>
                                      </p:cBhvr>
                                      <p:to>
                                        <p:strVal val="visible"/>
                                      </p:to>
                                    </p:set>
                                    <p:animEffect transition="in" filter="wipe(left)">
                                      <p:cBhvr>
                                        <p:cTn id="27" dur="500"/>
                                        <p:tgtEl>
                                          <p:spTgt spid="624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62472"/>
                                        </p:tgtEl>
                                        <p:attrNameLst>
                                          <p:attrName>style.visibility</p:attrName>
                                        </p:attrNameLst>
                                      </p:cBhvr>
                                      <p:to>
                                        <p:strVal val="visible"/>
                                      </p:to>
                                    </p:set>
                                    <p:animEffect transition="in" filter="wipe(left)">
                                      <p:cBhvr>
                                        <p:cTn id="32" dur="300"/>
                                        <p:tgtEl>
                                          <p:spTgt spid="624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2477"/>
                                        </p:tgtEl>
                                        <p:attrNameLst>
                                          <p:attrName>style.visibility</p:attrName>
                                        </p:attrNameLst>
                                      </p:cBhvr>
                                      <p:to>
                                        <p:strVal val="visible"/>
                                      </p:to>
                                    </p:set>
                                    <p:anim calcmode="lin" valueType="num">
                                      <p:cBhvr additive="base">
                                        <p:cTn id="37" dur="500" fill="hold"/>
                                        <p:tgtEl>
                                          <p:spTgt spid="62477"/>
                                        </p:tgtEl>
                                        <p:attrNameLst>
                                          <p:attrName>ppt_x</p:attrName>
                                        </p:attrNameLst>
                                      </p:cBhvr>
                                      <p:tavLst>
                                        <p:tav tm="0">
                                          <p:val>
                                            <p:strVal val="0-#ppt_w/2"/>
                                          </p:val>
                                        </p:tav>
                                        <p:tav tm="100000">
                                          <p:val>
                                            <p:strVal val="#ppt_x"/>
                                          </p:val>
                                        </p:tav>
                                      </p:tavLst>
                                    </p:anim>
                                    <p:anim calcmode="lin" valueType="num">
                                      <p:cBhvr additive="base">
                                        <p:cTn id="38" dur="500" fill="hold"/>
                                        <p:tgtEl>
                                          <p:spTgt spid="624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build="p" autoUpdateAnimBg="0"/>
      <p:bldP spid="62469" grpId="0" autoUpdateAnimBg="0"/>
      <p:bldP spid="62471" grpId="0" autoUpdateAnimBg="0"/>
      <p:bldP spid="6247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2C29179-A059-49C5-AE2C-0E2D5791A1F7}" type="slidenum">
              <a:rPr kumimoji="0" lang="zh-CN" altLang="en-US" sz="2000" smtClean="0">
                <a:solidFill>
                  <a:srgbClr val="0000FF"/>
                </a:solidFill>
              </a:rPr>
              <a:pPr eaLnBrk="1" hangingPunct="1"/>
              <a:t>15</a:t>
            </a:fld>
            <a:endParaRPr kumimoji="0" lang="en-US" altLang="zh-CN" sz="2000">
              <a:solidFill>
                <a:srgbClr val="0000FF"/>
              </a:solidFill>
            </a:endParaRPr>
          </a:p>
        </p:txBody>
      </p:sp>
      <p:sp>
        <p:nvSpPr>
          <p:cNvPr id="11266" name="Text Box 2"/>
          <p:cNvSpPr txBox="1">
            <a:spLocks noChangeArrowheads="1"/>
          </p:cNvSpPr>
          <p:nvPr/>
        </p:nvSpPr>
        <p:spPr bwMode="auto">
          <a:xfrm>
            <a:off x="293688" y="379810"/>
            <a:ext cx="4264765"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latin typeface="宋体" pitchFamily="2" charset="-122"/>
              </a:rPr>
              <a:t>具体选用几何公差时应</a:t>
            </a:r>
            <a:r>
              <a:rPr lang="zh-CN" altLang="en-US" sz="2000" b="1" dirty="0" smtClean="0">
                <a:latin typeface="宋体" pitchFamily="2" charset="-122"/>
              </a:rPr>
              <a:t>参考</a:t>
            </a:r>
            <a:endParaRPr lang="zh-CN" altLang="en-US" sz="2000" b="1" dirty="0"/>
          </a:p>
        </p:txBody>
      </p:sp>
      <p:grpSp>
        <p:nvGrpSpPr>
          <p:cNvPr id="11275" name="Group 11"/>
          <p:cNvGrpSpPr>
            <a:grpSpLocks/>
          </p:cNvGrpSpPr>
          <p:nvPr/>
        </p:nvGrpSpPr>
        <p:grpSpPr bwMode="auto">
          <a:xfrm>
            <a:off x="436563" y="906067"/>
            <a:ext cx="7994650" cy="3567113"/>
            <a:chOff x="275" y="824"/>
            <a:chExt cx="5036" cy="2996"/>
          </a:xfrm>
        </p:grpSpPr>
        <p:pic>
          <p:nvPicPr>
            <p:cNvPr id="17413" name="Picture 6"/>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75" y="836"/>
              <a:ext cx="5036" cy="29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7414" name="Rectangle 10"/>
            <p:cNvSpPr>
              <a:spLocks noChangeArrowheads="1"/>
            </p:cNvSpPr>
            <p:nvPr/>
          </p:nvSpPr>
          <p:spPr bwMode="auto">
            <a:xfrm>
              <a:off x="1029" y="824"/>
              <a:ext cx="458" cy="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sz="2000" dirty="0"/>
                <a:t>表4.</a:t>
              </a:r>
              <a:r>
                <a:rPr lang="zh-CN" altLang="en-US" sz="2000" dirty="0" smtClean="0"/>
                <a:t>1</a:t>
              </a:r>
              <a:r>
                <a:rPr lang="en-US" altLang="zh-CN" sz="2000" dirty="0" smtClean="0"/>
                <a:t>9</a:t>
              </a:r>
              <a:endParaRPr lang="zh-CN"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266"/>
                                        </p:tgtEl>
                                        <p:attrNameLst>
                                          <p:attrName>style.visibility</p:attrName>
                                        </p:attrNameLst>
                                      </p:cBhvr>
                                      <p:to>
                                        <p:strVal val="visible"/>
                                      </p:to>
                                    </p:set>
                                    <p:animEffect transition="in" filter="wipe(left)">
                                      <p:cBhvr>
                                        <p:cTn id="7" dur="3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1275"/>
                                        </p:tgtEl>
                                        <p:attrNameLst>
                                          <p:attrName>style.visibility</p:attrName>
                                        </p:attrNameLst>
                                      </p:cBhvr>
                                      <p:to>
                                        <p:strVal val="visible"/>
                                      </p:to>
                                    </p:set>
                                    <p:anim calcmode="lin" valueType="num">
                                      <p:cBhvr additive="base">
                                        <p:cTn id="12" dur="500" fill="hold"/>
                                        <p:tgtEl>
                                          <p:spTgt spid="11275"/>
                                        </p:tgtEl>
                                        <p:attrNameLst>
                                          <p:attrName>ppt_x</p:attrName>
                                        </p:attrNameLst>
                                      </p:cBhvr>
                                      <p:tavLst>
                                        <p:tav tm="0">
                                          <p:val>
                                            <p:strVal val="0-#ppt_w/2"/>
                                          </p:val>
                                        </p:tav>
                                        <p:tav tm="100000">
                                          <p:val>
                                            <p:strVal val="#ppt_x"/>
                                          </p:val>
                                        </p:tav>
                                      </p:tavLst>
                                    </p:anim>
                                    <p:anim calcmode="lin" valueType="num">
                                      <p:cBhvr additive="base">
                                        <p:cTn id="13" dur="500" fill="hold"/>
                                        <p:tgtEl>
                                          <p:spTgt spid="112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A717A713-3871-4B7A-92B6-9BE321C2821D}" type="slidenum">
              <a:rPr kumimoji="0" lang="zh-CN" altLang="en-US" sz="2000" smtClean="0">
                <a:solidFill>
                  <a:srgbClr val="0000FF"/>
                </a:solidFill>
              </a:rPr>
              <a:pPr eaLnBrk="1" hangingPunct="1"/>
              <a:t>16</a:t>
            </a:fld>
            <a:endParaRPr kumimoji="0" lang="en-US" altLang="zh-CN" sz="2000">
              <a:solidFill>
                <a:srgbClr val="0000FF"/>
              </a:solidFill>
            </a:endParaRPr>
          </a:p>
        </p:txBody>
      </p:sp>
      <p:grpSp>
        <p:nvGrpSpPr>
          <p:cNvPr id="105480" name="Group 8"/>
          <p:cNvGrpSpPr>
            <a:grpSpLocks/>
          </p:cNvGrpSpPr>
          <p:nvPr/>
        </p:nvGrpSpPr>
        <p:grpSpPr bwMode="auto">
          <a:xfrm>
            <a:off x="680838" y="619818"/>
            <a:ext cx="7615237" cy="3128963"/>
            <a:chOff x="407" y="218"/>
            <a:chExt cx="4797" cy="2628"/>
          </a:xfrm>
        </p:grpSpPr>
        <p:pic>
          <p:nvPicPr>
            <p:cNvPr id="18437" name="Picture 4"/>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7" y="218"/>
              <a:ext cx="4797" cy="26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8438" name="Rectangle 7"/>
            <p:cNvSpPr>
              <a:spLocks noChangeArrowheads="1"/>
            </p:cNvSpPr>
            <p:nvPr/>
          </p:nvSpPr>
          <p:spPr bwMode="auto">
            <a:xfrm>
              <a:off x="1163" y="290"/>
              <a:ext cx="576" cy="212"/>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sz="2000" dirty="0"/>
                <a:t>表4</a:t>
              </a:r>
              <a:r>
                <a:rPr lang="zh-CN" altLang="en-US" sz="2000" dirty="0" smtClean="0"/>
                <a:t>.</a:t>
              </a:r>
              <a:r>
                <a:rPr lang="en-US" altLang="zh-CN" sz="2000" dirty="0" smtClean="0"/>
                <a:t>20</a:t>
              </a:r>
              <a:endParaRPr lang="zh-CN" altLang="en-US" sz="20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05480"/>
                                        </p:tgtEl>
                                        <p:attrNameLst>
                                          <p:attrName>style.visibility</p:attrName>
                                        </p:attrNameLst>
                                      </p:cBhvr>
                                      <p:to>
                                        <p:strVal val="visible"/>
                                      </p:to>
                                    </p:set>
                                    <p:anim calcmode="lin" valueType="num">
                                      <p:cBhvr additive="base">
                                        <p:cTn id="7" dur="500" fill="hold"/>
                                        <p:tgtEl>
                                          <p:spTgt spid="105480"/>
                                        </p:tgtEl>
                                        <p:attrNameLst>
                                          <p:attrName>ppt_x</p:attrName>
                                        </p:attrNameLst>
                                      </p:cBhvr>
                                      <p:tavLst>
                                        <p:tav tm="0">
                                          <p:val>
                                            <p:strVal val="0-#ppt_w/2"/>
                                          </p:val>
                                        </p:tav>
                                        <p:tav tm="100000">
                                          <p:val>
                                            <p:strVal val="#ppt_x"/>
                                          </p:val>
                                        </p:tav>
                                      </p:tavLst>
                                    </p:anim>
                                    <p:anim calcmode="lin" valueType="num">
                                      <p:cBhvr additive="base">
                                        <p:cTn id="8" dur="500" fill="hold"/>
                                        <p:tgtEl>
                                          <p:spTgt spid="1054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501E5910-95F1-4F3E-899C-3E9074C408CB}" type="slidenum">
              <a:rPr kumimoji="0" lang="zh-CN" altLang="en-US" sz="2000" smtClean="0">
                <a:solidFill>
                  <a:srgbClr val="0000FF"/>
                </a:solidFill>
              </a:rPr>
              <a:pPr eaLnBrk="1" hangingPunct="1"/>
              <a:t>17</a:t>
            </a:fld>
            <a:endParaRPr kumimoji="0" lang="en-US" altLang="zh-CN" sz="2000">
              <a:solidFill>
                <a:srgbClr val="0000FF"/>
              </a:solidFill>
            </a:endParaRPr>
          </a:p>
        </p:txBody>
      </p:sp>
      <p:sp>
        <p:nvSpPr>
          <p:cNvPr id="12290" name="Text Box 2"/>
          <p:cNvSpPr txBox="1">
            <a:spLocks noChangeArrowheads="1"/>
          </p:cNvSpPr>
          <p:nvPr/>
        </p:nvSpPr>
        <p:spPr bwMode="auto">
          <a:xfrm>
            <a:off x="584200" y="75306"/>
            <a:ext cx="54864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b="1" dirty="0">
                <a:latin typeface="宋体" pitchFamily="2" charset="-122"/>
              </a:rPr>
              <a:t>4.5 几何误差及其检测</a:t>
            </a:r>
          </a:p>
        </p:txBody>
      </p:sp>
      <p:sp>
        <p:nvSpPr>
          <p:cNvPr id="12384" name="Text Box 96"/>
          <p:cNvSpPr txBox="1">
            <a:spLocks noChangeArrowheads="1"/>
          </p:cNvSpPr>
          <p:nvPr/>
        </p:nvSpPr>
        <p:spPr bwMode="auto">
          <a:xfrm>
            <a:off x="584200" y="604748"/>
            <a:ext cx="556260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4.5.1  形状误差及其评定</a:t>
            </a:r>
            <a:r>
              <a:rPr lang="zh-CN" altLang="en-US" sz="2000" dirty="0"/>
              <a:t> </a:t>
            </a:r>
          </a:p>
        </p:txBody>
      </p:sp>
      <p:grpSp>
        <p:nvGrpSpPr>
          <p:cNvPr id="12414" name="Group 126"/>
          <p:cNvGrpSpPr>
            <a:grpSpLocks/>
          </p:cNvGrpSpPr>
          <p:nvPr/>
        </p:nvGrpSpPr>
        <p:grpSpPr bwMode="auto">
          <a:xfrm>
            <a:off x="1660525" y="1793082"/>
            <a:ext cx="6634163" cy="3199210"/>
            <a:chOff x="1046" y="1426"/>
            <a:chExt cx="4179" cy="2687"/>
          </a:xfrm>
        </p:grpSpPr>
        <p:grpSp>
          <p:nvGrpSpPr>
            <p:cNvPr id="19473" name="Group 124"/>
            <p:cNvGrpSpPr>
              <a:grpSpLocks/>
            </p:cNvGrpSpPr>
            <p:nvPr/>
          </p:nvGrpSpPr>
          <p:grpSpPr bwMode="auto">
            <a:xfrm>
              <a:off x="1046" y="1426"/>
              <a:ext cx="4179" cy="2687"/>
              <a:chOff x="1046" y="1426"/>
              <a:chExt cx="4179" cy="2687"/>
            </a:xfrm>
          </p:grpSpPr>
          <p:pic>
            <p:nvPicPr>
              <p:cNvPr id="19475" name="Picture 12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46" y="1426"/>
                <a:ext cx="4179" cy="2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9476" name="Text Box 123"/>
              <p:cNvSpPr txBox="1">
                <a:spLocks noChangeArrowheads="1"/>
              </p:cNvSpPr>
              <p:nvPr/>
            </p:nvSpPr>
            <p:spPr bwMode="auto">
              <a:xfrm>
                <a:off x="2305" y="3803"/>
                <a:ext cx="1474" cy="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1800" b="1" dirty="0">
                    <a:latin typeface="宋体" pitchFamily="2" charset="-122"/>
                  </a:rPr>
                  <a:t>图4.34 直线度误差</a:t>
                </a:r>
              </a:p>
            </p:txBody>
          </p:sp>
        </p:grpSp>
        <p:sp>
          <p:nvSpPr>
            <p:cNvPr id="19474" name="Freeform 125"/>
            <p:cNvSpPr>
              <a:spLocks/>
            </p:cNvSpPr>
            <p:nvPr/>
          </p:nvSpPr>
          <p:spPr bwMode="auto">
            <a:xfrm>
              <a:off x="1920" y="2085"/>
              <a:ext cx="2002" cy="539"/>
            </a:xfrm>
            <a:custGeom>
              <a:avLst/>
              <a:gdLst>
                <a:gd name="T0" fmla="*/ 0 w 2002"/>
                <a:gd name="T1" fmla="*/ 539 h 539"/>
                <a:gd name="T2" fmla="*/ 128 w 2002"/>
                <a:gd name="T3" fmla="*/ 512 h 539"/>
                <a:gd name="T4" fmla="*/ 155 w 2002"/>
                <a:gd name="T5" fmla="*/ 503 h 539"/>
                <a:gd name="T6" fmla="*/ 539 w 2002"/>
                <a:gd name="T7" fmla="*/ 429 h 539"/>
                <a:gd name="T8" fmla="*/ 613 w 2002"/>
                <a:gd name="T9" fmla="*/ 393 h 539"/>
                <a:gd name="T10" fmla="*/ 649 w 2002"/>
                <a:gd name="T11" fmla="*/ 311 h 539"/>
                <a:gd name="T12" fmla="*/ 841 w 2002"/>
                <a:gd name="T13" fmla="*/ 301 h 539"/>
                <a:gd name="T14" fmla="*/ 896 w 2002"/>
                <a:gd name="T15" fmla="*/ 237 h 539"/>
                <a:gd name="T16" fmla="*/ 923 w 2002"/>
                <a:gd name="T17" fmla="*/ 228 h 539"/>
                <a:gd name="T18" fmla="*/ 951 w 2002"/>
                <a:gd name="T19" fmla="*/ 210 h 539"/>
                <a:gd name="T20" fmla="*/ 978 w 2002"/>
                <a:gd name="T21" fmla="*/ 164 h 539"/>
                <a:gd name="T22" fmla="*/ 987 w 2002"/>
                <a:gd name="T23" fmla="*/ 137 h 539"/>
                <a:gd name="T24" fmla="*/ 1033 w 2002"/>
                <a:gd name="T25" fmla="*/ 109 h 539"/>
                <a:gd name="T26" fmla="*/ 1152 w 2002"/>
                <a:gd name="T27" fmla="*/ 0 h 539"/>
                <a:gd name="T28" fmla="*/ 1189 w 2002"/>
                <a:gd name="T29" fmla="*/ 82 h 539"/>
                <a:gd name="T30" fmla="*/ 1207 w 2002"/>
                <a:gd name="T31" fmla="*/ 137 h 539"/>
                <a:gd name="T32" fmla="*/ 1307 w 2002"/>
                <a:gd name="T33" fmla="*/ 155 h 539"/>
                <a:gd name="T34" fmla="*/ 1472 w 2002"/>
                <a:gd name="T35" fmla="*/ 219 h 539"/>
                <a:gd name="T36" fmla="*/ 1518 w 2002"/>
                <a:gd name="T37" fmla="*/ 256 h 539"/>
                <a:gd name="T38" fmla="*/ 1682 w 2002"/>
                <a:gd name="T39" fmla="*/ 311 h 539"/>
                <a:gd name="T40" fmla="*/ 1911 w 2002"/>
                <a:gd name="T41" fmla="*/ 329 h 539"/>
                <a:gd name="T42" fmla="*/ 2002 w 2002"/>
                <a:gd name="T43" fmla="*/ 384 h 5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002" h="539">
                  <a:moveTo>
                    <a:pt x="0" y="539"/>
                  </a:moveTo>
                  <a:cubicBezTo>
                    <a:pt x="91" y="528"/>
                    <a:pt x="50" y="538"/>
                    <a:pt x="128" y="512"/>
                  </a:cubicBezTo>
                  <a:cubicBezTo>
                    <a:pt x="137" y="509"/>
                    <a:pt x="155" y="503"/>
                    <a:pt x="155" y="503"/>
                  </a:cubicBezTo>
                  <a:cubicBezTo>
                    <a:pt x="245" y="413"/>
                    <a:pt x="436" y="434"/>
                    <a:pt x="539" y="429"/>
                  </a:cubicBezTo>
                  <a:cubicBezTo>
                    <a:pt x="602" y="408"/>
                    <a:pt x="580" y="424"/>
                    <a:pt x="613" y="393"/>
                  </a:cubicBezTo>
                  <a:cubicBezTo>
                    <a:pt x="623" y="363"/>
                    <a:pt x="639" y="341"/>
                    <a:pt x="649" y="311"/>
                  </a:cubicBezTo>
                  <a:cubicBezTo>
                    <a:pt x="712" y="331"/>
                    <a:pt x="779" y="324"/>
                    <a:pt x="841" y="301"/>
                  </a:cubicBezTo>
                  <a:cubicBezTo>
                    <a:pt x="855" y="281"/>
                    <a:pt x="874" y="250"/>
                    <a:pt x="896" y="237"/>
                  </a:cubicBezTo>
                  <a:cubicBezTo>
                    <a:pt x="904" y="232"/>
                    <a:pt x="914" y="232"/>
                    <a:pt x="923" y="228"/>
                  </a:cubicBezTo>
                  <a:cubicBezTo>
                    <a:pt x="933" y="223"/>
                    <a:pt x="942" y="216"/>
                    <a:pt x="951" y="210"/>
                  </a:cubicBezTo>
                  <a:cubicBezTo>
                    <a:pt x="976" y="135"/>
                    <a:pt x="941" y="227"/>
                    <a:pt x="978" y="164"/>
                  </a:cubicBezTo>
                  <a:cubicBezTo>
                    <a:pt x="983" y="156"/>
                    <a:pt x="982" y="145"/>
                    <a:pt x="987" y="137"/>
                  </a:cubicBezTo>
                  <a:cubicBezTo>
                    <a:pt x="1002" y="112"/>
                    <a:pt x="1009" y="122"/>
                    <a:pt x="1033" y="109"/>
                  </a:cubicBezTo>
                  <a:cubicBezTo>
                    <a:pt x="1083" y="81"/>
                    <a:pt x="1121" y="47"/>
                    <a:pt x="1152" y="0"/>
                  </a:cubicBezTo>
                  <a:cubicBezTo>
                    <a:pt x="1170" y="27"/>
                    <a:pt x="1179" y="52"/>
                    <a:pt x="1189" y="82"/>
                  </a:cubicBezTo>
                  <a:cubicBezTo>
                    <a:pt x="1195" y="100"/>
                    <a:pt x="1189" y="131"/>
                    <a:pt x="1207" y="137"/>
                  </a:cubicBezTo>
                  <a:cubicBezTo>
                    <a:pt x="1257" y="154"/>
                    <a:pt x="1225" y="145"/>
                    <a:pt x="1307" y="155"/>
                  </a:cubicBezTo>
                  <a:cubicBezTo>
                    <a:pt x="1364" y="174"/>
                    <a:pt x="1419" y="192"/>
                    <a:pt x="1472" y="219"/>
                  </a:cubicBezTo>
                  <a:cubicBezTo>
                    <a:pt x="1490" y="228"/>
                    <a:pt x="1500" y="247"/>
                    <a:pt x="1518" y="256"/>
                  </a:cubicBezTo>
                  <a:cubicBezTo>
                    <a:pt x="1547" y="271"/>
                    <a:pt x="1645" y="307"/>
                    <a:pt x="1682" y="311"/>
                  </a:cubicBezTo>
                  <a:cubicBezTo>
                    <a:pt x="1758" y="320"/>
                    <a:pt x="1835" y="322"/>
                    <a:pt x="1911" y="329"/>
                  </a:cubicBezTo>
                  <a:cubicBezTo>
                    <a:pt x="1946" y="341"/>
                    <a:pt x="1969" y="367"/>
                    <a:pt x="2002" y="384"/>
                  </a:cubicBezTo>
                </a:path>
              </a:pathLst>
            </a:custGeom>
            <a:noFill/>
            <a:ln w="76200" cap="flat" cmpd="sng">
              <a:solidFill>
                <a:srgbClr val="FF3300"/>
              </a:solidFill>
              <a:prstDash val="solid"/>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415" name="AutoShape 127"/>
          <p:cNvSpPr>
            <a:spLocks noChangeArrowheads="1"/>
          </p:cNvSpPr>
          <p:nvPr/>
        </p:nvSpPr>
        <p:spPr bwMode="auto">
          <a:xfrm>
            <a:off x="973139" y="1913335"/>
            <a:ext cx="1304925" cy="751284"/>
          </a:xfrm>
          <a:prstGeom prst="wedgeRoundRectCallout">
            <a:avLst>
              <a:gd name="adj1" fmla="val 186741"/>
              <a:gd name="adj2" fmla="val 98338"/>
              <a:gd name="adj3" fmla="val 16667"/>
            </a:avLst>
          </a:prstGeom>
          <a:noFill/>
          <a:ln w="38100">
            <a:solidFill>
              <a:srgbClr val="FF33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b="1" dirty="0">
                <a:solidFill>
                  <a:srgbClr val="FF3300"/>
                </a:solidFill>
              </a:rPr>
              <a:t>实际</a:t>
            </a:r>
          </a:p>
          <a:p>
            <a:r>
              <a:rPr lang="zh-CN" altLang="en-US" b="1" dirty="0">
                <a:solidFill>
                  <a:srgbClr val="FF3300"/>
                </a:solidFill>
              </a:rPr>
              <a:t>要素</a:t>
            </a:r>
          </a:p>
        </p:txBody>
      </p:sp>
      <p:sp>
        <p:nvSpPr>
          <p:cNvPr id="12416" name="Rectangle 128"/>
          <p:cNvSpPr>
            <a:spLocks noChangeArrowheads="1"/>
          </p:cNvSpPr>
          <p:nvPr/>
        </p:nvSpPr>
        <p:spPr bwMode="auto">
          <a:xfrm>
            <a:off x="6662739" y="3579019"/>
            <a:ext cx="695325" cy="675085"/>
          </a:xfrm>
          <a:prstGeom prst="rect">
            <a:avLst/>
          </a:prstGeom>
          <a:noFill/>
          <a:ln w="57150">
            <a:solidFill>
              <a:srgbClr val="FF33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7" name="Rectangle 129"/>
          <p:cNvSpPr>
            <a:spLocks noChangeArrowheads="1"/>
          </p:cNvSpPr>
          <p:nvPr/>
        </p:nvSpPr>
        <p:spPr bwMode="auto">
          <a:xfrm>
            <a:off x="1873251" y="3623072"/>
            <a:ext cx="695325" cy="675084"/>
          </a:xfrm>
          <a:prstGeom prst="rect">
            <a:avLst/>
          </a:prstGeom>
          <a:noFill/>
          <a:ln w="57150">
            <a:solidFill>
              <a:srgbClr val="FF33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8" name="Rectangle 130"/>
          <p:cNvSpPr>
            <a:spLocks noChangeArrowheads="1"/>
          </p:cNvSpPr>
          <p:nvPr/>
        </p:nvSpPr>
        <p:spPr bwMode="auto">
          <a:xfrm>
            <a:off x="7273926" y="2350294"/>
            <a:ext cx="695325" cy="675085"/>
          </a:xfrm>
          <a:prstGeom prst="rect">
            <a:avLst/>
          </a:prstGeom>
          <a:noFill/>
          <a:ln w="57150">
            <a:solidFill>
              <a:srgbClr val="FF33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9" name="Rectangle 131"/>
          <p:cNvSpPr>
            <a:spLocks noChangeArrowheads="1"/>
          </p:cNvSpPr>
          <p:nvPr/>
        </p:nvSpPr>
        <p:spPr bwMode="auto">
          <a:xfrm>
            <a:off x="4211638" y="1625203"/>
            <a:ext cx="1566862" cy="679847"/>
          </a:xfrm>
          <a:prstGeom prst="rect">
            <a:avLst/>
          </a:prstGeom>
          <a:noFill/>
          <a:ln w="57150">
            <a:solidFill>
              <a:schemeClr val="tx1"/>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sz="2000" b="1"/>
              <a:t>理想要素</a:t>
            </a:r>
          </a:p>
        </p:txBody>
      </p:sp>
      <p:sp>
        <p:nvSpPr>
          <p:cNvPr id="12420" name="Line 132"/>
          <p:cNvSpPr>
            <a:spLocks noChangeShapeType="1"/>
          </p:cNvSpPr>
          <p:nvPr/>
        </p:nvSpPr>
        <p:spPr bwMode="auto">
          <a:xfrm flipH="1">
            <a:off x="3767139" y="2021682"/>
            <a:ext cx="428625" cy="175022"/>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421" name="Line 133"/>
          <p:cNvSpPr>
            <a:spLocks noChangeShapeType="1"/>
          </p:cNvSpPr>
          <p:nvPr/>
        </p:nvSpPr>
        <p:spPr bwMode="auto">
          <a:xfrm>
            <a:off x="5819775" y="1945481"/>
            <a:ext cx="546100" cy="109538"/>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422" name="Line 134"/>
          <p:cNvSpPr>
            <a:spLocks noChangeShapeType="1"/>
          </p:cNvSpPr>
          <p:nvPr/>
        </p:nvSpPr>
        <p:spPr bwMode="auto">
          <a:xfrm>
            <a:off x="4659314" y="2315767"/>
            <a:ext cx="1495425" cy="163115"/>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23" name="Line 135"/>
          <p:cNvSpPr>
            <a:spLocks noChangeShapeType="1"/>
          </p:cNvSpPr>
          <p:nvPr/>
        </p:nvSpPr>
        <p:spPr bwMode="auto">
          <a:xfrm>
            <a:off x="3367089" y="2065735"/>
            <a:ext cx="4340225" cy="1447800"/>
          </a:xfrm>
          <a:prstGeom prst="line">
            <a:avLst/>
          </a:prstGeom>
          <a:noFill/>
          <a:ln w="7620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25" name="Line 137"/>
          <p:cNvSpPr>
            <a:spLocks noChangeShapeType="1"/>
          </p:cNvSpPr>
          <p:nvPr/>
        </p:nvSpPr>
        <p:spPr bwMode="auto">
          <a:xfrm>
            <a:off x="2466975" y="3022998"/>
            <a:ext cx="4718050" cy="1578769"/>
          </a:xfrm>
          <a:prstGeom prst="line">
            <a:avLst/>
          </a:prstGeom>
          <a:noFill/>
          <a:ln w="7620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1" name="直接连接符 20">
            <a:extLst>
              <a:ext uri="{FF2B5EF4-FFF2-40B4-BE49-F238E27FC236}">
                <a16:creationId xmlns="" xmlns:a16="http://schemas.microsoft.com/office/drawing/2014/main" id="{07231D8A-E926-4EFA-B9F5-624C403974BB}"/>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 name="文本框 1">
            <a:extLst>
              <a:ext uri="{FF2B5EF4-FFF2-40B4-BE49-F238E27FC236}">
                <a16:creationId xmlns="" xmlns:a16="http://schemas.microsoft.com/office/drawing/2014/main" id="{A8726FA9-AD97-4F7C-8457-6B257722300A}"/>
              </a:ext>
            </a:extLst>
          </p:cNvPr>
          <p:cNvSpPr txBox="1"/>
          <p:nvPr/>
        </p:nvSpPr>
        <p:spPr>
          <a:xfrm>
            <a:off x="1028080" y="1015573"/>
            <a:ext cx="6067379" cy="400110"/>
          </a:xfrm>
          <a:prstGeom prst="rect">
            <a:avLst/>
          </a:prstGeom>
          <a:noFill/>
        </p:spPr>
        <p:txBody>
          <a:bodyPr wrap="square" rtlCol="0">
            <a:spAutoFit/>
          </a:bodyPr>
          <a:lstStyle/>
          <a:p>
            <a:r>
              <a:rPr lang="en-US" altLang="zh-CN" sz="2000" i="1" dirty="0"/>
              <a:t>f</a:t>
            </a:r>
            <a:r>
              <a:rPr lang="zh-CN" altLang="en-US" sz="2000" baseline="-25000" dirty="0"/>
              <a:t>形状</a:t>
            </a:r>
            <a:r>
              <a:rPr lang="zh-CN" altLang="en-US" sz="2000" dirty="0"/>
              <a:t>：被测实际要素的形状对其理想形状的变动量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wipe(left)">
                                      <p:cBhvr>
                                        <p:cTn id="7" dur="300"/>
                                        <p:tgtEl>
                                          <p:spTgt spid="122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384">
                                            <p:txEl>
                                              <p:pRg st="0" end="0"/>
                                            </p:txEl>
                                          </p:spTgt>
                                        </p:tgtEl>
                                        <p:attrNameLst>
                                          <p:attrName>style.visibility</p:attrName>
                                        </p:attrNameLst>
                                      </p:cBhvr>
                                      <p:to>
                                        <p:strVal val="visible"/>
                                      </p:to>
                                    </p:set>
                                    <p:animEffect transition="in" filter="wipe(left)">
                                      <p:cBhvr>
                                        <p:cTn id="12" dur="300"/>
                                        <p:tgtEl>
                                          <p:spTgt spid="1238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2414"/>
                                        </p:tgtEl>
                                        <p:attrNameLst>
                                          <p:attrName>style.visibility</p:attrName>
                                        </p:attrNameLst>
                                      </p:cBhvr>
                                      <p:to>
                                        <p:strVal val="visible"/>
                                      </p:to>
                                    </p:set>
                                    <p:anim calcmode="lin" valueType="num">
                                      <p:cBhvr additive="base">
                                        <p:cTn id="17" dur="500" fill="hold"/>
                                        <p:tgtEl>
                                          <p:spTgt spid="12414"/>
                                        </p:tgtEl>
                                        <p:attrNameLst>
                                          <p:attrName>ppt_x</p:attrName>
                                        </p:attrNameLst>
                                      </p:cBhvr>
                                      <p:tavLst>
                                        <p:tav tm="0">
                                          <p:val>
                                            <p:strVal val="0-#ppt_w/2"/>
                                          </p:val>
                                        </p:tav>
                                        <p:tav tm="100000">
                                          <p:val>
                                            <p:strVal val="#ppt_x"/>
                                          </p:val>
                                        </p:tav>
                                      </p:tavLst>
                                    </p:anim>
                                    <p:anim calcmode="lin" valueType="num">
                                      <p:cBhvr additive="base">
                                        <p:cTn id="18" dur="500" fill="hold"/>
                                        <p:tgtEl>
                                          <p:spTgt spid="1241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415"/>
                                        </p:tgtEl>
                                        <p:attrNameLst>
                                          <p:attrName>style.visibility</p:attrName>
                                        </p:attrNameLst>
                                      </p:cBhvr>
                                      <p:to>
                                        <p:strVal val="visible"/>
                                      </p:to>
                                    </p:set>
                                    <p:anim calcmode="lin" valueType="num">
                                      <p:cBhvr>
                                        <p:cTn id="23" dur="500" fill="hold"/>
                                        <p:tgtEl>
                                          <p:spTgt spid="12415"/>
                                        </p:tgtEl>
                                        <p:attrNameLst>
                                          <p:attrName>ppt_x</p:attrName>
                                        </p:attrNameLst>
                                      </p:cBhvr>
                                      <p:tavLst>
                                        <p:tav tm="0">
                                          <p:val>
                                            <p:strVal val="#ppt_x-#ppt_w/2"/>
                                          </p:val>
                                        </p:tav>
                                        <p:tav tm="100000">
                                          <p:val>
                                            <p:strVal val="#ppt_x"/>
                                          </p:val>
                                        </p:tav>
                                      </p:tavLst>
                                    </p:anim>
                                    <p:anim calcmode="lin" valueType="num">
                                      <p:cBhvr>
                                        <p:cTn id="24" dur="500" fill="hold"/>
                                        <p:tgtEl>
                                          <p:spTgt spid="12415"/>
                                        </p:tgtEl>
                                        <p:attrNameLst>
                                          <p:attrName>ppt_y</p:attrName>
                                        </p:attrNameLst>
                                      </p:cBhvr>
                                      <p:tavLst>
                                        <p:tav tm="0">
                                          <p:val>
                                            <p:strVal val="#ppt_y"/>
                                          </p:val>
                                        </p:tav>
                                        <p:tav tm="100000">
                                          <p:val>
                                            <p:strVal val="#ppt_y"/>
                                          </p:val>
                                        </p:tav>
                                      </p:tavLst>
                                    </p:anim>
                                    <p:anim calcmode="lin" valueType="num">
                                      <p:cBhvr>
                                        <p:cTn id="25" dur="500" fill="hold"/>
                                        <p:tgtEl>
                                          <p:spTgt spid="12415"/>
                                        </p:tgtEl>
                                        <p:attrNameLst>
                                          <p:attrName>ppt_w</p:attrName>
                                        </p:attrNameLst>
                                      </p:cBhvr>
                                      <p:tavLst>
                                        <p:tav tm="0">
                                          <p:val>
                                            <p:fltVal val="0"/>
                                          </p:val>
                                        </p:tav>
                                        <p:tav tm="100000">
                                          <p:val>
                                            <p:strVal val="#ppt_w"/>
                                          </p:val>
                                        </p:tav>
                                      </p:tavLst>
                                    </p:anim>
                                    <p:anim calcmode="lin" valueType="num">
                                      <p:cBhvr>
                                        <p:cTn id="26" dur="500" fill="hold"/>
                                        <p:tgtEl>
                                          <p:spTgt spid="12415"/>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37" fill="hold" grpId="0" nodeType="clickEffect">
                                  <p:stCondLst>
                                    <p:cond delay="0"/>
                                  </p:stCondLst>
                                  <p:childTnLst>
                                    <p:set>
                                      <p:cBhvr>
                                        <p:cTn id="30" dur="1" fill="hold">
                                          <p:stCondLst>
                                            <p:cond delay="0"/>
                                          </p:stCondLst>
                                        </p:cTn>
                                        <p:tgtEl>
                                          <p:spTgt spid="12423"/>
                                        </p:tgtEl>
                                        <p:attrNameLst>
                                          <p:attrName>style.visibility</p:attrName>
                                        </p:attrNameLst>
                                      </p:cBhvr>
                                      <p:to>
                                        <p:strVal val="visible"/>
                                      </p:to>
                                    </p:set>
                                    <p:animEffect transition="in" filter="barn(outVertical)">
                                      <p:cBhvr>
                                        <p:cTn id="31" dur="500"/>
                                        <p:tgtEl>
                                          <p:spTgt spid="1242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2419"/>
                                        </p:tgtEl>
                                        <p:attrNameLst>
                                          <p:attrName>style.visibility</p:attrName>
                                        </p:attrNameLst>
                                      </p:cBhvr>
                                      <p:to>
                                        <p:strVal val="visible"/>
                                      </p:to>
                                    </p:set>
                                    <p:animEffect transition="in" filter="wipe(left)">
                                      <p:cBhvr>
                                        <p:cTn id="36" dur="300"/>
                                        <p:tgtEl>
                                          <p:spTgt spid="1241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2" fill="hold" grpId="0" nodeType="clickEffect">
                                  <p:stCondLst>
                                    <p:cond delay="0"/>
                                  </p:stCondLst>
                                  <p:childTnLst>
                                    <p:set>
                                      <p:cBhvr>
                                        <p:cTn id="40" dur="1" fill="hold">
                                          <p:stCondLst>
                                            <p:cond delay="0"/>
                                          </p:stCondLst>
                                        </p:cTn>
                                        <p:tgtEl>
                                          <p:spTgt spid="12420"/>
                                        </p:tgtEl>
                                        <p:attrNameLst>
                                          <p:attrName>style.visibility</p:attrName>
                                        </p:attrNameLst>
                                      </p:cBhvr>
                                      <p:to>
                                        <p:strVal val="visible"/>
                                      </p:to>
                                    </p:set>
                                    <p:anim calcmode="lin" valueType="num">
                                      <p:cBhvr>
                                        <p:cTn id="41" dur="500" fill="hold"/>
                                        <p:tgtEl>
                                          <p:spTgt spid="12420"/>
                                        </p:tgtEl>
                                        <p:attrNameLst>
                                          <p:attrName>ppt_x</p:attrName>
                                        </p:attrNameLst>
                                      </p:cBhvr>
                                      <p:tavLst>
                                        <p:tav tm="0">
                                          <p:val>
                                            <p:strVal val="#ppt_x+#ppt_w/2"/>
                                          </p:val>
                                        </p:tav>
                                        <p:tav tm="100000">
                                          <p:val>
                                            <p:strVal val="#ppt_x"/>
                                          </p:val>
                                        </p:tav>
                                      </p:tavLst>
                                    </p:anim>
                                    <p:anim calcmode="lin" valueType="num">
                                      <p:cBhvr>
                                        <p:cTn id="42" dur="500" fill="hold"/>
                                        <p:tgtEl>
                                          <p:spTgt spid="12420"/>
                                        </p:tgtEl>
                                        <p:attrNameLst>
                                          <p:attrName>ppt_y</p:attrName>
                                        </p:attrNameLst>
                                      </p:cBhvr>
                                      <p:tavLst>
                                        <p:tav tm="0">
                                          <p:val>
                                            <p:strVal val="#ppt_y"/>
                                          </p:val>
                                        </p:tav>
                                        <p:tav tm="100000">
                                          <p:val>
                                            <p:strVal val="#ppt_y"/>
                                          </p:val>
                                        </p:tav>
                                      </p:tavLst>
                                    </p:anim>
                                    <p:anim calcmode="lin" valueType="num">
                                      <p:cBhvr>
                                        <p:cTn id="43" dur="500" fill="hold"/>
                                        <p:tgtEl>
                                          <p:spTgt spid="12420"/>
                                        </p:tgtEl>
                                        <p:attrNameLst>
                                          <p:attrName>ppt_w</p:attrName>
                                        </p:attrNameLst>
                                      </p:cBhvr>
                                      <p:tavLst>
                                        <p:tav tm="0">
                                          <p:val>
                                            <p:fltVal val="0"/>
                                          </p:val>
                                        </p:tav>
                                        <p:tav tm="100000">
                                          <p:val>
                                            <p:strVal val="#ppt_w"/>
                                          </p:val>
                                        </p:tav>
                                      </p:tavLst>
                                    </p:anim>
                                    <p:anim calcmode="lin" valueType="num">
                                      <p:cBhvr>
                                        <p:cTn id="44" dur="500" fill="hold"/>
                                        <p:tgtEl>
                                          <p:spTgt spid="12420"/>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25"/>
                                        </p:tgtEl>
                                        <p:attrNameLst>
                                          <p:attrName>style.visibility</p:attrName>
                                        </p:attrNameLst>
                                      </p:cBhvr>
                                      <p:to>
                                        <p:strVal val="visible"/>
                                      </p:to>
                                    </p:set>
                                    <p:animEffect transition="in" filter="barn(outVertical)">
                                      <p:cBhvr>
                                        <p:cTn id="49" dur="500"/>
                                        <p:tgtEl>
                                          <p:spTgt spid="1242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12416"/>
                                        </p:tgtEl>
                                        <p:attrNameLst>
                                          <p:attrName>style.visibility</p:attrName>
                                        </p:attrNameLst>
                                      </p:cBhvr>
                                      <p:to>
                                        <p:strVal val="visible"/>
                                      </p:to>
                                    </p:set>
                                    <p:animEffect transition="in" filter="barn(outHorizontal)">
                                      <p:cBhvr>
                                        <p:cTn id="54" dur="500"/>
                                        <p:tgtEl>
                                          <p:spTgt spid="124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8" fill="hold" grpId="0" nodeType="clickEffect">
                                  <p:stCondLst>
                                    <p:cond delay="0"/>
                                  </p:stCondLst>
                                  <p:childTnLst>
                                    <p:set>
                                      <p:cBhvr>
                                        <p:cTn id="58" dur="1" fill="hold">
                                          <p:stCondLst>
                                            <p:cond delay="0"/>
                                          </p:stCondLst>
                                        </p:cTn>
                                        <p:tgtEl>
                                          <p:spTgt spid="12421"/>
                                        </p:tgtEl>
                                        <p:attrNameLst>
                                          <p:attrName>style.visibility</p:attrName>
                                        </p:attrNameLst>
                                      </p:cBhvr>
                                      <p:to>
                                        <p:strVal val="visible"/>
                                      </p:to>
                                    </p:set>
                                    <p:anim calcmode="lin" valueType="num">
                                      <p:cBhvr>
                                        <p:cTn id="59" dur="500" fill="hold"/>
                                        <p:tgtEl>
                                          <p:spTgt spid="12421"/>
                                        </p:tgtEl>
                                        <p:attrNameLst>
                                          <p:attrName>ppt_x</p:attrName>
                                        </p:attrNameLst>
                                      </p:cBhvr>
                                      <p:tavLst>
                                        <p:tav tm="0">
                                          <p:val>
                                            <p:strVal val="#ppt_x-#ppt_w/2"/>
                                          </p:val>
                                        </p:tav>
                                        <p:tav tm="100000">
                                          <p:val>
                                            <p:strVal val="#ppt_x"/>
                                          </p:val>
                                        </p:tav>
                                      </p:tavLst>
                                    </p:anim>
                                    <p:anim calcmode="lin" valueType="num">
                                      <p:cBhvr>
                                        <p:cTn id="60" dur="500" fill="hold"/>
                                        <p:tgtEl>
                                          <p:spTgt spid="12421"/>
                                        </p:tgtEl>
                                        <p:attrNameLst>
                                          <p:attrName>ppt_y</p:attrName>
                                        </p:attrNameLst>
                                      </p:cBhvr>
                                      <p:tavLst>
                                        <p:tav tm="0">
                                          <p:val>
                                            <p:strVal val="#ppt_y"/>
                                          </p:val>
                                        </p:tav>
                                        <p:tav tm="100000">
                                          <p:val>
                                            <p:strVal val="#ppt_y"/>
                                          </p:val>
                                        </p:tav>
                                      </p:tavLst>
                                    </p:anim>
                                    <p:anim calcmode="lin" valueType="num">
                                      <p:cBhvr>
                                        <p:cTn id="61" dur="500" fill="hold"/>
                                        <p:tgtEl>
                                          <p:spTgt spid="12421"/>
                                        </p:tgtEl>
                                        <p:attrNameLst>
                                          <p:attrName>ppt_w</p:attrName>
                                        </p:attrNameLst>
                                      </p:cBhvr>
                                      <p:tavLst>
                                        <p:tav tm="0">
                                          <p:val>
                                            <p:fltVal val="0"/>
                                          </p:val>
                                        </p:tav>
                                        <p:tav tm="100000">
                                          <p:val>
                                            <p:strVal val="#ppt_w"/>
                                          </p:val>
                                        </p:tav>
                                      </p:tavLst>
                                    </p:anim>
                                    <p:anim calcmode="lin" valueType="num">
                                      <p:cBhvr>
                                        <p:cTn id="62" dur="500" fill="hold"/>
                                        <p:tgtEl>
                                          <p:spTgt spid="12421"/>
                                        </p:tgtEl>
                                        <p:attrNameLst>
                                          <p:attrName>ppt_h</p:attrName>
                                        </p:attrNameLst>
                                      </p:cBhvr>
                                      <p:tavLst>
                                        <p:tav tm="0">
                                          <p:val>
                                            <p:strVal val="#ppt_h"/>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grpId="0" nodeType="clickEffect">
                                  <p:stCondLst>
                                    <p:cond delay="0"/>
                                  </p:stCondLst>
                                  <p:childTnLst>
                                    <p:set>
                                      <p:cBhvr>
                                        <p:cTn id="66" dur="1" fill="hold">
                                          <p:stCondLst>
                                            <p:cond delay="0"/>
                                          </p:stCondLst>
                                        </p:cTn>
                                        <p:tgtEl>
                                          <p:spTgt spid="12417"/>
                                        </p:tgtEl>
                                        <p:attrNameLst>
                                          <p:attrName>style.visibility</p:attrName>
                                        </p:attrNameLst>
                                      </p:cBhvr>
                                      <p:to>
                                        <p:strVal val="visible"/>
                                      </p:to>
                                    </p:set>
                                    <p:animEffect transition="in" filter="barn(outHorizontal)">
                                      <p:cBhvr>
                                        <p:cTn id="67" dur="500"/>
                                        <p:tgtEl>
                                          <p:spTgt spid="1241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grpId="0" nodeType="clickEffect">
                                  <p:stCondLst>
                                    <p:cond delay="0"/>
                                  </p:stCondLst>
                                  <p:childTnLst>
                                    <p:set>
                                      <p:cBhvr>
                                        <p:cTn id="71" dur="1" fill="hold">
                                          <p:stCondLst>
                                            <p:cond delay="0"/>
                                          </p:stCondLst>
                                        </p:cTn>
                                        <p:tgtEl>
                                          <p:spTgt spid="12422"/>
                                        </p:tgtEl>
                                        <p:attrNameLst>
                                          <p:attrName>style.visibility</p:attrName>
                                        </p:attrNameLst>
                                      </p:cBhvr>
                                      <p:to>
                                        <p:strVal val="visible"/>
                                      </p:to>
                                    </p:set>
                                    <p:anim calcmode="lin" valueType="num">
                                      <p:cBhvr>
                                        <p:cTn id="72" dur="500" fill="hold"/>
                                        <p:tgtEl>
                                          <p:spTgt spid="12422"/>
                                        </p:tgtEl>
                                        <p:attrNameLst>
                                          <p:attrName>ppt_x</p:attrName>
                                        </p:attrNameLst>
                                      </p:cBhvr>
                                      <p:tavLst>
                                        <p:tav tm="0">
                                          <p:val>
                                            <p:strVal val="#ppt_x-#ppt_w/2"/>
                                          </p:val>
                                        </p:tav>
                                        <p:tav tm="100000">
                                          <p:val>
                                            <p:strVal val="#ppt_x"/>
                                          </p:val>
                                        </p:tav>
                                      </p:tavLst>
                                    </p:anim>
                                    <p:anim calcmode="lin" valueType="num">
                                      <p:cBhvr>
                                        <p:cTn id="73" dur="500" fill="hold"/>
                                        <p:tgtEl>
                                          <p:spTgt spid="12422"/>
                                        </p:tgtEl>
                                        <p:attrNameLst>
                                          <p:attrName>ppt_y</p:attrName>
                                        </p:attrNameLst>
                                      </p:cBhvr>
                                      <p:tavLst>
                                        <p:tav tm="0">
                                          <p:val>
                                            <p:strVal val="#ppt_y"/>
                                          </p:val>
                                        </p:tav>
                                        <p:tav tm="100000">
                                          <p:val>
                                            <p:strVal val="#ppt_y"/>
                                          </p:val>
                                        </p:tav>
                                      </p:tavLst>
                                    </p:anim>
                                    <p:anim calcmode="lin" valueType="num">
                                      <p:cBhvr>
                                        <p:cTn id="74" dur="500" fill="hold"/>
                                        <p:tgtEl>
                                          <p:spTgt spid="12422"/>
                                        </p:tgtEl>
                                        <p:attrNameLst>
                                          <p:attrName>ppt_w</p:attrName>
                                        </p:attrNameLst>
                                      </p:cBhvr>
                                      <p:tavLst>
                                        <p:tav tm="0">
                                          <p:val>
                                            <p:fltVal val="0"/>
                                          </p:val>
                                        </p:tav>
                                        <p:tav tm="100000">
                                          <p:val>
                                            <p:strVal val="#ppt_w"/>
                                          </p:val>
                                        </p:tav>
                                      </p:tavLst>
                                    </p:anim>
                                    <p:anim calcmode="lin" valueType="num">
                                      <p:cBhvr>
                                        <p:cTn id="75" dur="500" fill="hold"/>
                                        <p:tgtEl>
                                          <p:spTgt spid="12422"/>
                                        </p:tgtEl>
                                        <p:attrNameLst>
                                          <p:attrName>ppt_h</p:attrName>
                                        </p:attrNameLst>
                                      </p:cBhvr>
                                      <p:tavLst>
                                        <p:tav tm="0">
                                          <p:val>
                                            <p:strVal val="#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6" presetClass="entr" presetSubtype="42" fill="hold" grpId="0" nodeType="clickEffect">
                                  <p:stCondLst>
                                    <p:cond delay="0"/>
                                  </p:stCondLst>
                                  <p:childTnLst>
                                    <p:set>
                                      <p:cBhvr>
                                        <p:cTn id="79" dur="1" fill="hold">
                                          <p:stCondLst>
                                            <p:cond delay="0"/>
                                          </p:stCondLst>
                                        </p:cTn>
                                        <p:tgtEl>
                                          <p:spTgt spid="12418"/>
                                        </p:tgtEl>
                                        <p:attrNameLst>
                                          <p:attrName>style.visibility</p:attrName>
                                        </p:attrNameLst>
                                      </p:cBhvr>
                                      <p:to>
                                        <p:strVal val="visible"/>
                                      </p:to>
                                    </p:set>
                                    <p:animEffect transition="in" filter="barn(outHorizontal)">
                                      <p:cBhvr>
                                        <p:cTn id="80" dur="500"/>
                                        <p:tgtEl>
                                          <p:spTgt spid="12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autoUpdateAnimBg="0"/>
      <p:bldP spid="12384" grpId="0" build="p" autoUpdateAnimBg="0"/>
      <p:bldP spid="12415" grpId="0" animBg="1" autoUpdateAnimBg="0"/>
      <p:bldP spid="12416" grpId="0" animBg="1"/>
      <p:bldP spid="12417" grpId="0" animBg="1"/>
      <p:bldP spid="12418" grpId="0" animBg="1"/>
      <p:bldP spid="12419" grpId="0" animBg="1" autoUpdateAnimBg="0"/>
      <p:bldP spid="12420" grpId="0" animBg="1"/>
      <p:bldP spid="12421" grpId="0" animBg="1"/>
      <p:bldP spid="12422" grpId="0" animBg="1"/>
      <p:bldP spid="12423" grpId="0" animBg="1"/>
      <p:bldP spid="124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19D6FB91-A622-4F1C-A28B-CE1221976ADA}" type="slidenum">
              <a:rPr kumimoji="0" lang="zh-CN" altLang="en-US" sz="2000" smtClean="0">
                <a:solidFill>
                  <a:srgbClr val="0000FF"/>
                </a:solidFill>
              </a:rPr>
              <a:pPr eaLnBrk="1" hangingPunct="1"/>
              <a:t>18</a:t>
            </a:fld>
            <a:endParaRPr kumimoji="0" lang="en-US" altLang="zh-CN" sz="2000">
              <a:solidFill>
                <a:srgbClr val="0000FF"/>
              </a:solidFill>
            </a:endParaRPr>
          </a:p>
        </p:txBody>
      </p:sp>
      <p:sp>
        <p:nvSpPr>
          <p:cNvPr id="107535" name="Text Box 1039"/>
          <p:cNvSpPr txBox="1">
            <a:spLocks noChangeArrowheads="1"/>
          </p:cNvSpPr>
          <p:nvPr/>
        </p:nvSpPr>
        <p:spPr bwMode="auto">
          <a:xfrm>
            <a:off x="219479" y="917471"/>
            <a:ext cx="8501062" cy="7956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33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用两理想要素包容被测实际要素，且其距离为最小（即</a:t>
            </a:r>
            <a:r>
              <a:rPr lang="zh-CN" altLang="en-US" sz="2000" b="1" dirty="0">
                <a:solidFill>
                  <a:srgbClr val="FF3300"/>
                </a:solidFill>
              </a:rPr>
              <a:t>最小包容区域</a:t>
            </a:r>
            <a:r>
              <a:rPr lang="zh-CN" altLang="en-US" sz="2000" b="1" dirty="0"/>
              <a:t>），则两理想要素间的最小距离为形状误差。</a:t>
            </a:r>
          </a:p>
        </p:txBody>
      </p:sp>
      <p:sp>
        <p:nvSpPr>
          <p:cNvPr id="107536" name="Text Box 1040"/>
          <p:cNvSpPr txBox="1">
            <a:spLocks noChangeArrowheads="1"/>
          </p:cNvSpPr>
          <p:nvPr/>
        </p:nvSpPr>
        <p:spPr bwMode="auto">
          <a:xfrm>
            <a:off x="738006" y="572357"/>
            <a:ext cx="4050379"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solidFill>
                  <a:srgbClr val="FF3300"/>
                </a:solidFill>
              </a:rPr>
              <a:t>最小条件法</a:t>
            </a:r>
            <a:r>
              <a:rPr lang="en-US" altLang="zh-CN" sz="2000" b="1" dirty="0">
                <a:solidFill>
                  <a:srgbClr val="FF3300"/>
                </a:solidFill>
              </a:rPr>
              <a:t>(</a:t>
            </a:r>
            <a:r>
              <a:rPr lang="zh-CN" altLang="en-US" sz="2000" b="1" dirty="0">
                <a:solidFill>
                  <a:srgbClr val="FF3300"/>
                </a:solidFill>
              </a:rPr>
              <a:t>最小包容</a:t>
            </a:r>
            <a:r>
              <a:rPr lang="zh-CN" altLang="en-US" sz="2000" b="1" dirty="0" smtClean="0">
                <a:solidFill>
                  <a:srgbClr val="FF3300"/>
                </a:solidFill>
              </a:rPr>
              <a:t>区域</a:t>
            </a:r>
            <a:r>
              <a:rPr lang="en-US" altLang="zh-CN" sz="2000" b="1" dirty="0" smtClean="0">
                <a:solidFill>
                  <a:srgbClr val="FF3300"/>
                </a:solidFill>
              </a:rPr>
              <a:t>)</a:t>
            </a:r>
            <a:r>
              <a:rPr lang="en-US" altLang="zh-CN" sz="2000" b="1" dirty="0" smtClean="0"/>
              <a:t> </a:t>
            </a:r>
            <a:r>
              <a:rPr lang="en-US" altLang="zh-CN" sz="2000" b="1" dirty="0"/>
              <a:t>—</a:t>
            </a:r>
          </a:p>
        </p:txBody>
      </p:sp>
      <p:sp>
        <p:nvSpPr>
          <p:cNvPr id="107537" name="Text Box 1041"/>
          <p:cNvSpPr txBox="1">
            <a:spLocks noChangeArrowheads="1"/>
          </p:cNvSpPr>
          <p:nvPr/>
        </p:nvSpPr>
        <p:spPr bwMode="auto">
          <a:xfrm>
            <a:off x="718511" y="82082"/>
            <a:ext cx="4789488"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dirty="0"/>
              <a:t>形状误差评定：</a:t>
            </a:r>
          </a:p>
        </p:txBody>
      </p:sp>
      <p:grpSp>
        <p:nvGrpSpPr>
          <p:cNvPr id="107538" name="Group 1042"/>
          <p:cNvGrpSpPr>
            <a:grpSpLocks/>
          </p:cNvGrpSpPr>
          <p:nvPr/>
        </p:nvGrpSpPr>
        <p:grpSpPr bwMode="auto">
          <a:xfrm>
            <a:off x="977900" y="2322910"/>
            <a:ext cx="5880100" cy="2363262"/>
            <a:chOff x="1046" y="1426"/>
            <a:chExt cx="4179" cy="2817"/>
          </a:xfrm>
        </p:grpSpPr>
        <p:grpSp>
          <p:nvGrpSpPr>
            <p:cNvPr id="20492" name="Group 1043"/>
            <p:cNvGrpSpPr>
              <a:grpSpLocks/>
            </p:cNvGrpSpPr>
            <p:nvPr/>
          </p:nvGrpSpPr>
          <p:grpSpPr bwMode="auto">
            <a:xfrm>
              <a:off x="1046" y="1426"/>
              <a:ext cx="4179" cy="2817"/>
              <a:chOff x="1046" y="1426"/>
              <a:chExt cx="4179" cy="2817"/>
            </a:xfrm>
          </p:grpSpPr>
          <p:pic>
            <p:nvPicPr>
              <p:cNvPr id="20494" name="Picture 104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046" y="1426"/>
                <a:ext cx="4179" cy="24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0495" name="Text Box 1045"/>
              <p:cNvSpPr txBox="1">
                <a:spLocks noChangeArrowheads="1"/>
              </p:cNvSpPr>
              <p:nvPr/>
            </p:nvSpPr>
            <p:spPr bwMode="auto">
              <a:xfrm>
                <a:off x="2299" y="3803"/>
                <a:ext cx="1053" cy="4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1800" b="1" dirty="0" smtClean="0">
                    <a:latin typeface="宋体" pitchFamily="2" charset="-122"/>
                  </a:rPr>
                  <a:t>直线</a:t>
                </a:r>
                <a:r>
                  <a:rPr lang="zh-CN" altLang="en-US" sz="1800" b="1" dirty="0">
                    <a:latin typeface="宋体" pitchFamily="2" charset="-122"/>
                  </a:rPr>
                  <a:t>度误差</a:t>
                </a:r>
              </a:p>
            </p:txBody>
          </p:sp>
        </p:grpSp>
        <p:sp>
          <p:nvSpPr>
            <p:cNvPr id="20493" name="Freeform 1046"/>
            <p:cNvSpPr>
              <a:spLocks/>
            </p:cNvSpPr>
            <p:nvPr/>
          </p:nvSpPr>
          <p:spPr bwMode="auto">
            <a:xfrm>
              <a:off x="1920" y="2085"/>
              <a:ext cx="2002" cy="539"/>
            </a:xfrm>
            <a:custGeom>
              <a:avLst/>
              <a:gdLst>
                <a:gd name="T0" fmla="*/ 0 w 2002"/>
                <a:gd name="T1" fmla="*/ 539 h 539"/>
                <a:gd name="T2" fmla="*/ 128 w 2002"/>
                <a:gd name="T3" fmla="*/ 512 h 539"/>
                <a:gd name="T4" fmla="*/ 155 w 2002"/>
                <a:gd name="T5" fmla="*/ 503 h 539"/>
                <a:gd name="T6" fmla="*/ 539 w 2002"/>
                <a:gd name="T7" fmla="*/ 429 h 539"/>
                <a:gd name="T8" fmla="*/ 613 w 2002"/>
                <a:gd name="T9" fmla="*/ 393 h 539"/>
                <a:gd name="T10" fmla="*/ 649 w 2002"/>
                <a:gd name="T11" fmla="*/ 311 h 539"/>
                <a:gd name="T12" fmla="*/ 841 w 2002"/>
                <a:gd name="T13" fmla="*/ 301 h 539"/>
                <a:gd name="T14" fmla="*/ 896 w 2002"/>
                <a:gd name="T15" fmla="*/ 237 h 539"/>
                <a:gd name="T16" fmla="*/ 923 w 2002"/>
                <a:gd name="T17" fmla="*/ 228 h 539"/>
                <a:gd name="T18" fmla="*/ 951 w 2002"/>
                <a:gd name="T19" fmla="*/ 210 h 539"/>
                <a:gd name="T20" fmla="*/ 978 w 2002"/>
                <a:gd name="T21" fmla="*/ 164 h 539"/>
                <a:gd name="T22" fmla="*/ 987 w 2002"/>
                <a:gd name="T23" fmla="*/ 137 h 539"/>
                <a:gd name="T24" fmla="*/ 1033 w 2002"/>
                <a:gd name="T25" fmla="*/ 109 h 539"/>
                <a:gd name="T26" fmla="*/ 1152 w 2002"/>
                <a:gd name="T27" fmla="*/ 0 h 539"/>
                <a:gd name="T28" fmla="*/ 1189 w 2002"/>
                <a:gd name="T29" fmla="*/ 82 h 539"/>
                <a:gd name="T30" fmla="*/ 1207 w 2002"/>
                <a:gd name="T31" fmla="*/ 137 h 539"/>
                <a:gd name="T32" fmla="*/ 1307 w 2002"/>
                <a:gd name="T33" fmla="*/ 155 h 539"/>
                <a:gd name="T34" fmla="*/ 1472 w 2002"/>
                <a:gd name="T35" fmla="*/ 219 h 539"/>
                <a:gd name="T36" fmla="*/ 1518 w 2002"/>
                <a:gd name="T37" fmla="*/ 256 h 539"/>
                <a:gd name="T38" fmla="*/ 1682 w 2002"/>
                <a:gd name="T39" fmla="*/ 311 h 539"/>
                <a:gd name="T40" fmla="*/ 1911 w 2002"/>
                <a:gd name="T41" fmla="*/ 329 h 539"/>
                <a:gd name="T42" fmla="*/ 2002 w 2002"/>
                <a:gd name="T43" fmla="*/ 384 h 5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002" h="539">
                  <a:moveTo>
                    <a:pt x="0" y="539"/>
                  </a:moveTo>
                  <a:cubicBezTo>
                    <a:pt x="91" y="528"/>
                    <a:pt x="50" y="538"/>
                    <a:pt x="128" y="512"/>
                  </a:cubicBezTo>
                  <a:cubicBezTo>
                    <a:pt x="137" y="509"/>
                    <a:pt x="155" y="503"/>
                    <a:pt x="155" y="503"/>
                  </a:cubicBezTo>
                  <a:cubicBezTo>
                    <a:pt x="245" y="413"/>
                    <a:pt x="436" y="434"/>
                    <a:pt x="539" y="429"/>
                  </a:cubicBezTo>
                  <a:cubicBezTo>
                    <a:pt x="602" y="408"/>
                    <a:pt x="580" y="424"/>
                    <a:pt x="613" y="393"/>
                  </a:cubicBezTo>
                  <a:cubicBezTo>
                    <a:pt x="623" y="363"/>
                    <a:pt x="639" y="341"/>
                    <a:pt x="649" y="311"/>
                  </a:cubicBezTo>
                  <a:cubicBezTo>
                    <a:pt x="712" y="331"/>
                    <a:pt x="779" y="324"/>
                    <a:pt x="841" y="301"/>
                  </a:cubicBezTo>
                  <a:cubicBezTo>
                    <a:pt x="855" y="281"/>
                    <a:pt x="874" y="250"/>
                    <a:pt x="896" y="237"/>
                  </a:cubicBezTo>
                  <a:cubicBezTo>
                    <a:pt x="904" y="232"/>
                    <a:pt x="914" y="232"/>
                    <a:pt x="923" y="228"/>
                  </a:cubicBezTo>
                  <a:cubicBezTo>
                    <a:pt x="933" y="223"/>
                    <a:pt x="942" y="216"/>
                    <a:pt x="951" y="210"/>
                  </a:cubicBezTo>
                  <a:cubicBezTo>
                    <a:pt x="976" y="135"/>
                    <a:pt x="941" y="227"/>
                    <a:pt x="978" y="164"/>
                  </a:cubicBezTo>
                  <a:cubicBezTo>
                    <a:pt x="983" y="156"/>
                    <a:pt x="982" y="145"/>
                    <a:pt x="987" y="137"/>
                  </a:cubicBezTo>
                  <a:cubicBezTo>
                    <a:pt x="1002" y="112"/>
                    <a:pt x="1009" y="122"/>
                    <a:pt x="1033" y="109"/>
                  </a:cubicBezTo>
                  <a:cubicBezTo>
                    <a:pt x="1083" y="81"/>
                    <a:pt x="1121" y="47"/>
                    <a:pt x="1152" y="0"/>
                  </a:cubicBezTo>
                  <a:cubicBezTo>
                    <a:pt x="1170" y="27"/>
                    <a:pt x="1179" y="52"/>
                    <a:pt x="1189" y="82"/>
                  </a:cubicBezTo>
                  <a:cubicBezTo>
                    <a:pt x="1195" y="100"/>
                    <a:pt x="1189" y="131"/>
                    <a:pt x="1207" y="137"/>
                  </a:cubicBezTo>
                  <a:cubicBezTo>
                    <a:pt x="1257" y="154"/>
                    <a:pt x="1225" y="145"/>
                    <a:pt x="1307" y="155"/>
                  </a:cubicBezTo>
                  <a:cubicBezTo>
                    <a:pt x="1364" y="174"/>
                    <a:pt x="1419" y="192"/>
                    <a:pt x="1472" y="219"/>
                  </a:cubicBezTo>
                  <a:cubicBezTo>
                    <a:pt x="1490" y="228"/>
                    <a:pt x="1500" y="247"/>
                    <a:pt x="1518" y="256"/>
                  </a:cubicBezTo>
                  <a:cubicBezTo>
                    <a:pt x="1547" y="271"/>
                    <a:pt x="1645" y="307"/>
                    <a:pt x="1682" y="311"/>
                  </a:cubicBezTo>
                  <a:cubicBezTo>
                    <a:pt x="1758" y="320"/>
                    <a:pt x="1835" y="322"/>
                    <a:pt x="1911" y="329"/>
                  </a:cubicBezTo>
                  <a:cubicBezTo>
                    <a:pt x="1946" y="341"/>
                    <a:pt x="1969" y="367"/>
                    <a:pt x="2002" y="384"/>
                  </a:cubicBezTo>
                </a:path>
              </a:pathLst>
            </a:custGeom>
            <a:noFill/>
            <a:ln w="76200" cap="flat" cmpd="sng">
              <a:solidFill>
                <a:srgbClr val="FF3300"/>
              </a:solidFill>
              <a:prstDash val="solid"/>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7543" name="Line 1047"/>
          <p:cNvSpPr>
            <a:spLocks noChangeShapeType="1"/>
          </p:cNvSpPr>
          <p:nvPr/>
        </p:nvSpPr>
        <p:spPr bwMode="auto">
          <a:xfrm flipV="1">
            <a:off x="1487488" y="2732485"/>
            <a:ext cx="5051425" cy="272653"/>
          </a:xfrm>
          <a:prstGeom prst="line">
            <a:avLst/>
          </a:prstGeom>
          <a:noFill/>
          <a:ln w="7620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4" name="Line 1048"/>
          <p:cNvSpPr>
            <a:spLocks noChangeShapeType="1"/>
          </p:cNvSpPr>
          <p:nvPr/>
        </p:nvSpPr>
        <p:spPr bwMode="auto">
          <a:xfrm flipV="1">
            <a:off x="1546225" y="3113485"/>
            <a:ext cx="4992688" cy="271463"/>
          </a:xfrm>
          <a:prstGeom prst="line">
            <a:avLst/>
          </a:prstGeom>
          <a:noFill/>
          <a:ln w="7620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6" name="AutoShape 1050"/>
          <p:cNvSpPr>
            <a:spLocks noChangeArrowheads="1"/>
          </p:cNvSpPr>
          <p:nvPr/>
        </p:nvSpPr>
        <p:spPr bwMode="auto">
          <a:xfrm>
            <a:off x="6472239" y="2641998"/>
            <a:ext cx="2423187" cy="540647"/>
          </a:xfrm>
          <a:prstGeom prst="leftArrowCallout">
            <a:avLst>
              <a:gd name="adj1" fmla="val 25000"/>
              <a:gd name="adj2" fmla="val 25000"/>
              <a:gd name="adj3" fmla="val 51848"/>
              <a:gd name="adj4" fmla="val 66667"/>
            </a:avLst>
          </a:prstGeom>
          <a:noFill/>
          <a:ln w="76200">
            <a:solidFill>
              <a:srgbClr val="FF33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zh-CN" altLang="en-US" b="1"/>
              <a:t>距离最小</a:t>
            </a:r>
          </a:p>
        </p:txBody>
      </p:sp>
      <p:graphicFrame>
        <p:nvGraphicFramePr>
          <p:cNvPr id="107547" name="Object 1051"/>
          <p:cNvGraphicFramePr>
            <a:graphicFrameLocks noChangeAspect="1"/>
          </p:cNvGraphicFramePr>
          <p:nvPr/>
        </p:nvGraphicFramePr>
        <p:xfrm>
          <a:off x="739775" y="1775223"/>
          <a:ext cx="3671888" cy="431006"/>
        </p:xfrm>
        <a:graphic>
          <a:graphicData uri="http://schemas.openxmlformats.org/presentationml/2006/ole">
            <p:oleObj spid="_x0000_s20516" name="公式" r:id="rId4" imgW="35052000" imgH="5486400" progId="">
              <p:embed/>
            </p:oleObj>
          </a:graphicData>
        </a:graphic>
      </p:graphicFrame>
      <p:graphicFrame>
        <p:nvGraphicFramePr>
          <p:cNvPr id="107548" name="Object 1052"/>
          <p:cNvGraphicFramePr>
            <a:graphicFrameLocks noChangeAspect="1"/>
          </p:cNvGraphicFramePr>
          <p:nvPr/>
        </p:nvGraphicFramePr>
        <p:xfrm>
          <a:off x="4635500" y="1762126"/>
          <a:ext cx="3257550" cy="431006"/>
        </p:xfrm>
        <a:graphic>
          <a:graphicData uri="http://schemas.openxmlformats.org/presentationml/2006/ole">
            <p:oleObj spid="_x0000_s20517" name="公式" r:id="rId5" imgW="31089600" imgH="5486400" progId="">
              <p:embed/>
            </p:oleObj>
          </a:graphicData>
        </a:graphic>
      </p:graphicFrame>
      <p:sp>
        <p:nvSpPr>
          <p:cNvPr id="16" name="矩形 15"/>
          <p:cNvSpPr/>
          <p:nvPr/>
        </p:nvSpPr>
        <p:spPr bwMode="auto">
          <a:xfrm>
            <a:off x="7483877" y="1737804"/>
            <a:ext cx="550415" cy="472736"/>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cxnSp>
        <p:nvCxnSpPr>
          <p:cNvPr id="17" name="直接连接符 16">
            <a:extLst>
              <a:ext uri="{FF2B5EF4-FFF2-40B4-BE49-F238E27FC236}">
                <a16:creationId xmlns="" xmlns:a16="http://schemas.microsoft.com/office/drawing/2014/main" id="{A2E564D1-A430-4CED-927A-F2DA288D094F}"/>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07537"/>
                                        </p:tgtEl>
                                        <p:attrNameLst>
                                          <p:attrName>style.visibility</p:attrName>
                                        </p:attrNameLst>
                                      </p:cBhvr>
                                      <p:to>
                                        <p:strVal val="visible"/>
                                      </p:to>
                                    </p:set>
                                    <p:animEffect transition="in" filter="wipe(left)">
                                      <p:cBhvr>
                                        <p:cTn id="7" dur="300"/>
                                        <p:tgtEl>
                                          <p:spTgt spid="1075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07536"/>
                                        </p:tgtEl>
                                        <p:attrNameLst>
                                          <p:attrName>style.visibility</p:attrName>
                                        </p:attrNameLst>
                                      </p:cBhvr>
                                      <p:to>
                                        <p:strVal val="visible"/>
                                      </p:to>
                                    </p:set>
                                    <p:animEffect transition="in" filter="wipe(left)">
                                      <p:cBhvr>
                                        <p:cTn id="12" dur="300"/>
                                        <p:tgtEl>
                                          <p:spTgt spid="1075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7535"/>
                                        </p:tgtEl>
                                        <p:attrNameLst>
                                          <p:attrName>style.visibility</p:attrName>
                                        </p:attrNameLst>
                                      </p:cBhvr>
                                      <p:to>
                                        <p:strVal val="visible"/>
                                      </p:to>
                                    </p:set>
                                    <p:animEffect transition="in" filter="wipe(left)">
                                      <p:cBhvr>
                                        <p:cTn id="17" dur="300"/>
                                        <p:tgtEl>
                                          <p:spTgt spid="1075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07538"/>
                                        </p:tgtEl>
                                        <p:attrNameLst>
                                          <p:attrName>style.visibility</p:attrName>
                                        </p:attrNameLst>
                                      </p:cBhvr>
                                      <p:to>
                                        <p:strVal val="visible"/>
                                      </p:to>
                                    </p:set>
                                    <p:anim calcmode="lin" valueType="num">
                                      <p:cBhvr additive="base">
                                        <p:cTn id="22" dur="500" fill="hold"/>
                                        <p:tgtEl>
                                          <p:spTgt spid="107538"/>
                                        </p:tgtEl>
                                        <p:attrNameLst>
                                          <p:attrName>ppt_x</p:attrName>
                                        </p:attrNameLst>
                                      </p:cBhvr>
                                      <p:tavLst>
                                        <p:tav tm="0">
                                          <p:val>
                                            <p:strVal val="0-#ppt_w/2"/>
                                          </p:val>
                                        </p:tav>
                                        <p:tav tm="100000">
                                          <p:val>
                                            <p:strVal val="#ppt_x"/>
                                          </p:val>
                                        </p:tav>
                                      </p:tavLst>
                                    </p:anim>
                                    <p:anim calcmode="lin" valueType="num">
                                      <p:cBhvr additive="base">
                                        <p:cTn id="23" dur="500" fill="hold"/>
                                        <p:tgtEl>
                                          <p:spTgt spid="107538"/>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107543"/>
                                        </p:tgtEl>
                                        <p:attrNameLst>
                                          <p:attrName>style.visibility</p:attrName>
                                        </p:attrNameLst>
                                      </p:cBhvr>
                                      <p:to>
                                        <p:strVal val="visible"/>
                                      </p:to>
                                    </p:set>
                                    <p:animEffect transition="in" filter="barn(outVertical)">
                                      <p:cBhvr>
                                        <p:cTn id="28" dur="500"/>
                                        <p:tgtEl>
                                          <p:spTgt spid="10754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107544"/>
                                        </p:tgtEl>
                                        <p:attrNameLst>
                                          <p:attrName>style.visibility</p:attrName>
                                        </p:attrNameLst>
                                      </p:cBhvr>
                                      <p:to>
                                        <p:strVal val="visible"/>
                                      </p:to>
                                    </p:set>
                                    <p:animEffect transition="in" filter="barn(outVertical)">
                                      <p:cBhvr>
                                        <p:cTn id="33" dur="500"/>
                                        <p:tgtEl>
                                          <p:spTgt spid="10754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2" fill="hold" grpId="0" nodeType="clickEffect">
                                  <p:stCondLst>
                                    <p:cond delay="0"/>
                                  </p:stCondLst>
                                  <p:childTnLst>
                                    <p:set>
                                      <p:cBhvr>
                                        <p:cTn id="37" dur="1" fill="hold">
                                          <p:stCondLst>
                                            <p:cond delay="0"/>
                                          </p:stCondLst>
                                        </p:cTn>
                                        <p:tgtEl>
                                          <p:spTgt spid="107546"/>
                                        </p:tgtEl>
                                        <p:attrNameLst>
                                          <p:attrName>style.visibility</p:attrName>
                                        </p:attrNameLst>
                                      </p:cBhvr>
                                      <p:to>
                                        <p:strVal val="visible"/>
                                      </p:to>
                                    </p:set>
                                    <p:anim calcmode="lin" valueType="num">
                                      <p:cBhvr>
                                        <p:cTn id="38" dur="500" fill="hold"/>
                                        <p:tgtEl>
                                          <p:spTgt spid="107546"/>
                                        </p:tgtEl>
                                        <p:attrNameLst>
                                          <p:attrName>ppt_x</p:attrName>
                                        </p:attrNameLst>
                                      </p:cBhvr>
                                      <p:tavLst>
                                        <p:tav tm="0">
                                          <p:val>
                                            <p:strVal val="#ppt_x+#ppt_w/2"/>
                                          </p:val>
                                        </p:tav>
                                        <p:tav tm="100000">
                                          <p:val>
                                            <p:strVal val="#ppt_x"/>
                                          </p:val>
                                        </p:tav>
                                      </p:tavLst>
                                    </p:anim>
                                    <p:anim calcmode="lin" valueType="num">
                                      <p:cBhvr>
                                        <p:cTn id="39" dur="500" fill="hold"/>
                                        <p:tgtEl>
                                          <p:spTgt spid="107546"/>
                                        </p:tgtEl>
                                        <p:attrNameLst>
                                          <p:attrName>ppt_y</p:attrName>
                                        </p:attrNameLst>
                                      </p:cBhvr>
                                      <p:tavLst>
                                        <p:tav tm="0">
                                          <p:val>
                                            <p:strVal val="#ppt_y"/>
                                          </p:val>
                                        </p:tav>
                                        <p:tav tm="100000">
                                          <p:val>
                                            <p:strVal val="#ppt_y"/>
                                          </p:val>
                                        </p:tav>
                                      </p:tavLst>
                                    </p:anim>
                                    <p:anim calcmode="lin" valueType="num">
                                      <p:cBhvr>
                                        <p:cTn id="40" dur="500" fill="hold"/>
                                        <p:tgtEl>
                                          <p:spTgt spid="107546"/>
                                        </p:tgtEl>
                                        <p:attrNameLst>
                                          <p:attrName>ppt_w</p:attrName>
                                        </p:attrNameLst>
                                      </p:cBhvr>
                                      <p:tavLst>
                                        <p:tav tm="0">
                                          <p:val>
                                            <p:fltVal val="0"/>
                                          </p:val>
                                        </p:tav>
                                        <p:tav tm="100000">
                                          <p:val>
                                            <p:strVal val="#ppt_w"/>
                                          </p:val>
                                        </p:tav>
                                      </p:tavLst>
                                    </p:anim>
                                    <p:anim calcmode="lin" valueType="num">
                                      <p:cBhvr>
                                        <p:cTn id="41" dur="500" fill="hold"/>
                                        <p:tgtEl>
                                          <p:spTgt spid="107546"/>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07547"/>
                                        </p:tgtEl>
                                        <p:attrNameLst>
                                          <p:attrName>style.visibility</p:attrName>
                                        </p:attrNameLst>
                                      </p:cBhvr>
                                      <p:to>
                                        <p:strVal val="visible"/>
                                      </p:to>
                                    </p:set>
                                    <p:animEffect transition="in" filter="wipe(left)">
                                      <p:cBhvr>
                                        <p:cTn id="46" dur="2000"/>
                                        <p:tgtEl>
                                          <p:spTgt spid="10754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107548"/>
                                        </p:tgtEl>
                                        <p:attrNameLst>
                                          <p:attrName>style.visibility</p:attrName>
                                        </p:attrNameLst>
                                      </p:cBhvr>
                                      <p:to>
                                        <p:strVal val="visible"/>
                                      </p:to>
                                    </p:set>
                                    <p:animEffect transition="in" filter="box(in)">
                                      <p:cBhvr>
                                        <p:cTn id="51" dur="2000"/>
                                        <p:tgtEl>
                                          <p:spTgt spid="107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5" grpId="0" autoUpdateAnimBg="0"/>
      <p:bldP spid="107536" grpId="0" autoUpdateAnimBg="0"/>
      <p:bldP spid="107537" grpId="0" autoUpdateAnimBg="0"/>
      <p:bldP spid="107543" grpId="0" animBg="1"/>
      <p:bldP spid="107544" grpId="0" animBg="1"/>
      <p:bldP spid="10754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FDA6730-7D63-4FA9-8183-849AD32EAB27}" type="slidenum">
              <a:rPr kumimoji="0" lang="zh-CN" altLang="en-US" sz="2000" smtClean="0">
                <a:solidFill>
                  <a:srgbClr val="0000FF"/>
                </a:solidFill>
              </a:rPr>
              <a:pPr eaLnBrk="1" hangingPunct="1"/>
              <a:t>19</a:t>
            </a:fld>
            <a:endParaRPr kumimoji="0" lang="en-US" altLang="zh-CN" sz="2000">
              <a:solidFill>
                <a:srgbClr val="0000FF"/>
              </a:solidFill>
            </a:endParaRPr>
          </a:p>
        </p:txBody>
      </p:sp>
      <p:sp>
        <p:nvSpPr>
          <p:cNvPr id="13314" name="Text Box 2"/>
          <p:cNvSpPr txBox="1">
            <a:spLocks noChangeArrowheads="1"/>
          </p:cNvSpPr>
          <p:nvPr/>
        </p:nvSpPr>
        <p:spPr bwMode="auto">
          <a:xfrm>
            <a:off x="400051" y="114300"/>
            <a:ext cx="4083173"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 </a:t>
            </a:r>
            <a:r>
              <a:rPr lang="zh-CN" altLang="en-US" sz="2000" b="1" dirty="0">
                <a:latin typeface="宋体" pitchFamily="2" charset="-122"/>
              </a:rPr>
              <a:t>直线度误差的评定准则</a:t>
            </a:r>
            <a:endParaRPr lang="en-US" altLang="zh-CN" sz="2000" b="1" dirty="0"/>
          </a:p>
        </p:txBody>
      </p:sp>
      <p:sp>
        <p:nvSpPr>
          <p:cNvPr id="13316" name="Text Box 4"/>
          <p:cNvSpPr txBox="1">
            <a:spLocks noChangeArrowheads="1"/>
          </p:cNvSpPr>
          <p:nvPr/>
        </p:nvSpPr>
        <p:spPr bwMode="auto">
          <a:xfrm>
            <a:off x="235368" y="711492"/>
            <a:ext cx="458470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（1）最小条件法： </a:t>
            </a:r>
          </a:p>
        </p:txBody>
      </p:sp>
      <p:sp>
        <p:nvSpPr>
          <p:cNvPr id="13319" name="Text Box 7"/>
          <p:cNvSpPr txBox="1">
            <a:spLocks noChangeArrowheads="1"/>
          </p:cNvSpPr>
          <p:nvPr/>
        </p:nvSpPr>
        <p:spPr bwMode="auto">
          <a:xfrm>
            <a:off x="869867" y="1225780"/>
            <a:ext cx="1990725" cy="8617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solidFill>
                  <a:srgbClr val="FF3300"/>
                </a:solidFill>
              </a:rPr>
              <a:t>高</a:t>
            </a:r>
            <a:r>
              <a:rPr lang="zh-CN" altLang="en-US" sz="2000" b="1" dirty="0"/>
              <a:t>－</a:t>
            </a:r>
            <a:r>
              <a:rPr lang="zh-CN" altLang="en-US" sz="2000" b="1" dirty="0">
                <a:solidFill>
                  <a:schemeClr val="accent1"/>
                </a:solidFill>
              </a:rPr>
              <a:t>低</a:t>
            </a:r>
            <a:r>
              <a:rPr lang="zh-CN" altLang="en-US" sz="2000" b="1" dirty="0"/>
              <a:t>－</a:t>
            </a:r>
            <a:r>
              <a:rPr lang="zh-CN" altLang="en-US" sz="2000" b="1" dirty="0">
                <a:solidFill>
                  <a:srgbClr val="FF3300"/>
                </a:solidFill>
              </a:rPr>
              <a:t>高</a:t>
            </a:r>
          </a:p>
          <a:p>
            <a:pPr algn="l" eaLnBrk="1" hangingPunct="1">
              <a:spcBef>
                <a:spcPct val="50000"/>
              </a:spcBef>
            </a:pPr>
            <a:r>
              <a:rPr lang="zh-CN" altLang="en-US" sz="2000" b="1" dirty="0">
                <a:solidFill>
                  <a:srgbClr val="FF3300"/>
                </a:solidFill>
              </a:rPr>
              <a:t>  </a:t>
            </a:r>
            <a:r>
              <a:rPr lang="zh-CN" altLang="en-US" sz="2000" b="1" dirty="0"/>
              <a:t>   准则 </a:t>
            </a:r>
          </a:p>
        </p:txBody>
      </p:sp>
      <p:sp>
        <p:nvSpPr>
          <p:cNvPr id="13361" name="Rectangle 49"/>
          <p:cNvSpPr>
            <a:spLocks noChangeArrowheads="1"/>
          </p:cNvSpPr>
          <p:nvPr/>
        </p:nvSpPr>
        <p:spPr bwMode="auto">
          <a:xfrm>
            <a:off x="849983" y="3265697"/>
            <a:ext cx="1817018"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pPr>
            <a:r>
              <a:rPr lang="zh-CN" altLang="en-US" sz="2000" b="1" dirty="0">
                <a:solidFill>
                  <a:schemeClr val="accent1"/>
                </a:solidFill>
              </a:rPr>
              <a:t>低</a:t>
            </a:r>
            <a:r>
              <a:rPr lang="zh-CN" altLang="en-US" sz="2000" dirty="0"/>
              <a:t>－</a:t>
            </a:r>
            <a:r>
              <a:rPr lang="zh-CN" altLang="en-US" sz="2000" b="1" dirty="0">
                <a:solidFill>
                  <a:srgbClr val="FF3300"/>
                </a:solidFill>
              </a:rPr>
              <a:t>高</a:t>
            </a:r>
            <a:r>
              <a:rPr lang="zh-CN" altLang="en-US" sz="2000" dirty="0"/>
              <a:t>－</a:t>
            </a:r>
            <a:r>
              <a:rPr lang="zh-CN" altLang="en-US" sz="2000" b="1" dirty="0">
                <a:solidFill>
                  <a:schemeClr val="accent1"/>
                </a:solidFill>
              </a:rPr>
              <a:t>低</a:t>
            </a:r>
          </a:p>
          <a:p>
            <a:pPr algn="l">
              <a:lnSpc>
                <a:spcPct val="120000"/>
              </a:lnSpc>
            </a:pPr>
            <a:r>
              <a:rPr lang="zh-CN" altLang="en-US" sz="2000" dirty="0"/>
              <a:t>      准则 </a:t>
            </a:r>
            <a:endParaRPr lang="zh-CN" altLang="en-US" sz="2000" b="1" dirty="0">
              <a:solidFill>
                <a:schemeClr val="accent1"/>
              </a:solidFill>
            </a:endParaRPr>
          </a:p>
        </p:txBody>
      </p:sp>
      <p:grpSp>
        <p:nvGrpSpPr>
          <p:cNvPr id="13385" name="Group 73"/>
          <p:cNvGrpSpPr>
            <a:grpSpLocks/>
          </p:cNvGrpSpPr>
          <p:nvPr/>
        </p:nvGrpSpPr>
        <p:grpSpPr bwMode="auto">
          <a:xfrm>
            <a:off x="3603626" y="696459"/>
            <a:ext cx="4543425" cy="2465785"/>
            <a:chOff x="2278" y="323"/>
            <a:chExt cx="2862" cy="2071"/>
          </a:xfrm>
        </p:grpSpPr>
        <p:pic>
          <p:nvPicPr>
            <p:cNvPr id="21522" name="Picture 47"/>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78" y="562"/>
              <a:ext cx="2862" cy="1494"/>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1523" name="Text Box 50"/>
            <p:cNvSpPr txBox="1">
              <a:spLocks noChangeArrowheads="1"/>
            </p:cNvSpPr>
            <p:nvPr/>
          </p:nvSpPr>
          <p:spPr bwMode="auto">
            <a:xfrm>
              <a:off x="3450" y="323"/>
              <a:ext cx="1286"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dirty="0"/>
                <a:t>被测实际要素</a:t>
              </a:r>
            </a:p>
          </p:txBody>
        </p:sp>
        <p:sp>
          <p:nvSpPr>
            <p:cNvPr id="21524" name="Text Box 52"/>
            <p:cNvSpPr txBox="1">
              <a:spLocks noChangeArrowheads="1"/>
            </p:cNvSpPr>
            <p:nvPr/>
          </p:nvSpPr>
          <p:spPr bwMode="auto">
            <a:xfrm>
              <a:off x="4030" y="2006"/>
              <a:ext cx="896"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dirty="0"/>
                <a:t>理想要素</a:t>
              </a:r>
            </a:p>
          </p:txBody>
        </p:sp>
      </p:grpSp>
      <p:grpSp>
        <p:nvGrpSpPr>
          <p:cNvPr id="13383" name="Group 71"/>
          <p:cNvGrpSpPr>
            <a:grpSpLocks/>
          </p:cNvGrpSpPr>
          <p:nvPr/>
        </p:nvGrpSpPr>
        <p:grpSpPr bwMode="auto">
          <a:xfrm>
            <a:off x="2700338" y="2631972"/>
            <a:ext cx="4625976" cy="2232423"/>
            <a:chOff x="1701" y="2157"/>
            <a:chExt cx="2914" cy="1875"/>
          </a:xfrm>
        </p:grpSpPr>
        <p:sp>
          <p:nvSpPr>
            <p:cNvPr id="21519" name="Text Box 51"/>
            <p:cNvSpPr txBox="1">
              <a:spLocks noChangeArrowheads="1"/>
            </p:cNvSpPr>
            <p:nvPr/>
          </p:nvSpPr>
          <p:spPr bwMode="auto">
            <a:xfrm>
              <a:off x="1701" y="2157"/>
              <a:ext cx="1286"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dirty="0"/>
                <a:t>被测实际要素</a:t>
              </a:r>
            </a:p>
          </p:txBody>
        </p:sp>
        <p:sp>
          <p:nvSpPr>
            <p:cNvPr id="21520" name="Text Box 53"/>
            <p:cNvSpPr txBox="1">
              <a:spLocks noChangeArrowheads="1"/>
            </p:cNvSpPr>
            <p:nvPr/>
          </p:nvSpPr>
          <p:spPr bwMode="auto">
            <a:xfrm>
              <a:off x="2091" y="3644"/>
              <a:ext cx="896"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t>理想要素</a:t>
              </a:r>
            </a:p>
          </p:txBody>
        </p:sp>
        <p:pic>
          <p:nvPicPr>
            <p:cNvPr id="21521" name="Picture 5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10" y="2308"/>
              <a:ext cx="2405" cy="149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sp>
        <p:nvSpPr>
          <p:cNvPr id="13380" name="Line 68"/>
          <p:cNvSpPr>
            <a:spLocks noChangeShapeType="1"/>
          </p:cNvSpPr>
          <p:nvPr/>
        </p:nvSpPr>
        <p:spPr bwMode="auto">
          <a:xfrm>
            <a:off x="7078663" y="3392780"/>
            <a:ext cx="0" cy="865585"/>
          </a:xfrm>
          <a:prstGeom prst="line">
            <a:avLst/>
          </a:prstGeom>
          <a:noFill/>
          <a:ln w="57150">
            <a:solidFill>
              <a:srgbClr val="FF33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6" name="Line 74"/>
          <p:cNvSpPr>
            <a:spLocks noChangeShapeType="1"/>
          </p:cNvSpPr>
          <p:nvPr/>
        </p:nvSpPr>
        <p:spPr bwMode="auto">
          <a:xfrm>
            <a:off x="3759201" y="1433455"/>
            <a:ext cx="4194175" cy="0"/>
          </a:xfrm>
          <a:prstGeom prst="line">
            <a:avLst/>
          </a:prstGeom>
          <a:noFill/>
          <a:ln w="5715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8" name="Line 76"/>
          <p:cNvSpPr>
            <a:spLocks noChangeShapeType="1"/>
          </p:cNvSpPr>
          <p:nvPr/>
        </p:nvSpPr>
        <p:spPr bwMode="auto">
          <a:xfrm>
            <a:off x="3279775" y="4254792"/>
            <a:ext cx="4064000" cy="0"/>
          </a:xfrm>
          <a:prstGeom prst="line">
            <a:avLst/>
          </a:prstGeom>
          <a:noFill/>
          <a:ln w="5715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9" name="Line 77"/>
          <p:cNvSpPr>
            <a:spLocks noChangeShapeType="1"/>
          </p:cNvSpPr>
          <p:nvPr/>
        </p:nvSpPr>
        <p:spPr bwMode="auto">
          <a:xfrm>
            <a:off x="3686175" y="2260940"/>
            <a:ext cx="4311650" cy="0"/>
          </a:xfrm>
          <a:prstGeom prst="line">
            <a:avLst/>
          </a:prstGeom>
          <a:noFill/>
          <a:ln w="5715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1" name="Line 79"/>
          <p:cNvSpPr>
            <a:spLocks noChangeShapeType="1"/>
          </p:cNvSpPr>
          <p:nvPr/>
        </p:nvSpPr>
        <p:spPr bwMode="auto">
          <a:xfrm>
            <a:off x="3513138" y="3405877"/>
            <a:ext cx="3773487" cy="0"/>
          </a:xfrm>
          <a:prstGeom prst="line">
            <a:avLst/>
          </a:prstGeom>
          <a:noFill/>
          <a:ln w="5715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2" name="Line 80"/>
          <p:cNvSpPr>
            <a:spLocks noChangeShapeType="1"/>
          </p:cNvSpPr>
          <p:nvPr/>
        </p:nvSpPr>
        <p:spPr bwMode="auto">
          <a:xfrm>
            <a:off x="7735888" y="1444171"/>
            <a:ext cx="0" cy="804863"/>
          </a:xfrm>
          <a:prstGeom prst="line">
            <a:avLst/>
          </a:prstGeom>
          <a:noFill/>
          <a:ln w="57150">
            <a:solidFill>
              <a:srgbClr val="FF33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1" name="直接连接符 20">
            <a:extLst>
              <a:ext uri="{FF2B5EF4-FFF2-40B4-BE49-F238E27FC236}">
                <a16:creationId xmlns="" xmlns:a16="http://schemas.microsoft.com/office/drawing/2014/main" id="{07A72835-98B9-444B-95A6-04DD2F3D540C}"/>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314"/>
                                        </p:tgtEl>
                                        <p:attrNameLst>
                                          <p:attrName>style.visibility</p:attrName>
                                        </p:attrNameLst>
                                      </p:cBhvr>
                                      <p:to>
                                        <p:strVal val="visible"/>
                                      </p:to>
                                    </p:set>
                                    <p:animEffect transition="in" filter="wipe(left)">
                                      <p:cBhvr>
                                        <p:cTn id="7" dur="300"/>
                                        <p:tgtEl>
                                          <p:spTgt spid="13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3316"/>
                                        </p:tgtEl>
                                        <p:attrNameLst>
                                          <p:attrName>style.visibility</p:attrName>
                                        </p:attrNameLst>
                                      </p:cBhvr>
                                      <p:to>
                                        <p:strVal val="visible"/>
                                      </p:to>
                                    </p:set>
                                    <p:animEffect transition="in" filter="wipe(left)">
                                      <p:cBhvr>
                                        <p:cTn id="12" dur="300"/>
                                        <p:tgtEl>
                                          <p:spTgt spid="13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3319"/>
                                        </p:tgtEl>
                                        <p:attrNameLst>
                                          <p:attrName>style.visibility</p:attrName>
                                        </p:attrNameLst>
                                      </p:cBhvr>
                                      <p:to>
                                        <p:strVal val="visible"/>
                                      </p:to>
                                    </p:set>
                                    <p:animEffect transition="in" filter="wipe(left)">
                                      <p:cBhvr>
                                        <p:cTn id="17" dur="300"/>
                                        <p:tgtEl>
                                          <p:spTgt spid="133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13385"/>
                                        </p:tgtEl>
                                        <p:attrNameLst>
                                          <p:attrName>style.visibility</p:attrName>
                                        </p:attrNameLst>
                                      </p:cBhvr>
                                      <p:to>
                                        <p:strVal val="visible"/>
                                      </p:to>
                                    </p:set>
                                    <p:anim calcmode="lin" valueType="num">
                                      <p:cBhvr additive="base">
                                        <p:cTn id="22" dur="500" fill="hold"/>
                                        <p:tgtEl>
                                          <p:spTgt spid="13385"/>
                                        </p:tgtEl>
                                        <p:attrNameLst>
                                          <p:attrName>ppt_x</p:attrName>
                                        </p:attrNameLst>
                                      </p:cBhvr>
                                      <p:tavLst>
                                        <p:tav tm="0">
                                          <p:val>
                                            <p:strVal val="1+#ppt_w/2"/>
                                          </p:val>
                                        </p:tav>
                                        <p:tav tm="100000">
                                          <p:val>
                                            <p:strVal val="#ppt_x"/>
                                          </p:val>
                                        </p:tav>
                                      </p:tavLst>
                                    </p:anim>
                                    <p:anim calcmode="lin" valueType="num">
                                      <p:cBhvr additive="base">
                                        <p:cTn id="23" dur="500" fill="hold"/>
                                        <p:tgtEl>
                                          <p:spTgt spid="13385"/>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3386"/>
                                        </p:tgtEl>
                                        <p:attrNameLst>
                                          <p:attrName>style.visibility</p:attrName>
                                        </p:attrNameLst>
                                      </p:cBhvr>
                                      <p:to>
                                        <p:strVal val="visible"/>
                                      </p:to>
                                    </p:set>
                                    <p:anim calcmode="lin" valueType="num">
                                      <p:cBhvr>
                                        <p:cTn id="28" dur="500" fill="hold"/>
                                        <p:tgtEl>
                                          <p:spTgt spid="13386"/>
                                        </p:tgtEl>
                                        <p:attrNameLst>
                                          <p:attrName>ppt_x</p:attrName>
                                        </p:attrNameLst>
                                      </p:cBhvr>
                                      <p:tavLst>
                                        <p:tav tm="0">
                                          <p:val>
                                            <p:strVal val="#ppt_x-#ppt_w/2"/>
                                          </p:val>
                                        </p:tav>
                                        <p:tav tm="100000">
                                          <p:val>
                                            <p:strVal val="#ppt_x"/>
                                          </p:val>
                                        </p:tav>
                                      </p:tavLst>
                                    </p:anim>
                                    <p:anim calcmode="lin" valueType="num">
                                      <p:cBhvr>
                                        <p:cTn id="29" dur="500" fill="hold"/>
                                        <p:tgtEl>
                                          <p:spTgt spid="13386"/>
                                        </p:tgtEl>
                                        <p:attrNameLst>
                                          <p:attrName>ppt_y</p:attrName>
                                        </p:attrNameLst>
                                      </p:cBhvr>
                                      <p:tavLst>
                                        <p:tav tm="0">
                                          <p:val>
                                            <p:strVal val="#ppt_y"/>
                                          </p:val>
                                        </p:tav>
                                        <p:tav tm="100000">
                                          <p:val>
                                            <p:strVal val="#ppt_y"/>
                                          </p:val>
                                        </p:tav>
                                      </p:tavLst>
                                    </p:anim>
                                    <p:anim calcmode="lin" valueType="num">
                                      <p:cBhvr>
                                        <p:cTn id="30" dur="500" fill="hold"/>
                                        <p:tgtEl>
                                          <p:spTgt spid="13386"/>
                                        </p:tgtEl>
                                        <p:attrNameLst>
                                          <p:attrName>ppt_w</p:attrName>
                                        </p:attrNameLst>
                                      </p:cBhvr>
                                      <p:tavLst>
                                        <p:tav tm="0">
                                          <p:val>
                                            <p:fltVal val="0"/>
                                          </p:val>
                                        </p:tav>
                                        <p:tav tm="100000">
                                          <p:val>
                                            <p:strVal val="#ppt_w"/>
                                          </p:val>
                                        </p:tav>
                                      </p:tavLst>
                                    </p:anim>
                                    <p:anim calcmode="lin" valueType="num">
                                      <p:cBhvr>
                                        <p:cTn id="31" dur="500" fill="hold"/>
                                        <p:tgtEl>
                                          <p:spTgt spid="13386"/>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13389"/>
                                        </p:tgtEl>
                                        <p:attrNameLst>
                                          <p:attrName>style.visibility</p:attrName>
                                        </p:attrNameLst>
                                      </p:cBhvr>
                                      <p:to>
                                        <p:strVal val="visible"/>
                                      </p:to>
                                    </p:set>
                                    <p:anim calcmode="lin" valueType="num">
                                      <p:cBhvr>
                                        <p:cTn id="36" dur="500" fill="hold"/>
                                        <p:tgtEl>
                                          <p:spTgt spid="13389"/>
                                        </p:tgtEl>
                                        <p:attrNameLst>
                                          <p:attrName>ppt_x</p:attrName>
                                        </p:attrNameLst>
                                      </p:cBhvr>
                                      <p:tavLst>
                                        <p:tav tm="0">
                                          <p:val>
                                            <p:strVal val="#ppt_x-#ppt_w/2"/>
                                          </p:val>
                                        </p:tav>
                                        <p:tav tm="100000">
                                          <p:val>
                                            <p:strVal val="#ppt_x"/>
                                          </p:val>
                                        </p:tav>
                                      </p:tavLst>
                                    </p:anim>
                                    <p:anim calcmode="lin" valueType="num">
                                      <p:cBhvr>
                                        <p:cTn id="37" dur="500" fill="hold"/>
                                        <p:tgtEl>
                                          <p:spTgt spid="13389"/>
                                        </p:tgtEl>
                                        <p:attrNameLst>
                                          <p:attrName>ppt_y</p:attrName>
                                        </p:attrNameLst>
                                      </p:cBhvr>
                                      <p:tavLst>
                                        <p:tav tm="0">
                                          <p:val>
                                            <p:strVal val="#ppt_y"/>
                                          </p:val>
                                        </p:tav>
                                        <p:tav tm="100000">
                                          <p:val>
                                            <p:strVal val="#ppt_y"/>
                                          </p:val>
                                        </p:tav>
                                      </p:tavLst>
                                    </p:anim>
                                    <p:anim calcmode="lin" valueType="num">
                                      <p:cBhvr>
                                        <p:cTn id="38" dur="500" fill="hold"/>
                                        <p:tgtEl>
                                          <p:spTgt spid="13389"/>
                                        </p:tgtEl>
                                        <p:attrNameLst>
                                          <p:attrName>ppt_w</p:attrName>
                                        </p:attrNameLst>
                                      </p:cBhvr>
                                      <p:tavLst>
                                        <p:tav tm="0">
                                          <p:val>
                                            <p:fltVal val="0"/>
                                          </p:val>
                                        </p:tav>
                                        <p:tav tm="100000">
                                          <p:val>
                                            <p:strVal val="#ppt_w"/>
                                          </p:val>
                                        </p:tav>
                                      </p:tavLst>
                                    </p:anim>
                                    <p:anim calcmode="lin" valueType="num">
                                      <p:cBhvr>
                                        <p:cTn id="39" dur="500" fill="hold"/>
                                        <p:tgtEl>
                                          <p:spTgt spid="13389"/>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 fill="hold" grpId="0" nodeType="clickEffect">
                                  <p:stCondLst>
                                    <p:cond delay="0"/>
                                  </p:stCondLst>
                                  <p:childTnLst>
                                    <p:set>
                                      <p:cBhvr>
                                        <p:cTn id="43" dur="1" fill="hold">
                                          <p:stCondLst>
                                            <p:cond delay="0"/>
                                          </p:stCondLst>
                                        </p:cTn>
                                        <p:tgtEl>
                                          <p:spTgt spid="13392"/>
                                        </p:tgtEl>
                                        <p:attrNameLst>
                                          <p:attrName>style.visibility</p:attrName>
                                        </p:attrNameLst>
                                      </p:cBhvr>
                                      <p:to>
                                        <p:strVal val="visible"/>
                                      </p:to>
                                    </p:set>
                                    <p:anim calcmode="lin" valueType="num">
                                      <p:cBhvr>
                                        <p:cTn id="44" dur="500" fill="hold"/>
                                        <p:tgtEl>
                                          <p:spTgt spid="13392"/>
                                        </p:tgtEl>
                                        <p:attrNameLst>
                                          <p:attrName>ppt_x</p:attrName>
                                        </p:attrNameLst>
                                      </p:cBhvr>
                                      <p:tavLst>
                                        <p:tav tm="0">
                                          <p:val>
                                            <p:strVal val="#ppt_x"/>
                                          </p:val>
                                        </p:tav>
                                        <p:tav tm="100000">
                                          <p:val>
                                            <p:strVal val="#ppt_x"/>
                                          </p:val>
                                        </p:tav>
                                      </p:tavLst>
                                    </p:anim>
                                    <p:anim calcmode="lin" valueType="num">
                                      <p:cBhvr>
                                        <p:cTn id="45" dur="500" fill="hold"/>
                                        <p:tgtEl>
                                          <p:spTgt spid="13392"/>
                                        </p:tgtEl>
                                        <p:attrNameLst>
                                          <p:attrName>ppt_y</p:attrName>
                                        </p:attrNameLst>
                                      </p:cBhvr>
                                      <p:tavLst>
                                        <p:tav tm="0">
                                          <p:val>
                                            <p:strVal val="#ppt_y-#ppt_h/2"/>
                                          </p:val>
                                        </p:tav>
                                        <p:tav tm="100000">
                                          <p:val>
                                            <p:strVal val="#ppt_y"/>
                                          </p:val>
                                        </p:tav>
                                      </p:tavLst>
                                    </p:anim>
                                    <p:anim calcmode="lin" valueType="num">
                                      <p:cBhvr>
                                        <p:cTn id="46" dur="500" fill="hold"/>
                                        <p:tgtEl>
                                          <p:spTgt spid="13392"/>
                                        </p:tgtEl>
                                        <p:attrNameLst>
                                          <p:attrName>ppt_w</p:attrName>
                                        </p:attrNameLst>
                                      </p:cBhvr>
                                      <p:tavLst>
                                        <p:tav tm="0">
                                          <p:val>
                                            <p:strVal val="#ppt_w"/>
                                          </p:val>
                                        </p:tav>
                                        <p:tav tm="100000">
                                          <p:val>
                                            <p:strVal val="#ppt_w"/>
                                          </p:val>
                                        </p:tav>
                                      </p:tavLst>
                                    </p:anim>
                                    <p:anim calcmode="lin" valueType="num">
                                      <p:cBhvr>
                                        <p:cTn id="47" dur="500" fill="hold"/>
                                        <p:tgtEl>
                                          <p:spTgt spid="13392"/>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13361"/>
                                        </p:tgtEl>
                                        <p:attrNameLst>
                                          <p:attrName>style.visibility</p:attrName>
                                        </p:attrNameLst>
                                      </p:cBhvr>
                                      <p:to>
                                        <p:strVal val="visible"/>
                                      </p:to>
                                    </p:set>
                                    <p:animEffect transition="in" filter="wipe(left)">
                                      <p:cBhvr>
                                        <p:cTn id="52" dur="300"/>
                                        <p:tgtEl>
                                          <p:spTgt spid="1336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2" fill="hold" nodeType="clickEffect">
                                  <p:stCondLst>
                                    <p:cond delay="0"/>
                                  </p:stCondLst>
                                  <p:childTnLst>
                                    <p:set>
                                      <p:cBhvr>
                                        <p:cTn id="56" dur="1" fill="hold">
                                          <p:stCondLst>
                                            <p:cond delay="0"/>
                                          </p:stCondLst>
                                        </p:cTn>
                                        <p:tgtEl>
                                          <p:spTgt spid="13383"/>
                                        </p:tgtEl>
                                        <p:attrNameLst>
                                          <p:attrName>style.visibility</p:attrName>
                                        </p:attrNameLst>
                                      </p:cBhvr>
                                      <p:to>
                                        <p:strVal val="visible"/>
                                      </p:to>
                                    </p:set>
                                    <p:anim calcmode="lin" valueType="num">
                                      <p:cBhvr additive="base">
                                        <p:cTn id="57" dur="500" fill="hold"/>
                                        <p:tgtEl>
                                          <p:spTgt spid="13383"/>
                                        </p:tgtEl>
                                        <p:attrNameLst>
                                          <p:attrName>ppt_x</p:attrName>
                                        </p:attrNameLst>
                                      </p:cBhvr>
                                      <p:tavLst>
                                        <p:tav tm="0">
                                          <p:val>
                                            <p:strVal val="1+#ppt_w/2"/>
                                          </p:val>
                                        </p:tav>
                                        <p:tav tm="100000">
                                          <p:val>
                                            <p:strVal val="#ppt_x"/>
                                          </p:val>
                                        </p:tav>
                                      </p:tavLst>
                                    </p:anim>
                                    <p:anim calcmode="lin" valueType="num">
                                      <p:cBhvr additive="base">
                                        <p:cTn id="58" dur="500" fill="hold"/>
                                        <p:tgtEl>
                                          <p:spTgt spid="13383"/>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8" fill="hold" grpId="0" nodeType="clickEffect">
                                  <p:stCondLst>
                                    <p:cond delay="0"/>
                                  </p:stCondLst>
                                  <p:childTnLst>
                                    <p:set>
                                      <p:cBhvr>
                                        <p:cTn id="62" dur="1" fill="hold">
                                          <p:stCondLst>
                                            <p:cond delay="0"/>
                                          </p:stCondLst>
                                        </p:cTn>
                                        <p:tgtEl>
                                          <p:spTgt spid="13388"/>
                                        </p:tgtEl>
                                        <p:attrNameLst>
                                          <p:attrName>style.visibility</p:attrName>
                                        </p:attrNameLst>
                                      </p:cBhvr>
                                      <p:to>
                                        <p:strVal val="visible"/>
                                      </p:to>
                                    </p:set>
                                    <p:anim calcmode="lin" valueType="num">
                                      <p:cBhvr>
                                        <p:cTn id="63" dur="500" fill="hold"/>
                                        <p:tgtEl>
                                          <p:spTgt spid="13388"/>
                                        </p:tgtEl>
                                        <p:attrNameLst>
                                          <p:attrName>ppt_x</p:attrName>
                                        </p:attrNameLst>
                                      </p:cBhvr>
                                      <p:tavLst>
                                        <p:tav tm="0">
                                          <p:val>
                                            <p:strVal val="#ppt_x-#ppt_w/2"/>
                                          </p:val>
                                        </p:tav>
                                        <p:tav tm="100000">
                                          <p:val>
                                            <p:strVal val="#ppt_x"/>
                                          </p:val>
                                        </p:tav>
                                      </p:tavLst>
                                    </p:anim>
                                    <p:anim calcmode="lin" valueType="num">
                                      <p:cBhvr>
                                        <p:cTn id="64" dur="500" fill="hold"/>
                                        <p:tgtEl>
                                          <p:spTgt spid="13388"/>
                                        </p:tgtEl>
                                        <p:attrNameLst>
                                          <p:attrName>ppt_y</p:attrName>
                                        </p:attrNameLst>
                                      </p:cBhvr>
                                      <p:tavLst>
                                        <p:tav tm="0">
                                          <p:val>
                                            <p:strVal val="#ppt_y"/>
                                          </p:val>
                                        </p:tav>
                                        <p:tav tm="100000">
                                          <p:val>
                                            <p:strVal val="#ppt_y"/>
                                          </p:val>
                                        </p:tav>
                                      </p:tavLst>
                                    </p:anim>
                                    <p:anim calcmode="lin" valueType="num">
                                      <p:cBhvr>
                                        <p:cTn id="65" dur="500" fill="hold"/>
                                        <p:tgtEl>
                                          <p:spTgt spid="13388"/>
                                        </p:tgtEl>
                                        <p:attrNameLst>
                                          <p:attrName>ppt_w</p:attrName>
                                        </p:attrNameLst>
                                      </p:cBhvr>
                                      <p:tavLst>
                                        <p:tav tm="0">
                                          <p:val>
                                            <p:fltVal val="0"/>
                                          </p:val>
                                        </p:tav>
                                        <p:tav tm="100000">
                                          <p:val>
                                            <p:strVal val="#ppt_w"/>
                                          </p:val>
                                        </p:tav>
                                      </p:tavLst>
                                    </p:anim>
                                    <p:anim calcmode="lin" valueType="num">
                                      <p:cBhvr>
                                        <p:cTn id="66" dur="500" fill="hold"/>
                                        <p:tgtEl>
                                          <p:spTgt spid="13388"/>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13391"/>
                                        </p:tgtEl>
                                        <p:attrNameLst>
                                          <p:attrName>style.visibility</p:attrName>
                                        </p:attrNameLst>
                                      </p:cBhvr>
                                      <p:to>
                                        <p:strVal val="visible"/>
                                      </p:to>
                                    </p:set>
                                    <p:anim calcmode="lin" valueType="num">
                                      <p:cBhvr>
                                        <p:cTn id="71" dur="500" fill="hold"/>
                                        <p:tgtEl>
                                          <p:spTgt spid="13391"/>
                                        </p:tgtEl>
                                        <p:attrNameLst>
                                          <p:attrName>ppt_x</p:attrName>
                                        </p:attrNameLst>
                                      </p:cBhvr>
                                      <p:tavLst>
                                        <p:tav tm="0">
                                          <p:val>
                                            <p:strVal val="#ppt_x-#ppt_w/2"/>
                                          </p:val>
                                        </p:tav>
                                        <p:tav tm="100000">
                                          <p:val>
                                            <p:strVal val="#ppt_x"/>
                                          </p:val>
                                        </p:tav>
                                      </p:tavLst>
                                    </p:anim>
                                    <p:anim calcmode="lin" valueType="num">
                                      <p:cBhvr>
                                        <p:cTn id="72" dur="500" fill="hold"/>
                                        <p:tgtEl>
                                          <p:spTgt spid="13391"/>
                                        </p:tgtEl>
                                        <p:attrNameLst>
                                          <p:attrName>ppt_y</p:attrName>
                                        </p:attrNameLst>
                                      </p:cBhvr>
                                      <p:tavLst>
                                        <p:tav tm="0">
                                          <p:val>
                                            <p:strVal val="#ppt_y"/>
                                          </p:val>
                                        </p:tav>
                                        <p:tav tm="100000">
                                          <p:val>
                                            <p:strVal val="#ppt_y"/>
                                          </p:val>
                                        </p:tav>
                                      </p:tavLst>
                                    </p:anim>
                                    <p:anim calcmode="lin" valueType="num">
                                      <p:cBhvr>
                                        <p:cTn id="73" dur="500" fill="hold"/>
                                        <p:tgtEl>
                                          <p:spTgt spid="13391"/>
                                        </p:tgtEl>
                                        <p:attrNameLst>
                                          <p:attrName>ppt_w</p:attrName>
                                        </p:attrNameLst>
                                      </p:cBhvr>
                                      <p:tavLst>
                                        <p:tav tm="0">
                                          <p:val>
                                            <p:fltVal val="0"/>
                                          </p:val>
                                        </p:tav>
                                        <p:tav tm="100000">
                                          <p:val>
                                            <p:strVal val="#ppt_w"/>
                                          </p:val>
                                        </p:tav>
                                      </p:tavLst>
                                    </p:anim>
                                    <p:anim calcmode="lin" valueType="num">
                                      <p:cBhvr>
                                        <p:cTn id="74" dur="500" fill="hold"/>
                                        <p:tgtEl>
                                          <p:spTgt spid="13391"/>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4" fill="hold" grpId="0" nodeType="clickEffect">
                                  <p:stCondLst>
                                    <p:cond delay="0"/>
                                  </p:stCondLst>
                                  <p:childTnLst>
                                    <p:set>
                                      <p:cBhvr>
                                        <p:cTn id="78" dur="1" fill="hold">
                                          <p:stCondLst>
                                            <p:cond delay="0"/>
                                          </p:stCondLst>
                                        </p:cTn>
                                        <p:tgtEl>
                                          <p:spTgt spid="13380"/>
                                        </p:tgtEl>
                                        <p:attrNameLst>
                                          <p:attrName>style.visibility</p:attrName>
                                        </p:attrNameLst>
                                      </p:cBhvr>
                                      <p:to>
                                        <p:strVal val="visible"/>
                                      </p:to>
                                    </p:set>
                                    <p:anim calcmode="lin" valueType="num">
                                      <p:cBhvr>
                                        <p:cTn id="79" dur="500" fill="hold"/>
                                        <p:tgtEl>
                                          <p:spTgt spid="13380"/>
                                        </p:tgtEl>
                                        <p:attrNameLst>
                                          <p:attrName>ppt_x</p:attrName>
                                        </p:attrNameLst>
                                      </p:cBhvr>
                                      <p:tavLst>
                                        <p:tav tm="0">
                                          <p:val>
                                            <p:strVal val="#ppt_x"/>
                                          </p:val>
                                        </p:tav>
                                        <p:tav tm="100000">
                                          <p:val>
                                            <p:strVal val="#ppt_x"/>
                                          </p:val>
                                        </p:tav>
                                      </p:tavLst>
                                    </p:anim>
                                    <p:anim calcmode="lin" valueType="num">
                                      <p:cBhvr>
                                        <p:cTn id="80" dur="500" fill="hold"/>
                                        <p:tgtEl>
                                          <p:spTgt spid="13380"/>
                                        </p:tgtEl>
                                        <p:attrNameLst>
                                          <p:attrName>ppt_y</p:attrName>
                                        </p:attrNameLst>
                                      </p:cBhvr>
                                      <p:tavLst>
                                        <p:tav tm="0">
                                          <p:val>
                                            <p:strVal val="#ppt_y+#ppt_h/2"/>
                                          </p:val>
                                        </p:tav>
                                        <p:tav tm="100000">
                                          <p:val>
                                            <p:strVal val="#ppt_y"/>
                                          </p:val>
                                        </p:tav>
                                      </p:tavLst>
                                    </p:anim>
                                    <p:anim calcmode="lin" valueType="num">
                                      <p:cBhvr>
                                        <p:cTn id="81" dur="500" fill="hold"/>
                                        <p:tgtEl>
                                          <p:spTgt spid="13380"/>
                                        </p:tgtEl>
                                        <p:attrNameLst>
                                          <p:attrName>ppt_w</p:attrName>
                                        </p:attrNameLst>
                                      </p:cBhvr>
                                      <p:tavLst>
                                        <p:tav tm="0">
                                          <p:val>
                                            <p:strVal val="#ppt_w"/>
                                          </p:val>
                                        </p:tav>
                                        <p:tav tm="100000">
                                          <p:val>
                                            <p:strVal val="#ppt_w"/>
                                          </p:val>
                                        </p:tav>
                                      </p:tavLst>
                                    </p:anim>
                                    <p:anim calcmode="lin" valueType="num">
                                      <p:cBhvr>
                                        <p:cTn id="82" dur="500" fill="hold"/>
                                        <p:tgtEl>
                                          <p:spTgt spid="133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6" grpId="0" autoUpdateAnimBg="0"/>
      <p:bldP spid="13319" grpId="0" autoUpdateAnimBg="0"/>
      <p:bldP spid="13361" grpId="0" autoUpdateAnimBg="0"/>
      <p:bldP spid="13380" grpId="0" animBg="1"/>
      <p:bldP spid="13386" grpId="0" animBg="1"/>
      <p:bldP spid="13388" grpId="0" animBg="1"/>
      <p:bldP spid="13389" grpId="0" animBg="1"/>
      <p:bldP spid="13391" grpId="0" animBg="1"/>
      <p:bldP spid="133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065CFCA-3EC8-4B8A-8902-33C789563D63}" type="slidenum">
              <a:rPr kumimoji="0" lang="zh-CN" altLang="en-US" sz="2000" smtClean="0">
                <a:solidFill>
                  <a:srgbClr val="0000FF"/>
                </a:solidFill>
              </a:rPr>
              <a:pPr eaLnBrk="1" hangingPunct="1"/>
              <a:t>20</a:t>
            </a:fld>
            <a:endParaRPr kumimoji="0" lang="en-US" altLang="zh-CN" sz="2000">
              <a:solidFill>
                <a:srgbClr val="0000FF"/>
              </a:solidFill>
            </a:endParaRPr>
          </a:p>
        </p:txBody>
      </p:sp>
      <p:sp>
        <p:nvSpPr>
          <p:cNvPr id="125960" name="Text Box 1032"/>
          <p:cNvSpPr txBox="1">
            <a:spLocks noChangeArrowheads="1"/>
          </p:cNvSpPr>
          <p:nvPr/>
        </p:nvSpPr>
        <p:spPr bwMode="auto">
          <a:xfrm>
            <a:off x="565151" y="133350"/>
            <a:ext cx="4157770"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dirty="0">
                <a:solidFill>
                  <a:srgbClr val="FF0000"/>
                </a:solidFill>
              </a:rPr>
              <a:t>作图法</a:t>
            </a:r>
            <a:r>
              <a:rPr lang="zh-CN" altLang="en-US" b="1" dirty="0"/>
              <a:t>求直线度误差</a:t>
            </a:r>
          </a:p>
        </p:txBody>
      </p:sp>
      <p:sp>
        <p:nvSpPr>
          <p:cNvPr id="125961" name="Text Box 1033"/>
          <p:cNvSpPr txBox="1">
            <a:spLocks noChangeArrowheads="1"/>
          </p:cNvSpPr>
          <p:nvPr/>
        </p:nvSpPr>
        <p:spPr bwMode="auto">
          <a:xfrm>
            <a:off x="979488" y="4243014"/>
            <a:ext cx="2984500" cy="52322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800" b="1">
                <a:solidFill>
                  <a:srgbClr val="FF3300"/>
                </a:solidFill>
              </a:rPr>
              <a:t>高</a:t>
            </a:r>
            <a:r>
              <a:rPr lang="zh-CN" altLang="en-US" sz="2800" b="1"/>
              <a:t>—低—</a:t>
            </a:r>
            <a:r>
              <a:rPr lang="zh-CN" altLang="en-US" sz="2800" b="1">
                <a:solidFill>
                  <a:srgbClr val="FF3300"/>
                </a:solidFill>
              </a:rPr>
              <a:t>高</a:t>
            </a:r>
          </a:p>
        </p:txBody>
      </p:sp>
      <p:sp>
        <p:nvSpPr>
          <p:cNvPr id="125963" name="Line 1035"/>
          <p:cNvSpPr>
            <a:spLocks noChangeShapeType="1"/>
          </p:cNvSpPr>
          <p:nvPr/>
        </p:nvSpPr>
        <p:spPr bwMode="auto">
          <a:xfrm>
            <a:off x="3411538" y="1708174"/>
            <a:ext cx="0" cy="838200"/>
          </a:xfrm>
          <a:prstGeom prst="line">
            <a:avLst/>
          </a:prstGeom>
          <a:noFill/>
          <a:ln w="57150">
            <a:solidFill>
              <a:srgbClr val="FF33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5972" name="Group 1044"/>
          <p:cNvGrpSpPr>
            <a:grpSpLocks/>
          </p:cNvGrpSpPr>
          <p:nvPr/>
        </p:nvGrpSpPr>
        <p:grpSpPr bwMode="auto">
          <a:xfrm>
            <a:off x="701675" y="1548326"/>
            <a:ext cx="3784600" cy="2524125"/>
            <a:chOff x="442" y="711"/>
            <a:chExt cx="2384" cy="2120"/>
          </a:xfrm>
        </p:grpSpPr>
        <p:pic>
          <p:nvPicPr>
            <p:cNvPr id="22545" name="Picture 1029"/>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42" y="711"/>
              <a:ext cx="2384" cy="2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546" name="Oval 1038"/>
            <p:cNvSpPr>
              <a:spLocks noChangeArrowheads="1"/>
            </p:cNvSpPr>
            <p:nvPr/>
          </p:nvSpPr>
          <p:spPr bwMode="auto">
            <a:xfrm>
              <a:off x="448" y="2614"/>
              <a:ext cx="183" cy="182"/>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Oval 1039"/>
            <p:cNvSpPr>
              <a:spLocks noChangeArrowheads="1"/>
            </p:cNvSpPr>
            <p:nvPr/>
          </p:nvSpPr>
          <p:spPr bwMode="auto">
            <a:xfrm>
              <a:off x="1829" y="1051"/>
              <a:ext cx="183" cy="182"/>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8" name="Oval 1041"/>
            <p:cNvSpPr>
              <a:spLocks noChangeArrowheads="1"/>
            </p:cNvSpPr>
            <p:nvPr/>
          </p:nvSpPr>
          <p:spPr bwMode="auto">
            <a:xfrm>
              <a:off x="1847" y="1728"/>
              <a:ext cx="183" cy="182"/>
            </a:xfrm>
            <a:prstGeom prst="ellipse">
              <a:avLst/>
            </a:prstGeom>
            <a:solidFill>
              <a:schemeClr val="accent1"/>
            </a:solidFill>
            <a:ln w="9525">
              <a:solidFill>
                <a:schemeClr val="accent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5962" name="Text Box 1034"/>
          <p:cNvSpPr txBox="1">
            <a:spLocks noChangeArrowheads="1"/>
          </p:cNvSpPr>
          <p:nvPr/>
        </p:nvSpPr>
        <p:spPr bwMode="auto">
          <a:xfrm>
            <a:off x="4503739" y="4270772"/>
            <a:ext cx="3349625" cy="52322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800" b="1">
                <a:solidFill>
                  <a:srgbClr val="FF3300"/>
                </a:solidFill>
              </a:rPr>
              <a:t>低</a:t>
            </a:r>
            <a:r>
              <a:rPr lang="zh-CN" altLang="en-US" sz="2800" b="1"/>
              <a:t>—高—</a:t>
            </a:r>
            <a:r>
              <a:rPr lang="zh-CN" altLang="en-US" sz="2800" b="1">
                <a:solidFill>
                  <a:srgbClr val="FF3300"/>
                </a:solidFill>
              </a:rPr>
              <a:t>低</a:t>
            </a:r>
          </a:p>
        </p:txBody>
      </p:sp>
      <p:grpSp>
        <p:nvGrpSpPr>
          <p:cNvPr id="125985" name="Group 1057"/>
          <p:cNvGrpSpPr>
            <a:grpSpLocks/>
          </p:cNvGrpSpPr>
          <p:nvPr/>
        </p:nvGrpSpPr>
        <p:grpSpPr bwMode="auto">
          <a:xfrm>
            <a:off x="4538663" y="1251347"/>
            <a:ext cx="3643312" cy="2880122"/>
            <a:chOff x="2859" y="1051"/>
            <a:chExt cx="2295" cy="2419"/>
          </a:xfrm>
        </p:grpSpPr>
        <p:sp>
          <p:nvSpPr>
            <p:cNvPr id="22541" name="Oval 1042"/>
            <p:cNvSpPr>
              <a:spLocks noChangeArrowheads="1"/>
            </p:cNvSpPr>
            <p:nvPr/>
          </p:nvSpPr>
          <p:spPr bwMode="auto">
            <a:xfrm>
              <a:off x="2859" y="3271"/>
              <a:ext cx="193" cy="199"/>
            </a:xfrm>
            <a:prstGeom prst="ellipse">
              <a:avLst/>
            </a:prstGeom>
            <a:solidFill>
              <a:schemeClr val="accent1"/>
            </a:solidFill>
            <a:ln w="9525">
              <a:solidFill>
                <a:schemeClr val="accent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2542" name="Picture 102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884" y="1051"/>
              <a:ext cx="2270" cy="24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2543" name="Oval 1040"/>
            <p:cNvSpPr>
              <a:spLocks noChangeArrowheads="1"/>
            </p:cNvSpPr>
            <p:nvPr/>
          </p:nvSpPr>
          <p:spPr bwMode="auto">
            <a:xfrm>
              <a:off x="3668" y="1940"/>
              <a:ext cx="193" cy="199"/>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Oval 1043"/>
            <p:cNvSpPr>
              <a:spLocks noChangeArrowheads="1"/>
            </p:cNvSpPr>
            <p:nvPr/>
          </p:nvSpPr>
          <p:spPr bwMode="auto">
            <a:xfrm>
              <a:off x="4623" y="1722"/>
              <a:ext cx="193" cy="199"/>
            </a:xfrm>
            <a:prstGeom prst="ellipse">
              <a:avLst/>
            </a:prstGeom>
            <a:solidFill>
              <a:schemeClr val="accent1"/>
            </a:solidFill>
            <a:ln w="9525">
              <a:solidFill>
                <a:schemeClr val="accent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5983" name="Group 1055"/>
          <p:cNvGrpSpPr>
            <a:grpSpLocks/>
          </p:cNvGrpSpPr>
          <p:nvPr/>
        </p:nvGrpSpPr>
        <p:grpSpPr bwMode="auto">
          <a:xfrm>
            <a:off x="4854576" y="658416"/>
            <a:ext cx="1974850" cy="2013347"/>
            <a:chOff x="3058" y="545"/>
            <a:chExt cx="1244" cy="1691"/>
          </a:xfrm>
        </p:grpSpPr>
        <p:sp>
          <p:nvSpPr>
            <p:cNvPr id="22538" name="Line 1036"/>
            <p:cNvSpPr>
              <a:spLocks noChangeShapeType="1"/>
            </p:cNvSpPr>
            <p:nvPr/>
          </p:nvSpPr>
          <p:spPr bwMode="auto">
            <a:xfrm flipH="1">
              <a:off x="4284" y="1465"/>
              <a:ext cx="9" cy="771"/>
            </a:xfrm>
            <a:prstGeom prst="line">
              <a:avLst/>
            </a:prstGeom>
            <a:noFill/>
            <a:ln w="57150">
              <a:solidFill>
                <a:srgbClr val="FF33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9" name="AutoShape 1048"/>
            <p:cNvSpPr>
              <a:spLocks/>
            </p:cNvSpPr>
            <p:nvPr/>
          </p:nvSpPr>
          <p:spPr bwMode="auto">
            <a:xfrm>
              <a:off x="3058" y="545"/>
              <a:ext cx="1244" cy="384"/>
            </a:xfrm>
            <a:prstGeom prst="callout1">
              <a:avLst>
                <a:gd name="adj1" fmla="val 18750"/>
                <a:gd name="adj2" fmla="val -3856"/>
                <a:gd name="adj3" fmla="val 264186"/>
                <a:gd name="adj4" fmla="val -66428"/>
              </a:avLst>
            </a:prstGeom>
            <a:solidFill>
              <a:srgbClr val="FFCCFF"/>
            </a:solidFill>
            <a:ln w="38100">
              <a:solidFill>
                <a:srgbClr val="FF3300"/>
              </a:solidFill>
              <a:miter lim="800000"/>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b="1" dirty="0"/>
                <a:t>纵坐标方向</a:t>
              </a:r>
            </a:p>
          </p:txBody>
        </p:sp>
        <p:sp>
          <p:nvSpPr>
            <p:cNvPr id="22540" name="Line 1049"/>
            <p:cNvSpPr>
              <a:spLocks noChangeShapeType="1"/>
            </p:cNvSpPr>
            <p:nvPr/>
          </p:nvSpPr>
          <p:spPr bwMode="auto">
            <a:xfrm>
              <a:off x="3807" y="857"/>
              <a:ext cx="423" cy="993"/>
            </a:xfrm>
            <a:prstGeom prst="line">
              <a:avLst/>
            </a:prstGeom>
            <a:noFill/>
            <a:ln w="38100">
              <a:solidFill>
                <a:srgbClr val="FF3300"/>
              </a:solidFill>
              <a:round/>
              <a:headEnd type="non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5960"/>
                                        </p:tgtEl>
                                        <p:attrNameLst>
                                          <p:attrName>style.visibility</p:attrName>
                                        </p:attrNameLst>
                                      </p:cBhvr>
                                      <p:to>
                                        <p:strVal val="visible"/>
                                      </p:to>
                                    </p:set>
                                    <p:animEffect transition="in" filter="wipe(left)">
                                      <p:cBhvr>
                                        <p:cTn id="7" dur="300"/>
                                        <p:tgtEl>
                                          <p:spTgt spid="125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25972"/>
                                        </p:tgtEl>
                                        <p:attrNameLst>
                                          <p:attrName>style.visibility</p:attrName>
                                        </p:attrNameLst>
                                      </p:cBhvr>
                                      <p:to>
                                        <p:strVal val="visible"/>
                                      </p:to>
                                    </p:set>
                                    <p:anim calcmode="lin" valueType="num">
                                      <p:cBhvr additive="base">
                                        <p:cTn id="12" dur="500" fill="hold"/>
                                        <p:tgtEl>
                                          <p:spTgt spid="125972"/>
                                        </p:tgtEl>
                                        <p:attrNameLst>
                                          <p:attrName>ppt_x</p:attrName>
                                        </p:attrNameLst>
                                      </p:cBhvr>
                                      <p:tavLst>
                                        <p:tav tm="0">
                                          <p:val>
                                            <p:strVal val="0-#ppt_w/2"/>
                                          </p:val>
                                        </p:tav>
                                        <p:tav tm="100000">
                                          <p:val>
                                            <p:strVal val="#ppt_x"/>
                                          </p:val>
                                        </p:tav>
                                      </p:tavLst>
                                    </p:anim>
                                    <p:anim calcmode="lin" valueType="num">
                                      <p:cBhvr additive="base">
                                        <p:cTn id="13" dur="500" fill="hold"/>
                                        <p:tgtEl>
                                          <p:spTgt spid="12597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25961"/>
                                        </p:tgtEl>
                                        <p:attrNameLst>
                                          <p:attrName>style.visibility</p:attrName>
                                        </p:attrNameLst>
                                      </p:cBhvr>
                                      <p:to>
                                        <p:strVal val="visible"/>
                                      </p:to>
                                    </p:set>
                                    <p:animEffect transition="in" filter="wipe(left)">
                                      <p:cBhvr>
                                        <p:cTn id="18" dur="300"/>
                                        <p:tgtEl>
                                          <p:spTgt spid="12596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125963"/>
                                        </p:tgtEl>
                                        <p:attrNameLst>
                                          <p:attrName>style.visibility</p:attrName>
                                        </p:attrNameLst>
                                      </p:cBhvr>
                                      <p:to>
                                        <p:strVal val="visible"/>
                                      </p:to>
                                    </p:set>
                                    <p:anim calcmode="lin" valueType="num">
                                      <p:cBhvr>
                                        <p:cTn id="23" dur="500" fill="hold"/>
                                        <p:tgtEl>
                                          <p:spTgt spid="125963"/>
                                        </p:tgtEl>
                                        <p:attrNameLst>
                                          <p:attrName>ppt_x</p:attrName>
                                        </p:attrNameLst>
                                      </p:cBhvr>
                                      <p:tavLst>
                                        <p:tav tm="0">
                                          <p:val>
                                            <p:strVal val="#ppt_x"/>
                                          </p:val>
                                        </p:tav>
                                        <p:tav tm="100000">
                                          <p:val>
                                            <p:strVal val="#ppt_x"/>
                                          </p:val>
                                        </p:tav>
                                      </p:tavLst>
                                    </p:anim>
                                    <p:anim calcmode="lin" valueType="num">
                                      <p:cBhvr>
                                        <p:cTn id="24" dur="500" fill="hold"/>
                                        <p:tgtEl>
                                          <p:spTgt spid="125963"/>
                                        </p:tgtEl>
                                        <p:attrNameLst>
                                          <p:attrName>ppt_y</p:attrName>
                                        </p:attrNameLst>
                                      </p:cBhvr>
                                      <p:tavLst>
                                        <p:tav tm="0">
                                          <p:val>
                                            <p:strVal val="#ppt_y-#ppt_h/2"/>
                                          </p:val>
                                        </p:tav>
                                        <p:tav tm="100000">
                                          <p:val>
                                            <p:strVal val="#ppt_y"/>
                                          </p:val>
                                        </p:tav>
                                      </p:tavLst>
                                    </p:anim>
                                    <p:anim calcmode="lin" valueType="num">
                                      <p:cBhvr>
                                        <p:cTn id="25" dur="500" fill="hold"/>
                                        <p:tgtEl>
                                          <p:spTgt spid="125963"/>
                                        </p:tgtEl>
                                        <p:attrNameLst>
                                          <p:attrName>ppt_w</p:attrName>
                                        </p:attrNameLst>
                                      </p:cBhvr>
                                      <p:tavLst>
                                        <p:tav tm="0">
                                          <p:val>
                                            <p:strVal val="#ppt_w"/>
                                          </p:val>
                                        </p:tav>
                                        <p:tav tm="100000">
                                          <p:val>
                                            <p:strVal val="#ppt_w"/>
                                          </p:val>
                                        </p:tav>
                                      </p:tavLst>
                                    </p:anim>
                                    <p:anim calcmode="lin" valueType="num">
                                      <p:cBhvr>
                                        <p:cTn id="26" dur="500" fill="hold"/>
                                        <p:tgtEl>
                                          <p:spTgt spid="125963"/>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25985"/>
                                        </p:tgtEl>
                                        <p:attrNameLst>
                                          <p:attrName>style.visibility</p:attrName>
                                        </p:attrNameLst>
                                      </p:cBhvr>
                                      <p:to>
                                        <p:strVal val="visible"/>
                                      </p:to>
                                    </p:set>
                                    <p:anim calcmode="lin" valueType="num">
                                      <p:cBhvr additive="base">
                                        <p:cTn id="31" dur="500" fill="hold"/>
                                        <p:tgtEl>
                                          <p:spTgt spid="125985"/>
                                        </p:tgtEl>
                                        <p:attrNameLst>
                                          <p:attrName>ppt_x</p:attrName>
                                        </p:attrNameLst>
                                      </p:cBhvr>
                                      <p:tavLst>
                                        <p:tav tm="0">
                                          <p:val>
                                            <p:strVal val="1+#ppt_w/2"/>
                                          </p:val>
                                        </p:tav>
                                        <p:tav tm="100000">
                                          <p:val>
                                            <p:strVal val="#ppt_x"/>
                                          </p:val>
                                        </p:tav>
                                      </p:tavLst>
                                    </p:anim>
                                    <p:anim calcmode="lin" valueType="num">
                                      <p:cBhvr additive="base">
                                        <p:cTn id="32" dur="500" fill="hold"/>
                                        <p:tgtEl>
                                          <p:spTgt spid="12598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5962"/>
                                        </p:tgtEl>
                                        <p:attrNameLst>
                                          <p:attrName>style.visibility</p:attrName>
                                        </p:attrNameLst>
                                      </p:cBhvr>
                                      <p:to>
                                        <p:strVal val="visible"/>
                                      </p:to>
                                    </p:set>
                                    <p:animEffect transition="in" filter="wipe(left)">
                                      <p:cBhvr>
                                        <p:cTn id="37" dur="500"/>
                                        <p:tgtEl>
                                          <p:spTgt spid="1259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25983"/>
                                        </p:tgtEl>
                                        <p:attrNameLst>
                                          <p:attrName>style.visibility</p:attrName>
                                        </p:attrNameLst>
                                      </p:cBhvr>
                                      <p:to>
                                        <p:strVal val="visible"/>
                                      </p:to>
                                    </p:set>
                                    <p:animEffect transition="in" filter="wipe(up)">
                                      <p:cBhvr>
                                        <p:cTn id="42" dur="5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0" grpId="0" autoUpdateAnimBg="0"/>
      <p:bldP spid="125961" grpId="0" autoUpdateAnimBg="0"/>
      <p:bldP spid="125963" grpId="0" animBg="1"/>
      <p:bldP spid="12596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D6FB29-2ACF-41E0-827B-16CA10BCCDF1}" type="slidenum">
              <a:rPr kumimoji="0" lang="zh-CN" altLang="en-US" sz="2000" smtClean="0">
                <a:solidFill>
                  <a:srgbClr val="0000FF"/>
                </a:solidFill>
              </a:rPr>
              <a:pPr eaLnBrk="1" hangingPunct="1"/>
              <a:t>21</a:t>
            </a:fld>
            <a:endParaRPr kumimoji="0" lang="en-US" altLang="zh-CN" sz="2000">
              <a:solidFill>
                <a:srgbClr val="0000FF"/>
              </a:solidFill>
            </a:endParaRPr>
          </a:p>
        </p:txBody>
      </p:sp>
      <p:sp>
        <p:nvSpPr>
          <p:cNvPr id="109572" name="Text Box 4"/>
          <p:cNvSpPr txBox="1">
            <a:spLocks noChangeArrowheads="1"/>
          </p:cNvSpPr>
          <p:nvPr/>
        </p:nvSpPr>
        <p:spPr bwMode="auto">
          <a:xfrm>
            <a:off x="442913" y="186929"/>
            <a:ext cx="760571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（2）近似法——两端点连线法</a:t>
            </a:r>
            <a:endParaRPr lang="en-US" altLang="zh-CN" b="1" dirty="0"/>
          </a:p>
        </p:txBody>
      </p:sp>
      <p:pic>
        <p:nvPicPr>
          <p:cNvPr id="23565" name="Picture 9"/>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33513" y="629841"/>
            <a:ext cx="5942012" cy="40338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9589" name="Line 21"/>
          <p:cNvSpPr>
            <a:spLocks noChangeShapeType="1"/>
          </p:cNvSpPr>
          <p:nvPr/>
        </p:nvSpPr>
        <p:spPr bwMode="auto">
          <a:xfrm flipV="1">
            <a:off x="1622426" y="578644"/>
            <a:ext cx="5351463" cy="3136106"/>
          </a:xfrm>
          <a:prstGeom prst="line">
            <a:avLst/>
          </a:prstGeom>
          <a:noFill/>
          <a:ln w="5715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0" name="Line 22"/>
          <p:cNvSpPr>
            <a:spLocks noChangeShapeType="1"/>
          </p:cNvSpPr>
          <p:nvPr/>
        </p:nvSpPr>
        <p:spPr bwMode="auto">
          <a:xfrm flipV="1">
            <a:off x="1558925" y="1999060"/>
            <a:ext cx="4332288" cy="2528888"/>
          </a:xfrm>
          <a:prstGeom prst="line">
            <a:avLst/>
          </a:prstGeom>
          <a:noFill/>
          <a:ln w="5715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1" name="Line 23"/>
          <p:cNvSpPr>
            <a:spLocks noChangeShapeType="1"/>
          </p:cNvSpPr>
          <p:nvPr/>
        </p:nvSpPr>
        <p:spPr bwMode="auto">
          <a:xfrm flipV="1">
            <a:off x="2820989" y="1996678"/>
            <a:ext cx="4332287" cy="2528888"/>
          </a:xfrm>
          <a:prstGeom prst="line">
            <a:avLst/>
          </a:prstGeom>
          <a:noFill/>
          <a:ln w="5715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9595" name="Group 27"/>
          <p:cNvGrpSpPr>
            <a:grpSpLocks/>
          </p:cNvGrpSpPr>
          <p:nvPr/>
        </p:nvGrpSpPr>
        <p:grpSpPr bwMode="auto">
          <a:xfrm>
            <a:off x="6632575" y="783431"/>
            <a:ext cx="1588" cy="1534716"/>
            <a:chOff x="4178" y="658"/>
            <a:chExt cx="1" cy="1289"/>
          </a:xfrm>
        </p:grpSpPr>
        <p:sp>
          <p:nvSpPr>
            <p:cNvPr id="23563" name="Line 25"/>
            <p:cNvSpPr>
              <a:spLocks noChangeShapeType="1"/>
            </p:cNvSpPr>
            <p:nvPr/>
          </p:nvSpPr>
          <p:spPr bwMode="auto">
            <a:xfrm>
              <a:off x="4179" y="658"/>
              <a:ext cx="0" cy="503"/>
            </a:xfrm>
            <a:prstGeom prst="line">
              <a:avLst/>
            </a:prstGeom>
            <a:noFill/>
            <a:ln w="57150">
              <a:solidFill>
                <a:srgbClr val="FF33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4" name="Line 26"/>
            <p:cNvSpPr>
              <a:spLocks noChangeShapeType="1"/>
            </p:cNvSpPr>
            <p:nvPr/>
          </p:nvSpPr>
          <p:spPr bwMode="auto">
            <a:xfrm>
              <a:off x="4178" y="1499"/>
              <a:ext cx="0" cy="448"/>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9596" name="Rectangle 28"/>
          <p:cNvSpPr>
            <a:spLocks noChangeArrowheads="1"/>
          </p:cNvSpPr>
          <p:nvPr/>
        </p:nvSpPr>
        <p:spPr bwMode="auto">
          <a:xfrm>
            <a:off x="6138863" y="1306116"/>
            <a:ext cx="493712" cy="501253"/>
          </a:xfrm>
          <a:prstGeom prst="rect">
            <a:avLst/>
          </a:prstGeom>
          <a:noFill/>
          <a:ln w="57150">
            <a:solidFill>
              <a:srgbClr val="FF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7" name="Line 29"/>
          <p:cNvSpPr>
            <a:spLocks noChangeShapeType="1"/>
          </p:cNvSpPr>
          <p:nvPr/>
        </p:nvSpPr>
        <p:spPr bwMode="auto">
          <a:xfrm>
            <a:off x="5573713" y="1797844"/>
            <a:ext cx="87312" cy="1218010"/>
          </a:xfrm>
          <a:prstGeom prst="line">
            <a:avLst/>
          </a:prstGeom>
          <a:noFill/>
          <a:ln w="76200">
            <a:solidFill>
              <a:schemeClr val="accent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09572">
                                            <p:txEl>
                                              <p:pRg st="0" end="0"/>
                                            </p:txEl>
                                          </p:spTgt>
                                        </p:tgtEl>
                                        <p:attrNameLst>
                                          <p:attrName>style.visibility</p:attrName>
                                        </p:attrNameLst>
                                      </p:cBhvr>
                                      <p:to>
                                        <p:strVal val="visible"/>
                                      </p:to>
                                    </p:set>
                                    <p:animEffect transition="in" filter="wipe(left)">
                                      <p:cBhvr>
                                        <p:cTn id="7" dur="300"/>
                                        <p:tgtEl>
                                          <p:spTgt spid="1095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9590"/>
                                        </p:tgtEl>
                                        <p:attrNameLst>
                                          <p:attrName>style.visibility</p:attrName>
                                        </p:attrNameLst>
                                      </p:cBhvr>
                                      <p:to>
                                        <p:strVal val="visible"/>
                                      </p:to>
                                    </p:set>
                                    <p:animEffect transition="in" filter="barn(outVertical)">
                                      <p:cBhvr>
                                        <p:cTn id="12" dur="500"/>
                                        <p:tgtEl>
                                          <p:spTgt spid="109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9589"/>
                                        </p:tgtEl>
                                        <p:attrNameLst>
                                          <p:attrName>style.visibility</p:attrName>
                                        </p:attrNameLst>
                                      </p:cBhvr>
                                      <p:to>
                                        <p:strVal val="visible"/>
                                      </p:to>
                                    </p:set>
                                    <p:animEffect transition="in" filter="barn(outVertical)">
                                      <p:cBhvr>
                                        <p:cTn id="17" dur="500"/>
                                        <p:tgtEl>
                                          <p:spTgt spid="1095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09591"/>
                                        </p:tgtEl>
                                        <p:attrNameLst>
                                          <p:attrName>style.visibility</p:attrName>
                                        </p:attrNameLst>
                                      </p:cBhvr>
                                      <p:to>
                                        <p:strVal val="visible"/>
                                      </p:to>
                                    </p:set>
                                    <p:animEffect transition="in" filter="barn(outVertical)">
                                      <p:cBhvr>
                                        <p:cTn id="22" dur="500"/>
                                        <p:tgtEl>
                                          <p:spTgt spid="1095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 fill="hold" nodeType="clickEffect">
                                  <p:stCondLst>
                                    <p:cond delay="0"/>
                                  </p:stCondLst>
                                  <p:childTnLst>
                                    <p:set>
                                      <p:cBhvr>
                                        <p:cTn id="26" dur="1" fill="hold">
                                          <p:stCondLst>
                                            <p:cond delay="0"/>
                                          </p:stCondLst>
                                        </p:cTn>
                                        <p:tgtEl>
                                          <p:spTgt spid="109595"/>
                                        </p:tgtEl>
                                        <p:attrNameLst>
                                          <p:attrName>style.visibility</p:attrName>
                                        </p:attrNameLst>
                                      </p:cBhvr>
                                      <p:to>
                                        <p:strVal val="visible"/>
                                      </p:to>
                                    </p:set>
                                    <p:anim calcmode="lin" valueType="num">
                                      <p:cBhvr>
                                        <p:cTn id="27" dur="500" fill="hold"/>
                                        <p:tgtEl>
                                          <p:spTgt spid="109595"/>
                                        </p:tgtEl>
                                        <p:attrNameLst>
                                          <p:attrName>ppt_x</p:attrName>
                                        </p:attrNameLst>
                                      </p:cBhvr>
                                      <p:tavLst>
                                        <p:tav tm="0">
                                          <p:val>
                                            <p:strVal val="#ppt_x"/>
                                          </p:val>
                                        </p:tav>
                                        <p:tav tm="100000">
                                          <p:val>
                                            <p:strVal val="#ppt_x"/>
                                          </p:val>
                                        </p:tav>
                                      </p:tavLst>
                                    </p:anim>
                                    <p:anim calcmode="lin" valueType="num">
                                      <p:cBhvr>
                                        <p:cTn id="28" dur="500" fill="hold"/>
                                        <p:tgtEl>
                                          <p:spTgt spid="109595"/>
                                        </p:tgtEl>
                                        <p:attrNameLst>
                                          <p:attrName>ppt_y</p:attrName>
                                        </p:attrNameLst>
                                      </p:cBhvr>
                                      <p:tavLst>
                                        <p:tav tm="0">
                                          <p:val>
                                            <p:strVal val="#ppt_y-#ppt_h/2"/>
                                          </p:val>
                                        </p:tav>
                                        <p:tav tm="100000">
                                          <p:val>
                                            <p:strVal val="#ppt_y"/>
                                          </p:val>
                                        </p:tav>
                                      </p:tavLst>
                                    </p:anim>
                                    <p:anim calcmode="lin" valueType="num">
                                      <p:cBhvr>
                                        <p:cTn id="29" dur="500" fill="hold"/>
                                        <p:tgtEl>
                                          <p:spTgt spid="109595"/>
                                        </p:tgtEl>
                                        <p:attrNameLst>
                                          <p:attrName>ppt_w</p:attrName>
                                        </p:attrNameLst>
                                      </p:cBhvr>
                                      <p:tavLst>
                                        <p:tav tm="0">
                                          <p:val>
                                            <p:strVal val="#ppt_w"/>
                                          </p:val>
                                        </p:tav>
                                        <p:tav tm="100000">
                                          <p:val>
                                            <p:strVal val="#ppt_w"/>
                                          </p:val>
                                        </p:tav>
                                      </p:tavLst>
                                    </p:anim>
                                    <p:anim calcmode="lin" valueType="num">
                                      <p:cBhvr>
                                        <p:cTn id="30" dur="500" fill="hold"/>
                                        <p:tgtEl>
                                          <p:spTgt spid="109595"/>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42" fill="hold" grpId="0" nodeType="clickEffect">
                                  <p:stCondLst>
                                    <p:cond delay="0"/>
                                  </p:stCondLst>
                                  <p:childTnLst>
                                    <p:set>
                                      <p:cBhvr>
                                        <p:cTn id="34" dur="1" fill="hold">
                                          <p:stCondLst>
                                            <p:cond delay="0"/>
                                          </p:stCondLst>
                                        </p:cTn>
                                        <p:tgtEl>
                                          <p:spTgt spid="109596"/>
                                        </p:tgtEl>
                                        <p:attrNameLst>
                                          <p:attrName>style.visibility</p:attrName>
                                        </p:attrNameLst>
                                      </p:cBhvr>
                                      <p:to>
                                        <p:strVal val="visible"/>
                                      </p:to>
                                    </p:set>
                                    <p:animEffect transition="in" filter="barn(outHorizontal)">
                                      <p:cBhvr>
                                        <p:cTn id="35" dur="500"/>
                                        <p:tgtEl>
                                          <p:spTgt spid="10959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 fill="hold" grpId="0" nodeType="clickEffect">
                                  <p:stCondLst>
                                    <p:cond delay="0"/>
                                  </p:stCondLst>
                                  <p:childTnLst>
                                    <p:set>
                                      <p:cBhvr>
                                        <p:cTn id="39" dur="1" fill="hold">
                                          <p:stCondLst>
                                            <p:cond delay="0"/>
                                          </p:stCondLst>
                                        </p:cTn>
                                        <p:tgtEl>
                                          <p:spTgt spid="109597"/>
                                        </p:tgtEl>
                                        <p:attrNameLst>
                                          <p:attrName>style.visibility</p:attrName>
                                        </p:attrNameLst>
                                      </p:cBhvr>
                                      <p:to>
                                        <p:strVal val="visible"/>
                                      </p:to>
                                    </p:set>
                                    <p:anim calcmode="lin" valueType="num">
                                      <p:cBhvr>
                                        <p:cTn id="40" dur="500" fill="hold"/>
                                        <p:tgtEl>
                                          <p:spTgt spid="109597"/>
                                        </p:tgtEl>
                                        <p:attrNameLst>
                                          <p:attrName>ppt_x</p:attrName>
                                        </p:attrNameLst>
                                      </p:cBhvr>
                                      <p:tavLst>
                                        <p:tav tm="0">
                                          <p:val>
                                            <p:strVal val="#ppt_x"/>
                                          </p:val>
                                        </p:tav>
                                        <p:tav tm="100000">
                                          <p:val>
                                            <p:strVal val="#ppt_x"/>
                                          </p:val>
                                        </p:tav>
                                      </p:tavLst>
                                    </p:anim>
                                    <p:anim calcmode="lin" valueType="num">
                                      <p:cBhvr>
                                        <p:cTn id="41" dur="500" fill="hold"/>
                                        <p:tgtEl>
                                          <p:spTgt spid="109597"/>
                                        </p:tgtEl>
                                        <p:attrNameLst>
                                          <p:attrName>ppt_y</p:attrName>
                                        </p:attrNameLst>
                                      </p:cBhvr>
                                      <p:tavLst>
                                        <p:tav tm="0">
                                          <p:val>
                                            <p:strVal val="#ppt_y-#ppt_h/2"/>
                                          </p:val>
                                        </p:tav>
                                        <p:tav tm="100000">
                                          <p:val>
                                            <p:strVal val="#ppt_y"/>
                                          </p:val>
                                        </p:tav>
                                      </p:tavLst>
                                    </p:anim>
                                    <p:anim calcmode="lin" valueType="num">
                                      <p:cBhvr>
                                        <p:cTn id="42" dur="500" fill="hold"/>
                                        <p:tgtEl>
                                          <p:spTgt spid="109597"/>
                                        </p:tgtEl>
                                        <p:attrNameLst>
                                          <p:attrName>ppt_w</p:attrName>
                                        </p:attrNameLst>
                                      </p:cBhvr>
                                      <p:tavLst>
                                        <p:tav tm="0">
                                          <p:val>
                                            <p:strVal val="#ppt_w"/>
                                          </p:val>
                                        </p:tav>
                                        <p:tav tm="100000">
                                          <p:val>
                                            <p:strVal val="#ppt_w"/>
                                          </p:val>
                                        </p:tav>
                                      </p:tavLst>
                                    </p:anim>
                                    <p:anim calcmode="lin" valueType="num">
                                      <p:cBhvr>
                                        <p:cTn id="43" dur="500" fill="hold"/>
                                        <p:tgtEl>
                                          <p:spTgt spid="10959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P spid="109589" grpId="0" animBg="1"/>
      <p:bldP spid="109590" grpId="0" animBg="1"/>
      <p:bldP spid="109591" grpId="0" animBg="1"/>
      <p:bldP spid="109596" grpId="0" animBg="1"/>
      <p:bldP spid="10959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3746901-5F1A-4734-96F5-A84F2000BB4F}" type="slidenum">
              <a:rPr kumimoji="0" lang="zh-CN" altLang="en-US" sz="2000" smtClean="0">
                <a:solidFill>
                  <a:srgbClr val="0000FF"/>
                </a:solidFill>
              </a:rPr>
              <a:pPr eaLnBrk="1" hangingPunct="1"/>
              <a:t>22</a:t>
            </a:fld>
            <a:endParaRPr kumimoji="0" lang="en-US" altLang="zh-CN" sz="2000">
              <a:solidFill>
                <a:srgbClr val="0000FF"/>
              </a:solidFill>
            </a:endParaRPr>
          </a:p>
        </p:txBody>
      </p:sp>
      <p:sp>
        <p:nvSpPr>
          <p:cNvPr id="14338" name="Text Box 2"/>
          <p:cNvSpPr txBox="1">
            <a:spLocks noChangeArrowheads="1"/>
          </p:cNvSpPr>
          <p:nvPr/>
        </p:nvSpPr>
        <p:spPr bwMode="auto">
          <a:xfrm>
            <a:off x="255589" y="97632"/>
            <a:ext cx="8129955"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80000"/>
              </a:lnSpc>
              <a:spcBef>
                <a:spcPct val="50000"/>
              </a:spcBef>
            </a:pPr>
            <a:r>
              <a:rPr lang="zh-CN" altLang="en-US" sz="2000" b="1" dirty="0">
                <a:latin typeface="宋体" pitchFamily="2" charset="-122"/>
              </a:rPr>
              <a:t>例4.4 用框式水平仪测量导轨的直线度误差，测得数据如表</a:t>
            </a:r>
            <a:r>
              <a:rPr lang="en-US" altLang="zh-CN" sz="2000" b="1" dirty="0">
                <a:latin typeface="宋体" pitchFamily="2" charset="-122"/>
              </a:rPr>
              <a:t>4.20</a:t>
            </a:r>
            <a:r>
              <a:rPr lang="zh-CN" altLang="en-US" sz="2000" b="1" dirty="0">
                <a:latin typeface="宋体" pitchFamily="2" charset="-122"/>
              </a:rPr>
              <a:t>所示（ </a:t>
            </a:r>
            <a:r>
              <a:rPr lang="zh-CN" altLang="en-US" sz="2000" b="1" dirty="0"/>
              <a:t>µ</a:t>
            </a:r>
            <a:r>
              <a:rPr lang="en-US" altLang="zh-CN" sz="2000" b="1" dirty="0"/>
              <a:t>m）</a:t>
            </a:r>
            <a:r>
              <a:rPr lang="zh-CN" altLang="en-US" sz="2000" b="1" dirty="0"/>
              <a:t>如下： </a:t>
            </a:r>
          </a:p>
        </p:txBody>
      </p:sp>
      <p:grpSp>
        <p:nvGrpSpPr>
          <p:cNvPr id="14555" name="Group 219"/>
          <p:cNvGrpSpPr>
            <a:grpSpLocks/>
          </p:cNvGrpSpPr>
          <p:nvPr/>
        </p:nvGrpSpPr>
        <p:grpSpPr bwMode="auto">
          <a:xfrm>
            <a:off x="420688" y="729855"/>
            <a:ext cx="7848600" cy="940594"/>
            <a:chOff x="0" y="2448"/>
            <a:chExt cx="4944" cy="790"/>
          </a:xfrm>
        </p:grpSpPr>
        <p:sp>
          <p:nvSpPr>
            <p:cNvPr id="24596" name="Text Box 187"/>
            <p:cNvSpPr txBox="1">
              <a:spLocks noChangeArrowheads="1"/>
            </p:cNvSpPr>
            <p:nvPr/>
          </p:nvSpPr>
          <p:spPr bwMode="auto">
            <a:xfrm>
              <a:off x="0" y="2448"/>
              <a:ext cx="624"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1800" b="1"/>
                <a:t>测点</a:t>
              </a:r>
            </a:p>
          </p:txBody>
        </p:sp>
        <p:sp>
          <p:nvSpPr>
            <p:cNvPr id="24597" name="Text Box 189"/>
            <p:cNvSpPr txBox="1">
              <a:spLocks noChangeArrowheads="1"/>
            </p:cNvSpPr>
            <p:nvPr/>
          </p:nvSpPr>
          <p:spPr bwMode="auto">
            <a:xfrm>
              <a:off x="0" y="2688"/>
              <a:ext cx="624"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1800" b="1"/>
                <a:t>读数值</a:t>
              </a:r>
            </a:p>
          </p:txBody>
        </p:sp>
        <p:sp>
          <p:nvSpPr>
            <p:cNvPr id="24598" name="Text Box 190"/>
            <p:cNvSpPr txBox="1">
              <a:spLocks noChangeArrowheads="1"/>
            </p:cNvSpPr>
            <p:nvPr/>
          </p:nvSpPr>
          <p:spPr bwMode="auto">
            <a:xfrm>
              <a:off x="0" y="2928"/>
              <a:ext cx="624"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1800" b="1"/>
                <a:t>累积值</a:t>
              </a:r>
            </a:p>
          </p:txBody>
        </p:sp>
        <p:sp>
          <p:nvSpPr>
            <p:cNvPr id="24599" name="Text Box 192"/>
            <p:cNvSpPr txBox="1">
              <a:spLocks noChangeArrowheads="1"/>
            </p:cNvSpPr>
            <p:nvPr/>
          </p:nvSpPr>
          <p:spPr bwMode="auto">
            <a:xfrm>
              <a:off x="62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0</a:t>
              </a:r>
            </a:p>
          </p:txBody>
        </p:sp>
        <p:sp>
          <p:nvSpPr>
            <p:cNvPr id="24600" name="Text Box 193"/>
            <p:cNvSpPr txBox="1">
              <a:spLocks noChangeArrowheads="1"/>
            </p:cNvSpPr>
            <p:nvPr/>
          </p:nvSpPr>
          <p:spPr bwMode="auto">
            <a:xfrm>
              <a:off x="62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0</a:t>
              </a:r>
            </a:p>
          </p:txBody>
        </p:sp>
        <p:sp>
          <p:nvSpPr>
            <p:cNvPr id="24601" name="Text Box 194"/>
            <p:cNvSpPr txBox="1">
              <a:spLocks noChangeArrowheads="1"/>
            </p:cNvSpPr>
            <p:nvPr/>
          </p:nvSpPr>
          <p:spPr bwMode="auto">
            <a:xfrm>
              <a:off x="62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0</a:t>
              </a:r>
            </a:p>
          </p:txBody>
        </p:sp>
        <p:sp>
          <p:nvSpPr>
            <p:cNvPr id="24602" name="Text Box 195"/>
            <p:cNvSpPr txBox="1">
              <a:spLocks noChangeArrowheads="1"/>
            </p:cNvSpPr>
            <p:nvPr/>
          </p:nvSpPr>
          <p:spPr bwMode="auto">
            <a:xfrm>
              <a:off x="110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a:t>
              </a:r>
            </a:p>
          </p:txBody>
        </p:sp>
        <p:sp>
          <p:nvSpPr>
            <p:cNvPr id="24603" name="Text Box 196"/>
            <p:cNvSpPr txBox="1">
              <a:spLocks noChangeArrowheads="1"/>
            </p:cNvSpPr>
            <p:nvPr/>
          </p:nvSpPr>
          <p:spPr bwMode="auto">
            <a:xfrm>
              <a:off x="158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a:t>
              </a:r>
            </a:p>
          </p:txBody>
        </p:sp>
        <p:sp>
          <p:nvSpPr>
            <p:cNvPr id="24604" name="Text Box 197"/>
            <p:cNvSpPr txBox="1">
              <a:spLocks noChangeArrowheads="1"/>
            </p:cNvSpPr>
            <p:nvPr/>
          </p:nvSpPr>
          <p:spPr bwMode="auto">
            <a:xfrm>
              <a:off x="206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3</a:t>
              </a:r>
            </a:p>
          </p:txBody>
        </p:sp>
        <p:sp>
          <p:nvSpPr>
            <p:cNvPr id="24605" name="Text Box 198"/>
            <p:cNvSpPr txBox="1">
              <a:spLocks noChangeArrowheads="1"/>
            </p:cNvSpPr>
            <p:nvPr/>
          </p:nvSpPr>
          <p:spPr bwMode="auto">
            <a:xfrm>
              <a:off x="254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4</a:t>
              </a:r>
            </a:p>
          </p:txBody>
        </p:sp>
        <p:sp>
          <p:nvSpPr>
            <p:cNvPr id="24606" name="Text Box 199"/>
            <p:cNvSpPr txBox="1">
              <a:spLocks noChangeArrowheads="1"/>
            </p:cNvSpPr>
            <p:nvPr/>
          </p:nvSpPr>
          <p:spPr bwMode="auto">
            <a:xfrm>
              <a:off x="302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5</a:t>
              </a:r>
            </a:p>
          </p:txBody>
        </p:sp>
        <p:sp>
          <p:nvSpPr>
            <p:cNvPr id="24607" name="Text Box 200"/>
            <p:cNvSpPr txBox="1">
              <a:spLocks noChangeArrowheads="1"/>
            </p:cNvSpPr>
            <p:nvPr/>
          </p:nvSpPr>
          <p:spPr bwMode="auto">
            <a:xfrm>
              <a:off x="350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6</a:t>
              </a:r>
            </a:p>
          </p:txBody>
        </p:sp>
        <p:sp>
          <p:nvSpPr>
            <p:cNvPr id="24608" name="Text Box 201"/>
            <p:cNvSpPr txBox="1">
              <a:spLocks noChangeArrowheads="1"/>
            </p:cNvSpPr>
            <p:nvPr/>
          </p:nvSpPr>
          <p:spPr bwMode="auto">
            <a:xfrm>
              <a:off x="398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7</a:t>
              </a:r>
            </a:p>
          </p:txBody>
        </p:sp>
        <p:sp>
          <p:nvSpPr>
            <p:cNvPr id="24609" name="Text Box 202"/>
            <p:cNvSpPr txBox="1">
              <a:spLocks noChangeArrowheads="1"/>
            </p:cNvSpPr>
            <p:nvPr/>
          </p:nvSpPr>
          <p:spPr bwMode="auto">
            <a:xfrm>
              <a:off x="4464" y="244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8</a:t>
              </a:r>
            </a:p>
          </p:txBody>
        </p:sp>
        <p:sp>
          <p:nvSpPr>
            <p:cNvPr id="24610" name="Text Box 203"/>
            <p:cNvSpPr txBox="1">
              <a:spLocks noChangeArrowheads="1"/>
            </p:cNvSpPr>
            <p:nvPr/>
          </p:nvSpPr>
          <p:spPr bwMode="auto">
            <a:xfrm>
              <a:off x="110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11" name="Text Box 204"/>
            <p:cNvSpPr txBox="1">
              <a:spLocks noChangeArrowheads="1"/>
            </p:cNvSpPr>
            <p:nvPr/>
          </p:nvSpPr>
          <p:spPr bwMode="auto">
            <a:xfrm>
              <a:off x="110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12" name="Text Box 205"/>
            <p:cNvSpPr txBox="1">
              <a:spLocks noChangeArrowheads="1"/>
            </p:cNvSpPr>
            <p:nvPr/>
          </p:nvSpPr>
          <p:spPr bwMode="auto">
            <a:xfrm>
              <a:off x="158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-10</a:t>
              </a:r>
            </a:p>
          </p:txBody>
        </p:sp>
        <p:sp>
          <p:nvSpPr>
            <p:cNvPr id="24613" name="Text Box 206"/>
            <p:cNvSpPr txBox="1">
              <a:spLocks noChangeArrowheads="1"/>
            </p:cNvSpPr>
            <p:nvPr/>
          </p:nvSpPr>
          <p:spPr bwMode="auto">
            <a:xfrm>
              <a:off x="158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+10</a:t>
              </a:r>
            </a:p>
          </p:txBody>
        </p:sp>
        <p:sp>
          <p:nvSpPr>
            <p:cNvPr id="24614" name="Text Box 207"/>
            <p:cNvSpPr txBox="1">
              <a:spLocks noChangeArrowheads="1"/>
            </p:cNvSpPr>
            <p:nvPr/>
          </p:nvSpPr>
          <p:spPr bwMode="auto">
            <a:xfrm>
              <a:off x="206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+40</a:t>
              </a:r>
            </a:p>
          </p:txBody>
        </p:sp>
        <p:sp>
          <p:nvSpPr>
            <p:cNvPr id="24615" name="Text Box 208"/>
            <p:cNvSpPr txBox="1">
              <a:spLocks noChangeArrowheads="1"/>
            </p:cNvSpPr>
            <p:nvPr/>
          </p:nvSpPr>
          <p:spPr bwMode="auto">
            <a:xfrm>
              <a:off x="206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+50</a:t>
              </a:r>
            </a:p>
          </p:txBody>
        </p:sp>
        <p:sp>
          <p:nvSpPr>
            <p:cNvPr id="24616" name="Text Box 209"/>
            <p:cNvSpPr txBox="1">
              <a:spLocks noChangeArrowheads="1"/>
            </p:cNvSpPr>
            <p:nvPr/>
          </p:nvSpPr>
          <p:spPr bwMode="auto">
            <a:xfrm>
              <a:off x="254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17" name="Text Box 210"/>
            <p:cNvSpPr txBox="1">
              <a:spLocks noChangeArrowheads="1"/>
            </p:cNvSpPr>
            <p:nvPr/>
          </p:nvSpPr>
          <p:spPr bwMode="auto">
            <a:xfrm>
              <a:off x="254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+30</a:t>
              </a:r>
            </a:p>
          </p:txBody>
        </p:sp>
        <p:sp>
          <p:nvSpPr>
            <p:cNvPr id="24618" name="Text Box 211"/>
            <p:cNvSpPr txBox="1">
              <a:spLocks noChangeArrowheads="1"/>
            </p:cNvSpPr>
            <p:nvPr/>
          </p:nvSpPr>
          <p:spPr bwMode="auto">
            <a:xfrm>
              <a:off x="302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-10</a:t>
              </a:r>
            </a:p>
          </p:txBody>
        </p:sp>
        <p:sp>
          <p:nvSpPr>
            <p:cNvPr id="24619" name="Text Box 212"/>
            <p:cNvSpPr txBox="1">
              <a:spLocks noChangeArrowheads="1"/>
            </p:cNvSpPr>
            <p:nvPr/>
          </p:nvSpPr>
          <p:spPr bwMode="auto">
            <a:xfrm>
              <a:off x="302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20" name="Text Box 213"/>
            <p:cNvSpPr txBox="1">
              <a:spLocks noChangeArrowheads="1"/>
            </p:cNvSpPr>
            <p:nvPr/>
          </p:nvSpPr>
          <p:spPr bwMode="auto">
            <a:xfrm>
              <a:off x="350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-10</a:t>
              </a:r>
            </a:p>
          </p:txBody>
        </p:sp>
        <p:sp>
          <p:nvSpPr>
            <p:cNvPr id="24621" name="Text Box 214"/>
            <p:cNvSpPr txBox="1">
              <a:spLocks noChangeArrowheads="1"/>
            </p:cNvSpPr>
            <p:nvPr/>
          </p:nvSpPr>
          <p:spPr bwMode="auto">
            <a:xfrm>
              <a:off x="350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+10</a:t>
              </a:r>
            </a:p>
          </p:txBody>
        </p:sp>
        <p:sp>
          <p:nvSpPr>
            <p:cNvPr id="24622" name="Text Box 215"/>
            <p:cNvSpPr txBox="1">
              <a:spLocks noChangeArrowheads="1"/>
            </p:cNvSpPr>
            <p:nvPr/>
          </p:nvSpPr>
          <p:spPr bwMode="auto">
            <a:xfrm>
              <a:off x="398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23" name="Text Box 216"/>
            <p:cNvSpPr txBox="1">
              <a:spLocks noChangeArrowheads="1"/>
            </p:cNvSpPr>
            <p:nvPr/>
          </p:nvSpPr>
          <p:spPr bwMode="auto">
            <a:xfrm>
              <a:off x="398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+30</a:t>
              </a:r>
            </a:p>
          </p:txBody>
        </p:sp>
        <p:sp>
          <p:nvSpPr>
            <p:cNvPr id="24624" name="Text Box 217"/>
            <p:cNvSpPr txBox="1">
              <a:spLocks noChangeArrowheads="1"/>
            </p:cNvSpPr>
            <p:nvPr/>
          </p:nvSpPr>
          <p:spPr bwMode="auto">
            <a:xfrm>
              <a:off x="4464" y="268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+20</a:t>
              </a:r>
            </a:p>
          </p:txBody>
        </p:sp>
        <p:sp>
          <p:nvSpPr>
            <p:cNvPr id="24625" name="Text Box 218"/>
            <p:cNvSpPr txBox="1">
              <a:spLocks noChangeArrowheads="1"/>
            </p:cNvSpPr>
            <p:nvPr/>
          </p:nvSpPr>
          <p:spPr bwMode="auto">
            <a:xfrm>
              <a:off x="4464" y="2928"/>
              <a:ext cx="480" cy="310"/>
            </a:xfrm>
            <a:prstGeom prst="rect">
              <a:avLst/>
            </a:prstGeom>
            <a:noFill/>
            <a:ln w="127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sz="1800" b="1"/>
                <a:t>+50</a:t>
              </a:r>
            </a:p>
          </p:txBody>
        </p:sp>
      </p:grpSp>
      <p:sp>
        <p:nvSpPr>
          <p:cNvPr id="14556" name="Text Box 220"/>
          <p:cNvSpPr txBox="1">
            <a:spLocks noChangeArrowheads="1"/>
          </p:cNvSpPr>
          <p:nvPr/>
        </p:nvSpPr>
        <p:spPr bwMode="auto">
          <a:xfrm>
            <a:off x="220663" y="1690688"/>
            <a:ext cx="730091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latin typeface="宋体" pitchFamily="2" charset="-122"/>
              </a:rPr>
              <a:t>解：根据累积值绘图</a:t>
            </a:r>
            <a:endParaRPr lang="zh-CN" altLang="en-US" sz="2000" b="1" dirty="0"/>
          </a:p>
        </p:txBody>
      </p:sp>
      <p:sp>
        <p:nvSpPr>
          <p:cNvPr id="14561" name="Text Box 225"/>
          <p:cNvSpPr txBox="1">
            <a:spLocks noChangeArrowheads="1"/>
          </p:cNvSpPr>
          <p:nvPr/>
        </p:nvSpPr>
        <p:spPr bwMode="auto">
          <a:xfrm>
            <a:off x="214313" y="2055019"/>
            <a:ext cx="2147887"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a:t>
            </a:r>
            <a:r>
              <a:rPr lang="zh-CN" altLang="en-US" sz="2000" b="1" dirty="0">
                <a:latin typeface="宋体" pitchFamily="2" charset="-122"/>
              </a:rPr>
              <a:t>最小条件法</a:t>
            </a:r>
            <a:r>
              <a:rPr lang="zh-CN" altLang="en-US" sz="2000" b="1" dirty="0"/>
              <a:t> </a:t>
            </a:r>
          </a:p>
        </p:txBody>
      </p:sp>
      <p:sp>
        <p:nvSpPr>
          <p:cNvPr id="14563" name="Text Box 227"/>
          <p:cNvSpPr txBox="1">
            <a:spLocks noChangeArrowheads="1"/>
          </p:cNvSpPr>
          <p:nvPr/>
        </p:nvSpPr>
        <p:spPr bwMode="auto">
          <a:xfrm>
            <a:off x="684048" y="4294522"/>
            <a:ext cx="1056522"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斜率 ：</a:t>
            </a:r>
          </a:p>
        </p:txBody>
      </p:sp>
      <p:sp>
        <p:nvSpPr>
          <p:cNvPr id="14569" name="Text Box 233"/>
          <p:cNvSpPr txBox="1">
            <a:spLocks noChangeArrowheads="1"/>
          </p:cNvSpPr>
          <p:nvPr/>
        </p:nvSpPr>
        <p:spPr bwMode="auto">
          <a:xfrm>
            <a:off x="505745" y="2546121"/>
            <a:ext cx="1743075" cy="156966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pPr>
            <a:r>
              <a:rPr lang="zh-CN" altLang="en-US" sz="2000" b="1" dirty="0"/>
              <a:t>由图可见：</a:t>
            </a:r>
          </a:p>
          <a:p>
            <a:pPr algn="just" eaLnBrk="1" hangingPunct="1">
              <a:lnSpc>
                <a:spcPct val="120000"/>
              </a:lnSpc>
            </a:pPr>
            <a:r>
              <a:rPr lang="zh-CN" altLang="en-US" sz="2000" b="1" dirty="0"/>
              <a:t>    符合</a:t>
            </a:r>
          </a:p>
          <a:p>
            <a:pPr algn="just" eaLnBrk="1" hangingPunct="1">
              <a:lnSpc>
                <a:spcPct val="120000"/>
              </a:lnSpc>
            </a:pPr>
            <a:r>
              <a:rPr lang="zh-CN" altLang="en-US" sz="2000" b="1" dirty="0">
                <a:solidFill>
                  <a:schemeClr val="accent1"/>
                </a:solidFill>
              </a:rPr>
              <a:t>低</a:t>
            </a:r>
            <a:r>
              <a:rPr lang="zh-CN" altLang="en-US" sz="2000" b="1" dirty="0">
                <a:cs typeface="Times New Roman" pitchFamily="18" charset="0"/>
              </a:rPr>
              <a:t>–</a:t>
            </a:r>
            <a:r>
              <a:rPr lang="zh-CN" altLang="en-US" sz="2000" b="1" dirty="0">
                <a:solidFill>
                  <a:srgbClr val="FF3300"/>
                </a:solidFill>
              </a:rPr>
              <a:t>高</a:t>
            </a:r>
            <a:r>
              <a:rPr lang="zh-CN" altLang="en-US" sz="2000" b="1" dirty="0">
                <a:cs typeface="Times New Roman" pitchFamily="18" charset="0"/>
              </a:rPr>
              <a:t>–</a:t>
            </a:r>
            <a:r>
              <a:rPr lang="zh-CN" altLang="en-US" sz="2000" b="1" dirty="0">
                <a:solidFill>
                  <a:schemeClr val="accent1"/>
                </a:solidFill>
              </a:rPr>
              <a:t>低</a:t>
            </a:r>
          </a:p>
          <a:p>
            <a:pPr algn="just" eaLnBrk="1" hangingPunct="1">
              <a:lnSpc>
                <a:spcPct val="120000"/>
              </a:lnSpc>
            </a:pPr>
            <a:r>
              <a:rPr lang="zh-CN" altLang="en-US" sz="2000" b="1" dirty="0"/>
              <a:t>   准则 。</a:t>
            </a:r>
          </a:p>
        </p:txBody>
      </p:sp>
      <p:grpSp>
        <p:nvGrpSpPr>
          <p:cNvPr id="14608" name="Group 272"/>
          <p:cNvGrpSpPr>
            <a:grpSpLocks/>
          </p:cNvGrpSpPr>
          <p:nvPr/>
        </p:nvGrpSpPr>
        <p:grpSpPr bwMode="auto">
          <a:xfrm>
            <a:off x="2454275" y="2063354"/>
            <a:ext cx="5830888" cy="2122884"/>
            <a:chOff x="1458" y="1733"/>
            <a:chExt cx="3673" cy="1783"/>
          </a:xfrm>
        </p:grpSpPr>
        <p:pic>
          <p:nvPicPr>
            <p:cNvPr id="24592" name="Picture 268"/>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458" y="1733"/>
              <a:ext cx="3673" cy="178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4593" name="Oval 269"/>
            <p:cNvSpPr>
              <a:spLocks noChangeArrowheads="1"/>
            </p:cNvSpPr>
            <p:nvPr/>
          </p:nvSpPr>
          <p:spPr bwMode="auto">
            <a:xfrm>
              <a:off x="2825" y="2323"/>
              <a:ext cx="137" cy="133"/>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4" name="Oval 270"/>
            <p:cNvSpPr>
              <a:spLocks noChangeArrowheads="1"/>
            </p:cNvSpPr>
            <p:nvPr/>
          </p:nvSpPr>
          <p:spPr bwMode="auto">
            <a:xfrm>
              <a:off x="1691" y="3237"/>
              <a:ext cx="137" cy="133"/>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5" name="Oval 271"/>
            <p:cNvSpPr>
              <a:spLocks noChangeArrowheads="1"/>
            </p:cNvSpPr>
            <p:nvPr/>
          </p:nvSpPr>
          <p:spPr bwMode="auto">
            <a:xfrm>
              <a:off x="3959" y="3063"/>
              <a:ext cx="137" cy="133"/>
            </a:xfrm>
            <a:prstGeom prst="ellipse">
              <a:avLst/>
            </a:prstGeom>
            <a:solidFill>
              <a:schemeClr val="accent1"/>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09" name="Line 273"/>
          <p:cNvSpPr>
            <a:spLocks noChangeShapeType="1"/>
          </p:cNvSpPr>
          <p:nvPr/>
        </p:nvSpPr>
        <p:spPr bwMode="auto">
          <a:xfrm flipV="1">
            <a:off x="2689225" y="3636169"/>
            <a:ext cx="5226050" cy="326231"/>
          </a:xfrm>
          <a:prstGeom prst="line">
            <a:avLst/>
          </a:prstGeom>
          <a:noFill/>
          <a:ln w="57150">
            <a:solidFill>
              <a:srgbClr val="FF99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10" name="Line 274"/>
          <p:cNvSpPr>
            <a:spLocks noChangeShapeType="1"/>
          </p:cNvSpPr>
          <p:nvPr/>
        </p:nvSpPr>
        <p:spPr bwMode="auto">
          <a:xfrm flipV="1">
            <a:off x="3494089" y="2645569"/>
            <a:ext cx="4441825" cy="260747"/>
          </a:xfrm>
          <a:prstGeom prst="line">
            <a:avLst/>
          </a:prstGeom>
          <a:noFill/>
          <a:ln w="57150">
            <a:solidFill>
              <a:srgbClr val="FF99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11" name="Line 275"/>
          <p:cNvSpPr>
            <a:spLocks noChangeShapeType="1"/>
          </p:cNvSpPr>
          <p:nvPr/>
        </p:nvSpPr>
        <p:spPr bwMode="auto">
          <a:xfrm>
            <a:off x="6872288" y="2699148"/>
            <a:ext cx="0" cy="969169"/>
          </a:xfrm>
          <a:prstGeom prst="line">
            <a:avLst/>
          </a:prstGeom>
          <a:noFill/>
          <a:ln w="57150">
            <a:solidFill>
              <a:srgbClr val="FF99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12" name="Line 276"/>
          <p:cNvSpPr>
            <a:spLocks noChangeShapeType="1"/>
          </p:cNvSpPr>
          <p:nvPr/>
        </p:nvSpPr>
        <p:spPr bwMode="auto">
          <a:xfrm>
            <a:off x="4776788" y="2830116"/>
            <a:ext cx="0" cy="979884"/>
          </a:xfrm>
          <a:prstGeom prst="line">
            <a:avLst/>
          </a:prstGeom>
          <a:noFill/>
          <a:ln w="57150">
            <a:solidFill>
              <a:srgbClr val="FF99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aphicFrame>
        <p:nvGraphicFramePr>
          <p:cNvPr id="14619" name="Object 283"/>
          <p:cNvGraphicFramePr>
            <a:graphicFrameLocks noChangeAspect="1"/>
          </p:cNvGraphicFramePr>
          <p:nvPr/>
        </p:nvGraphicFramePr>
        <p:xfrm>
          <a:off x="1776413" y="4217194"/>
          <a:ext cx="1320800" cy="579835"/>
        </p:xfrm>
        <a:graphic>
          <a:graphicData uri="http://schemas.openxmlformats.org/presentationml/2006/ole">
            <p:oleObj spid="_x0000_s24644" name="Equation" r:id="rId4" imgW="16154400" imgH="9448800" progId="">
              <p:embed/>
            </p:oleObj>
          </a:graphicData>
        </a:graphic>
      </p:graphicFrame>
      <p:graphicFrame>
        <p:nvGraphicFramePr>
          <p:cNvPr id="14620" name="Object 284"/>
          <p:cNvGraphicFramePr>
            <a:graphicFrameLocks noChangeAspect="1"/>
          </p:cNvGraphicFramePr>
          <p:nvPr/>
        </p:nvGraphicFramePr>
        <p:xfrm>
          <a:off x="3546475" y="4363642"/>
          <a:ext cx="3259138" cy="325040"/>
        </p:xfrm>
        <a:graphic>
          <a:graphicData uri="http://schemas.openxmlformats.org/presentationml/2006/ole">
            <p:oleObj spid="_x0000_s24645" name="Equation" r:id="rId5" imgW="39014400" imgH="51816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338"/>
                                        </p:tgtEl>
                                        <p:attrNameLst>
                                          <p:attrName>style.visibility</p:attrName>
                                        </p:attrNameLst>
                                      </p:cBhvr>
                                      <p:to>
                                        <p:strVal val="visible"/>
                                      </p:to>
                                    </p:set>
                                    <p:animEffect transition="in" filter="wipe(left)">
                                      <p:cBhvr>
                                        <p:cTn id="7" dur="3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555"/>
                                        </p:tgtEl>
                                        <p:attrNameLst>
                                          <p:attrName>style.visibility</p:attrName>
                                        </p:attrNameLst>
                                      </p:cBhvr>
                                      <p:to>
                                        <p:strVal val="visible"/>
                                      </p:to>
                                    </p:set>
                                    <p:animEffect transition="in" filter="wipe(left)">
                                      <p:cBhvr>
                                        <p:cTn id="12" dur="500"/>
                                        <p:tgtEl>
                                          <p:spTgt spid="14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4556"/>
                                        </p:tgtEl>
                                        <p:attrNameLst>
                                          <p:attrName>style.visibility</p:attrName>
                                        </p:attrNameLst>
                                      </p:cBhvr>
                                      <p:to>
                                        <p:strVal val="visible"/>
                                      </p:to>
                                    </p:set>
                                    <p:animEffect transition="in" filter="wipe(left)">
                                      <p:cBhvr>
                                        <p:cTn id="17" dur="300"/>
                                        <p:tgtEl>
                                          <p:spTgt spid="14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14608"/>
                                        </p:tgtEl>
                                        <p:attrNameLst>
                                          <p:attrName>style.visibility</p:attrName>
                                        </p:attrNameLst>
                                      </p:cBhvr>
                                      <p:to>
                                        <p:strVal val="visible"/>
                                      </p:to>
                                    </p:set>
                                    <p:anim calcmode="lin" valueType="num">
                                      <p:cBhvr additive="base">
                                        <p:cTn id="22" dur="500" fill="hold"/>
                                        <p:tgtEl>
                                          <p:spTgt spid="14608"/>
                                        </p:tgtEl>
                                        <p:attrNameLst>
                                          <p:attrName>ppt_x</p:attrName>
                                        </p:attrNameLst>
                                      </p:cBhvr>
                                      <p:tavLst>
                                        <p:tav tm="0">
                                          <p:val>
                                            <p:strVal val="1+#ppt_w/2"/>
                                          </p:val>
                                        </p:tav>
                                        <p:tav tm="100000">
                                          <p:val>
                                            <p:strVal val="#ppt_x"/>
                                          </p:val>
                                        </p:tav>
                                      </p:tavLst>
                                    </p:anim>
                                    <p:anim calcmode="lin" valueType="num">
                                      <p:cBhvr additive="base">
                                        <p:cTn id="23" dur="500" fill="hold"/>
                                        <p:tgtEl>
                                          <p:spTgt spid="14608"/>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14561">
                                            <p:txEl>
                                              <p:pRg st="0" end="0"/>
                                            </p:txEl>
                                          </p:spTgt>
                                        </p:tgtEl>
                                        <p:attrNameLst>
                                          <p:attrName>style.visibility</p:attrName>
                                        </p:attrNameLst>
                                      </p:cBhvr>
                                      <p:to>
                                        <p:strVal val="visible"/>
                                      </p:to>
                                    </p:set>
                                    <p:animEffect transition="in" filter="wipe(left)">
                                      <p:cBhvr>
                                        <p:cTn id="28" dur="300"/>
                                        <p:tgtEl>
                                          <p:spTgt spid="14561">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569"/>
                                        </p:tgtEl>
                                        <p:attrNameLst>
                                          <p:attrName>style.visibility</p:attrName>
                                        </p:attrNameLst>
                                      </p:cBhvr>
                                      <p:to>
                                        <p:strVal val="visible"/>
                                      </p:to>
                                    </p:set>
                                    <p:animEffect transition="in" filter="wipe(left)">
                                      <p:cBhvr>
                                        <p:cTn id="33" dur="500"/>
                                        <p:tgtEl>
                                          <p:spTgt spid="1456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37" fill="hold" grpId="0" nodeType="clickEffect">
                                  <p:stCondLst>
                                    <p:cond delay="0"/>
                                  </p:stCondLst>
                                  <p:childTnLst>
                                    <p:set>
                                      <p:cBhvr>
                                        <p:cTn id="37" dur="1" fill="hold">
                                          <p:stCondLst>
                                            <p:cond delay="0"/>
                                          </p:stCondLst>
                                        </p:cTn>
                                        <p:tgtEl>
                                          <p:spTgt spid="14609"/>
                                        </p:tgtEl>
                                        <p:attrNameLst>
                                          <p:attrName>style.visibility</p:attrName>
                                        </p:attrNameLst>
                                      </p:cBhvr>
                                      <p:to>
                                        <p:strVal val="visible"/>
                                      </p:to>
                                    </p:set>
                                    <p:animEffect transition="in" filter="barn(outVertical)">
                                      <p:cBhvr>
                                        <p:cTn id="38" dur="500"/>
                                        <p:tgtEl>
                                          <p:spTgt spid="1460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37" fill="hold" grpId="0" nodeType="clickEffect">
                                  <p:stCondLst>
                                    <p:cond delay="0"/>
                                  </p:stCondLst>
                                  <p:childTnLst>
                                    <p:set>
                                      <p:cBhvr>
                                        <p:cTn id="42" dur="1" fill="hold">
                                          <p:stCondLst>
                                            <p:cond delay="0"/>
                                          </p:stCondLst>
                                        </p:cTn>
                                        <p:tgtEl>
                                          <p:spTgt spid="14610"/>
                                        </p:tgtEl>
                                        <p:attrNameLst>
                                          <p:attrName>style.visibility</p:attrName>
                                        </p:attrNameLst>
                                      </p:cBhvr>
                                      <p:to>
                                        <p:strVal val="visible"/>
                                      </p:to>
                                    </p:set>
                                    <p:animEffect transition="in" filter="barn(outVertical)">
                                      <p:cBhvr>
                                        <p:cTn id="43" dur="500"/>
                                        <p:tgtEl>
                                          <p:spTgt spid="1461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iterate type="wd">
                                    <p:tmAbs val="300"/>
                                  </p:iterate>
                                  <p:childTnLst>
                                    <p:set>
                                      <p:cBhvr>
                                        <p:cTn id="47" dur="1" fill="hold">
                                          <p:stCondLst>
                                            <p:cond delay="299"/>
                                          </p:stCondLst>
                                        </p:cTn>
                                        <p:tgtEl>
                                          <p:spTgt spid="14563"/>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4619"/>
                                        </p:tgtEl>
                                        <p:attrNameLst>
                                          <p:attrName>style.visibility</p:attrName>
                                        </p:attrNameLst>
                                      </p:cBhvr>
                                      <p:to>
                                        <p:strVal val="visible"/>
                                      </p:to>
                                    </p:set>
                                    <p:animEffect transition="in" filter="wipe(left)">
                                      <p:cBhvr>
                                        <p:cTn id="52" dur="500"/>
                                        <p:tgtEl>
                                          <p:spTgt spid="146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grpId="0" nodeType="clickEffect">
                                  <p:stCondLst>
                                    <p:cond delay="0"/>
                                  </p:stCondLst>
                                  <p:childTnLst>
                                    <p:set>
                                      <p:cBhvr>
                                        <p:cTn id="56" dur="1" fill="hold">
                                          <p:stCondLst>
                                            <p:cond delay="0"/>
                                          </p:stCondLst>
                                        </p:cTn>
                                        <p:tgtEl>
                                          <p:spTgt spid="14611"/>
                                        </p:tgtEl>
                                        <p:attrNameLst>
                                          <p:attrName>style.visibility</p:attrName>
                                        </p:attrNameLst>
                                      </p:cBhvr>
                                      <p:to>
                                        <p:strVal val="visible"/>
                                      </p:to>
                                    </p:set>
                                    <p:anim calcmode="lin" valueType="num">
                                      <p:cBhvr>
                                        <p:cTn id="57" dur="500" fill="hold"/>
                                        <p:tgtEl>
                                          <p:spTgt spid="14611"/>
                                        </p:tgtEl>
                                        <p:attrNameLst>
                                          <p:attrName>ppt_x</p:attrName>
                                        </p:attrNameLst>
                                      </p:cBhvr>
                                      <p:tavLst>
                                        <p:tav tm="0">
                                          <p:val>
                                            <p:strVal val="#ppt_x"/>
                                          </p:val>
                                        </p:tav>
                                        <p:tav tm="100000">
                                          <p:val>
                                            <p:strVal val="#ppt_x"/>
                                          </p:val>
                                        </p:tav>
                                      </p:tavLst>
                                    </p:anim>
                                    <p:anim calcmode="lin" valueType="num">
                                      <p:cBhvr>
                                        <p:cTn id="58" dur="500" fill="hold"/>
                                        <p:tgtEl>
                                          <p:spTgt spid="14611"/>
                                        </p:tgtEl>
                                        <p:attrNameLst>
                                          <p:attrName>ppt_y</p:attrName>
                                        </p:attrNameLst>
                                      </p:cBhvr>
                                      <p:tavLst>
                                        <p:tav tm="0">
                                          <p:val>
                                            <p:strVal val="#ppt_y+#ppt_h/2"/>
                                          </p:val>
                                        </p:tav>
                                        <p:tav tm="100000">
                                          <p:val>
                                            <p:strVal val="#ppt_y"/>
                                          </p:val>
                                        </p:tav>
                                      </p:tavLst>
                                    </p:anim>
                                    <p:anim calcmode="lin" valueType="num">
                                      <p:cBhvr>
                                        <p:cTn id="59" dur="500" fill="hold"/>
                                        <p:tgtEl>
                                          <p:spTgt spid="14611"/>
                                        </p:tgtEl>
                                        <p:attrNameLst>
                                          <p:attrName>ppt_w</p:attrName>
                                        </p:attrNameLst>
                                      </p:cBhvr>
                                      <p:tavLst>
                                        <p:tav tm="0">
                                          <p:val>
                                            <p:strVal val="#ppt_w"/>
                                          </p:val>
                                        </p:tav>
                                        <p:tav tm="100000">
                                          <p:val>
                                            <p:strVal val="#ppt_w"/>
                                          </p:val>
                                        </p:tav>
                                      </p:tavLst>
                                    </p:anim>
                                    <p:anim calcmode="lin" valueType="num">
                                      <p:cBhvr>
                                        <p:cTn id="60" dur="500" fill="hold"/>
                                        <p:tgtEl>
                                          <p:spTgt spid="14611"/>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4" fill="hold" grpId="0" nodeType="clickEffect">
                                  <p:stCondLst>
                                    <p:cond delay="0"/>
                                  </p:stCondLst>
                                  <p:childTnLst>
                                    <p:set>
                                      <p:cBhvr>
                                        <p:cTn id="64" dur="1" fill="hold">
                                          <p:stCondLst>
                                            <p:cond delay="0"/>
                                          </p:stCondLst>
                                        </p:cTn>
                                        <p:tgtEl>
                                          <p:spTgt spid="14612"/>
                                        </p:tgtEl>
                                        <p:attrNameLst>
                                          <p:attrName>style.visibility</p:attrName>
                                        </p:attrNameLst>
                                      </p:cBhvr>
                                      <p:to>
                                        <p:strVal val="visible"/>
                                      </p:to>
                                    </p:set>
                                    <p:anim calcmode="lin" valueType="num">
                                      <p:cBhvr>
                                        <p:cTn id="65" dur="500" fill="hold"/>
                                        <p:tgtEl>
                                          <p:spTgt spid="14612"/>
                                        </p:tgtEl>
                                        <p:attrNameLst>
                                          <p:attrName>ppt_x</p:attrName>
                                        </p:attrNameLst>
                                      </p:cBhvr>
                                      <p:tavLst>
                                        <p:tav tm="0">
                                          <p:val>
                                            <p:strVal val="#ppt_x"/>
                                          </p:val>
                                        </p:tav>
                                        <p:tav tm="100000">
                                          <p:val>
                                            <p:strVal val="#ppt_x"/>
                                          </p:val>
                                        </p:tav>
                                      </p:tavLst>
                                    </p:anim>
                                    <p:anim calcmode="lin" valueType="num">
                                      <p:cBhvr>
                                        <p:cTn id="66" dur="500" fill="hold"/>
                                        <p:tgtEl>
                                          <p:spTgt spid="14612"/>
                                        </p:tgtEl>
                                        <p:attrNameLst>
                                          <p:attrName>ppt_y</p:attrName>
                                        </p:attrNameLst>
                                      </p:cBhvr>
                                      <p:tavLst>
                                        <p:tav tm="0">
                                          <p:val>
                                            <p:strVal val="#ppt_y+#ppt_h/2"/>
                                          </p:val>
                                        </p:tav>
                                        <p:tav tm="100000">
                                          <p:val>
                                            <p:strVal val="#ppt_y"/>
                                          </p:val>
                                        </p:tav>
                                      </p:tavLst>
                                    </p:anim>
                                    <p:anim calcmode="lin" valueType="num">
                                      <p:cBhvr>
                                        <p:cTn id="67" dur="500" fill="hold"/>
                                        <p:tgtEl>
                                          <p:spTgt spid="14612"/>
                                        </p:tgtEl>
                                        <p:attrNameLst>
                                          <p:attrName>ppt_w</p:attrName>
                                        </p:attrNameLst>
                                      </p:cBhvr>
                                      <p:tavLst>
                                        <p:tav tm="0">
                                          <p:val>
                                            <p:strVal val="#ppt_w"/>
                                          </p:val>
                                        </p:tav>
                                        <p:tav tm="100000">
                                          <p:val>
                                            <p:strVal val="#ppt_w"/>
                                          </p:val>
                                        </p:tav>
                                      </p:tavLst>
                                    </p:anim>
                                    <p:anim calcmode="lin" valueType="num">
                                      <p:cBhvr>
                                        <p:cTn id="68" dur="500" fill="hold"/>
                                        <p:tgtEl>
                                          <p:spTgt spid="14612"/>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4620"/>
                                        </p:tgtEl>
                                        <p:attrNameLst>
                                          <p:attrName>style.visibility</p:attrName>
                                        </p:attrNameLst>
                                      </p:cBhvr>
                                      <p:to>
                                        <p:strVal val="visible"/>
                                      </p:to>
                                    </p:set>
                                    <p:animEffect transition="in" filter="wipe(left)">
                                      <p:cBhvr>
                                        <p:cTn id="73" dur="500"/>
                                        <p:tgtEl>
                                          <p:spTgt spid="14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556" grpId="0" autoUpdateAnimBg="0"/>
      <p:bldP spid="14561" grpId="0" build="p" autoUpdateAnimBg="0"/>
      <p:bldP spid="14563" grpId="0" autoUpdateAnimBg="0"/>
      <p:bldP spid="14569" grpId="0" autoUpdateAnimBg="0"/>
      <p:bldP spid="14609" grpId="0" animBg="1"/>
      <p:bldP spid="14610" grpId="0" animBg="1"/>
      <p:bldP spid="14611" grpId="0" animBg="1"/>
      <p:bldP spid="146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169FEA3-3788-4A93-ABBE-FD0631FE1F07}" type="slidenum">
              <a:rPr kumimoji="0" lang="zh-CN" altLang="en-US" sz="2000" smtClean="0">
                <a:solidFill>
                  <a:srgbClr val="0000FF"/>
                </a:solidFill>
              </a:rPr>
              <a:pPr eaLnBrk="1" hangingPunct="1"/>
              <a:t>23</a:t>
            </a:fld>
            <a:endParaRPr kumimoji="0" lang="en-US" altLang="zh-CN" sz="2000">
              <a:solidFill>
                <a:srgbClr val="0000FF"/>
              </a:solidFill>
            </a:endParaRPr>
          </a:p>
        </p:txBody>
      </p:sp>
      <p:grpSp>
        <p:nvGrpSpPr>
          <p:cNvPr id="54335" name="Group 63"/>
          <p:cNvGrpSpPr>
            <a:grpSpLocks/>
          </p:cNvGrpSpPr>
          <p:nvPr/>
        </p:nvGrpSpPr>
        <p:grpSpPr bwMode="auto">
          <a:xfrm>
            <a:off x="287338" y="414337"/>
            <a:ext cx="7956550" cy="3206354"/>
            <a:chOff x="343" y="708"/>
            <a:chExt cx="5012" cy="2693"/>
          </a:xfrm>
        </p:grpSpPr>
        <p:pic>
          <p:nvPicPr>
            <p:cNvPr id="25621" name="Picture 6"/>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43" y="708"/>
              <a:ext cx="5012" cy="26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5615" name="Freeform 8"/>
            <p:cNvSpPr>
              <a:spLocks/>
            </p:cNvSpPr>
            <p:nvPr/>
          </p:nvSpPr>
          <p:spPr bwMode="auto">
            <a:xfrm rot="1085420">
              <a:off x="2446" y="2630"/>
              <a:ext cx="210" cy="270"/>
            </a:xfrm>
            <a:custGeom>
              <a:avLst/>
              <a:gdLst>
                <a:gd name="T0" fmla="*/ 0 w 189"/>
                <a:gd name="T1" fmla="*/ 0 h 216"/>
                <a:gd name="T2" fmla="*/ 101 w 189"/>
                <a:gd name="T3" fmla="*/ 106 h 216"/>
                <a:gd name="T4" fmla="*/ 256 w 189"/>
                <a:gd name="T5" fmla="*/ 448 h 216"/>
                <a:gd name="T6" fmla="*/ 356 w 189"/>
                <a:gd name="T7" fmla="*/ 826 h 2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9" h="216">
                  <a:moveTo>
                    <a:pt x="0" y="0"/>
                  </a:moveTo>
                  <a:cubicBezTo>
                    <a:pt x="16" y="4"/>
                    <a:pt x="32" y="8"/>
                    <a:pt x="54" y="27"/>
                  </a:cubicBezTo>
                  <a:cubicBezTo>
                    <a:pt x="76" y="46"/>
                    <a:pt x="113" y="86"/>
                    <a:pt x="135" y="117"/>
                  </a:cubicBezTo>
                  <a:cubicBezTo>
                    <a:pt x="157" y="148"/>
                    <a:pt x="177" y="196"/>
                    <a:pt x="189" y="216"/>
                  </a:cubicBezTo>
                </a:path>
              </a:pathLst>
            </a:custGeom>
            <a:noFill/>
            <a:ln w="19050" cap="flat" cmpd="sng">
              <a:solidFill>
                <a:srgbClr val="FF3300"/>
              </a:solidFill>
              <a:prstDash val="solid"/>
              <a:round/>
              <a:headEnd type="none" w="med" len="med"/>
              <a:tailEnd type="triangle" w="med" len="me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6" name="Freeform 9"/>
            <p:cNvSpPr>
              <a:spLocks/>
            </p:cNvSpPr>
            <p:nvPr/>
          </p:nvSpPr>
          <p:spPr bwMode="auto">
            <a:xfrm rot="3485912">
              <a:off x="2443" y="3162"/>
              <a:ext cx="236" cy="240"/>
            </a:xfrm>
            <a:custGeom>
              <a:avLst/>
              <a:gdLst>
                <a:gd name="T0" fmla="*/ 0 w 189"/>
                <a:gd name="T1" fmla="*/ 0 h 216"/>
                <a:gd name="T2" fmla="*/ 205 w 189"/>
                <a:gd name="T3" fmla="*/ 51 h 216"/>
                <a:gd name="T4" fmla="*/ 512 w 189"/>
                <a:gd name="T5" fmla="*/ 220 h 216"/>
                <a:gd name="T6" fmla="*/ 717 w 189"/>
                <a:gd name="T7" fmla="*/ 408 h 2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9" h="216">
                  <a:moveTo>
                    <a:pt x="0" y="0"/>
                  </a:moveTo>
                  <a:cubicBezTo>
                    <a:pt x="16" y="4"/>
                    <a:pt x="32" y="8"/>
                    <a:pt x="54" y="27"/>
                  </a:cubicBezTo>
                  <a:cubicBezTo>
                    <a:pt x="76" y="46"/>
                    <a:pt x="113" y="86"/>
                    <a:pt x="135" y="117"/>
                  </a:cubicBezTo>
                  <a:cubicBezTo>
                    <a:pt x="157" y="148"/>
                    <a:pt x="177" y="196"/>
                    <a:pt x="189" y="216"/>
                  </a:cubicBezTo>
                </a:path>
              </a:pathLst>
            </a:custGeom>
            <a:noFill/>
            <a:ln w="19050" cap="flat" cmpd="sng">
              <a:solidFill>
                <a:srgbClr val="FF3300"/>
              </a:solidFill>
              <a:prstDash val="solid"/>
              <a:round/>
              <a:headEnd type="triangle" w="med" len="med"/>
              <a:tailEnd type="none" w="med" len="me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7" name="Text Box 10"/>
            <p:cNvSpPr txBox="1">
              <a:spLocks noChangeArrowheads="1"/>
            </p:cNvSpPr>
            <p:nvPr/>
          </p:nvSpPr>
          <p:spPr bwMode="auto">
            <a:xfrm>
              <a:off x="3565" y="2293"/>
              <a:ext cx="280"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en-US" altLang="zh-CN">
                  <a:cs typeface="Times New Roman" pitchFamily="18" charset="0"/>
                </a:rPr>
                <a:t>β</a:t>
              </a:r>
              <a:endParaRPr lang="en-US" altLang="zh-CN"/>
            </a:p>
          </p:txBody>
        </p:sp>
        <p:sp>
          <p:nvSpPr>
            <p:cNvPr id="25618" name="Text Box 11"/>
            <p:cNvSpPr txBox="1">
              <a:spLocks noChangeArrowheads="1"/>
            </p:cNvSpPr>
            <p:nvPr/>
          </p:nvSpPr>
          <p:spPr bwMode="auto">
            <a:xfrm>
              <a:off x="2666" y="2517"/>
              <a:ext cx="260" cy="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en-US" altLang="zh-CN" b="1">
                  <a:solidFill>
                    <a:srgbClr val="FF3300"/>
                  </a:solidFill>
                  <a:cs typeface="Times New Roman" pitchFamily="18" charset="0"/>
                </a:rPr>
                <a:t>α</a:t>
              </a:r>
              <a:endParaRPr lang="zh-CN" altLang="en-US" b="1">
                <a:solidFill>
                  <a:srgbClr val="FF3300"/>
                </a:solidFill>
                <a:cs typeface="Times New Roman" pitchFamily="18" charset="0"/>
              </a:endParaRPr>
            </a:p>
          </p:txBody>
        </p:sp>
        <p:sp>
          <p:nvSpPr>
            <p:cNvPr id="25619" name="Arc 12"/>
            <p:cNvSpPr>
              <a:spLocks/>
            </p:cNvSpPr>
            <p:nvPr/>
          </p:nvSpPr>
          <p:spPr bwMode="auto">
            <a:xfrm rot="2374839">
              <a:off x="3070" y="2338"/>
              <a:ext cx="679" cy="798"/>
            </a:xfrm>
            <a:custGeom>
              <a:avLst/>
              <a:gdLst>
                <a:gd name="T0" fmla="*/ 0 w 20668"/>
                <a:gd name="T1" fmla="*/ 0 h 21600"/>
                <a:gd name="T2" fmla="*/ 0 w 20668"/>
                <a:gd name="T3" fmla="*/ 0 h 21600"/>
                <a:gd name="T4" fmla="*/ 0 w 20668"/>
                <a:gd name="T5" fmla="*/ 0 h 21600"/>
                <a:gd name="T6" fmla="*/ 0 60000 65536"/>
                <a:gd name="T7" fmla="*/ 0 60000 65536"/>
                <a:gd name="T8" fmla="*/ 0 60000 65536"/>
              </a:gdLst>
              <a:ahLst/>
              <a:cxnLst>
                <a:cxn ang="T6">
                  <a:pos x="T0" y="T1"/>
                </a:cxn>
                <a:cxn ang="T7">
                  <a:pos x="T2" y="T3"/>
                </a:cxn>
                <a:cxn ang="T8">
                  <a:pos x="T4" y="T5"/>
                </a:cxn>
              </a:cxnLst>
              <a:rect l="0" t="0" r="r" b="b"/>
              <a:pathLst>
                <a:path w="20668" h="21600" fill="none" extrusionOk="0">
                  <a:moveTo>
                    <a:pt x="-1" y="0"/>
                  </a:moveTo>
                  <a:cubicBezTo>
                    <a:pt x="9512" y="0"/>
                    <a:pt x="17904" y="6222"/>
                    <a:pt x="20668" y="15324"/>
                  </a:cubicBezTo>
                </a:path>
                <a:path w="20668" h="21600" stroke="0" extrusionOk="0">
                  <a:moveTo>
                    <a:pt x="-1" y="0"/>
                  </a:moveTo>
                  <a:cubicBezTo>
                    <a:pt x="9512" y="0"/>
                    <a:pt x="17904" y="6222"/>
                    <a:pt x="20668" y="15324"/>
                  </a:cubicBezTo>
                  <a:lnTo>
                    <a:pt x="0" y="21600"/>
                  </a:lnTo>
                  <a:lnTo>
                    <a:pt x="-1" y="0"/>
                  </a:lnTo>
                  <a:close/>
                </a:path>
              </a:pathLst>
            </a:custGeom>
            <a:noFill/>
            <a:ln w="19050">
              <a:solidFill>
                <a:schemeClr val="tx1"/>
              </a:solidFill>
              <a:round/>
              <a:headEnd type="triangle" w="med" len="med"/>
              <a:tailEnd type="triangle" w="med" len="me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0" name="Line 13"/>
            <p:cNvSpPr>
              <a:spLocks noChangeShapeType="1"/>
            </p:cNvSpPr>
            <p:nvPr/>
          </p:nvSpPr>
          <p:spPr bwMode="auto">
            <a:xfrm>
              <a:off x="4885" y="1640"/>
              <a:ext cx="0" cy="1474"/>
            </a:xfrm>
            <a:prstGeom prst="line">
              <a:avLst/>
            </a:prstGeom>
            <a:noFill/>
            <a:ln w="12700">
              <a:solidFill>
                <a:schemeClr val="tx1"/>
              </a:solidFill>
              <a:prstDash val="lg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286" name="Text Box 14"/>
          <p:cNvSpPr txBox="1">
            <a:spLocks noChangeArrowheads="1"/>
          </p:cNvSpPr>
          <p:nvPr/>
        </p:nvSpPr>
        <p:spPr bwMode="auto">
          <a:xfrm>
            <a:off x="246063" y="111919"/>
            <a:ext cx="556895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dirty="0"/>
              <a:t>   </a:t>
            </a:r>
            <a:r>
              <a:rPr lang="zh-CN" altLang="en-US" sz="2000" b="1" dirty="0"/>
              <a:t>(2)  </a:t>
            </a:r>
            <a:r>
              <a:rPr lang="zh-CN" altLang="en-US" sz="2000" b="1" dirty="0">
                <a:latin typeface="宋体" pitchFamily="2" charset="-122"/>
              </a:rPr>
              <a:t>两端点连线法</a:t>
            </a:r>
            <a:r>
              <a:rPr lang="zh-CN" altLang="en-US" sz="2000" b="1" dirty="0"/>
              <a:t> </a:t>
            </a:r>
          </a:p>
        </p:txBody>
      </p:sp>
      <p:sp>
        <p:nvSpPr>
          <p:cNvPr id="54287" name="Text Box 15"/>
          <p:cNvSpPr txBox="1">
            <a:spLocks noChangeArrowheads="1"/>
          </p:cNvSpPr>
          <p:nvPr/>
        </p:nvSpPr>
        <p:spPr bwMode="auto">
          <a:xfrm>
            <a:off x="504825" y="3736182"/>
            <a:ext cx="18923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斜率 </a:t>
            </a:r>
          </a:p>
        </p:txBody>
      </p:sp>
      <p:sp>
        <p:nvSpPr>
          <p:cNvPr id="54329" name="Text Box 57"/>
          <p:cNvSpPr txBox="1">
            <a:spLocks noChangeArrowheads="1"/>
          </p:cNvSpPr>
          <p:nvPr/>
        </p:nvSpPr>
        <p:spPr bwMode="auto">
          <a:xfrm>
            <a:off x="760998" y="4154529"/>
            <a:ext cx="2455863"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dirty="0" err="1"/>
              <a:t>tan</a:t>
            </a:r>
            <a:r>
              <a:rPr lang="en-US" altLang="zh-CN" b="1" i="1" dirty="0" err="1"/>
              <a:t>β</a:t>
            </a:r>
            <a:r>
              <a:rPr lang="en-US" altLang="zh-CN" b="1" i="1" dirty="0"/>
              <a:t>=</a:t>
            </a:r>
            <a:r>
              <a:rPr lang="en-US" altLang="zh-CN" b="1" dirty="0"/>
              <a:t>50／8</a:t>
            </a:r>
          </a:p>
        </p:txBody>
      </p:sp>
      <p:sp>
        <p:nvSpPr>
          <p:cNvPr id="54330" name="Text Box 58"/>
          <p:cNvSpPr txBox="1">
            <a:spLocks noChangeArrowheads="1"/>
          </p:cNvSpPr>
          <p:nvPr/>
        </p:nvSpPr>
        <p:spPr bwMode="auto">
          <a:xfrm>
            <a:off x="2865355" y="4148138"/>
            <a:ext cx="3018087"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i="1" dirty="0"/>
              <a:t>f′= </a:t>
            </a:r>
            <a:r>
              <a:rPr lang="en-US" altLang="zh-CN" b="1" dirty="0"/>
              <a:t>50</a:t>
            </a:r>
            <a:r>
              <a:rPr lang="en-US" altLang="zh-CN" b="1" i="1" dirty="0"/>
              <a:t>+ </a:t>
            </a:r>
            <a:r>
              <a:rPr lang="en-US" altLang="zh-CN" b="1" dirty="0"/>
              <a:t>tan</a:t>
            </a:r>
            <a:r>
              <a:rPr lang="en-US" altLang="zh-CN" b="1" i="1" dirty="0"/>
              <a:t>β</a:t>
            </a:r>
            <a:r>
              <a:rPr lang="en-US" altLang="zh-CN" b="1" dirty="0"/>
              <a:t>×3-10  </a:t>
            </a:r>
            <a:r>
              <a:rPr lang="en-US" altLang="zh-CN" b="1" i="1" dirty="0"/>
              <a:t>=</a:t>
            </a:r>
            <a:endParaRPr lang="en-US" altLang="zh-CN" b="1" dirty="0"/>
          </a:p>
        </p:txBody>
      </p:sp>
      <p:sp>
        <p:nvSpPr>
          <p:cNvPr id="54334" name="Text Box 62"/>
          <p:cNvSpPr txBox="1">
            <a:spLocks noChangeArrowheads="1"/>
          </p:cNvSpPr>
          <p:nvPr/>
        </p:nvSpPr>
        <p:spPr bwMode="auto">
          <a:xfrm>
            <a:off x="5842335" y="4142373"/>
            <a:ext cx="1884363"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dirty="0"/>
              <a:t>58.75</a:t>
            </a:r>
          </a:p>
        </p:txBody>
      </p:sp>
      <p:sp>
        <p:nvSpPr>
          <p:cNvPr id="54336" name="Line 64"/>
          <p:cNvSpPr>
            <a:spLocks noChangeShapeType="1"/>
          </p:cNvSpPr>
          <p:nvPr/>
        </p:nvSpPr>
        <p:spPr bwMode="auto">
          <a:xfrm flipV="1">
            <a:off x="1031876" y="1550194"/>
            <a:ext cx="6475413" cy="1708547"/>
          </a:xfrm>
          <a:prstGeom prst="line">
            <a:avLst/>
          </a:prstGeom>
          <a:noFill/>
          <a:ln w="57150">
            <a:solidFill>
              <a:srgbClr val="0000FF"/>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7" name="Line 65"/>
          <p:cNvSpPr>
            <a:spLocks noChangeShapeType="1"/>
          </p:cNvSpPr>
          <p:nvPr/>
        </p:nvSpPr>
        <p:spPr bwMode="auto">
          <a:xfrm flipV="1">
            <a:off x="461963" y="550069"/>
            <a:ext cx="6880225" cy="1876425"/>
          </a:xfrm>
          <a:prstGeom prst="line">
            <a:avLst/>
          </a:prstGeom>
          <a:noFill/>
          <a:ln w="571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9" name="Line 67"/>
          <p:cNvSpPr>
            <a:spLocks noChangeShapeType="1"/>
          </p:cNvSpPr>
          <p:nvPr/>
        </p:nvSpPr>
        <p:spPr bwMode="auto">
          <a:xfrm flipV="1">
            <a:off x="3625850" y="2405063"/>
            <a:ext cx="4167188" cy="1202531"/>
          </a:xfrm>
          <a:prstGeom prst="line">
            <a:avLst/>
          </a:prstGeom>
          <a:noFill/>
          <a:ln w="5715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1" name="Line 69"/>
          <p:cNvSpPr>
            <a:spLocks noChangeShapeType="1"/>
          </p:cNvSpPr>
          <p:nvPr/>
        </p:nvSpPr>
        <p:spPr bwMode="auto">
          <a:xfrm>
            <a:off x="7088188" y="616744"/>
            <a:ext cx="0" cy="2012156"/>
          </a:xfrm>
          <a:prstGeom prst="line">
            <a:avLst/>
          </a:prstGeom>
          <a:noFill/>
          <a:ln w="38100">
            <a:solidFill>
              <a:srgbClr val="0000FF"/>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2" name="Line 70"/>
          <p:cNvSpPr>
            <a:spLocks noChangeShapeType="1"/>
          </p:cNvSpPr>
          <p:nvPr/>
        </p:nvSpPr>
        <p:spPr bwMode="auto">
          <a:xfrm>
            <a:off x="5878513" y="958454"/>
            <a:ext cx="0" cy="1991915"/>
          </a:xfrm>
          <a:prstGeom prst="line">
            <a:avLst/>
          </a:prstGeom>
          <a:noFill/>
          <a:ln w="57150">
            <a:solidFill>
              <a:srgbClr val="FF9900"/>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4286"/>
                                        </p:tgtEl>
                                        <p:attrNameLst>
                                          <p:attrName>style.visibility</p:attrName>
                                        </p:attrNameLst>
                                      </p:cBhvr>
                                      <p:to>
                                        <p:strVal val="visible"/>
                                      </p:to>
                                    </p:set>
                                    <p:animEffect transition="in" filter="wipe(left)">
                                      <p:cBhvr>
                                        <p:cTn id="7" dur="300"/>
                                        <p:tgtEl>
                                          <p:spTgt spid="542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4335"/>
                                        </p:tgtEl>
                                        <p:attrNameLst>
                                          <p:attrName>style.visibility</p:attrName>
                                        </p:attrNameLst>
                                      </p:cBhvr>
                                      <p:to>
                                        <p:strVal val="visible"/>
                                      </p:to>
                                    </p:set>
                                    <p:anim calcmode="lin" valueType="num">
                                      <p:cBhvr additive="base">
                                        <p:cTn id="12" dur="500" fill="hold"/>
                                        <p:tgtEl>
                                          <p:spTgt spid="54335"/>
                                        </p:tgtEl>
                                        <p:attrNameLst>
                                          <p:attrName>ppt_x</p:attrName>
                                        </p:attrNameLst>
                                      </p:cBhvr>
                                      <p:tavLst>
                                        <p:tav tm="0">
                                          <p:val>
                                            <p:strVal val="0-#ppt_w/2"/>
                                          </p:val>
                                        </p:tav>
                                        <p:tav tm="100000">
                                          <p:val>
                                            <p:strVal val="#ppt_x"/>
                                          </p:val>
                                        </p:tav>
                                      </p:tavLst>
                                    </p:anim>
                                    <p:anim calcmode="lin" valueType="num">
                                      <p:cBhvr additive="base">
                                        <p:cTn id="13" dur="500" fill="hold"/>
                                        <p:tgtEl>
                                          <p:spTgt spid="5433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54336"/>
                                        </p:tgtEl>
                                        <p:attrNameLst>
                                          <p:attrName>style.visibility</p:attrName>
                                        </p:attrNameLst>
                                      </p:cBhvr>
                                      <p:to>
                                        <p:strVal val="visible"/>
                                      </p:to>
                                    </p:set>
                                    <p:animEffect transition="in" filter="barn(outHorizontal)">
                                      <p:cBhvr>
                                        <p:cTn id="18" dur="500"/>
                                        <p:tgtEl>
                                          <p:spTgt spid="543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54337"/>
                                        </p:tgtEl>
                                        <p:attrNameLst>
                                          <p:attrName>style.visibility</p:attrName>
                                        </p:attrNameLst>
                                      </p:cBhvr>
                                      <p:to>
                                        <p:strVal val="visible"/>
                                      </p:to>
                                    </p:set>
                                    <p:animEffect transition="in" filter="barn(outHorizontal)">
                                      <p:cBhvr>
                                        <p:cTn id="23" dur="500"/>
                                        <p:tgtEl>
                                          <p:spTgt spid="5433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42" fill="hold" grpId="0" nodeType="clickEffect">
                                  <p:stCondLst>
                                    <p:cond delay="0"/>
                                  </p:stCondLst>
                                  <p:childTnLst>
                                    <p:set>
                                      <p:cBhvr>
                                        <p:cTn id="27" dur="1" fill="hold">
                                          <p:stCondLst>
                                            <p:cond delay="0"/>
                                          </p:stCondLst>
                                        </p:cTn>
                                        <p:tgtEl>
                                          <p:spTgt spid="54339"/>
                                        </p:tgtEl>
                                        <p:attrNameLst>
                                          <p:attrName>style.visibility</p:attrName>
                                        </p:attrNameLst>
                                      </p:cBhvr>
                                      <p:to>
                                        <p:strVal val="visible"/>
                                      </p:to>
                                    </p:set>
                                    <p:animEffect transition="in" filter="barn(outHorizontal)">
                                      <p:cBhvr>
                                        <p:cTn id="28" dur="500"/>
                                        <p:tgtEl>
                                          <p:spTgt spid="5433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4" fill="hold" grpId="0" nodeType="clickEffect">
                                  <p:stCondLst>
                                    <p:cond delay="0"/>
                                  </p:stCondLst>
                                  <p:childTnLst>
                                    <p:set>
                                      <p:cBhvr>
                                        <p:cTn id="32" dur="1" fill="hold">
                                          <p:stCondLst>
                                            <p:cond delay="0"/>
                                          </p:stCondLst>
                                        </p:cTn>
                                        <p:tgtEl>
                                          <p:spTgt spid="54341"/>
                                        </p:tgtEl>
                                        <p:attrNameLst>
                                          <p:attrName>style.visibility</p:attrName>
                                        </p:attrNameLst>
                                      </p:cBhvr>
                                      <p:to>
                                        <p:strVal val="visible"/>
                                      </p:to>
                                    </p:set>
                                    <p:anim calcmode="lin" valueType="num">
                                      <p:cBhvr>
                                        <p:cTn id="33" dur="500" fill="hold"/>
                                        <p:tgtEl>
                                          <p:spTgt spid="54341"/>
                                        </p:tgtEl>
                                        <p:attrNameLst>
                                          <p:attrName>ppt_x</p:attrName>
                                        </p:attrNameLst>
                                      </p:cBhvr>
                                      <p:tavLst>
                                        <p:tav tm="0">
                                          <p:val>
                                            <p:strVal val="#ppt_x"/>
                                          </p:val>
                                        </p:tav>
                                        <p:tav tm="100000">
                                          <p:val>
                                            <p:strVal val="#ppt_x"/>
                                          </p:val>
                                        </p:tav>
                                      </p:tavLst>
                                    </p:anim>
                                    <p:anim calcmode="lin" valueType="num">
                                      <p:cBhvr>
                                        <p:cTn id="34" dur="500" fill="hold"/>
                                        <p:tgtEl>
                                          <p:spTgt spid="54341"/>
                                        </p:tgtEl>
                                        <p:attrNameLst>
                                          <p:attrName>ppt_y</p:attrName>
                                        </p:attrNameLst>
                                      </p:cBhvr>
                                      <p:tavLst>
                                        <p:tav tm="0">
                                          <p:val>
                                            <p:strVal val="#ppt_y+#ppt_h/2"/>
                                          </p:val>
                                        </p:tav>
                                        <p:tav tm="100000">
                                          <p:val>
                                            <p:strVal val="#ppt_y"/>
                                          </p:val>
                                        </p:tav>
                                      </p:tavLst>
                                    </p:anim>
                                    <p:anim calcmode="lin" valueType="num">
                                      <p:cBhvr>
                                        <p:cTn id="35" dur="500" fill="hold"/>
                                        <p:tgtEl>
                                          <p:spTgt spid="54341"/>
                                        </p:tgtEl>
                                        <p:attrNameLst>
                                          <p:attrName>ppt_w</p:attrName>
                                        </p:attrNameLst>
                                      </p:cBhvr>
                                      <p:tavLst>
                                        <p:tav tm="0">
                                          <p:val>
                                            <p:strVal val="#ppt_w"/>
                                          </p:val>
                                        </p:tav>
                                        <p:tav tm="100000">
                                          <p:val>
                                            <p:strVal val="#ppt_w"/>
                                          </p:val>
                                        </p:tav>
                                      </p:tavLst>
                                    </p:anim>
                                    <p:anim calcmode="lin" valueType="num">
                                      <p:cBhvr>
                                        <p:cTn id="36" dur="500" fill="hold"/>
                                        <p:tgtEl>
                                          <p:spTgt spid="54341"/>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54287"/>
                                        </p:tgtEl>
                                        <p:attrNameLst>
                                          <p:attrName>style.visibility</p:attrName>
                                        </p:attrNameLst>
                                      </p:cBhvr>
                                      <p:to>
                                        <p:strVal val="visible"/>
                                      </p:to>
                                    </p:set>
                                    <p:animEffect transition="in" filter="wipe(left)">
                                      <p:cBhvr>
                                        <p:cTn id="41" dur="300"/>
                                        <p:tgtEl>
                                          <p:spTgt spid="5428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iterate type="wd">
                                    <p:tmPct val="100000"/>
                                  </p:iterate>
                                  <p:childTnLst>
                                    <p:set>
                                      <p:cBhvr>
                                        <p:cTn id="45" dur="1" fill="hold">
                                          <p:stCondLst>
                                            <p:cond delay="0"/>
                                          </p:stCondLst>
                                        </p:cTn>
                                        <p:tgtEl>
                                          <p:spTgt spid="54329"/>
                                        </p:tgtEl>
                                        <p:attrNameLst>
                                          <p:attrName>style.visibility</p:attrName>
                                        </p:attrNameLst>
                                      </p:cBhvr>
                                      <p:to>
                                        <p:strVal val="visible"/>
                                      </p:to>
                                    </p:set>
                                    <p:animEffect transition="in" filter="wipe(left)">
                                      <p:cBhvr>
                                        <p:cTn id="46" dur="300"/>
                                        <p:tgtEl>
                                          <p:spTgt spid="5432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42" fill="hold" grpId="0" nodeType="clickEffect">
                                  <p:stCondLst>
                                    <p:cond delay="0"/>
                                  </p:stCondLst>
                                  <p:childTnLst>
                                    <p:set>
                                      <p:cBhvr>
                                        <p:cTn id="50" dur="1" fill="hold">
                                          <p:stCondLst>
                                            <p:cond delay="0"/>
                                          </p:stCondLst>
                                        </p:cTn>
                                        <p:tgtEl>
                                          <p:spTgt spid="54342"/>
                                        </p:tgtEl>
                                        <p:attrNameLst>
                                          <p:attrName>style.visibility</p:attrName>
                                        </p:attrNameLst>
                                      </p:cBhvr>
                                      <p:to>
                                        <p:strVal val="visible"/>
                                      </p:to>
                                    </p:set>
                                    <p:animEffect transition="in" filter="barn(outHorizontal)">
                                      <p:cBhvr>
                                        <p:cTn id="51" dur="500"/>
                                        <p:tgtEl>
                                          <p:spTgt spid="5434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iterate type="wd">
                                    <p:tmPct val="100000"/>
                                  </p:iterate>
                                  <p:childTnLst>
                                    <p:set>
                                      <p:cBhvr>
                                        <p:cTn id="55" dur="1" fill="hold">
                                          <p:stCondLst>
                                            <p:cond delay="0"/>
                                          </p:stCondLst>
                                        </p:cTn>
                                        <p:tgtEl>
                                          <p:spTgt spid="54330"/>
                                        </p:tgtEl>
                                        <p:attrNameLst>
                                          <p:attrName>style.visibility</p:attrName>
                                        </p:attrNameLst>
                                      </p:cBhvr>
                                      <p:to>
                                        <p:strVal val="visible"/>
                                      </p:to>
                                    </p:set>
                                    <p:animEffect transition="in" filter="wipe(left)">
                                      <p:cBhvr>
                                        <p:cTn id="56" dur="300"/>
                                        <p:tgtEl>
                                          <p:spTgt spid="5433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iterate type="wd">
                                    <p:tmPct val="100000"/>
                                  </p:iterate>
                                  <p:childTnLst>
                                    <p:set>
                                      <p:cBhvr>
                                        <p:cTn id="60" dur="1" fill="hold">
                                          <p:stCondLst>
                                            <p:cond delay="0"/>
                                          </p:stCondLst>
                                        </p:cTn>
                                        <p:tgtEl>
                                          <p:spTgt spid="54334"/>
                                        </p:tgtEl>
                                        <p:attrNameLst>
                                          <p:attrName>style.visibility</p:attrName>
                                        </p:attrNameLst>
                                      </p:cBhvr>
                                      <p:to>
                                        <p:strVal val="visible"/>
                                      </p:to>
                                    </p:set>
                                    <p:animEffect transition="in" filter="wipe(left)">
                                      <p:cBhvr>
                                        <p:cTn id="61" dur="300"/>
                                        <p:tgtEl>
                                          <p:spTgt spid="54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6" grpId="0" autoUpdateAnimBg="0"/>
      <p:bldP spid="54287" grpId="0" autoUpdateAnimBg="0"/>
      <p:bldP spid="54329" grpId="0" autoUpdateAnimBg="0"/>
      <p:bldP spid="54330" grpId="0" autoUpdateAnimBg="0"/>
      <p:bldP spid="54334" grpId="0" autoUpdateAnimBg="0"/>
      <p:bldP spid="54336" grpId="0" animBg="1"/>
      <p:bldP spid="54337" grpId="0" animBg="1"/>
      <p:bldP spid="54339" grpId="0" animBg="1"/>
      <p:bldP spid="54341" grpId="0" animBg="1"/>
      <p:bldP spid="5434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D910502-CBC6-4CCE-AB96-97D7AB5B6391}" type="slidenum">
              <a:rPr kumimoji="0" lang="zh-CN" altLang="en-US" sz="2000" smtClean="0">
                <a:solidFill>
                  <a:srgbClr val="0000FF"/>
                </a:solidFill>
              </a:rPr>
              <a:pPr eaLnBrk="1" hangingPunct="1"/>
              <a:t>24</a:t>
            </a:fld>
            <a:endParaRPr kumimoji="0" lang="en-US" altLang="zh-CN" sz="2000">
              <a:solidFill>
                <a:srgbClr val="0000FF"/>
              </a:solidFill>
            </a:endParaRPr>
          </a:p>
        </p:txBody>
      </p:sp>
      <p:sp>
        <p:nvSpPr>
          <p:cNvPr id="155674" name="Text Box 26"/>
          <p:cNvSpPr txBox="1">
            <a:spLocks noChangeArrowheads="1"/>
          </p:cNvSpPr>
          <p:nvPr/>
        </p:nvSpPr>
        <p:spPr bwMode="auto">
          <a:xfrm>
            <a:off x="504328" y="2923857"/>
            <a:ext cx="2753778"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latin typeface="宋体" pitchFamily="2" charset="-122"/>
              </a:rPr>
              <a:t>② </a:t>
            </a:r>
            <a:r>
              <a:rPr lang="zh-CN" altLang="en-US" sz="2000" b="1" dirty="0"/>
              <a:t>交叉准则</a:t>
            </a:r>
            <a:endParaRPr lang="en-US" altLang="zh-CN" sz="2000" b="1" dirty="0"/>
          </a:p>
        </p:txBody>
      </p:sp>
      <p:grpSp>
        <p:nvGrpSpPr>
          <p:cNvPr id="27674" name="Group 6"/>
          <p:cNvGrpSpPr>
            <a:grpSpLocks/>
          </p:cNvGrpSpPr>
          <p:nvPr/>
        </p:nvGrpSpPr>
        <p:grpSpPr bwMode="auto">
          <a:xfrm>
            <a:off x="3888419" y="2456895"/>
            <a:ext cx="2659592" cy="1414010"/>
            <a:chOff x="3360" y="2294"/>
            <a:chExt cx="1457" cy="1035"/>
          </a:xfrm>
        </p:grpSpPr>
        <p:grpSp>
          <p:nvGrpSpPr>
            <p:cNvPr id="27676" name="Group 7"/>
            <p:cNvGrpSpPr>
              <a:grpSpLocks/>
            </p:cNvGrpSpPr>
            <p:nvPr/>
          </p:nvGrpSpPr>
          <p:grpSpPr bwMode="auto">
            <a:xfrm>
              <a:off x="3360" y="2294"/>
              <a:ext cx="1457" cy="1035"/>
              <a:chOff x="3408" y="2592"/>
              <a:chExt cx="1032" cy="799"/>
            </a:xfrm>
          </p:grpSpPr>
          <p:pic>
            <p:nvPicPr>
              <p:cNvPr id="27679" name="Picture 8"/>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408" y="2592"/>
                <a:ext cx="1032" cy="7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680" name="Oval 9"/>
              <p:cNvSpPr>
                <a:spLocks noChangeArrowheads="1"/>
              </p:cNvSpPr>
              <p:nvPr/>
            </p:nvSpPr>
            <p:spPr bwMode="auto">
              <a:xfrm>
                <a:off x="4255" y="2696"/>
                <a:ext cx="79" cy="79"/>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1" name="Oval 10"/>
              <p:cNvSpPr>
                <a:spLocks noChangeArrowheads="1"/>
              </p:cNvSpPr>
              <p:nvPr/>
            </p:nvSpPr>
            <p:spPr bwMode="auto">
              <a:xfrm>
                <a:off x="3469" y="3246"/>
                <a:ext cx="79" cy="79"/>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682" name="Group 11"/>
              <p:cNvGrpSpPr>
                <a:grpSpLocks/>
              </p:cNvGrpSpPr>
              <p:nvPr/>
            </p:nvGrpSpPr>
            <p:grpSpPr bwMode="auto">
              <a:xfrm>
                <a:off x="3472" y="2599"/>
                <a:ext cx="118" cy="131"/>
                <a:chOff x="4808" y="3345"/>
                <a:chExt cx="118" cy="131"/>
              </a:xfrm>
            </p:grpSpPr>
            <p:sp>
              <p:nvSpPr>
                <p:cNvPr id="27686" name="Line 12"/>
                <p:cNvSpPr>
                  <a:spLocks noChangeShapeType="1"/>
                </p:cNvSpPr>
                <p:nvPr/>
              </p:nvSpPr>
              <p:spPr bwMode="auto">
                <a:xfrm flipV="1">
                  <a:off x="4808" y="3351"/>
                  <a:ext cx="118" cy="118"/>
                </a:xfrm>
                <a:prstGeom prst="line">
                  <a:avLst/>
                </a:prstGeom>
                <a:noFill/>
                <a:ln w="57150">
                  <a:solidFill>
                    <a:srgbClr val="339933"/>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7" name="Line 13"/>
                <p:cNvSpPr>
                  <a:spLocks noChangeShapeType="1"/>
                </p:cNvSpPr>
                <p:nvPr/>
              </p:nvSpPr>
              <p:spPr bwMode="auto">
                <a:xfrm>
                  <a:off x="4808" y="3345"/>
                  <a:ext cx="118" cy="131"/>
                </a:xfrm>
                <a:prstGeom prst="line">
                  <a:avLst/>
                </a:prstGeom>
                <a:noFill/>
                <a:ln w="57150">
                  <a:solidFill>
                    <a:srgbClr val="339933"/>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83" name="Group 14"/>
              <p:cNvGrpSpPr>
                <a:grpSpLocks/>
              </p:cNvGrpSpPr>
              <p:nvPr/>
            </p:nvGrpSpPr>
            <p:grpSpPr bwMode="auto">
              <a:xfrm>
                <a:off x="4297" y="3175"/>
                <a:ext cx="118" cy="131"/>
                <a:chOff x="4808" y="3345"/>
                <a:chExt cx="118" cy="131"/>
              </a:xfrm>
            </p:grpSpPr>
            <p:sp>
              <p:nvSpPr>
                <p:cNvPr id="27684" name="Line 15"/>
                <p:cNvSpPr>
                  <a:spLocks noChangeShapeType="1"/>
                </p:cNvSpPr>
                <p:nvPr/>
              </p:nvSpPr>
              <p:spPr bwMode="auto">
                <a:xfrm flipV="1">
                  <a:off x="4808" y="3351"/>
                  <a:ext cx="118" cy="118"/>
                </a:xfrm>
                <a:prstGeom prst="line">
                  <a:avLst/>
                </a:prstGeom>
                <a:noFill/>
                <a:ln w="57150">
                  <a:solidFill>
                    <a:srgbClr val="339933"/>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5" name="Line 16"/>
                <p:cNvSpPr>
                  <a:spLocks noChangeShapeType="1"/>
                </p:cNvSpPr>
                <p:nvPr/>
              </p:nvSpPr>
              <p:spPr bwMode="auto">
                <a:xfrm>
                  <a:off x="4808" y="3345"/>
                  <a:ext cx="118" cy="131"/>
                </a:xfrm>
                <a:prstGeom prst="line">
                  <a:avLst/>
                </a:prstGeom>
                <a:noFill/>
                <a:ln w="57150">
                  <a:solidFill>
                    <a:srgbClr val="339933"/>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7677" name="Oval 17"/>
            <p:cNvSpPr>
              <a:spLocks noChangeArrowheads="1"/>
            </p:cNvSpPr>
            <p:nvPr/>
          </p:nvSpPr>
          <p:spPr bwMode="auto">
            <a:xfrm>
              <a:off x="4553" y="2432"/>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8" name="Oval 18"/>
            <p:cNvSpPr>
              <a:spLocks noChangeArrowheads="1"/>
            </p:cNvSpPr>
            <p:nvPr/>
          </p:nvSpPr>
          <p:spPr bwMode="auto">
            <a:xfrm>
              <a:off x="3465" y="3126"/>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5678" name="Text Box 30"/>
          <p:cNvSpPr txBox="1">
            <a:spLocks noChangeArrowheads="1"/>
          </p:cNvSpPr>
          <p:nvPr/>
        </p:nvSpPr>
        <p:spPr bwMode="auto">
          <a:xfrm>
            <a:off x="512387" y="3644093"/>
            <a:ext cx="6403975"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latin typeface="宋体" pitchFamily="2" charset="-122"/>
              </a:rPr>
              <a:t>③ </a:t>
            </a:r>
            <a:r>
              <a:rPr lang="zh-CN" altLang="en-US" sz="2000" b="1" dirty="0"/>
              <a:t>直线准则</a:t>
            </a:r>
            <a:endParaRPr lang="en-US" altLang="zh-CN" sz="2000" b="1" dirty="0"/>
          </a:p>
        </p:txBody>
      </p:sp>
      <p:grpSp>
        <p:nvGrpSpPr>
          <p:cNvPr id="155694" name="Group 46"/>
          <p:cNvGrpSpPr>
            <a:grpSpLocks/>
          </p:cNvGrpSpPr>
          <p:nvPr/>
        </p:nvGrpSpPr>
        <p:grpSpPr bwMode="auto">
          <a:xfrm>
            <a:off x="1141489" y="4074850"/>
            <a:ext cx="6369021" cy="596919"/>
            <a:chOff x="456" y="3277"/>
            <a:chExt cx="4092" cy="462"/>
          </a:xfrm>
        </p:grpSpPr>
        <p:grpSp>
          <p:nvGrpSpPr>
            <p:cNvPr id="27657" name="Group 19"/>
            <p:cNvGrpSpPr>
              <a:grpSpLocks/>
            </p:cNvGrpSpPr>
            <p:nvPr/>
          </p:nvGrpSpPr>
          <p:grpSpPr bwMode="auto">
            <a:xfrm>
              <a:off x="2606" y="3315"/>
              <a:ext cx="1942" cy="424"/>
              <a:chOff x="2565" y="3520"/>
              <a:chExt cx="1942" cy="424"/>
            </a:xfrm>
          </p:grpSpPr>
          <p:pic>
            <p:nvPicPr>
              <p:cNvPr id="27672" name="Picture 20"/>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65" y="3520"/>
                <a:ext cx="1942" cy="424"/>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673" name="Oval 21"/>
              <p:cNvSpPr>
                <a:spLocks noChangeArrowheads="1"/>
              </p:cNvSpPr>
              <p:nvPr/>
            </p:nvSpPr>
            <p:spPr bwMode="auto">
              <a:xfrm>
                <a:off x="3556" y="3639"/>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58" name="Group 22"/>
            <p:cNvGrpSpPr>
              <a:grpSpLocks/>
            </p:cNvGrpSpPr>
            <p:nvPr/>
          </p:nvGrpSpPr>
          <p:grpSpPr bwMode="auto">
            <a:xfrm>
              <a:off x="456" y="3277"/>
              <a:ext cx="1868" cy="400"/>
              <a:chOff x="518" y="3514"/>
              <a:chExt cx="1868" cy="400"/>
            </a:xfrm>
          </p:grpSpPr>
          <p:pic>
            <p:nvPicPr>
              <p:cNvPr id="27669" name="Picture 2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18" y="3514"/>
                <a:ext cx="1868" cy="40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670" name="Oval 24"/>
              <p:cNvSpPr>
                <a:spLocks noChangeArrowheads="1"/>
              </p:cNvSpPr>
              <p:nvPr/>
            </p:nvSpPr>
            <p:spPr bwMode="auto">
              <a:xfrm>
                <a:off x="2176" y="3612"/>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1" name="Oval 25"/>
              <p:cNvSpPr>
                <a:spLocks noChangeArrowheads="1"/>
              </p:cNvSpPr>
              <p:nvPr/>
            </p:nvSpPr>
            <p:spPr bwMode="auto">
              <a:xfrm>
                <a:off x="576" y="3603"/>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60" name="Group 37"/>
            <p:cNvGrpSpPr>
              <a:grpSpLocks/>
            </p:cNvGrpSpPr>
            <p:nvPr/>
          </p:nvGrpSpPr>
          <p:grpSpPr bwMode="auto">
            <a:xfrm>
              <a:off x="1208" y="3336"/>
              <a:ext cx="268" cy="236"/>
              <a:chOff x="1011" y="2635"/>
              <a:chExt cx="268" cy="236"/>
            </a:xfrm>
          </p:grpSpPr>
          <p:sp>
            <p:nvSpPr>
              <p:cNvPr id="27667" name="Line 38"/>
              <p:cNvSpPr>
                <a:spLocks noChangeShapeType="1"/>
              </p:cNvSpPr>
              <p:nvPr/>
            </p:nvSpPr>
            <p:spPr bwMode="auto">
              <a:xfrm flipV="1">
                <a:off x="1011" y="2642"/>
                <a:ext cx="268" cy="227"/>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8" name="Line 39"/>
              <p:cNvSpPr>
                <a:spLocks noChangeShapeType="1"/>
              </p:cNvSpPr>
              <p:nvPr/>
            </p:nvSpPr>
            <p:spPr bwMode="auto">
              <a:xfrm>
                <a:off x="1031" y="2635"/>
                <a:ext cx="200" cy="236"/>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61" name="Group 40"/>
            <p:cNvGrpSpPr>
              <a:grpSpLocks/>
            </p:cNvGrpSpPr>
            <p:nvPr/>
          </p:nvGrpSpPr>
          <p:grpSpPr bwMode="auto">
            <a:xfrm>
              <a:off x="2615" y="3355"/>
              <a:ext cx="268" cy="236"/>
              <a:chOff x="1011" y="2635"/>
              <a:chExt cx="268" cy="236"/>
            </a:xfrm>
          </p:grpSpPr>
          <p:sp>
            <p:nvSpPr>
              <p:cNvPr id="27665" name="Line 41"/>
              <p:cNvSpPr>
                <a:spLocks noChangeShapeType="1"/>
              </p:cNvSpPr>
              <p:nvPr/>
            </p:nvSpPr>
            <p:spPr bwMode="auto">
              <a:xfrm flipV="1">
                <a:off x="1011" y="2642"/>
                <a:ext cx="268" cy="227"/>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6" name="Line 42"/>
              <p:cNvSpPr>
                <a:spLocks noChangeShapeType="1"/>
              </p:cNvSpPr>
              <p:nvPr/>
            </p:nvSpPr>
            <p:spPr bwMode="auto">
              <a:xfrm>
                <a:off x="1031" y="2635"/>
                <a:ext cx="200" cy="236"/>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62" name="Group 43"/>
            <p:cNvGrpSpPr>
              <a:grpSpLocks/>
            </p:cNvGrpSpPr>
            <p:nvPr/>
          </p:nvGrpSpPr>
          <p:grpSpPr bwMode="auto">
            <a:xfrm>
              <a:off x="4270" y="3375"/>
              <a:ext cx="268" cy="236"/>
              <a:chOff x="1011" y="2635"/>
              <a:chExt cx="268" cy="236"/>
            </a:xfrm>
          </p:grpSpPr>
          <p:sp>
            <p:nvSpPr>
              <p:cNvPr id="27663" name="Line 44"/>
              <p:cNvSpPr>
                <a:spLocks noChangeShapeType="1"/>
              </p:cNvSpPr>
              <p:nvPr/>
            </p:nvSpPr>
            <p:spPr bwMode="auto">
              <a:xfrm flipV="1">
                <a:off x="1011" y="2642"/>
                <a:ext cx="268" cy="227"/>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4" name="Line 45"/>
              <p:cNvSpPr>
                <a:spLocks noChangeShapeType="1"/>
              </p:cNvSpPr>
              <p:nvPr/>
            </p:nvSpPr>
            <p:spPr bwMode="auto">
              <a:xfrm>
                <a:off x="1031" y="2635"/>
                <a:ext cx="200" cy="236"/>
              </a:xfrm>
              <a:prstGeom prst="line">
                <a:avLst/>
              </a:prstGeom>
              <a:noFill/>
              <a:ln w="7620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 name="Text Box 100"/>
          <p:cNvSpPr txBox="1">
            <a:spLocks noChangeArrowheads="1"/>
          </p:cNvSpPr>
          <p:nvPr/>
        </p:nvSpPr>
        <p:spPr bwMode="auto">
          <a:xfrm>
            <a:off x="465371" y="1510164"/>
            <a:ext cx="2757225"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latin typeface="宋体" pitchFamily="2" charset="-122"/>
              </a:rPr>
              <a:t>① </a:t>
            </a:r>
            <a:r>
              <a:rPr lang="zh-CN" altLang="en-US" sz="2000" b="1" dirty="0"/>
              <a:t>三角形准则</a:t>
            </a:r>
            <a:endParaRPr lang="en-US" altLang="zh-CN" sz="2000" b="1" dirty="0"/>
          </a:p>
        </p:txBody>
      </p:sp>
      <p:grpSp>
        <p:nvGrpSpPr>
          <p:cNvPr id="36" name="Group 124"/>
          <p:cNvGrpSpPr>
            <a:grpSpLocks/>
          </p:cNvGrpSpPr>
          <p:nvPr/>
        </p:nvGrpSpPr>
        <p:grpSpPr bwMode="auto">
          <a:xfrm>
            <a:off x="3051858" y="651750"/>
            <a:ext cx="2265080" cy="1581890"/>
            <a:chOff x="4380" y="1579"/>
            <a:chExt cx="1221" cy="1187"/>
          </a:xfrm>
        </p:grpSpPr>
        <p:grpSp>
          <p:nvGrpSpPr>
            <p:cNvPr id="37" name="Group 98"/>
            <p:cNvGrpSpPr>
              <a:grpSpLocks/>
            </p:cNvGrpSpPr>
            <p:nvPr/>
          </p:nvGrpSpPr>
          <p:grpSpPr bwMode="auto">
            <a:xfrm>
              <a:off x="4380" y="1579"/>
              <a:ext cx="1221" cy="1187"/>
              <a:chOff x="457" y="1997"/>
              <a:chExt cx="1426" cy="1386"/>
            </a:xfrm>
          </p:grpSpPr>
          <p:pic>
            <p:nvPicPr>
              <p:cNvPr id="41" name="Picture 79"/>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457" y="1997"/>
                <a:ext cx="1426" cy="1386"/>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2" name="Oval 91"/>
              <p:cNvSpPr>
                <a:spLocks noChangeArrowheads="1"/>
              </p:cNvSpPr>
              <p:nvPr/>
            </p:nvSpPr>
            <p:spPr bwMode="auto">
              <a:xfrm>
                <a:off x="1692" y="3200"/>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Oval 92"/>
              <p:cNvSpPr>
                <a:spLocks noChangeArrowheads="1"/>
              </p:cNvSpPr>
              <p:nvPr/>
            </p:nvSpPr>
            <p:spPr bwMode="auto">
              <a:xfrm>
                <a:off x="1171" y="2102"/>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Oval 93"/>
              <p:cNvSpPr>
                <a:spLocks noChangeArrowheads="1"/>
              </p:cNvSpPr>
              <p:nvPr/>
            </p:nvSpPr>
            <p:spPr bwMode="auto">
              <a:xfrm>
                <a:off x="585" y="3153"/>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8" name="Group 112"/>
            <p:cNvGrpSpPr>
              <a:grpSpLocks/>
            </p:cNvGrpSpPr>
            <p:nvPr/>
          </p:nvGrpSpPr>
          <p:grpSpPr bwMode="auto">
            <a:xfrm>
              <a:off x="4949" y="2223"/>
              <a:ext cx="217" cy="205"/>
              <a:chOff x="3128" y="3046"/>
              <a:chExt cx="217" cy="205"/>
            </a:xfrm>
          </p:grpSpPr>
          <p:sp>
            <p:nvSpPr>
              <p:cNvPr id="39" name="Line 113"/>
              <p:cNvSpPr>
                <a:spLocks noChangeShapeType="1"/>
              </p:cNvSpPr>
              <p:nvPr/>
            </p:nvSpPr>
            <p:spPr bwMode="auto">
              <a:xfrm flipH="1">
                <a:off x="3168" y="3046"/>
                <a:ext cx="154" cy="196"/>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114"/>
              <p:cNvSpPr>
                <a:spLocks noChangeShapeType="1"/>
              </p:cNvSpPr>
              <p:nvPr/>
            </p:nvSpPr>
            <p:spPr bwMode="auto">
              <a:xfrm>
                <a:off x="3128" y="3066"/>
                <a:ext cx="217" cy="185"/>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5" name="Group 125"/>
          <p:cNvGrpSpPr>
            <a:grpSpLocks/>
          </p:cNvGrpSpPr>
          <p:nvPr/>
        </p:nvGrpSpPr>
        <p:grpSpPr bwMode="auto">
          <a:xfrm>
            <a:off x="5851937" y="766373"/>
            <a:ext cx="2225956" cy="1575319"/>
            <a:chOff x="4401" y="2861"/>
            <a:chExt cx="1176" cy="1167"/>
          </a:xfrm>
        </p:grpSpPr>
        <p:grpSp>
          <p:nvGrpSpPr>
            <p:cNvPr id="46" name="Group 90"/>
            <p:cNvGrpSpPr>
              <a:grpSpLocks/>
            </p:cNvGrpSpPr>
            <p:nvPr/>
          </p:nvGrpSpPr>
          <p:grpSpPr bwMode="auto">
            <a:xfrm>
              <a:off x="4401" y="2867"/>
              <a:ext cx="1167" cy="1161"/>
              <a:chOff x="1940" y="2063"/>
              <a:chExt cx="1394" cy="1387"/>
            </a:xfrm>
          </p:grpSpPr>
          <p:pic>
            <p:nvPicPr>
              <p:cNvPr id="56" name="Picture 80"/>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1940" y="2063"/>
                <a:ext cx="1394" cy="138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7" name="Oval 89"/>
              <p:cNvSpPr>
                <a:spLocks noChangeArrowheads="1"/>
              </p:cNvSpPr>
              <p:nvPr/>
            </p:nvSpPr>
            <p:spPr bwMode="auto">
              <a:xfrm>
                <a:off x="2560" y="2816"/>
                <a:ext cx="138" cy="13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 name="Group 115"/>
            <p:cNvGrpSpPr>
              <a:grpSpLocks/>
            </p:cNvGrpSpPr>
            <p:nvPr/>
          </p:nvGrpSpPr>
          <p:grpSpPr bwMode="auto">
            <a:xfrm>
              <a:off x="4837" y="2861"/>
              <a:ext cx="217" cy="205"/>
              <a:chOff x="3128" y="3046"/>
              <a:chExt cx="217" cy="205"/>
            </a:xfrm>
          </p:grpSpPr>
          <p:sp>
            <p:nvSpPr>
              <p:cNvPr id="54" name="Line 116"/>
              <p:cNvSpPr>
                <a:spLocks noChangeShapeType="1"/>
              </p:cNvSpPr>
              <p:nvPr/>
            </p:nvSpPr>
            <p:spPr bwMode="auto">
              <a:xfrm flipH="1">
                <a:off x="3168" y="3046"/>
                <a:ext cx="154" cy="196"/>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17"/>
              <p:cNvSpPr>
                <a:spLocks noChangeShapeType="1"/>
              </p:cNvSpPr>
              <p:nvPr/>
            </p:nvSpPr>
            <p:spPr bwMode="auto">
              <a:xfrm>
                <a:off x="3128" y="3066"/>
                <a:ext cx="217" cy="185"/>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 name="Group 118"/>
            <p:cNvGrpSpPr>
              <a:grpSpLocks/>
            </p:cNvGrpSpPr>
            <p:nvPr/>
          </p:nvGrpSpPr>
          <p:grpSpPr bwMode="auto">
            <a:xfrm>
              <a:off x="4426" y="3788"/>
              <a:ext cx="217" cy="205"/>
              <a:chOff x="3128" y="3046"/>
              <a:chExt cx="217" cy="205"/>
            </a:xfrm>
          </p:grpSpPr>
          <p:sp>
            <p:nvSpPr>
              <p:cNvPr id="52" name="Line 119"/>
              <p:cNvSpPr>
                <a:spLocks noChangeShapeType="1"/>
              </p:cNvSpPr>
              <p:nvPr/>
            </p:nvSpPr>
            <p:spPr bwMode="auto">
              <a:xfrm flipH="1">
                <a:off x="3168" y="3046"/>
                <a:ext cx="154" cy="196"/>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20"/>
              <p:cNvSpPr>
                <a:spLocks noChangeShapeType="1"/>
              </p:cNvSpPr>
              <p:nvPr/>
            </p:nvSpPr>
            <p:spPr bwMode="auto">
              <a:xfrm>
                <a:off x="3128" y="3066"/>
                <a:ext cx="217" cy="185"/>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9" name="Group 121"/>
            <p:cNvGrpSpPr>
              <a:grpSpLocks/>
            </p:cNvGrpSpPr>
            <p:nvPr/>
          </p:nvGrpSpPr>
          <p:grpSpPr bwMode="auto">
            <a:xfrm>
              <a:off x="5360" y="3776"/>
              <a:ext cx="217" cy="205"/>
              <a:chOff x="3128" y="3046"/>
              <a:chExt cx="217" cy="205"/>
            </a:xfrm>
          </p:grpSpPr>
          <p:sp>
            <p:nvSpPr>
              <p:cNvPr id="50" name="Line 122"/>
              <p:cNvSpPr>
                <a:spLocks noChangeShapeType="1"/>
              </p:cNvSpPr>
              <p:nvPr/>
            </p:nvSpPr>
            <p:spPr bwMode="auto">
              <a:xfrm flipH="1">
                <a:off x="3168" y="3046"/>
                <a:ext cx="154" cy="196"/>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23"/>
              <p:cNvSpPr>
                <a:spLocks noChangeShapeType="1"/>
              </p:cNvSpPr>
              <p:nvPr/>
            </p:nvSpPr>
            <p:spPr bwMode="auto">
              <a:xfrm>
                <a:off x="3128" y="3066"/>
                <a:ext cx="217" cy="185"/>
              </a:xfrm>
              <a:prstGeom prst="line">
                <a:avLst/>
              </a:prstGeom>
              <a:noFill/>
              <a:ln w="57150">
                <a:solidFill>
                  <a:srgbClr val="0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8" name="Text Box 6"/>
          <p:cNvSpPr txBox="1">
            <a:spLocks noChangeArrowheads="1"/>
          </p:cNvSpPr>
          <p:nvPr/>
        </p:nvSpPr>
        <p:spPr bwMode="auto">
          <a:xfrm>
            <a:off x="465371" y="130032"/>
            <a:ext cx="4221563"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2. </a:t>
            </a:r>
            <a:r>
              <a:rPr lang="zh-CN" altLang="en-US" b="1" dirty="0">
                <a:latin typeface="宋体" pitchFamily="2" charset="-122"/>
              </a:rPr>
              <a:t>平面度误差的评定准则 </a:t>
            </a:r>
          </a:p>
        </p:txBody>
      </p:sp>
      <p:sp>
        <p:nvSpPr>
          <p:cNvPr id="59" name="Text Box 7"/>
          <p:cNvSpPr txBox="1">
            <a:spLocks noChangeArrowheads="1"/>
          </p:cNvSpPr>
          <p:nvPr/>
        </p:nvSpPr>
        <p:spPr bwMode="auto">
          <a:xfrm>
            <a:off x="593664" y="769433"/>
            <a:ext cx="558800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 </a:t>
            </a:r>
            <a:r>
              <a:rPr lang="zh-CN" altLang="en-US" sz="2000" b="1" dirty="0">
                <a:latin typeface="宋体" pitchFamily="2" charset="-122"/>
              </a:rPr>
              <a:t>最小条件法</a:t>
            </a:r>
            <a:r>
              <a:rPr lang="en-US" altLang="zh-CN" sz="2000" b="1" dirty="0"/>
              <a:t>—</a:t>
            </a:r>
            <a:endParaRPr lang="zh-CN" altLang="en-US" sz="2000" b="1" dirty="0"/>
          </a:p>
        </p:txBody>
      </p:sp>
      <p:cxnSp>
        <p:nvCxnSpPr>
          <p:cNvPr id="60" name="直接连接符 59">
            <a:extLst>
              <a:ext uri="{FF2B5EF4-FFF2-40B4-BE49-F238E27FC236}">
                <a16:creationId xmlns="" xmlns:a16="http://schemas.microsoft.com/office/drawing/2014/main" id="{F88BEC76-16C2-43E2-942B-003B19120081}"/>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55674">
                                            <p:txEl>
                                              <p:pRg st="0" end="0"/>
                                            </p:txEl>
                                          </p:spTgt>
                                        </p:tgtEl>
                                        <p:attrNameLst>
                                          <p:attrName>style.visibility</p:attrName>
                                        </p:attrNameLst>
                                      </p:cBhvr>
                                      <p:to>
                                        <p:strVal val="visible"/>
                                      </p:to>
                                    </p:set>
                                    <p:animEffect transition="in" filter="wipe(left)">
                                      <p:cBhvr>
                                        <p:cTn id="7" dur="300"/>
                                        <p:tgtEl>
                                          <p:spTgt spid="1556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55678">
                                            <p:txEl>
                                              <p:pRg st="0" end="0"/>
                                            </p:txEl>
                                          </p:spTgt>
                                        </p:tgtEl>
                                        <p:attrNameLst>
                                          <p:attrName>style.visibility</p:attrName>
                                        </p:attrNameLst>
                                      </p:cBhvr>
                                      <p:to>
                                        <p:strVal val="visible"/>
                                      </p:to>
                                    </p:set>
                                    <p:animEffect transition="in" filter="wipe(left)">
                                      <p:cBhvr>
                                        <p:cTn id="12" dur="300"/>
                                        <p:tgtEl>
                                          <p:spTgt spid="15567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55694"/>
                                        </p:tgtEl>
                                        <p:attrNameLst>
                                          <p:attrName>style.visibility</p:attrName>
                                        </p:attrNameLst>
                                      </p:cBhvr>
                                      <p:to>
                                        <p:strVal val="visible"/>
                                      </p:to>
                                    </p:set>
                                    <p:anim calcmode="lin" valueType="num">
                                      <p:cBhvr additive="base">
                                        <p:cTn id="17" dur="2000" fill="hold"/>
                                        <p:tgtEl>
                                          <p:spTgt spid="155694"/>
                                        </p:tgtEl>
                                        <p:attrNameLst>
                                          <p:attrName>ppt_x</p:attrName>
                                        </p:attrNameLst>
                                      </p:cBhvr>
                                      <p:tavLst>
                                        <p:tav tm="0">
                                          <p:val>
                                            <p:strVal val="#ppt_x"/>
                                          </p:val>
                                        </p:tav>
                                        <p:tav tm="100000">
                                          <p:val>
                                            <p:strVal val="#ppt_x"/>
                                          </p:val>
                                        </p:tav>
                                      </p:tavLst>
                                    </p:anim>
                                    <p:anim calcmode="lin" valueType="num">
                                      <p:cBhvr additive="base">
                                        <p:cTn id="18" dur="2000" fill="hold"/>
                                        <p:tgtEl>
                                          <p:spTgt spid="15569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35">
                                            <p:txEl>
                                              <p:pRg st="0" end="0"/>
                                            </p:txEl>
                                          </p:spTgt>
                                        </p:tgtEl>
                                        <p:attrNameLst>
                                          <p:attrName>style.visibility</p:attrName>
                                        </p:attrNameLst>
                                      </p:cBhvr>
                                      <p:to>
                                        <p:strVal val="visible"/>
                                      </p:to>
                                    </p:set>
                                    <p:animEffect transition="in" filter="wipe(left)">
                                      <p:cBhvr>
                                        <p:cTn id="23" dur="300"/>
                                        <p:tgtEl>
                                          <p:spTgt spid="35">
                                            <p:txEl>
                                              <p:pRg st="0" end="0"/>
                                            </p:txEl>
                                          </p:spTgt>
                                        </p:tgtEl>
                                      </p:cBhvr>
                                    </p:animEffect>
                                  </p:childTnLst>
                                </p:cTn>
                              </p:par>
                            </p:childTnLst>
                          </p:cTn>
                        </p:par>
                        <p:par>
                          <p:cTn id="24" fill="hold">
                            <p:stCondLst>
                              <p:cond delay="900"/>
                            </p:stCondLst>
                            <p:childTnLst>
                              <p:par>
                                <p:cTn id="25" presetID="22" presetClass="entr" presetSubtype="8" fill="hold" grpId="0" nodeType="afterEffect">
                                  <p:stCondLst>
                                    <p:cond delay="0"/>
                                  </p:stCondLst>
                                  <p:iterate type="wd">
                                    <p:tmPct val="100000"/>
                                  </p:iterate>
                                  <p:childTnLst>
                                    <p:set>
                                      <p:cBhvr>
                                        <p:cTn id="26" dur="1" fill="hold">
                                          <p:stCondLst>
                                            <p:cond delay="0"/>
                                          </p:stCondLst>
                                        </p:cTn>
                                        <p:tgtEl>
                                          <p:spTgt spid="58">
                                            <p:txEl>
                                              <p:pRg st="0" end="0"/>
                                            </p:txEl>
                                          </p:spTgt>
                                        </p:tgtEl>
                                        <p:attrNameLst>
                                          <p:attrName>style.visibility</p:attrName>
                                        </p:attrNameLst>
                                      </p:cBhvr>
                                      <p:to>
                                        <p:strVal val="visible"/>
                                      </p:to>
                                    </p:set>
                                    <p:animEffect transition="in" filter="wipe(left)">
                                      <p:cBhvr>
                                        <p:cTn id="27" dur="300"/>
                                        <p:tgtEl>
                                          <p:spTgt spid="5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59">
                                            <p:txEl>
                                              <p:pRg st="0" end="0"/>
                                            </p:txEl>
                                          </p:spTgt>
                                        </p:tgtEl>
                                        <p:attrNameLst>
                                          <p:attrName>style.visibility</p:attrName>
                                        </p:attrNameLst>
                                      </p:cBhvr>
                                      <p:to>
                                        <p:strVal val="visible"/>
                                      </p:to>
                                    </p:set>
                                    <p:animEffect transition="in" filter="wipe(left)">
                                      <p:cBhvr>
                                        <p:cTn id="32" dur="300"/>
                                        <p:tgtEl>
                                          <p:spTgt spid="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4" grpId="0" build="p" autoUpdateAnimBg="0"/>
      <p:bldP spid="155678" grpId="0" build="p" autoUpdateAnimBg="0"/>
      <p:bldP spid="35" grpId="0" build="p" autoUpdateAnimBg="0"/>
      <p:bldP spid="58" grpId="0" build="p" autoUpdateAnimBg="0"/>
      <p:bldP spid="5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4BCC76D9-1204-4F29-A085-891C6AEE814D}" type="slidenum">
              <a:rPr kumimoji="0" lang="zh-CN" altLang="en-US" sz="2000" smtClean="0">
                <a:solidFill>
                  <a:srgbClr val="0000FF"/>
                </a:solidFill>
              </a:rPr>
              <a:pPr eaLnBrk="1" hangingPunct="1"/>
              <a:t>25</a:t>
            </a:fld>
            <a:endParaRPr kumimoji="0" lang="en-US" altLang="zh-CN" sz="2000">
              <a:solidFill>
                <a:srgbClr val="0000FF"/>
              </a:solidFill>
            </a:endParaRPr>
          </a:p>
        </p:txBody>
      </p:sp>
      <p:sp>
        <p:nvSpPr>
          <p:cNvPr id="16397" name="Text Box 13"/>
          <p:cNvSpPr txBox="1">
            <a:spLocks noChangeArrowheads="1"/>
          </p:cNvSpPr>
          <p:nvPr/>
        </p:nvSpPr>
        <p:spPr bwMode="auto">
          <a:xfrm>
            <a:off x="322263" y="1225154"/>
            <a:ext cx="8424862"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a:t>        在被测平面上任取</a:t>
            </a:r>
            <a:r>
              <a:rPr lang="zh-CN" altLang="en-US" sz="2000" b="1">
                <a:solidFill>
                  <a:srgbClr val="FF3300"/>
                </a:solidFill>
              </a:rPr>
              <a:t>三个远点</a:t>
            </a:r>
            <a:r>
              <a:rPr lang="zh-CN" altLang="en-US" sz="2000" b="1"/>
              <a:t>（不在同一直线上相距最远的</a:t>
            </a:r>
            <a:r>
              <a:rPr lang="en-US" altLang="zh-CN" sz="2000" b="1"/>
              <a:t>3</a:t>
            </a:r>
            <a:r>
              <a:rPr lang="zh-CN" altLang="en-US" sz="2000" b="1"/>
              <a:t>个点）所形成的平面为</a:t>
            </a:r>
            <a:r>
              <a:rPr lang="zh-CN" altLang="en-US" sz="2000" b="1">
                <a:solidFill>
                  <a:srgbClr val="FF3300"/>
                </a:solidFill>
              </a:rPr>
              <a:t>理 想平面 </a:t>
            </a:r>
            <a:r>
              <a:rPr lang="zh-CN" altLang="en-US" sz="2000" b="1"/>
              <a:t>;</a:t>
            </a:r>
          </a:p>
        </p:txBody>
      </p:sp>
      <p:sp>
        <p:nvSpPr>
          <p:cNvPr id="16404" name="Text Box 20"/>
          <p:cNvSpPr txBox="1">
            <a:spLocks noChangeArrowheads="1"/>
          </p:cNvSpPr>
          <p:nvPr/>
        </p:nvSpPr>
        <p:spPr bwMode="auto">
          <a:xfrm>
            <a:off x="549275" y="907256"/>
            <a:ext cx="5729288"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a:solidFill>
                  <a:srgbClr val="FF0066"/>
                </a:solidFill>
              </a:rPr>
              <a:t>①  三个远点法</a:t>
            </a:r>
            <a:r>
              <a:rPr lang="zh-CN" altLang="en-US" sz="2000"/>
              <a:t>—</a:t>
            </a:r>
          </a:p>
        </p:txBody>
      </p:sp>
      <p:sp>
        <p:nvSpPr>
          <p:cNvPr id="16405" name="Text Box 21"/>
          <p:cNvSpPr txBox="1">
            <a:spLocks noChangeArrowheads="1"/>
          </p:cNvSpPr>
          <p:nvPr/>
        </p:nvSpPr>
        <p:spPr bwMode="auto">
          <a:xfrm>
            <a:off x="898943" y="1948552"/>
            <a:ext cx="5975099" cy="338554"/>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80000"/>
              </a:lnSpc>
              <a:spcBef>
                <a:spcPct val="50000"/>
              </a:spcBef>
            </a:pPr>
            <a:r>
              <a:rPr lang="zh-CN" altLang="en-US" sz="2000" b="1" dirty="0"/>
              <a:t>作平行于理想平面的两个平行平面包容实际平面 ;</a:t>
            </a:r>
          </a:p>
        </p:txBody>
      </p:sp>
      <p:sp>
        <p:nvSpPr>
          <p:cNvPr id="16406" name="Text Box 22"/>
          <p:cNvSpPr txBox="1">
            <a:spLocks noChangeArrowheads="1"/>
          </p:cNvSpPr>
          <p:nvPr/>
        </p:nvSpPr>
        <p:spPr bwMode="auto">
          <a:xfrm>
            <a:off x="881231" y="2224276"/>
            <a:ext cx="6956425"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sz="2000" b="1" dirty="0"/>
              <a:t>这两个平行平面间的距离为平面度误差。</a:t>
            </a:r>
          </a:p>
        </p:txBody>
      </p:sp>
      <p:graphicFrame>
        <p:nvGraphicFramePr>
          <p:cNvPr id="16452" name="Group 68"/>
          <p:cNvGraphicFramePr>
            <a:graphicFrameLocks noGrp="1"/>
          </p:cNvGraphicFramePr>
          <p:nvPr/>
        </p:nvGraphicFramePr>
        <p:xfrm>
          <a:off x="1712913" y="2790825"/>
          <a:ext cx="4762500" cy="1900239"/>
        </p:xfrm>
        <a:graphic>
          <a:graphicData uri="http://schemas.openxmlformats.org/drawingml/2006/table">
            <a:tbl>
              <a:tblPr/>
              <a:tblGrid>
                <a:gridCol w="1587500">
                  <a:extLst>
                    <a:ext uri="{9D8B030D-6E8A-4147-A177-3AD203B41FA5}">
                      <a16:colId xmlns="" xmlns:a16="http://schemas.microsoft.com/office/drawing/2014/main" val="20000"/>
                    </a:ext>
                  </a:extLst>
                </a:gridCol>
                <a:gridCol w="1587500">
                  <a:extLst>
                    <a:ext uri="{9D8B030D-6E8A-4147-A177-3AD203B41FA5}">
                      <a16:colId xmlns="" xmlns:a16="http://schemas.microsoft.com/office/drawing/2014/main" val="20001"/>
                    </a:ext>
                  </a:extLst>
                </a:gridCol>
                <a:gridCol w="1587500">
                  <a:extLst>
                    <a:ext uri="{9D8B030D-6E8A-4147-A177-3AD203B41FA5}">
                      <a16:colId xmlns="" xmlns:a16="http://schemas.microsoft.com/office/drawing/2014/main" val="20002"/>
                    </a:ext>
                  </a:extLst>
                </a:gridCol>
              </a:tblGrid>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grpSp>
        <p:nvGrpSpPr>
          <p:cNvPr id="16457" name="Group 73"/>
          <p:cNvGrpSpPr>
            <a:grpSpLocks/>
          </p:cNvGrpSpPr>
          <p:nvPr/>
        </p:nvGrpSpPr>
        <p:grpSpPr bwMode="auto">
          <a:xfrm>
            <a:off x="2500313" y="2992041"/>
            <a:ext cx="3236912" cy="1293019"/>
            <a:chOff x="1785" y="2512"/>
            <a:chExt cx="2039" cy="1086"/>
          </a:xfrm>
        </p:grpSpPr>
        <p:sp>
          <p:nvSpPr>
            <p:cNvPr id="28708" name="Line 70"/>
            <p:cNvSpPr>
              <a:spLocks noChangeShapeType="1"/>
            </p:cNvSpPr>
            <p:nvPr/>
          </p:nvSpPr>
          <p:spPr bwMode="auto">
            <a:xfrm flipV="1">
              <a:off x="1794" y="2512"/>
              <a:ext cx="1020" cy="1086"/>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9" name="Line 71"/>
            <p:cNvSpPr>
              <a:spLocks noChangeShapeType="1"/>
            </p:cNvSpPr>
            <p:nvPr/>
          </p:nvSpPr>
          <p:spPr bwMode="auto">
            <a:xfrm>
              <a:off x="2804" y="2531"/>
              <a:ext cx="1020" cy="547"/>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0" name="Line 72"/>
            <p:cNvSpPr>
              <a:spLocks noChangeShapeType="1"/>
            </p:cNvSpPr>
            <p:nvPr/>
          </p:nvSpPr>
          <p:spPr bwMode="auto">
            <a:xfrm flipV="1">
              <a:off x="1785" y="3078"/>
              <a:ext cx="2030" cy="52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459" name="Oval 75"/>
          <p:cNvSpPr>
            <a:spLocks noChangeArrowheads="1"/>
          </p:cNvSpPr>
          <p:nvPr/>
        </p:nvSpPr>
        <p:spPr bwMode="auto">
          <a:xfrm>
            <a:off x="3848100" y="2863454"/>
            <a:ext cx="508000" cy="381000"/>
          </a:xfrm>
          <a:prstGeom prst="ellipse">
            <a:avLst/>
          </a:prstGeom>
          <a:noFill/>
          <a:ln w="57150">
            <a:solidFill>
              <a:schemeClr val="accent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0" name="Oval 76"/>
          <p:cNvSpPr>
            <a:spLocks noChangeArrowheads="1"/>
          </p:cNvSpPr>
          <p:nvPr/>
        </p:nvSpPr>
        <p:spPr bwMode="auto">
          <a:xfrm>
            <a:off x="5430838" y="3483769"/>
            <a:ext cx="508000" cy="381000"/>
          </a:xfrm>
          <a:prstGeom prst="ellipse">
            <a:avLst/>
          </a:prstGeom>
          <a:noFill/>
          <a:ln w="57150">
            <a:solidFill>
              <a:schemeClr val="accent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1" name="Oval 77"/>
          <p:cNvSpPr>
            <a:spLocks noChangeArrowheads="1"/>
          </p:cNvSpPr>
          <p:nvPr/>
        </p:nvSpPr>
        <p:spPr bwMode="auto">
          <a:xfrm>
            <a:off x="2238375" y="4124325"/>
            <a:ext cx="508000" cy="381000"/>
          </a:xfrm>
          <a:prstGeom prst="ellipse">
            <a:avLst/>
          </a:prstGeom>
          <a:noFill/>
          <a:ln w="57150">
            <a:solidFill>
              <a:schemeClr val="accent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62" name="AutoShape 78"/>
          <p:cNvSpPr>
            <a:spLocks noChangeArrowheads="1"/>
          </p:cNvSpPr>
          <p:nvPr/>
        </p:nvSpPr>
        <p:spPr bwMode="auto">
          <a:xfrm>
            <a:off x="6675438" y="2601516"/>
            <a:ext cx="914400" cy="1022747"/>
          </a:xfrm>
          <a:prstGeom prst="wedgeRoundRectCallout">
            <a:avLst>
              <a:gd name="adj1" fmla="val -294444"/>
              <a:gd name="adj2" fmla="val 29162"/>
              <a:gd name="adj3" fmla="val 16667"/>
            </a:avLst>
          </a:prstGeom>
          <a:noFill/>
          <a:ln w="57150">
            <a:solidFill>
              <a:srgbClr val="FF9900"/>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b="1">
                <a:solidFill>
                  <a:srgbClr val="FF0000"/>
                </a:solidFill>
              </a:rPr>
              <a:t>理想平面</a:t>
            </a:r>
          </a:p>
        </p:txBody>
      </p:sp>
      <p:grpSp>
        <p:nvGrpSpPr>
          <p:cNvPr id="16464" name="Group 80"/>
          <p:cNvGrpSpPr>
            <a:grpSpLocks/>
          </p:cNvGrpSpPr>
          <p:nvPr/>
        </p:nvGrpSpPr>
        <p:grpSpPr bwMode="auto">
          <a:xfrm>
            <a:off x="547689" y="225029"/>
            <a:ext cx="2808287" cy="738188"/>
            <a:chOff x="345" y="189"/>
            <a:chExt cx="1769" cy="620"/>
          </a:xfrm>
        </p:grpSpPr>
        <p:sp>
          <p:nvSpPr>
            <p:cNvPr id="28706" name="Text Box 2"/>
            <p:cNvSpPr txBox="1">
              <a:spLocks noChangeArrowheads="1"/>
            </p:cNvSpPr>
            <p:nvPr/>
          </p:nvSpPr>
          <p:spPr bwMode="auto">
            <a:xfrm>
              <a:off x="345" y="189"/>
              <a:ext cx="1769" cy="6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spAutoFit/>
            </a:bodyPr>
            <a:lstStyle>
              <a:lvl1pPr marL="457200" indent="-457200"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buFontTx/>
                <a:buAutoNum type="arabicParenBoth" startAt="2"/>
              </a:pPr>
              <a:r>
                <a:rPr lang="zh-CN" altLang="en-US" sz="2000" b="1">
                  <a:latin typeface="宋体" pitchFamily="2" charset="-122"/>
                </a:rPr>
                <a:t> 近似法评定</a:t>
              </a:r>
            </a:p>
            <a:p>
              <a:pPr algn="l" eaLnBrk="1" hangingPunct="1">
                <a:lnSpc>
                  <a:spcPct val="120000"/>
                </a:lnSpc>
              </a:pPr>
              <a:r>
                <a:rPr lang="zh-CN" altLang="en-US" sz="2000" b="1">
                  <a:latin typeface="宋体" pitchFamily="2" charset="-122"/>
                </a:rPr>
                <a:t>    平面度误差</a:t>
              </a:r>
            </a:p>
          </p:txBody>
        </p:sp>
        <p:sp>
          <p:nvSpPr>
            <p:cNvPr id="28707" name="AutoShape 79"/>
            <p:cNvSpPr>
              <a:spLocks/>
            </p:cNvSpPr>
            <p:nvPr/>
          </p:nvSpPr>
          <p:spPr bwMode="auto">
            <a:xfrm rot="10800000" flipH="1">
              <a:off x="1888" y="320"/>
              <a:ext cx="130" cy="391"/>
            </a:xfrm>
            <a:prstGeom prst="leftBrace">
              <a:avLst>
                <a:gd name="adj1" fmla="val 25064"/>
                <a:gd name="adj2" fmla="val 50000"/>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6465" name="Text Box 81"/>
          <p:cNvSpPr txBox="1">
            <a:spLocks noChangeArrowheads="1"/>
          </p:cNvSpPr>
          <p:nvPr/>
        </p:nvSpPr>
        <p:spPr bwMode="auto">
          <a:xfrm>
            <a:off x="3290888" y="242888"/>
            <a:ext cx="281940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sz="2000">
                <a:latin typeface="宋体" pitchFamily="2" charset="-122"/>
              </a:rPr>
              <a:t>① </a:t>
            </a:r>
            <a:r>
              <a:rPr lang="zh-CN" altLang="en-US" sz="2000" b="1"/>
              <a:t>三个远点法</a:t>
            </a:r>
            <a:endParaRPr lang="zh-CN" altLang="en-US" sz="2000">
              <a:latin typeface="宋体" pitchFamily="2" charset="-122"/>
            </a:endParaRPr>
          </a:p>
        </p:txBody>
      </p:sp>
      <p:sp>
        <p:nvSpPr>
          <p:cNvPr id="16466" name="Rectangle 82"/>
          <p:cNvSpPr>
            <a:spLocks noChangeArrowheads="1"/>
          </p:cNvSpPr>
          <p:nvPr/>
        </p:nvSpPr>
        <p:spPr bwMode="auto">
          <a:xfrm>
            <a:off x="3290888" y="613172"/>
            <a:ext cx="220345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a:t>②  </a:t>
            </a:r>
            <a:r>
              <a:rPr lang="zh-CN" altLang="en-US" sz="2000" b="1"/>
              <a:t>对角线法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6464"/>
                                        </p:tgtEl>
                                        <p:attrNameLst>
                                          <p:attrName>style.visibility</p:attrName>
                                        </p:attrNameLst>
                                      </p:cBhvr>
                                      <p:to>
                                        <p:strVal val="visible"/>
                                      </p:to>
                                    </p:set>
                                    <p:animEffect transition="in" filter="wipe(left)">
                                      <p:cBhvr>
                                        <p:cTn id="7" dur="2000"/>
                                        <p:tgtEl>
                                          <p:spTgt spid="164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65"/>
                                        </p:tgtEl>
                                        <p:attrNameLst>
                                          <p:attrName>style.visibility</p:attrName>
                                        </p:attrNameLst>
                                      </p:cBhvr>
                                      <p:to>
                                        <p:strVal val="visible"/>
                                      </p:to>
                                    </p:set>
                                    <p:animEffect transition="in" filter="wipe(left)">
                                      <p:cBhvr>
                                        <p:cTn id="12" dur="2000"/>
                                        <p:tgtEl>
                                          <p:spTgt spid="164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66"/>
                                        </p:tgtEl>
                                        <p:attrNameLst>
                                          <p:attrName>style.visibility</p:attrName>
                                        </p:attrNameLst>
                                      </p:cBhvr>
                                      <p:to>
                                        <p:strVal val="visible"/>
                                      </p:to>
                                    </p:set>
                                    <p:animEffect transition="in" filter="wipe(left)">
                                      <p:cBhvr>
                                        <p:cTn id="17" dur="2000"/>
                                        <p:tgtEl>
                                          <p:spTgt spid="164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16404"/>
                                        </p:tgtEl>
                                        <p:attrNameLst>
                                          <p:attrName>style.visibility</p:attrName>
                                        </p:attrNameLst>
                                      </p:cBhvr>
                                      <p:to>
                                        <p:strVal val="visible"/>
                                      </p:to>
                                    </p:set>
                                    <p:animEffect transition="in" filter="wipe(left)">
                                      <p:cBhvr>
                                        <p:cTn id="22" dur="300"/>
                                        <p:tgtEl>
                                          <p:spTgt spid="164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16397"/>
                                        </p:tgtEl>
                                        <p:attrNameLst>
                                          <p:attrName>style.visibility</p:attrName>
                                        </p:attrNameLst>
                                      </p:cBhvr>
                                      <p:to>
                                        <p:strVal val="visible"/>
                                      </p:to>
                                    </p:set>
                                    <p:animEffect transition="in" filter="wipe(left)">
                                      <p:cBhvr>
                                        <p:cTn id="27" dur="300"/>
                                        <p:tgtEl>
                                          <p:spTgt spid="163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452"/>
                                        </p:tgtEl>
                                        <p:attrNameLst>
                                          <p:attrName>style.visibility</p:attrName>
                                        </p:attrNameLst>
                                      </p:cBhvr>
                                      <p:to>
                                        <p:strVal val="visible"/>
                                      </p:to>
                                    </p:set>
                                    <p:animEffect transition="in" filter="wipe(left)">
                                      <p:cBhvr>
                                        <p:cTn id="32" dur="500"/>
                                        <p:tgtEl>
                                          <p:spTgt spid="164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59"/>
                                        </p:tgtEl>
                                        <p:attrNameLst>
                                          <p:attrName>style.visibility</p:attrName>
                                        </p:attrNameLst>
                                      </p:cBhvr>
                                      <p:to>
                                        <p:strVal val="visible"/>
                                      </p:to>
                                    </p:set>
                                    <p:animEffect transition="in" filter="wipe(left)">
                                      <p:cBhvr>
                                        <p:cTn id="37" dur="500"/>
                                        <p:tgtEl>
                                          <p:spTgt spid="164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460"/>
                                        </p:tgtEl>
                                        <p:attrNameLst>
                                          <p:attrName>style.visibility</p:attrName>
                                        </p:attrNameLst>
                                      </p:cBhvr>
                                      <p:to>
                                        <p:strVal val="visible"/>
                                      </p:to>
                                    </p:set>
                                    <p:animEffect transition="in" filter="wipe(left)">
                                      <p:cBhvr>
                                        <p:cTn id="42" dur="500"/>
                                        <p:tgtEl>
                                          <p:spTgt spid="1646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461"/>
                                        </p:tgtEl>
                                        <p:attrNameLst>
                                          <p:attrName>style.visibility</p:attrName>
                                        </p:attrNameLst>
                                      </p:cBhvr>
                                      <p:to>
                                        <p:strVal val="visible"/>
                                      </p:to>
                                    </p:set>
                                    <p:animEffect transition="in" filter="wipe(left)">
                                      <p:cBhvr>
                                        <p:cTn id="47" dur="500"/>
                                        <p:tgtEl>
                                          <p:spTgt spid="164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6457"/>
                                        </p:tgtEl>
                                        <p:attrNameLst>
                                          <p:attrName>style.visibility</p:attrName>
                                        </p:attrNameLst>
                                      </p:cBhvr>
                                      <p:to>
                                        <p:strVal val="visible"/>
                                      </p:to>
                                    </p:set>
                                    <p:animEffect transition="in" filter="wipe(left)">
                                      <p:cBhvr>
                                        <p:cTn id="52" dur="500"/>
                                        <p:tgtEl>
                                          <p:spTgt spid="164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2" fill="hold" grpId="0" nodeType="clickEffect">
                                  <p:stCondLst>
                                    <p:cond delay="0"/>
                                  </p:stCondLst>
                                  <p:iterate type="wd">
                                    <p:tmPct val="100000"/>
                                  </p:iterate>
                                  <p:childTnLst>
                                    <p:set>
                                      <p:cBhvr>
                                        <p:cTn id="56" dur="1" fill="hold">
                                          <p:stCondLst>
                                            <p:cond delay="0"/>
                                          </p:stCondLst>
                                        </p:cTn>
                                        <p:tgtEl>
                                          <p:spTgt spid="16462"/>
                                        </p:tgtEl>
                                        <p:attrNameLst>
                                          <p:attrName>style.visibility</p:attrName>
                                        </p:attrNameLst>
                                      </p:cBhvr>
                                      <p:to>
                                        <p:strVal val="visible"/>
                                      </p:to>
                                    </p:set>
                                    <p:anim calcmode="lin" valueType="num">
                                      <p:cBhvr>
                                        <p:cTn id="57" dur="300" fill="hold"/>
                                        <p:tgtEl>
                                          <p:spTgt spid="16462"/>
                                        </p:tgtEl>
                                        <p:attrNameLst>
                                          <p:attrName>ppt_x</p:attrName>
                                        </p:attrNameLst>
                                      </p:cBhvr>
                                      <p:tavLst>
                                        <p:tav tm="0">
                                          <p:val>
                                            <p:strVal val="#ppt_x+#ppt_w/2"/>
                                          </p:val>
                                        </p:tav>
                                        <p:tav tm="100000">
                                          <p:val>
                                            <p:strVal val="#ppt_x"/>
                                          </p:val>
                                        </p:tav>
                                      </p:tavLst>
                                    </p:anim>
                                    <p:anim calcmode="lin" valueType="num">
                                      <p:cBhvr>
                                        <p:cTn id="58" dur="300" fill="hold"/>
                                        <p:tgtEl>
                                          <p:spTgt spid="16462"/>
                                        </p:tgtEl>
                                        <p:attrNameLst>
                                          <p:attrName>ppt_y</p:attrName>
                                        </p:attrNameLst>
                                      </p:cBhvr>
                                      <p:tavLst>
                                        <p:tav tm="0">
                                          <p:val>
                                            <p:strVal val="#ppt_y"/>
                                          </p:val>
                                        </p:tav>
                                        <p:tav tm="100000">
                                          <p:val>
                                            <p:strVal val="#ppt_y"/>
                                          </p:val>
                                        </p:tav>
                                      </p:tavLst>
                                    </p:anim>
                                    <p:anim calcmode="lin" valueType="num">
                                      <p:cBhvr>
                                        <p:cTn id="59" dur="300" fill="hold"/>
                                        <p:tgtEl>
                                          <p:spTgt spid="16462"/>
                                        </p:tgtEl>
                                        <p:attrNameLst>
                                          <p:attrName>ppt_w</p:attrName>
                                        </p:attrNameLst>
                                      </p:cBhvr>
                                      <p:tavLst>
                                        <p:tav tm="0">
                                          <p:val>
                                            <p:fltVal val="0"/>
                                          </p:val>
                                        </p:tav>
                                        <p:tav tm="100000">
                                          <p:val>
                                            <p:strVal val="#ppt_w"/>
                                          </p:val>
                                        </p:tav>
                                      </p:tavLst>
                                    </p:anim>
                                    <p:anim calcmode="lin" valueType="num">
                                      <p:cBhvr>
                                        <p:cTn id="60" dur="300" fill="hold"/>
                                        <p:tgtEl>
                                          <p:spTgt spid="16462"/>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iterate type="wd">
                                    <p:tmPct val="100000"/>
                                  </p:iterate>
                                  <p:childTnLst>
                                    <p:set>
                                      <p:cBhvr>
                                        <p:cTn id="64" dur="1" fill="hold">
                                          <p:stCondLst>
                                            <p:cond delay="0"/>
                                          </p:stCondLst>
                                        </p:cTn>
                                        <p:tgtEl>
                                          <p:spTgt spid="16405"/>
                                        </p:tgtEl>
                                        <p:attrNameLst>
                                          <p:attrName>style.visibility</p:attrName>
                                        </p:attrNameLst>
                                      </p:cBhvr>
                                      <p:to>
                                        <p:strVal val="visible"/>
                                      </p:to>
                                    </p:set>
                                    <p:animEffect transition="in" filter="wipe(left)">
                                      <p:cBhvr>
                                        <p:cTn id="65" dur="300"/>
                                        <p:tgtEl>
                                          <p:spTgt spid="1640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iterate type="wd">
                                    <p:tmPct val="100000"/>
                                  </p:iterate>
                                  <p:childTnLst>
                                    <p:set>
                                      <p:cBhvr>
                                        <p:cTn id="69" dur="1" fill="hold">
                                          <p:stCondLst>
                                            <p:cond delay="0"/>
                                          </p:stCondLst>
                                        </p:cTn>
                                        <p:tgtEl>
                                          <p:spTgt spid="16406"/>
                                        </p:tgtEl>
                                        <p:attrNameLst>
                                          <p:attrName>style.visibility</p:attrName>
                                        </p:attrNameLst>
                                      </p:cBhvr>
                                      <p:to>
                                        <p:strVal val="visible"/>
                                      </p:to>
                                    </p:set>
                                    <p:animEffect transition="in" filter="wipe(left)">
                                      <p:cBhvr>
                                        <p:cTn id="70" dur="300"/>
                                        <p:tgtEl>
                                          <p:spTgt spid="16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7" grpId="0" autoUpdateAnimBg="0"/>
      <p:bldP spid="16404" grpId="0" autoUpdateAnimBg="0"/>
      <p:bldP spid="16405" grpId="0" autoUpdateAnimBg="0"/>
      <p:bldP spid="16406" grpId="0" autoUpdateAnimBg="0"/>
      <p:bldP spid="16459" grpId="0" animBg="1"/>
      <p:bldP spid="16460" grpId="0" animBg="1"/>
      <p:bldP spid="16461" grpId="0" animBg="1"/>
      <p:bldP spid="16462" grpId="0" animBg="1" autoUpdateAnimBg="0"/>
      <p:bldP spid="16465" grpId="0"/>
      <p:bldP spid="1646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66F738A-6DD9-4E8F-A84B-7360E331F9A9}" type="slidenum">
              <a:rPr kumimoji="0" lang="zh-CN" altLang="en-US" sz="2000" smtClean="0">
                <a:solidFill>
                  <a:srgbClr val="0000FF"/>
                </a:solidFill>
              </a:rPr>
              <a:pPr eaLnBrk="1" hangingPunct="1"/>
              <a:t>26</a:t>
            </a:fld>
            <a:endParaRPr kumimoji="0" lang="en-US" altLang="zh-CN" sz="2000">
              <a:solidFill>
                <a:srgbClr val="0000FF"/>
              </a:solidFill>
            </a:endParaRPr>
          </a:p>
        </p:txBody>
      </p:sp>
      <p:sp>
        <p:nvSpPr>
          <p:cNvPr id="111620" name="Text Box 1028"/>
          <p:cNvSpPr txBox="1">
            <a:spLocks noChangeArrowheads="1"/>
          </p:cNvSpPr>
          <p:nvPr/>
        </p:nvSpPr>
        <p:spPr bwMode="auto">
          <a:xfrm>
            <a:off x="221957" y="539382"/>
            <a:ext cx="8061325"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         过被测平面上一条对角线且平行于另一条对角线的平面为理想平面 ;</a:t>
            </a:r>
          </a:p>
        </p:txBody>
      </p:sp>
      <p:sp>
        <p:nvSpPr>
          <p:cNvPr id="111621" name="Text Box 1029"/>
          <p:cNvSpPr txBox="1">
            <a:spLocks noChangeArrowheads="1"/>
          </p:cNvSpPr>
          <p:nvPr/>
        </p:nvSpPr>
        <p:spPr bwMode="auto">
          <a:xfrm>
            <a:off x="566738" y="100013"/>
            <a:ext cx="4457700"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zh-CN" altLang="en-US" b="1" dirty="0">
                <a:solidFill>
                  <a:srgbClr val="FF0066"/>
                </a:solidFill>
              </a:rPr>
              <a:t>② 对角线法 </a:t>
            </a:r>
            <a:r>
              <a:rPr lang="zh-CN" altLang="en-US" dirty="0"/>
              <a:t>—</a:t>
            </a:r>
          </a:p>
        </p:txBody>
      </p:sp>
      <p:sp>
        <p:nvSpPr>
          <p:cNvPr id="111622" name="Text Box 1030"/>
          <p:cNvSpPr txBox="1">
            <a:spLocks noChangeArrowheads="1"/>
          </p:cNvSpPr>
          <p:nvPr/>
        </p:nvSpPr>
        <p:spPr bwMode="auto">
          <a:xfrm>
            <a:off x="933450" y="1128712"/>
            <a:ext cx="7386638" cy="49244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30000"/>
              </a:lnSpc>
              <a:spcBef>
                <a:spcPct val="50000"/>
              </a:spcBef>
            </a:pPr>
            <a:r>
              <a:rPr lang="zh-CN" altLang="en-US" sz="2000" b="1"/>
              <a:t>作平行于理想平面的两个平行平面包容实际平面 ;</a:t>
            </a:r>
          </a:p>
        </p:txBody>
      </p:sp>
      <p:sp>
        <p:nvSpPr>
          <p:cNvPr id="111623" name="Text Box 1031"/>
          <p:cNvSpPr txBox="1">
            <a:spLocks noChangeArrowheads="1"/>
          </p:cNvSpPr>
          <p:nvPr/>
        </p:nvSpPr>
        <p:spPr bwMode="auto">
          <a:xfrm>
            <a:off x="950913" y="1470422"/>
            <a:ext cx="7675562" cy="49244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30000"/>
              </a:lnSpc>
              <a:spcBef>
                <a:spcPct val="50000"/>
              </a:spcBef>
            </a:pPr>
            <a:r>
              <a:rPr lang="zh-CN" altLang="en-US" sz="2000" b="1" dirty="0"/>
              <a:t>这两个平行平面间的距离为平面度误差。</a:t>
            </a:r>
          </a:p>
        </p:txBody>
      </p:sp>
      <p:graphicFrame>
        <p:nvGraphicFramePr>
          <p:cNvPr id="111624" name="Group 1032"/>
          <p:cNvGraphicFramePr>
            <a:graphicFrameLocks noGrp="1"/>
          </p:cNvGraphicFramePr>
          <p:nvPr/>
        </p:nvGraphicFramePr>
        <p:xfrm>
          <a:off x="2120900" y="2332434"/>
          <a:ext cx="4762500" cy="1900239"/>
        </p:xfrm>
        <a:graphic>
          <a:graphicData uri="http://schemas.openxmlformats.org/drawingml/2006/table">
            <a:tbl>
              <a:tblPr/>
              <a:tblGrid>
                <a:gridCol w="1587500">
                  <a:extLst>
                    <a:ext uri="{9D8B030D-6E8A-4147-A177-3AD203B41FA5}">
                      <a16:colId xmlns="" xmlns:a16="http://schemas.microsoft.com/office/drawing/2014/main" val="20000"/>
                    </a:ext>
                  </a:extLst>
                </a:gridCol>
                <a:gridCol w="1587500">
                  <a:extLst>
                    <a:ext uri="{9D8B030D-6E8A-4147-A177-3AD203B41FA5}">
                      <a16:colId xmlns="" xmlns:a16="http://schemas.microsoft.com/office/drawing/2014/main" val="20001"/>
                    </a:ext>
                  </a:extLst>
                </a:gridCol>
                <a:gridCol w="1587500">
                  <a:extLst>
                    <a:ext uri="{9D8B030D-6E8A-4147-A177-3AD203B41FA5}">
                      <a16:colId xmlns="" xmlns:a16="http://schemas.microsoft.com/office/drawing/2014/main" val="20002"/>
                    </a:ext>
                  </a:extLst>
                </a:gridCol>
              </a:tblGrid>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334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100" b="0" i="0" u="none" strike="noStrike" cap="none" normalizeH="0" baseline="0">
                          <a:ln>
                            <a:noFill/>
                          </a:ln>
                          <a:solidFill>
                            <a:schemeClr val="tx1"/>
                          </a:solidFill>
                          <a:effectLst/>
                          <a:latin typeface="Times New Roman" pitchFamily="18" charset="0"/>
                          <a:ea typeface="宋体" pitchFamily="2" charset="-122"/>
                        </a:rPr>
                        <a:t>×</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bl>
          </a:graphicData>
        </a:graphic>
      </p:graphicFrame>
      <p:grpSp>
        <p:nvGrpSpPr>
          <p:cNvPr id="111663" name="Group 1071"/>
          <p:cNvGrpSpPr>
            <a:grpSpLocks/>
          </p:cNvGrpSpPr>
          <p:nvPr/>
        </p:nvGrpSpPr>
        <p:grpSpPr bwMode="auto">
          <a:xfrm>
            <a:off x="2522539" y="2306241"/>
            <a:ext cx="4033837" cy="1778794"/>
            <a:chOff x="1589" y="2141"/>
            <a:chExt cx="2541" cy="1494"/>
          </a:xfrm>
        </p:grpSpPr>
        <p:sp>
          <p:nvSpPr>
            <p:cNvPr id="29733" name="Oval 1057"/>
            <p:cNvSpPr>
              <a:spLocks noChangeArrowheads="1"/>
            </p:cNvSpPr>
            <p:nvPr/>
          </p:nvSpPr>
          <p:spPr bwMode="auto">
            <a:xfrm>
              <a:off x="3802" y="3328"/>
              <a:ext cx="328" cy="307"/>
            </a:xfrm>
            <a:prstGeom prst="ellipse">
              <a:avLst/>
            </a:prstGeom>
            <a:noFill/>
            <a:ln w="28575">
              <a:solidFill>
                <a:srgbClr val="FF9900"/>
              </a:solidFill>
              <a:round/>
              <a:headEnd/>
              <a:tailEnd/>
            </a:ln>
            <a:effectLst/>
            <a:extLst>
              <a:ext uri="{909E8E84-426E-40DD-AFC4-6F175D3DCCD1}">
                <a14:hiddenFill xmlns="" xmlns:a14="http://schemas.microsoft.com/office/drawing/2010/main">
                  <a:solidFill>
                    <a:srgbClr val="FFFF00"/>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a:t>B</a:t>
              </a:r>
            </a:p>
          </p:txBody>
        </p:sp>
        <p:grpSp>
          <p:nvGrpSpPr>
            <p:cNvPr id="29734" name="Group 1069"/>
            <p:cNvGrpSpPr>
              <a:grpSpLocks/>
            </p:cNvGrpSpPr>
            <p:nvPr/>
          </p:nvGrpSpPr>
          <p:grpSpPr bwMode="auto">
            <a:xfrm>
              <a:off x="1589" y="2141"/>
              <a:ext cx="2233" cy="1288"/>
              <a:chOff x="1589" y="2141"/>
              <a:chExt cx="2233" cy="1288"/>
            </a:xfrm>
          </p:grpSpPr>
          <p:sp>
            <p:nvSpPr>
              <p:cNvPr id="29735" name="Oval 1056"/>
              <p:cNvSpPr>
                <a:spLocks noChangeArrowheads="1"/>
              </p:cNvSpPr>
              <p:nvPr/>
            </p:nvSpPr>
            <p:spPr bwMode="auto">
              <a:xfrm flipH="1">
                <a:off x="1589" y="2141"/>
                <a:ext cx="348" cy="335"/>
              </a:xfrm>
              <a:prstGeom prst="ellipse">
                <a:avLst/>
              </a:prstGeom>
              <a:noFill/>
              <a:ln w="38100">
                <a:solidFill>
                  <a:srgbClr val="FF9900"/>
                </a:solidFill>
                <a:round/>
                <a:headEnd/>
                <a:tailEnd/>
              </a:ln>
              <a:effectLst/>
              <a:extLst>
                <a:ext uri="{909E8E84-426E-40DD-AFC4-6F175D3DCCD1}">
                  <a14:hiddenFill xmlns="" xmlns:a14="http://schemas.microsoft.com/office/drawing/2010/main">
                    <a:solidFill>
                      <a:srgbClr val="FFFF00"/>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a:t>A</a:t>
                </a:r>
              </a:p>
            </p:txBody>
          </p:sp>
          <p:sp>
            <p:nvSpPr>
              <p:cNvPr id="29736" name="Line 1058"/>
              <p:cNvSpPr>
                <a:spLocks noChangeShapeType="1"/>
              </p:cNvSpPr>
              <p:nvPr/>
            </p:nvSpPr>
            <p:spPr bwMode="auto">
              <a:xfrm>
                <a:off x="1847" y="2341"/>
                <a:ext cx="1975" cy="1088"/>
              </a:xfrm>
              <a:prstGeom prst="line">
                <a:avLst/>
              </a:prstGeom>
              <a:noFill/>
              <a:ln w="57150">
                <a:solidFill>
                  <a:srgbClr val="FF99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11655" name="Group 1063"/>
          <p:cNvGrpSpPr>
            <a:grpSpLocks/>
          </p:cNvGrpSpPr>
          <p:nvPr/>
        </p:nvGrpSpPr>
        <p:grpSpPr bwMode="auto">
          <a:xfrm>
            <a:off x="2974975" y="2511029"/>
            <a:ext cx="3149600" cy="1382315"/>
            <a:chOff x="1874" y="2313"/>
            <a:chExt cx="1984" cy="1161"/>
          </a:xfrm>
        </p:grpSpPr>
        <p:sp>
          <p:nvSpPr>
            <p:cNvPr id="29729" name="Line 1059"/>
            <p:cNvSpPr>
              <a:spLocks noChangeShapeType="1"/>
            </p:cNvSpPr>
            <p:nvPr/>
          </p:nvSpPr>
          <p:spPr bwMode="auto">
            <a:xfrm>
              <a:off x="1911" y="2322"/>
              <a:ext cx="1929" cy="0"/>
            </a:xfrm>
            <a:prstGeom prst="line">
              <a:avLst/>
            </a:prstGeom>
            <a:noFill/>
            <a:ln w="5715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0" name="Line 1060"/>
            <p:cNvSpPr>
              <a:spLocks noChangeShapeType="1"/>
            </p:cNvSpPr>
            <p:nvPr/>
          </p:nvSpPr>
          <p:spPr bwMode="auto">
            <a:xfrm>
              <a:off x="3831" y="2313"/>
              <a:ext cx="9" cy="1106"/>
            </a:xfrm>
            <a:prstGeom prst="line">
              <a:avLst/>
            </a:prstGeom>
            <a:noFill/>
            <a:ln w="5715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1" name="Line 1061"/>
            <p:cNvSpPr>
              <a:spLocks noChangeShapeType="1"/>
            </p:cNvSpPr>
            <p:nvPr/>
          </p:nvSpPr>
          <p:spPr bwMode="auto">
            <a:xfrm>
              <a:off x="1874" y="2322"/>
              <a:ext cx="0" cy="1152"/>
            </a:xfrm>
            <a:prstGeom prst="line">
              <a:avLst/>
            </a:prstGeom>
            <a:noFill/>
            <a:ln w="5715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2" name="Line 1062"/>
            <p:cNvSpPr>
              <a:spLocks noChangeShapeType="1"/>
            </p:cNvSpPr>
            <p:nvPr/>
          </p:nvSpPr>
          <p:spPr bwMode="auto">
            <a:xfrm flipV="1">
              <a:off x="1893" y="3401"/>
              <a:ext cx="1965" cy="55"/>
            </a:xfrm>
            <a:prstGeom prst="line">
              <a:avLst/>
            </a:prstGeom>
            <a:noFill/>
            <a:ln w="5715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1658" name="AutoShape 1066"/>
          <p:cNvSpPr>
            <a:spLocks noChangeArrowheads="1"/>
          </p:cNvSpPr>
          <p:nvPr/>
        </p:nvSpPr>
        <p:spPr bwMode="auto">
          <a:xfrm>
            <a:off x="798513" y="2511028"/>
            <a:ext cx="914400" cy="1098947"/>
          </a:xfrm>
          <a:prstGeom prst="wedgeRoundRectCallout">
            <a:avLst>
              <a:gd name="adj1" fmla="val 240454"/>
              <a:gd name="adj2" fmla="val 9806"/>
              <a:gd name="adj3" fmla="val 16667"/>
            </a:avLst>
          </a:prstGeom>
          <a:solidFill>
            <a:srgbClr val="FFFF00"/>
          </a:solidFill>
          <a:ln w="57150">
            <a:solidFill>
              <a:schemeClr val="accent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b="1">
                <a:solidFill>
                  <a:srgbClr val="FF0000"/>
                </a:solidFill>
              </a:rPr>
              <a:t>理想平面</a:t>
            </a:r>
          </a:p>
        </p:txBody>
      </p:sp>
      <p:grpSp>
        <p:nvGrpSpPr>
          <p:cNvPr id="111662" name="Group 1070"/>
          <p:cNvGrpSpPr>
            <a:grpSpLocks/>
          </p:cNvGrpSpPr>
          <p:nvPr/>
        </p:nvGrpSpPr>
        <p:grpSpPr bwMode="auto">
          <a:xfrm>
            <a:off x="2524125" y="2283619"/>
            <a:ext cx="4021138" cy="1783556"/>
            <a:chOff x="1590" y="2122"/>
            <a:chExt cx="2533" cy="1498"/>
          </a:xfrm>
        </p:grpSpPr>
        <p:sp>
          <p:nvSpPr>
            <p:cNvPr id="29726" name="Line 1064"/>
            <p:cNvSpPr>
              <a:spLocks noChangeShapeType="1"/>
            </p:cNvSpPr>
            <p:nvPr/>
          </p:nvSpPr>
          <p:spPr bwMode="auto">
            <a:xfrm flipV="1">
              <a:off x="1738" y="2294"/>
              <a:ext cx="2167" cy="1161"/>
            </a:xfrm>
            <a:prstGeom prst="line">
              <a:avLst/>
            </a:prstGeom>
            <a:noFill/>
            <a:ln w="76200">
              <a:solidFill>
                <a:schemeClr val="accent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7" name="Oval 1067"/>
            <p:cNvSpPr>
              <a:spLocks noChangeArrowheads="1"/>
            </p:cNvSpPr>
            <p:nvPr/>
          </p:nvSpPr>
          <p:spPr bwMode="auto">
            <a:xfrm>
              <a:off x="3803" y="2122"/>
              <a:ext cx="320" cy="374"/>
            </a:xfrm>
            <a:prstGeom prst="ellipse">
              <a:avLst/>
            </a:prstGeom>
            <a:noFill/>
            <a:ln w="38100">
              <a:solidFill>
                <a:schemeClr val="accent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a:t>D</a:t>
              </a:r>
            </a:p>
          </p:txBody>
        </p:sp>
        <p:sp>
          <p:nvSpPr>
            <p:cNvPr id="29728" name="Oval 1068"/>
            <p:cNvSpPr>
              <a:spLocks noChangeArrowheads="1"/>
            </p:cNvSpPr>
            <p:nvPr/>
          </p:nvSpPr>
          <p:spPr bwMode="auto">
            <a:xfrm>
              <a:off x="1590" y="3246"/>
              <a:ext cx="320" cy="374"/>
            </a:xfrm>
            <a:prstGeom prst="ellipse">
              <a:avLst/>
            </a:prstGeom>
            <a:noFill/>
            <a:ln w="38100">
              <a:solidFill>
                <a:schemeClr val="accent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a:t>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1621"/>
                                        </p:tgtEl>
                                        <p:attrNameLst>
                                          <p:attrName>style.visibility</p:attrName>
                                        </p:attrNameLst>
                                      </p:cBhvr>
                                      <p:to>
                                        <p:strVal val="visible"/>
                                      </p:to>
                                    </p:set>
                                    <p:animEffect transition="in" filter="wipe(left)">
                                      <p:cBhvr>
                                        <p:cTn id="7" dur="300"/>
                                        <p:tgtEl>
                                          <p:spTgt spid="1116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1624"/>
                                        </p:tgtEl>
                                        <p:attrNameLst>
                                          <p:attrName>style.visibility</p:attrName>
                                        </p:attrNameLst>
                                      </p:cBhvr>
                                      <p:to>
                                        <p:strVal val="visible"/>
                                      </p:to>
                                    </p:set>
                                    <p:animEffect transition="in" filter="wipe(left)">
                                      <p:cBhvr>
                                        <p:cTn id="12" dur="500"/>
                                        <p:tgtEl>
                                          <p:spTgt spid="1116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11620"/>
                                        </p:tgtEl>
                                        <p:attrNameLst>
                                          <p:attrName>style.visibility</p:attrName>
                                        </p:attrNameLst>
                                      </p:cBhvr>
                                      <p:to>
                                        <p:strVal val="visible"/>
                                      </p:to>
                                    </p:set>
                                    <p:animEffect transition="in" filter="wipe(left)">
                                      <p:cBhvr>
                                        <p:cTn id="17" dur="300"/>
                                        <p:tgtEl>
                                          <p:spTgt spid="1116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1663"/>
                                        </p:tgtEl>
                                        <p:attrNameLst>
                                          <p:attrName>style.visibility</p:attrName>
                                        </p:attrNameLst>
                                      </p:cBhvr>
                                      <p:to>
                                        <p:strVal val="visible"/>
                                      </p:to>
                                    </p:set>
                                    <p:animEffect transition="in" filter="wipe(left)">
                                      <p:cBhvr>
                                        <p:cTn id="22" dur="500"/>
                                        <p:tgtEl>
                                          <p:spTgt spid="111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1655"/>
                                        </p:tgtEl>
                                        <p:attrNameLst>
                                          <p:attrName>style.visibility</p:attrName>
                                        </p:attrNameLst>
                                      </p:cBhvr>
                                      <p:to>
                                        <p:strVal val="visible"/>
                                      </p:to>
                                    </p:set>
                                    <p:animEffect transition="in" filter="wipe(left)">
                                      <p:cBhvr>
                                        <p:cTn id="27" dur="500"/>
                                        <p:tgtEl>
                                          <p:spTgt spid="11165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1662"/>
                                        </p:tgtEl>
                                        <p:attrNameLst>
                                          <p:attrName>style.visibility</p:attrName>
                                        </p:attrNameLst>
                                      </p:cBhvr>
                                      <p:to>
                                        <p:strVal val="visible"/>
                                      </p:to>
                                    </p:set>
                                    <p:animEffect transition="in" filter="wipe(left)">
                                      <p:cBhvr>
                                        <p:cTn id="32" dur="500"/>
                                        <p:tgtEl>
                                          <p:spTgt spid="1116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111658"/>
                                        </p:tgtEl>
                                        <p:attrNameLst>
                                          <p:attrName>style.visibility</p:attrName>
                                        </p:attrNameLst>
                                      </p:cBhvr>
                                      <p:to>
                                        <p:strVal val="visible"/>
                                      </p:to>
                                    </p:set>
                                    <p:anim calcmode="lin" valueType="num">
                                      <p:cBhvr>
                                        <p:cTn id="37" dur="500" fill="hold"/>
                                        <p:tgtEl>
                                          <p:spTgt spid="111658"/>
                                        </p:tgtEl>
                                        <p:attrNameLst>
                                          <p:attrName>ppt_x</p:attrName>
                                        </p:attrNameLst>
                                      </p:cBhvr>
                                      <p:tavLst>
                                        <p:tav tm="0">
                                          <p:val>
                                            <p:strVal val="#ppt_x-#ppt_w/2"/>
                                          </p:val>
                                        </p:tav>
                                        <p:tav tm="100000">
                                          <p:val>
                                            <p:strVal val="#ppt_x"/>
                                          </p:val>
                                        </p:tav>
                                      </p:tavLst>
                                    </p:anim>
                                    <p:anim calcmode="lin" valueType="num">
                                      <p:cBhvr>
                                        <p:cTn id="38" dur="500" fill="hold"/>
                                        <p:tgtEl>
                                          <p:spTgt spid="111658"/>
                                        </p:tgtEl>
                                        <p:attrNameLst>
                                          <p:attrName>ppt_y</p:attrName>
                                        </p:attrNameLst>
                                      </p:cBhvr>
                                      <p:tavLst>
                                        <p:tav tm="0">
                                          <p:val>
                                            <p:strVal val="#ppt_y"/>
                                          </p:val>
                                        </p:tav>
                                        <p:tav tm="100000">
                                          <p:val>
                                            <p:strVal val="#ppt_y"/>
                                          </p:val>
                                        </p:tav>
                                      </p:tavLst>
                                    </p:anim>
                                    <p:anim calcmode="lin" valueType="num">
                                      <p:cBhvr>
                                        <p:cTn id="39" dur="500" fill="hold"/>
                                        <p:tgtEl>
                                          <p:spTgt spid="111658"/>
                                        </p:tgtEl>
                                        <p:attrNameLst>
                                          <p:attrName>ppt_w</p:attrName>
                                        </p:attrNameLst>
                                      </p:cBhvr>
                                      <p:tavLst>
                                        <p:tav tm="0">
                                          <p:val>
                                            <p:fltVal val="0"/>
                                          </p:val>
                                        </p:tav>
                                        <p:tav tm="100000">
                                          <p:val>
                                            <p:strVal val="#ppt_w"/>
                                          </p:val>
                                        </p:tav>
                                      </p:tavLst>
                                    </p:anim>
                                    <p:anim calcmode="lin" valueType="num">
                                      <p:cBhvr>
                                        <p:cTn id="40" dur="500" fill="hold"/>
                                        <p:tgtEl>
                                          <p:spTgt spid="111658"/>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iterate type="wd">
                                    <p:tmPct val="100000"/>
                                  </p:iterate>
                                  <p:childTnLst>
                                    <p:set>
                                      <p:cBhvr>
                                        <p:cTn id="44" dur="1" fill="hold">
                                          <p:stCondLst>
                                            <p:cond delay="0"/>
                                          </p:stCondLst>
                                        </p:cTn>
                                        <p:tgtEl>
                                          <p:spTgt spid="111622"/>
                                        </p:tgtEl>
                                        <p:attrNameLst>
                                          <p:attrName>style.visibility</p:attrName>
                                        </p:attrNameLst>
                                      </p:cBhvr>
                                      <p:to>
                                        <p:strVal val="visible"/>
                                      </p:to>
                                    </p:set>
                                    <p:animEffect transition="in" filter="wipe(left)">
                                      <p:cBhvr>
                                        <p:cTn id="45" dur="300"/>
                                        <p:tgtEl>
                                          <p:spTgt spid="11162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iterate type="wd">
                                    <p:tmPct val="100000"/>
                                  </p:iterate>
                                  <p:childTnLst>
                                    <p:set>
                                      <p:cBhvr>
                                        <p:cTn id="49" dur="1" fill="hold">
                                          <p:stCondLst>
                                            <p:cond delay="0"/>
                                          </p:stCondLst>
                                        </p:cTn>
                                        <p:tgtEl>
                                          <p:spTgt spid="111623"/>
                                        </p:tgtEl>
                                        <p:attrNameLst>
                                          <p:attrName>style.visibility</p:attrName>
                                        </p:attrNameLst>
                                      </p:cBhvr>
                                      <p:to>
                                        <p:strVal val="visible"/>
                                      </p:to>
                                    </p:set>
                                    <p:animEffect transition="in" filter="wipe(left)">
                                      <p:cBhvr>
                                        <p:cTn id="50" dur="300"/>
                                        <p:tgtEl>
                                          <p:spTgt spid="111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utoUpdateAnimBg="0"/>
      <p:bldP spid="111621" grpId="0" autoUpdateAnimBg="0"/>
      <p:bldP spid="111622" grpId="0" autoUpdateAnimBg="0"/>
      <p:bldP spid="111623" grpId="0" autoUpdateAnimBg="0"/>
      <p:bldP spid="11165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387A6445-DE0E-4978-8ECC-20BAA6B7E234}" type="slidenum">
              <a:rPr kumimoji="0" lang="zh-CN" altLang="en-US" sz="2000" smtClean="0">
                <a:solidFill>
                  <a:srgbClr val="0000FF"/>
                </a:solidFill>
              </a:rPr>
              <a:pPr eaLnBrk="1" hangingPunct="1"/>
              <a:t>27</a:t>
            </a:fld>
            <a:endParaRPr kumimoji="0" lang="en-US" altLang="zh-CN" sz="2000">
              <a:solidFill>
                <a:srgbClr val="0000FF"/>
              </a:solidFill>
            </a:endParaRPr>
          </a:p>
        </p:txBody>
      </p:sp>
      <p:sp>
        <p:nvSpPr>
          <p:cNvPr id="64516" name="Text Box 1028"/>
          <p:cNvSpPr txBox="1">
            <a:spLocks noChangeArrowheads="1"/>
          </p:cNvSpPr>
          <p:nvPr/>
        </p:nvSpPr>
        <p:spPr bwMode="auto">
          <a:xfrm>
            <a:off x="549275" y="133350"/>
            <a:ext cx="6967538"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a:t>(3) </a:t>
            </a:r>
            <a:r>
              <a:rPr lang="zh-CN" altLang="en-US" sz="2000" b="1">
                <a:latin typeface="宋体" pitchFamily="2" charset="-122"/>
              </a:rPr>
              <a:t>用旋转法进行坐标转换</a:t>
            </a:r>
          </a:p>
        </p:txBody>
      </p:sp>
      <p:sp>
        <p:nvSpPr>
          <p:cNvPr id="64517" name="Text Box 1029"/>
          <p:cNvSpPr txBox="1">
            <a:spLocks noChangeArrowheads="1"/>
          </p:cNvSpPr>
          <p:nvPr/>
        </p:nvSpPr>
        <p:spPr bwMode="auto">
          <a:xfrm>
            <a:off x="231942" y="517422"/>
            <a:ext cx="8301038"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20000"/>
              </a:lnSpc>
              <a:spcBef>
                <a:spcPct val="50000"/>
              </a:spcBef>
            </a:pPr>
            <a:r>
              <a:rPr lang="zh-CN" altLang="en-US" sz="2000" b="1" dirty="0"/>
              <a:t>          评定平面度误差时，需将被测平面上各点对测量基准的坐标值（原坐标值）转换为</a:t>
            </a:r>
            <a:r>
              <a:rPr lang="zh-CN" altLang="en-US" sz="2000" b="1" dirty="0">
                <a:solidFill>
                  <a:srgbClr val="FF3300"/>
                </a:solidFill>
              </a:rPr>
              <a:t>各测点对评定基准(理想平面)的坐标值</a:t>
            </a:r>
            <a:r>
              <a:rPr lang="zh-CN" altLang="en-US" sz="2000" b="1" dirty="0"/>
              <a:t>。 </a:t>
            </a:r>
          </a:p>
        </p:txBody>
      </p:sp>
      <p:grpSp>
        <p:nvGrpSpPr>
          <p:cNvPr id="30730" name="Group 1031"/>
          <p:cNvGrpSpPr>
            <a:grpSpLocks/>
          </p:cNvGrpSpPr>
          <p:nvPr/>
        </p:nvGrpSpPr>
        <p:grpSpPr bwMode="auto">
          <a:xfrm>
            <a:off x="848380" y="2595564"/>
            <a:ext cx="7452094" cy="2224530"/>
            <a:chOff x="192" y="2256"/>
            <a:chExt cx="5406" cy="1662"/>
          </a:xfrm>
        </p:grpSpPr>
        <p:pic>
          <p:nvPicPr>
            <p:cNvPr id="30732" name="Picture 103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92" y="2256"/>
              <a:ext cx="5406" cy="16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0733" name="Line 1033"/>
            <p:cNvSpPr>
              <a:spLocks noChangeShapeType="1"/>
            </p:cNvSpPr>
            <p:nvPr/>
          </p:nvSpPr>
          <p:spPr bwMode="auto">
            <a:xfrm>
              <a:off x="192" y="2304"/>
              <a:ext cx="0" cy="1536"/>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524" name="Line 1036"/>
          <p:cNvSpPr>
            <a:spLocks noChangeShapeType="1"/>
          </p:cNvSpPr>
          <p:nvPr/>
        </p:nvSpPr>
        <p:spPr bwMode="auto">
          <a:xfrm flipV="1">
            <a:off x="958816" y="2625329"/>
            <a:ext cx="7078662" cy="53578"/>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4525" name="Line 1037"/>
          <p:cNvSpPr>
            <a:spLocks noChangeShapeType="1"/>
          </p:cNvSpPr>
          <p:nvPr/>
        </p:nvSpPr>
        <p:spPr bwMode="auto">
          <a:xfrm flipH="1">
            <a:off x="914920" y="2646593"/>
            <a:ext cx="31750" cy="2082403"/>
          </a:xfrm>
          <a:prstGeom prst="line">
            <a:avLst/>
          </a:prstGeom>
          <a:noFill/>
          <a:ln w="5715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6" name="Text Box 1038"/>
          <p:cNvSpPr txBox="1">
            <a:spLocks noChangeArrowheads="1"/>
          </p:cNvSpPr>
          <p:nvPr/>
        </p:nvSpPr>
        <p:spPr bwMode="auto">
          <a:xfrm>
            <a:off x="815197" y="2088524"/>
            <a:ext cx="7052892"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solidFill>
                  <a:srgbClr val="FF3300"/>
                </a:solidFill>
              </a:rPr>
              <a:t>各测点对评定基准的坐标值 </a:t>
            </a:r>
            <a:r>
              <a:rPr lang="zh-CN" altLang="en-US" sz="2000" dirty="0">
                <a:solidFill>
                  <a:srgbClr val="FF3300"/>
                </a:solidFill>
              </a:rPr>
              <a:t> </a:t>
            </a:r>
            <a:r>
              <a:rPr lang="zh-CN" altLang="en-US" sz="2000" b="1" dirty="0">
                <a:solidFill>
                  <a:srgbClr val="FF3300"/>
                </a:solidFill>
              </a:rPr>
              <a:t>= </a:t>
            </a:r>
            <a:r>
              <a:rPr lang="zh-CN" altLang="en-US" sz="2000" b="1" dirty="0"/>
              <a:t>原坐标值+旋转量（</a:t>
            </a:r>
            <a:r>
              <a:rPr lang="en-US" altLang="zh-CN" sz="2000" b="1" i="1" dirty="0"/>
              <a:t>P</a:t>
            </a:r>
            <a:r>
              <a:rPr lang="zh-CN" altLang="en-US" sz="2000" b="1" dirty="0"/>
              <a:t>、</a:t>
            </a:r>
            <a:r>
              <a:rPr lang="en-US" altLang="zh-CN" sz="2000" b="1" i="1" dirty="0"/>
              <a:t>Q</a:t>
            </a:r>
            <a:r>
              <a:rPr lang="zh-CN" altLang="en-US" sz="2000" b="1" dirty="0"/>
              <a:t>）</a:t>
            </a:r>
            <a:endParaRPr lang="en-US" altLang="zh-CN" sz="2000" b="1" dirty="0"/>
          </a:p>
        </p:txBody>
      </p:sp>
      <p:sp>
        <p:nvSpPr>
          <p:cNvPr id="64528" name="Text Box 1040"/>
          <p:cNvSpPr txBox="1">
            <a:spLocks noChangeArrowheads="1"/>
          </p:cNvSpPr>
          <p:nvPr/>
        </p:nvSpPr>
        <p:spPr bwMode="auto">
          <a:xfrm>
            <a:off x="300039" y="1303269"/>
            <a:ext cx="8478837"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以图中第一行为转轴旋转一次，再以左数第一列为转轴旋转一次，经过两次旋转后，即可得：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4516">
                                            <p:txEl>
                                              <p:pRg st="0" end="0"/>
                                            </p:txEl>
                                          </p:spTgt>
                                        </p:tgtEl>
                                        <p:attrNameLst>
                                          <p:attrName>style.visibility</p:attrName>
                                        </p:attrNameLst>
                                      </p:cBhvr>
                                      <p:to>
                                        <p:strVal val="visible"/>
                                      </p:to>
                                    </p:set>
                                    <p:animEffect transition="in" filter="wipe(left)">
                                      <p:cBhvr>
                                        <p:cTn id="7" dur="300"/>
                                        <p:tgtEl>
                                          <p:spTgt spid="645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4517"/>
                                        </p:tgtEl>
                                        <p:attrNameLst>
                                          <p:attrName>style.visibility</p:attrName>
                                        </p:attrNameLst>
                                      </p:cBhvr>
                                      <p:to>
                                        <p:strVal val="visible"/>
                                      </p:to>
                                    </p:set>
                                    <p:animEffect transition="in" filter="wipe(left)">
                                      <p:cBhvr>
                                        <p:cTn id="12" dur="300"/>
                                        <p:tgtEl>
                                          <p:spTgt spid="645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1" nodeType="clickEffect">
                                  <p:stCondLst>
                                    <p:cond delay="0"/>
                                  </p:stCondLst>
                                  <p:iterate type="wd">
                                    <p:tmPct val="0"/>
                                  </p:iterate>
                                  <p:childTnLst>
                                    <p:set>
                                      <p:cBhvr>
                                        <p:cTn id="16" dur="1" fill="hold">
                                          <p:stCondLst>
                                            <p:cond delay="0"/>
                                          </p:stCondLst>
                                        </p:cTn>
                                        <p:tgtEl>
                                          <p:spTgt spid="64528"/>
                                        </p:tgtEl>
                                        <p:attrNameLst>
                                          <p:attrName>style.visibility</p:attrName>
                                        </p:attrNameLst>
                                      </p:cBhvr>
                                      <p:to>
                                        <p:strVal val="visible"/>
                                      </p:to>
                                    </p:set>
                                    <p:animEffect transition="in" filter="wipe(left)">
                                      <p:cBhvr>
                                        <p:cTn id="17" dur="2000"/>
                                        <p:tgtEl>
                                          <p:spTgt spid="645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64524"/>
                                        </p:tgtEl>
                                        <p:attrNameLst>
                                          <p:attrName>style.visibility</p:attrName>
                                        </p:attrNameLst>
                                      </p:cBhvr>
                                      <p:to>
                                        <p:strVal val="visible"/>
                                      </p:to>
                                    </p:set>
                                    <p:anim calcmode="lin" valueType="num">
                                      <p:cBhvr>
                                        <p:cTn id="22" dur="500" fill="hold"/>
                                        <p:tgtEl>
                                          <p:spTgt spid="64524"/>
                                        </p:tgtEl>
                                        <p:attrNameLst>
                                          <p:attrName>ppt_x</p:attrName>
                                        </p:attrNameLst>
                                      </p:cBhvr>
                                      <p:tavLst>
                                        <p:tav tm="0">
                                          <p:val>
                                            <p:strVal val="#ppt_x-#ppt_w/2"/>
                                          </p:val>
                                        </p:tav>
                                        <p:tav tm="100000">
                                          <p:val>
                                            <p:strVal val="#ppt_x"/>
                                          </p:val>
                                        </p:tav>
                                      </p:tavLst>
                                    </p:anim>
                                    <p:anim calcmode="lin" valueType="num">
                                      <p:cBhvr>
                                        <p:cTn id="23" dur="500" fill="hold"/>
                                        <p:tgtEl>
                                          <p:spTgt spid="64524"/>
                                        </p:tgtEl>
                                        <p:attrNameLst>
                                          <p:attrName>ppt_y</p:attrName>
                                        </p:attrNameLst>
                                      </p:cBhvr>
                                      <p:tavLst>
                                        <p:tav tm="0">
                                          <p:val>
                                            <p:strVal val="#ppt_y"/>
                                          </p:val>
                                        </p:tav>
                                        <p:tav tm="100000">
                                          <p:val>
                                            <p:strVal val="#ppt_y"/>
                                          </p:val>
                                        </p:tav>
                                      </p:tavLst>
                                    </p:anim>
                                    <p:anim calcmode="lin" valueType="num">
                                      <p:cBhvr>
                                        <p:cTn id="24" dur="500" fill="hold"/>
                                        <p:tgtEl>
                                          <p:spTgt spid="64524"/>
                                        </p:tgtEl>
                                        <p:attrNameLst>
                                          <p:attrName>ppt_w</p:attrName>
                                        </p:attrNameLst>
                                      </p:cBhvr>
                                      <p:tavLst>
                                        <p:tav tm="0">
                                          <p:val>
                                            <p:fltVal val="0"/>
                                          </p:val>
                                        </p:tav>
                                        <p:tav tm="100000">
                                          <p:val>
                                            <p:strVal val="#ppt_w"/>
                                          </p:val>
                                        </p:tav>
                                      </p:tavLst>
                                    </p:anim>
                                    <p:anim calcmode="lin" valueType="num">
                                      <p:cBhvr>
                                        <p:cTn id="25" dur="500" fill="hold"/>
                                        <p:tgtEl>
                                          <p:spTgt spid="64524"/>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 fill="hold" grpId="0" nodeType="clickEffect">
                                  <p:stCondLst>
                                    <p:cond delay="0"/>
                                  </p:stCondLst>
                                  <p:childTnLst>
                                    <p:set>
                                      <p:cBhvr>
                                        <p:cTn id="29" dur="1" fill="hold">
                                          <p:stCondLst>
                                            <p:cond delay="0"/>
                                          </p:stCondLst>
                                        </p:cTn>
                                        <p:tgtEl>
                                          <p:spTgt spid="64525"/>
                                        </p:tgtEl>
                                        <p:attrNameLst>
                                          <p:attrName>style.visibility</p:attrName>
                                        </p:attrNameLst>
                                      </p:cBhvr>
                                      <p:to>
                                        <p:strVal val="visible"/>
                                      </p:to>
                                    </p:set>
                                    <p:anim calcmode="lin" valueType="num">
                                      <p:cBhvr>
                                        <p:cTn id="30" dur="500" fill="hold"/>
                                        <p:tgtEl>
                                          <p:spTgt spid="64525"/>
                                        </p:tgtEl>
                                        <p:attrNameLst>
                                          <p:attrName>ppt_x</p:attrName>
                                        </p:attrNameLst>
                                      </p:cBhvr>
                                      <p:tavLst>
                                        <p:tav tm="0">
                                          <p:val>
                                            <p:strVal val="#ppt_x"/>
                                          </p:val>
                                        </p:tav>
                                        <p:tav tm="100000">
                                          <p:val>
                                            <p:strVal val="#ppt_x"/>
                                          </p:val>
                                        </p:tav>
                                      </p:tavLst>
                                    </p:anim>
                                    <p:anim calcmode="lin" valueType="num">
                                      <p:cBhvr>
                                        <p:cTn id="31" dur="500" fill="hold"/>
                                        <p:tgtEl>
                                          <p:spTgt spid="64525"/>
                                        </p:tgtEl>
                                        <p:attrNameLst>
                                          <p:attrName>ppt_y</p:attrName>
                                        </p:attrNameLst>
                                      </p:cBhvr>
                                      <p:tavLst>
                                        <p:tav tm="0">
                                          <p:val>
                                            <p:strVal val="#ppt_y-#ppt_h/2"/>
                                          </p:val>
                                        </p:tav>
                                        <p:tav tm="100000">
                                          <p:val>
                                            <p:strVal val="#ppt_y"/>
                                          </p:val>
                                        </p:tav>
                                      </p:tavLst>
                                    </p:anim>
                                    <p:anim calcmode="lin" valueType="num">
                                      <p:cBhvr>
                                        <p:cTn id="32" dur="500" fill="hold"/>
                                        <p:tgtEl>
                                          <p:spTgt spid="64525"/>
                                        </p:tgtEl>
                                        <p:attrNameLst>
                                          <p:attrName>ppt_w</p:attrName>
                                        </p:attrNameLst>
                                      </p:cBhvr>
                                      <p:tavLst>
                                        <p:tav tm="0">
                                          <p:val>
                                            <p:strVal val="#ppt_w"/>
                                          </p:val>
                                        </p:tav>
                                        <p:tav tm="100000">
                                          <p:val>
                                            <p:strVal val="#ppt_w"/>
                                          </p:val>
                                        </p:tav>
                                      </p:tavLst>
                                    </p:anim>
                                    <p:anim calcmode="lin" valueType="num">
                                      <p:cBhvr>
                                        <p:cTn id="33" dur="500" fill="hold"/>
                                        <p:tgtEl>
                                          <p:spTgt spid="64525"/>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64526"/>
                                        </p:tgtEl>
                                        <p:attrNameLst>
                                          <p:attrName>style.visibility</p:attrName>
                                        </p:attrNameLst>
                                      </p:cBhvr>
                                      <p:to>
                                        <p:strVal val="visible"/>
                                      </p:to>
                                    </p:set>
                                    <p:animEffect transition="in" filter="wipe(left)">
                                      <p:cBhvr>
                                        <p:cTn id="38" dur="300"/>
                                        <p:tgtEl>
                                          <p:spTgt spid="6452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64528"/>
                                        </p:tgtEl>
                                        <p:attrNameLst>
                                          <p:attrName>style.visibility</p:attrName>
                                        </p:attrNameLst>
                                      </p:cBhvr>
                                      <p:to>
                                        <p:strVal val="visible"/>
                                      </p:to>
                                    </p:set>
                                    <p:animEffect transition="in" filter="wipe(left)">
                                      <p:cBhvr>
                                        <p:cTn id="43" dur="300"/>
                                        <p:tgtEl>
                                          <p:spTgt spid="64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uild="p" autoUpdateAnimBg="0"/>
      <p:bldP spid="64517" grpId="0" autoUpdateAnimBg="0"/>
      <p:bldP spid="64524" grpId="0" animBg="1"/>
      <p:bldP spid="64525" grpId="0" animBg="1"/>
      <p:bldP spid="64526" grpId="0" autoUpdateAnimBg="0"/>
      <p:bldP spid="64528" grpId="0" autoUpdateAnimBg="0"/>
      <p:bldP spid="6452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0A5D00B1-6C83-4777-A4DD-81EAF93C854C}" type="slidenum">
              <a:rPr kumimoji="0" lang="zh-CN" altLang="en-US" sz="2000" smtClean="0">
                <a:solidFill>
                  <a:srgbClr val="0000FF"/>
                </a:solidFill>
              </a:rPr>
              <a:pPr eaLnBrk="1" hangingPunct="1"/>
              <a:t>28</a:t>
            </a:fld>
            <a:endParaRPr kumimoji="0" lang="en-US" altLang="zh-CN" sz="2000">
              <a:solidFill>
                <a:srgbClr val="0000FF"/>
              </a:solidFill>
            </a:endParaRPr>
          </a:p>
        </p:txBody>
      </p:sp>
      <p:sp>
        <p:nvSpPr>
          <p:cNvPr id="18434" name="Text Box 2"/>
          <p:cNvSpPr txBox="1">
            <a:spLocks noChangeArrowheads="1"/>
          </p:cNvSpPr>
          <p:nvPr/>
        </p:nvSpPr>
        <p:spPr bwMode="auto">
          <a:xfrm>
            <a:off x="487364" y="116681"/>
            <a:ext cx="667702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en-US" altLang="zh-CN" b="1" dirty="0"/>
              <a:t>2</a:t>
            </a:r>
            <a:r>
              <a:rPr lang="zh-CN" altLang="en-US" b="1" dirty="0"/>
              <a:t>. </a:t>
            </a:r>
            <a:r>
              <a:rPr lang="zh-CN" altLang="en-US" b="1" dirty="0">
                <a:latin typeface="宋体" pitchFamily="2" charset="-122"/>
              </a:rPr>
              <a:t>圆度误差的评定准则</a:t>
            </a:r>
            <a:r>
              <a:rPr lang="zh-CN" altLang="en-US" b="1" dirty="0"/>
              <a:t> </a:t>
            </a:r>
          </a:p>
        </p:txBody>
      </p:sp>
      <p:sp>
        <p:nvSpPr>
          <p:cNvPr id="18435" name="Text Box 3"/>
          <p:cNvSpPr txBox="1">
            <a:spLocks noChangeArrowheads="1"/>
          </p:cNvSpPr>
          <p:nvPr/>
        </p:nvSpPr>
        <p:spPr bwMode="auto">
          <a:xfrm>
            <a:off x="177799" y="553082"/>
            <a:ext cx="5645150"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sz="2000" b="1" dirty="0"/>
              <a:t>（1）</a:t>
            </a:r>
            <a:r>
              <a:rPr lang="zh-CN" altLang="en-US" sz="2000" b="1" dirty="0">
                <a:latin typeface="宋体" pitchFamily="2" charset="-122"/>
              </a:rPr>
              <a:t>最小条件法：</a:t>
            </a:r>
            <a:endParaRPr lang="zh-CN" altLang="en-US" sz="2000" b="1" dirty="0"/>
          </a:p>
        </p:txBody>
      </p:sp>
      <p:sp>
        <p:nvSpPr>
          <p:cNvPr id="18436" name="Text Box 4"/>
          <p:cNvSpPr txBox="1">
            <a:spLocks noChangeArrowheads="1"/>
          </p:cNvSpPr>
          <p:nvPr/>
        </p:nvSpPr>
        <p:spPr bwMode="auto">
          <a:xfrm>
            <a:off x="271464" y="841489"/>
            <a:ext cx="8694737"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dirty="0">
                <a:latin typeface="宋体" pitchFamily="2" charset="-122"/>
              </a:rPr>
              <a:t>    </a:t>
            </a:r>
            <a:r>
              <a:rPr lang="zh-CN" altLang="en-US" sz="2000" b="1" dirty="0">
                <a:latin typeface="宋体" pitchFamily="2" charset="-122"/>
              </a:rPr>
              <a:t>两个理想的同心圆与被测实际圆至少呈</a:t>
            </a:r>
            <a:r>
              <a:rPr lang="zh-CN" altLang="en-US" sz="2000" b="1" dirty="0">
                <a:solidFill>
                  <a:srgbClr val="FF3300"/>
                </a:solidFill>
                <a:latin typeface="宋体" pitchFamily="2" charset="-122"/>
              </a:rPr>
              <a:t>四点相间接触</a:t>
            </a:r>
            <a:r>
              <a:rPr lang="en-US" altLang="zh-CN" sz="2000" b="1" dirty="0">
                <a:latin typeface="宋体" pitchFamily="2" charset="-122"/>
              </a:rPr>
              <a:t>(</a:t>
            </a:r>
            <a:r>
              <a:rPr lang="zh-CN" altLang="en-US" sz="2000" b="1" dirty="0">
                <a:latin typeface="宋体" pitchFamily="2" charset="-122"/>
              </a:rPr>
              <a:t>外</a:t>
            </a:r>
            <a:r>
              <a:rPr lang="en-US" altLang="zh-CN" sz="2000" b="1" dirty="0"/>
              <a:t>—</a:t>
            </a:r>
            <a:r>
              <a:rPr lang="zh-CN" altLang="en-US" sz="2000" b="1" dirty="0">
                <a:latin typeface="宋体" pitchFamily="2" charset="-122"/>
              </a:rPr>
              <a:t>内</a:t>
            </a:r>
            <a:r>
              <a:rPr lang="en-US" altLang="zh-CN" sz="2000" b="1" dirty="0"/>
              <a:t>—</a:t>
            </a:r>
            <a:r>
              <a:rPr lang="zh-CN" altLang="en-US" sz="2000" b="1" dirty="0">
                <a:latin typeface="宋体" pitchFamily="2" charset="-122"/>
              </a:rPr>
              <a:t>外</a:t>
            </a:r>
            <a:r>
              <a:rPr lang="en-US" altLang="zh-CN" sz="2000" b="1" dirty="0"/>
              <a:t>—</a:t>
            </a:r>
            <a:r>
              <a:rPr lang="zh-CN" altLang="en-US" sz="2000" b="1" dirty="0">
                <a:latin typeface="宋体" pitchFamily="2" charset="-122"/>
              </a:rPr>
              <a:t>内</a:t>
            </a:r>
            <a:r>
              <a:rPr lang="en-US" altLang="zh-CN" sz="2000" b="1" dirty="0">
                <a:latin typeface="宋体" pitchFamily="2" charset="-122"/>
              </a:rPr>
              <a:t>)</a:t>
            </a:r>
            <a:r>
              <a:rPr lang="zh-CN" altLang="en-US" sz="2000" b="1" dirty="0">
                <a:latin typeface="宋体" pitchFamily="2" charset="-122"/>
              </a:rPr>
              <a:t>，则这两同心圆之间的区域为最小区域，该两同心圆的半径差为</a:t>
            </a:r>
            <a:r>
              <a:rPr lang="zh-CN" altLang="en-US" sz="2000" b="1" dirty="0">
                <a:solidFill>
                  <a:srgbClr val="FF0000"/>
                </a:solidFill>
                <a:latin typeface="宋体" pitchFamily="2" charset="-122"/>
              </a:rPr>
              <a:t>符合最小条件</a:t>
            </a:r>
            <a:r>
              <a:rPr lang="zh-CN" altLang="en-US" sz="2000" b="1" dirty="0">
                <a:latin typeface="宋体" pitchFamily="2" charset="-122"/>
              </a:rPr>
              <a:t>的圆度误差。</a:t>
            </a:r>
            <a:endParaRPr lang="zh-CN" altLang="en-US" sz="2000" b="1" dirty="0"/>
          </a:p>
        </p:txBody>
      </p:sp>
      <p:sp>
        <p:nvSpPr>
          <p:cNvPr id="18507" name="Line 75"/>
          <p:cNvSpPr>
            <a:spLocks noChangeShapeType="1"/>
          </p:cNvSpPr>
          <p:nvPr/>
        </p:nvSpPr>
        <p:spPr bwMode="auto">
          <a:xfrm>
            <a:off x="4518024" y="4154668"/>
            <a:ext cx="2159000"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508" name="Line 76"/>
          <p:cNvSpPr>
            <a:spLocks noChangeShapeType="1"/>
          </p:cNvSpPr>
          <p:nvPr/>
        </p:nvSpPr>
        <p:spPr bwMode="auto">
          <a:xfrm>
            <a:off x="4503737" y="4483281"/>
            <a:ext cx="2159000"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509" name="Line 77"/>
          <p:cNvSpPr>
            <a:spLocks noChangeShapeType="1"/>
          </p:cNvSpPr>
          <p:nvPr/>
        </p:nvSpPr>
        <p:spPr bwMode="auto">
          <a:xfrm>
            <a:off x="6359524" y="3671274"/>
            <a:ext cx="0" cy="472679"/>
          </a:xfrm>
          <a:prstGeom prst="line">
            <a:avLst/>
          </a:prstGeom>
          <a:noFill/>
          <a:ln w="38100">
            <a:solidFill>
              <a:srgbClr val="FF33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510" name="Line 78"/>
          <p:cNvSpPr>
            <a:spLocks noChangeShapeType="1"/>
          </p:cNvSpPr>
          <p:nvPr/>
        </p:nvSpPr>
        <p:spPr bwMode="auto">
          <a:xfrm>
            <a:off x="6343649" y="4472565"/>
            <a:ext cx="0" cy="427434"/>
          </a:xfrm>
          <a:prstGeom prst="line">
            <a:avLst/>
          </a:prstGeom>
          <a:noFill/>
          <a:ln w="38100">
            <a:solidFill>
              <a:srgbClr val="FF33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512" name="AutoShape 80"/>
          <p:cNvSpPr>
            <a:spLocks noChangeArrowheads="1"/>
          </p:cNvSpPr>
          <p:nvPr/>
        </p:nvSpPr>
        <p:spPr bwMode="auto">
          <a:xfrm>
            <a:off x="6457950" y="2284196"/>
            <a:ext cx="1770063" cy="717947"/>
          </a:xfrm>
          <a:prstGeom prst="wedgeEllipseCallout">
            <a:avLst>
              <a:gd name="adj1" fmla="val -48384"/>
              <a:gd name="adj2" fmla="val 225125"/>
            </a:avLst>
          </a:prstGeom>
          <a:solidFill>
            <a:srgbClr val="FFFF00"/>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t>圆度</a:t>
            </a:r>
          </a:p>
          <a:p>
            <a:r>
              <a:rPr lang="zh-CN" altLang="en-US" sz="2000" b="1"/>
              <a:t>误差</a:t>
            </a:r>
          </a:p>
        </p:txBody>
      </p:sp>
      <p:grpSp>
        <p:nvGrpSpPr>
          <p:cNvPr id="2" name="Group 90"/>
          <p:cNvGrpSpPr>
            <a:grpSpLocks/>
          </p:cNvGrpSpPr>
          <p:nvPr/>
        </p:nvGrpSpPr>
        <p:grpSpPr bwMode="auto">
          <a:xfrm>
            <a:off x="2924174" y="2071074"/>
            <a:ext cx="4124325" cy="2800350"/>
            <a:chOff x="1650" y="1522"/>
            <a:chExt cx="2400" cy="2352"/>
          </a:xfrm>
        </p:grpSpPr>
        <p:grpSp>
          <p:nvGrpSpPr>
            <p:cNvPr id="4" name="Group 18"/>
            <p:cNvGrpSpPr>
              <a:grpSpLocks/>
            </p:cNvGrpSpPr>
            <p:nvPr/>
          </p:nvGrpSpPr>
          <p:grpSpPr bwMode="auto">
            <a:xfrm>
              <a:off x="1650" y="1522"/>
              <a:ext cx="2400" cy="2352"/>
              <a:chOff x="2832" y="0"/>
              <a:chExt cx="2400" cy="2352"/>
            </a:xfrm>
          </p:grpSpPr>
          <p:pic>
            <p:nvPicPr>
              <p:cNvPr id="34837" name="Picture 6"/>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832" y="0"/>
                <a:ext cx="1987" cy="2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4838" name="Line 8"/>
              <p:cNvSpPr>
                <a:spLocks noChangeShapeType="1"/>
              </p:cNvSpPr>
              <p:nvPr/>
            </p:nvSpPr>
            <p:spPr bwMode="auto">
              <a:xfrm>
                <a:off x="3840" y="1752"/>
                <a:ext cx="13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839" name="Line 9"/>
              <p:cNvSpPr>
                <a:spLocks noChangeShapeType="1"/>
              </p:cNvSpPr>
              <p:nvPr/>
            </p:nvSpPr>
            <p:spPr bwMode="auto">
              <a:xfrm>
                <a:off x="3840" y="2040"/>
                <a:ext cx="13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840" name="Oval 12"/>
              <p:cNvSpPr>
                <a:spLocks noChangeArrowheads="1"/>
              </p:cNvSpPr>
              <p:nvPr/>
            </p:nvSpPr>
            <p:spPr bwMode="auto">
              <a:xfrm>
                <a:off x="3792" y="1728"/>
                <a:ext cx="48" cy="4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841" name="Oval 13"/>
              <p:cNvSpPr>
                <a:spLocks noChangeArrowheads="1"/>
              </p:cNvSpPr>
              <p:nvPr/>
            </p:nvSpPr>
            <p:spPr bwMode="auto">
              <a:xfrm>
                <a:off x="3792" y="2016"/>
                <a:ext cx="48" cy="48"/>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842" name="Line 14"/>
              <p:cNvSpPr>
                <a:spLocks noChangeShapeType="1"/>
              </p:cNvSpPr>
              <p:nvPr/>
            </p:nvSpPr>
            <p:spPr bwMode="auto">
              <a:xfrm>
                <a:off x="4992" y="1440"/>
                <a:ext cx="0" cy="33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843" name="Line 15"/>
              <p:cNvSpPr>
                <a:spLocks noChangeShapeType="1"/>
              </p:cNvSpPr>
              <p:nvPr/>
            </p:nvSpPr>
            <p:spPr bwMode="auto">
              <a:xfrm rot="10800000">
                <a:off x="4992" y="2016"/>
                <a:ext cx="0" cy="336"/>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844" name="Text Box 17"/>
              <p:cNvSpPr txBox="1">
                <a:spLocks noChangeArrowheads="1"/>
              </p:cNvSpPr>
              <p:nvPr/>
            </p:nvSpPr>
            <p:spPr bwMode="auto">
              <a:xfrm>
                <a:off x="4800" y="1728"/>
                <a:ext cx="288" cy="33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en-US" altLang="zh-CN" sz="2000" i="1" dirty="0">
                    <a:latin typeface="宋体" pitchFamily="2" charset="-122"/>
                  </a:rPr>
                  <a:t>f</a:t>
                </a:r>
                <a:r>
                  <a:rPr lang="en-US" altLang="zh-CN" sz="2000" dirty="0">
                    <a:latin typeface="宋体" pitchFamily="2" charset="-122"/>
                  </a:rPr>
                  <a:t>。</a:t>
                </a:r>
                <a:endParaRPr lang="zh-CN" altLang="en-US" sz="2000" dirty="0">
                  <a:latin typeface="宋体" pitchFamily="2" charset="-122"/>
                </a:endParaRPr>
              </a:p>
            </p:txBody>
          </p:sp>
        </p:grpSp>
        <p:sp>
          <p:nvSpPr>
            <p:cNvPr id="34833" name="Oval 81"/>
            <p:cNvSpPr>
              <a:spLocks noChangeArrowheads="1"/>
            </p:cNvSpPr>
            <p:nvPr/>
          </p:nvSpPr>
          <p:spPr bwMode="auto">
            <a:xfrm flipH="1">
              <a:off x="2557" y="3454"/>
              <a:ext cx="154" cy="174"/>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834" name="Oval 82"/>
            <p:cNvSpPr>
              <a:spLocks noChangeArrowheads="1"/>
            </p:cNvSpPr>
            <p:nvPr/>
          </p:nvSpPr>
          <p:spPr bwMode="auto">
            <a:xfrm flipH="1">
              <a:off x="2570" y="1633"/>
              <a:ext cx="154" cy="174"/>
            </a:xfrm>
            <a:prstGeom prst="ellipse">
              <a:avLst/>
            </a:prstGeom>
            <a:solidFill>
              <a:srgbClr val="FF0066"/>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8518" name="AutoShape 86"/>
          <p:cNvSpPr>
            <a:spLocks noChangeArrowheads="1"/>
          </p:cNvSpPr>
          <p:nvPr/>
        </p:nvSpPr>
        <p:spPr bwMode="auto">
          <a:xfrm>
            <a:off x="1276349" y="2022259"/>
            <a:ext cx="1263650" cy="740569"/>
          </a:xfrm>
          <a:prstGeom prst="wedgeRoundRectCallout">
            <a:avLst>
              <a:gd name="adj1" fmla="val 106157"/>
              <a:gd name="adj2" fmla="val 63824"/>
              <a:gd name="adj3" fmla="val 16667"/>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solidFill>
                  <a:srgbClr val="FF0000"/>
                </a:solidFill>
              </a:rPr>
              <a:t>实际圆</a:t>
            </a:r>
          </a:p>
        </p:txBody>
      </p:sp>
      <p:grpSp>
        <p:nvGrpSpPr>
          <p:cNvPr id="5" name="Group 89"/>
          <p:cNvGrpSpPr>
            <a:grpSpLocks/>
          </p:cNvGrpSpPr>
          <p:nvPr/>
        </p:nvGrpSpPr>
        <p:grpSpPr bwMode="auto">
          <a:xfrm>
            <a:off x="950912" y="3427197"/>
            <a:ext cx="2474912" cy="978694"/>
            <a:chOff x="407" y="2661"/>
            <a:chExt cx="1559" cy="822"/>
          </a:xfrm>
        </p:grpSpPr>
        <p:sp>
          <p:nvSpPr>
            <p:cNvPr id="34830" name="AutoShape 87"/>
            <p:cNvSpPr>
              <a:spLocks/>
            </p:cNvSpPr>
            <p:nvPr/>
          </p:nvSpPr>
          <p:spPr bwMode="auto">
            <a:xfrm>
              <a:off x="407" y="2661"/>
              <a:ext cx="933" cy="822"/>
            </a:xfrm>
            <a:prstGeom prst="borderCallout1">
              <a:avLst>
                <a:gd name="adj1" fmla="val 8759"/>
                <a:gd name="adj2" fmla="val 105144"/>
                <a:gd name="adj3" fmla="val 44648"/>
                <a:gd name="adj4" fmla="val 182528"/>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t>两个</a:t>
              </a:r>
            </a:p>
            <a:p>
              <a:r>
                <a:rPr lang="zh-CN" altLang="en-US" sz="2000" b="1"/>
                <a:t>同心圆</a:t>
              </a:r>
            </a:p>
          </p:txBody>
        </p:sp>
        <p:sp>
          <p:nvSpPr>
            <p:cNvPr id="34831" name="Line 88"/>
            <p:cNvSpPr>
              <a:spLocks noChangeShapeType="1"/>
            </p:cNvSpPr>
            <p:nvPr/>
          </p:nvSpPr>
          <p:spPr bwMode="auto">
            <a:xfrm>
              <a:off x="1381" y="3255"/>
              <a:ext cx="585" cy="18"/>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cxnSp>
        <p:nvCxnSpPr>
          <p:cNvPr id="27" name="直接连接符 26">
            <a:extLst>
              <a:ext uri="{FF2B5EF4-FFF2-40B4-BE49-F238E27FC236}">
                <a16:creationId xmlns="" xmlns:a16="http://schemas.microsoft.com/office/drawing/2014/main" id="{AFBAEADB-A33C-4CDE-8044-26339C8666FB}"/>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wipe(left)">
                                      <p:cBhvr>
                                        <p:cTn id="7" dur="300"/>
                                        <p:tgtEl>
                                          <p:spTgt spid="184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8435">
                                            <p:txEl>
                                              <p:pRg st="0" end="0"/>
                                            </p:txEl>
                                          </p:spTgt>
                                        </p:tgtEl>
                                        <p:attrNameLst>
                                          <p:attrName>style.visibility</p:attrName>
                                        </p:attrNameLst>
                                      </p:cBhvr>
                                      <p:to>
                                        <p:strVal val="visible"/>
                                      </p:to>
                                    </p:set>
                                    <p:animEffect transition="in" filter="wipe(left)">
                                      <p:cBhvr>
                                        <p:cTn id="12" dur="300"/>
                                        <p:tgtEl>
                                          <p:spTgt spid="1843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8436"/>
                                        </p:tgtEl>
                                        <p:attrNameLst>
                                          <p:attrName>style.visibility</p:attrName>
                                        </p:attrNameLst>
                                      </p:cBhvr>
                                      <p:to>
                                        <p:strVal val="visible"/>
                                      </p:to>
                                    </p:set>
                                    <p:animEffect transition="in" filter="wipe(left)">
                                      <p:cBhvr>
                                        <p:cTn id="17" dur="300"/>
                                        <p:tgtEl>
                                          <p:spTgt spid="184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8518"/>
                                        </p:tgtEl>
                                        <p:attrNameLst>
                                          <p:attrName>style.visibility</p:attrName>
                                        </p:attrNameLst>
                                      </p:cBhvr>
                                      <p:to>
                                        <p:strVal val="visible"/>
                                      </p:to>
                                    </p:set>
                                    <p:anim calcmode="lin" valueType="num">
                                      <p:cBhvr>
                                        <p:cTn id="28" dur="500" fill="hold"/>
                                        <p:tgtEl>
                                          <p:spTgt spid="18518"/>
                                        </p:tgtEl>
                                        <p:attrNameLst>
                                          <p:attrName>ppt_x</p:attrName>
                                        </p:attrNameLst>
                                      </p:cBhvr>
                                      <p:tavLst>
                                        <p:tav tm="0">
                                          <p:val>
                                            <p:strVal val="#ppt_x-#ppt_w/2"/>
                                          </p:val>
                                        </p:tav>
                                        <p:tav tm="100000">
                                          <p:val>
                                            <p:strVal val="#ppt_x"/>
                                          </p:val>
                                        </p:tav>
                                      </p:tavLst>
                                    </p:anim>
                                    <p:anim calcmode="lin" valueType="num">
                                      <p:cBhvr>
                                        <p:cTn id="29" dur="500" fill="hold"/>
                                        <p:tgtEl>
                                          <p:spTgt spid="18518"/>
                                        </p:tgtEl>
                                        <p:attrNameLst>
                                          <p:attrName>ppt_y</p:attrName>
                                        </p:attrNameLst>
                                      </p:cBhvr>
                                      <p:tavLst>
                                        <p:tav tm="0">
                                          <p:val>
                                            <p:strVal val="#ppt_y"/>
                                          </p:val>
                                        </p:tav>
                                        <p:tav tm="100000">
                                          <p:val>
                                            <p:strVal val="#ppt_y"/>
                                          </p:val>
                                        </p:tav>
                                      </p:tavLst>
                                    </p:anim>
                                    <p:anim calcmode="lin" valueType="num">
                                      <p:cBhvr>
                                        <p:cTn id="30" dur="500" fill="hold"/>
                                        <p:tgtEl>
                                          <p:spTgt spid="18518"/>
                                        </p:tgtEl>
                                        <p:attrNameLst>
                                          <p:attrName>ppt_w</p:attrName>
                                        </p:attrNameLst>
                                      </p:cBhvr>
                                      <p:tavLst>
                                        <p:tav tm="0">
                                          <p:val>
                                            <p:fltVal val="0"/>
                                          </p:val>
                                        </p:tav>
                                        <p:tav tm="100000">
                                          <p:val>
                                            <p:strVal val="#ppt_w"/>
                                          </p:val>
                                        </p:tav>
                                      </p:tavLst>
                                    </p:anim>
                                    <p:anim calcmode="lin" valueType="num">
                                      <p:cBhvr>
                                        <p:cTn id="31" dur="500" fill="hold"/>
                                        <p:tgtEl>
                                          <p:spTgt spid="18518"/>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ppt_x</p:attrName>
                                        </p:attrNameLst>
                                      </p:cBhvr>
                                      <p:tavLst>
                                        <p:tav tm="0">
                                          <p:val>
                                            <p:strVal val="#ppt_x-#ppt_w/2"/>
                                          </p:val>
                                        </p:tav>
                                        <p:tav tm="100000">
                                          <p:val>
                                            <p:strVal val="#ppt_x"/>
                                          </p:val>
                                        </p:tav>
                                      </p:tavLst>
                                    </p:anim>
                                    <p:anim calcmode="lin" valueType="num">
                                      <p:cBhvr>
                                        <p:cTn id="37" dur="500" fill="hold"/>
                                        <p:tgtEl>
                                          <p:spTgt spid="5"/>
                                        </p:tgtEl>
                                        <p:attrNameLst>
                                          <p:attrName>ppt_y</p:attrName>
                                        </p:attrNameLst>
                                      </p:cBhvr>
                                      <p:tavLst>
                                        <p:tav tm="0">
                                          <p:val>
                                            <p:strVal val="#ppt_y"/>
                                          </p:val>
                                        </p:tav>
                                        <p:tav tm="100000">
                                          <p:val>
                                            <p:strVal val="#ppt_y"/>
                                          </p:val>
                                        </p:tav>
                                      </p:tavLst>
                                    </p:anim>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18507"/>
                                        </p:tgtEl>
                                        <p:attrNameLst>
                                          <p:attrName>style.visibility</p:attrName>
                                        </p:attrNameLst>
                                      </p:cBhvr>
                                      <p:to>
                                        <p:strVal val="visible"/>
                                      </p:to>
                                    </p:set>
                                    <p:anim calcmode="lin" valueType="num">
                                      <p:cBhvr>
                                        <p:cTn id="44" dur="500" fill="hold"/>
                                        <p:tgtEl>
                                          <p:spTgt spid="18507"/>
                                        </p:tgtEl>
                                        <p:attrNameLst>
                                          <p:attrName>ppt_x</p:attrName>
                                        </p:attrNameLst>
                                      </p:cBhvr>
                                      <p:tavLst>
                                        <p:tav tm="0">
                                          <p:val>
                                            <p:strVal val="#ppt_x-#ppt_w/2"/>
                                          </p:val>
                                        </p:tav>
                                        <p:tav tm="100000">
                                          <p:val>
                                            <p:strVal val="#ppt_x"/>
                                          </p:val>
                                        </p:tav>
                                      </p:tavLst>
                                    </p:anim>
                                    <p:anim calcmode="lin" valueType="num">
                                      <p:cBhvr>
                                        <p:cTn id="45" dur="500" fill="hold"/>
                                        <p:tgtEl>
                                          <p:spTgt spid="18507"/>
                                        </p:tgtEl>
                                        <p:attrNameLst>
                                          <p:attrName>ppt_y</p:attrName>
                                        </p:attrNameLst>
                                      </p:cBhvr>
                                      <p:tavLst>
                                        <p:tav tm="0">
                                          <p:val>
                                            <p:strVal val="#ppt_y"/>
                                          </p:val>
                                        </p:tav>
                                        <p:tav tm="100000">
                                          <p:val>
                                            <p:strVal val="#ppt_y"/>
                                          </p:val>
                                        </p:tav>
                                      </p:tavLst>
                                    </p:anim>
                                    <p:anim calcmode="lin" valueType="num">
                                      <p:cBhvr>
                                        <p:cTn id="46" dur="500" fill="hold"/>
                                        <p:tgtEl>
                                          <p:spTgt spid="18507"/>
                                        </p:tgtEl>
                                        <p:attrNameLst>
                                          <p:attrName>ppt_w</p:attrName>
                                        </p:attrNameLst>
                                      </p:cBhvr>
                                      <p:tavLst>
                                        <p:tav tm="0">
                                          <p:val>
                                            <p:fltVal val="0"/>
                                          </p:val>
                                        </p:tav>
                                        <p:tav tm="100000">
                                          <p:val>
                                            <p:strVal val="#ppt_w"/>
                                          </p:val>
                                        </p:tav>
                                      </p:tavLst>
                                    </p:anim>
                                    <p:anim calcmode="lin" valueType="num">
                                      <p:cBhvr>
                                        <p:cTn id="47" dur="500" fill="hold"/>
                                        <p:tgtEl>
                                          <p:spTgt spid="18507"/>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18508"/>
                                        </p:tgtEl>
                                        <p:attrNameLst>
                                          <p:attrName>style.visibility</p:attrName>
                                        </p:attrNameLst>
                                      </p:cBhvr>
                                      <p:to>
                                        <p:strVal val="visible"/>
                                      </p:to>
                                    </p:set>
                                    <p:anim calcmode="lin" valueType="num">
                                      <p:cBhvr>
                                        <p:cTn id="52" dur="500" fill="hold"/>
                                        <p:tgtEl>
                                          <p:spTgt spid="18508"/>
                                        </p:tgtEl>
                                        <p:attrNameLst>
                                          <p:attrName>ppt_x</p:attrName>
                                        </p:attrNameLst>
                                      </p:cBhvr>
                                      <p:tavLst>
                                        <p:tav tm="0">
                                          <p:val>
                                            <p:strVal val="#ppt_x-#ppt_w/2"/>
                                          </p:val>
                                        </p:tav>
                                        <p:tav tm="100000">
                                          <p:val>
                                            <p:strVal val="#ppt_x"/>
                                          </p:val>
                                        </p:tav>
                                      </p:tavLst>
                                    </p:anim>
                                    <p:anim calcmode="lin" valueType="num">
                                      <p:cBhvr>
                                        <p:cTn id="53" dur="500" fill="hold"/>
                                        <p:tgtEl>
                                          <p:spTgt spid="18508"/>
                                        </p:tgtEl>
                                        <p:attrNameLst>
                                          <p:attrName>ppt_y</p:attrName>
                                        </p:attrNameLst>
                                      </p:cBhvr>
                                      <p:tavLst>
                                        <p:tav tm="0">
                                          <p:val>
                                            <p:strVal val="#ppt_y"/>
                                          </p:val>
                                        </p:tav>
                                        <p:tav tm="100000">
                                          <p:val>
                                            <p:strVal val="#ppt_y"/>
                                          </p:val>
                                        </p:tav>
                                      </p:tavLst>
                                    </p:anim>
                                    <p:anim calcmode="lin" valueType="num">
                                      <p:cBhvr>
                                        <p:cTn id="54" dur="500" fill="hold"/>
                                        <p:tgtEl>
                                          <p:spTgt spid="18508"/>
                                        </p:tgtEl>
                                        <p:attrNameLst>
                                          <p:attrName>ppt_w</p:attrName>
                                        </p:attrNameLst>
                                      </p:cBhvr>
                                      <p:tavLst>
                                        <p:tav tm="0">
                                          <p:val>
                                            <p:fltVal val="0"/>
                                          </p:val>
                                        </p:tav>
                                        <p:tav tm="100000">
                                          <p:val>
                                            <p:strVal val="#ppt_w"/>
                                          </p:val>
                                        </p:tav>
                                      </p:tavLst>
                                    </p:anim>
                                    <p:anim calcmode="lin" valueType="num">
                                      <p:cBhvr>
                                        <p:cTn id="55" dur="500" fill="hold"/>
                                        <p:tgtEl>
                                          <p:spTgt spid="18508"/>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1" fill="hold" grpId="0" nodeType="clickEffect">
                                  <p:stCondLst>
                                    <p:cond delay="0"/>
                                  </p:stCondLst>
                                  <p:childTnLst>
                                    <p:set>
                                      <p:cBhvr>
                                        <p:cTn id="59" dur="1" fill="hold">
                                          <p:stCondLst>
                                            <p:cond delay="0"/>
                                          </p:stCondLst>
                                        </p:cTn>
                                        <p:tgtEl>
                                          <p:spTgt spid="18509"/>
                                        </p:tgtEl>
                                        <p:attrNameLst>
                                          <p:attrName>style.visibility</p:attrName>
                                        </p:attrNameLst>
                                      </p:cBhvr>
                                      <p:to>
                                        <p:strVal val="visible"/>
                                      </p:to>
                                    </p:set>
                                    <p:anim calcmode="lin" valueType="num">
                                      <p:cBhvr>
                                        <p:cTn id="60" dur="500" fill="hold"/>
                                        <p:tgtEl>
                                          <p:spTgt spid="18509"/>
                                        </p:tgtEl>
                                        <p:attrNameLst>
                                          <p:attrName>ppt_x</p:attrName>
                                        </p:attrNameLst>
                                      </p:cBhvr>
                                      <p:tavLst>
                                        <p:tav tm="0">
                                          <p:val>
                                            <p:strVal val="#ppt_x"/>
                                          </p:val>
                                        </p:tav>
                                        <p:tav tm="100000">
                                          <p:val>
                                            <p:strVal val="#ppt_x"/>
                                          </p:val>
                                        </p:tav>
                                      </p:tavLst>
                                    </p:anim>
                                    <p:anim calcmode="lin" valueType="num">
                                      <p:cBhvr>
                                        <p:cTn id="61" dur="500" fill="hold"/>
                                        <p:tgtEl>
                                          <p:spTgt spid="18509"/>
                                        </p:tgtEl>
                                        <p:attrNameLst>
                                          <p:attrName>ppt_y</p:attrName>
                                        </p:attrNameLst>
                                      </p:cBhvr>
                                      <p:tavLst>
                                        <p:tav tm="0">
                                          <p:val>
                                            <p:strVal val="#ppt_y-#ppt_h/2"/>
                                          </p:val>
                                        </p:tav>
                                        <p:tav tm="100000">
                                          <p:val>
                                            <p:strVal val="#ppt_y"/>
                                          </p:val>
                                        </p:tav>
                                      </p:tavLst>
                                    </p:anim>
                                    <p:anim calcmode="lin" valueType="num">
                                      <p:cBhvr>
                                        <p:cTn id="62" dur="500" fill="hold"/>
                                        <p:tgtEl>
                                          <p:spTgt spid="18509"/>
                                        </p:tgtEl>
                                        <p:attrNameLst>
                                          <p:attrName>ppt_w</p:attrName>
                                        </p:attrNameLst>
                                      </p:cBhvr>
                                      <p:tavLst>
                                        <p:tav tm="0">
                                          <p:val>
                                            <p:strVal val="#ppt_w"/>
                                          </p:val>
                                        </p:tav>
                                        <p:tav tm="100000">
                                          <p:val>
                                            <p:strVal val="#ppt_w"/>
                                          </p:val>
                                        </p:tav>
                                      </p:tavLst>
                                    </p:anim>
                                    <p:anim calcmode="lin" valueType="num">
                                      <p:cBhvr>
                                        <p:cTn id="63" dur="500" fill="hold"/>
                                        <p:tgtEl>
                                          <p:spTgt spid="18509"/>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4" fill="hold" grpId="0" nodeType="clickEffect">
                                  <p:stCondLst>
                                    <p:cond delay="0"/>
                                  </p:stCondLst>
                                  <p:childTnLst>
                                    <p:set>
                                      <p:cBhvr>
                                        <p:cTn id="67" dur="1" fill="hold">
                                          <p:stCondLst>
                                            <p:cond delay="0"/>
                                          </p:stCondLst>
                                        </p:cTn>
                                        <p:tgtEl>
                                          <p:spTgt spid="18510"/>
                                        </p:tgtEl>
                                        <p:attrNameLst>
                                          <p:attrName>style.visibility</p:attrName>
                                        </p:attrNameLst>
                                      </p:cBhvr>
                                      <p:to>
                                        <p:strVal val="visible"/>
                                      </p:to>
                                    </p:set>
                                    <p:anim calcmode="lin" valueType="num">
                                      <p:cBhvr>
                                        <p:cTn id="68" dur="500" fill="hold"/>
                                        <p:tgtEl>
                                          <p:spTgt spid="18510"/>
                                        </p:tgtEl>
                                        <p:attrNameLst>
                                          <p:attrName>ppt_x</p:attrName>
                                        </p:attrNameLst>
                                      </p:cBhvr>
                                      <p:tavLst>
                                        <p:tav tm="0">
                                          <p:val>
                                            <p:strVal val="#ppt_x"/>
                                          </p:val>
                                        </p:tav>
                                        <p:tav tm="100000">
                                          <p:val>
                                            <p:strVal val="#ppt_x"/>
                                          </p:val>
                                        </p:tav>
                                      </p:tavLst>
                                    </p:anim>
                                    <p:anim calcmode="lin" valueType="num">
                                      <p:cBhvr>
                                        <p:cTn id="69" dur="500" fill="hold"/>
                                        <p:tgtEl>
                                          <p:spTgt spid="18510"/>
                                        </p:tgtEl>
                                        <p:attrNameLst>
                                          <p:attrName>ppt_y</p:attrName>
                                        </p:attrNameLst>
                                      </p:cBhvr>
                                      <p:tavLst>
                                        <p:tav tm="0">
                                          <p:val>
                                            <p:strVal val="#ppt_y+#ppt_h/2"/>
                                          </p:val>
                                        </p:tav>
                                        <p:tav tm="100000">
                                          <p:val>
                                            <p:strVal val="#ppt_y"/>
                                          </p:val>
                                        </p:tav>
                                      </p:tavLst>
                                    </p:anim>
                                    <p:anim calcmode="lin" valueType="num">
                                      <p:cBhvr>
                                        <p:cTn id="70" dur="500" fill="hold"/>
                                        <p:tgtEl>
                                          <p:spTgt spid="18510"/>
                                        </p:tgtEl>
                                        <p:attrNameLst>
                                          <p:attrName>ppt_w</p:attrName>
                                        </p:attrNameLst>
                                      </p:cBhvr>
                                      <p:tavLst>
                                        <p:tav tm="0">
                                          <p:val>
                                            <p:strVal val="#ppt_w"/>
                                          </p:val>
                                        </p:tav>
                                        <p:tav tm="100000">
                                          <p:val>
                                            <p:strVal val="#ppt_w"/>
                                          </p:val>
                                        </p:tav>
                                      </p:tavLst>
                                    </p:anim>
                                    <p:anim calcmode="lin" valueType="num">
                                      <p:cBhvr>
                                        <p:cTn id="71" dur="500" fill="hold"/>
                                        <p:tgtEl>
                                          <p:spTgt spid="18510"/>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1" fill="hold" grpId="0" nodeType="clickEffect">
                                  <p:stCondLst>
                                    <p:cond delay="0"/>
                                  </p:stCondLst>
                                  <p:childTnLst>
                                    <p:set>
                                      <p:cBhvr>
                                        <p:cTn id="75" dur="1" fill="hold">
                                          <p:stCondLst>
                                            <p:cond delay="0"/>
                                          </p:stCondLst>
                                        </p:cTn>
                                        <p:tgtEl>
                                          <p:spTgt spid="18512"/>
                                        </p:tgtEl>
                                        <p:attrNameLst>
                                          <p:attrName>style.visibility</p:attrName>
                                        </p:attrNameLst>
                                      </p:cBhvr>
                                      <p:to>
                                        <p:strVal val="visible"/>
                                      </p:to>
                                    </p:set>
                                    <p:anim calcmode="lin" valueType="num">
                                      <p:cBhvr>
                                        <p:cTn id="76" dur="500" fill="hold"/>
                                        <p:tgtEl>
                                          <p:spTgt spid="18512"/>
                                        </p:tgtEl>
                                        <p:attrNameLst>
                                          <p:attrName>ppt_x</p:attrName>
                                        </p:attrNameLst>
                                      </p:cBhvr>
                                      <p:tavLst>
                                        <p:tav tm="0">
                                          <p:val>
                                            <p:strVal val="#ppt_x"/>
                                          </p:val>
                                        </p:tav>
                                        <p:tav tm="100000">
                                          <p:val>
                                            <p:strVal val="#ppt_x"/>
                                          </p:val>
                                        </p:tav>
                                      </p:tavLst>
                                    </p:anim>
                                    <p:anim calcmode="lin" valueType="num">
                                      <p:cBhvr>
                                        <p:cTn id="77" dur="500" fill="hold"/>
                                        <p:tgtEl>
                                          <p:spTgt spid="18512"/>
                                        </p:tgtEl>
                                        <p:attrNameLst>
                                          <p:attrName>ppt_y</p:attrName>
                                        </p:attrNameLst>
                                      </p:cBhvr>
                                      <p:tavLst>
                                        <p:tav tm="0">
                                          <p:val>
                                            <p:strVal val="#ppt_y-#ppt_h/2"/>
                                          </p:val>
                                        </p:tav>
                                        <p:tav tm="100000">
                                          <p:val>
                                            <p:strVal val="#ppt_y"/>
                                          </p:val>
                                        </p:tav>
                                      </p:tavLst>
                                    </p:anim>
                                    <p:anim calcmode="lin" valueType="num">
                                      <p:cBhvr>
                                        <p:cTn id="78" dur="500" fill="hold"/>
                                        <p:tgtEl>
                                          <p:spTgt spid="18512"/>
                                        </p:tgtEl>
                                        <p:attrNameLst>
                                          <p:attrName>ppt_w</p:attrName>
                                        </p:attrNameLst>
                                      </p:cBhvr>
                                      <p:tavLst>
                                        <p:tav tm="0">
                                          <p:val>
                                            <p:strVal val="#ppt_w"/>
                                          </p:val>
                                        </p:tav>
                                        <p:tav tm="100000">
                                          <p:val>
                                            <p:strVal val="#ppt_w"/>
                                          </p:val>
                                        </p:tav>
                                      </p:tavLst>
                                    </p:anim>
                                    <p:anim calcmode="lin" valueType="num">
                                      <p:cBhvr>
                                        <p:cTn id="79" dur="500" fill="hold"/>
                                        <p:tgtEl>
                                          <p:spTgt spid="185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utoUpdateAnimBg="0"/>
      <p:bldP spid="18435" grpId="0" build="p" autoUpdateAnimBg="0"/>
      <p:bldP spid="18436" grpId="0" autoUpdateAnimBg="0"/>
      <p:bldP spid="18507" grpId="0" animBg="1"/>
      <p:bldP spid="18508" grpId="0" animBg="1"/>
      <p:bldP spid="18509" grpId="0" animBg="1"/>
      <p:bldP spid="18510" grpId="0" animBg="1"/>
      <p:bldP spid="18512" grpId="0" animBg="1" autoUpdateAnimBg="0"/>
      <p:bldP spid="18518"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6B2EEC1-5E12-4DA1-B1CF-65027B676CA0}" type="slidenum">
              <a:rPr kumimoji="0" lang="zh-CN" altLang="en-US" sz="2000" smtClean="0">
                <a:solidFill>
                  <a:srgbClr val="0000FF"/>
                </a:solidFill>
              </a:rPr>
              <a:pPr eaLnBrk="1" hangingPunct="1"/>
              <a:t>29</a:t>
            </a:fld>
            <a:endParaRPr kumimoji="0" lang="en-US" altLang="zh-CN" sz="2000">
              <a:solidFill>
                <a:srgbClr val="0000FF"/>
              </a:solidFill>
            </a:endParaRPr>
          </a:p>
        </p:txBody>
      </p:sp>
      <p:sp>
        <p:nvSpPr>
          <p:cNvPr id="113668" name="Text Box 4"/>
          <p:cNvSpPr txBox="1">
            <a:spLocks noChangeArrowheads="1"/>
          </p:cNvSpPr>
          <p:nvPr/>
        </p:nvSpPr>
        <p:spPr bwMode="auto">
          <a:xfrm>
            <a:off x="468313" y="153060"/>
            <a:ext cx="536257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（2）近似法 ：</a:t>
            </a:r>
          </a:p>
        </p:txBody>
      </p:sp>
      <p:sp>
        <p:nvSpPr>
          <p:cNvPr id="113669" name="Text Box 5"/>
          <p:cNvSpPr txBox="1">
            <a:spLocks noChangeArrowheads="1"/>
          </p:cNvSpPr>
          <p:nvPr/>
        </p:nvSpPr>
        <p:spPr bwMode="auto">
          <a:xfrm>
            <a:off x="204788" y="594697"/>
            <a:ext cx="8729662" cy="7956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dirty="0"/>
              <a:t>        ①  最小外接圆法：对被测实际圆作一直径为最小的外接圆，以此圆的圆心为圆心作一内切圆，则此两个同心圆的半径差为圆度误差。</a:t>
            </a:r>
          </a:p>
        </p:txBody>
      </p:sp>
      <p:grpSp>
        <p:nvGrpSpPr>
          <p:cNvPr id="113690" name="Group 26"/>
          <p:cNvGrpSpPr>
            <a:grpSpLocks/>
          </p:cNvGrpSpPr>
          <p:nvPr/>
        </p:nvGrpSpPr>
        <p:grpSpPr bwMode="auto">
          <a:xfrm>
            <a:off x="1362075" y="1732360"/>
            <a:ext cx="5461000" cy="3150394"/>
            <a:chOff x="1164" y="1153"/>
            <a:chExt cx="3185" cy="2646"/>
          </a:xfrm>
        </p:grpSpPr>
        <p:grpSp>
          <p:nvGrpSpPr>
            <p:cNvPr id="35851" name="Group 6"/>
            <p:cNvGrpSpPr>
              <a:grpSpLocks/>
            </p:cNvGrpSpPr>
            <p:nvPr/>
          </p:nvGrpSpPr>
          <p:grpSpPr bwMode="auto">
            <a:xfrm>
              <a:off x="1164" y="1153"/>
              <a:ext cx="3185" cy="2646"/>
              <a:chOff x="1768" y="2012"/>
              <a:chExt cx="2732" cy="2146"/>
            </a:xfrm>
          </p:grpSpPr>
          <p:grpSp>
            <p:nvGrpSpPr>
              <p:cNvPr id="35854" name="Group 7"/>
              <p:cNvGrpSpPr>
                <a:grpSpLocks/>
              </p:cNvGrpSpPr>
              <p:nvPr/>
            </p:nvGrpSpPr>
            <p:grpSpPr bwMode="auto">
              <a:xfrm>
                <a:off x="1768" y="2012"/>
                <a:ext cx="2052" cy="2016"/>
                <a:chOff x="1084" y="2147"/>
                <a:chExt cx="2052" cy="2016"/>
              </a:xfrm>
            </p:grpSpPr>
            <p:grpSp>
              <p:nvGrpSpPr>
                <p:cNvPr id="35863" name="Group 8"/>
                <p:cNvGrpSpPr>
                  <a:grpSpLocks/>
                </p:cNvGrpSpPr>
                <p:nvPr/>
              </p:nvGrpSpPr>
              <p:grpSpPr bwMode="auto">
                <a:xfrm>
                  <a:off x="1250" y="2296"/>
                  <a:ext cx="1719" cy="1719"/>
                  <a:chOff x="2160" y="2277"/>
                  <a:chExt cx="1719" cy="1719"/>
                </a:xfrm>
              </p:grpSpPr>
              <p:grpSp>
                <p:nvGrpSpPr>
                  <p:cNvPr id="35867" name="Group 9"/>
                  <p:cNvGrpSpPr>
                    <a:grpSpLocks/>
                  </p:cNvGrpSpPr>
                  <p:nvPr/>
                </p:nvGrpSpPr>
                <p:grpSpPr bwMode="auto">
                  <a:xfrm>
                    <a:off x="2160" y="2277"/>
                    <a:ext cx="1719" cy="1719"/>
                    <a:chOff x="2160" y="2277"/>
                    <a:chExt cx="1719" cy="1719"/>
                  </a:xfrm>
                </p:grpSpPr>
                <p:sp>
                  <p:nvSpPr>
                    <p:cNvPr id="35869" name="Freeform 10"/>
                    <p:cNvSpPr>
                      <a:spLocks/>
                    </p:cNvSpPr>
                    <p:nvPr/>
                  </p:nvSpPr>
                  <p:spPr bwMode="auto">
                    <a:xfrm>
                      <a:off x="2556" y="2295"/>
                      <a:ext cx="1186" cy="1664"/>
                    </a:xfrm>
                    <a:custGeom>
                      <a:avLst/>
                      <a:gdLst>
                        <a:gd name="T0" fmla="*/ 297 w 936"/>
                        <a:gd name="T1" fmla="*/ 2266 h 1062"/>
                        <a:gd name="T2" fmla="*/ 896 w 936"/>
                        <a:gd name="T3" fmla="*/ 1330 h 1062"/>
                        <a:gd name="T4" fmla="*/ 1564 w 936"/>
                        <a:gd name="T5" fmla="*/ 530 h 1062"/>
                        <a:gd name="T6" fmla="*/ 2790 w 936"/>
                        <a:gd name="T7" fmla="*/ 1330 h 1062"/>
                        <a:gd name="T8" fmla="*/ 3350 w 936"/>
                        <a:gd name="T9" fmla="*/ 5063 h 1062"/>
                        <a:gd name="T10" fmla="*/ 3689 w 936"/>
                        <a:gd name="T11" fmla="*/ 7463 h 1062"/>
                        <a:gd name="T12" fmla="*/ 3763 w 936"/>
                        <a:gd name="T13" fmla="*/ 8251 h 1062"/>
                        <a:gd name="T14" fmla="*/ 3350 w 936"/>
                        <a:gd name="T15" fmla="*/ 13992 h 1062"/>
                        <a:gd name="T16" fmla="*/ 3281 w 936"/>
                        <a:gd name="T17" fmla="*/ 14382 h 1062"/>
                        <a:gd name="T18" fmla="*/ 2644 w 936"/>
                        <a:gd name="T19" fmla="*/ 15188 h 1062"/>
                        <a:gd name="T20" fmla="*/ 2309 w 936"/>
                        <a:gd name="T21" fmla="*/ 15579 h 1062"/>
                        <a:gd name="T22" fmla="*/ 2200 w 936"/>
                        <a:gd name="T23" fmla="*/ 15714 h 1062"/>
                        <a:gd name="T24" fmla="*/ 407 w 936"/>
                        <a:gd name="T25" fmla="*/ 15314 h 1062"/>
                        <a:gd name="T26" fmla="*/ 185 w 936"/>
                        <a:gd name="T27" fmla="*/ 14910 h 1062"/>
                        <a:gd name="T28" fmla="*/ 0 w 936"/>
                        <a:gd name="T29" fmla="*/ 12790 h 1062"/>
                        <a:gd name="T30" fmla="*/ 37 w 936"/>
                        <a:gd name="T31" fmla="*/ 4127 h 1062"/>
                        <a:gd name="T32" fmla="*/ 297 w 936"/>
                        <a:gd name="T33" fmla="*/ 2266 h 10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6" h="1062">
                          <a:moveTo>
                            <a:pt x="72" y="153"/>
                          </a:moveTo>
                          <a:cubicBezTo>
                            <a:pt x="116" y="123"/>
                            <a:pt x="164" y="103"/>
                            <a:pt x="216" y="90"/>
                          </a:cubicBezTo>
                          <a:cubicBezTo>
                            <a:pt x="263" y="59"/>
                            <a:pt x="325" y="54"/>
                            <a:pt x="378" y="36"/>
                          </a:cubicBezTo>
                          <a:cubicBezTo>
                            <a:pt x="784" y="50"/>
                            <a:pt x="540" y="0"/>
                            <a:pt x="675" y="90"/>
                          </a:cubicBezTo>
                          <a:cubicBezTo>
                            <a:pt x="700" y="166"/>
                            <a:pt x="723" y="313"/>
                            <a:pt x="810" y="342"/>
                          </a:cubicBezTo>
                          <a:cubicBezTo>
                            <a:pt x="845" y="395"/>
                            <a:pt x="871" y="443"/>
                            <a:pt x="891" y="504"/>
                          </a:cubicBezTo>
                          <a:cubicBezTo>
                            <a:pt x="897" y="522"/>
                            <a:pt x="909" y="558"/>
                            <a:pt x="909" y="558"/>
                          </a:cubicBezTo>
                          <a:cubicBezTo>
                            <a:pt x="907" y="622"/>
                            <a:pt x="936" y="903"/>
                            <a:pt x="810" y="945"/>
                          </a:cubicBezTo>
                          <a:cubicBezTo>
                            <a:pt x="804" y="954"/>
                            <a:pt x="801" y="966"/>
                            <a:pt x="792" y="972"/>
                          </a:cubicBezTo>
                          <a:cubicBezTo>
                            <a:pt x="768" y="987"/>
                            <a:pt x="669" y="1017"/>
                            <a:pt x="639" y="1026"/>
                          </a:cubicBezTo>
                          <a:cubicBezTo>
                            <a:pt x="612" y="1034"/>
                            <a:pt x="585" y="1044"/>
                            <a:pt x="558" y="1053"/>
                          </a:cubicBezTo>
                          <a:cubicBezTo>
                            <a:pt x="549" y="1056"/>
                            <a:pt x="531" y="1062"/>
                            <a:pt x="531" y="1062"/>
                          </a:cubicBezTo>
                          <a:cubicBezTo>
                            <a:pt x="345" y="1056"/>
                            <a:pt x="263" y="1047"/>
                            <a:pt x="99" y="1035"/>
                          </a:cubicBezTo>
                          <a:cubicBezTo>
                            <a:pt x="84" y="1030"/>
                            <a:pt x="54" y="1023"/>
                            <a:pt x="45" y="1008"/>
                          </a:cubicBezTo>
                          <a:cubicBezTo>
                            <a:pt x="21" y="970"/>
                            <a:pt x="14" y="907"/>
                            <a:pt x="0" y="864"/>
                          </a:cubicBezTo>
                          <a:cubicBezTo>
                            <a:pt x="3" y="669"/>
                            <a:pt x="3" y="474"/>
                            <a:pt x="9" y="279"/>
                          </a:cubicBezTo>
                          <a:cubicBezTo>
                            <a:pt x="9" y="277"/>
                            <a:pt x="96" y="129"/>
                            <a:pt x="72" y="153"/>
                          </a:cubicBezTo>
                          <a:close/>
                        </a:path>
                      </a:pathLst>
                    </a:custGeom>
                    <a:noFill/>
                    <a:ln w="38100" cap="flat" cmpd="sng">
                      <a:solidFill>
                        <a:schemeClr val="tx1"/>
                      </a:solidFill>
                      <a:prstDash val="solid"/>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0" name="Oval 11"/>
                    <p:cNvSpPr>
                      <a:spLocks noChangeArrowheads="1"/>
                    </p:cNvSpPr>
                    <p:nvPr/>
                  </p:nvSpPr>
                  <p:spPr bwMode="auto">
                    <a:xfrm>
                      <a:off x="2160" y="2277"/>
                      <a:ext cx="1719" cy="1719"/>
                    </a:xfrm>
                    <a:prstGeom prst="ellipse">
                      <a:avLst/>
                    </a:prstGeom>
                    <a:noFill/>
                    <a:ln w="28575">
                      <a:solidFill>
                        <a:srgbClr val="FF3300"/>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868" name="Oval 12"/>
                  <p:cNvSpPr>
                    <a:spLocks noChangeArrowheads="1"/>
                  </p:cNvSpPr>
                  <p:nvPr/>
                </p:nvSpPr>
                <p:spPr bwMode="auto">
                  <a:xfrm>
                    <a:off x="2565" y="2682"/>
                    <a:ext cx="909" cy="909"/>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864" name="Group 13"/>
                <p:cNvGrpSpPr>
                  <a:grpSpLocks/>
                </p:cNvGrpSpPr>
                <p:nvPr/>
              </p:nvGrpSpPr>
              <p:grpSpPr bwMode="auto">
                <a:xfrm>
                  <a:off x="1084" y="2147"/>
                  <a:ext cx="2052" cy="2016"/>
                  <a:chOff x="1084" y="2147"/>
                  <a:chExt cx="2052" cy="2016"/>
                </a:xfrm>
              </p:grpSpPr>
              <p:sp>
                <p:nvSpPr>
                  <p:cNvPr id="35865" name="Line 14"/>
                  <p:cNvSpPr>
                    <a:spLocks noChangeShapeType="1"/>
                  </p:cNvSpPr>
                  <p:nvPr/>
                </p:nvSpPr>
                <p:spPr bwMode="auto">
                  <a:xfrm>
                    <a:off x="1084" y="3199"/>
                    <a:ext cx="2052" cy="0"/>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Line 15"/>
                  <p:cNvSpPr>
                    <a:spLocks noChangeShapeType="1"/>
                  </p:cNvSpPr>
                  <p:nvPr/>
                </p:nvSpPr>
                <p:spPr bwMode="auto">
                  <a:xfrm>
                    <a:off x="2065" y="2147"/>
                    <a:ext cx="0" cy="2016"/>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855" name="Line 16"/>
              <p:cNvSpPr>
                <a:spLocks noChangeShapeType="1"/>
              </p:cNvSpPr>
              <p:nvPr/>
            </p:nvSpPr>
            <p:spPr bwMode="auto">
              <a:xfrm>
                <a:off x="2745" y="3474"/>
                <a:ext cx="175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6" name="Line 17"/>
              <p:cNvSpPr>
                <a:spLocks noChangeShapeType="1"/>
              </p:cNvSpPr>
              <p:nvPr/>
            </p:nvSpPr>
            <p:spPr bwMode="auto">
              <a:xfrm>
                <a:off x="2745" y="3888"/>
                <a:ext cx="1755"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Line 18"/>
              <p:cNvSpPr>
                <a:spLocks noChangeShapeType="1"/>
              </p:cNvSpPr>
              <p:nvPr/>
            </p:nvSpPr>
            <p:spPr bwMode="auto">
              <a:xfrm>
                <a:off x="4248" y="3222"/>
                <a:ext cx="0" cy="25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Line 19"/>
              <p:cNvSpPr>
                <a:spLocks noChangeShapeType="1"/>
              </p:cNvSpPr>
              <p:nvPr/>
            </p:nvSpPr>
            <p:spPr bwMode="auto">
              <a:xfrm>
                <a:off x="4248" y="3888"/>
                <a:ext cx="0" cy="270"/>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59" name="Group 20"/>
              <p:cNvGrpSpPr>
                <a:grpSpLocks/>
              </p:cNvGrpSpPr>
              <p:nvPr/>
            </p:nvGrpSpPr>
            <p:grpSpPr bwMode="auto">
              <a:xfrm>
                <a:off x="4167" y="3546"/>
                <a:ext cx="153" cy="209"/>
                <a:chOff x="3177" y="2529"/>
                <a:chExt cx="153" cy="209"/>
              </a:xfrm>
            </p:grpSpPr>
            <p:sp>
              <p:nvSpPr>
                <p:cNvPr id="35860" name="WordArt 21"/>
                <p:cNvSpPr>
                  <a:spLocks noChangeArrowheads="1" noChangeShapeType="1" noTextEdit="1"/>
                </p:cNvSpPr>
                <p:nvPr/>
              </p:nvSpPr>
              <p:spPr bwMode="auto">
                <a:xfrm>
                  <a:off x="3177" y="2583"/>
                  <a:ext cx="72" cy="144"/>
                </a:xfrm>
                <a:prstGeom prst="rect">
                  <a:avLst/>
                </a:prstGeom>
              </p:spPr>
              <p:txBody>
                <a:bodyPr wrap="none" fromWordArt="1">
                  <a:prstTxWarp prst="textPlain">
                    <a:avLst>
                      <a:gd name="adj" fmla="val 50000"/>
                    </a:avLst>
                  </a:prstTxWarp>
                </a:bodyPr>
                <a:lstStyle/>
                <a:p>
                  <a:r>
                    <a:rPr lang="en-US" altLang="zh-CN" sz="1800" i="1" kern="10">
                      <a:ln w="9525">
                        <a:solidFill>
                          <a:srgbClr val="000000"/>
                        </a:solidFill>
                        <a:round/>
                        <a:headEnd/>
                        <a:tailEnd/>
                      </a:ln>
                      <a:solidFill>
                        <a:srgbClr val="000000"/>
                      </a:solidFill>
                      <a:latin typeface="宋体"/>
                      <a:ea typeface="宋体"/>
                    </a:rPr>
                    <a:t>f</a:t>
                  </a:r>
                  <a:endParaRPr lang="zh-CN" altLang="en-US" sz="1800" i="1" kern="10">
                    <a:ln w="9525">
                      <a:solidFill>
                        <a:srgbClr val="000000"/>
                      </a:solidFill>
                      <a:round/>
                      <a:headEnd/>
                      <a:tailEnd/>
                    </a:ln>
                    <a:solidFill>
                      <a:srgbClr val="000000"/>
                    </a:solidFill>
                    <a:latin typeface="宋体"/>
                    <a:ea typeface="宋体"/>
                  </a:endParaRPr>
                </a:p>
              </p:txBody>
            </p:sp>
            <p:sp>
              <p:nvSpPr>
                <p:cNvPr id="35861" name="Oval 22"/>
                <p:cNvSpPr>
                  <a:spLocks noChangeArrowheads="1"/>
                </p:cNvSpPr>
                <p:nvPr/>
              </p:nvSpPr>
              <p:spPr bwMode="auto">
                <a:xfrm>
                  <a:off x="3258" y="2682"/>
                  <a:ext cx="56" cy="56"/>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Line 23"/>
                <p:cNvSpPr>
                  <a:spLocks noChangeShapeType="1"/>
                </p:cNvSpPr>
                <p:nvPr/>
              </p:nvSpPr>
              <p:spPr bwMode="auto">
                <a:xfrm flipH="1">
                  <a:off x="3303" y="2529"/>
                  <a:ext cx="27" cy="27"/>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852" name="Line 24"/>
            <p:cNvSpPr>
              <a:spLocks noChangeShapeType="1"/>
            </p:cNvSpPr>
            <p:nvPr/>
          </p:nvSpPr>
          <p:spPr bwMode="auto">
            <a:xfrm>
              <a:off x="2295" y="2956"/>
              <a:ext cx="2001"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3" name="Line 25"/>
            <p:cNvSpPr>
              <a:spLocks noChangeShapeType="1"/>
            </p:cNvSpPr>
            <p:nvPr/>
          </p:nvSpPr>
          <p:spPr bwMode="auto">
            <a:xfrm>
              <a:off x="2295" y="3466"/>
              <a:ext cx="2001"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3691" name="AutoShape 27"/>
          <p:cNvSpPr>
            <a:spLocks noChangeArrowheads="1"/>
          </p:cNvSpPr>
          <p:nvPr/>
        </p:nvSpPr>
        <p:spPr bwMode="auto">
          <a:xfrm>
            <a:off x="5427663" y="1564481"/>
            <a:ext cx="1814512" cy="842963"/>
          </a:xfrm>
          <a:prstGeom prst="wedgeEllipseCallout">
            <a:avLst>
              <a:gd name="adj1" fmla="val -61287"/>
              <a:gd name="adj2" fmla="val 121046"/>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solidFill>
                  <a:srgbClr val="FF0000"/>
                </a:solidFill>
              </a:rPr>
              <a:t>最小外接圆</a:t>
            </a:r>
          </a:p>
        </p:txBody>
      </p:sp>
      <p:sp>
        <p:nvSpPr>
          <p:cNvPr id="113692" name="Line 28"/>
          <p:cNvSpPr>
            <a:spLocks noChangeShapeType="1"/>
          </p:cNvSpPr>
          <p:nvPr/>
        </p:nvSpPr>
        <p:spPr bwMode="auto">
          <a:xfrm>
            <a:off x="3309938" y="3271838"/>
            <a:ext cx="0" cy="1208485"/>
          </a:xfrm>
          <a:prstGeom prst="line">
            <a:avLst/>
          </a:prstGeom>
          <a:noFill/>
          <a:ln w="57150">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3694" name="Line 30"/>
          <p:cNvSpPr>
            <a:spLocks noChangeShapeType="1"/>
          </p:cNvSpPr>
          <p:nvPr/>
        </p:nvSpPr>
        <p:spPr bwMode="auto">
          <a:xfrm>
            <a:off x="2511425" y="3261122"/>
            <a:ext cx="798513" cy="0"/>
          </a:xfrm>
          <a:prstGeom prst="line">
            <a:avLst/>
          </a:prstGeom>
          <a:noFill/>
          <a:ln w="57150">
            <a:solidFill>
              <a:schemeClr val="accent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3696" name="AutoShape 32"/>
          <p:cNvSpPr>
            <a:spLocks noChangeArrowheads="1"/>
          </p:cNvSpPr>
          <p:nvPr/>
        </p:nvSpPr>
        <p:spPr bwMode="auto">
          <a:xfrm>
            <a:off x="6981826" y="3186112"/>
            <a:ext cx="1089025" cy="881063"/>
          </a:xfrm>
          <a:prstGeom prst="wedgeRoundRectCallout">
            <a:avLst>
              <a:gd name="adj1" fmla="val -100875"/>
              <a:gd name="adj2" fmla="val 67838"/>
              <a:gd name="adj3" fmla="val 16667"/>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dirty="0"/>
              <a:t>圆度误差</a:t>
            </a:r>
          </a:p>
        </p:txBody>
      </p:sp>
      <p:sp>
        <p:nvSpPr>
          <p:cNvPr id="113697" name="AutoShape 33"/>
          <p:cNvSpPr>
            <a:spLocks noChangeArrowheads="1"/>
          </p:cNvSpPr>
          <p:nvPr/>
        </p:nvSpPr>
        <p:spPr bwMode="auto">
          <a:xfrm>
            <a:off x="219076" y="1845469"/>
            <a:ext cx="1814513" cy="600075"/>
          </a:xfrm>
          <a:prstGeom prst="wedgeEllipseCallout">
            <a:avLst>
              <a:gd name="adj1" fmla="val 90769"/>
              <a:gd name="adj2" fmla="val 72222"/>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000" b="1">
                <a:solidFill>
                  <a:srgbClr val="FF0000"/>
                </a:solidFill>
              </a:rPr>
              <a:t>内切圆</a:t>
            </a:r>
          </a:p>
        </p:txBody>
      </p:sp>
      <p:cxnSp>
        <p:nvCxnSpPr>
          <p:cNvPr id="31" name="直接连接符 30">
            <a:extLst>
              <a:ext uri="{FF2B5EF4-FFF2-40B4-BE49-F238E27FC236}">
                <a16:creationId xmlns="" xmlns:a16="http://schemas.microsoft.com/office/drawing/2014/main" id="{D91AF8D9-FA3A-4231-A1DF-276BB1769733}"/>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3668">
                                            <p:txEl>
                                              <p:pRg st="0" end="0"/>
                                            </p:txEl>
                                          </p:spTgt>
                                        </p:tgtEl>
                                        <p:attrNameLst>
                                          <p:attrName>style.visibility</p:attrName>
                                        </p:attrNameLst>
                                      </p:cBhvr>
                                      <p:to>
                                        <p:strVal val="visible"/>
                                      </p:to>
                                    </p:set>
                                    <p:animEffect transition="in" filter="wipe(left)">
                                      <p:cBhvr>
                                        <p:cTn id="7" dur="300"/>
                                        <p:tgtEl>
                                          <p:spTgt spid="11366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13690"/>
                                        </p:tgtEl>
                                        <p:attrNameLst>
                                          <p:attrName>style.visibility</p:attrName>
                                        </p:attrNameLst>
                                      </p:cBhvr>
                                      <p:to>
                                        <p:strVal val="visible"/>
                                      </p:to>
                                    </p:set>
                                    <p:anim calcmode="lin" valueType="num">
                                      <p:cBhvr additive="base">
                                        <p:cTn id="12" dur="500" fill="hold"/>
                                        <p:tgtEl>
                                          <p:spTgt spid="113690"/>
                                        </p:tgtEl>
                                        <p:attrNameLst>
                                          <p:attrName>ppt_x</p:attrName>
                                        </p:attrNameLst>
                                      </p:cBhvr>
                                      <p:tavLst>
                                        <p:tav tm="0">
                                          <p:val>
                                            <p:strVal val="0-#ppt_w/2"/>
                                          </p:val>
                                        </p:tav>
                                        <p:tav tm="100000">
                                          <p:val>
                                            <p:strVal val="#ppt_x"/>
                                          </p:val>
                                        </p:tav>
                                      </p:tavLst>
                                    </p:anim>
                                    <p:anim calcmode="lin" valueType="num">
                                      <p:cBhvr additive="base">
                                        <p:cTn id="13" dur="500" fill="hold"/>
                                        <p:tgtEl>
                                          <p:spTgt spid="11369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13669"/>
                                        </p:tgtEl>
                                        <p:attrNameLst>
                                          <p:attrName>style.visibility</p:attrName>
                                        </p:attrNameLst>
                                      </p:cBhvr>
                                      <p:to>
                                        <p:strVal val="visible"/>
                                      </p:to>
                                    </p:set>
                                    <p:animEffect transition="in" filter="wipe(left)">
                                      <p:cBhvr>
                                        <p:cTn id="18" dur="300"/>
                                        <p:tgtEl>
                                          <p:spTgt spid="11366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13691"/>
                                        </p:tgtEl>
                                        <p:attrNameLst>
                                          <p:attrName>style.visibility</p:attrName>
                                        </p:attrNameLst>
                                      </p:cBhvr>
                                      <p:to>
                                        <p:strVal val="visible"/>
                                      </p:to>
                                    </p:set>
                                    <p:animEffect transition="in" filter="wipe(left)">
                                      <p:cBhvr>
                                        <p:cTn id="23" dur="300"/>
                                        <p:tgtEl>
                                          <p:spTgt spid="11369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113692"/>
                                        </p:tgtEl>
                                        <p:attrNameLst>
                                          <p:attrName>style.visibility</p:attrName>
                                        </p:attrNameLst>
                                      </p:cBhvr>
                                      <p:to>
                                        <p:strVal val="visible"/>
                                      </p:to>
                                    </p:set>
                                    <p:anim calcmode="lin" valueType="num">
                                      <p:cBhvr>
                                        <p:cTn id="28" dur="500" fill="hold"/>
                                        <p:tgtEl>
                                          <p:spTgt spid="113692"/>
                                        </p:tgtEl>
                                        <p:attrNameLst>
                                          <p:attrName>ppt_x</p:attrName>
                                        </p:attrNameLst>
                                      </p:cBhvr>
                                      <p:tavLst>
                                        <p:tav tm="0">
                                          <p:val>
                                            <p:strVal val="#ppt_x"/>
                                          </p:val>
                                        </p:tav>
                                        <p:tav tm="100000">
                                          <p:val>
                                            <p:strVal val="#ppt_x"/>
                                          </p:val>
                                        </p:tav>
                                      </p:tavLst>
                                    </p:anim>
                                    <p:anim calcmode="lin" valueType="num">
                                      <p:cBhvr>
                                        <p:cTn id="29" dur="500" fill="hold"/>
                                        <p:tgtEl>
                                          <p:spTgt spid="113692"/>
                                        </p:tgtEl>
                                        <p:attrNameLst>
                                          <p:attrName>ppt_y</p:attrName>
                                        </p:attrNameLst>
                                      </p:cBhvr>
                                      <p:tavLst>
                                        <p:tav tm="0">
                                          <p:val>
                                            <p:strVal val="#ppt_y-#ppt_h/2"/>
                                          </p:val>
                                        </p:tav>
                                        <p:tav tm="100000">
                                          <p:val>
                                            <p:strVal val="#ppt_y"/>
                                          </p:val>
                                        </p:tav>
                                      </p:tavLst>
                                    </p:anim>
                                    <p:anim calcmode="lin" valueType="num">
                                      <p:cBhvr>
                                        <p:cTn id="30" dur="500" fill="hold"/>
                                        <p:tgtEl>
                                          <p:spTgt spid="113692"/>
                                        </p:tgtEl>
                                        <p:attrNameLst>
                                          <p:attrName>ppt_w</p:attrName>
                                        </p:attrNameLst>
                                      </p:cBhvr>
                                      <p:tavLst>
                                        <p:tav tm="0">
                                          <p:val>
                                            <p:strVal val="#ppt_w"/>
                                          </p:val>
                                        </p:tav>
                                        <p:tav tm="100000">
                                          <p:val>
                                            <p:strVal val="#ppt_w"/>
                                          </p:val>
                                        </p:tav>
                                      </p:tavLst>
                                    </p:anim>
                                    <p:anim calcmode="lin" valueType="num">
                                      <p:cBhvr>
                                        <p:cTn id="31" dur="500" fill="hold"/>
                                        <p:tgtEl>
                                          <p:spTgt spid="113692"/>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2" fill="hold" grpId="0" nodeType="clickEffect">
                                  <p:stCondLst>
                                    <p:cond delay="0"/>
                                  </p:stCondLst>
                                  <p:childTnLst>
                                    <p:set>
                                      <p:cBhvr>
                                        <p:cTn id="35" dur="1" fill="hold">
                                          <p:stCondLst>
                                            <p:cond delay="0"/>
                                          </p:stCondLst>
                                        </p:cTn>
                                        <p:tgtEl>
                                          <p:spTgt spid="113694"/>
                                        </p:tgtEl>
                                        <p:attrNameLst>
                                          <p:attrName>style.visibility</p:attrName>
                                        </p:attrNameLst>
                                      </p:cBhvr>
                                      <p:to>
                                        <p:strVal val="visible"/>
                                      </p:to>
                                    </p:set>
                                    <p:anim calcmode="lin" valueType="num">
                                      <p:cBhvr>
                                        <p:cTn id="36" dur="500" fill="hold"/>
                                        <p:tgtEl>
                                          <p:spTgt spid="113694"/>
                                        </p:tgtEl>
                                        <p:attrNameLst>
                                          <p:attrName>ppt_x</p:attrName>
                                        </p:attrNameLst>
                                      </p:cBhvr>
                                      <p:tavLst>
                                        <p:tav tm="0">
                                          <p:val>
                                            <p:strVal val="#ppt_x+#ppt_w/2"/>
                                          </p:val>
                                        </p:tav>
                                        <p:tav tm="100000">
                                          <p:val>
                                            <p:strVal val="#ppt_x"/>
                                          </p:val>
                                        </p:tav>
                                      </p:tavLst>
                                    </p:anim>
                                    <p:anim calcmode="lin" valueType="num">
                                      <p:cBhvr>
                                        <p:cTn id="37" dur="500" fill="hold"/>
                                        <p:tgtEl>
                                          <p:spTgt spid="113694"/>
                                        </p:tgtEl>
                                        <p:attrNameLst>
                                          <p:attrName>ppt_y</p:attrName>
                                        </p:attrNameLst>
                                      </p:cBhvr>
                                      <p:tavLst>
                                        <p:tav tm="0">
                                          <p:val>
                                            <p:strVal val="#ppt_y"/>
                                          </p:val>
                                        </p:tav>
                                        <p:tav tm="100000">
                                          <p:val>
                                            <p:strVal val="#ppt_y"/>
                                          </p:val>
                                        </p:tav>
                                      </p:tavLst>
                                    </p:anim>
                                    <p:anim calcmode="lin" valueType="num">
                                      <p:cBhvr>
                                        <p:cTn id="38" dur="500" fill="hold"/>
                                        <p:tgtEl>
                                          <p:spTgt spid="113694"/>
                                        </p:tgtEl>
                                        <p:attrNameLst>
                                          <p:attrName>ppt_w</p:attrName>
                                        </p:attrNameLst>
                                      </p:cBhvr>
                                      <p:tavLst>
                                        <p:tav tm="0">
                                          <p:val>
                                            <p:fltVal val="0"/>
                                          </p:val>
                                        </p:tav>
                                        <p:tav tm="100000">
                                          <p:val>
                                            <p:strVal val="#ppt_w"/>
                                          </p:val>
                                        </p:tav>
                                      </p:tavLst>
                                    </p:anim>
                                    <p:anim calcmode="lin" valueType="num">
                                      <p:cBhvr>
                                        <p:cTn id="39" dur="500" fill="hold"/>
                                        <p:tgtEl>
                                          <p:spTgt spid="113694"/>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iterate type="wd">
                                    <p:tmPct val="100000"/>
                                  </p:iterate>
                                  <p:childTnLst>
                                    <p:set>
                                      <p:cBhvr>
                                        <p:cTn id="43" dur="1" fill="hold">
                                          <p:stCondLst>
                                            <p:cond delay="0"/>
                                          </p:stCondLst>
                                        </p:cTn>
                                        <p:tgtEl>
                                          <p:spTgt spid="113697"/>
                                        </p:tgtEl>
                                        <p:attrNameLst>
                                          <p:attrName>style.visibility</p:attrName>
                                        </p:attrNameLst>
                                      </p:cBhvr>
                                      <p:to>
                                        <p:strVal val="visible"/>
                                      </p:to>
                                    </p:set>
                                    <p:animEffect transition="in" filter="wipe(left)">
                                      <p:cBhvr>
                                        <p:cTn id="44" dur="300"/>
                                        <p:tgtEl>
                                          <p:spTgt spid="11369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2" fill="hold" grpId="0" nodeType="clickEffect">
                                  <p:stCondLst>
                                    <p:cond delay="0"/>
                                  </p:stCondLst>
                                  <p:childTnLst>
                                    <p:set>
                                      <p:cBhvr>
                                        <p:cTn id="48" dur="1" fill="hold">
                                          <p:stCondLst>
                                            <p:cond delay="0"/>
                                          </p:stCondLst>
                                        </p:cTn>
                                        <p:tgtEl>
                                          <p:spTgt spid="113696"/>
                                        </p:tgtEl>
                                        <p:attrNameLst>
                                          <p:attrName>style.visibility</p:attrName>
                                        </p:attrNameLst>
                                      </p:cBhvr>
                                      <p:to>
                                        <p:strVal val="visible"/>
                                      </p:to>
                                    </p:set>
                                    <p:anim calcmode="lin" valueType="num">
                                      <p:cBhvr>
                                        <p:cTn id="49" dur="500" fill="hold"/>
                                        <p:tgtEl>
                                          <p:spTgt spid="113696"/>
                                        </p:tgtEl>
                                        <p:attrNameLst>
                                          <p:attrName>ppt_x</p:attrName>
                                        </p:attrNameLst>
                                      </p:cBhvr>
                                      <p:tavLst>
                                        <p:tav tm="0">
                                          <p:val>
                                            <p:strVal val="#ppt_x+#ppt_w/2"/>
                                          </p:val>
                                        </p:tav>
                                        <p:tav tm="100000">
                                          <p:val>
                                            <p:strVal val="#ppt_x"/>
                                          </p:val>
                                        </p:tav>
                                      </p:tavLst>
                                    </p:anim>
                                    <p:anim calcmode="lin" valueType="num">
                                      <p:cBhvr>
                                        <p:cTn id="50" dur="500" fill="hold"/>
                                        <p:tgtEl>
                                          <p:spTgt spid="113696"/>
                                        </p:tgtEl>
                                        <p:attrNameLst>
                                          <p:attrName>ppt_y</p:attrName>
                                        </p:attrNameLst>
                                      </p:cBhvr>
                                      <p:tavLst>
                                        <p:tav tm="0">
                                          <p:val>
                                            <p:strVal val="#ppt_y"/>
                                          </p:val>
                                        </p:tav>
                                        <p:tav tm="100000">
                                          <p:val>
                                            <p:strVal val="#ppt_y"/>
                                          </p:val>
                                        </p:tav>
                                      </p:tavLst>
                                    </p:anim>
                                    <p:anim calcmode="lin" valueType="num">
                                      <p:cBhvr>
                                        <p:cTn id="51" dur="500" fill="hold"/>
                                        <p:tgtEl>
                                          <p:spTgt spid="113696"/>
                                        </p:tgtEl>
                                        <p:attrNameLst>
                                          <p:attrName>ppt_w</p:attrName>
                                        </p:attrNameLst>
                                      </p:cBhvr>
                                      <p:tavLst>
                                        <p:tav tm="0">
                                          <p:val>
                                            <p:fltVal val="0"/>
                                          </p:val>
                                        </p:tav>
                                        <p:tav tm="100000">
                                          <p:val>
                                            <p:strVal val="#ppt_w"/>
                                          </p:val>
                                        </p:tav>
                                      </p:tavLst>
                                    </p:anim>
                                    <p:anim calcmode="lin" valueType="num">
                                      <p:cBhvr>
                                        <p:cTn id="52" dur="500" fill="hold"/>
                                        <p:tgtEl>
                                          <p:spTgt spid="11369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uild="p" autoUpdateAnimBg="0"/>
      <p:bldP spid="113669" grpId="0" autoUpdateAnimBg="0"/>
      <p:bldP spid="113691" grpId="0" animBg="1" autoUpdateAnimBg="0"/>
      <p:bldP spid="113692" grpId="0" animBg="1"/>
      <p:bldP spid="113694" grpId="0" animBg="1"/>
      <p:bldP spid="113696" grpId="0" animBg="1" autoUpdateAnimBg="0"/>
      <p:bldP spid="113697"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15E95D-0438-4823-9510-769597F75B5D}" type="slidenum">
              <a:rPr kumimoji="0" lang="zh-CN" altLang="en-US" sz="2000" smtClean="0">
                <a:solidFill>
                  <a:srgbClr val="0000FF"/>
                </a:solidFill>
              </a:rPr>
              <a:pPr eaLnBrk="1" hangingPunct="1"/>
              <a:t>30</a:t>
            </a:fld>
            <a:endParaRPr kumimoji="0" lang="en-US" altLang="zh-CN" sz="2000">
              <a:solidFill>
                <a:srgbClr val="0000FF"/>
              </a:solidFill>
            </a:endParaRPr>
          </a:p>
        </p:txBody>
      </p:sp>
      <p:sp>
        <p:nvSpPr>
          <p:cNvPr id="56331" name="Text Box 1035"/>
          <p:cNvSpPr txBox="1">
            <a:spLocks noChangeArrowheads="1"/>
          </p:cNvSpPr>
          <p:nvPr/>
        </p:nvSpPr>
        <p:spPr bwMode="auto">
          <a:xfrm>
            <a:off x="646113" y="248841"/>
            <a:ext cx="4976812"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a:t>②  最大内切圆法</a:t>
            </a:r>
          </a:p>
        </p:txBody>
      </p:sp>
      <p:grpSp>
        <p:nvGrpSpPr>
          <p:cNvPr id="56369" name="Group 1073"/>
          <p:cNvGrpSpPr>
            <a:grpSpLocks/>
          </p:cNvGrpSpPr>
          <p:nvPr/>
        </p:nvGrpSpPr>
        <p:grpSpPr bwMode="auto">
          <a:xfrm>
            <a:off x="1473200" y="852488"/>
            <a:ext cx="4984750" cy="3555206"/>
            <a:chOff x="337" y="198"/>
            <a:chExt cx="2678" cy="2619"/>
          </a:xfrm>
        </p:grpSpPr>
        <p:grpSp>
          <p:nvGrpSpPr>
            <p:cNvPr id="36876" name="Group 1049"/>
            <p:cNvGrpSpPr>
              <a:grpSpLocks/>
            </p:cNvGrpSpPr>
            <p:nvPr/>
          </p:nvGrpSpPr>
          <p:grpSpPr bwMode="auto">
            <a:xfrm>
              <a:off x="337" y="198"/>
              <a:ext cx="2439" cy="2396"/>
              <a:chOff x="337" y="486"/>
              <a:chExt cx="2439" cy="2396"/>
            </a:xfrm>
          </p:grpSpPr>
          <p:grpSp>
            <p:nvGrpSpPr>
              <p:cNvPr id="36885" name="Group 1039"/>
              <p:cNvGrpSpPr>
                <a:grpSpLocks/>
              </p:cNvGrpSpPr>
              <p:nvPr/>
            </p:nvGrpSpPr>
            <p:grpSpPr bwMode="auto">
              <a:xfrm>
                <a:off x="337" y="486"/>
                <a:ext cx="2439" cy="2396"/>
                <a:chOff x="1084" y="2147"/>
                <a:chExt cx="2052" cy="2016"/>
              </a:xfrm>
            </p:grpSpPr>
            <p:sp>
              <p:nvSpPr>
                <p:cNvPr id="36889" name="Line 1040"/>
                <p:cNvSpPr>
                  <a:spLocks noChangeShapeType="1"/>
                </p:cNvSpPr>
                <p:nvPr/>
              </p:nvSpPr>
              <p:spPr bwMode="auto">
                <a:xfrm>
                  <a:off x="1084" y="3199"/>
                  <a:ext cx="2052" cy="0"/>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1041"/>
                <p:cNvSpPr>
                  <a:spLocks noChangeShapeType="1"/>
                </p:cNvSpPr>
                <p:nvPr/>
              </p:nvSpPr>
              <p:spPr bwMode="auto">
                <a:xfrm>
                  <a:off x="2065" y="2147"/>
                  <a:ext cx="0" cy="2016"/>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886" name="Freeform 1037"/>
              <p:cNvSpPr>
                <a:spLocks/>
              </p:cNvSpPr>
              <p:nvPr/>
            </p:nvSpPr>
            <p:spPr bwMode="auto">
              <a:xfrm>
                <a:off x="918" y="657"/>
                <a:ext cx="1186" cy="1664"/>
              </a:xfrm>
              <a:custGeom>
                <a:avLst/>
                <a:gdLst>
                  <a:gd name="T0" fmla="*/ 297 w 936"/>
                  <a:gd name="T1" fmla="*/ 2266 h 1062"/>
                  <a:gd name="T2" fmla="*/ 896 w 936"/>
                  <a:gd name="T3" fmla="*/ 1330 h 1062"/>
                  <a:gd name="T4" fmla="*/ 1564 w 936"/>
                  <a:gd name="T5" fmla="*/ 530 h 1062"/>
                  <a:gd name="T6" fmla="*/ 2790 w 936"/>
                  <a:gd name="T7" fmla="*/ 1330 h 1062"/>
                  <a:gd name="T8" fmla="*/ 3350 w 936"/>
                  <a:gd name="T9" fmla="*/ 5063 h 1062"/>
                  <a:gd name="T10" fmla="*/ 3689 w 936"/>
                  <a:gd name="T11" fmla="*/ 7463 h 1062"/>
                  <a:gd name="T12" fmla="*/ 3763 w 936"/>
                  <a:gd name="T13" fmla="*/ 8251 h 1062"/>
                  <a:gd name="T14" fmla="*/ 3350 w 936"/>
                  <a:gd name="T15" fmla="*/ 13992 h 1062"/>
                  <a:gd name="T16" fmla="*/ 3281 w 936"/>
                  <a:gd name="T17" fmla="*/ 14382 h 1062"/>
                  <a:gd name="T18" fmla="*/ 2644 w 936"/>
                  <a:gd name="T19" fmla="*/ 15188 h 1062"/>
                  <a:gd name="T20" fmla="*/ 2309 w 936"/>
                  <a:gd name="T21" fmla="*/ 15579 h 1062"/>
                  <a:gd name="T22" fmla="*/ 2200 w 936"/>
                  <a:gd name="T23" fmla="*/ 15714 h 1062"/>
                  <a:gd name="T24" fmla="*/ 407 w 936"/>
                  <a:gd name="T25" fmla="*/ 15314 h 1062"/>
                  <a:gd name="T26" fmla="*/ 185 w 936"/>
                  <a:gd name="T27" fmla="*/ 14910 h 1062"/>
                  <a:gd name="T28" fmla="*/ 0 w 936"/>
                  <a:gd name="T29" fmla="*/ 12790 h 1062"/>
                  <a:gd name="T30" fmla="*/ 37 w 936"/>
                  <a:gd name="T31" fmla="*/ 4127 h 1062"/>
                  <a:gd name="T32" fmla="*/ 297 w 936"/>
                  <a:gd name="T33" fmla="*/ 2266 h 10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6" h="1062">
                    <a:moveTo>
                      <a:pt x="72" y="153"/>
                    </a:moveTo>
                    <a:cubicBezTo>
                      <a:pt x="116" y="123"/>
                      <a:pt x="164" y="103"/>
                      <a:pt x="216" y="90"/>
                    </a:cubicBezTo>
                    <a:cubicBezTo>
                      <a:pt x="263" y="59"/>
                      <a:pt x="325" y="54"/>
                      <a:pt x="378" y="36"/>
                    </a:cubicBezTo>
                    <a:cubicBezTo>
                      <a:pt x="784" y="50"/>
                      <a:pt x="540" y="0"/>
                      <a:pt x="675" y="90"/>
                    </a:cubicBezTo>
                    <a:cubicBezTo>
                      <a:pt x="700" y="166"/>
                      <a:pt x="723" y="313"/>
                      <a:pt x="810" y="342"/>
                    </a:cubicBezTo>
                    <a:cubicBezTo>
                      <a:pt x="845" y="395"/>
                      <a:pt x="871" y="443"/>
                      <a:pt x="891" y="504"/>
                    </a:cubicBezTo>
                    <a:cubicBezTo>
                      <a:pt x="897" y="522"/>
                      <a:pt x="909" y="558"/>
                      <a:pt x="909" y="558"/>
                    </a:cubicBezTo>
                    <a:cubicBezTo>
                      <a:pt x="907" y="622"/>
                      <a:pt x="936" y="903"/>
                      <a:pt x="810" y="945"/>
                    </a:cubicBezTo>
                    <a:cubicBezTo>
                      <a:pt x="804" y="954"/>
                      <a:pt x="801" y="966"/>
                      <a:pt x="792" y="972"/>
                    </a:cubicBezTo>
                    <a:cubicBezTo>
                      <a:pt x="768" y="987"/>
                      <a:pt x="669" y="1017"/>
                      <a:pt x="639" y="1026"/>
                    </a:cubicBezTo>
                    <a:cubicBezTo>
                      <a:pt x="612" y="1034"/>
                      <a:pt x="585" y="1044"/>
                      <a:pt x="558" y="1053"/>
                    </a:cubicBezTo>
                    <a:cubicBezTo>
                      <a:pt x="549" y="1056"/>
                      <a:pt x="531" y="1062"/>
                      <a:pt x="531" y="1062"/>
                    </a:cubicBezTo>
                    <a:cubicBezTo>
                      <a:pt x="345" y="1056"/>
                      <a:pt x="263" y="1047"/>
                      <a:pt x="99" y="1035"/>
                    </a:cubicBezTo>
                    <a:cubicBezTo>
                      <a:pt x="84" y="1030"/>
                      <a:pt x="54" y="1023"/>
                      <a:pt x="45" y="1008"/>
                    </a:cubicBezTo>
                    <a:cubicBezTo>
                      <a:pt x="21" y="970"/>
                      <a:pt x="14" y="907"/>
                      <a:pt x="0" y="864"/>
                    </a:cubicBezTo>
                    <a:cubicBezTo>
                      <a:pt x="3" y="669"/>
                      <a:pt x="3" y="474"/>
                      <a:pt x="9" y="279"/>
                    </a:cubicBezTo>
                    <a:cubicBezTo>
                      <a:pt x="9" y="277"/>
                      <a:pt x="96" y="129"/>
                      <a:pt x="72" y="153"/>
                    </a:cubicBezTo>
                    <a:close/>
                  </a:path>
                </a:pathLst>
              </a:custGeom>
              <a:noFill/>
              <a:ln w="38100" cap="flat" cmpd="sng">
                <a:solidFill>
                  <a:schemeClr val="tx1"/>
                </a:solidFill>
                <a:prstDash val="solid"/>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Oval 1042"/>
              <p:cNvSpPr>
                <a:spLocks noChangeArrowheads="1"/>
              </p:cNvSpPr>
              <p:nvPr/>
            </p:nvSpPr>
            <p:spPr bwMode="auto">
              <a:xfrm>
                <a:off x="922" y="1147"/>
                <a:ext cx="1152" cy="1152"/>
              </a:xfrm>
              <a:prstGeom prst="ellipse">
                <a:avLst/>
              </a:prstGeom>
              <a:noFill/>
              <a:ln w="28575">
                <a:solidFill>
                  <a:srgbClr val="FF3300"/>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Oval 1044"/>
              <p:cNvSpPr>
                <a:spLocks noChangeArrowheads="1"/>
              </p:cNvSpPr>
              <p:nvPr/>
            </p:nvSpPr>
            <p:spPr bwMode="auto">
              <a:xfrm>
                <a:off x="414" y="693"/>
                <a:ext cx="2151" cy="2107"/>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877" name="Line 1060"/>
            <p:cNvSpPr>
              <a:spLocks noChangeShapeType="1"/>
            </p:cNvSpPr>
            <p:nvPr/>
          </p:nvSpPr>
          <p:spPr bwMode="auto">
            <a:xfrm>
              <a:off x="1503" y="2016"/>
              <a:ext cx="1512"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Line 1061"/>
            <p:cNvSpPr>
              <a:spLocks noChangeShapeType="1"/>
            </p:cNvSpPr>
            <p:nvPr/>
          </p:nvSpPr>
          <p:spPr bwMode="auto">
            <a:xfrm>
              <a:off x="1503" y="2511"/>
              <a:ext cx="1512"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Line 1064"/>
            <p:cNvSpPr>
              <a:spLocks noChangeShapeType="1"/>
            </p:cNvSpPr>
            <p:nvPr/>
          </p:nvSpPr>
          <p:spPr bwMode="auto">
            <a:xfrm>
              <a:off x="2839" y="1656"/>
              <a:ext cx="0" cy="36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Line 1066"/>
            <p:cNvSpPr>
              <a:spLocks noChangeShapeType="1"/>
            </p:cNvSpPr>
            <p:nvPr/>
          </p:nvSpPr>
          <p:spPr bwMode="auto">
            <a:xfrm>
              <a:off x="2840" y="2511"/>
              <a:ext cx="0" cy="306"/>
            </a:xfrm>
            <a:prstGeom prst="line">
              <a:avLst/>
            </a:prstGeom>
            <a:noFill/>
            <a:ln w="1905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881" name="Group 1067"/>
            <p:cNvGrpSpPr>
              <a:grpSpLocks/>
            </p:cNvGrpSpPr>
            <p:nvPr/>
          </p:nvGrpSpPr>
          <p:grpSpPr bwMode="auto">
            <a:xfrm>
              <a:off x="2763" y="2097"/>
              <a:ext cx="180" cy="263"/>
              <a:chOff x="3177" y="2529"/>
              <a:chExt cx="153" cy="209"/>
            </a:xfrm>
          </p:grpSpPr>
          <p:sp>
            <p:nvSpPr>
              <p:cNvPr id="36882" name="WordArt 1068"/>
              <p:cNvSpPr>
                <a:spLocks noChangeArrowheads="1" noChangeShapeType="1" noTextEdit="1"/>
              </p:cNvSpPr>
              <p:nvPr/>
            </p:nvSpPr>
            <p:spPr bwMode="auto">
              <a:xfrm>
                <a:off x="3177" y="2583"/>
                <a:ext cx="72" cy="144"/>
              </a:xfrm>
              <a:prstGeom prst="rect">
                <a:avLst/>
              </a:prstGeom>
            </p:spPr>
            <p:txBody>
              <a:bodyPr wrap="none" fromWordArt="1">
                <a:prstTxWarp prst="textPlain">
                  <a:avLst>
                    <a:gd name="adj" fmla="val 50000"/>
                  </a:avLst>
                </a:prstTxWarp>
              </a:bodyPr>
              <a:lstStyle/>
              <a:p>
                <a:r>
                  <a:rPr lang="en-US" altLang="zh-CN" sz="1800" i="1" kern="10">
                    <a:ln w="9525">
                      <a:solidFill>
                        <a:srgbClr val="000000"/>
                      </a:solidFill>
                      <a:round/>
                      <a:headEnd/>
                      <a:tailEnd/>
                    </a:ln>
                    <a:solidFill>
                      <a:srgbClr val="000000"/>
                    </a:solidFill>
                    <a:latin typeface="宋体"/>
                    <a:ea typeface="宋体"/>
                  </a:rPr>
                  <a:t>f</a:t>
                </a:r>
                <a:endParaRPr lang="zh-CN" altLang="en-US" sz="1800" i="1" kern="10">
                  <a:ln w="9525">
                    <a:solidFill>
                      <a:srgbClr val="000000"/>
                    </a:solidFill>
                    <a:round/>
                    <a:headEnd/>
                    <a:tailEnd/>
                  </a:ln>
                  <a:solidFill>
                    <a:srgbClr val="000000"/>
                  </a:solidFill>
                  <a:latin typeface="宋体"/>
                  <a:ea typeface="宋体"/>
                </a:endParaRPr>
              </a:p>
            </p:txBody>
          </p:sp>
          <p:sp>
            <p:nvSpPr>
              <p:cNvPr id="36883" name="Oval 1069"/>
              <p:cNvSpPr>
                <a:spLocks noChangeArrowheads="1"/>
              </p:cNvSpPr>
              <p:nvPr/>
            </p:nvSpPr>
            <p:spPr bwMode="auto">
              <a:xfrm>
                <a:off x="3258" y="2682"/>
                <a:ext cx="56" cy="56"/>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Line 1070"/>
              <p:cNvSpPr>
                <a:spLocks noChangeShapeType="1"/>
              </p:cNvSpPr>
              <p:nvPr/>
            </p:nvSpPr>
            <p:spPr bwMode="auto">
              <a:xfrm flipH="1">
                <a:off x="3303" y="2529"/>
                <a:ext cx="27" cy="27"/>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6373" name="Line 1077"/>
          <p:cNvSpPr>
            <a:spLocks noChangeShapeType="1"/>
          </p:cNvSpPr>
          <p:nvPr/>
        </p:nvSpPr>
        <p:spPr bwMode="auto">
          <a:xfrm>
            <a:off x="3614739" y="3307556"/>
            <a:ext cx="28479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4" name="Line 1078"/>
          <p:cNvSpPr>
            <a:spLocks noChangeShapeType="1"/>
          </p:cNvSpPr>
          <p:nvPr/>
        </p:nvSpPr>
        <p:spPr bwMode="auto">
          <a:xfrm>
            <a:off x="3627439" y="3982641"/>
            <a:ext cx="28479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5" name="AutoShape 1079"/>
          <p:cNvSpPr>
            <a:spLocks noChangeArrowheads="1"/>
          </p:cNvSpPr>
          <p:nvPr/>
        </p:nvSpPr>
        <p:spPr bwMode="auto">
          <a:xfrm>
            <a:off x="5883276" y="816769"/>
            <a:ext cx="2060575" cy="914400"/>
          </a:xfrm>
          <a:prstGeom prst="wedgeEllipseCallout">
            <a:avLst>
              <a:gd name="adj1" fmla="val -142736"/>
              <a:gd name="adj2" fmla="val 58722"/>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800" b="1">
                <a:solidFill>
                  <a:srgbClr val="FF0000"/>
                </a:solidFill>
              </a:rPr>
              <a:t>最大</a:t>
            </a:r>
          </a:p>
          <a:p>
            <a:r>
              <a:rPr lang="zh-CN" altLang="en-US" sz="2800" b="1">
                <a:solidFill>
                  <a:srgbClr val="FF0000"/>
                </a:solidFill>
              </a:rPr>
              <a:t>内切圆</a:t>
            </a:r>
          </a:p>
        </p:txBody>
      </p:sp>
      <p:sp>
        <p:nvSpPr>
          <p:cNvPr id="56376" name="Line 1080"/>
          <p:cNvSpPr>
            <a:spLocks noChangeShapeType="1"/>
          </p:cNvSpPr>
          <p:nvPr/>
        </p:nvSpPr>
        <p:spPr bwMode="auto">
          <a:xfrm>
            <a:off x="3643313" y="2558653"/>
            <a:ext cx="0" cy="794147"/>
          </a:xfrm>
          <a:prstGeom prst="line">
            <a:avLst/>
          </a:prstGeom>
          <a:noFill/>
          <a:ln w="57150">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7" name="Line 1081"/>
          <p:cNvSpPr>
            <a:spLocks noChangeShapeType="1"/>
          </p:cNvSpPr>
          <p:nvPr/>
        </p:nvSpPr>
        <p:spPr bwMode="auto">
          <a:xfrm flipV="1">
            <a:off x="3643313" y="1164432"/>
            <a:ext cx="260350" cy="1394222"/>
          </a:xfrm>
          <a:prstGeom prst="line">
            <a:avLst/>
          </a:prstGeom>
          <a:noFill/>
          <a:ln w="57150">
            <a:solidFill>
              <a:schemeClr val="accent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8" name="AutoShape 1082"/>
          <p:cNvSpPr>
            <a:spLocks noChangeArrowheads="1"/>
          </p:cNvSpPr>
          <p:nvPr/>
        </p:nvSpPr>
        <p:spPr bwMode="auto">
          <a:xfrm>
            <a:off x="6953250" y="3124201"/>
            <a:ext cx="1176338" cy="707231"/>
          </a:xfrm>
          <a:prstGeom prst="wedgeRoundRectCallout">
            <a:avLst>
              <a:gd name="adj1" fmla="val -96491"/>
              <a:gd name="adj2" fmla="val 22894"/>
              <a:gd name="adj3" fmla="val 16667"/>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800" b="1"/>
              <a:t>圆度误差</a:t>
            </a:r>
          </a:p>
        </p:txBody>
      </p:sp>
      <p:sp>
        <p:nvSpPr>
          <p:cNvPr id="56379" name="AutoShape 1083"/>
          <p:cNvSpPr>
            <a:spLocks noChangeArrowheads="1"/>
          </p:cNvSpPr>
          <p:nvPr/>
        </p:nvSpPr>
        <p:spPr bwMode="auto">
          <a:xfrm>
            <a:off x="400050" y="3904060"/>
            <a:ext cx="1770063" cy="645319"/>
          </a:xfrm>
          <a:prstGeom prst="wedgeEllipseCallout">
            <a:avLst>
              <a:gd name="adj1" fmla="val 24259"/>
              <a:gd name="adj2" fmla="val -157935"/>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b="1">
                <a:solidFill>
                  <a:srgbClr val="FF0000"/>
                </a:solidFill>
              </a:rPr>
              <a:t>外接圆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6331"/>
                                        </p:tgtEl>
                                        <p:attrNameLst>
                                          <p:attrName>style.visibility</p:attrName>
                                        </p:attrNameLst>
                                      </p:cBhvr>
                                      <p:to>
                                        <p:strVal val="visible"/>
                                      </p:to>
                                    </p:set>
                                    <p:animEffect transition="in" filter="wipe(left)">
                                      <p:cBhvr>
                                        <p:cTn id="7" dur="300"/>
                                        <p:tgtEl>
                                          <p:spTgt spid="56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6369"/>
                                        </p:tgtEl>
                                        <p:attrNameLst>
                                          <p:attrName>style.visibility</p:attrName>
                                        </p:attrNameLst>
                                      </p:cBhvr>
                                      <p:to>
                                        <p:strVal val="visible"/>
                                      </p:to>
                                    </p:set>
                                    <p:anim calcmode="lin" valueType="num">
                                      <p:cBhvr additive="base">
                                        <p:cTn id="12" dur="500" fill="hold"/>
                                        <p:tgtEl>
                                          <p:spTgt spid="56369"/>
                                        </p:tgtEl>
                                        <p:attrNameLst>
                                          <p:attrName>ppt_x</p:attrName>
                                        </p:attrNameLst>
                                      </p:cBhvr>
                                      <p:tavLst>
                                        <p:tav tm="0">
                                          <p:val>
                                            <p:strVal val="0-#ppt_w/2"/>
                                          </p:val>
                                        </p:tav>
                                        <p:tav tm="100000">
                                          <p:val>
                                            <p:strVal val="#ppt_x"/>
                                          </p:val>
                                        </p:tav>
                                      </p:tavLst>
                                    </p:anim>
                                    <p:anim calcmode="lin" valueType="num">
                                      <p:cBhvr additive="base">
                                        <p:cTn id="13" dur="500" fill="hold"/>
                                        <p:tgtEl>
                                          <p:spTgt spid="5636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2" fill="hold" grpId="0" nodeType="clickEffect">
                                  <p:stCondLst>
                                    <p:cond delay="0"/>
                                  </p:stCondLst>
                                  <p:childTnLst>
                                    <p:set>
                                      <p:cBhvr>
                                        <p:cTn id="17" dur="1" fill="hold">
                                          <p:stCondLst>
                                            <p:cond delay="0"/>
                                          </p:stCondLst>
                                        </p:cTn>
                                        <p:tgtEl>
                                          <p:spTgt spid="56375"/>
                                        </p:tgtEl>
                                        <p:attrNameLst>
                                          <p:attrName>style.visibility</p:attrName>
                                        </p:attrNameLst>
                                      </p:cBhvr>
                                      <p:to>
                                        <p:strVal val="visible"/>
                                      </p:to>
                                    </p:set>
                                    <p:anim calcmode="lin" valueType="num">
                                      <p:cBhvr>
                                        <p:cTn id="18" dur="500" fill="hold"/>
                                        <p:tgtEl>
                                          <p:spTgt spid="56375"/>
                                        </p:tgtEl>
                                        <p:attrNameLst>
                                          <p:attrName>ppt_x</p:attrName>
                                        </p:attrNameLst>
                                      </p:cBhvr>
                                      <p:tavLst>
                                        <p:tav tm="0">
                                          <p:val>
                                            <p:strVal val="#ppt_x+#ppt_w/2"/>
                                          </p:val>
                                        </p:tav>
                                        <p:tav tm="100000">
                                          <p:val>
                                            <p:strVal val="#ppt_x"/>
                                          </p:val>
                                        </p:tav>
                                      </p:tavLst>
                                    </p:anim>
                                    <p:anim calcmode="lin" valueType="num">
                                      <p:cBhvr>
                                        <p:cTn id="19" dur="500" fill="hold"/>
                                        <p:tgtEl>
                                          <p:spTgt spid="56375"/>
                                        </p:tgtEl>
                                        <p:attrNameLst>
                                          <p:attrName>ppt_y</p:attrName>
                                        </p:attrNameLst>
                                      </p:cBhvr>
                                      <p:tavLst>
                                        <p:tav tm="0">
                                          <p:val>
                                            <p:strVal val="#ppt_y"/>
                                          </p:val>
                                        </p:tav>
                                        <p:tav tm="100000">
                                          <p:val>
                                            <p:strVal val="#ppt_y"/>
                                          </p:val>
                                        </p:tav>
                                      </p:tavLst>
                                    </p:anim>
                                    <p:anim calcmode="lin" valueType="num">
                                      <p:cBhvr>
                                        <p:cTn id="20" dur="500" fill="hold"/>
                                        <p:tgtEl>
                                          <p:spTgt spid="56375"/>
                                        </p:tgtEl>
                                        <p:attrNameLst>
                                          <p:attrName>ppt_w</p:attrName>
                                        </p:attrNameLst>
                                      </p:cBhvr>
                                      <p:tavLst>
                                        <p:tav tm="0">
                                          <p:val>
                                            <p:fltVal val="0"/>
                                          </p:val>
                                        </p:tav>
                                        <p:tav tm="100000">
                                          <p:val>
                                            <p:strVal val="#ppt_w"/>
                                          </p:val>
                                        </p:tav>
                                      </p:tavLst>
                                    </p:anim>
                                    <p:anim calcmode="lin" valueType="num">
                                      <p:cBhvr>
                                        <p:cTn id="21" dur="500" fill="hold"/>
                                        <p:tgtEl>
                                          <p:spTgt spid="56375"/>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1" fill="hold" grpId="0" nodeType="clickEffect">
                                  <p:stCondLst>
                                    <p:cond delay="0"/>
                                  </p:stCondLst>
                                  <p:childTnLst>
                                    <p:set>
                                      <p:cBhvr>
                                        <p:cTn id="25" dur="1" fill="hold">
                                          <p:stCondLst>
                                            <p:cond delay="0"/>
                                          </p:stCondLst>
                                        </p:cTn>
                                        <p:tgtEl>
                                          <p:spTgt spid="56376"/>
                                        </p:tgtEl>
                                        <p:attrNameLst>
                                          <p:attrName>style.visibility</p:attrName>
                                        </p:attrNameLst>
                                      </p:cBhvr>
                                      <p:to>
                                        <p:strVal val="visible"/>
                                      </p:to>
                                    </p:set>
                                    <p:anim calcmode="lin" valueType="num">
                                      <p:cBhvr>
                                        <p:cTn id="26" dur="500" fill="hold"/>
                                        <p:tgtEl>
                                          <p:spTgt spid="56376"/>
                                        </p:tgtEl>
                                        <p:attrNameLst>
                                          <p:attrName>ppt_x</p:attrName>
                                        </p:attrNameLst>
                                      </p:cBhvr>
                                      <p:tavLst>
                                        <p:tav tm="0">
                                          <p:val>
                                            <p:strVal val="#ppt_x"/>
                                          </p:val>
                                        </p:tav>
                                        <p:tav tm="100000">
                                          <p:val>
                                            <p:strVal val="#ppt_x"/>
                                          </p:val>
                                        </p:tav>
                                      </p:tavLst>
                                    </p:anim>
                                    <p:anim calcmode="lin" valueType="num">
                                      <p:cBhvr>
                                        <p:cTn id="27" dur="500" fill="hold"/>
                                        <p:tgtEl>
                                          <p:spTgt spid="56376"/>
                                        </p:tgtEl>
                                        <p:attrNameLst>
                                          <p:attrName>ppt_y</p:attrName>
                                        </p:attrNameLst>
                                      </p:cBhvr>
                                      <p:tavLst>
                                        <p:tav tm="0">
                                          <p:val>
                                            <p:strVal val="#ppt_y-#ppt_h/2"/>
                                          </p:val>
                                        </p:tav>
                                        <p:tav tm="100000">
                                          <p:val>
                                            <p:strVal val="#ppt_y"/>
                                          </p:val>
                                        </p:tav>
                                      </p:tavLst>
                                    </p:anim>
                                    <p:anim calcmode="lin" valueType="num">
                                      <p:cBhvr>
                                        <p:cTn id="28" dur="500" fill="hold"/>
                                        <p:tgtEl>
                                          <p:spTgt spid="56376"/>
                                        </p:tgtEl>
                                        <p:attrNameLst>
                                          <p:attrName>ppt_w</p:attrName>
                                        </p:attrNameLst>
                                      </p:cBhvr>
                                      <p:tavLst>
                                        <p:tav tm="0">
                                          <p:val>
                                            <p:strVal val="#ppt_w"/>
                                          </p:val>
                                        </p:tav>
                                        <p:tav tm="100000">
                                          <p:val>
                                            <p:strVal val="#ppt_w"/>
                                          </p:val>
                                        </p:tav>
                                      </p:tavLst>
                                    </p:anim>
                                    <p:anim calcmode="lin" valueType="num">
                                      <p:cBhvr>
                                        <p:cTn id="29" dur="500" fill="hold"/>
                                        <p:tgtEl>
                                          <p:spTgt spid="56376"/>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4" fill="hold" grpId="0" nodeType="clickEffect">
                                  <p:stCondLst>
                                    <p:cond delay="0"/>
                                  </p:stCondLst>
                                  <p:childTnLst>
                                    <p:set>
                                      <p:cBhvr>
                                        <p:cTn id="33" dur="1" fill="hold">
                                          <p:stCondLst>
                                            <p:cond delay="0"/>
                                          </p:stCondLst>
                                        </p:cTn>
                                        <p:tgtEl>
                                          <p:spTgt spid="56377"/>
                                        </p:tgtEl>
                                        <p:attrNameLst>
                                          <p:attrName>style.visibility</p:attrName>
                                        </p:attrNameLst>
                                      </p:cBhvr>
                                      <p:to>
                                        <p:strVal val="visible"/>
                                      </p:to>
                                    </p:set>
                                    <p:anim calcmode="lin" valueType="num">
                                      <p:cBhvr>
                                        <p:cTn id="34" dur="500" fill="hold"/>
                                        <p:tgtEl>
                                          <p:spTgt spid="56377"/>
                                        </p:tgtEl>
                                        <p:attrNameLst>
                                          <p:attrName>ppt_x</p:attrName>
                                        </p:attrNameLst>
                                      </p:cBhvr>
                                      <p:tavLst>
                                        <p:tav tm="0">
                                          <p:val>
                                            <p:strVal val="#ppt_x"/>
                                          </p:val>
                                        </p:tav>
                                        <p:tav tm="100000">
                                          <p:val>
                                            <p:strVal val="#ppt_x"/>
                                          </p:val>
                                        </p:tav>
                                      </p:tavLst>
                                    </p:anim>
                                    <p:anim calcmode="lin" valueType="num">
                                      <p:cBhvr>
                                        <p:cTn id="35" dur="500" fill="hold"/>
                                        <p:tgtEl>
                                          <p:spTgt spid="56377"/>
                                        </p:tgtEl>
                                        <p:attrNameLst>
                                          <p:attrName>ppt_y</p:attrName>
                                        </p:attrNameLst>
                                      </p:cBhvr>
                                      <p:tavLst>
                                        <p:tav tm="0">
                                          <p:val>
                                            <p:strVal val="#ppt_y+#ppt_h/2"/>
                                          </p:val>
                                        </p:tav>
                                        <p:tav tm="100000">
                                          <p:val>
                                            <p:strVal val="#ppt_y"/>
                                          </p:val>
                                        </p:tav>
                                      </p:tavLst>
                                    </p:anim>
                                    <p:anim calcmode="lin" valueType="num">
                                      <p:cBhvr>
                                        <p:cTn id="36" dur="500" fill="hold"/>
                                        <p:tgtEl>
                                          <p:spTgt spid="56377"/>
                                        </p:tgtEl>
                                        <p:attrNameLst>
                                          <p:attrName>ppt_w</p:attrName>
                                        </p:attrNameLst>
                                      </p:cBhvr>
                                      <p:tavLst>
                                        <p:tav tm="0">
                                          <p:val>
                                            <p:strVal val="#ppt_w"/>
                                          </p:val>
                                        </p:tav>
                                        <p:tav tm="100000">
                                          <p:val>
                                            <p:strVal val="#ppt_w"/>
                                          </p:val>
                                        </p:tav>
                                      </p:tavLst>
                                    </p:anim>
                                    <p:anim calcmode="lin" valueType="num">
                                      <p:cBhvr>
                                        <p:cTn id="37" dur="500" fill="hold"/>
                                        <p:tgtEl>
                                          <p:spTgt spid="56377"/>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2" fill="hold" grpId="0" nodeType="clickEffect">
                                  <p:stCondLst>
                                    <p:cond delay="0"/>
                                  </p:stCondLst>
                                  <p:childTnLst>
                                    <p:set>
                                      <p:cBhvr>
                                        <p:cTn id="41" dur="1" fill="hold">
                                          <p:stCondLst>
                                            <p:cond delay="0"/>
                                          </p:stCondLst>
                                        </p:cTn>
                                        <p:tgtEl>
                                          <p:spTgt spid="56379"/>
                                        </p:tgtEl>
                                        <p:attrNameLst>
                                          <p:attrName>style.visibility</p:attrName>
                                        </p:attrNameLst>
                                      </p:cBhvr>
                                      <p:to>
                                        <p:strVal val="visible"/>
                                      </p:to>
                                    </p:set>
                                    <p:anim calcmode="lin" valueType="num">
                                      <p:cBhvr>
                                        <p:cTn id="42" dur="500" fill="hold"/>
                                        <p:tgtEl>
                                          <p:spTgt spid="56379"/>
                                        </p:tgtEl>
                                        <p:attrNameLst>
                                          <p:attrName>ppt_x</p:attrName>
                                        </p:attrNameLst>
                                      </p:cBhvr>
                                      <p:tavLst>
                                        <p:tav tm="0">
                                          <p:val>
                                            <p:strVal val="#ppt_x+#ppt_w/2"/>
                                          </p:val>
                                        </p:tav>
                                        <p:tav tm="100000">
                                          <p:val>
                                            <p:strVal val="#ppt_x"/>
                                          </p:val>
                                        </p:tav>
                                      </p:tavLst>
                                    </p:anim>
                                    <p:anim calcmode="lin" valueType="num">
                                      <p:cBhvr>
                                        <p:cTn id="43" dur="500" fill="hold"/>
                                        <p:tgtEl>
                                          <p:spTgt spid="56379"/>
                                        </p:tgtEl>
                                        <p:attrNameLst>
                                          <p:attrName>ppt_y</p:attrName>
                                        </p:attrNameLst>
                                      </p:cBhvr>
                                      <p:tavLst>
                                        <p:tav tm="0">
                                          <p:val>
                                            <p:strVal val="#ppt_y"/>
                                          </p:val>
                                        </p:tav>
                                        <p:tav tm="100000">
                                          <p:val>
                                            <p:strVal val="#ppt_y"/>
                                          </p:val>
                                        </p:tav>
                                      </p:tavLst>
                                    </p:anim>
                                    <p:anim calcmode="lin" valueType="num">
                                      <p:cBhvr>
                                        <p:cTn id="44" dur="500" fill="hold"/>
                                        <p:tgtEl>
                                          <p:spTgt spid="56379"/>
                                        </p:tgtEl>
                                        <p:attrNameLst>
                                          <p:attrName>ppt_w</p:attrName>
                                        </p:attrNameLst>
                                      </p:cBhvr>
                                      <p:tavLst>
                                        <p:tav tm="0">
                                          <p:val>
                                            <p:fltVal val="0"/>
                                          </p:val>
                                        </p:tav>
                                        <p:tav tm="100000">
                                          <p:val>
                                            <p:strVal val="#ppt_w"/>
                                          </p:val>
                                        </p:tav>
                                      </p:tavLst>
                                    </p:anim>
                                    <p:anim calcmode="lin" valueType="num">
                                      <p:cBhvr>
                                        <p:cTn id="45" dur="500" fill="hold"/>
                                        <p:tgtEl>
                                          <p:spTgt spid="56379"/>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grpId="0" nodeType="clickEffect">
                                  <p:stCondLst>
                                    <p:cond delay="0"/>
                                  </p:stCondLst>
                                  <p:childTnLst>
                                    <p:set>
                                      <p:cBhvr>
                                        <p:cTn id="49" dur="1" fill="hold">
                                          <p:stCondLst>
                                            <p:cond delay="0"/>
                                          </p:stCondLst>
                                        </p:cTn>
                                        <p:tgtEl>
                                          <p:spTgt spid="56373"/>
                                        </p:tgtEl>
                                        <p:attrNameLst>
                                          <p:attrName>style.visibility</p:attrName>
                                        </p:attrNameLst>
                                      </p:cBhvr>
                                      <p:to>
                                        <p:strVal val="visible"/>
                                      </p:to>
                                    </p:set>
                                    <p:anim calcmode="lin" valueType="num">
                                      <p:cBhvr>
                                        <p:cTn id="50" dur="500" fill="hold"/>
                                        <p:tgtEl>
                                          <p:spTgt spid="56373"/>
                                        </p:tgtEl>
                                        <p:attrNameLst>
                                          <p:attrName>ppt_x</p:attrName>
                                        </p:attrNameLst>
                                      </p:cBhvr>
                                      <p:tavLst>
                                        <p:tav tm="0">
                                          <p:val>
                                            <p:strVal val="#ppt_x-#ppt_w/2"/>
                                          </p:val>
                                        </p:tav>
                                        <p:tav tm="100000">
                                          <p:val>
                                            <p:strVal val="#ppt_x"/>
                                          </p:val>
                                        </p:tav>
                                      </p:tavLst>
                                    </p:anim>
                                    <p:anim calcmode="lin" valueType="num">
                                      <p:cBhvr>
                                        <p:cTn id="51" dur="500" fill="hold"/>
                                        <p:tgtEl>
                                          <p:spTgt spid="56373"/>
                                        </p:tgtEl>
                                        <p:attrNameLst>
                                          <p:attrName>ppt_y</p:attrName>
                                        </p:attrNameLst>
                                      </p:cBhvr>
                                      <p:tavLst>
                                        <p:tav tm="0">
                                          <p:val>
                                            <p:strVal val="#ppt_y"/>
                                          </p:val>
                                        </p:tav>
                                        <p:tav tm="100000">
                                          <p:val>
                                            <p:strVal val="#ppt_y"/>
                                          </p:val>
                                        </p:tav>
                                      </p:tavLst>
                                    </p:anim>
                                    <p:anim calcmode="lin" valueType="num">
                                      <p:cBhvr>
                                        <p:cTn id="52" dur="500" fill="hold"/>
                                        <p:tgtEl>
                                          <p:spTgt spid="56373"/>
                                        </p:tgtEl>
                                        <p:attrNameLst>
                                          <p:attrName>ppt_w</p:attrName>
                                        </p:attrNameLst>
                                      </p:cBhvr>
                                      <p:tavLst>
                                        <p:tav tm="0">
                                          <p:val>
                                            <p:fltVal val="0"/>
                                          </p:val>
                                        </p:tav>
                                        <p:tav tm="100000">
                                          <p:val>
                                            <p:strVal val="#ppt_w"/>
                                          </p:val>
                                        </p:tav>
                                      </p:tavLst>
                                    </p:anim>
                                    <p:anim calcmode="lin" valueType="num">
                                      <p:cBhvr>
                                        <p:cTn id="53" dur="500" fill="hold"/>
                                        <p:tgtEl>
                                          <p:spTgt spid="56373"/>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grpId="0" nodeType="clickEffect">
                                  <p:stCondLst>
                                    <p:cond delay="0"/>
                                  </p:stCondLst>
                                  <p:childTnLst>
                                    <p:set>
                                      <p:cBhvr>
                                        <p:cTn id="57" dur="1" fill="hold">
                                          <p:stCondLst>
                                            <p:cond delay="0"/>
                                          </p:stCondLst>
                                        </p:cTn>
                                        <p:tgtEl>
                                          <p:spTgt spid="56374"/>
                                        </p:tgtEl>
                                        <p:attrNameLst>
                                          <p:attrName>style.visibility</p:attrName>
                                        </p:attrNameLst>
                                      </p:cBhvr>
                                      <p:to>
                                        <p:strVal val="visible"/>
                                      </p:to>
                                    </p:set>
                                    <p:anim calcmode="lin" valueType="num">
                                      <p:cBhvr>
                                        <p:cTn id="58" dur="500" fill="hold"/>
                                        <p:tgtEl>
                                          <p:spTgt spid="56374"/>
                                        </p:tgtEl>
                                        <p:attrNameLst>
                                          <p:attrName>ppt_x</p:attrName>
                                        </p:attrNameLst>
                                      </p:cBhvr>
                                      <p:tavLst>
                                        <p:tav tm="0">
                                          <p:val>
                                            <p:strVal val="#ppt_x-#ppt_w/2"/>
                                          </p:val>
                                        </p:tav>
                                        <p:tav tm="100000">
                                          <p:val>
                                            <p:strVal val="#ppt_x"/>
                                          </p:val>
                                        </p:tav>
                                      </p:tavLst>
                                    </p:anim>
                                    <p:anim calcmode="lin" valueType="num">
                                      <p:cBhvr>
                                        <p:cTn id="59" dur="500" fill="hold"/>
                                        <p:tgtEl>
                                          <p:spTgt spid="56374"/>
                                        </p:tgtEl>
                                        <p:attrNameLst>
                                          <p:attrName>ppt_y</p:attrName>
                                        </p:attrNameLst>
                                      </p:cBhvr>
                                      <p:tavLst>
                                        <p:tav tm="0">
                                          <p:val>
                                            <p:strVal val="#ppt_y"/>
                                          </p:val>
                                        </p:tav>
                                        <p:tav tm="100000">
                                          <p:val>
                                            <p:strVal val="#ppt_y"/>
                                          </p:val>
                                        </p:tav>
                                      </p:tavLst>
                                    </p:anim>
                                    <p:anim calcmode="lin" valueType="num">
                                      <p:cBhvr>
                                        <p:cTn id="60" dur="500" fill="hold"/>
                                        <p:tgtEl>
                                          <p:spTgt spid="56374"/>
                                        </p:tgtEl>
                                        <p:attrNameLst>
                                          <p:attrName>ppt_w</p:attrName>
                                        </p:attrNameLst>
                                      </p:cBhvr>
                                      <p:tavLst>
                                        <p:tav tm="0">
                                          <p:val>
                                            <p:fltVal val="0"/>
                                          </p:val>
                                        </p:tav>
                                        <p:tav tm="100000">
                                          <p:val>
                                            <p:strVal val="#ppt_w"/>
                                          </p:val>
                                        </p:tav>
                                      </p:tavLst>
                                    </p:anim>
                                    <p:anim calcmode="lin" valueType="num">
                                      <p:cBhvr>
                                        <p:cTn id="61" dur="500" fill="hold"/>
                                        <p:tgtEl>
                                          <p:spTgt spid="56374"/>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2" fill="hold" grpId="0" nodeType="clickEffect">
                                  <p:stCondLst>
                                    <p:cond delay="0"/>
                                  </p:stCondLst>
                                  <p:childTnLst>
                                    <p:set>
                                      <p:cBhvr>
                                        <p:cTn id="65" dur="1" fill="hold">
                                          <p:stCondLst>
                                            <p:cond delay="0"/>
                                          </p:stCondLst>
                                        </p:cTn>
                                        <p:tgtEl>
                                          <p:spTgt spid="56378"/>
                                        </p:tgtEl>
                                        <p:attrNameLst>
                                          <p:attrName>style.visibility</p:attrName>
                                        </p:attrNameLst>
                                      </p:cBhvr>
                                      <p:to>
                                        <p:strVal val="visible"/>
                                      </p:to>
                                    </p:set>
                                    <p:anim calcmode="lin" valueType="num">
                                      <p:cBhvr>
                                        <p:cTn id="66" dur="500" fill="hold"/>
                                        <p:tgtEl>
                                          <p:spTgt spid="56378"/>
                                        </p:tgtEl>
                                        <p:attrNameLst>
                                          <p:attrName>ppt_x</p:attrName>
                                        </p:attrNameLst>
                                      </p:cBhvr>
                                      <p:tavLst>
                                        <p:tav tm="0">
                                          <p:val>
                                            <p:strVal val="#ppt_x+#ppt_w/2"/>
                                          </p:val>
                                        </p:tav>
                                        <p:tav tm="100000">
                                          <p:val>
                                            <p:strVal val="#ppt_x"/>
                                          </p:val>
                                        </p:tav>
                                      </p:tavLst>
                                    </p:anim>
                                    <p:anim calcmode="lin" valueType="num">
                                      <p:cBhvr>
                                        <p:cTn id="67" dur="500" fill="hold"/>
                                        <p:tgtEl>
                                          <p:spTgt spid="56378"/>
                                        </p:tgtEl>
                                        <p:attrNameLst>
                                          <p:attrName>ppt_y</p:attrName>
                                        </p:attrNameLst>
                                      </p:cBhvr>
                                      <p:tavLst>
                                        <p:tav tm="0">
                                          <p:val>
                                            <p:strVal val="#ppt_y"/>
                                          </p:val>
                                        </p:tav>
                                        <p:tav tm="100000">
                                          <p:val>
                                            <p:strVal val="#ppt_y"/>
                                          </p:val>
                                        </p:tav>
                                      </p:tavLst>
                                    </p:anim>
                                    <p:anim calcmode="lin" valueType="num">
                                      <p:cBhvr>
                                        <p:cTn id="68" dur="500" fill="hold"/>
                                        <p:tgtEl>
                                          <p:spTgt spid="56378"/>
                                        </p:tgtEl>
                                        <p:attrNameLst>
                                          <p:attrName>ppt_w</p:attrName>
                                        </p:attrNameLst>
                                      </p:cBhvr>
                                      <p:tavLst>
                                        <p:tav tm="0">
                                          <p:val>
                                            <p:fltVal val="0"/>
                                          </p:val>
                                        </p:tav>
                                        <p:tav tm="100000">
                                          <p:val>
                                            <p:strVal val="#ppt_w"/>
                                          </p:val>
                                        </p:tav>
                                      </p:tavLst>
                                    </p:anim>
                                    <p:anim calcmode="lin" valueType="num">
                                      <p:cBhvr>
                                        <p:cTn id="69" dur="500" fill="hold"/>
                                        <p:tgtEl>
                                          <p:spTgt spid="5637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1" grpId="0" autoUpdateAnimBg="0"/>
      <p:bldP spid="56373" grpId="0" animBg="1"/>
      <p:bldP spid="56374" grpId="0" animBg="1"/>
      <p:bldP spid="56375" grpId="0" animBg="1" autoUpdateAnimBg="0"/>
      <p:bldP spid="56376" grpId="0" animBg="1"/>
      <p:bldP spid="56377" grpId="0" animBg="1"/>
      <p:bldP spid="56378" grpId="0" animBg="1" autoUpdateAnimBg="0"/>
      <p:bldP spid="56379"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38CC879-EBA5-43E6-B92D-2F2A3BDE7962}" type="slidenum">
              <a:rPr kumimoji="0" lang="zh-CN" altLang="en-US" sz="2000" smtClean="0">
                <a:solidFill>
                  <a:srgbClr val="0000FF"/>
                </a:solidFill>
              </a:rPr>
              <a:pPr eaLnBrk="1" hangingPunct="1"/>
              <a:t>31</a:t>
            </a:fld>
            <a:endParaRPr kumimoji="0" lang="en-US" altLang="zh-CN" sz="2000">
              <a:solidFill>
                <a:srgbClr val="0000FF"/>
              </a:solidFill>
            </a:endParaRPr>
          </a:p>
        </p:txBody>
      </p:sp>
      <p:sp>
        <p:nvSpPr>
          <p:cNvPr id="115716" name="Text Box 4"/>
          <p:cNvSpPr txBox="1">
            <a:spLocks noChangeArrowheads="1"/>
          </p:cNvSpPr>
          <p:nvPr/>
        </p:nvSpPr>
        <p:spPr bwMode="auto">
          <a:xfrm>
            <a:off x="352425" y="135731"/>
            <a:ext cx="8194675"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b="1"/>
              <a:t>       ③  最小二乘圆法：被测实际圆上各点至该圆的距离平方和为最小的圆，以此圆的圆心为圆心，作两个包容实际圆的同心圆，则此两个同心圆的半径差为圆度误差。</a:t>
            </a:r>
          </a:p>
        </p:txBody>
      </p:sp>
      <p:sp>
        <p:nvSpPr>
          <p:cNvPr id="115734" name="Line 22"/>
          <p:cNvSpPr>
            <a:spLocks noChangeShapeType="1"/>
          </p:cNvSpPr>
          <p:nvPr/>
        </p:nvSpPr>
        <p:spPr bwMode="auto">
          <a:xfrm>
            <a:off x="3714751" y="4123135"/>
            <a:ext cx="29368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35" name="Line 23"/>
          <p:cNvSpPr>
            <a:spLocks noChangeShapeType="1"/>
          </p:cNvSpPr>
          <p:nvPr/>
        </p:nvSpPr>
        <p:spPr bwMode="auto">
          <a:xfrm>
            <a:off x="3727451" y="4663679"/>
            <a:ext cx="29368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5740" name="Group 28"/>
          <p:cNvGrpSpPr>
            <a:grpSpLocks/>
          </p:cNvGrpSpPr>
          <p:nvPr/>
        </p:nvGrpSpPr>
        <p:grpSpPr bwMode="auto">
          <a:xfrm>
            <a:off x="1122363" y="1103710"/>
            <a:ext cx="5527675" cy="3955256"/>
            <a:chOff x="707" y="697"/>
            <a:chExt cx="3482" cy="3414"/>
          </a:xfrm>
        </p:grpSpPr>
        <p:grpSp>
          <p:nvGrpSpPr>
            <p:cNvPr id="37908" name="Group 5"/>
            <p:cNvGrpSpPr>
              <a:grpSpLocks/>
            </p:cNvGrpSpPr>
            <p:nvPr/>
          </p:nvGrpSpPr>
          <p:grpSpPr bwMode="auto">
            <a:xfrm>
              <a:off x="707" y="697"/>
              <a:ext cx="3482" cy="3414"/>
              <a:chOff x="3118" y="279"/>
              <a:chExt cx="2462" cy="2396"/>
            </a:xfrm>
          </p:grpSpPr>
          <p:grpSp>
            <p:nvGrpSpPr>
              <p:cNvPr id="37910" name="Group 6"/>
              <p:cNvGrpSpPr>
                <a:grpSpLocks/>
              </p:cNvGrpSpPr>
              <p:nvPr/>
            </p:nvGrpSpPr>
            <p:grpSpPr bwMode="auto">
              <a:xfrm>
                <a:off x="3118" y="279"/>
                <a:ext cx="2439" cy="2396"/>
                <a:chOff x="2902" y="387"/>
                <a:chExt cx="2439" cy="2396"/>
              </a:xfrm>
            </p:grpSpPr>
            <p:sp>
              <p:nvSpPr>
                <p:cNvPr id="37919" name="Freeform 7"/>
                <p:cNvSpPr>
                  <a:spLocks/>
                </p:cNvSpPr>
                <p:nvPr/>
              </p:nvSpPr>
              <p:spPr bwMode="auto">
                <a:xfrm>
                  <a:off x="3498" y="792"/>
                  <a:ext cx="1186" cy="1664"/>
                </a:xfrm>
                <a:custGeom>
                  <a:avLst/>
                  <a:gdLst>
                    <a:gd name="T0" fmla="*/ 297 w 936"/>
                    <a:gd name="T1" fmla="*/ 2266 h 1062"/>
                    <a:gd name="T2" fmla="*/ 896 w 936"/>
                    <a:gd name="T3" fmla="*/ 1330 h 1062"/>
                    <a:gd name="T4" fmla="*/ 1564 w 936"/>
                    <a:gd name="T5" fmla="*/ 530 h 1062"/>
                    <a:gd name="T6" fmla="*/ 2790 w 936"/>
                    <a:gd name="T7" fmla="*/ 1330 h 1062"/>
                    <a:gd name="T8" fmla="*/ 3350 w 936"/>
                    <a:gd name="T9" fmla="*/ 5063 h 1062"/>
                    <a:gd name="T10" fmla="*/ 3689 w 936"/>
                    <a:gd name="T11" fmla="*/ 7463 h 1062"/>
                    <a:gd name="T12" fmla="*/ 3763 w 936"/>
                    <a:gd name="T13" fmla="*/ 8251 h 1062"/>
                    <a:gd name="T14" fmla="*/ 3350 w 936"/>
                    <a:gd name="T15" fmla="*/ 13992 h 1062"/>
                    <a:gd name="T16" fmla="*/ 3281 w 936"/>
                    <a:gd name="T17" fmla="*/ 14382 h 1062"/>
                    <a:gd name="T18" fmla="*/ 2644 w 936"/>
                    <a:gd name="T19" fmla="*/ 15188 h 1062"/>
                    <a:gd name="T20" fmla="*/ 2309 w 936"/>
                    <a:gd name="T21" fmla="*/ 15579 h 1062"/>
                    <a:gd name="T22" fmla="*/ 2200 w 936"/>
                    <a:gd name="T23" fmla="*/ 15714 h 1062"/>
                    <a:gd name="T24" fmla="*/ 407 w 936"/>
                    <a:gd name="T25" fmla="*/ 15314 h 1062"/>
                    <a:gd name="T26" fmla="*/ 185 w 936"/>
                    <a:gd name="T27" fmla="*/ 14910 h 1062"/>
                    <a:gd name="T28" fmla="*/ 0 w 936"/>
                    <a:gd name="T29" fmla="*/ 12790 h 1062"/>
                    <a:gd name="T30" fmla="*/ 37 w 936"/>
                    <a:gd name="T31" fmla="*/ 4127 h 1062"/>
                    <a:gd name="T32" fmla="*/ 297 w 936"/>
                    <a:gd name="T33" fmla="*/ 2266 h 10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6" h="1062">
                      <a:moveTo>
                        <a:pt x="72" y="153"/>
                      </a:moveTo>
                      <a:cubicBezTo>
                        <a:pt x="116" y="123"/>
                        <a:pt x="164" y="103"/>
                        <a:pt x="216" y="90"/>
                      </a:cubicBezTo>
                      <a:cubicBezTo>
                        <a:pt x="263" y="59"/>
                        <a:pt x="325" y="54"/>
                        <a:pt x="378" y="36"/>
                      </a:cubicBezTo>
                      <a:cubicBezTo>
                        <a:pt x="784" y="50"/>
                        <a:pt x="540" y="0"/>
                        <a:pt x="675" y="90"/>
                      </a:cubicBezTo>
                      <a:cubicBezTo>
                        <a:pt x="700" y="166"/>
                        <a:pt x="723" y="313"/>
                        <a:pt x="810" y="342"/>
                      </a:cubicBezTo>
                      <a:cubicBezTo>
                        <a:pt x="845" y="395"/>
                        <a:pt x="871" y="443"/>
                        <a:pt x="891" y="504"/>
                      </a:cubicBezTo>
                      <a:cubicBezTo>
                        <a:pt x="897" y="522"/>
                        <a:pt x="909" y="558"/>
                        <a:pt x="909" y="558"/>
                      </a:cubicBezTo>
                      <a:cubicBezTo>
                        <a:pt x="907" y="622"/>
                        <a:pt x="936" y="903"/>
                        <a:pt x="810" y="945"/>
                      </a:cubicBezTo>
                      <a:cubicBezTo>
                        <a:pt x="804" y="954"/>
                        <a:pt x="801" y="966"/>
                        <a:pt x="792" y="972"/>
                      </a:cubicBezTo>
                      <a:cubicBezTo>
                        <a:pt x="768" y="987"/>
                        <a:pt x="669" y="1017"/>
                        <a:pt x="639" y="1026"/>
                      </a:cubicBezTo>
                      <a:cubicBezTo>
                        <a:pt x="612" y="1034"/>
                        <a:pt x="585" y="1044"/>
                        <a:pt x="558" y="1053"/>
                      </a:cubicBezTo>
                      <a:cubicBezTo>
                        <a:pt x="549" y="1056"/>
                        <a:pt x="531" y="1062"/>
                        <a:pt x="531" y="1062"/>
                      </a:cubicBezTo>
                      <a:cubicBezTo>
                        <a:pt x="345" y="1056"/>
                        <a:pt x="263" y="1047"/>
                        <a:pt x="99" y="1035"/>
                      </a:cubicBezTo>
                      <a:cubicBezTo>
                        <a:pt x="84" y="1030"/>
                        <a:pt x="54" y="1023"/>
                        <a:pt x="45" y="1008"/>
                      </a:cubicBezTo>
                      <a:cubicBezTo>
                        <a:pt x="21" y="970"/>
                        <a:pt x="14" y="907"/>
                        <a:pt x="0" y="864"/>
                      </a:cubicBezTo>
                      <a:cubicBezTo>
                        <a:pt x="3" y="669"/>
                        <a:pt x="3" y="474"/>
                        <a:pt x="9" y="279"/>
                      </a:cubicBezTo>
                      <a:cubicBezTo>
                        <a:pt x="9" y="277"/>
                        <a:pt x="96" y="129"/>
                        <a:pt x="72" y="153"/>
                      </a:cubicBezTo>
                      <a:close/>
                    </a:path>
                  </a:pathLst>
                </a:custGeom>
                <a:noFill/>
                <a:ln w="38100" cap="flat" cmpd="sng">
                  <a:solidFill>
                    <a:schemeClr val="tx1"/>
                  </a:solidFill>
                  <a:prstDash val="solid"/>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0" name="Line 8"/>
                <p:cNvSpPr>
                  <a:spLocks noChangeShapeType="1"/>
                </p:cNvSpPr>
                <p:nvPr/>
              </p:nvSpPr>
              <p:spPr bwMode="auto">
                <a:xfrm>
                  <a:off x="2902" y="1637"/>
                  <a:ext cx="2439" cy="0"/>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1" name="Line 9"/>
                <p:cNvSpPr>
                  <a:spLocks noChangeShapeType="1"/>
                </p:cNvSpPr>
                <p:nvPr/>
              </p:nvSpPr>
              <p:spPr bwMode="auto">
                <a:xfrm>
                  <a:off x="4068" y="387"/>
                  <a:ext cx="0" cy="2396"/>
                </a:xfrm>
                <a:prstGeom prst="line">
                  <a:avLst/>
                </a:prstGeom>
                <a:noFill/>
                <a:ln w="19050">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2" name="Oval 10"/>
                <p:cNvSpPr>
                  <a:spLocks noChangeArrowheads="1"/>
                </p:cNvSpPr>
                <p:nvPr/>
              </p:nvSpPr>
              <p:spPr bwMode="auto">
                <a:xfrm>
                  <a:off x="3357" y="963"/>
                  <a:ext cx="1386" cy="1386"/>
                </a:xfrm>
                <a:prstGeom prst="ellipse">
                  <a:avLst/>
                </a:prstGeom>
                <a:noFill/>
                <a:ln w="28575">
                  <a:solidFill>
                    <a:srgbClr val="FF3300"/>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3" name="Oval 11"/>
                <p:cNvSpPr>
                  <a:spLocks noChangeArrowheads="1"/>
                </p:cNvSpPr>
                <p:nvPr/>
              </p:nvSpPr>
              <p:spPr bwMode="auto">
                <a:xfrm>
                  <a:off x="3510" y="1121"/>
                  <a:ext cx="1089" cy="1089"/>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4" name="Oval 12"/>
                <p:cNvSpPr>
                  <a:spLocks noChangeArrowheads="1"/>
                </p:cNvSpPr>
                <p:nvPr/>
              </p:nvSpPr>
              <p:spPr bwMode="auto">
                <a:xfrm>
                  <a:off x="3141" y="738"/>
                  <a:ext cx="1809" cy="1809"/>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7911" name="Group 13"/>
              <p:cNvGrpSpPr>
                <a:grpSpLocks/>
              </p:cNvGrpSpPr>
              <p:nvPr/>
            </p:nvGrpSpPr>
            <p:grpSpPr bwMode="auto">
              <a:xfrm>
                <a:off x="5355" y="2151"/>
                <a:ext cx="153" cy="209"/>
                <a:chOff x="3177" y="2529"/>
                <a:chExt cx="153" cy="209"/>
              </a:xfrm>
            </p:grpSpPr>
            <p:sp>
              <p:nvSpPr>
                <p:cNvPr id="37916" name="WordArt 14"/>
                <p:cNvSpPr>
                  <a:spLocks noChangeArrowheads="1" noChangeShapeType="1" noTextEdit="1"/>
                </p:cNvSpPr>
                <p:nvPr/>
              </p:nvSpPr>
              <p:spPr bwMode="auto">
                <a:xfrm>
                  <a:off x="3177" y="2583"/>
                  <a:ext cx="72" cy="144"/>
                </a:xfrm>
                <a:prstGeom prst="rect">
                  <a:avLst/>
                </a:prstGeom>
              </p:spPr>
              <p:txBody>
                <a:bodyPr wrap="none" fromWordArt="1">
                  <a:prstTxWarp prst="textPlain">
                    <a:avLst>
                      <a:gd name="adj" fmla="val 50000"/>
                    </a:avLst>
                  </a:prstTxWarp>
                </a:bodyPr>
                <a:lstStyle/>
                <a:p>
                  <a:r>
                    <a:rPr lang="en-US" altLang="zh-CN" sz="1800" i="1" kern="10">
                      <a:ln w="9525">
                        <a:solidFill>
                          <a:srgbClr val="000000"/>
                        </a:solidFill>
                        <a:round/>
                        <a:headEnd/>
                        <a:tailEnd/>
                      </a:ln>
                      <a:solidFill>
                        <a:srgbClr val="000000"/>
                      </a:solidFill>
                      <a:latin typeface="宋体"/>
                      <a:ea typeface="宋体"/>
                    </a:rPr>
                    <a:t>f</a:t>
                  </a:r>
                  <a:endParaRPr lang="zh-CN" altLang="en-US" sz="1800" i="1" kern="10">
                    <a:ln w="9525">
                      <a:solidFill>
                        <a:srgbClr val="000000"/>
                      </a:solidFill>
                      <a:round/>
                      <a:headEnd/>
                      <a:tailEnd/>
                    </a:ln>
                    <a:solidFill>
                      <a:srgbClr val="000000"/>
                    </a:solidFill>
                    <a:latin typeface="宋体"/>
                    <a:ea typeface="宋体"/>
                  </a:endParaRPr>
                </a:p>
              </p:txBody>
            </p:sp>
            <p:sp>
              <p:nvSpPr>
                <p:cNvPr id="37917" name="Oval 15"/>
                <p:cNvSpPr>
                  <a:spLocks noChangeArrowheads="1"/>
                </p:cNvSpPr>
                <p:nvPr/>
              </p:nvSpPr>
              <p:spPr bwMode="auto">
                <a:xfrm>
                  <a:off x="3258" y="2682"/>
                  <a:ext cx="56" cy="56"/>
                </a:xfrm>
                <a:prstGeom prst="ellipse">
                  <a:avLst/>
                </a:prstGeom>
                <a:noFill/>
                <a:ln w="28575">
                  <a:solidFill>
                    <a:schemeClr val="tx1"/>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8" name="Line 16"/>
                <p:cNvSpPr>
                  <a:spLocks noChangeShapeType="1"/>
                </p:cNvSpPr>
                <p:nvPr/>
              </p:nvSpPr>
              <p:spPr bwMode="auto">
                <a:xfrm flipH="1">
                  <a:off x="3303" y="2529"/>
                  <a:ext cx="27" cy="27"/>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12" name="Line 17"/>
              <p:cNvSpPr>
                <a:spLocks noChangeShapeType="1"/>
              </p:cNvSpPr>
              <p:nvPr/>
            </p:nvSpPr>
            <p:spPr bwMode="auto">
              <a:xfrm>
                <a:off x="4293" y="2430"/>
                <a:ext cx="128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3" name="Line 18"/>
              <p:cNvSpPr>
                <a:spLocks noChangeShapeType="1"/>
              </p:cNvSpPr>
              <p:nvPr/>
            </p:nvSpPr>
            <p:spPr bwMode="auto">
              <a:xfrm>
                <a:off x="4284" y="2115"/>
                <a:ext cx="1287"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Line 19"/>
              <p:cNvSpPr>
                <a:spLocks noChangeShapeType="1"/>
              </p:cNvSpPr>
              <p:nvPr/>
            </p:nvSpPr>
            <p:spPr bwMode="auto">
              <a:xfrm>
                <a:off x="5418" y="1791"/>
                <a:ext cx="0" cy="315"/>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5" name="Line 20"/>
              <p:cNvSpPr>
                <a:spLocks noChangeShapeType="1"/>
              </p:cNvSpPr>
              <p:nvPr/>
            </p:nvSpPr>
            <p:spPr bwMode="auto">
              <a:xfrm>
                <a:off x="5418" y="2430"/>
                <a:ext cx="0" cy="243"/>
              </a:xfrm>
              <a:prstGeom prst="line">
                <a:avLst/>
              </a:prstGeom>
              <a:noFill/>
              <a:ln w="19050">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09" name="Line 24"/>
            <p:cNvSpPr>
              <a:spLocks noChangeShapeType="1"/>
            </p:cNvSpPr>
            <p:nvPr/>
          </p:nvSpPr>
          <p:spPr bwMode="auto">
            <a:xfrm flipH="1">
              <a:off x="2569" y="1353"/>
              <a:ext cx="55" cy="211"/>
            </a:xfrm>
            <a:prstGeom prst="line">
              <a:avLst/>
            </a:prstGeom>
            <a:noFill/>
            <a:ln w="38100">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15741" name="Object 29"/>
          <p:cNvGraphicFramePr>
            <a:graphicFrameLocks noChangeAspect="1"/>
          </p:cNvGraphicFramePr>
          <p:nvPr/>
        </p:nvGraphicFramePr>
        <p:xfrm>
          <a:off x="685800" y="1294898"/>
          <a:ext cx="2221832" cy="582690"/>
        </p:xfrm>
        <a:graphic>
          <a:graphicData uri="http://schemas.openxmlformats.org/presentationml/2006/ole">
            <p:oleObj spid="_x0000_s37943" name="公式" r:id="rId3" imgW="18288000" imgH="6400800" progId="">
              <p:embed/>
            </p:oleObj>
          </a:graphicData>
        </a:graphic>
      </p:graphicFrame>
      <p:grpSp>
        <p:nvGrpSpPr>
          <p:cNvPr id="115745" name="Group 33"/>
          <p:cNvGrpSpPr>
            <a:grpSpLocks/>
          </p:cNvGrpSpPr>
          <p:nvPr/>
        </p:nvGrpSpPr>
        <p:grpSpPr bwMode="auto">
          <a:xfrm>
            <a:off x="2111375" y="1906191"/>
            <a:ext cx="3163888" cy="2503884"/>
            <a:chOff x="1330" y="1371"/>
            <a:chExt cx="1993" cy="2186"/>
          </a:xfrm>
        </p:grpSpPr>
        <p:sp>
          <p:nvSpPr>
            <p:cNvPr id="37904" name="Oval 21"/>
            <p:cNvSpPr>
              <a:spLocks noChangeArrowheads="1"/>
            </p:cNvSpPr>
            <p:nvPr/>
          </p:nvSpPr>
          <p:spPr bwMode="auto">
            <a:xfrm>
              <a:off x="1330" y="1497"/>
              <a:ext cx="1993" cy="2004"/>
            </a:xfrm>
            <a:prstGeom prst="ellipse">
              <a:avLst/>
            </a:prstGeom>
            <a:noFill/>
            <a:ln w="57150">
              <a:solidFill>
                <a:srgbClr val="FF3300"/>
              </a:solidFill>
              <a:round/>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5" name="Line 30"/>
            <p:cNvSpPr>
              <a:spLocks noChangeShapeType="1"/>
            </p:cNvSpPr>
            <p:nvPr/>
          </p:nvSpPr>
          <p:spPr bwMode="auto">
            <a:xfrm flipH="1">
              <a:off x="2450" y="1371"/>
              <a:ext cx="9"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6" name="Line 31"/>
            <p:cNvSpPr>
              <a:spLocks noChangeShapeType="1"/>
            </p:cNvSpPr>
            <p:nvPr/>
          </p:nvSpPr>
          <p:spPr bwMode="auto">
            <a:xfrm>
              <a:off x="2075" y="1426"/>
              <a:ext cx="37" cy="147"/>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7" name="Line 32"/>
            <p:cNvSpPr>
              <a:spLocks noChangeShapeType="1"/>
            </p:cNvSpPr>
            <p:nvPr/>
          </p:nvSpPr>
          <p:spPr bwMode="auto">
            <a:xfrm flipV="1">
              <a:off x="1637" y="3392"/>
              <a:ext cx="228" cy="16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5747" name="Group 35"/>
          <p:cNvGrpSpPr>
            <a:grpSpLocks/>
          </p:cNvGrpSpPr>
          <p:nvPr/>
        </p:nvGrpSpPr>
        <p:grpSpPr bwMode="auto">
          <a:xfrm>
            <a:off x="4151313" y="1231106"/>
            <a:ext cx="1657350" cy="763191"/>
            <a:chOff x="2615" y="804"/>
            <a:chExt cx="1044" cy="641"/>
          </a:xfrm>
        </p:grpSpPr>
        <p:sp>
          <p:nvSpPr>
            <p:cNvPr id="37902" name="Line 25"/>
            <p:cNvSpPr>
              <a:spLocks noChangeShapeType="1"/>
            </p:cNvSpPr>
            <p:nvPr/>
          </p:nvSpPr>
          <p:spPr bwMode="auto">
            <a:xfrm flipV="1">
              <a:off x="2615" y="1189"/>
              <a:ext cx="731" cy="25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aphicFrame>
          <p:nvGraphicFramePr>
            <p:cNvPr id="37903" name="Object 34"/>
            <p:cNvGraphicFramePr>
              <a:graphicFrameLocks noChangeAspect="1"/>
            </p:cNvGraphicFramePr>
            <p:nvPr/>
          </p:nvGraphicFramePr>
          <p:xfrm>
            <a:off x="3349" y="804"/>
            <a:ext cx="310" cy="620"/>
          </p:xfrm>
          <a:graphic>
            <a:graphicData uri="http://schemas.openxmlformats.org/presentationml/2006/ole">
              <p:oleObj spid="_x0000_s37944" name="Equation" r:id="rId4" imgW="2743200" imgH="5486400" progId="">
                <p:embed/>
              </p:oleObj>
            </a:graphicData>
          </a:graphic>
        </p:graphicFrame>
      </p:grpSp>
      <p:sp>
        <p:nvSpPr>
          <p:cNvPr id="115748" name="AutoShape 36"/>
          <p:cNvSpPr>
            <a:spLocks noChangeArrowheads="1"/>
          </p:cNvSpPr>
          <p:nvPr/>
        </p:nvSpPr>
        <p:spPr bwMode="auto">
          <a:xfrm>
            <a:off x="6137276" y="1581150"/>
            <a:ext cx="1597025" cy="827485"/>
          </a:xfrm>
          <a:prstGeom prst="wedgeRoundRectCallout">
            <a:avLst>
              <a:gd name="adj1" fmla="val -103676"/>
              <a:gd name="adj2" fmla="val 75611"/>
              <a:gd name="adj3" fmla="val 16667"/>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800" b="1">
                <a:solidFill>
                  <a:srgbClr val="FF0000"/>
                </a:solidFill>
              </a:rPr>
              <a:t>最小</a:t>
            </a:r>
          </a:p>
          <a:p>
            <a:r>
              <a:rPr lang="zh-CN" altLang="en-US" sz="2800" b="1">
                <a:solidFill>
                  <a:srgbClr val="FF0000"/>
                </a:solidFill>
              </a:rPr>
              <a:t>二乘圆</a:t>
            </a:r>
          </a:p>
        </p:txBody>
      </p:sp>
      <p:sp>
        <p:nvSpPr>
          <p:cNvPr id="115751" name="Line 39"/>
          <p:cNvSpPr>
            <a:spLocks noChangeShapeType="1"/>
          </p:cNvSpPr>
          <p:nvPr/>
        </p:nvSpPr>
        <p:spPr bwMode="auto">
          <a:xfrm flipV="1">
            <a:off x="2497138" y="3170635"/>
            <a:ext cx="1262062" cy="76200"/>
          </a:xfrm>
          <a:prstGeom prst="line">
            <a:avLst/>
          </a:prstGeom>
          <a:noFill/>
          <a:ln w="57150">
            <a:solidFill>
              <a:srgbClr val="FF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2" name="Line 40"/>
          <p:cNvSpPr>
            <a:spLocks noChangeShapeType="1"/>
          </p:cNvSpPr>
          <p:nvPr/>
        </p:nvSpPr>
        <p:spPr bwMode="auto">
          <a:xfrm flipH="1">
            <a:off x="2582864" y="3170635"/>
            <a:ext cx="1176337" cy="1306115"/>
          </a:xfrm>
          <a:prstGeom prst="line">
            <a:avLst/>
          </a:prstGeom>
          <a:noFill/>
          <a:ln w="57150">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3" name="AutoShape 41"/>
          <p:cNvSpPr>
            <a:spLocks noChangeArrowheads="1"/>
          </p:cNvSpPr>
          <p:nvPr/>
        </p:nvSpPr>
        <p:spPr bwMode="auto">
          <a:xfrm>
            <a:off x="6996332" y="3431730"/>
            <a:ext cx="1392238" cy="1109663"/>
          </a:xfrm>
          <a:prstGeom prst="wedgeEllipseCallout">
            <a:avLst>
              <a:gd name="adj1" fmla="val -89904"/>
              <a:gd name="adj2" fmla="val 32150"/>
            </a:avLst>
          </a:prstGeom>
          <a:solidFill>
            <a:schemeClr val="bg1"/>
          </a:solidFill>
          <a:ln w="57150">
            <a:solidFill>
              <a:srgbClr val="FF0000"/>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p>
            <a:r>
              <a:rPr lang="zh-CN" altLang="en-US" sz="2800" b="1"/>
              <a:t>圆度误差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5716"/>
                                        </p:tgtEl>
                                        <p:attrNameLst>
                                          <p:attrName>style.visibility</p:attrName>
                                        </p:attrNameLst>
                                      </p:cBhvr>
                                      <p:to>
                                        <p:strVal val="visible"/>
                                      </p:to>
                                    </p:set>
                                    <p:animEffect transition="in" filter="wipe(left)">
                                      <p:cBhvr>
                                        <p:cTn id="7" dur="300"/>
                                        <p:tgtEl>
                                          <p:spTgt spid="115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15740"/>
                                        </p:tgtEl>
                                        <p:attrNameLst>
                                          <p:attrName>style.visibility</p:attrName>
                                        </p:attrNameLst>
                                      </p:cBhvr>
                                      <p:to>
                                        <p:strVal val="visible"/>
                                      </p:to>
                                    </p:set>
                                    <p:anim calcmode="lin" valueType="num">
                                      <p:cBhvr additive="base">
                                        <p:cTn id="12" dur="500" fill="hold"/>
                                        <p:tgtEl>
                                          <p:spTgt spid="115740"/>
                                        </p:tgtEl>
                                        <p:attrNameLst>
                                          <p:attrName>ppt_x</p:attrName>
                                        </p:attrNameLst>
                                      </p:cBhvr>
                                      <p:tavLst>
                                        <p:tav tm="0">
                                          <p:val>
                                            <p:strVal val="0-#ppt_w/2"/>
                                          </p:val>
                                        </p:tav>
                                        <p:tav tm="100000">
                                          <p:val>
                                            <p:strVal val="#ppt_x"/>
                                          </p:val>
                                        </p:tav>
                                      </p:tavLst>
                                    </p:anim>
                                    <p:anim calcmode="lin" valueType="num">
                                      <p:cBhvr additive="base">
                                        <p:cTn id="13" dur="500" fill="hold"/>
                                        <p:tgtEl>
                                          <p:spTgt spid="11574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15745"/>
                                        </p:tgtEl>
                                        <p:attrNameLst>
                                          <p:attrName>style.visibility</p:attrName>
                                        </p:attrNameLst>
                                      </p:cBhvr>
                                      <p:to>
                                        <p:strVal val="visible"/>
                                      </p:to>
                                    </p:set>
                                    <p:animEffect transition="in" filter="wipe(left)">
                                      <p:cBhvr>
                                        <p:cTn id="18" dur="500"/>
                                        <p:tgtEl>
                                          <p:spTgt spid="11574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 fill="hold" nodeType="clickEffect">
                                  <p:stCondLst>
                                    <p:cond delay="0"/>
                                  </p:stCondLst>
                                  <p:childTnLst>
                                    <p:set>
                                      <p:cBhvr>
                                        <p:cTn id="22" dur="1" fill="hold">
                                          <p:stCondLst>
                                            <p:cond delay="0"/>
                                          </p:stCondLst>
                                        </p:cTn>
                                        <p:tgtEl>
                                          <p:spTgt spid="115747"/>
                                        </p:tgtEl>
                                        <p:attrNameLst>
                                          <p:attrName>style.visibility</p:attrName>
                                        </p:attrNameLst>
                                      </p:cBhvr>
                                      <p:to>
                                        <p:strVal val="visible"/>
                                      </p:to>
                                    </p:set>
                                    <p:anim calcmode="lin" valueType="num">
                                      <p:cBhvr>
                                        <p:cTn id="23" dur="500" fill="hold"/>
                                        <p:tgtEl>
                                          <p:spTgt spid="115747"/>
                                        </p:tgtEl>
                                        <p:attrNameLst>
                                          <p:attrName>ppt_x</p:attrName>
                                        </p:attrNameLst>
                                      </p:cBhvr>
                                      <p:tavLst>
                                        <p:tav tm="0">
                                          <p:val>
                                            <p:strVal val="#ppt_x"/>
                                          </p:val>
                                        </p:tav>
                                        <p:tav tm="100000">
                                          <p:val>
                                            <p:strVal val="#ppt_x"/>
                                          </p:val>
                                        </p:tav>
                                      </p:tavLst>
                                    </p:anim>
                                    <p:anim calcmode="lin" valueType="num">
                                      <p:cBhvr>
                                        <p:cTn id="24" dur="500" fill="hold"/>
                                        <p:tgtEl>
                                          <p:spTgt spid="115747"/>
                                        </p:tgtEl>
                                        <p:attrNameLst>
                                          <p:attrName>ppt_y</p:attrName>
                                        </p:attrNameLst>
                                      </p:cBhvr>
                                      <p:tavLst>
                                        <p:tav tm="0">
                                          <p:val>
                                            <p:strVal val="#ppt_y-#ppt_h/2"/>
                                          </p:val>
                                        </p:tav>
                                        <p:tav tm="100000">
                                          <p:val>
                                            <p:strVal val="#ppt_y"/>
                                          </p:val>
                                        </p:tav>
                                      </p:tavLst>
                                    </p:anim>
                                    <p:anim calcmode="lin" valueType="num">
                                      <p:cBhvr>
                                        <p:cTn id="25" dur="500" fill="hold"/>
                                        <p:tgtEl>
                                          <p:spTgt spid="115747"/>
                                        </p:tgtEl>
                                        <p:attrNameLst>
                                          <p:attrName>ppt_w</p:attrName>
                                        </p:attrNameLst>
                                      </p:cBhvr>
                                      <p:tavLst>
                                        <p:tav tm="0">
                                          <p:val>
                                            <p:strVal val="#ppt_w"/>
                                          </p:val>
                                        </p:tav>
                                        <p:tav tm="100000">
                                          <p:val>
                                            <p:strVal val="#ppt_w"/>
                                          </p:val>
                                        </p:tav>
                                      </p:tavLst>
                                    </p:anim>
                                    <p:anim calcmode="lin" valueType="num">
                                      <p:cBhvr>
                                        <p:cTn id="26" dur="500" fill="hold"/>
                                        <p:tgtEl>
                                          <p:spTgt spid="115747"/>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15741"/>
                                        </p:tgtEl>
                                        <p:attrNameLst>
                                          <p:attrName>style.visibility</p:attrName>
                                        </p:attrNameLst>
                                      </p:cBhvr>
                                      <p:to>
                                        <p:strVal val="visible"/>
                                      </p:to>
                                    </p:set>
                                    <p:animEffect transition="in" filter="wipe(left)">
                                      <p:cBhvr>
                                        <p:cTn id="31" dur="500"/>
                                        <p:tgtEl>
                                          <p:spTgt spid="11574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2" fill="hold" grpId="0" nodeType="clickEffect">
                                  <p:stCondLst>
                                    <p:cond delay="0"/>
                                  </p:stCondLst>
                                  <p:childTnLst>
                                    <p:set>
                                      <p:cBhvr>
                                        <p:cTn id="35" dur="1" fill="hold">
                                          <p:stCondLst>
                                            <p:cond delay="0"/>
                                          </p:stCondLst>
                                        </p:cTn>
                                        <p:tgtEl>
                                          <p:spTgt spid="115748"/>
                                        </p:tgtEl>
                                        <p:attrNameLst>
                                          <p:attrName>style.visibility</p:attrName>
                                        </p:attrNameLst>
                                      </p:cBhvr>
                                      <p:to>
                                        <p:strVal val="visible"/>
                                      </p:to>
                                    </p:set>
                                    <p:anim calcmode="lin" valueType="num">
                                      <p:cBhvr>
                                        <p:cTn id="36" dur="500" fill="hold"/>
                                        <p:tgtEl>
                                          <p:spTgt spid="115748"/>
                                        </p:tgtEl>
                                        <p:attrNameLst>
                                          <p:attrName>ppt_x</p:attrName>
                                        </p:attrNameLst>
                                      </p:cBhvr>
                                      <p:tavLst>
                                        <p:tav tm="0">
                                          <p:val>
                                            <p:strVal val="#ppt_x+#ppt_w/2"/>
                                          </p:val>
                                        </p:tav>
                                        <p:tav tm="100000">
                                          <p:val>
                                            <p:strVal val="#ppt_x"/>
                                          </p:val>
                                        </p:tav>
                                      </p:tavLst>
                                    </p:anim>
                                    <p:anim calcmode="lin" valueType="num">
                                      <p:cBhvr>
                                        <p:cTn id="37" dur="500" fill="hold"/>
                                        <p:tgtEl>
                                          <p:spTgt spid="115748"/>
                                        </p:tgtEl>
                                        <p:attrNameLst>
                                          <p:attrName>ppt_y</p:attrName>
                                        </p:attrNameLst>
                                      </p:cBhvr>
                                      <p:tavLst>
                                        <p:tav tm="0">
                                          <p:val>
                                            <p:strVal val="#ppt_y"/>
                                          </p:val>
                                        </p:tav>
                                        <p:tav tm="100000">
                                          <p:val>
                                            <p:strVal val="#ppt_y"/>
                                          </p:val>
                                        </p:tav>
                                      </p:tavLst>
                                    </p:anim>
                                    <p:anim calcmode="lin" valueType="num">
                                      <p:cBhvr>
                                        <p:cTn id="38" dur="500" fill="hold"/>
                                        <p:tgtEl>
                                          <p:spTgt spid="115748"/>
                                        </p:tgtEl>
                                        <p:attrNameLst>
                                          <p:attrName>ppt_w</p:attrName>
                                        </p:attrNameLst>
                                      </p:cBhvr>
                                      <p:tavLst>
                                        <p:tav tm="0">
                                          <p:val>
                                            <p:fltVal val="0"/>
                                          </p:val>
                                        </p:tav>
                                        <p:tav tm="100000">
                                          <p:val>
                                            <p:strVal val="#ppt_w"/>
                                          </p:val>
                                        </p:tav>
                                      </p:tavLst>
                                    </p:anim>
                                    <p:anim calcmode="lin" valueType="num">
                                      <p:cBhvr>
                                        <p:cTn id="39" dur="500" fill="hold"/>
                                        <p:tgtEl>
                                          <p:spTgt spid="115748"/>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2" fill="hold" grpId="0" nodeType="clickEffect">
                                  <p:stCondLst>
                                    <p:cond delay="0"/>
                                  </p:stCondLst>
                                  <p:childTnLst>
                                    <p:set>
                                      <p:cBhvr>
                                        <p:cTn id="43" dur="1" fill="hold">
                                          <p:stCondLst>
                                            <p:cond delay="0"/>
                                          </p:stCondLst>
                                        </p:cTn>
                                        <p:tgtEl>
                                          <p:spTgt spid="115751"/>
                                        </p:tgtEl>
                                        <p:attrNameLst>
                                          <p:attrName>style.visibility</p:attrName>
                                        </p:attrNameLst>
                                      </p:cBhvr>
                                      <p:to>
                                        <p:strVal val="visible"/>
                                      </p:to>
                                    </p:set>
                                    <p:anim calcmode="lin" valueType="num">
                                      <p:cBhvr>
                                        <p:cTn id="44" dur="500" fill="hold"/>
                                        <p:tgtEl>
                                          <p:spTgt spid="115751"/>
                                        </p:tgtEl>
                                        <p:attrNameLst>
                                          <p:attrName>ppt_x</p:attrName>
                                        </p:attrNameLst>
                                      </p:cBhvr>
                                      <p:tavLst>
                                        <p:tav tm="0">
                                          <p:val>
                                            <p:strVal val="#ppt_x+#ppt_w/2"/>
                                          </p:val>
                                        </p:tav>
                                        <p:tav tm="100000">
                                          <p:val>
                                            <p:strVal val="#ppt_x"/>
                                          </p:val>
                                        </p:tav>
                                      </p:tavLst>
                                    </p:anim>
                                    <p:anim calcmode="lin" valueType="num">
                                      <p:cBhvr>
                                        <p:cTn id="45" dur="500" fill="hold"/>
                                        <p:tgtEl>
                                          <p:spTgt spid="115751"/>
                                        </p:tgtEl>
                                        <p:attrNameLst>
                                          <p:attrName>ppt_y</p:attrName>
                                        </p:attrNameLst>
                                      </p:cBhvr>
                                      <p:tavLst>
                                        <p:tav tm="0">
                                          <p:val>
                                            <p:strVal val="#ppt_y"/>
                                          </p:val>
                                        </p:tav>
                                        <p:tav tm="100000">
                                          <p:val>
                                            <p:strVal val="#ppt_y"/>
                                          </p:val>
                                        </p:tav>
                                      </p:tavLst>
                                    </p:anim>
                                    <p:anim calcmode="lin" valueType="num">
                                      <p:cBhvr>
                                        <p:cTn id="46" dur="500" fill="hold"/>
                                        <p:tgtEl>
                                          <p:spTgt spid="115751"/>
                                        </p:tgtEl>
                                        <p:attrNameLst>
                                          <p:attrName>ppt_w</p:attrName>
                                        </p:attrNameLst>
                                      </p:cBhvr>
                                      <p:tavLst>
                                        <p:tav tm="0">
                                          <p:val>
                                            <p:fltVal val="0"/>
                                          </p:val>
                                        </p:tav>
                                        <p:tav tm="100000">
                                          <p:val>
                                            <p:strVal val="#ppt_w"/>
                                          </p:val>
                                        </p:tav>
                                      </p:tavLst>
                                    </p:anim>
                                    <p:anim calcmode="lin" valueType="num">
                                      <p:cBhvr>
                                        <p:cTn id="47" dur="500" fill="hold"/>
                                        <p:tgtEl>
                                          <p:spTgt spid="115751"/>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115752"/>
                                        </p:tgtEl>
                                        <p:attrNameLst>
                                          <p:attrName>style.visibility</p:attrName>
                                        </p:attrNameLst>
                                      </p:cBhvr>
                                      <p:to>
                                        <p:strVal val="visible"/>
                                      </p:to>
                                    </p:set>
                                    <p:anim calcmode="lin" valueType="num">
                                      <p:cBhvr>
                                        <p:cTn id="52" dur="500" fill="hold"/>
                                        <p:tgtEl>
                                          <p:spTgt spid="115752"/>
                                        </p:tgtEl>
                                        <p:attrNameLst>
                                          <p:attrName>ppt_x</p:attrName>
                                        </p:attrNameLst>
                                      </p:cBhvr>
                                      <p:tavLst>
                                        <p:tav tm="0">
                                          <p:val>
                                            <p:strVal val="#ppt_x"/>
                                          </p:val>
                                        </p:tav>
                                        <p:tav tm="100000">
                                          <p:val>
                                            <p:strVal val="#ppt_x"/>
                                          </p:val>
                                        </p:tav>
                                      </p:tavLst>
                                    </p:anim>
                                    <p:anim calcmode="lin" valueType="num">
                                      <p:cBhvr>
                                        <p:cTn id="53" dur="500" fill="hold"/>
                                        <p:tgtEl>
                                          <p:spTgt spid="115752"/>
                                        </p:tgtEl>
                                        <p:attrNameLst>
                                          <p:attrName>ppt_y</p:attrName>
                                        </p:attrNameLst>
                                      </p:cBhvr>
                                      <p:tavLst>
                                        <p:tav tm="0">
                                          <p:val>
                                            <p:strVal val="#ppt_y-#ppt_h/2"/>
                                          </p:val>
                                        </p:tav>
                                        <p:tav tm="100000">
                                          <p:val>
                                            <p:strVal val="#ppt_y"/>
                                          </p:val>
                                        </p:tav>
                                      </p:tavLst>
                                    </p:anim>
                                    <p:anim calcmode="lin" valueType="num">
                                      <p:cBhvr>
                                        <p:cTn id="54" dur="500" fill="hold"/>
                                        <p:tgtEl>
                                          <p:spTgt spid="115752"/>
                                        </p:tgtEl>
                                        <p:attrNameLst>
                                          <p:attrName>ppt_w</p:attrName>
                                        </p:attrNameLst>
                                      </p:cBhvr>
                                      <p:tavLst>
                                        <p:tav tm="0">
                                          <p:val>
                                            <p:strVal val="#ppt_w"/>
                                          </p:val>
                                        </p:tav>
                                        <p:tav tm="100000">
                                          <p:val>
                                            <p:strVal val="#ppt_w"/>
                                          </p:val>
                                        </p:tav>
                                      </p:tavLst>
                                    </p:anim>
                                    <p:anim calcmode="lin" valueType="num">
                                      <p:cBhvr>
                                        <p:cTn id="55" dur="500" fill="hold"/>
                                        <p:tgtEl>
                                          <p:spTgt spid="115752"/>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115734"/>
                                        </p:tgtEl>
                                        <p:attrNameLst>
                                          <p:attrName>style.visibility</p:attrName>
                                        </p:attrNameLst>
                                      </p:cBhvr>
                                      <p:to>
                                        <p:strVal val="visible"/>
                                      </p:to>
                                    </p:set>
                                    <p:anim calcmode="lin" valueType="num">
                                      <p:cBhvr>
                                        <p:cTn id="60" dur="500" fill="hold"/>
                                        <p:tgtEl>
                                          <p:spTgt spid="115734"/>
                                        </p:tgtEl>
                                        <p:attrNameLst>
                                          <p:attrName>ppt_x</p:attrName>
                                        </p:attrNameLst>
                                      </p:cBhvr>
                                      <p:tavLst>
                                        <p:tav tm="0">
                                          <p:val>
                                            <p:strVal val="#ppt_x-#ppt_w/2"/>
                                          </p:val>
                                        </p:tav>
                                        <p:tav tm="100000">
                                          <p:val>
                                            <p:strVal val="#ppt_x"/>
                                          </p:val>
                                        </p:tav>
                                      </p:tavLst>
                                    </p:anim>
                                    <p:anim calcmode="lin" valueType="num">
                                      <p:cBhvr>
                                        <p:cTn id="61" dur="500" fill="hold"/>
                                        <p:tgtEl>
                                          <p:spTgt spid="115734"/>
                                        </p:tgtEl>
                                        <p:attrNameLst>
                                          <p:attrName>ppt_y</p:attrName>
                                        </p:attrNameLst>
                                      </p:cBhvr>
                                      <p:tavLst>
                                        <p:tav tm="0">
                                          <p:val>
                                            <p:strVal val="#ppt_y"/>
                                          </p:val>
                                        </p:tav>
                                        <p:tav tm="100000">
                                          <p:val>
                                            <p:strVal val="#ppt_y"/>
                                          </p:val>
                                        </p:tav>
                                      </p:tavLst>
                                    </p:anim>
                                    <p:anim calcmode="lin" valueType="num">
                                      <p:cBhvr>
                                        <p:cTn id="62" dur="500" fill="hold"/>
                                        <p:tgtEl>
                                          <p:spTgt spid="115734"/>
                                        </p:tgtEl>
                                        <p:attrNameLst>
                                          <p:attrName>ppt_w</p:attrName>
                                        </p:attrNameLst>
                                      </p:cBhvr>
                                      <p:tavLst>
                                        <p:tav tm="0">
                                          <p:val>
                                            <p:fltVal val="0"/>
                                          </p:val>
                                        </p:tav>
                                        <p:tav tm="100000">
                                          <p:val>
                                            <p:strVal val="#ppt_w"/>
                                          </p:val>
                                        </p:tav>
                                      </p:tavLst>
                                    </p:anim>
                                    <p:anim calcmode="lin" valueType="num">
                                      <p:cBhvr>
                                        <p:cTn id="63" dur="500" fill="hold"/>
                                        <p:tgtEl>
                                          <p:spTgt spid="115734"/>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grpId="0" nodeType="clickEffect">
                                  <p:stCondLst>
                                    <p:cond delay="0"/>
                                  </p:stCondLst>
                                  <p:childTnLst>
                                    <p:set>
                                      <p:cBhvr>
                                        <p:cTn id="67" dur="1" fill="hold">
                                          <p:stCondLst>
                                            <p:cond delay="0"/>
                                          </p:stCondLst>
                                        </p:cTn>
                                        <p:tgtEl>
                                          <p:spTgt spid="115735"/>
                                        </p:tgtEl>
                                        <p:attrNameLst>
                                          <p:attrName>style.visibility</p:attrName>
                                        </p:attrNameLst>
                                      </p:cBhvr>
                                      <p:to>
                                        <p:strVal val="visible"/>
                                      </p:to>
                                    </p:set>
                                    <p:anim calcmode="lin" valueType="num">
                                      <p:cBhvr>
                                        <p:cTn id="68" dur="500" fill="hold"/>
                                        <p:tgtEl>
                                          <p:spTgt spid="115735"/>
                                        </p:tgtEl>
                                        <p:attrNameLst>
                                          <p:attrName>ppt_x</p:attrName>
                                        </p:attrNameLst>
                                      </p:cBhvr>
                                      <p:tavLst>
                                        <p:tav tm="0">
                                          <p:val>
                                            <p:strVal val="#ppt_x-#ppt_w/2"/>
                                          </p:val>
                                        </p:tav>
                                        <p:tav tm="100000">
                                          <p:val>
                                            <p:strVal val="#ppt_x"/>
                                          </p:val>
                                        </p:tav>
                                      </p:tavLst>
                                    </p:anim>
                                    <p:anim calcmode="lin" valueType="num">
                                      <p:cBhvr>
                                        <p:cTn id="69" dur="500" fill="hold"/>
                                        <p:tgtEl>
                                          <p:spTgt spid="115735"/>
                                        </p:tgtEl>
                                        <p:attrNameLst>
                                          <p:attrName>ppt_y</p:attrName>
                                        </p:attrNameLst>
                                      </p:cBhvr>
                                      <p:tavLst>
                                        <p:tav tm="0">
                                          <p:val>
                                            <p:strVal val="#ppt_y"/>
                                          </p:val>
                                        </p:tav>
                                        <p:tav tm="100000">
                                          <p:val>
                                            <p:strVal val="#ppt_y"/>
                                          </p:val>
                                        </p:tav>
                                      </p:tavLst>
                                    </p:anim>
                                    <p:anim calcmode="lin" valueType="num">
                                      <p:cBhvr>
                                        <p:cTn id="70" dur="500" fill="hold"/>
                                        <p:tgtEl>
                                          <p:spTgt spid="115735"/>
                                        </p:tgtEl>
                                        <p:attrNameLst>
                                          <p:attrName>ppt_w</p:attrName>
                                        </p:attrNameLst>
                                      </p:cBhvr>
                                      <p:tavLst>
                                        <p:tav tm="0">
                                          <p:val>
                                            <p:fltVal val="0"/>
                                          </p:val>
                                        </p:tav>
                                        <p:tav tm="100000">
                                          <p:val>
                                            <p:strVal val="#ppt_w"/>
                                          </p:val>
                                        </p:tav>
                                      </p:tavLst>
                                    </p:anim>
                                    <p:anim calcmode="lin" valueType="num">
                                      <p:cBhvr>
                                        <p:cTn id="71" dur="500" fill="hold"/>
                                        <p:tgtEl>
                                          <p:spTgt spid="115735"/>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2" fill="hold" grpId="0" nodeType="clickEffect">
                                  <p:stCondLst>
                                    <p:cond delay="0"/>
                                  </p:stCondLst>
                                  <p:childTnLst>
                                    <p:set>
                                      <p:cBhvr>
                                        <p:cTn id="75" dur="1" fill="hold">
                                          <p:stCondLst>
                                            <p:cond delay="0"/>
                                          </p:stCondLst>
                                        </p:cTn>
                                        <p:tgtEl>
                                          <p:spTgt spid="115753"/>
                                        </p:tgtEl>
                                        <p:attrNameLst>
                                          <p:attrName>style.visibility</p:attrName>
                                        </p:attrNameLst>
                                      </p:cBhvr>
                                      <p:to>
                                        <p:strVal val="visible"/>
                                      </p:to>
                                    </p:set>
                                    <p:anim calcmode="lin" valueType="num">
                                      <p:cBhvr>
                                        <p:cTn id="76" dur="500" fill="hold"/>
                                        <p:tgtEl>
                                          <p:spTgt spid="115753"/>
                                        </p:tgtEl>
                                        <p:attrNameLst>
                                          <p:attrName>ppt_x</p:attrName>
                                        </p:attrNameLst>
                                      </p:cBhvr>
                                      <p:tavLst>
                                        <p:tav tm="0">
                                          <p:val>
                                            <p:strVal val="#ppt_x+#ppt_w/2"/>
                                          </p:val>
                                        </p:tav>
                                        <p:tav tm="100000">
                                          <p:val>
                                            <p:strVal val="#ppt_x"/>
                                          </p:val>
                                        </p:tav>
                                      </p:tavLst>
                                    </p:anim>
                                    <p:anim calcmode="lin" valueType="num">
                                      <p:cBhvr>
                                        <p:cTn id="77" dur="500" fill="hold"/>
                                        <p:tgtEl>
                                          <p:spTgt spid="115753"/>
                                        </p:tgtEl>
                                        <p:attrNameLst>
                                          <p:attrName>ppt_y</p:attrName>
                                        </p:attrNameLst>
                                      </p:cBhvr>
                                      <p:tavLst>
                                        <p:tav tm="0">
                                          <p:val>
                                            <p:strVal val="#ppt_y"/>
                                          </p:val>
                                        </p:tav>
                                        <p:tav tm="100000">
                                          <p:val>
                                            <p:strVal val="#ppt_y"/>
                                          </p:val>
                                        </p:tav>
                                      </p:tavLst>
                                    </p:anim>
                                    <p:anim calcmode="lin" valueType="num">
                                      <p:cBhvr>
                                        <p:cTn id="78" dur="500" fill="hold"/>
                                        <p:tgtEl>
                                          <p:spTgt spid="115753"/>
                                        </p:tgtEl>
                                        <p:attrNameLst>
                                          <p:attrName>ppt_w</p:attrName>
                                        </p:attrNameLst>
                                      </p:cBhvr>
                                      <p:tavLst>
                                        <p:tav tm="0">
                                          <p:val>
                                            <p:fltVal val="0"/>
                                          </p:val>
                                        </p:tav>
                                        <p:tav tm="100000">
                                          <p:val>
                                            <p:strVal val="#ppt_w"/>
                                          </p:val>
                                        </p:tav>
                                      </p:tavLst>
                                    </p:anim>
                                    <p:anim calcmode="lin" valueType="num">
                                      <p:cBhvr>
                                        <p:cTn id="79" dur="500" fill="hold"/>
                                        <p:tgtEl>
                                          <p:spTgt spid="1157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34" grpId="0" animBg="1"/>
      <p:bldP spid="115735" grpId="0" animBg="1"/>
      <p:bldP spid="115748" grpId="0" animBg="1" autoUpdateAnimBg="0"/>
      <p:bldP spid="115751" grpId="0" animBg="1"/>
      <p:bldP spid="115752" grpId="0" animBg="1"/>
      <p:bldP spid="115753"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E3510096-CD4F-4B46-9825-B6C3152C648A}" type="slidenum">
              <a:rPr kumimoji="0" lang="zh-CN" altLang="en-US" sz="2000" smtClean="0">
                <a:solidFill>
                  <a:srgbClr val="0000FF"/>
                </a:solidFill>
              </a:rPr>
              <a:pPr eaLnBrk="1" hangingPunct="1"/>
              <a:t>32</a:t>
            </a:fld>
            <a:endParaRPr kumimoji="0" lang="en-US" altLang="zh-CN" sz="2000">
              <a:solidFill>
                <a:srgbClr val="0000FF"/>
              </a:solidFill>
            </a:endParaRPr>
          </a:p>
        </p:txBody>
      </p:sp>
      <p:sp>
        <p:nvSpPr>
          <p:cNvPr id="19465" name="Text Box 9"/>
          <p:cNvSpPr txBox="1">
            <a:spLocks noChangeArrowheads="1"/>
          </p:cNvSpPr>
          <p:nvPr/>
        </p:nvSpPr>
        <p:spPr bwMode="auto">
          <a:xfrm>
            <a:off x="442313" y="80737"/>
            <a:ext cx="49482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4.5.2  方向误差及其评定</a:t>
            </a:r>
            <a:r>
              <a:rPr lang="zh-CN" altLang="en-US" dirty="0"/>
              <a:t> </a:t>
            </a:r>
          </a:p>
        </p:txBody>
      </p:sp>
      <p:sp>
        <p:nvSpPr>
          <p:cNvPr id="19466" name="Text Box 10"/>
          <p:cNvSpPr txBox="1">
            <a:spLocks noChangeArrowheads="1"/>
          </p:cNvSpPr>
          <p:nvPr/>
        </p:nvSpPr>
        <p:spPr bwMode="auto">
          <a:xfrm>
            <a:off x="363231" y="559676"/>
            <a:ext cx="8256988"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spcBef>
                <a:spcPct val="50000"/>
              </a:spcBef>
            </a:pPr>
            <a:r>
              <a:rPr lang="zh-CN" altLang="en-US" sz="2000" dirty="0"/>
              <a:t>       </a:t>
            </a:r>
            <a:r>
              <a:rPr lang="zh-CN" altLang="en-US" sz="2000" b="1" dirty="0"/>
              <a:t>方向误差是指实际关联要素对其具有确定方向的理想要素的变动量，理想要素的方向由基准确定。</a:t>
            </a:r>
          </a:p>
        </p:txBody>
      </p:sp>
      <p:sp>
        <p:nvSpPr>
          <p:cNvPr id="19471" name="Text Box 15"/>
          <p:cNvSpPr txBox="1">
            <a:spLocks noChangeArrowheads="1"/>
          </p:cNvSpPr>
          <p:nvPr/>
        </p:nvSpPr>
        <p:spPr bwMode="auto">
          <a:xfrm>
            <a:off x="341714" y="1232015"/>
            <a:ext cx="8505825"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dirty="0"/>
              <a:t>        </a:t>
            </a:r>
            <a:r>
              <a:rPr lang="zh-CN" altLang="en-US" sz="2000" b="1" dirty="0"/>
              <a:t>评定方向误差时，理想要素相对于基准的方向要保持图样上给定的几何关系的条件下，应使被测要素对理想要素的最大变动量为最小。</a:t>
            </a:r>
          </a:p>
        </p:txBody>
      </p:sp>
      <p:sp>
        <p:nvSpPr>
          <p:cNvPr id="19484" name="Text Box 28"/>
          <p:cNvSpPr txBox="1">
            <a:spLocks noChangeArrowheads="1"/>
          </p:cNvSpPr>
          <p:nvPr/>
        </p:nvSpPr>
        <p:spPr bwMode="auto">
          <a:xfrm>
            <a:off x="442313" y="3865139"/>
            <a:ext cx="8366125"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dirty="0"/>
              <a:t>         </a:t>
            </a:r>
            <a:r>
              <a:rPr lang="zh-CN" altLang="en-US" sz="2000" b="1" dirty="0"/>
              <a:t>方向误差值用对基准保持所要求方向的定向最小包容区域（简称定向最小区域）的宽度 </a:t>
            </a:r>
            <a:r>
              <a:rPr lang="en-US" altLang="zh-CN" sz="2000" b="1" i="1" dirty="0"/>
              <a:t>f </a:t>
            </a:r>
            <a:r>
              <a:rPr lang="zh-CN" altLang="en-US" sz="2000" b="1" dirty="0"/>
              <a:t>或直径</a:t>
            </a:r>
            <a:r>
              <a:rPr lang="el-GR" altLang="zh-CN" sz="2000" b="1" i="1" dirty="0">
                <a:latin typeface="Swis721 BT" pitchFamily="34" charset="0"/>
                <a:cs typeface="Times New Roman" pitchFamily="18" charset="0"/>
              </a:rPr>
              <a:t>Φ</a:t>
            </a:r>
            <a:r>
              <a:rPr lang="en-US" altLang="zh-CN" sz="2000" b="1" i="1" dirty="0">
                <a:latin typeface="Swis721 BT" pitchFamily="34" charset="0"/>
                <a:cs typeface="Times New Roman" pitchFamily="18" charset="0"/>
              </a:rPr>
              <a:t> </a:t>
            </a:r>
            <a:r>
              <a:rPr lang="en-US" altLang="zh-CN" sz="2000" b="1" i="1" dirty="0">
                <a:cs typeface="Times New Roman" pitchFamily="18" charset="0"/>
              </a:rPr>
              <a:t>f</a:t>
            </a:r>
            <a:r>
              <a:rPr lang="en-US" altLang="zh-CN" sz="2000" b="1" dirty="0"/>
              <a:t> </a:t>
            </a:r>
            <a:r>
              <a:rPr lang="zh-CN" altLang="en-US" sz="2000" b="1" dirty="0"/>
              <a:t>来表示，该最小区域的形状与公差带的形状相同。   </a:t>
            </a:r>
          </a:p>
        </p:txBody>
      </p:sp>
      <p:pic>
        <p:nvPicPr>
          <p:cNvPr id="38923" name="Picture 1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6238" y="2090471"/>
            <a:ext cx="2700115" cy="1708896"/>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8925" name="Picture 1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820736" y="2086844"/>
            <a:ext cx="2941638" cy="167038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8926" name="Picture 1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088090" y="2214057"/>
            <a:ext cx="2700115" cy="1514823"/>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10" name="直接连接符 9">
            <a:extLst>
              <a:ext uri="{FF2B5EF4-FFF2-40B4-BE49-F238E27FC236}">
                <a16:creationId xmlns="" xmlns:a16="http://schemas.microsoft.com/office/drawing/2014/main" id="{E2E201D2-175B-4B70-BB8B-24380E108A99}"/>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9465">
                                            <p:txEl>
                                              <p:pRg st="0" end="0"/>
                                            </p:txEl>
                                          </p:spTgt>
                                        </p:tgtEl>
                                        <p:attrNameLst>
                                          <p:attrName>style.visibility</p:attrName>
                                        </p:attrNameLst>
                                      </p:cBhvr>
                                      <p:to>
                                        <p:strVal val="visible"/>
                                      </p:to>
                                    </p:set>
                                    <p:animEffect transition="in" filter="wipe(left)">
                                      <p:cBhvr>
                                        <p:cTn id="7" dur="300"/>
                                        <p:tgtEl>
                                          <p:spTgt spid="1946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9466"/>
                                        </p:tgtEl>
                                        <p:attrNameLst>
                                          <p:attrName>style.visibility</p:attrName>
                                        </p:attrNameLst>
                                      </p:cBhvr>
                                      <p:to>
                                        <p:strVal val="visible"/>
                                      </p:to>
                                    </p:set>
                                    <p:animEffect transition="in" filter="wipe(left)">
                                      <p:cBhvr>
                                        <p:cTn id="12" dur="300"/>
                                        <p:tgtEl>
                                          <p:spTgt spid="194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9471"/>
                                        </p:tgtEl>
                                        <p:attrNameLst>
                                          <p:attrName>style.visibility</p:attrName>
                                        </p:attrNameLst>
                                      </p:cBhvr>
                                      <p:to>
                                        <p:strVal val="visible"/>
                                      </p:to>
                                    </p:set>
                                    <p:animEffect transition="in" filter="wipe(left)">
                                      <p:cBhvr>
                                        <p:cTn id="17" dur="300"/>
                                        <p:tgtEl>
                                          <p:spTgt spid="194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38923"/>
                                        </p:tgtEl>
                                        <p:attrNameLst>
                                          <p:attrName>style.visibility</p:attrName>
                                        </p:attrNameLst>
                                      </p:cBhvr>
                                      <p:to>
                                        <p:strVal val="visible"/>
                                      </p:to>
                                    </p:set>
                                    <p:anim calcmode="lin" valueType="num">
                                      <p:cBhvr additive="base">
                                        <p:cTn id="22" dur="2250" fill="hold"/>
                                        <p:tgtEl>
                                          <p:spTgt spid="38923"/>
                                        </p:tgtEl>
                                        <p:attrNameLst>
                                          <p:attrName>ppt_x</p:attrName>
                                        </p:attrNameLst>
                                      </p:cBhvr>
                                      <p:tavLst>
                                        <p:tav tm="0">
                                          <p:val>
                                            <p:strVal val="0-#ppt_w/2"/>
                                          </p:val>
                                        </p:tav>
                                        <p:tav tm="100000">
                                          <p:val>
                                            <p:strVal val="#ppt_x"/>
                                          </p:val>
                                        </p:tav>
                                      </p:tavLst>
                                    </p:anim>
                                    <p:anim calcmode="lin" valueType="num">
                                      <p:cBhvr additive="base">
                                        <p:cTn id="23" dur="2250" fill="hold"/>
                                        <p:tgtEl>
                                          <p:spTgt spid="38923"/>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1" presetClass="entr" presetSubtype="0" fill="hold" nodeType="clickEffect">
                                  <p:stCondLst>
                                    <p:cond delay="0"/>
                                  </p:stCondLst>
                                  <p:childTnLst>
                                    <p:set>
                                      <p:cBhvr>
                                        <p:cTn id="27" dur="1" fill="hold">
                                          <p:stCondLst>
                                            <p:cond delay="0"/>
                                          </p:stCondLst>
                                        </p:cTn>
                                        <p:tgtEl>
                                          <p:spTgt spid="38926"/>
                                        </p:tgtEl>
                                        <p:attrNameLst>
                                          <p:attrName>style.visibility</p:attrName>
                                        </p:attrNameLst>
                                      </p:cBhvr>
                                      <p:to>
                                        <p:strVal val="visible"/>
                                      </p:to>
                                    </p:set>
                                    <p:anim calcmode="lin" valueType="num">
                                      <p:cBhvr>
                                        <p:cTn id="28" dur="1000" fill="hold"/>
                                        <p:tgtEl>
                                          <p:spTgt spid="38926"/>
                                        </p:tgtEl>
                                        <p:attrNameLst>
                                          <p:attrName>ppt_w</p:attrName>
                                        </p:attrNameLst>
                                      </p:cBhvr>
                                      <p:tavLst>
                                        <p:tav tm="0">
                                          <p:val>
                                            <p:fltVal val="0"/>
                                          </p:val>
                                        </p:tav>
                                        <p:tav tm="100000">
                                          <p:val>
                                            <p:strVal val="#ppt_w"/>
                                          </p:val>
                                        </p:tav>
                                      </p:tavLst>
                                    </p:anim>
                                    <p:anim calcmode="lin" valueType="num">
                                      <p:cBhvr>
                                        <p:cTn id="29" dur="1000" fill="hold"/>
                                        <p:tgtEl>
                                          <p:spTgt spid="38926"/>
                                        </p:tgtEl>
                                        <p:attrNameLst>
                                          <p:attrName>ppt_h</p:attrName>
                                        </p:attrNameLst>
                                      </p:cBhvr>
                                      <p:tavLst>
                                        <p:tav tm="0">
                                          <p:val>
                                            <p:fltVal val="0"/>
                                          </p:val>
                                        </p:tav>
                                        <p:tav tm="100000">
                                          <p:val>
                                            <p:strVal val="#ppt_h"/>
                                          </p:val>
                                        </p:tav>
                                      </p:tavLst>
                                    </p:anim>
                                    <p:anim calcmode="lin" valueType="num">
                                      <p:cBhvr>
                                        <p:cTn id="30" dur="1000" fill="hold"/>
                                        <p:tgtEl>
                                          <p:spTgt spid="38926"/>
                                        </p:tgtEl>
                                        <p:attrNameLst>
                                          <p:attrName>style.rotation</p:attrName>
                                        </p:attrNameLst>
                                      </p:cBhvr>
                                      <p:tavLst>
                                        <p:tav tm="0">
                                          <p:val>
                                            <p:fltVal val="90"/>
                                          </p:val>
                                        </p:tav>
                                        <p:tav tm="100000">
                                          <p:val>
                                            <p:fltVal val="0"/>
                                          </p:val>
                                        </p:tav>
                                      </p:tavLst>
                                    </p:anim>
                                    <p:animEffect transition="in" filter="fade">
                                      <p:cBhvr>
                                        <p:cTn id="31" dur="1000"/>
                                        <p:tgtEl>
                                          <p:spTgt spid="3892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38925"/>
                                        </p:tgtEl>
                                        <p:attrNameLst>
                                          <p:attrName>style.visibility</p:attrName>
                                        </p:attrNameLst>
                                      </p:cBhvr>
                                      <p:to>
                                        <p:strVal val="visible"/>
                                      </p:to>
                                    </p:set>
                                    <p:anim calcmode="lin" valueType="num">
                                      <p:cBhvr additive="base">
                                        <p:cTn id="36" dur="1750" fill="hold"/>
                                        <p:tgtEl>
                                          <p:spTgt spid="38925"/>
                                        </p:tgtEl>
                                        <p:attrNameLst>
                                          <p:attrName>ppt_x</p:attrName>
                                        </p:attrNameLst>
                                      </p:cBhvr>
                                      <p:tavLst>
                                        <p:tav tm="0">
                                          <p:val>
                                            <p:strVal val="1+#ppt_w/2"/>
                                          </p:val>
                                        </p:tav>
                                        <p:tav tm="100000">
                                          <p:val>
                                            <p:strVal val="#ppt_x"/>
                                          </p:val>
                                        </p:tav>
                                      </p:tavLst>
                                    </p:anim>
                                    <p:anim calcmode="lin" valueType="num">
                                      <p:cBhvr additive="base">
                                        <p:cTn id="37" dur="1750" fill="hold"/>
                                        <p:tgtEl>
                                          <p:spTgt spid="3892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19484"/>
                                        </p:tgtEl>
                                        <p:attrNameLst>
                                          <p:attrName>style.visibility</p:attrName>
                                        </p:attrNameLst>
                                      </p:cBhvr>
                                      <p:to>
                                        <p:strVal val="visible"/>
                                      </p:to>
                                    </p:set>
                                    <p:animEffect transition="in" filter="wipe(left)">
                                      <p:cBhvr>
                                        <p:cTn id="42" dur="300"/>
                                        <p:tgtEl>
                                          <p:spTgt spid="19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5" grpId="0" build="p" autoUpdateAnimBg="0"/>
      <p:bldP spid="19466" grpId="0" autoUpdateAnimBg="0"/>
      <p:bldP spid="19471" grpId="0" autoUpdateAnimBg="0"/>
      <p:bldP spid="1948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61852A77-989C-4D75-917E-6908100A9BF5}" type="slidenum">
              <a:rPr kumimoji="0" lang="zh-CN" altLang="en-US" sz="2000" smtClean="0">
                <a:solidFill>
                  <a:srgbClr val="0000FF"/>
                </a:solidFill>
              </a:rPr>
              <a:pPr eaLnBrk="1" hangingPunct="1"/>
              <a:t>33</a:t>
            </a:fld>
            <a:endParaRPr kumimoji="0" lang="en-US" altLang="zh-CN" sz="2000">
              <a:solidFill>
                <a:srgbClr val="0000FF"/>
              </a:solidFill>
            </a:endParaRPr>
          </a:p>
        </p:txBody>
      </p:sp>
      <p:pic>
        <p:nvPicPr>
          <p:cNvPr id="148485" name="Picture 5"/>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104650" y="1386762"/>
            <a:ext cx="5686425" cy="295275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48486" name="Line 6"/>
          <p:cNvSpPr>
            <a:spLocks noChangeShapeType="1"/>
          </p:cNvSpPr>
          <p:nvPr/>
        </p:nvSpPr>
        <p:spPr bwMode="auto">
          <a:xfrm>
            <a:off x="4160423" y="2083223"/>
            <a:ext cx="29749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7" name="Line 7"/>
          <p:cNvSpPr>
            <a:spLocks noChangeShapeType="1"/>
          </p:cNvSpPr>
          <p:nvPr/>
        </p:nvSpPr>
        <p:spPr bwMode="auto">
          <a:xfrm>
            <a:off x="4187410" y="2398254"/>
            <a:ext cx="29749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8" name="Line 8"/>
          <p:cNvSpPr>
            <a:spLocks noChangeShapeType="1"/>
          </p:cNvSpPr>
          <p:nvPr/>
        </p:nvSpPr>
        <p:spPr bwMode="auto">
          <a:xfrm>
            <a:off x="7545435" y="2232399"/>
            <a:ext cx="1133475" cy="0"/>
          </a:xfrm>
          <a:prstGeom prst="line">
            <a:avLst/>
          </a:prstGeom>
          <a:noFill/>
          <a:ln w="381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9" name="Text Box 9"/>
          <p:cNvSpPr txBox="1">
            <a:spLocks noChangeArrowheads="1"/>
          </p:cNvSpPr>
          <p:nvPr/>
        </p:nvSpPr>
        <p:spPr bwMode="auto">
          <a:xfrm>
            <a:off x="559223" y="490688"/>
            <a:ext cx="7977187"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zh-CN" altLang="en-US" b="1" dirty="0"/>
              <a:t>平行度误差的评定示例（面对面）</a:t>
            </a:r>
          </a:p>
        </p:txBody>
      </p:sp>
      <p:sp>
        <p:nvSpPr>
          <p:cNvPr id="148490" name="Line 10"/>
          <p:cNvSpPr>
            <a:spLocks noChangeShapeType="1"/>
          </p:cNvSpPr>
          <p:nvPr/>
        </p:nvSpPr>
        <p:spPr bwMode="auto">
          <a:xfrm>
            <a:off x="4069302" y="3573620"/>
            <a:ext cx="2928938" cy="0"/>
          </a:xfrm>
          <a:prstGeom prst="line">
            <a:avLst/>
          </a:prstGeom>
          <a:noFill/>
          <a:ln w="76200">
            <a:solidFill>
              <a:srgbClr val="FF33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8500" name="Group 20"/>
          <p:cNvGrpSpPr>
            <a:grpSpLocks/>
          </p:cNvGrpSpPr>
          <p:nvPr/>
        </p:nvGrpSpPr>
        <p:grpSpPr bwMode="auto">
          <a:xfrm>
            <a:off x="371997" y="1362828"/>
            <a:ext cx="2955925" cy="2676525"/>
            <a:chOff x="176" y="1062"/>
            <a:chExt cx="1862" cy="2248"/>
          </a:xfrm>
        </p:grpSpPr>
        <p:pic>
          <p:nvPicPr>
            <p:cNvPr id="39946"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6" y="1062"/>
              <a:ext cx="1862" cy="2248"/>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9947" name="Rectangle 15"/>
            <p:cNvSpPr>
              <a:spLocks noChangeArrowheads="1"/>
            </p:cNvSpPr>
            <p:nvPr/>
          </p:nvSpPr>
          <p:spPr bwMode="auto">
            <a:xfrm>
              <a:off x="1527" y="2712"/>
              <a:ext cx="486" cy="49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48" name="Group 16"/>
            <p:cNvGrpSpPr>
              <a:grpSpLocks/>
            </p:cNvGrpSpPr>
            <p:nvPr/>
          </p:nvGrpSpPr>
          <p:grpSpPr bwMode="auto">
            <a:xfrm>
              <a:off x="1674" y="2671"/>
              <a:ext cx="239" cy="513"/>
              <a:chOff x="4977" y="893"/>
              <a:chExt cx="239" cy="513"/>
            </a:xfrm>
          </p:grpSpPr>
          <p:sp>
            <p:nvSpPr>
              <p:cNvPr id="39949" name="AutoShape 17"/>
              <p:cNvSpPr>
                <a:spLocks noChangeArrowheads="1"/>
              </p:cNvSpPr>
              <p:nvPr/>
            </p:nvSpPr>
            <p:spPr bwMode="auto">
              <a:xfrm flipV="1">
                <a:off x="4977" y="893"/>
                <a:ext cx="239" cy="207"/>
              </a:xfrm>
              <a:prstGeom prst="triangle">
                <a:avLst>
                  <a:gd name="adj" fmla="val 50000"/>
                </a:avLst>
              </a:prstGeom>
              <a:solidFill>
                <a:schemeClr val="tx2"/>
              </a:solidFill>
              <a:ln w="9525">
                <a:solidFill>
                  <a:schemeClr val="tx2"/>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Line 18"/>
              <p:cNvSpPr>
                <a:spLocks noChangeShapeType="1"/>
              </p:cNvSpPr>
              <p:nvPr/>
            </p:nvSpPr>
            <p:spPr bwMode="auto">
              <a:xfrm>
                <a:off x="5103" y="1094"/>
                <a:ext cx="0" cy="10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1" name="Rectangle 19"/>
              <p:cNvSpPr>
                <a:spLocks noChangeArrowheads="1"/>
              </p:cNvSpPr>
              <p:nvPr/>
            </p:nvSpPr>
            <p:spPr bwMode="auto">
              <a:xfrm>
                <a:off x="5000" y="1193"/>
                <a:ext cx="213" cy="213"/>
              </a:xfrm>
              <a:prstGeom prst="rect">
                <a:avLst/>
              </a:prstGeom>
              <a:noFill/>
              <a:ln w="12700">
                <a:solidFill>
                  <a:schemeClr val="tx2"/>
                </a:solidFill>
                <a:miter lim="800000"/>
                <a:headEnd/>
                <a:tailEnd/>
              </a:ln>
              <a:effectLst/>
              <a:extLst>
                <a:ext uri="{909E8E84-426E-40DD-AFC4-6F175D3DCCD1}">
                  <a14:hiddenFill xmlns="" xmlns:a14="http://schemas.microsoft.com/office/drawing/2010/main">
                    <a:solidFill>
                      <a:srgbClr val="FF0066"/>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r>
                  <a:rPr lang="en-US" altLang="zh-CN" i="1"/>
                  <a:t>A</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48489"/>
                                        </p:tgtEl>
                                        <p:attrNameLst>
                                          <p:attrName>style.visibility</p:attrName>
                                        </p:attrNameLst>
                                      </p:cBhvr>
                                      <p:to>
                                        <p:strVal val="visible"/>
                                      </p:to>
                                    </p:set>
                                    <p:animEffect transition="in" filter="wipe(left)">
                                      <p:cBhvr>
                                        <p:cTn id="7" dur="300"/>
                                        <p:tgtEl>
                                          <p:spTgt spid="1484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48500"/>
                                        </p:tgtEl>
                                        <p:attrNameLst>
                                          <p:attrName>style.visibility</p:attrName>
                                        </p:attrNameLst>
                                      </p:cBhvr>
                                      <p:to>
                                        <p:strVal val="visible"/>
                                      </p:to>
                                    </p:set>
                                    <p:anim calcmode="lin" valueType="num">
                                      <p:cBhvr additive="base">
                                        <p:cTn id="12" dur="500" fill="hold"/>
                                        <p:tgtEl>
                                          <p:spTgt spid="148500"/>
                                        </p:tgtEl>
                                        <p:attrNameLst>
                                          <p:attrName>ppt_x</p:attrName>
                                        </p:attrNameLst>
                                      </p:cBhvr>
                                      <p:tavLst>
                                        <p:tav tm="0">
                                          <p:val>
                                            <p:strVal val="0-#ppt_w/2"/>
                                          </p:val>
                                        </p:tav>
                                        <p:tav tm="100000">
                                          <p:val>
                                            <p:strVal val="#ppt_x"/>
                                          </p:val>
                                        </p:tav>
                                      </p:tavLst>
                                    </p:anim>
                                    <p:anim calcmode="lin" valueType="num">
                                      <p:cBhvr additive="base">
                                        <p:cTn id="13" dur="500" fill="hold"/>
                                        <p:tgtEl>
                                          <p:spTgt spid="14850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148485"/>
                                        </p:tgtEl>
                                        <p:attrNameLst>
                                          <p:attrName>style.visibility</p:attrName>
                                        </p:attrNameLst>
                                      </p:cBhvr>
                                      <p:to>
                                        <p:strVal val="visible"/>
                                      </p:to>
                                    </p:set>
                                    <p:anim calcmode="lin" valueType="num">
                                      <p:cBhvr additive="base">
                                        <p:cTn id="18" dur="500" fill="hold"/>
                                        <p:tgtEl>
                                          <p:spTgt spid="148485"/>
                                        </p:tgtEl>
                                        <p:attrNameLst>
                                          <p:attrName>ppt_x</p:attrName>
                                        </p:attrNameLst>
                                      </p:cBhvr>
                                      <p:tavLst>
                                        <p:tav tm="0">
                                          <p:val>
                                            <p:strVal val="1+#ppt_w/2"/>
                                          </p:val>
                                        </p:tav>
                                        <p:tav tm="100000">
                                          <p:val>
                                            <p:strVal val="#ppt_x"/>
                                          </p:val>
                                        </p:tav>
                                      </p:tavLst>
                                    </p:anim>
                                    <p:anim calcmode="lin" valueType="num">
                                      <p:cBhvr additive="base">
                                        <p:cTn id="19" dur="500" fill="hold"/>
                                        <p:tgtEl>
                                          <p:spTgt spid="14848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148490"/>
                                        </p:tgtEl>
                                        <p:attrNameLst>
                                          <p:attrName>style.visibility</p:attrName>
                                        </p:attrNameLst>
                                      </p:cBhvr>
                                      <p:to>
                                        <p:strVal val="visible"/>
                                      </p:to>
                                    </p:set>
                                    <p:anim calcmode="lin" valueType="num">
                                      <p:cBhvr>
                                        <p:cTn id="24" dur="500" fill="hold"/>
                                        <p:tgtEl>
                                          <p:spTgt spid="148490"/>
                                        </p:tgtEl>
                                        <p:attrNameLst>
                                          <p:attrName>ppt_x</p:attrName>
                                        </p:attrNameLst>
                                      </p:cBhvr>
                                      <p:tavLst>
                                        <p:tav tm="0">
                                          <p:val>
                                            <p:strVal val="#ppt_x-#ppt_w/2"/>
                                          </p:val>
                                        </p:tav>
                                        <p:tav tm="100000">
                                          <p:val>
                                            <p:strVal val="#ppt_x"/>
                                          </p:val>
                                        </p:tav>
                                      </p:tavLst>
                                    </p:anim>
                                    <p:anim calcmode="lin" valueType="num">
                                      <p:cBhvr>
                                        <p:cTn id="25" dur="500" fill="hold"/>
                                        <p:tgtEl>
                                          <p:spTgt spid="148490"/>
                                        </p:tgtEl>
                                        <p:attrNameLst>
                                          <p:attrName>ppt_y</p:attrName>
                                        </p:attrNameLst>
                                      </p:cBhvr>
                                      <p:tavLst>
                                        <p:tav tm="0">
                                          <p:val>
                                            <p:strVal val="#ppt_y"/>
                                          </p:val>
                                        </p:tav>
                                        <p:tav tm="100000">
                                          <p:val>
                                            <p:strVal val="#ppt_y"/>
                                          </p:val>
                                        </p:tav>
                                      </p:tavLst>
                                    </p:anim>
                                    <p:anim calcmode="lin" valueType="num">
                                      <p:cBhvr>
                                        <p:cTn id="26" dur="500" fill="hold"/>
                                        <p:tgtEl>
                                          <p:spTgt spid="148490"/>
                                        </p:tgtEl>
                                        <p:attrNameLst>
                                          <p:attrName>ppt_w</p:attrName>
                                        </p:attrNameLst>
                                      </p:cBhvr>
                                      <p:tavLst>
                                        <p:tav tm="0">
                                          <p:val>
                                            <p:fltVal val="0"/>
                                          </p:val>
                                        </p:tav>
                                        <p:tav tm="100000">
                                          <p:val>
                                            <p:strVal val="#ppt_w"/>
                                          </p:val>
                                        </p:tav>
                                      </p:tavLst>
                                    </p:anim>
                                    <p:anim calcmode="lin" valueType="num">
                                      <p:cBhvr>
                                        <p:cTn id="27" dur="500" fill="hold"/>
                                        <p:tgtEl>
                                          <p:spTgt spid="148490"/>
                                        </p:tgtEl>
                                        <p:attrNameLst>
                                          <p:attrName>ppt_h</p:attrName>
                                        </p:attrNameLst>
                                      </p:cBhvr>
                                      <p:tavLst>
                                        <p:tav tm="0">
                                          <p:val>
                                            <p:strVal val="#ppt_h"/>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8" fill="hold" grpId="0" nodeType="clickEffect">
                                  <p:stCondLst>
                                    <p:cond delay="0"/>
                                  </p:stCondLst>
                                  <p:childTnLst>
                                    <p:set>
                                      <p:cBhvr>
                                        <p:cTn id="31" dur="1" fill="hold">
                                          <p:stCondLst>
                                            <p:cond delay="0"/>
                                          </p:stCondLst>
                                        </p:cTn>
                                        <p:tgtEl>
                                          <p:spTgt spid="148486"/>
                                        </p:tgtEl>
                                        <p:attrNameLst>
                                          <p:attrName>style.visibility</p:attrName>
                                        </p:attrNameLst>
                                      </p:cBhvr>
                                      <p:to>
                                        <p:strVal val="visible"/>
                                      </p:to>
                                    </p:set>
                                    <p:anim calcmode="lin" valueType="num">
                                      <p:cBhvr>
                                        <p:cTn id="32" dur="500" fill="hold"/>
                                        <p:tgtEl>
                                          <p:spTgt spid="148486"/>
                                        </p:tgtEl>
                                        <p:attrNameLst>
                                          <p:attrName>ppt_x</p:attrName>
                                        </p:attrNameLst>
                                      </p:cBhvr>
                                      <p:tavLst>
                                        <p:tav tm="0">
                                          <p:val>
                                            <p:strVal val="#ppt_x-#ppt_w/2"/>
                                          </p:val>
                                        </p:tav>
                                        <p:tav tm="100000">
                                          <p:val>
                                            <p:strVal val="#ppt_x"/>
                                          </p:val>
                                        </p:tav>
                                      </p:tavLst>
                                    </p:anim>
                                    <p:anim calcmode="lin" valueType="num">
                                      <p:cBhvr>
                                        <p:cTn id="33" dur="500" fill="hold"/>
                                        <p:tgtEl>
                                          <p:spTgt spid="148486"/>
                                        </p:tgtEl>
                                        <p:attrNameLst>
                                          <p:attrName>ppt_y</p:attrName>
                                        </p:attrNameLst>
                                      </p:cBhvr>
                                      <p:tavLst>
                                        <p:tav tm="0">
                                          <p:val>
                                            <p:strVal val="#ppt_y"/>
                                          </p:val>
                                        </p:tav>
                                        <p:tav tm="100000">
                                          <p:val>
                                            <p:strVal val="#ppt_y"/>
                                          </p:val>
                                        </p:tav>
                                      </p:tavLst>
                                    </p:anim>
                                    <p:anim calcmode="lin" valueType="num">
                                      <p:cBhvr>
                                        <p:cTn id="34" dur="500" fill="hold"/>
                                        <p:tgtEl>
                                          <p:spTgt spid="148486"/>
                                        </p:tgtEl>
                                        <p:attrNameLst>
                                          <p:attrName>ppt_w</p:attrName>
                                        </p:attrNameLst>
                                      </p:cBhvr>
                                      <p:tavLst>
                                        <p:tav tm="0">
                                          <p:val>
                                            <p:fltVal val="0"/>
                                          </p:val>
                                        </p:tav>
                                        <p:tav tm="100000">
                                          <p:val>
                                            <p:strVal val="#ppt_w"/>
                                          </p:val>
                                        </p:tav>
                                      </p:tavLst>
                                    </p:anim>
                                    <p:anim calcmode="lin" valueType="num">
                                      <p:cBhvr>
                                        <p:cTn id="35" dur="500" fill="hold"/>
                                        <p:tgtEl>
                                          <p:spTgt spid="148486"/>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childTnLst>
                                    <p:set>
                                      <p:cBhvr>
                                        <p:cTn id="39" dur="1" fill="hold">
                                          <p:stCondLst>
                                            <p:cond delay="0"/>
                                          </p:stCondLst>
                                        </p:cTn>
                                        <p:tgtEl>
                                          <p:spTgt spid="148487"/>
                                        </p:tgtEl>
                                        <p:attrNameLst>
                                          <p:attrName>style.visibility</p:attrName>
                                        </p:attrNameLst>
                                      </p:cBhvr>
                                      <p:to>
                                        <p:strVal val="visible"/>
                                      </p:to>
                                    </p:set>
                                    <p:anim calcmode="lin" valueType="num">
                                      <p:cBhvr>
                                        <p:cTn id="40" dur="500" fill="hold"/>
                                        <p:tgtEl>
                                          <p:spTgt spid="148487"/>
                                        </p:tgtEl>
                                        <p:attrNameLst>
                                          <p:attrName>ppt_x</p:attrName>
                                        </p:attrNameLst>
                                      </p:cBhvr>
                                      <p:tavLst>
                                        <p:tav tm="0">
                                          <p:val>
                                            <p:strVal val="#ppt_x-#ppt_w/2"/>
                                          </p:val>
                                        </p:tav>
                                        <p:tav tm="100000">
                                          <p:val>
                                            <p:strVal val="#ppt_x"/>
                                          </p:val>
                                        </p:tav>
                                      </p:tavLst>
                                    </p:anim>
                                    <p:anim calcmode="lin" valueType="num">
                                      <p:cBhvr>
                                        <p:cTn id="41" dur="500" fill="hold"/>
                                        <p:tgtEl>
                                          <p:spTgt spid="148487"/>
                                        </p:tgtEl>
                                        <p:attrNameLst>
                                          <p:attrName>ppt_y</p:attrName>
                                        </p:attrNameLst>
                                      </p:cBhvr>
                                      <p:tavLst>
                                        <p:tav tm="0">
                                          <p:val>
                                            <p:strVal val="#ppt_y"/>
                                          </p:val>
                                        </p:tav>
                                        <p:tav tm="100000">
                                          <p:val>
                                            <p:strVal val="#ppt_y"/>
                                          </p:val>
                                        </p:tav>
                                      </p:tavLst>
                                    </p:anim>
                                    <p:anim calcmode="lin" valueType="num">
                                      <p:cBhvr>
                                        <p:cTn id="42" dur="500" fill="hold"/>
                                        <p:tgtEl>
                                          <p:spTgt spid="148487"/>
                                        </p:tgtEl>
                                        <p:attrNameLst>
                                          <p:attrName>ppt_w</p:attrName>
                                        </p:attrNameLst>
                                      </p:cBhvr>
                                      <p:tavLst>
                                        <p:tav tm="0">
                                          <p:val>
                                            <p:fltVal val="0"/>
                                          </p:val>
                                        </p:tav>
                                        <p:tav tm="100000">
                                          <p:val>
                                            <p:strVal val="#ppt_w"/>
                                          </p:val>
                                        </p:tav>
                                      </p:tavLst>
                                    </p:anim>
                                    <p:anim calcmode="lin" valueType="num">
                                      <p:cBhvr>
                                        <p:cTn id="43" dur="500" fill="hold"/>
                                        <p:tgtEl>
                                          <p:spTgt spid="148487"/>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8" fill="hold" grpId="0" nodeType="clickEffect">
                                  <p:stCondLst>
                                    <p:cond delay="0"/>
                                  </p:stCondLst>
                                  <p:childTnLst>
                                    <p:set>
                                      <p:cBhvr>
                                        <p:cTn id="47" dur="1" fill="hold">
                                          <p:stCondLst>
                                            <p:cond delay="0"/>
                                          </p:stCondLst>
                                        </p:cTn>
                                        <p:tgtEl>
                                          <p:spTgt spid="148488"/>
                                        </p:tgtEl>
                                        <p:attrNameLst>
                                          <p:attrName>style.visibility</p:attrName>
                                        </p:attrNameLst>
                                      </p:cBhvr>
                                      <p:to>
                                        <p:strVal val="visible"/>
                                      </p:to>
                                    </p:set>
                                    <p:anim calcmode="lin" valueType="num">
                                      <p:cBhvr>
                                        <p:cTn id="48" dur="500" fill="hold"/>
                                        <p:tgtEl>
                                          <p:spTgt spid="148488"/>
                                        </p:tgtEl>
                                        <p:attrNameLst>
                                          <p:attrName>ppt_x</p:attrName>
                                        </p:attrNameLst>
                                      </p:cBhvr>
                                      <p:tavLst>
                                        <p:tav tm="0">
                                          <p:val>
                                            <p:strVal val="#ppt_x-#ppt_w/2"/>
                                          </p:val>
                                        </p:tav>
                                        <p:tav tm="100000">
                                          <p:val>
                                            <p:strVal val="#ppt_x"/>
                                          </p:val>
                                        </p:tav>
                                      </p:tavLst>
                                    </p:anim>
                                    <p:anim calcmode="lin" valueType="num">
                                      <p:cBhvr>
                                        <p:cTn id="49" dur="500" fill="hold"/>
                                        <p:tgtEl>
                                          <p:spTgt spid="148488"/>
                                        </p:tgtEl>
                                        <p:attrNameLst>
                                          <p:attrName>ppt_y</p:attrName>
                                        </p:attrNameLst>
                                      </p:cBhvr>
                                      <p:tavLst>
                                        <p:tav tm="0">
                                          <p:val>
                                            <p:strVal val="#ppt_y"/>
                                          </p:val>
                                        </p:tav>
                                        <p:tav tm="100000">
                                          <p:val>
                                            <p:strVal val="#ppt_y"/>
                                          </p:val>
                                        </p:tav>
                                      </p:tavLst>
                                    </p:anim>
                                    <p:anim calcmode="lin" valueType="num">
                                      <p:cBhvr>
                                        <p:cTn id="50" dur="500" fill="hold"/>
                                        <p:tgtEl>
                                          <p:spTgt spid="148488"/>
                                        </p:tgtEl>
                                        <p:attrNameLst>
                                          <p:attrName>ppt_w</p:attrName>
                                        </p:attrNameLst>
                                      </p:cBhvr>
                                      <p:tavLst>
                                        <p:tav tm="0">
                                          <p:val>
                                            <p:fltVal val="0"/>
                                          </p:val>
                                        </p:tav>
                                        <p:tav tm="100000">
                                          <p:val>
                                            <p:strVal val="#ppt_w"/>
                                          </p:val>
                                        </p:tav>
                                      </p:tavLst>
                                    </p:anim>
                                    <p:anim calcmode="lin" valueType="num">
                                      <p:cBhvr>
                                        <p:cTn id="51" dur="500" fill="hold"/>
                                        <p:tgtEl>
                                          <p:spTgt spid="1484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6" grpId="0" animBg="1"/>
      <p:bldP spid="148487" grpId="0" animBg="1"/>
      <p:bldP spid="148488" grpId="0" animBg="1"/>
      <p:bldP spid="148489" grpId="0" autoUpdateAnimBg="0"/>
      <p:bldP spid="14849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9FDD3B16-196C-4156-B7B0-1EA7C0E06B9B}" type="slidenum">
              <a:rPr kumimoji="0" lang="zh-CN" altLang="en-US" sz="2000" smtClean="0">
                <a:solidFill>
                  <a:srgbClr val="0000FF"/>
                </a:solidFill>
              </a:rPr>
              <a:pPr eaLnBrk="1" hangingPunct="1"/>
              <a:t>34</a:t>
            </a:fld>
            <a:endParaRPr kumimoji="0" lang="en-US" altLang="zh-CN" sz="2000">
              <a:solidFill>
                <a:srgbClr val="0000FF"/>
              </a:solidFill>
            </a:endParaRPr>
          </a:p>
        </p:txBody>
      </p:sp>
      <p:sp>
        <p:nvSpPr>
          <p:cNvPr id="159748" name="Text Box 4"/>
          <p:cNvSpPr txBox="1">
            <a:spLocks noChangeArrowheads="1"/>
          </p:cNvSpPr>
          <p:nvPr/>
        </p:nvSpPr>
        <p:spPr bwMode="auto">
          <a:xfrm>
            <a:off x="357188" y="143154"/>
            <a:ext cx="5622925"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r>
              <a:rPr lang="en-US" altLang="zh-CN" b="1" dirty="0"/>
              <a:t>4.5.4 </a:t>
            </a:r>
            <a:r>
              <a:rPr lang="zh-CN" altLang="en-US" b="1" dirty="0"/>
              <a:t>几何误差的检测原则</a:t>
            </a:r>
          </a:p>
        </p:txBody>
      </p:sp>
      <p:sp>
        <p:nvSpPr>
          <p:cNvPr id="159749" name="Text Box 5"/>
          <p:cNvSpPr txBox="1">
            <a:spLocks noChangeArrowheads="1"/>
          </p:cNvSpPr>
          <p:nvPr/>
        </p:nvSpPr>
        <p:spPr bwMode="auto">
          <a:xfrm>
            <a:off x="214313" y="703524"/>
            <a:ext cx="8172450"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从检测原理上将常用的几何误差检测方法归纳为下列</a:t>
            </a:r>
            <a:r>
              <a:rPr lang="zh-CN" altLang="en-US" sz="2000" b="1" dirty="0">
                <a:solidFill>
                  <a:srgbClr val="CC00CC"/>
                </a:solidFill>
              </a:rPr>
              <a:t>五种检测原则</a:t>
            </a:r>
            <a:r>
              <a:rPr lang="zh-CN" altLang="en-US" sz="2000" b="1" dirty="0"/>
              <a:t>。</a:t>
            </a:r>
          </a:p>
        </p:txBody>
      </p:sp>
      <p:sp>
        <p:nvSpPr>
          <p:cNvPr id="159750" name="Text Box 6"/>
          <p:cNvSpPr txBox="1">
            <a:spLocks noChangeArrowheads="1"/>
          </p:cNvSpPr>
          <p:nvPr/>
        </p:nvSpPr>
        <p:spPr bwMode="auto">
          <a:xfrm>
            <a:off x="563563" y="1156098"/>
            <a:ext cx="8172450"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a:t>1. </a:t>
            </a:r>
            <a:r>
              <a:rPr lang="zh-CN" altLang="en-US" sz="2000" b="1"/>
              <a:t>与理想要素比较原则</a:t>
            </a:r>
            <a:r>
              <a:rPr lang="en-US" altLang="zh-CN" sz="2000" b="1"/>
              <a:t>—</a:t>
            </a:r>
            <a:r>
              <a:rPr lang="zh-CN" altLang="en-US" sz="2000" b="1"/>
              <a:t>基本检测原则</a:t>
            </a:r>
          </a:p>
        </p:txBody>
      </p:sp>
      <p:sp>
        <p:nvSpPr>
          <p:cNvPr id="159751" name="Text Box 7"/>
          <p:cNvSpPr txBox="1">
            <a:spLocks noChangeArrowheads="1"/>
          </p:cNvSpPr>
          <p:nvPr/>
        </p:nvSpPr>
        <p:spPr bwMode="auto">
          <a:xfrm>
            <a:off x="214314" y="1529954"/>
            <a:ext cx="8364537"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a:t>        </a:t>
            </a:r>
            <a:r>
              <a:rPr lang="zh-CN" altLang="en-US" sz="2000" b="1"/>
              <a:t>与理想要素比较原则是指</a:t>
            </a:r>
            <a:r>
              <a:rPr lang="zh-CN" altLang="en-US" sz="2000" b="1">
                <a:solidFill>
                  <a:srgbClr val="CC00CC"/>
                </a:solidFill>
              </a:rPr>
              <a:t>实际被测要素与其理想要素进行比较</a:t>
            </a:r>
            <a:r>
              <a:rPr lang="zh-CN" altLang="en-US" sz="2000" b="1"/>
              <a:t>，从而获得几何误差值。</a:t>
            </a:r>
          </a:p>
        </p:txBody>
      </p:sp>
      <p:sp>
        <p:nvSpPr>
          <p:cNvPr id="159752" name="Text Box 8"/>
          <p:cNvSpPr txBox="1">
            <a:spLocks noChangeArrowheads="1"/>
          </p:cNvSpPr>
          <p:nvPr/>
        </p:nvSpPr>
        <p:spPr bwMode="auto">
          <a:xfrm>
            <a:off x="214313" y="2241558"/>
            <a:ext cx="8493125"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在测量中，理想要素用模拟的方法来体现。如</a:t>
            </a:r>
            <a:r>
              <a:rPr lang="zh-CN" altLang="en-US" sz="2000" b="1" dirty="0">
                <a:solidFill>
                  <a:srgbClr val="CC00CC"/>
                </a:solidFill>
              </a:rPr>
              <a:t>理想平面</a:t>
            </a:r>
            <a:r>
              <a:rPr lang="zh-CN" altLang="en-US" sz="2000" b="1" dirty="0"/>
              <a:t>：平板工作面、水平液面、光束扫描平面等。</a:t>
            </a:r>
            <a:r>
              <a:rPr lang="zh-CN" altLang="en-US" sz="2000" b="1" dirty="0">
                <a:solidFill>
                  <a:srgbClr val="CC00CC"/>
                </a:solidFill>
              </a:rPr>
              <a:t>理想直线：</a:t>
            </a:r>
            <a:r>
              <a:rPr lang="zh-CN" altLang="en-US" sz="2000" b="1" dirty="0"/>
              <a:t>一束光线、拉紧的细钢丝、刀口尺的工作面等。线、面轮廓度测量中的</a:t>
            </a:r>
            <a:r>
              <a:rPr lang="zh-CN" altLang="en-US" sz="2000" b="1" dirty="0">
                <a:solidFill>
                  <a:srgbClr val="CC00CC"/>
                </a:solidFill>
              </a:rPr>
              <a:t>样板</a:t>
            </a:r>
            <a:r>
              <a:rPr lang="zh-CN" altLang="en-US" sz="2000" b="1" dirty="0"/>
              <a:t>也是理想的线、面轮廓的体现。</a:t>
            </a:r>
          </a:p>
        </p:txBody>
      </p:sp>
      <p:sp>
        <p:nvSpPr>
          <p:cNvPr id="159755" name="Text Box 11"/>
          <p:cNvSpPr txBox="1">
            <a:spLocks noChangeArrowheads="1"/>
          </p:cNvSpPr>
          <p:nvPr/>
        </p:nvSpPr>
        <p:spPr bwMode="auto">
          <a:xfrm>
            <a:off x="290513" y="3537348"/>
            <a:ext cx="8172450" cy="83099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根据与理想要素比较原则进行检测，可以得到与定义概念一致的误差值，所以该原则是</a:t>
            </a:r>
            <a:r>
              <a:rPr lang="en-US" altLang="zh-CN" sz="2000" b="1" dirty="0"/>
              <a:t>—</a:t>
            </a:r>
            <a:r>
              <a:rPr lang="zh-CN" altLang="en-US" sz="2000" b="1" dirty="0"/>
              <a:t>基本检测原则。</a:t>
            </a:r>
          </a:p>
        </p:txBody>
      </p:sp>
      <p:cxnSp>
        <p:nvCxnSpPr>
          <p:cNvPr id="9" name="直接连接符 8">
            <a:extLst>
              <a:ext uri="{FF2B5EF4-FFF2-40B4-BE49-F238E27FC236}">
                <a16:creationId xmlns="" xmlns:a16="http://schemas.microsoft.com/office/drawing/2014/main" id="{9280B596-7584-4BB3-B575-B2AB53D210E5}"/>
              </a:ext>
            </a:extLst>
          </p:cNvPr>
          <p:cNvCxnSpPr/>
          <p:nvPr/>
        </p:nvCxnSpPr>
        <p:spPr bwMode="auto">
          <a:xfrm flipV="1">
            <a:off x="184417" y="580144"/>
            <a:ext cx="8732904"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9748"/>
                                        </p:tgtEl>
                                        <p:attrNameLst>
                                          <p:attrName>style.visibility</p:attrName>
                                        </p:attrNameLst>
                                      </p:cBhvr>
                                      <p:to>
                                        <p:strVal val="visible"/>
                                      </p:to>
                                    </p:set>
                                    <p:animEffect transition="in" filter="blinds(horizontal)">
                                      <p:cBhvr>
                                        <p:cTn id="7" dur="2000"/>
                                        <p:tgtEl>
                                          <p:spTgt spid="1597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749"/>
                                        </p:tgtEl>
                                        <p:attrNameLst>
                                          <p:attrName>style.visibility</p:attrName>
                                        </p:attrNameLst>
                                      </p:cBhvr>
                                      <p:to>
                                        <p:strVal val="visible"/>
                                      </p:to>
                                    </p:set>
                                    <p:animEffect transition="in" filter="wipe(left)">
                                      <p:cBhvr>
                                        <p:cTn id="12" dur="2000"/>
                                        <p:tgtEl>
                                          <p:spTgt spid="1597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9750"/>
                                        </p:tgtEl>
                                        <p:attrNameLst>
                                          <p:attrName>style.visibility</p:attrName>
                                        </p:attrNameLst>
                                      </p:cBhvr>
                                      <p:to>
                                        <p:strVal val="visible"/>
                                      </p:to>
                                    </p:set>
                                    <p:animEffect transition="in" filter="blinds(horizontal)">
                                      <p:cBhvr>
                                        <p:cTn id="17" dur="2000"/>
                                        <p:tgtEl>
                                          <p:spTgt spid="1597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9751"/>
                                        </p:tgtEl>
                                        <p:attrNameLst>
                                          <p:attrName>style.visibility</p:attrName>
                                        </p:attrNameLst>
                                      </p:cBhvr>
                                      <p:to>
                                        <p:strVal val="visible"/>
                                      </p:to>
                                    </p:set>
                                    <p:animEffect transition="in" filter="wipe(left)">
                                      <p:cBhvr>
                                        <p:cTn id="22" dur="2000"/>
                                        <p:tgtEl>
                                          <p:spTgt spid="1597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9752"/>
                                        </p:tgtEl>
                                        <p:attrNameLst>
                                          <p:attrName>style.visibility</p:attrName>
                                        </p:attrNameLst>
                                      </p:cBhvr>
                                      <p:to>
                                        <p:strVal val="visible"/>
                                      </p:to>
                                    </p:set>
                                    <p:animEffect transition="in" filter="wipe(left)">
                                      <p:cBhvr>
                                        <p:cTn id="27" dur="2000"/>
                                        <p:tgtEl>
                                          <p:spTgt spid="1597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9755"/>
                                        </p:tgtEl>
                                        <p:attrNameLst>
                                          <p:attrName>style.visibility</p:attrName>
                                        </p:attrNameLst>
                                      </p:cBhvr>
                                      <p:to>
                                        <p:strVal val="visible"/>
                                      </p:to>
                                    </p:set>
                                    <p:animEffect transition="in" filter="blinds(horizontal)">
                                      <p:cBhvr>
                                        <p:cTn id="32" dur="2000"/>
                                        <p:tgtEl>
                                          <p:spTgt spid="159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p:bldP spid="159749" grpId="0"/>
      <p:bldP spid="159750" grpId="0"/>
      <p:bldP spid="159751" grpId="0"/>
      <p:bldP spid="159752" grpId="0"/>
      <p:bldP spid="15975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B2FF1835-DCF6-427A-A2A8-279A1CF0ACF1}" type="slidenum">
              <a:rPr kumimoji="0" lang="zh-CN" altLang="en-US" sz="2000" smtClean="0">
                <a:solidFill>
                  <a:srgbClr val="0000FF"/>
                </a:solidFill>
              </a:rPr>
              <a:pPr eaLnBrk="1" hangingPunct="1"/>
              <a:t>35</a:t>
            </a:fld>
            <a:endParaRPr kumimoji="0" lang="en-US" altLang="zh-CN" sz="2000">
              <a:solidFill>
                <a:srgbClr val="0000FF"/>
              </a:solidFill>
            </a:endParaRPr>
          </a:p>
        </p:txBody>
      </p:sp>
      <p:sp>
        <p:nvSpPr>
          <p:cNvPr id="160779" name="Text Box 11"/>
          <p:cNvSpPr txBox="1">
            <a:spLocks noChangeArrowheads="1"/>
          </p:cNvSpPr>
          <p:nvPr/>
        </p:nvSpPr>
        <p:spPr bwMode="auto">
          <a:xfrm>
            <a:off x="689147" y="809636"/>
            <a:ext cx="6792912" cy="535531"/>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b="1" dirty="0"/>
              <a:t>2. </a:t>
            </a:r>
            <a:r>
              <a:rPr lang="zh-CN" altLang="en-US" b="1" dirty="0"/>
              <a:t>测量坐标值原则</a:t>
            </a:r>
          </a:p>
        </p:txBody>
      </p:sp>
      <p:sp>
        <p:nvSpPr>
          <p:cNvPr id="160780" name="Text Box 12"/>
          <p:cNvSpPr txBox="1">
            <a:spLocks noChangeArrowheads="1"/>
          </p:cNvSpPr>
          <p:nvPr/>
        </p:nvSpPr>
        <p:spPr bwMode="auto">
          <a:xfrm>
            <a:off x="456677" y="1464130"/>
            <a:ext cx="8077722"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dirty="0"/>
              <a:t>       </a:t>
            </a:r>
            <a:r>
              <a:rPr lang="zh-CN" altLang="en-US" sz="2000" b="1" dirty="0"/>
              <a:t>测量坐标值原则是指</a:t>
            </a:r>
            <a:r>
              <a:rPr lang="zh-CN" altLang="en-US" sz="2000" b="1" dirty="0">
                <a:solidFill>
                  <a:srgbClr val="CC00CC"/>
                </a:solidFill>
              </a:rPr>
              <a:t>利用计量器具的坐标系，测出实际被测要素上各测点对该坐标系的坐标值</a:t>
            </a:r>
            <a:r>
              <a:rPr lang="zh-CN" altLang="en-US" sz="2000" b="1" dirty="0"/>
              <a:t>，经过数据处理可以获得几何误差值。该原则可以测量除跳动外的各项几何误差。</a:t>
            </a:r>
            <a:endParaRPr lang="en-US" altLang="zh-CN" sz="2000" b="1" dirty="0"/>
          </a:p>
        </p:txBody>
      </p:sp>
      <p:sp>
        <p:nvSpPr>
          <p:cNvPr id="160781" name="Text Box 13"/>
          <p:cNvSpPr txBox="1">
            <a:spLocks noChangeArrowheads="1"/>
          </p:cNvSpPr>
          <p:nvPr/>
        </p:nvSpPr>
        <p:spPr bwMode="auto">
          <a:xfrm>
            <a:off x="466534" y="2783422"/>
            <a:ext cx="7955571"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根据被测要素的几何特征，可以选用直角坐标系、极坐标系和圆柱坐标系等进行测量。此原则数据处理比较繁琐，但随着计算机技术的发展，该原则亦得到广泛地应用。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0779"/>
                                        </p:tgtEl>
                                        <p:attrNameLst>
                                          <p:attrName>style.visibility</p:attrName>
                                        </p:attrNameLst>
                                      </p:cBhvr>
                                      <p:to>
                                        <p:strVal val="visible"/>
                                      </p:to>
                                    </p:set>
                                    <p:animEffect transition="in" filter="blinds(horizontal)">
                                      <p:cBhvr>
                                        <p:cTn id="7" dur="2000"/>
                                        <p:tgtEl>
                                          <p:spTgt spid="160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80"/>
                                        </p:tgtEl>
                                        <p:attrNameLst>
                                          <p:attrName>style.visibility</p:attrName>
                                        </p:attrNameLst>
                                      </p:cBhvr>
                                      <p:to>
                                        <p:strVal val="visible"/>
                                      </p:to>
                                    </p:set>
                                    <p:animEffect transition="in" filter="wipe(left)">
                                      <p:cBhvr>
                                        <p:cTn id="12" dur="2000"/>
                                        <p:tgtEl>
                                          <p:spTgt spid="160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0781"/>
                                        </p:tgtEl>
                                        <p:attrNameLst>
                                          <p:attrName>style.visibility</p:attrName>
                                        </p:attrNameLst>
                                      </p:cBhvr>
                                      <p:to>
                                        <p:strVal val="visible"/>
                                      </p:to>
                                    </p:set>
                                    <p:animEffect transition="in" filter="blinds(horizontal)">
                                      <p:cBhvr>
                                        <p:cTn id="17" dur="2000"/>
                                        <p:tgtEl>
                                          <p:spTgt spid="160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9" grpId="0"/>
      <p:bldP spid="160780" grpId="0"/>
      <p:bldP spid="16078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782521F-9C76-41EF-BC5B-469E4EF7072D}" type="slidenum">
              <a:rPr lang="zh-CN" altLang="en-US" smtClean="0"/>
              <a:pPr>
                <a:defRPr/>
              </a:pPr>
              <a:t>36</a:t>
            </a:fld>
            <a:endParaRPr lang="en-US" altLang="zh-CN"/>
          </a:p>
        </p:txBody>
      </p:sp>
      <p:sp>
        <p:nvSpPr>
          <p:cNvPr id="5" name="Text Box 14"/>
          <p:cNvSpPr txBox="1">
            <a:spLocks noChangeArrowheads="1"/>
          </p:cNvSpPr>
          <p:nvPr/>
        </p:nvSpPr>
        <p:spPr bwMode="auto">
          <a:xfrm>
            <a:off x="793088" y="569764"/>
            <a:ext cx="6439722" cy="535531"/>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b="1" dirty="0"/>
              <a:t>3. </a:t>
            </a:r>
            <a:r>
              <a:rPr lang="zh-CN" altLang="en-US" b="1" dirty="0"/>
              <a:t>测量特征参数原则</a:t>
            </a:r>
          </a:p>
        </p:txBody>
      </p:sp>
      <p:sp>
        <p:nvSpPr>
          <p:cNvPr id="6" name="Text Box 15"/>
          <p:cNvSpPr txBox="1">
            <a:spLocks noChangeArrowheads="1"/>
          </p:cNvSpPr>
          <p:nvPr/>
        </p:nvSpPr>
        <p:spPr bwMode="auto">
          <a:xfrm>
            <a:off x="437904" y="1082911"/>
            <a:ext cx="8173436" cy="116499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dirty="0"/>
              <a:t>        </a:t>
            </a:r>
            <a:r>
              <a:rPr lang="zh-CN" altLang="en-US" sz="2000" b="1" dirty="0"/>
              <a:t>测量特征参数原则是指</a:t>
            </a:r>
            <a:r>
              <a:rPr lang="zh-CN" altLang="en-US" sz="2000" b="1" dirty="0">
                <a:solidFill>
                  <a:srgbClr val="CC00CC"/>
                </a:solidFill>
              </a:rPr>
              <a:t>测量实际被测要素上具有代表性的参数，用它表示几何误差值</a:t>
            </a:r>
            <a:r>
              <a:rPr lang="zh-CN" altLang="en-US" sz="2000" b="1" dirty="0"/>
              <a:t>。按这些参数代表的几何误差值通常与定义不符合，而是近似值。</a:t>
            </a:r>
          </a:p>
        </p:txBody>
      </p:sp>
      <p:sp>
        <p:nvSpPr>
          <p:cNvPr id="7" name="Text Box 16"/>
          <p:cNvSpPr txBox="1">
            <a:spLocks noChangeArrowheads="1"/>
          </p:cNvSpPr>
          <p:nvPr/>
        </p:nvSpPr>
        <p:spPr bwMode="auto">
          <a:xfrm>
            <a:off x="464537" y="2207867"/>
            <a:ext cx="8173436" cy="116499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dirty="0"/>
              <a:t>        </a:t>
            </a:r>
            <a:r>
              <a:rPr lang="zh-CN" altLang="en-US" sz="2000" b="1" dirty="0"/>
              <a:t>例如用两点法测量圆柱面的圆度误差，在一个横截面内的几个方向上测量直径，取相互垂直的两直径差最大值之半作为该横截面内的圆度误差值。</a:t>
            </a:r>
          </a:p>
        </p:txBody>
      </p:sp>
      <p:sp>
        <p:nvSpPr>
          <p:cNvPr id="8" name="Text Box 11"/>
          <p:cNvSpPr txBox="1">
            <a:spLocks noChangeArrowheads="1"/>
          </p:cNvSpPr>
          <p:nvPr/>
        </p:nvSpPr>
        <p:spPr bwMode="auto">
          <a:xfrm>
            <a:off x="436439" y="3408285"/>
            <a:ext cx="8343900" cy="79566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由于用测量特征参数来表示几何误差值比较容易实现，并不需要繁琐的数据处理，故测量特征参数原则在生产车间里常被采用。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2000"/>
                                        <p:tgtEl>
                                          <p:spTgt spid="7"/>
                                        </p:tgtEl>
                                      </p:cBhvr>
                                    </p:animEffect>
                                  </p:childTnLst>
                                </p:cTn>
                              </p:par>
                            </p:childTnLst>
                          </p:cTn>
                        </p:par>
                        <p:par>
                          <p:cTn id="18" fill="hold">
                            <p:stCondLst>
                              <p:cond delay="2000"/>
                            </p:stCondLst>
                            <p:childTnLst>
                              <p:par>
                                <p:cTn id="19" presetID="3" presetClass="entr" presetSubtype="1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1EC0BB5B-969B-4CD0-9EB0-AF3A902FB428}" type="slidenum">
              <a:rPr kumimoji="0" lang="zh-CN" altLang="en-US" sz="2000" smtClean="0">
                <a:solidFill>
                  <a:srgbClr val="0000FF"/>
                </a:solidFill>
              </a:rPr>
              <a:pPr eaLnBrk="1" hangingPunct="1"/>
              <a:t>37</a:t>
            </a:fld>
            <a:endParaRPr kumimoji="0" lang="en-US" altLang="zh-CN" sz="2000">
              <a:solidFill>
                <a:srgbClr val="0000FF"/>
              </a:solidFill>
            </a:endParaRPr>
          </a:p>
        </p:txBody>
      </p:sp>
      <p:sp>
        <p:nvSpPr>
          <p:cNvPr id="161798" name="Text Box 6"/>
          <p:cNvSpPr txBox="1">
            <a:spLocks noChangeArrowheads="1"/>
          </p:cNvSpPr>
          <p:nvPr/>
        </p:nvSpPr>
        <p:spPr bwMode="auto">
          <a:xfrm>
            <a:off x="381874" y="587522"/>
            <a:ext cx="3970385"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dirty="0"/>
              <a:t>   4. </a:t>
            </a:r>
            <a:r>
              <a:rPr lang="zh-CN" altLang="en-US" sz="2000" b="1" dirty="0"/>
              <a:t>测量跳动原则</a:t>
            </a:r>
          </a:p>
        </p:txBody>
      </p:sp>
      <p:sp>
        <p:nvSpPr>
          <p:cNvPr id="161799" name="Text Box 7"/>
          <p:cNvSpPr txBox="1">
            <a:spLocks noChangeArrowheads="1"/>
          </p:cNvSpPr>
          <p:nvPr/>
        </p:nvSpPr>
        <p:spPr bwMode="auto">
          <a:xfrm>
            <a:off x="475268" y="1023959"/>
            <a:ext cx="8271782" cy="1534331"/>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测量跳动原则是指</a:t>
            </a:r>
            <a:r>
              <a:rPr lang="zh-CN" altLang="en-US" sz="2000" b="1" dirty="0">
                <a:solidFill>
                  <a:srgbClr val="CC00CC"/>
                </a:solidFill>
              </a:rPr>
              <a:t>实际被测要素绕基准轴线回转过程中，沿给定方向测其对某些点或线的变动量</a:t>
            </a:r>
            <a:r>
              <a:rPr lang="zh-CN" altLang="en-US" sz="2000" b="1" dirty="0"/>
              <a:t>。变动量是指指示器最大与最小读数之差。此原则仅用于跳动误差测量，由于测量方法简单，故在生产车间里常被采用。</a:t>
            </a:r>
          </a:p>
        </p:txBody>
      </p:sp>
      <p:sp>
        <p:nvSpPr>
          <p:cNvPr id="161800" name="Text Box 8"/>
          <p:cNvSpPr txBox="1">
            <a:spLocks noChangeArrowheads="1"/>
          </p:cNvSpPr>
          <p:nvPr/>
        </p:nvSpPr>
        <p:spPr bwMode="auto">
          <a:xfrm>
            <a:off x="604484" y="2577579"/>
            <a:ext cx="6792913"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en-US" altLang="zh-CN" sz="2000" b="1"/>
              <a:t>5. </a:t>
            </a:r>
            <a:r>
              <a:rPr lang="zh-CN" altLang="en-US" sz="2000" b="1"/>
              <a:t>边界控制原则</a:t>
            </a:r>
          </a:p>
        </p:txBody>
      </p:sp>
      <p:sp>
        <p:nvSpPr>
          <p:cNvPr id="161801" name="Text Box 9"/>
          <p:cNvSpPr txBox="1">
            <a:spLocks noChangeArrowheads="1"/>
          </p:cNvSpPr>
          <p:nvPr/>
        </p:nvSpPr>
        <p:spPr bwMode="auto">
          <a:xfrm>
            <a:off x="800305" y="2941798"/>
            <a:ext cx="8061325" cy="46166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边界控制原则</a:t>
            </a:r>
            <a:r>
              <a:rPr lang="zh-CN" altLang="en-US" sz="2000" b="1" dirty="0">
                <a:solidFill>
                  <a:srgbClr val="CC00CC"/>
                </a:solidFill>
              </a:rPr>
              <a:t>适用于最大实体要求和包容要求的场合</a:t>
            </a:r>
            <a:r>
              <a:rPr lang="zh-CN" altLang="en-US" sz="2000" b="1" dirty="0"/>
              <a:t>。</a:t>
            </a:r>
          </a:p>
        </p:txBody>
      </p:sp>
      <p:sp>
        <p:nvSpPr>
          <p:cNvPr id="161802" name="Text Box 10"/>
          <p:cNvSpPr txBox="1">
            <a:spLocks noChangeArrowheads="1"/>
          </p:cNvSpPr>
          <p:nvPr/>
        </p:nvSpPr>
        <p:spPr bwMode="auto">
          <a:xfrm>
            <a:off x="326560" y="3288214"/>
            <a:ext cx="8558213" cy="1200329"/>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按最大实体要求或包容要求给出几何公差时，就给定了最大实体实效边界（</a:t>
            </a:r>
            <a:r>
              <a:rPr lang="en-US" altLang="zh-CN" sz="2000" b="1" dirty="0"/>
              <a:t>MMVB</a:t>
            </a:r>
            <a:r>
              <a:rPr lang="zh-CN" altLang="en-US" sz="2000" b="1" dirty="0"/>
              <a:t>）或最大实体边界</a:t>
            </a:r>
            <a:r>
              <a:rPr lang="en-US" altLang="zh-CN" sz="2000" b="1" dirty="0"/>
              <a:t>(MMB)</a:t>
            </a:r>
            <a:r>
              <a:rPr lang="zh-CN" altLang="en-US" sz="2000" b="1" dirty="0"/>
              <a:t>，要求被测要素的实际轮廓不得超出该边界。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8"/>
                                        </p:tgtEl>
                                        <p:attrNameLst>
                                          <p:attrName>style.visibility</p:attrName>
                                        </p:attrNameLst>
                                      </p:cBhvr>
                                      <p:to>
                                        <p:strVal val="visible"/>
                                      </p:to>
                                    </p:set>
                                    <p:animEffect transition="in" filter="blinds(horizontal)">
                                      <p:cBhvr>
                                        <p:cTn id="7" dur="2000"/>
                                        <p:tgtEl>
                                          <p:spTgt spid="1617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9"/>
                                        </p:tgtEl>
                                        <p:attrNameLst>
                                          <p:attrName>style.visibility</p:attrName>
                                        </p:attrNameLst>
                                      </p:cBhvr>
                                      <p:to>
                                        <p:strVal val="visible"/>
                                      </p:to>
                                    </p:set>
                                    <p:animEffect transition="in" filter="wipe(left)">
                                      <p:cBhvr>
                                        <p:cTn id="12" dur="2000"/>
                                        <p:tgtEl>
                                          <p:spTgt spid="1617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800"/>
                                        </p:tgtEl>
                                        <p:attrNameLst>
                                          <p:attrName>style.visibility</p:attrName>
                                        </p:attrNameLst>
                                      </p:cBhvr>
                                      <p:to>
                                        <p:strVal val="visible"/>
                                      </p:to>
                                    </p:set>
                                    <p:animEffect transition="in" filter="blinds(horizontal)">
                                      <p:cBhvr>
                                        <p:cTn id="17" dur="2000"/>
                                        <p:tgtEl>
                                          <p:spTgt spid="1618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801"/>
                                        </p:tgtEl>
                                        <p:attrNameLst>
                                          <p:attrName>style.visibility</p:attrName>
                                        </p:attrNameLst>
                                      </p:cBhvr>
                                      <p:to>
                                        <p:strVal val="visible"/>
                                      </p:to>
                                    </p:set>
                                    <p:animEffect transition="in" filter="wipe(left)">
                                      <p:cBhvr>
                                        <p:cTn id="22" dur="2000"/>
                                        <p:tgtEl>
                                          <p:spTgt spid="1618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802"/>
                                        </p:tgtEl>
                                        <p:attrNameLst>
                                          <p:attrName>style.visibility</p:attrName>
                                        </p:attrNameLst>
                                      </p:cBhvr>
                                      <p:to>
                                        <p:strVal val="visible"/>
                                      </p:to>
                                    </p:set>
                                    <p:animEffect transition="in" filter="wipe(left)">
                                      <p:cBhvr>
                                        <p:cTn id="27" dur="2000"/>
                                        <p:tgtEl>
                                          <p:spTgt spid="161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8" grpId="0"/>
      <p:bldP spid="161799" grpId="0"/>
      <p:bldP spid="161800" grpId="0"/>
      <p:bldP spid="161801" grpId="0"/>
      <p:bldP spid="16180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8CB81020-239F-4F12-A3D3-3CDBE3018F02}" type="slidenum">
              <a:rPr kumimoji="0" lang="zh-CN" altLang="en-US" sz="2000" smtClean="0">
                <a:solidFill>
                  <a:srgbClr val="0000FF"/>
                </a:solidFill>
              </a:rPr>
              <a:pPr eaLnBrk="1" hangingPunct="1"/>
              <a:t>38</a:t>
            </a:fld>
            <a:endParaRPr kumimoji="0" lang="en-US" altLang="zh-CN" sz="2000">
              <a:solidFill>
                <a:srgbClr val="0000FF"/>
              </a:solidFill>
            </a:endParaRPr>
          </a:p>
        </p:txBody>
      </p:sp>
      <p:sp>
        <p:nvSpPr>
          <p:cNvPr id="162820" name="Text Box 4"/>
          <p:cNvSpPr txBox="1">
            <a:spLocks noChangeArrowheads="1"/>
          </p:cNvSpPr>
          <p:nvPr/>
        </p:nvSpPr>
        <p:spPr bwMode="auto">
          <a:xfrm>
            <a:off x="469427" y="994021"/>
            <a:ext cx="7946605" cy="79566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边界控制原则是用功能量规或光滑极限量规的</a:t>
            </a:r>
            <a:r>
              <a:rPr lang="zh-CN" altLang="en-US" sz="2000" b="1" dirty="0">
                <a:solidFill>
                  <a:srgbClr val="CC3300"/>
                </a:solidFill>
              </a:rPr>
              <a:t>通规工作表面模拟体现图样上给定边界</a:t>
            </a:r>
            <a:r>
              <a:rPr lang="zh-CN" altLang="en-US" sz="2000" b="1" dirty="0"/>
              <a:t>，来检验实际被测要素。</a:t>
            </a:r>
          </a:p>
        </p:txBody>
      </p:sp>
      <p:sp>
        <p:nvSpPr>
          <p:cNvPr id="162821" name="Text Box 5"/>
          <p:cNvSpPr txBox="1">
            <a:spLocks noChangeArrowheads="1"/>
          </p:cNvSpPr>
          <p:nvPr/>
        </p:nvSpPr>
        <p:spPr bwMode="auto">
          <a:xfrm>
            <a:off x="420647" y="2014474"/>
            <a:ext cx="8044164" cy="42633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若被测要素的实际轮廓能被量规通过，则表示合格，否则不合格</a:t>
            </a:r>
          </a:p>
        </p:txBody>
      </p:sp>
      <p:sp>
        <p:nvSpPr>
          <p:cNvPr id="162822" name="Text Box 6"/>
          <p:cNvSpPr txBox="1">
            <a:spLocks noChangeArrowheads="1"/>
          </p:cNvSpPr>
          <p:nvPr/>
        </p:nvSpPr>
        <p:spPr bwMode="auto">
          <a:xfrm>
            <a:off x="397927" y="2767901"/>
            <a:ext cx="7829793" cy="795667"/>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l" eaLnBrk="1" hangingPunct="1">
              <a:lnSpc>
                <a:spcPct val="120000"/>
              </a:lnSpc>
            </a:pPr>
            <a:r>
              <a:rPr lang="zh-CN" altLang="en-US" sz="2000" b="1" dirty="0"/>
              <a:t>        例如检验花键的位置度误差，可用花键的功能量规检验。再如检验零件的同轴度误差，可用同轴度量规。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wipe(left)">
                                      <p:cBhvr>
                                        <p:cTn id="7" dur="2000"/>
                                        <p:tgtEl>
                                          <p:spTgt spid="162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21"/>
                                        </p:tgtEl>
                                        <p:attrNameLst>
                                          <p:attrName>style.visibility</p:attrName>
                                        </p:attrNameLst>
                                      </p:cBhvr>
                                      <p:to>
                                        <p:strVal val="visible"/>
                                      </p:to>
                                    </p:set>
                                    <p:animEffect transition="in" filter="wipe(left)">
                                      <p:cBhvr>
                                        <p:cTn id="12" dur="2000"/>
                                        <p:tgtEl>
                                          <p:spTgt spid="162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22"/>
                                        </p:tgtEl>
                                        <p:attrNameLst>
                                          <p:attrName>style.visibility</p:attrName>
                                        </p:attrNameLst>
                                      </p:cBhvr>
                                      <p:to>
                                        <p:strVal val="visible"/>
                                      </p:to>
                                    </p:set>
                                    <p:animEffect transition="in" filter="wipe(left)">
                                      <p:cBhvr>
                                        <p:cTn id="17" dur="2000"/>
                                        <p:tgtEl>
                                          <p:spTgt spid="162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p:bldP spid="162821" grpId="0"/>
      <p:bldP spid="1628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fld id="{26FC94AB-0863-47EF-863B-50AE94485F8F}" type="slidenum">
              <a:rPr kumimoji="0" lang="zh-CN" altLang="en-US" sz="2000" smtClean="0">
                <a:solidFill>
                  <a:srgbClr val="0000FF"/>
                </a:solidFill>
              </a:rPr>
              <a:pPr eaLnBrk="1" hangingPunct="1"/>
              <a:t>39</a:t>
            </a:fld>
            <a:endParaRPr kumimoji="0" lang="en-US" altLang="zh-CN" sz="2000">
              <a:solidFill>
                <a:srgbClr val="0000FF"/>
              </a:solidFill>
            </a:endParaRPr>
          </a:p>
        </p:txBody>
      </p:sp>
      <p:sp>
        <p:nvSpPr>
          <p:cNvPr id="130052" name="Text Box 4"/>
          <p:cNvSpPr txBox="1">
            <a:spLocks noChangeArrowheads="1"/>
          </p:cNvSpPr>
          <p:nvPr/>
        </p:nvSpPr>
        <p:spPr bwMode="auto">
          <a:xfrm>
            <a:off x="2330450" y="148348"/>
            <a:ext cx="3948113"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kumimoji="0" lang="zh-CN" altLang="en-US" b="1" dirty="0"/>
              <a:t>课 堂 练 习</a:t>
            </a:r>
          </a:p>
        </p:txBody>
      </p:sp>
      <p:sp>
        <p:nvSpPr>
          <p:cNvPr id="130090" name="Rectangle 42"/>
          <p:cNvSpPr>
            <a:spLocks noChangeArrowheads="1"/>
          </p:cNvSpPr>
          <p:nvPr/>
        </p:nvSpPr>
        <p:spPr bwMode="auto">
          <a:xfrm>
            <a:off x="383424" y="709801"/>
            <a:ext cx="8442325" cy="781945"/>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tabLst>
                <a:tab pos="266700" algn="l"/>
              </a:tabLst>
            </a:pPr>
            <a:r>
              <a:rPr lang="zh-CN" altLang="en-US" sz="2000" dirty="0">
                <a:latin typeface="+mj-ea"/>
                <a:ea typeface="+mj-ea"/>
              </a:rPr>
              <a:t>         </a:t>
            </a:r>
            <a:r>
              <a:rPr lang="zh-CN" altLang="en-US" sz="2000" b="1" dirty="0">
                <a:latin typeface="+mj-ea"/>
                <a:ea typeface="+mj-ea"/>
              </a:rPr>
              <a:t>图示零件，其</a:t>
            </a:r>
            <a:r>
              <a:rPr lang="en-US" altLang="zh-CN" sz="2000" b="1" i="1" dirty="0">
                <a:latin typeface="+mj-ea"/>
                <a:ea typeface="+mj-ea"/>
              </a:rPr>
              <a:t>d</a:t>
            </a:r>
            <a:r>
              <a:rPr lang="en-US" altLang="zh-CN" sz="2000" b="1" baseline="-25000" dirty="0">
                <a:latin typeface="+mj-ea"/>
                <a:ea typeface="+mj-ea"/>
              </a:rPr>
              <a:t>1</a:t>
            </a:r>
            <a:r>
              <a:rPr lang="zh-CN" altLang="en-US" sz="2000" b="1" dirty="0">
                <a:latin typeface="+mj-ea"/>
                <a:ea typeface="+mj-ea"/>
              </a:rPr>
              <a:t>要求遵守包容原则，但</a:t>
            </a:r>
            <a:r>
              <a:rPr lang="en-US" altLang="zh-CN" sz="2000" b="1" i="1" dirty="0">
                <a:latin typeface="+mj-ea"/>
                <a:ea typeface="+mj-ea"/>
              </a:rPr>
              <a:t>d</a:t>
            </a:r>
            <a:r>
              <a:rPr lang="en-US" altLang="zh-CN" sz="2000" b="1" baseline="-25000" dirty="0">
                <a:latin typeface="+mj-ea"/>
                <a:ea typeface="+mj-ea"/>
              </a:rPr>
              <a:t>1</a:t>
            </a:r>
            <a:r>
              <a:rPr lang="zh-CN" altLang="en-US" sz="2000" b="1" dirty="0">
                <a:latin typeface="+mj-ea"/>
                <a:ea typeface="+mj-ea"/>
              </a:rPr>
              <a:t>的直线度误差不允许超过0.012</a:t>
            </a:r>
            <a:r>
              <a:rPr lang="en-US" altLang="zh-CN" sz="2000" b="1" dirty="0">
                <a:latin typeface="+mj-ea"/>
                <a:ea typeface="+mj-ea"/>
              </a:rPr>
              <a:t>mm 。</a:t>
            </a:r>
            <a:r>
              <a:rPr lang="en-US" altLang="zh-CN" sz="2000" b="1" i="1" dirty="0">
                <a:latin typeface="+mj-ea"/>
                <a:ea typeface="+mj-ea"/>
              </a:rPr>
              <a:t>d</a:t>
            </a:r>
            <a:r>
              <a:rPr lang="en-US" altLang="zh-CN" sz="2000" b="1" baseline="-25000" dirty="0">
                <a:latin typeface="+mj-ea"/>
                <a:ea typeface="+mj-ea"/>
              </a:rPr>
              <a:t>2</a:t>
            </a:r>
            <a:r>
              <a:rPr lang="zh-CN" altLang="en-US" sz="2000" b="1" dirty="0">
                <a:latin typeface="+mj-ea"/>
                <a:ea typeface="+mj-ea"/>
              </a:rPr>
              <a:t>两端面对</a:t>
            </a:r>
            <a:r>
              <a:rPr lang="en-US" altLang="zh-CN" sz="2000" b="1" i="1" dirty="0">
                <a:latin typeface="+mj-ea"/>
                <a:ea typeface="+mj-ea"/>
              </a:rPr>
              <a:t>d</a:t>
            </a:r>
            <a:r>
              <a:rPr lang="en-US" altLang="zh-CN" sz="2000" b="1" baseline="-25000" dirty="0">
                <a:latin typeface="+mj-ea"/>
                <a:ea typeface="+mj-ea"/>
              </a:rPr>
              <a:t>1</a:t>
            </a:r>
            <a:r>
              <a:rPr lang="zh-CN" altLang="en-US" sz="2000" b="1" dirty="0">
                <a:latin typeface="+mj-ea"/>
                <a:ea typeface="+mj-ea"/>
              </a:rPr>
              <a:t>轴线的垂直度误差不允许超过0.1</a:t>
            </a:r>
            <a:r>
              <a:rPr lang="en-US" altLang="zh-CN" sz="2000" b="1" dirty="0">
                <a:latin typeface="+mj-ea"/>
                <a:ea typeface="+mj-ea"/>
              </a:rPr>
              <a:t>mm。</a:t>
            </a:r>
            <a:endParaRPr lang="zh-CN" altLang="en-US" sz="2000" b="1" dirty="0">
              <a:latin typeface="+mj-ea"/>
              <a:ea typeface="+mj-ea"/>
            </a:endParaRPr>
          </a:p>
        </p:txBody>
      </p:sp>
      <p:grpSp>
        <p:nvGrpSpPr>
          <p:cNvPr id="130113" name="Group 65"/>
          <p:cNvGrpSpPr>
            <a:grpSpLocks/>
          </p:cNvGrpSpPr>
          <p:nvPr/>
        </p:nvGrpSpPr>
        <p:grpSpPr bwMode="auto">
          <a:xfrm>
            <a:off x="1264721" y="2165747"/>
            <a:ext cx="6591300" cy="1895475"/>
            <a:chOff x="435" y="2189"/>
            <a:chExt cx="4152" cy="1592"/>
          </a:xfrm>
        </p:grpSpPr>
        <p:sp>
          <p:nvSpPr>
            <p:cNvPr id="48136" name="Rectangle 49"/>
            <p:cNvSpPr>
              <a:spLocks noChangeArrowheads="1"/>
            </p:cNvSpPr>
            <p:nvPr/>
          </p:nvSpPr>
          <p:spPr bwMode="auto">
            <a:xfrm>
              <a:off x="700" y="2693"/>
              <a:ext cx="1235" cy="1088"/>
            </a:xfrm>
            <a:prstGeom prst="rect">
              <a:avLst/>
            </a:prstGeom>
            <a:solidFill>
              <a:schemeClr val="bg1"/>
            </a:solidFill>
            <a:ln w="762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7" name="Rectangle 50"/>
            <p:cNvSpPr>
              <a:spLocks noChangeArrowheads="1"/>
            </p:cNvSpPr>
            <p:nvPr/>
          </p:nvSpPr>
          <p:spPr bwMode="auto">
            <a:xfrm>
              <a:off x="1934" y="2803"/>
              <a:ext cx="1235" cy="859"/>
            </a:xfrm>
            <a:prstGeom prst="rect">
              <a:avLst/>
            </a:prstGeom>
            <a:solidFill>
              <a:schemeClr val="bg1"/>
            </a:solidFill>
            <a:ln w="76200">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8" name="Line 51"/>
            <p:cNvSpPr>
              <a:spLocks noChangeShapeType="1"/>
            </p:cNvSpPr>
            <p:nvPr/>
          </p:nvSpPr>
          <p:spPr bwMode="auto">
            <a:xfrm flipH="1">
              <a:off x="581" y="2684"/>
              <a:ext cx="119" cy="82"/>
            </a:xfrm>
            <a:prstGeom prst="line">
              <a:avLst/>
            </a:prstGeom>
            <a:noFill/>
            <a:ln w="762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9" name="Line 52"/>
            <p:cNvSpPr>
              <a:spLocks noChangeShapeType="1"/>
            </p:cNvSpPr>
            <p:nvPr/>
          </p:nvSpPr>
          <p:spPr bwMode="auto">
            <a:xfrm flipH="1" flipV="1">
              <a:off x="618" y="3698"/>
              <a:ext cx="64" cy="83"/>
            </a:xfrm>
            <a:prstGeom prst="line">
              <a:avLst/>
            </a:prstGeom>
            <a:noFill/>
            <a:ln w="762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0" name="Line 53"/>
            <p:cNvSpPr>
              <a:spLocks noChangeShapeType="1"/>
            </p:cNvSpPr>
            <p:nvPr/>
          </p:nvSpPr>
          <p:spPr bwMode="auto">
            <a:xfrm>
              <a:off x="608" y="2739"/>
              <a:ext cx="0" cy="978"/>
            </a:xfrm>
            <a:prstGeom prst="line">
              <a:avLst/>
            </a:prstGeom>
            <a:noFill/>
            <a:ln w="762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1" name="Line 54"/>
            <p:cNvSpPr>
              <a:spLocks noChangeShapeType="1"/>
            </p:cNvSpPr>
            <p:nvPr/>
          </p:nvSpPr>
          <p:spPr bwMode="auto">
            <a:xfrm>
              <a:off x="435" y="3205"/>
              <a:ext cx="3026" cy="0"/>
            </a:xfrm>
            <a:prstGeom prst="line">
              <a:avLst/>
            </a:prstGeom>
            <a:noFill/>
            <a:ln w="28575">
              <a:solidFill>
                <a:schemeClr val="tx1"/>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2" name="Line 55"/>
            <p:cNvSpPr>
              <a:spLocks noChangeShapeType="1"/>
            </p:cNvSpPr>
            <p:nvPr/>
          </p:nvSpPr>
          <p:spPr bwMode="auto">
            <a:xfrm>
              <a:off x="3142" y="2812"/>
              <a:ext cx="458"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3" name="Line 56"/>
            <p:cNvSpPr>
              <a:spLocks noChangeShapeType="1"/>
            </p:cNvSpPr>
            <p:nvPr/>
          </p:nvSpPr>
          <p:spPr bwMode="auto">
            <a:xfrm>
              <a:off x="3142" y="3663"/>
              <a:ext cx="458" cy="0"/>
            </a:xfrm>
            <a:prstGeom prst="line">
              <a:avLst/>
            </a:prstGeom>
            <a:noFill/>
            <a:ln w="2857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4" name="Line 57"/>
            <p:cNvSpPr>
              <a:spLocks noChangeShapeType="1"/>
            </p:cNvSpPr>
            <p:nvPr/>
          </p:nvSpPr>
          <p:spPr bwMode="auto">
            <a:xfrm>
              <a:off x="1331" y="2711"/>
              <a:ext cx="0" cy="1061"/>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5" name="Line 58"/>
            <p:cNvSpPr>
              <a:spLocks noChangeShapeType="1"/>
            </p:cNvSpPr>
            <p:nvPr/>
          </p:nvSpPr>
          <p:spPr bwMode="auto">
            <a:xfrm>
              <a:off x="3415" y="2821"/>
              <a:ext cx="0" cy="832"/>
            </a:xfrm>
            <a:prstGeom prst="line">
              <a:avLst/>
            </a:prstGeom>
            <a:noFill/>
            <a:ln w="381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8146" name="Object 59"/>
            <p:cNvGraphicFramePr>
              <a:graphicFrameLocks noChangeAspect="1"/>
            </p:cNvGraphicFramePr>
            <p:nvPr/>
          </p:nvGraphicFramePr>
          <p:xfrm>
            <a:off x="3215" y="2189"/>
            <a:ext cx="1372" cy="407"/>
          </p:xfrm>
          <a:graphic>
            <a:graphicData uri="http://schemas.openxmlformats.org/presentationml/2006/ole">
              <p:oleObj spid="_x0000_s48170" name="Equation" r:id="rId3" imgW="19507200" imgH="5791200" progId="">
                <p:embed/>
              </p:oleObj>
            </a:graphicData>
          </a:graphic>
        </p:graphicFrame>
        <p:graphicFrame>
          <p:nvGraphicFramePr>
            <p:cNvPr id="48147" name="Object 60"/>
            <p:cNvGraphicFramePr>
              <a:graphicFrameLocks noChangeAspect="1"/>
            </p:cNvGraphicFramePr>
            <p:nvPr/>
          </p:nvGraphicFramePr>
          <p:xfrm>
            <a:off x="846" y="2915"/>
            <a:ext cx="491" cy="596"/>
          </p:xfrm>
          <a:graphic>
            <a:graphicData uri="http://schemas.openxmlformats.org/presentationml/2006/ole">
              <p:oleObj spid="_x0000_s48171" name="Equation" r:id="rId4" imgW="4267200" imgH="5181600" progId="">
                <p:embed/>
              </p:oleObj>
            </a:graphicData>
          </a:graphic>
        </p:graphicFrame>
        <p:sp>
          <p:nvSpPr>
            <p:cNvPr id="48148" name="Line 61"/>
            <p:cNvSpPr>
              <a:spLocks noChangeShapeType="1"/>
            </p:cNvSpPr>
            <p:nvPr/>
          </p:nvSpPr>
          <p:spPr bwMode="auto">
            <a:xfrm>
              <a:off x="3425" y="2629"/>
              <a:ext cx="0" cy="173"/>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Line 62"/>
            <p:cNvSpPr>
              <a:spLocks noChangeShapeType="1"/>
            </p:cNvSpPr>
            <p:nvPr/>
          </p:nvSpPr>
          <p:spPr bwMode="auto">
            <a:xfrm flipV="1">
              <a:off x="3425" y="2609"/>
              <a:ext cx="1060" cy="1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0112" name="Rectangle 64"/>
          <p:cNvSpPr>
            <a:spLocks noChangeArrowheads="1"/>
          </p:cNvSpPr>
          <p:nvPr/>
        </p:nvSpPr>
        <p:spPr bwMode="auto">
          <a:xfrm>
            <a:off x="839160" y="1592997"/>
            <a:ext cx="6705600" cy="400110"/>
          </a:xfrm>
          <a:prstGeom prst="rect">
            <a:avLst/>
          </a:prstGeom>
          <a:noFill/>
          <a:ln>
            <a:noFill/>
          </a:ln>
          <a:effectLst/>
          <a:extLst>
            <a:ext uri="{909E8E84-426E-40DD-AFC4-6F175D3DCCD1}">
              <a14:hiddenFill xmlns="" xmlns:a14="http://schemas.microsoft.com/office/drawing/2010/main">
                <a:solidFill>
                  <a:srgbClr val="FF0066"/>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latin typeface="+mj-ea"/>
                <a:ea typeface="+mj-ea"/>
              </a:rPr>
              <a:t>将其要求标在图上。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0052"/>
                                        </p:tgtEl>
                                        <p:attrNameLst>
                                          <p:attrName>style.visibility</p:attrName>
                                        </p:attrNameLst>
                                      </p:cBhvr>
                                      <p:to>
                                        <p:strVal val="visible"/>
                                      </p:to>
                                    </p:set>
                                    <p:animEffect transition="in" filter="wipe(left)">
                                      <p:cBhvr>
                                        <p:cTn id="7" dur="300"/>
                                        <p:tgtEl>
                                          <p:spTgt spid="1300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30113"/>
                                        </p:tgtEl>
                                        <p:attrNameLst>
                                          <p:attrName>style.visibility</p:attrName>
                                        </p:attrNameLst>
                                      </p:cBhvr>
                                      <p:to>
                                        <p:strVal val="visible"/>
                                      </p:to>
                                    </p:set>
                                    <p:anim calcmode="lin" valueType="num">
                                      <p:cBhvr additive="base">
                                        <p:cTn id="12" dur="500" fill="hold"/>
                                        <p:tgtEl>
                                          <p:spTgt spid="130113"/>
                                        </p:tgtEl>
                                        <p:attrNameLst>
                                          <p:attrName>ppt_x</p:attrName>
                                        </p:attrNameLst>
                                      </p:cBhvr>
                                      <p:tavLst>
                                        <p:tav tm="0">
                                          <p:val>
                                            <p:strVal val="0-#ppt_w/2"/>
                                          </p:val>
                                        </p:tav>
                                        <p:tav tm="100000">
                                          <p:val>
                                            <p:strVal val="#ppt_x"/>
                                          </p:val>
                                        </p:tav>
                                      </p:tavLst>
                                    </p:anim>
                                    <p:anim calcmode="lin" valueType="num">
                                      <p:cBhvr additive="base">
                                        <p:cTn id="13" dur="500" fill="hold"/>
                                        <p:tgtEl>
                                          <p:spTgt spid="13011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30090"/>
                                        </p:tgtEl>
                                        <p:attrNameLst>
                                          <p:attrName>style.visibility</p:attrName>
                                        </p:attrNameLst>
                                      </p:cBhvr>
                                      <p:to>
                                        <p:strVal val="visible"/>
                                      </p:to>
                                    </p:set>
                                    <p:animEffect transition="in" filter="wipe(left)">
                                      <p:cBhvr>
                                        <p:cTn id="18" dur="300"/>
                                        <p:tgtEl>
                                          <p:spTgt spid="13009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30112"/>
                                        </p:tgtEl>
                                        <p:attrNameLst>
                                          <p:attrName>style.visibility</p:attrName>
                                        </p:attrNameLst>
                                      </p:cBhvr>
                                      <p:to>
                                        <p:strVal val="visible"/>
                                      </p:to>
                                    </p:set>
                                    <p:animEffect transition="in" filter="wipe(left)">
                                      <p:cBhvr>
                                        <p:cTn id="23" dur="300"/>
                                        <p:tgtEl>
                                          <p:spTgt spid="130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utoUpdateAnimBg="0"/>
      <p:bldP spid="130090" grpId="0" autoUpdateAnimBg="0"/>
      <p:bldP spid="130112" grpId="0" autoUpdateAnimBg="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0066"/>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0066"/>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6946</TotalTime>
  <Words>2936</Words>
  <Application>Microsoft Office PowerPoint</Application>
  <PresentationFormat>全屏显示(16:9)</PresentationFormat>
  <Paragraphs>309</Paragraphs>
  <Slides>39</Slides>
  <Notes>1</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42" baseType="lpstr">
      <vt:lpstr>默认设计模板</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微软用户</cp:lastModifiedBy>
  <cp:revision>322</cp:revision>
  <dcterms:created xsi:type="dcterms:W3CDTF">1601-01-01T00:00:00Z</dcterms:created>
  <dcterms:modified xsi:type="dcterms:W3CDTF">2022-04-20T09:05:29Z</dcterms:modified>
</cp:coreProperties>
</file>