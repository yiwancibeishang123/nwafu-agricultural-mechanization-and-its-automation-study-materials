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72" r:id="rId2"/>
    <p:sldId id="256" r:id="rId3"/>
    <p:sldId id="276" r:id="rId4"/>
    <p:sldId id="257" r:id="rId5"/>
    <p:sldId id="258" r:id="rId6"/>
    <p:sldId id="259" r:id="rId7"/>
    <p:sldId id="296" r:id="rId8"/>
    <p:sldId id="269" r:id="rId9"/>
    <p:sldId id="260" r:id="rId10"/>
    <p:sldId id="287" r:id="rId11"/>
    <p:sldId id="297" r:id="rId12"/>
    <p:sldId id="277" r:id="rId13"/>
    <p:sldId id="298" r:id="rId14"/>
    <p:sldId id="262" r:id="rId15"/>
    <p:sldId id="299" r:id="rId16"/>
    <p:sldId id="308" r:id="rId17"/>
    <p:sldId id="285" r:id="rId18"/>
    <p:sldId id="311" r:id="rId19"/>
    <p:sldId id="288" r:id="rId20"/>
    <p:sldId id="278" r:id="rId21"/>
    <p:sldId id="271" r:id="rId22"/>
    <p:sldId id="300" r:id="rId23"/>
    <p:sldId id="313" r:id="rId24"/>
    <p:sldId id="319" r:id="rId25"/>
    <p:sldId id="279" r:id="rId26"/>
    <p:sldId id="301" r:id="rId27"/>
    <p:sldId id="302" r:id="rId28"/>
    <p:sldId id="303" r:id="rId29"/>
    <p:sldId id="280" r:id="rId30"/>
    <p:sldId id="281" r:id="rId31"/>
    <p:sldId id="289" r:id="rId32"/>
    <p:sldId id="283" r:id="rId33"/>
    <p:sldId id="320" r:id="rId34"/>
    <p:sldId id="315" r:id="rId35"/>
    <p:sldId id="316" r:id="rId36"/>
    <p:sldId id="317" r:id="rId37"/>
    <p:sldId id="274" r:id="rId38"/>
    <p:sldId id="294" r:id="rId39"/>
  </p:sldIdLst>
  <p:sldSz cx="11430000" cy="7620000"/>
  <p:notesSz cx="9928225" cy="6797675"/>
  <p:custShowLst>
    <p:custShow name="自定义放映1" id="0">
      <p:sldLst/>
    </p:custShow>
  </p:custShow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3200" i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59">
          <p15:clr>
            <a:srgbClr val="A4A3A4"/>
          </p15:clr>
        </p15:guide>
        <p15:guide id="2" pos="7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CC66"/>
    <a:srgbClr val="FF33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29" autoAdjust="0"/>
  </p:normalViewPr>
  <p:slideViewPr>
    <p:cSldViewPr snapToGrid="0" snapToObjects="1">
      <p:cViewPr varScale="1">
        <p:scale>
          <a:sx n="74" d="100"/>
          <a:sy n="74" d="100"/>
        </p:scale>
        <p:origin x="1186" y="62"/>
      </p:cViewPr>
      <p:guideLst>
        <p:guide orient="horz" pos="4559"/>
        <p:guide pos="7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94" y="0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2018B-2F94-45D8-A204-09BD804C8A66}" type="datetimeFigureOut">
              <a:rPr lang="zh-CN" altLang="en-US" smtClean="0"/>
              <a:pPr/>
              <a:t>2023/4/5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94" y="6456378"/>
            <a:ext cx="4303313" cy="3402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3335F-67E3-4B20-B673-E088DF4AC50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i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5995" y="0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51175" y="509588"/>
            <a:ext cx="3825875" cy="25495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3764" y="3228896"/>
            <a:ext cx="7280699" cy="3058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5779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5995" y="6457792"/>
            <a:ext cx="4302231" cy="339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i="0"/>
            </a:lvl1pPr>
          </a:lstStyle>
          <a:p>
            <a:pPr>
              <a:defRPr/>
            </a:pPr>
            <a:fld id="{926E0620-1B37-423A-95A0-556807F102D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FA87584-A901-4418-9C3B-0FFE5E918B31}" type="slidenum">
              <a:rPr lang="zh-CN" altLang="en-US" sz="1200" i="0" smtClean="0"/>
              <a:pPr eaLnBrk="1" hangingPunct="1"/>
              <a:t>23</a:t>
            </a:fld>
            <a:endParaRPr lang="en-US" altLang="zh-CN" sz="1200" i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2366963"/>
            <a:ext cx="9715500" cy="16335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500" y="4318000"/>
            <a:ext cx="8001000" cy="194786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F35BFD-1731-45B3-8A76-B45602539B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79B4E-45E3-4B38-B809-275EA333C76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3288" y="4895850"/>
            <a:ext cx="97155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3288" y="3228975"/>
            <a:ext cx="97155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F8872-6C3C-4955-8402-07B154107F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57250" y="2201863"/>
            <a:ext cx="47815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91200" y="2201863"/>
            <a:ext cx="47815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E1874-4C95-4CA3-9BBF-8A6B0B7ED3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500" y="304800"/>
            <a:ext cx="10287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1500" y="1704975"/>
            <a:ext cx="5049838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1500" y="2416175"/>
            <a:ext cx="5049838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07075" y="1704975"/>
            <a:ext cx="5051425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07075" y="2416175"/>
            <a:ext cx="5051425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87F4E-A3FA-42F0-B9E7-1DA2B732400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FC6C2B-567F-4E6C-89FF-F0C719BF40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2C1FA-FFAF-418A-AA81-EF27AEEE91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500" y="303213"/>
            <a:ext cx="3760788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68813" y="303213"/>
            <a:ext cx="6389687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1500" y="1593850"/>
            <a:ext cx="3760788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FA954-EE3A-4605-BA46-A5F78695F0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39963" y="5334000"/>
            <a:ext cx="6858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39963" y="681038"/>
            <a:ext cx="6858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39963" y="5964238"/>
            <a:ext cx="6858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D73845-B83D-47D2-9E3C-0F6B706A182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A0CE3-69ED-47DD-B5A4-339804D6BBE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143875" y="677863"/>
            <a:ext cx="2428875" cy="6096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57250" y="677863"/>
            <a:ext cx="7134225" cy="6096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F74DD2-E106-4334-B95C-248CA4D879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57250" y="677863"/>
            <a:ext cx="9715500" cy="127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57250" y="2201863"/>
            <a:ext cx="97155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57250" y="6942138"/>
            <a:ext cx="23812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kumimoji="0" sz="14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905250" y="6942138"/>
            <a:ext cx="36195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4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8750" y="0"/>
            <a:ext cx="238125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2000" b="1" i="0">
                <a:solidFill>
                  <a:srgbClr val="0000FF"/>
                </a:solidFill>
              </a:defRPr>
            </a:lvl1pPr>
          </a:lstStyle>
          <a:p>
            <a:pPr>
              <a:defRPr/>
            </a:pPr>
            <a:fld id="{27251AE0-BF90-4636-9508-FCB7D0BD3DB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" Target="slide6.xml"/><Relationship Id="rId7" Type="http://schemas.openxmlformats.org/officeDocument/2006/relationships/slide" Target="slide3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1.xml"/><Relationship Id="rId5" Type="http://schemas.openxmlformats.org/officeDocument/2006/relationships/slide" Target="slide18.xml"/><Relationship Id="rId4" Type="http://schemas.openxmlformats.org/officeDocument/2006/relationships/slide" Target="slide17.xml"/><Relationship Id="rId9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3.wmf"/><Relationship Id="rId4" Type="http://schemas.openxmlformats.org/officeDocument/2006/relationships/image" Target="../media/image15.png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20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image" Target="../media/image24.png"/><Relationship Id="rId5" Type="http://schemas.openxmlformats.org/officeDocument/2006/relationships/oleObject" Target="../embeddings/oleObject7.bin"/><Relationship Id="rId15" Type="http://schemas.openxmlformats.org/officeDocument/2006/relationships/image" Target="../media/image21.wmf"/><Relationship Id="rId10" Type="http://schemas.openxmlformats.org/officeDocument/2006/relationships/image" Target="../media/image23.png"/><Relationship Id="rId4" Type="http://schemas.openxmlformats.org/officeDocument/2006/relationships/image" Target="../media/image12.wmf"/><Relationship Id="rId9" Type="http://schemas.openxmlformats.org/officeDocument/2006/relationships/image" Target="../media/image22.png"/><Relationship Id="rId14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4.png"/><Relationship Id="rId4" Type="http://schemas.openxmlformats.org/officeDocument/2006/relationships/image" Target="../media/image43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3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13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034587" y="254000"/>
            <a:ext cx="1228725" cy="508000"/>
          </a:xfrm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77BAB3-BFB2-4446-A3C9-BBA89945603F}" type="slidenum">
              <a:rPr kumimoji="0" lang="zh-CN" altLang="en-US" sz="2000" i="0" smtClean="0">
                <a:solidFill>
                  <a:srgbClr val="FF0000"/>
                </a:solidFill>
              </a:rPr>
              <a:pPr eaLnBrk="1" hangingPunct="1"/>
              <a:t>1</a:t>
            </a:fld>
            <a:endParaRPr kumimoji="0" lang="en-US" altLang="zh-CN" sz="2000" i="0" dirty="0" smtClean="0">
              <a:solidFill>
                <a:srgbClr val="FF0000"/>
              </a:solidFill>
            </a:endParaRPr>
          </a:p>
        </p:txBody>
      </p:sp>
      <p:sp>
        <p:nvSpPr>
          <p:cNvPr id="2051" name="Text Box 5"/>
          <p:cNvSpPr txBox="1">
            <a:spLocks noChangeArrowheads="1"/>
          </p:cNvSpPr>
          <p:nvPr/>
        </p:nvSpPr>
        <p:spPr bwMode="auto">
          <a:xfrm>
            <a:off x="604837" y="616227"/>
            <a:ext cx="942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i="0" dirty="0">
                <a:latin typeface="宋体" panose="02010600030101010101" pitchFamily="2" charset="-122"/>
              </a:rPr>
              <a:t>第8章  键、花键结合的精度设计与检测</a:t>
            </a:r>
            <a:r>
              <a:rPr lang="zh-CN" altLang="en-US" sz="2400" i="0" dirty="0"/>
              <a:t> </a:t>
            </a:r>
          </a:p>
        </p:txBody>
      </p:sp>
      <p:sp>
        <p:nvSpPr>
          <p:cNvPr id="2054" name="Text Box 50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147896" y="2309595"/>
            <a:ext cx="65301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i="0" dirty="0">
                <a:solidFill>
                  <a:schemeClr val="accent1">
                    <a:lumMod val="75000"/>
                  </a:schemeClr>
                </a:solidFill>
              </a:rPr>
              <a:t>8.1</a:t>
            </a:r>
            <a:r>
              <a:rPr lang="zh-CN" altLang="en-US" sz="2400" b="1" i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 普通平键结合的精度</a:t>
            </a:r>
            <a:r>
              <a:rPr lang="zh-CN" altLang="en-US" sz="2400" b="1" i="0" dirty="0" smtClean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设计</a:t>
            </a:r>
            <a:endParaRPr lang="zh-CN" altLang="en-US" sz="2800" b="1" i="0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2055" name="Text Box 51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719396" y="2814420"/>
            <a:ext cx="611324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 i="0" dirty="0"/>
              <a:t>8.1.1 普通平键结合的结构和几何</a:t>
            </a:r>
            <a:r>
              <a:rPr lang="zh-CN" altLang="en-US" sz="2000" b="1" i="0" dirty="0" smtClean="0"/>
              <a:t>参数</a:t>
            </a:r>
            <a:endParaRPr lang="zh-CN" altLang="en-US" sz="2000" b="1" i="0" dirty="0"/>
          </a:p>
        </p:txBody>
      </p:sp>
      <p:sp>
        <p:nvSpPr>
          <p:cNvPr id="2056" name="Text Box 5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719396" y="3197007"/>
            <a:ext cx="4803266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 i="0" dirty="0"/>
              <a:t>8.1.2  普通平键的精度</a:t>
            </a:r>
            <a:r>
              <a:rPr lang="zh-CN" altLang="en-US" sz="2000" b="1" i="0" dirty="0" smtClean="0"/>
              <a:t>设计</a:t>
            </a:r>
            <a:endParaRPr lang="zh-CN" altLang="en-US" sz="2000" b="1" i="0" dirty="0"/>
          </a:p>
        </p:txBody>
      </p:sp>
      <p:sp>
        <p:nvSpPr>
          <p:cNvPr id="2057" name="Text Box 53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147896" y="3990757"/>
            <a:ext cx="651144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i="0" dirty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8.2 矩形花键结合的精度设计与</a:t>
            </a:r>
            <a:r>
              <a:rPr lang="zh-CN" altLang="en-US" sz="2400" b="1" i="0" dirty="0" smtClean="0">
                <a:solidFill>
                  <a:schemeClr val="accent1">
                    <a:lumMod val="75000"/>
                  </a:schemeClr>
                </a:solidFill>
                <a:latin typeface="宋体" panose="02010600030101010101" pitchFamily="2" charset="-122"/>
              </a:rPr>
              <a:t>检测</a:t>
            </a:r>
            <a:endParaRPr lang="en-US" altLang="zh-CN" sz="2400" b="1" i="0" dirty="0">
              <a:solidFill>
                <a:schemeClr val="accent1">
                  <a:lumMod val="7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2058" name="Text Box 54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719396" y="4447957"/>
            <a:ext cx="580134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 i="0" dirty="0"/>
              <a:t>8.2.1  矩形花键的几何参数和定心</a:t>
            </a:r>
            <a:r>
              <a:rPr lang="zh-CN" altLang="en-US" sz="2000" b="1" i="0" dirty="0" smtClean="0"/>
              <a:t>方式</a:t>
            </a:r>
            <a:endParaRPr lang="en-US" altLang="zh-CN" sz="2000" b="1" i="0" dirty="0"/>
          </a:p>
        </p:txBody>
      </p:sp>
      <p:sp>
        <p:nvSpPr>
          <p:cNvPr id="2059" name="Text Box 55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1719396" y="4844832"/>
            <a:ext cx="5524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b="1" i="0" dirty="0"/>
              <a:t>8.2.2  矩形花键结合的精度</a:t>
            </a:r>
            <a:r>
              <a:rPr lang="zh-CN" altLang="en-US" sz="2000" b="1" i="0" dirty="0" smtClean="0"/>
              <a:t>设计</a:t>
            </a:r>
            <a:endParaRPr lang="en-US" altLang="zh-CN" sz="2000" b="1" i="0" dirty="0"/>
          </a:p>
        </p:txBody>
      </p:sp>
      <p:sp>
        <p:nvSpPr>
          <p:cNvPr id="2064" name="Text Box 62">
            <a:hlinkClick r:id="rId5" action="ppaction://hlinksldjump"/>
          </p:cNvPr>
          <p:cNvSpPr txBox="1">
            <a:spLocks noChangeArrowheads="1"/>
          </p:cNvSpPr>
          <p:nvPr/>
        </p:nvSpPr>
        <p:spPr bwMode="auto">
          <a:xfrm>
            <a:off x="1719396" y="3552607"/>
            <a:ext cx="544682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000" b="1" i="0" dirty="0"/>
              <a:t>8.1.3. </a:t>
            </a:r>
            <a:r>
              <a:rPr lang="zh-CN" altLang="en-US" sz="2000" b="1" i="0" dirty="0"/>
              <a:t>键及键槽的</a:t>
            </a:r>
            <a:r>
              <a:rPr lang="zh-CN" altLang="en-US" sz="2000" b="1" i="0" dirty="0" smtClean="0"/>
              <a:t>检测</a:t>
            </a:r>
            <a:endParaRPr lang="zh-CN" altLang="en-US" sz="2000" b="1" i="0" dirty="0"/>
          </a:p>
        </p:txBody>
      </p:sp>
      <p:sp>
        <p:nvSpPr>
          <p:cNvPr id="2065" name="Text Box 63">
            <a:hlinkClick r:id="rId7" action="ppaction://hlinksldjump"/>
          </p:cNvPr>
          <p:cNvSpPr txBox="1">
            <a:spLocks noChangeArrowheads="1"/>
          </p:cNvSpPr>
          <p:nvPr/>
        </p:nvSpPr>
        <p:spPr bwMode="auto">
          <a:xfrm>
            <a:off x="1719396" y="5212168"/>
            <a:ext cx="48838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000" b="1" i="0" dirty="0"/>
              <a:t>8.2.3 </a:t>
            </a:r>
            <a:r>
              <a:rPr lang="zh-CN" altLang="en-US" sz="2000" b="1" i="0" dirty="0"/>
              <a:t>矩形花键的</a:t>
            </a:r>
            <a:r>
              <a:rPr lang="zh-CN" altLang="en-US" sz="2000" b="1" i="0" dirty="0" smtClean="0"/>
              <a:t>检验</a:t>
            </a:r>
            <a:endParaRPr lang="zh-CN" altLang="en-US" sz="2000" b="1" i="0" dirty="0"/>
          </a:p>
        </p:txBody>
      </p:sp>
      <p:pic>
        <p:nvPicPr>
          <p:cNvPr id="12" name="Picture 2" descr="https://timgsa.baidu.com/timg?image&amp;quality=80&amp;size=b9999_10000&amp;sec=1493694194540&amp;di=cbb4512487e0d8dd38d7359240403591&amp;imgtype=0&amp;src=http%3A%2F%2Fstatic4.photo.sina.com.cn%2Fmiddle%2F6ac8107ag8fe1c4f9bdf3%26690"/>
          <p:cNvPicPr>
            <a:picLocks noChangeAspect="1" noChangeArrowheads="1"/>
          </p:cNvPicPr>
          <p:nvPr/>
        </p:nvPicPr>
        <p:blipFill>
          <a:blip r:embed="rId8" cstate="print"/>
          <a:srcRect l="6938" r="8365" b="8001"/>
          <a:stretch>
            <a:fillRect/>
          </a:stretch>
        </p:blipFill>
        <p:spPr bwMode="auto">
          <a:xfrm>
            <a:off x="7097393" y="1345257"/>
            <a:ext cx="3201691" cy="2607460"/>
          </a:xfrm>
          <a:prstGeom prst="rect">
            <a:avLst/>
          </a:prstGeom>
          <a:noFill/>
        </p:spPr>
      </p:pic>
      <p:pic>
        <p:nvPicPr>
          <p:cNvPr id="14" name="Picture 6" descr="https://timgsa.baidu.com/timg?image&amp;quality=80&amp;size=b10000_10000&amp;sec=1493684546&amp;di=5b759f43a6a836b9999094f0b6fbc7c1&amp;src=http://jxsj.sdust.edu.cn/wlkj/main/CH04/SEC02/images/001_clip_image002_0000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107225" y="4447957"/>
            <a:ext cx="3455035" cy="24333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/>
      <p:bldP spid="2054" grpId="0"/>
      <p:bldP spid="2055" grpId="0"/>
      <p:bldP spid="2056" grpId="0"/>
      <p:bldP spid="2057" grpId="0"/>
      <p:bldP spid="2058" grpId="0"/>
      <p:bldP spid="2059" grpId="0"/>
      <p:bldP spid="2064" grpId="0"/>
      <p:bldP spid="206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FA30EA-9E63-4398-9AB4-D4ACDEC9DFE9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grpSp>
        <p:nvGrpSpPr>
          <p:cNvPr id="4189" name="Group 93"/>
          <p:cNvGrpSpPr/>
          <p:nvPr/>
        </p:nvGrpSpPr>
        <p:grpSpPr bwMode="auto">
          <a:xfrm>
            <a:off x="956192" y="1114320"/>
            <a:ext cx="5715000" cy="519113"/>
            <a:chOff x="720" y="640"/>
            <a:chExt cx="3600" cy="327"/>
          </a:xfrm>
        </p:grpSpPr>
        <p:sp>
          <p:nvSpPr>
            <p:cNvPr id="4161" name="Text Box 3"/>
            <p:cNvSpPr txBox="1">
              <a:spLocks noChangeArrowheads="1"/>
            </p:cNvSpPr>
            <p:nvPr/>
          </p:nvSpPr>
          <p:spPr bwMode="auto">
            <a:xfrm>
              <a:off x="720" y="640"/>
              <a:ext cx="16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800" b="1" i="0"/>
                <a:t>键的作用：</a:t>
              </a:r>
              <a:r>
                <a:rPr lang="zh-CN" altLang="en-US" sz="2400" b="1" i="0"/>
                <a:t> </a:t>
              </a:r>
            </a:p>
          </p:txBody>
        </p:sp>
        <p:sp>
          <p:nvSpPr>
            <p:cNvPr id="4162" name="Text Box 4"/>
            <p:cNvSpPr txBox="1">
              <a:spLocks noChangeArrowheads="1"/>
            </p:cNvSpPr>
            <p:nvPr/>
          </p:nvSpPr>
          <p:spPr bwMode="auto">
            <a:xfrm>
              <a:off x="2100" y="640"/>
              <a:ext cx="22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800" b="1" i="0">
                  <a:latin typeface="宋体" panose="02010600030101010101" pitchFamily="2" charset="-122"/>
                </a:rPr>
                <a:t>（</a:t>
              </a:r>
              <a:r>
                <a:rPr lang="zh-CN" altLang="en-US" sz="2800" b="1" i="0"/>
                <a:t>1</a:t>
              </a:r>
              <a:r>
                <a:rPr lang="zh-CN" altLang="en-US" sz="2800" b="1" i="0">
                  <a:latin typeface="宋体" panose="02010600030101010101" pitchFamily="2" charset="-122"/>
                </a:rPr>
                <a:t>）传递转矩 </a:t>
              </a:r>
            </a:p>
          </p:txBody>
        </p:sp>
      </p:grp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146942" y="1706458"/>
            <a:ext cx="3143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（3）导向 </a:t>
            </a:r>
          </a:p>
        </p:txBody>
      </p:sp>
      <p:grpSp>
        <p:nvGrpSpPr>
          <p:cNvPr id="4190" name="Group 94"/>
          <p:cNvGrpSpPr/>
          <p:nvPr/>
        </p:nvGrpSpPr>
        <p:grpSpPr bwMode="auto">
          <a:xfrm>
            <a:off x="745663" y="3431448"/>
            <a:ext cx="2762250" cy="2370138"/>
            <a:chOff x="383" y="2037"/>
            <a:chExt cx="1740" cy="1493"/>
          </a:xfrm>
        </p:grpSpPr>
        <p:sp>
          <p:nvSpPr>
            <p:cNvPr id="4159" name="Text Box 6"/>
            <p:cNvSpPr txBox="1">
              <a:spLocks noChangeArrowheads="1"/>
            </p:cNvSpPr>
            <p:nvPr/>
          </p:nvSpPr>
          <p:spPr bwMode="auto">
            <a:xfrm>
              <a:off x="383" y="2623"/>
              <a:ext cx="17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800" b="1" i="0" dirty="0"/>
                <a:t>键的分类</a:t>
              </a:r>
              <a:endParaRPr lang="zh-CN" altLang="en-US" sz="2400" b="1" i="0" dirty="0"/>
            </a:p>
          </p:txBody>
        </p:sp>
        <p:sp>
          <p:nvSpPr>
            <p:cNvPr id="4160" name="AutoShape 7"/>
            <p:cNvSpPr/>
            <p:nvPr/>
          </p:nvSpPr>
          <p:spPr bwMode="auto">
            <a:xfrm>
              <a:off x="1500" y="2037"/>
              <a:ext cx="240" cy="1493"/>
            </a:xfrm>
            <a:prstGeom prst="leftBrace">
              <a:avLst>
                <a:gd name="adj1" fmla="val 51840"/>
                <a:gd name="adj2" fmla="val 50000"/>
              </a:avLst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191" name="Group 95"/>
          <p:cNvGrpSpPr/>
          <p:nvPr/>
        </p:nvGrpSpPr>
        <p:grpSpPr bwMode="auto">
          <a:xfrm>
            <a:off x="2899898" y="3007586"/>
            <a:ext cx="1428750" cy="1524000"/>
            <a:chOff x="1740" y="1770"/>
            <a:chExt cx="900" cy="960"/>
          </a:xfrm>
        </p:grpSpPr>
        <p:sp>
          <p:nvSpPr>
            <p:cNvPr id="4157" name="Text Box 8"/>
            <p:cNvSpPr txBox="1">
              <a:spLocks noChangeArrowheads="1"/>
            </p:cNvSpPr>
            <p:nvPr/>
          </p:nvSpPr>
          <p:spPr bwMode="auto">
            <a:xfrm>
              <a:off x="1740" y="1930"/>
              <a:ext cx="9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800" b="1" i="0"/>
                <a:t>单键</a:t>
              </a:r>
              <a:r>
                <a:rPr lang="zh-CN" altLang="en-US" sz="2400" b="1" i="0"/>
                <a:t> </a:t>
              </a:r>
            </a:p>
          </p:txBody>
        </p:sp>
        <p:sp>
          <p:nvSpPr>
            <p:cNvPr id="4158" name="AutoShape 10"/>
            <p:cNvSpPr/>
            <p:nvPr/>
          </p:nvSpPr>
          <p:spPr bwMode="auto">
            <a:xfrm>
              <a:off x="2460" y="1770"/>
              <a:ext cx="180" cy="960"/>
            </a:xfrm>
            <a:prstGeom prst="leftBrace">
              <a:avLst>
                <a:gd name="adj1" fmla="val 44444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7" name="Text Box 11"/>
          <p:cNvSpPr txBox="1">
            <a:spLocks noChangeArrowheads="1"/>
          </p:cNvSpPr>
          <p:nvPr/>
        </p:nvSpPr>
        <p:spPr bwMode="auto">
          <a:xfrm>
            <a:off x="4328648" y="2837723"/>
            <a:ext cx="180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平键</a:t>
            </a:r>
            <a:r>
              <a:rPr lang="zh-CN" altLang="en-US" sz="2400" i="0"/>
              <a:t> </a:t>
            </a:r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4328648" y="3515586"/>
            <a:ext cx="190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半圆键 </a:t>
            </a:r>
          </a:p>
        </p:txBody>
      </p:sp>
      <p:sp>
        <p:nvSpPr>
          <p:cNvPr id="4109" name="Text Box 13"/>
          <p:cNvSpPr txBox="1">
            <a:spLocks noChangeArrowheads="1"/>
          </p:cNvSpPr>
          <p:nvPr/>
        </p:nvSpPr>
        <p:spPr bwMode="auto">
          <a:xfrm>
            <a:off x="4328648" y="4193448"/>
            <a:ext cx="1714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楔形键</a:t>
            </a:r>
            <a:r>
              <a:rPr lang="zh-CN" altLang="en-US" sz="2400" b="1" i="0" dirty="0"/>
              <a:t> </a:t>
            </a:r>
          </a:p>
        </p:txBody>
      </p:sp>
      <p:sp>
        <p:nvSpPr>
          <p:cNvPr id="4110" name="AutoShape 14"/>
          <p:cNvSpPr/>
          <p:nvPr/>
        </p:nvSpPr>
        <p:spPr bwMode="auto">
          <a:xfrm>
            <a:off x="7281398" y="2753586"/>
            <a:ext cx="285750" cy="931862"/>
          </a:xfrm>
          <a:prstGeom prst="leftBrace">
            <a:avLst>
              <a:gd name="adj1" fmla="val 27176"/>
              <a:gd name="adj2" fmla="val 50000"/>
            </a:avLst>
          </a:prstGeom>
          <a:noFill/>
          <a:ln w="2857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7471898" y="2515461"/>
            <a:ext cx="2381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>
                <a:solidFill>
                  <a:srgbClr val="FF3300"/>
                </a:solidFill>
              </a:rPr>
              <a:t>普通平键 </a:t>
            </a:r>
          </a:p>
        </p:txBody>
      </p:sp>
      <p:sp>
        <p:nvSpPr>
          <p:cNvPr id="4112" name="Text Box 16"/>
          <p:cNvSpPr txBox="1">
            <a:spLocks noChangeArrowheads="1"/>
          </p:cNvSpPr>
          <p:nvPr/>
        </p:nvSpPr>
        <p:spPr bwMode="auto">
          <a:xfrm>
            <a:off x="7471898" y="3261586"/>
            <a:ext cx="2571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导向平键 </a:t>
            </a:r>
          </a:p>
        </p:txBody>
      </p:sp>
      <p:grpSp>
        <p:nvGrpSpPr>
          <p:cNvPr id="4192" name="Group 96"/>
          <p:cNvGrpSpPr/>
          <p:nvPr/>
        </p:nvGrpSpPr>
        <p:grpSpPr bwMode="auto">
          <a:xfrm>
            <a:off x="2899898" y="5293586"/>
            <a:ext cx="1619250" cy="1016000"/>
            <a:chOff x="1740" y="3210"/>
            <a:chExt cx="1020" cy="640"/>
          </a:xfrm>
        </p:grpSpPr>
        <p:sp>
          <p:nvSpPr>
            <p:cNvPr id="4155" name="Text Box 9"/>
            <p:cNvSpPr txBox="1">
              <a:spLocks noChangeArrowheads="1"/>
            </p:cNvSpPr>
            <p:nvPr/>
          </p:nvSpPr>
          <p:spPr bwMode="auto">
            <a:xfrm>
              <a:off x="1740" y="3317"/>
              <a:ext cx="9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800" b="1" i="0"/>
                <a:t>花键</a:t>
              </a:r>
              <a:r>
                <a:rPr lang="zh-CN" altLang="en-US" sz="2400" b="1" i="0"/>
                <a:t> </a:t>
              </a:r>
            </a:p>
          </p:txBody>
        </p:sp>
        <p:sp>
          <p:nvSpPr>
            <p:cNvPr id="4156" name="AutoShape 17"/>
            <p:cNvSpPr/>
            <p:nvPr/>
          </p:nvSpPr>
          <p:spPr bwMode="auto">
            <a:xfrm>
              <a:off x="2460" y="3210"/>
              <a:ext cx="300" cy="640"/>
            </a:xfrm>
            <a:prstGeom prst="leftBrace">
              <a:avLst>
                <a:gd name="adj1" fmla="val 17778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4500098" y="5039586"/>
            <a:ext cx="2952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>
                <a:solidFill>
                  <a:srgbClr val="FF3300"/>
                </a:solidFill>
              </a:rPr>
              <a:t>矩形花键 </a:t>
            </a:r>
          </a:p>
        </p:txBody>
      </p:sp>
      <p:sp>
        <p:nvSpPr>
          <p:cNvPr id="4115" name="Text Box 19"/>
          <p:cNvSpPr txBox="1">
            <a:spLocks noChangeArrowheads="1"/>
          </p:cNvSpPr>
          <p:nvPr/>
        </p:nvSpPr>
        <p:spPr bwMode="auto">
          <a:xfrm>
            <a:off x="4500098" y="5885723"/>
            <a:ext cx="3638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渐开线花键(矮胖)</a:t>
            </a:r>
            <a:r>
              <a:rPr lang="zh-CN" altLang="en-US" sz="2400" b="1" i="0"/>
              <a:t> </a:t>
            </a:r>
          </a:p>
        </p:txBody>
      </p:sp>
      <p:grpSp>
        <p:nvGrpSpPr>
          <p:cNvPr id="4138" name="Group 42"/>
          <p:cNvGrpSpPr/>
          <p:nvPr/>
        </p:nvGrpSpPr>
        <p:grpSpPr bwMode="auto">
          <a:xfrm>
            <a:off x="5566898" y="2753586"/>
            <a:ext cx="1524000" cy="592137"/>
            <a:chOff x="3648" y="1776"/>
            <a:chExt cx="768" cy="336"/>
          </a:xfrm>
        </p:grpSpPr>
        <p:grpSp>
          <p:nvGrpSpPr>
            <p:cNvPr id="4147" name="Group 35"/>
            <p:cNvGrpSpPr/>
            <p:nvPr/>
          </p:nvGrpSpPr>
          <p:grpSpPr bwMode="auto">
            <a:xfrm rot="10800000" flipV="1">
              <a:off x="3936" y="1776"/>
              <a:ext cx="480" cy="336"/>
              <a:chOff x="4032" y="1968"/>
              <a:chExt cx="480" cy="336"/>
            </a:xfrm>
          </p:grpSpPr>
          <p:sp>
            <p:nvSpPr>
              <p:cNvPr id="4153" name="Oval 33"/>
              <p:cNvSpPr>
                <a:spLocks noChangeArrowheads="1"/>
              </p:cNvSpPr>
              <p:nvPr/>
            </p:nvSpPr>
            <p:spPr bwMode="auto">
              <a:xfrm>
                <a:off x="4032" y="2016"/>
                <a:ext cx="384" cy="240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4" name="Rectangle 34"/>
              <p:cNvSpPr>
                <a:spLocks noChangeArrowheads="1"/>
              </p:cNvSpPr>
              <p:nvPr/>
            </p:nvSpPr>
            <p:spPr bwMode="auto">
              <a:xfrm>
                <a:off x="4176" y="1968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48" name="Group 36"/>
            <p:cNvGrpSpPr/>
            <p:nvPr/>
          </p:nvGrpSpPr>
          <p:grpSpPr bwMode="auto">
            <a:xfrm>
              <a:off x="3648" y="1776"/>
              <a:ext cx="480" cy="336"/>
              <a:chOff x="4032" y="1968"/>
              <a:chExt cx="480" cy="336"/>
            </a:xfrm>
          </p:grpSpPr>
          <p:sp>
            <p:nvSpPr>
              <p:cNvPr id="3" name="Oval 37"/>
              <p:cNvSpPr>
                <a:spLocks noChangeArrowheads="1"/>
              </p:cNvSpPr>
              <p:nvPr/>
            </p:nvSpPr>
            <p:spPr bwMode="auto">
              <a:xfrm>
                <a:off x="4032" y="2016"/>
                <a:ext cx="384" cy="240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2" name="Rectangle 38"/>
              <p:cNvSpPr>
                <a:spLocks noChangeArrowheads="1"/>
              </p:cNvSpPr>
              <p:nvPr/>
            </p:nvSpPr>
            <p:spPr bwMode="auto">
              <a:xfrm>
                <a:off x="4176" y="1968"/>
                <a:ext cx="336" cy="3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49" name="Line 39"/>
            <p:cNvSpPr>
              <a:spLocks noChangeShapeType="1"/>
            </p:cNvSpPr>
            <p:nvPr/>
          </p:nvSpPr>
          <p:spPr bwMode="auto">
            <a:xfrm>
              <a:off x="3784" y="1824"/>
              <a:ext cx="52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0" name="Line 40"/>
            <p:cNvSpPr>
              <a:spLocks noChangeShapeType="1"/>
            </p:cNvSpPr>
            <p:nvPr/>
          </p:nvSpPr>
          <p:spPr bwMode="auto">
            <a:xfrm>
              <a:off x="3792" y="2064"/>
              <a:ext cx="52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43" name="Group 47"/>
          <p:cNvGrpSpPr/>
          <p:nvPr/>
        </p:nvGrpSpPr>
        <p:grpSpPr bwMode="auto">
          <a:xfrm>
            <a:off x="5852648" y="3345723"/>
            <a:ext cx="1238250" cy="762000"/>
            <a:chOff x="4416" y="2064"/>
            <a:chExt cx="624" cy="432"/>
          </a:xfrm>
        </p:grpSpPr>
        <p:sp>
          <p:nvSpPr>
            <p:cNvPr id="4144" name="Oval 43"/>
            <p:cNvSpPr>
              <a:spLocks noChangeArrowheads="1"/>
            </p:cNvSpPr>
            <p:nvPr/>
          </p:nvSpPr>
          <p:spPr bwMode="auto">
            <a:xfrm>
              <a:off x="4464" y="2112"/>
              <a:ext cx="480" cy="384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5" name="Rectangle 44"/>
            <p:cNvSpPr>
              <a:spLocks noChangeArrowheads="1"/>
            </p:cNvSpPr>
            <p:nvPr/>
          </p:nvSpPr>
          <p:spPr bwMode="auto">
            <a:xfrm>
              <a:off x="4416" y="2064"/>
              <a:ext cx="624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46" name="Line 45"/>
            <p:cNvSpPr>
              <a:spLocks noChangeShapeType="1"/>
            </p:cNvSpPr>
            <p:nvPr/>
          </p:nvSpPr>
          <p:spPr bwMode="auto">
            <a:xfrm>
              <a:off x="4464" y="2313"/>
              <a:ext cx="4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51" name="Group 55"/>
          <p:cNvGrpSpPr/>
          <p:nvPr/>
        </p:nvGrpSpPr>
        <p:grpSpPr bwMode="auto">
          <a:xfrm>
            <a:off x="6138398" y="4361723"/>
            <a:ext cx="1047750" cy="508000"/>
            <a:chOff x="3936" y="2016"/>
            <a:chExt cx="720" cy="432"/>
          </a:xfrm>
        </p:grpSpPr>
        <p:sp>
          <p:nvSpPr>
            <p:cNvPr id="4" name="Line 48"/>
            <p:cNvSpPr>
              <a:spLocks noChangeShapeType="1"/>
            </p:cNvSpPr>
            <p:nvPr/>
          </p:nvSpPr>
          <p:spPr bwMode="auto">
            <a:xfrm>
              <a:off x="3936" y="2016"/>
              <a:ext cx="0" cy="43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9" name="Line 49"/>
            <p:cNvSpPr>
              <a:spLocks noChangeShapeType="1"/>
            </p:cNvSpPr>
            <p:nvPr/>
          </p:nvSpPr>
          <p:spPr bwMode="auto">
            <a:xfrm>
              <a:off x="3936" y="2448"/>
              <a:ext cx="72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0" name="Line 50"/>
            <p:cNvSpPr>
              <a:spLocks noChangeShapeType="1"/>
            </p:cNvSpPr>
            <p:nvPr/>
          </p:nvSpPr>
          <p:spPr bwMode="auto">
            <a:xfrm>
              <a:off x="3936" y="2042"/>
              <a:ext cx="14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1" name="Line 51"/>
            <p:cNvSpPr>
              <a:spLocks noChangeShapeType="1"/>
            </p:cNvSpPr>
            <p:nvPr/>
          </p:nvSpPr>
          <p:spPr bwMode="auto">
            <a:xfrm>
              <a:off x="4080" y="2029"/>
              <a:ext cx="0" cy="19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2" name="Line 52"/>
            <p:cNvSpPr>
              <a:spLocks noChangeShapeType="1"/>
            </p:cNvSpPr>
            <p:nvPr/>
          </p:nvSpPr>
          <p:spPr bwMode="auto">
            <a:xfrm>
              <a:off x="4080" y="2208"/>
              <a:ext cx="576" cy="9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4"/>
            <p:cNvSpPr>
              <a:spLocks noChangeShapeType="1"/>
            </p:cNvSpPr>
            <p:nvPr/>
          </p:nvSpPr>
          <p:spPr bwMode="auto">
            <a:xfrm>
              <a:off x="4645" y="2304"/>
              <a:ext cx="0" cy="14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64" name="Group 68"/>
          <p:cNvGrpSpPr/>
          <p:nvPr/>
        </p:nvGrpSpPr>
        <p:grpSpPr bwMode="auto">
          <a:xfrm>
            <a:off x="7186148" y="5123723"/>
            <a:ext cx="2190750" cy="423863"/>
            <a:chOff x="3648" y="2400"/>
            <a:chExt cx="1104" cy="240"/>
          </a:xfrm>
        </p:grpSpPr>
        <p:sp>
          <p:nvSpPr>
            <p:cNvPr id="4128" name="Line 56"/>
            <p:cNvSpPr>
              <a:spLocks noChangeShapeType="1"/>
            </p:cNvSpPr>
            <p:nvPr/>
          </p:nvSpPr>
          <p:spPr bwMode="auto">
            <a:xfrm>
              <a:off x="3648" y="2640"/>
              <a:ext cx="192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29" name="Line 57"/>
            <p:cNvSpPr>
              <a:spLocks noChangeShapeType="1"/>
            </p:cNvSpPr>
            <p:nvPr/>
          </p:nvSpPr>
          <p:spPr bwMode="auto">
            <a:xfrm>
              <a:off x="3840" y="2400"/>
              <a:ext cx="0" cy="24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0" name="Line 58"/>
            <p:cNvSpPr>
              <a:spLocks noChangeShapeType="1"/>
            </p:cNvSpPr>
            <p:nvPr/>
          </p:nvSpPr>
          <p:spPr bwMode="auto">
            <a:xfrm>
              <a:off x="3840" y="2409"/>
              <a:ext cx="24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1" name="Line 59"/>
            <p:cNvSpPr>
              <a:spLocks noChangeShapeType="1"/>
            </p:cNvSpPr>
            <p:nvPr/>
          </p:nvSpPr>
          <p:spPr bwMode="auto">
            <a:xfrm>
              <a:off x="4080" y="2400"/>
              <a:ext cx="0" cy="24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132" name="Group 62"/>
            <p:cNvGrpSpPr/>
            <p:nvPr/>
          </p:nvGrpSpPr>
          <p:grpSpPr bwMode="auto">
            <a:xfrm>
              <a:off x="4080" y="2400"/>
              <a:ext cx="384" cy="240"/>
              <a:chOff x="3696" y="2400"/>
              <a:chExt cx="384" cy="240"/>
            </a:xfrm>
          </p:grpSpPr>
          <p:sp>
            <p:nvSpPr>
              <p:cNvPr id="4134" name="Line 63"/>
              <p:cNvSpPr>
                <a:spLocks noChangeShapeType="1"/>
              </p:cNvSpPr>
              <p:nvPr/>
            </p:nvSpPr>
            <p:spPr bwMode="auto">
              <a:xfrm>
                <a:off x="3696" y="2640"/>
                <a:ext cx="192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5" name="Line 64"/>
              <p:cNvSpPr>
                <a:spLocks noChangeShapeType="1"/>
              </p:cNvSpPr>
              <p:nvPr/>
            </p:nvSpPr>
            <p:spPr bwMode="auto">
              <a:xfrm>
                <a:off x="3856" y="2400"/>
                <a:ext cx="0" cy="24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6" name="Line 65"/>
              <p:cNvSpPr>
                <a:spLocks noChangeShapeType="1"/>
              </p:cNvSpPr>
              <p:nvPr/>
            </p:nvSpPr>
            <p:spPr bwMode="auto">
              <a:xfrm>
                <a:off x="3840" y="2409"/>
                <a:ext cx="240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37" name="Line 66"/>
              <p:cNvSpPr>
                <a:spLocks noChangeShapeType="1"/>
              </p:cNvSpPr>
              <p:nvPr/>
            </p:nvSpPr>
            <p:spPr bwMode="auto">
              <a:xfrm>
                <a:off x="4080" y="2400"/>
                <a:ext cx="0" cy="24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33" name="Line 67"/>
            <p:cNvSpPr>
              <a:spLocks noChangeShapeType="1"/>
            </p:cNvSpPr>
            <p:nvPr/>
          </p:nvSpPr>
          <p:spPr bwMode="auto">
            <a:xfrm>
              <a:off x="4464" y="2640"/>
              <a:ext cx="288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186" name="Group 90"/>
          <p:cNvGrpSpPr/>
          <p:nvPr/>
        </p:nvGrpSpPr>
        <p:grpSpPr bwMode="auto">
          <a:xfrm rot="127156">
            <a:off x="8079911" y="5836511"/>
            <a:ext cx="1430337" cy="679450"/>
            <a:chOff x="4512" y="2688"/>
            <a:chExt cx="1140" cy="733"/>
          </a:xfrm>
        </p:grpSpPr>
        <p:grpSp>
          <p:nvGrpSpPr>
            <p:cNvPr id="4120" name="Group 85"/>
            <p:cNvGrpSpPr/>
            <p:nvPr/>
          </p:nvGrpSpPr>
          <p:grpSpPr bwMode="auto">
            <a:xfrm>
              <a:off x="4512" y="2688"/>
              <a:ext cx="612" cy="685"/>
              <a:chOff x="4620" y="2627"/>
              <a:chExt cx="612" cy="685"/>
            </a:xfrm>
          </p:grpSpPr>
          <p:sp>
            <p:nvSpPr>
              <p:cNvPr id="4125" name="Arc 74"/>
              <p:cNvSpPr/>
              <p:nvPr/>
            </p:nvSpPr>
            <p:spPr bwMode="auto">
              <a:xfrm flipH="1">
                <a:off x="4762" y="2627"/>
                <a:ext cx="350" cy="60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6" name="Arc 75"/>
              <p:cNvSpPr/>
              <p:nvPr/>
            </p:nvSpPr>
            <p:spPr bwMode="auto">
              <a:xfrm rot="10800000" flipH="1">
                <a:off x="4620" y="3224"/>
                <a:ext cx="134" cy="8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7" name="Line 76"/>
              <p:cNvSpPr>
                <a:spLocks noChangeShapeType="1"/>
              </p:cNvSpPr>
              <p:nvPr/>
            </p:nvSpPr>
            <p:spPr bwMode="auto">
              <a:xfrm>
                <a:off x="5112" y="2627"/>
                <a:ext cx="120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21" name="Group 86"/>
            <p:cNvGrpSpPr/>
            <p:nvPr/>
          </p:nvGrpSpPr>
          <p:grpSpPr bwMode="auto">
            <a:xfrm rot="11379346" flipV="1">
              <a:off x="5040" y="2736"/>
              <a:ext cx="612" cy="685"/>
              <a:chOff x="4620" y="2627"/>
              <a:chExt cx="612" cy="685"/>
            </a:xfrm>
          </p:grpSpPr>
          <p:sp>
            <p:nvSpPr>
              <p:cNvPr id="6" name="Arc 87"/>
              <p:cNvSpPr/>
              <p:nvPr/>
            </p:nvSpPr>
            <p:spPr bwMode="auto">
              <a:xfrm flipH="1">
                <a:off x="4762" y="2627"/>
                <a:ext cx="350" cy="60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3" name="Arc 88"/>
              <p:cNvSpPr/>
              <p:nvPr/>
            </p:nvSpPr>
            <p:spPr bwMode="auto">
              <a:xfrm rot="10800000" flipH="1">
                <a:off x="4620" y="3224"/>
                <a:ext cx="134" cy="8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4" name="Line 89"/>
              <p:cNvSpPr>
                <a:spLocks noChangeShapeType="1"/>
              </p:cNvSpPr>
              <p:nvPr/>
            </p:nvSpPr>
            <p:spPr bwMode="auto">
              <a:xfrm>
                <a:off x="5112" y="2627"/>
                <a:ext cx="120" cy="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187" name="Text Box 91"/>
          <p:cNvSpPr txBox="1">
            <a:spLocks noChangeArrowheads="1"/>
          </p:cNvSpPr>
          <p:nvPr/>
        </p:nvSpPr>
        <p:spPr bwMode="auto">
          <a:xfrm>
            <a:off x="6366204" y="1114320"/>
            <a:ext cx="3925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(2)  传递运动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4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"/>
                                        <p:tgtEl>
                                          <p:spTgt spid="4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4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4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4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1" grpId="0" autoUpdateAnimBg="0"/>
      <p:bldP spid="4107" grpId="0" autoUpdateAnimBg="0"/>
      <p:bldP spid="4108" grpId="0" autoUpdateAnimBg="0"/>
      <p:bldP spid="4109" grpId="0" autoUpdateAnimBg="0"/>
      <p:bldP spid="4110" grpId="0" animBg="1"/>
      <p:bldP spid="4111" grpId="0" autoUpdateAnimBg="0"/>
      <p:bldP spid="4112" grpId="0" autoUpdateAnimBg="0"/>
      <p:bldP spid="4114" grpId="0" autoUpdateAnimBg="0"/>
      <p:bldP spid="4115" grpId="0" autoUpdateAnimBg="0"/>
      <p:bldP spid="418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EEA2479-6869-4318-9930-567686C3E4C3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32772" name="Text Box 2052"/>
          <p:cNvSpPr txBox="1">
            <a:spLocks noChangeArrowheads="1"/>
          </p:cNvSpPr>
          <p:nvPr/>
        </p:nvSpPr>
        <p:spPr bwMode="auto">
          <a:xfrm>
            <a:off x="571500" y="169863"/>
            <a:ext cx="895350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8.1</a:t>
            </a:r>
            <a:r>
              <a:rPr lang="zh-CN" altLang="en-US" sz="2800" b="1" i="0">
                <a:latin typeface="宋体" panose="02010600030101010101" pitchFamily="2" charset="-122"/>
              </a:rPr>
              <a:t> 普通平键结合的精度设计</a:t>
            </a:r>
          </a:p>
        </p:txBody>
      </p:sp>
      <p:sp>
        <p:nvSpPr>
          <p:cNvPr id="32773" name="Text Box 2053"/>
          <p:cNvSpPr txBox="1">
            <a:spLocks noChangeArrowheads="1"/>
          </p:cNvSpPr>
          <p:nvPr/>
        </p:nvSpPr>
        <p:spPr bwMode="auto">
          <a:xfrm>
            <a:off x="476250" y="738188"/>
            <a:ext cx="9334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8.1.1 普通平键结合的结构和几何参数</a:t>
            </a:r>
            <a:r>
              <a:rPr lang="zh-CN" altLang="en-US" sz="2400" i="0"/>
              <a:t> </a:t>
            </a:r>
          </a:p>
        </p:txBody>
      </p:sp>
      <p:sp>
        <p:nvSpPr>
          <p:cNvPr id="32774" name="Text Box 2054"/>
          <p:cNvSpPr txBox="1">
            <a:spLocks noChangeArrowheads="1"/>
          </p:cNvSpPr>
          <p:nvPr/>
        </p:nvSpPr>
        <p:spPr bwMode="auto">
          <a:xfrm>
            <a:off x="1176771" y="6110721"/>
            <a:ext cx="89587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>
                <a:latin typeface="宋体" panose="02010600030101010101" pitchFamily="2" charset="-122"/>
              </a:rPr>
              <a:t>平键是以</a:t>
            </a:r>
            <a:r>
              <a:rPr lang="zh-CN" altLang="en-US" sz="2800" b="1" i="0" dirty="0">
                <a:solidFill>
                  <a:srgbClr val="FF3300"/>
                </a:solidFill>
                <a:latin typeface="宋体" panose="02010600030101010101" pitchFamily="2" charset="-122"/>
              </a:rPr>
              <a:t>侧面相互接触传递转矩</a:t>
            </a:r>
            <a:r>
              <a:rPr lang="zh-CN" altLang="en-US" sz="2800" b="1" i="0" dirty="0">
                <a:latin typeface="宋体" panose="02010600030101010101" pitchFamily="2" charset="-122"/>
              </a:rPr>
              <a:t>，故宽度</a:t>
            </a:r>
            <a:r>
              <a:rPr lang="en-US" altLang="zh-CN" sz="2800" b="1" i="0" dirty="0">
                <a:latin typeface="宋体" panose="02010600030101010101" pitchFamily="2" charset="-122"/>
              </a:rPr>
              <a:t>b</a:t>
            </a:r>
            <a:r>
              <a:rPr lang="zh-CN" altLang="en-US" sz="2800" b="1" i="0" dirty="0">
                <a:latin typeface="宋体" panose="02010600030101010101" pitchFamily="2" charset="-122"/>
              </a:rPr>
              <a:t>为配合尺寸。 </a:t>
            </a:r>
          </a:p>
        </p:txBody>
      </p:sp>
      <p:sp>
        <p:nvSpPr>
          <p:cNvPr id="32775" name="Text Box 2055"/>
          <p:cNvSpPr txBox="1">
            <a:spLocks noChangeArrowheads="1"/>
          </p:cNvSpPr>
          <p:nvPr/>
        </p:nvSpPr>
        <p:spPr bwMode="auto">
          <a:xfrm>
            <a:off x="685800" y="1331913"/>
            <a:ext cx="5905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1. 结构  </a:t>
            </a:r>
          </a:p>
        </p:txBody>
      </p:sp>
      <p:pic>
        <p:nvPicPr>
          <p:cNvPr id="32780" name="Picture 206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936" y="1870075"/>
            <a:ext cx="3540125" cy="414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81" name="Picture 206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186" y="2038350"/>
            <a:ext cx="3790950" cy="347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2797" name="Group 2077"/>
          <p:cNvGrpSpPr/>
          <p:nvPr/>
        </p:nvGrpSpPr>
        <p:grpSpPr bwMode="auto">
          <a:xfrm>
            <a:off x="5329686" y="4240213"/>
            <a:ext cx="2286000" cy="1300162"/>
            <a:chOff x="2688" y="2736"/>
            <a:chExt cx="1152" cy="737"/>
          </a:xfrm>
        </p:grpSpPr>
        <p:sp>
          <p:nvSpPr>
            <p:cNvPr id="5139" name="AutoShape 2075"/>
            <p:cNvSpPr/>
            <p:nvPr/>
          </p:nvSpPr>
          <p:spPr bwMode="auto">
            <a:xfrm>
              <a:off x="2688" y="3089"/>
              <a:ext cx="576" cy="384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9065"/>
                <a:gd name="adj5" fmla="val -89065"/>
                <a:gd name="adj6" fmla="val -150347"/>
              </a:avLst>
            </a:prstGeom>
            <a:solidFill>
              <a:schemeClr val="bg1"/>
            </a:solidFill>
            <a:ln w="57150">
              <a:solidFill>
                <a:schemeClr val="tx2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/>
                <a:t>轴</a:t>
              </a:r>
            </a:p>
          </p:txBody>
        </p:sp>
        <p:sp>
          <p:nvSpPr>
            <p:cNvPr id="5140" name="Line 2076"/>
            <p:cNvSpPr>
              <a:spLocks noChangeShapeType="1"/>
            </p:cNvSpPr>
            <p:nvPr/>
          </p:nvSpPr>
          <p:spPr bwMode="auto">
            <a:xfrm flipV="1">
              <a:off x="3264" y="2736"/>
              <a:ext cx="57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800" name="Group 2080"/>
          <p:cNvGrpSpPr/>
          <p:nvPr/>
        </p:nvGrpSpPr>
        <p:grpSpPr bwMode="auto">
          <a:xfrm>
            <a:off x="5234436" y="3224213"/>
            <a:ext cx="2667000" cy="1185862"/>
            <a:chOff x="2544" y="2064"/>
            <a:chExt cx="1344" cy="672"/>
          </a:xfrm>
        </p:grpSpPr>
        <p:sp>
          <p:nvSpPr>
            <p:cNvPr id="5137" name="AutoShape 2072"/>
            <p:cNvSpPr/>
            <p:nvPr/>
          </p:nvSpPr>
          <p:spPr bwMode="auto">
            <a:xfrm>
              <a:off x="2544" y="2352"/>
              <a:ext cx="576" cy="384"/>
            </a:xfrm>
            <a:prstGeom prst="borderCallout1">
              <a:avLst>
                <a:gd name="adj1" fmla="val 18750"/>
                <a:gd name="adj2" fmla="val -8333"/>
                <a:gd name="adj3" fmla="val -92968"/>
                <a:gd name="adj4" fmla="val -165801"/>
              </a:avLst>
            </a:prstGeom>
            <a:solidFill>
              <a:schemeClr val="bg1"/>
            </a:solidFill>
            <a:ln w="57150">
              <a:solidFill>
                <a:srgbClr val="FF3300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>
                  <a:solidFill>
                    <a:srgbClr val="FF3300"/>
                  </a:solidFill>
                </a:rPr>
                <a:t>键</a:t>
              </a:r>
            </a:p>
          </p:txBody>
        </p:sp>
        <p:sp>
          <p:nvSpPr>
            <p:cNvPr id="5138" name="Line 2078"/>
            <p:cNvSpPr>
              <a:spLocks noChangeShapeType="1"/>
            </p:cNvSpPr>
            <p:nvPr/>
          </p:nvSpPr>
          <p:spPr bwMode="auto">
            <a:xfrm flipV="1">
              <a:off x="3120" y="2064"/>
              <a:ext cx="768" cy="28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2803" name="Group 2083"/>
          <p:cNvGrpSpPr/>
          <p:nvPr/>
        </p:nvGrpSpPr>
        <p:grpSpPr bwMode="auto">
          <a:xfrm>
            <a:off x="4662936" y="1870075"/>
            <a:ext cx="2476500" cy="930275"/>
            <a:chOff x="2256" y="1296"/>
            <a:chExt cx="1248" cy="528"/>
          </a:xfrm>
        </p:grpSpPr>
        <p:sp>
          <p:nvSpPr>
            <p:cNvPr id="5135" name="AutoShape 2081"/>
            <p:cNvSpPr/>
            <p:nvPr/>
          </p:nvSpPr>
          <p:spPr bwMode="auto">
            <a:xfrm>
              <a:off x="2256" y="1296"/>
              <a:ext cx="768" cy="384"/>
            </a:xfrm>
            <a:prstGeom prst="borderCallout1">
              <a:avLst>
                <a:gd name="adj1" fmla="val 18750"/>
                <a:gd name="adj2" fmla="val -6250"/>
                <a:gd name="adj3" fmla="val 103648"/>
                <a:gd name="adj4" fmla="val -89454"/>
              </a:avLst>
            </a:prstGeom>
            <a:solidFill>
              <a:schemeClr val="bg1"/>
            </a:solidFill>
            <a:ln w="571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/>
                <a:t>轮毂</a:t>
              </a:r>
              <a:endParaRPr lang="en-US" altLang="zh-CN" b="1" i="0"/>
            </a:p>
          </p:txBody>
        </p:sp>
        <p:sp>
          <p:nvSpPr>
            <p:cNvPr id="5136" name="Line 2082"/>
            <p:cNvSpPr>
              <a:spLocks noChangeShapeType="1"/>
            </p:cNvSpPr>
            <p:nvPr/>
          </p:nvSpPr>
          <p:spPr bwMode="auto">
            <a:xfrm>
              <a:off x="3024" y="1440"/>
              <a:ext cx="48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2805" name="Line 2085"/>
          <p:cNvSpPr>
            <a:spLocks noChangeShapeType="1"/>
          </p:cNvSpPr>
          <p:nvPr/>
        </p:nvSpPr>
        <p:spPr bwMode="auto">
          <a:xfrm>
            <a:off x="8091936" y="2886075"/>
            <a:ext cx="0" cy="592138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806" name="Line 2086"/>
          <p:cNvSpPr>
            <a:spLocks noChangeShapeType="1"/>
          </p:cNvSpPr>
          <p:nvPr/>
        </p:nvSpPr>
        <p:spPr bwMode="auto">
          <a:xfrm>
            <a:off x="7558536" y="2886075"/>
            <a:ext cx="0" cy="592138"/>
          </a:xfrm>
          <a:prstGeom prst="line">
            <a:avLst/>
          </a:prstGeom>
          <a:noFill/>
          <a:ln w="762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32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9" dur="500"/>
                                        <p:tgtEl>
                                          <p:spTgt spid="32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32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build="p" autoUpdateAnimBg="0"/>
      <p:bldP spid="32773" grpId="0" build="p" autoUpdateAnimBg="0"/>
      <p:bldP spid="32774" grpId="0" bldLvl="0" animBg="1" autoUpdateAnimBg="0"/>
      <p:bldP spid="32775" grpId="0" build="p" autoUpdateAnimBg="0"/>
      <p:bldP spid="32805" grpId="0" bldLvl="0" animBg="1"/>
      <p:bldP spid="3280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B1B2E89-7539-4D5F-8B6C-5F5CF26A2A75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4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666750" y="254000"/>
            <a:ext cx="352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2. 几何参数： 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816182" y="863956"/>
            <a:ext cx="352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（1）</a:t>
            </a:r>
            <a:r>
              <a:rPr lang="zh-CN" altLang="en-US" sz="2800" b="1" i="0">
                <a:latin typeface="宋体" panose="02010600030101010101" pitchFamily="2" charset="-122"/>
              </a:rPr>
              <a:t>键 </a:t>
            </a:r>
            <a:r>
              <a:rPr lang="zh-CN" altLang="en-US" sz="2800" b="1" i="0"/>
              <a:t>－</a:t>
            </a:r>
            <a:endParaRPr lang="zh-CN" altLang="en-US" sz="2800" b="1">
              <a:latin typeface="宋体" panose="02010600030101010101" pitchFamily="2" charset="-122"/>
            </a:endParaRPr>
          </a:p>
        </p:txBody>
      </p:sp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816182" y="1456094"/>
            <a:ext cx="3333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>
                <a:latin typeface="宋体" panose="02010600030101010101" pitchFamily="2" charset="-122"/>
              </a:rPr>
              <a:t>（</a:t>
            </a:r>
            <a:r>
              <a:rPr lang="zh-CN" altLang="en-US" sz="2800" b="1" i="0"/>
              <a:t>2</a:t>
            </a:r>
            <a:r>
              <a:rPr lang="zh-CN" altLang="en-US" sz="2800" b="1" i="0">
                <a:latin typeface="宋体" panose="02010600030101010101" pitchFamily="2" charset="-122"/>
              </a:rPr>
              <a:t>）轴槽 </a:t>
            </a:r>
            <a:r>
              <a:rPr lang="zh-CN" altLang="en-US" sz="2800" b="1" i="0"/>
              <a:t>－</a:t>
            </a:r>
            <a:endParaRPr lang="zh-CN" altLang="en-US" sz="2800" b="1" i="0">
              <a:latin typeface="宋体" panose="02010600030101010101" pitchFamily="2" charset="-122"/>
            </a:endParaRP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816182" y="2094628"/>
            <a:ext cx="4286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（3）</a:t>
            </a:r>
            <a:r>
              <a:rPr lang="zh-CN" altLang="en-US" sz="2800" b="1" i="0" dirty="0">
                <a:latin typeface="宋体" panose="02010600030101010101" pitchFamily="2" charset="-122"/>
              </a:rPr>
              <a:t>轮毂槽 </a:t>
            </a:r>
            <a:r>
              <a:rPr lang="zh-CN" altLang="en-US" sz="2800" b="1" i="0" dirty="0"/>
              <a:t>－</a:t>
            </a:r>
          </a:p>
        </p:txBody>
      </p:sp>
      <p:sp>
        <p:nvSpPr>
          <p:cNvPr id="5141" name="Text Box 21"/>
          <p:cNvSpPr txBox="1">
            <a:spLocks noChangeArrowheads="1"/>
          </p:cNvSpPr>
          <p:nvPr/>
        </p:nvSpPr>
        <p:spPr bwMode="auto">
          <a:xfrm>
            <a:off x="3673682" y="863956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>
                <a:solidFill>
                  <a:srgbClr val="FF3300"/>
                </a:solidFill>
              </a:rPr>
              <a:t>宽：</a:t>
            </a:r>
            <a:r>
              <a:rPr lang="en-US" altLang="zh-CN" sz="2800" b="1">
                <a:solidFill>
                  <a:srgbClr val="FF3300"/>
                </a:solidFill>
              </a:rPr>
              <a:t>b</a:t>
            </a:r>
            <a:r>
              <a:rPr lang="en-US" altLang="zh-CN" sz="2800" b="1"/>
              <a:t>、</a:t>
            </a:r>
            <a:r>
              <a:rPr lang="zh-CN" altLang="en-US" sz="2800" b="1" i="0"/>
              <a:t>高度：</a:t>
            </a:r>
            <a:r>
              <a:rPr lang="en-US" altLang="zh-CN" sz="2800" b="1"/>
              <a:t>h、</a:t>
            </a:r>
            <a:r>
              <a:rPr lang="zh-CN" altLang="en-US" sz="2800" b="1" i="0"/>
              <a:t>长度：</a:t>
            </a:r>
            <a:r>
              <a:rPr lang="en-US" altLang="zh-CN" sz="2800" b="1"/>
              <a:t>l</a:t>
            </a:r>
            <a:endParaRPr lang="zh-CN" altLang="en-US" sz="2800" b="1"/>
          </a:p>
        </p:txBody>
      </p:sp>
      <p:sp>
        <p:nvSpPr>
          <p:cNvPr id="5142" name="Text Box 22"/>
          <p:cNvSpPr txBox="1">
            <a:spLocks noChangeArrowheads="1"/>
          </p:cNvSpPr>
          <p:nvPr/>
        </p:nvSpPr>
        <p:spPr bwMode="auto">
          <a:xfrm>
            <a:off x="3673682" y="1441806"/>
            <a:ext cx="6667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>
                <a:solidFill>
                  <a:srgbClr val="FF3300"/>
                </a:solidFill>
              </a:rPr>
              <a:t>宽度：</a:t>
            </a:r>
            <a:r>
              <a:rPr lang="en-US" altLang="zh-CN" sz="2800" b="1">
                <a:solidFill>
                  <a:srgbClr val="FF3300"/>
                </a:solidFill>
              </a:rPr>
              <a:t>b</a:t>
            </a:r>
            <a:r>
              <a:rPr lang="en-US" altLang="zh-CN" sz="2800" b="1" i="0"/>
              <a:t>、</a:t>
            </a:r>
            <a:r>
              <a:rPr lang="zh-CN" altLang="en-US" sz="2800" b="1" i="0"/>
              <a:t>深度：</a:t>
            </a:r>
            <a:r>
              <a:rPr lang="en-US" altLang="zh-CN" sz="2800" b="1"/>
              <a:t>t</a:t>
            </a:r>
            <a:r>
              <a:rPr lang="en-US" altLang="zh-CN" sz="2800" b="1" i="0" baseline="-30000"/>
              <a:t>1</a:t>
            </a:r>
            <a:r>
              <a:rPr lang="en-US" altLang="zh-CN" sz="2800" b="1" i="0"/>
              <a:t>、</a:t>
            </a:r>
            <a:r>
              <a:rPr lang="zh-CN" altLang="en-US" sz="2800" b="1" i="0"/>
              <a:t>长度：</a:t>
            </a:r>
            <a:r>
              <a:rPr lang="en-US" altLang="zh-CN" sz="2800" b="1"/>
              <a:t>L</a:t>
            </a:r>
            <a:r>
              <a:rPr lang="en-US" altLang="zh-CN" sz="2800" b="1" i="0">
                <a:latin typeface="宋体" panose="02010600030101010101" pitchFamily="2" charset="-122"/>
              </a:rPr>
              <a:t> </a:t>
            </a:r>
            <a:endParaRPr lang="zh-CN" altLang="en-US" sz="2800" b="1" i="0"/>
          </a:p>
        </p:txBody>
      </p:sp>
      <p:sp>
        <p:nvSpPr>
          <p:cNvPr id="5143" name="Text Box 23"/>
          <p:cNvSpPr txBox="1">
            <a:spLocks noChangeArrowheads="1"/>
          </p:cNvSpPr>
          <p:nvPr/>
        </p:nvSpPr>
        <p:spPr bwMode="auto">
          <a:xfrm>
            <a:off x="3673682" y="2094628"/>
            <a:ext cx="457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>
                <a:solidFill>
                  <a:srgbClr val="FF3300"/>
                </a:solidFill>
              </a:rPr>
              <a:t>宽度：</a:t>
            </a:r>
            <a:r>
              <a:rPr lang="en-US" altLang="zh-CN" sz="2800" b="1">
                <a:solidFill>
                  <a:srgbClr val="FF3300"/>
                </a:solidFill>
              </a:rPr>
              <a:t>b、</a:t>
            </a:r>
            <a:r>
              <a:rPr lang="zh-CN" altLang="en-US" sz="2800" b="1" i="0"/>
              <a:t>深度：</a:t>
            </a:r>
            <a:r>
              <a:rPr lang="en-US" altLang="zh-CN" sz="2800" b="1"/>
              <a:t>t</a:t>
            </a:r>
            <a:r>
              <a:rPr lang="en-US" altLang="zh-CN" sz="2800" b="1" i="0" baseline="-30000"/>
              <a:t>2</a:t>
            </a:r>
            <a:endParaRPr lang="zh-CN" altLang="en-US" sz="2800" b="1" i="0" baseline="-30000"/>
          </a:p>
        </p:txBody>
      </p:sp>
      <p:pic>
        <p:nvPicPr>
          <p:cNvPr id="5156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620" y="2914650"/>
            <a:ext cx="3540125" cy="414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58" name="Picture 3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870" y="3084513"/>
            <a:ext cx="3676650" cy="347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161" name="Group 41"/>
          <p:cNvGrpSpPr/>
          <p:nvPr/>
        </p:nvGrpSpPr>
        <p:grpSpPr bwMode="auto">
          <a:xfrm>
            <a:off x="5182370" y="5284788"/>
            <a:ext cx="2286000" cy="1300162"/>
            <a:chOff x="2688" y="2736"/>
            <a:chExt cx="1152" cy="737"/>
          </a:xfrm>
        </p:grpSpPr>
        <p:sp>
          <p:nvSpPr>
            <p:cNvPr id="6163" name="AutoShape 42"/>
            <p:cNvSpPr/>
            <p:nvPr/>
          </p:nvSpPr>
          <p:spPr bwMode="auto">
            <a:xfrm>
              <a:off x="2688" y="3089"/>
              <a:ext cx="576" cy="384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39065"/>
                <a:gd name="adj5" fmla="val -89065"/>
                <a:gd name="adj6" fmla="val -150347"/>
              </a:avLst>
            </a:prstGeom>
            <a:solidFill>
              <a:schemeClr val="bg1"/>
            </a:solidFill>
            <a:ln w="57150">
              <a:solidFill>
                <a:schemeClr val="tx2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/>
                <a:t>轴</a:t>
              </a:r>
            </a:p>
          </p:txBody>
        </p:sp>
        <p:sp>
          <p:nvSpPr>
            <p:cNvPr id="6164" name="Line 43"/>
            <p:cNvSpPr>
              <a:spLocks noChangeShapeType="1"/>
            </p:cNvSpPr>
            <p:nvPr/>
          </p:nvSpPr>
          <p:spPr bwMode="auto">
            <a:xfrm flipV="1">
              <a:off x="3264" y="2736"/>
              <a:ext cx="576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64" name="Group 44"/>
          <p:cNvGrpSpPr/>
          <p:nvPr/>
        </p:nvGrpSpPr>
        <p:grpSpPr bwMode="auto">
          <a:xfrm>
            <a:off x="5087120" y="4268788"/>
            <a:ext cx="2667000" cy="1185862"/>
            <a:chOff x="2544" y="2064"/>
            <a:chExt cx="1344" cy="672"/>
          </a:xfrm>
        </p:grpSpPr>
        <p:sp>
          <p:nvSpPr>
            <p:cNvPr id="6161" name="AutoShape 45"/>
            <p:cNvSpPr/>
            <p:nvPr/>
          </p:nvSpPr>
          <p:spPr bwMode="auto">
            <a:xfrm>
              <a:off x="2544" y="2352"/>
              <a:ext cx="576" cy="384"/>
            </a:xfrm>
            <a:prstGeom prst="borderCallout1">
              <a:avLst>
                <a:gd name="adj1" fmla="val 18750"/>
                <a:gd name="adj2" fmla="val -8333"/>
                <a:gd name="adj3" fmla="val -92968"/>
                <a:gd name="adj4" fmla="val -165801"/>
              </a:avLst>
            </a:prstGeom>
            <a:solidFill>
              <a:schemeClr val="bg1"/>
            </a:solidFill>
            <a:ln w="57150">
              <a:solidFill>
                <a:srgbClr val="FF3300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>
                  <a:solidFill>
                    <a:srgbClr val="FF3300"/>
                  </a:solidFill>
                </a:rPr>
                <a:t>键</a:t>
              </a:r>
            </a:p>
          </p:txBody>
        </p:sp>
        <p:sp>
          <p:nvSpPr>
            <p:cNvPr id="6162" name="Line 46"/>
            <p:cNvSpPr>
              <a:spLocks noChangeShapeType="1"/>
            </p:cNvSpPr>
            <p:nvPr/>
          </p:nvSpPr>
          <p:spPr bwMode="auto">
            <a:xfrm flipV="1">
              <a:off x="3120" y="2064"/>
              <a:ext cx="768" cy="288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67" name="Group 47"/>
          <p:cNvGrpSpPr/>
          <p:nvPr/>
        </p:nvGrpSpPr>
        <p:grpSpPr bwMode="auto">
          <a:xfrm>
            <a:off x="4515620" y="2914650"/>
            <a:ext cx="2476500" cy="931863"/>
            <a:chOff x="2256" y="1296"/>
            <a:chExt cx="1248" cy="528"/>
          </a:xfrm>
        </p:grpSpPr>
        <p:sp>
          <p:nvSpPr>
            <p:cNvPr id="6159" name="AutoShape 48"/>
            <p:cNvSpPr/>
            <p:nvPr/>
          </p:nvSpPr>
          <p:spPr bwMode="auto">
            <a:xfrm>
              <a:off x="2256" y="1296"/>
              <a:ext cx="768" cy="384"/>
            </a:xfrm>
            <a:prstGeom prst="borderCallout1">
              <a:avLst>
                <a:gd name="adj1" fmla="val 18750"/>
                <a:gd name="adj2" fmla="val -6250"/>
                <a:gd name="adj3" fmla="val 103648"/>
                <a:gd name="adj4" fmla="val -89454"/>
              </a:avLst>
            </a:prstGeom>
            <a:solidFill>
              <a:schemeClr val="bg1"/>
            </a:solidFill>
            <a:ln w="57150">
              <a:solidFill>
                <a:schemeClr val="tx1"/>
              </a:solidFill>
              <a:miter lim="800000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zh-CN" altLang="en-US" b="1" i="0"/>
                <a:t>轮毂</a:t>
              </a:r>
            </a:p>
          </p:txBody>
        </p:sp>
        <p:sp>
          <p:nvSpPr>
            <p:cNvPr id="6160" name="Line 49"/>
            <p:cNvSpPr>
              <a:spLocks noChangeShapeType="1"/>
            </p:cNvSpPr>
            <p:nvPr/>
          </p:nvSpPr>
          <p:spPr bwMode="auto">
            <a:xfrm>
              <a:off x="3024" y="1440"/>
              <a:ext cx="48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1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5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5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5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4"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5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00"/>
                                        <p:tgtEl>
                                          <p:spTgt spid="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6" grpId="0" build="p" autoUpdateAnimBg="0"/>
      <p:bldP spid="5128" grpId="0" build="p" autoUpdateAnimBg="0"/>
      <p:bldP spid="5129" grpId="0" build="p" autoUpdateAnimBg="0"/>
      <p:bldP spid="5130" grpId="0" build="p" autoUpdateAnimBg="0"/>
      <p:bldP spid="5141" grpId="0" autoUpdateAnimBg="0"/>
      <p:bldP spid="5142" grpId="0" autoUpdateAnimBg="0"/>
      <p:bldP spid="514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1FBA67D-7A3B-424D-8583-312351C67C15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5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404813" y="508000"/>
            <a:ext cx="7880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/>
              <a:t>键和键槽的尺寸与极限偏差见表8.1所示。</a:t>
            </a:r>
          </a:p>
        </p:txBody>
      </p:sp>
      <p:pic>
        <p:nvPicPr>
          <p:cNvPr id="6170" name="Picture 2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174750"/>
            <a:ext cx="11049000" cy="532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71" name="Line 27"/>
          <p:cNvSpPr>
            <a:spLocks noChangeShapeType="1"/>
          </p:cNvSpPr>
          <p:nvPr/>
        </p:nvSpPr>
        <p:spPr bwMode="auto">
          <a:xfrm>
            <a:off x="1428750" y="2039938"/>
            <a:ext cx="16192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2" name="Line 28"/>
          <p:cNvSpPr>
            <a:spLocks noChangeShapeType="1"/>
          </p:cNvSpPr>
          <p:nvPr/>
        </p:nvSpPr>
        <p:spPr bwMode="auto">
          <a:xfrm>
            <a:off x="4381500" y="2020888"/>
            <a:ext cx="37147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73" name="Rectangle 29"/>
          <p:cNvSpPr>
            <a:spLocks noChangeArrowheads="1"/>
          </p:cNvSpPr>
          <p:nvPr/>
        </p:nvSpPr>
        <p:spPr bwMode="auto">
          <a:xfrm>
            <a:off x="10058400" y="2116138"/>
            <a:ext cx="1047750" cy="1185862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1" grpId="0" bldLvl="0" animBg="1" autoUpdateAnimBg="0"/>
      <p:bldP spid="6171" grpId="0" animBg="1"/>
      <p:bldP spid="6172" grpId="0" animBg="1"/>
      <p:bldP spid="617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F23F431-8375-4E81-B9D1-8B36E27D1D76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6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571500" y="693738"/>
            <a:ext cx="7905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1.平键的</a:t>
            </a:r>
            <a:r>
              <a:rPr lang="zh-CN" altLang="en-US" sz="2800" b="1" i="0" dirty="0">
                <a:latin typeface="宋体" panose="02010600030101010101" pitchFamily="2" charset="-122"/>
              </a:rPr>
              <a:t>尺寸公差与</a:t>
            </a:r>
            <a:r>
              <a:rPr lang="zh-CN" altLang="en-US" sz="2800" b="1" i="0" dirty="0" smtClean="0">
                <a:latin typeface="宋体" panose="02010600030101010101" pitchFamily="2" charset="-122"/>
              </a:rPr>
              <a:t>配合</a:t>
            </a:r>
            <a:endParaRPr lang="en-US" altLang="zh-CN" sz="2800" b="1" i="0" dirty="0">
              <a:latin typeface="宋体" panose="02010600030101010101" pitchFamily="2" charset="-122"/>
            </a:endParaRPr>
          </a:p>
        </p:txBody>
      </p:sp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228600" y="228600"/>
            <a:ext cx="7334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8.1.2  普通平键的精度设计</a:t>
            </a:r>
            <a:r>
              <a:rPr lang="zh-CN" altLang="en-US" sz="2400" i="0" dirty="0"/>
              <a:t> </a:t>
            </a:r>
          </a:p>
        </p:txBody>
      </p:sp>
      <p:sp>
        <p:nvSpPr>
          <p:cNvPr id="7200" name="Text Box 32"/>
          <p:cNvSpPr txBox="1">
            <a:spLocks noChangeArrowheads="1"/>
          </p:cNvSpPr>
          <p:nvPr/>
        </p:nvSpPr>
        <p:spPr bwMode="auto">
          <a:xfrm>
            <a:off x="600075" y="1208405"/>
            <a:ext cx="318706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（1）配合尺寸—</a:t>
            </a:r>
            <a:r>
              <a:rPr lang="en-US" altLang="zh-CN" sz="2800" b="1" dirty="0"/>
              <a:t>b</a:t>
            </a:r>
          </a:p>
        </p:txBody>
      </p:sp>
      <p:pic>
        <p:nvPicPr>
          <p:cNvPr id="7215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583" y="3492755"/>
            <a:ext cx="9595599" cy="3674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17" name="Text Box 49"/>
          <p:cNvSpPr txBox="1">
            <a:spLocks noChangeArrowheads="1"/>
          </p:cNvSpPr>
          <p:nvPr/>
        </p:nvSpPr>
        <p:spPr bwMode="auto">
          <a:xfrm>
            <a:off x="4760066" y="1754989"/>
            <a:ext cx="31432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② 公差等级：</a:t>
            </a:r>
            <a:endParaRPr lang="en-US" altLang="zh-CN" sz="2800" b="1" i="0" dirty="0"/>
          </a:p>
        </p:txBody>
      </p:sp>
      <p:sp>
        <p:nvSpPr>
          <p:cNvPr id="7219" name="Text Box 51"/>
          <p:cNvSpPr txBox="1">
            <a:spLocks noChangeArrowheads="1"/>
          </p:cNvSpPr>
          <p:nvPr/>
        </p:nvSpPr>
        <p:spPr bwMode="auto">
          <a:xfrm>
            <a:off x="7515627" y="1754722"/>
            <a:ext cx="29321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 i="0" dirty="0">
                <a:solidFill>
                  <a:srgbClr val="FF3300"/>
                </a:solidFill>
              </a:rPr>
              <a:t>IT8~IT10</a:t>
            </a:r>
          </a:p>
        </p:txBody>
      </p:sp>
      <p:sp>
        <p:nvSpPr>
          <p:cNvPr id="7220" name="Text Box 52"/>
          <p:cNvSpPr txBox="1">
            <a:spLocks noChangeArrowheads="1"/>
          </p:cNvSpPr>
          <p:nvPr/>
        </p:nvSpPr>
        <p:spPr bwMode="auto">
          <a:xfrm>
            <a:off x="854816" y="2328076"/>
            <a:ext cx="34496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③ </a:t>
            </a:r>
            <a:r>
              <a:rPr lang="zh-CN" altLang="en-US" sz="2800" b="1" i="0" dirty="0" smtClean="0"/>
              <a:t>基本偏差</a:t>
            </a:r>
            <a:endParaRPr lang="en-US" altLang="zh-CN" sz="2800" b="1" i="0" dirty="0"/>
          </a:p>
        </p:txBody>
      </p:sp>
      <p:sp>
        <p:nvSpPr>
          <p:cNvPr id="7222" name="Text Box 54"/>
          <p:cNvSpPr txBox="1">
            <a:spLocks noChangeArrowheads="1"/>
          </p:cNvSpPr>
          <p:nvPr/>
        </p:nvSpPr>
        <p:spPr bwMode="auto">
          <a:xfrm>
            <a:off x="4236073" y="2325927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键：</a:t>
            </a:r>
            <a:r>
              <a:rPr lang="en-US" altLang="zh-CN" sz="2800" b="1" i="0" dirty="0"/>
              <a:t>h</a:t>
            </a:r>
          </a:p>
        </p:txBody>
      </p:sp>
      <p:sp>
        <p:nvSpPr>
          <p:cNvPr id="7223" name="Text Box 55"/>
          <p:cNvSpPr txBox="1">
            <a:spLocks noChangeArrowheads="1"/>
          </p:cNvSpPr>
          <p:nvPr/>
        </p:nvSpPr>
        <p:spPr bwMode="auto">
          <a:xfrm>
            <a:off x="1333500" y="2914650"/>
            <a:ext cx="3619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轴槽：</a:t>
            </a:r>
            <a:r>
              <a:rPr lang="en-US" altLang="zh-CN" sz="2800" b="1" i="0" dirty="0"/>
              <a:t>H、N、P</a:t>
            </a:r>
          </a:p>
        </p:txBody>
      </p:sp>
      <p:sp>
        <p:nvSpPr>
          <p:cNvPr id="7224" name="Text Box 56"/>
          <p:cNvSpPr txBox="1">
            <a:spLocks noChangeArrowheads="1"/>
          </p:cNvSpPr>
          <p:nvPr/>
        </p:nvSpPr>
        <p:spPr bwMode="auto">
          <a:xfrm>
            <a:off x="5124450" y="2914650"/>
            <a:ext cx="4019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轮槽：</a:t>
            </a:r>
            <a:r>
              <a:rPr lang="en-US" altLang="zh-CN" sz="2800" b="1" i="0" dirty="0"/>
              <a:t>D、JS、P</a:t>
            </a:r>
          </a:p>
        </p:txBody>
      </p:sp>
      <p:sp>
        <p:nvSpPr>
          <p:cNvPr id="7225" name="Line 57"/>
          <p:cNvSpPr>
            <a:spLocks noChangeShapeType="1"/>
          </p:cNvSpPr>
          <p:nvPr/>
        </p:nvSpPr>
        <p:spPr bwMode="auto">
          <a:xfrm>
            <a:off x="1952916" y="5194248"/>
            <a:ext cx="6667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26" name="Line 58"/>
          <p:cNvSpPr>
            <a:spLocks noChangeShapeType="1"/>
          </p:cNvSpPr>
          <p:nvPr/>
        </p:nvSpPr>
        <p:spPr bwMode="auto">
          <a:xfrm>
            <a:off x="4209420" y="4432248"/>
            <a:ext cx="238125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28" name="Rectangle 60"/>
          <p:cNvSpPr>
            <a:spLocks noChangeArrowheads="1"/>
          </p:cNvSpPr>
          <p:nvPr/>
        </p:nvSpPr>
        <p:spPr bwMode="auto">
          <a:xfrm>
            <a:off x="854816" y="1774039"/>
            <a:ext cx="3009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i="0" dirty="0"/>
              <a:t>① 基准制：</a:t>
            </a:r>
            <a:endParaRPr lang="en-US" altLang="zh-CN" sz="2800" b="1" i="0" dirty="0"/>
          </a:p>
        </p:txBody>
      </p:sp>
      <p:sp>
        <p:nvSpPr>
          <p:cNvPr id="7229" name="Rectangle 61"/>
          <p:cNvSpPr>
            <a:spLocks noChangeArrowheads="1"/>
          </p:cNvSpPr>
          <p:nvPr/>
        </p:nvSpPr>
        <p:spPr bwMode="auto">
          <a:xfrm>
            <a:off x="2769223" y="1774039"/>
            <a:ext cx="24907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i="0">
                <a:solidFill>
                  <a:srgbClr val="FF3300"/>
                </a:solidFill>
              </a:rPr>
              <a:t>基准轴 </a:t>
            </a:r>
            <a:r>
              <a:rPr lang="en-US" altLang="zh-CN" sz="2800" b="1" i="0">
                <a:solidFill>
                  <a:srgbClr val="FF3300"/>
                </a:solidFill>
              </a:rPr>
              <a:t>h</a:t>
            </a:r>
            <a:endParaRPr lang="zh-CN" altLang="en-US" sz="2800" b="1" i="0">
              <a:solidFill>
                <a:srgbClr val="FF3300"/>
              </a:solidFill>
            </a:endParaRPr>
          </a:p>
        </p:txBody>
      </p:sp>
      <p:sp>
        <p:nvSpPr>
          <p:cNvPr id="7230" name="Line 62"/>
          <p:cNvSpPr>
            <a:spLocks noChangeShapeType="1"/>
          </p:cNvSpPr>
          <p:nvPr/>
        </p:nvSpPr>
        <p:spPr bwMode="auto">
          <a:xfrm>
            <a:off x="4139360" y="5256774"/>
            <a:ext cx="3276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7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00"/>
                                        <p:tgtEl>
                                          <p:spTgt spid="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00"/>
                                        <p:tgtEl>
                                          <p:spTgt spid="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00"/>
                                        <p:tgtEl>
                                          <p:spTgt spid="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 autoUpdateAnimBg="0"/>
      <p:bldP spid="7199" grpId="0" build="p" autoUpdateAnimBg="0"/>
      <p:bldP spid="7200" grpId="0" build="p" autoUpdateAnimBg="0"/>
      <p:bldP spid="7217" grpId="0" autoUpdateAnimBg="0"/>
      <p:bldP spid="7219" grpId="0" autoUpdateAnimBg="0"/>
      <p:bldP spid="7220" grpId="0" autoUpdateAnimBg="0"/>
      <p:bldP spid="7222" grpId="0" autoUpdateAnimBg="0"/>
      <p:bldP spid="7223" grpId="0" autoUpdateAnimBg="0"/>
      <p:bldP spid="7224" grpId="0" autoUpdateAnimBg="0"/>
      <p:bldP spid="7225" grpId="0" animBg="1"/>
      <p:bldP spid="7226" grpId="0" animBg="1"/>
      <p:bldP spid="7228" grpId="0" autoUpdateAnimBg="0"/>
      <p:bldP spid="7229" grpId="0" autoUpdateAnimBg="0"/>
      <p:bldP spid="723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D1E6FCE-0BAD-4FDE-8624-89CF7B0E2830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7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75794" name="Text Box 18"/>
          <p:cNvSpPr txBox="1">
            <a:spLocks noChangeArrowheads="1"/>
          </p:cNvSpPr>
          <p:nvPr/>
        </p:nvSpPr>
        <p:spPr bwMode="auto">
          <a:xfrm>
            <a:off x="1044410" y="958640"/>
            <a:ext cx="276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键：</a:t>
            </a:r>
            <a:r>
              <a:rPr lang="en-US" altLang="zh-CN" sz="2800" b="1" i="0" dirty="0">
                <a:solidFill>
                  <a:srgbClr val="FF3300"/>
                </a:solidFill>
              </a:rPr>
              <a:t>h8</a:t>
            </a:r>
            <a:endParaRPr lang="zh-CN" altLang="en-US" sz="2800" b="1" i="0" dirty="0">
              <a:solidFill>
                <a:srgbClr val="FF3300"/>
              </a:solidFill>
            </a:endParaRPr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3130348" y="762000"/>
            <a:ext cx="5314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轴槽：</a:t>
            </a:r>
            <a:r>
              <a:rPr lang="en-US" altLang="zh-CN" sz="2800" b="1" i="0" dirty="0"/>
              <a:t>H9</a:t>
            </a:r>
            <a:r>
              <a:rPr lang="en-US" altLang="zh-CN" sz="2800" b="1" i="0" dirty="0" smtClean="0"/>
              <a:t>、  N9、 P9</a:t>
            </a:r>
            <a:endParaRPr lang="zh-CN" altLang="en-US" sz="2800" b="1" i="0" dirty="0"/>
          </a:p>
        </p:txBody>
      </p:sp>
      <p:sp>
        <p:nvSpPr>
          <p:cNvPr id="75796" name="Text Box 20"/>
          <p:cNvSpPr txBox="1">
            <a:spLocks noChangeArrowheads="1"/>
          </p:cNvSpPr>
          <p:nvPr/>
        </p:nvSpPr>
        <p:spPr bwMode="auto">
          <a:xfrm>
            <a:off x="3117945" y="1343025"/>
            <a:ext cx="434658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轮槽：</a:t>
            </a:r>
            <a:r>
              <a:rPr lang="en-US" altLang="zh-CN" sz="2800" b="1" i="0" dirty="0"/>
              <a:t>D10、JS9、P9</a:t>
            </a:r>
            <a:endParaRPr lang="zh-CN" altLang="en-US" sz="2800" b="1" i="0" dirty="0"/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7447920" y="808038"/>
            <a:ext cx="36195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800" b="1" i="0" dirty="0">
                <a:latin typeface="宋体" panose="02010600030101010101" pitchFamily="2" charset="-122"/>
              </a:rPr>
              <a:t>其公差带选自：</a:t>
            </a:r>
          </a:p>
          <a:p>
            <a:pPr algn="l"/>
            <a:r>
              <a:rPr lang="en-US" altLang="zh-CN" sz="2800" b="1" i="0" dirty="0">
                <a:latin typeface="宋体" panose="02010600030101010101" pitchFamily="2" charset="-122"/>
              </a:rPr>
              <a:t> </a:t>
            </a:r>
            <a:r>
              <a:rPr lang="en-US" altLang="zh-CN" sz="2800" b="1" i="0" dirty="0"/>
              <a:t>GB/T1801</a:t>
            </a:r>
            <a:r>
              <a:rPr lang="en-US" altLang="zh-CN" sz="2800" b="1" i="0" dirty="0">
                <a:cs typeface="Times New Roman" panose="02020603050405020304" pitchFamily="18" charset="0"/>
              </a:rPr>
              <a:t>—2009</a:t>
            </a:r>
            <a:r>
              <a:rPr lang="en-US" altLang="zh-CN" sz="2800" b="1" i="0" dirty="0"/>
              <a:t>。</a:t>
            </a:r>
            <a:r>
              <a:rPr lang="en-US" altLang="zh-CN" sz="2800" b="1" i="0" dirty="0">
                <a:cs typeface="Times New Roman" panose="02020603050405020304" pitchFamily="18" charset="0"/>
              </a:rPr>
              <a:t>                       </a:t>
            </a:r>
            <a:endParaRPr lang="zh-CN" altLang="en-US" sz="2800" b="1" i="0" dirty="0"/>
          </a:p>
        </p:txBody>
      </p:sp>
      <p:sp>
        <p:nvSpPr>
          <p:cNvPr id="75798" name="Text Box 22"/>
          <p:cNvSpPr txBox="1">
            <a:spLocks noChangeArrowheads="1"/>
          </p:cNvSpPr>
          <p:nvPr/>
        </p:nvSpPr>
        <p:spPr bwMode="auto">
          <a:xfrm>
            <a:off x="381000" y="288925"/>
            <a:ext cx="6307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④ </a:t>
            </a:r>
            <a:r>
              <a:rPr lang="zh-CN" altLang="en-US" sz="2800" b="1" i="0" dirty="0" smtClean="0"/>
              <a:t>尺寸公差带</a:t>
            </a:r>
            <a:endParaRPr lang="zh-CN" altLang="en-US" sz="2800" b="1" i="0" dirty="0"/>
          </a:p>
        </p:txBody>
      </p:sp>
      <p:grpSp>
        <p:nvGrpSpPr>
          <p:cNvPr id="75807" name="Group 31"/>
          <p:cNvGrpSpPr/>
          <p:nvPr/>
        </p:nvGrpSpPr>
        <p:grpSpPr bwMode="auto">
          <a:xfrm>
            <a:off x="950642" y="2295525"/>
            <a:ext cx="9239250" cy="4595813"/>
            <a:chOff x="480" y="1488"/>
            <a:chExt cx="4080" cy="2605"/>
          </a:xfrm>
        </p:grpSpPr>
        <p:pic>
          <p:nvPicPr>
            <p:cNvPr id="9228" name="Picture 2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" y="1488"/>
              <a:ext cx="4080" cy="2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29" name="Rectangle 24"/>
            <p:cNvSpPr>
              <a:spLocks noChangeArrowheads="1"/>
            </p:cNvSpPr>
            <p:nvPr/>
          </p:nvSpPr>
          <p:spPr bwMode="auto">
            <a:xfrm>
              <a:off x="2688" y="1680"/>
              <a:ext cx="1536" cy="7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i="0"/>
            </a:p>
          </p:txBody>
        </p:sp>
        <p:sp>
          <p:nvSpPr>
            <p:cNvPr id="9230" name="Rectangle 25"/>
            <p:cNvSpPr>
              <a:spLocks noChangeArrowheads="1"/>
            </p:cNvSpPr>
            <p:nvPr/>
          </p:nvSpPr>
          <p:spPr bwMode="auto">
            <a:xfrm>
              <a:off x="1200" y="2880"/>
              <a:ext cx="288" cy="384"/>
            </a:xfrm>
            <a:prstGeom prst="rect">
              <a:avLst/>
            </a:prstGeom>
            <a:noFill/>
            <a:ln w="571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1" name="Rectangle 26"/>
            <p:cNvSpPr>
              <a:spLocks noChangeArrowheads="1"/>
            </p:cNvSpPr>
            <p:nvPr/>
          </p:nvSpPr>
          <p:spPr bwMode="auto">
            <a:xfrm>
              <a:off x="3984" y="2880"/>
              <a:ext cx="240" cy="480"/>
            </a:xfrm>
            <a:prstGeom prst="rect">
              <a:avLst/>
            </a:prstGeom>
            <a:noFill/>
            <a:ln w="571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2" name="Rectangle 27"/>
            <p:cNvSpPr>
              <a:spLocks noChangeArrowheads="1"/>
            </p:cNvSpPr>
            <p:nvPr/>
          </p:nvSpPr>
          <p:spPr bwMode="auto">
            <a:xfrm>
              <a:off x="2592" y="2880"/>
              <a:ext cx="240" cy="384"/>
            </a:xfrm>
            <a:prstGeom prst="rect">
              <a:avLst/>
            </a:prstGeom>
            <a:noFill/>
            <a:ln w="57150">
              <a:solidFill>
                <a:srgbClr val="FF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3" name="Rectangle 30"/>
            <p:cNvSpPr>
              <a:spLocks noChangeArrowheads="1"/>
            </p:cNvSpPr>
            <p:nvPr/>
          </p:nvSpPr>
          <p:spPr bwMode="auto">
            <a:xfrm rot="-5400000">
              <a:off x="432" y="3264"/>
              <a:ext cx="336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>
                  <a:solidFill>
                    <a:srgbClr val="FF3300"/>
                  </a:solidFill>
                </a:rPr>
                <a:t>b</a:t>
              </a:r>
            </a:p>
          </p:txBody>
        </p:sp>
      </p:grpSp>
      <p:sp>
        <p:nvSpPr>
          <p:cNvPr id="75808" name="Line 32"/>
          <p:cNvSpPr>
            <a:spLocks noChangeShapeType="1"/>
          </p:cNvSpPr>
          <p:nvPr/>
        </p:nvSpPr>
        <p:spPr bwMode="auto">
          <a:xfrm>
            <a:off x="4304670" y="2692400"/>
            <a:ext cx="0" cy="4318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809" name="Line 33"/>
          <p:cNvSpPr>
            <a:spLocks noChangeShapeType="1"/>
          </p:cNvSpPr>
          <p:nvPr/>
        </p:nvSpPr>
        <p:spPr bwMode="auto">
          <a:xfrm>
            <a:off x="7447920" y="2778125"/>
            <a:ext cx="0" cy="4318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811" name="Rectangle 35"/>
          <p:cNvSpPr>
            <a:spLocks noChangeArrowheads="1"/>
          </p:cNvSpPr>
          <p:nvPr/>
        </p:nvSpPr>
        <p:spPr bwMode="auto">
          <a:xfrm>
            <a:off x="666750" y="1931035"/>
            <a:ext cx="17068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800" b="1" i="0" dirty="0"/>
              <a:t>公差带</a:t>
            </a:r>
            <a:r>
              <a:rPr lang="zh-CN" altLang="en-US" sz="2800" b="1" i="0" dirty="0" smtClean="0"/>
              <a:t>图</a:t>
            </a:r>
            <a:endParaRPr lang="zh-CN" altLang="en-US" sz="2800" b="1" i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5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5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5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5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5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"/>
                                        <p:tgtEl>
                                          <p:spTgt spid="75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5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5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58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58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58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94" grpId="0" autoUpdateAnimBg="0"/>
      <p:bldP spid="75795" grpId="0" autoUpdateAnimBg="0"/>
      <p:bldP spid="75796" grpId="0" autoUpdateAnimBg="0"/>
      <p:bldP spid="75797" grpId="0" autoUpdateAnimBg="0"/>
      <p:bldP spid="75798" grpId="0" autoUpdateAnimBg="0"/>
      <p:bldP spid="75808" grpId="0" animBg="1"/>
      <p:bldP spid="75809" grpId="0" animBg="1"/>
      <p:bldP spid="75811" grpId="0" bldLvl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7E5C48-0AFE-45E4-A479-76278F6A9AD4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8</a:t>
            </a:fld>
            <a:endParaRPr kumimoji="0" lang="en-US" altLang="zh-CN" sz="2000" i="0" dirty="0" smtClean="0">
              <a:solidFill>
                <a:srgbClr val="0000FF"/>
              </a:solidFill>
            </a:endParaRPr>
          </a:p>
        </p:txBody>
      </p:sp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423863" y="343716"/>
            <a:ext cx="7715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⑤ 配合种类及其</a:t>
            </a:r>
            <a:r>
              <a:rPr lang="zh-CN" altLang="en-US" sz="2800" b="1" i="0" dirty="0" smtClean="0"/>
              <a:t>应用</a:t>
            </a:r>
            <a:endParaRPr lang="zh-CN" altLang="en-US" sz="2800" b="1" i="0" dirty="0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638550" y="1019991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松联结</a:t>
            </a:r>
          </a:p>
        </p:txBody>
      </p: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8520113" y="1034887"/>
            <a:ext cx="2381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正常联结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3638550" y="1996303"/>
            <a:ext cx="2857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紧密联接</a:t>
            </a:r>
          </a:p>
        </p:txBody>
      </p:sp>
      <p:grpSp>
        <p:nvGrpSpPr>
          <p:cNvPr id="18452" name="Group 20"/>
          <p:cNvGrpSpPr/>
          <p:nvPr/>
        </p:nvGrpSpPr>
        <p:grpSpPr bwMode="auto">
          <a:xfrm>
            <a:off x="804863" y="1781991"/>
            <a:ext cx="2476500" cy="936625"/>
            <a:chOff x="528" y="912"/>
            <a:chExt cx="1248" cy="531"/>
          </a:xfrm>
        </p:grpSpPr>
        <p:graphicFrame>
          <p:nvGraphicFramePr>
            <p:cNvPr id="10258" name="Object 11"/>
            <p:cNvGraphicFramePr>
              <a:graphicFrameLocks noChangeAspect="1"/>
            </p:cNvGraphicFramePr>
            <p:nvPr/>
          </p:nvGraphicFramePr>
          <p:xfrm>
            <a:off x="960" y="912"/>
            <a:ext cx="816" cy="5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1" r:id="rId3" imgW="14325600" imgH="9448800" progId="Equation.DSMT4">
                    <p:embed/>
                  </p:oleObj>
                </mc:Choice>
                <mc:Fallback>
                  <p:oleObj r:id="rId3" imgW="14325600" imgH="9448800" progId="Equation.DSMT4">
                    <p:embed/>
                    <p:pic>
                      <p:nvPicPr>
                        <p:cNvPr id="0" name="Picture 1" descr="image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912"/>
                          <a:ext cx="816" cy="5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9" name="Rectangle 13"/>
            <p:cNvSpPr>
              <a:spLocks noChangeArrowheads="1"/>
            </p:cNvSpPr>
            <p:nvPr/>
          </p:nvSpPr>
          <p:spPr bwMode="auto">
            <a:xfrm>
              <a:off x="528" y="1033"/>
              <a:ext cx="33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zh-CN" altLang="en-US" sz="2400" b="1" i="0"/>
                <a:t>③</a:t>
              </a:r>
              <a:r>
                <a:rPr lang="zh-CN" altLang="en-US" sz="1100" b="1" i="0"/>
                <a:t> </a:t>
              </a:r>
              <a:endParaRPr lang="zh-CN" altLang="en-US" sz="2400" b="1" i="0"/>
            </a:p>
          </p:txBody>
        </p:sp>
      </p:grpSp>
      <p:grpSp>
        <p:nvGrpSpPr>
          <p:cNvPr id="18451" name="Group 19"/>
          <p:cNvGrpSpPr/>
          <p:nvPr/>
        </p:nvGrpSpPr>
        <p:grpSpPr bwMode="auto">
          <a:xfrm>
            <a:off x="804863" y="851716"/>
            <a:ext cx="2571750" cy="930275"/>
            <a:chOff x="528" y="384"/>
            <a:chExt cx="1284" cy="460"/>
          </a:xfrm>
        </p:grpSpPr>
        <p:graphicFrame>
          <p:nvGraphicFramePr>
            <p:cNvPr id="10256" name="Object 7"/>
            <p:cNvGraphicFramePr>
              <a:graphicFrameLocks noChangeAspect="1"/>
            </p:cNvGraphicFramePr>
            <p:nvPr/>
          </p:nvGraphicFramePr>
          <p:xfrm>
            <a:off x="960" y="384"/>
            <a:ext cx="852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2" r:id="rId5" imgW="17373600" imgH="9448800" progId="Equation.DSMT4">
                    <p:embed/>
                  </p:oleObj>
                </mc:Choice>
                <mc:Fallback>
                  <p:oleObj r:id="rId5" imgW="17373600" imgH="9448800" progId="Equation.DSMT4">
                    <p:embed/>
                    <p:pic>
                      <p:nvPicPr>
                        <p:cNvPr id="0" name="Picture 2" descr="image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84"/>
                          <a:ext cx="852" cy="4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7" name="Text Box 14"/>
            <p:cNvSpPr txBox="1">
              <a:spLocks noChangeArrowheads="1"/>
            </p:cNvSpPr>
            <p:nvPr/>
          </p:nvSpPr>
          <p:spPr bwMode="auto">
            <a:xfrm>
              <a:off x="528" y="470"/>
              <a:ext cx="322" cy="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i="0"/>
                <a:t>①</a:t>
              </a:r>
            </a:p>
          </p:txBody>
        </p:sp>
      </p:grpSp>
      <p:grpSp>
        <p:nvGrpSpPr>
          <p:cNvPr id="18453" name="Group 21"/>
          <p:cNvGrpSpPr/>
          <p:nvPr/>
        </p:nvGrpSpPr>
        <p:grpSpPr bwMode="auto">
          <a:xfrm>
            <a:off x="5948363" y="924741"/>
            <a:ext cx="2381250" cy="868362"/>
            <a:chOff x="3168" y="288"/>
            <a:chExt cx="1200" cy="492"/>
          </a:xfrm>
        </p:grpSpPr>
        <p:graphicFrame>
          <p:nvGraphicFramePr>
            <p:cNvPr id="10254" name="Object 9"/>
            <p:cNvGraphicFramePr>
              <a:graphicFrameLocks noChangeAspect="1"/>
            </p:cNvGraphicFramePr>
            <p:nvPr/>
          </p:nvGraphicFramePr>
          <p:xfrm>
            <a:off x="3504" y="288"/>
            <a:ext cx="864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3" r:id="rId7" imgW="16459200" imgH="9448800" progId="Equation.DSMT4">
                    <p:embed/>
                  </p:oleObj>
                </mc:Choice>
                <mc:Fallback>
                  <p:oleObj r:id="rId7" imgW="16459200" imgH="9448800" progId="Equation.DSMT4">
                    <p:embed/>
                    <p:pic>
                      <p:nvPicPr>
                        <p:cNvPr id="0" name="Picture 3" descr="image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288"/>
                          <a:ext cx="864" cy="4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5" name="Text Box 15"/>
            <p:cNvSpPr txBox="1">
              <a:spLocks noChangeArrowheads="1"/>
            </p:cNvSpPr>
            <p:nvPr/>
          </p:nvSpPr>
          <p:spPr bwMode="auto">
            <a:xfrm>
              <a:off x="3168" y="390"/>
              <a:ext cx="336" cy="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i="0"/>
                <a:t>②</a:t>
              </a:r>
            </a:p>
          </p:txBody>
        </p:sp>
      </p:grpSp>
      <p:pic>
        <p:nvPicPr>
          <p:cNvPr id="18454" name="Picture 2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2820473"/>
            <a:ext cx="9810750" cy="393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55" name="Line 23"/>
          <p:cNvSpPr>
            <a:spLocks noChangeShapeType="1"/>
          </p:cNvSpPr>
          <p:nvPr/>
        </p:nvSpPr>
        <p:spPr bwMode="auto">
          <a:xfrm>
            <a:off x="666750" y="4995863"/>
            <a:ext cx="952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6" name="Line 24"/>
          <p:cNvSpPr>
            <a:spLocks noChangeShapeType="1"/>
          </p:cNvSpPr>
          <p:nvPr/>
        </p:nvSpPr>
        <p:spPr bwMode="auto">
          <a:xfrm>
            <a:off x="762000" y="5757863"/>
            <a:ext cx="952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7" name="Line 25"/>
          <p:cNvSpPr>
            <a:spLocks noChangeShapeType="1"/>
          </p:cNvSpPr>
          <p:nvPr/>
        </p:nvSpPr>
        <p:spPr bwMode="auto">
          <a:xfrm>
            <a:off x="857250" y="6688138"/>
            <a:ext cx="952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8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build="p" autoUpdateAnimBg="0"/>
      <p:bldP spid="18440" grpId="0" autoUpdateAnimBg="0"/>
      <p:bldP spid="18442" grpId="0" autoUpdateAnimBg="0"/>
      <p:bldP spid="18444" grpId="0" autoUpdateAnimBg="0"/>
      <p:bldP spid="18455" grpId="0" animBg="1"/>
      <p:bldP spid="18456" grpId="0" animBg="1"/>
      <p:bldP spid="184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1A22DA-B63B-4421-A992-5CFD2F3106FA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9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8200" name="Text Box 8"/>
          <p:cNvSpPr txBox="1">
            <a:spLocks noChangeArrowheads="1"/>
          </p:cNvSpPr>
          <p:nvPr/>
        </p:nvSpPr>
        <p:spPr bwMode="auto">
          <a:xfrm>
            <a:off x="381000" y="169863"/>
            <a:ext cx="467395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（2）</a:t>
            </a:r>
            <a:r>
              <a:rPr lang="zh-CN" altLang="en-US" sz="2800" b="1" i="0" dirty="0">
                <a:latin typeface="宋体" panose="02010600030101010101" pitchFamily="2" charset="-122"/>
              </a:rPr>
              <a:t>非配合尺寸的</a:t>
            </a:r>
            <a:r>
              <a:rPr lang="zh-CN" altLang="en-US" sz="2800" b="1" i="0" dirty="0" smtClean="0">
                <a:latin typeface="宋体" panose="02010600030101010101" pitchFamily="2" charset="-122"/>
              </a:rPr>
              <a:t>公差带</a:t>
            </a:r>
            <a:endParaRPr lang="zh-CN" altLang="en-US" sz="2800" b="1" i="0" dirty="0"/>
          </a:p>
        </p:txBody>
      </p:sp>
      <p:sp>
        <p:nvSpPr>
          <p:cNvPr id="8201" name="Text Box 9"/>
          <p:cNvSpPr txBox="1">
            <a:spLocks noChangeArrowheads="1"/>
          </p:cNvSpPr>
          <p:nvPr/>
        </p:nvSpPr>
        <p:spPr bwMode="auto">
          <a:xfrm>
            <a:off x="762000" y="7620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键：</a:t>
            </a:r>
            <a:endParaRPr lang="zh-CN" altLang="en-US" sz="2800" b="1" i="0" baseline="-30000"/>
          </a:p>
        </p:txBody>
      </p:sp>
      <p:sp>
        <p:nvSpPr>
          <p:cNvPr id="8202" name="Text Box 10"/>
          <p:cNvSpPr txBox="1">
            <a:spLocks noChangeArrowheads="1"/>
          </p:cNvSpPr>
          <p:nvPr/>
        </p:nvSpPr>
        <p:spPr bwMode="auto">
          <a:xfrm>
            <a:off x="571500" y="1354138"/>
            <a:ext cx="180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i="0"/>
              <a:t> </a:t>
            </a:r>
            <a:r>
              <a:rPr lang="zh-CN" altLang="en-US" sz="2800" b="1" i="0"/>
              <a:t>轴槽：</a:t>
            </a:r>
          </a:p>
        </p:txBody>
      </p:sp>
      <p:sp>
        <p:nvSpPr>
          <p:cNvPr id="8203" name="Text Box 11"/>
          <p:cNvSpPr txBox="1">
            <a:spLocks noChangeArrowheads="1"/>
          </p:cNvSpPr>
          <p:nvPr/>
        </p:nvSpPr>
        <p:spPr bwMode="auto">
          <a:xfrm>
            <a:off x="666750" y="1947863"/>
            <a:ext cx="180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轮槽：</a:t>
            </a:r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666750" y="2540000"/>
            <a:ext cx="51387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/>
              <a:t> </a:t>
            </a:r>
            <a:r>
              <a:rPr lang="en-US" altLang="zh-CN" sz="2800" b="1"/>
              <a:t>t</a:t>
            </a:r>
            <a:r>
              <a:rPr lang="en-US" altLang="zh-CN" sz="2800" b="1" i="0" baseline="-30000"/>
              <a:t>1</a:t>
            </a:r>
            <a:r>
              <a:rPr lang="zh-CN" altLang="en-US" sz="2800" b="1" i="0"/>
              <a:t>和</a:t>
            </a:r>
            <a:r>
              <a:rPr lang="en-US" altLang="zh-CN" sz="2800" b="1"/>
              <a:t>t</a:t>
            </a:r>
            <a:r>
              <a:rPr lang="en-US" altLang="zh-CN" sz="2800" b="1" i="0" baseline="-30000"/>
              <a:t>2</a:t>
            </a:r>
            <a:r>
              <a:rPr lang="zh-CN" altLang="en-US" sz="2800" b="1" i="0"/>
              <a:t>由表8.1查得。</a:t>
            </a:r>
          </a:p>
        </p:txBody>
      </p:sp>
      <p:sp>
        <p:nvSpPr>
          <p:cNvPr id="8213" name="Text Box 21"/>
          <p:cNvSpPr txBox="1">
            <a:spLocks noChangeArrowheads="1"/>
          </p:cNvSpPr>
          <p:nvPr/>
        </p:nvSpPr>
        <p:spPr bwMode="auto">
          <a:xfrm>
            <a:off x="2026676" y="762000"/>
            <a:ext cx="4667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>
                <a:solidFill>
                  <a:srgbClr val="FF0000"/>
                </a:solidFill>
              </a:rPr>
              <a:t>高</a:t>
            </a:r>
            <a:r>
              <a:rPr lang="en-US" altLang="zh-CN" sz="2800" b="1" i="0" dirty="0">
                <a:solidFill>
                  <a:srgbClr val="FF0000"/>
                </a:solidFill>
              </a:rPr>
              <a:t>h11</a:t>
            </a:r>
            <a:r>
              <a:rPr lang="en-US" altLang="zh-CN" sz="2800" b="1" i="0" dirty="0"/>
              <a:t>、</a:t>
            </a:r>
            <a:r>
              <a:rPr lang="zh-CN" altLang="en-US" sz="2800" b="1" i="0" dirty="0">
                <a:solidFill>
                  <a:srgbClr val="FF0000"/>
                </a:solidFill>
              </a:rPr>
              <a:t>长</a:t>
            </a:r>
            <a:r>
              <a:rPr lang="en-US" altLang="zh-CN" sz="2800" b="1" i="0" dirty="0">
                <a:solidFill>
                  <a:srgbClr val="FF0000"/>
                </a:solidFill>
              </a:rPr>
              <a:t>h14</a:t>
            </a:r>
            <a:endParaRPr lang="zh-CN" altLang="en-US" sz="2800" b="1" i="0" dirty="0">
              <a:solidFill>
                <a:srgbClr val="FF0000"/>
              </a:solidFill>
            </a:endParaRPr>
          </a:p>
        </p:txBody>
      </p:sp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1905000" y="1354138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深度：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i="0" baseline="-30000" dirty="0">
                <a:solidFill>
                  <a:srgbClr val="FF0000"/>
                </a:solidFill>
              </a:rPr>
              <a:t>1</a:t>
            </a:r>
            <a:r>
              <a:rPr lang="en-US" altLang="zh-CN" sz="2800" b="1" i="0" dirty="0"/>
              <a:t>，</a:t>
            </a:r>
            <a:r>
              <a:rPr lang="zh-CN" altLang="en-US" sz="2800" b="1" i="0" dirty="0">
                <a:solidFill>
                  <a:srgbClr val="FF0000"/>
                </a:solidFill>
              </a:rPr>
              <a:t>长</a:t>
            </a:r>
            <a:r>
              <a:rPr lang="en-US" altLang="zh-CN" sz="2800" b="1" i="0" dirty="0">
                <a:solidFill>
                  <a:srgbClr val="FF0000"/>
                </a:solidFill>
              </a:rPr>
              <a:t>H14</a:t>
            </a:r>
            <a:endParaRPr lang="zh-CN" altLang="en-US" sz="2800" b="1" i="0" dirty="0">
              <a:solidFill>
                <a:srgbClr val="FF0000"/>
              </a:solidFill>
            </a:endParaRPr>
          </a:p>
        </p:txBody>
      </p:sp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1770063" y="1947863"/>
            <a:ext cx="3143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/>
              <a:t>  </a:t>
            </a:r>
            <a:r>
              <a:rPr lang="zh-CN" altLang="en-US" sz="2800" b="1" i="0" dirty="0"/>
              <a:t>深度：</a:t>
            </a:r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r>
              <a:rPr lang="en-US" altLang="zh-CN" sz="2800" b="1" i="0" baseline="-30000" dirty="0">
                <a:solidFill>
                  <a:srgbClr val="FF0000"/>
                </a:solidFill>
              </a:rPr>
              <a:t>2</a:t>
            </a:r>
            <a:endParaRPr lang="zh-CN" altLang="en-US" sz="2800" b="1" i="0" dirty="0">
              <a:solidFill>
                <a:srgbClr val="FF0000"/>
              </a:solidFill>
            </a:endParaRPr>
          </a:p>
        </p:txBody>
      </p:sp>
      <p:sp>
        <p:nvSpPr>
          <p:cNvPr id="8216" name="Text Box 24"/>
          <p:cNvSpPr txBox="1">
            <a:spLocks noChangeArrowheads="1"/>
          </p:cNvSpPr>
          <p:nvPr/>
        </p:nvSpPr>
        <p:spPr bwMode="auto">
          <a:xfrm>
            <a:off x="538312" y="6638259"/>
            <a:ext cx="942975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800" b="1" i="0" dirty="0"/>
              <a:t> </a:t>
            </a:r>
            <a:r>
              <a:rPr lang="zh-CN" altLang="en-US" sz="2800" b="1" i="0" dirty="0" smtClean="0"/>
              <a:t>为了便于测量，在</a:t>
            </a:r>
            <a:r>
              <a:rPr lang="zh-CN" altLang="en-US" sz="2800" b="1" i="0" dirty="0"/>
              <a:t>图样上以</a:t>
            </a:r>
            <a:r>
              <a:rPr lang="zh-CN" altLang="en-US" sz="2800" b="1" i="0" dirty="0">
                <a:solidFill>
                  <a:srgbClr val="FF3300"/>
                </a:solidFill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</a:rPr>
              <a:t>d</a:t>
            </a:r>
            <a:r>
              <a:rPr lang="en-US" altLang="zh-CN" sz="2800" b="1" i="0" dirty="0">
                <a:solidFill>
                  <a:srgbClr val="FF3300"/>
                </a:solidFill>
              </a:rPr>
              <a:t>－</a:t>
            </a:r>
            <a:r>
              <a:rPr lang="en-US" altLang="zh-CN" sz="2800" b="1" dirty="0">
                <a:solidFill>
                  <a:srgbClr val="FF3300"/>
                </a:solidFill>
              </a:rPr>
              <a:t>t</a:t>
            </a:r>
            <a:r>
              <a:rPr lang="en-US" altLang="zh-CN" sz="2800" b="1" i="0" baseline="-30000" dirty="0">
                <a:solidFill>
                  <a:srgbClr val="FF3300"/>
                </a:solidFill>
              </a:rPr>
              <a:t>1</a:t>
            </a:r>
            <a:r>
              <a:rPr lang="en-US" altLang="zh-CN" sz="2800" b="1" i="0" dirty="0">
                <a:solidFill>
                  <a:srgbClr val="FF3300"/>
                </a:solidFill>
              </a:rPr>
              <a:t>）</a:t>
            </a:r>
            <a:r>
              <a:rPr lang="zh-CN" altLang="en-US" sz="2800" b="1" i="0" dirty="0"/>
              <a:t>和</a:t>
            </a:r>
            <a:r>
              <a:rPr lang="zh-CN" altLang="en-US" sz="2800" b="1" i="0" dirty="0">
                <a:solidFill>
                  <a:srgbClr val="FF3300"/>
                </a:solidFill>
              </a:rPr>
              <a:t>（</a:t>
            </a:r>
            <a:r>
              <a:rPr lang="en-US" altLang="zh-CN" sz="2800" b="1" dirty="0">
                <a:solidFill>
                  <a:srgbClr val="FF3300"/>
                </a:solidFill>
              </a:rPr>
              <a:t>d</a:t>
            </a:r>
            <a:r>
              <a:rPr lang="en-US" altLang="zh-CN" sz="2800" b="1" i="0" dirty="0">
                <a:solidFill>
                  <a:srgbClr val="FF3300"/>
                </a:solidFill>
              </a:rPr>
              <a:t>+</a:t>
            </a:r>
            <a:r>
              <a:rPr lang="en-US" altLang="zh-CN" sz="2800" b="1" dirty="0">
                <a:solidFill>
                  <a:srgbClr val="FF3300"/>
                </a:solidFill>
              </a:rPr>
              <a:t>t</a:t>
            </a:r>
            <a:r>
              <a:rPr lang="en-US" altLang="zh-CN" sz="2800" b="1" i="0" baseline="-30000" dirty="0">
                <a:solidFill>
                  <a:srgbClr val="FF3300"/>
                </a:solidFill>
              </a:rPr>
              <a:t>2</a:t>
            </a:r>
            <a:r>
              <a:rPr lang="en-US" altLang="zh-CN" sz="2800" b="1" i="0" dirty="0">
                <a:solidFill>
                  <a:srgbClr val="FF3300"/>
                </a:solidFill>
              </a:rPr>
              <a:t>）</a:t>
            </a:r>
            <a:r>
              <a:rPr lang="zh-CN" altLang="en-US" sz="2800" b="1" i="0" dirty="0"/>
              <a:t>形式标注。</a:t>
            </a:r>
          </a:p>
        </p:txBody>
      </p:sp>
      <p:pic>
        <p:nvPicPr>
          <p:cNvPr id="8224" name="Picture 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4138"/>
            <a:ext cx="3581400" cy="329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26" name="Picture 3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32" y="3379789"/>
            <a:ext cx="9810750" cy="3251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27" name="Line 35"/>
          <p:cNvSpPr>
            <a:spLocks noChangeShapeType="1"/>
          </p:cNvSpPr>
          <p:nvPr/>
        </p:nvSpPr>
        <p:spPr bwMode="auto">
          <a:xfrm>
            <a:off x="9509125" y="931863"/>
            <a:ext cx="0" cy="1946275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8" name="Line 36"/>
          <p:cNvSpPr>
            <a:spLocks noChangeShapeType="1"/>
          </p:cNvSpPr>
          <p:nvPr/>
        </p:nvSpPr>
        <p:spPr bwMode="auto">
          <a:xfrm>
            <a:off x="8991600" y="1439863"/>
            <a:ext cx="0" cy="1524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9" name="Rectangle 37"/>
          <p:cNvSpPr>
            <a:spLocks noChangeArrowheads="1"/>
          </p:cNvSpPr>
          <p:nvPr/>
        </p:nvSpPr>
        <p:spPr bwMode="auto">
          <a:xfrm>
            <a:off x="6096000" y="1016000"/>
            <a:ext cx="381000" cy="423863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0" name="Rectangle 38"/>
          <p:cNvSpPr>
            <a:spLocks noChangeArrowheads="1"/>
          </p:cNvSpPr>
          <p:nvPr/>
        </p:nvSpPr>
        <p:spPr bwMode="auto">
          <a:xfrm>
            <a:off x="8686800" y="84138"/>
            <a:ext cx="476250" cy="423862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1" name="Rectangle 39"/>
          <p:cNvSpPr>
            <a:spLocks noChangeArrowheads="1"/>
          </p:cNvSpPr>
          <p:nvPr/>
        </p:nvSpPr>
        <p:spPr bwMode="auto">
          <a:xfrm>
            <a:off x="8686800" y="1143000"/>
            <a:ext cx="571500" cy="338138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2" name="Line 40"/>
          <p:cNvSpPr>
            <a:spLocks noChangeShapeType="1"/>
          </p:cNvSpPr>
          <p:nvPr/>
        </p:nvSpPr>
        <p:spPr bwMode="auto">
          <a:xfrm>
            <a:off x="2465432" y="5164392"/>
            <a:ext cx="914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3" name="Line 41"/>
          <p:cNvSpPr>
            <a:spLocks noChangeShapeType="1"/>
          </p:cNvSpPr>
          <p:nvPr/>
        </p:nvSpPr>
        <p:spPr bwMode="auto">
          <a:xfrm>
            <a:off x="7398768" y="4630992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4" name="Line 42"/>
          <p:cNvSpPr>
            <a:spLocks noChangeShapeType="1"/>
          </p:cNvSpPr>
          <p:nvPr/>
        </p:nvSpPr>
        <p:spPr bwMode="auto">
          <a:xfrm>
            <a:off x="8558976" y="4630992"/>
            <a:ext cx="914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2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2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3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3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3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3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 build="p" autoUpdateAnimBg="0"/>
      <p:bldP spid="8201" grpId="0" autoUpdateAnimBg="0"/>
      <p:bldP spid="8202" grpId="0" autoUpdateAnimBg="0"/>
      <p:bldP spid="8203" grpId="0" autoUpdateAnimBg="0"/>
      <p:bldP spid="8204" grpId="0" autoUpdateAnimBg="0"/>
      <p:bldP spid="8213" grpId="0" autoUpdateAnimBg="0"/>
      <p:bldP spid="8214" grpId="0" autoUpdateAnimBg="0"/>
      <p:bldP spid="8215" grpId="0" autoUpdateAnimBg="0"/>
      <p:bldP spid="8216" grpId="0" autoUpdateAnimBg="0"/>
      <p:bldP spid="8227" grpId="0" animBg="1"/>
      <p:bldP spid="8228" grpId="0" animBg="1"/>
      <p:bldP spid="8229" grpId="0" animBg="1"/>
      <p:bldP spid="8230" grpId="0" animBg="1"/>
      <p:bldP spid="8231" grpId="0" animBg="1"/>
      <p:bldP spid="8232" grpId="0" animBg="1"/>
      <p:bldP spid="8233" grpId="0" animBg="1"/>
      <p:bldP spid="82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8CF6248-BAB2-42A9-94D2-033AE95ADC3B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10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55300" name="Text Box 1028"/>
          <p:cNvSpPr txBox="1">
            <a:spLocks noChangeArrowheads="1"/>
          </p:cNvSpPr>
          <p:nvPr/>
        </p:nvSpPr>
        <p:spPr bwMode="auto">
          <a:xfrm>
            <a:off x="666750" y="324399"/>
            <a:ext cx="5905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2. </a:t>
            </a:r>
            <a:r>
              <a:rPr lang="zh-CN" altLang="en-US" sz="2800" b="1" i="0" dirty="0">
                <a:latin typeface="宋体" panose="02010600030101010101" pitchFamily="2" charset="-122"/>
              </a:rPr>
              <a:t>几何公差要求</a:t>
            </a:r>
            <a:endParaRPr lang="zh-CN" altLang="en-US" sz="2800" b="1" i="0" dirty="0"/>
          </a:p>
        </p:txBody>
      </p:sp>
      <p:sp>
        <p:nvSpPr>
          <p:cNvPr id="55301" name="Text Box 1029"/>
          <p:cNvSpPr txBox="1">
            <a:spLocks noChangeArrowheads="1"/>
          </p:cNvSpPr>
          <p:nvPr/>
        </p:nvSpPr>
        <p:spPr bwMode="auto">
          <a:xfrm>
            <a:off x="190500" y="823942"/>
            <a:ext cx="1007745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400" b="1" i="0"/>
              <a:t>        </a:t>
            </a:r>
            <a:r>
              <a:rPr lang="zh-CN" altLang="en-US" sz="2800" b="1" i="0">
                <a:latin typeface="宋体" panose="02010600030101010101" pitchFamily="2" charset="-122"/>
              </a:rPr>
              <a:t>为保证键与键槽的配合要求，需规定键槽两侧面的中心平面对其轴线的</a:t>
            </a:r>
            <a:r>
              <a:rPr lang="zh-CN" altLang="en-US" sz="2800" b="1" i="0">
                <a:solidFill>
                  <a:srgbClr val="FF3300"/>
                </a:solidFill>
                <a:latin typeface="宋体" panose="02010600030101010101" pitchFamily="2" charset="-122"/>
              </a:rPr>
              <a:t>对称度</a:t>
            </a:r>
            <a:r>
              <a:rPr lang="zh-CN" altLang="en-US" sz="2800" b="1" i="0">
                <a:latin typeface="宋体" panose="02010600030101010101" pitchFamily="2" charset="-122"/>
              </a:rPr>
              <a:t>公差。</a:t>
            </a:r>
            <a:endParaRPr lang="zh-CN" altLang="en-US" sz="2800" b="1" i="0"/>
          </a:p>
        </p:txBody>
      </p:sp>
      <p:sp>
        <p:nvSpPr>
          <p:cNvPr id="55304" name="Text Box 1032"/>
          <p:cNvSpPr txBox="1">
            <a:spLocks noChangeArrowheads="1"/>
          </p:cNvSpPr>
          <p:nvPr/>
        </p:nvSpPr>
        <p:spPr bwMode="auto">
          <a:xfrm>
            <a:off x="3695700" y="325200"/>
            <a:ext cx="2876550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>
                <a:solidFill>
                  <a:srgbClr val="FF3300"/>
                </a:solidFill>
              </a:rPr>
              <a:t>对称度</a:t>
            </a:r>
          </a:p>
        </p:txBody>
      </p:sp>
      <p:sp>
        <p:nvSpPr>
          <p:cNvPr id="55307" name="Rectangle 1035"/>
          <p:cNvSpPr>
            <a:spLocks noChangeArrowheads="1"/>
          </p:cNvSpPr>
          <p:nvPr/>
        </p:nvSpPr>
        <p:spPr bwMode="auto">
          <a:xfrm>
            <a:off x="890588" y="1916142"/>
            <a:ext cx="8686800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i="0" dirty="0">
                <a:latin typeface="宋体" panose="02010600030101010101" pitchFamily="2" charset="-122"/>
              </a:rPr>
              <a:t>其公差值按</a:t>
            </a:r>
            <a:r>
              <a:rPr lang="en-US" altLang="zh-CN" sz="2800" b="1" i="0" dirty="0"/>
              <a:t>GB/T 1184－1996</a:t>
            </a:r>
            <a:r>
              <a:rPr lang="zh-CN" altLang="en-US" sz="2800" b="1" i="0" dirty="0">
                <a:latin typeface="宋体" panose="02010600030101010101" pitchFamily="2" charset="-122"/>
              </a:rPr>
              <a:t>取</a:t>
            </a:r>
            <a:r>
              <a:rPr lang="zh-CN" altLang="en-US" sz="2800" b="1" i="0" dirty="0">
                <a:solidFill>
                  <a:srgbClr val="FF3300"/>
                </a:solidFill>
              </a:rPr>
              <a:t>7～9</a:t>
            </a:r>
            <a:r>
              <a:rPr lang="zh-CN" altLang="en-US" sz="2800" b="1" i="0" dirty="0" smtClean="0">
                <a:latin typeface="宋体" panose="02010600030101010101" pitchFamily="2" charset="-122"/>
              </a:rPr>
              <a:t>级。</a:t>
            </a:r>
            <a:r>
              <a:rPr lang="zh-CN" altLang="en-US" sz="2800" b="1" i="0" dirty="0" smtClean="0"/>
              <a:t> </a:t>
            </a:r>
            <a:endParaRPr lang="zh-CN" altLang="en-US" sz="2800" b="1" i="0" dirty="0"/>
          </a:p>
        </p:txBody>
      </p:sp>
      <p:grpSp>
        <p:nvGrpSpPr>
          <p:cNvPr id="55409" name="Group 1137"/>
          <p:cNvGrpSpPr/>
          <p:nvPr/>
        </p:nvGrpSpPr>
        <p:grpSpPr bwMode="auto">
          <a:xfrm>
            <a:off x="639088" y="2901208"/>
            <a:ext cx="4876800" cy="3951288"/>
            <a:chOff x="300" y="1813"/>
            <a:chExt cx="3072" cy="2489"/>
          </a:xfrm>
        </p:grpSpPr>
        <p:sp>
          <p:nvSpPr>
            <p:cNvPr id="12330" name="Oval 1038"/>
            <p:cNvSpPr>
              <a:spLocks noChangeArrowheads="1"/>
            </p:cNvSpPr>
            <p:nvPr/>
          </p:nvSpPr>
          <p:spPr bwMode="auto">
            <a:xfrm>
              <a:off x="468" y="2187"/>
              <a:ext cx="1788" cy="1599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1" name="Line 1039"/>
            <p:cNvSpPr>
              <a:spLocks noChangeShapeType="1"/>
            </p:cNvSpPr>
            <p:nvPr/>
          </p:nvSpPr>
          <p:spPr bwMode="auto">
            <a:xfrm>
              <a:off x="300" y="2987"/>
              <a:ext cx="21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1040"/>
            <p:cNvSpPr>
              <a:spLocks noChangeShapeType="1"/>
            </p:cNvSpPr>
            <p:nvPr/>
          </p:nvSpPr>
          <p:spPr bwMode="auto">
            <a:xfrm>
              <a:off x="1366" y="2027"/>
              <a:ext cx="0" cy="18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Line 1041"/>
            <p:cNvSpPr>
              <a:spLocks noChangeShapeType="1"/>
            </p:cNvSpPr>
            <p:nvPr/>
          </p:nvSpPr>
          <p:spPr bwMode="auto">
            <a:xfrm>
              <a:off x="1105" y="2240"/>
              <a:ext cx="0" cy="21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Line 1042"/>
            <p:cNvSpPr>
              <a:spLocks noChangeShapeType="1"/>
            </p:cNvSpPr>
            <p:nvPr/>
          </p:nvSpPr>
          <p:spPr bwMode="auto">
            <a:xfrm>
              <a:off x="1646" y="2187"/>
              <a:ext cx="0" cy="26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Line 1043"/>
            <p:cNvSpPr>
              <a:spLocks noChangeShapeType="1"/>
            </p:cNvSpPr>
            <p:nvPr/>
          </p:nvSpPr>
          <p:spPr bwMode="auto">
            <a:xfrm>
              <a:off x="1085" y="2453"/>
              <a:ext cx="561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6" name="Rectangle 1045"/>
            <p:cNvSpPr>
              <a:spLocks noChangeArrowheads="1"/>
            </p:cNvSpPr>
            <p:nvPr/>
          </p:nvSpPr>
          <p:spPr bwMode="auto">
            <a:xfrm>
              <a:off x="1141" y="2133"/>
              <a:ext cx="505" cy="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37" name="Line 1046"/>
            <p:cNvSpPr>
              <a:spLocks noChangeShapeType="1"/>
            </p:cNvSpPr>
            <p:nvPr/>
          </p:nvSpPr>
          <p:spPr bwMode="auto">
            <a:xfrm>
              <a:off x="1125" y="1920"/>
              <a:ext cx="0" cy="3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8" name="Line 1047"/>
            <p:cNvSpPr>
              <a:spLocks noChangeShapeType="1"/>
            </p:cNvSpPr>
            <p:nvPr/>
          </p:nvSpPr>
          <p:spPr bwMode="auto">
            <a:xfrm>
              <a:off x="1646" y="1920"/>
              <a:ext cx="0" cy="3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9" name="Line 1048"/>
            <p:cNvSpPr>
              <a:spLocks noChangeShapeType="1"/>
            </p:cNvSpPr>
            <p:nvPr/>
          </p:nvSpPr>
          <p:spPr bwMode="auto">
            <a:xfrm>
              <a:off x="657" y="1973"/>
              <a:ext cx="44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0" name="Line 1051"/>
            <p:cNvSpPr>
              <a:spLocks noChangeShapeType="1"/>
            </p:cNvSpPr>
            <p:nvPr/>
          </p:nvSpPr>
          <p:spPr bwMode="auto">
            <a:xfrm flipH="1">
              <a:off x="468" y="2400"/>
              <a:ext cx="673" cy="4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1" name="Line 1052"/>
            <p:cNvSpPr>
              <a:spLocks noChangeShapeType="1"/>
            </p:cNvSpPr>
            <p:nvPr/>
          </p:nvSpPr>
          <p:spPr bwMode="auto">
            <a:xfrm flipH="1">
              <a:off x="468" y="2293"/>
              <a:ext cx="1346" cy="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2" name="Line 1053"/>
            <p:cNvSpPr>
              <a:spLocks noChangeShapeType="1"/>
            </p:cNvSpPr>
            <p:nvPr/>
          </p:nvSpPr>
          <p:spPr bwMode="auto">
            <a:xfrm flipV="1">
              <a:off x="580" y="2453"/>
              <a:ext cx="1459" cy="8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3" name="Line 1054"/>
            <p:cNvSpPr>
              <a:spLocks noChangeShapeType="1"/>
            </p:cNvSpPr>
            <p:nvPr/>
          </p:nvSpPr>
          <p:spPr bwMode="auto">
            <a:xfrm flipV="1">
              <a:off x="693" y="2667"/>
              <a:ext cx="1458" cy="8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4" name="Line 1055"/>
            <p:cNvSpPr>
              <a:spLocks noChangeShapeType="1"/>
            </p:cNvSpPr>
            <p:nvPr/>
          </p:nvSpPr>
          <p:spPr bwMode="auto">
            <a:xfrm flipV="1">
              <a:off x="917" y="2880"/>
              <a:ext cx="1346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5" name="Line 1056"/>
            <p:cNvSpPr>
              <a:spLocks noChangeShapeType="1"/>
            </p:cNvSpPr>
            <p:nvPr/>
          </p:nvSpPr>
          <p:spPr bwMode="auto">
            <a:xfrm flipV="1">
              <a:off x="1197" y="3093"/>
              <a:ext cx="1066" cy="6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6" name="Line 1057"/>
            <p:cNvSpPr>
              <a:spLocks noChangeShapeType="1"/>
            </p:cNvSpPr>
            <p:nvPr/>
          </p:nvSpPr>
          <p:spPr bwMode="auto">
            <a:xfrm>
              <a:off x="1122" y="3786"/>
              <a:ext cx="17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7" name="Line 1058"/>
            <p:cNvSpPr>
              <a:spLocks noChangeShapeType="1"/>
            </p:cNvSpPr>
            <p:nvPr/>
          </p:nvSpPr>
          <p:spPr bwMode="auto">
            <a:xfrm>
              <a:off x="1085" y="2453"/>
              <a:ext cx="17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Line 1059"/>
            <p:cNvSpPr>
              <a:spLocks noChangeShapeType="1"/>
            </p:cNvSpPr>
            <p:nvPr/>
          </p:nvSpPr>
          <p:spPr bwMode="auto">
            <a:xfrm>
              <a:off x="2768" y="2453"/>
              <a:ext cx="0" cy="13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9" name="Line 1060"/>
            <p:cNvSpPr>
              <a:spLocks noChangeShapeType="1"/>
            </p:cNvSpPr>
            <p:nvPr/>
          </p:nvSpPr>
          <p:spPr bwMode="auto">
            <a:xfrm>
              <a:off x="449" y="2987"/>
              <a:ext cx="0" cy="1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Line 1061"/>
            <p:cNvSpPr>
              <a:spLocks noChangeShapeType="1"/>
            </p:cNvSpPr>
            <p:nvPr/>
          </p:nvSpPr>
          <p:spPr bwMode="auto">
            <a:xfrm>
              <a:off x="2269" y="2987"/>
              <a:ext cx="0" cy="1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1" name="Line 1062"/>
            <p:cNvSpPr>
              <a:spLocks noChangeShapeType="1"/>
            </p:cNvSpPr>
            <p:nvPr/>
          </p:nvSpPr>
          <p:spPr bwMode="auto">
            <a:xfrm>
              <a:off x="468" y="4106"/>
              <a:ext cx="179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352" name="Group 1136"/>
            <p:cNvGrpSpPr/>
            <p:nvPr/>
          </p:nvGrpSpPr>
          <p:grpSpPr bwMode="auto">
            <a:xfrm>
              <a:off x="1646" y="1813"/>
              <a:ext cx="1726" cy="320"/>
              <a:chOff x="1646" y="1813"/>
              <a:chExt cx="1726" cy="320"/>
            </a:xfrm>
          </p:grpSpPr>
          <p:sp>
            <p:nvSpPr>
              <p:cNvPr id="12359" name="Line 1049"/>
              <p:cNvSpPr>
                <a:spLocks noChangeShapeType="1"/>
              </p:cNvSpPr>
              <p:nvPr/>
            </p:nvSpPr>
            <p:spPr bwMode="auto">
              <a:xfrm>
                <a:off x="1646" y="1973"/>
                <a:ext cx="44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360" name="Group 1081"/>
              <p:cNvGrpSpPr/>
              <p:nvPr/>
            </p:nvGrpSpPr>
            <p:grpSpPr bwMode="auto">
              <a:xfrm>
                <a:off x="2112" y="1813"/>
                <a:ext cx="1260" cy="320"/>
                <a:chOff x="2016" y="1632"/>
                <a:chExt cx="1008" cy="288"/>
              </a:xfrm>
            </p:grpSpPr>
            <p:sp>
              <p:nvSpPr>
                <p:cNvPr id="12361" name="Rectangle 1074"/>
                <p:cNvSpPr>
                  <a:spLocks noChangeArrowheads="1"/>
                </p:cNvSpPr>
                <p:nvPr/>
              </p:nvSpPr>
              <p:spPr bwMode="auto">
                <a:xfrm>
                  <a:off x="2016" y="1632"/>
                  <a:ext cx="1008" cy="288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zh-CN"/>
                    <a:t>             A</a:t>
                  </a:r>
                </a:p>
              </p:txBody>
            </p:sp>
            <p:sp>
              <p:nvSpPr>
                <p:cNvPr id="12362" name="Line 1075"/>
                <p:cNvSpPr>
                  <a:spLocks noChangeShapeType="1"/>
                </p:cNvSpPr>
                <p:nvPr/>
              </p:nvSpPr>
              <p:spPr bwMode="auto">
                <a:xfrm>
                  <a:off x="2352" y="1632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63" name="Line 1076"/>
                <p:cNvSpPr>
                  <a:spLocks noChangeShapeType="1"/>
                </p:cNvSpPr>
                <p:nvPr/>
              </p:nvSpPr>
              <p:spPr bwMode="auto">
                <a:xfrm>
                  <a:off x="2736" y="1632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2364" name="Group 1080"/>
                <p:cNvGrpSpPr/>
                <p:nvPr/>
              </p:nvGrpSpPr>
              <p:grpSpPr bwMode="auto">
                <a:xfrm>
                  <a:off x="2064" y="1728"/>
                  <a:ext cx="240" cy="96"/>
                  <a:chOff x="4608" y="1536"/>
                  <a:chExt cx="240" cy="96"/>
                </a:xfrm>
              </p:grpSpPr>
              <p:sp>
                <p:nvSpPr>
                  <p:cNvPr id="12365" name="Line 1077"/>
                  <p:cNvSpPr>
                    <a:spLocks noChangeShapeType="1"/>
                  </p:cNvSpPr>
                  <p:nvPr/>
                </p:nvSpPr>
                <p:spPr bwMode="auto">
                  <a:xfrm>
                    <a:off x="4656" y="1536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66" name="Line 1078"/>
                  <p:cNvSpPr>
                    <a:spLocks noChangeShapeType="1"/>
                  </p:cNvSpPr>
                  <p:nvPr/>
                </p:nvSpPr>
                <p:spPr bwMode="auto">
                  <a:xfrm>
                    <a:off x="4656" y="1632"/>
                    <a:ext cx="9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67" name="Line 1079"/>
                  <p:cNvSpPr>
                    <a:spLocks noChangeShapeType="1"/>
                  </p:cNvSpPr>
                  <p:nvPr/>
                </p:nvSpPr>
                <p:spPr bwMode="auto">
                  <a:xfrm>
                    <a:off x="4608" y="1584"/>
                    <a:ext cx="24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2353" name="Group 1123"/>
            <p:cNvGrpSpPr/>
            <p:nvPr/>
          </p:nvGrpSpPr>
          <p:grpSpPr bwMode="auto">
            <a:xfrm>
              <a:off x="2285" y="3939"/>
              <a:ext cx="784" cy="336"/>
              <a:chOff x="5885" y="675"/>
              <a:chExt cx="784" cy="336"/>
            </a:xfrm>
          </p:grpSpPr>
          <p:grpSp>
            <p:nvGrpSpPr>
              <p:cNvPr id="12355" name="Group 1124"/>
              <p:cNvGrpSpPr/>
              <p:nvPr/>
            </p:nvGrpSpPr>
            <p:grpSpPr bwMode="auto">
              <a:xfrm>
                <a:off x="5885" y="675"/>
                <a:ext cx="495" cy="336"/>
                <a:chOff x="5885" y="675"/>
                <a:chExt cx="495" cy="336"/>
              </a:xfrm>
            </p:grpSpPr>
            <p:sp>
              <p:nvSpPr>
                <p:cNvPr id="12357" name="AutoShape 1125"/>
                <p:cNvSpPr>
                  <a:spLocks noChangeArrowheads="1"/>
                </p:cNvSpPr>
                <p:nvPr/>
              </p:nvSpPr>
              <p:spPr bwMode="auto">
                <a:xfrm rot="16200000" flipV="1">
                  <a:off x="5863" y="697"/>
                  <a:ext cx="336" cy="2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58" name="Line 1126"/>
                <p:cNvSpPr>
                  <a:spLocks noChangeShapeType="1"/>
                </p:cNvSpPr>
                <p:nvPr/>
              </p:nvSpPr>
              <p:spPr bwMode="auto">
                <a:xfrm rot="5400000">
                  <a:off x="6284" y="753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56" name="Rectangle 1127"/>
              <p:cNvSpPr>
                <a:spLocks noChangeArrowheads="1"/>
              </p:cNvSpPr>
              <p:nvPr/>
            </p:nvSpPr>
            <p:spPr bwMode="auto">
              <a:xfrm>
                <a:off x="6381" y="708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dirty="0"/>
                  <a:t>A</a:t>
                </a:r>
              </a:p>
            </p:txBody>
          </p:sp>
        </p:grpSp>
      </p:grpSp>
      <p:grpSp>
        <p:nvGrpSpPr>
          <p:cNvPr id="55410" name="Group 1138"/>
          <p:cNvGrpSpPr/>
          <p:nvPr/>
        </p:nvGrpSpPr>
        <p:grpSpPr bwMode="auto">
          <a:xfrm>
            <a:off x="5761696" y="2654329"/>
            <a:ext cx="4781550" cy="4470402"/>
            <a:chOff x="3480" y="1653"/>
            <a:chExt cx="3012" cy="2816"/>
          </a:xfrm>
        </p:grpSpPr>
        <p:grpSp>
          <p:nvGrpSpPr>
            <p:cNvPr id="12297" name="Group 1082"/>
            <p:cNvGrpSpPr/>
            <p:nvPr/>
          </p:nvGrpSpPr>
          <p:grpSpPr bwMode="auto">
            <a:xfrm>
              <a:off x="5232" y="1653"/>
              <a:ext cx="1260" cy="320"/>
              <a:chOff x="2016" y="1632"/>
              <a:chExt cx="1008" cy="288"/>
            </a:xfrm>
          </p:grpSpPr>
          <p:sp>
            <p:nvSpPr>
              <p:cNvPr id="12323" name="Rectangle 1083"/>
              <p:cNvSpPr>
                <a:spLocks noChangeArrowheads="1"/>
              </p:cNvSpPr>
              <p:nvPr/>
            </p:nvSpPr>
            <p:spPr bwMode="auto">
              <a:xfrm>
                <a:off x="2016" y="1632"/>
                <a:ext cx="1008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              B</a:t>
                </a:r>
              </a:p>
            </p:txBody>
          </p:sp>
          <p:sp>
            <p:nvSpPr>
              <p:cNvPr id="12324" name="Line 1084"/>
              <p:cNvSpPr>
                <a:spLocks noChangeShapeType="1"/>
              </p:cNvSpPr>
              <p:nvPr/>
            </p:nvSpPr>
            <p:spPr bwMode="auto">
              <a:xfrm>
                <a:off x="2352" y="163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25" name="Line 1085"/>
              <p:cNvSpPr>
                <a:spLocks noChangeShapeType="1"/>
              </p:cNvSpPr>
              <p:nvPr/>
            </p:nvSpPr>
            <p:spPr bwMode="auto">
              <a:xfrm>
                <a:off x="2736" y="1632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2326" name="Group 1086"/>
              <p:cNvGrpSpPr/>
              <p:nvPr/>
            </p:nvGrpSpPr>
            <p:grpSpPr bwMode="auto">
              <a:xfrm>
                <a:off x="2064" y="1728"/>
                <a:ext cx="240" cy="96"/>
                <a:chOff x="4608" y="1536"/>
                <a:chExt cx="240" cy="96"/>
              </a:xfrm>
            </p:grpSpPr>
            <p:sp>
              <p:nvSpPr>
                <p:cNvPr id="12327" name="Line 1087"/>
                <p:cNvSpPr>
                  <a:spLocks noChangeShapeType="1"/>
                </p:cNvSpPr>
                <p:nvPr/>
              </p:nvSpPr>
              <p:spPr bwMode="auto">
                <a:xfrm>
                  <a:off x="4656" y="1536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8" name="Line 1088"/>
                <p:cNvSpPr>
                  <a:spLocks noChangeShapeType="1"/>
                </p:cNvSpPr>
                <p:nvPr/>
              </p:nvSpPr>
              <p:spPr bwMode="auto">
                <a:xfrm>
                  <a:off x="4656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9" name="Line 1089"/>
                <p:cNvSpPr>
                  <a:spLocks noChangeShapeType="1"/>
                </p:cNvSpPr>
                <p:nvPr/>
              </p:nvSpPr>
              <p:spPr bwMode="auto">
                <a:xfrm>
                  <a:off x="4608" y="158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2298" name="Group 1112"/>
            <p:cNvGrpSpPr/>
            <p:nvPr/>
          </p:nvGrpSpPr>
          <p:grpSpPr bwMode="auto">
            <a:xfrm>
              <a:off x="3480" y="1707"/>
              <a:ext cx="2472" cy="2762"/>
              <a:chOff x="2784" y="1536"/>
              <a:chExt cx="2208" cy="2488"/>
            </a:xfrm>
          </p:grpSpPr>
          <p:grpSp>
            <p:nvGrpSpPr>
              <p:cNvPr id="12305" name="Group 1073"/>
              <p:cNvGrpSpPr/>
              <p:nvPr/>
            </p:nvGrpSpPr>
            <p:grpSpPr bwMode="auto">
              <a:xfrm>
                <a:off x="2784" y="1776"/>
                <a:ext cx="1872" cy="1920"/>
                <a:chOff x="3168" y="1776"/>
                <a:chExt cx="1872" cy="1920"/>
              </a:xfrm>
            </p:grpSpPr>
            <p:sp>
              <p:nvSpPr>
                <p:cNvPr id="12316" name="Oval 1063"/>
                <p:cNvSpPr>
                  <a:spLocks noChangeArrowheads="1"/>
                </p:cNvSpPr>
                <p:nvPr/>
              </p:nvSpPr>
              <p:spPr bwMode="auto">
                <a:xfrm>
                  <a:off x="3337" y="2064"/>
                  <a:ext cx="1536" cy="1440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  <a:rou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17" name="Line 1065"/>
                <p:cNvSpPr>
                  <a:spLocks noChangeShapeType="1"/>
                </p:cNvSpPr>
                <p:nvPr/>
              </p:nvSpPr>
              <p:spPr bwMode="auto">
                <a:xfrm>
                  <a:off x="3168" y="2784"/>
                  <a:ext cx="187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lgDash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18" name="Line 1068"/>
                <p:cNvSpPr>
                  <a:spLocks noChangeShapeType="1"/>
                </p:cNvSpPr>
                <p:nvPr/>
              </p:nvSpPr>
              <p:spPr bwMode="auto">
                <a:xfrm>
                  <a:off x="3858" y="1920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19" name="Line 1069"/>
                <p:cNvSpPr>
                  <a:spLocks noChangeShapeType="1"/>
                </p:cNvSpPr>
                <p:nvPr/>
              </p:nvSpPr>
              <p:spPr bwMode="auto">
                <a:xfrm>
                  <a:off x="4368" y="1920"/>
                  <a:ext cx="0" cy="192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0" name="Line 1070"/>
                <p:cNvSpPr>
                  <a:spLocks noChangeShapeType="1"/>
                </p:cNvSpPr>
                <p:nvPr/>
              </p:nvSpPr>
              <p:spPr bwMode="auto">
                <a:xfrm>
                  <a:off x="3847" y="1920"/>
                  <a:ext cx="528" cy="0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21" name="Rectangle 1071"/>
                <p:cNvSpPr>
                  <a:spLocks noChangeArrowheads="1"/>
                </p:cNvSpPr>
                <p:nvPr/>
              </p:nvSpPr>
              <p:spPr bwMode="auto">
                <a:xfrm>
                  <a:off x="3888" y="2016"/>
                  <a:ext cx="480" cy="1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22" name="Line 1072"/>
                <p:cNvSpPr>
                  <a:spLocks noChangeShapeType="1"/>
                </p:cNvSpPr>
                <p:nvPr/>
              </p:nvSpPr>
              <p:spPr bwMode="auto">
                <a:xfrm>
                  <a:off x="4116" y="1776"/>
                  <a:ext cx="0" cy="192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prstDash val="lgDashDot"/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06" name="Line 1096"/>
              <p:cNvSpPr>
                <a:spLocks noChangeShapeType="1"/>
              </p:cNvSpPr>
              <p:nvPr/>
            </p:nvSpPr>
            <p:spPr bwMode="auto">
              <a:xfrm>
                <a:off x="3744" y="1920"/>
                <a:ext cx="12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7" name="Line 1097"/>
              <p:cNvSpPr>
                <a:spLocks noChangeShapeType="1"/>
              </p:cNvSpPr>
              <p:nvPr/>
            </p:nvSpPr>
            <p:spPr bwMode="auto">
              <a:xfrm>
                <a:off x="3648" y="3504"/>
                <a:ext cx="13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8" name="Line 1098"/>
              <p:cNvSpPr>
                <a:spLocks noChangeShapeType="1"/>
              </p:cNvSpPr>
              <p:nvPr/>
            </p:nvSpPr>
            <p:spPr bwMode="auto">
              <a:xfrm>
                <a:off x="4848" y="1920"/>
                <a:ext cx="0" cy="15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09" name="Line 1099"/>
              <p:cNvSpPr>
                <a:spLocks noChangeShapeType="1"/>
              </p:cNvSpPr>
              <p:nvPr/>
            </p:nvSpPr>
            <p:spPr bwMode="auto">
              <a:xfrm>
                <a:off x="3456" y="1536"/>
                <a:ext cx="0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0" name="Line 1100"/>
              <p:cNvSpPr>
                <a:spLocks noChangeShapeType="1"/>
              </p:cNvSpPr>
              <p:nvPr/>
            </p:nvSpPr>
            <p:spPr bwMode="auto">
              <a:xfrm>
                <a:off x="3984" y="1536"/>
                <a:ext cx="0" cy="5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1" name="Line 1101"/>
              <p:cNvSpPr>
                <a:spLocks noChangeShapeType="1"/>
              </p:cNvSpPr>
              <p:nvPr/>
            </p:nvSpPr>
            <p:spPr bwMode="auto">
              <a:xfrm>
                <a:off x="3456" y="1632"/>
                <a:ext cx="52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2" name="Line 1102"/>
              <p:cNvSpPr>
                <a:spLocks noChangeShapeType="1"/>
              </p:cNvSpPr>
              <p:nvPr/>
            </p:nvSpPr>
            <p:spPr bwMode="auto">
              <a:xfrm>
                <a:off x="3984" y="1632"/>
                <a:ext cx="3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3" name="Line 1104"/>
              <p:cNvSpPr>
                <a:spLocks noChangeShapeType="1"/>
              </p:cNvSpPr>
              <p:nvPr/>
            </p:nvSpPr>
            <p:spPr bwMode="auto">
              <a:xfrm>
                <a:off x="2911" y="2737"/>
                <a:ext cx="0" cy="128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4" name="Line 1105"/>
              <p:cNvSpPr>
                <a:spLocks noChangeShapeType="1"/>
              </p:cNvSpPr>
              <p:nvPr/>
            </p:nvSpPr>
            <p:spPr bwMode="auto">
              <a:xfrm>
                <a:off x="4475" y="2737"/>
                <a:ext cx="0" cy="128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15" name="Line 1106"/>
              <p:cNvSpPr>
                <a:spLocks noChangeShapeType="1"/>
              </p:cNvSpPr>
              <p:nvPr/>
            </p:nvSpPr>
            <p:spPr bwMode="auto">
              <a:xfrm>
                <a:off x="2917" y="3794"/>
                <a:ext cx="15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299" name="Group 1130"/>
            <p:cNvGrpSpPr/>
            <p:nvPr/>
          </p:nvGrpSpPr>
          <p:grpSpPr bwMode="auto">
            <a:xfrm>
              <a:off x="5376" y="4061"/>
              <a:ext cx="720" cy="336"/>
              <a:chOff x="6000" y="2285"/>
              <a:chExt cx="720" cy="336"/>
            </a:xfrm>
          </p:grpSpPr>
          <p:sp>
            <p:nvSpPr>
              <p:cNvPr id="12301" name="Rectangle 1131"/>
              <p:cNvSpPr>
                <a:spLocks noChangeArrowheads="1"/>
              </p:cNvSpPr>
              <p:nvPr/>
            </p:nvSpPr>
            <p:spPr bwMode="auto">
              <a:xfrm>
                <a:off x="6432" y="2304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B</a:t>
                </a:r>
              </a:p>
            </p:txBody>
          </p:sp>
          <p:grpSp>
            <p:nvGrpSpPr>
              <p:cNvPr id="12302" name="Group 1132"/>
              <p:cNvGrpSpPr/>
              <p:nvPr/>
            </p:nvGrpSpPr>
            <p:grpSpPr bwMode="auto">
              <a:xfrm rot="-5400000">
                <a:off x="6048" y="2237"/>
                <a:ext cx="336" cy="432"/>
                <a:chOff x="6211" y="528"/>
                <a:chExt cx="336" cy="432"/>
              </a:xfrm>
            </p:grpSpPr>
            <p:sp>
              <p:nvSpPr>
                <p:cNvPr id="12303" name="AutoShape 1133"/>
                <p:cNvSpPr>
                  <a:spLocks noChangeArrowheads="1"/>
                </p:cNvSpPr>
                <p:nvPr/>
              </p:nvSpPr>
              <p:spPr bwMode="auto">
                <a:xfrm flipV="1">
                  <a:off x="6211" y="528"/>
                  <a:ext cx="336" cy="2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04" name="Line 1134"/>
                <p:cNvSpPr>
                  <a:spLocks noChangeShapeType="1"/>
                </p:cNvSpPr>
                <p:nvPr/>
              </p:nvSpPr>
              <p:spPr bwMode="auto">
                <a:xfrm>
                  <a:off x="6379" y="768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53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5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0" grpId="0" build="p" autoUpdateAnimBg="0"/>
      <p:bldP spid="55301" grpId="0" autoUpdateAnimBg="0"/>
      <p:bldP spid="55304" grpId="0" autoUpdateAnimBg="0"/>
      <p:bldP spid="5530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41E566-3CAC-48BD-8583-723F57403FE2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11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77828" name="Text Box 1028"/>
          <p:cNvSpPr txBox="1">
            <a:spLocks noChangeArrowheads="1"/>
          </p:cNvSpPr>
          <p:nvPr/>
        </p:nvSpPr>
        <p:spPr bwMode="auto">
          <a:xfrm>
            <a:off x="2667000" y="701334"/>
            <a:ext cx="7615238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800" b="1" i="0">
                <a:latin typeface="宋体" panose="02010600030101010101" pitchFamily="2" charset="-122"/>
              </a:rPr>
              <a:t>表面粗糙度</a:t>
            </a:r>
            <a:r>
              <a:rPr lang="en-US" altLang="zh-CN" sz="2800" b="1"/>
              <a:t>Ra</a:t>
            </a:r>
            <a:r>
              <a:rPr lang="zh-CN" altLang="en-US" sz="2800" b="1" i="0">
                <a:latin typeface="宋体" panose="02010600030101010101" pitchFamily="2" charset="-122"/>
              </a:rPr>
              <a:t>的上限值一般取</a:t>
            </a:r>
            <a:r>
              <a:rPr lang="zh-CN" altLang="en-US" sz="2800" b="1" i="0">
                <a:solidFill>
                  <a:srgbClr val="FF3300"/>
                </a:solidFill>
              </a:rPr>
              <a:t>1.6～3.2</a:t>
            </a:r>
            <a:r>
              <a:rPr lang="zh-CN" altLang="en-US" sz="2800" b="1" i="0"/>
              <a:t> </a:t>
            </a:r>
            <a:r>
              <a:rPr lang="en-US" altLang="zh-CN" sz="2800" b="1" i="0"/>
              <a:t>μm </a:t>
            </a:r>
            <a:r>
              <a:rPr lang="zh-CN" altLang="en-US" sz="2800" b="1" i="0">
                <a:latin typeface="宋体" panose="02010600030101010101" pitchFamily="2" charset="-122"/>
              </a:rPr>
              <a:t>，</a:t>
            </a:r>
            <a:endParaRPr lang="zh-CN" altLang="en-US" sz="2800" b="1" i="0"/>
          </a:p>
        </p:txBody>
      </p:sp>
      <p:sp>
        <p:nvSpPr>
          <p:cNvPr id="77829" name="Text Box 1029"/>
          <p:cNvSpPr txBox="1">
            <a:spLocks noChangeArrowheads="1"/>
          </p:cNvSpPr>
          <p:nvPr/>
        </p:nvSpPr>
        <p:spPr bwMode="auto">
          <a:xfrm>
            <a:off x="476250" y="6500813"/>
            <a:ext cx="942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4. </a:t>
            </a:r>
            <a:r>
              <a:rPr lang="zh-CN" altLang="en-US" sz="2800" b="1" i="0">
                <a:latin typeface="宋体" panose="02010600030101010101" pitchFamily="2" charset="-122"/>
              </a:rPr>
              <a:t>键槽尺寸和公差在图样上的标注（见例题）</a:t>
            </a:r>
            <a:endParaRPr lang="en-US" altLang="zh-CN" sz="2800" b="1" i="0"/>
          </a:p>
        </p:txBody>
      </p:sp>
      <p:sp>
        <p:nvSpPr>
          <p:cNvPr id="77831" name="Rectangle 1031"/>
          <p:cNvSpPr>
            <a:spLocks noChangeArrowheads="1"/>
          </p:cNvSpPr>
          <p:nvPr/>
        </p:nvSpPr>
        <p:spPr bwMode="auto">
          <a:xfrm>
            <a:off x="2854325" y="1241425"/>
            <a:ext cx="1957070" cy="607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i="0">
                <a:latin typeface="宋体" panose="02010600030101010101" pitchFamily="2" charset="-122"/>
              </a:rPr>
              <a:t>取</a:t>
            </a:r>
            <a:r>
              <a:rPr lang="zh-CN" altLang="en-US" sz="2800" b="1" i="0">
                <a:solidFill>
                  <a:schemeClr val="accent1"/>
                </a:solidFill>
              </a:rPr>
              <a:t>6.3</a:t>
            </a:r>
            <a:r>
              <a:rPr lang="zh-CN" altLang="en-US" sz="2800" b="1" i="0"/>
              <a:t> </a:t>
            </a:r>
            <a:r>
              <a:rPr lang="en-US" altLang="zh-CN" sz="2800" b="1" i="0"/>
              <a:t>μm </a:t>
            </a:r>
            <a:r>
              <a:rPr lang="zh-CN" altLang="en-US" sz="2800" b="1" i="0">
                <a:latin typeface="宋体" panose="02010600030101010101" pitchFamily="2" charset="-122"/>
              </a:rPr>
              <a:t>。</a:t>
            </a:r>
            <a:r>
              <a:rPr lang="zh-CN" altLang="en-US" sz="2800" b="1" i="0"/>
              <a:t> </a:t>
            </a:r>
          </a:p>
        </p:txBody>
      </p:sp>
      <p:sp>
        <p:nvSpPr>
          <p:cNvPr id="77832" name="Rectangle 1032"/>
          <p:cNvSpPr>
            <a:spLocks noChangeArrowheads="1"/>
          </p:cNvSpPr>
          <p:nvPr/>
        </p:nvSpPr>
        <p:spPr bwMode="auto">
          <a:xfrm>
            <a:off x="381000" y="202058"/>
            <a:ext cx="861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800" b="1" i="0" dirty="0"/>
              <a:t>3. </a:t>
            </a:r>
            <a:r>
              <a:rPr lang="zh-CN" altLang="en-US" sz="2800" b="1" i="0" dirty="0">
                <a:latin typeface="宋体" panose="02010600030101010101" pitchFamily="2" charset="-122"/>
              </a:rPr>
              <a:t>表面粗糙度轮廓要求</a:t>
            </a:r>
            <a:r>
              <a:rPr lang="zh-CN" altLang="en-US" sz="2800" b="1" i="0" dirty="0"/>
              <a:t> </a:t>
            </a:r>
          </a:p>
        </p:txBody>
      </p:sp>
      <p:sp>
        <p:nvSpPr>
          <p:cNvPr id="77877" name="Rectangle 1077"/>
          <p:cNvSpPr>
            <a:spLocks noChangeArrowheads="1"/>
          </p:cNvSpPr>
          <p:nvPr/>
        </p:nvSpPr>
        <p:spPr bwMode="auto">
          <a:xfrm>
            <a:off x="857250" y="768009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i="0" dirty="0">
                <a:solidFill>
                  <a:srgbClr val="FF3300"/>
                </a:solidFill>
                <a:latin typeface="宋体" panose="02010600030101010101" pitchFamily="2" charset="-122"/>
              </a:rPr>
              <a:t>配合表面:</a:t>
            </a:r>
          </a:p>
        </p:txBody>
      </p:sp>
      <p:sp>
        <p:nvSpPr>
          <p:cNvPr id="77878" name="Rectangle 1078"/>
          <p:cNvSpPr>
            <a:spLocks noChangeArrowheads="1"/>
          </p:cNvSpPr>
          <p:nvPr/>
        </p:nvSpPr>
        <p:spPr bwMode="auto">
          <a:xfrm>
            <a:off x="838200" y="1308100"/>
            <a:ext cx="21602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800" b="1" i="0">
                <a:solidFill>
                  <a:schemeClr val="accent1"/>
                </a:solidFill>
                <a:latin typeface="宋体" panose="02010600030101010101" pitchFamily="2" charset="-122"/>
              </a:rPr>
              <a:t>非配合</a:t>
            </a:r>
            <a:r>
              <a:rPr lang="zh-CN" altLang="en-US" sz="2800" b="1" i="0">
                <a:latin typeface="宋体" panose="02010600030101010101" pitchFamily="2" charset="-122"/>
              </a:rPr>
              <a:t>表面:</a:t>
            </a:r>
          </a:p>
        </p:txBody>
      </p:sp>
      <p:grpSp>
        <p:nvGrpSpPr>
          <p:cNvPr id="77885" name="Group 1085"/>
          <p:cNvGrpSpPr/>
          <p:nvPr/>
        </p:nvGrpSpPr>
        <p:grpSpPr bwMode="auto">
          <a:xfrm>
            <a:off x="771210" y="2711450"/>
            <a:ext cx="3943350" cy="3640138"/>
            <a:chOff x="240" y="1584"/>
            <a:chExt cx="2208" cy="2064"/>
          </a:xfrm>
        </p:grpSpPr>
        <p:grpSp>
          <p:nvGrpSpPr>
            <p:cNvPr id="13371" name="Group 1033"/>
            <p:cNvGrpSpPr/>
            <p:nvPr/>
          </p:nvGrpSpPr>
          <p:grpSpPr bwMode="auto">
            <a:xfrm>
              <a:off x="240" y="1584"/>
              <a:ext cx="2208" cy="2064"/>
              <a:chOff x="480" y="1728"/>
              <a:chExt cx="2208" cy="2064"/>
            </a:xfrm>
          </p:grpSpPr>
          <p:sp>
            <p:nvSpPr>
              <p:cNvPr id="13375" name="Oval 1034"/>
              <p:cNvSpPr>
                <a:spLocks noChangeArrowheads="1"/>
              </p:cNvSpPr>
              <p:nvPr/>
            </p:nvSpPr>
            <p:spPr bwMode="auto">
              <a:xfrm>
                <a:off x="624" y="1968"/>
                <a:ext cx="1536" cy="1440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76" name="Line 1035"/>
              <p:cNvSpPr>
                <a:spLocks noChangeShapeType="1"/>
              </p:cNvSpPr>
              <p:nvPr/>
            </p:nvSpPr>
            <p:spPr bwMode="auto">
              <a:xfrm>
                <a:off x="480" y="2688"/>
                <a:ext cx="18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" name="Line 1036"/>
              <p:cNvSpPr>
                <a:spLocks noChangeShapeType="1"/>
              </p:cNvSpPr>
              <p:nvPr/>
            </p:nvSpPr>
            <p:spPr bwMode="auto">
              <a:xfrm>
                <a:off x="1398" y="1824"/>
                <a:ext cx="0" cy="16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" name="Line 1037"/>
              <p:cNvSpPr>
                <a:spLocks noChangeShapeType="1"/>
              </p:cNvSpPr>
              <p:nvPr/>
            </p:nvSpPr>
            <p:spPr bwMode="auto">
              <a:xfrm>
                <a:off x="1152" y="2016"/>
                <a:ext cx="0" cy="19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" name="Line 1038"/>
              <p:cNvSpPr>
                <a:spLocks noChangeShapeType="1"/>
              </p:cNvSpPr>
              <p:nvPr/>
            </p:nvSpPr>
            <p:spPr bwMode="auto">
              <a:xfrm>
                <a:off x="1632" y="1968"/>
                <a:ext cx="0" cy="24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" name="Line 1039"/>
              <p:cNvSpPr>
                <a:spLocks noChangeShapeType="1"/>
              </p:cNvSpPr>
              <p:nvPr/>
            </p:nvSpPr>
            <p:spPr bwMode="auto">
              <a:xfrm>
                <a:off x="1152" y="2208"/>
                <a:ext cx="480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" name="Rectangle 1040"/>
              <p:cNvSpPr>
                <a:spLocks noChangeArrowheads="1"/>
              </p:cNvSpPr>
              <p:nvPr/>
            </p:nvSpPr>
            <p:spPr bwMode="auto">
              <a:xfrm>
                <a:off x="1200" y="1920"/>
                <a:ext cx="432" cy="9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82" name="Line 1041"/>
              <p:cNvSpPr>
                <a:spLocks noChangeShapeType="1"/>
              </p:cNvSpPr>
              <p:nvPr/>
            </p:nvSpPr>
            <p:spPr bwMode="auto">
              <a:xfrm>
                <a:off x="1170" y="172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" name="Line 1042"/>
              <p:cNvSpPr>
                <a:spLocks noChangeShapeType="1"/>
              </p:cNvSpPr>
              <p:nvPr/>
            </p:nvSpPr>
            <p:spPr bwMode="auto">
              <a:xfrm>
                <a:off x="1632" y="1728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4" name="Line 1043"/>
              <p:cNvSpPr>
                <a:spLocks noChangeShapeType="1"/>
              </p:cNvSpPr>
              <p:nvPr/>
            </p:nvSpPr>
            <p:spPr bwMode="auto">
              <a:xfrm>
                <a:off x="768" y="1776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5" name="Line 1044"/>
              <p:cNvSpPr>
                <a:spLocks noChangeShapeType="1"/>
              </p:cNvSpPr>
              <p:nvPr/>
            </p:nvSpPr>
            <p:spPr bwMode="auto">
              <a:xfrm>
                <a:off x="1632" y="1776"/>
                <a:ext cx="38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" name="Line 1045"/>
              <p:cNvSpPr>
                <a:spLocks noChangeShapeType="1"/>
              </p:cNvSpPr>
              <p:nvPr/>
            </p:nvSpPr>
            <p:spPr bwMode="auto">
              <a:xfrm flipH="1">
                <a:off x="624" y="2160"/>
                <a:ext cx="576" cy="38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" name="Line 1046"/>
              <p:cNvSpPr>
                <a:spLocks noChangeShapeType="1"/>
              </p:cNvSpPr>
              <p:nvPr/>
            </p:nvSpPr>
            <p:spPr bwMode="auto">
              <a:xfrm flipH="1">
                <a:off x="624" y="2064"/>
                <a:ext cx="1152" cy="7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" name="Line 1047"/>
              <p:cNvSpPr>
                <a:spLocks noChangeShapeType="1"/>
              </p:cNvSpPr>
              <p:nvPr/>
            </p:nvSpPr>
            <p:spPr bwMode="auto">
              <a:xfrm flipV="1">
                <a:off x="720" y="2208"/>
                <a:ext cx="1248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" name="Line 1048"/>
              <p:cNvSpPr>
                <a:spLocks noChangeShapeType="1"/>
              </p:cNvSpPr>
              <p:nvPr/>
            </p:nvSpPr>
            <p:spPr bwMode="auto">
              <a:xfrm flipV="1">
                <a:off x="816" y="2400"/>
                <a:ext cx="1248" cy="7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0" name="Line 1049"/>
              <p:cNvSpPr>
                <a:spLocks noChangeShapeType="1"/>
              </p:cNvSpPr>
              <p:nvPr/>
            </p:nvSpPr>
            <p:spPr bwMode="auto">
              <a:xfrm flipV="1">
                <a:off x="1008" y="2592"/>
                <a:ext cx="1152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1" name="Line 1050"/>
              <p:cNvSpPr>
                <a:spLocks noChangeShapeType="1"/>
              </p:cNvSpPr>
              <p:nvPr/>
            </p:nvSpPr>
            <p:spPr bwMode="auto">
              <a:xfrm flipV="1">
                <a:off x="1248" y="2784"/>
                <a:ext cx="912" cy="57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2" name="Line 1051"/>
              <p:cNvSpPr>
                <a:spLocks noChangeShapeType="1"/>
              </p:cNvSpPr>
              <p:nvPr/>
            </p:nvSpPr>
            <p:spPr bwMode="auto">
              <a:xfrm>
                <a:off x="1152" y="3408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" name="Line 1052"/>
              <p:cNvSpPr>
                <a:spLocks noChangeShapeType="1"/>
              </p:cNvSpPr>
              <p:nvPr/>
            </p:nvSpPr>
            <p:spPr bwMode="auto">
              <a:xfrm>
                <a:off x="1152" y="2208"/>
                <a:ext cx="153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" name="Line 1053"/>
              <p:cNvSpPr>
                <a:spLocks noChangeShapeType="1"/>
              </p:cNvSpPr>
              <p:nvPr/>
            </p:nvSpPr>
            <p:spPr bwMode="auto">
              <a:xfrm>
                <a:off x="2592" y="2208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" name="Line 1054"/>
              <p:cNvSpPr>
                <a:spLocks noChangeShapeType="1"/>
              </p:cNvSpPr>
              <p:nvPr/>
            </p:nvSpPr>
            <p:spPr bwMode="auto">
              <a:xfrm>
                <a:off x="624" y="2688"/>
                <a:ext cx="0" cy="11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" name="Line 1055"/>
              <p:cNvSpPr>
                <a:spLocks noChangeShapeType="1"/>
              </p:cNvSpPr>
              <p:nvPr/>
            </p:nvSpPr>
            <p:spPr bwMode="auto">
              <a:xfrm>
                <a:off x="2160" y="2688"/>
                <a:ext cx="0" cy="110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" name="Line 1056"/>
              <p:cNvSpPr>
                <a:spLocks noChangeShapeType="1"/>
              </p:cNvSpPr>
              <p:nvPr/>
            </p:nvSpPr>
            <p:spPr bwMode="auto">
              <a:xfrm>
                <a:off x="624" y="3696"/>
                <a:ext cx="15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72" name="Line 1079"/>
            <p:cNvSpPr>
              <a:spLocks noChangeShapeType="1"/>
            </p:cNvSpPr>
            <p:nvPr/>
          </p:nvSpPr>
          <p:spPr bwMode="auto">
            <a:xfrm>
              <a:off x="930" y="1824"/>
              <a:ext cx="0" cy="24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3" name="Line 1080"/>
            <p:cNvSpPr>
              <a:spLocks noChangeShapeType="1"/>
            </p:cNvSpPr>
            <p:nvPr/>
          </p:nvSpPr>
          <p:spPr bwMode="auto">
            <a:xfrm>
              <a:off x="1392" y="1824"/>
              <a:ext cx="0" cy="24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4" name="Line 1083"/>
            <p:cNvSpPr>
              <a:spLocks noChangeShapeType="1"/>
            </p:cNvSpPr>
            <p:nvPr/>
          </p:nvSpPr>
          <p:spPr bwMode="auto">
            <a:xfrm>
              <a:off x="912" y="2064"/>
              <a:ext cx="480" cy="0"/>
            </a:xfrm>
            <a:prstGeom prst="line">
              <a:avLst/>
            </a:prstGeom>
            <a:noFill/>
            <a:ln w="7620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99" name="Group 1099"/>
          <p:cNvGrpSpPr/>
          <p:nvPr/>
        </p:nvGrpSpPr>
        <p:grpSpPr bwMode="auto">
          <a:xfrm>
            <a:off x="5572416" y="2355850"/>
            <a:ext cx="4038600" cy="3995738"/>
            <a:chOff x="3264" y="1440"/>
            <a:chExt cx="2352" cy="2517"/>
          </a:xfrm>
        </p:grpSpPr>
        <p:grpSp>
          <p:nvGrpSpPr>
            <p:cNvPr id="13350" name="Group 1058"/>
            <p:cNvGrpSpPr/>
            <p:nvPr/>
          </p:nvGrpSpPr>
          <p:grpSpPr bwMode="auto">
            <a:xfrm>
              <a:off x="3264" y="1611"/>
              <a:ext cx="1994" cy="2133"/>
              <a:chOff x="3168" y="1776"/>
              <a:chExt cx="1872" cy="1920"/>
            </a:xfrm>
          </p:grpSpPr>
          <p:sp>
            <p:nvSpPr>
              <p:cNvPr id="13364" name="Oval 1059"/>
              <p:cNvSpPr>
                <a:spLocks noChangeArrowheads="1"/>
              </p:cNvSpPr>
              <p:nvPr/>
            </p:nvSpPr>
            <p:spPr bwMode="auto">
              <a:xfrm>
                <a:off x="3339" y="2064"/>
                <a:ext cx="1536" cy="1440"/>
              </a:xfrm>
              <a:prstGeom prst="ellipse">
                <a:avLst/>
              </a:prstGeom>
              <a:solidFill>
                <a:schemeClr val="bg1"/>
              </a:solidFill>
              <a:ln w="76200">
                <a:solidFill>
                  <a:schemeClr val="tx1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65" name="Line 1060"/>
              <p:cNvSpPr>
                <a:spLocks noChangeShapeType="1"/>
              </p:cNvSpPr>
              <p:nvPr/>
            </p:nvSpPr>
            <p:spPr bwMode="auto">
              <a:xfrm>
                <a:off x="3168" y="2784"/>
                <a:ext cx="187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" name="Line 1061"/>
              <p:cNvSpPr>
                <a:spLocks noChangeShapeType="1"/>
              </p:cNvSpPr>
              <p:nvPr/>
            </p:nvSpPr>
            <p:spPr bwMode="auto">
              <a:xfrm>
                <a:off x="3840" y="1920"/>
                <a:ext cx="0" cy="19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" name="Line 1062"/>
              <p:cNvSpPr>
                <a:spLocks noChangeShapeType="1"/>
              </p:cNvSpPr>
              <p:nvPr/>
            </p:nvSpPr>
            <p:spPr bwMode="auto">
              <a:xfrm>
                <a:off x="4368" y="1920"/>
                <a:ext cx="0" cy="192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" name="Line 1063"/>
              <p:cNvSpPr>
                <a:spLocks noChangeShapeType="1"/>
              </p:cNvSpPr>
              <p:nvPr/>
            </p:nvSpPr>
            <p:spPr bwMode="auto">
              <a:xfrm>
                <a:off x="3840" y="1920"/>
                <a:ext cx="528" cy="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" name="Rectangle 1064"/>
              <p:cNvSpPr>
                <a:spLocks noChangeArrowheads="1"/>
              </p:cNvSpPr>
              <p:nvPr/>
            </p:nvSpPr>
            <p:spPr bwMode="auto">
              <a:xfrm>
                <a:off x="3888" y="2016"/>
                <a:ext cx="480" cy="1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70" name="Line 1065"/>
              <p:cNvSpPr>
                <a:spLocks noChangeShapeType="1"/>
              </p:cNvSpPr>
              <p:nvPr/>
            </p:nvSpPr>
            <p:spPr bwMode="auto">
              <a:xfrm>
                <a:off x="4112" y="1776"/>
                <a:ext cx="0" cy="192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lgDashDot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51" name="Line 1066"/>
            <p:cNvSpPr>
              <a:spLocks noChangeShapeType="1"/>
            </p:cNvSpPr>
            <p:nvPr/>
          </p:nvSpPr>
          <p:spPr bwMode="auto">
            <a:xfrm>
              <a:off x="4287" y="1771"/>
              <a:ext cx="12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Line 1067"/>
            <p:cNvSpPr>
              <a:spLocks noChangeShapeType="1"/>
            </p:cNvSpPr>
            <p:nvPr/>
          </p:nvSpPr>
          <p:spPr bwMode="auto">
            <a:xfrm>
              <a:off x="4184" y="3530"/>
              <a:ext cx="1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Line 1068"/>
            <p:cNvSpPr>
              <a:spLocks noChangeShapeType="1"/>
            </p:cNvSpPr>
            <p:nvPr/>
          </p:nvSpPr>
          <p:spPr bwMode="auto">
            <a:xfrm>
              <a:off x="5463" y="1771"/>
              <a:ext cx="0" cy="17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Line 1069"/>
            <p:cNvSpPr>
              <a:spLocks noChangeShapeType="1"/>
            </p:cNvSpPr>
            <p:nvPr/>
          </p:nvSpPr>
          <p:spPr bwMode="auto">
            <a:xfrm flipH="1">
              <a:off x="3980" y="1440"/>
              <a:ext cx="4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5" name="Line 1070"/>
            <p:cNvSpPr>
              <a:spLocks noChangeShapeType="1"/>
            </p:cNvSpPr>
            <p:nvPr/>
          </p:nvSpPr>
          <p:spPr bwMode="auto">
            <a:xfrm>
              <a:off x="4512" y="1488"/>
              <a:ext cx="30" cy="3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6" name="Line 1071"/>
            <p:cNvSpPr>
              <a:spLocks noChangeShapeType="1"/>
            </p:cNvSpPr>
            <p:nvPr/>
          </p:nvSpPr>
          <p:spPr bwMode="auto">
            <a:xfrm>
              <a:off x="3980" y="1584"/>
              <a:ext cx="56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Line 1073"/>
            <p:cNvSpPr>
              <a:spLocks noChangeShapeType="1"/>
            </p:cNvSpPr>
            <p:nvPr/>
          </p:nvSpPr>
          <p:spPr bwMode="auto">
            <a:xfrm>
              <a:off x="3457" y="2677"/>
              <a:ext cx="0" cy="1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8" name="Line 1074"/>
            <p:cNvSpPr>
              <a:spLocks noChangeShapeType="1"/>
            </p:cNvSpPr>
            <p:nvPr/>
          </p:nvSpPr>
          <p:spPr bwMode="auto">
            <a:xfrm>
              <a:off x="5094" y="2677"/>
              <a:ext cx="0" cy="1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9" name="Line 1075"/>
            <p:cNvSpPr>
              <a:spLocks noChangeShapeType="1"/>
            </p:cNvSpPr>
            <p:nvPr/>
          </p:nvSpPr>
          <p:spPr bwMode="auto">
            <a:xfrm>
              <a:off x="3457" y="3850"/>
              <a:ext cx="16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0" name="Line 1081"/>
            <p:cNvSpPr>
              <a:spLocks noChangeShapeType="1"/>
            </p:cNvSpPr>
            <p:nvPr/>
          </p:nvSpPr>
          <p:spPr bwMode="auto">
            <a:xfrm>
              <a:off x="3987" y="1759"/>
              <a:ext cx="0" cy="213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1" name="Line 1082"/>
            <p:cNvSpPr>
              <a:spLocks noChangeShapeType="1"/>
            </p:cNvSpPr>
            <p:nvPr/>
          </p:nvSpPr>
          <p:spPr bwMode="auto">
            <a:xfrm>
              <a:off x="4542" y="1771"/>
              <a:ext cx="0" cy="213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2" name="Line 1084"/>
            <p:cNvSpPr>
              <a:spLocks noChangeShapeType="1"/>
            </p:cNvSpPr>
            <p:nvPr/>
          </p:nvSpPr>
          <p:spPr bwMode="auto">
            <a:xfrm>
              <a:off x="3997" y="1771"/>
              <a:ext cx="511" cy="0"/>
            </a:xfrm>
            <a:prstGeom prst="line">
              <a:avLst/>
            </a:prstGeom>
            <a:noFill/>
            <a:ln w="76200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3" name="Line 1098"/>
            <p:cNvSpPr>
              <a:spLocks noChangeShapeType="1"/>
            </p:cNvSpPr>
            <p:nvPr/>
          </p:nvSpPr>
          <p:spPr bwMode="auto">
            <a:xfrm>
              <a:off x="4512" y="158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918" name="Group 1118"/>
          <p:cNvGrpSpPr/>
          <p:nvPr/>
        </p:nvGrpSpPr>
        <p:grpSpPr bwMode="auto">
          <a:xfrm>
            <a:off x="3114360" y="2084388"/>
            <a:ext cx="1616075" cy="685800"/>
            <a:chOff x="5952" y="624"/>
            <a:chExt cx="1018" cy="432"/>
          </a:xfrm>
        </p:grpSpPr>
        <p:grpSp>
          <p:nvGrpSpPr>
            <p:cNvPr id="13345" name="Group 1119"/>
            <p:cNvGrpSpPr/>
            <p:nvPr/>
          </p:nvGrpSpPr>
          <p:grpSpPr bwMode="auto">
            <a:xfrm>
              <a:off x="5952" y="624"/>
              <a:ext cx="912" cy="432"/>
              <a:chOff x="5952" y="624"/>
              <a:chExt cx="912" cy="432"/>
            </a:xfrm>
          </p:grpSpPr>
          <p:sp>
            <p:nvSpPr>
              <p:cNvPr id="13347" name="AutoShape 1120"/>
              <p:cNvSpPr>
                <a:spLocks noChangeArrowheads="1"/>
              </p:cNvSpPr>
              <p:nvPr/>
            </p:nvSpPr>
            <p:spPr bwMode="auto">
              <a:xfrm flipH="1" flipV="1">
                <a:off x="5952" y="864"/>
                <a:ext cx="240" cy="192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endParaRPr lang="zh-CN" altLang="en-US" i="0"/>
              </a:p>
            </p:txBody>
          </p:sp>
          <p:sp>
            <p:nvSpPr>
              <p:cNvPr id="13348" name="Line 1121"/>
              <p:cNvSpPr>
                <a:spLocks noChangeShapeType="1"/>
              </p:cNvSpPr>
              <p:nvPr/>
            </p:nvSpPr>
            <p:spPr bwMode="auto">
              <a:xfrm flipV="1">
                <a:off x="6192" y="624"/>
                <a:ext cx="13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" name="Line 1122"/>
              <p:cNvSpPr>
                <a:spLocks noChangeShapeType="1"/>
              </p:cNvSpPr>
              <p:nvPr/>
            </p:nvSpPr>
            <p:spPr bwMode="auto">
              <a:xfrm>
                <a:off x="6336" y="624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46" name="Text Box 1123"/>
            <p:cNvSpPr txBox="1">
              <a:spLocks noChangeArrowheads="1"/>
            </p:cNvSpPr>
            <p:nvPr/>
          </p:nvSpPr>
          <p:spPr bwMode="auto">
            <a:xfrm>
              <a:off x="6288" y="624"/>
              <a:ext cx="6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400"/>
                <a:t>Ra  </a:t>
              </a:r>
              <a:r>
                <a:rPr lang="en-US" altLang="zh-CN" sz="2400" i="0"/>
                <a:t>3.2</a:t>
              </a:r>
            </a:p>
          </p:txBody>
        </p:sp>
      </p:grpSp>
      <p:grpSp>
        <p:nvGrpSpPr>
          <p:cNvPr id="77929" name="Group 1129"/>
          <p:cNvGrpSpPr/>
          <p:nvPr/>
        </p:nvGrpSpPr>
        <p:grpSpPr bwMode="auto">
          <a:xfrm>
            <a:off x="3647760" y="2846388"/>
            <a:ext cx="1616075" cy="685800"/>
            <a:chOff x="5952" y="624"/>
            <a:chExt cx="1018" cy="432"/>
          </a:xfrm>
        </p:grpSpPr>
        <p:grpSp>
          <p:nvGrpSpPr>
            <p:cNvPr id="13340" name="Group 1130"/>
            <p:cNvGrpSpPr/>
            <p:nvPr/>
          </p:nvGrpSpPr>
          <p:grpSpPr bwMode="auto">
            <a:xfrm>
              <a:off x="5952" y="624"/>
              <a:ext cx="912" cy="432"/>
              <a:chOff x="5952" y="624"/>
              <a:chExt cx="912" cy="432"/>
            </a:xfrm>
          </p:grpSpPr>
          <p:sp>
            <p:nvSpPr>
              <p:cNvPr id="13342" name="AutoShape 1131"/>
              <p:cNvSpPr>
                <a:spLocks noChangeArrowheads="1"/>
              </p:cNvSpPr>
              <p:nvPr/>
            </p:nvSpPr>
            <p:spPr bwMode="auto">
              <a:xfrm flipH="1" flipV="1">
                <a:off x="5952" y="864"/>
                <a:ext cx="240" cy="192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endParaRPr lang="zh-CN" altLang="en-US" i="0"/>
              </a:p>
            </p:txBody>
          </p:sp>
          <p:sp>
            <p:nvSpPr>
              <p:cNvPr id="13343" name="Line 1132"/>
              <p:cNvSpPr>
                <a:spLocks noChangeShapeType="1"/>
              </p:cNvSpPr>
              <p:nvPr/>
            </p:nvSpPr>
            <p:spPr bwMode="auto">
              <a:xfrm flipV="1">
                <a:off x="6192" y="624"/>
                <a:ext cx="13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" name="Line 1133"/>
              <p:cNvSpPr>
                <a:spLocks noChangeShapeType="1"/>
              </p:cNvSpPr>
              <p:nvPr/>
            </p:nvSpPr>
            <p:spPr bwMode="auto">
              <a:xfrm>
                <a:off x="6336" y="624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41" name="Text Box 1134"/>
            <p:cNvSpPr txBox="1">
              <a:spLocks noChangeArrowheads="1"/>
            </p:cNvSpPr>
            <p:nvPr/>
          </p:nvSpPr>
          <p:spPr bwMode="auto">
            <a:xfrm>
              <a:off x="6288" y="624"/>
              <a:ext cx="6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400"/>
                <a:t>Ra  </a:t>
              </a:r>
              <a:r>
                <a:rPr lang="en-US" altLang="zh-CN" sz="2400" i="0"/>
                <a:t>6.3</a:t>
              </a:r>
            </a:p>
          </p:txBody>
        </p:sp>
      </p:grpSp>
      <p:grpSp>
        <p:nvGrpSpPr>
          <p:cNvPr id="77935" name="Group 1135"/>
          <p:cNvGrpSpPr/>
          <p:nvPr/>
        </p:nvGrpSpPr>
        <p:grpSpPr bwMode="auto">
          <a:xfrm>
            <a:off x="7782216" y="1855788"/>
            <a:ext cx="1616075" cy="685800"/>
            <a:chOff x="5952" y="624"/>
            <a:chExt cx="1018" cy="432"/>
          </a:xfrm>
        </p:grpSpPr>
        <p:grpSp>
          <p:nvGrpSpPr>
            <p:cNvPr id="13335" name="Group 1136"/>
            <p:cNvGrpSpPr/>
            <p:nvPr/>
          </p:nvGrpSpPr>
          <p:grpSpPr bwMode="auto">
            <a:xfrm>
              <a:off x="5952" y="624"/>
              <a:ext cx="912" cy="432"/>
              <a:chOff x="5952" y="624"/>
              <a:chExt cx="912" cy="432"/>
            </a:xfrm>
          </p:grpSpPr>
          <p:sp>
            <p:nvSpPr>
              <p:cNvPr id="13337" name="AutoShape 1137"/>
              <p:cNvSpPr>
                <a:spLocks noChangeArrowheads="1"/>
              </p:cNvSpPr>
              <p:nvPr/>
            </p:nvSpPr>
            <p:spPr bwMode="auto">
              <a:xfrm flipH="1" flipV="1">
                <a:off x="5952" y="864"/>
                <a:ext cx="240" cy="192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endParaRPr lang="zh-CN" altLang="en-US" i="0"/>
              </a:p>
            </p:txBody>
          </p:sp>
          <p:sp>
            <p:nvSpPr>
              <p:cNvPr id="13338" name="Line 1138"/>
              <p:cNvSpPr>
                <a:spLocks noChangeShapeType="1"/>
              </p:cNvSpPr>
              <p:nvPr/>
            </p:nvSpPr>
            <p:spPr bwMode="auto">
              <a:xfrm flipV="1">
                <a:off x="6192" y="624"/>
                <a:ext cx="13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" name="Line 1139"/>
              <p:cNvSpPr>
                <a:spLocks noChangeShapeType="1"/>
              </p:cNvSpPr>
              <p:nvPr/>
            </p:nvSpPr>
            <p:spPr bwMode="auto">
              <a:xfrm>
                <a:off x="6336" y="624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36" name="Text Box 1140"/>
            <p:cNvSpPr txBox="1">
              <a:spLocks noChangeArrowheads="1"/>
            </p:cNvSpPr>
            <p:nvPr/>
          </p:nvSpPr>
          <p:spPr bwMode="auto">
            <a:xfrm>
              <a:off x="6288" y="624"/>
              <a:ext cx="6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400"/>
                <a:t>Ra  </a:t>
              </a:r>
              <a:r>
                <a:rPr lang="en-US" altLang="zh-CN" sz="2400" i="0"/>
                <a:t>3.2</a:t>
              </a:r>
            </a:p>
          </p:txBody>
        </p:sp>
      </p:grpSp>
      <p:grpSp>
        <p:nvGrpSpPr>
          <p:cNvPr id="77944" name="Group 1144"/>
          <p:cNvGrpSpPr/>
          <p:nvPr/>
        </p:nvGrpSpPr>
        <p:grpSpPr bwMode="auto">
          <a:xfrm>
            <a:off x="8925216" y="2538413"/>
            <a:ext cx="1447800" cy="307975"/>
            <a:chOff x="5232" y="1726"/>
            <a:chExt cx="912" cy="194"/>
          </a:xfrm>
        </p:grpSpPr>
        <p:sp>
          <p:nvSpPr>
            <p:cNvPr id="13333" name="Line 1142"/>
            <p:cNvSpPr>
              <a:spLocks noChangeShapeType="1"/>
            </p:cNvSpPr>
            <p:nvPr/>
          </p:nvSpPr>
          <p:spPr bwMode="auto">
            <a:xfrm>
              <a:off x="5568" y="172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Line 1143"/>
            <p:cNvSpPr>
              <a:spLocks noChangeShapeType="1"/>
            </p:cNvSpPr>
            <p:nvPr/>
          </p:nvSpPr>
          <p:spPr bwMode="auto">
            <a:xfrm flipV="1">
              <a:off x="5232" y="1726"/>
              <a:ext cx="336" cy="1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945" name="Group 1145"/>
          <p:cNvGrpSpPr/>
          <p:nvPr/>
        </p:nvGrpSpPr>
        <p:grpSpPr bwMode="auto">
          <a:xfrm>
            <a:off x="9534816" y="1855788"/>
            <a:ext cx="1616075" cy="685800"/>
            <a:chOff x="5952" y="624"/>
            <a:chExt cx="1018" cy="432"/>
          </a:xfrm>
        </p:grpSpPr>
        <p:grpSp>
          <p:nvGrpSpPr>
            <p:cNvPr id="13328" name="Group 1146"/>
            <p:cNvGrpSpPr/>
            <p:nvPr/>
          </p:nvGrpSpPr>
          <p:grpSpPr bwMode="auto">
            <a:xfrm>
              <a:off x="5952" y="624"/>
              <a:ext cx="912" cy="432"/>
              <a:chOff x="5952" y="624"/>
              <a:chExt cx="912" cy="432"/>
            </a:xfrm>
          </p:grpSpPr>
          <p:sp>
            <p:nvSpPr>
              <p:cNvPr id="13330" name="AutoShape 1147"/>
              <p:cNvSpPr>
                <a:spLocks noChangeArrowheads="1"/>
              </p:cNvSpPr>
              <p:nvPr/>
            </p:nvSpPr>
            <p:spPr bwMode="auto">
              <a:xfrm flipH="1" flipV="1">
                <a:off x="5952" y="864"/>
                <a:ext cx="240" cy="192"/>
              </a:xfrm>
              <a:prstGeom prst="triangle">
                <a:avLst>
                  <a:gd name="adj" fmla="val 50000"/>
                </a:avLst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endParaRPr lang="zh-CN" altLang="en-US" i="0"/>
              </a:p>
            </p:txBody>
          </p:sp>
          <p:sp>
            <p:nvSpPr>
              <p:cNvPr id="13331" name="Line 1148"/>
              <p:cNvSpPr>
                <a:spLocks noChangeShapeType="1"/>
              </p:cNvSpPr>
              <p:nvPr/>
            </p:nvSpPr>
            <p:spPr bwMode="auto">
              <a:xfrm flipV="1">
                <a:off x="6192" y="624"/>
                <a:ext cx="139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2" name="Line 1149"/>
              <p:cNvSpPr>
                <a:spLocks noChangeShapeType="1"/>
              </p:cNvSpPr>
              <p:nvPr/>
            </p:nvSpPr>
            <p:spPr bwMode="auto">
              <a:xfrm>
                <a:off x="6336" y="624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29" name="Text Box 1150"/>
            <p:cNvSpPr txBox="1">
              <a:spLocks noChangeArrowheads="1"/>
            </p:cNvSpPr>
            <p:nvPr/>
          </p:nvSpPr>
          <p:spPr bwMode="auto">
            <a:xfrm>
              <a:off x="6288" y="624"/>
              <a:ext cx="68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400"/>
                <a:t>Ra  </a:t>
              </a:r>
              <a:r>
                <a:rPr lang="en-US" altLang="zh-CN" sz="2400" i="0"/>
                <a:t>6.3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8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7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7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7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7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7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"/>
                                        <p:tgtEl>
                                          <p:spTgt spid="7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7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7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7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7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7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77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77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77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7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7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300"/>
                                        <p:tgtEl>
                                          <p:spTgt spid="77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bldLvl="0" animBg="1" autoUpdateAnimBg="0"/>
      <p:bldP spid="77829" grpId="0" build="p" autoUpdateAnimBg="0"/>
      <p:bldP spid="77831" grpId="0" bldLvl="0" animBg="1" autoUpdateAnimBg="0"/>
      <p:bldP spid="77832" grpId="0" autoUpdateAnimBg="0"/>
      <p:bldP spid="77877" grpId="0" autoUpdateAnimBg="0"/>
      <p:bldP spid="77878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358C4C6-A576-4150-AB03-86392E0AAAB8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12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26" name="Rectangle 10"/>
              <p:cNvSpPr>
                <a:spLocks noChangeArrowheads="1"/>
              </p:cNvSpPr>
              <p:nvPr/>
            </p:nvSpPr>
            <p:spPr bwMode="auto">
              <a:xfrm>
                <a:off x="908050" y="1101725"/>
                <a:ext cx="91821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50000"/>
                  </a:spcBef>
                </a:pPr>
                <a:r>
                  <a:rPr lang="zh-CN" altLang="en-US" sz="2400" b="1" i="0" dirty="0"/>
                  <a:t>解 </a:t>
                </a:r>
                <a:r>
                  <a:rPr lang="en-US" altLang="zh-CN" sz="2400" b="1" i="0" dirty="0"/>
                  <a:t>: </a:t>
                </a:r>
                <a:r>
                  <a:rPr lang="zh-CN" altLang="en-US" sz="2400" b="1" i="0" dirty="0"/>
                  <a:t>(1) 根据平键为正常联结和</a:t>
                </a:r>
                <a:r>
                  <a:rPr lang="en-US" altLang="zh-CN" sz="2400" b="1" dirty="0"/>
                  <a:t>D</a:t>
                </a:r>
                <a:r>
                  <a:rPr lang="en-US" altLang="zh-CN" sz="2400" b="1" i="0" dirty="0"/>
                  <a:t>(</a:t>
                </a:r>
                <a:r>
                  <a:rPr lang="en-US" altLang="zh-CN" sz="2400" b="1" dirty="0"/>
                  <a:t>d</a:t>
                </a:r>
                <a:r>
                  <a:rPr lang="en-US" altLang="zh-CN" sz="2400" b="1" i="0" dirty="0"/>
                  <a:t>)=</a:t>
                </a:r>
                <a14:m>
                  <m:oMath xmlns:m="http://schemas.openxmlformats.org/officeDocument/2006/math">
                    <m:r>
                      <a:rPr lang="az-Cyrl-AZ" altLang="zh-CN" sz="2400" b="1" dirty="0">
                        <a:latin typeface="Cambria Math"/>
                        <a:ea typeface="Cambria Math"/>
                      </a:rPr>
                      <m:t>∅ </m:t>
                    </m:r>
                  </m:oMath>
                </a14:m>
                <a:r>
                  <a:rPr lang="en-US" altLang="zh-CN" sz="2400" b="1" i="0" dirty="0">
                    <a:ea typeface="Arial Unicode MS" pitchFamily="34" charset="-122"/>
                    <a:cs typeface="Times New Roman" pitchFamily="18" charset="0"/>
                  </a:rPr>
                  <a:t>25</a:t>
                </a:r>
                <a:r>
                  <a:rPr lang="zh-CN" altLang="en-US" sz="2400" b="1" i="0" dirty="0"/>
                  <a:t>查表</a:t>
                </a:r>
                <a:r>
                  <a:rPr lang="en-US" altLang="zh-CN" sz="2400" b="1" i="0" dirty="0"/>
                  <a:t>8.1</a:t>
                </a:r>
                <a:r>
                  <a:rPr lang="zh-CN" altLang="en-US" sz="2400" b="1" i="0" dirty="0"/>
                  <a:t>得</a:t>
                </a:r>
              </a:p>
            </p:txBody>
          </p:sp>
        </mc:Choice>
        <mc:Fallback xmlns="">
          <p:sp>
            <p:nvSpPr>
              <p:cNvPr id="34826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3135" y="1101725"/>
                <a:ext cx="9182100" cy="45720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062" t="-14667" b="-32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831" name="Group 15"/>
          <p:cNvGrpSpPr/>
          <p:nvPr/>
        </p:nvGrpSpPr>
        <p:grpSpPr bwMode="auto">
          <a:xfrm>
            <a:off x="430213" y="2794000"/>
            <a:ext cx="10228262" cy="4286250"/>
            <a:chOff x="288" y="1776"/>
            <a:chExt cx="5154" cy="2430"/>
          </a:xfrm>
        </p:grpSpPr>
        <p:pic>
          <p:nvPicPr>
            <p:cNvPr id="14352" name="Picture 1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1776"/>
              <a:ext cx="5154" cy="2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353" name="Text Box 13"/>
            <p:cNvSpPr txBox="1">
              <a:spLocks noChangeArrowheads="1"/>
            </p:cNvSpPr>
            <p:nvPr/>
          </p:nvSpPr>
          <p:spPr bwMode="auto">
            <a:xfrm>
              <a:off x="3984" y="3820"/>
              <a:ext cx="301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1800" i="0"/>
                <a:t>+0.2</a:t>
              </a:r>
            </a:p>
            <a:p>
              <a:pPr algn="l" eaLnBrk="1" hangingPunct="1"/>
              <a:r>
                <a:rPr lang="zh-CN" altLang="en-US" sz="1800" i="0"/>
                <a:t>  0</a:t>
              </a:r>
            </a:p>
          </p:txBody>
        </p:sp>
        <p:sp>
          <p:nvSpPr>
            <p:cNvPr id="14354" name="Text Box 14"/>
            <p:cNvSpPr txBox="1">
              <a:spLocks noChangeArrowheads="1"/>
            </p:cNvSpPr>
            <p:nvPr/>
          </p:nvSpPr>
          <p:spPr bwMode="auto">
            <a:xfrm>
              <a:off x="4512" y="3820"/>
              <a:ext cx="301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1800" i="0"/>
                <a:t>+0.2</a:t>
              </a:r>
            </a:p>
            <a:p>
              <a:pPr algn="l" eaLnBrk="1" hangingPunct="1"/>
              <a:r>
                <a:rPr lang="zh-CN" altLang="en-US" sz="1800" i="0"/>
                <a:t>  0</a:t>
              </a:r>
            </a:p>
          </p:txBody>
        </p:sp>
      </p:grpSp>
      <p:sp>
        <p:nvSpPr>
          <p:cNvPr id="34835" name="Rectangle 19"/>
          <p:cNvSpPr>
            <a:spLocks noChangeArrowheads="1"/>
          </p:cNvSpPr>
          <p:nvPr/>
        </p:nvSpPr>
        <p:spPr bwMode="auto">
          <a:xfrm>
            <a:off x="9478963" y="6350000"/>
            <a:ext cx="952500" cy="33972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0" name="Rectangle 24"/>
          <p:cNvSpPr>
            <a:spLocks noChangeArrowheads="1"/>
          </p:cNvSpPr>
          <p:nvPr/>
        </p:nvSpPr>
        <p:spPr bwMode="auto">
          <a:xfrm>
            <a:off x="3573463" y="4149725"/>
            <a:ext cx="1524000" cy="592138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42" name="Line 26"/>
          <p:cNvSpPr>
            <a:spLocks noChangeShapeType="1"/>
          </p:cNvSpPr>
          <p:nvPr/>
        </p:nvSpPr>
        <p:spPr bwMode="auto">
          <a:xfrm>
            <a:off x="3097213" y="6680200"/>
            <a:ext cx="685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3" name="Line 27"/>
          <p:cNvSpPr>
            <a:spLocks noChangeShapeType="1"/>
          </p:cNvSpPr>
          <p:nvPr/>
        </p:nvSpPr>
        <p:spPr bwMode="auto">
          <a:xfrm>
            <a:off x="7288213" y="6680200"/>
            <a:ext cx="609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44" name="Line 28"/>
          <p:cNvSpPr>
            <a:spLocks noChangeShapeType="1"/>
          </p:cNvSpPr>
          <p:nvPr/>
        </p:nvSpPr>
        <p:spPr bwMode="auto">
          <a:xfrm>
            <a:off x="8355013" y="6680200"/>
            <a:ext cx="6096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845" name="Object 29"/>
          <p:cNvGraphicFramePr>
            <a:graphicFrameLocks noChangeAspect="1"/>
          </p:cNvGraphicFramePr>
          <p:nvPr/>
        </p:nvGraphicFramePr>
        <p:xfrm>
          <a:off x="954405" y="1606550"/>
          <a:ext cx="7927975" cy="515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7" name="公式" r:id="rId5" imgW="89306400" imgH="5791200" progId="">
                  <p:embed/>
                </p:oleObj>
              </mc:Choice>
              <mc:Fallback>
                <p:oleObj name="公式" r:id="rId5" imgW="89306400" imgH="5791200" progId="">
                  <p:embed/>
                  <p:pic>
                    <p:nvPicPr>
                      <p:cNvPr id="0" name="Picture 2" descr="image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405" y="1606550"/>
                        <a:ext cx="7927975" cy="515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48" name="Group 32"/>
          <p:cNvGrpSpPr/>
          <p:nvPr/>
        </p:nvGrpSpPr>
        <p:grpSpPr bwMode="auto">
          <a:xfrm>
            <a:off x="190500" y="169863"/>
            <a:ext cx="10999788" cy="979487"/>
            <a:chOff x="120" y="107"/>
            <a:chExt cx="6929" cy="6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9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120" y="107"/>
                  <a:ext cx="6929" cy="61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3200" i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l" eaLnBrk="1" hangingPunct="1">
                    <a:lnSpc>
                      <a:spcPct val="120000"/>
                    </a:lnSpc>
                    <a:spcBef>
                      <a:spcPct val="50000"/>
                    </a:spcBef>
                  </a:pPr>
                  <a:r>
                    <a:rPr lang="en-US" altLang="zh-CN" sz="2400" b="1" i="0" dirty="0"/>
                    <a:t>5. </a:t>
                  </a:r>
                  <a:r>
                    <a:rPr lang="zh-CN" altLang="en-US" sz="2400" b="1" i="0" dirty="0">
                      <a:solidFill>
                        <a:srgbClr val="FF3300"/>
                      </a:solidFill>
                    </a:rPr>
                    <a:t>例题</a:t>
                  </a:r>
                  <a:r>
                    <a:rPr lang="zh-CN" altLang="en-US" sz="2400" b="1" i="0" dirty="0"/>
                    <a:t> 某机构采用普通平键正常联结的</a:t>
                  </a:r>
                  <a14:m>
                    <m:oMath xmlns:m="http://schemas.openxmlformats.org/officeDocument/2006/math">
                      <m:r>
                        <a:rPr lang="az-Cyrl-AZ" altLang="zh-CN" sz="2400" b="1" i="1" dirty="0" smtClean="0">
                          <a:latin typeface="Cambria Math"/>
                          <a:ea typeface="Cambria Math"/>
                        </a:rPr>
                        <m:t>∅</m:t>
                      </m:r>
                    </m:oMath>
                  </a14:m>
                  <a:r>
                    <a:rPr lang="en-US" altLang="zh-CN" sz="2400" b="1" i="0" dirty="0"/>
                    <a:t>25H8       </a:t>
                  </a:r>
                  <a:r>
                    <a:rPr lang="zh-CN" altLang="en-US" sz="2400" b="1" i="0" dirty="0"/>
                    <a:t>孔， </a:t>
                  </a:r>
                  <a14:m>
                    <m:oMath xmlns:m="http://schemas.openxmlformats.org/officeDocument/2006/math">
                      <m:r>
                        <a:rPr lang="az-Cyrl-AZ" altLang="zh-CN" sz="2400" b="1" dirty="0">
                          <a:latin typeface="Cambria Math"/>
                          <a:ea typeface="Cambria Math"/>
                        </a:rPr>
                        <m:t>∅ </m:t>
                      </m:r>
                    </m:oMath>
                  </a14:m>
                  <a:r>
                    <a:rPr lang="en-US" altLang="zh-CN" sz="2400" b="1" i="0" dirty="0"/>
                    <a:t>25h7       </a:t>
                  </a:r>
                  <a:r>
                    <a:rPr lang="zh-CN" altLang="en-US" sz="2400" b="1" i="0" dirty="0"/>
                    <a:t>轴传递扭矩，查表确定键槽剖面尺寸和公差，，并将它们标注在零件图上。</a:t>
                  </a:r>
                </a:p>
              </p:txBody>
            </p:sp>
          </mc:Choice>
          <mc:Fallback xmlns="">
            <p:sp>
              <p:nvSpPr>
                <p:cNvPr id="14349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" y="107"/>
                  <a:ext cx="6929" cy="617"/>
                </a:xfrm>
                <a:prstGeom prst="rect">
                  <a:avLst/>
                </a:prstGeom>
                <a:blipFill rotWithShape="1">
                  <a:blip r:embed="rId7" cstate="print"/>
                  <a:stretch>
                    <a:fillRect l="-831" t="-3727" r="-166" b="-6832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4350" name="Picture 30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8" y="157"/>
              <a:ext cx="24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51" name="Picture 31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4" y="157"/>
              <a:ext cx="24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aphicFrame>
        <p:nvGraphicFramePr>
          <p:cNvPr id="34849" name="Object 33"/>
          <p:cNvGraphicFramePr>
            <a:graphicFrameLocks noChangeAspect="1"/>
          </p:cNvGraphicFramePr>
          <p:nvPr/>
        </p:nvGraphicFramePr>
        <p:xfrm>
          <a:off x="954405" y="2218055"/>
          <a:ext cx="8807450" cy="491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8" name="公式" r:id="rId9" imgW="103632000" imgH="5791200" progId="">
                  <p:embed/>
                </p:oleObj>
              </mc:Choice>
              <mc:Fallback>
                <p:oleObj name="公式" r:id="rId9" imgW="103632000" imgH="5791200" progId="">
                  <p:embed/>
                  <p:pic>
                    <p:nvPicPr>
                      <p:cNvPr id="0" name="Picture 1" descr="image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405" y="2218055"/>
                        <a:ext cx="8807450" cy="491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 bwMode="auto">
          <a:xfrm>
            <a:off x="5125403" y="630238"/>
            <a:ext cx="388937" cy="471487"/>
          </a:xfrm>
          <a:prstGeom prst="rect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2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4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4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48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8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48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34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8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34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6" grpId="0" bldLvl="0" animBg="1" autoUpdateAnimBg="0"/>
      <p:bldP spid="34835" grpId="0" animBg="1"/>
      <p:bldP spid="34840" grpId="0" animBg="1"/>
      <p:bldP spid="34842" grpId="0" animBg="1"/>
      <p:bldP spid="34843" grpId="0" animBg="1"/>
      <p:bldP spid="3484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39AEA1F-1799-4710-B308-DD2916D496E6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13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graphicFrame>
        <p:nvGraphicFramePr>
          <p:cNvPr id="80034" name="Object 1186"/>
          <p:cNvGraphicFramePr>
            <a:graphicFrameLocks noChangeAspect="1"/>
          </p:cNvGraphicFramePr>
          <p:nvPr/>
        </p:nvGraphicFramePr>
        <p:xfrm>
          <a:off x="889000" y="438785"/>
          <a:ext cx="845312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公式" r:id="rId3" imgW="89306400" imgH="5791200" progId="">
                  <p:embed/>
                </p:oleObj>
              </mc:Choice>
              <mc:Fallback>
                <p:oleObj name="公式" r:id="rId3" imgW="89306400" imgH="5791200" progId="">
                  <p:embed/>
                  <p:pic>
                    <p:nvPicPr>
                      <p:cNvPr id="0" name="Picture 5" descr="image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0" y="438785"/>
                        <a:ext cx="8453120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035" name="Object 1187"/>
          <p:cNvGraphicFramePr>
            <a:graphicFrameLocks noChangeAspect="1"/>
          </p:cNvGraphicFramePr>
          <p:nvPr/>
        </p:nvGraphicFramePr>
        <p:xfrm>
          <a:off x="904875" y="1089025"/>
          <a:ext cx="892619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0" name="公式" r:id="rId5" imgW="103632000" imgH="5791200" progId="">
                  <p:embed/>
                </p:oleObj>
              </mc:Choice>
              <mc:Fallback>
                <p:oleObj name="公式" r:id="rId5" imgW="103632000" imgH="5791200" progId="">
                  <p:embed/>
                  <p:pic>
                    <p:nvPicPr>
                      <p:cNvPr id="0" name="Picture 4" descr="image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75" y="1089025"/>
                        <a:ext cx="8926195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059" name="Group 1211"/>
          <p:cNvGrpSpPr/>
          <p:nvPr/>
        </p:nvGrpSpPr>
        <p:grpSpPr bwMode="auto">
          <a:xfrm>
            <a:off x="889000" y="1761490"/>
            <a:ext cx="9561162" cy="494665"/>
            <a:chOff x="3225" y="854"/>
            <a:chExt cx="6673" cy="458"/>
          </a:xfrm>
        </p:grpSpPr>
        <p:graphicFrame>
          <p:nvGraphicFramePr>
            <p:cNvPr id="15390" name="Object 1191"/>
            <p:cNvGraphicFramePr>
              <a:graphicFrameLocks noChangeAspect="1"/>
            </p:cNvGraphicFramePr>
            <p:nvPr/>
          </p:nvGraphicFramePr>
          <p:xfrm>
            <a:off x="3225" y="854"/>
            <a:ext cx="6459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1" name="公式" r:id="rId7" imgW="3555720" imgH="241200" progId="">
                    <p:embed/>
                  </p:oleObj>
                </mc:Choice>
                <mc:Fallback>
                  <p:oleObj name="公式" r:id="rId7" imgW="3555720" imgH="241200" progId="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854"/>
                          <a:ext cx="6459" cy="4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5391" name="Picture 1192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0" y="890"/>
              <a:ext cx="348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5392" name="Picture 119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0" y="889"/>
              <a:ext cx="348" cy="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0071" name="Group 1223"/>
          <p:cNvGrpSpPr/>
          <p:nvPr/>
        </p:nvGrpSpPr>
        <p:grpSpPr bwMode="auto">
          <a:xfrm>
            <a:off x="733425" y="2633715"/>
            <a:ext cx="4772025" cy="4032250"/>
            <a:chOff x="462" y="1960"/>
            <a:chExt cx="3006" cy="2557"/>
          </a:xfrm>
        </p:grpSpPr>
        <p:pic>
          <p:nvPicPr>
            <p:cNvPr id="15388" name="Picture 1188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" y="1960"/>
              <a:ext cx="3006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89" name="Line 1195"/>
            <p:cNvSpPr>
              <a:spLocks noChangeShapeType="1"/>
            </p:cNvSpPr>
            <p:nvPr/>
          </p:nvSpPr>
          <p:spPr bwMode="auto">
            <a:xfrm>
              <a:off x="1645" y="2753"/>
              <a:ext cx="1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077" name="Group 1229"/>
          <p:cNvGrpSpPr/>
          <p:nvPr/>
        </p:nvGrpSpPr>
        <p:grpSpPr bwMode="auto">
          <a:xfrm>
            <a:off x="5709466" y="2827390"/>
            <a:ext cx="4289425" cy="3838575"/>
            <a:chOff x="3516" y="2082"/>
            <a:chExt cx="2702" cy="2418"/>
          </a:xfrm>
        </p:grpSpPr>
        <p:pic>
          <p:nvPicPr>
            <p:cNvPr id="15385" name="Picture 1189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16" y="2082"/>
              <a:ext cx="2702" cy="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86" name="Line 1201"/>
            <p:cNvSpPr>
              <a:spLocks noChangeShapeType="1"/>
            </p:cNvSpPr>
            <p:nvPr/>
          </p:nvSpPr>
          <p:spPr bwMode="auto">
            <a:xfrm>
              <a:off x="4675" y="2914"/>
              <a:ext cx="11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7" name="Line 1202"/>
            <p:cNvSpPr>
              <a:spLocks noChangeShapeType="1"/>
            </p:cNvSpPr>
            <p:nvPr/>
          </p:nvSpPr>
          <p:spPr bwMode="auto">
            <a:xfrm>
              <a:off x="4675" y="2765"/>
              <a:ext cx="11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056" name="Group 1208"/>
          <p:cNvGrpSpPr/>
          <p:nvPr/>
        </p:nvGrpSpPr>
        <p:grpSpPr bwMode="auto">
          <a:xfrm>
            <a:off x="9081009" y="2890890"/>
            <a:ext cx="1065213" cy="1600200"/>
            <a:chOff x="5610" y="2124"/>
            <a:chExt cx="671" cy="1008"/>
          </a:xfrm>
        </p:grpSpPr>
        <p:sp>
          <p:nvSpPr>
            <p:cNvPr id="15381" name="Line 1203"/>
            <p:cNvSpPr>
              <a:spLocks noChangeShapeType="1"/>
            </p:cNvSpPr>
            <p:nvPr/>
          </p:nvSpPr>
          <p:spPr bwMode="auto">
            <a:xfrm>
              <a:off x="5610" y="2419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2" name="Line 1204"/>
            <p:cNvSpPr>
              <a:spLocks noChangeShapeType="1"/>
            </p:cNvSpPr>
            <p:nvPr/>
          </p:nvSpPr>
          <p:spPr bwMode="auto">
            <a:xfrm flipV="1">
              <a:off x="5610" y="2902"/>
              <a:ext cx="0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3" name="Line 1205"/>
            <p:cNvSpPr>
              <a:spLocks noChangeShapeType="1"/>
            </p:cNvSpPr>
            <p:nvPr/>
          </p:nvSpPr>
          <p:spPr bwMode="auto">
            <a:xfrm>
              <a:off x="5610" y="2419"/>
              <a:ext cx="6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84" name="Object 1206"/>
            <p:cNvGraphicFramePr>
              <a:graphicFrameLocks noChangeAspect="1"/>
            </p:cNvGraphicFramePr>
            <p:nvPr/>
          </p:nvGraphicFramePr>
          <p:xfrm>
            <a:off x="5648" y="2124"/>
            <a:ext cx="633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2" name="公式" r:id="rId12" imgW="15544800" imgH="5791200" progId="">
                    <p:embed/>
                  </p:oleObj>
                </mc:Choice>
                <mc:Fallback>
                  <p:oleObj name="公式" r:id="rId12" imgW="15544800" imgH="5791200" progId="">
                    <p:embed/>
                    <p:pic>
                      <p:nvPicPr>
                        <p:cNvPr id="0" name="Picture 2" descr="image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48" y="2124"/>
                          <a:ext cx="633" cy="2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062" name="Group 1214"/>
          <p:cNvGrpSpPr/>
          <p:nvPr/>
        </p:nvGrpSpPr>
        <p:grpSpPr bwMode="auto">
          <a:xfrm>
            <a:off x="9581072" y="2894065"/>
            <a:ext cx="565150" cy="550863"/>
            <a:chOff x="6474" y="3132"/>
            <a:chExt cx="356" cy="347"/>
          </a:xfrm>
        </p:grpSpPr>
        <p:sp>
          <p:nvSpPr>
            <p:cNvPr id="15379" name="Line 1212"/>
            <p:cNvSpPr>
              <a:spLocks noChangeShapeType="1"/>
            </p:cNvSpPr>
            <p:nvPr/>
          </p:nvSpPr>
          <p:spPr bwMode="auto">
            <a:xfrm flipH="1">
              <a:off x="6482" y="3156"/>
              <a:ext cx="348" cy="32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Line 1213"/>
            <p:cNvSpPr>
              <a:spLocks noChangeShapeType="1"/>
            </p:cNvSpPr>
            <p:nvPr/>
          </p:nvSpPr>
          <p:spPr bwMode="auto">
            <a:xfrm>
              <a:off x="6474" y="3132"/>
              <a:ext cx="356" cy="34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066" name="Group 1218"/>
          <p:cNvGrpSpPr/>
          <p:nvPr/>
        </p:nvGrpSpPr>
        <p:grpSpPr bwMode="auto">
          <a:xfrm>
            <a:off x="3995738" y="2827390"/>
            <a:ext cx="565150" cy="550863"/>
            <a:chOff x="6474" y="3132"/>
            <a:chExt cx="356" cy="347"/>
          </a:xfrm>
        </p:grpSpPr>
        <p:sp>
          <p:nvSpPr>
            <p:cNvPr id="15377" name="Line 1219"/>
            <p:cNvSpPr>
              <a:spLocks noChangeShapeType="1"/>
            </p:cNvSpPr>
            <p:nvPr/>
          </p:nvSpPr>
          <p:spPr bwMode="auto">
            <a:xfrm flipH="1">
              <a:off x="6482" y="3156"/>
              <a:ext cx="348" cy="32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Line 1220"/>
            <p:cNvSpPr>
              <a:spLocks noChangeShapeType="1"/>
            </p:cNvSpPr>
            <p:nvPr/>
          </p:nvSpPr>
          <p:spPr bwMode="auto">
            <a:xfrm>
              <a:off x="6474" y="3132"/>
              <a:ext cx="356" cy="34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0072" name="Group 1224"/>
          <p:cNvGrpSpPr/>
          <p:nvPr/>
        </p:nvGrpSpPr>
        <p:grpSpPr bwMode="auto">
          <a:xfrm>
            <a:off x="3752850" y="2827390"/>
            <a:ext cx="1009650" cy="1704975"/>
            <a:chOff x="2475" y="2082"/>
            <a:chExt cx="636" cy="1074"/>
          </a:xfrm>
        </p:grpSpPr>
        <p:sp>
          <p:nvSpPr>
            <p:cNvPr id="15373" name="Line 1225"/>
            <p:cNvSpPr>
              <a:spLocks noChangeShapeType="1"/>
            </p:cNvSpPr>
            <p:nvPr/>
          </p:nvSpPr>
          <p:spPr bwMode="auto">
            <a:xfrm>
              <a:off x="2523" y="2396"/>
              <a:ext cx="0" cy="3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4" name="Line 1226"/>
            <p:cNvSpPr>
              <a:spLocks noChangeShapeType="1"/>
            </p:cNvSpPr>
            <p:nvPr/>
          </p:nvSpPr>
          <p:spPr bwMode="auto">
            <a:xfrm flipV="1">
              <a:off x="2523" y="2926"/>
              <a:ext cx="0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375" name="Object 1227"/>
            <p:cNvGraphicFramePr>
              <a:graphicFrameLocks noChangeAspect="1"/>
            </p:cNvGraphicFramePr>
            <p:nvPr/>
          </p:nvGraphicFramePr>
          <p:xfrm>
            <a:off x="2475" y="2082"/>
            <a:ext cx="63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663" name="公式" r:id="rId14" imgW="12801600" imgH="5791200" progId="">
                    <p:embed/>
                  </p:oleObj>
                </mc:Choice>
                <mc:Fallback>
                  <p:oleObj name="公式" r:id="rId14" imgW="12801600" imgH="5791200" progId="">
                    <p:embed/>
                    <p:pic>
                      <p:nvPicPr>
                        <p:cNvPr id="0" name="Picture 1" descr="image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5" y="2082"/>
                          <a:ext cx="63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6" name="Line 1228"/>
            <p:cNvSpPr>
              <a:spLocks noChangeShapeType="1"/>
            </p:cNvSpPr>
            <p:nvPr/>
          </p:nvSpPr>
          <p:spPr bwMode="auto">
            <a:xfrm>
              <a:off x="2523" y="2396"/>
              <a:ext cx="46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80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80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8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2000"/>
                                        <p:tgtEl>
                                          <p:spTgt spid="80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8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2000" fill="hold"/>
                                        <p:tgtEl>
                                          <p:spTgt spid="8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8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2000"/>
                                        <p:tgtEl>
                                          <p:spTgt spid="8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D047430-F598-499E-9E72-9C7A39AF1374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14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85750" y="138113"/>
            <a:ext cx="103505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i="0"/>
              <a:t>(</a:t>
            </a:r>
            <a:r>
              <a:rPr lang="en-US" altLang="zh-CN" sz="2800" b="1" i="0"/>
              <a:t>3)</a:t>
            </a:r>
            <a:r>
              <a:rPr lang="zh-CN" altLang="en-US" sz="2800" b="1" i="0"/>
              <a:t>由表4.16查得键槽两则面对其轴线的对称度公差</a:t>
            </a:r>
            <a:r>
              <a:rPr lang="en-US" altLang="zh-CN" sz="2800" b="1" i="0"/>
              <a:t>(</a:t>
            </a:r>
            <a:r>
              <a:rPr lang="zh-CN" altLang="en-US" sz="2800" b="1" i="0"/>
              <a:t>若取</a:t>
            </a:r>
            <a:r>
              <a:rPr lang="en-US" altLang="zh-CN" sz="2800" b="1" i="0"/>
              <a:t>8</a:t>
            </a:r>
            <a:r>
              <a:rPr lang="zh-CN" altLang="en-US" sz="2800" b="1" i="0"/>
              <a:t>级</a:t>
            </a:r>
            <a:r>
              <a:rPr lang="en-US" altLang="zh-CN" sz="2800" b="1" i="0"/>
              <a:t>)</a:t>
            </a:r>
            <a:endParaRPr lang="zh-CN" altLang="en-US" sz="2800" b="1" i="0"/>
          </a:p>
        </p:txBody>
      </p:sp>
      <p:grpSp>
        <p:nvGrpSpPr>
          <p:cNvPr id="10364" name="Group 124"/>
          <p:cNvGrpSpPr/>
          <p:nvPr/>
        </p:nvGrpSpPr>
        <p:grpSpPr bwMode="auto">
          <a:xfrm>
            <a:off x="857250" y="4745038"/>
            <a:ext cx="8823325" cy="2773362"/>
            <a:chOff x="540" y="2809"/>
            <a:chExt cx="5558" cy="1747"/>
          </a:xfrm>
        </p:grpSpPr>
        <p:pic>
          <p:nvPicPr>
            <p:cNvPr id="16420" name="Picture 2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0" y="2827"/>
              <a:ext cx="5558" cy="17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421" name="Rectangle 123"/>
            <p:cNvSpPr>
              <a:spLocks noChangeArrowheads="1"/>
            </p:cNvSpPr>
            <p:nvPr/>
          </p:nvSpPr>
          <p:spPr bwMode="auto">
            <a:xfrm>
              <a:off x="1545" y="2809"/>
              <a:ext cx="576" cy="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zh-CN" altLang="en-US" sz="2000" i="0"/>
                <a:t>表4.16</a:t>
              </a:r>
            </a:p>
          </p:txBody>
        </p:sp>
      </p:grpSp>
      <p:sp>
        <p:nvSpPr>
          <p:cNvPr id="10365" name="Line 125"/>
          <p:cNvSpPr>
            <a:spLocks noChangeShapeType="1"/>
          </p:cNvSpPr>
          <p:nvPr/>
        </p:nvSpPr>
        <p:spPr bwMode="auto">
          <a:xfrm>
            <a:off x="936625" y="7235825"/>
            <a:ext cx="874395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66" name="Rectangle 126"/>
          <p:cNvSpPr>
            <a:spLocks noChangeArrowheads="1"/>
          </p:cNvSpPr>
          <p:nvPr/>
        </p:nvSpPr>
        <p:spPr bwMode="auto">
          <a:xfrm>
            <a:off x="5872163" y="6896100"/>
            <a:ext cx="1817687" cy="33972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368" name="Picture 12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908050"/>
            <a:ext cx="4510405" cy="3720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69" name="Group 129"/>
          <p:cNvGrpSpPr/>
          <p:nvPr/>
        </p:nvGrpSpPr>
        <p:grpSpPr bwMode="auto">
          <a:xfrm>
            <a:off x="3005138" y="4133850"/>
            <a:ext cx="1143000" cy="533400"/>
            <a:chOff x="6000" y="2304"/>
            <a:chExt cx="720" cy="336"/>
          </a:xfrm>
        </p:grpSpPr>
        <p:sp>
          <p:nvSpPr>
            <p:cNvPr id="16416" name="Rectangle 130"/>
            <p:cNvSpPr>
              <a:spLocks noChangeArrowheads="1"/>
            </p:cNvSpPr>
            <p:nvPr/>
          </p:nvSpPr>
          <p:spPr bwMode="auto">
            <a:xfrm>
              <a:off x="6432" y="2304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/>
                <a:t>A</a:t>
              </a:r>
            </a:p>
          </p:txBody>
        </p:sp>
        <p:grpSp>
          <p:nvGrpSpPr>
            <p:cNvPr id="16417" name="Group 131"/>
            <p:cNvGrpSpPr/>
            <p:nvPr/>
          </p:nvGrpSpPr>
          <p:grpSpPr bwMode="auto">
            <a:xfrm rot="-5400000">
              <a:off x="6048" y="2256"/>
              <a:ext cx="336" cy="432"/>
              <a:chOff x="6192" y="528"/>
              <a:chExt cx="336" cy="432"/>
            </a:xfrm>
          </p:grpSpPr>
          <p:sp>
            <p:nvSpPr>
              <p:cNvPr id="16418" name="AutoShape 132"/>
              <p:cNvSpPr>
                <a:spLocks noChangeArrowheads="1"/>
              </p:cNvSpPr>
              <p:nvPr/>
            </p:nvSpPr>
            <p:spPr bwMode="auto">
              <a:xfrm flipV="1">
                <a:off x="6192" y="528"/>
                <a:ext cx="336" cy="291"/>
              </a:xfrm>
              <a:prstGeom prst="triangle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9" name="Line 133"/>
              <p:cNvSpPr>
                <a:spLocks noChangeShapeType="1"/>
              </p:cNvSpPr>
              <p:nvPr/>
            </p:nvSpPr>
            <p:spPr bwMode="auto">
              <a:xfrm>
                <a:off x="6360" y="768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0374" name="Group 134"/>
          <p:cNvGrpSpPr/>
          <p:nvPr/>
        </p:nvGrpSpPr>
        <p:grpSpPr bwMode="auto">
          <a:xfrm>
            <a:off x="2814638" y="1335088"/>
            <a:ext cx="2000250" cy="508000"/>
            <a:chOff x="1392" y="624"/>
            <a:chExt cx="1008" cy="288"/>
          </a:xfrm>
        </p:grpSpPr>
        <p:sp>
          <p:nvSpPr>
            <p:cNvPr id="16409" name="Rectangle 135"/>
            <p:cNvSpPr>
              <a:spLocks noChangeArrowheads="1"/>
            </p:cNvSpPr>
            <p:nvPr/>
          </p:nvSpPr>
          <p:spPr bwMode="auto">
            <a:xfrm>
              <a:off x="1392" y="624"/>
              <a:ext cx="1008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400" i="0"/>
                <a:t>       0.015</a:t>
              </a:r>
              <a:r>
                <a:rPr lang="en-US" altLang="zh-CN"/>
                <a:t>  A</a:t>
              </a:r>
            </a:p>
          </p:txBody>
        </p:sp>
        <p:sp>
          <p:nvSpPr>
            <p:cNvPr id="16410" name="Line 136"/>
            <p:cNvSpPr>
              <a:spLocks noChangeShapeType="1"/>
            </p:cNvSpPr>
            <p:nvPr/>
          </p:nvSpPr>
          <p:spPr bwMode="auto">
            <a:xfrm>
              <a:off x="1680" y="6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1" name="Line 137"/>
            <p:cNvSpPr>
              <a:spLocks noChangeShapeType="1"/>
            </p:cNvSpPr>
            <p:nvPr/>
          </p:nvSpPr>
          <p:spPr bwMode="auto">
            <a:xfrm>
              <a:off x="2160" y="6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12" name="Group 138"/>
            <p:cNvGrpSpPr/>
            <p:nvPr/>
          </p:nvGrpSpPr>
          <p:grpSpPr bwMode="auto">
            <a:xfrm>
              <a:off x="1440" y="720"/>
              <a:ext cx="240" cy="96"/>
              <a:chOff x="4608" y="1536"/>
              <a:chExt cx="240" cy="96"/>
            </a:xfrm>
          </p:grpSpPr>
          <p:sp>
            <p:nvSpPr>
              <p:cNvPr id="16413" name="Line 139"/>
              <p:cNvSpPr>
                <a:spLocks noChangeShapeType="1"/>
              </p:cNvSpPr>
              <p:nvPr/>
            </p:nvSpPr>
            <p:spPr bwMode="auto">
              <a:xfrm>
                <a:off x="4656" y="1536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4" name="Line 140"/>
              <p:cNvSpPr>
                <a:spLocks noChangeShapeType="1"/>
              </p:cNvSpPr>
              <p:nvPr/>
            </p:nvSpPr>
            <p:spPr bwMode="auto">
              <a:xfrm>
                <a:off x="4656" y="1632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15" name="Line 141"/>
              <p:cNvSpPr>
                <a:spLocks noChangeShapeType="1"/>
              </p:cNvSpPr>
              <p:nvPr/>
            </p:nvSpPr>
            <p:spPr bwMode="auto">
              <a:xfrm>
                <a:off x="4608" y="158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0382" name="Picture 14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530" y="871855"/>
            <a:ext cx="4289425" cy="3756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83" name="Text Box 143"/>
          <p:cNvSpPr txBox="1">
            <a:spLocks noChangeArrowheads="1"/>
          </p:cNvSpPr>
          <p:nvPr/>
        </p:nvSpPr>
        <p:spPr bwMode="auto">
          <a:xfrm>
            <a:off x="8624888" y="717550"/>
            <a:ext cx="2387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b="1" dirty="0"/>
              <a:t>t  </a:t>
            </a:r>
            <a:r>
              <a:rPr lang="en-US" altLang="zh-CN" sz="2400" b="1" i="0" dirty="0"/>
              <a:t>=</a:t>
            </a:r>
            <a:r>
              <a:rPr lang="zh-CN" altLang="en-US" sz="2400" b="1" i="0" dirty="0"/>
              <a:t> </a:t>
            </a:r>
            <a:r>
              <a:rPr lang="en-US" altLang="zh-CN" sz="2800" b="1" i="0" dirty="0" smtClean="0">
                <a:solidFill>
                  <a:srgbClr val="FF3300"/>
                </a:solidFill>
              </a:rPr>
              <a:t>0.015</a:t>
            </a:r>
            <a:endParaRPr lang="zh-CN" altLang="en-US" sz="2800" i="0" dirty="0">
              <a:solidFill>
                <a:srgbClr val="FF3300"/>
              </a:solidFill>
            </a:endParaRPr>
          </a:p>
        </p:txBody>
      </p:sp>
      <p:grpSp>
        <p:nvGrpSpPr>
          <p:cNvPr id="10384" name="Group 144"/>
          <p:cNvGrpSpPr/>
          <p:nvPr/>
        </p:nvGrpSpPr>
        <p:grpSpPr bwMode="auto">
          <a:xfrm>
            <a:off x="7797800" y="1323975"/>
            <a:ext cx="2000250" cy="508000"/>
            <a:chOff x="1240" y="624"/>
            <a:chExt cx="1008" cy="288"/>
          </a:xfrm>
        </p:grpSpPr>
        <p:sp>
          <p:nvSpPr>
            <p:cNvPr id="16402" name="Rectangle 145"/>
            <p:cNvSpPr>
              <a:spLocks noChangeArrowheads="1"/>
            </p:cNvSpPr>
            <p:nvPr/>
          </p:nvSpPr>
          <p:spPr bwMode="auto">
            <a:xfrm>
              <a:off x="1240" y="624"/>
              <a:ext cx="1008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2400" i="0"/>
                <a:t>       0.015</a:t>
              </a:r>
              <a:r>
                <a:rPr lang="en-US" altLang="zh-CN"/>
                <a:t>  A</a:t>
              </a:r>
            </a:p>
          </p:txBody>
        </p:sp>
        <p:sp>
          <p:nvSpPr>
            <p:cNvPr id="16403" name="Line 146"/>
            <p:cNvSpPr>
              <a:spLocks noChangeShapeType="1"/>
            </p:cNvSpPr>
            <p:nvPr/>
          </p:nvSpPr>
          <p:spPr bwMode="auto">
            <a:xfrm>
              <a:off x="1560" y="6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4" name="Line 147"/>
            <p:cNvSpPr>
              <a:spLocks noChangeShapeType="1"/>
            </p:cNvSpPr>
            <p:nvPr/>
          </p:nvSpPr>
          <p:spPr bwMode="auto">
            <a:xfrm>
              <a:off x="1992" y="6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405" name="Group 148"/>
            <p:cNvGrpSpPr/>
            <p:nvPr/>
          </p:nvGrpSpPr>
          <p:grpSpPr bwMode="auto">
            <a:xfrm>
              <a:off x="1264" y="720"/>
              <a:ext cx="240" cy="96"/>
              <a:chOff x="4432" y="1536"/>
              <a:chExt cx="240" cy="96"/>
            </a:xfrm>
          </p:grpSpPr>
          <p:sp>
            <p:nvSpPr>
              <p:cNvPr id="16406" name="Line 149"/>
              <p:cNvSpPr>
                <a:spLocks noChangeShapeType="1"/>
              </p:cNvSpPr>
              <p:nvPr/>
            </p:nvSpPr>
            <p:spPr bwMode="auto">
              <a:xfrm>
                <a:off x="4496" y="1536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7" name="Line 150"/>
              <p:cNvSpPr>
                <a:spLocks noChangeShapeType="1"/>
              </p:cNvSpPr>
              <p:nvPr/>
            </p:nvSpPr>
            <p:spPr bwMode="auto">
              <a:xfrm>
                <a:off x="4512" y="1632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408" name="Line 151"/>
              <p:cNvSpPr>
                <a:spLocks noChangeShapeType="1"/>
              </p:cNvSpPr>
              <p:nvPr/>
            </p:nvSpPr>
            <p:spPr bwMode="auto">
              <a:xfrm>
                <a:off x="4432" y="1584"/>
                <a:ext cx="24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0392" name="Group 152"/>
          <p:cNvGrpSpPr/>
          <p:nvPr/>
        </p:nvGrpSpPr>
        <p:grpSpPr bwMode="auto">
          <a:xfrm>
            <a:off x="8075613" y="4133850"/>
            <a:ext cx="1143000" cy="533400"/>
            <a:chOff x="6000" y="2304"/>
            <a:chExt cx="720" cy="336"/>
          </a:xfrm>
        </p:grpSpPr>
        <p:sp>
          <p:nvSpPr>
            <p:cNvPr id="16398" name="Rectangle 153"/>
            <p:cNvSpPr>
              <a:spLocks noChangeArrowheads="1"/>
            </p:cNvSpPr>
            <p:nvPr/>
          </p:nvSpPr>
          <p:spPr bwMode="auto">
            <a:xfrm>
              <a:off x="6432" y="2304"/>
              <a:ext cx="288" cy="2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/>
                <a:t>A</a:t>
              </a:r>
            </a:p>
          </p:txBody>
        </p:sp>
        <p:grpSp>
          <p:nvGrpSpPr>
            <p:cNvPr id="16399" name="Group 154"/>
            <p:cNvGrpSpPr/>
            <p:nvPr/>
          </p:nvGrpSpPr>
          <p:grpSpPr bwMode="auto">
            <a:xfrm rot="-5400000">
              <a:off x="6048" y="2256"/>
              <a:ext cx="336" cy="432"/>
              <a:chOff x="6192" y="528"/>
              <a:chExt cx="336" cy="432"/>
            </a:xfrm>
          </p:grpSpPr>
          <p:sp>
            <p:nvSpPr>
              <p:cNvPr id="16400" name="AutoShape 155"/>
              <p:cNvSpPr>
                <a:spLocks noChangeArrowheads="1"/>
              </p:cNvSpPr>
              <p:nvPr/>
            </p:nvSpPr>
            <p:spPr bwMode="auto">
              <a:xfrm flipV="1">
                <a:off x="6192" y="528"/>
                <a:ext cx="336" cy="291"/>
              </a:xfrm>
              <a:prstGeom prst="triangle">
                <a:avLst>
                  <a:gd name="adj" fmla="val 50000"/>
                </a:avLst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01" name="Line 156"/>
              <p:cNvSpPr>
                <a:spLocks noChangeShapeType="1"/>
              </p:cNvSpPr>
              <p:nvPr/>
            </p:nvSpPr>
            <p:spPr bwMode="auto">
              <a:xfrm>
                <a:off x="6360" y="768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1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1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2000" fill="hold"/>
                                        <p:tgtEl>
                                          <p:spTgt spid="10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10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10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0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000" fill="hold"/>
                                        <p:tgtEl>
                                          <p:spTgt spid="10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000" fill="hold"/>
                                        <p:tgtEl>
                                          <p:spTgt spid="10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1" dur="500"/>
                                        <p:tgtEl>
                                          <p:spTgt spid="1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  <p:bldP spid="10365" grpId="0" animBg="1"/>
      <p:bldP spid="10366" grpId="0" animBg="1"/>
      <p:bldP spid="1038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556FA8-123E-4380-BEB3-D55F54AD79AC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15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81924" name="Text Box 4"/>
          <p:cNvSpPr txBox="1">
            <a:spLocks noChangeArrowheads="1"/>
          </p:cNvSpPr>
          <p:nvPr/>
        </p:nvSpPr>
        <p:spPr bwMode="auto">
          <a:xfrm>
            <a:off x="571500" y="785611"/>
            <a:ext cx="102203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(</a:t>
            </a:r>
            <a:r>
              <a:rPr lang="en-US" altLang="zh-CN" sz="2800" b="1" i="0" dirty="0"/>
              <a:t>4) </a:t>
            </a:r>
            <a:r>
              <a:rPr lang="zh-CN" altLang="en-US" sz="2800" b="1" i="0" dirty="0"/>
              <a:t>键槽侧面粗糙度轮廓</a:t>
            </a:r>
            <a:r>
              <a:rPr lang="en-US" altLang="zh-CN" sz="2800" b="1" dirty="0"/>
              <a:t>Ra</a:t>
            </a:r>
            <a:r>
              <a:rPr lang="zh-CN" altLang="en-US" sz="2800" b="1" i="0" dirty="0"/>
              <a:t>上限值:1.6~3.2 </a:t>
            </a:r>
            <a:r>
              <a:rPr lang="en-US" altLang="zh-CN" sz="2800" b="1" i="0" dirty="0" err="1"/>
              <a:t>μm</a:t>
            </a:r>
            <a:r>
              <a:rPr lang="en-US" altLang="zh-CN" sz="2800" b="1" i="0" dirty="0"/>
              <a:t> ,</a:t>
            </a:r>
            <a:r>
              <a:rPr lang="zh-CN" altLang="en-US" sz="2800" b="1" i="0" dirty="0"/>
              <a:t>取</a:t>
            </a:r>
            <a:r>
              <a:rPr lang="zh-CN" altLang="en-US" sz="2800" b="1" i="0" dirty="0">
                <a:solidFill>
                  <a:srgbClr val="FF3300"/>
                </a:solidFill>
              </a:rPr>
              <a:t>3.2</a:t>
            </a:r>
            <a:r>
              <a:rPr lang="en-US" altLang="zh-CN" sz="2800" b="1" i="0" dirty="0" err="1"/>
              <a:t>μm</a:t>
            </a:r>
            <a:r>
              <a:rPr lang="en-US" altLang="zh-CN" sz="2800" b="1" i="0" dirty="0"/>
              <a:t> </a:t>
            </a:r>
            <a:endParaRPr lang="zh-CN" altLang="en-US" sz="2800" b="1" i="0" dirty="0"/>
          </a:p>
        </p:txBody>
      </p:sp>
      <p:sp>
        <p:nvSpPr>
          <p:cNvPr id="82036" name="Text Box 116"/>
          <p:cNvSpPr txBox="1">
            <a:spLocks noChangeArrowheads="1"/>
          </p:cNvSpPr>
          <p:nvPr/>
        </p:nvSpPr>
        <p:spPr bwMode="auto">
          <a:xfrm>
            <a:off x="952500" y="1383045"/>
            <a:ext cx="78803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键槽侧底面粗糙度轮廓</a:t>
            </a:r>
            <a:r>
              <a:rPr lang="en-US" altLang="zh-CN" sz="2800" b="1"/>
              <a:t>Ra</a:t>
            </a:r>
            <a:r>
              <a:rPr lang="zh-CN" altLang="en-US" sz="2800" b="1" i="0"/>
              <a:t>上限值:取</a:t>
            </a:r>
            <a:r>
              <a:rPr lang="en-US" altLang="zh-CN" sz="2800" b="1" i="0">
                <a:solidFill>
                  <a:srgbClr val="FF3300"/>
                </a:solidFill>
              </a:rPr>
              <a:t>6.3</a:t>
            </a:r>
            <a:r>
              <a:rPr lang="en-US" altLang="zh-CN" sz="2800" b="1" i="0"/>
              <a:t>μm </a:t>
            </a:r>
            <a:endParaRPr lang="zh-CN" altLang="en-US" sz="2800" b="1" i="0"/>
          </a:p>
        </p:txBody>
      </p:sp>
      <p:grpSp>
        <p:nvGrpSpPr>
          <p:cNvPr id="82065" name="Group 145"/>
          <p:cNvGrpSpPr/>
          <p:nvPr/>
        </p:nvGrpSpPr>
        <p:grpSpPr bwMode="auto">
          <a:xfrm>
            <a:off x="642596" y="2588677"/>
            <a:ext cx="4624388" cy="3854450"/>
            <a:chOff x="120" y="1592"/>
            <a:chExt cx="2913" cy="2428"/>
          </a:xfrm>
        </p:grpSpPr>
        <p:pic>
          <p:nvPicPr>
            <p:cNvPr id="17463" name="Picture 1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" y="1592"/>
              <a:ext cx="2841" cy="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464" name="Group 118"/>
            <p:cNvGrpSpPr/>
            <p:nvPr/>
          </p:nvGrpSpPr>
          <p:grpSpPr bwMode="auto">
            <a:xfrm>
              <a:off x="1893" y="3684"/>
              <a:ext cx="720" cy="336"/>
              <a:chOff x="6000" y="2304"/>
              <a:chExt cx="720" cy="336"/>
            </a:xfrm>
          </p:grpSpPr>
          <p:sp>
            <p:nvSpPr>
              <p:cNvPr id="17473" name="Rectangle 119"/>
              <p:cNvSpPr>
                <a:spLocks noChangeArrowheads="1"/>
              </p:cNvSpPr>
              <p:nvPr/>
            </p:nvSpPr>
            <p:spPr bwMode="auto">
              <a:xfrm>
                <a:off x="6432" y="2304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A</a:t>
                </a:r>
              </a:p>
            </p:txBody>
          </p:sp>
          <p:grpSp>
            <p:nvGrpSpPr>
              <p:cNvPr id="17474" name="Group 120"/>
              <p:cNvGrpSpPr/>
              <p:nvPr/>
            </p:nvGrpSpPr>
            <p:grpSpPr bwMode="auto">
              <a:xfrm rot="-5400000">
                <a:off x="6048" y="2256"/>
                <a:ext cx="336" cy="432"/>
                <a:chOff x="6192" y="528"/>
                <a:chExt cx="336" cy="432"/>
              </a:xfrm>
            </p:grpSpPr>
            <p:sp>
              <p:nvSpPr>
                <p:cNvPr id="17475" name="AutoShape 121"/>
                <p:cNvSpPr>
                  <a:spLocks noChangeArrowheads="1"/>
                </p:cNvSpPr>
                <p:nvPr/>
              </p:nvSpPr>
              <p:spPr bwMode="auto">
                <a:xfrm flipV="1">
                  <a:off x="6192" y="528"/>
                  <a:ext cx="336" cy="2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76" name="Line 122"/>
                <p:cNvSpPr>
                  <a:spLocks noChangeShapeType="1"/>
                </p:cNvSpPr>
                <p:nvPr/>
              </p:nvSpPr>
              <p:spPr bwMode="auto">
                <a:xfrm>
                  <a:off x="6360" y="768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465" name="Group 123"/>
            <p:cNvGrpSpPr/>
            <p:nvPr/>
          </p:nvGrpSpPr>
          <p:grpSpPr bwMode="auto">
            <a:xfrm>
              <a:off x="1773" y="1861"/>
              <a:ext cx="1260" cy="320"/>
              <a:chOff x="1392" y="624"/>
              <a:chExt cx="1008" cy="288"/>
            </a:xfrm>
          </p:grpSpPr>
          <p:sp>
            <p:nvSpPr>
              <p:cNvPr id="17466" name="Rectangle 124"/>
              <p:cNvSpPr>
                <a:spLocks noChangeArrowheads="1"/>
              </p:cNvSpPr>
              <p:nvPr/>
            </p:nvSpPr>
            <p:spPr bwMode="auto">
              <a:xfrm>
                <a:off x="1392" y="624"/>
                <a:ext cx="1008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sz="2400" i="0"/>
                  <a:t>       0.015</a:t>
                </a:r>
                <a:r>
                  <a:rPr lang="en-US" altLang="zh-CN"/>
                  <a:t>  A</a:t>
                </a:r>
              </a:p>
            </p:txBody>
          </p:sp>
          <p:sp>
            <p:nvSpPr>
              <p:cNvPr id="17467" name="Line 125"/>
              <p:cNvSpPr>
                <a:spLocks noChangeShapeType="1"/>
              </p:cNvSpPr>
              <p:nvPr/>
            </p:nvSpPr>
            <p:spPr bwMode="auto">
              <a:xfrm>
                <a:off x="1680" y="62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8" name="Line 126"/>
              <p:cNvSpPr>
                <a:spLocks noChangeShapeType="1"/>
              </p:cNvSpPr>
              <p:nvPr/>
            </p:nvSpPr>
            <p:spPr bwMode="auto">
              <a:xfrm>
                <a:off x="2160" y="62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469" name="Group 127"/>
              <p:cNvGrpSpPr/>
              <p:nvPr/>
            </p:nvGrpSpPr>
            <p:grpSpPr bwMode="auto">
              <a:xfrm>
                <a:off x="1440" y="720"/>
                <a:ext cx="240" cy="96"/>
                <a:chOff x="4608" y="1536"/>
                <a:chExt cx="240" cy="96"/>
              </a:xfrm>
            </p:grpSpPr>
            <p:sp>
              <p:nvSpPr>
                <p:cNvPr id="17470" name="Line 128"/>
                <p:cNvSpPr>
                  <a:spLocks noChangeShapeType="1"/>
                </p:cNvSpPr>
                <p:nvPr/>
              </p:nvSpPr>
              <p:spPr bwMode="auto">
                <a:xfrm>
                  <a:off x="4656" y="1536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71" name="Line 129"/>
                <p:cNvSpPr>
                  <a:spLocks noChangeShapeType="1"/>
                </p:cNvSpPr>
                <p:nvPr/>
              </p:nvSpPr>
              <p:spPr bwMode="auto">
                <a:xfrm>
                  <a:off x="4656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72" name="Line 130"/>
                <p:cNvSpPr>
                  <a:spLocks noChangeShapeType="1"/>
                </p:cNvSpPr>
                <p:nvPr/>
              </p:nvSpPr>
              <p:spPr bwMode="auto">
                <a:xfrm>
                  <a:off x="4608" y="158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2066" name="Group 146"/>
          <p:cNvGrpSpPr/>
          <p:nvPr/>
        </p:nvGrpSpPr>
        <p:grpSpPr bwMode="auto">
          <a:xfrm>
            <a:off x="6395696" y="2647414"/>
            <a:ext cx="4518025" cy="3838575"/>
            <a:chOff x="3216" y="1917"/>
            <a:chExt cx="2846" cy="2418"/>
          </a:xfrm>
        </p:grpSpPr>
        <p:pic>
          <p:nvPicPr>
            <p:cNvPr id="17449" name="Picture 13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1917"/>
              <a:ext cx="2702" cy="24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7450" name="Group 132"/>
            <p:cNvGrpSpPr/>
            <p:nvPr/>
          </p:nvGrpSpPr>
          <p:grpSpPr bwMode="auto">
            <a:xfrm>
              <a:off x="4802" y="2190"/>
              <a:ext cx="1260" cy="320"/>
              <a:chOff x="1392" y="624"/>
              <a:chExt cx="1008" cy="288"/>
            </a:xfrm>
          </p:grpSpPr>
          <p:sp>
            <p:nvSpPr>
              <p:cNvPr id="17456" name="Rectangle 133"/>
              <p:cNvSpPr>
                <a:spLocks noChangeArrowheads="1"/>
              </p:cNvSpPr>
              <p:nvPr/>
            </p:nvSpPr>
            <p:spPr bwMode="auto">
              <a:xfrm>
                <a:off x="1392" y="624"/>
                <a:ext cx="1008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sz="2400" i="0"/>
                  <a:t>       0.015</a:t>
                </a:r>
                <a:r>
                  <a:rPr lang="en-US" altLang="zh-CN"/>
                  <a:t>  A</a:t>
                </a:r>
              </a:p>
            </p:txBody>
          </p:sp>
          <p:sp>
            <p:nvSpPr>
              <p:cNvPr id="17457" name="Line 134"/>
              <p:cNvSpPr>
                <a:spLocks noChangeShapeType="1"/>
              </p:cNvSpPr>
              <p:nvPr/>
            </p:nvSpPr>
            <p:spPr bwMode="auto">
              <a:xfrm>
                <a:off x="1680" y="62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8" name="Line 135"/>
              <p:cNvSpPr>
                <a:spLocks noChangeShapeType="1"/>
              </p:cNvSpPr>
              <p:nvPr/>
            </p:nvSpPr>
            <p:spPr bwMode="auto">
              <a:xfrm>
                <a:off x="2160" y="624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7459" name="Group 136"/>
              <p:cNvGrpSpPr/>
              <p:nvPr/>
            </p:nvGrpSpPr>
            <p:grpSpPr bwMode="auto">
              <a:xfrm>
                <a:off x="1440" y="720"/>
                <a:ext cx="240" cy="96"/>
                <a:chOff x="4608" y="1536"/>
                <a:chExt cx="240" cy="96"/>
              </a:xfrm>
            </p:grpSpPr>
            <p:sp>
              <p:nvSpPr>
                <p:cNvPr id="17460" name="Line 137"/>
                <p:cNvSpPr>
                  <a:spLocks noChangeShapeType="1"/>
                </p:cNvSpPr>
                <p:nvPr/>
              </p:nvSpPr>
              <p:spPr bwMode="auto">
                <a:xfrm>
                  <a:off x="4656" y="1536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61" name="Line 138"/>
                <p:cNvSpPr>
                  <a:spLocks noChangeShapeType="1"/>
                </p:cNvSpPr>
                <p:nvPr/>
              </p:nvSpPr>
              <p:spPr bwMode="auto">
                <a:xfrm>
                  <a:off x="4656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62" name="Line 139"/>
                <p:cNvSpPr>
                  <a:spLocks noChangeShapeType="1"/>
                </p:cNvSpPr>
                <p:nvPr/>
              </p:nvSpPr>
              <p:spPr bwMode="auto">
                <a:xfrm>
                  <a:off x="4608" y="1584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7451" name="Group 140"/>
            <p:cNvGrpSpPr/>
            <p:nvPr/>
          </p:nvGrpSpPr>
          <p:grpSpPr bwMode="auto">
            <a:xfrm>
              <a:off x="4982" y="3996"/>
              <a:ext cx="720" cy="336"/>
              <a:chOff x="6000" y="2304"/>
              <a:chExt cx="720" cy="336"/>
            </a:xfrm>
          </p:grpSpPr>
          <p:sp>
            <p:nvSpPr>
              <p:cNvPr id="17452" name="Rectangle 141"/>
              <p:cNvSpPr>
                <a:spLocks noChangeArrowheads="1"/>
              </p:cNvSpPr>
              <p:nvPr/>
            </p:nvSpPr>
            <p:spPr bwMode="auto">
              <a:xfrm>
                <a:off x="6432" y="2304"/>
                <a:ext cx="288" cy="2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2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A</a:t>
                </a:r>
              </a:p>
            </p:txBody>
          </p:sp>
          <p:grpSp>
            <p:nvGrpSpPr>
              <p:cNvPr id="17453" name="Group 142"/>
              <p:cNvGrpSpPr/>
              <p:nvPr/>
            </p:nvGrpSpPr>
            <p:grpSpPr bwMode="auto">
              <a:xfrm rot="-5400000">
                <a:off x="6048" y="2256"/>
                <a:ext cx="336" cy="432"/>
                <a:chOff x="6192" y="528"/>
                <a:chExt cx="336" cy="432"/>
              </a:xfrm>
            </p:grpSpPr>
            <p:sp>
              <p:nvSpPr>
                <p:cNvPr id="17454" name="AutoShape 143"/>
                <p:cNvSpPr>
                  <a:spLocks noChangeArrowheads="1"/>
                </p:cNvSpPr>
                <p:nvPr/>
              </p:nvSpPr>
              <p:spPr bwMode="auto">
                <a:xfrm flipV="1">
                  <a:off x="6192" y="528"/>
                  <a:ext cx="336" cy="291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55" name="Line 144"/>
                <p:cNvSpPr>
                  <a:spLocks noChangeShapeType="1"/>
                </p:cNvSpPr>
                <p:nvPr/>
              </p:nvSpPr>
              <p:spPr bwMode="auto">
                <a:xfrm>
                  <a:off x="6360" y="768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2078" name="Group 158"/>
          <p:cNvGrpSpPr/>
          <p:nvPr/>
        </p:nvGrpSpPr>
        <p:grpSpPr bwMode="auto">
          <a:xfrm>
            <a:off x="5190784" y="3531652"/>
            <a:ext cx="2979737" cy="704850"/>
            <a:chOff x="3261" y="2186"/>
            <a:chExt cx="1877" cy="444"/>
          </a:xfrm>
        </p:grpSpPr>
        <p:sp>
          <p:nvSpPr>
            <p:cNvPr id="17441" name="Line 149"/>
            <p:cNvSpPr>
              <a:spLocks noChangeShapeType="1"/>
            </p:cNvSpPr>
            <p:nvPr/>
          </p:nvSpPr>
          <p:spPr bwMode="auto">
            <a:xfrm>
              <a:off x="3261" y="2630"/>
              <a:ext cx="88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Line 150"/>
            <p:cNvSpPr>
              <a:spLocks noChangeShapeType="1"/>
            </p:cNvSpPr>
            <p:nvPr/>
          </p:nvSpPr>
          <p:spPr bwMode="auto">
            <a:xfrm flipH="1">
              <a:off x="4141" y="2330"/>
              <a:ext cx="997" cy="3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43" name="Group 151"/>
            <p:cNvGrpSpPr/>
            <p:nvPr/>
          </p:nvGrpSpPr>
          <p:grpSpPr bwMode="auto">
            <a:xfrm>
              <a:off x="3332" y="2186"/>
              <a:ext cx="989" cy="432"/>
              <a:chOff x="5952" y="624"/>
              <a:chExt cx="989" cy="432"/>
            </a:xfrm>
          </p:grpSpPr>
          <p:grpSp>
            <p:nvGrpSpPr>
              <p:cNvPr id="17444" name="Group 152"/>
              <p:cNvGrpSpPr/>
              <p:nvPr/>
            </p:nvGrpSpPr>
            <p:grpSpPr bwMode="auto">
              <a:xfrm>
                <a:off x="5952" y="624"/>
                <a:ext cx="912" cy="432"/>
                <a:chOff x="5952" y="624"/>
                <a:chExt cx="912" cy="432"/>
              </a:xfrm>
            </p:grpSpPr>
            <p:sp>
              <p:nvSpPr>
                <p:cNvPr id="17446" name="AutoShape 153"/>
                <p:cNvSpPr>
                  <a:spLocks noChangeArrowheads="1"/>
                </p:cNvSpPr>
                <p:nvPr/>
              </p:nvSpPr>
              <p:spPr bwMode="auto">
                <a:xfrm flipH="1" flipV="1">
                  <a:off x="5952" y="864"/>
                  <a:ext cx="240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i="0"/>
                </a:p>
              </p:txBody>
            </p:sp>
            <p:sp>
              <p:nvSpPr>
                <p:cNvPr id="17447" name="Line 154"/>
                <p:cNvSpPr>
                  <a:spLocks noChangeShapeType="1"/>
                </p:cNvSpPr>
                <p:nvPr/>
              </p:nvSpPr>
              <p:spPr bwMode="auto">
                <a:xfrm flipV="1">
                  <a:off x="6192" y="624"/>
                  <a:ext cx="139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8" name="Line 155"/>
                <p:cNvSpPr>
                  <a:spLocks noChangeShapeType="1"/>
                </p:cNvSpPr>
                <p:nvPr/>
              </p:nvSpPr>
              <p:spPr bwMode="auto">
                <a:xfrm>
                  <a:off x="6336" y="624"/>
                  <a:ext cx="52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45" name="Text Box 156"/>
              <p:cNvSpPr txBox="1">
                <a:spLocks noChangeArrowheads="1"/>
              </p:cNvSpPr>
              <p:nvPr/>
            </p:nvSpPr>
            <p:spPr bwMode="auto">
              <a:xfrm>
                <a:off x="6259" y="647"/>
                <a:ext cx="682" cy="2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rgbClr val="FF3300"/>
                    </a:solidFill>
                  </a:rPr>
                  <a:t>Ra  </a:t>
                </a:r>
                <a:r>
                  <a:rPr lang="en-US" altLang="zh-CN" sz="2000" b="1" i="0">
                    <a:solidFill>
                      <a:srgbClr val="FF3300"/>
                    </a:solidFill>
                  </a:rPr>
                  <a:t>6.3</a:t>
                </a:r>
              </a:p>
            </p:txBody>
          </p:sp>
        </p:grpSp>
      </p:grpSp>
      <p:grpSp>
        <p:nvGrpSpPr>
          <p:cNvPr id="82086" name="Group 166"/>
          <p:cNvGrpSpPr/>
          <p:nvPr/>
        </p:nvGrpSpPr>
        <p:grpSpPr bwMode="auto">
          <a:xfrm>
            <a:off x="6046446" y="2626777"/>
            <a:ext cx="1616075" cy="727075"/>
            <a:chOff x="3764" y="1616"/>
            <a:chExt cx="1018" cy="458"/>
          </a:xfrm>
        </p:grpSpPr>
        <p:sp>
          <p:nvSpPr>
            <p:cNvPr id="17434" name="Line 159"/>
            <p:cNvSpPr>
              <a:spLocks noChangeShapeType="1"/>
            </p:cNvSpPr>
            <p:nvPr/>
          </p:nvSpPr>
          <p:spPr bwMode="auto">
            <a:xfrm>
              <a:off x="3807" y="2062"/>
              <a:ext cx="894" cy="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35" name="Group 160"/>
            <p:cNvGrpSpPr/>
            <p:nvPr/>
          </p:nvGrpSpPr>
          <p:grpSpPr bwMode="auto">
            <a:xfrm>
              <a:off x="3764" y="1616"/>
              <a:ext cx="1018" cy="432"/>
              <a:chOff x="5952" y="624"/>
              <a:chExt cx="1018" cy="432"/>
            </a:xfrm>
          </p:grpSpPr>
          <p:grpSp>
            <p:nvGrpSpPr>
              <p:cNvPr id="17436" name="Group 161"/>
              <p:cNvGrpSpPr/>
              <p:nvPr/>
            </p:nvGrpSpPr>
            <p:grpSpPr bwMode="auto">
              <a:xfrm>
                <a:off x="5952" y="624"/>
                <a:ext cx="912" cy="432"/>
                <a:chOff x="5952" y="624"/>
                <a:chExt cx="912" cy="432"/>
              </a:xfrm>
            </p:grpSpPr>
            <p:sp>
              <p:nvSpPr>
                <p:cNvPr id="17438" name="AutoShape 162"/>
                <p:cNvSpPr>
                  <a:spLocks noChangeArrowheads="1"/>
                </p:cNvSpPr>
                <p:nvPr/>
              </p:nvSpPr>
              <p:spPr bwMode="auto">
                <a:xfrm flipH="1" flipV="1">
                  <a:off x="5952" y="864"/>
                  <a:ext cx="240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i="0"/>
                </a:p>
              </p:txBody>
            </p:sp>
            <p:sp>
              <p:nvSpPr>
                <p:cNvPr id="17439" name="Line 163"/>
                <p:cNvSpPr>
                  <a:spLocks noChangeShapeType="1"/>
                </p:cNvSpPr>
                <p:nvPr/>
              </p:nvSpPr>
              <p:spPr bwMode="auto">
                <a:xfrm flipV="1">
                  <a:off x="6192" y="624"/>
                  <a:ext cx="139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0" name="Line 164"/>
                <p:cNvSpPr>
                  <a:spLocks noChangeShapeType="1"/>
                </p:cNvSpPr>
                <p:nvPr/>
              </p:nvSpPr>
              <p:spPr bwMode="auto">
                <a:xfrm>
                  <a:off x="6336" y="624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37" name="Text Box 165"/>
              <p:cNvSpPr txBox="1">
                <a:spLocks noChangeArrowheads="1"/>
              </p:cNvSpPr>
              <p:nvPr/>
            </p:nvSpPr>
            <p:spPr bwMode="auto">
              <a:xfrm>
                <a:off x="6288" y="624"/>
                <a:ext cx="6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rgbClr val="FF3300"/>
                    </a:solidFill>
                  </a:rPr>
                  <a:t>Ra  </a:t>
                </a:r>
                <a:r>
                  <a:rPr lang="en-US" altLang="zh-CN" sz="2000" b="1" i="0">
                    <a:solidFill>
                      <a:srgbClr val="FF3300"/>
                    </a:solidFill>
                  </a:rPr>
                  <a:t>3.2</a:t>
                </a:r>
              </a:p>
            </p:txBody>
          </p:sp>
        </p:grpSp>
      </p:grpSp>
      <p:grpSp>
        <p:nvGrpSpPr>
          <p:cNvPr id="82100" name="Group 180"/>
          <p:cNvGrpSpPr/>
          <p:nvPr/>
        </p:nvGrpSpPr>
        <p:grpSpPr bwMode="auto">
          <a:xfrm>
            <a:off x="375896" y="3599914"/>
            <a:ext cx="2128838" cy="688975"/>
            <a:chOff x="180" y="2229"/>
            <a:chExt cx="1341" cy="434"/>
          </a:xfrm>
        </p:grpSpPr>
        <p:sp>
          <p:nvSpPr>
            <p:cNvPr id="17426" name="Line 171"/>
            <p:cNvSpPr>
              <a:spLocks noChangeShapeType="1"/>
            </p:cNvSpPr>
            <p:nvPr/>
          </p:nvSpPr>
          <p:spPr bwMode="auto">
            <a:xfrm flipV="1">
              <a:off x="600" y="2496"/>
              <a:ext cx="921" cy="16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7" name="Line 172"/>
            <p:cNvSpPr>
              <a:spLocks noChangeShapeType="1"/>
            </p:cNvSpPr>
            <p:nvPr/>
          </p:nvSpPr>
          <p:spPr bwMode="auto">
            <a:xfrm>
              <a:off x="180" y="2663"/>
              <a:ext cx="41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28" name="Group 173"/>
            <p:cNvGrpSpPr/>
            <p:nvPr/>
          </p:nvGrpSpPr>
          <p:grpSpPr bwMode="auto">
            <a:xfrm>
              <a:off x="204" y="2229"/>
              <a:ext cx="1018" cy="432"/>
              <a:chOff x="5952" y="624"/>
              <a:chExt cx="1018" cy="432"/>
            </a:xfrm>
          </p:grpSpPr>
          <p:grpSp>
            <p:nvGrpSpPr>
              <p:cNvPr id="17429" name="Group 174"/>
              <p:cNvGrpSpPr/>
              <p:nvPr/>
            </p:nvGrpSpPr>
            <p:grpSpPr bwMode="auto">
              <a:xfrm>
                <a:off x="5952" y="624"/>
                <a:ext cx="912" cy="432"/>
                <a:chOff x="5952" y="624"/>
                <a:chExt cx="912" cy="432"/>
              </a:xfrm>
            </p:grpSpPr>
            <p:sp>
              <p:nvSpPr>
                <p:cNvPr id="17431" name="AutoShape 175"/>
                <p:cNvSpPr>
                  <a:spLocks noChangeArrowheads="1"/>
                </p:cNvSpPr>
                <p:nvPr/>
              </p:nvSpPr>
              <p:spPr bwMode="auto">
                <a:xfrm flipH="1" flipV="1">
                  <a:off x="5952" y="864"/>
                  <a:ext cx="240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i="0"/>
                </a:p>
              </p:txBody>
            </p:sp>
            <p:sp>
              <p:nvSpPr>
                <p:cNvPr id="17432" name="Line 176"/>
                <p:cNvSpPr>
                  <a:spLocks noChangeShapeType="1"/>
                </p:cNvSpPr>
                <p:nvPr/>
              </p:nvSpPr>
              <p:spPr bwMode="auto">
                <a:xfrm flipV="1">
                  <a:off x="6192" y="624"/>
                  <a:ext cx="139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33" name="Line 177"/>
                <p:cNvSpPr>
                  <a:spLocks noChangeShapeType="1"/>
                </p:cNvSpPr>
                <p:nvPr/>
              </p:nvSpPr>
              <p:spPr bwMode="auto">
                <a:xfrm>
                  <a:off x="6336" y="624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30" name="Text Box 178"/>
              <p:cNvSpPr txBox="1">
                <a:spLocks noChangeArrowheads="1"/>
              </p:cNvSpPr>
              <p:nvPr/>
            </p:nvSpPr>
            <p:spPr bwMode="auto">
              <a:xfrm>
                <a:off x="6288" y="624"/>
                <a:ext cx="6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rgbClr val="FF3300"/>
                    </a:solidFill>
                  </a:rPr>
                  <a:t>Ra  </a:t>
                </a:r>
                <a:r>
                  <a:rPr lang="en-US" altLang="zh-CN" sz="2000" b="1" i="0">
                    <a:solidFill>
                      <a:srgbClr val="FF3300"/>
                    </a:solidFill>
                  </a:rPr>
                  <a:t>6.3</a:t>
                </a:r>
              </a:p>
            </p:txBody>
          </p:sp>
        </p:grpSp>
      </p:grpSp>
      <p:grpSp>
        <p:nvGrpSpPr>
          <p:cNvPr id="82107" name="Group 187"/>
          <p:cNvGrpSpPr/>
          <p:nvPr/>
        </p:nvGrpSpPr>
        <p:grpSpPr bwMode="auto">
          <a:xfrm>
            <a:off x="471146" y="2552164"/>
            <a:ext cx="1633538" cy="698500"/>
            <a:chOff x="240" y="1569"/>
            <a:chExt cx="1029" cy="440"/>
          </a:xfrm>
        </p:grpSpPr>
        <p:sp>
          <p:nvSpPr>
            <p:cNvPr id="17419" name="Line 169"/>
            <p:cNvSpPr>
              <a:spLocks noChangeShapeType="1"/>
            </p:cNvSpPr>
            <p:nvPr/>
          </p:nvSpPr>
          <p:spPr bwMode="auto">
            <a:xfrm>
              <a:off x="240" y="2009"/>
              <a:ext cx="10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7420" name="Group 181"/>
            <p:cNvGrpSpPr/>
            <p:nvPr/>
          </p:nvGrpSpPr>
          <p:grpSpPr bwMode="auto">
            <a:xfrm>
              <a:off x="251" y="1569"/>
              <a:ext cx="1018" cy="432"/>
              <a:chOff x="5952" y="624"/>
              <a:chExt cx="1018" cy="432"/>
            </a:xfrm>
          </p:grpSpPr>
          <p:grpSp>
            <p:nvGrpSpPr>
              <p:cNvPr id="17421" name="Group 182"/>
              <p:cNvGrpSpPr/>
              <p:nvPr/>
            </p:nvGrpSpPr>
            <p:grpSpPr bwMode="auto">
              <a:xfrm>
                <a:off x="5952" y="624"/>
                <a:ext cx="912" cy="432"/>
                <a:chOff x="5952" y="624"/>
                <a:chExt cx="912" cy="432"/>
              </a:xfrm>
            </p:grpSpPr>
            <p:sp>
              <p:nvSpPr>
                <p:cNvPr id="17423" name="AutoShape 183"/>
                <p:cNvSpPr>
                  <a:spLocks noChangeArrowheads="1"/>
                </p:cNvSpPr>
                <p:nvPr/>
              </p:nvSpPr>
              <p:spPr bwMode="auto">
                <a:xfrm flipH="1" flipV="1">
                  <a:off x="5952" y="864"/>
                  <a:ext cx="240" cy="192"/>
                </a:xfrm>
                <a:prstGeom prst="triangle">
                  <a:avLst>
                    <a:gd name="adj" fmla="val 50000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i="0"/>
                </a:p>
              </p:txBody>
            </p:sp>
            <p:sp>
              <p:nvSpPr>
                <p:cNvPr id="17424" name="Line 184"/>
                <p:cNvSpPr>
                  <a:spLocks noChangeShapeType="1"/>
                </p:cNvSpPr>
                <p:nvPr/>
              </p:nvSpPr>
              <p:spPr bwMode="auto">
                <a:xfrm flipV="1">
                  <a:off x="6192" y="624"/>
                  <a:ext cx="139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5" name="Line 185"/>
                <p:cNvSpPr>
                  <a:spLocks noChangeShapeType="1"/>
                </p:cNvSpPr>
                <p:nvPr/>
              </p:nvSpPr>
              <p:spPr bwMode="auto">
                <a:xfrm>
                  <a:off x="6336" y="624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22" name="Text Box 186"/>
              <p:cNvSpPr txBox="1">
                <a:spLocks noChangeArrowheads="1"/>
              </p:cNvSpPr>
              <p:nvPr/>
            </p:nvSpPr>
            <p:spPr bwMode="auto">
              <a:xfrm>
                <a:off x="6288" y="624"/>
                <a:ext cx="682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 eaLnBrk="1" hangingPunct="1"/>
                <a:r>
                  <a:rPr lang="en-US" altLang="zh-CN" sz="2000" b="1">
                    <a:solidFill>
                      <a:srgbClr val="FF3300"/>
                    </a:solidFill>
                  </a:rPr>
                  <a:t>Ra </a:t>
                </a:r>
                <a:r>
                  <a:rPr lang="en-US" altLang="zh-CN" sz="2000" b="1" i="0">
                    <a:solidFill>
                      <a:srgbClr val="FF3300"/>
                    </a:solidFill>
                  </a:rPr>
                  <a:t>3.2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19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82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82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8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8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82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82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8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82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build="allAtOnce"/>
      <p:bldP spid="820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6A605B-2773-4DE4-B6CF-21F011045CE2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16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103428" name="Text Box 4"/>
          <p:cNvSpPr txBox="1">
            <a:spLocks noChangeArrowheads="1"/>
          </p:cNvSpPr>
          <p:nvPr/>
        </p:nvSpPr>
        <p:spPr bwMode="auto">
          <a:xfrm>
            <a:off x="571500" y="479365"/>
            <a:ext cx="885825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(</a:t>
            </a:r>
            <a:r>
              <a:rPr lang="en-US" altLang="zh-CN" sz="2800" b="1" i="0" dirty="0"/>
              <a:t>5)  </a:t>
            </a:r>
            <a:r>
              <a:rPr lang="zh-CN" altLang="en-US" sz="2800" b="1" i="0" dirty="0"/>
              <a:t>上述各项公差要求在图样上在</a:t>
            </a:r>
            <a:r>
              <a:rPr lang="zh-CN" altLang="en-US" sz="2800" b="1" i="0" dirty="0" smtClean="0"/>
              <a:t>标注</a:t>
            </a:r>
            <a:endParaRPr lang="zh-CN" altLang="en-US" sz="2800" b="1" i="0" dirty="0"/>
          </a:p>
        </p:txBody>
      </p:sp>
      <p:grpSp>
        <p:nvGrpSpPr>
          <p:cNvPr id="103434" name="Group 10"/>
          <p:cNvGrpSpPr/>
          <p:nvPr/>
        </p:nvGrpSpPr>
        <p:grpSpPr bwMode="auto">
          <a:xfrm>
            <a:off x="419101" y="1455219"/>
            <a:ext cx="5481639" cy="5293475"/>
            <a:chOff x="264" y="807"/>
            <a:chExt cx="3514" cy="3462"/>
          </a:xfrm>
        </p:grpSpPr>
        <p:pic>
          <p:nvPicPr>
            <p:cNvPr id="18440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" y="807"/>
              <a:ext cx="3514" cy="29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41" name="Text Box 7"/>
            <p:cNvSpPr txBox="1">
              <a:spLocks noChangeArrowheads="1"/>
            </p:cNvSpPr>
            <p:nvPr/>
          </p:nvSpPr>
          <p:spPr bwMode="auto">
            <a:xfrm>
              <a:off x="1079" y="3968"/>
              <a:ext cx="1770" cy="3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 dirty="0"/>
                <a:t>轴键槽的公差标注</a:t>
              </a:r>
            </a:p>
          </p:txBody>
        </p:sp>
      </p:grpSp>
      <p:grpSp>
        <p:nvGrpSpPr>
          <p:cNvPr id="103435" name="Group 11"/>
          <p:cNvGrpSpPr/>
          <p:nvPr/>
        </p:nvGrpSpPr>
        <p:grpSpPr bwMode="auto">
          <a:xfrm>
            <a:off x="5900740" y="1396228"/>
            <a:ext cx="4741863" cy="5297488"/>
            <a:chOff x="3717" y="897"/>
            <a:chExt cx="2987" cy="3337"/>
          </a:xfrm>
        </p:grpSpPr>
        <p:pic>
          <p:nvPicPr>
            <p:cNvPr id="18438" name="Picture 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7" y="897"/>
              <a:ext cx="2987" cy="2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4233" y="3944"/>
              <a:ext cx="1695" cy="2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 dirty="0"/>
                <a:t>孔键槽的公差标注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3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8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5C58BA-D28C-4978-AF9C-0B4D72C3C141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17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381000" y="169863"/>
            <a:ext cx="7715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>
                <a:latin typeface="宋体" panose="02010600030101010101" pitchFamily="2" charset="-122"/>
              </a:rPr>
              <a:t>8.2 矩形花键结合的精度设计与检测</a:t>
            </a:r>
            <a:endParaRPr lang="en-US" altLang="zh-CN" sz="2400" i="0"/>
          </a:p>
        </p:txBody>
      </p:sp>
      <p:sp>
        <p:nvSpPr>
          <p:cNvPr id="51241" name="Text Box 41"/>
          <p:cNvSpPr txBox="1">
            <a:spLocks noChangeArrowheads="1"/>
          </p:cNvSpPr>
          <p:nvPr/>
        </p:nvSpPr>
        <p:spPr bwMode="auto">
          <a:xfrm>
            <a:off x="285750" y="688975"/>
            <a:ext cx="10482263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i="0"/>
              <a:t>          GB/T1144—2001《</a:t>
            </a:r>
            <a:r>
              <a:rPr lang="zh-CN" altLang="en-US" sz="2400" b="1" i="0"/>
              <a:t>矩形花键尺寸、公差和检验</a:t>
            </a:r>
            <a:r>
              <a:rPr lang="en-US" altLang="zh-CN" sz="2400" b="1" i="0"/>
              <a:t>》</a:t>
            </a:r>
            <a:r>
              <a:rPr lang="zh-CN" altLang="en-US" sz="2400" b="1" i="0"/>
              <a:t>规定了矩形花键联结的</a:t>
            </a:r>
            <a:r>
              <a:rPr lang="zh-CN" altLang="en-US" sz="2400" b="1" i="0">
                <a:solidFill>
                  <a:srgbClr val="FF3300"/>
                </a:solidFill>
              </a:rPr>
              <a:t>尺寸系列、定心方式、公差与配合、标注方法及检验规定</a:t>
            </a:r>
            <a:r>
              <a:rPr lang="zh-CN" altLang="en-US" sz="2400" b="1" i="0"/>
              <a:t>。</a:t>
            </a:r>
          </a:p>
        </p:txBody>
      </p:sp>
      <p:sp>
        <p:nvSpPr>
          <p:cNvPr id="51242" name="Text Box 42"/>
          <p:cNvSpPr txBox="1">
            <a:spLocks noChangeArrowheads="1"/>
          </p:cNvSpPr>
          <p:nvPr/>
        </p:nvSpPr>
        <p:spPr bwMode="auto">
          <a:xfrm>
            <a:off x="285750" y="1611313"/>
            <a:ext cx="10482263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b="1" i="0" dirty="0"/>
              <a:t>          </a:t>
            </a:r>
            <a:r>
              <a:rPr lang="zh-CN" altLang="en-US" sz="2400" b="1" i="0" dirty="0"/>
              <a:t>为了便于加工和检测，矩形花键的</a:t>
            </a:r>
            <a:r>
              <a:rPr lang="zh-CN" altLang="en-US" sz="2400" b="1" i="0" dirty="0">
                <a:solidFill>
                  <a:srgbClr val="FF3300"/>
                </a:solidFill>
              </a:rPr>
              <a:t>键数</a:t>
            </a:r>
            <a:r>
              <a:rPr lang="en-US" altLang="zh-CN" sz="2400" b="1" dirty="0">
                <a:solidFill>
                  <a:srgbClr val="FF3300"/>
                </a:solidFill>
              </a:rPr>
              <a:t>N</a:t>
            </a:r>
            <a:r>
              <a:rPr lang="zh-CN" altLang="en-US" sz="2400" b="1" i="0" dirty="0">
                <a:solidFill>
                  <a:srgbClr val="FF3300"/>
                </a:solidFill>
              </a:rPr>
              <a:t>规定为偶数</a:t>
            </a:r>
            <a:r>
              <a:rPr lang="zh-CN" altLang="en-US" sz="2400" b="1" i="0" dirty="0"/>
              <a:t>，只有</a:t>
            </a:r>
            <a:r>
              <a:rPr lang="en-US" altLang="zh-CN" sz="2400" b="1" i="0" dirty="0"/>
              <a:t>6</a:t>
            </a:r>
            <a:r>
              <a:rPr lang="zh-CN" altLang="en-US" sz="2400" b="1" i="0" dirty="0"/>
              <a:t>、</a:t>
            </a:r>
            <a:r>
              <a:rPr lang="en-US" altLang="zh-CN" sz="2400" b="1" i="0" dirty="0"/>
              <a:t>8</a:t>
            </a:r>
            <a:r>
              <a:rPr lang="zh-CN" altLang="en-US" sz="2400" b="1" i="0" dirty="0"/>
              <a:t>、</a:t>
            </a:r>
            <a:r>
              <a:rPr lang="en-US" altLang="zh-CN" sz="2400" b="1" i="0" dirty="0"/>
              <a:t>10</a:t>
            </a:r>
            <a:r>
              <a:rPr lang="zh-CN" altLang="en-US" sz="2400" b="1" i="0" dirty="0"/>
              <a:t>三种。按承载能力分为</a:t>
            </a:r>
            <a:r>
              <a:rPr lang="zh-CN" altLang="en-US" sz="2400" b="1" i="0" dirty="0">
                <a:solidFill>
                  <a:srgbClr val="FF3300"/>
                </a:solidFill>
              </a:rPr>
              <a:t>轻系列、中系列</a:t>
            </a:r>
            <a:r>
              <a:rPr lang="zh-CN" altLang="en-US" sz="2400" b="1" i="0" dirty="0"/>
              <a:t>。中系列的键高尺寸较大，承载能力强</a:t>
            </a:r>
            <a:r>
              <a:rPr lang="zh-CN" altLang="en-US" sz="2400" b="1" i="0" dirty="0" smtClean="0"/>
              <a:t>。</a:t>
            </a:r>
            <a:endParaRPr lang="zh-CN" altLang="en-US" sz="2400" b="1" i="0" dirty="0"/>
          </a:p>
        </p:txBody>
      </p:sp>
      <p:grpSp>
        <p:nvGrpSpPr>
          <p:cNvPr id="51247" name="Group 47"/>
          <p:cNvGrpSpPr/>
          <p:nvPr/>
        </p:nvGrpSpPr>
        <p:grpSpPr bwMode="auto">
          <a:xfrm>
            <a:off x="992293" y="2658866"/>
            <a:ext cx="9587217" cy="4548179"/>
            <a:chOff x="794" y="1977"/>
            <a:chExt cx="5749" cy="2703"/>
          </a:xfrm>
        </p:grpSpPr>
        <p:pic>
          <p:nvPicPr>
            <p:cNvPr id="21511" name="Picture 4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" y="1977"/>
              <a:ext cx="5749" cy="27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512" name="Line 45"/>
            <p:cNvSpPr>
              <a:spLocks noChangeShapeType="1"/>
            </p:cNvSpPr>
            <p:nvPr/>
          </p:nvSpPr>
          <p:spPr bwMode="auto">
            <a:xfrm>
              <a:off x="2385" y="4668"/>
              <a:ext cx="6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3" name="Text Box 46"/>
            <p:cNvSpPr txBox="1">
              <a:spLocks noChangeArrowheads="1"/>
            </p:cNvSpPr>
            <p:nvPr/>
          </p:nvSpPr>
          <p:spPr bwMode="auto">
            <a:xfrm>
              <a:off x="2605" y="4341"/>
              <a:ext cx="19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0"/>
                <a:t>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1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512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51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51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51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build="p" autoUpdateAnimBg="0"/>
      <p:bldP spid="51241" grpId="0" build="p" autoUpdateAnimBg="0"/>
      <p:bldP spid="51242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98116A6-FAD1-4315-8A9C-CF08C90BDF9C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18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108548" name="Text Box 4"/>
          <p:cNvSpPr txBox="1">
            <a:spLocks noChangeArrowheads="1"/>
          </p:cNvSpPr>
          <p:nvPr/>
        </p:nvSpPr>
        <p:spPr bwMode="auto">
          <a:xfrm>
            <a:off x="466725" y="321181"/>
            <a:ext cx="8858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8.2.1  矩形花键的几何参数和定心方式</a:t>
            </a:r>
            <a:r>
              <a:rPr lang="zh-CN" altLang="en-US" sz="2400" i="0" dirty="0"/>
              <a:t> </a:t>
            </a:r>
          </a:p>
        </p:txBody>
      </p:sp>
      <p:grpSp>
        <p:nvGrpSpPr>
          <p:cNvPr id="108550" name="Group 6"/>
          <p:cNvGrpSpPr/>
          <p:nvPr/>
        </p:nvGrpSpPr>
        <p:grpSpPr bwMode="auto">
          <a:xfrm>
            <a:off x="3809378" y="1982788"/>
            <a:ext cx="3486150" cy="4065587"/>
            <a:chOff x="2220" y="1600"/>
            <a:chExt cx="2196" cy="2561"/>
          </a:xfrm>
        </p:grpSpPr>
        <p:pic>
          <p:nvPicPr>
            <p:cNvPr id="22542" name="Picture 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0" y="1600"/>
              <a:ext cx="2196" cy="22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43" name="Text Box 8"/>
            <p:cNvSpPr txBox="1">
              <a:spLocks noChangeArrowheads="1"/>
            </p:cNvSpPr>
            <p:nvPr/>
          </p:nvSpPr>
          <p:spPr bwMode="auto">
            <a:xfrm>
              <a:off x="3084" y="3873"/>
              <a:ext cx="11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>
                  <a:solidFill>
                    <a:srgbClr val="FF3300"/>
                  </a:solidFill>
                </a:rPr>
                <a:t>内花键</a:t>
              </a:r>
            </a:p>
          </p:txBody>
        </p:sp>
      </p:grpSp>
      <p:grpSp>
        <p:nvGrpSpPr>
          <p:cNvPr id="108553" name="Group 9"/>
          <p:cNvGrpSpPr/>
          <p:nvPr/>
        </p:nvGrpSpPr>
        <p:grpSpPr bwMode="auto">
          <a:xfrm>
            <a:off x="7581278" y="1898650"/>
            <a:ext cx="3371850" cy="4181475"/>
            <a:chOff x="4596" y="1547"/>
            <a:chExt cx="2124" cy="2634"/>
          </a:xfrm>
        </p:grpSpPr>
        <p:pic>
          <p:nvPicPr>
            <p:cNvPr id="22540" name="Picture 1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6" y="1547"/>
              <a:ext cx="2124" cy="2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41" name="Text Box 11"/>
            <p:cNvSpPr txBox="1">
              <a:spLocks noChangeArrowheads="1"/>
            </p:cNvSpPr>
            <p:nvPr/>
          </p:nvSpPr>
          <p:spPr bwMode="auto">
            <a:xfrm>
              <a:off x="5331" y="3893"/>
              <a:ext cx="11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>
                  <a:solidFill>
                    <a:srgbClr val="FF3300"/>
                  </a:solidFill>
                </a:rPr>
                <a:t>外花键</a:t>
              </a:r>
            </a:p>
          </p:txBody>
        </p:sp>
      </p:grpSp>
      <p:sp>
        <p:nvSpPr>
          <p:cNvPr id="108557" name="AutoShape 13"/>
          <p:cNvSpPr>
            <a:spLocks noChangeArrowheads="1"/>
          </p:cNvSpPr>
          <p:nvPr/>
        </p:nvSpPr>
        <p:spPr bwMode="auto">
          <a:xfrm>
            <a:off x="1757512" y="1447239"/>
            <a:ext cx="1524000" cy="592137"/>
          </a:xfrm>
          <a:prstGeom prst="wedgeRoundRectCallout">
            <a:avLst>
              <a:gd name="adj1" fmla="val 13671"/>
              <a:gd name="adj2" fmla="val 188690"/>
              <a:gd name="adj3" fmla="val 16667"/>
            </a:avLst>
          </a:prstGeom>
          <a:solidFill>
            <a:schemeClr val="bg1"/>
          </a:solidFill>
          <a:ln w="38100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sz="2400" b="1" i="0"/>
              <a:t>内花键</a:t>
            </a:r>
          </a:p>
        </p:txBody>
      </p:sp>
      <p:sp>
        <p:nvSpPr>
          <p:cNvPr id="108558" name="AutoShape 14"/>
          <p:cNvSpPr>
            <a:spLocks noChangeArrowheads="1"/>
          </p:cNvSpPr>
          <p:nvPr/>
        </p:nvSpPr>
        <p:spPr bwMode="auto">
          <a:xfrm>
            <a:off x="2966888" y="5710237"/>
            <a:ext cx="1524000" cy="676275"/>
          </a:xfrm>
          <a:prstGeom prst="wedgeRoundRectCallout">
            <a:avLst>
              <a:gd name="adj1" fmla="val -97500"/>
              <a:gd name="adj2" fmla="val -287088"/>
              <a:gd name="adj3" fmla="val 16667"/>
            </a:avLst>
          </a:prstGeom>
          <a:solidFill>
            <a:schemeClr val="bg1"/>
          </a:solidFill>
          <a:ln w="38100">
            <a:solidFill>
              <a:srgbClr val="FF33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zh-CN" altLang="en-US" sz="2400" b="1" i="0"/>
              <a:t>外花键</a:t>
            </a:r>
          </a:p>
          <a:p>
            <a:pPr algn="l"/>
            <a:endParaRPr lang="zh-CN" altLang="en-US" b="1" i="0"/>
          </a:p>
        </p:txBody>
      </p:sp>
      <p:grpSp>
        <p:nvGrpSpPr>
          <p:cNvPr id="108560" name="Group 16"/>
          <p:cNvGrpSpPr/>
          <p:nvPr/>
        </p:nvGrpSpPr>
        <p:grpSpPr bwMode="auto">
          <a:xfrm>
            <a:off x="513833" y="2574925"/>
            <a:ext cx="2797175" cy="3432175"/>
            <a:chOff x="206" y="1973"/>
            <a:chExt cx="1762" cy="2162"/>
          </a:xfrm>
        </p:grpSpPr>
        <p:pic>
          <p:nvPicPr>
            <p:cNvPr id="2253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1973"/>
              <a:ext cx="1728" cy="1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39" name="Text Box 15"/>
            <p:cNvSpPr txBox="1">
              <a:spLocks noChangeArrowheads="1"/>
            </p:cNvSpPr>
            <p:nvPr/>
          </p:nvSpPr>
          <p:spPr bwMode="auto">
            <a:xfrm>
              <a:off x="206" y="3885"/>
              <a:ext cx="176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000" b="1" i="0" dirty="0"/>
                <a:t>图</a:t>
              </a:r>
              <a:r>
                <a:rPr lang="en-US" altLang="zh-CN" sz="2000" b="1" i="0" dirty="0"/>
                <a:t>8.7</a:t>
              </a:r>
              <a:r>
                <a:rPr lang="zh-CN" altLang="en-US" sz="2000" b="1" i="0" dirty="0"/>
                <a:t>矩形花键联结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08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build="p" autoUpdateAnimBg="0"/>
      <p:bldP spid="108557" grpId="0" animBg="1" autoUpdateAnimBg="0"/>
      <p:bldP spid="108558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3B203F-326E-490F-8B40-E50B7DD06CFF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19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666750" y="640340"/>
            <a:ext cx="952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1</a:t>
            </a:r>
            <a:r>
              <a:rPr lang="zh-CN" altLang="en-US" sz="2800" b="1" i="0" dirty="0">
                <a:latin typeface="宋体" panose="02010600030101010101" pitchFamily="2" charset="-122"/>
              </a:rPr>
              <a:t>.</a:t>
            </a:r>
            <a:r>
              <a:rPr lang="zh-CN" altLang="en-US" sz="2800" b="1" i="0" dirty="0" smtClean="0">
                <a:latin typeface="宋体" panose="02010600030101010101" pitchFamily="2" charset="-122"/>
              </a:rPr>
              <a:t>矩形花键主要几何参数</a:t>
            </a:r>
            <a:endParaRPr lang="zh-CN" altLang="en-US" sz="2800" b="1" i="0" dirty="0"/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1019175" y="1462964"/>
            <a:ext cx="2952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>
                <a:latin typeface="宋体" panose="02010600030101010101" pitchFamily="2" charset="-122"/>
              </a:rPr>
              <a:t>键数 </a:t>
            </a:r>
            <a:r>
              <a:rPr lang="en-US" altLang="zh-CN" sz="2800" b="1" dirty="0">
                <a:latin typeface="宋体" panose="02010600030101010101" pitchFamily="2" charset="-122"/>
              </a:rPr>
              <a:t>N </a:t>
            </a:r>
            <a:r>
              <a:rPr lang="en-US" altLang="zh-CN" sz="2800" b="1" i="0" dirty="0">
                <a:latin typeface="宋体" panose="02010600030101010101" pitchFamily="2" charset="-122"/>
              </a:rPr>
              <a:t>、</a:t>
            </a:r>
            <a:endParaRPr lang="zh-CN" altLang="en-US" sz="2800" b="1" i="0" dirty="0">
              <a:latin typeface="宋体" panose="02010600030101010101" pitchFamily="2" charset="-122"/>
            </a:endParaRPr>
          </a:p>
        </p:txBody>
      </p:sp>
      <p:sp>
        <p:nvSpPr>
          <p:cNvPr id="57350" name="Text Box 6"/>
          <p:cNvSpPr txBox="1">
            <a:spLocks noChangeArrowheads="1"/>
          </p:cNvSpPr>
          <p:nvPr/>
        </p:nvSpPr>
        <p:spPr bwMode="auto">
          <a:xfrm>
            <a:off x="952500" y="5804478"/>
            <a:ext cx="74295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b="1" dirty="0"/>
              <a:t>N</a:t>
            </a:r>
            <a:r>
              <a:rPr lang="en-US" altLang="zh-CN" b="1" i="0" dirty="0"/>
              <a:t>×</a:t>
            </a:r>
            <a:r>
              <a:rPr lang="en-US" altLang="zh-CN" b="1" dirty="0"/>
              <a:t>d</a:t>
            </a:r>
            <a:r>
              <a:rPr lang="en-US" altLang="zh-CN" b="1" i="0" dirty="0"/>
              <a:t>×</a:t>
            </a:r>
            <a:r>
              <a:rPr lang="en-US" altLang="zh-CN" b="1" dirty="0"/>
              <a:t>D</a:t>
            </a:r>
            <a:r>
              <a:rPr lang="en-US" altLang="zh-CN" b="1" i="0" dirty="0"/>
              <a:t>×</a:t>
            </a:r>
            <a:r>
              <a:rPr lang="en-US" altLang="zh-CN" b="1" dirty="0"/>
              <a:t>B</a:t>
            </a:r>
            <a:r>
              <a:rPr lang="en-US" altLang="zh-CN" b="1" i="0" dirty="0"/>
              <a:t>＝6×23×26×6</a:t>
            </a:r>
          </a:p>
        </p:txBody>
      </p:sp>
      <p:pic>
        <p:nvPicPr>
          <p:cNvPr id="5735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188" y="1148340"/>
            <a:ext cx="426561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952500" y="2648827"/>
            <a:ext cx="26670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b="1" i="0" dirty="0">
                <a:latin typeface="宋体" panose="02010600030101010101" pitchFamily="2" charset="-122"/>
              </a:rPr>
              <a:t>和键宽 </a:t>
            </a:r>
            <a:r>
              <a:rPr lang="en-US" altLang="zh-CN" sz="2800" b="1" dirty="0"/>
              <a:t>B</a:t>
            </a:r>
            <a:r>
              <a:rPr lang="en-US" altLang="zh-CN" sz="2800" b="1" i="0" dirty="0">
                <a:latin typeface="宋体" panose="02010600030101010101" pitchFamily="2" charset="-122"/>
              </a:rPr>
              <a:t>。</a:t>
            </a:r>
            <a:endParaRPr lang="zh-CN" altLang="en-US" sz="2800" b="1" i="0" dirty="0">
              <a:latin typeface="宋体" panose="02010600030101010101" pitchFamily="2" charset="-122"/>
            </a:endParaRP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1038225" y="5150428"/>
            <a:ext cx="4191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>
                <a:solidFill>
                  <a:srgbClr val="FF3300"/>
                </a:solidFill>
              </a:rPr>
              <a:t>其表示方法为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951230" y="3383915"/>
            <a:ext cx="3039110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如 </a:t>
            </a:r>
            <a:r>
              <a:rPr lang="en-US" altLang="zh-CN" sz="2800" b="1" dirty="0"/>
              <a:t>N </a:t>
            </a:r>
            <a:r>
              <a:rPr lang="en-US" altLang="zh-CN" sz="2800" b="1" i="0" dirty="0"/>
              <a:t>= 6， </a:t>
            </a:r>
            <a:r>
              <a:rPr lang="en-US" altLang="zh-CN" sz="2800" b="1" dirty="0"/>
              <a:t>d </a:t>
            </a:r>
            <a:r>
              <a:rPr lang="en-US" altLang="zh-CN" sz="2800" b="1" i="0" dirty="0"/>
              <a:t>= 23,</a:t>
            </a:r>
          </a:p>
          <a:p>
            <a:pPr algn="l" eaLnBrk="1" hangingPunct="1"/>
            <a:r>
              <a:rPr lang="en-US" altLang="zh-CN" sz="2800" b="1" dirty="0"/>
              <a:t>    D </a:t>
            </a:r>
            <a:r>
              <a:rPr lang="en-US" altLang="zh-CN" sz="2800" b="1" i="0" dirty="0"/>
              <a:t>= 26,  </a:t>
            </a:r>
            <a:r>
              <a:rPr lang="en-US" altLang="zh-CN" sz="2800" b="1" dirty="0"/>
              <a:t>B </a:t>
            </a:r>
            <a:r>
              <a:rPr lang="en-US" altLang="zh-CN" sz="2800" b="1" i="0" dirty="0"/>
              <a:t>= 6 。</a:t>
            </a:r>
          </a:p>
        </p:txBody>
      </p:sp>
      <p:sp>
        <p:nvSpPr>
          <p:cNvPr id="57357" name="Rectangle 13"/>
          <p:cNvSpPr>
            <a:spLocks noChangeArrowheads="1"/>
          </p:cNvSpPr>
          <p:nvPr/>
        </p:nvSpPr>
        <p:spPr bwMode="auto">
          <a:xfrm>
            <a:off x="952500" y="2055102"/>
            <a:ext cx="2266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i="0">
                <a:latin typeface="宋体" panose="02010600030101010101" pitchFamily="2" charset="-122"/>
              </a:rPr>
              <a:t>大径 </a:t>
            </a:r>
            <a:r>
              <a:rPr lang="en-US" altLang="zh-CN" sz="2800" b="1"/>
              <a:t>D</a:t>
            </a:r>
            <a:r>
              <a:rPr lang="en-US" altLang="zh-CN" sz="2800" b="1" i="0">
                <a:latin typeface="宋体" panose="02010600030101010101" pitchFamily="2" charset="-122"/>
              </a:rPr>
              <a:t>、</a:t>
            </a:r>
            <a:endParaRPr lang="zh-CN" altLang="en-US" sz="2800" b="1" i="0">
              <a:latin typeface="宋体" panose="02010600030101010101" pitchFamily="2" charset="-122"/>
            </a:endParaRPr>
          </a:p>
        </p:txBody>
      </p:sp>
      <p:sp>
        <p:nvSpPr>
          <p:cNvPr id="57358" name="Rectangle 14"/>
          <p:cNvSpPr>
            <a:spLocks noChangeArrowheads="1"/>
          </p:cNvSpPr>
          <p:nvPr/>
        </p:nvSpPr>
        <p:spPr bwMode="auto">
          <a:xfrm>
            <a:off x="2743216" y="2055102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i="0" dirty="0">
                <a:latin typeface="宋体" panose="02010600030101010101" pitchFamily="2" charset="-122"/>
              </a:rPr>
              <a:t>小径 </a:t>
            </a:r>
            <a:r>
              <a:rPr lang="en-US" altLang="zh-CN" sz="2800" b="1" dirty="0"/>
              <a:t>d、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7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5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5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5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00"/>
                                        <p:tgtEl>
                                          <p:spTgt spid="5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5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5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8" grpId="0" build="p" autoUpdateAnimBg="0"/>
      <p:bldP spid="57349" grpId="0" bldLvl="0" animBg="1" autoUpdateAnimBg="0"/>
      <p:bldP spid="57350" grpId="0" autoUpdateAnimBg="0"/>
      <p:bldP spid="57354" grpId="0" autoUpdateAnimBg="0"/>
      <p:bldP spid="57355" grpId="0" autoUpdateAnimBg="0"/>
      <p:bldP spid="57356" grpId="0" bldLvl="0" animBg="1" autoUpdateAnimBg="0"/>
      <p:bldP spid="57357" grpId="0" autoUpdateAnimBg="0"/>
      <p:bldP spid="5735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F226A1-586E-4595-A8C9-6B60676618F7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20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800100" y="169863"/>
            <a:ext cx="561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2. 定心方式：</a:t>
            </a: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982980" y="2186305"/>
            <a:ext cx="4836160" cy="97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i="0" dirty="0"/>
              <a:t>        理论上花键有</a:t>
            </a:r>
            <a:r>
              <a:rPr lang="zh-CN" altLang="en-US" sz="2400" b="1" i="0" dirty="0">
                <a:solidFill>
                  <a:srgbClr val="FF3300"/>
                </a:solidFill>
              </a:rPr>
              <a:t>小径</a:t>
            </a:r>
            <a:r>
              <a:rPr lang="en-US" altLang="zh-CN" sz="2400" b="1" dirty="0">
                <a:solidFill>
                  <a:srgbClr val="FF3300"/>
                </a:solidFill>
              </a:rPr>
              <a:t>d</a:t>
            </a:r>
            <a:r>
              <a:rPr lang="en-US" altLang="zh-CN" sz="2400" b="1" i="0" dirty="0">
                <a:solidFill>
                  <a:srgbClr val="FF3300"/>
                </a:solidFill>
              </a:rPr>
              <a:t>、</a:t>
            </a:r>
            <a:r>
              <a:rPr lang="zh-CN" altLang="en-US" sz="2400" b="1" i="0" dirty="0">
                <a:solidFill>
                  <a:srgbClr val="FF3300"/>
                </a:solidFill>
              </a:rPr>
              <a:t>大径</a:t>
            </a:r>
            <a:r>
              <a:rPr lang="en-US" altLang="zh-CN" sz="2400" b="1" dirty="0">
                <a:solidFill>
                  <a:srgbClr val="FF3300"/>
                </a:solidFill>
              </a:rPr>
              <a:t>D</a:t>
            </a:r>
            <a:r>
              <a:rPr lang="zh-CN" altLang="en-US" sz="2400" b="1" i="0" dirty="0">
                <a:solidFill>
                  <a:srgbClr val="FF3300"/>
                </a:solidFill>
              </a:rPr>
              <a:t>和键侧面</a:t>
            </a:r>
            <a:r>
              <a:rPr lang="en-US" altLang="zh-CN" sz="2400" b="1" dirty="0">
                <a:solidFill>
                  <a:srgbClr val="FF3300"/>
                </a:solidFill>
              </a:rPr>
              <a:t>B</a:t>
            </a:r>
            <a:r>
              <a:rPr lang="zh-CN" altLang="en-US" sz="2400" b="1" i="0" dirty="0"/>
              <a:t>三种定心方式。</a:t>
            </a:r>
          </a:p>
        </p:txBody>
      </p:sp>
      <p:sp>
        <p:nvSpPr>
          <p:cNvPr id="36874" name="Text Box 10"/>
          <p:cNvSpPr txBox="1">
            <a:spLocks noChangeArrowheads="1"/>
          </p:cNvSpPr>
          <p:nvPr/>
        </p:nvSpPr>
        <p:spPr bwMode="auto">
          <a:xfrm>
            <a:off x="717550" y="4954905"/>
            <a:ext cx="8495665" cy="53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400" b="1" i="0" dirty="0"/>
              <a:t>       即以小径结合面为定心表面，来确定内外花键的配合性质。</a:t>
            </a:r>
          </a:p>
        </p:txBody>
      </p:sp>
      <p:sp>
        <p:nvSpPr>
          <p:cNvPr id="36875" name="Text Box 11"/>
          <p:cNvSpPr txBox="1">
            <a:spLocks noChangeArrowheads="1"/>
          </p:cNvSpPr>
          <p:nvPr/>
        </p:nvSpPr>
        <p:spPr bwMode="auto">
          <a:xfrm>
            <a:off x="609600" y="5501005"/>
            <a:ext cx="9720580" cy="1420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i="0"/>
              <a:t>        因此，</a:t>
            </a:r>
            <a:r>
              <a:rPr lang="zh-CN" altLang="en-US" sz="2400" b="1" i="0">
                <a:solidFill>
                  <a:srgbClr val="FF3300"/>
                </a:solidFill>
              </a:rPr>
              <a:t>对小径有较高的精度要求</a:t>
            </a:r>
            <a:r>
              <a:rPr lang="zh-CN" altLang="en-US" sz="2400" b="1" i="0"/>
              <a:t>。对非定心表面的</a:t>
            </a:r>
            <a:r>
              <a:rPr lang="zh-CN" altLang="en-US" sz="2400" b="1" i="0">
                <a:solidFill>
                  <a:srgbClr val="FF3300"/>
                </a:solidFill>
              </a:rPr>
              <a:t>大径</a:t>
            </a:r>
            <a:r>
              <a:rPr lang="en-US" altLang="zh-CN" sz="2400" b="1">
                <a:solidFill>
                  <a:srgbClr val="FF3300"/>
                </a:solidFill>
              </a:rPr>
              <a:t>D</a:t>
            </a:r>
            <a:r>
              <a:rPr lang="zh-CN" altLang="en-US" sz="2400" b="1" i="0">
                <a:solidFill>
                  <a:srgbClr val="FF3300"/>
                </a:solidFill>
              </a:rPr>
              <a:t>的精度要求较低</a:t>
            </a:r>
            <a:r>
              <a:rPr lang="zh-CN" altLang="en-US" sz="2400" b="1" i="0"/>
              <a:t>，且有较大间隙。对非定心的</a:t>
            </a:r>
            <a:r>
              <a:rPr lang="zh-CN" altLang="en-US" sz="2400" b="1" i="0">
                <a:solidFill>
                  <a:srgbClr val="FF3300"/>
                </a:solidFill>
              </a:rPr>
              <a:t>键和键槽侧面</a:t>
            </a:r>
            <a:r>
              <a:rPr lang="zh-CN" altLang="en-US" sz="2400" b="1" i="0"/>
              <a:t>也有较高的精度要求，因为它们要起传递扭矩和导向的作用。</a:t>
            </a:r>
          </a:p>
        </p:txBody>
      </p:sp>
      <p:sp>
        <p:nvSpPr>
          <p:cNvPr id="36883" name="Rectangle 19"/>
          <p:cNvSpPr>
            <a:spLocks noChangeArrowheads="1"/>
          </p:cNvSpPr>
          <p:nvPr/>
        </p:nvSpPr>
        <p:spPr bwMode="auto">
          <a:xfrm>
            <a:off x="1295400" y="3621405"/>
            <a:ext cx="3097530" cy="829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/>
              <a:t>GB/T1144－2001</a:t>
            </a:r>
            <a:r>
              <a:rPr lang="zh-CN" altLang="en-US" sz="2400" b="1" i="0"/>
              <a:t>规定</a:t>
            </a:r>
          </a:p>
          <a:p>
            <a:pPr algn="l"/>
            <a:r>
              <a:rPr lang="zh-CN" altLang="en-US" sz="2400" b="1" i="0">
                <a:solidFill>
                  <a:srgbClr val="FF3300"/>
                </a:solidFill>
              </a:rPr>
              <a:t>     小径</a:t>
            </a:r>
            <a:r>
              <a:rPr lang="en-US" altLang="zh-CN" sz="2400" b="1">
                <a:solidFill>
                  <a:srgbClr val="FF3300"/>
                </a:solidFill>
              </a:rPr>
              <a:t>d </a:t>
            </a:r>
            <a:r>
              <a:rPr lang="zh-CN" altLang="en-US" sz="2400" b="1" i="0">
                <a:solidFill>
                  <a:srgbClr val="FF3300"/>
                </a:solidFill>
              </a:rPr>
              <a:t>定心。</a:t>
            </a:r>
            <a:endParaRPr lang="zh-CN" altLang="en-US" sz="2400" b="1" i="0"/>
          </a:p>
        </p:txBody>
      </p:sp>
      <p:sp>
        <p:nvSpPr>
          <p:cNvPr id="36899" name="Text Box 35"/>
          <p:cNvSpPr txBox="1">
            <a:spLocks noChangeArrowheads="1"/>
          </p:cNvSpPr>
          <p:nvPr/>
        </p:nvSpPr>
        <p:spPr bwMode="auto">
          <a:xfrm>
            <a:off x="476250" y="650875"/>
            <a:ext cx="10285413" cy="9772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i="0" dirty="0"/>
              <a:t>        花键联结主要是保证内、外花键的</a:t>
            </a:r>
            <a:r>
              <a:rPr lang="zh-CN" altLang="en-US" sz="2400" b="1" i="0" dirty="0">
                <a:solidFill>
                  <a:srgbClr val="FF0000"/>
                </a:solidFill>
              </a:rPr>
              <a:t>同轴度</a:t>
            </a:r>
            <a:r>
              <a:rPr lang="zh-CN" altLang="en-US" sz="2400" b="1" i="0" dirty="0"/>
              <a:t>，以及内、外花键键侧面</a:t>
            </a:r>
            <a:r>
              <a:rPr lang="zh-CN" altLang="en-US" sz="2400" b="1" i="0" dirty="0">
                <a:solidFill>
                  <a:srgbClr val="FF0000"/>
                </a:solidFill>
              </a:rPr>
              <a:t>接触的均匀性</a:t>
            </a:r>
            <a:r>
              <a:rPr lang="zh-CN" altLang="en-US" sz="2400" b="1" i="0" dirty="0"/>
              <a:t>，保证传递一定的扭矩。为此，必须保证具有一定的配合性质。</a:t>
            </a:r>
          </a:p>
        </p:txBody>
      </p:sp>
      <p:grpSp>
        <p:nvGrpSpPr>
          <p:cNvPr id="36915" name="Group 51"/>
          <p:cNvGrpSpPr/>
          <p:nvPr/>
        </p:nvGrpSpPr>
        <p:grpSpPr bwMode="auto">
          <a:xfrm>
            <a:off x="6653213" y="1703388"/>
            <a:ext cx="3638550" cy="3273425"/>
            <a:chOff x="4416" y="1199"/>
            <a:chExt cx="2292" cy="2062"/>
          </a:xfrm>
        </p:grpSpPr>
        <p:sp>
          <p:nvSpPr>
            <p:cNvPr id="24589" name="Line 39"/>
            <p:cNvSpPr>
              <a:spLocks noChangeShapeType="1"/>
            </p:cNvSpPr>
            <p:nvPr/>
          </p:nvSpPr>
          <p:spPr bwMode="auto">
            <a:xfrm>
              <a:off x="5616" y="2781"/>
              <a:ext cx="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0" name="Line 40"/>
            <p:cNvSpPr>
              <a:spLocks noChangeShapeType="1"/>
            </p:cNvSpPr>
            <p:nvPr/>
          </p:nvSpPr>
          <p:spPr bwMode="auto">
            <a:xfrm>
              <a:off x="5914" y="2781"/>
              <a:ext cx="0" cy="3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1" name="Line 42"/>
            <p:cNvSpPr>
              <a:spLocks noChangeShapeType="1"/>
            </p:cNvSpPr>
            <p:nvPr/>
          </p:nvSpPr>
          <p:spPr bwMode="auto">
            <a:xfrm>
              <a:off x="5280" y="3103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4592" name="Picture 1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4" y="1199"/>
              <a:ext cx="1884" cy="18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593" name="Line 36"/>
            <p:cNvSpPr>
              <a:spLocks noChangeShapeType="1"/>
            </p:cNvSpPr>
            <p:nvPr/>
          </p:nvSpPr>
          <p:spPr bwMode="auto">
            <a:xfrm>
              <a:off x="4494" y="1233"/>
              <a:ext cx="13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37"/>
            <p:cNvSpPr>
              <a:spLocks noChangeShapeType="1"/>
            </p:cNvSpPr>
            <p:nvPr/>
          </p:nvSpPr>
          <p:spPr bwMode="auto">
            <a:xfrm>
              <a:off x="4494" y="2937"/>
              <a:ext cx="13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38"/>
            <p:cNvSpPr>
              <a:spLocks noChangeShapeType="1"/>
            </p:cNvSpPr>
            <p:nvPr/>
          </p:nvSpPr>
          <p:spPr bwMode="auto">
            <a:xfrm>
              <a:off x="4704" y="1221"/>
              <a:ext cx="0" cy="17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Line 43"/>
            <p:cNvSpPr>
              <a:spLocks noChangeShapeType="1"/>
            </p:cNvSpPr>
            <p:nvPr/>
          </p:nvSpPr>
          <p:spPr bwMode="auto">
            <a:xfrm flipH="1">
              <a:off x="5902" y="3104"/>
              <a:ext cx="3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Text Box 44"/>
            <p:cNvSpPr txBox="1">
              <a:spLocks noChangeArrowheads="1"/>
            </p:cNvSpPr>
            <p:nvPr/>
          </p:nvSpPr>
          <p:spPr bwMode="auto">
            <a:xfrm rot="-5400000">
              <a:off x="4321" y="1993"/>
              <a:ext cx="4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/>
                <a:t>D</a:t>
              </a:r>
            </a:p>
          </p:txBody>
        </p:sp>
        <p:sp>
          <p:nvSpPr>
            <p:cNvPr id="24598" name="Text Box 45"/>
            <p:cNvSpPr txBox="1">
              <a:spLocks noChangeArrowheads="1"/>
            </p:cNvSpPr>
            <p:nvPr/>
          </p:nvSpPr>
          <p:spPr bwMode="auto">
            <a:xfrm>
              <a:off x="5580" y="2973"/>
              <a:ext cx="4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/>
                <a:t>B</a:t>
              </a:r>
            </a:p>
          </p:txBody>
        </p:sp>
      </p:grpSp>
      <p:grpSp>
        <p:nvGrpSpPr>
          <p:cNvPr id="36912" name="Group 48"/>
          <p:cNvGrpSpPr/>
          <p:nvPr/>
        </p:nvGrpSpPr>
        <p:grpSpPr bwMode="auto">
          <a:xfrm>
            <a:off x="8013700" y="2243138"/>
            <a:ext cx="1524000" cy="1693862"/>
            <a:chOff x="3616" y="1071"/>
            <a:chExt cx="768" cy="960"/>
          </a:xfrm>
        </p:grpSpPr>
        <p:sp>
          <p:nvSpPr>
            <p:cNvPr id="24587" name="Line 49"/>
            <p:cNvSpPr>
              <a:spLocks noChangeShapeType="1"/>
            </p:cNvSpPr>
            <p:nvPr/>
          </p:nvSpPr>
          <p:spPr bwMode="auto">
            <a:xfrm flipV="1">
              <a:off x="3616" y="1071"/>
              <a:ext cx="768" cy="960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8" name="Text Box 50"/>
            <p:cNvSpPr txBox="1">
              <a:spLocks noChangeArrowheads="1"/>
            </p:cNvSpPr>
            <p:nvPr/>
          </p:nvSpPr>
          <p:spPr bwMode="auto">
            <a:xfrm>
              <a:off x="3888" y="1230"/>
              <a:ext cx="38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FF3300"/>
                  </a:solidFill>
                </a:rPr>
                <a:t>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68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36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6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6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"/>
                                        <p:tgtEl>
                                          <p:spTgt spid="36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3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36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 build="p" autoUpdateAnimBg="0"/>
      <p:bldP spid="36873" grpId="0" bldLvl="0" animBg="1" autoUpdateAnimBg="0"/>
      <p:bldP spid="36874" grpId="0" bldLvl="0" animBg="1" autoUpdateAnimBg="0"/>
      <p:bldP spid="36875" grpId="0" bldLvl="0" animBg="1" autoUpdateAnimBg="0"/>
      <p:bldP spid="36883" grpId="0" bldLvl="0" animBg="1" autoUpdateAnimBg="0"/>
      <p:bldP spid="36899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7A2544-720E-439C-BFC3-73906A8A58AD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21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476250" y="215900"/>
            <a:ext cx="6953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8.2.2  矩形花键结合的精度设计</a:t>
            </a:r>
            <a:r>
              <a:rPr lang="zh-CN" altLang="en-US" sz="2800" i="0"/>
              <a:t> 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66750" y="720725"/>
            <a:ext cx="8953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i="0" dirty="0"/>
              <a:t>1. 矩形花键的极限与配合  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476250" y="1155700"/>
            <a:ext cx="10167938" cy="877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15000"/>
              </a:spcBef>
            </a:pPr>
            <a:r>
              <a:rPr lang="zh-CN" altLang="en-US" sz="2400" i="0" dirty="0"/>
              <a:t>（1）</a:t>
            </a:r>
            <a:r>
              <a:rPr lang="zh-CN" altLang="en-US" sz="2400" b="1" i="0" dirty="0"/>
              <a:t>基准制</a:t>
            </a:r>
            <a:r>
              <a:rPr lang="zh-CN" altLang="en-US" sz="2400" i="0" dirty="0"/>
              <a:t> — </a:t>
            </a:r>
            <a:r>
              <a:rPr lang="zh-CN" altLang="en-US" sz="2400" b="1" i="0" dirty="0">
                <a:solidFill>
                  <a:srgbClr val="FF3300"/>
                </a:solidFill>
              </a:rPr>
              <a:t>基孔制(</a:t>
            </a:r>
            <a:r>
              <a:rPr lang="en-US" altLang="zh-CN" sz="2400" b="1" i="0" dirty="0">
                <a:solidFill>
                  <a:srgbClr val="FF3300"/>
                </a:solidFill>
              </a:rPr>
              <a:t>H):</a:t>
            </a:r>
            <a:r>
              <a:rPr lang="zh-CN" altLang="en-US" sz="2400" b="1" i="0" dirty="0"/>
              <a:t>可以减少加工和检验内花键的拉刀和量规的规</a:t>
            </a:r>
          </a:p>
          <a:p>
            <a:pPr algn="l" eaLnBrk="1" hangingPunct="1">
              <a:spcBef>
                <a:spcPct val="15000"/>
              </a:spcBef>
            </a:pPr>
            <a:r>
              <a:rPr lang="zh-CN" altLang="en-US" sz="2400" b="1" i="0" dirty="0"/>
              <a:t>                                                 格和数量。</a:t>
            </a:r>
            <a:endParaRPr lang="zh-CN" altLang="en-US" sz="2400" i="0" dirty="0"/>
          </a:p>
        </p:txBody>
      </p:sp>
      <p:pic>
        <p:nvPicPr>
          <p:cNvPr id="22544" name="Picture 1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985" y="2705100"/>
            <a:ext cx="9124315" cy="4739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476250" y="1814513"/>
            <a:ext cx="4286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 i="0"/>
              <a:t>（2）标准公差等级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469277" y="2286000"/>
            <a:ext cx="3735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 i="0" dirty="0"/>
              <a:t>（3）基本偏差</a:t>
            </a: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3600450" y="2057400"/>
            <a:ext cx="7043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 i="0" dirty="0"/>
              <a:t>（4）公差带：选自</a:t>
            </a:r>
            <a:r>
              <a:rPr lang="en-US" altLang="zh-CN" sz="2400" b="1" i="0" dirty="0">
                <a:solidFill>
                  <a:srgbClr val="FF3300"/>
                </a:solidFill>
              </a:rPr>
              <a:t>GB/T1801—2009</a:t>
            </a:r>
            <a:r>
              <a:rPr lang="zh-CN" altLang="en-US" sz="2000" b="1" i="0" dirty="0"/>
              <a:t> 。</a:t>
            </a:r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>
            <a:off x="5648325" y="3384550"/>
            <a:ext cx="3429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51" name="Line 23"/>
          <p:cNvSpPr>
            <a:spLocks noChangeShapeType="1"/>
          </p:cNvSpPr>
          <p:nvPr/>
        </p:nvSpPr>
        <p:spPr bwMode="auto">
          <a:xfrm>
            <a:off x="1571625" y="3240088"/>
            <a:ext cx="3429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2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2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225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5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build="p" autoUpdateAnimBg="0"/>
      <p:bldP spid="22535" grpId="0" build="p" autoUpdateAnimBg="0"/>
      <p:bldP spid="22536" grpId="0" build="p" autoUpdateAnimBg="0"/>
      <p:bldP spid="22546" grpId="0" autoUpdateAnimBg="0"/>
      <p:bldP spid="22547" grpId="0" autoUpdateAnimBg="0"/>
      <p:bldP spid="22548" grpId="0" autoUpdateAnimBg="0"/>
      <p:bldP spid="22550" grpId="0" bldLvl="0" animBg="1"/>
      <p:bldP spid="22551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18A48C-2BD5-4B03-9DD7-33C5267A25A4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22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pic>
        <p:nvPicPr>
          <p:cNvPr id="8397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169" y="2656123"/>
            <a:ext cx="9116963" cy="4669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3992" name="Group 24"/>
          <p:cNvGrpSpPr/>
          <p:nvPr/>
        </p:nvGrpSpPr>
        <p:grpSpPr bwMode="auto">
          <a:xfrm>
            <a:off x="840034" y="863273"/>
            <a:ext cx="914400" cy="982662"/>
            <a:chOff x="768" y="1503"/>
            <a:chExt cx="576" cy="619"/>
          </a:xfrm>
        </p:grpSpPr>
        <p:sp>
          <p:nvSpPr>
            <p:cNvPr id="27669" name="Text Box 6"/>
            <p:cNvSpPr txBox="1">
              <a:spLocks noChangeArrowheads="1"/>
            </p:cNvSpPr>
            <p:nvPr/>
          </p:nvSpPr>
          <p:spPr bwMode="auto">
            <a:xfrm>
              <a:off x="768" y="1532"/>
              <a:ext cx="522" cy="5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/>
                <a:t>精</a:t>
              </a:r>
            </a:p>
            <a:p>
              <a:pPr algn="l" eaLnBrk="1" hangingPunct="1"/>
              <a:r>
                <a:rPr lang="zh-CN" altLang="en-US" sz="2400" b="1" i="0"/>
                <a:t>度</a:t>
              </a:r>
            </a:p>
          </p:txBody>
        </p:sp>
        <p:sp>
          <p:nvSpPr>
            <p:cNvPr id="27670" name="AutoShape 7"/>
            <p:cNvSpPr/>
            <p:nvPr/>
          </p:nvSpPr>
          <p:spPr bwMode="auto">
            <a:xfrm>
              <a:off x="1113" y="1503"/>
              <a:ext cx="231" cy="619"/>
            </a:xfrm>
            <a:prstGeom prst="leftBrace">
              <a:avLst>
                <a:gd name="adj1" fmla="val 22330"/>
                <a:gd name="adj2" fmla="val 50000"/>
              </a:avLst>
            </a:prstGeom>
            <a:noFill/>
            <a:ln w="381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3976" name="Text Box 8"/>
          <p:cNvSpPr txBox="1">
            <a:spLocks noChangeArrowheads="1"/>
          </p:cNvSpPr>
          <p:nvPr/>
        </p:nvSpPr>
        <p:spPr bwMode="auto">
          <a:xfrm>
            <a:off x="1735384" y="710873"/>
            <a:ext cx="2962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 i="0">
                <a:latin typeface="宋体" panose="02010600030101010101" pitchFamily="2" charset="-122"/>
              </a:rPr>
              <a:t>① </a:t>
            </a:r>
            <a:r>
              <a:rPr lang="zh-CN" altLang="en-US" sz="2400" b="1" i="0"/>
              <a:t>一般传动：</a:t>
            </a:r>
            <a:endParaRPr lang="en-US" altLang="zh-CN" sz="2400" b="1" i="0"/>
          </a:p>
        </p:txBody>
      </p:sp>
      <p:sp>
        <p:nvSpPr>
          <p:cNvPr id="83978" name="Text Box 10"/>
          <p:cNvSpPr txBox="1">
            <a:spLocks noChangeArrowheads="1"/>
          </p:cNvSpPr>
          <p:nvPr/>
        </p:nvSpPr>
        <p:spPr bwMode="auto">
          <a:xfrm>
            <a:off x="1715720" y="1588401"/>
            <a:ext cx="2962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400" b="1" i="0" dirty="0">
                <a:latin typeface="宋体" panose="02010600030101010101" pitchFamily="2" charset="-122"/>
              </a:rPr>
              <a:t>② </a:t>
            </a:r>
            <a:r>
              <a:rPr lang="zh-CN" altLang="en-US" sz="2400" b="1" i="0" dirty="0"/>
              <a:t>精密传动：</a:t>
            </a:r>
          </a:p>
        </p:txBody>
      </p:sp>
      <p:sp>
        <p:nvSpPr>
          <p:cNvPr id="83988" name="Rectangle 20"/>
          <p:cNvSpPr>
            <a:spLocks noChangeArrowheads="1"/>
          </p:cNvSpPr>
          <p:nvPr/>
        </p:nvSpPr>
        <p:spPr bwMode="auto">
          <a:xfrm>
            <a:off x="8856398" y="3158306"/>
            <a:ext cx="1447800" cy="4572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9" name="Line 21"/>
          <p:cNvSpPr>
            <a:spLocks noChangeShapeType="1"/>
          </p:cNvSpPr>
          <p:nvPr/>
        </p:nvSpPr>
        <p:spPr bwMode="auto">
          <a:xfrm>
            <a:off x="1695443" y="5144422"/>
            <a:ext cx="75438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0" name="Line 22"/>
          <p:cNvSpPr>
            <a:spLocks noChangeShapeType="1"/>
          </p:cNvSpPr>
          <p:nvPr/>
        </p:nvSpPr>
        <p:spPr bwMode="auto">
          <a:xfrm>
            <a:off x="1759960" y="4062873"/>
            <a:ext cx="75438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6" name="Text Box 28"/>
          <p:cNvSpPr txBox="1">
            <a:spLocks noChangeArrowheads="1"/>
          </p:cNvSpPr>
          <p:nvPr/>
        </p:nvSpPr>
        <p:spPr bwMode="auto">
          <a:xfrm>
            <a:off x="3727697" y="653723"/>
            <a:ext cx="6635493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400" b="1" i="0" dirty="0"/>
              <a:t>内花键拉削后再进行热处理，其变形不易修正，故由</a:t>
            </a:r>
            <a:r>
              <a:rPr lang="en-US" altLang="zh-CN" sz="2400" b="1" i="0" dirty="0">
                <a:solidFill>
                  <a:srgbClr val="FF3300"/>
                </a:solidFill>
              </a:rPr>
              <a:t>IT9</a:t>
            </a:r>
            <a:r>
              <a:rPr lang="en-US" altLang="zh-CN" sz="2400" b="1" i="0" dirty="0">
                <a:solidFill>
                  <a:srgbClr val="FF3300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sz="2400" b="1" i="0" dirty="0">
                <a:solidFill>
                  <a:srgbClr val="FF3300"/>
                </a:solidFill>
              </a:rPr>
              <a:t>IT11</a:t>
            </a:r>
            <a:r>
              <a:rPr lang="zh-CN" altLang="en-US" sz="2400" b="1" i="0" dirty="0">
                <a:solidFill>
                  <a:srgbClr val="FF3300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83997" name="Text Box 29"/>
          <p:cNvSpPr txBox="1">
            <a:spLocks noChangeArrowheads="1"/>
          </p:cNvSpPr>
          <p:nvPr/>
        </p:nvSpPr>
        <p:spPr bwMode="auto">
          <a:xfrm>
            <a:off x="3738862" y="1579235"/>
            <a:ext cx="7007787" cy="97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400" b="1" i="0" dirty="0"/>
              <a:t>当键侧配合间隙要求较高时，内花键槽宽选</a:t>
            </a:r>
            <a:r>
              <a:rPr lang="en-US" altLang="zh-CN" sz="2400" b="1" i="0" dirty="0">
                <a:solidFill>
                  <a:srgbClr val="FF0000"/>
                </a:solidFill>
              </a:rPr>
              <a:t>H7</a:t>
            </a:r>
            <a:r>
              <a:rPr lang="zh-CN" altLang="en-US" sz="2400" b="1" i="0" dirty="0"/>
              <a:t>，</a:t>
            </a:r>
          </a:p>
          <a:p>
            <a:pPr algn="l" eaLnBrk="1" hangingPunct="1">
              <a:lnSpc>
                <a:spcPct val="120000"/>
              </a:lnSpc>
            </a:pPr>
            <a:r>
              <a:rPr lang="zh-CN" altLang="en-US" sz="2400" b="1" i="0" dirty="0"/>
              <a:t>一般选</a:t>
            </a:r>
            <a:r>
              <a:rPr lang="en-US" altLang="zh-CN" sz="2400" b="1" i="0" dirty="0">
                <a:solidFill>
                  <a:srgbClr val="FF0000"/>
                </a:solidFill>
              </a:rPr>
              <a:t>IT9</a:t>
            </a:r>
            <a:r>
              <a:rPr lang="zh-CN" altLang="en-US" sz="2400" b="1" i="0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8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3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39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8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83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83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6" grpId="0" bldLvl="0" animBg="1" autoUpdateAnimBg="0"/>
      <p:bldP spid="83978" grpId="0" bldLvl="0" animBg="1" autoUpdateAnimBg="0"/>
      <p:bldP spid="83988" grpId="0" bldLvl="0" animBg="1"/>
      <p:bldP spid="83989" grpId="0" bldLvl="0" animBg="1"/>
      <p:bldP spid="83990" grpId="0" bldLvl="0" animBg="1"/>
      <p:bldP spid="83996" grpId="0" bldLvl="0" animBg="1" autoUpdateAnimBg="0"/>
      <p:bldP spid="83997" grpId="0" bldLvl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80F20B0-0134-4E62-B9CD-185C8CED7B72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23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679450" y="861502"/>
            <a:ext cx="8953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i="0" dirty="0"/>
              <a:t>2.  </a:t>
            </a:r>
            <a:r>
              <a:rPr lang="zh-CN" altLang="en-US" sz="2800" b="1" i="0" dirty="0"/>
              <a:t>矩形花键结合的极限与配合选用</a:t>
            </a: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679450" y="1463378"/>
            <a:ext cx="1023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i="0" dirty="0"/>
              <a:t>    </a:t>
            </a:r>
            <a:r>
              <a:rPr lang="zh-CN" altLang="en-US" sz="2800" b="1" i="0" dirty="0"/>
              <a:t>矩形花键结合的极限与配合选用是指确定</a:t>
            </a:r>
            <a:r>
              <a:rPr lang="zh-CN" altLang="en-US" sz="2800" b="1" i="0" dirty="0">
                <a:solidFill>
                  <a:srgbClr val="FF3300"/>
                </a:solidFill>
              </a:rPr>
              <a:t>联结精度</a:t>
            </a:r>
            <a:r>
              <a:rPr lang="zh-CN" altLang="en-US" sz="2800" b="1" i="0" dirty="0"/>
              <a:t>和</a:t>
            </a:r>
            <a:r>
              <a:rPr lang="zh-CN" altLang="en-US" sz="2800" b="1" i="0" dirty="0">
                <a:solidFill>
                  <a:srgbClr val="FF3300"/>
                </a:solidFill>
              </a:rPr>
              <a:t>装配型式</a:t>
            </a:r>
            <a:r>
              <a:rPr lang="zh-CN" altLang="en-US" sz="2800" b="1" i="0" dirty="0"/>
              <a:t>。</a:t>
            </a:r>
            <a:endParaRPr lang="en-US" altLang="zh-CN" sz="2800" b="1" i="0" dirty="0"/>
          </a:p>
        </p:txBody>
      </p:sp>
      <p:sp>
        <p:nvSpPr>
          <p:cNvPr id="110598" name="Text Box 6"/>
          <p:cNvSpPr txBox="1">
            <a:spLocks noChangeArrowheads="1"/>
          </p:cNvSpPr>
          <p:nvPr/>
        </p:nvSpPr>
        <p:spPr bwMode="auto">
          <a:xfrm>
            <a:off x="412750" y="2150772"/>
            <a:ext cx="105029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（</a:t>
            </a:r>
            <a:r>
              <a:rPr lang="en-US" altLang="zh-CN" sz="2800" b="1" i="0" dirty="0"/>
              <a:t>1</a:t>
            </a:r>
            <a:r>
              <a:rPr lang="zh-CN" altLang="en-US" sz="2800" b="1" i="0" dirty="0"/>
              <a:t>） 矩形花键</a:t>
            </a:r>
            <a:r>
              <a:rPr lang="zh-CN" altLang="en-US" sz="2800" b="1" i="0" dirty="0">
                <a:solidFill>
                  <a:srgbClr val="FF3300"/>
                </a:solidFill>
              </a:rPr>
              <a:t>联结精度</a:t>
            </a:r>
            <a:r>
              <a:rPr lang="zh-CN" altLang="en-US" sz="2800" b="1" i="0" dirty="0"/>
              <a:t>的选用主要根据</a:t>
            </a:r>
            <a:r>
              <a:rPr lang="zh-CN" altLang="en-US" sz="2800" b="1" i="0" dirty="0">
                <a:solidFill>
                  <a:srgbClr val="FF3300"/>
                </a:solidFill>
              </a:rPr>
              <a:t>定心精度</a:t>
            </a:r>
            <a:r>
              <a:rPr lang="zh-CN" altLang="en-US" sz="2800" b="1" i="0" dirty="0"/>
              <a:t>和</a:t>
            </a:r>
            <a:r>
              <a:rPr lang="zh-CN" altLang="en-US" sz="2800" b="1" i="0" dirty="0">
                <a:solidFill>
                  <a:srgbClr val="FF3300"/>
                </a:solidFill>
              </a:rPr>
              <a:t>传递扭矩大小。</a:t>
            </a:r>
            <a:endParaRPr lang="en-US" altLang="zh-CN" sz="2800" b="1" i="0" dirty="0">
              <a:solidFill>
                <a:srgbClr val="FF3300"/>
              </a:solidFill>
            </a:endParaRPr>
          </a:p>
        </p:txBody>
      </p:sp>
      <p:sp>
        <p:nvSpPr>
          <p:cNvPr id="110599" name="Text Box 7"/>
          <p:cNvSpPr txBox="1">
            <a:spLocks noChangeArrowheads="1"/>
          </p:cNvSpPr>
          <p:nvPr/>
        </p:nvSpPr>
        <p:spPr bwMode="auto">
          <a:xfrm>
            <a:off x="398904" y="3040891"/>
            <a:ext cx="10502900" cy="1594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FF3300"/>
                </a:solidFill>
              </a:rPr>
              <a:t>       “精密传动用”</a:t>
            </a:r>
            <a:r>
              <a:rPr lang="zh-CN" altLang="en-US" sz="2800" b="1" i="0" dirty="0"/>
              <a:t>花键联结定心精度高、传递扭矩大而且平稳，多用于精密机床主轴变速箱，以及各种减速箱中轴与齿轮花键孔联结。</a:t>
            </a:r>
          </a:p>
        </p:txBody>
      </p:sp>
      <p:sp>
        <p:nvSpPr>
          <p:cNvPr id="110600" name="Text Box 8"/>
          <p:cNvSpPr txBox="1">
            <a:spLocks noChangeArrowheads="1"/>
          </p:cNvSpPr>
          <p:nvPr/>
        </p:nvSpPr>
        <p:spPr bwMode="auto">
          <a:xfrm>
            <a:off x="398904" y="4826577"/>
            <a:ext cx="10502900" cy="112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FF3300"/>
                </a:solidFill>
              </a:rPr>
              <a:t>       “一般用</a:t>
            </a:r>
            <a:r>
              <a:rPr lang="en-US" altLang="zh-CN" sz="2800" b="1" i="0" dirty="0">
                <a:solidFill>
                  <a:srgbClr val="FF3300"/>
                </a:solidFill>
              </a:rPr>
              <a:t>”</a:t>
            </a:r>
            <a:r>
              <a:rPr lang="zh-CN" altLang="en-US" sz="2800" b="1" i="0" dirty="0"/>
              <a:t>花键联结用于定心精度不高，但传递扭矩较大，如载重汽车、拖拉机的变速箱。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10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105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0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build="p" autoUpdateAnimBg="0"/>
      <p:bldP spid="110597" grpId="0" build="p" autoUpdateAnimBg="0"/>
      <p:bldP spid="110598" grpId="0" build="p" autoUpdateAnimBg="0"/>
      <p:bldP spid="110599" grpId="0" build="p" autoUpdateAnimBg="0"/>
      <p:bldP spid="110600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479B4E-45E3-4B38-B809-275EA333C769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781749" y="920839"/>
            <a:ext cx="1003084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（</a:t>
            </a:r>
            <a:r>
              <a:rPr lang="en-US" altLang="zh-CN" sz="2800" b="1" i="0" dirty="0"/>
              <a:t>2</a:t>
            </a:r>
            <a:r>
              <a:rPr lang="zh-CN" altLang="en-US" sz="2800" b="1" i="0" dirty="0"/>
              <a:t>） 矩形花键装配型式的选用主要根据</a:t>
            </a:r>
            <a:r>
              <a:rPr lang="zh-CN" altLang="en-US" sz="2800" b="1" i="0" dirty="0">
                <a:solidFill>
                  <a:srgbClr val="FF3300"/>
                </a:solidFill>
              </a:rPr>
              <a:t>内、外花键之间是否有轴向移动</a:t>
            </a:r>
            <a:r>
              <a:rPr lang="zh-CN" altLang="en-US" sz="2800" b="1" i="0" dirty="0"/>
              <a:t>。</a:t>
            </a:r>
            <a:endParaRPr lang="en-US" altLang="zh-CN" sz="2800" b="1" i="0" dirty="0">
              <a:solidFill>
                <a:srgbClr val="FF3300"/>
              </a:solidFill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490024" y="2099256"/>
            <a:ext cx="10502900" cy="1594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FF3300"/>
                </a:solidFill>
              </a:rPr>
              <a:t>      “滑动联结”</a:t>
            </a:r>
            <a:r>
              <a:rPr lang="zh-CN" altLang="en-US" sz="2800" b="1" i="0" dirty="0"/>
              <a:t>用于内、外花键之间有轴向移动，而且移动距离长、频率高。应用滑动联结可保证运动灵活性及配合面间有足够的润滑油层。如载重汽车、拖拉机的变速箱中的齿轮与轴的联结。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638121" y="3893426"/>
            <a:ext cx="10502900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FF3300"/>
                </a:solidFill>
              </a:rPr>
              <a:t>    “紧滑动联结”</a:t>
            </a:r>
            <a:r>
              <a:rPr lang="zh-CN" altLang="en-US" sz="2800" b="1" i="0" dirty="0"/>
              <a:t>用于内、外花键定心精度要求高，传递扭矩大或经常有反向转动的情况。</a:t>
            </a: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962151" y="5129798"/>
            <a:ext cx="9850438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i="0" dirty="0">
                <a:solidFill>
                  <a:srgbClr val="FF3300"/>
                </a:solidFill>
              </a:rPr>
              <a:t>“固定联结”</a:t>
            </a:r>
            <a:r>
              <a:rPr lang="zh-CN" altLang="en-US" sz="2800" b="1" i="0" dirty="0"/>
              <a:t>用于内、外花键之间无需在轴向移动，只用来传递扭矩。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6" grpId="0" build="p" autoUpdateAnimBg="0"/>
      <p:bldP spid="7" grpId="0" build="p" autoUpdateAnimBg="0"/>
      <p:bldP spid="8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1370B25-1C3F-4B2F-9EAA-3F64A3D6D07A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25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518771" y="399171"/>
            <a:ext cx="381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 i="0" dirty="0"/>
              <a:t>3. </a:t>
            </a:r>
            <a:r>
              <a:rPr lang="zh-CN" altLang="en-US" sz="2800" b="1" i="0" dirty="0">
                <a:latin typeface="宋体" panose="02010600030101010101" pitchFamily="2" charset="-122"/>
              </a:rPr>
              <a:t>几何公差</a:t>
            </a:r>
            <a:r>
              <a:rPr lang="zh-CN" altLang="en-US" sz="2800" b="1" i="0" dirty="0"/>
              <a:t> </a:t>
            </a:r>
          </a:p>
        </p:txBody>
      </p:sp>
      <p:grpSp>
        <p:nvGrpSpPr>
          <p:cNvPr id="38962" name="Group 50"/>
          <p:cNvGrpSpPr/>
          <p:nvPr/>
        </p:nvGrpSpPr>
        <p:grpSpPr bwMode="auto">
          <a:xfrm>
            <a:off x="1009650" y="1957388"/>
            <a:ext cx="4572000" cy="5164138"/>
            <a:chOff x="240" y="981"/>
            <a:chExt cx="2880" cy="3253"/>
          </a:xfrm>
        </p:grpSpPr>
        <p:pic>
          <p:nvPicPr>
            <p:cNvPr id="29715" name="Picture 1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81"/>
              <a:ext cx="2880" cy="30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16" name="Text Box 18"/>
            <p:cNvSpPr txBox="1">
              <a:spLocks noChangeArrowheads="1"/>
            </p:cNvSpPr>
            <p:nvPr/>
          </p:nvSpPr>
          <p:spPr bwMode="auto">
            <a:xfrm>
              <a:off x="1513" y="3946"/>
              <a:ext cx="15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 dirty="0">
                  <a:solidFill>
                    <a:srgbClr val="FF3300"/>
                  </a:solidFill>
                </a:rPr>
                <a:t>内花键</a:t>
              </a:r>
            </a:p>
          </p:txBody>
        </p:sp>
      </p:grpSp>
      <p:sp>
        <p:nvSpPr>
          <p:cNvPr id="29701" name="Rectangle 30"/>
          <p:cNvSpPr>
            <a:spLocks noChangeArrowheads="1"/>
          </p:cNvSpPr>
          <p:nvPr/>
        </p:nvSpPr>
        <p:spPr bwMode="auto">
          <a:xfrm>
            <a:off x="2843213" y="3602038"/>
            <a:ext cx="938212" cy="6746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963" name="Group 51"/>
          <p:cNvGrpSpPr/>
          <p:nvPr/>
        </p:nvGrpSpPr>
        <p:grpSpPr bwMode="auto">
          <a:xfrm>
            <a:off x="6191257" y="2000250"/>
            <a:ext cx="4579941" cy="5076825"/>
            <a:chOff x="3504" y="1008"/>
            <a:chExt cx="2885" cy="3198"/>
          </a:xfrm>
        </p:grpSpPr>
        <p:pic>
          <p:nvPicPr>
            <p:cNvPr id="29713" name="Picture 20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1008"/>
              <a:ext cx="2652" cy="28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9714" name="Text Box 21"/>
            <p:cNvSpPr txBox="1">
              <a:spLocks noChangeArrowheads="1"/>
            </p:cNvSpPr>
            <p:nvPr/>
          </p:nvSpPr>
          <p:spPr bwMode="auto">
            <a:xfrm>
              <a:off x="4689" y="3918"/>
              <a:ext cx="17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 dirty="0">
                  <a:solidFill>
                    <a:srgbClr val="FF3300"/>
                  </a:solidFill>
                </a:rPr>
                <a:t>外花键</a:t>
              </a:r>
            </a:p>
          </p:txBody>
        </p:sp>
      </p:grpSp>
      <p:sp>
        <p:nvSpPr>
          <p:cNvPr id="38951" name="Rectangle 39"/>
          <p:cNvSpPr>
            <a:spLocks noChangeArrowheads="1"/>
          </p:cNvSpPr>
          <p:nvPr/>
        </p:nvSpPr>
        <p:spPr bwMode="auto">
          <a:xfrm>
            <a:off x="7924800" y="3505200"/>
            <a:ext cx="762000" cy="6858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8958" name="Group 46"/>
          <p:cNvGrpSpPr/>
          <p:nvPr/>
        </p:nvGrpSpPr>
        <p:grpSpPr bwMode="auto">
          <a:xfrm rot="-2331059">
            <a:off x="8164513" y="3917950"/>
            <a:ext cx="955675" cy="579438"/>
            <a:chOff x="4870" y="393"/>
            <a:chExt cx="602" cy="365"/>
          </a:xfrm>
        </p:grpSpPr>
        <p:sp>
          <p:nvSpPr>
            <p:cNvPr id="29711" name="Oval 44"/>
            <p:cNvSpPr>
              <a:spLocks noChangeArrowheads="1"/>
            </p:cNvSpPr>
            <p:nvPr/>
          </p:nvSpPr>
          <p:spPr bwMode="auto">
            <a:xfrm>
              <a:off x="5148" y="434"/>
              <a:ext cx="324" cy="32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33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i="0"/>
                <a:t>E</a:t>
              </a:r>
            </a:p>
          </p:txBody>
        </p:sp>
        <p:sp>
          <p:nvSpPr>
            <p:cNvPr id="29712" name="Text Box 45"/>
            <p:cNvSpPr txBox="1">
              <a:spLocks noChangeArrowheads="1"/>
            </p:cNvSpPr>
            <p:nvPr/>
          </p:nvSpPr>
          <p:spPr bwMode="auto">
            <a:xfrm>
              <a:off x="4870" y="393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d</a:t>
              </a:r>
            </a:p>
          </p:txBody>
        </p:sp>
      </p:grpSp>
      <p:grpSp>
        <p:nvGrpSpPr>
          <p:cNvPr id="38965" name="Group 53"/>
          <p:cNvGrpSpPr/>
          <p:nvPr/>
        </p:nvGrpSpPr>
        <p:grpSpPr bwMode="auto">
          <a:xfrm>
            <a:off x="467186" y="971551"/>
            <a:ext cx="10505614" cy="1004887"/>
            <a:chOff x="201" y="612"/>
            <a:chExt cx="6841" cy="633"/>
          </a:xfrm>
        </p:grpSpPr>
        <p:sp>
          <p:nvSpPr>
            <p:cNvPr id="29709" name="Text Box 5"/>
            <p:cNvSpPr txBox="1">
              <a:spLocks noChangeArrowheads="1"/>
            </p:cNvSpPr>
            <p:nvPr/>
          </p:nvSpPr>
          <p:spPr bwMode="auto">
            <a:xfrm>
              <a:off x="201" y="612"/>
              <a:ext cx="6841" cy="6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i="0" dirty="0"/>
                <a:t>（1）为了保证内、外花键</a:t>
              </a:r>
              <a:r>
                <a:rPr lang="zh-CN" altLang="en-US" sz="2400" b="1" i="0" dirty="0">
                  <a:latin typeface="宋体" panose="02010600030101010101" pitchFamily="2" charset="-122"/>
                </a:rPr>
                <a:t>小径定心表面的配合性质，故</a:t>
              </a:r>
              <a:r>
                <a:rPr lang="zh-CN" altLang="en-US" sz="2400" b="1" i="0" dirty="0">
                  <a:solidFill>
                    <a:srgbClr val="FF3300"/>
                  </a:solidFill>
                  <a:latin typeface="宋体" panose="02010600030101010101" pitchFamily="2" charset="-122"/>
                </a:rPr>
                <a:t>小径采用包容要</a:t>
              </a:r>
            </a:p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b="1" i="0" dirty="0">
                  <a:solidFill>
                    <a:srgbClr val="FF3300"/>
                  </a:solidFill>
                  <a:latin typeface="宋体" panose="02010600030101010101" pitchFamily="2" charset="-122"/>
                </a:rPr>
                <a:t>     求</a:t>
              </a:r>
              <a:r>
                <a:rPr lang="zh-CN" altLang="en-US" sz="2400" b="1" i="0" dirty="0"/>
                <a:t>         ；</a:t>
              </a:r>
            </a:p>
          </p:txBody>
        </p:sp>
        <p:pic>
          <p:nvPicPr>
            <p:cNvPr id="29710" name="Picture 5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" y="948"/>
              <a:ext cx="363" cy="285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38967" name="Group 55"/>
          <p:cNvGrpSpPr/>
          <p:nvPr/>
        </p:nvGrpSpPr>
        <p:grpSpPr bwMode="auto">
          <a:xfrm>
            <a:off x="3348052" y="3971928"/>
            <a:ext cx="938214" cy="795341"/>
            <a:chOff x="6250" y="932"/>
            <a:chExt cx="591" cy="501"/>
          </a:xfrm>
        </p:grpSpPr>
        <p:sp>
          <p:nvSpPr>
            <p:cNvPr id="29707" name="Oval 56"/>
            <p:cNvSpPr>
              <a:spLocks noChangeArrowheads="1"/>
            </p:cNvSpPr>
            <p:nvPr/>
          </p:nvSpPr>
          <p:spPr bwMode="auto">
            <a:xfrm rot="19268941">
              <a:off x="6517" y="932"/>
              <a:ext cx="324" cy="324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i="0" dirty="0"/>
                <a:t>E</a:t>
              </a:r>
            </a:p>
          </p:txBody>
        </p:sp>
        <p:sp>
          <p:nvSpPr>
            <p:cNvPr id="29708" name="Text Box 57"/>
            <p:cNvSpPr txBox="1">
              <a:spLocks noChangeArrowheads="1"/>
            </p:cNvSpPr>
            <p:nvPr/>
          </p:nvSpPr>
          <p:spPr bwMode="auto">
            <a:xfrm rot="-2331059">
              <a:off x="6250" y="1068"/>
              <a:ext cx="24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66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/>
                <a:t>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8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8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8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8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2000"/>
                                        <p:tgtEl>
                                          <p:spTgt spid="3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6" grpId="0" build="p" autoUpdateAnimBg="0"/>
      <p:bldP spid="3895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691214E-F38A-438D-9E45-79E0D2F14B99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26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86023" name="Text Box 7"/>
          <p:cNvSpPr txBox="1">
            <a:spLocks noChangeArrowheads="1"/>
          </p:cNvSpPr>
          <p:nvPr/>
        </p:nvSpPr>
        <p:spPr bwMode="auto">
          <a:xfrm>
            <a:off x="152400" y="347730"/>
            <a:ext cx="11022013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 i="0" dirty="0"/>
              <a:t>（2）一般规定</a:t>
            </a:r>
            <a:r>
              <a:rPr lang="zh-CN" altLang="en-US" sz="2800" b="1" i="0" dirty="0">
                <a:solidFill>
                  <a:srgbClr val="FF3300"/>
                </a:solidFill>
              </a:rPr>
              <a:t>位置度公差</a:t>
            </a:r>
            <a:r>
              <a:rPr lang="zh-CN" altLang="en-US" sz="2800" b="1" i="0" dirty="0"/>
              <a:t>，并采用</a:t>
            </a:r>
            <a:r>
              <a:rPr lang="zh-CN" altLang="en-US" sz="28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最大实体</a:t>
            </a:r>
            <a:r>
              <a:rPr lang="zh-CN" altLang="en-US" sz="2800" b="1" i="0" dirty="0" smtClean="0">
                <a:solidFill>
                  <a:srgbClr val="FF0000"/>
                </a:solidFill>
                <a:latin typeface="宋体" panose="02010600030101010101" pitchFamily="2" charset="-122"/>
              </a:rPr>
              <a:t>要求</a:t>
            </a:r>
            <a:endParaRPr lang="zh-CN" altLang="en-US" sz="2800" b="1" i="0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auto">
          <a:xfrm>
            <a:off x="1066800" y="1014095"/>
            <a:ext cx="6037580" cy="534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i="0" dirty="0">
                <a:latin typeface="宋体" panose="02010600030101010101" pitchFamily="2" charset="-122"/>
              </a:rPr>
              <a:t>位置度公差用于控制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对称度</a:t>
            </a:r>
            <a:r>
              <a:rPr lang="zh-CN" altLang="en-US" sz="2400" b="1" i="0" dirty="0">
                <a:latin typeface="宋体" panose="02010600030101010101" pitchFamily="2" charset="-122"/>
              </a:rPr>
              <a:t>和</a:t>
            </a:r>
            <a:r>
              <a:rPr lang="zh-CN" altLang="en-US" sz="2400" b="1" i="0" dirty="0">
                <a:solidFill>
                  <a:srgbClr val="FF0000"/>
                </a:solidFill>
                <a:latin typeface="宋体" panose="02010600030101010101" pitchFamily="2" charset="-122"/>
              </a:rPr>
              <a:t>等分度</a:t>
            </a:r>
            <a:r>
              <a:rPr lang="zh-CN" altLang="en-US" sz="2400" b="1" i="0" dirty="0">
                <a:latin typeface="宋体" panose="02010600030101010101" pitchFamily="2" charset="-122"/>
              </a:rPr>
              <a:t>误差。</a:t>
            </a:r>
          </a:p>
        </p:txBody>
      </p:sp>
      <p:grpSp>
        <p:nvGrpSpPr>
          <p:cNvPr id="86106" name="Group 90"/>
          <p:cNvGrpSpPr/>
          <p:nvPr/>
        </p:nvGrpSpPr>
        <p:grpSpPr bwMode="auto">
          <a:xfrm>
            <a:off x="305414" y="1785780"/>
            <a:ext cx="10706368" cy="5220109"/>
            <a:chOff x="180" y="1100"/>
            <a:chExt cx="6364" cy="3109"/>
          </a:xfrm>
        </p:grpSpPr>
        <p:pic>
          <p:nvPicPr>
            <p:cNvPr id="30726" name="Picture 88" descr="a8b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" y="1100"/>
              <a:ext cx="6364" cy="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727" name="Text Box 89"/>
            <p:cNvSpPr txBox="1">
              <a:spLocks noChangeArrowheads="1"/>
            </p:cNvSpPr>
            <p:nvPr/>
          </p:nvSpPr>
          <p:spPr bwMode="auto">
            <a:xfrm>
              <a:off x="1922" y="3935"/>
              <a:ext cx="2415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i="0" dirty="0" smtClean="0"/>
                <a:t>花 </a:t>
              </a:r>
              <a:r>
                <a:rPr lang="zh-CN" altLang="en-US" sz="2400" b="1" i="0" dirty="0"/>
                <a:t>键 位 置 度 公 差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60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6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3" grpId="0" build="p" autoUpdateAnimBg="0"/>
      <p:bldP spid="86024" grpId="0" bldLvl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FF65CA7-E063-4C91-8F4B-617183EC9D08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27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88070" name="Text Box 1030"/>
          <p:cNvSpPr txBox="1">
            <a:spLocks noChangeArrowheads="1"/>
          </p:cNvSpPr>
          <p:nvPr/>
        </p:nvSpPr>
        <p:spPr bwMode="auto">
          <a:xfrm>
            <a:off x="230443" y="688258"/>
            <a:ext cx="9793288" cy="609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</a:pPr>
            <a:r>
              <a:rPr lang="zh-CN" altLang="en-US" sz="2800" b="1" i="0" dirty="0"/>
              <a:t>   （3）对单件和小批量生产规定</a:t>
            </a:r>
            <a:r>
              <a:rPr lang="zh-CN" altLang="en-US" sz="2800" b="1" i="0" dirty="0">
                <a:solidFill>
                  <a:srgbClr val="FF3300"/>
                </a:solidFill>
                <a:latin typeface="宋体" panose="02010600030101010101" pitchFamily="2" charset="-122"/>
              </a:rPr>
              <a:t>对称度</a:t>
            </a:r>
            <a:r>
              <a:rPr lang="zh-CN" altLang="en-US" sz="2800" b="1" i="0" dirty="0">
                <a:latin typeface="宋体" panose="02010600030101010101" pitchFamily="2" charset="-122"/>
              </a:rPr>
              <a:t>，并采用独立</a:t>
            </a:r>
            <a:r>
              <a:rPr lang="zh-CN" altLang="en-US" sz="2800" b="1" i="0" dirty="0" smtClean="0">
                <a:latin typeface="宋体" panose="02010600030101010101" pitchFamily="2" charset="-122"/>
              </a:rPr>
              <a:t>原则。</a:t>
            </a:r>
            <a:endParaRPr lang="zh-CN" altLang="en-US" sz="2800" b="1" i="0" dirty="0">
              <a:latin typeface="宋体" panose="02010600030101010101" pitchFamily="2" charset="-122"/>
            </a:endParaRPr>
          </a:p>
        </p:txBody>
      </p:sp>
      <p:grpSp>
        <p:nvGrpSpPr>
          <p:cNvPr id="88126" name="Group 1086"/>
          <p:cNvGrpSpPr/>
          <p:nvPr/>
        </p:nvGrpSpPr>
        <p:grpSpPr bwMode="auto">
          <a:xfrm>
            <a:off x="1006003" y="1566893"/>
            <a:ext cx="4927600" cy="4951413"/>
            <a:chOff x="355" y="912"/>
            <a:chExt cx="3104" cy="3282"/>
          </a:xfrm>
        </p:grpSpPr>
        <p:pic>
          <p:nvPicPr>
            <p:cNvPr id="31752" name="Picture 1081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" y="912"/>
              <a:ext cx="3104" cy="3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753" name="Text Box 1083"/>
            <p:cNvSpPr txBox="1">
              <a:spLocks noChangeArrowheads="1"/>
            </p:cNvSpPr>
            <p:nvPr/>
          </p:nvSpPr>
          <p:spPr bwMode="auto">
            <a:xfrm>
              <a:off x="654" y="3883"/>
              <a:ext cx="2180" cy="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000" b="1" i="0"/>
                <a:t>（</a:t>
              </a:r>
              <a:r>
                <a:rPr lang="en-US" altLang="zh-CN" sz="2000" b="1" i="0"/>
                <a:t>a</a:t>
              </a:r>
              <a:r>
                <a:rPr lang="zh-CN" altLang="en-US" sz="2000" b="1" i="0"/>
                <a:t>）内花键对称度公差标注  </a:t>
              </a:r>
            </a:p>
          </p:txBody>
        </p:sp>
      </p:grpSp>
      <p:grpSp>
        <p:nvGrpSpPr>
          <p:cNvPr id="88125" name="Group 1085"/>
          <p:cNvGrpSpPr/>
          <p:nvPr/>
        </p:nvGrpSpPr>
        <p:grpSpPr bwMode="auto">
          <a:xfrm>
            <a:off x="5854632" y="1793953"/>
            <a:ext cx="5073650" cy="4641305"/>
            <a:chOff x="3273" y="1055"/>
            <a:chExt cx="3196" cy="3101"/>
          </a:xfrm>
        </p:grpSpPr>
        <p:pic>
          <p:nvPicPr>
            <p:cNvPr id="31750" name="Picture 108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3" y="1055"/>
              <a:ext cx="3196" cy="3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751" name="Text Box 1084"/>
            <p:cNvSpPr txBox="1">
              <a:spLocks noChangeArrowheads="1"/>
            </p:cNvSpPr>
            <p:nvPr/>
          </p:nvSpPr>
          <p:spPr bwMode="auto">
            <a:xfrm>
              <a:off x="3583" y="3890"/>
              <a:ext cx="2216" cy="26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000" b="1" i="0"/>
                <a:t>（</a:t>
              </a:r>
              <a:r>
                <a:rPr lang="en-US" altLang="zh-CN" sz="2000" b="1" i="0"/>
                <a:t>b</a:t>
              </a:r>
              <a:r>
                <a:rPr lang="zh-CN" altLang="en-US" sz="2000" b="1" i="0"/>
                <a:t>）外花键对称度公差标注 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880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88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88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88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88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7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A3BBE0-3F96-447E-BC75-982E48231DB3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28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90116" name="Text Box 1028"/>
          <p:cNvSpPr txBox="1">
            <a:spLocks noChangeArrowheads="1"/>
          </p:cNvSpPr>
          <p:nvPr/>
        </p:nvSpPr>
        <p:spPr bwMode="auto">
          <a:xfrm>
            <a:off x="762000" y="338138"/>
            <a:ext cx="82915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位置度和对称度公差数值 </a:t>
            </a:r>
            <a:r>
              <a:rPr lang="zh-CN" altLang="en-US" sz="2800" b="1" i="0" dirty="0" smtClean="0"/>
              <a:t>。</a:t>
            </a:r>
            <a:endParaRPr lang="zh-CN" altLang="en-US" sz="2800" b="1" i="0" dirty="0"/>
          </a:p>
        </p:txBody>
      </p:sp>
      <p:pic>
        <p:nvPicPr>
          <p:cNvPr id="90117" name="Picture 10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26" y="1425676"/>
            <a:ext cx="9505373" cy="48989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118" name="Rectangle 1030"/>
          <p:cNvSpPr>
            <a:spLocks noChangeArrowheads="1"/>
          </p:cNvSpPr>
          <p:nvPr/>
        </p:nvSpPr>
        <p:spPr bwMode="auto">
          <a:xfrm>
            <a:off x="685800" y="2590800"/>
            <a:ext cx="762000" cy="16764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9" name="Rectangle 1031"/>
          <p:cNvSpPr>
            <a:spLocks noChangeArrowheads="1"/>
          </p:cNvSpPr>
          <p:nvPr/>
        </p:nvSpPr>
        <p:spPr bwMode="auto">
          <a:xfrm>
            <a:off x="647700" y="4495800"/>
            <a:ext cx="800100" cy="1676400"/>
          </a:xfrm>
          <a:prstGeom prst="rect">
            <a:avLst/>
          </a:prstGeom>
          <a:noFill/>
          <a:ln w="57150">
            <a:solidFill>
              <a:srgbClr val="FF33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i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6" grpId="0" autoUpdateAnimBg="0"/>
      <p:bldP spid="90118" grpId="0" animBg="1"/>
      <p:bldP spid="90119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6C2F1EE-4F89-4E46-BA38-5ACCFEF33D71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29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857250" y="508000"/>
            <a:ext cx="5238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800" b="1" i="0" dirty="0"/>
              <a:t>3.</a:t>
            </a:r>
            <a:r>
              <a:rPr lang="zh-CN" altLang="en-US" sz="2800" b="1" i="0" dirty="0" smtClean="0">
                <a:latin typeface="宋体" panose="02010600030101010101" pitchFamily="2" charset="-122"/>
              </a:rPr>
              <a:t>表面粗糙度</a:t>
            </a:r>
            <a:endParaRPr lang="en-US" altLang="zh-CN" sz="2800" b="1" i="0" dirty="0"/>
          </a:p>
        </p:txBody>
      </p:sp>
      <p:grpSp>
        <p:nvGrpSpPr>
          <p:cNvPr id="40965" name="Group 5"/>
          <p:cNvGrpSpPr/>
          <p:nvPr/>
        </p:nvGrpSpPr>
        <p:grpSpPr bwMode="auto">
          <a:xfrm>
            <a:off x="631825" y="1652637"/>
            <a:ext cx="9429750" cy="3979863"/>
            <a:chOff x="1584" y="2976"/>
            <a:chExt cx="4176" cy="1344"/>
          </a:xfrm>
        </p:grpSpPr>
        <p:pic>
          <p:nvPicPr>
            <p:cNvPr id="33797" name="Picture 6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4" y="3006"/>
              <a:ext cx="4176" cy="1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798" name="Text Box 7"/>
            <p:cNvSpPr txBox="1">
              <a:spLocks noChangeArrowheads="1"/>
            </p:cNvSpPr>
            <p:nvPr/>
          </p:nvSpPr>
          <p:spPr bwMode="auto">
            <a:xfrm>
              <a:off x="5376" y="2976"/>
              <a:ext cx="384" cy="1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1600" i="0"/>
                <a:t>µ</a:t>
              </a:r>
              <a:r>
                <a:rPr lang="en-US" altLang="zh-CN" sz="1600" i="0">
                  <a:latin typeface="宋体" panose="02010600030101010101" pitchFamily="2" charset="-122"/>
                </a:rPr>
                <a:t>m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0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1C89EC-5108-4A8A-9C48-6875EB2E3714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30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485909" y="379927"/>
            <a:ext cx="754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 dirty="0"/>
              <a:t>4. 图样</a:t>
            </a:r>
            <a:r>
              <a:rPr lang="zh-CN" altLang="en-US" sz="2800" b="1" i="0" dirty="0" smtClean="0"/>
              <a:t>标注</a:t>
            </a:r>
            <a:endParaRPr lang="en-US" altLang="zh-CN" sz="2800" b="1" i="0" dirty="0"/>
          </a:p>
        </p:txBody>
      </p:sp>
      <p:sp>
        <p:nvSpPr>
          <p:cNvPr id="43066" name="Text Box 58"/>
          <p:cNvSpPr txBox="1">
            <a:spLocks noChangeArrowheads="1"/>
          </p:cNvSpPr>
          <p:nvPr/>
        </p:nvSpPr>
        <p:spPr bwMode="auto">
          <a:xfrm>
            <a:off x="485909" y="1097756"/>
            <a:ext cx="7591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(1) 位置度的</a:t>
            </a:r>
            <a:r>
              <a:rPr lang="zh-CN" altLang="en-US" sz="2800" b="1" i="0" dirty="0" smtClean="0"/>
              <a:t>标注</a:t>
            </a:r>
            <a:endParaRPr lang="zh-CN" altLang="en-US" sz="2800" b="1" i="0" dirty="0"/>
          </a:p>
        </p:txBody>
      </p:sp>
      <p:grpSp>
        <p:nvGrpSpPr>
          <p:cNvPr id="43087" name="Group 79"/>
          <p:cNvGrpSpPr/>
          <p:nvPr/>
        </p:nvGrpSpPr>
        <p:grpSpPr bwMode="auto">
          <a:xfrm>
            <a:off x="581025" y="1746250"/>
            <a:ext cx="10608945" cy="4961686"/>
            <a:chOff x="180" y="1100"/>
            <a:chExt cx="6364" cy="3283"/>
          </a:xfrm>
        </p:grpSpPr>
        <p:pic>
          <p:nvPicPr>
            <p:cNvPr id="34822" name="Picture 80" descr="a8b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" y="1100"/>
              <a:ext cx="6364" cy="28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23" name="Text Box 81"/>
            <p:cNvSpPr txBox="1">
              <a:spLocks noChangeArrowheads="1"/>
            </p:cNvSpPr>
            <p:nvPr/>
          </p:nvSpPr>
          <p:spPr bwMode="auto">
            <a:xfrm>
              <a:off x="1819" y="4078"/>
              <a:ext cx="2644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i="0" dirty="0"/>
                <a:t>花 键 位 置 度 公 </a:t>
              </a:r>
              <a:r>
                <a:rPr lang="zh-CN" altLang="en-US" sz="2400" b="1" i="0" dirty="0" smtClean="0"/>
                <a:t>差 标 注</a:t>
              </a:r>
              <a:endParaRPr lang="zh-CN" altLang="en-US" sz="2400" b="1" i="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4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uild="p" autoUpdateAnimBg="0"/>
      <p:bldP spid="4306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E27773-E718-495B-8AB8-35C73E81B110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31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61484" name="Text Box 44"/>
          <p:cNvSpPr txBox="1">
            <a:spLocks noChangeArrowheads="1"/>
          </p:cNvSpPr>
          <p:nvPr/>
        </p:nvSpPr>
        <p:spPr bwMode="auto">
          <a:xfrm>
            <a:off x="325638" y="508000"/>
            <a:ext cx="74136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(2) 对称度的</a:t>
            </a:r>
            <a:r>
              <a:rPr lang="zh-CN" altLang="en-US" sz="2800" b="1" i="0" dirty="0" smtClean="0"/>
              <a:t>标注</a:t>
            </a:r>
            <a:endParaRPr lang="en-US" altLang="zh-CN" sz="2800" b="1" i="0" dirty="0"/>
          </a:p>
        </p:txBody>
      </p:sp>
      <p:grpSp>
        <p:nvGrpSpPr>
          <p:cNvPr id="61488" name="Group 48"/>
          <p:cNvGrpSpPr/>
          <p:nvPr/>
        </p:nvGrpSpPr>
        <p:grpSpPr bwMode="auto">
          <a:xfrm>
            <a:off x="914759" y="1422088"/>
            <a:ext cx="10001250" cy="5348048"/>
            <a:chOff x="217" y="828"/>
            <a:chExt cx="6300" cy="3478"/>
          </a:xfrm>
        </p:grpSpPr>
        <p:pic>
          <p:nvPicPr>
            <p:cNvPr id="35845" name="Picture 4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" y="828"/>
              <a:ext cx="3104" cy="3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5846" name="Picture 4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" y="912"/>
              <a:ext cx="3196" cy="30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5847" name="Text Box 47"/>
            <p:cNvSpPr txBox="1">
              <a:spLocks noChangeArrowheads="1"/>
            </p:cNvSpPr>
            <p:nvPr/>
          </p:nvSpPr>
          <p:spPr bwMode="auto">
            <a:xfrm>
              <a:off x="2126" y="4007"/>
              <a:ext cx="1933" cy="2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400" b="1" i="0" dirty="0" smtClean="0"/>
                <a:t>花键</a:t>
              </a:r>
              <a:r>
                <a:rPr lang="zh-CN" altLang="en-US" sz="2400" b="1" i="0" dirty="0"/>
                <a:t>对称度公差标注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6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D45E42-0DBA-4788-AE61-01811BC3F3BA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32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257175" y="192088"/>
            <a:ext cx="51355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（3）标注</a:t>
            </a:r>
            <a:r>
              <a:rPr lang="zh-CN" altLang="en-US" sz="2800" b="1" i="0" dirty="0" smtClean="0"/>
              <a:t>示例</a:t>
            </a:r>
            <a:endParaRPr lang="zh-CN" altLang="en-US" sz="2800" b="1" i="0" dirty="0"/>
          </a:p>
        </p:txBody>
      </p:sp>
      <p:pic>
        <p:nvPicPr>
          <p:cNvPr id="47112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580" y="2609663"/>
            <a:ext cx="6245225" cy="4272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904569" y="924230"/>
            <a:ext cx="3195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 dirty="0" smtClean="0"/>
              <a:t>a. </a:t>
            </a:r>
            <a:r>
              <a:rPr lang="zh-CN" altLang="en-US" sz="2800" b="1" i="0" dirty="0" smtClean="0"/>
              <a:t>装配图的标注</a:t>
            </a:r>
            <a:endParaRPr lang="zh-CN" altLang="en-US" sz="2800" b="1" i="0" dirty="0"/>
          </a:p>
        </p:txBody>
      </p:sp>
      <p:sp>
        <p:nvSpPr>
          <p:cNvPr id="9" name="TextBox 8"/>
          <p:cNvSpPr txBox="1"/>
          <p:nvPr/>
        </p:nvSpPr>
        <p:spPr>
          <a:xfrm>
            <a:off x="4100052" y="715308"/>
            <a:ext cx="63123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 smtClean="0"/>
              <a:t>内花键：</a:t>
            </a:r>
            <a:r>
              <a:rPr lang="en-US" altLang="zh-CN" sz="2800" b="1" i="0" dirty="0" smtClean="0"/>
              <a:t>6</a:t>
            </a:r>
            <a:r>
              <a:rPr lang="en-US" altLang="zh-CN" sz="2800" b="1" i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×23H7×26H10×6H11</a:t>
            </a:r>
          </a:p>
          <a:p>
            <a:r>
              <a:rPr lang="zh-CN" altLang="en-US" sz="2800" b="1" i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外花键：</a:t>
            </a:r>
            <a:r>
              <a:rPr lang="en-US" altLang="zh-CN" sz="2800" b="1" i="0" dirty="0" smtClean="0"/>
              <a:t>6</a:t>
            </a:r>
            <a:r>
              <a:rPr lang="en-US" altLang="zh-CN" sz="2800" b="1" i="0" dirty="0" smtClean="0">
                <a:latin typeface="宋体" panose="02010600030101010101" pitchFamily="2" charset="-122"/>
                <a:ea typeface="宋体" panose="02010600030101010101" pitchFamily="2" charset="-122"/>
              </a:rPr>
              <a:t>×23f7×26a11×6d10</a:t>
            </a:r>
            <a:endParaRPr lang="zh-CN" altLang="en-US" sz="2800" b="1" i="0" dirty="0"/>
          </a:p>
        </p:txBody>
      </p:sp>
      <p:cxnSp>
        <p:nvCxnSpPr>
          <p:cNvPr id="11" name="直接箭头连接符 10"/>
          <p:cNvCxnSpPr/>
          <p:nvPr/>
        </p:nvCxnSpPr>
        <p:spPr bwMode="auto">
          <a:xfrm rot="16200000" flipV="1">
            <a:off x="3523602" y="2743196"/>
            <a:ext cx="379339" cy="37362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TextBox 11"/>
          <p:cNvSpPr txBox="1"/>
          <p:nvPr/>
        </p:nvSpPr>
        <p:spPr>
          <a:xfrm>
            <a:off x="2405580" y="2348052"/>
            <a:ext cx="1347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 smtClean="0">
                <a:solidFill>
                  <a:srgbClr val="FF0000"/>
                </a:solidFill>
              </a:rPr>
              <a:t>键数</a:t>
            </a:r>
            <a:endParaRPr lang="zh-CN" altLang="en-US" sz="2800" b="1" i="0" dirty="0">
              <a:solidFill>
                <a:srgbClr val="FF0000"/>
              </a:solidFill>
            </a:endParaRPr>
          </a:p>
        </p:txBody>
      </p:sp>
      <p:cxnSp>
        <p:nvCxnSpPr>
          <p:cNvPr id="15" name="直接箭头连接符 14"/>
          <p:cNvCxnSpPr/>
          <p:nvPr/>
        </p:nvCxnSpPr>
        <p:spPr bwMode="auto">
          <a:xfrm rot="5400000" flipH="1" flipV="1">
            <a:off x="4785462" y="2799332"/>
            <a:ext cx="379339" cy="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/>
          <p:cNvSpPr txBox="1"/>
          <p:nvPr/>
        </p:nvSpPr>
        <p:spPr>
          <a:xfrm>
            <a:off x="4301623" y="2086442"/>
            <a:ext cx="1347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 smtClean="0">
                <a:solidFill>
                  <a:srgbClr val="FF0000"/>
                </a:solidFill>
              </a:rPr>
              <a:t>小径</a:t>
            </a:r>
            <a:endParaRPr lang="zh-CN" altLang="en-US" sz="2800" b="1" i="0" dirty="0">
              <a:solidFill>
                <a:srgbClr val="FF0000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 bwMode="auto">
          <a:xfrm rot="5400000" flipH="1" flipV="1">
            <a:off x="6299629" y="2799332"/>
            <a:ext cx="379339" cy="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Box 19"/>
          <p:cNvSpPr txBox="1"/>
          <p:nvPr/>
        </p:nvSpPr>
        <p:spPr>
          <a:xfrm>
            <a:off x="5746962" y="2086442"/>
            <a:ext cx="1347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 smtClean="0">
                <a:solidFill>
                  <a:srgbClr val="FF0000"/>
                </a:solidFill>
              </a:rPr>
              <a:t>大径</a:t>
            </a:r>
            <a:endParaRPr lang="zh-CN" altLang="en-US" sz="2800" b="1" i="0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 bwMode="auto">
          <a:xfrm flipV="1">
            <a:off x="8150947" y="2609663"/>
            <a:ext cx="499858" cy="37934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7977295" y="2086442"/>
            <a:ext cx="1982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 smtClean="0">
                <a:solidFill>
                  <a:srgbClr val="FF0000"/>
                </a:solidFill>
              </a:rPr>
              <a:t>键（槽）宽</a:t>
            </a:r>
            <a:endParaRPr lang="zh-CN" altLang="en-US" sz="2800" b="1" i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0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E2C1FA-FFAF-418A-AA81-EF27AEEE91BE}" type="slidenum">
              <a:rPr lang="zh-CN" altLang="en-US" smtClean="0"/>
              <a:pPr>
                <a:defRPr/>
              </a:pPr>
              <a:t>33</a:t>
            </a:fld>
            <a:endParaRPr lang="en-US" altLang="zh-CN"/>
          </a:p>
        </p:txBody>
      </p:sp>
      <p:pic>
        <p:nvPicPr>
          <p:cNvPr id="3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791" y="2069786"/>
            <a:ext cx="4404132" cy="4301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776" y="2069786"/>
            <a:ext cx="4385249" cy="4301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57085" y="983226"/>
            <a:ext cx="98617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zh-CN" altLang="en-US" sz="2400" b="1" i="0" dirty="0"/>
              <a:t>         尺寸公差带、几何公差、公差原则和表面粗糙度轮廓标注</a:t>
            </a:r>
            <a:r>
              <a:rPr lang="zh-CN" altLang="en-US" sz="2400" b="1" i="0" dirty="0" smtClean="0"/>
              <a:t>示例</a:t>
            </a:r>
            <a:r>
              <a:rPr lang="en-US" altLang="zh-CN" sz="2400" b="1" i="0" dirty="0" smtClean="0"/>
              <a:t> </a:t>
            </a:r>
            <a:r>
              <a:rPr lang="zh-CN" altLang="en-US" sz="2400" b="1" i="0" dirty="0"/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7085" y="460006"/>
            <a:ext cx="3195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0" dirty="0" smtClean="0"/>
              <a:t>b. </a:t>
            </a:r>
            <a:r>
              <a:rPr lang="zh-CN" altLang="en-US" sz="2800" b="1" i="0" dirty="0" smtClean="0"/>
              <a:t>零件图的标注</a:t>
            </a:r>
            <a:endParaRPr lang="zh-CN" altLang="en-US" sz="2800" b="1" i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00A3CDF-0B22-45F9-8B4E-7FABBB8335C4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34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112645" name="Text Box 5"/>
          <p:cNvSpPr txBox="1">
            <a:spLocks noChangeArrowheads="1"/>
          </p:cNvSpPr>
          <p:nvPr/>
        </p:nvSpPr>
        <p:spPr bwMode="auto">
          <a:xfrm>
            <a:off x="381000" y="846138"/>
            <a:ext cx="107632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4480" indent="-28448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400" b="1" i="0">
                <a:solidFill>
                  <a:srgbClr val="FF3300"/>
                </a:solidFill>
                <a:sym typeface="Wingdings" panose="05000000000000000000" pitchFamily="2" charset="2"/>
              </a:rPr>
              <a:t>本章重点</a:t>
            </a:r>
          </a:p>
        </p:txBody>
      </p:sp>
      <p:sp>
        <p:nvSpPr>
          <p:cNvPr id="112646" name="Text Box 6"/>
          <p:cNvSpPr txBox="1">
            <a:spLocks noChangeArrowheads="1"/>
          </p:cNvSpPr>
          <p:nvPr/>
        </p:nvSpPr>
        <p:spPr bwMode="auto">
          <a:xfrm>
            <a:off x="476250" y="1778000"/>
            <a:ext cx="10763250" cy="303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84480" indent="-28448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60000"/>
              </a:lnSpc>
              <a:spcBef>
                <a:spcPct val="50000"/>
              </a:spcBef>
            </a:pPr>
            <a:r>
              <a:rPr lang="zh-CN" altLang="en-US" sz="2800" b="1" i="0">
                <a:sym typeface="Wingdings" panose="05000000000000000000" pitchFamily="2" charset="2"/>
              </a:rPr>
              <a:t>1.平键和矩形花键结合的特点(标准件、键与键槽侧面配合，既平行平面结合；</a:t>
            </a:r>
          </a:p>
          <a:p>
            <a:pPr algn="l" eaLnBrk="1" hangingPunct="1">
              <a:lnSpc>
                <a:spcPct val="160000"/>
              </a:lnSpc>
              <a:spcBef>
                <a:spcPct val="50000"/>
              </a:spcBef>
            </a:pPr>
            <a:r>
              <a:rPr lang="zh-CN" altLang="en-US" sz="2800" b="1" i="0">
                <a:sym typeface="Wingdings" panose="05000000000000000000" pitchFamily="2" charset="2"/>
              </a:rPr>
              <a:t>2.平键和矩形花键结合的公差(尺寸公差带、几何公差和表面粗糙度)的选用及其图样标注；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5" grpId="0" build="p" autoUpdateAnimBg="0" advAuto="1000"/>
      <p:bldP spid="112646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7C5359-51B3-4773-B826-21D90740430E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35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113668" name="Text Box 4"/>
          <p:cNvSpPr txBox="1">
            <a:spLocks noChangeArrowheads="1"/>
          </p:cNvSpPr>
          <p:nvPr/>
        </p:nvSpPr>
        <p:spPr bwMode="auto">
          <a:xfrm>
            <a:off x="4191000" y="228600"/>
            <a:ext cx="2454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课 堂 练 习</a:t>
            </a:r>
          </a:p>
        </p:txBody>
      </p:sp>
      <p:grpSp>
        <p:nvGrpSpPr>
          <p:cNvPr id="113669" name="Group 5"/>
          <p:cNvGrpSpPr/>
          <p:nvPr/>
        </p:nvGrpSpPr>
        <p:grpSpPr bwMode="auto">
          <a:xfrm>
            <a:off x="3017520" y="3734479"/>
            <a:ext cx="4800600" cy="2819400"/>
            <a:chOff x="528" y="2784"/>
            <a:chExt cx="2160" cy="1152"/>
          </a:xfrm>
        </p:grpSpPr>
        <p:sp>
          <p:nvSpPr>
            <p:cNvPr id="39947" name="Rectangle 6"/>
            <p:cNvSpPr>
              <a:spLocks noChangeArrowheads="1"/>
            </p:cNvSpPr>
            <p:nvPr/>
          </p:nvSpPr>
          <p:spPr bwMode="auto">
            <a:xfrm>
              <a:off x="624" y="2784"/>
              <a:ext cx="576" cy="1152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8" name="Rectangle 7"/>
            <p:cNvSpPr>
              <a:spLocks noChangeArrowheads="1"/>
            </p:cNvSpPr>
            <p:nvPr/>
          </p:nvSpPr>
          <p:spPr bwMode="auto">
            <a:xfrm>
              <a:off x="1200" y="2976"/>
              <a:ext cx="1296" cy="816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49" name="Line 8"/>
            <p:cNvSpPr>
              <a:spLocks noChangeShapeType="1"/>
            </p:cNvSpPr>
            <p:nvPr/>
          </p:nvSpPr>
          <p:spPr bwMode="auto">
            <a:xfrm>
              <a:off x="2496" y="2976"/>
              <a:ext cx="96" cy="14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9"/>
            <p:cNvSpPr>
              <a:spLocks noChangeShapeType="1"/>
            </p:cNvSpPr>
            <p:nvPr/>
          </p:nvSpPr>
          <p:spPr bwMode="auto">
            <a:xfrm flipV="1">
              <a:off x="2496" y="3696"/>
              <a:ext cx="96" cy="96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Line 10"/>
            <p:cNvSpPr>
              <a:spLocks noChangeShapeType="1"/>
            </p:cNvSpPr>
            <p:nvPr/>
          </p:nvSpPr>
          <p:spPr bwMode="auto">
            <a:xfrm>
              <a:off x="2578" y="3078"/>
              <a:ext cx="0" cy="624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Rectangle 11"/>
            <p:cNvSpPr>
              <a:spLocks noChangeArrowheads="1"/>
            </p:cNvSpPr>
            <p:nvPr/>
          </p:nvSpPr>
          <p:spPr bwMode="auto">
            <a:xfrm>
              <a:off x="1344" y="3084"/>
              <a:ext cx="62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3" name="Oval 12"/>
            <p:cNvSpPr>
              <a:spLocks noChangeArrowheads="1"/>
            </p:cNvSpPr>
            <p:nvPr/>
          </p:nvSpPr>
          <p:spPr bwMode="auto">
            <a:xfrm>
              <a:off x="1968" y="3264"/>
              <a:ext cx="336" cy="25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Oval 13"/>
            <p:cNvSpPr>
              <a:spLocks noChangeArrowheads="1"/>
            </p:cNvSpPr>
            <p:nvPr/>
          </p:nvSpPr>
          <p:spPr bwMode="auto">
            <a:xfrm>
              <a:off x="1440" y="3264"/>
              <a:ext cx="336" cy="252"/>
            </a:xfrm>
            <a:prstGeom prst="ellipse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5" name="Rectangle 14"/>
            <p:cNvSpPr>
              <a:spLocks noChangeArrowheads="1"/>
            </p:cNvSpPr>
            <p:nvPr/>
          </p:nvSpPr>
          <p:spPr bwMode="auto">
            <a:xfrm>
              <a:off x="1632" y="3228"/>
              <a:ext cx="480" cy="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6" name="Line 15"/>
            <p:cNvSpPr>
              <a:spLocks noChangeShapeType="1"/>
            </p:cNvSpPr>
            <p:nvPr/>
          </p:nvSpPr>
          <p:spPr bwMode="auto">
            <a:xfrm>
              <a:off x="1632" y="3516"/>
              <a:ext cx="528" cy="1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7" name="Line 16"/>
            <p:cNvSpPr>
              <a:spLocks noChangeShapeType="1"/>
            </p:cNvSpPr>
            <p:nvPr/>
          </p:nvSpPr>
          <p:spPr bwMode="auto">
            <a:xfrm>
              <a:off x="528" y="3392"/>
              <a:ext cx="216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lgDash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8" name="Line 17"/>
            <p:cNvSpPr>
              <a:spLocks noChangeShapeType="1"/>
            </p:cNvSpPr>
            <p:nvPr/>
          </p:nvSpPr>
          <p:spPr bwMode="auto">
            <a:xfrm>
              <a:off x="1584" y="3264"/>
              <a:ext cx="57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3682" name="Group 18"/>
          <p:cNvGrpSpPr/>
          <p:nvPr/>
        </p:nvGrpSpPr>
        <p:grpSpPr bwMode="auto">
          <a:xfrm>
            <a:off x="898525" y="914400"/>
            <a:ext cx="3444875" cy="614363"/>
            <a:chOff x="566" y="576"/>
            <a:chExt cx="2170" cy="387"/>
          </a:xfrm>
        </p:grpSpPr>
        <p:sp>
          <p:nvSpPr>
            <p:cNvPr id="39945" name="Text Box 19"/>
            <p:cNvSpPr txBox="1">
              <a:spLocks noChangeArrowheads="1"/>
            </p:cNvSpPr>
            <p:nvPr/>
          </p:nvSpPr>
          <p:spPr bwMode="auto">
            <a:xfrm>
              <a:off x="566" y="636"/>
              <a:ext cx="116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 b="1" i="0"/>
                <a:t>(1) 小端</a:t>
              </a:r>
              <a:endParaRPr lang="en-US" altLang="zh-CN" sz="2800" b="1" i="0"/>
            </a:p>
          </p:txBody>
        </p:sp>
        <p:graphicFrame>
          <p:nvGraphicFramePr>
            <p:cNvPr id="39946" name="Object 20"/>
            <p:cNvGraphicFramePr>
              <a:graphicFrameLocks noChangeAspect="1"/>
            </p:cNvGraphicFramePr>
            <p:nvPr/>
          </p:nvGraphicFramePr>
          <p:xfrm>
            <a:off x="1440" y="576"/>
            <a:ext cx="1296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675" name="Equation" r:id="rId3" imgW="17373600" imgH="5181600" progId="">
                    <p:embed/>
                  </p:oleObj>
                </mc:Choice>
                <mc:Fallback>
                  <p:oleObj name="Equation" r:id="rId3" imgW="17373600" imgH="5181600" progId="">
                    <p:embed/>
                    <p:pic>
                      <p:nvPicPr>
                        <p:cNvPr id="0" name="Picture 1" descr="image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576"/>
                          <a:ext cx="1296" cy="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3685" name="Text Box 21"/>
          <p:cNvSpPr txBox="1">
            <a:spLocks noChangeArrowheads="1"/>
          </p:cNvSpPr>
          <p:nvPr/>
        </p:nvSpPr>
        <p:spPr bwMode="auto">
          <a:xfrm>
            <a:off x="5013325" y="947658"/>
            <a:ext cx="58689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(2)  键槽对称度公差为0.02</a:t>
            </a:r>
            <a:endParaRPr lang="en-US" altLang="zh-CN" sz="2800" b="1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686" name="Text Box 22"/>
              <p:cNvSpPr txBox="1">
                <a:spLocks noChangeArrowheads="1"/>
              </p:cNvSpPr>
              <p:nvPr/>
            </p:nvSpPr>
            <p:spPr bwMode="auto">
              <a:xfrm>
                <a:off x="685800" y="1666875"/>
                <a:ext cx="10196513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2800" b="1" i="0" dirty="0"/>
                  <a:t>（3）小端</a:t>
                </a:r>
                <a:r>
                  <a:rPr lang="en-US" altLang="zh-CN" sz="2800" b="1" dirty="0"/>
                  <a:t>d</a:t>
                </a:r>
                <a:r>
                  <a:rPr lang="en-US" altLang="zh-CN" sz="2800" b="1" i="0" baseline="-25000" dirty="0"/>
                  <a:t>1</a:t>
                </a:r>
                <a:r>
                  <a:rPr lang="zh-CN" altLang="en-US" sz="2800" b="1" i="0" dirty="0"/>
                  <a:t>轴线对大端</a:t>
                </a:r>
                <a:r>
                  <a:rPr lang="en-US" altLang="zh-CN" sz="2800" b="1" dirty="0"/>
                  <a:t>d</a:t>
                </a:r>
                <a:r>
                  <a:rPr lang="en-US" altLang="zh-CN" sz="2800" b="1" i="0" baseline="-25000" dirty="0"/>
                  <a:t>2</a:t>
                </a:r>
                <a:r>
                  <a:rPr lang="zh-CN" altLang="en-US" sz="2800" b="1" i="0" dirty="0"/>
                  <a:t>右端面垂直度公差为</a:t>
                </a:r>
                <a14:m>
                  <m:oMath xmlns:m="http://schemas.openxmlformats.org/officeDocument/2006/math">
                    <m:r>
                      <a:rPr lang="az-Cyrl-AZ" altLang="zh-CN" sz="2800" b="1" dirty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altLang="zh-CN" sz="2800" b="1" i="0" dirty="0"/>
                  <a:t>0.03。</a:t>
                </a:r>
              </a:p>
            </p:txBody>
          </p:sp>
        </mc:Choice>
        <mc:Fallback xmlns="">
          <p:sp>
            <p:nvSpPr>
              <p:cNvPr id="113686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666875"/>
                <a:ext cx="10196830" cy="63373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l="-1256" t="-1511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687" name="Text Box 23"/>
          <p:cNvSpPr txBox="1">
            <a:spLocks noChangeArrowheads="1"/>
          </p:cNvSpPr>
          <p:nvPr/>
        </p:nvSpPr>
        <p:spPr bwMode="auto">
          <a:xfrm>
            <a:off x="990600" y="2300288"/>
            <a:ext cx="8197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/>
              <a:t>将上述要求标注在下图中。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3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11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1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3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3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8" grpId="0" autoUpdateAnimBg="0"/>
      <p:bldP spid="113685" grpId="0" autoUpdateAnimBg="0"/>
      <p:bldP spid="113686" grpId="0" bldLvl="0" animBg="1" autoUpdateAnimBg="0"/>
      <p:bldP spid="113687" grpId="0" bldLvl="0" animBg="1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5E50151-F535-4622-9FD7-A4FFA39A81C8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36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3276600" y="228600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课 堂 练 习 答 案</a:t>
            </a:r>
            <a:endParaRPr lang="en-US" altLang="zh-CN" sz="2800" b="1" i="0" dirty="0"/>
          </a:p>
        </p:txBody>
      </p:sp>
      <p:grpSp>
        <p:nvGrpSpPr>
          <p:cNvPr id="114693" name="Group 5"/>
          <p:cNvGrpSpPr/>
          <p:nvPr/>
        </p:nvGrpSpPr>
        <p:grpSpPr bwMode="auto">
          <a:xfrm>
            <a:off x="559150" y="1307465"/>
            <a:ext cx="3351343" cy="521763"/>
            <a:chOff x="507" y="576"/>
            <a:chExt cx="2316" cy="438"/>
          </a:xfrm>
        </p:grpSpPr>
        <p:sp>
          <p:nvSpPr>
            <p:cNvPr id="41025" name="Text Box 6"/>
            <p:cNvSpPr txBox="1">
              <a:spLocks noChangeArrowheads="1"/>
            </p:cNvSpPr>
            <p:nvPr/>
          </p:nvSpPr>
          <p:spPr bwMode="auto">
            <a:xfrm>
              <a:off x="507" y="576"/>
              <a:ext cx="1162" cy="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zh-CN" altLang="en-US" sz="2800" b="1" i="0"/>
                <a:t>(1) 小端</a:t>
              </a:r>
              <a:endParaRPr lang="en-US" altLang="zh-CN" sz="2800" b="1" i="0"/>
            </a:p>
          </p:txBody>
        </p:sp>
        <p:graphicFrame>
          <p:nvGraphicFramePr>
            <p:cNvPr id="41026" name="Object 7"/>
            <p:cNvGraphicFramePr>
              <a:graphicFrameLocks noChangeAspect="1"/>
            </p:cNvGraphicFramePr>
            <p:nvPr/>
          </p:nvGraphicFramePr>
          <p:xfrm>
            <a:off x="1440" y="576"/>
            <a:ext cx="1383" cy="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299" name="Equation" r:id="rId3" imgW="17373600" imgH="5181600" progId="">
                    <p:embed/>
                  </p:oleObj>
                </mc:Choice>
                <mc:Fallback>
                  <p:oleObj name="Equation" r:id="rId3" imgW="17373600" imgH="5181600" progId="">
                    <p:embed/>
                    <p:pic>
                      <p:nvPicPr>
                        <p:cNvPr id="0" name="Picture 1" descr="image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576"/>
                          <a:ext cx="1383" cy="4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4556125" y="1249958"/>
            <a:ext cx="60420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(2)  键槽对称度公差为0.02</a:t>
            </a:r>
            <a:endParaRPr lang="en-US" altLang="zh-CN" sz="2800" b="1" i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697" name="Text Box 9"/>
              <p:cNvSpPr txBox="1">
                <a:spLocks noChangeArrowheads="1"/>
              </p:cNvSpPr>
              <p:nvPr/>
            </p:nvSpPr>
            <p:spPr bwMode="auto">
              <a:xfrm>
                <a:off x="342901" y="1843088"/>
                <a:ext cx="8686800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/>
                <a:r>
                  <a:rPr lang="zh-CN" altLang="en-US" sz="2800" b="1" i="0" dirty="0"/>
                  <a:t>（3）小端</a:t>
                </a:r>
                <a:r>
                  <a:rPr lang="en-US" altLang="zh-CN" sz="2800" b="1" dirty="0"/>
                  <a:t>d</a:t>
                </a:r>
                <a:r>
                  <a:rPr lang="en-US" altLang="zh-CN" sz="2800" b="1" i="0" baseline="-25000" dirty="0"/>
                  <a:t>1</a:t>
                </a:r>
                <a:r>
                  <a:rPr lang="zh-CN" altLang="en-US" sz="2800" b="1" i="0" dirty="0"/>
                  <a:t>轴线对大端</a:t>
                </a:r>
                <a:r>
                  <a:rPr lang="en-US" altLang="zh-CN" sz="2800" b="1" dirty="0"/>
                  <a:t>d</a:t>
                </a:r>
                <a:r>
                  <a:rPr lang="en-US" altLang="zh-CN" sz="2800" b="1" i="0" baseline="-25000" dirty="0"/>
                  <a:t>2</a:t>
                </a:r>
                <a:r>
                  <a:rPr lang="zh-CN" altLang="en-US" sz="2800" b="1" i="0" dirty="0"/>
                  <a:t>右端面垂直度公差为</a:t>
                </a:r>
                <a14:m>
                  <m:oMath xmlns:m="http://schemas.openxmlformats.org/officeDocument/2006/math">
                    <m:r>
                      <a:rPr lang="az-Cyrl-AZ" altLang="zh-CN" sz="2800" b="1" dirty="0">
                        <a:latin typeface="Cambria Math"/>
                        <a:ea typeface="Cambria Math"/>
                      </a:rPr>
                      <m:t>∅</m:t>
                    </m:r>
                  </m:oMath>
                </a14:m>
                <a:r>
                  <a:rPr lang="en-US" altLang="zh-CN" sz="2800" b="1" i="0" dirty="0"/>
                  <a:t>0.03。</a:t>
                </a:r>
              </a:p>
            </p:txBody>
          </p:sp>
        </mc:Choice>
        <mc:Fallback>
          <p:sp>
            <p:nvSpPr>
              <p:cNvPr id="114697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1" y="1843088"/>
                <a:ext cx="8686800" cy="519112"/>
              </a:xfrm>
              <a:prstGeom prst="rect">
                <a:avLst/>
              </a:prstGeom>
              <a:blipFill>
                <a:blip r:embed="rId5"/>
                <a:stretch>
                  <a:fillRect l="-1404" t="-15116" r="-561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698" name="Text Box 10"/>
          <p:cNvSpPr txBox="1">
            <a:spLocks noChangeArrowheads="1"/>
          </p:cNvSpPr>
          <p:nvPr/>
        </p:nvSpPr>
        <p:spPr bwMode="auto">
          <a:xfrm>
            <a:off x="457200" y="776288"/>
            <a:ext cx="67659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将下述要求标注在下图中。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2462893" y="2686744"/>
            <a:ext cx="5750335" cy="4267199"/>
            <a:chOff x="1959565" y="2853346"/>
            <a:chExt cx="5750335" cy="4267199"/>
          </a:xfrm>
        </p:grpSpPr>
        <p:grpSp>
          <p:nvGrpSpPr>
            <p:cNvPr id="2" name="组合 1"/>
            <p:cNvGrpSpPr/>
            <p:nvPr/>
          </p:nvGrpSpPr>
          <p:grpSpPr>
            <a:xfrm>
              <a:off x="1959565" y="2853346"/>
              <a:ext cx="5750335" cy="4267199"/>
              <a:chOff x="1524000" y="2286000"/>
              <a:chExt cx="6629400" cy="4960938"/>
            </a:xfrm>
          </p:grpSpPr>
          <p:grpSp>
            <p:nvGrpSpPr>
              <p:cNvPr id="114699" name="Group 11"/>
              <p:cNvGrpSpPr/>
              <p:nvPr/>
            </p:nvGrpSpPr>
            <p:grpSpPr bwMode="auto">
              <a:xfrm>
                <a:off x="1524000" y="3360738"/>
                <a:ext cx="5867400" cy="3581400"/>
                <a:chOff x="2496" y="2016"/>
                <a:chExt cx="3696" cy="2256"/>
              </a:xfrm>
            </p:grpSpPr>
            <p:grpSp>
              <p:nvGrpSpPr>
                <p:cNvPr id="41011" name="Group 12"/>
                <p:cNvGrpSpPr/>
                <p:nvPr/>
              </p:nvGrpSpPr>
              <p:grpSpPr bwMode="auto">
                <a:xfrm>
                  <a:off x="2496" y="2016"/>
                  <a:ext cx="3696" cy="1971"/>
                  <a:chOff x="528" y="2784"/>
                  <a:chExt cx="2160" cy="1152"/>
                </a:xfrm>
              </p:grpSpPr>
              <p:sp>
                <p:nvSpPr>
                  <p:cNvPr id="4101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784"/>
                    <a:ext cx="576" cy="1152"/>
                  </a:xfrm>
                  <a:prstGeom prst="rect">
                    <a:avLst/>
                  </a:prstGeom>
                  <a:solidFill>
                    <a:schemeClr val="bg1"/>
                  </a:solidFill>
                  <a:ln w="762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14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200" y="2976"/>
                    <a:ext cx="1296" cy="816"/>
                  </a:xfrm>
                  <a:prstGeom prst="rect">
                    <a:avLst/>
                  </a:prstGeom>
                  <a:solidFill>
                    <a:schemeClr val="bg1"/>
                  </a:solidFill>
                  <a:ln w="76200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15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496" y="2976"/>
                    <a:ext cx="96" cy="144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16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6" y="3696"/>
                    <a:ext cx="96" cy="96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1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2580" y="3078"/>
                    <a:ext cx="0" cy="624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1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344" y="3084"/>
                    <a:ext cx="624" cy="288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19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1968" y="3264"/>
                    <a:ext cx="336" cy="252"/>
                  </a:xfrm>
                  <a:prstGeom prst="ellipse">
                    <a:avLst/>
                  </a:prstGeom>
                  <a:solidFill>
                    <a:schemeClr val="bg1"/>
                  </a:solidFill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20" name="Oval 20"/>
                  <p:cNvSpPr>
                    <a:spLocks noChangeArrowheads="1"/>
                  </p:cNvSpPr>
                  <p:nvPr/>
                </p:nvSpPr>
                <p:spPr bwMode="auto">
                  <a:xfrm>
                    <a:off x="1440" y="3264"/>
                    <a:ext cx="336" cy="252"/>
                  </a:xfrm>
                  <a:prstGeom prst="ellipse">
                    <a:avLst/>
                  </a:prstGeom>
                  <a:solidFill>
                    <a:schemeClr val="bg1"/>
                  </a:solidFill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21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1632" y="3228"/>
                    <a:ext cx="480" cy="32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22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1632" y="3516"/>
                    <a:ext cx="528" cy="1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23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528" y="3397"/>
                    <a:ext cx="216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prstDash val="lgDashDot"/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24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584" y="3264"/>
                    <a:ext cx="576" cy="0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012" name="Line 25"/>
                <p:cNvSpPr>
                  <a:spLocks noChangeShapeType="1"/>
                </p:cNvSpPr>
                <p:nvPr/>
              </p:nvSpPr>
              <p:spPr bwMode="auto">
                <a:xfrm>
                  <a:off x="3648" y="3888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4714" name="Group 26"/>
              <p:cNvGrpSpPr/>
              <p:nvPr/>
            </p:nvGrpSpPr>
            <p:grpSpPr bwMode="auto">
              <a:xfrm>
                <a:off x="2590800" y="2286000"/>
                <a:ext cx="2286000" cy="3086101"/>
                <a:chOff x="3456" y="1387"/>
                <a:chExt cx="1440" cy="1944"/>
              </a:xfrm>
            </p:grpSpPr>
            <p:sp>
              <p:nvSpPr>
                <p:cNvPr id="40999" name="Line 27"/>
                <p:cNvSpPr>
                  <a:spLocks noChangeShapeType="1"/>
                </p:cNvSpPr>
                <p:nvPr/>
              </p:nvSpPr>
              <p:spPr bwMode="auto">
                <a:xfrm>
                  <a:off x="4896" y="2851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000" name="Line 28"/>
                <p:cNvSpPr>
                  <a:spLocks noChangeShapeType="1"/>
                </p:cNvSpPr>
                <p:nvPr/>
              </p:nvSpPr>
              <p:spPr bwMode="auto">
                <a:xfrm>
                  <a:off x="4896" y="1680"/>
                  <a:ext cx="0" cy="115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41001" name="Group 29"/>
                <p:cNvGrpSpPr/>
                <p:nvPr/>
              </p:nvGrpSpPr>
              <p:grpSpPr bwMode="auto">
                <a:xfrm>
                  <a:off x="3456" y="1387"/>
                  <a:ext cx="1194" cy="437"/>
                  <a:chOff x="3456" y="1387"/>
                  <a:chExt cx="1194" cy="437"/>
                </a:xfrm>
              </p:grpSpPr>
              <p:sp>
                <p:nvSpPr>
                  <p:cNvPr id="41003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502" y="1387"/>
                    <a:ext cx="116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3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l" eaLnBrk="1" hangingPunct="1"/>
                    <a:endParaRPr lang="zh-CN" altLang="en-US" i="0"/>
                  </a:p>
                </p:txBody>
              </p:sp>
              <p:sp>
                <p:nvSpPr>
                  <p:cNvPr id="41004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3456" y="1536"/>
                    <a:ext cx="1194" cy="28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r>
                      <a:rPr lang="zh-CN" altLang="en-US" i="0"/>
                      <a:t>     0.02  </a:t>
                    </a:r>
                    <a:r>
                      <a:rPr lang="en-US" altLang="zh-CN"/>
                      <a:t>A</a:t>
                    </a:r>
                  </a:p>
                </p:txBody>
              </p:sp>
              <p:grpSp>
                <p:nvGrpSpPr>
                  <p:cNvPr id="41005" name="Group 32"/>
                  <p:cNvGrpSpPr/>
                  <p:nvPr/>
                </p:nvGrpSpPr>
                <p:grpSpPr bwMode="auto">
                  <a:xfrm>
                    <a:off x="3504" y="1632"/>
                    <a:ext cx="240" cy="144"/>
                    <a:chOff x="5472" y="1632"/>
                    <a:chExt cx="240" cy="192"/>
                  </a:xfrm>
                </p:grpSpPr>
                <p:sp>
                  <p:nvSpPr>
                    <p:cNvPr id="41008" name="Line 3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520" y="1632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1009" name="Line 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520" y="1824"/>
                      <a:ext cx="144" cy="0"/>
                    </a:xfrm>
                    <a:prstGeom prst="line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1010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472" y="1728"/>
                      <a:ext cx="240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  <a:rou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1006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3792" y="1536"/>
                    <a:ext cx="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007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4369" y="1536"/>
                    <a:ext cx="0" cy="28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002" name="Line 38"/>
                <p:cNvSpPr>
                  <a:spLocks noChangeShapeType="1"/>
                </p:cNvSpPr>
                <p:nvPr/>
              </p:nvSpPr>
              <p:spPr bwMode="auto">
                <a:xfrm>
                  <a:off x="4656" y="1680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993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5430879" y="2864002"/>
                    <a:ext cx="2059682" cy="4572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14:m>
                      <m:oMath xmlns:m="http://schemas.openxmlformats.org/officeDocument/2006/math"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  <a:ea typeface="Cambria Math"/>
                          </a:rPr>
                          <m:t>     </m:t>
                        </m:r>
                        <m:r>
                          <a:rPr lang="az-Cyrl-AZ" altLang="zh-CN" sz="2800" b="1" dirty="0" smtClean="0">
                            <a:latin typeface="Cambria Math"/>
                            <a:ea typeface="Cambria Math"/>
                          </a:rPr>
                          <m:t>∅</m:t>
                        </m:r>
                      </m:oMath>
                    </a14:m>
                    <a:r>
                      <a:rPr lang="en-US" altLang="zh-CN" sz="2800" i="0" dirty="0" smtClean="0"/>
                      <a:t>0.03  </a:t>
                    </a:r>
                    <a:r>
                      <a:rPr lang="en-US" altLang="zh-CN" dirty="0" smtClean="0"/>
                      <a:t>B</a:t>
                    </a:r>
                    <a:endParaRPr lang="en-US" altLang="zh-CN" dirty="0"/>
                  </a:p>
                </p:txBody>
              </p:sp>
            </mc:Choice>
            <mc:Fallback>
              <p:sp>
                <p:nvSpPr>
                  <p:cNvPr id="40993" name="Rectangle 4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430879" y="2864002"/>
                    <a:ext cx="2059682" cy="4572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38571" r="-9060" b="-62857"/>
                    </a:stretch>
                  </a:blip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994" name="Line 43"/>
              <p:cNvSpPr>
                <a:spLocks noChangeShapeType="1"/>
              </p:cNvSpPr>
              <p:nvPr/>
            </p:nvSpPr>
            <p:spPr bwMode="auto">
              <a:xfrm>
                <a:off x="5946499" y="2850774"/>
                <a:ext cx="0" cy="457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5" name="Line 44"/>
              <p:cNvSpPr>
                <a:spLocks noChangeShapeType="1"/>
              </p:cNvSpPr>
              <p:nvPr/>
            </p:nvSpPr>
            <p:spPr bwMode="auto">
              <a:xfrm>
                <a:off x="7013607" y="2867296"/>
                <a:ext cx="0" cy="457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0996" name="Group 45"/>
              <p:cNvGrpSpPr/>
              <p:nvPr/>
            </p:nvGrpSpPr>
            <p:grpSpPr bwMode="auto">
              <a:xfrm>
                <a:off x="5499100" y="2979738"/>
                <a:ext cx="381000" cy="228600"/>
                <a:chOff x="6056" y="1008"/>
                <a:chExt cx="240" cy="144"/>
              </a:xfrm>
            </p:grpSpPr>
            <p:sp>
              <p:nvSpPr>
                <p:cNvPr id="40997" name="Line 46"/>
                <p:cNvSpPr>
                  <a:spLocks noChangeShapeType="1"/>
                </p:cNvSpPr>
                <p:nvPr/>
              </p:nvSpPr>
              <p:spPr bwMode="auto">
                <a:xfrm>
                  <a:off x="6056" y="1152"/>
                  <a:ext cx="240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998" name="Line 47"/>
                <p:cNvSpPr>
                  <a:spLocks noChangeShapeType="1"/>
                </p:cNvSpPr>
                <p:nvPr/>
              </p:nvSpPr>
              <p:spPr bwMode="auto">
                <a:xfrm>
                  <a:off x="6176" y="1008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0990" name="Line 48"/>
              <p:cNvSpPr>
                <a:spLocks noChangeShapeType="1"/>
              </p:cNvSpPr>
              <p:nvPr/>
            </p:nvSpPr>
            <p:spPr bwMode="auto">
              <a:xfrm>
                <a:off x="7848600" y="3055938"/>
                <a:ext cx="0" cy="838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1" name="Line 49"/>
              <p:cNvSpPr>
                <a:spLocks noChangeShapeType="1"/>
              </p:cNvSpPr>
              <p:nvPr/>
            </p:nvSpPr>
            <p:spPr bwMode="auto">
              <a:xfrm>
                <a:off x="7478581" y="3067012"/>
                <a:ext cx="38100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4738" name="Group 50"/>
              <p:cNvGrpSpPr/>
              <p:nvPr/>
            </p:nvGrpSpPr>
            <p:grpSpPr bwMode="auto">
              <a:xfrm>
                <a:off x="6324600" y="3894138"/>
                <a:ext cx="1828800" cy="2209800"/>
                <a:chOff x="5472" y="2352"/>
                <a:chExt cx="1152" cy="1392"/>
              </a:xfrm>
            </p:grpSpPr>
            <p:sp>
              <p:nvSpPr>
                <p:cNvPr id="40987" name="WordArt 52"/>
                <p:cNvSpPr>
                  <a:spLocks noChangeArrowheads="1" noChangeShapeType="1"/>
                </p:cNvSpPr>
                <p:nvPr/>
              </p:nvSpPr>
              <p:spPr bwMode="auto">
                <a:xfrm rot="16200000">
                  <a:off x="5953" y="2733"/>
                  <a:ext cx="576" cy="288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r>
                    <a:rPr lang="en-US" altLang="zh-CN" sz="3600" kern="10" dirty="0">
                      <a:ln w="9525">
                        <a:solidFill>
                          <a:srgbClr val="000000"/>
                        </a:solidFill>
                        <a:round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0</a:t>
                  </a:r>
                </a:p>
                <a:p>
                  <a:r>
                    <a:rPr lang="en-US" altLang="zh-CN" sz="3600" kern="10" dirty="0">
                      <a:ln w="9525">
                        <a:solidFill>
                          <a:srgbClr val="000000"/>
                        </a:solidFill>
                        <a:round/>
                      </a:ln>
                      <a:solidFill>
                        <a:srgbClr val="000000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</a:rPr>
                    <a:t>   -0.025</a:t>
                  </a:r>
                  <a:endParaRPr lang="zh-CN" altLang="en-US" sz="3600" kern="10" dirty="0">
                    <a:ln w="9525">
                      <a:solidFill>
                        <a:srgbClr val="000000"/>
                      </a:solidFill>
                      <a:round/>
                    </a:ln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40983" name="Group 54"/>
                <p:cNvGrpSpPr/>
                <p:nvPr/>
              </p:nvGrpSpPr>
              <p:grpSpPr bwMode="auto">
                <a:xfrm>
                  <a:off x="5472" y="2352"/>
                  <a:ext cx="1152" cy="1392"/>
                  <a:chOff x="5472" y="2352"/>
                  <a:chExt cx="1152" cy="1392"/>
                </a:xfrm>
              </p:grpSpPr>
              <p:sp>
                <p:nvSpPr>
                  <p:cNvPr id="409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5472" y="2352"/>
                    <a:ext cx="110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85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5520" y="3744"/>
                    <a:ext cx="1104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86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6432" y="2352"/>
                    <a:ext cx="0" cy="1392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4746" name="Group 58"/>
              <p:cNvGrpSpPr/>
              <p:nvPr/>
            </p:nvGrpSpPr>
            <p:grpSpPr bwMode="auto">
              <a:xfrm>
                <a:off x="7620000" y="6103938"/>
                <a:ext cx="533400" cy="1143000"/>
                <a:chOff x="6192" y="528"/>
                <a:chExt cx="336" cy="720"/>
              </a:xfrm>
            </p:grpSpPr>
            <p:grpSp>
              <p:nvGrpSpPr>
                <p:cNvPr id="40978" name="Group 59"/>
                <p:cNvGrpSpPr/>
                <p:nvPr/>
              </p:nvGrpSpPr>
              <p:grpSpPr bwMode="auto">
                <a:xfrm>
                  <a:off x="6192" y="528"/>
                  <a:ext cx="336" cy="432"/>
                  <a:chOff x="6192" y="528"/>
                  <a:chExt cx="336" cy="432"/>
                </a:xfrm>
              </p:grpSpPr>
              <p:sp>
                <p:nvSpPr>
                  <p:cNvPr id="40980" name="AutoShape 60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6192" y="528"/>
                    <a:ext cx="336" cy="2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81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6360" y="768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0979" name="Rectangle 62"/>
                <p:cNvSpPr>
                  <a:spLocks noChangeArrowheads="1"/>
                </p:cNvSpPr>
                <p:nvPr/>
              </p:nvSpPr>
              <p:spPr bwMode="auto">
                <a:xfrm>
                  <a:off x="6216" y="960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19050">
                  <a:solidFill>
                    <a:schemeClr val="tx2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zh-CN"/>
                    <a:t>A</a:t>
                  </a:r>
                </a:p>
              </p:txBody>
            </p:sp>
          </p:grpSp>
          <p:grpSp>
            <p:nvGrpSpPr>
              <p:cNvPr id="114751" name="Group 63"/>
              <p:cNvGrpSpPr/>
              <p:nvPr/>
            </p:nvGrpSpPr>
            <p:grpSpPr bwMode="auto">
              <a:xfrm>
                <a:off x="3352800" y="6219825"/>
                <a:ext cx="1133475" cy="538163"/>
                <a:chOff x="6048" y="477"/>
                <a:chExt cx="714" cy="339"/>
              </a:xfrm>
            </p:grpSpPr>
            <p:sp>
              <p:nvSpPr>
                <p:cNvPr id="40974" name="Rectangle 64"/>
                <p:cNvSpPr>
                  <a:spLocks noChangeArrowheads="1"/>
                </p:cNvSpPr>
                <p:nvPr/>
              </p:nvSpPr>
              <p:spPr bwMode="auto">
                <a:xfrm>
                  <a:off x="6474" y="477"/>
                  <a:ext cx="288" cy="28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2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r>
                    <a:rPr lang="en-US" altLang="zh-CN"/>
                    <a:t>B</a:t>
                  </a:r>
                </a:p>
              </p:txBody>
            </p:sp>
            <p:grpSp>
              <p:nvGrpSpPr>
                <p:cNvPr id="40975" name="Group 65"/>
                <p:cNvGrpSpPr/>
                <p:nvPr/>
              </p:nvGrpSpPr>
              <p:grpSpPr bwMode="auto">
                <a:xfrm rot="-5400000">
                  <a:off x="6096" y="432"/>
                  <a:ext cx="336" cy="432"/>
                  <a:chOff x="6192" y="528"/>
                  <a:chExt cx="336" cy="432"/>
                </a:xfrm>
              </p:grpSpPr>
              <p:sp>
                <p:nvSpPr>
                  <p:cNvPr id="40976" name="AutoShape 6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6192" y="528"/>
                    <a:ext cx="336" cy="29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tx2"/>
                  </a:solidFill>
                  <a:ln w="9525">
                    <a:solidFill>
                      <a:schemeClr val="tx1"/>
                    </a:solidFill>
                    <a:miter lim="800000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0977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6360" y="768"/>
                    <a:ext cx="0" cy="19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sp>
          <p:nvSpPr>
            <p:cNvPr id="66" name="TextBox 65"/>
            <p:cNvSpPr txBox="1"/>
            <p:nvPr/>
          </p:nvSpPr>
          <p:spPr>
            <a:xfrm rot="16200000">
              <a:off x="6657073" y="5207702"/>
              <a:ext cx="11238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CN" sz="2400" dirty="0" smtClean="0"/>
                <a:t>Φ</a:t>
              </a:r>
              <a:r>
                <a:rPr lang="en-US" altLang="zh-CN" sz="2400" dirty="0" smtClean="0"/>
                <a:t>40</a:t>
              </a:r>
              <a:endParaRPr lang="zh-CN" alt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1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114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4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2" grpId="0" autoUpdateAnimBg="0"/>
      <p:bldP spid="114696" grpId="0" autoUpdateAnimBg="0"/>
      <p:bldP spid="114697" grpId="0" bldLvl="0" animBg="1" autoUpdateAnimBg="0"/>
      <p:bldP spid="11469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664A58-9D77-4C0B-8702-CD4D10229721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37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1600200" y="192088"/>
            <a:ext cx="58293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i="0">
                <a:solidFill>
                  <a:srgbClr val="FF3300"/>
                </a:solidFill>
              </a:rPr>
              <a:t>作业题 解释</a:t>
            </a:r>
            <a:endParaRPr lang="en-US" altLang="zh-CN" b="1" i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77" name="Text Box 5"/>
              <p:cNvSpPr txBox="1">
                <a:spLocks noChangeArrowheads="1"/>
              </p:cNvSpPr>
              <p:nvPr/>
            </p:nvSpPr>
            <p:spPr bwMode="auto">
              <a:xfrm>
                <a:off x="476250" y="762000"/>
                <a:ext cx="10382250" cy="1203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3200" i="1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l" eaLnBrk="1" hangingPunct="1">
                  <a:lnSpc>
                    <a:spcPct val="130000"/>
                  </a:lnSpc>
                </a:pPr>
                <a:r>
                  <a:rPr lang="zh-CN" altLang="en-US" sz="2800" b="1" i="0" dirty="0"/>
                  <a:t>       1.某减速器中输出轴的伸出端与相配件孔的配合为</a:t>
                </a:r>
                <a14:m>
                  <m:oMath xmlns:m="http://schemas.openxmlformats.org/officeDocument/2006/math">
                    <m:r>
                      <a:rPr lang="az-Cyrl-AZ" altLang="zh-CN" sz="2800" b="1" dirty="0">
                        <a:latin typeface="Cambria Math"/>
                        <a:ea typeface="Cambria Math"/>
                      </a:rPr>
                      <m:t>∅ </m:t>
                    </m:r>
                  </m:oMath>
                </a14:m>
                <a:r>
                  <a:rPr lang="en-US" altLang="zh-CN" sz="2800" b="1" i="0" dirty="0"/>
                  <a:t>45H7／m6，</a:t>
                </a:r>
                <a:r>
                  <a:rPr lang="zh-CN" altLang="en-US" sz="2800" b="1" i="0" dirty="0"/>
                  <a:t>并采用正常联结平键。</a:t>
                </a:r>
              </a:p>
            </p:txBody>
          </p:sp>
        </mc:Choice>
        <mc:Fallback xmlns="">
          <p:sp>
            <p:nvSpPr>
              <p:cNvPr id="28677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250" y="762000"/>
                <a:ext cx="10382250" cy="1203325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l="-1174" t="-1015" b="-964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7966075" y="4891088"/>
            <a:ext cx="25542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d </a:t>
            </a:r>
            <a:r>
              <a:rPr lang="en-US" altLang="zh-CN" sz="2800" b="1" i="0"/>
              <a:t>- </a:t>
            </a:r>
            <a:r>
              <a:rPr lang="en-US" altLang="zh-CN" sz="2800" b="1"/>
              <a:t>t</a:t>
            </a:r>
            <a:r>
              <a:rPr lang="en-US" altLang="zh-CN" sz="2800" b="1" i="0" baseline="-25000"/>
              <a:t>1</a:t>
            </a:r>
            <a:r>
              <a:rPr lang="en-US" altLang="zh-CN" sz="2800" b="1" i="0"/>
              <a:t>=39.5(?)</a:t>
            </a: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877888" y="4903788"/>
            <a:ext cx="2163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i="0"/>
              <a:t>(2)轴槽；</a:t>
            </a:r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877888" y="5699125"/>
            <a:ext cx="2571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/>
              <a:t>(3)轮毂槽：</a:t>
            </a:r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3052763" y="5608638"/>
            <a:ext cx="70485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/>
              <a:t>b</a:t>
            </a:r>
            <a:r>
              <a:rPr lang="en-US" altLang="zh-CN" sz="2800" b="1" i="0"/>
              <a:t>=14JS9=14±</a:t>
            </a:r>
            <a:r>
              <a:rPr lang="zh-CN" altLang="en-US" sz="2800" b="1" i="0"/>
              <a:t>（？）  </a:t>
            </a:r>
            <a:r>
              <a:rPr lang="en-US" altLang="zh-CN" b="1"/>
              <a:t>T</a:t>
            </a:r>
            <a:r>
              <a:rPr lang="en-US" altLang="zh-CN" b="1" i="0"/>
              <a:t>= 0.2</a:t>
            </a:r>
            <a:endParaRPr lang="zh-CN" altLang="en-US" sz="2400" b="1" i="0"/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>
            <a:off x="7956243" y="5666559"/>
            <a:ext cx="3163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 dirty="0"/>
              <a:t>d</a:t>
            </a:r>
            <a:r>
              <a:rPr lang="en-US" altLang="zh-CN" sz="2800" b="1" i="0" dirty="0"/>
              <a:t>+</a:t>
            </a:r>
            <a:r>
              <a:rPr lang="en-US" altLang="zh-CN" sz="2800" b="1" dirty="0"/>
              <a:t>t</a:t>
            </a:r>
            <a:r>
              <a:rPr lang="en-US" altLang="zh-CN" sz="2800" b="1" i="0" baseline="-25000" dirty="0"/>
              <a:t>2 </a:t>
            </a:r>
            <a:r>
              <a:rPr lang="en-US" altLang="zh-CN" sz="2800" b="1" i="0" dirty="0"/>
              <a:t>= 48.5(?)</a:t>
            </a:r>
          </a:p>
        </p:txBody>
      </p:sp>
      <p:sp>
        <p:nvSpPr>
          <p:cNvPr id="28705" name="Rectangle 33"/>
          <p:cNvSpPr>
            <a:spLocks noChangeArrowheads="1"/>
          </p:cNvSpPr>
          <p:nvPr/>
        </p:nvSpPr>
        <p:spPr bwMode="auto">
          <a:xfrm>
            <a:off x="571500" y="1905000"/>
            <a:ext cx="10001250" cy="120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  <a:spcBef>
                <a:spcPct val="50000"/>
              </a:spcBef>
            </a:pPr>
            <a:r>
              <a:rPr lang="zh-CN" altLang="en-US" sz="2800" b="1" i="0"/>
              <a:t>       试确定轴槽和轮毂槽剖面尺寸和极限偏差、键槽对称度公差和表面粗糙度</a:t>
            </a:r>
            <a:r>
              <a:rPr lang="en-US" altLang="zh-CN" sz="2800" b="1"/>
              <a:t>Ra</a:t>
            </a:r>
            <a:r>
              <a:rPr lang="zh-CN" altLang="en-US" sz="2800" b="1" i="0"/>
              <a:t>的上限值。</a:t>
            </a:r>
          </a:p>
        </p:txBody>
      </p:sp>
      <p:sp>
        <p:nvSpPr>
          <p:cNvPr id="28706" name="Rectangle 34"/>
          <p:cNvSpPr>
            <a:spLocks noChangeArrowheads="1"/>
          </p:cNvSpPr>
          <p:nvPr/>
        </p:nvSpPr>
        <p:spPr bwMode="auto">
          <a:xfrm>
            <a:off x="1263650" y="2978150"/>
            <a:ext cx="87249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800" b="1" i="0"/>
              <a:t>并将上述各项公差标注在零件图上。</a:t>
            </a:r>
          </a:p>
        </p:txBody>
      </p: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817813" y="4848225"/>
            <a:ext cx="54038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en-US" altLang="zh-CN" sz="2800" b="1" dirty="0"/>
              <a:t>b=</a:t>
            </a:r>
            <a:r>
              <a:rPr lang="en-US" altLang="zh-CN" sz="2800" b="1" i="0" dirty="0"/>
              <a:t>14N9  = 14</a:t>
            </a:r>
            <a:r>
              <a:rPr lang="zh-CN" altLang="en-US" sz="2800" b="1" i="0" dirty="0"/>
              <a:t>（？）</a:t>
            </a:r>
            <a:r>
              <a:rPr lang="zh-CN" altLang="en-US" sz="2400" b="1" i="0" dirty="0"/>
              <a:t>   </a:t>
            </a:r>
            <a:r>
              <a:rPr lang="en-US" altLang="zh-CN" b="1" dirty="0"/>
              <a:t>T </a:t>
            </a:r>
            <a:r>
              <a:rPr lang="en-US" altLang="zh-CN" b="1" i="0" dirty="0"/>
              <a:t>= 0.2</a:t>
            </a:r>
            <a:endParaRPr lang="zh-CN" altLang="en-US" b="1" i="0" dirty="0"/>
          </a:p>
        </p:txBody>
      </p:sp>
      <p:sp>
        <p:nvSpPr>
          <p:cNvPr id="28718" name="Text Box 46"/>
          <p:cNvSpPr txBox="1">
            <a:spLocks noChangeArrowheads="1"/>
          </p:cNvSpPr>
          <p:nvPr/>
        </p:nvSpPr>
        <p:spPr bwMode="auto">
          <a:xfrm>
            <a:off x="877888" y="6280150"/>
            <a:ext cx="55451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/>
              <a:t>(4) 对称度：      </a:t>
            </a:r>
            <a:r>
              <a:rPr lang="en-US" altLang="zh-CN" b="1"/>
              <a:t>t </a:t>
            </a:r>
            <a:r>
              <a:rPr lang="en-US" altLang="zh-CN" b="1" i="0"/>
              <a:t>=?</a:t>
            </a:r>
            <a:endParaRPr lang="zh-CN" altLang="en-US" b="1" i="0"/>
          </a:p>
        </p:txBody>
      </p:sp>
      <p:graphicFrame>
        <p:nvGraphicFramePr>
          <p:cNvPr id="28721" name="Object 49"/>
          <p:cNvGraphicFramePr>
            <a:graphicFrameLocks noChangeAspect="1"/>
          </p:cNvGraphicFramePr>
          <p:nvPr/>
        </p:nvGraphicFramePr>
        <p:xfrm>
          <a:off x="877888" y="4257675"/>
          <a:ext cx="41878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5" name="公式" r:id="rId4" imgW="38404800" imgH="5181600" progId="">
                  <p:embed/>
                </p:oleObj>
              </mc:Choice>
              <mc:Fallback>
                <p:oleObj name="公式" r:id="rId4" imgW="38404800" imgH="5181600" progId="">
                  <p:embed/>
                  <p:pic>
                    <p:nvPicPr>
                      <p:cNvPr id="0" name="Picture 2" descr="image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4257675"/>
                        <a:ext cx="41878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5" name="Object 53"/>
          <p:cNvGraphicFramePr>
            <a:graphicFrameLocks noChangeAspect="1"/>
          </p:cNvGraphicFramePr>
          <p:nvPr/>
        </p:nvGraphicFramePr>
        <p:xfrm>
          <a:off x="5454650" y="4257675"/>
          <a:ext cx="402748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6" name="公式" r:id="rId6" imgW="34137600" imgH="5181600" progId="">
                  <p:embed/>
                </p:oleObj>
              </mc:Choice>
              <mc:Fallback>
                <p:oleObj name="公式" r:id="rId6" imgW="34137600" imgH="5181600" progId="">
                  <p:embed/>
                  <p:pic>
                    <p:nvPicPr>
                      <p:cNvPr id="0" name="Picture 1" descr="image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4650" y="4257675"/>
                        <a:ext cx="4027488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32" name="Text Box 60"/>
          <p:cNvSpPr txBox="1">
            <a:spLocks noChangeArrowheads="1"/>
          </p:cNvSpPr>
          <p:nvPr/>
        </p:nvSpPr>
        <p:spPr bwMode="auto">
          <a:xfrm>
            <a:off x="850900" y="3603625"/>
            <a:ext cx="2438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i="0">
                <a:solidFill>
                  <a:srgbClr val="FF3300"/>
                </a:solidFill>
              </a:rPr>
              <a:t>解   释：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3000"/>
                                        <p:tgtEl>
                                          <p:spTgt spid="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30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30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0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3000"/>
                                        <p:tgtEl>
                                          <p:spTgt spid="2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00"/>
                                        <p:tgtEl>
                                          <p:spTgt spid="28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6" grpId="0" autoUpdateAnimBg="0"/>
      <p:bldP spid="28677" grpId="0" animBg="1" autoUpdateAnimBg="0"/>
      <p:bldP spid="28686" grpId="0"/>
      <p:bldP spid="28690" grpId="0" autoUpdateAnimBg="0"/>
      <p:bldP spid="28691" grpId="0" autoUpdateAnimBg="0"/>
      <p:bldP spid="28692" grpId="0"/>
      <p:bldP spid="28696" grpId="0"/>
      <p:bldP spid="28705" grpId="0" autoUpdateAnimBg="0"/>
      <p:bldP spid="28706" grpId="0" autoUpdateAnimBg="0"/>
      <p:bldP spid="28682" grpId="0"/>
      <p:bldP spid="28718" grpId="0" autoUpdateAnimBg="0"/>
      <p:bldP spid="2873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CE3F946-261A-44A1-B688-9F760DFF7FC4}" type="slidenum">
              <a:rPr kumimoji="0" lang="zh-CN" altLang="en-US" sz="2000" i="0" smtClean="0">
                <a:solidFill>
                  <a:srgbClr val="0000FF"/>
                </a:solidFill>
              </a:rPr>
              <a:pPr eaLnBrk="1" hangingPunct="1"/>
              <a:t>38</a:t>
            </a:fld>
            <a:endParaRPr kumimoji="0" lang="en-US" altLang="zh-CN" sz="2000" i="0" smtClean="0">
              <a:solidFill>
                <a:srgbClr val="0000FF"/>
              </a:solidFill>
            </a:endParaRPr>
          </a:p>
        </p:txBody>
      </p:sp>
      <p:sp>
        <p:nvSpPr>
          <p:cNvPr id="71684" name="Text Box 2052"/>
          <p:cNvSpPr txBox="1">
            <a:spLocks noChangeArrowheads="1"/>
          </p:cNvSpPr>
          <p:nvPr/>
        </p:nvSpPr>
        <p:spPr bwMode="auto">
          <a:xfrm>
            <a:off x="466725" y="254000"/>
            <a:ext cx="3735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(</a:t>
            </a:r>
            <a:r>
              <a:rPr lang="en-US" altLang="zh-CN" sz="2800" b="1" i="0" dirty="0"/>
              <a:t>5)  </a:t>
            </a:r>
            <a:r>
              <a:rPr lang="zh-CN" altLang="en-US" sz="2800" b="1" i="0" dirty="0"/>
              <a:t>表面粗糙度：</a:t>
            </a:r>
          </a:p>
        </p:txBody>
      </p:sp>
      <p:sp>
        <p:nvSpPr>
          <p:cNvPr id="71685" name="Text Box 2053"/>
          <p:cNvSpPr txBox="1">
            <a:spLocks noChangeArrowheads="1"/>
          </p:cNvSpPr>
          <p:nvPr/>
        </p:nvSpPr>
        <p:spPr bwMode="auto">
          <a:xfrm>
            <a:off x="3990975" y="254000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/>
              <a:t>配合表面</a:t>
            </a:r>
            <a:r>
              <a:rPr lang="en-US" altLang="zh-CN" sz="2800" b="1"/>
              <a:t>Ra</a:t>
            </a:r>
            <a:r>
              <a:rPr lang="zh-CN" altLang="en-US" sz="2800" b="1" i="0"/>
              <a:t>为  </a:t>
            </a:r>
            <a:r>
              <a:rPr lang="en-US" altLang="zh-CN" sz="2800" b="1" i="0"/>
              <a:t>?μm;</a:t>
            </a:r>
          </a:p>
        </p:txBody>
      </p:sp>
      <p:sp>
        <p:nvSpPr>
          <p:cNvPr id="71686" name="Text Box 2054"/>
          <p:cNvSpPr txBox="1">
            <a:spLocks noChangeArrowheads="1"/>
          </p:cNvSpPr>
          <p:nvPr/>
        </p:nvSpPr>
        <p:spPr bwMode="auto">
          <a:xfrm>
            <a:off x="3895725" y="893763"/>
            <a:ext cx="57356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/>
              <a:t>非配合表面</a:t>
            </a:r>
            <a:r>
              <a:rPr lang="en-US" altLang="zh-CN" sz="2800" b="1"/>
              <a:t>Ra</a:t>
            </a:r>
            <a:r>
              <a:rPr lang="zh-CN" altLang="en-US" sz="2800" b="1" i="0"/>
              <a:t>为 </a:t>
            </a:r>
            <a:r>
              <a:rPr lang="en-US" altLang="zh-CN" sz="2800" b="1" i="0"/>
              <a:t>? μm。</a:t>
            </a:r>
            <a:endParaRPr lang="zh-CN" altLang="en-US" sz="2800" b="1" i="0"/>
          </a:p>
        </p:txBody>
      </p:sp>
      <p:sp>
        <p:nvSpPr>
          <p:cNvPr id="71687" name="Text Box 2055"/>
          <p:cNvSpPr txBox="1">
            <a:spLocks noChangeArrowheads="1"/>
          </p:cNvSpPr>
          <p:nvPr/>
        </p:nvSpPr>
        <p:spPr bwMode="auto">
          <a:xfrm>
            <a:off x="322263" y="1152525"/>
            <a:ext cx="6099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 dirty="0"/>
              <a:t>（</a:t>
            </a:r>
            <a:r>
              <a:rPr lang="en-US" altLang="zh-CN" sz="2800" b="1" i="0" dirty="0"/>
              <a:t>6</a:t>
            </a:r>
            <a:r>
              <a:rPr lang="zh-CN" altLang="en-US" sz="2800" b="1" i="0" dirty="0"/>
              <a:t>）标注（标注略）</a:t>
            </a:r>
            <a:r>
              <a:rPr lang="zh-CN" altLang="en-US" sz="2800" dirty="0"/>
              <a:t> </a:t>
            </a:r>
            <a:r>
              <a:rPr lang="zh-CN" altLang="en-US" sz="2800" b="1" i="0" dirty="0"/>
              <a:t>：</a:t>
            </a:r>
          </a:p>
        </p:txBody>
      </p:sp>
      <p:sp>
        <p:nvSpPr>
          <p:cNvPr id="71899" name="Text Box 2267"/>
          <p:cNvSpPr txBox="1">
            <a:spLocks noChangeArrowheads="1"/>
          </p:cNvSpPr>
          <p:nvPr/>
        </p:nvSpPr>
        <p:spPr bwMode="auto">
          <a:xfrm>
            <a:off x="1208088" y="1728788"/>
            <a:ext cx="5213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 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i="0"/>
              <a:t>参考例题图8.</a:t>
            </a:r>
            <a:r>
              <a:rPr lang="en-US" altLang="zh-CN" sz="2800" b="1" i="0"/>
              <a:t>3</a:t>
            </a:r>
            <a:r>
              <a:rPr lang="zh-CN" altLang="en-US" sz="2800" b="1" i="0"/>
              <a:t>的标注</a:t>
            </a:r>
          </a:p>
        </p:txBody>
      </p:sp>
      <p:pic>
        <p:nvPicPr>
          <p:cNvPr id="71973" name="Picture 234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48" y="2469791"/>
            <a:ext cx="5162550" cy="452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974" name="Picture 234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577" y="2375567"/>
            <a:ext cx="5495925" cy="444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71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7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1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autoUpdateAnimBg="0"/>
      <p:bldP spid="71685" grpId="0" autoUpdateAnimBg="0"/>
      <p:bldP spid="71686" grpId="0" autoUpdateAnimBg="0"/>
      <p:bldP spid="71687" grpId="0" autoUpdateAnimBg="0"/>
      <p:bldP spid="71899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1827</Words>
  <Application>Microsoft Office PowerPoint</Application>
  <PresentationFormat>自定义</PresentationFormat>
  <Paragraphs>281</Paragraphs>
  <Slides>38</Slides>
  <Notes>1</Notes>
  <HiddenSlides>0</HiddenSlides>
  <MMClips>0</MMClips>
  <ScaleCrop>false</ScaleCrop>
  <HeadingPairs>
    <vt:vector size="10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38</vt:i4>
      </vt:variant>
      <vt:variant>
        <vt:lpstr>自定义放映</vt:lpstr>
      </vt:variant>
      <vt:variant>
        <vt:i4>1</vt:i4>
      </vt:variant>
    </vt:vector>
  </HeadingPairs>
  <TitlesOfParts>
    <vt:vector size="48" baseType="lpstr">
      <vt:lpstr>Arial Unicode MS</vt:lpstr>
      <vt:lpstr>宋体</vt:lpstr>
      <vt:lpstr>Cambria Math</vt:lpstr>
      <vt:lpstr>Times New Roman</vt:lpstr>
      <vt:lpstr>Wingdings</vt:lpstr>
      <vt:lpstr>默认设计模板</vt:lpstr>
      <vt:lpstr>Equation.DSMT4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yxm</cp:lastModifiedBy>
  <cp:revision>256</cp:revision>
  <dcterms:created xsi:type="dcterms:W3CDTF">2113-01-01T00:00:00Z</dcterms:created>
  <dcterms:modified xsi:type="dcterms:W3CDTF">2023-04-05T13:13:09Z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