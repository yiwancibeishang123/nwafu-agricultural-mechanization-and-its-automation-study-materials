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docProps/custom.xml" ContentType="application/vnd.openxmlformats-officedocument.custom-propertie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Default Extension="vml" ContentType="application/vnd.openxmlformats-officedocument.vmlDrawing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322" r:id="rId2"/>
    <p:sldId id="324" r:id="rId3"/>
    <p:sldId id="326" r:id="rId4"/>
    <p:sldId id="328" r:id="rId5"/>
    <p:sldId id="329" r:id="rId6"/>
    <p:sldId id="333" r:id="rId7"/>
    <p:sldId id="335" r:id="rId8"/>
    <p:sldId id="337" r:id="rId9"/>
    <p:sldId id="336" r:id="rId10"/>
    <p:sldId id="338" r:id="rId11"/>
    <p:sldId id="358" r:id="rId12"/>
    <p:sldId id="359" r:id="rId13"/>
    <p:sldId id="360" r:id="rId14"/>
    <p:sldId id="361" r:id="rId15"/>
    <p:sldId id="362" r:id="rId16"/>
    <p:sldId id="340" r:id="rId17"/>
    <p:sldId id="341" r:id="rId18"/>
    <p:sldId id="342" r:id="rId19"/>
    <p:sldId id="343" r:id="rId20"/>
    <p:sldId id="363" r:id="rId21"/>
    <p:sldId id="344" r:id="rId22"/>
    <p:sldId id="345" r:id="rId23"/>
    <p:sldId id="346" r:id="rId24"/>
    <p:sldId id="347" r:id="rId25"/>
    <p:sldId id="310" r:id="rId26"/>
    <p:sldId id="364" r:id="rId27"/>
    <p:sldId id="348" r:id="rId28"/>
    <p:sldId id="349" r:id="rId29"/>
    <p:sldId id="295" r:id="rId30"/>
    <p:sldId id="350" r:id="rId31"/>
    <p:sldId id="351" r:id="rId32"/>
    <p:sldId id="268" r:id="rId33"/>
    <p:sldId id="352" r:id="rId34"/>
    <p:sldId id="353" r:id="rId35"/>
    <p:sldId id="354" r:id="rId36"/>
    <p:sldId id="357" r:id="rId37"/>
    <p:sldId id="355" r:id="rId38"/>
    <p:sldId id="356" r:id="rId39"/>
  </p:sldIdLst>
  <p:sldSz cx="9144000" cy="5143500" type="screen16x9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00FFFF"/>
    <a:srgbClr val="BFE33D"/>
    <a:srgbClr val="FFFFCC"/>
    <a:srgbClr val="FF3300"/>
    <a:srgbClr val="AFD24E"/>
    <a:srgbClr val="A6DD43"/>
    <a:srgbClr val="CC0000"/>
    <a:srgbClr val="663300"/>
    <a:srgbClr val="006600"/>
    <a:srgbClr val="CC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760" autoAdjust="0"/>
    <p:restoredTop sz="94629" autoAdjust="0"/>
  </p:normalViewPr>
  <p:slideViewPr>
    <p:cSldViewPr>
      <p:cViewPr varScale="1">
        <p:scale>
          <a:sx n="143" d="100"/>
          <a:sy n="143" d="100"/>
        </p:scale>
        <p:origin x="-1134" y="-72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94C51490-4E41-46AF-B01A-E9FB49CF7B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digjh</a:t>
            </a:r>
          </a:p>
        </p:txBody>
      </p:sp>
    </p:spTree>
    <p:extLst>
      <p:ext uri="{BB962C8B-B14F-4D97-AF65-F5344CB8AC3E}">
        <p14:creationId xmlns:p14="http://schemas.microsoft.com/office/powerpoint/2010/main" xmlns="" val="1459228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113588"/>
            <a:ext cx="7772400" cy="1102519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679762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49D4E-9FC1-4007-8CD1-BBA06CC31EA1}" type="datetime1">
              <a:rPr lang="zh-CN" altLang="en-US" smtClean="0"/>
              <a:pPr>
                <a:defRPr/>
              </a:pPr>
              <a:t>2023/2/9 Thursday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E83A3-81DB-4631-A786-06D39F536302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圆角矩形 7"/>
          <p:cNvSpPr/>
          <p:nvPr userDrawn="1"/>
        </p:nvSpPr>
        <p:spPr>
          <a:xfrm>
            <a:off x="755576" y="2355726"/>
            <a:ext cx="7776000" cy="108012"/>
          </a:xfrm>
          <a:prstGeom prst="roundRect">
            <a:avLst/>
          </a:prstGeom>
          <a:solidFill>
            <a:srgbClr val="FF3300"/>
          </a:solidFill>
          <a:ln>
            <a:solidFill>
              <a:srgbClr val="FFFF0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自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41480"/>
            <a:ext cx="7283152" cy="529568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51520" y="4923964"/>
            <a:ext cx="1224136" cy="19424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10789-F7AC-4D8B-BA8F-50A0FC139BF6}" type="datetime1">
              <a:rPr lang="zh-CN" altLang="en-US" smtClean="0"/>
              <a:pPr>
                <a:defRPr/>
              </a:pPr>
              <a:t>2023/2/9 Thursday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935274"/>
            <a:ext cx="2895600" cy="19517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6296" y="4937620"/>
            <a:ext cx="1450504" cy="20588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4D4AE-A134-4DA6-B440-67A3EF8E01F7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67544" y="735546"/>
            <a:ext cx="8280000" cy="0"/>
          </a:xfrm>
          <a:prstGeom prst="line">
            <a:avLst/>
          </a:prstGeom>
          <a:ln w="76200">
            <a:solidFill>
              <a:srgbClr val="AFD24E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67544" y="4948014"/>
            <a:ext cx="8280000" cy="0"/>
          </a:xfrm>
          <a:prstGeom prst="line">
            <a:avLst/>
          </a:prstGeom>
          <a:ln w="38100">
            <a:solidFill>
              <a:srgbClr val="AFD24E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2390B-7E01-4FF6-8E80-DA818798ECDC}" type="datetime1">
              <a:rPr lang="zh-CN" altLang="en-US" smtClean="0"/>
              <a:pPr>
                <a:defRPr/>
              </a:pPr>
              <a:t>2023/2/9 Thursday</a:t>
            </a:fld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7C2E76-40DE-4CB5-8E92-87B7E8450BA8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ja-JP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ja-JP" smtClean="0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400" smtClean="0">
                <a:ea typeface="+mn-ea"/>
              </a:defRPr>
            </a:lvl1pPr>
          </a:lstStyle>
          <a:p>
            <a:pPr>
              <a:defRPr/>
            </a:pPr>
            <a:fld id="{1598ED6E-20C0-4359-B1EB-76C68061926E}" type="datetime1">
              <a:rPr lang="zh-CN" altLang="en-US" smtClean="0"/>
              <a:pPr>
                <a:defRPr/>
              </a:pPr>
              <a:t>2023/2/9 Thursday</a:t>
            </a:fld>
            <a:endParaRPr lang="en-US" altLang="ja-JP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smtClean="0"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400" smtClean="0">
                <a:ea typeface="+mn-ea"/>
              </a:defRPr>
            </a:lvl1pPr>
          </a:lstStyle>
          <a:p>
            <a:pPr>
              <a:defRPr/>
            </a:pPr>
            <a:fld id="{2F6712AD-F5A8-4F9A-80F0-BBD466F0094A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MS PGothic" panose="020B060007020508020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520" y="1275606"/>
            <a:ext cx="8713788" cy="8001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 smtClean="0">
                <a:ln>
                  <a:solidFill>
                    <a:srgbClr val="C00000"/>
                  </a:solidFill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机械精度设计及检测技术</a:t>
            </a:r>
            <a:endParaRPr lang="en-US" altLang="ja-JP" b="1" dirty="0" smtClean="0">
              <a:ln>
                <a:solidFill>
                  <a:srgbClr val="C00000"/>
                </a:solidFill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anose="020B0600070205080204" charset="-128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2868221"/>
            <a:ext cx="6705600" cy="400050"/>
          </a:xfrm>
        </p:spPr>
        <p:txBody>
          <a:bodyPr/>
          <a:lstStyle/>
          <a:p>
            <a:pPr algn="ctr" eaLnBrk="1" hangingPunct="1"/>
            <a:r>
              <a:rPr lang="zh-CN" altLang="en-US" sz="3200" b="1" dirty="0" smtClean="0">
                <a:ln>
                  <a:solidFill>
                    <a:srgbClr val="00B0F0"/>
                  </a:solidFill>
                </a:ln>
                <a:solidFill>
                  <a:srgbClr val="7030A0"/>
                </a:solidFill>
                <a:ea typeface="宋体" panose="02010600030101010101" pitchFamily="2" charset="-122"/>
              </a:rPr>
              <a:t>主讲   机电学院  衣雪梅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99592" y="2409732"/>
            <a:ext cx="7416000" cy="0"/>
          </a:xfrm>
          <a:prstGeom prst="line">
            <a:avLst/>
          </a:prstGeom>
          <a:ln w="76200">
            <a:solidFill>
              <a:srgbClr val="00B0F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DE83A3-81DB-4631-A786-06D39F536302}" type="slidenum">
              <a:rPr lang="ja-JP" altLang="en-US" smtClean="0"/>
              <a:pPr>
                <a:defRPr/>
              </a:pPr>
              <a:t>1</a:t>
            </a:fld>
            <a:endParaRPr lang="en-US" altLang="ja-JP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442664" y="142858"/>
            <a:ext cx="8305800" cy="52322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本节内容提要</a:t>
            </a:r>
            <a:endParaRPr kumimoji="1"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1857356" y="1357304"/>
            <a:ext cx="4608512" cy="30162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1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本课程的特点和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任务</a:t>
            </a:r>
            <a:endParaRPr kumimoji="1" lang="en-US" altLang="zh-CN" sz="28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ct val="50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2.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互换性的概念</a:t>
            </a:r>
            <a:endParaRPr lang="en-US" altLang="zh-CN" sz="28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ct val="50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3.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标准化与优先数系</a:t>
            </a:r>
            <a:endParaRPr lang="en-US" altLang="zh-CN" sz="28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ct val="50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4.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检测技术的发展</a:t>
            </a:r>
            <a:endParaRPr lang="en-US" altLang="zh-CN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ct val="50000"/>
              </a:spcBef>
              <a:buClr>
                <a:srgbClr val="00B050"/>
              </a:buClr>
              <a:buFont typeface="Wingdings" panose="05000000000000000000" pitchFamily="2" charset="2"/>
              <a:buChar char="Ø"/>
            </a:pP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5817796" y="1951370"/>
            <a:ext cx="792088" cy="1242138"/>
          </a:xfrm>
          <a:prstGeom prst="rightBrac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681892" y="2275407"/>
            <a:ext cx="1728192" cy="95410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第一章</a:t>
            </a:r>
            <a:endParaRPr lang="en-US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绪论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</a:t>
            </a:fld>
            <a:endParaRPr lang="en-US" altLang="ja-JP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3419872" y="168381"/>
            <a:ext cx="2304256" cy="513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l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课程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性质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5" name="Rectangle 5"/>
          <p:cNvSpPr>
            <a:spLocks noChangeArrowheads="1"/>
          </p:cNvSpPr>
          <p:nvPr/>
        </p:nvSpPr>
        <p:spPr bwMode="auto">
          <a:xfrm>
            <a:off x="468313" y="990378"/>
            <a:ext cx="8389967" cy="5012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kumimoji="1" lang="zh-CN" altLang="zh-CN" dirty="0" smtClean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◆</a:t>
            </a:r>
            <a:r>
              <a:rPr kumimoji="1" lang="en-US" altLang="zh-CN" dirty="0" smtClean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机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类、近机类专业的一门主要技术基础课。</a:t>
            </a:r>
          </a:p>
          <a:p>
            <a:pPr marL="342900" indent="-342900">
              <a:spcBef>
                <a:spcPct val="20000"/>
              </a:spcBef>
            </a:pPr>
            <a:endParaRPr kumimoji="1"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2214546" y="1875230"/>
            <a:ext cx="1905000" cy="4572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2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设计课程</a:t>
            </a:r>
          </a:p>
        </p:txBody>
      </p:sp>
      <p:sp>
        <p:nvSpPr>
          <p:cNvPr id="13317" name="Rectangle 7"/>
          <p:cNvSpPr>
            <a:spLocks noChangeArrowheads="1"/>
          </p:cNvSpPr>
          <p:nvPr/>
        </p:nvSpPr>
        <p:spPr bwMode="auto">
          <a:xfrm>
            <a:off x="5110146" y="1875230"/>
            <a:ext cx="1905000" cy="4572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2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工艺课程</a:t>
            </a:r>
          </a:p>
        </p:txBody>
      </p:sp>
      <p:sp>
        <p:nvSpPr>
          <p:cNvPr id="13318" name="Rectangle 8"/>
          <p:cNvSpPr>
            <a:spLocks noChangeArrowheads="1"/>
          </p:cNvSpPr>
          <p:nvPr/>
        </p:nvSpPr>
        <p:spPr bwMode="auto">
          <a:xfrm>
            <a:off x="2441560" y="2732480"/>
            <a:ext cx="4162425" cy="457200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3300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机械精度设计与</a:t>
            </a:r>
            <a:r>
              <a:rPr lang="zh-CN" altLang="en-US" sz="2800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检测技术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9" name="Line 9"/>
          <p:cNvSpPr>
            <a:spLocks noChangeShapeType="1"/>
          </p:cNvSpPr>
          <p:nvPr/>
        </p:nvSpPr>
        <p:spPr bwMode="auto">
          <a:xfrm>
            <a:off x="3357546" y="2332430"/>
            <a:ext cx="8382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0" name="Line 10"/>
          <p:cNvSpPr>
            <a:spLocks noChangeShapeType="1"/>
          </p:cNvSpPr>
          <p:nvPr/>
        </p:nvSpPr>
        <p:spPr bwMode="auto">
          <a:xfrm flipV="1">
            <a:off x="4881546" y="2332430"/>
            <a:ext cx="9144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1" name="Rectangle 11"/>
          <p:cNvSpPr>
            <a:spLocks noChangeArrowheads="1"/>
          </p:cNvSpPr>
          <p:nvPr/>
        </p:nvSpPr>
        <p:spPr bwMode="auto">
          <a:xfrm>
            <a:off x="2278170" y="3749162"/>
            <a:ext cx="1881386" cy="4572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2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基础课</a:t>
            </a:r>
          </a:p>
        </p:txBody>
      </p:sp>
      <p:sp>
        <p:nvSpPr>
          <p:cNvPr id="13322" name="Rectangle 12"/>
          <p:cNvSpPr>
            <a:spLocks noChangeArrowheads="1"/>
          </p:cNvSpPr>
          <p:nvPr/>
        </p:nvSpPr>
        <p:spPr bwMode="auto">
          <a:xfrm>
            <a:off x="5023652" y="3749162"/>
            <a:ext cx="1905000" cy="4572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solidFill>
              <a:schemeClr val="tx2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专业课</a:t>
            </a:r>
          </a:p>
        </p:txBody>
      </p:sp>
      <p:sp>
        <p:nvSpPr>
          <p:cNvPr id="13323" name="Line 13"/>
          <p:cNvSpPr>
            <a:spLocks noChangeShapeType="1"/>
          </p:cNvSpPr>
          <p:nvPr/>
        </p:nvSpPr>
        <p:spPr bwMode="auto">
          <a:xfrm flipV="1">
            <a:off x="3082380" y="3209162"/>
            <a:ext cx="1143000" cy="54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4" name="Line 14"/>
          <p:cNvSpPr>
            <a:spLocks noChangeShapeType="1"/>
          </p:cNvSpPr>
          <p:nvPr/>
        </p:nvSpPr>
        <p:spPr bwMode="auto">
          <a:xfrm>
            <a:off x="4951644" y="3209102"/>
            <a:ext cx="9906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3</a:t>
            </a:fld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3" animBg="1"/>
      <p:bldP spid="13317" grpId="2" animBg="1"/>
      <p:bldP spid="13319" grpId="0" animBg="1"/>
      <p:bldP spid="13320" grpId="0" animBg="1"/>
      <p:bldP spid="13321" grpId="0" animBg="1"/>
      <p:bldP spid="13322" grpId="0" animBg="1"/>
      <p:bldP spid="13323" grpId="0" animBg="1"/>
      <p:bldP spid="133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757934" y="2323170"/>
            <a:ext cx="5062538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精度设计</a:t>
            </a: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（几何量精度设计）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71822" y="1442107"/>
            <a:ext cx="2347912" cy="830997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机械设计</a:t>
            </a:r>
          </a:p>
          <a:p>
            <a:pPr algn="ctr"/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</a:p>
        </p:txBody>
      </p:sp>
      <p:sp>
        <p:nvSpPr>
          <p:cNvPr id="9" name="AutoShape 6"/>
          <p:cNvSpPr/>
          <p:nvPr/>
        </p:nvSpPr>
        <p:spPr bwMode="auto">
          <a:xfrm>
            <a:off x="2843534" y="1123020"/>
            <a:ext cx="685800" cy="1428750"/>
          </a:xfrm>
          <a:prstGeom prst="leftBrace">
            <a:avLst>
              <a:gd name="adj1" fmla="val 23148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000364" y="951570"/>
            <a:ext cx="2935288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强度设计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000364" y="1399510"/>
            <a:ext cx="2935288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传动设计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071802" y="1876686"/>
            <a:ext cx="2790825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结构设计</a:t>
            </a:r>
          </a:p>
        </p:txBody>
      </p:sp>
      <p:grpSp>
        <p:nvGrpSpPr>
          <p:cNvPr id="13" name="Group 11"/>
          <p:cNvGrpSpPr/>
          <p:nvPr/>
        </p:nvGrpSpPr>
        <p:grpSpPr bwMode="auto">
          <a:xfrm>
            <a:off x="1852934" y="2733340"/>
            <a:ext cx="5867400" cy="909980"/>
            <a:chOff x="1056" y="2880"/>
            <a:chExt cx="3696" cy="1152"/>
          </a:xfrm>
        </p:grpSpPr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1056" y="3168"/>
              <a:ext cx="3696" cy="864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rgbClr val="66CCFF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kumimoji="1"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本课程只研究精度设计</a:t>
              </a: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2784" y="2880"/>
              <a:ext cx="96" cy="276"/>
            </a:xfrm>
            <a:prstGeom prst="line">
              <a:avLst/>
            </a:prstGeom>
            <a:noFill/>
            <a:ln w="57150">
              <a:solidFill>
                <a:srgbClr val="00B0F0"/>
              </a:solidFill>
              <a:round/>
              <a:headEnd type="triangle" w="med" len="med"/>
            </a:ln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419872" y="168381"/>
            <a:ext cx="2304256" cy="513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l"/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课程内容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899592" y="3750477"/>
            <a:ext cx="7488832" cy="93634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机械精度设计 </a:t>
            </a:r>
            <a:r>
              <a:rPr kumimoji="1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— </a:t>
            </a:r>
            <a:r>
              <a:rPr kumimoji="1" lang="zh-CN" altLang="en-US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尺寸、几何</a:t>
            </a: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（形状、方向、</a:t>
            </a: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位置和跳动）和</a:t>
            </a:r>
            <a:r>
              <a:rPr kumimoji="1" lang="zh-CN" altLang="en-US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微观轮廓</a:t>
            </a: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4</a:t>
            </a:fld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857272" y="897565"/>
            <a:ext cx="6858000" cy="101566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实践性强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、涉国家标准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多</a:t>
            </a:r>
            <a:endParaRPr kumimoji="1"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kumimoji="1"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多、强、大</a:t>
            </a: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914276" y="2189820"/>
            <a:ext cx="7474149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定义、符号、公式、标准规定和经验解法多。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985790" y="3110217"/>
            <a:ext cx="7609781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原则性强，因为必须按国标有关规定进行设计。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927324" y="4005303"/>
            <a:ext cx="5876925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实际应用中灵活性大。</a:t>
            </a: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914275" y="1732620"/>
            <a:ext cx="2001838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①  </a:t>
            </a:r>
            <a:r>
              <a:rPr kumimoji="1"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905397" y="2636304"/>
            <a:ext cx="2794000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②  </a:t>
            </a:r>
            <a:r>
              <a:rPr kumimoji="1"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强</a:t>
            </a: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914275" y="3561420"/>
            <a:ext cx="2865438" cy="46166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③  </a:t>
            </a:r>
            <a:r>
              <a:rPr kumimoji="1"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大</a:t>
            </a:r>
          </a:p>
        </p:txBody>
      </p:sp>
      <p:sp>
        <p:nvSpPr>
          <p:cNvPr id="22" name="矩形 21"/>
          <p:cNvSpPr/>
          <p:nvPr/>
        </p:nvSpPr>
        <p:spPr>
          <a:xfrm>
            <a:off x="3398358" y="142858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课程特点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5</a:t>
            </a:fld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642910" y="1192464"/>
            <a:ext cx="8215370" cy="2031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  <a:buClr>
                <a:srgbClr val="00B050"/>
              </a:buClr>
              <a:buFont typeface="Wingdings" pitchFamily="2" charset="2"/>
              <a:buChar char="Ø"/>
            </a:pP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掌握</a:t>
            </a:r>
            <a:r>
              <a:rPr kumimoji="1"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标准化、互换性的基本概念及精度设计有关的基本术语和定义</a:t>
            </a:r>
            <a:r>
              <a:rPr lang="zh-CN" altLang="en-US" sz="2000" b="1" dirty="0" smtClean="0"/>
              <a:t>；</a:t>
            </a:r>
            <a:endParaRPr lang="en-US" altLang="zh-CN" sz="2000" b="1" dirty="0" smtClean="0"/>
          </a:p>
          <a:p>
            <a:pPr algn="l">
              <a:lnSpc>
                <a:spcPct val="120000"/>
              </a:lnSpc>
              <a:spcBef>
                <a:spcPct val="50000"/>
              </a:spcBef>
              <a:buClr>
                <a:srgbClr val="00B050"/>
              </a:buClr>
              <a:buFont typeface="Wingdings" pitchFamily="2" charset="2"/>
              <a:buChar char="Ø"/>
            </a:pPr>
            <a:r>
              <a:rPr lang="en-US" altLang="zh-CN" sz="2000" b="1" dirty="0" smtClean="0"/>
              <a:t>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基本掌握</a:t>
            </a:r>
            <a:r>
              <a:rPr lang="zh-CN" altLang="en-US" sz="2000" b="1" dirty="0" smtClean="0"/>
              <a:t>精度设计标准的主要内容、特点和应用原则；</a:t>
            </a:r>
            <a:endParaRPr lang="en-US" altLang="zh-CN" sz="2000" b="1" dirty="0" smtClean="0"/>
          </a:p>
          <a:p>
            <a:pPr algn="l">
              <a:lnSpc>
                <a:spcPct val="120000"/>
              </a:lnSpc>
              <a:spcBef>
                <a:spcPct val="50000"/>
              </a:spcBef>
              <a:buClr>
                <a:srgbClr val="00B050"/>
              </a:buClr>
              <a:buFont typeface="Wingdings" pitchFamily="2" charset="2"/>
              <a:buChar char="Ø"/>
            </a:pPr>
            <a:r>
              <a:rPr lang="en-US" altLang="zh-CN" sz="2000" b="1" dirty="0" smtClean="0"/>
              <a:t>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学会根据使用要求，正确设计几何量公差并正确地标注在图样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上</a:t>
            </a:r>
            <a:r>
              <a:rPr lang="zh-CN" altLang="en-US" sz="2000" b="1" dirty="0" smtClean="0"/>
              <a:t>；</a:t>
            </a:r>
            <a:endParaRPr lang="en-US" altLang="zh-CN" sz="2000" b="1" dirty="0" smtClean="0"/>
          </a:p>
          <a:p>
            <a:pPr algn="l">
              <a:lnSpc>
                <a:spcPct val="120000"/>
              </a:lnSpc>
              <a:spcBef>
                <a:spcPct val="50000"/>
              </a:spcBef>
              <a:buClr>
                <a:srgbClr val="00B050"/>
              </a:buClr>
              <a:buFont typeface="Wingdings" pitchFamily="2" charset="2"/>
              <a:buChar char="Ø"/>
            </a:pPr>
            <a:r>
              <a:rPr lang="zh-CN" altLang="en-US" sz="2000" b="1" dirty="0" smtClean="0">
                <a:solidFill>
                  <a:srgbClr val="FF0000"/>
                </a:solidFill>
              </a:rPr>
              <a:t>了解</a:t>
            </a:r>
            <a:r>
              <a:rPr lang="zh-CN" altLang="en-US" sz="2000" b="1" dirty="0" smtClean="0"/>
              <a:t>各种典型几何量的检测方法和初步学会使用常用的计量器具</a:t>
            </a:r>
            <a:r>
              <a:rPr lang="zh-CN" altLang="en-US" sz="2000" b="1" dirty="0" smtClean="0"/>
              <a:t>。</a:t>
            </a:r>
            <a:endParaRPr lang="zh-CN" altLang="en-US" sz="2000" b="1" dirty="0" smtClean="0"/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2915816" y="195487"/>
            <a:ext cx="3096344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课程任务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611560" y="3500444"/>
            <a:ext cx="7992888" cy="8660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　    </a:t>
            </a:r>
            <a:r>
              <a:rPr kumimoji="1" lang="zh-CN" altLang="en-US" sz="2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总之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，本课程的任务是</a:t>
            </a:r>
            <a:r>
              <a:rPr kumimoji="1"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使学生获得机械工程师必须掌握的精度设计</a:t>
            </a:r>
            <a:r>
              <a:rPr kumimoji="1"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和检测方法的基本知识和基本技能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6</a:t>
            </a:fld>
            <a:endParaRPr lang="en-US" altLang="ja-JP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7</a:t>
            </a:fld>
            <a:endParaRPr lang="en-US" altLang="ja-JP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205632" y="119704"/>
            <a:ext cx="6462712" cy="52322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主要内容</a:t>
            </a:r>
            <a:endParaRPr kumimoji="1"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402482" y="742724"/>
            <a:ext cx="4392613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 绪   论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402481" y="1066760"/>
            <a:ext cx="4033838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测量技术基础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393880" y="1418760"/>
            <a:ext cx="6297613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尺寸精度设计与检测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375495" y="1764358"/>
            <a:ext cx="4968875" cy="41549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几何精度设计与检测</a:t>
            </a:r>
            <a:endParaRPr kumimoji="1"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375495" y="2105894"/>
            <a:ext cx="4752975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表面粗糙度设计与检测</a:t>
            </a: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381170" y="2470916"/>
            <a:ext cx="6696075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滚动轴承与孔、轴结合的精度设计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369245" y="2822916"/>
            <a:ext cx="5976938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kumimoji="1" lang="zh-CN" altLang="en-US" sz="20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圆锥结合的精度设计与</a:t>
            </a:r>
            <a:r>
              <a:rPr kumimoji="1" lang="zh-CN" altLang="en-US" sz="2000" b="1" u="sng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检测 （自学）</a:t>
            </a:r>
            <a:endParaRPr kumimoji="1" lang="zh-CN" altLang="en-US" sz="2000" b="1" u="sng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1358944" y="3172994"/>
            <a:ext cx="6553200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zh-CN" altLang="en-US" sz="20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键和花键结合的精度设计与检测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353270" y="3533255"/>
            <a:ext cx="6099051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kumimoji="1" lang="zh-CN" altLang="en-US" sz="20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螺纹结合的精度设计与</a:t>
            </a:r>
            <a:r>
              <a:rPr kumimoji="1" lang="zh-CN" altLang="en-US" sz="2000" b="1" u="sng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检测  （自学）</a:t>
            </a:r>
            <a:endParaRPr kumimoji="1" lang="zh-CN" altLang="en-US" sz="2000" b="1" u="sng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353270" y="3893935"/>
            <a:ext cx="5616575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kumimoji="1" lang="zh-CN" altLang="en-US" sz="20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圆柱齿轮精度设计与</a:t>
            </a:r>
            <a:r>
              <a:rPr kumimoji="1" lang="zh-CN" altLang="en-US" sz="2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检测 （甲）</a:t>
            </a:r>
            <a:endParaRPr kumimoji="1" lang="zh-CN" altLang="en-US" sz="2000" b="1" u="sng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353269" y="4245936"/>
            <a:ext cx="5472112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kumimoji="1" lang="zh-CN" altLang="en-US" sz="20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尺寸链的精度设计</a:t>
            </a:r>
            <a:r>
              <a:rPr kumimoji="1" lang="zh-CN" altLang="en-US" sz="2000" b="1" u="sng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基础 （自学）</a:t>
            </a:r>
            <a:endParaRPr kumimoji="1" lang="zh-CN" altLang="en-US" sz="2000" b="1" u="sng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353270" y="4569972"/>
            <a:ext cx="5113337" cy="40011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0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kumimoji="1" lang="en-US" altLang="zh-CN" sz="20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kumimoji="1" lang="zh-CN" altLang="en-US" sz="20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章 机械零件的精度</a:t>
            </a:r>
            <a:r>
              <a:rPr kumimoji="1" lang="zh-CN" altLang="en-US" sz="2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设计   （甲）</a:t>
            </a:r>
            <a:endParaRPr kumimoji="1" lang="zh-CN" altLang="en-US" sz="2000" b="1" u="sng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50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5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" dur="50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50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50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50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50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" dur="50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50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50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50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50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50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4" grpId="0"/>
      <p:bldP spid="16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8</a:t>
            </a:fld>
            <a:endParaRPr lang="en-US" altLang="ja-JP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205632" y="71420"/>
            <a:ext cx="6462712" cy="52322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考核方式</a:t>
            </a:r>
            <a:endParaRPr kumimoji="1"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976" y="2655950"/>
            <a:ext cx="6829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 smtClean="0"/>
              <a:t>其中，平时成绩 （</a:t>
            </a:r>
            <a:r>
              <a:rPr lang="en-US" altLang="zh-CN" b="1" dirty="0" smtClean="0"/>
              <a:t>40%</a:t>
            </a:r>
            <a:r>
              <a:rPr lang="zh-CN" altLang="en-US" b="1" dirty="0" smtClean="0"/>
              <a:t>）中包括：</a:t>
            </a:r>
            <a:endParaRPr lang="en-US" altLang="zh-CN" b="1" dirty="0" smtClean="0"/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rgbClr val="FF0000"/>
                </a:solidFill>
              </a:rPr>
              <a:t>课后作业、课堂测试、课程</a:t>
            </a:r>
            <a:r>
              <a:rPr lang="zh-CN" altLang="en-US" b="1" dirty="0" smtClean="0">
                <a:solidFill>
                  <a:srgbClr val="FF0000"/>
                </a:solidFill>
              </a:rPr>
              <a:t>实验（到课</a:t>
            </a:r>
            <a:r>
              <a:rPr lang="en-US" altLang="zh-CN" b="1" dirty="0" smtClean="0">
                <a:solidFill>
                  <a:srgbClr val="FF0000"/>
                </a:solidFill>
              </a:rPr>
              <a:t>+</a:t>
            </a:r>
            <a:r>
              <a:rPr lang="zh-CN" altLang="en-US" b="1" dirty="0" smtClean="0">
                <a:solidFill>
                  <a:srgbClr val="FF0000"/>
                </a:solidFill>
              </a:rPr>
              <a:t>报告）</a:t>
            </a:r>
            <a:r>
              <a:rPr lang="zh-CN" altLang="en-US" b="1" dirty="0" smtClean="0"/>
              <a:t>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5678" y="1244719"/>
            <a:ext cx="7056784" cy="113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 smtClean="0"/>
              <a:t>总评成绩（</a:t>
            </a:r>
            <a:r>
              <a:rPr lang="en-US" altLang="zh-CN" b="1" dirty="0" smtClean="0"/>
              <a:t>100%</a:t>
            </a:r>
            <a:r>
              <a:rPr lang="zh-CN" altLang="en-US" b="1" dirty="0" smtClean="0"/>
              <a:t>）</a:t>
            </a:r>
            <a:endParaRPr lang="en-US" altLang="zh-CN" b="1" dirty="0" smtClean="0"/>
          </a:p>
          <a:p>
            <a:pPr algn="l">
              <a:lnSpc>
                <a:spcPct val="150000"/>
              </a:lnSpc>
            </a:pPr>
            <a:r>
              <a:rPr lang="en-US" altLang="zh-CN" b="1" dirty="0" smtClean="0"/>
              <a:t>= </a:t>
            </a:r>
            <a:r>
              <a:rPr lang="zh-CN" altLang="en-US" b="1" dirty="0" smtClean="0"/>
              <a:t>平时成绩 （</a:t>
            </a:r>
            <a:r>
              <a:rPr lang="en-US" altLang="zh-CN" b="1" dirty="0" smtClean="0"/>
              <a:t>40%</a:t>
            </a:r>
            <a:r>
              <a:rPr lang="zh-CN" altLang="en-US" b="1" dirty="0" smtClean="0"/>
              <a:t>）</a:t>
            </a:r>
            <a:r>
              <a:rPr lang="en-US" altLang="zh-CN" b="1" dirty="0" smtClean="0"/>
              <a:t>+ </a:t>
            </a:r>
            <a:r>
              <a:rPr lang="zh-CN" altLang="en-US" b="1" dirty="0" smtClean="0"/>
              <a:t>期末闭卷考试（</a:t>
            </a:r>
            <a:r>
              <a:rPr lang="en-US" altLang="zh-CN" b="1" dirty="0" smtClean="0"/>
              <a:t>60%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9</a:t>
            </a:fld>
            <a:endParaRPr lang="en-US" altLang="ja-JP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584920" y="71420"/>
            <a:ext cx="5867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latin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宋体" panose="02010600030101010101" pitchFamily="2" charset="-122"/>
              </a:rPr>
              <a:t>章   绪   论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33401" y="843559"/>
            <a:ext cx="4830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/>
              <a:t>  1</a:t>
            </a:r>
            <a:r>
              <a:rPr lang="en-US" altLang="zh-CN" b="1" dirty="0" smtClean="0"/>
              <a:t>. </a:t>
            </a:r>
            <a:r>
              <a:rPr lang="zh-CN" altLang="en-US" b="1" dirty="0"/>
              <a:t>互换性与公差的概念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85800" y="1350382"/>
            <a:ext cx="457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/>
              <a:t>   </a:t>
            </a:r>
            <a:r>
              <a:rPr lang="en-US" altLang="zh-CN" b="1" dirty="0" smtClean="0"/>
              <a:t>1.1 </a:t>
            </a:r>
            <a:r>
              <a:rPr lang="zh-CN" altLang="en-US" b="1" dirty="0" smtClean="0"/>
              <a:t>互换性</a:t>
            </a:r>
            <a:endParaRPr lang="zh-CN" altLang="en-US" b="1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857225" y="3250665"/>
            <a:ext cx="6805613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en-US" altLang="zh-CN" dirty="0"/>
              <a:t> </a:t>
            </a:r>
            <a:r>
              <a:rPr lang="zh-CN" altLang="en-US" b="1" dirty="0"/>
              <a:t>从定义可见，广义互换性可分为</a:t>
            </a:r>
            <a:r>
              <a:rPr lang="zh-CN" altLang="en-US" b="1" dirty="0">
                <a:sym typeface="Wingdings" panose="05000000000000000000" pitchFamily="2" charset="2"/>
              </a:rPr>
              <a:t>：</a:t>
            </a:r>
            <a:endParaRPr lang="zh-CN" altLang="en-US" b="1" dirty="0"/>
          </a:p>
        </p:txBody>
      </p:sp>
      <p:sp>
        <p:nvSpPr>
          <p:cNvPr id="10" name="Text Box 30"/>
          <p:cNvSpPr txBox="1">
            <a:spLocks noChangeArrowheads="1"/>
          </p:cNvSpPr>
          <p:nvPr/>
        </p:nvSpPr>
        <p:spPr bwMode="auto">
          <a:xfrm>
            <a:off x="685800" y="1792110"/>
            <a:ext cx="769620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FF3300"/>
                </a:solidFill>
              </a:rPr>
              <a:t>        </a:t>
            </a:r>
            <a:r>
              <a:rPr lang="zh-CN" altLang="en-US" b="1" dirty="0">
                <a:solidFill>
                  <a:srgbClr val="FF3300"/>
                </a:solidFill>
              </a:rPr>
              <a:t>互换性</a:t>
            </a:r>
            <a:r>
              <a:rPr lang="zh-CN" altLang="en-US" b="1" dirty="0"/>
              <a:t>是指在同一规格的一批零、部件中任取一件，在</a:t>
            </a:r>
            <a:r>
              <a:rPr lang="zh-CN" altLang="en-US" b="1" dirty="0">
                <a:solidFill>
                  <a:srgbClr val="FF3300"/>
                </a:solidFill>
              </a:rPr>
              <a:t>装配时</a:t>
            </a:r>
            <a:r>
              <a:rPr lang="zh-CN" altLang="en-US" b="1" dirty="0">
                <a:solidFill>
                  <a:srgbClr val="FF0000"/>
                </a:solidFill>
              </a:rPr>
              <a:t>不需</a:t>
            </a:r>
            <a:r>
              <a:rPr lang="zh-CN" altLang="en-US" b="1" dirty="0"/>
              <a:t>经过任何</a:t>
            </a:r>
            <a:r>
              <a:rPr lang="zh-CN" altLang="en-US" b="1" dirty="0">
                <a:solidFill>
                  <a:srgbClr val="CC0000"/>
                </a:solidFill>
              </a:rPr>
              <a:t>选择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CC0000"/>
                </a:solidFill>
              </a:rPr>
              <a:t>修配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rgbClr val="CC0000"/>
                </a:solidFill>
              </a:rPr>
              <a:t>调整</a:t>
            </a:r>
            <a:r>
              <a:rPr lang="zh-CN" altLang="en-US" b="1" dirty="0"/>
              <a:t>，就能装配在整机</a:t>
            </a:r>
            <a:r>
              <a:rPr lang="zh-CN" altLang="en-US" b="1" dirty="0" smtClean="0"/>
              <a:t>上，并能满足使用性能要求的特性。</a:t>
            </a:r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777882" y="4170350"/>
            <a:ext cx="47942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zh-CN" altLang="en-US" b="1" dirty="0">
                <a:solidFill>
                  <a:srgbClr val="FF3300"/>
                </a:solidFill>
              </a:rPr>
              <a:t>功能</a:t>
            </a:r>
            <a:r>
              <a:rPr lang="zh-CN" altLang="en-US" b="1" dirty="0" smtClean="0">
                <a:solidFill>
                  <a:srgbClr val="FF3300"/>
                </a:solidFill>
              </a:rPr>
              <a:t>互换性</a:t>
            </a:r>
            <a:endParaRPr lang="zh-CN" altLang="en-US" b="1" dirty="0"/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785787" y="3802447"/>
            <a:ext cx="594677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>
                <a:sym typeface="Wingdings" panose="05000000000000000000" pitchFamily="2" charset="2"/>
              </a:rPr>
              <a:t>（</a:t>
            </a:r>
            <a:r>
              <a:rPr lang="en-US" altLang="zh-CN" b="1" dirty="0">
                <a:sym typeface="Wingdings" panose="05000000000000000000" pitchFamily="2" charset="2"/>
              </a:rPr>
              <a:t>1</a:t>
            </a:r>
            <a:r>
              <a:rPr lang="zh-CN" altLang="en-US" b="1" dirty="0">
                <a:sym typeface="Wingdings" panose="05000000000000000000" pitchFamily="2" charset="2"/>
              </a:rPr>
              <a:t>）</a:t>
            </a:r>
            <a:r>
              <a:rPr lang="zh-CN" altLang="en-US" b="1" dirty="0">
                <a:solidFill>
                  <a:srgbClr val="FF3300"/>
                </a:solidFill>
              </a:rPr>
              <a:t>几何参数</a:t>
            </a:r>
            <a:r>
              <a:rPr lang="zh-CN" altLang="en-US" b="1" dirty="0" smtClean="0">
                <a:solidFill>
                  <a:srgbClr val="FF3300"/>
                </a:solidFill>
              </a:rPr>
              <a:t>互换性</a:t>
            </a:r>
            <a:endParaRPr lang="zh-CN" altLang="en-US" b="1" dirty="0"/>
          </a:p>
        </p:txBody>
      </p:sp>
      <p:pic>
        <p:nvPicPr>
          <p:cNvPr id="13" name="图片 12" descr="src=http---img004.hc360.cn-m8-M02-27-BD-wKhQpldf_--EEVBPAAAAADIUQf0046.jpg&amp;refer=http---img004.hc36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rcRect t="21804" b="9615"/>
          <a:stretch>
            <a:fillRect/>
          </a:stretch>
        </p:blipFill>
        <p:spPr>
          <a:xfrm>
            <a:off x="6286512" y="821550"/>
            <a:ext cx="1855886" cy="1035820"/>
          </a:xfrm>
          <a:prstGeom prst="rect">
            <a:avLst/>
          </a:prstGeom>
        </p:spPr>
      </p:pic>
      <p:pic>
        <p:nvPicPr>
          <p:cNvPr id="14" name="图片 13" descr="src=http---photo.16pic.com-00-08-45-16pic_845116_b.jpg&amp;refer=http---photo.16pic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6180461" y="2928940"/>
            <a:ext cx="2249191" cy="18176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9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10</a:t>
            </a:fld>
            <a:endParaRPr lang="en-US" altLang="ja-JP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85786" y="4196560"/>
            <a:ext cx="7500990" cy="515901"/>
          </a:xfrm>
          <a:prstGeom prst="rect">
            <a:avLst/>
          </a:prstGeom>
          <a:solidFill>
            <a:srgbClr val="FFFFCC"/>
          </a:solidFill>
          <a:ln w="2857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36000" bIns="360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 smtClean="0"/>
              <a:t>    本</a:t>
            </a:r>
            <a:r>
              <a:rPr lang="zh-CN" altLang="en-US" b="1" dirty="0"/>
              <a:t>课程</a:t>
            </a:r>
            <a:r>
              <a:rPr lang="zh-CN" altLang="en-US" b="1" dirty="0">
                <a:solidFill>
                  <a:srgbClr val="FF3300"/>
                </a:solidFill>
              </a:rPr>
              <a:t>只研究几何参数的互换性</a:t>
            </a:r>
            <a:r>
              <a:rPr lang="zh-CN" altLang="en-US" b="1" dirty="0"/>
              <a:t>，即机械精度设计。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002360" y="1248070"/>
            <a:ext cx="46116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/>
              <a:t>机械</a:t>
            </a:r>
            <a:r>
              <a:rPr lang="en-US" altLang="zh-CN" b="1">
                <a:cs typeface="Times New Roman" panose="02020603050405020304" pitchFamily="18" charset="0"/>
              </a:rPr>
              <a:t>— </a:t>
            </a:r>
            <a:r>
              <a:rPr lang="zh-CN" altLang="en-US" b="1"/>
              <a:t>强度，刚度等；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7560" y="1681457"/>
            <a:ext cx="6068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b="1" dirty="0"/>
              <a:t>    </a:t>
            </a:r>
            <a:r>
              <a:rPr lang="zh-CN" altLang="en-US" b="1" dirty="0"/>
              <a:t>质量</a:t>
            </a:r>
            <a:r>
              <a:rPr lang="en-US" altLang="zh-CN" b="1" dirty="0">
                <a:cs typeface="Times New Roman" panose="02020603050405020304" pitchFamily="18" charset="0"/>
              </a:rPr>
              <a:t>— </a:t>
            </a:r>
            <a:r>
              <a:rPr lang="zh-CN" altLang="en-US" b="1" dirty="0"/>
              <a:t>可靠性，维修性</a:t>
            </a:r>
            <a:r>
              <a:rPr lang="zh-CN" altLang="en-US" b="1" dirty="0" smtClean="0"/>
              <a:t>，安全性</a:t>
            </a:r>
            <a:r>
              <a:rPr lang="zh-CN" altLang="en-US" b="1" dirty="0"/>
              <a:t>等。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3288928" y="3538845"/>
            <a:ext cx="50276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微 观 轮 廓（</a:t>
            </a:r>
            <a:r>
              <a:rPr lang="zh-CN" altLang="en-US" b="1" dirty="0">
                <a:solidFill>
                  <a:srgbClr val="00B050"/>
                </a:solidFill>
              </a:rPr>
              <a:t>表面粗糙度</a:t>
            </a:r>
            <a:r>
              <a:rPr lang="zh-CN" altLang="en-US" b="1" dirty="0"/>
              <a:t>）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261941" y="2243971"/>
            <a:ext cx="50561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尺  寸  精  度（</a:t>
            </a:r>
            <a:r>
              <a:rPr lang="zh-CN" altLang="en-US" b="1" dirty="0">
                <a:solidFill>
                  <a:srgbClr val="00B050"/>
                </a:solidFill>
              </a:rPr>
              <a:t>尺寸公差</a:t>
            </a:r>
            <a:r>
              <a:rPr lang="zh-CN" altLang="en-US" b="1" dirty="0"/>
              <a:t>）</a:t>
            </a:r>
          </a:p>
        </p:txBody>
      </p:sp>
      <p:grpSp>
        <p:nvGrpSpPr>
          <p:cNvPr id="11" name="Group 20"/>
          <p:cNvGrpSpPr/>
          <p:nvPr/>
        </p:nvGrpSpPr>
        <p:grpSpPr bwMode="auto">
          <a:xfrm>
            <a:off x="899750" y="2377638"/>
            <a:ext cx="2257425" cy="1541551"/>
            <a:chOff x="627" y="1670"/>
            <a:chExt cx="1422" cy="1115"/>
          </a:xfrm>
        </p:grpSpPr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627" y="1852"/>
              <a:ext cx="1300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solidFill>
                    <a:srgbClr val="FF3300"/>
                  </a:solidFill>
                </a:rPr>
                <a:t>几何参数</a:t>
              </a:r>
            </a:p>
            <a:p>
              <a:pPr algn="just" eaLnBrk="1" hangingPunct="1"/>
              <a:r>
                <a:rPr lang="zh-CN" altLang="en-US" b="1" dirty="0"/>
                <a:t>    互换</a:t>
              </a:r>
            </a:p>
          </p:txBody>
        </p:sp>
        <p:sp>
          <p:nvSpPr>
            <p:cNvPr id="13" name="AutoShape 14"/>
            <p:cNvSpPr/>
            <p:nvPr/>
          </p:nvSpPr>
          <p:spPr bwMode="auto">
            <a:xfrm>
              <a:off x="1800" y="1670"/>
              <a:ext cx="249" cy="1115"/>
            </a:xfrm>
            <a:prstGeom prst="leftBrace">
              <a:avLst>
                <a:gd name="adj1" fmla="val 38554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073798" y="905169"/>
            <a:ext cx="46847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0" rIns="1800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物理</a:t>
            </a:r>
            <a:r>
              <a:rPr lang="en-US" altLang="zh-CN" b="1" dirty="0">
                <a:cs typeface="Times New Roman" panose="02020603050405020304" pitchFamily="18" charset="0"/>
              </a:rPr>
              <a:t>— </a:t>
            </a:r>
            <a:r>
              <a:rPr lang="zh-CN" altLang="en-US" b="1" dirty="0"/>
              <a:t>硬度，弹性等；</a:t>
            </a:r>
          </a:p>
        </p:txBody>
      </p:sp>
      <p:grpSp>
        <p:nvGrpSpPr>
          <p:cNvPr id="15" name="Group 19"/>
          <p:cNvGrpSpPr/>
          <p:nvPr/>
        </p:nvGrpSpPr>
        <p:grpSpPr bwMode="auto">
          <a:xfrm>
            <a:off x="611561" y="1019470"/>
            <a:ext cx="2517775" cy="971550"/>
            <a:chOff x="432" y="336"/>
            <a:chExt cx="1586" cy="816"/>
          </a:xfrm>
        </p:grpSpPr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432" y="576"/>
              <a:ext cx="1586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dirty="0"/>
                <a:t>    </a:t>
              </a:r>
              <a:r>
                <a:rPr lang="zh-CN" altLang="en-US" b="1" dirty="0"/>
                <a:t>功能</a:t>
              </a:r>
              <a:r>
                <a:rPr lang="zh-CN" altLang="en-US" b="1" dirty="0" smtClean="0"/>
                <a:t>互换</a:t>
              </a:r>
              <a:endParaRPr lang="zh-CN" altLang="en-US" b="1" dirty="0"/>
            </a:p>
          </p:txBody>
        </p:sp>
        <p:sp>
          <p:nvSpPr>
            <p:cNvPr id="17" name="AutoShape 15"/>
            <p:cNvSpPr/>
            <p:nvPr/>
          </p:nvSpPr>
          <p:spPr bwMode="auto">
            <a:xfrm>
              <a:off x="1728" y="336"/>
              <a:ext cx="144" cy="816"/>
            </a:xfrm>
            <a:prstGeom prst="leftBrace">
              <a:avLst>
                <a:gd name="adj1" fmla="val 47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3261940" y="2693152"/>
            <a:ext cx="52705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几  何  精  度（</a:t>
            </a:r>
            <a:r>
              <a:rPr lang="zh-CN" altLang="en-US" b="1" dirty="0">
                <a:solidFill>
                  <a:srgbClr val="00B050"/>
                </a:solidFill>
              </a:rPr>
              <a:t>形状、方向、</a:t>
            </a:r>
          </a:p>
          <a:p>
            <a:pPr algn="l" eaLnBrk="1" hangingPunct="1"/>
            <a:r>
              <a:rPr lang="zh-CN" altLang="en-US" b="1" dirty="0">
                <a:solidFill>
                  <a:srgbClr val="00B050"/>
                </a:solidFill>
              </a:rPr>
              <a:t>                   位置和跳动公差</a:t>
            </a:r>
            <a:r>
              <a:rPr lang="zh-CN" altLang="en-US" b="1" dirty="0"/>
              <a:t>）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395536" y="142858"/>
            <a:ext cx="4572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3200" b="1" dirty="0"/>
              <a:t>   </a:t>
            </a:r>
            <a:r>
              <a:rPr lang="en-US" altLang="zh-CN" sz="3200" b="1" dirty="0" smtClean="0"/>
              <a:t>1.1 </a:t>
            </a:r>
            <a:r>
              <a:rPr lang="zh-CN" altLang="en-US" sz="3200" b="1" dirty="0" smtClean="0"/>
              <a:t>互换性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utoUpdateAnimBg="0"/>
      <p:bldP spid="8" grpId="0" autoUpdateAnimBg="0"/>
      <p:bldP spid="9" grpId="0" autoUpdateAnimBg="0"/>
      <p:bldP spid="10" grpId="0" autoUpdateAnimBg="0"/>
      <p:bldP spid="14" grpId="0" autoUpdateAnimBg="0"/>
      <p:bldP spid="1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11</a:t>
            </a:fld>
            <a:endParaRPr lang="en-US" altLang="ja-JP"/>
          </a:p>
        </p:txBody>
      </p:sp>
      <p:grpSp>
        <p:nvGrpSpPr>
          <p:cNvPr id="2" name="Group 127"/>
          <p:cNvGrpSpPr/>
          <p:nvPr/>
        </p:nvGrpSpPr>
        <p:grpSpPr bwMode="auto">
          <a:xfrm>
            <a:off x="928662" y="1860733"/>
            <a:ext cx="3500462" cy="1903652"/>
            <a:chOff x="567" y="1244"/>
            <a:chExt cx="3172" cy="2322"/>
          </a:xfrm>
        </p:grpSpPr>
        <p:sp>
          <p:nvSpPr>
            <p:cNvPr id="7" name="Rectangle 22"/>
            <p:cNvSpPr>
              <a:spLocks noChangeArrowheads="1"/>
            </p:cNvSpPr>
            <p:nvPr/>
          </p:nvSpPr>
          <p:spPr bwMode="auto">
            <a:xfrm>
              <a:off x="864" y="1554"/>
              <a:ext cx="694" cy="17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23"/>
            <p:cNvSpPr>
              <a:spLocks noChangeArrowheads="1"/>
            </p:cNvSpPr>
            <p:nvPr/>
          </p:nvSpPr>
          <p:spPr bwMode="auto">
            <a:xfrm>
              <a:off x="1558" y="1972"/>
              <a:ext cx="1983" cy="95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4"/>
            <p:cNvSpPr>
              <a:spLocks noChangeShapeType="1"/>
            </p:cNvSpPr>
            <p:nvPr/>
          </p:nvSpPr>
          <p:spPr bwMode="auto">
            <a:xfrm>
              <a:off x="567" y="2450"/>
              <a:ext cx="3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25"/>
            <p:cNvSpPr>
              <a:spLocks noChangeShapeType="1"/>
            </p:cNvSpPr>
            <p:nvPr/>
          </p:nvSpPr>
          <p:spPr bwMode="auto">
            <a:xfrm>
              <a:off x="2518" y="1328"/>
              <a:ext cx="0" cy="5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26"/>
            <p:cNvSpPr>
              <a:spLocks noChangeShapeType="1"/>
            </p:cNvSpPr>
            <p:nvPr/>
          </p:nvSpPr>
          <p:spPr bwMode="auto">
            <a:xfrm>
              <a:off x="2524" y="2968"/>
              <a:ext cx="0" cy="5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 rot="16200000">
              <a:off x="1868" y="1399"/>
              <a:ext cx="784" cy="47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800" b="1" i="1" dirty="0" err="1">
                  <a:solidFill>
                    <a:srgbClr val="FF3300"/>
                  </a:solidFill>
                  <a:cs typeface="Times New Roman" panose="02020603050405020304" pitchFamily="18" charset="0"/>
                </a:rPr>
                <a:t>Φd</a:t>
              </a:r>
              <a:endParaRPr lang="en-US" altLang="zh-CN" sz="2800" b="1" i="1" dirty="0">
                <a:solidFill>
                  <a:srgbClr val="FF3300"/>
                </a:solidFill>
              </a:endParaRPr>
            </a:p>
          </p:txBody>
        </p:sp>
      </p:grpSp>
      <p:sp>
        <p:nvSpPr>
          <p:cNvPr id="13" name="Text Box 86"/>
          <p:cNvSpPr txBox="1">
            <a:spLocks noChangeArrowheads="1"/>
          </p:cNvSpPr>
          <p:nvPr/>
        </p:nvSpPr>
        <p:spPr bwMode="auto">
          <a:xfrm>
            <a:off x="685801" y="937197"/>
            <a:ext cx="44624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</a:t>
            </a:r>
            <a:r>
              <a:rPr lang="zh-CN" altLang="en-US" sz="2800" b="1" dirty="0">
                <a:solidFill>
                  <a:srgbClr val="0070C0"/>
                </a:solidFill>
              </a:rPr>
              <a:t>尺寸精度</a:t>
            </a:r>
          </a:p>
        </p:txBody>
      </p:sp>
      <p:sp>
        <p:nvSpPr>
          <p:cNvPr id="14" name="Text Box 105"/>
          <p:cNvSpPr txBox="1">
            <a:spLocks noChangeArrowheads="1"/>
          </p:cNvSpPr>
          <p:nvPr/>
        </p:nvSpPr>
        <p:spPr bwMode="auto">
          <a:xfrm>
            <a:off x="379040" y="142858"/>
            <a:ext cx="8153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几何参数设计</a:t>
            </a:r>
            <a:r>
              <a:rPr lang="zh-CN" altLang="en-US" sz="3200" b="1" dirty="0" smtClean="0"/>
              <a:t>内容</a:t>
            </a:r>
            <a:endParaRPr lang="zh-CN" altLang="en-US" sz="3200" b="1" dirty="0"/>
          </a:p>
        </p:txBody>
      </p:sp>
      <p:grpSp>
        <p:nvGrpSpPr>
          <p:cNvPr id="23" name="组合 22"/>
          <p:cNvGrpSpPr/>
          <p:nvPr/>
        </p:nvGrpSpPr>
        <p:grpSpPr>
          <a:xfrm>
            <a:off x="4572000" y="2074366"/>
            <a:ext cx="3571900" cy="2069020"/>
            <a:chOff x="4572000" y="2571744"/>
            <a:chExt cx="4071966" cy="2758693"/>
          </a:xfrm>
        </p:grpSpPr>
        <p:grpSp>
          <p:nvGrpSpPr>
            <p:cNvPr id="24" name="组合 23"/>
            <p:cNvGrpSpPr/>
            <p:nvPr/>
          </p:nvGrpSpPr>
          <p:grpSpPr>
            <a:xfrm>
              <a:off x="4572000" y="2571744"/>
              <a:ext cx="4071966" cy="2000264"/>
              <a:chOff x="4572000" y="2571744"/>
              <a:chExt cx="4071966" cy="2000264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572000" y="2571744"/>
                <a:ext cx="4071966" cy="2000264"/>
                <a:chOff x="524933" y="2954867"/>
                <a:chExt cx="3452285" cy="2147893"/>
              </a:xfrm>
            </p:grpSpPr>
            <p:grpSp>
              <p:nvGrpSpPr>
                <p:cNvPr id="16" name="Group 58"/>
                <p:cNvGrpSpPr/>
                <p:nvPr/>
              </p:nvGrpSpPr>
              <p:grpSpPr bwMode="auto">
                <a:xfrm>
                  <a:off x="643468" y="3051710"/>
                  <a:ext cx="3333750" cy="2051050"/>
                  <a:chOff x="352" y="1853"/>
                  <a:chExt cx="2100" cy="1292"/>
                </a:xfrm>
              </p:grpSpPr>
              <p:pic>
                <p:nvPicPr>
                  <p:cNvPr id="18" name="Picture 44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 l="12905"/>
                  <a:stretch>
                    <a:fillRect/>
                  </a:stretch>
                </p:blipFill>
                <p:spPr bwMode="auto">
                  <a:xfrm>
                    <a:off x="600" y="1853"/>
                    <a:ext cx="1852" cy="12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grpSp>
                <p:nvGrpSpPr>
                  <p:cNvPr id="19" name="Group 55"/>
                  <p:cNvGrpSpPr/>
                  <p:nvPr/>
                </p:nvGrpSpPr>
                <p:grpSpPr bwMode="auto">
                  <a:xfrm rot="-5400000">
                    <a:off x="346" y="1877"/>
                    <a:ext cx="284" cy="272"/>
                    <a:chOff x="3748" y="647"/>
                    <a:chExt cx="400" cy="382"/>
                  </a:xfrm>
                </p:grpSpPr>
                <p:sp>
                  <p:nvSpPr>
                    <p:cNvPr id="20" name="Oval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48" y="647"/>
                      <a:ext cx="400" cy="38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" name="WordArt 57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>
                      <a:off x="3813" y="738"/>
                      <a:ext cx="257" cy="211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/>
                      <a:r>
                        <a:rPr lang="en-US" altLang="zh-CN" sz="3600" kern="10">
                          <a:ln w="9525">
                            <a:solidFill>
                              <a:srgbClr val="000000"/>
                            </a:solidFill>
                            <a:round/>
                          </a:ln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lang="zh-CN" altLang="en-US" sz="3600" kern="10">
                        <a:ln w="9525">
                          <a:solidFill>
                            <a:srgbClr val="000000"/>
                          </a:solidFill>
                          <a:round/>
                        </a:ln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  <p:sp>
              <p:nvSpPr>
                <p:cNvPr id="17" name="矩形 16"/>
                <p:cNvSpPr/>
                <p:nvPr/>
              </p:nvSpPr>
              <p:spPr bwMode="auto">
                <a:xfrm>
                  <a:off x="524933" y="2954867"/>
                  <a:ext cx="575734" cy="5842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pic>
            <p:nvPicPr>
              <p:cNvPr id="90114" name="Picture 2" descr="C:\Users\Administrator\Desktop\图片1.png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 rot="16200000">
                <a:off x="4195220" y="3366266"/>
                <a:ext cx="1571636" cy="467008"/>
              </a:xfrm>
              <a:prstGeom prst="rect">
                <a:avLst/>
              </a:prstGeom>
              <a:noFill/>
            </p:spPr>
          </p:pic>
        </p:grpSp>
        <p:sp>
          <p:nvSpPr>
            <p:cNvPr id="22" name="TextBox 21"/>
            <p:cNvSpPr txBox="1"/>
            <p:nvPr/>
          </p:nvSpPr>
          <p:spPr>
            <a:xfrm>
              <a:off x="6072198" y="4714884"/>
              <a:ext cx="171451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标注示例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68254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 autoUpdateAnimBg="0"/>
      <p:bldP spid="14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494904" y="1467989"/>
            <a:ext cx="64807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dirty="0" smtClean="0">
                <a:latin typeface="+mn-lt"/>
              </a:rPr>
              <a:t>(2)</a:t>
            </a:r>
          </a:p>
          <a:p>
            <a:pPr algn="l" eaLnBrk="1" hangingPunct="1"/>
            <a:r>
              <a:rPr lang="zh-CN" altLang="en-US" sz="2800" b="1" dirty="0" smtClean="0">
                <a:solidFill>
                  <a:srgbClr val="0070C0"/>
                </a:solidFill>
              </a:rPr>
              <a:t>几</a:t>
            </a:r>
            <a:endParaRPr lang="en-US" altLang="zh-CN" sz="2800" b="1" dirty="0" smtClean="0">
              <a:solidFill>
                <a:srgbClr val="0070C0"/>
              </a:solidFill>
            </a:endParaRPr>
          </a:p>
          <a:p>
            <a:pPr algn="l" eaLnBrk="1" hangingPunct="1"/>
            <a:r>
              <a:rPr lang="zh-CN" altLang="en-US" sz="2800" b="1" dirty="0" smtClean="0">
                <a:solidFill>
                  <a:srgbClr val="0070C0"/>
                </a:solidFill>
              </a:rPr>
              <a:t>何</a:t>
            </a:r>
            <a:endParaRPr lang="en-US" altLang="zh-CN" sz="2800" b="1" dirty="0" smtClean="0">
              <a:solidFill>
                <a:srgbClr val="0070C0"/>
              </a:solidFill>
            </a:endParaRPr>
          </a:p>
          <a:p>
            <a:pPr algn="l" eaLnBrk="1" hangingPunct="1"/>
            <a:r>
              <a:rPr lang="zh-CN" altLang="en-US" sz="2800" b="1" dirty="0" smtClean="0">
                <a:solidFill>
                  <a:srgbClr val="0070C0"/>
                </a:solidFill>
              </a:rPr>
              <a:t>精</a:t>
            </a:r>
            <a:endParaRPr lang="en-US" altLang="zh-CN" sz="2800" b="1" dirty="0" smtClean="0">
              <a:solidFill>
                <a:srgbClr val="0070C0"/>
              </a:solidFill>
            </a:endParaRPr>
          </a:p>
          <a:p>
            <a:pPr algn="l" eaLnBrk="1" hangingPunct="1"/>
            <a:r>
              <a:rPr lang="zh-CN" altLang="en-US" sz="2800" b="1" dirty="0" smtClean="0">
                <a:solidFill>
                  <a:srgbClr val="0070C0"/>
                </a:solidFill>
              </a:rPr>
              <a:t>度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1465484" y="2976415"/>
            <a:ext cx="2743200" cy="1095773"/>
            <a:chOff x="669" y="1288"/>
            <a:chExt cx="1584" cy="753"/>
          </a:xfrm>
        </p:grpSpPr>
        <p:sp>
          <p:nvSpPr>
            <p:cNvPr id="14392" name="Rectangle 6"/>
            <p:cNvSpPr>
              <a:spLocks noChangeArrowheads="1"/>
            </p:cNvSpPr>
            <p:nvPr/>
          </p:nvSpPr>
          <p:spPr bwMode="auto">
            <a:xfrm>
              <a:off x="813" y="1321"/>
              <a:ext cx="336" cy="7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4393" name="Rectangle 7"/>
            <p:cNvSpPr>
              <a:spLocks noChangeArrowheads="1"/>
            </p:cNvSpPr>
            <p:nvPr/>
          </p:nvSpPr>
          <p:spPr bwMode="auto">
            <a:xfrm>
              <a:off x="1149" y="1561"/>
              <a:ext cx="96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4394" name="Line 8"/>
            <p:cNvSpPr>
              <a:spLocks noChangeShapeType="1"/>
            </p:cNvSpPr>
            <p:nvPr/>
          </p:nvSpPr>
          <p:spPr bwMode="auto">
            <a:xfrm flipV="1">
              <a:off x="669" y="1669"/>
              <a:ext cx="1104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95" name="Line 9"/>
            <p:cNvSpPr>
              <a:spLocks noChangeShapeType="1"/>
            </p:cNvSpPr>
            <p:nvPr/>
          </p:nvSpPr>
          <p:spPr bwMode="auto">
            <a:xfrm>
              <a:off x="1053" y="1753"/>
              <a:ext cx="1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96" name="Line 10"/>
            <p:cNvSpPr>
              <a:spLocks noChangeShapeType="1"/>
            </p:cNvSpPr>
            <p:nvPr/>
          </p:nvSpPr>
          <p:spPr bwMode="auto">
            <a:xfrm>
              <a:off x="1485" y="1369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97" name="Line 11"/>
            <p:cNvSpPr>
              <a:spLocks noChangeShapeType="1"/>
            </p:cNvSpPr>
            <p:nvPr/>
          </p:nvSpPr>
          <p:spPr bwMode="auto">
            <a:xfrm>
              <a:off x="1485" y="1753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98" name="Text Box 12"/>
            <p:cNvSpPr txBox="1">
              <a:spLocks noChangeArrowheads="1"/>
            </p:cNvSpPr>
            <p:nvPr/>
          </p:nvSpPr>
          <p:spPr bwMode="auto">
            <a:xfrm>
              <a:off x="1533" y="1288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2000" b="1" i="1" dirty="0" smtClean="0">
                  <a:solidFill>
                    <a:srgbClr val="FF3300"/>
                  </a:solidFill>
                </a:rPr>
                <a:t>f</a:t>
              </a:r>
              <a:endParaRPr lang="en-US" altLang="zh-CN" sz="2000" b="1" i="1" dirty="0">
                <a:solidFill>
                  <a:srgbClr val="FF3300"/>
                </a:solidFill>
              </a:endParaRPr>
            </a:p>
          </p:txBody>
        </p:sp>
      </p:grpSp>
      <p:sp>
        <p:nvSpPr>
          <p:cNvPr id="85005" name="Text Box 13"/>
          <p:cNvSpPr txBox="1">
            <a:spLocks noChangeArrowheads="1"/>
          </p:cNvSpPr>
          <p:nvPr/>
        </p:nvSpPr>
        <p:spPr bwMode="auto">
          <a:xfrm>
            <a:off x="1660301" y="2154247"/>
            <a:ext cx="21288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3300"/>
                </a:solidFill>
              </a:rPr>
              <a:t>①  </a:t>
            </a:r>
            <a:r>
              <a:rPr lang="zh-CN" altLang="en-US" sz="2000" b="1" dirty="0">
                <a:solidFill>
                  <a:srgbClr val="FF3300"/>
                </a:solidFill>
              </a:rPr>
              <a:t>形状精度</a:t>
            </a:r>
          </a:p>
        </p:txBody>
      </p:sp>
      <p:sp>
        <p:nvSpPr>
          <p:cNvPr id="85006" name="Text Box 14"/>
          <p:cNvSpPr txBox="1">
            <a:spLocks noChangeArrowheads="1"/>
          </p:cNvSpPr>
          <p:nvPr/>
        </p:nvSpPr>
        <p:spPr bwMode="auto">
          <a:xfrm>
            <a:off x="1694084" y="4393657"/>
            <a:ext cx="20950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3300"/>
                </a:solidFill>
              </a:rPr>
              <a:t>③  </a:t>
            </a:r>
            <a:r>
              <a:rPr lang="zh-CN" altLang="en-US" sz="2000" b="1" dirty="0">
                <a:solidFill>
                  <a:srgbClr val="FF3300"/>
                </a:solidFill>
              </a:rPr>
              <a:t>位置精度</a:t>
            </a:r>
          </a:p>
        </p:txBody>
      </p:sp>
      <p:grpSp>
        <p:nvGrpSpPr>
          <p:cNvPr id="3" name="Group 15"/>
          <p:cNvGrpSpPr/>
          <p:nvPr/>
        </p:nvGrpSpPr>
        <p:grpSpPr bwMode="auto">
          <a:xfrm>
            <a:off x="1355501" y="843368"/>
            <a:ext cx="3359375" cy="1600200"/>
            <a:chOff x="2821" y="121"/>
            <a:chExt cx="1866" cy="1134"/>
          </a:xfrm>
        </p:grpSpPr>
        <p:sp>
          <p:nvSpPr>
            <p:cNvPr id="14377" name="Line 16"/>
            <p:cNvSpPr>
              <a:spLocks noChangeShapeType="1"/>
            </p:cNvSpPr>
            <p:nvPr/>
          </p:nvSpPr>
          <p:spPr bwMode="auto">
            <a:xfrm>
              <a:off x="4472" y="296"/>
              <a:ext cx="0" cy="1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78" name="Line 17"/>
            <p:cNvSpPr>
              <a:spLocks noChangeShapeType="1"/>
            </p:cNvSpPr>
            <p:nvPr/>
          </p:nvSpPr>
          <p:spPr bwMode="auto">
            <a:xfrm>
              <a:off x="4472" y="618"/>
              <a:ext cx="0" cy="1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grpSp>
          <p:nvGrpSpPr>
            <p:cNvPr id="4" name="Group 18"/>
            <p:cNvGrpSpPr/>
            <p:nvPr/>
          </p:nvGrpSpPr>
          <p:grpSpPr bwMode="auto">
            <a:xfrm>
              <a:off x="2821" y="121"/>
              <a:ext cx="1866" cy="1134"/>
              <a:chOff x="2821" y="121"/>
              <a:chExt cx="1866" cy="1134"/>
            </a:xfrm>
          </p:grpSpPr>
          <p:grpSp>
            <p:nvGrpSpPr>
              <p:cNvPr id="5" name="Group 19"/>
              <p:cNvGrpSpPr/>
              <p:nvPr/>
            </p:nvGrpSpPr>
            <p:grpSpPr bwMode="auto">
              <a:xfrm>
                <a:off x="2821" y="121"/>
                <a:ext cx="1728" cy="1134"/>
                <a:chOff x="2829" y="121"/>
                <a:chExt cx="1728" cy="1134"/>
              </a:xfrm>
            </p:grpSpPr>
            <p:grpSp>
              <p:nvGrpSpPr>
                <p:cNvPr id="6" name="Group 20"/>
                <p:cNvGrpSpPr/>
                <p:nvPr/>
              </p:nvGrpSpPr>
              <p:grpSpPr bwMode="auto">
                <a:xfrm>
                  <a:off x="3396" y="121"/>
                  <a:ext cx="845" cy="1134"/>
                  <a:chOff x="3879" y="1728"/>
                  <a:chExt cx="845" cy="1134"/>
                </a:xfrm>
              </p:grpSpPr>
              <p:sp>
                <p:nvSpPr>
                  <p:cNvPr id="14389" name="Arc 21"/>
                  <p:cNvSpPr/>
                  <p:nvPr/>
                </p:nvSpPr>
                <p:spPr bwMode="auto">
                  <a:xfrm rot="19069044">
                    <a:off x="4004" y="1728"/>
                    <a:ext cx="720" cy="88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14390" name="Arc 22"/>
                  <p:cNvSpPr/>
                  <p:nvPr/>
                </p:nvSpPr>
                <p:spPr bwMode="auto">
                  <a:xfrm rot="19069044">
                    <a:off x="3879" y="2160"/>
                    <a:ext cx="720" cy="624"/>
                  </a:xfrm>
                  <a:custGeom>
                    <a:avLst/>
                    <a:gdLst>
                      <a:gd name="T0" fmla="*/ 0 w 21600"/>
                      <a:gd name="T1" fmla="*/ 0 h 23640"/>
                      <a:gd name="T2" fmla="*/ 0 w 21600"/>
                      <a:gd name="T3" fmla="*/ 0 h 23640"/>
                      <a:gd name="T4" fmla="*/ 0 w 21600"/>
                      <a:gd name="T5" fmla="*/ 0 h 236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364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22281"/>
                          <a:pt x="21567" y="22961"/>
                          <a:pt x="21503" y="23640"/>
                        </a:cubicBezTo>
                      </a:path>
                      <a:path w="21600" h="2364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22281"/>
                          <a:pt x="21567" y="22961"/>
                          <a:pt x="21503" y="2364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14391" name="Arc 23"/>
                  <p:cNvSpPr/>
                  <p:nvPr/>
                </p:nvSpPr>
                <p:spPr bwMode="auto">
                  <a:xfrm rot="-2530956">
                    <a:off x="3984" y="1891"/>
                    <a:ext cx="720" cy="971"/>
                  </a:xfrm>
                  <a:custGeom>
                    <a:avLst/>
                    <a:gdLst>
                      <a:gd name="T0" fmla="*/ 0 w 21600"/>
                      <a:gd name="T1" fmla="*/ 0 h 23730"/>
                      <a:gd name="T2" fmla="*/ 0 w 21600"/>
                      <a:gd name="T3" fmla="*/ 0 h 23730"/>
                      <a:gd name="T4" fmla="*/ 0 w 21600"/>
                      <a:gd name="T5" fmla="*/ 0 h 237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373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22311"/>
                          <a:pt x="21564" y="23022"/>
                          <a:pt x="21494" y="23729"/>
                        </a:cubicBezTo>
                      </a:path>
                      <a:path w="21600" h="2373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22311"/>
                          <a:pt x="21564" y="23022"/>
                          <a:pt x="21494" y="23729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prstDash val="lgDashDot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2000"/>
                  </a:p>
                </p:txBody>
              </p:sp>
            </p:grpSp>
            <p:grpSp>
              <p:nvGrpSpPr>
                <p:cNvPr id="7" name="Group 24"/>
                <p:cNvGrpSpPr/>
                <p:nvPr/>
              </p:nvGrpSpPr>
              <p:grpSpPr bwMode="auto">
                <a:xfrm>
                  <a:off x="2829" y="265"/>
                  <a:ext cx="1728" cy="720"/>
                  <a:chOff x="2829" y="265"/>
                  <a:chExt cx="1728" cy="720"/>
                </a:xfrm>
              </p:grpSpPr>
              <p:sp>
                <p:nvSpPr>
                  <p:cNvPr id="14384" name="Line 25"/>
                  <p:cNvSpPr>
                    <a:spLocks noChangeShapeType="1"/>
                  </p:cNvSpPr>
                  <p:nvPr/>
                </p:nvSpPr>
                <p:spPr bwMode="auto">
                  <a:xfrm rot="20811666" flipV="1">
                    <a:off x="4203" y="672"/>
                    <a:ext cx="288" cy="164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14385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973" y="265"/>
                    <a:ext cx="336" cy="720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14386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2829" y="625"/>
                    <a:ext cx="1728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lgDashDot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14387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3724" y="483"/>
                    <a:ext cx="81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14388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189" y="785"/>
                    <a:ext cx="96" cy="96"/>
                  </a:xfrm>
                  <a:prstGeom prst="rect">
                    <a:avLst/>
                  </a:prstGeom>
                  <a:solidFill>
                    <a:srgbClr val="FFFFFF"/>
                  </a:solidFill>
                  <a:ln w="38100">
                    <a:solidFill>
                      <a:schemeClr val="bg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zh-CN" sz="2000"/>
                  </a:p>
                </p:txBody>
              </p:sp>
            </p:grpSp>
          </p:grpSp>
          <p:sp>
            <p:nvSpPr>
              <p:cNvPr id="14381" name="Text Box 30"/>
              <p:cNvSpPr txBox="1">
                <a:spLocks noChangeArrowheads="1"/>
              </p:cNvSpPr>
              <p:nvPr/>
            </p:nvSpPr>
            <p:spPr bwMode="auto">
              <a:xfrm>
                <a:off x="4451" y="397"/>
                <a:ext cx="23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rgbClr val="FF3300"/>
                    </a:solidFill>
                  </a:rPr>
                  <a:t>f</a:t>
                </a:r>
              </a:p>
            </p:txBody>
          </p:sp>
        </p:grpSp>
      </p:grpSp>
      <p:grpSp>
        <p:nvGrpSpPr>
          <p:cNvPr id="8" name="Group 31"/>
          <p:cNvGrpSpPr/>
          <p:nvPr/>
        </p:nvGrpSpPr>
        <p:grpSpPr bwMode="auto">
          <a:xfrm>
            <a:off x="4993258" y="790811"/>
            <a:ext cx="2940050" cy="1506142"/>
            <a:chOff x="576" y="2347"/>
            <a:chExt cx="1852" cy="1265"/>
          </a:xfrm>
        </p:grpSpPr>
        <p:grpSp>
          <p:nvGrpSpPr>
            <p:cNvPr id="9" name="Group 32"/>
            <p:cNvGrpSpPr/>
            <p:nvPr/>
          </p:nvGrpSpPr>
          <p:grpSpPr bwMode="auto">
            <a:xfrm>
              <a:off x="672" y="2544"/>
              <a:ext cx="1200" cy="624"/>
              <a:chOff x="672" y="2544"/>
              <a:chExt cx="1200" cy="624"/>
            </a:xfrm>
          </p:grpSpPr>
          <p:grpSp>
            <p:nvGrpSpPr>
              <p:cNvPr id="10" name="Group 33"/>
              <p:cNvGrpSpPr/>
              <p:nvPr/>
            </p:nvGrpSpPr>
            <p:grpSpPr bwMode="auto">
              <a:xfrm>
                <a:off x="672" y="2544"/>
                <a:ext cx="1200" cy="624"/>
                <a:chOff x="672" y="2544"/>
                <a:chExt cx="1200" cy="624"/>
              </a:xfrm>
            </p:grpSpPr>
            <p:sp>
              <p:nvSpPr>
                <p:cNvPr id="14374" name="Line 34"/>
                <p:cNvSpPr>
                  <a:spLocks noChangeShapeType="1"/>
                </p:cNvSpPr>
                <p:nvPr/>
              </p:nvSpPr>
              <p:spPr bwMode="auto">
                <a:xfrm>
                  <a:off x="672" y="3168"/>
                  <a:ext cx="120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14375" name="Line 35"/>
                <p:cNvSpPr>
                  <a:spLocks noChangeShapeType="1"/>
                </p:cNvSpPr>
                <p:nvPr/>
              </p:nvSpPr>
              <p:spPr bwMode="auto">
                <a:xfrm>
                  <a:off x="672" y="2544"/>
                  <a:ext cx="0" cy="6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14376" name="Line 36"/>
                <p:cNvSpPr>
                  <a:spLocks noChangeShapeType="1"/>
                </p:cNvSpPr>
                <p:nvPr/>
              </p:nvSpPr>
              <p:spPr bwMode="auto">
                <a:xfrm>
                  <a:off x="1872" y="2736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</p:grpSp>
          <p:sp>
            <p:nvSpPr>
              <p:cNvPr id="14373" name="Freeform 37"/>
              <p:cNvSpPr/>
              <p:nvPr/>
            </p:nvSpPr>
            <p:spPr bwMode="auto">
              <a:xfrm>
                <a:off x="672" y="2544"/>
                <a:ext cx="1200" cy="238"/>
              </a:xfrm>
              <a:custGeom>
                <a:avLst/>
                <a:gdLst>
                  <a:gd name="T0" fmla="*/ 0 w 1200"/>
                  <a:gd name="T1" fmla="*/ 0 h 238"/>
                  <a:gd name="T2" fmla="*/ 768 w 1200"/>
                  <a:gd name="T3" fmla="*/ 206 h 238"/>
                  <a:gd name="T4" fmla="*/ 1200 w 1200"/>
                  <a:gd name="T5" fmla="*/ 192 h 2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00" h="238">
                    <a:moveTo>
                      <a:pt x="0" y="0"/>
                    </a:moveTo>
                    <a:cubicBezTo>
                      <a:pt x="284" y="87"/>
                      <a:pt x="568" y="174"/>
                      <a:pt x="768" y="206"/>
                    </a:cubicBezTo>
                    <a:cubicBezTo>
                      <a:pt x="968" y="238"/>
                      <a:pt x="1128" y="194"/>
                      <a:pt x="1200" y="192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</p:grpSp>
        <p:sp>
          <p:nvSpPr>
            <p:cNvPr id="14365" name="Line 38"/>
            <p:cNvSpPr>
              <a:spLocks noChangeShapeType="1"/>
            </p:cNvSpPr>
            <p:nvPr/>
          </p:nvSpPr>
          <p:spPr bwMode="auto">
            <a:xfrm>
              <a:off x="1488" y="3168"/>
              <a:ext cx="398" cy="1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66" name="Text Box 39"/>
            <p:cNvSpPr txBox="1">
              <a:spLocks noChangeArrowheads="1"/>
            </p:cNvSpPr>
            <p:nvPr/>
          </p:nvSpPr>
          <p:spPr bwMode="auto">
            <a:xfrm>
              <a:off x="1661" y="3276"/>
              <a:ext cx="767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/>
                <a:t>基准表面</a:t>
              </a:r>
            </a:p>
          </p:txBody>
        </p:sp>
        <p:sp>
          <p:nvSpPr>
            <p:cNvPr id="14367" name="Line 40"/>
            <p:cNvSpPr>
              <a:spLocks noChangeShapeType="1"/>
            </p:cNvSpPr>
            <p:nvPr/>
          </p:nvSpPr>
          <p:spPr bwMode="auto">
            <a:xfrm>
              <a:off x="576" y="2544"/>
              <a:ext cx="15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68" name="Line 41"/>
            <p:cNvSpPr>
              <a:spLocks noChangeShapeType="1"/>
            </p:cNvSpPr>
            <p:nvPr/>
          </p:nvSpPr>
          <p:spPr bwMode="auto">
            <a:xfrm>
              <a:off x="576" y="2769"/>
              <a:ext cx="15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69" name="Line 42"/>
            <p:cNvSpPr>
              <a:spLocks noChangeShapeType="1"/>
            </p:cNvSpPr>
            <p:nvPr/>
          </p:nvSpPr>
          <p:spPr bwMode="auto">
            <a:xfrm>
              <a:off x="2016" y="2347"/>
              <a:ext cx="0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70" name="Line 43"/>
            <p:cNvSpPr>
              <a:spLocks noChangeShapeType="1"/>
            </p:cNvSpPr>
            <p:nvPr/>
          </p:nvSpPr>
          <p:spPr bwMode="auto">
            <a:xfrm>
              <a:off x="2016" y="2756"/>
              <a:ext cx="0" cy="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4371" name="Text Box 44"/>
            <p:cNvSpPr txBox="1">
              <a:spLocks noChangeArrowheads="1"/>
            </p:cNvSpPr>
            <p:nvPr/>
          </p:nvSpPr>
          <p:spPr bwMode="auto">
            <a:xfrm>
              <a:off x="1938" y="2502"/>
              <a:ext cx="17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CC0000"/>
                  </a:solidFill>
                </a:rPr>
                <a:t>f</a:t>
              </a:r>
            </a:p>
          </p:txBody>
        </p:sp>
      </p:grpSp>
      <p:sp>
        <p:nvSpPr>
          <p:cNvPr id="85037" name="Text Box 45"/>
          <p:cNvSpPr txBox="1">
            <a:spLocks noChangeArrowheads="1"/>
          </p:cNvSpPr>
          <p:nvPr/>
        </p:nvSpPr>
        <p:spPr bwMode="auto">
          <a:xfrm>
            <a:off x="4998020" y="2193518"/>
            <a:ext cx="23600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FF3300"/>
                </a:solidFill>
              </a:rPr>
              <a:t>②  </a:t>
            </a:r>
            <a:r>
              <a:rPr lang="zh-CN" altLang="en-US" sz="2000" b="1" dirty="0">
                <a:solidFill>
                  <a:srgbClr val="FF3300"/>
                </a:solidFill>
              </a:rPr>
              <a:t>方向精度</a:t>
            </a:r>
          </a:p>
        </p:txBody>
      </p:sp>
      <p:sp>
        <p:nvSpPr>
          <p:cNvPr id="85054" name="Text Box 62"/>
          <p:cNvSpPr txBox="1">
            <a:spLocks noChangeArrowheads="1"/>
          </p:cNvSpPr>
          <p:nvPr/>
        </p:nvSpPr>
        <p:spPr bwMode="auto">
          <a:xfrm>
            <a:off x="4836840" y="4420602"/>
            <a:ext cx="2878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FF3300"/>
                </a:solidFill>
              </a:rPr>
              <a:t>④  </a:t>
            </a:r>
            <a:r>
              <a:rPr lang="zh-CN" altLang="en-US" sz="2000" b="1" dirty="0">
                <a:solidFill>
                  <a:srgbClr val="FF3300"/>
                </a:solidFill>
              </a:rPr>
              <a:t>跳 动 精 度</a:t>
            </a:r>
          </a:p>
        </p:txBody>
      </p:sp>
      <p:sp>
        <p:nvSpPr>
          <p:cNvPr id="62" name="灯片编号占位符 6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12</a:t>
            </a:fld>
            <a:endParaRPr lang="en-US" altLang="ja-JP"/>
          </a:p>
        </p:txBody>
      </p:sp>
      <p:sp>
        <p:nvSpPr>
          <p:cNvPr id="63" name="Text Box 105"/>
          <p:cNvSpPr txBox="1">
            <a:spLocks noChangeArrowheads="1"/>
          </p:cNvSpPr>
          <p:nvPr/>
        </p:nvSpPr>
        <p:spPr bwMode="auto">
          <a:xfrm>
            <a:off x="379040" y="142858"/>
            <a:ext cx="8153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几何参数设计</a:t>
            </a:r>
            <a:r>
              <a:rPr lang="zh-CN" altLang="en-US" sz="3200" b="1" dirty="0" smtClean="0"/>
              <a:t>内容</a:t>
            </a:r>
            <a:endParaRPr lang="zh-CN" altLang="en-US" sz="3200" b="1" dirty="0"/>
          </a:p>
        </p:txBody>
      </p:sp>
      <p:grpSp>
        <p:nvGrpSpPr>
          <p:cNvPr id="70" name="组合 69"/>
          <p:cNvGrpSpPr/>
          <p:nvPr/>
        </p:nvGrpSpPr>
        <p:grpSpPr>
          <a:xfrm>
            <a:off x="4576514" y="2625567"/>
            <a:ext cx="3546475" cy="1795463"/>
            <a:chOff x="4576513" y="3496906"/>
            <a:chExt cx="3546475" cy="2393950"/>
          </a:xfrm>
        </p:grpSpPr>
        <p:grpSp>
          <p:nvGrpSpPr>
            <p:cNvPr id="11" name="Group 63"/>
            <p:cNvGrpSpPr/>
            <p:nvPr/>
          </p:nvGrpSpPr>
          <p:grpSpPr bwMode="auto">
            <a:xfrm>
              <a:off x="4576513" y="3496906"/>
              <a:ext cx="3546475" cy="2393950"/>
              <a:chOff x="3210" y="1815"/>
              <a:chExt cx="2234" cy="1508"/>
            </a:xfrm>
          </p:grpSpPr>
          <p:sp>
            <p:nvSpPr>
              <p:cNvPr id="14349" name="Rectangle 47"/>
              <p:cNvSpPr>
                <a:spLocks noChangeArrowheads="1"/>
              </p:cNvSpPr>
              <p:nvPr/>
            </p:nvSpPr>
            <p:spPr bwMode="auto">
              <a:xfrm>
                <a:off x="4066" y="2223"/>
                <a:ext cx="418" cy="99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14350" name="Line 48"/>
              <p:cNvSpPr>
                <a:spLocks noChangeShapeType="1"/>
              </p:cNvSpPr>
              <p:nvPr/>
            </p:nvSpPr>
            <p:spPr bwMode="auto">
              <a:xfrm flipV="1">
                <a:off x="3908" y="2688"/>
                <a:ext cx="1008" cy="7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14351" name="Line 49"/>
              <p:cNvSpPr>
                <a:spLocks noChangeShapeType="1"/>
              </p:cNvSpPr>
              <p:nvPr/>
            </p:nvSpPr>
            <p:spPr bwMode="auto">
              <a:xfrm>
                <a:off x="5300" y="2400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14352" name="Freeform 50"/>
              <p:cNvSpPr/>
              <p:nvPr/>
            </p:nvSpPr>
            <p:spPr bwMode="auto">
              <a:xfrm>
                <a:off x="4466" y="2418"/>
                <a:ext cx="828" cy="78"/>
              </a:xfrm>
              <a:custGeom>
                <a:avLst/>
                <a:gdLst>
                  <a:gd name="T0" fmla="*/ 0 w 828"/>
                  <a:gd name="T1" fmla="*/ 36 h 78"/>
                  <a:gd name="T2" fmla="*/ 90 w 828"/>
                  <a:gd name="T3" fmla="*/ 24 h 78"/>
                  <a:gd name="T4" fmla="*/ 144 w 828"/>
                  <a:gd name="T5" fmla="*/ 6 h 78"/>
                  <a:gd name="T6" fmla="*/ 162 w 828"/>
                  <a:gd name="T7" fmla="*/ 0 h 78"/>
                  <a:gd name="T8" fmla="*/ 228 w 828"/>
                  <a:gd name="T9" fmla="*/ 24 h 78"/>
                  <a:gd name="T10" fmla="*/ 282 w 828"/>
                  <a:gd name="T11" fmla="*/ 42 h 78"/>
                  <a:gd name="T12" fmla="*/ 318 w 828"/>
                  <a:gd name="T13" fmla="*/ 54 h 78"/>
                  <a:gd name="T14" fmla="*/ 336 w 828"/>
                  <a:gd name="T15" fmla="*/ 60 h 78"/>
                  <a:gd name="T16" fmla="*/ 408 w 828"/>
                  <a:gd name="T17" fmla="*/ 24 h 78"/>
                  <a:gd name="T18" fmla="*/ 480 w 828"/>
                  <a:gd name="T19" fmla="*/ 48 h 78"/>
                  <a:gd name="T20" fmla="*/ 552 w 828"/>
                  <a:gd name="T21" fmla="*/ 66 h 78"/>
                  <a:gd name="T22" fmla="*/ 588 w 828"/>
                  <a:gd name="T23" fmla="*/ 78 h 78"/>
                  <a:gd name="T24" fmla="*/ 642 w 828"/>
                  <a:gd name="T25" fmla="*/ 48 h 78"/>
                  <a:gd name="T26" fmla="*/ 732 w 828"/>
                  <a:gd name="T27" fmla="*/ 36 h 78"/>
                  <a:gd name="T28" fmla="*/ 768 w 828"/>
                  <a:gd name="T29" fmla="*/ 24 h 78"/>
                  <a:gd name="T30" fmla="*/ 804 w 828"/>
                  <a:gd name="T31" fmla="*/ 6 h 78"/>
                  <a:gd name="T32" fmla="*/ 828 w 828"/>
                  <a:gd name="T33" fmla="*/ 0 h 7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28" h="78">
                    <a:moveTo>
                      <a:pt x="0" y="36"/>
                    </a:moveTo>
                    <a:cubicBezTo>
                      <a:pt x="45" y="32"/>
                      <a:pt x="55" y="34"/>
                      <a:pt x="90" y="24"/>
                    </a:cubicBezTo>
                    <a:cubicBezTo>
                      <a:pt x="90" y="24"/>
                      <a:pt x="135" y="9"/>
                      <a:pt x="144" y="6"/>
                    </a:cubicBezTo>
                    <a:cubicBezTo>
                      <a:pt x="150" y="4"/>
                      <a:pt x="162" y="0"/>
                      <a:pt x="162" y="0"/>
                    </a:cubicBezTo>
                    <a:cubicBezTo>
                      <a:pt x="186" y="36"/>
                      <a:pt x="163" y="11"/>
                      <a:pt x="228" y="24"/>
                    </a:cubicBezTo>
                    <a:cubicBezTo>
                      <a:pt x="247" y="28"/>
                      <a:pt x="264" y="36"/>
                      <a:pt x="282" y="42"/>
                    </a:cubicBezTo>
                    <a:cubicBezTo>
                      <a:pt x="294" y="46"/>
                      <a:pt x="306" y="50"/>
                      <a:pt x="318" y="54"/>
                    </a:cubicBezTo>
                    <a:cubicBezTo>
                      <a:pt x="324" y="56"/>
                      <a:pt x="336" y="60"/>
                      <a:pt x="336" y="60"/>
                    </a:cubicBezTo>
                    <a:cubicBezTo>
                      <a:pt x="358" y="46"/>
                      <a:pt x="383" y="32"/>
                      <a:pt x="408" y="24"/>
                    </a:cubicBezTo>
                    <a:cubicBezTo>
                      <a:pt x="432" y="32"/>
                      <a:pt x="455" y="42"/>
                      <a:pt x="480" y="48"/>
                    </a:cubicBezTo>
                    <a:cubicBezTo>
                      <a:pt x="512" y="37"/>
                      <a:pt x="526" y="54"/>
                      <a:pt x="552" y="66"/>
                    </a:cubicBezTo>
                    <a:cubicBezTo>
                      <a:pt x="564" y="71"/>
                      <a:pt x="588" y="78"/>
                      <a:pt x="588" y="78"/>
                    </a:cubicBezTo>
                    <a:cubicBezTo>
                      <a:pt x="629" y="50"/>
                      <a:pt x="610" y="59"/>
                      <a:pt x="642" y="48"/>
                    </a:cubicBezTo>
                    <a:cubicBezTo>
                      <a:pt x="677" y="71"/>
                      <a:pt x="700" y="50"/>
                      <a:pt x="732" y="36"/>
                    </a:cubicBezTo>
                    <a:cubicBezTo>
                      <a:pt x="744" y="31"/>
                      <a:pt x="757" y="31"/>
                      <a:pt x="768" y="24"/>
                    </a:cubicBezTo>
                    <a:cubicBezTo>
                      <a:pt x="788" y="11"/>
                      <a:pt x="782" y="12"/>
                      <a:pt x="804" y="6"/>
                    </a:cubicBezTo>
                    <a:cubicBezTo>
                      <a:pt x="812" y="4"/>
                      <a:pt x="828" y="0"/>
                      <a:pt x="828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14353" name="Freeform 51"/>
              <p:cNvSpPr/>
              <p:nvPr/>
            </p:nvSpPr>
            <p:spPr bwMode="auto">
              <a:xfrm>
                <a:off x="4478" y="2958"/>
                <a:ext cx="816" cy="131"/>
              </a:xfrm>
              <a:custGeom>
                <a:avLst/>
                <a:gdLst>
                  <a:gd name="T0" fmla="*/ 0 w 816"/>
                  <a:gd name="T1" fmla="*/ 120 h 131"/>
                  <a:gd name="T2" fmla="*/ 78 w 816"/>
                  <a:gd name="T3" fmla="*/ 108 h 131"/>
                  <a:gd name="T4" fmla="*/ 342 w 816"/>
                  <a:gd name="T5" fmla="*/ 102 h 131"/>
                  <a:gd name="T6" fmla="*/ 582 w 816"/>
                  <a:gd name="T7" fmla="*/ 84 h 131"/>
                  <a:gd name="T8" fmla="*/ 762 w 816"/>
                  <a:gd name="T9" fmla="*/ 54 h 131"/>
                  <a:gd name="T10" fmla="*/ 798 w 816"/>
                  <a:gd name="T11" fmla="*/ 42 h 131"/>
                  <a:gd name="T12" fmla="*/ 816 w 816"/>
                  <a:gd name="T13" fmla="*/ 0 h 1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16" h="131">
                    <a:moveTo>
                      <a:pt x="0" y="120"/>
                    </a:moveTo>
                    <a:cubicBezTo>
                      <a:pt x="34" y="131"/>
                      <a:pt x="44" y="109"/>
                      <a:pt x="78" y="108"/>
                    </a:cubicBezTo>
                    <a:cubicBezTo>
                      <a:pt x="166" y="106"/>
                      <a:pt x="254" y="104"/>
                      <a:pt x="342" y="102"/>
                    </a:cubicBezTo>
                    <a:cubicBezTo>
                      <a:pt x="413" y="78"/>
                      <a:pt x="521" y="86"/>
                      <a:pt x="582" y="84"/>
                    </a:cubicBezTo>
                    <a:cubicBezTo>
                      <a:pt x="648" y="62"/>
                      <a:pt x="688" y="58"/>
                      <a:pt x="762" y="54"/>
                    </a:cubicBezTo>
                    <a:cubicBezTo>
                      <a:pt x="774" y="50"/>
                      <a:pt x="794" y="54"/>
                      <a:pt x="798" y="42"/>
                    </a:cubicBezTo>
                    <a:cubicBezTo>
                      <a:pt x="811" y="3"/>
                      <a:pt x="801" y="15"/>
                      <a:pt x="816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14354" name="Line 52"/>
              <p:cNvSpPr>
                <a:spLocks noChangeShapeType="1"/>
              </p:cNvSpPr>
              <p:nvPr/>
            </p:nvSpPr>
            <p:spPr bwMode="auto">
              <a:xfrm>
                <a:off x="4388" y="2736"/>
                <a:ext cx="105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14355" name="Line 53"/>
              <p:cNvSpPr>
                <a:spLocks noChangeShapeType="1"/>
              </p:cNvSpPr>
              <p:nvPr/>
            </p:nvSpPr>
            <p:spPr bwMode="auto">
              <a:xfrm>
                <a:off x="4964" y="2090"/>
                <a:ext cx="0" cy="3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14356" name="Line 54"/>
              <p:cNvSpPr>
                <a:spLocks noChangeShapeType="1"/>
              </p:cNvSpPr>
              <p:nvPr/>
            </p:nvSpPr>
            <p:spPr bwMode="auto">
              <a:xfrm>
                <a:off x="4916" y="218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14357" name="Line 55"/>
              <p:cNvSpPr>
                <a:spLocks noChangeShapeType="1"/>
              </p:cNvSpPr>
              <p:nvPr/>
            </p:nvSpPr>
            <p:spPr bwMode="auto">
              <a:xfrm>
                <a:off x="5012" y="218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grpSp>
            <p:nvGrpSpPr>
              <p:cNvPr id="12" name="Group 56"/>
              <p:cNvGrpSpPr/>
              <p:nvPr/>
            </p:nvGrpSpPr>
            <p:grpSpPr bwMode="auto">
              <a:xfrm>
                <a:off x="4825" y="1815"/>
                <a:ext cx="272" cy="272"/>
                <a:chOff x="1349" y="2535"/>
                <a:chExt cx="272" cy="272"/>
              </a:xfrm>
            </p:grpSpPr>
            <p:sp>
              <p:nvSpPr>
                <p:cNvPr id="14362" name="Oval 57"/>
                <p:cNvSpPr>
                  <a:spLocks noChangeArrowheads="1"/>
                </p:cNvSpPr>
                <p:nvPr/>
              </p:nvSpPr>
              <p:spPr bwMode="auto">
                <a:xfrm>
                  <a:off x="1349" y="2535"/>
                  <a:ext cx="272" cy="272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14363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1486" y="2593"/>
                  <a:ext cx="118" cy="9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</p:grpSp>
          <p:sp>
            <p:nvSpPr>
              <p:cNvPr id="14360" name="Line 60"/>
              <p:cNvSpPr>
                <a:spLocks noChangeShapeType="1"/>
              </p:cNvSpPr>
              <p:nvPr/>
            </p:nvSpPr>
            <p:spPr bwMode="auto">
              <a:xfrm flipH="1">
                <a:off x="3792" y="2688"/>
                <a:ext cx="384" cy="2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14361" name="Text Box 61"/>
              <p:cNvSpPr txBox="1">
                <a:spLocks noChangeArrowheads="1"/>
              </p:cNvSpPr>
              <p:nvPr/>
            </p:nvSpPr>
            <p:spPr bwMode="auto">
              <a:xfrm>
                <a:off x="3210" y="2987"/>
                <a:ext cx="807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/>
                  <a:t> </a:t>
                </a:r>
                <a:r>
                  <a:rPr lang="zh-CN" altLang="en-US" sz="2000" b="1" dirty="0"/>
                  <a:t>基准轴线</a:t>
                </a:r>
              </a:p>
            </p:txBody>
          </p:sp>
        </p:grpSp>
        <p:cxnSp>
          <p:nvCxnSpPr>
            <p:cNvPr id="65" name="曲线连接符 64"/>
            <p:cNvCxnSpPr/>
            <p:nvPr/>
          </p:nvCxnSpPr>
          <p:spPr>
            <a:xfrm>
              <a:off x="7033998" y="4491692"/>
              <a:ext cx="190500" cy="1028700"/>
            </a:xfrm>
            <a:prstGeom prst="curvedConnector3">
              <a:avLst>
                <a:gd name="adj1" fmla="val 289224"/>
              </a:avLst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2096922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8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"/>
                                        <p:tgtEl>
                                          <p:spTgt spid="85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bldLvl="0" animBg="1" autoUpdateAnimBg="0"/>
      <p:bldP spid="85005" grpId="0" bldLvl="0" animBg="1" autoUpdateAnimBg="0"/>
      <p:bldP spid="85006" grpId="0" bldLvl="0" animBg="1" autoUpdateAnimBg="0"/>
      <p:bldP spid="85037" grpId="0" bldLvl="0" animBg="1" autoUpdateAnimBg="0"/>
      <p:bldP spid="85054" grpId="0" bldLvl="0" animBg="1" autoUpdateAnimBg="0"/>
      <p:bldP spid="63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13</a:t>
            </a:fld>
            <a:endParaRPr lang="en-US" altLang="ja-JP"/>
          </a:p>
        </p:txBody>
      </p:sp>
      <p:sp>
        <p:nvSpPr>
          <p:cNvPr id="6" name="Text Box 105"/>
          <p:cNvSpPr txBox="1">
            <a:spLocks noChangeArrowheads="1"/>
          </p:cNvSpPr>
          <p:nvPr/>
        </p:nvSpPr>
        <p:spPr bwMode="auto">
          <a:xfrm>
            <a:off x="379040" y="142858"/>
            <a:ext cx="8153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几何参数设计</a:t>
            </a:r>
            <a:r>
              <a:rPr lang="zh-CN" altLang="en-US" sz="3200" b="1" dirty="0" smtClean="0"/>
              <a:t>内容</a:t>
            </a:r>
            <a:endParaRPr lang="zh-CN" altLang="en-US" sz="3200" b="1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42910" y="857238"/>
            <a:ext cx="34290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 smtClean="0">
                <a:latin typeface="+mn-lt"/>
              </a:rPr>
              <a:t>标注示例</a:t>
            </a:r>
            <a:endParaRPr lang="en-US" altLang="zh-CN" b="1" dirty="0" smtClean="0">
              <a:latin typeface="+mn-lt"/>
            </a:endParaRPr>
          </a:p>
        </p:txBody>
      </p:sp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1397" y="1357304"/>
            <a:ext cx="3818255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5" name="组合 14"/>
          <p:cNvGrpSpPr/>
          <p:nvPr/>
        </p:nvGrpSpPr>
        <p:grpSpPr>
          <a:xfrm>
            <a:off x="1071538" y="1518284"/>
            <a:ext cx="3356952" cy="2839416"/>
            <a:chOff x="1071538" y="1518284"/>
            <a:chExt cx="3356952" cy="2839416"/>
          </a:xfrm>
        </p:grpSpPr>
        <p:pic>
          <p:nvPicPr>
            <p:cNvPr id="9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71538" y="1518284"/>
              <a:ext cx="3356952" cy="28394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0" name="直接连接符 9"/>
            <p:cNvCxnSpPr/>
            <p:nvPr/>
          </p:nvCxnSpPr>
          <p:spPr>
            <a:xfrm rot="10800000">
              <a:off x="2510274" y="1687798"/>
              <a:ext cx="4320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>
              <a:off x="2416972" y="1777798"/>
              <a:ext cx="1800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2520320" y="1812628"/>
              <a:ext cx="406800" cy="714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84856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7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714348" y="1071552"/>
            <a:ext cx="55309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/>
              <a:t>(3)  </a:t>
            </a:r>
            <a:r>
              <a:rPr lang="zh-CN" altLang="en-US" sz="2800" b="1" dirty="0">
                <a:solidFill>
                  <a:srgbClr val="0070C0"/>
                </a:solidFill>
              </a:rPr>
              <a:t>微观轮廓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精度（表面粗糙度）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grpSp>
        <p:nvGrpSpPr>
          <p:cNvPr id="2" name="Group 43"/>
          <p:cNvGrpSpPr/>
          <p:nvPr/>
        </p:nvGrpSpPr>
        <p:grpSpPr bwMode="auto">
          <a:xfrm>
            <a:off x="857224" y="2004587"/>
            <a:ext cx="3857652" cy="1781609"/>
            <a:chOff x="912" y="1354"/>
            <a:chExt cx="3216" cy="1853"/>
          </a:xfrm>
        </p:grpSpPr>
        <p:grpSp>
          <p:nvGrpSpPr>
            <p:cNvPr id="3" name="Group 6"/>
            <p:cNvGrpSpPr/>
            <p:nvPr/>
          </p:nvGrpSpPr>
          <p:grpSpPr bwMode="auto">
            <a:xfrm>
              <a:off x="912" y="1393"/>
              <a:ext cx="3216" cy="1814"/>
              <a:chOff x="2922" y="1279"/>
              <a:chExt cx="1536" cy="768"/>
            </a:xfrm>
          </p:grpSpPr>
          <p:sp>
            <p:nvSpPr>
              <p:cNvPr id="15368" name="Line 7"/>
              <p:cNvSpPr>
                <a:spLocks noChangeShapeType="1"/>
              </p:cNvSpPr>
              <p:nvPr/>
            </p:nvSpPr>
            <p:spPr bwMode="auto">
              <a:xfrm>
                <a:off x="2922" y="1687"/>
                <a:ext cx="15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69" name="Rectangle 8"/>
              <p:cNvSpPr>
                <a:spLocks noChangeArrowheads="1"/>
              </p:cNvSpPr>
              <p:nvPr/>
            </p:nvSpPr>
            <p:spPr bwMode="auto">
              <a:xfrm>
                <a:off x="3066" y="1327"/>
                <a:ext cx="336" cy="7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0" name="Rectangle 9"/>
              <p:cNvSpPr>
                <a:spLocks noChangeArrowheads="1"/>
              </p:cNvSpPr>
              <p:nvPr/>
            </p:nvSpPr>
            <p:spPr bwMode="auto">
              <a:xfrm>
                <a:off x="3402" y="1495"/>
                <a:ext cx="960" cy="3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1" name="Oval 10"/>
              <p:cNvSpPr>
                <a:spLocks noChangeArrowheads="1"/>
              </p:cNvSpPr>
              <p:nvPr/>
            </p:nvSpPr>
            <p:spPr bwMode="auto">
              <a:xfrm>
                <a:off x="3778" y="1279"/>
                <a:ext cx="390" cy="39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72" name="Freeform 11"/>
              <p:cNvSpPr/>
              <p:nvPr/>
            </p:nvSpPr>
            <p:spPr bwMode="auto">
              <a:xfrm>
                <a:off x="3786" y="1444"/>
                <a:ext cx="379" cy="91"/>
              </a:xfrm>
              <a:custGeom>
                <a:avLst/>
                <a:gdLst>
                  <a:gd name="T0" fmla="*/ 0 w 364"/>
                  <a:gd name="T1" fmla="*/ 56 h 91"/>
                  <a:gd name="T2" fmla="*/ 102 w 364"/>
                  <a:gd name="T3" fmla="*/ 48 h 91"/>
                  <a:gd name="T4" fmla="*/ 170 w 364"/>
                  <a:gd name="T5" fmla="*/ 65 h 91"/>
                  <a:gd name="T6" fmla="*/ 220 w 364"/>
                  <a:gd name="T7" fmla="*/ 48 h 91"/>
                  <a:gd name="T8" fmla="*/ 254 w 364"/>
                  <a:gd name="T9" fmla="*/ 39 h 91"/>
                  <a:gd name="T10" fmla="*/ 280 w 364"/>
                  <a:gd name="T11" fmla="*/ 31 h 91"/>
                  <a:gd name="T12" fmla="*/ 288 w 364"/>
                  <a:gd name="T13" fmla="*/ 56 h 91"/>
                  <a:gd name="T14" fmla="*/ 314 w 364"/>
                  <a:gd name="T15" fmla="*/ 65 h 91"/>
                  <a:gd name="T16" fmla="*/ 364 w 364"/>
                  <a:gd name="T17" fmla="*/ 48 h 9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64" h="91">
                    <a:moveTo>
                      <a:pt x="0" y="56"/>
                    </a:moveTo>
                    <a:cubicBezTo>
                      <a:pt x="62" y="15"/>
                      <a:pt x="43" y="9"/>
                      <a:pt x="102" y="48"/>
                    </a:cubicBezTo>
                    <a:cubicBezTo>
                      <a:pt x="128" y="86"/>
                      <a:pt x="130" y="91"/>
                      <a:pt x="170" y="65"/>
                    </a:cubicBezTo>
                    <a:cubicBezTo>
                      <a:pt x="180" y="21"/>
                      <a:pt x="188" y="0"/>
                      <a:pt x="220" y="48"/>
                    </a:cubicBezTo>
                    <a:cubicBezTo>
                      <a:pt x="231" y="45"/>
                      <a:pt x="243" y="42"/>
                      <a:pt x="254" y="39"/>
                    </a:cubicBezTo>
                    <a:cubicBezTo>
                      <a:pt x="263" y="37"/>
                      <a:pt x="272" y="27"/>
                      <a:pt x="280" y="31"/>
                    </a:cubicBezTo>
                    <a:cubicBezTo>
                      <a:pt x="288" y="35"/>
                      <a:pt x="282" y="50"/>
                      <a:pt x="288" y="56"/>
                    </a:cubicBezTo>
                    <a:cubicBezTo>
                      <a:pt x="294" y="62"/>
                      <a:pt x="305" y="62"/>
                      <a:pt x="314" y="65"/>
                    </a:cubicBezTo>
                    <a:cubicBezTo>
                      <a:pt x="353" y="54"/>
                      <a:pt x="337" y="61"/>
                      <a:pt x="364" y="48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67" name="Text Box 12"/>
            <p:cNvSpPr txBox="1">
              <a:spLocks noChangeArrowheads="1"/>
            </p:cNvSpPr>
            <p:nvPr/>
          </p:nvSpPr>
          <p:spPr bwMode="auto">
            <a:xfrm>
              <a:off x="2875" y="1354"/>
              <a:ext cx="480" cy="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FF3300"/>
                  </a:solidFill>
                </a:rPr>
                <a:t>R</a:t>
              </a:r>
            </a:p>
          </p:txBody>
        </p: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14</a:t>
            </a:fld>
            <a:endParaRPr lang="en-US" altLang="ja-JP"/>
          </a:p>
        </p:txBody>
      </p:sp>
      <p:sp>
        <p:nvSpPr>
          <p:cNvPr id="13" name="Text Box 105"/>
          <p:cNvSpPr txBox="1">
            <a:spLocks noChangeArrowheads="1"/>
          </p:cNvSpPr>
          <p:nvPr/>
        </p:nvSpPr>
        <p:spPr bwMode="auto">
          <a:xfrm>
            <a:off x="379040" y="142858"/>
            <a:ext cx="8153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几何参数设计</a:t>
            </a:r>
            <a:r>
              <a:rPr lang="zh-CN" altLang="en-US" sz="3200" b="1" dirty="0" smtClean="0"/>
              <a:t>内容</a:t>
            </a:r>
            <a:endParaRPr lang="zh-CN" altLang="en-US" sz="3200" b="1" dirty="0"/>
          </a:p>
        </p:txBody>
      </p:sp>
      <p:grpSp>
        <p:nvGrpSpPr>
          <p:cNvPr id="35" name="组合 34"/>
          <p:cNvGrpSpPr/>
          <p:nvPr/>
        </p:nvGrpSpPr>
        <p:grpSpPr>
          <a:xfrm>
            <a:off x="5143504" y="1821889"/>
            <a:ext cx="3071834" cy="2244910"/>
            <a:chOff x="5214942" y="2285992"/>
            <a:chExt cx="3071834" cy="2521024"/>
          </a:xfrm>
        </p:grpSpPr>
        <p:pic>
          <p:nvPicPr>
            <p:cNvPr id="89089" name="Picture 1" descr="C:\Users\Administrator\Desktop\图片1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214942" y="2285992"/>
              <a:ext cx="3071834" cy="1966573"/>
            </a:xfrm>
            <a:prstGeom prst="rect">
              <a:avLst/>
            </a:prstGeom>
            <a:noFill/>
          </p:spPr>
        </p:pic>
        <p:sp>
          <p:nvSpPr>
            <p:cNvPr id="34" name="TextBox 33"/>
            <p:cNvSpPr txBox="1"/>
            <p:nvPr/>
          </p:nvSpPr>
          <p:spPr>
            <a:xfrm>
              <a:off x="5929322" y="4357694"/>
              <a:ext cx="1857388" cy="449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/>
                <a:t>标注示例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8379692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bldLvl="0" animBg="1" autoUpdateAnimBg="0"/>
      <p:bldP spid="13" grpId="0" bldLvl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15</a:t>
            </a:fld>
            <a:endParaRPr lang="en-US" altLang="ja-JP"/>
          </a:p>
        </p:txBody>
      </p:sp>
      <p:sp>
        <p:nvSpPr>
          <p:cNvPr id="6" name="Text Box 23"/>
          <p:cNvSpPr txBox="1">
            <a:spLocks noChangeArrowheads="1"/>
          </p:cNvSpPr>
          <p:nvPr/>
        </p:nvSpPr>
        <p:spPr bwMode="auto">
          <a:xfrm>
            <a:off x="1928794" y="1607338"/>
            <a:ext cx="52864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b="1" dirty="0" smtClean="0">
                <a:solidFill>
                  <a:srgbClr val="FF3300"/>
                </a:solidFill>
              </a:rPr>
              <a:t>如何保证</a:t>
            </a:r>
            <a:r>
              <a:rPr lang="zh-CN" altLang="en-US" sz="3200" b="1" dirty="0">
                <a:solidFill>
                  <a:srgbClr val="FF3300"/>
                </a:solidFill>
              </a:rPr>
              <a:t>几何参数有互换性？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3174" y="2500312"/>
            <a:ext cx="400052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限定几何量变化范围</a:t>
            </a:r>
            <a:endParaRPr lang="zh-CN" altLang="en-US" sz="32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83218" y="3558611"/>
            <a:ext cx="400052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n w="18000">
                  <a:solidFill>
                    <a:srgbClr val="FF3300"/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公差</a:t>
            </a:r>
            <a:endParaRPr lang="zh-CN" altLang="en-US" sz="3200" b="1" dirty="0">
              <a:ln w="18000">
                <a:solidFill>
                  <a:srgbClr val="FF3300"/>
                </a:solidFill>
                <a:prstDash val="solid"/>
                <a:miter lim="800000"/>
              </a:ln>
              <a:solidFill>
                <a:srgbClr val="FFFF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4500562" y="3165701"/>
            <a:ext cx="357190" cy="321471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16</a:t>
            </a:fld>
            <a:endParaRPr lang="en-US" altLang="ja-JP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142858"/>
            <a:ext cx="44958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3200" b="1" dirty="0"/>
              <a:t>     </a:t>
            </a:r>
            <a:r>
              <a:rPr lang="en-US" altLang="zh-CN" sz="3200" b="1" dirty="0" smtClean="0"/>
              <a:t>1.2 </a:t>
            </a:r>
            <a:r>
              <a:rPr lang="zh-CN" altLang="en-US" sz="3200" b="1" dirty="0"/>
              <a:t>公差</a:t>
            </a: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1259632" y="857238"/>
            <a:ext cx="6872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公差是指</a:t>
            </a:r>
            <a:r>
              <a:rPr lang="zh-CN" altLang="en-US" b="1" dirty="0">
                <a:solidFill>
                  <a:srgbClr val="FF3300"/>
                </a:solidFill>
              </a:rPr>
              <a:t>允许几何</a:t>
            </a:r>
            <a:r>
              <a:rPr lang="zh-CN" altLang="en-US" b="1" dirty="0" smtClean="0">
                <a:solidFill>
                  <a:srgbClr val="FF3300"/>
                </a:solidFill>
              </a:rPr>
              <a:t>参数</a:t>
            </a:r>
            <a:r>
              <a:rPr lang="zh-CN" altLang="en-US" b="1" dirty="0">
                <a:solidFill>
                  <a:srgbClr val="FF3300"/>
                </a:solidFill>
              </a:rPr>
              <a:t>量</a:t>
            </a:r>
            <a:r>
              <a:rPr lang="zh-CN" altLang="en-US" b="1" dirty="0" smtClean="0">
                <a:solidFill>
                  <a:srgbClr val="FF3300"/>
                </a:solidFill>
              </a:rPr>
              <a:t>变化</a:t>
            </a:r>
            <a:r>
              <a:rPr lang="zh-CN" altLang="en-US" b="1" dirty="0">
                <a:solidFill>
                  <a:srgbClr val="FF3300"/>
                </a:solidFill>
              </a:rPr>
              <a:t>的范围。</a:t>
            </a:r>
          </a:p>
        </p:txBody>
      </p:sp>
      <p:graphicFrame>
        <p:nvGraphicFramePr>
          <p:cNvPr id="8" name="Object 20"/>
          <p:cNvGraphicFramePr>
            <a:graphicFrameLocks noChangeAspect="1"/>
          </p:cNvGraphicFramePr>
          <p:nvPr/>
        </p:nvGraphicFramePr>
        <p:xfrm>
          <a:off x="2455556" y="1491630"/>
          <a:ext cx="3909926" cy="521750"/>
        </p:xfrm>
        <a:graphic>
          <a:graphicData uri="http://schemas.openxmlformats.org/presentationml/2006/ole">
            <p:oleObj spid="_x0000_s1036" name="公式" r:id="rId3" imgW="34747200" imgH="6096000" progId="">
              <p:embed/>
            </p:oleObj>
          </a:graphicData>
        </a:graphic>
      </p:graphicFrame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612278" y="2139702"/>
            <a:ext cx="6335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        在加工过程中</a:t>
            </a:r>
            <a:r>
              <a:rPr lang="zh-CN" altLang="en-US" b="1" dirty="0" smtClean="0"/>
              <a:t>，总是</a:t>
            </a:r>
            <a:r>
              <a:rPr lang="zh-CN" altLang="en-US" b="1" dirty="0"/>
              <a:t>存在</a:t>
            </a:r>
            <a:r>
              <a:rPr lang="zh-CN" altLang="en-US" b="1" dirty="0" smtClean="0"/>
              <a:t>误差。</a:t>
            </a:r>
            <a:endParaRPr lang="zh-CN" altLang="en-US" b="1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91722" y="2693110"/>
          <a:ext cx="4009104" cy="513461"/>
        </p:xfrm>
        <a:graphic>
          <a:graphicData uri="http://schemas.openxmlformats.org/presentationml/2006/ole">
            <p:oleObj spid="_x0000_s1037" name="公式" r:id="rId4" imgW="36880800" imgH="6096000" progId="">
              <p:embed/>
            </p:oleObj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143240" y="4244554"/>
          <a:ext cx="3089590" cy="470336"/>
        </p:xfrm>
        <a:graphic>
          <a:graphicData uri="http://schemas.openxmlformats.org/presentationml/2006/ole">
            <p:oleObj spid="_x0000_s1038" name="公式" r:id="rId5" imgW="27127200" imgH="5181600" progId="">
              <p:embed/>
            </p:oleObj>
          </a:graphicData>
        </a:graphic>
      </p:graphicFrame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539502" y="3381841"/>
            <a:ext cx="82089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        只要零件的几何参</a:t>
            </a:r>
            <a:r>
              <a:rPr lang="zh-CN" altLang="en-US" b="1" dirty="0" smtClean="0"/>
              <a:t>数值控制</a:t>
            </a:r>
            <a:r>
              <a:rPr lang="zh-CN" altLang="en-US" b="1" dirty="0"/>
              <a:t>在</a:t>
            </a:r>
            <a:r>
              <a:rPr lang="zh-CN" altLang="en-US" b="1" dirty="0">
                <a:solidFill>
                  <a:srgbClr val="FF0000"/>
                </a:solidFill>
              </a:rPr>
              <a:t>某一规定的</a:t>
            </a:r>
            <a:r>
              <a:rPr lang="zh-CN" altLang="en-US" b="1" dirty="0"/>
              <a:t>范围内，就能达到互换性要求。</a:t>
            </a:r>
          </a:p>
        </p:txBody>
      </p:sp>
      <p:sp>
        <p:nvSpPr>
          <p:cNvPr id="13" name="矩形 12"/>
          <p:cNvSpPr/>
          <p:nvPr/>
        </p:nvSpPr>
        <p:spPr>
          <a:xfrm>
            <a:off x="2411760" y="1437624"/>
            <a:ext cx="4032448" cy="5940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425476" y="2652452"/>
            <a:ext cx="4104456" cy="5940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17</a:t>
            </a:fld>
            <a:endParaRPr lang="en-US" altLang="ja-JP"/>
          </a:p>
        </p:txBody>
      </p:sp>
      <p:sp>
        <p:nvSpPr>
          <p:cNvPr id="6" name="Text Box 1028"/>
          <p:cNvSpPr txBox="1">
            <a:spLocks noChangeArrowheads="1"/>
          </p:cNvSpPr>
          <p:nvPr/>
        </p:nvSpPr>
        <p:spPr bwMode="auto">
          <a:xfrm>
            <a:off x="468314" y="142858"/>
            <a:ext cx="47517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3200" b="1" dirty="0" smtClean="0"/>
              <a:t>1.3 </a:t>
            </a:r>
            <a:r>
              <a:rPr lang="zh-CN" altLang="en-US" sz="3200" b="1" dirty="0"/>
              <a:t>互换性的</a:t>
            </a:r>
            <a:r>
              <a:rPr lang="zh-CN" altLang="en-US" sz="3200" b="1" dirty="0" smtClean="0"/>
              <a:t>种类</a:t>
            </a:r>
            <a:endParaRPr lang="zh-CN" altLang="en-US" sz="3200" b="1" dirty="0"/>
          </a:p>
        </p:txBody>
      </p:sp>
      <p:grpSp>
        <p:nvGrpSpPr>
          <p:cNvPr id="7" name="Group 1042"/>
          <p:cNvGrpSpPr/>
          <p:nvPr/>
        </p:nvGrpSpPr>
        <p:grpSpPr bwMode="auto">
          <a:xfrm>
            <a:off x="323852" y="1470922"/>
            <a:ext cx="2890827" cy="1154407"/>
            <a:chOff x="204" y="1191"/>
            <a:chExt cx="2230" cy="1353"/>
          </a:xfrm>
        </p:grpSpPr>
        <p:sp>
          <p:nvSpPr>
            <p:cNvPr id="8" name="Text Box 1029"/>
            <p:cNvSpPr txBox="1">
              <a:spLocks noChangeArrowheads="1"/>
            </p:cNvSpPr>
            <p:nvPr/>
          </p:nvSpPr>
          <p:spPr bwMode="auto">
            <a:xfrm>
              <a:off x="204" y="1414"/>
              <a:ext cx="2230" cy="1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</a:pPr>
              <a:r>
                <a:rPr lang="zh-CN" altLang="en-US" b="1" dirty="0" smtClean="0"/>
                <a:t>（</a:t>
              </a:r>
              <a:r>
                <a:rPr lang="en-US" altLang="zh-CN" b="1" dirty="0" smtClean="0"/>
                <a:t>1</a:t>
              </a:r>
              <a:r>
                <a:rPr lang="zh-CN" altLang="en-US" b="1" dirty="0" smtClean="0"/>
                <a:t>）按</a:t>
              </a:r>
              <a:r>
                <a:rPr lang="zh-CN" altLang="en-US" b="1" dirty="0"/>
                <a:t>互换性</a:t>
              </a:r>
              <a:endParaRPr lang="en-US" altLang="zh-CN" b="1" dirty="0"/>
            </a:p>
            <a:p>
              <a:pPr algn="l" eaLnBrk="1" hangingPunct="1">
                <a:lnSpc>
                  <a:spcPct val="120000"/>
                </a:lnSpc>
              </a:pPr>
              <a:r>
                <a:rPr lang="en-US" altLang="zh-CN" b="1" dirty="0">
                  <a:solidFill>
                    <a:srgbClr val="FF3300"/>
                  </a:solidFill>
                </a:rPr>
                <a:t>             </a:t>
              </a:r>
              <a:r>
                <a:rPr lang="zh-CN" altLang="en-US" b="1" dirty="0">
                  <a:solidFill>
                    <a:srgbClr val="FF3300"/>
                  </a:solidFill>
                </a:rPr>
                <a:t>程度</a:t>
              </a:r>
              <a:r>
                <a:rPr lang="zh-CN" altLang="en-US" b="1" dirty="0"/>
                <a:t>分</a:t>
              </a:r>
            </a:p>
          </p:txBody>
        </p:sp>
        <p:sp>
          <p:nvSpPr>
            <p:cNvPr id="9" name="AutoShape 1030"/>
            <p:cNvSpPr/>
            <p:nvPr/>
          </p:nvSpPr>
          <p:spPr bwMode="auto">
            <a:xfrm>
              <a:off x="2160" y="1191"/>
              <a:ext cx="192" cy="1353"/>
            </a:xfrm>
            <a:prstGeom prst="leftBrace">
              <a:avLst>
                <a:gd name="adj1" fmla="val 58724"/>
                <a:gd name="adj2" fmla="val 50000"/>
              </a:avLst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</p:grp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90542" y="3604152"/>
            <a:ext cx="3048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dirty="0"/>
              <a:t> </a:t>
            </a: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 smtClean="0"/>
              <a:t>）按</a:t>
            </a:r>
            <a:r>
              <a:rPr lang="zh-CN" altLang="en-US" b="1" dirty="0">
                <a:solidFill>
                  <a:srgbClr val="FF0000"/>
                </a:solidFill>
              </a:rPr>
              <a:t>标准零部</a:t>
            </a:r>
          </a:p>
          <a:p>
            <a:pPr algn="l" eaLnBrk="1" hangingPunct="1"/>
            <a:r>
              <a:rPr lang="zh-CN" altLang="en-US" b="1" dirty="0"/>
              <a:t>          </a:t>
            </a:r>
            <a:r>
              <a:rPr lang="zh-CN" altLang="en-US" b="1" dirty="0">
                <a:solidFill>
                  <a:srgbClr val="FF0000"/>
                </a:solidFill>
              </a:rPr>
              <a:t>件</a:t>
            </a:r>
            <a:r>
              <a:rPr lang="zh-CN" altLang="en-US" b="1" dirty="0"/>
              <a:t>和机构分</a:t>
            </a:r>
          </a:p>
        </p:txBody>
      </p:sp>
      <p:sp>
        <p:nvSpPr>
          <p:cNvPr id="11" name="AutoShape 7"/>
          <p:cNvSpPr/>
          <p:nvPr/>
        </p:nvSpPr>
        <p:spPr bwMode="auto">
          <a:xfrm>
            <a:off x="3230592" y="3604152"/>
            <a:ext cx="381000" cy="685800"/>
          </a:xfrm>
          <a:prstGeom prst="leftBrace">
            <a:avLst>
              <a:gd name="adj1" fmla="val 2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3611592" y="3489852"/>
            <a:ext cx="3696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外互换 </a:t>
            </a:r>
            <a:r>
              <a:rPr lang="en-US" altLang="zh-CN" b="1" dirty="0"/>
              <a:t>( </a:t>
            </a:r>
            <a:r>
              <a:rPr lang="zh-CN" altLang="en-US" b="1" dirty="0"/>
              <a:t>厂外</a:t>
            </a:r>
            <a:r>
              <a:rPr lang="zh-CN" altLang="en-US" b="1" dirty="0" smtClean="0"/>
              <a:t>互换</a:t>
            </a:r>
            <a:r>
              <a:rPr lang="en-US" altLang="zh-CN" b="1" dirty="0" smtClean="0"/>
              <a:t>)</a:t>
            </a:r>
            <a:endParaRPr lang="en-US" altLang="zh-CN" b="1" dirty="0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611592" y="4061352"/>
            <a:ext cx="3389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内互换 </a:t>
            </a:r>
            <a:r>
              <a:rPr lang="en-US" altLang="zh-CN" b="1" dirty="0"/>
              <a:t>( </a:t>
            </a:r>
            <a:r>
              <a:rPr lang="zh-CN" altLang="en-US" b="1" dirty="0"/>
              <a:t>厂内</a:t>
            </a:r>
            <a:r>
              <a:rPr lang="zh-CN" altLang="en-US" b="1" dirty="0" smtClean="0"/>
              <a:t>互换</a:t>
            </a:r>
            <a:r>
              <a:rPr lang="en-US" altLang="zh-CN" b="1" dirty="0" smtClean="0"/>
              <a:t>)</a:t>
            </a:r>
            <a:endParaRPr lang="en-US" altLang="zh-CN" b="1" dirty="0"/>
          </a:p>
        </p:txBody>
      </p:sp>
      <p:sp>
        <p:nvSpPr>
          <p:cNvPr id="14" name="Text Box 1031"/>
          <p:cNvSpPr txBox="1">
            <a:spLocks noChangeArrowheads="1"/>
          </p:cNvSpPr>
          <p:nvPr/>
        </p:nvSpPr>
        <p:spPr bwMode="auto">
          <a:xfrm>
            <a:off x="3200376" y="1082165"/>
            <a:ext cx="1214446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CC0000"/>
                </a:solidFill>
              </a:rPr>
              <a:t> </a:t>
            </a:r>
            <a:r>
              <a:rPr lang="zh-CN" altLang="en-US" b="1" dirty="0" smtClean="0">
                <a:solidFill>
                  <a:srgbClr val="CC0000"/>
                </a:solidFill>
              </a:rPr>
              <a:t>完全</a:t>
            </a:r>
            <a:endParaRPr lang="en-US" altLang="zh-CN" b="1" dirty="0" smtClean="0">
              <a:solidFill>
                <a:srgbClr val="CC0000"/>
              </a:solidFill>
            </a:endParaRP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 dirty="0" smtClean="0">
                <a:solidFill>
                  <a:srgbClr val="CC0000"/>
                </a:solidFill>
              </a:rPr>
              <a:t> </a:t>
            </a:r>
            <a:r>
              <a:rPr lang="zh-CN" altLang="en-US" b="1" dirty="0" smtClean="0">
                <a:solidFill>
                  <a:srgbClr val="CC0000"/>
                </a:solidFill>
              </a:rPr>
              <a:t>互换</a:t>
            </a:r>
            <a:endParaRPr lang="zh-CN" altLang="en-US" b="1" dirty="0">
              <a:solidFill>
                <a:srgbClr val="CC0000"/>
              </a:solidFill>
            </a:endParaRPr>
          </a:p>
        </p:txBody>
      </p:sp>
      <p:sp>
        <p:nvSpPr>
          <p:cNvPr id="15" name="Text Box 1032"/>
          <p:cNvSpPr txBox="1">
            <a:spLocks noChangeArrowheads="1"/>
          </p:cNvSpPr>
          <p:nvPr/>
        </p:nvSpPr>
        <p:spPr bwMode="auto">
          <a:xfrm>
            <a:off x="3143240" y="2366272"/>
            <a:ext cx="2057400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</a:rPr>
              <a:t>不完全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</a:rPr>
              <a:t>  互换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3372" y="1232288"/>
            <a:ext cx="2000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（绝对互换）</a:t>
            </a:r>
            <a:endParaRPr lang="zh-CN" alt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286248" y="2464593"/>
            <a:ext cx="2000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（有限互换）</a:t>
            </a:r>
            <a:endParaRPr lang="zh-CN" alt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357950" y="1125131"/>
            <a:ext cx="2428892" cy="83099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不需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选择、辅助加工、修配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7950" y="2323552"/>
            <a:ext cx="2143140" cy="83099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实际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零件分组，仅组内可互换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18</a:t>
            </a:fld>
            <a:endParaRPr lang="en-US" altLang="ja-JP"/>
          </a:p>
        </p:txBody>
      </p:sp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2555776" y="71420"/>
            <a:ext cx="460851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800" dirty="0"/>
              <a:t>  </a:t>
            </a:r>
            <a:r>
              <a:rPr lang="zh-CN" altLang="en-US" sz="2800" b="1" dirty="0" smtClean="0"/>
              <a:t>滚动轴承</a:t>
            </a:r>
            <a:r>
              <a:rPr lang="en-US" altLang="zh-CN" sz="2800" b="1" dirty="0" smtClean="0"/>
              <a:t>—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标准</a:t>
            </a:r>
            <a:r>
              <a:rPr lang="zh-CN" altLang="en-US" sz="2800" b="1" dirty="0">
                <a:solidFill>
                  <a:srgbClr val="FF3300"/>
                </a:solidFill>
              </a:rPr>
              <a:t>部件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432" y="1249157"/>
            <a:ext cx="28083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 smtClean="0"/>
              <a:t>外互换：</a:t>
            </a:r>
            <a:endParaRPr lang="en-US" altLang="zh-CN" sz="2800" b="1" dirty="0" smtClean="0"/>
          </a:p>
          <a:p>
            <a:pPr algn="l"/>
            <a:r>
              <a:rPr lang="zh-CN" altLang="en-US" sz="2800" b="1" dirty="0" smtClean="0">
                <a:solidFill>
                  <a:srgbClr val="FF0000"/>
                </a:solidFill>
              </a:rPr>
              <a:t>内圈与轴，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algn="l"/>
            <a:r>
              <a:rPr lang="zh-CN" altLang="en-US" sz="2800" b="1" dirty="0" smtClean="0">
                <a:solidFill>
                  <a:srgbClr val="FF0000"/>
                </a:solidFill>
              </a:rPr>
              <a:t>外圈与孔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endParaRPr lang="en-US" altLang="zh-CN" sz="2800" b="1" dirty="0" smtClean="0"/>
          </a:p>
          <a:p>
            <a:endParaRPr lang="en-US" altLang="zh-CN" sz="2800" b="1" dirty="0" smtClean="0"/>
          </a:p>
          <a:p>
            <a:pPr algn="l"/>
            <a:r>
              <a:rPr lang="zh-CN" altLang="en-US" sz="2800" b="1" dirty="0" smtClean="0"/>
              <a:t>内互换：</a:t>
            </a:r>
            <a:endParaRPr lang="en-US" altLang="zh-CN" sz="2800" b="1" dirty="0" smtClean="0"/>
          </a:p>
          <a:p>
            <a:pPr algn="l"/>
            <a:r>
              <a:rPr lang="zh-CN" altLang="en-US" sz="2800" b="1" dirty="0" smtClean="0">
                <a:solidFill>
                  <a:srgbClr val="FF0000"/>
                </a:solidFill>
              </a:rPr>
              <a:t>内外圈与滚动体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857620" y="843558"/>
            <a:ext cx="4286280" cy="3911231"/>
            <a:chOff x="3648052" y="1166354"/>
            <a:chExt cx="4995914" cy="5214974"/>
          </a:xfrm>
        </p:grpSpPr>
        <p:grpSp>
          <p:nvGrpSpPr>
            <p:cNvPr id="7" name="组合 3"/>
            <p:cNvGrpSpPr/>
            <p:nvPr/>
          </p:nvGrpSpPr>
          <p:grpSpPr bwMode="auto">
            <a:xfrm>
              <a:off x="3648052" y="1166354"/>
              <a:ext cx="4995914" cy="5214974"/>
              <a:chOff x="2819400" y="1600200"/>
              <a:chExt cx="4549775" cy="4772025"/>
            </a:xfrm>
          </p:grpSpPr>
          <p:grpSp>
            <p:nvGrpSpPr>
              <p:cNvPr id="8" name="Group 29"/>
              <p:cNvGrpSpPr/>
              <p:nvPr/>
            </p:nvGrpSpPr>
            <p:grpSpPr bwMode="auto">
              <a:xfrm>
                <a:off x="2819400" y="1600200"/>
                <a:ext cx="4549775" cy="4772025"/>
                <a:chOff x="1750" y="1024"/>
                <a:chExt cx="2866" cy="3006"/>
              </a:xfrm>
            </p:grpSpPr>
            <p:pic>
              <p:nvPicPr>
                <p:cNvPr id="11" name="Picture 30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50" y="1024"/>
                  <a:ext cx="2400" cy="30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" name="Line 15"/>
                <p:cNvSpPr>
                  <a:spLocks noChangeShapeType="1"/>
                </p:cNvSpPr>
                <p:nvPr/>
              </p:nvSpPr>
              <p:spPr bwMode="auto">
                <a:xfrm>
                  <a:off x="3125" y="1538"/>
                  <a:ext cx="1491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16"/>
                <p:cNvSpPr>
                  <a:spLocks noChangeShapeType="1"/>
                </p:cNvSpPr>
                <p:nvPr/>
              </p:nvSpPr>
              <p:spPr bwMode="auto">
                <a:xfrm>
                  <a:off x="3125" y="3513"/>
                  <a:ext cx="1491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17"/>
                <p:cNvSpPr>
                  <a:spLocks noChangeShapeType="1"/>
                </p:cNvSpPr>
                <p:nvPr/>
              </p:nvSpPr>
              <p:spPr bwMode="auto">
                <a:xfrm>
                  <a:off x="4504" y="1538"/>
                  <a:ext cx="0" cy="1975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Line 18"/>
                <p:cNvSpPr>
                  <a:spLocks noChangeShapeType="1"/>
                </p:cNvSpPr>
                <p:nvPr/>
              </p:nvSpPr>
              <p:spPr bwMode="auto">
                <a:xfrm>
                  <a:off x="3119" y="3215"/>
                  <a:ext cx="1118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Line 19"/>
                <p:cNvSpPr>
                  <a:spLocks noChangeShapeType="1"/>
                </p:cNvSpPr>
                <p:nvPr/>
              </p:nvSpPr>
              <p:spPr bwMode="auto">
                <a:xfrm>
                  <a:off x="3125" y="1799"/>
                  <a:ext cx="1118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20"/>
                <p:cNvSpPr>
                  <a:spLocks noChangeShapeType="1"/>
                </p:cNvSpPr>
                <p:nvPr/>
              </p:nvSpPr>
              <p:spPr bwMode="auto">
                <a:xfrm>
                  <a:off x="4169" y="1799"/>
                  <a:ext cx="0" cy="1416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" name="TextBox 1"/>
              <p:cNvSpPr txBox="1">
                <a:spLocks noChangeArrowheads="1"/>
              </p:cNvSpPr>
              <p:nvPr/>
            </p:nvSpPr>
            <p:spPr bwMode="auto">
              <a:xfrm rot="16200000" flipH="1">
                <a:off x="6489344" y="3614401"/>
                <a:ext cx="947458" cy="4388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 dirty="0">
                    <a:solidFill>
                      <a:srgbClr val="FF0000"/>
                    </a:solidFill>
                  </a:rPr>
                  <a:t>D</a:t>
                </a:r>
                <a:r>
                  <a:rPr lang="en-US" altLang="zh-CN" b="1" i="1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′</a:t>
                </a:r>
                <a:endParaRPr lang="zh-CN" altLang="en-US" b="1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TextBox 20"/>
              <p:cNvSpPr txBox="1">
                <a:spLocks noChangeArrowheads="1"/>
              </p:cNvSpPr>
              <p:nvPr/>
            </p:nvSpPr>
            <p:spPr bwMode="auto">
              <a:xfrm rot="16200000" flipH="1">
                <a:off x="5898088" y="3744243"/>
                <a:ext cx="806545" cy="420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 i="1">
                    <a:solidFill>
                      <a:srgbClr val="FF0000"/>
                    </a:solidFill>
                  </a:rPr>
                  <a:t>d</a:t>
                </a:r>
                <a:r>
                  <a:rPr lang="en-US" altLang="zh-CN" b="1" i="1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′</a:t>
                </a:r>
                <a:endParaRPr lang="zh-CN" altLang="en-US" b="1" i="1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20" name="直接连接符 19"/>
            <p:cNvCxnSpPr/>
            <p:nvPr/>
          </p:nvCxnSpPr>
          <p:spPr>
            <a:xfrm flipH="1" flipV="1">
              <a:off x="5436096" y="5229200"/>
              <a:ext cx="648072" cy="4320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19</a:t>
            </a:fld>
            <a:endParaRPr lang="en-US" altLang="ja-JP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7544" y="142858"/>
            <a:ext cx="6553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 smtClean="0"/>
              <a:t>1.4   </a:t>
            </a:r>
            <a:r>
              <a:rPr lang="zh-CN" altLang="en-US" sz="2800" b="1" dirty="0"/>
              <a:t>互换性在机械制造中的作用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357925" y="1000114"/>
            <a:ext cx="936000" cy="837593"/>
            <a:chOff x="4427568" y="1080577"/>
            <a:chExt cx="936000" cy="936000"/>
          </a:xfrm>
        </p:grpSpPr>
        <p:sp>
          <p:nvSpPr>
            <p:cNvPr id="14" name="MH_Other_10"/>
            <p:cNvSpPr/>
            <p:nvPr>
              <p:custDataLst>
                <p:tags r:id="rId11"/>
              </p:custDataLst>
            </p:nvPr>
          </p:nvSpPr>
          <p:spPr>
            <a:xfrm>
              <a:off x="4427568" y="1080577"/>
              <a:ext cx="936000" cy="936000"/>
            </a:xfrm>
            <a:prstGeom prst="donut">
              <a:avLst>
                <a:gd name="adj" fmla="val 9894"/>
              </a:avLst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  <a:tileRect/>
            </a:gradFill>
            <a:ln w="12700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152400" dist="127000" dir="8100000" algn="tr" rotWithShape="0">
                <a:prstClr val="black">
                  <a:alpha val="3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48"/>
            <p:cNvGrpSpPr/>
            <p:nvPr/>
          </p:nvGrpSpPr>
          <p:grpSpPr>
            <a:xfrm>
              <a:off x="4600269" y="1273948"/>
              <a:ext cx="590599" cy="590599"/>
              <a:chOff x="1117184" y="1303577"/>
              <a:chExt cx="720000" cy="720000"/>
            </a:xfrm>
          </p:grpSpPr>
          <p:sp>
            <p:nvSpPr>
              <p:cNvPr id="16" name="MH_Title_1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17184" y="1303577"/>
                <a:ext cx="720000" cy="720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/>
                <a:endParaRPr lang="en-US" altLang="zh-CN" sz="2700" dirty="0">
                  <a:cs typeface="+mn-ea"/>
                  <a:sym typeface="+mn-lt"/>
                </a:endParaRPr>
              </a:p>
            </p:txBody>
          </p:sp>
          <p:sp>
            <p:nvSpPr>
              <p:cNvPr id="17" name="KSO_Shape"/>
              <p:cNvSpPr/>
              <p:nvPr/>
            </p:nvSpPr>
            <p:spPr bwMode="auto">
              <a:xfrm>
                <a:off x="1246586" y="1470899"/>
                <a:ext cx="461198" cy="385869"/>
              </a:xfrm>
              <a:custGeom>
                <a:avLst/>
                <a:gdLst>
                  <a:gd name="T0" fmla="*/ 259606 w 2301875"/>
                  <a:gd name="T1" fmla="*/ 991831 h 1924050"/>
                  <a:gd name="T2" fmla="*/ 363395 w 2301875"/>
                  <a:gd name="T3" fmla="*/ 1088396 h 1924050"/>
                  <a:gd name="T4" fmla="*/ 373906 w 2301875"/>
                  <a:gd name="T5" fmla="*/ 1217851 h 1924050"/>
                  <a:gd name="T6" fmla="*/ 363658 w 2301875"/>
                  <a:gd name="T7" fmla="*/ 1442819 h 1924050"/>
                  <a:gd name="T8" fmla="*/ 588842 w 2301875"/>
                  <a:gd name="T9" fmla="*/ 1484918 h 1924050"/>
                  <a:gd name="T10" fmla="*/ 0 w 2301875"/>
                  <a:gd name="T11" fmla="*/ 1127338 h 1924050"/>
                  <a:gd name="T12" fmla="*/ 34684 w 2301875"/>
                  <a:gd name="T13" fmla="*/ 1006829 h 1924050"/>
                  <a:gd name="T14" fmla="*/ 1779087 w 2301875"/>
                  <a:gd name="T15" fmla="*/ 956047 h 1924050"/>
                  <a:gd name="T16" fmla="*/ 1870302 w 2301875"/>
                  <a:gd name="T17" fmla="*/ 1005757 h 1924050"/>
                  <a:gd name="T18" fmla="*/ 1905000 w 2301875"/>
                  <a:gd name="T19" fmla="*/ 1126216 h 1924050"/>
                  <a:gd name="T20" fmla="*/ 1316177 w 2301875"/>
                  <a:gd name="T21" fmla="*/ 1483912 h 1924050"/>
                  <a:gd name="T22" fmla="*/ 1541455 w 2301875"/>
                  <a:gd name="T23" fmla="*/ 1441567 h 1924050"/>
                  <a:gd name="T24" fmla="*/ 1531202 w 2301875"/>
                  <a:gd name="T25" fmla="*/ 1216429 h 1924050"/>
                  <a:gd name="T26" fmla="*/ 1541455 w 2301875"/>
                  <a:gd name="T27" fmla="*/ 1087027 h 1924050"/>
                  <a:gd name="T28" fmla="*/ 1645025 w 2301875"/>
                  <a:gd name="T29" fmla="*/ 990765 h 1924050"/>
                  <a:gd name="T30" fmla="*/ 952237 w 2301875"/>
                  <a:gd name="T31" fmla="*/ 799555 h 1924050"/>
                  <a:gd name="T32" fmla="*/ 1296630 w 2301875"/>
                  <a:gd name="T33" fmla="*/ 1376794 h 1924050"/>
                  <a:gd name="T34" fmla="*/ 1192524 w 2301875"/>
                  <a:gd name="T35" fmla="*/ 1453355 h 1924050"/>
                  <a:gd name="T36" fmla="*/ 952237 w 2301875"/>
                  <a:gd name="T37" fmla="*/ 1593850 h 1924050"/>
                  <a:gd name="T38" fmla="*/ 712476 w 2301875"/>
                  <a:gd name="T39" fmla="*/ 1453355 h 1924050"/>
                  <a:gd name="T40" fmla="*/ 608370 w 2301875"/>
                  <a:gd name="T41" fmla="*/ 1376794 h 1924050"/>
                  <a:gd name="T42" fmla="*/ 166316 w 2301875"/>
                  <a:gd name="T43" fmla="*/ 478681 h 1924050"/>
                  <a:gd name="T44" fmla="*/ 263684 w 2301875"/>
                  <a:gd name="T45" fmla="*/ 507331 h 1924050"/>
                  <a:gd name="T46" fmla="*/ 328157 w 2301875"/>
                  <a:gd name="T47" fmla="*/ 612732 h 1924050"/>
                  <a:gd name="T48" fmla="*/ 345262 w 2301875"/>
                  <a:gd name="T49" fmla="*/ 794094 h 1924050"/>
                  <a:gd name="T50" fmla="*/ 277368 w 2301875"/>
                  <a:gd name="T51" fmla="*/ 873209 h 1924050"/>
                  <a:gd name="T52" fmla="*/ 151316 w 2301875"/>
                  <a:gd name="T53" fmla="*/ 883986 h 1924050"/>
                  <a:gd name="T54" fmla="*/ 54473 w 2301875"/>
                  <a:gd name="T55" fmla="*/ 812493 h 1924050"/>
                  <a:gd name="T56" fmla="*/ 263 w 2301875"/>
                  <a:gd name="T57" fmla="*/ 680019 h 1924050"/>
                  <a:gd name="T58" fmla="*/ 36316 w 2301875"/>
                  <a:gd name="T59" fmla="*/ 545180 h 1924050"/>
                  <a:gd name="T60" fmla="*/ 119737 w 2301875"/>
                  <a:gd name="T61" fmla="*/ 485514 h 1924050"/>
                  <a:gd name="T62" fmla="*/ 1779115 w 2301875"/>
                  <a:gd name="T63" fmla="*/ 482627 h 1924050"/>
                  <a:gd name="T64" fmla="*/ 1863390 w 2301875"/>
                  <a:gd name="T65" fmla="*/ 536018 h 1924050"/>
                  <a:gd name="T66" fmla="*/ 1905000 w 2301875"/>
                  <a:gd name="T67" fmla="*/ 668575 h 1924050"/>
                  <a:gd name="T68" fmla="*/ 1856016 w 2301875"/>
                  <a:gd name="T69" fmla="*/ 804553 h 1924050"/>
                  <a:gd name="T70" fmla="*/ 1759890 w 2301875"/>
                  <a:gd name="T71" fmla="*/ 880564 h 1924050"/>
                  <a:gd name="T72" fmla="*/ 1635059 w 2301875"/>
                  <a:gd name="T73" fmla="*/ 875303 h 1924050"/>
                  <a:gd name="T74" fmla="*/ 1560529 w 2301875"/>
                  <a:gd name="T75" fmla="*/ 797188 h 1924050"/>
                  <a:gd name="T76" fmla="*/ 1573433 w 2301875"/>
                  <a:gd name="T77" fmla="*/ 623337 h 1924050"/>
                  <a:gd name="T78" fmla="*/ 1636375 w 2301875"/>
                  <a:gd name="T79" fmla="*/ 509454 h 1924050"/>
                  <a:gd name="T80" fmla="*/ 830317 w 2301875"/>
                  <a:gd name="T81" fmla="*/ 406353 h 1924050"/>
                  <a:gd name="T82" fmla="*/ 922020 w 2301875"/>
                  <a:gd name="T83" fmla="*/ 522867 h 1924050"/>
                  <a:gd name="T84" fmla="*/ 921232 w 2301875"/>
                  <a:gd name="T85" fmla="*/ 461848 h 1924050"/>
                  <a:gd name="T86" fmla="*/ 944091 w 2301875"/>
                  <a:gd name="T87" fmla="*/ 436599 h 1924050"/>
                  <a:gd name="T88" fmla="*/ 997694 w 2301875"/>
                  <a:gd name="T89" fmla="*/ 454747 h 1924050"/>
                  <a:gd name="T90" fmla="*/ 986658 w 2301875"/>
                  <a:gd name="T91" fmla="*/ 501037 h 1924050"/>
                  <a:gd name="T92" fmla="*/ 1055239 w 2301875"/>
                  <a:gd name="T93" fmla="*/ 469476 h 1924050"/>
                  <a:gd name="T94" fmla="*/ 1194763 w 2301875"/>
                  <a:gd name="T95" fmla="*/ 458430 h 1924050"/>
                  <a:gd name="T96" fmla="*/ 669247 w 2301875"/>
                  <a:gd name="T97" fmla="*/ 500774 h 1924050"/>
                  <a:gd name="T98" fmla="*/ 776189 w 2301875"/>
                  <a:gd name="T99" fmla="*/ 423712 h 1924050"/>
                  <a:gd name="T100" fmla="*/ 1013359 w 2301875"/>
                  <a:gd name="T101" fmla="*/ 13659 h 1924050"/>
                  <a:gd name="T102" fmla="*/ 1091793 w 2301875"/>
                  <a:gd name="T103" fmla="*/ 105070 h 1924050"/>
                  <a:gd name="T104" fmla="*/ 1109106 w 2301875"/>
                  <a:gd name="T105" fmla="*/ 189913 h 1924050"/>
                  <a:gd name="T106" fmla="*/ 1087072 w 2301875"/>
                  <a:gd name="T107" fmla="*/ 268453 h 1924050"/>
                  <a:gd name="T108" fmla="*/ 1014671 w 2301875"/>
                  <a:gd name="T109" fmla="*/ 381929 h 1924050"/>
                  <a:gd name="T110" fmla="*/ 937812 w 2301875"/>
                  <a:gd name="T111" fmla="*/ 408459 h 1924050"/>
                  <a:gd name="T112" fmla="*/ 863575 w 2301875"/>
                  <a:gd name="T113" fmla="*/ 352772 h 1924050"/>
                  <a:gd name="T114" fmla="*/ 804290 w 2301875"/>
                  <a:gd name="T115" fmla="*/ 246914 h 1924050"/>
                  <a:gd name="T116" fmla="*/ 802979 w 2301875"/>
                  <a:gd name="T117" fmla="*/ 161282 h 1924050"/>
                  <a:gd name="T118" fmla="*/ 855443 w 2301875"/>
                  <a:gd name="T119" fmla="*/ 38087 h 192405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301875" h="1924050">
                    <a:moveTo>
                      <a:pt x="143828" y="1155700"/>
                    </a:moveTo>
                    <a:lnTo>
                      <a:pt x="152400" y="1155700"/>
                    </a:lnTo>
                    <a:lnTo>
                      <a:pt x="160973" y="1155700"/>
                    </a:lnTo>
                    <a:lnTo>
                      <a:pt x="170815" y="1156336"/>
                    </a:lnTo>
                    <a:lnTo>
                      <a:pt x="180658" y="1157288"/>
                    </a:lnTo>
                    <a:lnTo>
                      <a:pt x="191453" y="1158877"/>
                    </a:lnTo>
                    <a:lnTo>
                      <a:pt x="202883" y="1160782"/>
                    </a:lnTo>
                    <a:lnTo>
                      <a:pt x="214313" y="1163006"/>
                    </a:lnTo>
                    <a:lnTo>
                      <a:pt x="226060" y="1165547"/>
                    </a:lnTo>
                    <a:lnTo>
                      <a:pt x="238125" y="1168723"/>
                    </a:lnTo>
                    <a:lnTo>
                      <a:pt x="250825" y="1172535"/>
                    </a:lnTo>
                    <a:lnTo>
                      <a:pt x="263208" y="1176664"/>
                    </a:lnTo>
                    <a:lnTo>
                      <a:pt x="275908" y="1181111"/>
                    </a:lnTo>
                    <a:lnTo>
                      <a:pt x="288608" y="1185875"/>
                    </a:lnTo>
                    <a:lnTo>
                      <a:pt x="301308" y="1191275"/>
                    </a:lnTo>
                    <a:lnTo>
                      <a:pt x="313690" y="1197310"/>
                    </a:lnTo>
                    <a:lnTo>
                      <a:pt x="326390" y="1203980"/>
                    </a:lnTo>
                    <a:lnTo>
                      <a:pt x="338455" y="1210650"/>
                    </a:lnTo>
                    <a:lnTo>
                      <a:pt x="350520" y="1217956"/>
                    </a:lnTo>
                    <a:lnTo>
                      <a:pt x="361950" y="1225897"/>
                    </a:lnTo>
                    <a:lnTo>
                      <a:pt x="373380" y="1234155"/>
                    </a:lnTo>
                    <a:lnTo>
                      <a:pt x="384175" y="1243049"/>
                    </a:lnTo>
                    <a:lnTo>
                      <a:pt x="394653" y="1252578"/>
                    </a:lnTo>
                    <a:lnTo>
                      <a:pt x="404495" y="1262424"/>
                    </a:lnTo>
                    <a:lnTo>
                      <a:pt x="413385" y="1272906"/>
                    </a:lnTo>
                    <a:lnTo>
                      <a:pt x="417830" y="1278306"/>
                    </a:lnTo>
                    <a:lnTo>
                      <a:pt x="421958" y="1284023"/>
                    </a:lnTo>
                    <a:lnTo>
                      <a:pt x="425768" y="1289423"/>
                    </a:lnTo>
                    <a:lnTo>
                      <a:pt x="429578" y="1295458"/>
                    </a:lnTo>
                    <a:lnTo>
                      <a:pt x="432753" y="1301175"/>
                    </a:lnTo>
                    <a:lnTo>
                      <a:pt x="436245" y="1307528"/>
                    </a:lnTo>
                    <a:lnTo>
                      <a:pt x="439102" y="1313881"/>
                    </a:lnTo>
                    <a:lnTo>
                      <a:pt x="441960" y="1320233"/>
                    </a:lnTo>
                    <a:lnTo>
                      <a:pt x="444818" y="1326268"/>
                    </a:lnTo>
                    <a:lnTo>
                      <a:pt x="447358" y="1332938"/>
                    </a:lnTo>
                    <a:lnTo>
                      <a:pt x="448945" y="1339926"/>
                    </a:lnTo>
                    <a:lnTo>
                      <a:pt x="451167" y="1346914"/>
                    </a:lnTo>
                    <a:lnTo>
                      <a:pt x="452755" y="1353902"/>
                    </a:lnTo>
                    <a:lnTo>
                      <a:pt x="454025" y="1360890"/>
                    </a:lnTo>
                    <a:lnTo>
                      <a:pt x="454978" y="1368513"/>
                    </a:lnTo>
                    <a:lnTo>
                      <a:pt x="455613" y="1375819"/>
                    </a:lnTo>
                    <a:lnTo>
                      <a:pt x="456565" y="1383442"/>
                    </a:lnTo>
                    <a:lnTo>
                      <a:pt x="456565" y="1391383"/>
                    </a:lnTo>
                    <a:lnTo>
                      <a:pt x="456248" y="1407264"/>
                    </a:lnTo>
                    <a:lnTo>
                      <a:pt x="455613" y="1423146"/>
                    </a:lnTo>
                    <a:lnTo>
                      <a:pt x="454660" y="1438392"/>
                    </a:lnTo>
                    <a:lnTo>
                      <a:pt x="453390" y="1454274"/>
                    </a:lnTo>
                    <a:lnTo>
                      <a:pt x="451803" y="1470155"/>
                    </a:lnTo>
                    <a:lnTo>
                      <a:pt x="449898" y="1485719"/>
                    </a:lnTo>
                    <a:lnTo>
                      <a:pt x="447675" y="1501283"/>
                    </a:lnTo>
                    <a:lnTo>
                      <a:pt x="445135" y="1516847"/>
                    </a:lnTo>
                    <a:lnTo>
                      <a:pt x="442595" y="1531776"/>
                    </a:lnTo>
                    <a:lnTo>
                      <a:pt x="439738" y="1546704"/>
                    </a:lnTo>
                    <a:lnTo>
                      <a:pt x="433705" y="1575609"/>
                    </a:lnTo>
                    <a:lnTo>
                      <a:pt x="427037" y="1603560"/>
                    </a:lnTo>
                    <a:lnTo>
                      <a:pt x="420370" y="1629288"/>
                    </a:lnTo>
                    <a:lnTo>
                      <a:pt x="413703" y="1653111"/>
                    </a:lnTo>
                    <a:lnTo>
                      <a:pt x="407035" y="1674710"/>
                    </a:lnTo>
                    <a:lnTo>
                      <a:pt x="401003" y="1693768"/>
                    </a:lnTo>
                    <a:lnTo>
                      <a:pt x="395605" y="1710284"/>
                    </a:lnTo>
                    <a:lnTo>
                      <a:pt x="387667" y="1733154"/>
                    </a:lnTo>
                    <a:lnTo>
                      <a:pt x="384175" y="1741412"/>
                    </a:lnTo>
                    <a:lnTo>
                      <a:pt x="412433" y="1741412"/>
                    </a:lnTo>
                    <a:lnTo>
                      <a:pt x="439420" y="1741730"/>
                    </a:lnTo>
                    <a:lnTo>
                      <a:pt x="464820" y="1742365"/>
                    </a:lnTo>
                    <a:lnTo>
                      <a:pt x="489268" y="1743636"/>
                    </a:lnTo>
                    <a:lnTo>
                      <a:pt x="512128" y="1745224"/>
                    </a:lnTo>
                    <a:lnTo>
                      <a:pt x="534353" y="1746494"/>
                    </a:lnTo>
                    <a:lnTo>
                      <a:pt x="554990" y="1748400"/>
                    </a:lnTo>
                    <a:lnTo>
                      <a:pt x="574040" y="1750624"/>
                    </a:lnTo>
                    <a:lnTo>
                      <a:pt x="592455" y="1753165"/>
                    </a:lnTo>
                    <a:lnTo>
                      <a:pt x="609918" y="1756023"/>
                    </a:lnTo>
                    <a:lnTo>
                      <a:pt x="626110" y="1759517"/>
                    </a:lnTo>
                    <a:lnTo>
                      <a:pt x="641033" y="1763011"/>
                    </a:lnTo>
                    <a:lnTo>
                      <a:pt x="655320" y="1767140"/>
                    </a:lnTo>
                    <a:lnTo>
                      <a:pt x="668338" y="1771270"/>
                    </a:lnTo>
                    <a:lnTo>
                      <a:pt x="680720" y="1776034"/>
                    </a:lnTo>
                    <a:lnTo>
                      <a:pt x="691833" y="1781116"/>
                    </a:lnTo>
                    <a:lnTo>
                      <a:pt x="701993" y="1786834"/>
                    </a:lnTo>
                    <a:lnTo>
                      <a:pt x="711518" y="1792551"/>
                    </a:lnTo>
                    <a:lnTo>
                      <a:pt x="720090" y="1799221"/>
                    </a:lnTo>
                    <a:lnTo>
                      <a:pt x="727710" y="1805891"/>
                    </a:lnTo>
                    <a:lnTo>
                      <a:pt x="734695" y="1813197"/>
                    </a:lnTo>
                    <a:lnTo>
                      <a:pt x="741045" y="1821138"/>
                    </a:lnTo>
                    <a:lnTo>
                      <a:pt x="746760" y="1829078"/>
                    </a:lnTo>
                    <a:lnTo>
                      <a:pt x="751523" y="1837655"/>
                    </a:lnTo>
                    <a:lnTo>
                      <a:pt x="755968" y="1846866"/>
                    </a:lnTo>
                    <a:lnTo>
                      <a:pt x="759143" y="1856077"/>
                    </a:lnTo>
                    <a:lnTo>
                      <a:pt x="762000" y="1866559"/>
                    </a:lnTo>
                    <a:lnTo>
                      <a:pt x="764223" y="1876723"/>
                    </a:lnTo>
                    <a:lnTo>
                      <a:pt x="766128" y="1887840"/>
                    </a:lnTo>
                    <a:lnTo>
                      <a:pt x="767398" y="1899275"/>
                    </a:lnTo>
                    <a:lnTo>
                      <a:pt x="768033" y="1911345"/>
                    </a:lnTo>
                    <a:lnTo>
                      <a:pt x="768350" y="1924050"/>
                    </a:lnTo>
                    <a:lnTo>
                      <a:pt x="0" y="1924050"/>
                    </a:lnTo>
                    <a:lnTo>
                      <a:pt x="0" y="1360890"/>
                    </a:lnTo>
                    <a:lnTo>
                      <a:pt x="318" y="1350408"/>
                    </a:lnTo>
                    <a:lnTo>
                      <a:pt x="635" y="1339609"/>
                    </a:lnTo>
                    <a:lnTo>
                      <a:pt x="1905" y="1329445"/>
                    </a:lnTo>
                    <a:lnTo>
                      <a:pt x="2858" y="1319280"/>
                    </a:lnTo>
                    <a:lnTo>
                      <a:pt x="4445" y="1309434"/>
                    </a:lnTo>
                    <a:lnTo>
                      <a:pt x="6350" y="1299587"/>
                    </a:lnTo>
                    <a:lnTo>
                      <a:pt x="8573" y="1289741"/>
                    </a:lnTo>
                    <a:lnTo>
                      <a:pt x="11113" y="1280529"/>
                    </a:lnTo>
                    <a:lnTo>
                      <a:pt x="13970" y="1271318"/>
                    </a:lnTo>
                    <a:lnTo>
                      <a:pt x="16828" y="1262424"/>
                    </a:lnTo>
                    <a:lnTo>
                      <a:pt x="20638" y="1254166"/>
                    </a:lnTo>
                    <a:lnTo>
                      <a:pt x="24448" y="1245590"/>
                    </a:lnTo>
                    <a:lnTo>
                      <a:pt x="28258" y="1237967"/>
                    </a:lnTo>
                    <a:lnTo>
                      <a:pt x="32385" y="1230026"/>
                    </a:lnTo>
                    <a:lnTo>
                      <a:pt x="37148" y="1222403"/>
                    </a:lnTo>
                    <a:lnTo>
                      <a:pt x="41910" y="1215415"/>
                    </a:lnTo>
                    <a:lnTo>
                      <a:pt x="47308" y="1208745"/>
                    </a:lnTo>
                    <a:lnTo>
                      <a:pt x="52388" y="1202074"/>
                    </a:lnTo>
                    <a:lnTo>
                      <a:pt x="58103" y="1196039"/>
                    </a:lnTo>
                    <a:lnTo>
                      <a:pt x="64135" y="1190322"/>
                    </a:lnTo>
                    <a:lnTo>
                      <a:pt x="70168" y="1185240"/>
                    </a:lnTo>
                    <a:lnTo>
                      <a:pt x="76835" y="1180158"/>
                    </a:lnTo>
                    <a:lnTo>
                      <a:pt x="83185" y="1175393"/>
                    </a:lnTo>
                    <a:lnTo>
                      <a:pt x="89853" y="1171582"/>
                    </a:lnTo>
                    <a:lnTo>
                      <a:pt x="96838" y="1167770"/>
                    </a:lnTo>
                    <a:lnTo>
                      <a:pt x="104458" y="1164912"/>
                    </a:lnTo>
                    <a:lnTo>
                      <a:pt x="111760" y="1161735"/>
                    </a:lnTo>
                    <a:lnTo>
                      <a:pt x="119380" y="1159512"/>
                    </a:lnTo>
                    <a:lnTo>
                      <a:pt x="127635" y="1157924"/>
                    </a:lnTo>
                    <a:lnTo>
                      <a:pt x="135255" y="1156653"/>
                    </a:lnTo>
                    <a:lnTo>
                      <a:pt x="143828" y="1155700"/>
                    </a:lnTo>
                    <a:close/>
                    <a:moveTo>
                      <a:pt x="2149730" y="1154113"/>
                    </a:moveTo>
                    <a:lnTo>
                      <a:pt x="2158306" y="1154431"/>
                    </a:lnTo>
                    <a:lnTo>
                      <a:pt x="2166564" y="1155066"/>
                    </a:lnTo>
                    <a:lnTo>
                      <a:pt x="2174505" y="1156653"/>
                    </a:lnTo>
                    <a:lnTo>
                      <a:pt x="2182763" y="1158558"/>
                    </a:lnTo>
                    <a:lnTo>
                      <a:pt x="2190069" y="1160781"/>
                    </a:lnTo>
                    <a:lnTo>
                      <a:pt x="2197692" y="1163321"/>
                    </a:lnTo>
                    <a:lnTo>
                      <a:pt x="2204680" y="1166496"/>
                    </a:lnTo>
                    <a:lnTo>
                      <a:pt x="2212303" y="1170306"/>
                    </a:lnTo>
                    <a:lnTo>
                      <a:pt x="2218656" y="1174433"/>
                    </a:lnTo>
                    <a:lnTo>
                      <a:pt x="2225326" y="1178878"/>
                    </a:lnTo>
                    <a:lnTo>
                      <a:pt x="2231679" y="1183958"/>
                    </a:lnTo>
                    <a:lnTo>
                      <a:pt x="2238031" y="1189038"/>
                    </a:lnTo>
                    <a:lnTo>
                      <a:pt x="2243749" y="1195071"/>
                    </a:lnTo>
                    <a:lnTo>
                      <a:pt x="2249466" y="1200786"/>
                    </a:lnTo>
                    <a:lnTo>
                      <a:pt x="2254866" y="1207136"/>
                    </a:lnTo>
                    <a:lnTo>
                      <a:pt x="2259948" y="1214121"/>
                    </a:lnTo>
                    <a:lnTo>
                      <a:pt x="2265030" y="1221106"/>
                    </a:lnTo>
                    <a:lnTo>
                      <a:pt x="2269477" y="1228408"/>
                    </a:lnTo>
                    <a:lnTo>
                      <a:pt x="2273606" y="1236346"/>
                    </a:lnTo>
                    <a:lnTo>
                      <a:pt x="2277735" y="1244283"/>
                    </a:lnTo>
                    <a:lnTo>
                      <a:pt x="2281547" y="1252856"/>
                    </a:lnTo>
                    <a:lnTo>
                      <a:pt x="2284723" y="1261428"/>
                    </a:lnTo>
                    <a:lnTo>
                      <a:pt x="2288217" y="1270318"/>
                    </a:lnTo>
                    <a:lnTo>
                      <a:pt x="2291076" y="1279526"/>
                    </a:lnTo>
                    <a:lnTo>
                      <a:pt x="2293299" y="1288733"/>
                    </a:lnTo>
                    <a:lnTo>
                      <a:pt x="2295523" y="1298258"/>
                    </a:lnTo>
                    <a:lnTo>
                      <a:pt x="2297428" y="1307783"/>
                    </a:lnTo>
                    <a:lnTo>
                      <a:pt x="2299334" y="1317626"/>
                    </a:lnTo>
                    <a:lnTo>
                      <a:pt x="2300287" y="1328103"/>
                    </a:lnTo>
                    <a:lnTo>
                      <a:pt x="2300922" y="1338263"/>
                    </a:lnTo>
                    <a:lnTo>
                      <a:pt x="2301875" y="1348741"/>
                    </a:lnTo>
                    <a:lnTo>
                      <a:pt x="2301875" y="1359536"/>
                    </a:lnTo>
                    <a:lnTo>
                      <a:pt x="2301875" y="1922463"/>
                    </a:lnTo>
                    <a:lnTo>
                      <a:pt x="1533525" y="1922463"/>
                    </a:lnTo>
                    <a:lnTo>
                      <a:pt x="1533843" y="1910081"/>
                    </a:lnTo>
                    <a:lnTo>
                      <a:pt x="1534160" y="1897698"/>
                    </a:lnTo>
                    <a:lnTo>
                      <a:pt x="1535748" y="1886268"/>
                    </a:lnTo>
                    <a:lnTo>
                      <a:pt x="1537019" y="1875473"/>
                    </a:lnTo>
                    <a:lnTo>
                      <a:pt x="1539560" y="1864678"/>
                    </a:lnTo>
                    <a:lnTo>
                      <a:pt x="1542736" y="1854518"/>
                    </a:lnTo>
                    <a:lnTo>
                      <a:pt x="1545913" y="1844993"/>
                    </a:lnTo>
                    <a:lnTo>
                      <a:pt x="1550042" y="1836103"/>
                    </a:lnTo>
                    <a:lnTo>
                      <a:pt x="1554806" y="1827531"/>
                    </a:lnTo>
                    <a:lnTo>
                      <a:pt x="1560524" y="1819276"/>
                    </a:lnTo>
                    <a:lnTo>
                      <a:pt x="1566559" y="1811973"/>
                    </a:lnTo>
                    <a:lnTo>
                      <a:pt x="1573547" y="1804671"/>
                    </a:lnTo>
                    <a:lnTo>
                      <a:pt x="1581487" y="1798003"/>
                    </a:lnTo>
                    <a:lnTo>
                      <a:pt x="1590381" y="1791336"/>
                    </a:lnTo>
                    <a:lnTo>
                      <a:pt x="1599592" y="1785303"/>
                    </a:lnTo>
                    <a:lnTo>
                      <a:pt x="1610074" y="1779906"/>
                    </a:lnTo>
                    <a:lnTo>
                      <a:pt x="1621191" y="1774508"/>
                    </a:lnTo>
                    <a:lnTo>
                      <a:pt x="1633261" y="1769746"/>
                    </a:lnTo>
                    <a:lnTo>
                      <a:pt x="1646602" y="1765301"/>
                    </a:lnTo>
                    <a:lnTo>
                      <a:pt x="1660578" y="1761491"/>
                    </a:lnTo>
                    <a:lnTo>
                      <a:pt x="1675824" y="1757998"/>
                    </a:lnTo>
                    <a:lnTo>
                      <a:pt x="1692023" y="1754823"/>
                    </a:lnTo>
                    <a:lnTo>
                      <a:pt x="1709493" y="1751648"/>
                    </a:lnTo>
                    <a:lnTo>
                      <a:pt x="1727598" y="1749108"/>
                    </a:lnTo>
                    <a:lnTo>
                      <a:pt x="1746973" y="1746886"/>
                    </a:lnTo>
                    <a:lnTo>
                      <a:pt x="1767619" y="1745298"/>
                    </a:lnTo>
                    <a:lnTo>
                      <a:pt x="1789853" y="1743393"/>
                    </a:lnTo>
                    <a:lnTo>
                      <a:pt x="1812723" y="1742123"/>
                    </a:lnTo>
                    <a:lnTo>
                      <a:pt x="1836863" y="1741171"/>
                    </a:lnTo>
                    <a:lnTo>
                      <a:pt x="1862591" y="1740218"/>
                    </a:lnTo>
                    <a:lnTo>
                      <a:pt x="1889272" y="1739901"/>
                    </a:lnTo>
                    <a:lnTo>
                      <a:pt x="1917859" y="1739901"/>
                    </a:lnTo>
                    <a:lnTo>
                      <a:pt x="1914365" y="1731963"/>
                    </a:lnTo>
                    <a:lnTo>
                      <a:pt x="1906424" y="1708786"/>
                    </a:lnTo>
                    <a:lnTo>
                      <a:pt x="1900707" y="1692276"/>
                    </a:lnTo>
                    <a:lnTo>
                      <a:pt x="1894989" y="1673226"/>
                    </a:lnTo>
                    <a:lnTo>
                      <a:pt x="1888319" y="1651636"/>
                    </a:lnTo>
                    <a:lnTo>
                      <a:pt x="1881649" y="1627506"/>
                    </a:lnTo>
                    <a:lnTo>
                      <a:pt x="1874661" y="1601788"/>
                    </a:lnTo>
                    <a:lnTo>
                      <a:pt x="1868308" y="1574166"/>
                    </a:lnTo>
                    <a:lnTo>
                      <a:pt x="1861956" y="1545273"/>
                    </a:lnTo>
                    <a:lnTo>
                      <a:pt x="1859097" y="1530033"/>
                    </a:lnTo>
                    <a:lnTo>
                      <a:pt x="1856556" y="1515111"/>
                    </a:lnTo>
                    <a:lnTo>
                      <a:pt x="1854333" y="1499871"/>
                    </a:lnTo>
                    <a:lnTo>
                      <a:pt x="1852109" y="1484313"/>
                    </a:lnTo>
                    <a:lnTo>
                      <a:pt x="1850203" y="1468438"/>
                    </a:lnTo>
                    <a:lnTo>
                      <a:pt x="1848298" y="1453198"/>
                    </a:lnTo>
                    <a:lnTo>
                      <a:pt x="1847027" y="1437323"/>
                    </a:lnTo>
                    <a:lnTo>
                      <a:pt x="1846392" y="1421448"/>
                    </a:lnTo>
                    <a:lnTo>
                      <a:pt x="1845439" y="1405573"/>
                    </a:lnTo>
                    <a:lnTo>
                      <a:pt x="1845439" y="1390016"/>
                    </a:lnTo>
                    <a:lnTo>
                      <a:pt x="1845439" y="1382396"/>
                    </a:lnTo>
                    <a:lnTo>
                      <a:pt x="1845757" y="1374458"/>
                    </a:lnTo>
                    <a:lnTo>
                      <a:pt x="1846709" y="1367156"/>
                    </a:lnTo>
                    <a:lnTo>
                      <a:pt x="1847662" y="1359853"/>
                    </a:lnTo>
                    <a:lnTo>
                      <a:pt x="1849251" y="1352551"/>
                    </a:lnTo>
                    <a:lnTo>
                      <a:pt x="1850521" y="1345566"/>
                    </a:lnTo>
                    <a:lnTo>
                      <a:pt x="1852427" y="1338263"/>
                    </a:lnTo>
                    <a:lnTo>
                      <a:pt x="1854650" y="1331913"/>
                    </a:lnTo>
                    <a:lnTo>
                      <a:pt x="1856874" y="1325246"/>
                    </a:lnTo>
                    <a:lnTo>
                      <a:pt x="1859732" y="1318578"/>
                    </a:lnTo>
                    <a:lnTo>
                      <a:pt x="1862591" y="1312228"/>
                    </a:lnTo>
                    <a:lnTo>
                      <a:pt x="1865767" y="1305878"/>
                    </a:lnTo>
                    <a:lnTo>
                      <a:pt x="1869261" y="1300163"/>
                    </a:lnTo>
                    <a:lnTo>
                      <a:pt x="1872438" y="1294131"/>
                    </a:lnTo>
                    <a:lnTo>
                      <a:pt x="1876249" y="1288416"/>
                    </a:lnTo>
                    <a:lnTo>
                      <a:pt x="1880061" y="1282383"/>
                    </a:lnTo>
                    <a:lnTo>
                      <a:pt x="1884190" y="1276986"/>
                    </a:lnTo>
                    <a:lnTo>
                      <a:pt x="1888637" y="1271588"/>
                    </a:lnTo>
                    <a:lnTo>
                      <a:pt x="1897531" y="1261111"/>
                    </a:lnTo>
                    <a:lnTo>
                      <a:pt x="1907377" y="1251268"/>
                    </a:lnTo>
                    <a:lnTo>
                      <a:pt x="1917859" y="1241743"/>
                    </a:lnTo>
                    <a:lnTo>
                      <a:pt x="1928341" y="1232853"/>
                    </a:lnTo>
                    <a:lnTo>
                      <a:pt x="1939458" y="1224598"/>
                    </a:lnTo>
                    <a:lnTo>
                      <a:pt x="1951210" y="1216661"/>
                    </a:lnTo>
                    <a:lnTo>
                      <a:pt x="1963280" y="1209358"/>
                    </a:lnTo>
                    <a:lnTo>
                      <a:pt x="1975668" y="1202373"/>
                    </a:lnTo>
                    <a:lnTo>
                      <a:pt x="1987738" y="1196023"/>
                    </a:lnTo>
                    <a:lnTo>
                      <a:pt x="2000761" y="1190308"/>
                    </a:lnTo>
                    <a:lnTo>
                      <a:pt x="2013466" y="1184593"/>
                    </a:lnTo>
                    <a:lnTo>
                      <a:pt x="2026171" y="1179831"/>
                    </a:lnTo>
                    <a:lnTo>
                      <a:pt x="2038876" y="1175068"/>
                    </a:lnTo>
                    <a:lnTo>
                      <a:pt x="2051264" y="1170941"/>
                    </a:lnTo>
                    <a:lnTo>
                      <a:pt x="2063969" y="1167766"/>
                    </a:lnTo>
                    <a:lnTo>
                      <a:pt x="2076039" y="1164273"/>
                    </a:lnTo>
                    <a:lnTo>
                      <a:pt x="2087792" y="1161733"/>
                    </a:lnTo>
                    <a:lnTo>
                      <a:pt x="2099226" y="1159193"/>
                    </a:lnTo>
                    <a:lnTo>
                      <a:pt x="2110344" y="1157288"/>
                    </a:lnTo>
                    <a:lnTo>
                      <a:pt x="2121143" y="1156018"/>
                    </a:lnTo>
                    <a:lnTo>
                      <a:pt x="2131307" y="1155066"/>
                    </a:lnTo>
                    <a:lnTo>
                      <a:pt x="2140836" y="1154431"/>
                    </a:lnTo>
                    <a:lnTo>
                      <a:pt x="2149730" y="1154113"/>
                    </a:lnTo>
                    <a:close/>
                    <a:moveTo>
                      <a:pt x="692229" y="965200"/>
                    </a:moveTo>
                    <a:lnTo>
                      <a:pt x="1150620" y="965200"/>
                    </a:lnTo>
                    <a:lnTo>
                      <a:pt x="1609646" y="965200"/>
                    </a:lnTo>
                    <a:lnTo>
                      <a:pt x="1762125" y="1627407"/>
                    </a:lnTo>
                    <a:lnTo>
                      <a:pt x="1757995" y="1627089"/>
                    </a:lnTo>
                    <a:lnTo>
                      <a:pt x="1745606" y="1627407"/>
                    </a:lnTo>
                    <a:lnTo>
                      <a:pt x="1727817" y="1627725"/>
                    </a:lnTo>
                    <a:lnTo>
                      <a:pt x="1716381" y="1628677"/>
                    </a:lnTo>
                    <a:lnTo>
                      <a:pt x="1703675" y="1629630"/>
                    </a:lnTo>
                    <a:lnTo>
                      <a:pt x="1690015" y="1631218"/>
                    </a:lnTo>
                    <a:lnTo>
                      <a:pt x="1675403" y="1633441"/>
                    </a:lnTo>
                    <a:lnTo>
                      <a:pt x="1660155" y="1635982"/>
                    </a:lnTo>
                    <a:lnTo>
                      <a:pt x="1643954" y="1638841"/>
                    </a:lnTo>
                    <a:lnTo>
                      <a:pt x="1627435" y="1642652"/>
                    </a:lnTo>
                    <a:lnTo>
                      <a:pt x="1610281" y="1647416"/>
                    </a:lnTo>
                    <a:lnTo>
                      <a:pt x="1593127" y="1652498"/>
                    </a:lnTo>
                    <a:lnTo>
                      <a:pt x="1575656" y="1658850"/>
                    </a:lnTo>
                    <a:lnTo>
                      <a:pt x="1566761" y="1662026"/>
                    </a:lnTo>
                    <a:lnTo>
                      <a:pt x="1557866" y="1665837"/>
                    </a:lnTo>
                    <a:lnTo>
                      <a:pt x="1549607" y="1669331"/>
                    </a:lnTo>
                    <a:lnTo>
                      <a:pt x="1540713" y="1673777"/>
                    </a:lnTo>
                    <a:lnTo>
                      <a:pt x="1532135" y="1678224"/>
                    </a:lnTo>
                    <a:lnTo>
                      <a:pt x="1523558" y="1682670"/>
                    </a:lnTo>
                    <a:lnTo>
                      <a:pt x="1515299" y="1688070"/>
                    </a:lnTo>
                    <a:lnTo>
                      <a:pt x="1507040" y="1693151"/>
                    </a:lnTo>
                    <a:lnTo>
                      <a:pt x="1499098" y="1698551"/>
                    </a:lnTo>
                    <a:lnTo>
                      <a:pt x="1490839" y="1704585"/>
                    </a:lnTo>
                    <a:lnTo>
                      <a:pt x="1483215" y="1710302"/>
                    </a:lnTo>
                    <a:lnTo>
                      <a:pt x="1475591" y="1716972"/>
                    </a:lnTo>
                    <a:lnTo>
                      <a:pt x="1467967" y="1723641"/>
                    </a:lnTo>
                    <a:lnTo>
                      <a:pt x="1460978" y="1730629"/>
                    </a:lnTo>
                    <a:lnTo>
                      <a:pt x="1453990" y="1737934"/>
                    </a:lnTo>
                    <a:lnTo>
                      <a:pt x="1447319" y="1745874"/>
                    </a:lnTo>
                    <a:lnTo>
                      <a:pt x="1440966" y="1754449"/>
                    </a:lnTo>
                    <a:lnTo>
                      <a:pt x="1434930" y="1762707"/>
                    </a:lnTo>
                    <a:lnTo>
                      <a:pt x="1428894" y="1771600"/>
                    </a:lnTo>
                    <a:lnTo>
                      <a:pt x="1423494" y="1780810"/>
                    </a:lnTo>
                    <a:lnTo>
                      <a:pt x="1418094" y="1790338"/>
                    </a:lnTo>
                    <a:lnTo>
                      <a:pt x="1413329" y="1800502"/>
                    </a:lnTo>
                    <a:lnTo>
                      <a:pt x="1408881" y="1810665"/>
                    </a:lnTo>
                    <a:lnTo>
                      <a:pt x="1405387" y="1821781"/>
                    </a:lnTo>
                    <a:lnTo>
                      <a:pt x="1401575" y="1832898"/>
                    </a:lnTo>
                    <a:lnTo>
                      <a:pt x="1398398" y="1844649"/>
                    </a:lnTo>
                    <a:lnTo>
                      <a:pt x="1395539" y="1856718"/>
                    </a:lnTo>
                    <a:lnTo>
                      <a:pt x="1392998" y="1869422"/>
                    </a:lnTo>
                    <a:lnTo>
                      <a:pt x="1391727" y="1882444"/>
                    </a:lnTo>
                    <a:lnTo>
                      <a:pt x="1390139" y="1895466"/>
                    </a:lnTo>
                    <a:lnTo>
                      <a:pt x="1389504" y="1909758"/>
                    </a:lnTo>
                    <a:lnTo>
                      <a:pt x="1389186" y="1924050"/>
                    </a:lnTo>
                    <a:lnTo>
                      <a:pt x="1150620" y="1924050"/>
                    </a:lnTo>
                    <a:lnTo>
                      <a:pt x="912689" y="1924050"/>
                    </a:lnTo>
                    <a:lnTo>
                      <a:pt x="912371" y="1909758"/>
                    </a:lnTo>
                    <a:lnTo>
                      <a:pt x="911736" y="1895466"/>
                    </a:lnTo>
                    <a:lnTo>
                      <a:pt x="910147" y="1882444"/>
                    </a:lnTo>
                    <a:lnTo>
                      <a:pt x="908877" y="1869422"/>
                    </a:lnTo>
                    <a:lnTo>
                      <a:pt x="906018" y="1856718"/>
                    </a:lnTo>
                    <a:lnTo>
                      <a:pt x="903476" y="1844649"/>
                    </a:lnTo>
                    <a:lnTo>
                      <a:pt x="900300" y="1832898"/>
                    </a:lnTo>
                    <a:lnTo>
                      <a:pt x="896488" y="1821781"/>
                    </a:lnTo>
                    <a:lnTo>
                      <a:pt x="892993" y="1810665"/>
                    </a:lnTo>
                    <a:lnTo>
                      <a:pt x="888546" y="1800502"/>
                    </a:lnTo>
                    <a:lnTo>
                      <a:pt x="883781" y="1790338"/>
                    </a:lnTo>
                    <a:lnTo>
                      <a:pt x="878381" y="1780810"/>
                    </a:lnTo>
                    <a:lnTo>
                      <a:pt x="872981" y="1771600"/>
                    </a:lnTo>
                    <a:lnTo>
                      <a:pt x="866945" y="1762707"/>
                    </a:lnTo>
                    <a:lnTo>
                      <a:pt x="860909" y="1754449"/>
                    </a:lnTo>
                    <a:lnTo>
                      <a:pt x="854556" y="1745874"/>
                    </a:lnTo>
                    <a:lnTo>
                      <a:pt x="847885" y="1737934"/>
                    </a:lnTo>
                    <a:lnTo>
                      <a:pt x="840896" y="1730629"/>
                    </a:lnTo>
                    <a:lnTo>
                      <a:pt x="833908" y="1723641"/>
                    </a:lnTo>
                    <a:lnTo>
                      <a:pt x="825966" y="1716972"/>
                    </a:lnTo>
                    <a:lnTo>
                      <a:pt x="818660" y="1710302"/>
                    </a:lnTo>
                    <a:lnTo>
                      <a:pt x="811036" y="1704585"/>
                    </a:lnTo>
                    <a:lnTo>
                      <a:pt x="802777" y="1698551"/>
                    </a:lnTo>
                    <a:lnTo>
                      <a:pt x="794835" y="1693151"/>
                    </a:lnTo>
                    <a:lnTo>
                      <a:pt x="786576" y="1688070"/>
                    </a:lnTo>
                    <a:lnTo>
                      <a:pt x="777999" y="1682670"/>
                    </a:lnTo>
                    <a:lnTo>
                      <a:pt x="769740" y="1678224"/>
                    </a:lnTo>
                    <a:lnTo>
                      <a:pt x="761163" y="1673777"/>
                    </a:lnTo>
                    <a:lnTo>
                      <a:pt x="752268" y="1669331"/>
                    </a:lnTo>
                    <a:lnTo>
                      <a:pt x="743691" y="1665837"/>
                    </a:lnTo>
                    <a:lnTo>
                      <a:pt x="735114" y="1662026"/>
                    </a:lnTo>
                    <a:lnTo>
                      <a:pt x="726537" y="1658850"/>
                    </a:lnTo>
                    <a:lnTo>
                      <a:pt x="708748" y="1652498"/>
                    </a:lnTo>
                    <a:lnTo>
                      <a:pt x="691594" y="1647416"/>
                    </a:lnTo>
                    <a:lnTo>
                      <a:pt x="674440" y="1642652"/>
                    </a:lnTo>
                    <a:lnTo>
                      <a:pt x="657921" y="1638841"/>
                    </a:lnTo>
                    <a:lnTo>
                      <a:pt x="641721" y="1635982"/>
                    </a:lnTo>
                    <a:lnTo>
                      <a:pt x="626473" y="1633441"/>
                    </a:lnTo>
                    <a:lnTo>
                      <a:pt x="611860" y="1631218"/>
                    </a:lnTo>
                    <a:lnTo>
                      <a:pt x="598200" y="1629630"/>
                    </a:lnTo>
                    <a:lnTo>
                      <a:pt x="585494" y="1628677"/>
                    </a:lnTo>
                    <a:lnTo>
                      <a:pt x="574058" y="1627725"/>
                    </a:lnTo>
                    <a:lnTo>
                      <a:pt x="555951" y="1627407"/>
                    </a:lnTo>
                    <a:lnTo>
                      <a:pt x="543880" y="1627089"/>
                    </a:lnTo>
                    <a:lnTo>
                      <a:pt x="539750" y="1627407"/>
                    </a:lnTo>
                    <a:lnTo>
                      <a:pt x="692229" y="965200"/>
                    </a:lnTo>
                    <a:close/>
                    <a:moveTo>
                      <a:pt x="200965" y="577850"/>
                    </a:moveTo>
                    <a:lnTo>
                      <a:pt x="209868" y="577850"/>
                    </a:lnTo>
                    <a:lnTo>
                      <a:pt x="218454" y="577850"/>
                    </a:lnTo>
                    <a:lnTo>
                      <a:pt x="227357" y="578802"/>
                    </a:lnTo>
                    <a:lnTo>
                      <a:pt x="235943" y="579436"/>
                    </a:lnTo>
                    <a:lnTo>
                      <a:pt x="244210" y="580705"/>
                    </a:lnTo>
                    <a:lnTo>
                      <a:pt x="251842" y="581975"/>
                    </a:lnTo>
                    <a:lnTo>
                      <a:pt x="259473" y="583878"/>
                    </a:lnTo>
                    <a:lnTo>
                      <a:pt x="267423" y="586099"/>
                    </a:lnTo>
                    <a:lnTo>
                      <a:pt x="274418" y="588321"/>
                    </a:lnTo>
                    <a:lnTo>
                      <a:pt x="281414" y="590859"/>
                    </a:lnTo>
                    <a:lnTo>
                      <a:pt x="288410" y="593715"/>
                    </a:lnTo>
                    <a:lnTo>
                      <a:pt x="294769" y="597205"/>
                    </a:lnTo>
                    <a:lnTo>
                      <a:pt x="300811" y="600378"/>
                    </a:lnTo>
                    <a:lnTo>
                      <a:pt x="307170" y="604185"/>
                    </a:lnTo>
                    <a:lnTo>
                      <a:pt x="313212" y="608310"/>
                    </a:lnTo>
                    <a:lnTo>
                      <a:pt x="318618" y="612435"/>
                    </a:lnTo>
                    <a:lnTo>
                      <a:pt x="324341" y="616560"/>
                    </a:lnTo>
                    <a:lnTo>
                      <a:pt x="329747" y="621637"/>
                    </a:lnTo>
                    <a:lnTo>
                      <a:pt x="334517" y="626396"/>
                    </a:lnTo>
                    <a:lnTo>
                      <a:pt x="339605" y="631156"/>
                    </a:lnTo>
                    <a:lnTo>
                      <a:pt x="344056" y="636233"/>
                    </a:lnTo>
                    <a:lnTo>
                      <a:pt x="348826" y="641627"/>
                    </a:lnTo>
                    <a:lnTo>
                      <a:pt x="352960" y="647338"/>
                    </a:lnTo>
                    <a:lnTo>
                      <a:pt x="357412" y="653049"/>
                    </a:lnTo>
                    <a:lnTo>
                      <a:pt x="361227" y="659078"/>
                    </a:lnTo>
                    <a:lnTo>
                      <a:pt x="365361" y="665107"/>
                    </a:lnTo>
                    <a:lnTo>
                      <a:pt x="368859" y="671135"/>
                    </a:lnTo>
                    <a:lnTo>
                      <a:pt x="375537" y="684144"/>
                    </a:lnTo>
                    <a:lnTo>
                      <a:pt x="381896" y="697471"/>
                    </a:lnTo>
                    <a:lnTo>
                      <a:pt x="387302" y="711115"/>
                    </a:lnTo>
                    <a:lnTo>
                      <a:pt x="392072" y="725393"/>
                    </a:lnTo>
                    <a:lnTo>
                      <a:pt x="396523" y="739672"/>
                    </a:lnTo>
                    <a:lnTo>
                      <a:pt x="400657" y="754267"/>
                    </a:lnTo>
                    <a:lnTo>
                      <a:pt x="403837" y="769180"/>
                    </a:lnTo>
                    <a:lnTo>
                      <a:pt x="407017" y="784093"/>
                    </a:lnTo>
                    <a:lnTo>
                      <a:pt x="409561" y="799006"/>
                    </a:lnTo>
                    <a:lnTo>
                      <a:pt x="411787" y="813919"/>
                    </a:lnTo>
                    <a:lnTo>
                      <a:pt x="413694" y="828515"/>
                    </a:lnTo>
                    <a:lnTo>
                      <a:pt x="414966" y="843428"/>
                    </a:lnTo>
                    <a:lnTo>
                      <a:pt x="416556" y="858024"/>
                    </a:lnTo>
                    <a:lnTo>
                      <a:pt x="417192" y="871985"/>
                    </a:lnTo>
                    <a:lnTo>
                      <a:pt x="418146" y="885946"/>
                    </a:lnTo>
                    <a:lnTo>
                      <a:pt x="418782" y="912281"/>
                    </a:lnTo>
                    <a:lnTo>
                      <a:pt x="419100" y="936713"/>
                    </a:lnTo>
                    <a:lnTo>
                      <a:pt x="419100" y="942425"/>
                    </a:lnTo>
                    <a:lnTo>
                      <a:pt x="418782" y="948136"/>
                    </a:lnTo>
                    <a:lnTo>
                      <a:pt x="418146" y="953530"/>
                    </a:lnTo>
                    <a:lnTo>
                      <a:pt x="417192" y="958607"/>
                    </a:lnTo>
                    <a:lnTo>
                      <a:pt x="416238" y="963684"/>
                    </a:lnTo>
                    <a:lnTo>
                      <a:pt x="414966" y="969078"/>
                    </a:lnTo>
                    <a:lnTo>
                      <a:pt x="413694" y="974154"/>
                    </a:lnTo>
                    <a:lnTo>
                      <a:pt x="411787" y="978914"/>
                    </a:lnTo>
                    <a:lnTo>
                      <a:pt x="409879" y="983356"/>
                    </a:lnTo>
                    <a:lnTo>
                      <a:pt x="407653" y="988116"/>
                    </a:lnTo>
                    <a:lnTo>
                      <a:pt x="403201" y="997000"/>
                    </a:lnTo>
                    <a:lnTo>
                      <a:pt x="397795" y="1005250"/>
                    </a:lnTo>
                    <a:lnTo>
                      <a:pt x="391754" y="1012865"/>
                    </a:lnTo>
                    <a:lnTo>
                      <a:pt x="385076" y="1020163"/>
                    </a:lnTo>
                    <a:lnTo>
                      <a:pt x="377762" y="1026826"/>
                    </a:lnTo>
                    <a:lnTo>
                      <a:pt x="370449" y="1033489"/>
                    </a:lnTo>
                    <a:lnTo>
                      <a:pt x="362181" y="1039518"/>
                    </a:lnTo>
                    <a:lnTo>
                      <a:pt x="353278" y="1044594"/>
                    </a:lnTo>
                    <a:lnTo>
                      <a:pt x="344374" y="1049671"/>
                    </a:lnTo>
                    <a:lnTo>
                      <a:pt x="335153" y="1054113"/>
                    </a:lnTo>
                    <a:lnTo>
                      <a:pt x="325613" y="1058238"/>
                    </a:lnTo>
                    <a:lnTo>
                      <a:pt x="316074" y="1061729"/>
                    </a:lnTo>
                    <a:lnTo>
                      <a:pt x="306217" y="1064902"/>
                    </a:lnTo>
                    <a:lnTo>
                      <a:pt x="296041" y="1067757"/>
                    </a:lnTo>
                    <a:lnTo>
                      <a:pt x="285866" y="1069978"/>
                    </a:lnTo>
                    <a:lnTo>
                      <a:pt x="275690" y="1071882"/>
                    </a:lnTo>
                    <a:lnTo>
                      <a:pt x="265515" y="1072834"/>
                    </a:lnTo>
                    <a:lnTo>
                      <a:pt x="255657" y="1074103"/>
                    </a:lnTo>
                    <a:lnTo>
                      <a:pt x="245482" y="1074738"/>
                    </a:lnTo>
                    <a:lnTo>
                      <a:pt x="235943" y="1074738"/>
                    </a:lnTo>
                    <a:lnTo>
                      <a:pt x="226085" y="1074420"/>
                    </a:lnTo>
                    <a:lnTo>
                      <a:pt x="216864" y="1073786"/>
                    </a:lnTo>
                    <a:lnTo>
                      <a:pt x="207960" y="1072834"/>
                    </a:lnTo>
                    <a:lnTo>
                      <a:pt x="199057" y="1070930"/>
                    </a:lnTo>
                    <a:lnTo>
                      <a:pt x="190471" y="1069344"/>
                    </a:lnTo>
                    <a:lnTo>
                      <a:pt x="182840" y="1067123"/>
                    </a:lnTo>
                    <a:lnTo>
                      <a:pt x="175526" y="1064584"/>
                    </a:lnTo>
                    <a:lnTo>
                      <a:pt x="167894" y="1061411"/>
                    </a:lnTo>
                    <a:lnTo>
                      <a:pt x="160899" y="1057921"/>
                    </a:lnTo>
                    <a:lnTo>
                      <a:pt x="153585" y="1054113"/>
                    </a:lnTo>
                    <a:lnTo>
                      <a:pt x="145954" y="1049989"/>
                    </a:lnTo>
                    <a:lnTo>
                      <a:pt x="138322" y="1045229"/>
                    </a:lnTo>
                    <a:lnTo>
                      <a:pt x="131009" y="1040470"/>
                    </a:lnTo>
                    <a:lnTo>
                      <a:pt x="123377" y="1035393"/>
                    </a:lnTo>
                    <a:lnTo>
                      <a:pt x="116063" y="1029364"/>
                    </a:lnTo>
                    <a:lnTo>
                      <a:pt x="108432" y="1023653"/>
                    </a:lnTo>
                    <a:lnTo>
                      <a:pt x="100800" y="1017307"/>
                    </a:lnTo>
                    <a:lnTo>
                      <a:pt x="93805" y="1010644"/>
                    </a:lnTo>
                    <a:lnTo>
                      <a:pt x="86491" y="1003663"/>
                    </a:lnTo>
                    <a:lnTo>
                      <a:pt x="79495" y="996365"/>
                    </a:lnTo>
                    <a:lnTo>
                      <a:pt x="72500" y="988750"/>
                    </a:lnTo>
                    <a:lnTo>
                      <a:pt x="65822" y="980818"/>
                    </a:lnTo>
                    <a:lnTo>
                      <a:pt x="59145" y="972568"/>
                    </a:lnTo>
                    <a:lnTo>
                      <a:pt x="52785" y="964318"/>
                    </a:lnTo>
                    <a:lnTo>
                      <a:pt x="46743" y="955751"/>
                    </a:lnTo>
                    <a:lnTo>
                      <a:pt x="41020" y="946550"/>
                    </a:lnTo>
                    <a:lnTo>
                      <a:pt x="35296" y="937348"/>
                    </a:lnTo>
                    <a:lnTo>
                      <a:pt x="30208" y="927829"/>
                    </a:lnTo>
                    <a:lnTo>
                      <a:pt x="25439" y="917993"/>
                    </a:lnTo>
                    <a:lnTo>
                      <a:pt x="20987" y="908157"/>
                    </a:lnTo>
                    <a:lnTo>
                      <a:pt x="16853" y="898003"/>
                    </a:lnTo>
                    <a:lnTo>
                      <a:pt x="13355" y="887532"/>
                    </a:lnTo>
                    <a:lnTo>
                      <a:pt x="9858" y="876744"/>
                    </a:lnTo>
                    <a:lnTo>
                      <a:pt x="6996" y="866273"/>
                    </a:lnTo>
                    <a:lnTo>
                      <a:pt x="4452" y="855168"/>
                    </a:lnTo>
                    <a:lnTo>
                      <a:pt x="2544" y="843745"/>
                    </a:lnTo>
                    <a:lnTo>
                      <a:pt x="1590" y="832322"/>
                    </a:lnTo>
                    <a:lnTo>
                      <a:pt x="318" y="820900"/>
                    </a:lnTo>
                    <a:lnTo>
                      <a:pt x="0" y="809160"/>
                    </a:lnTo>
                    <a:lnTo>
                      <a:pt x="318" y="799006"/>
                    </a:lnTo>
                    <a:lnTo>
                      <a:pt x="954" y="786632"/>
                    </a:lnTo>
                    <a:lnTo>
                      <a:pt x="2862" y="771401"/>
                    </a:lnTo>
                    <a:lnTo>
                      <a:pt x="4134" y="763469"/>
                    </a:lnTo>
                    <a:lnTo>
                      <a:pt x="5406" y="754585"/>
                    </a:lnTo>
                    <a:lnTo>
                      <a:pt x="7314" y="745700"/>
                    </a:lnTo>
                    <a:lnTo>
                      <a:pt x="9540" y="736181"/>
                    </a:lnTo>
                    <a:lnTo>
                      <a:pt x="12083" y="726662"/>
                    </a:lnTo>
                    <a:lnTo>
                      <a:pt x="15263" y="716826"/>
                    </a:lnTo>
                    <a:lnTo>
                      <a:pt x="18761" y="706990"/>
                    </a:lnTo>
                    <a:lnTo>
                      <a:pt x="22577" y="697154"/>
                    </a:lnTo>
                    <a:lnTo>
                      <a:pt x="27029" y="687000"/>
                    </a:lnTo>
                    <a:lnTo>
                      <a:pt x="32116" y="677164"/>
                    </a:lnTo>
                    <a:lnTo>
                      <a:pt x="37522" y="667645"/>
                    </a:lnTo>
                    <a:lnTo>
                      <a:pt x="43882" y="658126"/>
                    </a:lnTo>
                    <a:lnTo>
                      <a:pt x="50559" y="648607"/>
                    </a:lnTo>
                    <a:lnTo>
                      <a:pt x="57873" y="639405"/>
                    </a:lnTo>
                    <a:lnTo>
                      <a:pt x="66140" y="631156"/>
                    </a:lnTo>
                    <a:lnTo>
                      <a:pt x="75044" y="622906"/>
                    </a:lnTo>
                    <a:lnTo>
                      <a:pt x="79813" y="618781"/>
                    </a:lnTo>
                    <a:lnTo>
                      <a:pt x="84583" y="615291"/>
                    </a:lnTo>
                    <a:lnTo>
                      <a:pt x="89671" y="611483"/>
                    </a:lnTo>
                    <a:lnTo>
                      <a:pt x="94759" y="607993"/>
                    </a:lnTo>
                    <a:lnTo>
                      <a:pt x="100482" y="604503"/>
                    </a:lnTo>
                    <a:lnTo>
                      <a:pt x="105888" y="601647"/>
                    </a:lnTo>
                    <a:lnTo>
                      <a:pt x="111930" y="598157"/>
                    </a:lnTo>
                    <a:lnTo>
                      <a:pt x="118289" y="595618"/>
                    </a:lnTo>
                    <a:lnTo>
                      <a:pt x="124331" y="593080"/>
                    </a:lnTo>
                    <a:lnTo>
                      <a:pt x="131009" y="590542"/>
                    </a:lnTo>
                    <a:lnTo>
                      <a:pt x="137686" y="588321"/>
                    </a:lnTo>
                    <a:lnTo>
                      <a:pt x="144682" y="586099"/>
                    </a:lnTo>
                    <a:lnTo>
                      <a:pt x="151995" y="584196"/>
                    </a:lnTo>
                    <a:lnTo>
                      <a:pt x="159627" y="582927"/>
                    </a:lnTo>
                    <a:lnTo>
                      <a:pt x="167258" y="581340"/>
                    </a:lnTo>
                    <a:lnTo>
                      <a:pt x="175526" y="580071"/>
                    </a:lnTo>
                    <a:lnTo>
                      <a:pt x="183476" y="579119"/>
                    </a:lnTo>
                    <a:lnTo>
                      <a:pt x="192061" y="578484"/>
                    </a:lnTo>
                    <a:lnTo>
                      <a:pt x="200965" y="577850"/>
                    </a:lnTo>
                    <a:close/>
                    <a:moveTo>
                      <a:pt x="2083256" y="576263"/>
                    </a:moveTo>
                    <a:lnTo>
                      <a:pt x="2092166" y="576263"/>
                    </a:lnTo>
                    <a:lnTo>
                      <a:pt x="2101076" y="576263"/>
                    </a:lnTo>
                    <a:lnTo>
                      <a:pt x="2109987" y="576580"/>
                    </a:lnTo>
                    <a:lnTo>
                      <a:pt x="2118579" y="577215"/>
                    </a:lnTo>
                    <a:lnTo>
                      <a:pt x="2126534" y="578168"/>
                    </a:lnTo>
                    <a:lnTo>
                      <a:pt x="2134490" y="579438"/>
                    </a:lnTo>
                    <a:lnTo>
                      <a:pt x="2142127" y="580708"/>
                    </a:lnTo>
                    <a:lnTo>
                      <a:pt x="2149764" y="582613"/>
                    </a:lnTo>
                    <a:lnTo>
                      <a:pt x="2156765" y="584200"/>
                    </a:lnTo>
                    <a:lnTo>
                      <a:pt x="2164084" y="586105"/>
                    </a:lnTo>
                    <a:lnTo>
                      <a:pt x="2171085" y="588645"/>
                    </a:lnTo>
                    <a:lnTo>
                      <a:pt x="2177132" y="590868"/>
                    </a:lnTo>
                    <a:lnTo>
                      <a:pt x="2183814" y="594043"/>
                    </a:lnTo>
                    <a:lnTo>
                      <a:pt x="2189861" y="596583"/>
                    </a:lnTo>
                    <a:lnTo>
                      <a:pt x="2195589" y="599440"/>
                    </a:lnTo>
                    <a:lnTo>
                      <a:pt x="2201635" y="602615"/>
                    </a:lnTo>
                    <a:lnTo>
                      <a:pt x="2206726" y="606108"/>
                    </a:lnTo>
                    <a:lnTo>
                      <a:pt x="2212454" y="609918"/>
                    </a:lnTo>
                    <a:lnTo>
                      <a:pt x="2217546" y="613410"/>
                    </a:lnTo>
                    <a:lnTo>
                      <a:pt x="2222319" y="617220"/>
                    </a:lnTo>
                    <a:lnTo>
                      <a:pt x="2227093" y="620713"/>
                    </a:lnTo>
                    <a:lnTo>
                      <a:pt x="2236003" y="629285"/>
                    </a:lnTo>
                    <a:lnTo>
                      <a:pt x="2244277" y="637858"/>
                    </a:lnTo>
                    <a:lnTo>
                      <a:pt x="2251596" y="647065"/>
                    </a:lnTo>
                    <a:lnTo>
                      <a:pt x="2258279" y="656273"/>
                    </a:lnTo>
                    <a:lnTo>
                      <a:pt x="2264325" y="665798"/>
                    </a:lnTo>
                    <a:lnTo>
                      <a:pt x="2270053" y="675323"/>
                    </a:lnTo>
                    <a:lnTo>
                      <a:pt x="2274826" y="685483"/>
                    </a:lnTo>
                    <a:lnTo>
                      <a:pt x="2279281" y="695325"/>
                    </a:lnTo>
                    <a:lnTo>
                      <a:pt x="2283418" y="705168"/>
                    </a:lnTo>
                    <a:lnTo>
                      <a:pt x="2286600" y="715328"/>
                    </a:lnTo>
                    <a:lnTo>
                      <a:pt x="2290101" y="724853"/>
                    </a:lnTo>
                    <a:lnTo>
                      <a:pt x="2292647" y="734378"/>
                    </a:lnTo>
                    <a:lnTo>
                      <a:pt x="2294874" y="743903"/>
                    </a:lnTo>
                    <a:lnTo>
                      <a:pt x="2296465" y="752793"/>
                    </a:lnTo>
                    <a:lnTo>
                      <a:pt x="2298056" y="761683"/>
                    </a:lnTo>
                    <a:lnTo>
                      <a:pt x="2299329" y="769938"/>
                    </a:lnTo>
                    <a:lnTo>
                      <a:pt x="2300602" y="784860"/>
                    </a:lnTo>
                    <a:lnTo>
                      <a:pt x="2301875" y="797560"/>
                    </a:lnTo>
                    <a:lnTo>
                      <a:pt x="2301875" y="807085"/>
                    </a:lnTo>
                    <a:lnTo>
                      <a:pt x="2301557" y="818833"/>
                    </a:lnTo>
                    <a:lnTo>
                      <a:pt x="2300602" y="830581"/>
                    </a:lnTo>
                    <a:lnTo>
                      <a:pt x="2299329" y="842011"/>
                    </a:lnTo>
                    <a:lnTo>
                      <a:pt x="2297420" y="853123"/>
                    </a:lnTo>
                    <a:lnTo>
                      <a:pt x="2295192" y="864236"/>
                    </a:lnTo>
                    <a:lnTo>
                      <a:pt x="2292328" y="875348"/>
                    </a:lnTo>
                    <a:lnTo>
                      <a:pt x="2288828" y="885508"/>
                    </a:lnTo>
                    <a:lnTo>
                      <a:pt x="2285009" y="896303"/>
                    </a:lnTo>
                    <a:lnTo>
                      <a:pt x="2281191" y="906146"/>
                    </a:lnTo>
                    <a:lnTo>
                      <a:pt x="2276736" y="916306"/>
                    </a:lnTo>
                    <a:lnTo>
                      <a:pt x="2271962" y="926148"/>
                    </a:lnTo>
                    <a:lnTo>
                      <a:pt x="2266234" y="935673"/>
                    </a:lnTo>
                    <a:lnTo>
                      <a:pt x="2261143" y="944881"/>
                    </a:lnTo>
                    <a:lnTo>
                      <a:pt x="2255096" y="953771"/>
                    </a:lnTo>
                    <a:lnTo>
                      <a:pt x="2249050" y="962661"/>
                    </a:lnTo>
                    <a:lnTo>
                      <a:pt x="2242686" y="971233"/>
                    </a:lnTo>
                    <a:lnTo>
                      <a:pt x="2236321" y="979171"/>
                    </a:lnTo>
                    <a:lnTo>
                      <a:pt x="2229320" y="987108"/>
                    </a:lnTo>
                    <a:lnTo>
                      <a:pt x="2222638" y="994728"/>
                    </a:lnTo>
                    <a:lnTo>
                      <a:pt x="2215637" y="1002031"/>
                    </a:lnTo>
                    <a:lnTo>
                      <a:pt x="2208318" y="1008698"/>
                    </a:lnTo>
                    <a:lnTo>
                      <a:pt x="2200998" y="1015366"/>
                    </a:lnTo>
                    <a:lnTo>
                      <a:pt x="2193361" y="1022033"/>
                    </a:lnTo>
                    <a:lnTo>
                      <a:pt x="2186042" y="1028066"/>
                    </a:lnTo>
                    <a:lnTo>
                      <a:pt x="2178723" y="1033463"/>
                    </a:lnTo>
                    <a:lnTo>
                      <a:pt x="2171085" y="1038861"/>
                    </a:lnTo>
                    <a:lnTo>
                      <a:pt x="2163448" y="1043941"/>
                    </a:lnTo>
                    <a:lnTo>
                      <a:pt x="2155811" y="1048068"/>
                    </a:lnTo>
                    <a:lnTo>
                      <a:pt x="2148492" y="1052513"/>
                    </a:lnTo>
                    <a:lnTo>
                      <a:pt x="2141172" y="1056323"/>
                    </a:lnTo>
                    <a:lnTo>
                      <a:pt x="2133535" y="1060133"/>
                    </a:lnTo>
                    <a:lnTo>
                      <a:pt x="2126534" y="1062991"/>
                    </a:lnTo>
                    <a:lnTo>
                      <a:pt x="2119215" y="1065531"/>
                    </a:lnTo>
                    <a:lnTo>
                      <a:pt x="2110941" y="1067753"/>
                    </a:lnTo>
                    <a:lnTo>
                      <a:pt x="2102986" y="1069658"/>
                    </a:lnTo>
                    <a:lnTo>
                      <a:pt x="2094075" y="1070928"/>
                    </a:lnTo>
                    <a:lnTo>
                      <a:pt x="2085165" y="1072198"/>
                    </a:lnTo>
                    <a:lnTo>
                      <a:pt x="2075618" y="1072833"/>
                    </a:lnTo>
                    <a:lnTo>
                      <a:pt x="2066072" y="1073151"/>
                    </a:lnTo>
                    <a:lnTo>
                      <a:pt x="2056525" y="1072833"/>
                    </a:lnTo>
                    <a:lnTo>
                      <a:pt x="2046342" y="1072516"/>
                    </a:lnTo>
                    <a:lnTo>
                      <a:pt x="2036159" y="1071563"/>
                    </a:lnTo>
                    <a:lnTo>
                      <a:pt x="2025976" y="1070293"/>
                    </a:lnTo>
                    <a:lnTo>
                      <a:pt x="2015792" y="1068388"/>
                    </a:lnTo>
                    <a:lnTo>
                      <a:pt x="2005928" y="1065848"/>
                    </a:lnTo>
                    <a:lnTo>
                      <a:pt x="1995744" y="1063308"/>
                    </a:lnTo>
                    <a:lnTo>
                      <a:pt x="1985879" y="1060451"/>
                    </a:lnTo>
                    <a:lnTo>
                      <a:pt x="1975696" y="1056641"/>
                    </a:lnTo>
                    <a:lnTo>
                      <a:pt x="1966468" y="1052513"/>
                    </a:lnTo>
                    <a:lnTo>
                      <a:pt x="1957239" y="1048068"/>
                    </a:lnTo>
                    <a:lnTo>
                      <a:pt x="1948011" y="1042988"/>
                    </a:lnTo>
                    <a:lnTo>
                      <a:pt x="1939737" y="1037591"/>
                    </a:lnTo>
                    <a:lnTo>
                      <a:pt x="1931463" y="1031876"/>
                    </a:lnTo>
                    <a:lnTo>
                      <a:pt x="1923826" y="1025208"/>
                    </a:lnTo>
                    <a:lnTo>
                      <a:pt x="1916825" y="1018858"/>
                    </a:lnTo>
                    <a:lnTo>
                      <a:pt x="1910142" y="1011238"/>
                    </a:lnTo>
                    <a:lnTo>
                      <a:pt x="1904096" y="1003618"/>
                    </a:lnTo>
                    <a:lnTo>
                      <a:pt x="1898686" y="995046"/>
                    </a:lnTo>
                    <a:lnTo>
                      <a:pt x="1893913" y="986791"/>
                    </a:lnTo>
                    <a:lnTo>
                      <a:pt x="1892004" y="981711"/>
                    </a:lnTo>
                    <a:lnTo>
                      <a:pt x="1890094" y="976948"/>
                    </a:lnTo>
                    <a:lnTo>
                      <a:pt x="1888185" y="972186"/>
                    </a:lnTo>
                    <a:lnTo>
                      <a:pt x="1886912" y="967423"/>
                    </a:lnTo>
                    <a:lnTo>
                      <a:pt x="1885639" y="962343"/>
                    </a:lnTo>
                    <a:lnTo>
                      <a:pt x="1884684" y="957263"/>
                    </a:lnTo>
                    <a:lnTo>
                      <a:pt x="1883730" y="951866"/>
                    </a:lnTo>
                    <a:lnTo>
                      <a:pt x="1883093" y="946468"/>
                    </a:lnTo>
                    <a:lnTo>
                      <a:pt x="1882775" y="940753"/>
                    </a:lnTo>
                    <a:lnTo>
                      <a:pt x="1882775" y="935038"/>
                    </a:lnTo>
                    <a:lnTo>
                      <a:pt x="1882775" y="910591"/>
                    </a:lnTo>
                    <a:lnTo>
                      <a:pt x="1883730" y="884556"/>
                    </a:lnTo>
                    <a:lnTo>
                      <a:pt x="1884048" y="870586"/>
                    </a:lnTo>
                    <a:lnTo>
                      <a:pt x="1885321" y="855981"/>
                    </a:lnTo>
                    <a:lnTo>
                      <a:pt x="1886276" y="841693"/>
                    </a:lnTo>
                    <a:lnTo>
                      <a:pt x="1887867" y="827088"/>
                    </a:lnTo>
                    <a:lnTo>
                      <a:pt x="1889776" y="812165"/>
                    </a:lnTo>
                    <a:lnTo>
                      <a:pt x="1892004" y="797243"/>
                    </a:lnTo>
                    <a:lnTo>
                      <a:pt x="1894549" y="782320"/>
                    </a:lnTo>
                    <a:lnTo>
                      <a:pt x="1897413" y="767080"/>
                    </a:lnTo>
                    <a:lnTo>
                      <a:pt x="1901232" y="752475"/>
                    </a:lnTo>
                    <a:lnTo>
                      <a:pt x="1905369" y="738188"/>
                    </a:lnTo>
                    <a:lnTo>
                      <a:pt x="1909824" y="723583"/>
                    </a:lnTo>
                    <a:lnTo>
                      <a:pt x="1914597" y="709295"/>
                    </a:lnTo>
                    <a:lnTo>
                      <a:pt x="1920007" y="695643"/>
                    </a:lnTo>
                    <a:lnTo>
                      <a:pt x="1926372" y="682308"/>
                    </a:lnTo>
                    <a:lnTo>
                      <a:pt x="1933054" y="669608"/>
                    </a:lnTo>
                    <a:lnTo>
                      <a:pt x="1936555" y="663258"/>
                    </a:lnTo>
                    <a:lnTo>
                      <a:pt x="1940374" y="657225"/>
                    </a:lnTo>
                    <a:lnTo>
                      <a:pt x="1944510" y="651510"/>
                    </a:lnTo>
                    <a:lnTo>
                      <a:pt x="1948647" y="645478"/>
                    </a:lnTo>
                    <a:lnTo>
                      <a:pt x="1952784" y="640080"/>
                    </a:lnTo>
                    <a:lnTo>
                      <a:pt x="1957239" y="634365"/>
                    </a:lnTo>
                    <a:lnTo>
                      <a:pt x="1962013" y="629285"/>
                    </a:lnTo>
                    <a:lnTo>
                      <a:pt x="1967104" y="624205"/>
                    </a:lnTo>
                    <a:lnTo>
                      <a:pt x="1972196" y="619443"/>
                    </a:lnTo>
                    <a:lnTo>
                      <a:pt x="1977287" y="614998"/>
                    </a:lnTo>
                    <a:lnTo>
                      <a:pt x="1983015" y="610553"/>
                    </a:lnTo>
                    <a:lnTo>
                      <a:pt x="1988743" y="606425"/>
                    </a:lnTo>
                    <a:lnTo>
                      <a:pt x="1994790" y="602298"/>
                    </a:lnTo>
                    <a:lnTo>
                      <a:pt x="2000518" y="598805"/>
                    </a:lnTo>
                    <a:lnTo>
                      <a:pt x="2006882" y="595313"/>
                    </a:lnTo>
                    <a:lnTo>
                      <a:pt x="2013565" y="592138"/>
                    </a:lnTo>
                    <a:lnTo>
                      <a:pt x="2020248" y="588963"/>
                    </a:lnTo>
                    <a:lnTo>
                      <a:pt x="2027248" y="586423"/>
                    </a:lnTo>
                    <a:lnTo>
                      <a:pt x="2034568" y="583883"/>
                    </a:lnTo>
                    <a:lnTo>
                      <a:pt x="2041887" y="581978"/>
                    </a:lnTo>
                    <a:lnTo>
                      <a:pt x="2049842" y="580390"/>
                    </a:lnTo>
                    <a:lnTo>
                      <a:pt x="2057798" y="578803"/>
                    </a:lnTo>
                    <a:lnTo>
                      <a:pt x="2066072" y="577533"/>
                    </a:lnTo>
                    <a:lnTo>
                      <a:pt x="2074664" y="576898"/>
                    </a:lnTo>
                    <a:lnTo>
                      <a:pt x="2083256" y="576263"/>
                    </a:lnTo>
                    <a:close/>
                    <a:moveTo>
                      <a:pt x="1003300" y="490538"/>
                    </a:moveTo>
                    <a:lnTo>
                      <a:pt x="1013460" y="511810"/>
                    </a:lnTo>
                    <a:lnTo>
                      <a:pt x="1025842" y="536575"/>
                    </a:lnTo>
                    <a:lnTo>
                      <a:pt x="1039812" y="564198"/>
                    </a:lnTo>
                    <a:lnTo>
                      <a:pt x="1054417" y="592455"/>
                    </a:lnTo>
                    <a:lnTo>
                      <a:pt x="1069657" y="620395"/>
                    </a:lnTo>
                    <a:lnTo>
                      <a:pt x="1077277" y="633413"/>
                    </a:lnTo>
                    <a:lnTo>
                      <a:pt x="1084580" y="646113"/>
                    </a:lnTo>
                    <a:lnTo>
                      <a:pt x="1091565" y="657543"/>
                    </a:lnTo>
                    <a:lnTo>
                      <a:pt x="1098550" y="668338"/>
                    </a:lnTo>
                    <a:lnTo>
                      <a:pt x="1105217" y="677545"/>
                    </a:lnTo>
                    <a:lnTo>
                      <a:pt x="1111250" y="685483"/>
                    </a:lnTo>
                    <a:lnTo>
                      <a:pt x="1111250" y="648970"/>
                    </a:lnTo>
                    <a:lnTo>
                      <a:pt x="1111567" y="644525"/>
                    </a:lnTo>
                    <a:lnTo>
                      <a:pt x="1111885" y="640080"/>
                    </a:lnTo>
                    <a:lnTo>
                      <a:pt x="1113155" y="635635"/>
                    </a:lnTo>
                    <a:lnTo>
                      <a:pt x="1114107" y="631190"/>
                    </a:lnTo>
                    <a:lnTo>
                      <a:pt x="1116647" y="621983"/>
                    </a:lnTo>
                    <a:lnTo>
                      <a:pt x="1120140" y="613093"/>
                    </a:lnTo>
                    <a:lnTo>
                      <a:pt x="1123315" y="604838"/>
                    </a:lnTo>
                    <a:lnTo>
                      <a:pt x="1126490" y="596900"/>
                    </a:lnTo>
                    <a:lnTo>
                      <a:pt x="1128077" y="589598"/>
                    </a:lnTo>
                    <a:lnTo>
                      <a:pt x="1129030" y="586423"/>
                    </a:lnTo>
                    <a:lnTo>
                      <a:pt x="1129030" y="583248"/>
                    </a:lnTo>
                    <a:lnTo>
                      <a:pt x="1128712" y="580708"/>
                    </a:lnTo>
                    <a:lnTo>
                      <a:pt x="1128077" y="578168"/>
                    </a:lnTo>
                    <a:lnTo>
                      <a:pt x="1127125" y="575945"/>
                    </a:lnTo>
                    <a:lnTo>
                      <a:pt x="1125855" y="573723"/>
                    </a:lnTo>
                    <a:lnTo>
                      <a:pt x="1122997" y="569595"/>
                    </a:lnTo>
                    <a:lnTo>
                      <a:pt x="1119187" y="566103"/>
                    </a:lnTo>
                    <a:lnTo>
                      <a:pt x="1116012" y="561975"/>
                    </a:lnTo>
                    <a:lnTo>
                      <a:pt x="1114425" y="559753"/>
                    </a:lnTo>
                    <a:lnTo>
                      <a:pt x="1113155" y="557530"/>
                    </a:lnTo>
                    <a:lnTo>
                      <a:pt x="1111885" y="554990"/>
                    </a:lnTo>
                    <a:lnTo>
                      <a:pt x="1110932" y="552450"/>
                    </a:lnTo>
                    <a:lnTo>
                      <a:pt x="1109980" y="548958"/>
                    </a:lnTo>
                    <a:lnTo>
                      <a:pt x="1109980" y="545783"/>
                    </a:lnTo>
                    <a:lnTo>
                      <a:pt x="1109980" y="542290"/>
                    </a:lnTo>
                    <a:lnTo>
                      <a:pt x="1110615" y="539433"/>
                    </a:lnTo>
                    <a:lnTo>
                      <a:pt x="1111250" y="536893"/>
                    </a:lnTo>
                    <a:lnTo>
                      <a:pt x="1112202" y="534988"/>
                    </a:lnTo>
                    <a:lnTo>
                      <a:pt x="1113472" y="533083"/>
                    </a:lnTo>
                    <a:lnTo>
                      <a:pt x="1115060" y="531495"/>
                    </a:lnTo>
                    <a:lnTo>
                      <a:pt x="1116647" y="530225"/>
                    </a:lnTo>
                    <a:lnTo>
                      <a:pt x="1118870" y="529273"/>
                    </a:lnTo>
                    <a:lnTo>
                      <a:pt x="1122045" y="528320"/>
                    </a:lnTo>
                    <a:lnTo>
                      <a:pt x="1124902" y="528003"/>
                    </a:lnTo>
                    <a:lnTo>
                      <a:pt x="1131887" y="527368"/>
                    </a:lnTo>
                    <a:lnTo>
                      <a:pt x="1140777" y="527050"/>
                    </a:lnTo>
                    <a:lnTo>
                      <a:pt x="1150937" y="527050"/>
                    </a:lnTo>
                    <a:lnTo>
                      <a:pt x="1164590" y="527050"/>
                    </a:lnTo>
                    <a:lnTo>
                      <a:pt x="1175385" y="527050"/>
                    </a:lnTo>
                    <a:lnTo>
                      <a:pt x="1184275" y="527368"/>
                    </a:lnTo>
                    <a:lnTo>
                      <a:pt x="1191260" y="528003"/>
                    </a:lnTo>
                    <a:lnTo>
                      <a:pt x="1194117" y="528320"/>
                    </a:lnTo>
                    <a:lnTo>
                      <a:pt x="1196657" y="529273"/>
                    </a:lnTo>
                    <a:lnTo>
                      <a:pt x="1198880" y="530225"/>
                    </a:lnTo>
                    <a:lnTo>
                      <a:pt x="1200785" y="531495"/>
                    </a:lnTo>
                    <a:lnTo>
                      <a:pt x="1202372" y="533083"/>
                    </a:lnTo>
                    <a:lnTo>
                      <a:pt x="1203642" y="534988"/>
                    </a:lnTo>
                    <a:lnTo>
                      <a:pt x="1204595" y="536893"/>
                    </a:lnTo>
                    <a:lnTo>
                      <a:pt x="1205230" y="539433"/>
                    </a:lnTo>
                    <a:lnTo>
                      <a:pt x="1205547" y="542290"/>
                    </a:lnTo>
                    <a:lnTo>
                      <a:pt x="1205547" y="545783"/>
                    </a:lnTo>
                    <a:lnTo>
                      <a:pt x="1205547" y="548958"/>
                    </a:lnTo>
                    <a:lnTo>
                      <a:pt x="1204912" y="552450"/>
                    </a:lnTo>
                    <a:lnTo>
                      <a:pt x="1204277" y="554990"/>
                    </a:lnTo>
                    <a:lnTo>
                      <a:pt x="1202690" y="557530"/>
                    </a:lnTo>
                    <a:lnTo>
                      <a:pt x="1201420" y="559753"/>
                    </a:lnTo>
                    <a:lnTo>
                      <a:pt x="1199832" y="561975"/>
                    </a:lnTo>
                    <a:lnTo>
                      <a:pt x="1196340" y="566103"/>
                    </a:lnTo>
                    <a:lnTo>
                      <a:pt x="1193165" y="569595"/>
                    </a:lnTo>
                    <a:lnTo>
                      <a:pt x="1189672" y="573723"/>
                    </a:lnTo>
                    <a:lnTo>
                      <a:pt x="1188720" y="575945"/>
                    </a:lnTo>
                    <a:lnTo>
                      <a:pt x="1187767" y="578168"/>
                    </a:lnTo>
                    <a:lnTo>
                      <a:pt x="1187132" y="580708"/>
                    </a:lnTo>
                    <a:lnTo>
                      <a:pt x="1187132" y="583248"/>
                    </a:lnTo>
                    <a:lnTo>
                      <a:pt x="1187132" y="586423"/>
                    </a:lnTo>
                    <a:lnTo>
                      <a:pt x="1187767" y="589598"/>
                    </a:lnTo>
                    <a:lnTo>
                      <a:pt x="1189672" y="596900"/>
                    </a:lnTo>
                    <a:lnTo>
                      <a:pt x="1192212" y="604838"/>
                    </a:lnTo>
                    <a:lnTo>
                      <a:pt x="1195705" y="613093"/>
                    </a:lnTo>
                    <a:lnTo>
                      <a:pt x="1198880" y="621983"/>
                    </a:lnTo>
                    <a:lnTo>
                      <a:pt x="1201420" y="631190"/>
                    </a:lnTo>
                    <a:lnTo>
                      <a:pt x="1203007" y="635635"/>
                    </a:lnTo>
                    <a:lnTo>
                      <a:pt x="1203642" y="640080"/>
                    </a:lnTo>
                    <a:lnTo>
                      <a:pt x="1204277" y="644525"/>
                    </a:lnTo>
                    <a:lnTo>
                      <a:pt x="1204595" y="648970"/>
                    </a:lnTo>
                    <a:lnTo>
                      <a:pt x="1204595" y="685483"/>
                    </a:lnTo>
                    <a:lnTo>
                      <a:pt x="1210310" y="677863"/>
                    </a:lnTo>
                    <a:lnTo>
                      <a:pt x="1216977" y="668655"/>
                    </a:lnTo>
                    <a:lnTo>
                      <a:pt x="1223645" y="658178"/>
                    </a:lnTo>
                    <a:lnTo>
                      <a:pt x="1230630" y="646748"/>
                    </a:lnTo>
                    <a:lnTo>
                      <a:pt x="1237932" y="634683"/>
                    </a:lnTo>
                    <a:lnTo>
                      <a:pt x="1245552" y="621665"/>
                    </a:lnTo>
                    <a:lnTo>
                      <a:pt x="1260157" y="594360"/>
                    </a:lnTo>
                    <a:lnTo>
                      <a:pt x="1275080" y="566738"/>
                    </a:lnTo>
                    <a:lnTo>
                      <a:pt x="1288732" y="539750"/>
                    </a:lnTo>
                    <a:lnTo>
                      <a:pt x="1300797" y="514668"/>
                    </a:lnTo>
                    <a:lnTo>
                      <a:pt x="1311592" y="493395"/>
                    </a:lnTo>
                    <a:lnTo>
                      <a:pt x="1324927" y="497523"/>
                    </a:lnTo>
                    <a:lnTo>
                      <a:pt x="1338262" y="501015"/>
                    </a:lnTo>
                    <a:lnTo>
                      <a:pt x="1350645" y="505460"/>
                    </a:lnTo>
                    <a:lnTo>
                      <a:pt x="1362710" y="509905"/>
                    </a:lnTo>
                    <a:lnTo>
                      <a:pt x="1373822" y="514350"/>
                    </a:lnTo>
                    <a:lnTo>
                      <a:pt x="1384300" y="519113"/>
                    </a:lnTo>
                    <a:lnTo>
                      <a:pt x="1394460" y="523875"/>
                    </a:lnTo>
                    <a:lnTo>
                      <a:pt x="1403985" y="528955"/>
                    </a:lnTo>
                    <a:lnTo>
                      <a:pt x="1413192" y="533718"/>
                    </a:lnTo>
                    <a:lnTo>
                      <a:pt x="1421447" y="538480"/>
                    </a:lnTo>
                    <a:lnTo>
                      <a:pt x="1429385" y="543560"/>
                    </a:lnTo>
                    <a:lnTo>
                      <a:pt x="1436687" y="548323"/>
                    </a:lnTo>
                    <a:lnTo>
                      <a:pt x="1443672" y="553403"/>
                    </a:lnTo>
                    <a:lnTo>
                      <a:pt x="1450022" y="558165"/>
                    </a:lnTo>
                    <a:lnTo>
                      <a:pt x="1456055" y="563245"/>
                    </a:lnTo>
                    <a:lnTo>
                      <a:pt x="1461452" y="568008"/>
                    </a:lnTo>
                    <a:lnTo>
                      <a:pt x="1470977" y="576580"/>
                    </a:lnTo>
                    <a:lnTo>
                      <a:pt x="1479232" y="585153"/>
                    </a:lnTo>
                    <a:lnTo>
                      <a:pt x="1485582" y="593090"/>
                    </a:lnTo>
                    <a:lnTo>
                      <a:pt x="1490662" y="599758"/>
                    </a:lnTo>
                    <a:lnTo>
                      <a:pt x="1494155" y="604838"/>
                    </a:lnTo>
                    <a:lnTo>
                      <a:pt x="1497012" y="609283"/>
                    </a:lnTo>
                    <a:lnTo>
                      <a:pt x="1498600" y="612458"/>
                    </a:lnTo>
                    <a:lnTo>
                      <a:pt x="1498600" y="846138"/>
                    </a:lnTo>
                    <a:lnTo>
                      <a:pt x="1150937" y="846138"/>
                    </a:lnTo>
                    <a:lnTo>
                      <a:pt x="803275" y="846138"/>
                    </a:lnTo>
                    <a:lnTo>
                      <a:pt x="803275" y="612458"/>
                    </a:lnTo>
                    <a:lnTo>
                      <a:pt x="805498" y="608965"/>
                    </a:lnTo>
                    <a:lnTo>
                      <a:pt x="808673" y="604520"/>
                    </a:lnTo>
                    <a:lnTo>
                      <a:pt x="812483" y="598805"/>
                    </a:lnTo>
                    <a:lnTo>
                      <a:pt x="818515" y="591820"/>
                    </a:lnTo>
                    <a:lnTo>
                      <a:pt x="825500" y="584200"/>
                    </a:lnTo>
                    <a:lnTo>
                      <a:pt x="834390" y="575310"/>
                    </a:lnTo>
                    <a:lnTo>
                      <a:pt x="844550" y="566103"/>
                    </a:lnTo>
                    <a:lnTo>
                      <a:pt x="850582" y="561023"/>
                    </a:lnTo>
                    <a:lnTo>
                      <a:pt x="856932" y="555943"/>
                    </a:lnTo>
                    <a:lnTo>
                      <a:pt x="863917" y="550863"/>
                    </a:lnTo>
                    <a:lnTo>
                      <a:pt x="871220" y="546100"/>
                    </a:lnTo>
                    <a:lnTo>
                      <a:pt x="879157" y="541020"/>
                    </a:lnTo>
                    <a:lnTo>
                      <a:pt x="887412" y="535940"/>
                    </a:lnTo>
                    <a:lnTo>
                      <a:pt x="896620" y="530543"/>
                    </a:lnTo>
                    <a:lnTo>
                      <a:pt x="905827" y="525780"/>
                    </a:lnTo>
                    <a:lnTo>
                      <a:pt x="916305" y="520700"/>
                    </a:lnTo>
                    <a:lnTo>
                      <a:pt x="926465" y="515938"/>
                    </a:lnTo>
                    <a:lnTo>
                      <a:pt x="937895" y="511493"/>
                    </a:lnTo>
                    <a:lnTo>
                      <a:pt x="949642" y="506730"/>
                    </a:lnTo>
                    <a:lnTo>
                      <a:pt x="962342" y="502285"/>
                    </a:lnTo>
                    <a:lnTo>
                      <a:pt x="975042" y="498158"/>
                    </a:lnTo>
                    <a:lnTo>
                      <a:pt x="988695" y="494030"/>
                    </a:lnTo>
                    <a:lnTo>
                      <a:pt x="1003300" y="490538"/>
                    </a:lnTo>
                    <a:close/>
                    <a:moveTo>
                      <a:pt x="1142381" y="0"/>
                    </a:moveTo>
                    <a:lnTo>
                      <a:pt x="1150622" y="0"/>
                    </a:lnTo>
                    <a:lnTo>
                      <a:pt x="1159180" y="0"/>
                    </a:lnTo>
                    <a:lnTo>
                      <a:pt x="1167421" y="634"/>
                    </a:lnTo>
                    <a:lnTo>
                      <a:pt x="1175663" y="1902"/>
                    </a:lnTo>
                    <a:lnTo>
                      <a:pt x="1183904" y="3171"/>
                    </a:lnTo>
                    <a:lnTo>
                      <a:pt x="1192462" y="5073"/>
                    </a:lnTo>
                    <a:lnTo>
                      <a:pt x="1200386" y="7293"/>
                    </a:lnTo>
                    <a:lnTo>
                      <a:pt x="1208628" y="9830"/>
                    </a:lnTo>
                    <a:lnTo>
                      <a:pt x="1216235" y="12683"/>
                    </a:lnTo>
                    <a:lnTo>
                      <a:pt x="1224476" y="16489"/>
                    </a:lnTo>
                    <a:lnTo>
                      <a:pt x="1232083" y="20294"/>
                    </a:lnTo>
                    <a:lnTo>
                      <a:pt x="1239374" y="24733"/>
                    </a:lnTo>
                    <a:lnTo>
                      <a:pt x="1246664" y="29489"/>
                    </a:lnTo>
                    <a:lnTo>
                      <a:pt x="1254271" y="34563"/>
                    </a:lnTo>
                    <a:lnTo>
                      <a:pt x="1261245" y="39954"/>
                    </a:lnTo>
                    <a:lnTo>
                      <a:pt x="1267901" y="45978"/>
                    </a:lnTo>
                    <a:lnTo>
                      <a:pt x="1274557" y="52320"/>
                    </a:lnTo>
                    <a:lnTo>
                      <a:pt x="1280580" y="58979"/>
                    </a:lnTo>
                    <a:lnTo>
                      <a:pt x="1286602" y="66272"/>
                    </a:lnTo>
                    <a:lnTo>
                      <a:pt x="1291991" y="73565"/>
                    </a:lnTo>
                    <a:lnTo>
                      <a:pt x="1297696" y="81810"/>
                    </a:lnTo>
                    <a:lnTo>
                      <a:pt x="1302768" y="89737"/>
                    </a:lnTo>
                    <a:lnTo>
                      <a:pt x="1307205" y="98616"/>
                    </a:lnTo>
                    <a:lnTo>
                      <a:pt x="1311643" y="107494"/>
                    </a:lnTo>
                    <a:lnTo>
                      <a:pt x="1315763" y="117007"/>
                    </a:lnTo>
                    <a:lnTo>
                      <a:pt x="1319250" y="126837"/>
                    </a:lnTo>
                    <a:lnTo>
                      <a:pt x="1322420" y="137301"/>
                    </a:lnTo>
                    <a:lnTo>
                      <a:pt x="1324955" y="148082"/>
                    </a:lnTo>
                    <a:lnTo>
                      <a:pt x="1327491" y="158864"/>
                    </a:lnTo>
                    <a:lnTo>
                      <a:pt x="1328759" y="170279"/>
                    </a:lnTo>
                    <a:lnTo>
                      <a:pt x="1330344" y="182329"/>
                    </a:lnTo>
                    <a:lnTo>
                      <a:pt x="1330978" y="194695"/>
                    </a:lnTo>
                    <a:lnTo>
                      <a:pt x="1331612" y="207379"/>
                    </a:lnTo>
                    <a:lnTo>
                      <a:pt x="1330978" y="216575"/>
                    </a:lnTo>
                    <a:lnTo>
                      <a:pt x="1331612" y="215940"/>
                    </a:lnTo>
                    <a:lnTo>
                      <a:pt x="1333197" y="216575"/>
                    </a:lnTo>
                    <a:lnTo>
                      <a:pt x="1335099" y="217209"/>
                    </a:lnTo>
                    <a:lnTo>
                      <a:pt x="1336683" y="218794"/>
                    </a:lnTo>
                    <a:lnTo>
                      <a:pt x="1337951" y="221014"/>
                    </a:lnTo>
                    <a:lnTo>
                      <a:pt x="1338902" y="223234"/>
                    </a:lnTo>
                    <a:lnTo>
                      <a:pt x="1339853" y="226087"/>
                    </a:lnTo>
                    <a:lnTo>
                      <a:pt x="1340170" y="229258"/>
                    </a:lnTo>
                    <a:lnTo>
                      <a:pt x="1341121" y="233063"/>
                    </a:lnTo>
                    <a:lnTo>
                      <a:pt x="1341438" y="240991"/>
                    </a:lnTo>
                    <a:lnTo>
                      <a:pt x="1340804" y="250187"/>
                    </a:lnTo>
                    <a:lnTo>
                      <a:pt x="1339853" y="260333"/>
                    </a:lnTo>
                    <a:lnTo>
                      <a:pt x="1337951" y="270163"/>
                    </a:lnTo>
                    <a:lnTo>
                      <a:pt x="1335732" y="280627"/>
                    </a:lnTo>
                    <a:lnTo>
                      <a:pt x="1333197" y="290140"/>
                    </a:lnTo>
                    <a:lnTo>
                      <a:pt x="1330344" y="299336"/>
                    </a:lnTo>
                    <a:lnTo>
                      <a:pt x="1327174" y="307263"/>
                    </a:lnTo>
                    <a:lnTo>
                      <a:pt x="1325272" y="311068"/>
                    </a:lnTo>
                    <a:lnTo>
                      <a:pt x="1323371" y="314556"/>
                    </a:lnTo>
                    <a:lnTo>
                      <a:pt x="1321469" y="317410"/>
                    </a:lnTo>
                    <a:lnTo>
                      <a:pt x="1319567" y="319947"/>
                    </a:lnTo>
                    <a:lnTo>
                      <a:pt x="1317348" y="321850"/>
                    </a:lnTo>
                    <a:lnTo>
                      <a:pt x="1315763" y="323118"/>
                    </a:lnTo>
                    <a:lnTo>
                      <a:pt x="1313545" y="324069"/>
                    </a:lnTo>
                    <a:lnTo>
                      <a:pt x="1311326" y="324386"/>
                    </a:lnTo>
                    <a:lnTo>
                      <a:pt x="1311009" y="324386"/>
                    </a:lnTo>
                    <a:lnTo>
                      <a:pt x="1304669" y="341827"/>
                    </a:lnTo>
                    <a:lnTo>
                      <a:pt x="1297379" y="358632"/>
                    </a:lnTo>
                    <a:lnTo>
                      <a:pt x="1289455" y="374804"/>
                    </a:lnTo>
                    <a:lnTo>
                      <a:pt x="1281531" y="390659"/>
                    </a:lnTo>
                    <a:lnTo>
                      <a:pt x="1272338" y="405245"/>
                    </a:lnTo>
                    <a:lnTo>
                      <a:pt x="1267901" y="412855"/>
                    </a:lnTo>
                    <a:lnTo>
                      <a:pt x="1262512" y="419832"/>
                    </a:lnTo>
                    <a:lnTo>
                      <a:pt x="1257758" y="426490"/>
                    </a:lnTo>
                    <a:lnTo>
                      <a:pt x="1252686" y="432515"/>
                    </a:lnTo>
                    <a:lnTo>
                      <a:pt x="1247932" y="438857"/>
                    </a:lnTo>
                    <a:lnTo>
                      <a:pt x="1242543" y="444882"/>
                    </a:lnTo>
                    <a:lnTo>
                      <a:pt x="1237155" y="450590"/>
                    </a:lnTo>
                    <a:lnTo>
                      <a:pt x="1231766" y="455980"/>
                    </a:lnTo>
                    <a:lnTo>
                      <a:pt x="1226061" y="461054"/>
                    </a:lnTo>
                    <a:lnTo>
                      <a:pt x="1220672" y="465810"/>
                    </a:lnTo>
                    <a:lnTo>
                      <a:pt x="1215284" y="470249"/>
                    </a:lnTo>
                    <a:lnTo>
                      <a:pt x="1209578" y="474372"/>
                    </a:lnTo>
                    <a:lnTo>
                      <a:pt x="1203873" y="478177"/>
                    </a:lnTo>
                    <a:lnTo>
                      <a:pt x="1197851" y="481665"/>
                    </a:lnTo>
                    <a:lnTo>
                      <a:pt x="1191828" y="484519"/>
                    </a:lnTo>
                    <a:lnTo>
                      <a:pt x="1186440" y="487372"/>
                    </a:lnTo>
                    <a:lnTo>
                      <a:pt x="1180417" y="489592"/>
                    </a:lnTo>
                    <a:lnTo>
                      <a:pt x="1174712" y="491495"/>
                    </a:lnTo>
                    <a:lnTo>
                      <a:pt x="1168372" y="493080"/>
                    </a:lnTo>
                    <a:lnTo>
                      <a:pt x="1162667" y="494031"/>
                    </a:lnTo>
                    <a:lnTo>
                      <a:pt x="1156644" y="494983"/>
                    </a:lnTo>
                    <a:lnTo>
                      <a:pt x="1150622" y="495300"/>
                    </a:lnTo>
                    <a:lnTo>
                      <a:pt x="1144917" y="494983"/>
                    </a:lnTo>
                    <a:lnTo>
                      <a:pt x="1138894" y="494031"/>
                    </a:lnTo>
                    <a:lnTo>
                      <a:pt x="1133189" y="493080"/>
                    </a:lnTo>
                    <a:lnTo>
                      <a:pt x="1126849" y="491495"/>
                    </a:lnTo>
                    <a:lnTo>
                      <a:pt x="1120827" y="489592"/>
                    </a:lnTo>
                    <a:lnTo>
                      <a:pt x="1115121" y="487372"/>
                    </a:lnTo>
                    <a:lnTo>
                      <a:pt x="1109099" y="484519"/>
                    </a:lnTo>
                    <a:lnTo>
                      <a:pt x="1103710" y="481665"/>
                    </a:lnTo>
                    <a:lnTo>
                      <a:pt x="1097688" y="478177"/>
                    </a:lnTo>
                    <a:lnTo>
                      <a:pt x="1091983" y="474372"/>
                    </a:lnTo>
                    <a:lnTo>
                      <a:pt x="1086277" y="470249"/>
                    </a:lnTo>
                    <a:lnTo>
                      <a:pt x="1080572" y="465810"/>
                    </a:lnTo>
                    <a:lnTo>
                      <a:pt x="1074866" y="461054"/>
                    </a:lnTo>
                    <a:lnTo>
                      <a:pt x="1069478" y="455980"/>
                    </a:lnTo>
                    <a:lnTo>
                      <a:pt x="1064089" y="450272"/>
                    </a:lnTo>
                    <a:lnTo>
                      <a:pt x="1058701" y="444882"/>
                    </a:lnTo>
                    <a:lnTo>
                      <a:pt x="1053629" y="438857"/>
                    </a:lnTo>
                    <a:lnTo>
                      <a:pt x="1048558" y="432515"/>
                    </a:lnTo>
                    <a:lnTo>
                      <a:pt x="1043486" y="425856"/>
                    </a:lnTo>
                    <a:lnTo>
                      <a:pt x="1038415" y="419514"/>
                    </a:lnTo>
                    <a:lnTo>
                      <a:pt x="1033660" y="412538"/>
                    </a:lnTo>
                    <a:lnTo>
                      <a:pt x="1028906" y="404928"/>
                    </a:lnTo>
                    <a:lnTo>
                      <a:pt x="1020030" y="390342"/>
                    </a:lnTo>
                    <a:lnTo>
                      <a:pt x="1011472" y="374487"/>
                    </a:lnTo>
                    <a:lnTo>
                      <a:pt x="1003865" y="357998"/>
                    </a:lnTo>
                    <a:lnTo>
                      <a:pt x="996892" y="340875"/>
                    </a:lnTo>
                    <a:lnTo>
                      <a:pt x="990552" y="323752"/>
                    </a:lnTo>
                    <a:lnTo>
                      <a:pt x="988333" y="322801"/>
                    </a:lnTo>
                    <a:lnTo>
                      <a:pt x="986432" y="321850"/>
                    </a:lnTo>
                    <a:lnTo>
                      <a:pt x="984213" y="320264"/>
                    </a:lnTo>
                    <a:lnTo>
                      <a:pt x="982628" y="318045"/>
                    </a:lnTo>
                    <a:lnTo>
                      <a:pt x="980726" y="315508"/>
                    </a:lnTo>
                    <a:lnTo>
                      <a:pt x="978507" y="312971"/>
                    </a:lnTo>
                    <a:lnTo>
                      <a:pt x="975021" y="305995"/>
                    </a:lnTo>
                    <a:lnTo>
                      <a:pt x="971851" y="298068"/>
                    </a:lnTo>
                    <a:lnTo>
                      <a:pt x="969315" y="289506"/>
                    </a:lnTo>
                    <a:lnTo>
                      <a:pt x="966779" y="280310"/>
                    </a:lnTo>
                    <a:lnTo>
                      <a:pt x="964878" y="270480"/>
                    </a:lnTo>
                    <a:lnTo>
                      <a:pt x="963293" y="260968"/>
                    </a:lnTo>
                    <a:lnTo>
                      <a:pt x="962342" y="251455"/>
                    </a:lnTo>
                    <a:lnTo>
                      <a:pt x="962025" y="242576"/>
                    </a:lnTo>
                    <a:lnTo>
                      <a:pt x="962342" y="234966"/>
                    </a:lnTo>
                    <a:lnTo>
                      <a:pt x="962976" y="227990"/>
                    </a:lnTo>
                    <a:lnTo>
                      <a:pt x="963610" y="224819"/>
                    </a:lnTo>
                    <a:lnTo>
                      <a:pt x="964878" y="222599"/>
                    </a:lnTo>
                    <a:lnTo>
                      <a:pt x="965829" y="220380"/>
                    </a:lnTo>
                    <a:lnTo>
                      <a:pt x="967096" y="218794"/>
                    </a:lnTo>
                    <a:lnTo>
                      <a:pt x="968998" y="217526"/>
                    </a:lnTo>
                    <a:lnTo>
                      <a:pt x="970266" y="217209"/>
                    </a:lnTo>
                    <a:lnTo>
                      <a:pt x="970266" y="207379"/>
                    </a:lnTo>
                    <a:lnTo>
                      <a:pt x="970266" y="194695"/>
                    </a:lnTo>
                    <a:lnTo>
                      <a:pt x="971217" y="182329"/>
                    </a:lnTo>
                    <a:lnTo>
                      <a:pt x="972485" y="170279"/>
                    </a:lnTo>
                    <a:lnTo>
                      <a:pt x="974387" y="158864"/>
                    </a:lnTo>
                    <a:lnTo>
                      <a:pt x="976606" y="148082"/>
                    </a:lnTo>
                    <a:lnTo>
                      <a:pt x="979141" y="137301"/>
                    </a:lnTo>
                    <a:lnTo>
                      <a:pt x="982628" y="126837"/>
                    </a:lnTo>
                    <a:lnTo>
                      <a:pt x="985798" y="117007"/>
                    </a:lnTo>
                    <a:lnTo>
                      <a:pt x="989918" y="107494"/>
                    </a:lnTo>
                    <a:lnTo>
                      <a:pt x="994356" y="98616"/>
                    </a:lnTo>
                    <a:lnTo>
                      <a:pt x="999110" y="89737"/>
                    </a:lnTo>
                    <a:lnTo>
                      <a:pt x="1003865" y="81810"/>
                    </a:lnTo>
                    <a:lnTo>
                      <a:pt x="1009253" y="73565"/>
                    </a:lnTo>
                    <a:lnTo>
                      <a:pt x="1014959" y="66272"/>
                    </a:lnTo>
                    <a:lnTo>
                      <a:pt x="1021298" y="58979"/>
                    </a:lnTo>
                    <a:lnTo>
                      <a:pt x="1027321" y="52320"/>
                    </a:lnTo>
                    <a:lnTo>
                      <a:pt x="1033660" y="45978"/>
                    </a:lnTo>
                    <a:lnTo>
                      <a:pt x="1040633" y="39954"/>
                    </a:lnTo>
                    <a:lnTo>
                      <a:pt x="1047607" y="34563"/>
                    </a:lnTo>
                    <a:lnTo>
                      <a:pt x="1054580" y="29489"/>
                    </a:lnTo>
                    <a:lnTo>
                      <a:pt x="1061870" y="24733"/>
                    </a:lnTo>
                    <a:lnTo>
                      <a:pt x="1069795" y="20294"/>
                    </a:lnTo>
                    <a:lnTo>
                      <a:pt x="1077402" y="16489"/>
                    </a:lnTo>
                    <a:lnTo>
                      <a:pt x="1085326" y="12683"/>
                    </a:lnTo>
                    <a:lnTo>
                      <a:pt x="1092934" y="9830"/>
                    </a:lnTo>
                    <a:lnTo>
                      <a:pt x="1101175" y="7293"/>
                    </a:lnTo>
                    <a:lnTo>
                      <a:pt x="1109099" y="5073"/>
                    </a:lnTo>
                    <a:lnTo>
                      <a:pt x="1117657" y="3171"/>
                    </a:lnTo>
                    <a:lnTo>
                      <a:pt x="1125581" y="1902"/>
                    </a:lnTo>
                    <a:lnTo>
                      <a:pt x="1134140" y="634"/>
                    </a:lnTo>
                    <a:lnTo>
                      <a:pt x="114238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1357290" y="2214560"/>
            <a:ext cx="936000" cy="800304"/>
            <a:chOff x="4427568" y="2283822"/>
            <a:chExt cx="936000" cy="936000"/>
          </a:xfrm>
        </p:grpSpPr>
        <p:sp>
          <p:nvSpPr>
            <p:cNvPr id="19" name="MH_Other_10"/>
            <p:cNvSpPr/>
            <p:nvPr>
              <p:custDataLst>
                <p:tags r:id="rId9"/>
              </p:custDataLst>
            </p:nvPr>
          </p:nvSpPr>
          <p:spPr>
            <a:xfrm>
              <a:off x="4427568" y="2283822"/>
              <a:ext cx="936000" cy="936000"/>
            </a:xfrm>
            <a:prstGeom prst="donut">
              <a:avLst>
                <a:gd name="adj" fmla="val 9894"/>
              </a:avLst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  <a:tileRect/>
            </a:gradFill>
            <a:ln w="12700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152400" dist="127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grpSp>
          <p:nvGrpSpPr>
            <p:cNvPr id="20" name="组合 53"/>
            <p:cNvGrpSpPr/>
            <p:nvPr/>
          </p:nvGrpSpPr>
          <p:grpSpPr>
            <a:xfrm>
              <a:off x="4607568" y="2491911"/>
              <a:ext cx="576000" cy="576000"/>
              <a:chOff x="5975988" y="2859822"/>
              <a:chExt cx="720000" cy="720000"/>
            </a:xfrm>
          </p:grpSpPr>
          <p:sp>
            <p:nvSpPr>
              <p:cNvPr id="21" name="MH_Title_1"/>
              <p:cNvSpPr/>
              <p:nvPr>
                <p:custDataLst>
                  <p:tags r:id="rId10"/>
                </p:custDataLst>
              </p:nvPr>
            </p:nvSpPr>
            <p:spPr>
              <a:xfrm>
                <a:off x="5975988" y="2859822"/>
                <a:ext cx="720000" cy="720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/>
                <a:endParaRPr lang="en-US" altLang="zh-CN" sz="2700" dirty="0">
                  <a:cs typeface="+mn-ea"/>
                  <a:sym typeface="+mn-lt"/>
                </a:endParaRPr>
              </a:p>
            </p:txBody>
          </p:sp>
          <p:sp>
            <p:nvSpPr>
              <p:cNvPr id="22" name="KSO_Shape"/>
              <p:cNvSpPr/>
              <p:nvPr/>
            </p:nvSpPr>
            <p:spPr bwMode="auto">
              <a:xfrm>
                <a:off x="6073795" y="3038902"/>
                <a:ext cx="502102" cy="362350"/>
              </a:xfrm>
              <a:custGeom>
                <a:avLst/>
                <a:gdLst>
                  <a:gd name="T0" fmla="*/ 2881614 w 3362326"/>
                  <a:gd name="T1" fmla="*/ 2245619 h 2424113"/>
                  <a:gd name="T2" fmla="*/ 3207949 w 3362326"/>
                  <a:gd name="T3" fmla="*/ 953766 h 2424113"/>
                  <a:gd name="T4" fmla="*/ 3300702 w 3362326"/>
                  <a:gd name="T5" fmla="*/ 1054704 h 2424113"/>
                  <a:gd name="T6" fmla="*/ 3357879 w 3362326"/>
                  <a:gd name="T7" fmla="*/ 1578442 h 2424113"/>
                  <a:gd name="T8" fmla="*/ 2754348 w 3362326"/>
                  <a:gd name="T9" fmla="*/ 1274991 h 2424113"/>
                  <a:gd name="T10" fmla="*/ 2862031 w 3362326"/>
                  <a:gd name="T11" fmla="*/ 1038516 h 2424113"/>
                  <a:gd name="T12" fmla="*/ 2811207 w 3362326"/>
                  <a:gd name="T13" fmla="*/ 1366725 h 2424113"/>
                  <a:gd name="T14" fmla="*/ 3041820 w 3362326"/>
                  <a:gd name="T15" fmla="*/ 999791 h 2424113"/>
                  <a:gd name="T16" fmla="*/ 3170149 w 3362326"/>
                  <a:gd name="T17" fmla="*/ 942974 h 2424113"/>
                  <a:gd name="T18" fmla="*/ 296683 w 3362326"/>
                  <a:gd name="T19" fmla="*/ 978524 h 2424113"/>
                  <a:gd name="T20" fmla="*/ 498389 w 3362326"/>
                  <a:gd name="T21" fmla="*/ 1265469 h 2424113"/>
                  <a:gd name="T22" fmla="*/ 488542 w 3362326"/>
                  <a:gd name="T23" fmla="*/ 1028041 h 2424113"/>
                  <a:gd name="T24" fmla="*/ 582566 w 3362326"/>
                  <a:gd name="T25" fmla="*/ 1187067 h 2424113"/>
                  <a:gd name="T26" fmla="*/ 319871 w 3362326"/>
                  <a:gd name="T27" fmla="*/ 2147887 h 2424113"/>
                  <a:gd name="T28" fmla="*/ 37800 w 3362326"/>
                  <a:gd name="T29" fmla="*/ 1105808 h 2424113"/>
                  <a:gd name="T30" fmla="*/ 124836 w 3362326"/>
                  <a:gd name="T31" fmla="*/ 975985 h 2424113"/>
                  <a:gd name="T32" fmla="*/ 1545327 w 3362326"/>
                  <a:gd name="T33" fmla="*/ 746198 h 2424113"/>
                  <a:gd name="T34" fmla="*/ 1656547 w 3362326"/>
                  <a:gd name="T35" fmla="*/ 809752 h 2424113"/>
                  <a:gd name="T36" fmla="*/ 1802720 w 3362326"/>
                  <a:gd name="T37" fmla="*/ 881250 h 2424113"/>
                  <a:gd name="T38" fmla="*/ 1889154 w 3362326"/>
                  <a:gd name="T39" fmla="*/ 667392 h 2424113"/>
                  <a:gd name="T40" fmla="*/ 2073778 w 3362326"/>
                  <a:gd name="T41" fmla="*/ 739843 h 2424113"/>
                  <a:gd name="T42" fmla="*/ 2280963 w 3362326"/>
                  <a:gd name="T43" fmla="*/ 997553 h 2424113"/>
                  <a:gd name="T44" fmla="*/ 2456054 w 3362326"/>
                  <a:gd name="T45" fmla="*/ 821509 h 2424113"/>
                  <a:gd name="T46" fmla="*/ 2536132 w 3362326"/>
                  <a:gd name="T47" fmla="*/ 819603 h 2424113"/>
                  <a:gd name="T48" fmla="*/ 2596190 w 3362326"/>
                  <a:gd name="T49" fmla="*/ 876801 h 2424113"/>
                  <a:gd name="T50" fmla="*/ 2598415 w 3362326"/>
                  <a:gd name="T51" fmla="*/ 956879 h 2424113"/>
                  <a:gd name="T52" fmla="*/ 2382332 w 3362326"/>
                  <a:gd name="T53" fmla="*/ 1195206 h 2424113"/>
                  <a:gd name="T54" fmla="*/ 2241242 w 3362326"/>
                  <a:gd name="T55" fmla="*/ 1268610 h 2424113"/>
                  <a:gd name="T56" fmla="*/ 2118265 w 3362326"/>
                  <a:gd name="T57" fmla="*/ 1192028 h 2424113"/>
                  <a:gd name="T58" fmla="*/ 1363246 w 3362326"/>
                  <a:gd name="T59" fmla="*/ 1018526 h 2424113"/>
                  <a:gd name="T60" fmla="*/ 1307636 w 3362326"/>
                  <a:gd name="T61" fmla="*/ 1409700 h 2424113"/>
                  <a:gd name="T62" fmla="*/ 1157013 w 3362326"/>
                  <a:gd name="T63" fmla="*/ 999778 h 2424113"/>
                  <a:gd name="T64" fmla="*/ 1245989 w 3362326"/>
                  <a:gd name="T65" fmla="*/ 780199 h 2424113"/>
                  <a:gd name="T66" fmla="*/ 1499569 w 3362326"/>
                  <a:gd name="T67" fmla="*/ 668027 h 2424113"/>
                  <a:gd name="T68" fmla="*/ 3142462 w 3362326"/>
                  <a:gd name="T69" fmla="*/ 282872 h 2424113"/>
                  <a:gd name="T70" fmla="*/ 3244523 w 3362326"/>
                  <a:gd name="T71" fmla="*/ 440586 h 2424113"/>
                  <a:gd name="T72" fmla="*/ 3210503 w 3362326"/>
                  <a:gd name="T73" fmla="*/ 656690 h 2424113"/>
                  <a:gd name="T74" fmla="*/ 3038811 w 3362326"/>
                  <a:gd name="T75" fmla="*/ 831222 h 2424113"/>
                  <a:gd name="T76" fmla="*/ 2904319 w 3362326"/>
                  <a:gd name="T77" fmla="*/ 826780 h 2424113"/>
                  <a:gd name="T78" fmla="*/ 2817519 w 3362326"/>
                  <a:gd name="T79" fmla="*/ 691913 h 2424113"/>
                  <a:gd name="T80" fmla="*/ 2807981 w 3362326"/>
                  <a:gd name="T81" fmla="*/ 429797 h 2424113"/>
                  <a:gd name="T82" fmla="*/ 2910678 w 3362326"/>
                  <a:gd name="T83" fmla="*/ 280651 h 2424113"/>
                  <a:gd name="T84" fmla="*/ 375153 w 3362326"/>
                  <a:gd name="T85" fmla="*/ 248918 h 2424113"/>
                  <a:gd name="T86" fmla="*/ 514634 w 3362326"/>
                  <a:gd name="T87" fmla="*/ 342213 h 2424113"/>
                  <a:gd name="T88" fmla="*/ 561340 w 3362326"/>
                  <a:gd name="T89" fmla="*/ 566885 h 2424113"/>
                  <a:gd name="T90" fmla="*/ 510821 w 3362326"/>
                  <a:gd name="T91" fmla="*/ 773785 h 2424113"/>
                  <a:gd name="T92" fmla="*/ 418682 w 3362326"/>
                  <a:gd name="T93" fmla="*/ 842646 h 2424113"/>
                  <a:gd name="T94" fmla="*/ 241709 w 3362326"/>
                  <a:gd name="T95" fmla="*/ 778862 h 2424113"/>
                  <a:gd name="T96" fmla="*/ 117162 w 3362326"/>
                  <a:gd name="T97" fmla="*/ 551970 h 2424113"/>
                  <a:gd name="T98" fmla="*/ 148299 w 3362326"/>
                  <a:gd name="T99" fmla="*/ 359984 h 2424113"/>
                  <a:gd name="T100" fmla="*/ 297311 w 3362326"/>
                  <a:gd name="T101" fmla="*/ 250822 h 2424113"/>
                  <a:gd name="T102" fmla="*/ 1834594 w 3362326"/>
                  <a:gd name="T103" fmla="*/ 43475 h 2424113"/>
                  <a:gd name="T104" fmla="*/ 1934457 w 3362326"/>
                  <a:gd name="T105" fmla="*/ 205318 h 2424113"/>
                  <a:gd name="T106" fmla="*/ 1973258 w 3362326"/>
                  <a:gd name="T107" fmla="*/ 288461 h 2424113"/>
                  <a:gd name="T108" fmla="*/ 1942726 w 3362326"/>
                  <a:gd name="T109" fmla="*/ 390961 h 2424113"/>
                  <a:gd name="T110" fmla="*/ 1864808 w 3362326"/>
                  <a:gd name="T111" fmla="*/ 532812 h 2424113"/>
                  <a:gd name="T112" fmla="*/ 1729325 w 3362326"/>
                  <a:gd name="T113" fmla="*/ 622301 h 2424113"/>
                  <a:gd name="T114" fmla="*/ 1571262 w 3362326"/>
                  <a:gd name="T115" fmla="*/ 579778 h 2424113"/>
                  <a:gd name="T116" fmla="*/ 1478714 w 3362326"/>
                  <a:gd name="T117" fmla="*/ 436341 h 2424113"/>
                  <a:gd name="T118" fmla="*/ 1416379 w 3362326"/>
                  <a:gd name="T119" fmla="*/ 348438 h 2424113"/>
                  <a:gd name="T120" fmla="*/ 1429418 w 3362326"/>
                  <a:gd name="T121" fmla="*/ 264978 h 2424113"/>
                  <a:gd name="T122" fmla="*/ 1483484 w 3362326"/>
                  <a:gd name="T123" fmla="*/ 132965 h 2424113"/>
                  <a:gd name="T124" fmla="*/ 1621829 w 3362326"/>
                  <a:gd name="T125" fmla="*/ 11107 h 2424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362326" h="2424113">
                    <a:moveTo>
                      <a:pt x="860805" y="1460500"/>
                    </a:moveTo>
                    <a:lnTo>
                      <a:pt x="965275" y="1460500"/>
                    </a:lnTo>
                    <a:lnTo>
                      <a:pt x="961464" y="1465582"/>
                    </a:lnTo>
                    <a:lnTo>
                      <a:pt x="957654" y="1470664"/>
                    </a:lnTo>
                    <a:lnTo>
                      <a:pt x="953843" y="1476380"/>
                    </a:lnTo>
                    <a:lnTo>
                      <a:pt x="949715" y="1482415"/>
                    </a:lnTo>
                    <a:lnTo>
                      <a:pt x="483570" y="2244666"/>
                    </a:lnTo>
                    <a:lnTo>
                      <a:pt x="483570" y="2248795"/>
                    </a:lnTo>
                    <a:lnTo>
                      <a:pt x="483570" y="2251971"/>
                    </a:lnTo>
                    <a:lnTo>
                      <a:pt x="483888" y="2255147"/>
                    </a:lnTo>
                    <a:lnTo>
                      <a:pt x="484205" y="2257371"/>
                    </a:lnTo>
                    <a:lnTo>
                      <a:pt x="2880661" y="2259594"/>
                    </a:lnTo>
                    <a:lnTo>
                      <a:pt x="2880978" y="2256735"/>
                    </a:lnTo>
                    <a:lnTo>
                      <a:pt x="2881614" y="2253877"/>
                    </a:lnTo>
                    <a:lnTo>
                      <a:pt x="2881931" y="2250066"/>
                    </a:lnTo>
                    <a:lnTo>
                      <a:pt x="2881614" y="2245619"/>
                    </a:lnTo>
                    <a:lnTo>
                      <a:pt x="2422137" y="1485273"/>
                    </a:lnTo>
                    <a:lnTo>
                      <a:pt x="2411023" y="1471934"/>
                    </a:lnTo>
                    <a:lnTo>
                      <a:pt x="2401179" y="1460500"/>
                    </a:lnTo>
                    <a:lnTo>
                      <a:pt x="2509460" y="1460500"/>
                    </a:lnTo>
                    <a:lnTo>
                      <a:pt x="3024188" y="2273251"/>
                    </a:lnTo>
                    <a:lnTo>
                      <a:pt x="3024188" y="2423478"/>
                    </a:lnTo>
                    <a:lnTo>
                      <a:pt x="3021648" y="2424113"/>
                    </a:lnTo>
                    <a:lnTo>
                      <a:pt x="3018472" y="2424113"/>
                    </a:lnTo>
                    <a:lnTo>
                      <a:pt x="345441" y="2421890"/>
                    </a:lnTo>
                    <a:lnTo>
                      <a:pt x="341948" y="2421572"/>
                    </a:lnTo>
                    <a:lnTo>
                      <a:pt x="338138" y="2421255"/>
                    </a:lnTo>
                    <a:lnTo>
                      <a:pt x="338138" y="2277062"/>
                    </a:lnTo>
                    <a:lnTo>
                      <a:pt x="860805" y="1460500"/>
                    </a:lnTo>
                    <a:close/>
                    <a:moveTo>
                      <a:pt x="3185714" y="941387"/>
                    </a:moveTo>
                    <a:lnTo>
                      <a:pt x="3196514" y="947100"/>
                    </a:lnTo>
                    <a:lnTo>
                      <a:pt x="3207949" y="953766"/>
                    </a:lnTo>
                    <a:lnTo>
                      <a:pt x="3213667" y="957575"/>
                    </a:lnTo>
                    <a:lnTo>
                      <a:pt x="3219702" y="962019"/>
                    </a:lnTo>
                    <a:lnTo>
                      <a:pt x="3225420" y="966145"/>
                    </a:lnTo>
                    <a:lnTo>
                      <a:pt x="3231455" y="970906"/>
                    </a:lnTo>
                    <a:lnTo>
                      <a:pt x="3237490" y="975985"/>
                    </a:lnTo>
                    <a:lnTo>
                      <a:pt x="3243526" y="981699"/>
                    </a:lnTo>
                    <a:lnTo>
                      <a:pt x="3249243" y="987095"/>
                    </a:lnTo>
                    <a:lnTo>
                      <a:pt x="3255279" y="993443"/>
                    </a:lnTo>
                    <a:lnTo>
                      <a:pt x="3261314" y="999791"/>
                    </a:lnTo>
                    <a:lnTo>
                      <a:pt x="3267032" y="1006457"/>
                    </a:lnTo>
                    <a:lnTo>
                      <a:pt x="3273067" y="1014075"/>
                    </a:lnTo>
                    <a:lnTo>
                      <a:pt x="3278785" y="1021376"/>
                    </a:lnTo>
                    <a:lnTo>
                      <a:pt x="3284185" y="1029311"/>
                    </a:lnTo>
                    <a:lnTo>
                      <a:pt x="3289902" y="1037247"/>
                    </a:lnTo>
                    <a:lnTo>
                      <a:pt x="3295302" y="1045817"/>
                    </a:lnTo>
                    <a:lnTo>
                      <a:pt x="3300702" y="1054704"/>
                    </a:lnTo>
                    <a:lnTo>
                      <a:pt x="3305785" y="1064544"/>
                    </a:lnTo>
                    <a:lnTo>
                      <a:pt x="3310549" y="1074067"/>
                    </a:lnTo>
                    <a:lnTo>
                      <a:pt x="3315632" y="1084224"/>
                    </a:lnTo>
                    <a:lnTo>
                      <a:pt x="3320079" y="1094699"/>
                    </a:lnTo>
                    <a:lnTo>
                      <a:pt x="3324526" y="1105808"/>
                    </a:lnTo>
                    <a:lnTo>
                      <a:pt x="3328655" y="1116918"/>
                    </a:lnTo>
                    <a:lnTo>
                      <a:pt x="3332467" y="1128662"/>
                    </a:lnTo>
                    <a:lnTo>
                      <a:pt x="3335961" y="1140724"/>
                    </a:lnTo>
                    <a:lnTo>
                      <a:pt x="3339138" y="1153104"/>
                    </a:lnTo>
                    <a:lnTo>
                      <a:pt x="3342632" y="1166118"/>
                    </a:lnTo>
                    <a:lnTo>
                      <a:pt x="3345173" y="1179767"/>
                    </a:lnTo>
                    <a:lnTo>
                      <a:pt x="3347714" y="1193415"/>
                    </a:lnTo>
                    <a:lnTo>
                      <a:pt x="3350573" y="1282609"/>
                    </a:lnTo>
                    <a:lnTo>
                      <a:pt x="3353432" y="1374343"/>
                    </a:lnTo>
                    <a:lnTo>
                      <a:pt x="3355655" y="1472425"/>
                    </a:lnTo>
                    <a:lnTo>
                      <a:pt x="3357879" y="1578442"/>
                    </a:lnTo>
                    <a:lnTo>
                      <a:pt x="3359785" y="1696204"/>
                    </a:lnTo>
                    <a:lnTo>
                      <a:pt x="3361055" y="1828884"/>
                    </a:lnTo>
                    <a:lnTo>
                      <a:pt x="3362008" y="1978387"/>
                    </a:lnTo>
                    <a:lnTo>
                      <a:pt x="3362326" y="2147887"/>
                    </a:lnTo>
                    <a:lnTo>
                      <a:pt x="3042772" y="2147887"/>
                    </a:lnTo>
                    <a:lnTo>
                      <a:pt x="2678113" y="1585108"/>
                    </a:lnTo>
                    <a:lnTo>
                      <a:pt x="2686689" y="1540670"/>
                    </a:lnTo>
                    <a:lnTo>
                      <a:pt x="2694313" y="1501627"/>
                    </a:lnTo>
                    <a:lnTo>
                      <a:pt x="2701937" y="1466711"/>
                    </a:lnTo>
                    <a:lnTo>
                      <a:pt x="2708607" y="1436556"/>
                    </a:lnTo>
                    <a:lnTo>
                      <a:pt x="2715278" y="1409576"/>
                    </a:lnTo>
                    <a:lnTo>
                      <a:pt x="2720995" y="1385770"/>
                    </a:lnTo>
                    <a:lnTo>
                      <a:pt x="2727031" y="1364186"/>
                    </a:lnTo>
                    <a:lnTo>
                      <a:pt x="2732748" y="1344823"/>
                    </a:lnTo>
                    <a:lnTo>
                      <a:pt x="2743548" y="1309272"/>
                    </a:lnTo>
                    <a:lnTo>
                      <a:pt x="2754348" y="1274991"/>
                    </a:lnTo>
                    <a:lnTo>
                      <a:pt x="2759748" y="1256581"/>
                    </a:lnTo>
                    <a:lnTo>
                      <a:pt x="2765784" y="1237219"/>
                    </a:lnTo>
                    <a:lnTo>
                      <a:pt x="2771819" y="1215635"/>
                    </a:lnTo>
                    <a:lnTo>
                      <a:pt x="2778490" y="1191511"/>
                    </a:lnTo>
                    <a:lnTo>
                      <a:pt x="2779760" y="1187067"/>
                    </a:lnTo>
                    <a:lnTo>
                      <a:pt x="2784843" y="1174370"/>
                    </a:lnTo>
                    <a:lnTo>
                      <a:pt x="2792466" y="1155960"/>
                    </a:lnTo>
                    <a:lnTo>
                      <a:pt x="2797866" y="1144851"/>
                    </a:lnTo>
                    <a:lnTo>
                      <a:pt x="2803266" y="1132789"/>
                    </a:lnTo>
                    <a:lnTo>
                      <a:pt x="2809619" y="1119775"/>
                    </a:lnTo>
                    <a:lnTo>
                      <a:pt x="2816607" y="1106443"/>
                    </a:lnTo>
                    <a:lnTo>
                      <a:pt x="2824549" y="1092794"/>
                    </a:lnTo>
                    <a:lnTo>
                      <a:pt x="2833125" y="1078828"/>
                    </a:lnTo>
                    <a:lnTo>
                      <a:pt x="2842019" y="1065179"/>
                    </a:lnTo>
                    <a:lnTo>
                      <a:pt x="2851549" y="1051530"/>
                    </a:lnTo>
                    <a:lnTo>
                      <a:pt x="2862031" y="1038516"/>
                    </a:lnTo>
                    <a:lnTo>
                      <a:pt x="2867113" y="1032168"/>
                    </a:lnTo>
                    <a:lnTo>
                      <a:pt x="2872831" y="1025820"/>
                    </a:lnTo>
                    <a:lnTo>
                      <a:pt x="2873149" y="1025820"/>
                    </a:lnTo>
                    <a:lnTo>
                      <a:pt x="2873466" y="1025820"/>
                    </a:lnTo>
                    <a:lnTo>
                      <a:pt x="2873784" y="1028041"/>
                    </a:lnTo>
                    <a:lnTo>
                      <a:pt x="2873466" y="1032168"/>
                    </a:lnTo>
                    <a:lnTo>
                      <a:pt x="2873149" y="1037881"/>
                    </a:lnTo>
                    <a:lnTo>
                      <a:pt x="2870607" y="1054387"/>
                    </a:lnTo>
                    <a:lnTo>
                      <a:pt x="2866796" y="1076289"/>
                    </a:lnTo>
                    <a:lnTo>
                      <a:pt x="2856313" y="1132471"/>
                    </a:lnTo>
                    <a:lnTo>
                      <a:pt x="2843925" y="1197859"/>
                    </a:lnTo>
                    <a:lnTo>
                      <a:pt x="2819784" y="1318160"/>
                    </a:lnTo>
                    <a:lnTo>
                      <a:pt x="2815654" y="1340062"/>
                    </a:lnTo>
                    <a:lnTo>
                      <a:pt x="2812478" y="1355933"/>
                    </a:lnTo>
                    <a:lnTo>
                      <a:pt x="2811525" y="1365455"/>
                    </a:lnTo>
                    <a:lnTo>
                      <a:pt x="2811207" y="1366725"/>
                    </a:lnTo>
                    <a:lnTo>
                      <a:pt x="2811525" y="1367042"/>
                    </a:lnTo>
                    <a:lnTo>
                      <a:pt x="2811843" y="1366407"/>
                    </a:lnTo>
                    <a:lnTo>
                      <a:pt x="2828678" y="1332761"/>
                    </a:lnTo>
                    <a:lnTo>
                      <a:pt x="2846149" y="1298798"/>
                    </a:lnTo>
                    <a:lnTo>
                      <a:pt x="2864255" y="1265469"/>
                    </a:lnTo>
                    <a:lnTo>
                      <a:pt x="2882360" y="1232775"/>
                    </a:lnTo>
                    <a:lnTo>
                      <a:pt x="2901419" y="1200716"/>
                    </a:lnTo>
                    <a:lnTo>
                      <a:pt x="2920160" y="1169927"/>
                    </a:lnTo>
                    <a:lnTo>
                      <a:pt x="2938584" y="1140089"/>
                    </a:lnTo>
                    <a:lnTo>
                      <a:pt x="2957325" y="1112792"/>
                    </a:lnTo>
                    <a:lnTo>
                      <a:pt x="2974796" y="1086764"/>
                    </a:lnTo>
                    <a:lnTo>
                      <a:pt x="2991314" y="1062957"/>
                    </a:lnTo>
                    <a:lnTo>
                      <a:pt x="3007514" y="1041373"/>
                    </a:lnTo>
                    <a:lnTo>
                      <a:pt x="3022125" y="1022963"/>
                    </a:lnTo>
                    <a:lnTo>
                      <a:pt x="3035467" y="1006775"/>
                    </a:lnTo>
                    <a:lnTo>
                      <a:pt x="3041820" y="999791"/>
                    </a:lnTo>
                    <a:lnTo>
                      <a:pt x="3047537" y="993760"/>
                    </a:lnTo>
                    <a:lnTo>
                      <a:pt x="3052620" y="988682"/>
                    </a:lnTo>
                    <a:lnTo>
                      <a:pt x="3057384" y="984555"/>
                    </a:lnTo>
                    <a:lnTo>
                      <a:pt x="3062149" y="981381"/>
                    </a:lnTo>
                    <a:lnTo>
                      <a:pt x="3065643" y="978524"/>
                    </a:lnTo>
                    <a:lnTo>
                      <a:pt x="3079937" y="971224"/>
                    </a:lnTo>
                    <a:lnTo>
                      <a:pt x="3094549" y="964241"/>
                    </a:lnTo>
                    <a:lnTo>
                      <a:pt x="3109161" y="958210"/>
                    </a:lnTo>
                    <a:lnTo>
                      <a:pt x="3116784" y="955353"/>
                    </a:lnTo>
                    <a:lnTo>
                      <a:pt x="3124408" y="953131"/>
                    </a:lnTo>
                    <a:lnTo>
                      <a:pt x="3132031" y="950909"/>
                    </a:lnTo>
                    <a:lnTo>
                      <a:pt x="3139337" y="948687"/>
                    </a:lnTo>
                    <a:lnTo>
                      <a:pt x="3146961" y="946783"/>
                    </a:lnTo>
                    <a:lnTo>
                      <a:pt x="3154902" y="945196"/>
                    </a:lnTo>
                    <a:lnTo>
                      <a:pt x="3162208" y="943609"/>
                    </a:lnTo>
                    <a:lnTo>
                      <a:pt x="3170149" y="942974"/>
                    </a:lnTo>
                    <a:lnTo>
                      <a:pt x="3178090" y="942339"/>
                    </a:lnTo>
                    <a:lnTo>
                      <a:pt x="3185714" y="941387"/>
                    </a:lnTo>
                    <a:close/>
                    <a:moveTo>
                      <a:pt x="176612" y="941387"/>
                    </a:moveTo>
                    <a:lnTo>
                      <a:pt x="184236" y="942339"/>
                    </a:lnTo>
                    <a:lnTo>
                      <a:pt x="192177" y="942974"/>
                    </a:lnTo>
                    <a:lnTo>
                      <a:pt x="200118" y="943609"/>
                    </a:lnTo>
                    <a:lnTo>
                      <a:pt x="207742" y="945196"/>
                    </a:lnTo>
                    <a:lnTo>
                      <a:pt x="215047" y="946783"/>
                    </a:lnTo>
                    <a:lnTo>
                      <a:pt x="222989" y="948687"/>
                    </a:lnTo>
                    <a:lnTo>
                      <a:pt x="230295" y="950909"/>
                    </a:lnTo>
                    <a:lnTo>
                      <a:pt x="238236" y="953131"/>
                    </a:lnTo>
                    <a:lnTo>
                      <a:pt x="245542" y="955353"/>
                    </a:lnTo>
                    <a:lnTo>
                      <a:pt x="253165" y="958210"/>
                    </a:lnTo>
                    <a:lnTo>
                      <a:pt x="268095" y="964241"/>
                    </a:lnTo>
                    <a:lnTo>
                      <a:pt x="282389" y="971224"/>
                    </a:lnTo>
                    <a:lnTo>
                      <a:pt x="296683" y="978524"/>
                    </a:lnTo>
                    <a:lnTo>
                      <a:pt x="300812" y="981381"/>
                    </a:lnTo>
                    <a:lnTo>
                      <a:pt x="304624" y="984555"/>
                    </a:lnTo>
                    <a:lnTo>
                      <a:pt x="309706" y="988682"/>
                    </a:lnTo>
                    <a:lnTo>
                      <a:pt x="314789" y="993760"/>
                    </a:lnTo>
                    <a:lnTo>
                      <a:pt x="320824" y="999791"/>
                    </a:lnTo>
                    <a:lnTo>
                      <a:pt x="326859" y="1006775"/>
                    </a:lnTo>
                    <a:lnTo>
                      <a:pt x="340201" y="1022963"/>
                    </a:lnTo>
                    <a:lnTo>
                      <a:pt x="354812" y="1041373"/>
                    </a:lnTo>
                    <a:lnTo>
                      <a:pt x="371012" y="1062957"/>
                    </a:lnTo>
                    <a:lnTo>
                      <a:pt x="387530" y="1086764"/>
                    </a:lnTo>
                    <a:lnTo>
                      <a:pt x="405636" y="1112792"/>
                    </a:lnTo>
                    <a:lnTo>
                      <a:pt x="423742" y="1140089"/>
                    </a:lnTo>
                    <a:lnTo>
                      <a:pt x="442166" y="1169927"/>
                    </a:lnTo>
                    <a:lnTo>
                      <a:pt x="460907" y="1200716"/>
                    </a:lnTo>
                    <a:lnTo>
                      <a:pt x="479966" y="1232775"/>
                    </a:lnTo>
                    <a:lnTo>
                      <a:pt x="498389" y="1265469"/>
                    </a:lnTo>
                    <a:lnTo>
                      <a:pt x="516177" y="1298798"/>
                    </a:lnTo>
                    <a:lnTo>
                      <a:pt x="533966" y="1332761"/>
                    </a:lnTo>
                    <a:lnTo>
                      <a:pt x="550801" y="1366407"/>
                    </a:lnTo>
                    <a:lnTo>
                      <a:pt x="550801" y="1367042"/>
                    </a:lnTo>
                    <a:lnTo>
                      <a:pt x="551119" y="1366725"/>
                    </a:lnTo>
                    <a:lnTo>
                      <a:pt x="551119" y="1365455"/>
                    </a:lnTo>
                    <a:lnTo>
                      <a:pt x="549848" y="1355933"/>
                    </a:lnTo>
                    <a:lnTo>
                      <a:pt x="546672" y="1340062"/>
                    </a:lnTo>
                    <a:lnTo>
                      <a:pt x="542542" y="1318160"/>
                    </a:lnTo>
                    <a:lnTo>
                      <a:pt x="519036" y="1197859"/>
                    </a:lnTo>
                    <a:lnTo>
                      <a:pt x="506013" y="1132471"/>
                    </a:lnTo>
                    <a:lnTo>
                      <a:pt x="495530" y="1076289"/>
                    </a:lnTo>
                    <a:lnTo>
                      <a:pt x="491719" y="1054387"/>
                    </a:lnTo>
                    <a:lnTo>
                      <a:pt x="489495" y="1037881"/>
                    </a:lnTo>
                    <a:lnTo>
                      <a:pt x="488860" y="1032168"/>
                    </a:lnTo>
                    <a:lnTo>
                      <a:pt x="488542" y="1028041"/>
                    </a:lnTo>
                    <a:lnTo>
                      <a:pt x="488860" y="1025820"/>
                    </a:lnTo>
                    <a:lnTo>
                      <a:pt x="489177" y="1025820"/>
                    </a:lnTo>
                    <a:lnTo>
                      <a:pt x="489495" y="1025820"/>
                    </a:lnTo>
                    <a:lnTo>
                      <a:pt x="495213" y="1032168"/>
                    </a:lnTo>
                    <a:lnTo>
                      <a:pt x="500295" y="1038516"/>
                    </a:lnTo>
                    <a:lnTo>
                      <a:pt x="510777" y="1051530"/>
                    </a:lnTo>
                    <a:lnTo>
                      <a:pt x="520307" y="1065179"/>
                    </a:lnTo>
                    <a:lnTo>
                      <a:pt x="529201" y="1078828"/>
                    </a:lnTo>
                    <a:lnTo>
                      <a:pt x="537777" y="1092794"/>
                    </a:lnTo>
                    <a:lnTo>
                      <a:pt x="545719" y="1106443"/>
                    </a:lnTo>
                    <a:lnTo>
                      <a:pt x="552707" y="1119775"/>
                    </a:lnTo>
                    <a:lnTo>
                      <a:pt x="559060" y="1132789"/>
                    </a:lnTo>
                    <a:lnTo>
                      <a:pt x="565095" y="1144851"/>
                    </a:lnTo>
                    <a:lnTo>
                      <a:pt x="569860" y="1155960"/>
                    </a:lnTo>
                    <a:lnTo>
                      <a:pt x="577483" y="1174370"/>
                    </a:lnTo>
                    <a:lnTo>
                      <a:pt x="582566" y="1187067"/>
                    </a:lnTo>
                    <a:lnTo>
                      <a:pt x="584154" y="1191511"/>
                    </a:lnTo>
                    <a:lnTo>
                      <a:pt x="590507" y="1215635"/>
                    </a:lnTo>
                    <a:lnTo>
                      <a:pt x="596542" y="1237219"/>
                    </a:lnTo>
                    <a:lnTo>
                      <a:pt x="602578" y="1256581"/>
                    </a:lnTo>
                    <a:lnTo>
                      <a:pt x="607978" y="1274991"/>
                    </a:lnTo>
                    <a:lnTo>
                      <a:pt x="618778" y="1309272"/>
                    </a:lnTo>
                    <a:lnTo>
                      <a:pt x="629895" y="1344823"/>
                    </a:lnTo>
                    <a:lnTo>
                      <a:pt x="635613" y="1364186"/>
                    </a:lnTo>
                    <a:lnTo>
                      <a:pt x="641013" y="1385770"/>
                    </a:lnTo>
                    <a:lnTo>
                      <a:pt x="647366" y="1409576"/>
                    </a:lnTo>
                    <a:lnTo>
                      <a:pt x="653719" y="1436556"/>
                    </a:lnTo>
                    <a:lnTo>
                      <a:pt x="660389" y="1466711"/>
                    </a:lnTo>
                    <a:lnTo>
                      <a:pt x="668013" y="1501627"/>
                    </a:lnTo>
                    <a:lnTo>
                      <a:pt x="675636" y="1540670"/>
                    </a:lnTo>
                    <a:lnTo>
                      <a:pt x="684213" y="1585108"/>
                    </a:lnTo>
                    <a:lnTo>
                      <a:pt x="319871" y="2147887"/>
                    </a:lnTo>
                    <a:lnTo>
                      <a:pt x="0" y="2147887"/>
                    </a:lnTo>
                    <a:lnTo>
                      <a:pt x="318" y="1978387"/>
                    </a:lnTo>
                    <a:lnTo>
                      <a:pt x="953" y="1828884"/>
                    </a:lnTo>
                    <a:lnTo>
                      <a:pt x="2541" y="1696204"/>
                    </a:lnTo>
                    <a:lnTo>
                      <a:pt x="4447" y="1578442"/>
                    </a:lnTo>
                    <a:lnTo>
                      <a:pt x="6671" y="1472425"/>
                    </a:lnTo>
                    <a:lnTo>
                      <a:pt x="8894" y="1374343"/>
                    </a:lnTo>
                    <a:lnTo>
                      <a:pt x="11753" y="1282609"/>
                    </a:lnTo>
                    <a:lnTo>
                      <a:pt x="14612" y="1193415"/>
                    </a:lnTo>
                    <a:lnTo>
                      <a:pt x="17153" y="1179767"/>
                    </a:lnTo>
                    <a:lnTo>
                      <a:pt x="19694" y="1166118"/>
                    </a:lnTo>
                    <a:lnTo>
                      <a:pt x="23188" y="1153104"/>
                    </a:lnTo>
                    <a:lnTo>
                      <a:pt x="26365" y="1140724"/>
                    </a:lnTo>
                    <a:lnTo>
                      <a:pt x="29859" y="1128662"/>
                    </a:lnTo>
                    <a:lnTo>
                      <a:pt x="33671" y="1116918"/>
                    </a:lnTo>
                    <a:lnTo>
                      <a:pt x="37800" y="1105808"/>
                    </a:lnTo>
                    <a:lnTo>
                      <a:pt x="42247" y="1094699"/>
                    </a:lnTo>
                    <a:lnTo>
                      <a:pt x="46694" y="1084224"/>
                    </a:lnTo>
                    <a:lnTo>
                      <a:pt x="51777" y="1074067"/>
                    </a:lnTo>
                    <a:lnTo>
                      <a:pt x="56541" y="1064544"/>
                    </a:lnTo>
                    <a:lnTo>
                      <a:pt x="61624" y="1054704"/>
                    </a:lnTo>
                    <a:lnTo>
                      <a:pt x="67024" y="1045817"/>
                    </a:lnTo>
                    <a:lnTo>
                      <a:pt x="72424" y="1037247"/>
                    </a:lnTo>
                    <a:lnTo>
                      <a:pt x="78141" y="1029311"/>
                    </a:lnTo>
                    <a:lnTo>
                      <a:pt x="83541" y="1021376"/>
                    </a:lnTo>
                    <a:lnTo>
                      <a:pt x="89259" y="1014075"/>
                    </a:lnTo>
                    <a:lnTo>
                      <a:pt x="95294" y="1006457"/>
                    </a:lnTo>
                    <a:lnTo>
                      <a:pt x="101012" y="999791"/>
                    </a:lnTo>
                    <a:lnTo>
                      <a:pt x="107047" y="993443"/>
                    </a:lnTo>
                    <a:lnTo>
                      <a:pt x="113083" y="987095"/>
                    </a:lnTo>
                    <a:lnTo>
                      <a:pt x="118800" y="981699"/>
                    </a:lnTo>
                    <a:lnTo>
                      <a:pt x="124836" y="975985"/>
                    </a:lnTo>
                    <a:lnTo>
                      <a:pt x="130871" y="970906"/>
                    </a:lnTo>
                    <a:lnTo>
                      <a:pt x="136906" y="966145"/>
                    </a:lnTo>
                    <a:lnTo>
                      <a:pt x="142624" y="962019"/>
                    </a:lnTo>
                    <a:lnTo>
                      <a:pt x="148659" y="957575"/>
                    </a:lnTo>
                    <a:lnTo>
                      <a:pt x="154694" y="953766"/>
                    </a:lnTo>
                    <a:lnTo>
                      <a:pt x="165812" y="947100"/>
                    </a:lnTo>
                    <a:lnTo>
                      <a:pt x="176612" y="941387"/>
                    </a:lnTo>
                    <a:close/>
                    <a:moveTo>
                      <a:pt x="1531981" y="658812"/>
                    </a:moveTo>
                    <a:lnTo>
                      <a:pt x="1531981" y="659130"/>
                    </a:lnTo>
                    <a:lnTo>
                      <a:pt x="1532299" y="658812"/>
                    </a:lnTo>
                    <a:lnTo>
                      <a:pt x="1532934" y="669616"/>
                    </a:lnTo>
                    <a:lnTo>
                      <a:pt x="1534523" y="682009"/>
                    </a:lnTo>
                    <a:lnTo>
                      <a:pt x="1536430" y="695673"/>
                    </a:lnTo>
                    <a:lnTo>
                      <a:pt x="1538654" y="711244"/>
                    </a:lnTo>
                    <a:lnTo>
                      <a:pt x="1541514" y="728085"/>
                    </a:lnTo>
                    <a:lnTo>
                      <a:pt x="1545327" y="746198"/>
                    </a:lnTo>
                    <a:lnTo>
                      <a:pt x="1549458" y="765900"/>
                    </a:lnTo>
                    <a:lnTo>
                      <a:pt x="1554543" y="786873"/>
                    </a:lnTo>
                    <a:lnTo>
                      <a:pt x="1560263" y="808799"/>
                    </a:lnTo>
                    <a:lnTo>
                      <a:pt x="1566936" y="831678"/>
                    </a:lnTo>
                    <a:lnTo>
                      <a:pt x="1574562" y="855828"/>
                    </a:lnTo>
                    <a:lnTo>
                      <a:pt x="1583142" y="881250"/>
                    </a:lnTo>
                    <a:lnTo>
                      <a:pt x="1592993" y="907307"/>
                    </a:lnTo>
                    <a:lnTo>
                      <a:pt x="1604115" y="934000"/>
                    </a:lnTo>
                    <a:lnTo>
                      <a:pt x="1615872" y="961963"/>
                    </a:lnTo>
                    <a:lnTo>
                      <a:pt x="1629218" y="990245"/>
                    </a:lnTo>
                    <a:lnTo>
                      <a:pt x="1633667" y="953066"/>
                    </a:lnTo>
                    <a:lnTo>
                      <a:pt x="1638752" y="917476"/>
                    </a:lnTo>
                    <a:lnTo>
                      <a:pt x="1643518" y="884745"/>
                    </a:lnTo>
                    <a:lnTo>
                      <a:pt x="1648285" y="855193"/>
                    </a:lnTo>
                    <a:lnTo>
                      <a:pt x="1652733" y="830089"/>
                    </a:lnTo>
                    <a:lnTo>
                      <a:pt x="1656547" y="809752"/>
                    </a:lnTo>
                    <a:lnTo>
                      <a:pt x="1660678" y="788779"/>
                    </a:lnTo>
                    <a:lnTo>
                      <a:pt x="1633350" y="725225"/>
                    </a:lnTo>
                    <a:lnTo>
                      <a:pt x="1677202" y="683280"/>
                    </a:lnTo>
                    <a:lnTo>
                      <a:pt x="1708661" y="683280"/>
                    </a:lnTo>
                    <a:lnTo>
                      <a:pt x="1752831" y="725225"/>
                    </a:lnTo>
                    <a:lnTo>
                      <a:pt x="1725503" y="788779"/>
                    </a:lnTo>
                    <a:lnTo>
                      <a:pt x="1729634" y="809752"/>
                    </a:lnTo>
                    <a:lnTo>
                      <a:pt x="1737578" y="855193"/>
                    </a:lnTo>
                    <a:lnTo>
                      <a:pt x="1742344" y="884745"/>
                    </a:lnTo>
                    <a:lnTo>
                      <a:pt x="1747111" y="917476"/>
                    </a:lnTo>
                    <a:lnTo>
                      <a:pt x="1752513" y="953066"/>
                    </a:lnTo>
                    <a:lnTo>
                      <a:pt x="1756962" y="990245"/>
                    </a:lnTo>
                    <a:lnTo>
                      <a:pt x="1770308" y="961963"/>
                    </a:lnTo>
                    <a:lnTo>
                      <a:pt x="1782066" y="934000"/>
                    </a:lnTo>
                    <a:lnTo>
                      <a:pt x="1792870" y="907307"/>
                    </a:lnTo>
                    <a:lnTo>
                      <a:pt x="1802720" y="881250"/>
                    </a:lnTo>
                    <a:lnTo>
                      <a:pt x="1811618" y="855828"/>
                    </a:lnTo>
                    <a:lnTo>
                      <a:pt x="1818927" y="831678"/>
                    </a:lnTo>
                    <a:lnTo>
                      <a:pt x="1825600" y="808799"/>
                    </a:lnTo>
                    <a:lnTo>
                      <a:pt x="1831638" y="786873"/>
                    </a:lnTo>
                    <a:lnTo>
                      <a:pt x="1836404" y="765900"/>
                    </a:lnTo>
                    <a:lnTo>
                      <a:pt x="1840853" y="746198"/>
                    </a:lnTo>
                    <a:lnTo>
                      <a:pt x="1844348" y="728085"/>
                    </a:lnTo>
                    <a:lnTo>
                      <a:pt x="1847208" y="711244"/>
                    </a:lnTo>
                    <a:lnTo>
                      <a:pt x="1849750" y="695673"/>
                    </a:lnTo>
                    <a:lnTo>
                      <a:pt x="1851657" y="682009"/>
                    </a:lnTo>
                    <a:lnTo>
                      <a:pt x="1852928" y="669616"/>
                    </a:lnTo>
                    <a:lnTo>
                      <a:pt x="1853881" y="658812"/>
                    </a:lnTo>
                    <a:lnTo>
                      <a:pt x="1854199" y="659130"/>
                    </a:lnTo>
                    <a:lnTo>
                      <a:pt x="1854199" y="658812"/>
                    </a:lnTo>
                    <a:lnTo>
                      <a:pt x="1871359" y="662943"/>
                    </a:lnTo>
                    <a:lnTo>
                      <a:pt x="1889154" y="667392"/>
                    </a:lnTo>
                    <a:lnTo>
                      <a:pt x="1908220" y="673111"/>
                    </a:lnTo>
                    <a:lnTo>
                      <a:pt x="1927922" y="679467"/>
                    </a:lnTo>
                    <a:lnTo>
                      <a:pt x="1946988" y="684869"/>
                    </a:lnTo>
                    <a:lnTo>
                      <a:pt x="1964465" y="690271"/>
                    </a:lnTo>
                    <a:lnTo>
                      <a:pt x="1980354" y="695355"/>
                    </a:lnTo>
                    <a:lnTo>
                      <a:pt x="1994971" y="700122"/>
                    </a:lnTo>
                    <a:lnTo>
                      <a:pt x="2008000" y="704888"/>
                    </a:lnTo>
                    <a:lnTo>
                      <a:pt x="2019757" y="709337"/>
                    </a:lnTo>
                    <a:lnTo>
                      <a:pt x="2030243" y="713786"/>
                    </a:lnTo>
                    <a:lnTo>
                      <a:pt x="2039459" y="717917"/>
                    </a:lnTo>
                    <a:lnTo>
                      <a:pt x="2047721" y="722048"/>
                    </a:lnTo>
                    <a:lnTo>
                      <a:pt x="2054712" y="725861"/>
                    </a:lnTo>
                    <a:lnTo>
                      <a:pt x="2060749" y="729674"/>
                    </a:lnTo>
                    <a:lnTo>
                      <a:pt x="2065834" y="733170"/>
                    </a:lnTo>
                    <a:lnTo>
                      <a:pt x="2070282" y="736665"/>
                    </a:lnTo>
                    <a:lnTo>
                      <a:pt x="2073778" y="739843"/>
                    </a:lnTo>
                    <a:lnTo>
                      <a:pt x="2076638" y="743021"/>
                    </a:lnTo>
                    <a:lnTo>
                      <a:pt x="2078862" y="746198"/>
                    </a:lnTo>
                    <a:lnTo>
                      <a:pt x="2084264" y="751600"/>
                    </a:lnTo>
                    <a:lnTo>
                      <a:pt x="2089348" y="757002"/>
                    </a:lnTo>
                    <a:lnTo>
                      <a:pt x="2093797" y="763040"/>
                    </a:lnTo>
                    <a:lnTo>
                      <a:pt x="2097928" y="769395"/>
                    </a:lnTo>
                    <a:lnTo>
                      <a:pt x="2100788" y="774480"/>
                    </a:lnTo>
                    <a:lnTo>
                      <a:pt x="2109368" y="788779"/>
                    </a:lnTo>
                    <a:lnTo>
                      <a:pt x="2139238" y="838033"/>
                    </a:lnTo>
                    <a:lnTo>
                      <a:pt x="2158940" y="870446"/>
                    </a:lnTo>
                    <a:lnTo>
                      <a:pt x="2180866" y="905400"/>
                    </a:lnTo>
                    <a:lnTo>
                      <a:pt x="2203428" y="941626"/>
                    </a:lnTo>
                    <a:lnTo>
                      <a:pt x="2226942" y="977216"/>
                    </a:lnTo>
                    <a:lnTo>
                      <a:pt x="2242196" y="999778"/>
                    </a:lnTo>
                    <a:lnTo>
                      <a:pt x="2256495" y="1021068"/>
                    </a:lnTo>
                    <a:lnTo>
                      <a:pt x="2280963" y="997553"/>
                    </a:lnTo>
                    <a:lnTo>
                      <a:pt x="2305749" y="972450"/>
                    </a:lnTo>
                    <a:lnTo>
                      <a:pt x="2326086" y="951159"/>
                    </a:lnTo>
                    <a:lnTo>
                      <a:pt x="2345470" y="930186"/>
                    </a:lnTo>
                    <a:lnTo>
                      <a:pt x="2380107" y="892372"/>
                    </a:lnTo>
                    <a:lnTo>
                      <a:pt x="2405529" y="864090"/>
                    </a:lnTo>
                    <a:lnTo>
                      <a:pt x="2417286" y="850109"/>
                    </a:lnTo>
                    <a:lnTo>
                      <a:pt x="2417922" y="849791"/>
                    </a:lnTo>
                    <a:lnTo>
                      <a:pt x="2421735" y="845660"/>
                    </a:lnTo>
                    <a:lnTo>
                      <a:pt x="2425548" y="841847"/>
                    </a:lnTo>
                    <a:lnTo>
                      <a:pt x="2429679" y="838033"/>
                    </a:lnTo>
                    <a:lnTo>
                      <a:pt x="2433493" y="834856"/>
                    </a:lnTo>
                    <a:lnTo>
                      <a:pt x="2437941" y="831678"/>
                    </a:lnTo>
                    <a:lnTo>
                      <a:pt x="2442072" y="828818"/>
                    </a:lnTo>
                    <a:lnTo>
                      <a:pt x="2446521" y="826276"/>
                    </a:lnTo>
                    <a:lnTo>
                      <a:pt x="2451605" y="823734"/>
                    </a:lnTo>
                    <a:lnTo>
                      <a:pt x="2456054" y="821509"/>
                    </a:lnTo>
                    <a:lnTo>
                      <a:pt x="2460821" y="819603"/>
                    </a:lnTo>
                    <a:lnTo>
                      <a:pt x="2465587" y="818014"/>
                    </a:lnTo>
                    <a:lnTo>
                      <a:pt x="2470672" y="816425"/>
                    </a:lnTo>
                    <a:lnTo>
                      <a:pt x="2475756" y="815154"/>
                    </a:lnTo>
                    <a:lnTo>
                      <a:pt x="2480522" y="814201"/>
                    </a:lnTo>
                    <a:lnTo>
                      <a:pt x="2485607" y="813565"/>
                    </a:lnTo>
                    <a:lnTo>
                      <a:pt x="2491009" y="812930"/>
                    </a:lnTo>
                    <a:lnTo>
                      <a:pt x="2495775" y="812930"/>
                    </a:lnTo>
                    <a:lnTo>
                      <a:pt x="2500860" y="812930"/>
                    </a:lnTo>
                    <a:lnTo>
                      <a:pt x="2506262" y="812930"/>
                    </a:lnTo>
                    <a:lnTo>
                      <a:pt x="2511346" y="813565"/>
                    </a:lnTo>
                    <a:lnTo>
                      <a:pt x="2516113" y="814201"/>
                    </a:lnTo>
                    <a:lnTo>
                      <a:pt x="2521515" y="815154"/>
                    </a:lnTo>
                    <a:lnTo>
                      <a:pt x="2526281" y="816425"/>
                    </a:lnTo>
                    <a:lnTo>
                      <a:pt x="2531366" y="817696"/>
                    </a:lnTo>
                    <a:lnTo>
                      <a:pt x="2536132" y="819603"/>
                    </a:lnTo>
                    <a:lnTo>
                      <a:pt x="2541216" y="821509"/>
                    </a:lnTo>
                    <a:lnTo>
                      <a:pt x="2545983" y="823734"/>
                    </a:lnTo>
                    <a:lnTo>
                      <a:pt x="2550432" y="826276"/>
                    </a:lnTo>
                    <a:lnTo>
                      <a:pt x="2555198" y="828818"/>
                    </a:lnTo>
                    <a:lnTo>
                      <a:pt x="2559647" y="831678"/>
                    </a:lnTo>
                    <a:lnTo>
                      <a:pt x="2563778" y="835174"/>
                    </a:lnTo>
                    <a:lnTo>
                      <a:pt x="2568227" y="838351"/>
                    </a:lnTo>
                    <a:lnTo>
                      <a:pt x="2572358" y="842164"/>
                    </a:lnTo>
                    <a:lnTo>
                      <a:pt x="2576171" y="845978"/>
                    </a:lnTo>
                    <a:lnTo>
                      <a:pt x="2579666" y="850109"/>
                    </a:lnTo>
                    <a:lnTo>
                      <a:pt x="2583162" y="854240"/>
                    </a:lnTo>
                    <a:lnTo>
                      <a:pt x="2586022" y="858688"/>
                    </a:lnTo>
                    <a:lnTo>
                      <a:pt x="2589200" y="863137"/>
                    </a:lnTo>
                    <a:lnTo>
                      <a:pt x="2591742" y="867586"/>
                    </a:lnTo>
                    <a:lnTo>
                      <a:pt x="2593966" y="872035"/>
                    </a:lnTo>
                    <a:lnTo>
                      <a:pt x="2596190" y="876801"/>
                    </a:lnTo>
                    <a:lnTo>
                      <a:pt x="2598097" y="881250"/>
                    </a:lnTo>
                    <a:lnTo>
                      <a:pt x="2600004" y="886334"/>
                    </a:lnTo>
                    <a:lnTo>
                      <a:pt x="2601275" y="891419"/>
                    </a:lnTo>
                    <a:lnTo>
                      <a:pt x="2602546" y="896185"/>
                    </a:lnTo>
                    <a:lnTo>
                      <a:pt x="2603499" y="901269"/>
                    </a:lnTo>
                    <a:lnTo>
                      <a:pt x="2604452" y="906036"/>
                    </a:lnTo>
                    <a:lnTo>
                      <a:pt x="2604770" y="911438"/>
                    </a:lnTo>
                    <a:lnTo>
                      <a:pt x="2605088" y="916522"/>
                    </a:lnTo>
                    <a:lnTo>
                      <a:pt x="2605088" y="921289"/>
                    </a:lnTo>
                    <a:lnTo>
                      <a:pt x="2604770" y="926691"/>
                    </a:lnTo>
                    <a:lnTo>
                      <a:pt x="2604452" y="931775"/>
                    </a:lnTo>
                    <a:lnTo>
                      <a:pt x="2603499" y="936542"/>
                    </a:lnTo>
                    <a:lnTo>
                      <a:pt x="2602546" y="941944"/>
                    </a:lnTo>
                    <a:lnTo>
                      <a:pt x="2601275" y="947028"/>
                    </a:lnTo>
                    <a:lnTo>
                      <a:pt x="2600004" y="951795"/>
                    </a:lnTo>
                    <a:lnTo>
                      <a:pt x="2598415" y="956879"/>
                    </a:lnTo>
                    <a:lnTo>
                      <a:pt x="2596190" y="961646"/>
                    </a:lnTo>
                    <a:lnTo>
                      <a:pt x="2593966" y="966412"/>
                    </a:lnTo>
                    <a:lnTo>
                      <a:pt x="2591742" y="970861"/>
                    </a:lnTo>
                    <a:lnTo>
                      <a:pt x="2588564" y="975627"/>
                    </a:lnTo>
                    <a:lnTo>
                      <a:pt x="2585704" y="980076"/>
                    </a:lnTo>
                    <a:lnTo>
                      <a:pt x="2582844" y="984207"/>
                    </a:lnTo>
                    <a:lnTo>
                      <a:pt x="2579349" y="988656"/>
                    </a:lnTo>
                    <a:lnTo>
                      <a:pt x="2566638" y="1003273"/>
                    </a:lnTo>
                    <a:lnTo>
                      <a:pt x="2534543" y="1039181"/>
                    </a:lnTo>
                    <a:lnTo>
                      <a:pt x="2512935" y="1063014"/>
                    </a:lnTo>
                    <a:lnTo>
                      <a:pt x="2488784" y="1089071"/>
                    </a:lnTo>
                    <a:lnTo>
                      <a:pt x="2463045" y="1116399"/>
                    </a:lnTo>
                    <a:lnTo>
                      <a:pt x="2436352" y="1143409"/>
                    </a:lnTo>
                    <a:lnTo>
                      <a:pt x="2417922" y="1161204"/>
                    </a:lnTo>
                    <a:lnTo>
                      <a:pt x="2400127" y="1178682"/>
                    </a:lnTo>
                    <a:lnTo>
                      <a:pt x="2382332" y="1195206"/>
                    </a:lnTo>
                    <a:lnTo>
                      <a:pt x="2364537" y="1210776"/>
                    </a:lnTo>
                    <a:lnTo>
                      <a:pt x="2354050" y="1219038"/>
                    </a:lnTo>
                    <a:lnTo>
                      <a:pt x="2343882" y="1226983"/>
                    </a:lnTo>
                    <a:lnTo>
                      <a:pt x="2333395" y="1234927"/>
                    </a:lnTo>
                    <a:lnTo>
                      <a:pt x="2322591" y="1241918"/>
                    </a:lnTo>
                    <a:lnTo>
                      <a:pt x="2316236" y="1246049"/>
                    </a:lnTo>
                    <a:lnTo>
                      <a:pt x="2309562" y="1249862"/>
                    </a:lnTo>
                    <a:lnTo>
                      <a:pt x="2301936" y="1253357"/>
                    </a:lnTo>
                    <a:lnTo>
                      <a:pt x="2294310" y="1257171"/>
                    </a:lnTo>
                    <a:lnTo>
                      <a:pt x="2284141" y="1260984"/>
                    </a:lnTo>
                    <a:lnTo>
                      <a:pt x="2279057" y="1262891"/>
                    </a:lnTo>
                    <a:lnTo>
                      <a:pt x="2272701" y="1264797"/>
                    </a:lnTo>
                    <a:lnTo>
                      <a:pt x="2266346" y="1266068"/>
                    </a:lnTo>
                    <a:lnTo>
                      <a:pt x="2258720" y="1267339"/>
                    </a:lnTo>
                    <a:lnTo>
                      <a:pt x="2250775" y="1267975"/>
                    </a:lnTo>
                    <a:lnTo>
                      <a:pt x="2241242" y="1268610"/>
                    </a:lnTo>
                    <a:lnTo>
                      <a:pt x="2233934" y="1268293"/>
                    </a:lnTo>
                    <a:lnTo>
                      <a:pt x="2226307" y="1267657"/>
                    </a:lnTo>
                    <a:lnTo>
                      <a:pt x="2217727" y="1266068"/>
                    </a:lnTo>
                    <a:lnTo>
                      <a:pt x="2209148" y="1263844"/>
                    </a:lnTo>
                    <a:lnTo>
                      <a:pt x="2198979" y="1260666"/>
                    </a:lnTo>
                    <a:lnTo>
                      <a:pt x="2190717" y="1257171"/>
                    </a:lnTo>
                    <a:lnTo>
                      <a:pt x="2184044" y="1253357"/>
                    </a:lnTo>
                    <a:lnTo>
                      <a:pt x="2178324" y="1250180"/>
                    </a:lnTo>
                    <a:lnTo>
                      <a:pt x="2172922" y="1246684"/>
                    </a:lnTo>
                    <a:lnTo>
                      <a:pt x="2168473" y="1243824"/>
                    </a:lnTo>
                    <a:lnTo>
                      <a:pt x="2160846" y="1237787"/>
                    </a:lnTo>
                    <a:lnTo>
                      <a:pt x="2154491" y="1232067"/>
                    </a:lnTo>
                    <a:lnTo>
                      <a:pt x="2148454" y="1226347"/>
                    </a:lnTo>
                    <a:lnTo>
                      <a:pt x="2137967" y="1215225"/>
                    </a:lnTo>
                    <a:lnTo>
                      <a:pt x="2128116" y="1204103"/>
                    </a:lnTo>
                    <a:lnTo>
                      <a:pt x="2118265" y="1192028"/>
                    </a:lnTo>
                    <a:lnTo>
                      <a:pt x="2109050" y="1179953"/>
                    </a:lnTo>
                    <a:lnTo>
                      <a:pt x="2098882" y="1166924"/>
                    </a:lnTo>
                    <a:lnTo>
                      <a:pt x="2078862" y="1138961"/>
                    </a:lnTo>
                    <a:lnTo>
                      <a:pt x="2058525" y="1108773"/>
                    </a:lnTo>
                    <a:lnTo>
                      <a:pt x="2037552" y="1077313"/>
                    </a:lnTo>
                    <a:lnTo>
                      <a:pt x="2017215" y="1045219"/>
                    </a:lnTo>
                    <a:lnTo>
                      <a:pt x="2012766" y="1038546"/>
                    </a:lnTo>
                    <a:lnTo>
                      <a:pt x="2012766" y="1409700"/>
                    </a:lnTo>
                    <a:lnTo>
                      <a:pt x="1373096" y="1409700"/>
                    </a:lnTo>
                    <a:lnTo>
                      <a:pt x="1373096" y="1002002"/>
                    </a:lnTo>
                    <a:lnTo>
                      <a:pt x="1372779" y="1002002"/>
                    </a:lnTo>
                    <a:lnTo>
                      <a:pt x="1371190" y="1003591"/>
                    </a:lnTo>
                    <a:lnTo>
                      <a:pt x="1369283" y="1005815"/>
                    </a:lnTo>
                    <a:lnTo>
                      <a:pt x="1367694" y="1009311"/>
                    </a:lnTo>
                    <a:lnTo>
                      <a:pt x="1365470" y="1013124"/>
                    </a:lnTo>
                    <a:lnTo>
                      <a:pt x="1363246" y="1018526"/>
                    </a:lnTo>
                    <a:lnTo>
                      <a:pt x="1361339" y="1024882"/>
                    </a:lnTo>
                    <a:lnTo>
                      <a:pt x="1356572" y="1039181"/>
                    </a:lnTo>
                    <a:lnTo>
                      <a:pt x="1351806" y="1056658"/>
                    </a:lnTo>
                    <a:lnTo>
                      <a:pt x="1347039" y="1077313"/>
                    </a:lnTo>
                    <a:lnTo>
                      <a:pt x="1342273" y="1099557"/>
                    </a:lnTo>
                    <a:lnTo>
                      <a:pt x="1337506" y="1124025"/>
                    </a:lnTo>
                    <a:lnTo>
                      <a:pt x="1332740" y="1149765"/>
                    </a:lnTo>
                    <a:lnTo>
                      <a:pt x="1328291" y="1176775"/>
                    </a:lnTo>
                    <a:lnTo>
                      <a:pt x="1324160" y="1204421"/>
                    </a:lnTo>
                    <a:lnTo>
                      <a:pt x="1320029" y="1232702"/>
                    </a:lnTo>
                    <a:lnTo>
                      <a:pt x="1316534" y="1260984"/>
                    </a:lnTo>
                    <a:lnTo>
                      <a:pt x="1313674" y="1288948"/>
                    </a:lnTo>
                    <a:lnTo>
                      <a:pt x="1311449" y="1316276"/>
                    </a:lnTo>
                    <a:lnTo>
                      <a:pt x="1309543" y="1342333"/>
                    </a:lnTo>
                    <a:lnTo>
                      <a:pt x="1308589" y="1375699"/>
                    </a:lnTo>
                    <a:lnTo>
                      <a:pt x="1307636" y="1409700"/>
                    </a:lnTo>
                    <a:lnTo>
                      <a:pt x="1106488" y="1409700"/>
                    </a:lnTo>
                    <a:lnTo>
                      <a:pt x="1106488" y="1388409"/>
                    </a:lnTo>
                    <a:lnTo>
                      <a:pt x="1106488" y="1368072"/>
                    </a:lnTo>
                    <a:lnTo>
                      <a:pt x="1107441" y="1348688"/>
                    </a:lnTo>
                    <a:lnTo>
                      <a:pt x="1108077" y="1330893"/>
                    </a:lnTo>
                    <a:lnTo>
                      <a:pt x="1111255" y="1293396"/>
                    </a:lnTo>
                    <a:lnTo>
                      <a:pt x="1114750" y="1257171"/>
                    </a:lnTo>
                    <a:lnTo>
                      <a:pt x="1118563" y="1222534"/>
                    </a:lnTo>
                    <a:lnTo>
                      <a:pt x="1122694" y="1189486"/>
                    </a:lnTo>
                    <a:lnTo>
                      <a:pt x="1127143" y="1158345"/>
                    </a:lnTo>
                    <a:lnTo>
                      <a:pt x="1131592" y="1128156"/>
                    </a:lnTo>
                    <a:lnTo>
                      <a:pt x="1136358" y="1099875"/>
                    </a:lnTo>
                    <a:lnTo>
                      <a:pt x="1141125" y="1072865"/>
                    </a:lnTo>
                    <a:lnTo>
                      <a:pt x="1146209" y="1047125"/>
                    </a:lnTo>
                    <a:lnTo>
                      <a:pt x="1151929" y="1022975"/>
                    </a:lnTo>
                    <a:lnTo>
                      <a:pt x="1157013" y="999778"/>
                    </a:lnTo>
                    <a:lnTo>
                      <a:pt x="1162733" y="978170"/>
                    </a:lnTo>
                    <a:lnTo>
                      <a:pt x="1168135" y="957832"/>
                    </a:lnTo>
                    <a:lnTo>
                      <a:pt x="1174173" y="938448"/>
                    </a:lnTo>
                    <a:lnTo>
                      <a:pt x="1179893" y="920653"/>
                    </a:lnTo>
                    <a:lnTo>
                      <a:pt x="1185295" y="903812"/>
                    </a:lnTo>
                    <a:lnTo>
                      <a:pt x="1191332" y="887923"/>
                    </a:lnTo>
                    <a:lnTo>
                      <a:pt x="1197052" y="873306"/>
                    </a:lnTo>
                    <a:lnTo>
                      <a:pt x="1202454" y="859959"/>
                    </a:lnTo>
                    <a:lnTo>
                      <a:pt x="1208174" y="847567"/>
                    </a:lnTo>
                    <a:lnTo>
                      <a:pt x="1213258" y="835809"/>
                    </a:lnTo>
                    <a:lnTo>
                      <a:pt x="1218343" y="825005"/>
                    </a:lnTo>
                    <a:lnTo>
                      <a:pt x="1223745" y="815472"/>
                    </a:lnTo>
                    <a:lnTo>
                      <a:pt x="1228511" y="806892"/>
                    </a:lnTo>
                    <a:lnTo>
                      <a:pt x="1233278" y="798948"/>
                    </a:lnTo>
                    <a:lnTo>
                      <a:pt x="1237727" y="791957"/>
                    </a:lnTo>
                    <a:lnTo>
                      <a:pt x="1245989" y="780199"/>
                    </a:lnTo>
                    <a:lnTo>
                      <a:pt x="1252980" y="771302"/>
                    </a:lnTo>
                    <a:lnTo>
                      <a:pt x="1258700" y="764947"/>
                    </a:lnTo>
                    <a:lnTo>
                      <a:pt x="1269186" y="759545"/>
                    </a:lnTo>
                    <a:lnTo>
                      <a:pt x="1280308" y="754142"/>
                    </a:lnTo>
                    <a:lnTo>
                      <a:pt x="1292383" y="748105"/>
                    </a:lnTo>
                    <a:lnTo>
                      <a:pt x="1304776" y="742703"/>
                    </a:lnTo>
                    <a:lnTo>
                      <a:pt x="1331469" y="731263"/>
                    </a:lnTo>
                    <a:lnTo>
                      <a:pt x="1359750" y="720141"/>
                    </a:lnTo>
                    <a:lnTo>
                      <a:pt x="1388349" y="709973"/>
                    </a:lnTo>
                    <a:lnTo>
                      <a:pt x="1416949" y="699486"/>
                    </a:lnTo>
                    <a:lnTo>
                      <a:pt x="1444595" y="690271"/>
                    </a:lnTo>
                    <a:lnTo>
                      <a:pt x="1470652" y="681691"/>
                    </a:lnTo>
                    <a:lnTo>
                      <a:pt x="1477325" y="677878"/>
                    </a:lnTo>
                    <a:lnTo>
                      <a:pt x="1484316" y="674065"/>
                    </a:lnTo>
                    <a:lnTo>
                      <a:pt x="1491624" y="671205"/>
                    </a:lnTo>
                    <a:lnTo>
                      <a:pt x="1499569" y="668027"/>
                    </a:lnTo>
                    <a:lnTo>
                      <a:pt x="1507513" y="665167"/>
                    </a:lnTo>
                    <a:lnTo>
                      <a:pt x="1515139" y="662943"/>
                    </a:lnTo>
                    <a:lnTo>
                      <a:pt x="1523401" y="660718"/>
                    </a:lnTo>
                    <a:lnTo>
                      <a:pt x="1531981" y="658812"/>
                    </a:lnTo>
                    <a:close/>
                    <a:moveTo>
                      <a:pt x="3016555" y="246062"/>
                    </a:moveTo>
                    <a:lnTo>
                      <a:pt x="3026093" y="246062"/>
                    </a:lnTo>
                    <a:lnTo>
                      <a:pt x="3039447" y="247014"/>
                    </a:lnTo>
                    <a:lnTo>
                      <a:pt x="3052165" y="248600"/>
                    </a:lnTo>
                    <a:lnTo>
                      <a:pt x="3064883" y="250822"/>
                    </a:lnTo>
                    <a:lnTo>
                      <a:pt x="3076965" y="253360"/>
                    </a:lnTo>
                    <a:lnTo>
                      <a:pt x="3089047" y="256851"/>
                    </a:lnTo>
                    <a:lnTo>
                      <a:pt x="3100493" y="260976"/>
                    </a:lnTo>
                    <a:lnTo>
                      <a:pt x="3111303" y="265736"/>
                    </a:lnTo>
                    <a:lnTo>
                      <a:pt x="3122113" y="270496"/>
                    </a:lnTo>
                    <a:lnTo>
                      <a:pt x="3132605" y="276526"/>
                    </a:lnTo>
                    <a:lnTo>
                      <a:pt x="3142462" y="282872"/>
                    </a:lnTo>
                    <a:lnTo>
                      <a:pt x="3152318" y="289536"/>
                    </a:lnTo>
                    <a:lnTo>
                      <a:pt x="3161539" y="296518"/>
                    </a:lnTo>
                    <a:lnTo>
                      <a:pt x="3170123" y="304451"/>
                    </a:lnTo>
                    <a:lnTo>
                      <a:pt x="3178708" y="312384"/>
                    </a:lnTo>
                    <a:lnTo>
                      <a:pt x="3186339" y="320952"/>
                    </a:lnTo>
                    <a:lnTo>
                      <a:pt x="3194287" y="330472"/>
                    </a:lnTo>
                    <a:lnTo>
                      <a:pt x="3201282" y="339675"/>
                    </a:lnTo>
                    <a:lnTo>
                      <a:pt x="3207959" y="349512"/>
                    </a:lnTo>
                    <a:lnTo>
                      <a:pt x="3214318" y="359984"/>
                    </a:lnTo>
                    <a:lnTo>
                      <a:pt x="3220041" y="370456"/>
                    </a:lnTo>
                    <a:lnTo>
                      <a:pt x="3225128" y="381563"/>
                    </a:lnTo>
                    <a:lnTo>
                      <a:pt x="3229898" y="392669"/>
                    </a:lnTo>
                    <a:lnTo>
                      <a:pt x="3234349" y="404093"/>
                    </a:lnTo>
                    <a:lnTo>
                      <a:pt x="3238482" y="416152"/>
                    </a:lnTo>
                    <a:lnTo>
                      <a:pt x="3241980" y="428528"/>
                    </a:lnTo>
                    <a:lnTo>
                      <a:pt x="3244523" y="440586"/>
                    </a:lnTo>
                    <a:lnTo>
                      <a:pt x="3247067" y="453280"/>
                    </a:lnTo>
                    <a:lnTo>
                      <a:pt x="3248974" y="466290"/>
                    </a:lnTo>
                    <a:lnTo>
                      <a:pt x="3249928" y="479301"/>
                    </a:lnTo>
                    <a:lnTo>
                      <a:pt x="3251200" y="492629"/>
                    </a:lnTo>
                    <a:lnTo>
                      <a:pt x="3251200" y="505957"/>
                    </a:lnTo>
                    <a:lnTo>
                      <a:pt x="3251200" y="519602"/>
                    </a:lnTo>
                    <a:lnTo>
                      <a:pt x="3249292" y="530709"/>
                    </a:lnTo>
                    <a:lnTo>
                      <a:pt x="3247385" y="541498"/>
                    </a:lnTo>
                    <a:lnTo>
                      <a:pt x="3245159" y="551970"/>
                    </a:lnTo>
                    <a:lnTo>
                      <a:pt x="3242933" y="562442"/>
                    </a:lnTo>
                    <a:lnTo>
                      <a:pt x="3240390" y="572914"/>
                    </a:lnTo>
                    <a:lnTo>
                      <a:pt x="3237846" y="582751"/>
                    </a:lnTo>
                    <a:lnTo>
                      <a:pt x="3231805" y="602426"/>
                    </a:lnTo>
                    <a:lnTo>
                      <a:pt x="3225446" y="621148"/>
                    </a:lnTo>
                    <a:lnTo>
                      <a:pt x="3218133" y="639236"/>
                    </a:lnTo>
                    <a:lnTo>
                      <a:pt x="3210503" y="656690"/>
                    </a:lnTo>
                    <a:lnTo>
                      <a:pt x="3201918" y="673508"/>
                    </a:lnTo>
                    <a:lnTo>
                      <a:pt x="3193016" y="689057"/>
                    </a:lnTo>
                    <a:lnTo>
                      <a:pt x="3183795" y="704289"/>
                    </a:lnTo>
                    <a:lnTo>
                      <a:pt x="3174257" y="718252"/>
                    </a:lnTo>
                    <a:lnTo>
                      <a:pt x="3164082" y="732215"/>
                    </a:lnTo>
                    <a:lnTo>
                      <a:pt x="3153590" y="745225"/>
                    </a:lnTo>
                    <a:lnTo>
                      <a:pt x="3142780" y="756966"/>
                    </a:lnTo>
                    <a:lnTo>
                      <a:pt x="3131652" y="768390"/>
                    </a:lnTo>
                    <a:lnTo>
                      <a:pt x="3120523" y="778862"/>
                    </a:lnTo>
                    <a:lnTo>
                      <a:pt x="3109077" y="788700"/>
                    </a:lnTo>
                    <a:lnTo>
                      <a:pt x="3097631" y="797902"/>
                    </a:lnTo>
                    <a:lnTo>
                      <a:pt x="3085867" y="806153"/>
                    </a:lnTo>
                    <a:lnTo>
                      <a:pt x="3074103" y="813452"/>
                    </a:lnTo>
                    <a:lnTo>
                      <a:pt x="3062339" y="820116"/>
                    </a:lnTo>
                    <a:lnTo>
                      <a:pt x="3050575" y="826145"/>
                    </a:lnTo>
                    <a:lnTo>
                      <a:pt x="3038811" y="831222"/>
                    </a:lnTo>
                    <a:lnTo>
                      <a:pt x="3027365" y="835665"/>
                    </a:lnTo>
                    <a:lnTo>
                      <a:pt x="3015919" y="839473"/>
                    </a:lnTo>
                    <a:lnTo>
                      <a:pt x="3004472" y="842011"/>
                    </a:lnTo>
                    <a:lnTo>
                      <a:pt x="2993662" y="844233"/>
                    </a:lnTo>
                    <a:lnTo>
                      <a:pt x="2982852" y="845502"/>
                    </a:lnTo>
                    <a:lnTo>
                      <a:pt x="2972678" y="846137"/>
                    </a:lnTo>
                    <a:lnTo>
                      <a:pt x="2962503" y="845819"/>
                    </a:lnTo>
                    <a:lnTo>
                      <a:pt x="2952647" y="844550"/>
                    </a:lnTo>
                    <a:lnTo>
                      <a:pt x="2943427" y="842646"/>
                    </a:lnTo>
                    <a:lnTo>
                      <a:pt x="2937703" y="841059"/>
                    </a:lnTo>
                    <a:lnTo>
                      <a:pt x="2931662" y="839155"/>
                    </a:lnTo>
                    <a:lnTo>
                      <a:pt x="2925939" y="837251"/>
                    </a:lnTo>
                    <a:lnTo>
                      <a:pt x="2920534" y="835030"/>
                    </a:lnTo>
                    <a:lnTo>
                      <a:pt x="2914811" y="832492"/>
                    </a:lnTo>
                    <a:lnTo>
                      <a:pt x="2909724" y="829953"/>
                    </a:lnTo>
                    <a:lnTo>
                      <a:pt x="2904319" y="826780"/>
                    </a:lnTo>
                    <a:lnTo>
                      <a:pt x="2899550" y="823924"/>
                    </a:lnTo>
                    <a:lnTo>
                      <a:pt x="2894780" y="820433"/>
                    </a:lnTo>
                    <a:lnTo>
                      <a:pt x="2890329" y="817260"/>
                    </a:lnTo>
                    <a:lnTo>
                      <a:pt x="2885878" y="813452"/>
                    </a:lnTo>
                    <a:lnTo>
                      <a:pt x="2881427" y="809644"/>
                    </a:lnTo>
                    <a:lnTo>
                      <a:pt x="2873160" y="801710"/>
                    </a:lnTo>
                    <a:lnTo>
                      <a:pt x="2865529" y="793142"/>
                    </a:lnTo>
                    <a:lnTo>
                      <a:pt x="2857899" y="783622"/>
                    </a:lnTo>
                    <a:lnTo>
                      <a:pt x="2851222" y="773785"/>
                    </a:lnTo>
                    <a:lnTo>
                      <a:pt x="2845181" y="763630"/>
                    </a:lnTo>
                    <a:lnTo>
                      <a:pt x="2839458" y="752524"/>
                    </a:lnTo>
                    <a:lnTo>
                      <a:pt x="2834052" y="741417"/>
                    </a:lnTo>
                    <a:lnTo>
                      <a:pt x="2829283" y="729676"/>
                    </a:lnTo>
                    <a:lnTo>
                      <a:pt x="2825150" y="717300"/>
                    </a:lnTo>
                    <a:lnTo>
                      <a:pt x="2821017" y="704607"/>
                    </a:lnTo>
                    <a:lnTo>
                      <a:pt x="2817519" y="691913"/>
                    </a:lnTo>
                    <a:lnTo>
                      <a:pt x="2814340" y="678585"/>
                    </a:lnTo>
                    <a:lnTo>
                      <a:pt x="2811478" y="665257"/>
                    </a:lnTo>
                    <a:lnTo>
                      <a:pt x="2809253" y="651612"/>
                    </a:lnTo>
                    <a:lnTo>
                      <a:pt x="2807027" y="637967"/>
                    </a:lnTo>
                    <a:lnTo>
                      <a:pt x="2805119" y="623687"/>
                    </a:lnTo>
                    <a:lnTo>
                      <a:pt x="2803529" y="609724"/>
                    </a:lnTo>
                    <a:lnTo>
                      <a:pt x="2802576" y="595444"/>
                    </a:lnTo>
                    <a:lnTo>
                      <a:pt x="2801304" y="580847"/>
                    </a:lnTo>
                    <a:lnTo>
                      <a:pt x="2800986" y="566885"/>
                    </a:lnTo>
                    <a:lnTo>
                      <a:pt x="2800350" y="538325"/>
                    </a:lnTo>
                    <a:lnTo>
                      <a:pt x="2800350" y="509765"/>
                    </a:lnTo>
                    <a:lnTo>
                      <a:pt x="2800986" y="482157"/>
                    </a:lnTo>
                    <a:lnTo>
                      <a:pt x="2801622" y="468512"/>
                    </a:lnTo>
                    <a:lnTo>
                      <a:pt x="2803212" y="455501"/>
                    </a:lnTo>
                    <a:lnTo>
                      <a:pt x="2805437" y="442490"/>
                    </a:lnTo>
                    <a:lnTo>
                      <a:pt x="2807981" y="429797"/>
                    </a:lnTo>
                    <a:lnTo>
                      <a:pt x="2811478" y="417738"/>
                    </a:lnTo>
                    <a:lnTo>
                      <a:pt x="2815294" y="405680"/>
                    </a:lnTo>
                    <a:lnTo>
                      <a:pt x="2819109" y="394256"/>
                    </a:lnTo>
                    <a:lnTo>
                      <a:pt x="2824196" y="383149"/>
                    </a:lnTo>
                    <a:lnTo>
                      <a:pt x="2829283" y="372360"/>
                    </a:lnTo>
                    <a:lnTo>
                      <a:pt x="2835006" y="361888"/>
                    </a:lnTo>
                    <a:lnTo>
                      <a:pt x="2840729" y="351733"/>
                    </a:lnTo>
                    <a:lnTo>
                      <a:pt x="2847406" y="342213"/>
                    </a:lnTo>
                    <a:lnTo>
                      <a:pt x="2854083" y="333011"/>
                    </a:lnTo>
                    <a:lnTo>
                      <a:pt x="2861714" y="324125"/>
                    </a:lnTo>
                    <a:lnTo>
                      <a:pt x="2869027" y="315875"/>
                    </a:lnTo>
                    <a:lnTo>
                      <a:pt x="2876975" y="307624"/>
                    </a:lnTo>
                    <a:lnTo>
                      <a:pt x="2885242" y="300326"/>
                    </a:lnTo>
                    <a:lnTo>
                      <a:pt x="2893191" y="293344"/>
                    </a:lnTo>
                    <a:lnTo>
                      <a:pt x="2901775" y="286363"/>
                    </a:lnTo>
                    <a:lnTo>
                      <a:pt x="2910678" y="280651"/>
                    </a:lnTo>
                    <a:lnTo>
                      <a:pt x="2920216" y="274622"/>
                    </a:lnTo>
                    <a:lnTo>
                      <a:pt x="2929119" y="269544"/>
                    </a:lnTo>
                    <a:lnTo>
                      <a:pt x="2938657" y="265102"/>
                    </a:lnTo>
                    <a:lnTo>
                      <a:pt x="2947878" y="260976"/>
                    </a:lnTo>
                    <a:lnTo>
                      <a:pt x="2957734" y="257168"/>
                    </a:lnTo>
                    <a:lnTo>
                      <a:pt x="2967273" y="253995"/>
                    </a:lnTo>
                    <a:lnTo>
                      <a:pt x="2977129" y="251139"/>
                    </a:lnTo>
                    <a:lnTo>
                      <a:pt x="2986985" y="248918"/>
                    </a:lnTo>
                    <a:lnTo>
                      <a:pt x="2996842" y="247648"/>
                    </a:lnTo>
                    <a:lnTo>
                      <a:pt x="3006698" y="246379"/>
                    </a:lnTo>
                    <a:lnTo>
                      <a:pt x="3016555" y="246062"/>
                    </a:lnTo>
                    <a:close/>
                    <a:moveTo>
                      <a:pt x="336073" y="246062"/>
                    </a:moveTo>
                    <a:lnTo>
                      <a:pt x="345605" y="246062"/>
                    </a:lnTo>
                    <a:lnTo>
                      <a:pt x="355772" y="246379"/>
                    </a:lnTo>
                    <a:lnTo>
                      <a:pt x="365304" y="247648"/>
                    </a:lnTo>
                    <a:lnTo>
                      <a:pt x="375153" y="248918"/>
                    </a:lnTo>
                    <a:lnTo>
                      <a:pt x="385003" y="251139"/>
                    </a:lnTo>
                    <a:lnTo>
                      <a:pt x="394852" y="253995"/>
                    </a:lnTo>
                    <a:lnTo>
                      <a:pt x="404384" y="257168"/>
                    </a:lnTo>
                    <a:lnTo>
                      <a:pt x="414233" y="260976"/>
                    </a:lnTo>
                    <a:lnTo>
                      <a:pt x="423765" y="265102"/>
                    </a:lnTo>
                    <a:lnTo>
                      <a:pt x="432979" y="269544"/>
                    </a:lnTo>
                    <a:lnTo>
                      <a:pt x="442511" y="274622"/>
                    </a:lnTo>
                    <a:lnTo>
                      <a:pt x="451407" y="280651"/>
                    </a:lnTo>
                    <a:lnTo>
                      <a:pt x="460303" y="286363"/>
                    </a:lnTo>
                    <a:lnTo>
                      <a:pt x="468882" y="293344"/>
                    </a:lnTo>
                    <a:lnTo>
                      <a:pt x="477460" y="300326"/>
                    </a:lnTo>
                    <a:lnTo>
                      <a:pt x="485086" y="307624"/>
                    </a:lnTo>
                    <a:lnTo>
                      <a:pt x="493029" y="315875"/>
                    </a:lnTo>
                    <a:lnTo>
                      <a:pt x="500654" y="324125"/>
                    </a:lnTo>
                    <a:lnTo>
                      <a:pt x="507962" y="333011"/>
                    </a:lnTo>
                    <a:lnTo>
                      <a:pt x="514634" y="342213"/>
                    </a:lnTo>
                    <a:lnTo>
                      <a:pt x="521306" y="351733"/>
                    </a:lnTo>
                    <a:lnTo>
                      <a:pt x="527025" y="361888"/>
                    </a:lnTo>
                    <a:lnTo>
                      <a:pt x="532744" y="372360"/>
                    </a:lnTo>
                    <a:lnTo>
                      <a:pt x="537828" y="383149"/>
                    </a:lnTo>
                    <a:lnTo>
                      <a:pt x="542912" y="394256"/>
                    </a:lnTo>
                    <a:lnTo>
                      <a:pt x="546724" y="405680"/>
                    </a:lnTo>
                    <a:lnTo>
                      <a:pt x="550855" y="417738"/>
                    </a:lnTo>
                    <a:lnTo>
                      <a:pt x="554032" y="429797"/>
                    </a:lnTo>
                    <a:lnTo>
                      <a:pt x="556574" y="442490"/>
                    </a:lnTo>
                    <a:lnTo>
                      <a:pt x="558798" y="455501"/>
                    </a:lnTo>
                    <a:lnTo>
                      <a:pt x="560386" y="468512"/>
                    </a:lnTo>
                    <a:lnTo>
                      <a:pt x="561022" y="482157"/>
                    </a:lnTo>
                    <a:lnTo>
                      <a:pt x="561657" y="509765"/>
                    </a:lnTo>
                    <a:lnTo>
                      <a:pt x="561975" y="538325"/>
                    </a:lnTo>
                    <a:lnTo>
                      <a:pt x="561657" y="552287"/>
                    </a:lnTo>
                    <a:lnTo>
                      <a:pt x="561340" y="566885"/>
                    </a:lnTo>
                    <a:lnTo>
                      <a:pt x="560704" y="580847"/>
                    </a:lnTo>
                    <a:lnTo>
                      <a:pt x="559433" y="595444"/>
                    </a:lnTo>
                    <a:lnTo>
                      <a:pt x="558480" y="609724"/>
                    </a:lnTo>
                    <a:lnTo>
                      <a:pt x="556891" y="623687"/>
                    </a:lnTo>
                    <a:lnTo>
                      <a:pt x="554985" y="637967"/>
                    </a:lnTo>
                    <a:lnTo>
                      <a:pt x="552761" y="651612"/>
                    </a:lnTo>
                    <a:lnTo>
                      <a:pt x="550537" y="665257"/>
                    </a:lnTo>
                    <a:lnTo>
                      <a:pt x="547677" y="678585"/>
                    </a:lnTo>
                    <a:lnTo>
                      <a:pt x="544500" y="691913"/>
                    </a:lnTo>
                    <a:lnTo>
                      <a:pt x="541005" y="704607"/>
                    </a:lnTo>
                    <a:lnTo>
                      <a:pt x="537193" y="717300"/>
                    </a:lnTo>
                    <a:lnTo>
                      <a:pt x="532744" y="729676"/>
                    </a:lnTo>
                    <a:lnTo>
                      <a:pt x="527979" y="741417"/>
                    </a:lnTo>
                    <a:lnTo>
                      <a:pt x="522577" y="752524"/>
                    </a:lnTo>
                    <a:lnTo>
                      <a:pt x="517176" y="763630"/>
                    </a:lnTo>
                    <a:lnTo>
                      <a:pt x="510821" y="773785"/>
                    </a:lnTo>
                    <a:lnTo>
                      <a:pt x="504149" y="783622"/>
                    </a:lnTo>
                    <a:lnTo>
                      <a:pt x="497159" y="793142"/>
                    </a:lnTo>
                    <a:lnTo>
                      <a:pt x="489216" y="801710"/>
                    </a:lnTo>
                    <a:lnTo>
                      <a:pt x="480638" y="809644"/>
                    </a:lnTo>
                    <a:lnTo>
                      <a:pt x="476507" y="813452"/>
                    </a:lnTo>
                    <a:lnTo>
                      <a:pt x="472059" y="817260"/>
                    </a:lnTo>
                    <a:lnTo>
                      <a:pt x="467293" y="820433"/>
                    </a:lnTo>
                    <a:lnTo>
                      <a:pt x="462527" y="823924"/>
                    </a:lnTo>
                    <a:lnTo>
                      <a:pt x="457762" y="826780"/>
                    </a:lnTo>
                    <a:lnTo>
                      <a:pt x="452360" y="829953"/>
                    </a:lnTo>
                    <a:lnTo>
                      <a:pt x="447277" y="832492"/>
                    </a:lnTo>
                    <a:lnTo>
                      <a:pt x="441875" y="835030"/>
                    </a:lnTo>
                    <a:lnTo>
                      <a:pt x="436474" y="837251"/>
                    </a:lnTo>
                    <a:lnTo>
                      <a:pt x="430437" y="839155"/>
                    </a:lnTo>
                    <a:lnTo>
                      <a:pt x="425036" y="841059"/>
                    </a:lnTo>
                    <a:lnTo>
                      <a:pt x="418682" y="842646"/>
                    </a:lnTo>
                    <a:lnTo>
                      <a:pt x="409150" y="844550"/>
                    </a:lnTo>
                    <a:lnTo>
                      <a:pt x="399618" y="845819"/>
                    </a:lnTo>
                    <a:lnTo>
                      <a:pt x="389451" y="846137"/>
                    </a:lnTo>
                    <a:lnTo>
                      <a:pt x="379284" y="845502"/>
                    </a:lnTo>
                    <a:lnTo>
                      <a:pt x="368481" y="844233"/>
                    </a:lnTo>
                    <a:lnTo>
                      <a:pt x="357679" y="842011"/>
                    </a:lnTo>
                    <a:lnTo>
                      <a:pt x="346558" y="839473"/>
                    </a:lnTo>
                    <a:lnTo>
                      <a:pt x="334803" y="835665"/>
                    </a:lnTo>
                    <a:lnTo>
                      <a:pt x="323364" y="831222"/>
                    </a:lnTo>
                    <a:lnTo>
                      <a:pt x="311609" y="826145"/>
                    </a:lnTo>
                    <a:lnTo>
                      <a:pt x="299853" y="820116"/>
                    </a:lnTo>
                    <a:lnTo>
                      <a:pt x="288097" y="813452"/>
                    </a:lnTo>
                    <a:lnTo>
                      <a:pt x="276659" y="806153"/>
                    </a:lnTo>
                    <a:lnTo>
                      <a:pt x="264586" y="797902"/>
                    </a:lnTo>
                    <a:lnTo>
                      <a:pt x="253148" y="788700"/>
                    </a:lnTo>
                    <a:lnTo>
                      <a:pt x="241709" y="778862"/>
                    </a:lnTo>
                    <a:lnTo>
                      <a:pt x="230589" y="768390"/>
                    </a:lnTo>
                    <a:lnTo>
                      <a:pt x="219469" y="756966"/>
                    </a:lnTo>
                    <a:lnTo>
                      <a:pt x="208666" y="745225"/>
                    </a:lnTo>
                    <a:lnTo>
                      <a:pt x="198181" y="732215"/>
                    </a:lnTo>
                    <a:lnTo>
                      <a:pt x="188014" y="718252"/>
                    </a:lnTo>
                    <a:lnTo>
                      <a:pt x="178482" y="704289"/>
                    </a:lnTo>
                    <a:lnTo>
                      <a:pt x="169268" y="689057"/>
                    </a:lnTo>
                    <a:lnTo>
                      <a:pt x="160054" y="673508"/>
                    </a:lnTo>
                    <a:lnTo>
                      <a:pt x="152111" y="656690"/>
                    </a:lnTo>
                    <a:lnTo>
                      <a:pt x="144168" y="639236"/>
                    </a:lnTo>
                    <a:lnTo>
                      <a:pt x="136861" y="621148"/>
                    </a:lnTo>
                    <a:lnTo>
                      <a:pt x="130506" y="602426"/>
                    </a:lnTo>
                    <a:lnTo>
                      <a:pt x="124469" y="582751"/>
                    </a:lnTo>
                    <a:lnTo>
                      <a:pt x="121928" y="572914"/>
                    </a:lnTo>
                    <a:lnTo>
                      <a:pt x="119386" y="562442"/>
                    </a:lnTo>
                    <a:lnTo>
                      <a:pt x="117162" y="551970"/>
                    </a:lnTo>
                    <a:lnTo>
                      <a:pt x="114938" y="541498"/>
                    </a:lnTo>
                    <a:lnTo>
                      <a:pt x="113031" y="530709"/>
                    </a:lnTo>
                    <a:lnTo>
                      <a:pt x="111443" y="519602"/>
                    </a:lnTo>
                    <a:lnTo>
                      <a:pt x="111125" y="505957"/>
                    </a:lnTo>
                    <a:lnTo>
                      <a:pt x="111443" y="492629"/>
                    </a:lnTo>
                    <a:lnTo>
                      <a:pt x="112396" y="479301"/>
                    </a:lnTo>
                    <a:lnTo>
                      <a:pt x="113349" y="466290"/>
                    </a:lnTo>
                    <a:lnTo>
                      <a:pt x="115255" y="453280"/>
                    </a:lnTo>
                    <a:lnTo>
                      <a:pt x="117797" y="440586"/>
                    </a:lnTo>
                    <a:lnTo>
                      <a:pt x="120657" y="428528"/>
                    </a:lnTo>
                    <a:lnTo>
                      <a:pt x="124152" y="416152"/>
                    </a:lnTo>
                    <a:lnTo>
                      <a:pt x="127964" y="404093"/>
                    </a:lnTo>
                    <a:lnTo>
                      <a:pt x="132412" y="392669"/>
                    </a:lnTo>
                    <a:lnTo>
                      <a:pt x="137178" y="381563"/>
                    </a:lnTo>
                    <a:lnTo>
                      <a:pt x="142262" y="370456"/>
                    </a:lnTo>
                    <a:lnTo>
                      <a:pt x="148299" y="359984"/>
                    </a:lnTo>
                    <a:lnTo>
                      <a:pt x="154335" y="349512"/>
                    </a:lnTo>
                    <a:lnTo>
                      <a:pt x="161008" y="339675"/>
                    </a:lnTo>
                    <a:lnTo>
                      <a:pt x="167998" y="330472"/>
                    </a:lnTo>
                    <a:lnTo>
                      <a:pt x="175941" y="320952"/>
                    </a:lnTo>
                    <a:lnTo>
                      <a:pt x="183566" y="312384"/>
                    </a:lnTo>
                    <a:lnTo>
                      <a:pt x="192145" y="304451"/>
                    </a:lnTo>
                    <a:lnTo>
                      <a:pt x="200723" y="296518"/>
                    </a:lnTo>
                    <a:lnTo>
                      <a:pt x="209937" y="289536"/>
                    </a:lnTo>
                    <a:lnTo>
                      <a:pt x="219787" y="282872"/>
                    </a:lnTo>
                    <a:lnTo>
                      <a:pt x="229636" y="276526"/>
                    </a:lnTo>
                    <a:lnTo>
                      <a:pt x="240121" y="270496"/>
                    </a:lnTo>
                    <a:lnTo>
                      <a:pt x="250923" y="265736"/>
                    </a:lnTo>
                    <a:lnTo>
                      <a:pt x="262044" y="260976"/>
                    </a:lnTo>
                    <a:lnTo>
                      <a:pt x="273482" y="256851"/>
                    </a:lnTo>
                    <a:lnTo>
                      <a:pt x="285238" y="253360"/>
                    </a:lnTo>
                    <a:lnTo>
                      <a:pt x="297311" y="250822"/>
                    </a:lnTo>
                    <a:lnTo>
                      <a:pt x="310020" y="248600"/>
                    </a:lnTo>
                    <a:lnTo>
                      <a:pt x="323047" y="247014"/>
                    </a:lnTo>
                    <a:lnTo>
                      <a:pt x="336073" y="246062"/>
                    </a:lnTo>
                    <a:close/>
                    <a:moveTo>
                      <a:pt x="1696249" y="0"/>
                    </a:moveTo>
                    <a:lnTo>
                      <a:pt x="1709607" y="317"/>
                    </a:lnTo>
                    <a:lnTo>
                      <a:pt x="1722646" y="952"/>
                    </a:lnTo>
                    <a:lnTo>
                      <a:pt x="1735368" y="2856"/>
                    </a:lnTo>
                    <a:lnTo>
                      <a:pt x="1747771" y="5077"/>
                    </a:lnTo>
                    <a:lnTo>
                      <a:pt x="1759538" y="7616"/>
                    </a:lnTo>
                    <a:lnTo>
                      <a:pt x="1771306" y="11424"/>
                    </a:lnTo>
                    <a:lnTo>
                      <a:pt x="1782755" y="15232"/>
                    </a:lnTo>
                    <a:lnTo>
                      <a:pt x="1793886" y="19992"/>
                    </a:lnTo>
                    <a:lnTo>
                      <a:pt x="1804699" y="24752"/>
                    </a:lnTo>
                    <a:lnTo>
                      <a:pt x="1814876" y="30782"/>
                    </a:lnTo>
                    <a:lnTo>
                      <a:pt x="1825053" y="36811"/>
                    </a:lnTo>
                    <a:lnTo>
                      <a:pt x="1834594" y="43475"/>
                    </a:lnTo>
                    <a:lnTo>
                      <a:pt x="1844136" y="50457"/>
                    </a:lnTo>
                    <a:lnTo>
                      <a:pt x="1853040" y="58390"/>
                    </a:lnTo>
                    <a:lnTo>
                      <a:pt x="1861627" y="66006"/>
                    </a:lnTo>
                    <a:lnTo>
                      <a:pt x="1869578" y="74574"/>
                    </a:lnTo>
                    <a:lnTo>
                      <a:pt x="1877529" y="83460"/>
                    </a:lnTo>
                    <a:lnTo>
                      <a:pt x="1884526" y="92663"/>
                    </a:lnTo>
                    <a:lnTo>
                      <a:pt x="1891523" y="102818"/>
                    </a:lnTo>
                    <a:lnTo>
                      <a:pt x="1898201" y="112972"/>
                    </a:lnTo>
                    <a:lnTo>
                      <a:pt x="1904244" y="123127"/>
                    </a:lnTo>
                    <a:lnTo>
                      <a:pt x="1909969" y="133917"/>
                    </a:lnTo>
                    <a:lnTo>
                      <a:pt x="1915057" y="145024"/>
                    </a:lnTo>
                    <a:lnTo>
                      <a:pt x="1919828" y="156765"/>
                    </a:lnTo>
                    <a:lnTo>
                      <a:pt x="1924280" y="168189"/>
                    </a:lnTo>
                    <a:lnTo>
                      <a:pt x="1928097" y="180566"/>
                    </a:lnTo>
                    <a:lnTo>
                      <a:pt x="1931595" y="192624"/>
                    </a:lnTo>
                    <a:lnTo>
                      <a:pt x="1934457" y="205318"/>
                    </a:lnTo>
                    <a:lnTo>
                      <a:pt x="1937002" y="218012"/>
                    </a:lnTo>
                    <a:lnTo>
                      <a:pt x="1938910" y="231022"/>
                    </a:lnTo>
                    <a:lnTo>
                      <a:pt x="1940500" y="244351"/>
                    </a:lnTo>
                    <a:lnTo>
                      <a:pt x="1941136" y="257679"/>
                    </a:lnTo>
                    <a:lnTo>
                      <a:pt x="1947815" y="260218"/>
                    </a:lnTo>
                    <a:lnTo>
                      <a:pt x="1951313" y="261804"/>
                    </a:lnTo>
                    <a:lnTo>
                      <a:pt x="1954176" y="263708"/>
                    </a:lnTo>
                    <a:lnTo>
                      <a:pt x="1957038" y="265612"/>
                    </a:lnTo>
                    <a:lnTo>
                      <a:pt x="1959900" y="267834"/>
                    </a:lnTo>
                    <a:lnTo>
                      <a:pt x="1962444" y="270055"/>
                    </a:lnTo>
                    <a:lnTo>
                      <a:pt x="1964671" y="272594"/>
                    </a:lnTo>
                    <a:lnTo>
                      <a:pt x="1966897" y="275133"/>
                    </a:lnTo>
                    <a:lnTo>
                      <a:pt x="1968805" y="277989"/>
                    </a:lnTo>
                    <a:lnTo>
                      <a:pt x="1970395" y="281479"/>
                    </a:lnTo>
                    <a:lnTo>
                      <a:pt x="1971986" y="284653"/>
                    </a:lnTo>
                    <a:lnTo>
                      <a:pt x="1973258" y="288461"/>
                    </a:lnTo>
                    <a:lnTo>
                      <a:pt x="1974530" y="292269"/>
                    </a:lnTo>
                    <a:lnTo>
                      <a:pt x="1975484" y="296394"/>
                    </a:lnTo>
                    <a:lnTo>
                      <a:pt x="1976120" y="300837"/>
                    </a:lnTo>
                    <a:lnTo>
                      <a:pt x="1976438" y="307819"/>
                    </a:lnTo>
                    <a:lnTo>
                      <a:pt x="1976438" y="315117"/>
                    </a:lnTo>
                    <a:lnTo>
                      <a:pt x="1975802" y="323051"/>
                    </a:lnTo>
                    <a:lnTo>
                      <a:pt x="1974530" y="330350"/>
                    </a:lnTo>
                    <a:lnTo>
                      <a:pt x="1973258" y="337966"/>
                    </a:lnTo>
                    <a:lnTo>
                      <a:pt x="1971031" y="345582"/>
                    </a:lnTo>
                    <a:lnTo>
                      <a:pt x="1968169" y="353198"/>
                    </a:lnTo>
                    <a:lnTo>
                      <a:pt x="1964989" y="360179"/>
                    </a:lnTo>
                    <a:lnTo>
                      <a:pt x="1961172" y="367161"/>
                    </a:lnTo>
                    <a:lnTo>
                      <a:pt x="1957356" y="373825"/>
                    </a:lnTo>
                    <a:lnTo>
                      <a:pt x="1952903" y="379854"/>
                    </a:lnTo>
                    <a:lnTo>
                      <a:pt x="1947815" y="385884"/>
                    </a:lnTo>
                    <a:lnTo>
                      <a:pt x="1942726" y="390961"/>
                    </a:lnTo>
                    <a:lnTo>
                      <a:pt x="1937002" y="395404"/>
                    </a:lnTo>
                    <a:lnTo>
                      <a:pt x="1930959" y="399212"/>
                    </a:lnTo>
                    <a:lnTo>
                      <a:pt x="1924916" y="402068"/>
                    </a:lnTo>
                    <a:lnTo>
                      <a:pt x="1921736" y="413175"/>
                    </a:lnTo>
                    <a:lnTo>
                      <a:pt x="1918556" y="423965"/>
                    </a:lnTo>
                    <a:lnTo>
                      <a:pt x="1914739" y="434754"/>
                    </a:lnTo>
                    <a:lnTo>
                      <a:pt x="1910923" y="445226"/>
                    </a:lnTo>
                    <a:lnTo>
                      <a:pt x="1906788" y="456016"/>
                    </a:lnTo>
                    <a:lnTo>
                      <a:pt x="1902336" y="466171"/>
                    </a:lnTo>
                    <a:lnTo>
                      <a:pt x="1897883" y="476325"/>
                    </a:lnTo>
                    <a:lnTo>
                      <a:pt x="1893113" y="486480"/>
                    </a:lnTo>
                    <a:lnTo>
                      <a:pt x="1888024" y="496000"/>
                    </a:lnTo>
                    <a:lnTo>
                      <a:pt x="1882300" y="505838"/>
                    </a:lnTo>
                    <a:lnTo>
                      <a:pt x="1876893" y="515041"/>
                    </a:lnTo>
                    <a:lnTo>
                      <a:pt x="1870850" y="523926"/>
                    </a:lnTo>
                    <a:lnTo>
                      <a:pt x="1864808" y="532812"/>
                    </a:lnTo>
                    <a:lnTo>
                      <a:pt x="1858129" y="541380"/>
                    </a:lnTo>
                    <a:lnTo>
                      <a:pt x="1851450" y="549631"/>
                    </a:lnTo>
                    <a:lnTo>
                      <a:pt x="1844454" y="557247"/>
                    </a:lnTo>
                    <a:lnTo>
                      <a:pt x="1837457" y="565180"/>
                    </a:lnTo>
                    <a:lnTo>
                      <a:pt x="1829824" y="572162"/>
                    </a:lnTo>
                    <a:lnTo>
                      <a:pt x="1822191" y="578826"/>
                    </a:lnTo>
                    <a:lnTo>
                      <a:pt x="1813922" y="585490"/>
                    </a:lnTo>
                    <a:lnTo>
                      <a:pt x="1805653" y="591520"/>
                    </a:lnTo>
                    <a:lnTo>
                      <a:pt x="1797066" y="597232"/>
                    </a:lnTo>
                    <a:lnTo>
                      <a:pt x="1788161" y="601992"/>
                    </a:lnTo>
                    <a:lnTo>
                      <a:pt x="1779256" y="606752"/>
                    </a:lnTo>
                    <a:lnTo>
                      <a:pt x="1769715" y="610877"/>
                    </a:lnTo>
                    <a:lnTo>
                      <a:pt x="1759856" y="614685"/>
                    </a:lnTo>
                    <a:lnTo>
                      <a:pt x="1750315" y="617859"/>
                    </a:lnTo>
                    <a:lnTo>
                      <a:pt x="1739820" y="620397"/>
                    </a:lnTo>
                    <a:lnTo>
                      <a:pt x="1729325" y="622301"/>
                    </a:lnTo>
                    <a:lnTo>
                      <a:pt x="1718512" y="623888"/>
                    </a:lnTo>
                    <a:lnTo>
                      <a:pt x="1707699" y="624840"/>
                    </a:lnTo>
                    <a:lnTo>
                      <a:pt x="1696249" y="625475"/>
                    </a:lnTo>
                    <a:lnTo>
                      <a:pt x="1685118" y="624840"/>
                    </a:lnTo>
                    <a:lnTo>
                      <a:pt x="1674305" y="623888"/>
                    </a:lnTo>
                    <a:lnTo>
                      <a:pt x="1663492" y="622301"/>
                    </a:lnTo>
                    <a:lnTo>
                      <a:pt x="1652997" y="620397"/>
                    </a:lnTo>
                    <a:lnTo>
                      <a:pt x="1642820" y="617859"/>
                    </a:lnTo>
                    <a:lnTo>
                      <a:pt x="1632960" y="614685"/>
                    </a:lnTo>
                    <a:lnTo>
                      <a:pt x="1623419" y="611195"/>
                    </a:lnTo>
                    <a:lnTo>
                      <a:pt x="1613878" y="606752"/>
                    </a:lnTo>
                    <a:lnTo>
                      <a:pt x="1604655" y="602309"/>
                    </a:lnTo>
                    <a:lnTo>
                      <a:pt x="1596068" y="597232"/>
                    </a:lnTo>
                    <a:lnTo>
                      <a:pt x="1587481" y="591837"/>
                    </a:lnTo>
                    <a:lnTo>
                      <a:pt x="1579531" y="586125"/>
                    </a:lnTo>
                    <a:lnTo>
                      <a:pt x="1571262" y="579778"/>
                    </a:lnTo>
                    <a:lnTo>
                      <a:pt x="1563311" y="572479"/>
                    </a:lnTo>
                    <a:lnTo>
                      <a:pt x="1555996" y="565498"/>
                    </a:lnTo>
                    <a:lnTo>
                      <a:pt x="1548999" y="558199"/>
                    </a:lnTo>
                    <a:lnTo>
                      <a:pt x="1541684" y="550265"/>
                    </a:lnTo>
                    <a:lnTo>
                      <a:pt x="1535006" y="542015"/>
                    </a:lnTo>
                    <a:lnTo>
                      <a:pt x="1528645" y="534081"/>
                    </a:lnTo>
                    <a:lnTo>
                      <a:pt x="1522602" y="525196"/>
                    </a:lnTo>
                    <a:lnTo>
                      <a:pt x="1516560" y="516310"/>
                    </a:lnTo>
                    <a:lnTo>
                      <a:pt x="1510835" y="506790"/>
                    </a:lnTo>
                    <a:lnTo>
                      <a:pt x="1505428" y="497270"/>
                    </a:lnTo>
                    <a:lnTo>
                      <a:pt x="1500022" y="487432"/>
                    </a:lnTo>
                    <a:lnTo>
                      <a:pt x="1495251" y="477912"/>
                    </a:lnTo>
                    <a:lnTo>
                      <a:pt x="1490799" y="467440"/>
                    </a:lnTo>
                    <a:lnTo>
                      <a:pt x="1486346" y="457602"/>
                    </a:lnTo>
                    <a:lnTo>
                      <a:pt x="1482212" y="447130"/>
                    </a:lnTo>
                    <a:lnTo>
                      <a:pt x="1478714" y="436341"/>
                    </a:lnTo>
                    <a:lnTo>
                      <a:pt x="1474897" y="425869"/>
                    </a:lnTo>
                    <a:lnTo>
                      <a:pt x="1471399" y="415079"/>
                    </a:lnTo>
                    <a:lnTo>
                      <a:pt x="1468536" y="404290"/>
                    </a:lnTo>
                    <a:lnTo>
                      <a:pt x="1464720" y="403338"/>
                    </a:lnTo>
                    <a:lnTo>
                      <a:pt x="1461540" y="401751"/>
                    </a:lnTo>
                    <a:lnTo>
                      <a:pt x="1458041" y="400164"/>
                    </a:lnTo>
                    <a:lnTo>
                      <a:pt x="1454861" y="398577"/>
                    </a:lnTo>
                    <a:lnTo>
                      <a:pt x="1451363" y="396673"/>
                    </a:lnTo>
                    <a:lnTo>
                      <a:pt x="1448500" y="394452"/>
                    </a:lnTo>
                    <a:lnTo>
                      <a:pt x="1442458" y="389375"/>
                    </a:lnTo>
                    <a:lnTo>
                      <a:pt x="1436733" y="383980"/>
                    </a:lnTo>
                    <a:lnTo>
                      <a:pt x="1431962" y="377633"/>
                    </a:lnTo>
                    <a:lnTo>
                      <a:pt x="1427192" y="370969"/>
                    </a:lnTo>
                    <a:lnTo>
                      <a:pt x="1423057" y="363988"/>
                    </a:lnTo>
                    <a:lnTo>
                      <a:pt x="1419241" y="356054"/>
                    </a:lnTo>
                    <a:lnTo>
                      <a:pt x="1416379" y="348438"/>
                    </a:lnTo>
                    <a:lnTo>
                      <a:pt x="1413834" y="340504"/>
                    </a:lnTo>
                    <a:lnTo>
                      <a:pt x="1411926" y="332254"/>
                    </a:lnTo>
                    <a:lnTo>
                      <a:pt x="1410336" y="324320"/>
                    </a:lnTo>
                    <a:lnTo>
                      <a:pt x="1409700" y="316387"/>
                    </a:lnTo>
                    <a:lnTo>
                      <a:pt x="1409700" y="308453"/>
                    </a:lnTo>
                    <a:lnTo>
                      <a:pt x="1410336" y="300837"/>
                    </a:lnTo>
                    <a:lnTo>
                      <a:pt x="1411290" y="296077"/>
                    </a:lnTo>
                    <a:lnTo>
                      <a:pt x="1411926" y="291634"/>
                    </a:lnTo>
                    <a:lnTo>
                      <a:pt x="1413516" y="286874"/>
                    </a:lnTo>
                    <a:lnTo>
                      <a:pt x="1414789" y="283383"/>
                    </a:lnTo>
                    <a:lnTo>
                      <a:pt x="1416697" y="279575"/>
                    </a:lnTo>
                    <a:lnTo>
                      <a:pt x="1418923" y="275767"/>
                    </a:lnTo>
                    <a:lnTo>
                      <a:pt x="1421149" y="272911"/>
                    </a:lnTo>
                    <a:lnTo>
                      <a:pt x="1423694" y="270055"/>
                    </a:lnTo>
                    <a:lnTo>
                      <a:pt x="1426556" y="267199"/>
                    </a:lnTo>
                    <a:lnTo>
                      <a:pt x="1429418" y="264978"/>
                    </a:lnTo>
                    <a:lnTo>
                      <a:pt x="1432917" y="262756"/>
                    </a:lnTo>
                    <a:lnTo>
                      <a:pt x="1436097" y="261170"/>
                    </a:lnTo>
                    <a:lnTo>
                      <a:pt x="1439913" y="259266"/>
                    </a:lnTo>
                    <a:lnTo>
                      <a:pt x="1443730" y="257679"/>
                    </a:lnTo>
                    <a:lnTo>
                      <a:pt x="1447228" y="256727"/>
                    </a:lnTo>
                    <a:lnTo>
                      <a:pt x="1451363" y="255458"/>
                    </a:lnTo>
                    <a:lnTo>
                      <a:pt x="1452635" y="242447"/>
                    </a:lnTo>
                    <a:lnTo>
                      <a:pt x="1453907" y="229118"/>
                    </a:lnTo>
                    <a:lnTo>
                      <a:pt x="1455815" y="216108"/>
                    </a:lnTo>
                    <a:lnTo>
                      <a:pt x="1458359" y="203414"/>
                    </a:lnTo>
                    <a:lnTo>
                      <a:pt x="1461540" y="191355"/>
                    </a:lnTo>
                    <a:lnTo>
                      <a:pt x="1464720" y="178979"/>
                    </a:lnTo>
                    <a:lnTo>
                      <a:pt x="1468854" y="167237"/>
                    </a:lnTo>
                    <a:lnTo>
                      <a:pt x="1473307" y="155178"/>
                    </a:lnTo>
                    <a:lnTo>
                      <a:pt x="1478077" y="144072"/>
                    </a:lnTo>
                    <a:lnTo>
                      <a:pt x="1483484" y="132965"/>
                    </a:lnTo>
                    <a:lnTo>
                      <a:pt x="1488891" y="122175"/>
                    </a:lnTo>
                    <a:lnTo>
                      <a:pt x="1494933" y="111703"/>
                    </a:lnTo>
                    <a:lnTo>
                      <a:pt x="1501612" y="101866"/>
                    </a:lnTo>
                    <a:lnTo>
                      <a:pt x="1508609" y="92028"/>
                    </a:lnTo>
                    <a:lnTo>
                      <a:pt x="1516242" y="82825"/>
                    </a:lnTo>
                    <a:lnTo>
                      <a:pt x="1523556" y="74257"/>
                    </a:lnTo>
                    <a:lnTo>
                      <a:pt x="1531825" y="65689"/>
                    </a:lnTo>
                    <a:lnTo>
                      <a:pt x="1540412" y="57438"/>
                    </a:lnTo>
                    <a:lnTo>
                      <a:pt x="1549317" y="50139"/>
                    </a:lnTo>
                    <a:lnTo>
                      <a:pt x="1558540" y="43158"/>
                    </a:lnTo>
                    <a:lnTo>
                      <a:pt x="1568399" y="36494"/>
                    </a:lnTo>
                    <a:lnTo>
                      <a:pt x="1578258" y="30464"/>
                    </a:lnTo>
                    <a:lnTo>
                      <a:pt x="1588754" y="24752"/>
                    </a:lnTo>
                    <a:lnTo>
                      <a:pt x="1599567" y="19675"/>
                    </a:lnTo>
                    <a:lnTo>
                      <a:pt x="1610380" y="15232"/>
                    </a:lnTo>
                    <a:lnTo>
                      <a:pt x="1621829" y="11107"/>
                    </a:lnTo>
                    <a:lnTo>
                      <a:pt x="1633278" y="7616"/>
                    </a:lnTo>
                    <a:lnTo>
                      <a:pt x="1645364" y="5077"/>
                    </a:lnTo>
                    <a:lnTo>
                      <a:pt x="1657449" y="2856"/>
                    </a:lnTo>
                    <a:lnTo>
                      <a:pt x="1670170" y="952"/>
                    </a:lnTo>
                    <a:lnTo>
                      <a:pt x="1683210" y="317"/>
                    </a:lnTo>
                    <a:lnTo>
                      <a:pt x="1696249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1365545" y="3600034"/>
            <a:ext cx="936000" cy="829103"/>
            <a:chOff x="4427568" y="3651974"/>
            <a:chExt cx="936000" cy="936000"/>
          </a:xfrm>
        </p:grpSpPr>
        <p:sp>
          <p:nvSpPr>
            <p:cNvPr id="24" name="MH_Other_10"/>
            <p:cNvSpPr/>
            <p:nvPr>
              <p:custDataLst>
                <p:tags r:id="rId7"/>
              </p:custDataLst>
            </p:nvPr>
          </p:nvSpPr>
          <p:spPr>
            <a:xfrm>
              <a:off x="4427568" y="3651974"/>
              <a:ext cx="936000" cy="936000"/>
            </a:xfrm>
            <a:prstGeom prst="donut">
              <a:avLst>
                <a:gd name="adj" fmla="val 9894"/>
              </a:avLst>
            </a:prstGeom>
            <a:gradFill flip="none" rotWithShape="1">
              <a:gsLst>
                <a:gs pos="100000">
                  <a:schemeClr val="bg1"/>
                </a:gs>
                <a:gs pos="0">
                  <a:srgbClr val="E0E0E0"/>
                </a:gs>
              </a:gsLst>
              <a:lin ang="8100000" scaled="0"/>
              <a:tileRect/>
            </a:gradFill>
            <a:ln w="12700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</a:ln>
            <a:effectLst>
              <a:outerShdw blurRad="152400" dist="127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grpSp>
          <p:nvGrpSpPr>
            <p:cNvPr id="25" name="组合 58"/>
            <p:cNvGrpSpPr/>
            <p:nvPr/>
          </p:nvGrpSpPr>
          <p:grpSpPr>
            <a:xfrm>
              <a:off x="4607568" y="3859270"/>
              <a:ext cx="576000" cy="576000"/>
              <a:chOff x="4535568" y="3787270"/>
              <a:chExt cx="720000" cy="720000"/>
            </a:xfrm>
          </p:grpSpPr>
          <p:sp>
            <p:nvSpPr>
              <p:cNvPr id="26" name="MH_Title_1"/>
              <p:cNvSpPr/>
              <p:nvPr>
                <p:custDataLst>
                  <p:tags r:id="rId8"/>
                </p:custDataLst>
              </p:nvPr>
            </p:nvSpPr>
            <p:spPr>
              <a:xfrm>
                <a:off x="4535568" y="3787270"/>
                <a:ext cx="720000" cy="720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/>
                <a:endParaRPr lang="en-US" altLang="zh-CN" sz="2700" dirty="0">
                  <a:cs typeface="+mn-ea"/>
                  <a:sym typeface="+mn-lt"/>
                </a:endParaRPr>
              </a:p>
            </p:txBody>
          </p:sp>
          <p:sp>
            <p:nvSpPr>
              <p:cNvPr id="27" name="KSO_Shape"/>
              <p:cNvSpPr/>
              <p:nvPr/>
            </p:nvSpPr>
            <p:spPr bwMode="auto">
              <a:xfrm>
                <a:off x="4643568" y="3913270"/>
                <a:ext cx="504000" cy="468000"/>
              </a:xfrm>
              <a:custGeom>
                <a:avLst/>
                <a:gdLst>
                  <a:gd name="T0" fmla="*/ 1555232 w 2741613"/>
                  <a:gd name="T1" fmla="*/ 1766302 h 2557463"/>
                  <a:gd name="T2" fmla="*/ 1500877 w 2741613"/>
                  <a:gd name="T3" fmla="*/ 1732308 h 2557463"/>
                  <a:gd name="T4" fmla="*/ 410527 w 2741613"/>
                  <a:gd name="T5" fmla="*/ 1777780 h 2557463"/>
                  <a:gd name="T6" fmla="*/ 294306 w 2741613"/>
                  <a:gd name="T7" fmla="*/ 1747980 h 2557463"/>
                  <a:gd name="T8" fmla="*/ 1473436 w 2741613"/>
                  <a:gd name="T9" fmla="*/ 1657260 h 2557463"/>
                  <a:gd name="T10" fmla="*/ 1387009 w 2741613"/>
                  <a:gd name="T11" fmla="*/ 1662603 h 2557463"/>
                  <a:gd name="T12" fmla="*/ 511578 w 2741613"/>
                  <a:gd name="T13" fmla="*/ 1682417 h 2557463"/>
                  <a:gd name="T14" fmla="*/ 414761 w 2741613"/>
                  <a:gd name="T15" fmla="*/ 1659264 h 2557463"/>
                  <a:gd name="T16" fmla="*/ 1116006 w 2741613"/>
                  <a:gd name="T17" fmla="*/ 1639146 h 2557463"/>
                  <a:gd name="T18" fmla="*/ 1025639 w 2741613"/>
                  <a:gd name="T19" fmla="*/ 1606463 h 2557463"/>
                  <a:gd name="T20" fmla="*/ 902419 w 2741613"/>
                  <a:gd name="T21" fmla="*/ 1619000 h 2557463"/>
                  <a:gd name="T22" fmla="*/ 844427 w 2741613"/>
                  <a:gd name="T23" fmla="*/ 1606240 h 2557463"/>
                  <a:gd name="T24" fmla="*/ 445447 w 2741613"/>
                  <a:gd name="T25" fmla="*/ 1163753 h 2557463"/>
                  <a:gd name="T26" fmla="*/ 787487 w 2741613"/>
                  <a:gd name="T27" fmla="*/ 791326 h 2557463"/>
                  <a:gd name="T28" fmla="*/ 436007 w 2741613"/>
                  <a:gd name="T29" fmla="*/ 849224 h 2557463"/>
                  <a:gd name="T30" fmla="*/ 288609 w 2741613"/>
                  <a:gd name="T31" fmla="*/ 1698536 h 2557463"/>
                  <a:gd name="T32" fmla="*/ 48617 w 2741613"/>
                  <a:gd name="T33" fmla="*/ 1149773 h 2557463"/>
                  <a:gd name="T34" fmla="*/ 9281 w 2741613"/>
                  <a:gd name="T35" fmla="*/ 859603 h 2557463"/>
                  <a:gd name="T36" fmla="*/ 145851 w 2741613"/>
                  <a:gd name="T37" fmla="*/ 699059 h 2557463"/>
                  <a:gd name="T38" fmla="*/ 1592699 w 2741613"/>
                  <a:gd name="T39" fmla="*/ 734392 h 2557463"/>
                  <a:gd name="T40" fmla="*/ 1871083 w 2741613"/>
                  <a:gd name="T41" fmla="*/ 787391 h 2557463"/>
                  <a:gd name="T42" fmla="*/ 1890905 w 2741613"/>
                  <a:gd name="T43" fmla="*/ 1065196 h 2557463"/>
                  <a:gd name="T44" fmla="*/ 1812940 w 2741613"/>
                  <a:gd name="T45" fmla="*/ 1357575 h 2557463"/>
                  <a:gd name="T46" fmla="*/ 1457031 w 2741613"/>
                  <a:gd name="T47" fmla="*/ 968693 h 2557463"/>
                  <a:gd name="T48" fmla="*/ 1541163 w 2741613"/>
                  <a:gd name="T49" fmla="*/ 700164 h 2557463"/>
                  <a:gd name="T50" fmla="*/ 1241834 w 2741613"/>
                  <a:gd name="T51" fmla="*/ 723340 h 2557463"/>
                  <a:gd name="T52" fmla="*/ 1102527 w 2741613"/>
                  <a:gd name="T53" fmla="*/ 893083 h 2557463"/>
                  <a:gd name="T54" fmla="*/ 798746 w 2741613"/>
                  <a:gd name="T55" fmla="*/ 901471 h 2557463"/>
                  <a:gd name="T56" fmla="*/ 624337 w 2741613"/>
                  <a:gd name="T57" fmla="*/ 850924 h 2557463"/>
                  <a:gd name="T58" fmla="*/ 750839 w 2741613"/>
                  <a:gd name="T59" fmla="*/ 677208 h 2557463"/>
                  <a:gd name="T60" fmla="*/ 1062788 w 2741613"/>
                  <a:gd name="T61" fmla="*/ 640566 h 2557463"/>
                  <a:gd name="T62" fmla="*/ 137222 w 2741613"/>
                  <a:gd name="T63" fmla="*/ 399417 h 2557463"/>
                  <a:gd name="T64" fmla="*/ 292755 w 2741613"/>
                  <a:gd name="T65" fmla="*/ 345682 h 2557463"/>
                  <a:gd name="T66" fmla="*/ 334009 w 2741613"/>
                  <a:gd name="T67" fmla="*/ 437452 h 2557463"/>
                  <a:gd name="T68" fmla="*/ 372176 w 2741613"/>
                  <a:gd name="T69" fmla="*/ 447403 h 2557463"/>
                  <a:gd name="T70" fmla="*/ 362248 w 2741613"/>
                  <a:gd name="T71" fmla="*/ 593130 h 2557463"/>
                  <a:gd name="T72" fmla="*/ 240028 w 2741613"/>
                  <a:gd name="T73" fmla="*/ 702591 h 2557463"/>
                  <a:gd name="T74" fmla="*/ 122440 w 2741613"/>
                  <a:gd name="T75" fmla="*/ 567478 h 2557463"/>
                  <a:gd name="T76" fmla="*/ 107439 w 2741613"/>
                  <a:gd name="T77" fmla="*/ 480131 h 2557463"/>
                  <a:gd name="T78" fmla="*/ 170093 w 2741613"/>
                  <a:gd name="T79" fmla="*/ 347893 h 2557463"/>
                  <a:gd name="T80" fmla="*/ 1776846 w 2741613"/>
                  <a:gd name="T81" fmla="*/ 366247 h 2557463"/>
                  <a:gd name="T82" fmla="*/ 1798449 w 2741613"/>
                  <a:gd name="T83" fmla="*/ 502465 h 2557463"/>
                  <a:gd name="T84" fmla="*/ 1760093 w 2741613"/>
                  <a:gd name="T85" fmla="*/ 621435 h 2557463"/>
                  <a:gd name="T86" fmla="*/ 1630031 w 2741613"/>
                  <a:gd name="T87" fmla="*/ 697505 h 2557463"/>
                  <a:gd name="T88" fmla="*/ 1535902 w 2741613"/>
                  <a:gd name="T89" fmla="*/ 561508 h 2557463"/>
                  <a:gd name="T90" fmla="*/ 1552215 w 2741613"/>
                  <a:gd name="T91" fmla="*/ 453594 h 2557463"/>
                  <a:gd name="T92" fmla="*/ 1541854 w 2741613"/>
                  <a:gd name="T93" fmla="*/ 422193 h 2557463"/>
                  <a:gd name="T94" fmla="*/ 1010412 w 2741613"/>
                  <a:gd name="T95" fmla="*/ 326683 h 2557463"/>
                  <a:gd name="T96" fmla="*/ 1058285 w 2741613"/>
                  <a:gd name="T97" fmla="*/ 408958 h 2557463"/>
                  <a:gd name="T98" fmla="*/ 1092921 w 2741613"/>
                  <a:gd name="T99" fmla="*/ 435649 h 2557463"/>
                  <a:gd name="T100" fmla="*/ 1092260 w 2741613"/>
                  <a:gd name="T101" fmla="*/ 528071 h 2557463"/>
                  <a:gd name="T102" fmla="*/ 1006661 w 2741613"/>
                  <a:gd name="T103" fmla="*/ 635492 h 2557463"/>
                  <a:gd name="T104" fmla="*/ 893265 w 2741613"/>
                  <a:gd name="T105" fmla="*/ 569098 h 2557463"/>
                  <a:gd name="T106" fmla="*/ 861497 w 2741613"/>
                  <a:gd name="T107" fmla="*/ 458589 h 2557463"/>
                  <a:gd name="T108" fmla="*/ 868115 w 2741613"/>
                  <a:gd name="T109" fmla="*/ 376093 h 2557463"/>
                  <a:gd name="T110" fmla="*/ 514509 w 2741613"/>
                  <a:gd name="T111" fmla="*/ 219583 h 2557463"/>
                  <a:gd name="T112" fmla="*/ 515613 w 2741613"/>
                  <a:gd name="T113" fmla="*/ 155869 h 2557463"/>
                  <a:gd name="T114" fmla="*/ 520248 w 2741613"/>
                  <a:gd name="T115" fmla="*/ 152562 h 2557463"/>
                  <a:gd name="T116" fmla="*/ 791747 w 2741613"/>
                  <a:gd name="T117" fmla="*/ 99650 h 2557463"/>
                  <a:gd name="T118" fmla="*/ 848917 w 2741613"/>
                  <a:gd name="T119" fmla="*/ 59085 h 2557463"/>
                  <a:gd name="T120" fmla="*/ 813158 w 2741613"/>
                  <a:gd name="T121" fmla="*/ 292558 h 2557463"/>
                  <a:gd name="T122" fmla="*/ 481620 w 2741613"/>
                  <a:gd name="T123" fmla="*/ 286605 h 2557463"/>
                  <a:gd name="T124" fmla="*/ 458664 w 2741613"/>
                  <a:gd name="T125" fmla="*/ 50267 h 2557463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741613" h="2557463">
                    <a:moveTo>
                      <a:pt x="2199444" y="2463800"/>
                    </a:moveTo>
                    <a:lnTo>
                      <a:pt x="2327275" y="2463800"/>
                    </a:lnTo>
                    <a:lnTo>
                      <a:pt x="2325367" y="2467928"/>
                    </a:lnTo>
                    <a:lnTo>
                      <a:pt x="2325685" y="2470150"/>
                    </a:lnTo>
                    <a:lnTo>
                      <a:pt x="2326003" y="2473325"/>
                    </a:lnTo>
                    <a:lnTo>
                      <a:pt x="2326321" y="2477770"/>
                    </a:lnTo>
                    <a:lnTo>
                      <a:pt x="2326321" y="2483803"/>
                    </a:lnTo>
                    <a:lnTo>
                      <a:pt x="2325685" y="2492058"/>
                    </a:lnTo>
                    <a:lnTo>
                      <a:pt x="2323777" y="2502218"/>
                    </a:lnTo>
                    <a:lnTo>
                      <a:pt x="2321233" y="2514283"/>
                    </a:lnTo>
                    <a:lnTo>
                      <a:pt x="2319326" y="2515235"/>
                    </a:lnTo>
                    <a:lnTo>
                      <a:pt x="2316464" y="2515870"/>
                    </a:lnTo>
                    <a:lnTo>
                      <a:pt x="2308514" y="2516505"/>
                    </a:lnTo>
                    <a:lnTo>
                      <a:pt x="2293568" y="2517140"/>
                    </a:lnTo>
                    <a:lnTo>
                      <a:pt x="2292614" y="2517140"/>
                    </a:lnTo>
                    <a:lnTo>
                      <a:pt x="2292296" y="2516823"/>
                    </a:lnTo>
                    <a:lnTo>
                      <a:pt x="2291024" y="2515235"/>
                    </a:lnTo>
                    <a:lnTo>
                      <a:pt x="2290388" y="2513965"/>
                    </a:lnTo>
                    <a:lnTo>
                      <a:pt x="2289435" y="2512060"/>
                    </a:lnTo>
                    <a:lnTo>
                      <a:pt x="2288799" y="2511425"/>
                    </a:lnTo>
                    <a:lnTo>
                      <a:pt x="2288163" y="2511108"/>
                    </a:lnTo>
                    <a:lnTo>
                      <a:pt x="2286891" y="2510790"/>
                    </a:lnTo>
                    <a:lnTo>
                      <a:pt x="2285937" y="2511108"/>
                    </a:lnTo>
                    <a:lnTo>
                      <a:pt x="2284029" y="2511425"/>
                    </a:lnTo>
                    <a:lnTo>
                      <a:pt x="2282121" y="2512695"/>
                    </a:lnTo>
                    <a:lnTo>
                      <a:pt x="2276397" y="2516188"/>
                    </a:lnTo>
                    <a:lnTo>
                      <a:pt x="2264313" y="2525078"/>
                    </a:lnTo>
                    <a:lnTo>
                      <a:pt x="2251594" y="2533333"/>
                    </a:lnTo>
                    <a:lnTo>
                      <a:pt x="2245234" y="2537143"/>
                    </a:lnTo>
                    <a:lnTo>
                      <a:pt x="2238238" y="2540636"/>
                    </a:lnTo>
                    <a:lnTo>
                      <a:pt x="2231243" y="2543811"/>
                    </a:lnTo>
                    <a:lnTo>
                      <a:pt x="2223929" y="2547303"/>
                    </a:lnTo>
                    <a:lnTo>
                      <a:pt x="2216615" y="2549843"/>
                    </a:lnTo>
                    <a:lnTo>
                      <a:pt x="2208665" y="2552066"/>
                    </a:lnTo>
                    <a:lnTo>
                      <a:pt x="2200716" y="2554606"/>
                    </a:lnTo>
                    <a:lnTo>
                      <a:pt x="2192130" y="2555876"/>
                    </a:lnTo>
                    <a:lnTo>
                      <a:pt x="2183226" y="2557146"/>
                    </a:lnTo>
                    <a:lnTo>
                      <a:pt x="2174004" y="2557463"/>
                    </a:lnTo>
                    <a:lnTo>
                      <a:pt x="2164147" y="2557463"/>
                    </a:lnTo>
                    <a:lnTo>
                      <a:pt x="2153971" y="2557146"/>
                    </a:lnTo>
                    <a:lnTo>
                      <a:pt x="2145703" y="2556193"/>
                    </a:lnTo>
                    <a:lnTo>
                      <a:pt x="2139026" y="2554923"/>
                    </a:lnTo>
                    <a:lnTo>
                      <a:pt x="2133302" y="2553336"/>
                    </a:lnTo>
                    <a:lnTo>
                      <a:pt x="2128850" y="2551113"/>
                    </a:lnTo>
                    <a:lnTo>
                      <a:pt x="2125352" y="2548891"/>
                    </a:lnTo>
                    <a:lnTo>
                      <a:pt x="2123762" y="2547303"/>
                    </a:lnTo>
                    <a:lnTo>
                      <a:pt x="2122808" y="2545716"/>
                    </a:lnTo>
                    <a:lnTo>
                      <a:pt x="2121854" y="2544446"/>
                    </a:lnTo>
                    <a:lnTo>
                      <a:pt x="2121536" y="2542858"/>
                    </a:lnTo>
                    <a:lnTo>
                      <a:pt x="2120900" y="2539366"/>
                    </a:lnTo>
                    <a:lnTo>
                      <a:pt x="2121218" y="2535873"/>
                    </a:lnTo>
                    <a:lnTo>
                      <a:pt x="2122490" y="2532380"/>
                    </a:lnTo>
                    <a:lnTo>
                      <a:pt x="2124398" y="2528570"/>
                    </a:lnTo>
                    <a:lnTo>
                      <a:pt x="2126624" y="2524443"/>
                    </a:lnTo>
                    <a:lnTo>
                      <a:pt x="2129486" y="2520633"/>
                    </a:lnTo>
                    <a:lnTo>
                      <a:pt x="2132984" y="2516505"/>
                    </a:lnTo>
                    <a:lnTo>
                      <a:pt x="2137118" y="2512060"/>
                    </a:lnTo>
                    <a:lnTo>
                      <a:pt x="2141252" y="2507933"/>
                    </a:lnTo>
                    <a:lnTo>
                      <a:pt x="2150155" y="2499678"/>
                    </a:lnTo>
                    <a:lnTo>
                      <a:pt x="2160013" y="2491740"/>
                    </a:lnTo>
                    <a:lnTo>
                      <a:pt x="2169871" y="2484120"/>
                    </a:lnTo>
                    <a:lnTo>
                      <a:pt x="2178774" y="2477770"/>
                    </a:lnTo>
                    <a:lnTo>
                      <a:pt x="2193402" y="2467610"/>
                    </a:lnTo>
                    <a:lnTo>
                      <a:pt x="2199444" y="2463800"/>
                    </a:lnTo>
                    <a:close/>
                    <a:moveTo>
                      <a:pt x="417513" y="2463800"/>
                    </a:moveTo>
                    <a:lnTo>
                      <a:pt x="545027" y="2463800"/>
                    </a:lnTo>
                    <a:lnTo>
                      <a:pt x="551069" y="2467610"/>
                    </a:lnTo>
                    <a:lnTo>
                      <a:pt x="565696" y="2477770"/>
                    </a:lnTo>
                    <a:lnTo>
                      <a:pt x="574918" y="2484120"/>
                    </a:lnTo>
                    <a:lnTo>
                      <a:pt x="584775" y="2491740"/>
                    </a:lnTo>
                    <a:lnTo>
                      <a:pt x="594315" y="2499678"/>
                    </a:lnTo>
                    <a:lnTo>
                      <a:pt x="603537" y="2507933"/>
                    </a:lnTo>
                    <a:lnTo>
                      <a:pt x="607671" y="2512060"/>
                    </a:lnTo>
                    <a:lnTo>
                      <a:pt x="611805" y="2516505"/>
                    </a:lnTo>
                    <a:lnTo>
                      <a:pt x="614984" y="2520633"/>
                    </a:lnTo>
                    <a:lnTo>
                      <a:pt x="618164" y="2524443"/>
                    </a:lnTo>
                    <a:lnTo>
                      <a:pt x="620390" y="2528570"/>
                    </a:lnTo>
                    <a:lnTo>
                      <a:pt x="622298" y="2532380"/>
                    </a:lnTo>
                    <a:lnTo>
                      <a:pt x="623570" y="2535873"/>
                    </a:lnTo>
                    <a:lnTo>
                      <a:pt x="623888" y="2539366"/>
                    </a:lnTo>
                    <a:lnTo>
                      <a:pt x="622934" y="2542858"/>
                    </a:lnTo>
                    <a:lnTo>
                      <a:pt x="622616" y="2544446"/>
                    </a:lnTo>
                    <a:lnTo>
                      <a:pt x="621980" y="2545716"/>
                    </a:lnTo>
                    <a:lnTo>
                      <a:pt x="620708" y="2547303"/>
                    </a:lnTo>
                    <a:lnTo>
                      <a:pt x="619436" y="2548891"/>
                    </a:lnTo>
                    <a:lnTo>
                      <a:pt x="615938" y="2551113"/>
                    </a:lnTo>
                    <a:lnTo>
                      <a:pt x="611487" y="2553336"/>
                    </a:lnTo>
                    <a:lnTo>
                      <a:pt x="605763" y="2554923"/>
                    </a:lnTo>
                    <a:lnTo>
                      <a:pt x="599085" y="2556193"/>
                    </a:lnTo>
                    <a:lnTo>
                      <a:pt x="590817" y="2557146"/>
                    </a:lnTo>
                    <a:lnTo>
                      <a:pt x="580642" y="2557463"/>
                    </a:lnTo>
                    <a:lnTo>
                      <a:pt x="570784" y="2557463"/>
                    </a:lnTo>
                    <a:lnTo>
                      <a:pt x="561244" y="2557146"/>
                    </a:lnTo>
                    <a:lnTo>
                      <a:pt x="552659" y="2555876"/>
                    </a:lnTo>
                    <a:lnTo>
                      <a:pt x="544073" y="2554606"/>
                    </a:lnTo>
                    <a:lnTo>
                      <a:pt x="536123" y="2552066"/>
                    </a:lnTo>
                    <a:lnTo>
                      <a:pt x="528173" y="2549843"/>
                    </a:lnTo>
                    <a:lnTo>
                      <a:pt x="520542" y="2547303"/>
                    </a:lnTo>
                    <a:lnTo>
                      <a:pt x="513546" y="2543811"/>
                    </a:lnTo>
                    <a:lnTo>
                      <a:pt x="506232" y="2540636"/>
                    </a:lnTo>
                    <a:lnTo>
                      <a:pt x="499554" y="2537143"/>
                    </a:lnTo>
                    <a:lnTo>
                      <a:pt x="493195" y="2533333"/>
                    </a:lnTo>
                    <a:lnTo>
                      <a:pt x="480475" y="2525078"/>
                    </a:lnTo>
                    <a:lnTo>
                      <a:pt x="468391" y="2516188"/>
                    </a:lnTo>
                    <a:lnTo>
                      <a:pt x="462668" y="2512695"/>
                    </a:lnTo>
                    <a:lnTo>
                      <a:pt x="460760" y="2511425"/>
                    </a:lnTo>
                    <a:lnTo>
                      <a:pt x="458852" y="2511108"/>
                    </a:lnTo>
                    <a:lnTo>
                      <a:pt x="457580" y="2510790"/>
                    </a:lnTo>
                    <a:lnTo>
                      <a:pt x="456626" y="2511108"/>
                    </a:lnTo>
                    <a:lnTo>
                      <a:pt x="455990" y="2511425"/>
                    </a:lnTo>
                    <a:lnTo>
                      <a:pt x="455036" y="2512060"/>
                    </a:lnTo>
                    <a:lnTo>
                      <a:pt x="454400" y="2513965"/>
                    </a:lnTo>
                    <a:lnTo>
                      <a:pt x="453446" y="2515235"/>
                    </a:lnTo>
                    <a:lnTo>
                      <a:pt x="452492" y="2516823"/>
                    </a:lnTo>
                    <a:lnTo>
                      <a:pt x="452174" y="2517140"/>
                    </a:lnTo>
                    <a:lnTo>
                      <a:pt x="450902" y="2517140"/>
                    </a:lnTo>
                    <a:lnTo>
                      <a:pt x="436274" y="2516505"/>
                    </a:lnTo>
                    <a:lnTo>
                      <a:pt x="428325" y="2515870"/>
                    </a:lnTo>
                    <a:lnTo>
                      <a:pt x="425463" y="2515235"/>
                    </a:lnTo>
                    <a:lnTo>
                      <a:pt x="423555" y="2514283"/>
                    </a:lnTo>
                    <a:lnTo>
                      <a:pt x="420693" y="2502218"/>
                    </a:lnTo>
                    <a:lnTo>
                      <a:pt x="419421" y="2492058"/>
                    </a:lnTo>
                    <a:lnTo>
                      <a:pt x="418149" y="2483803"/>
                    </a:lnTo>
                    <a:lnTo>
                      <a:pt x="418149" y="2477770"/>
                    </a:lnTo>
                    <a:lnTo>
                      <a:pt x="418467" y="2473325"/>
                    </a:lnTo>
                    <a:lnTo>
                      <a:pt x="418785" y="2470150"/>
                    </a:lnTo>
                    <a:lnTo>
                      <a:pt x="419421" y="2467928"/>
                    </a:lnTo>
                    <a:lnTo>
                      <a:pt x="417513" y="2463800"/>
                    </a:lnTo>
                    <a:close/>
                    <a:moveTo>
                      <a:pt x="2051490" y="2346325"/>
                    </a:moveTo>
                    <a:lnTo>
                      <a:pt x="2152651" y="2346325"/>
                    </a:lnTo>
                    <a:lnTo>
                      <a:pt x="2151061" y="2349527"/>
                    </a:lnTo>
                    <a:lnTo>
                      <a:pt x="2151697" y="2351449"/>
                    </a:lnTo>
                    <a:lnTo>
                      <a:pt x="2152015" y="2353690"/>
                    </a:lnTo>
                    <a:lnTo>
                      <a:pt x="2152333" y="2357533"/>
                    </a:lnTo>
                    <a:lnTo>
                      <a:pt x="2152015" y="2362336"/>
                    </a:lnTo>
                    <a:lnTo>
                      <a:pt x="2151697" y="2368741"/>
                    </a:lnTo>
                    <a:lnTo>
                      <a:pt x="2150106" y="2376747"/>
                    </a:lnTo>
                    <a:lnTo>
                      <a:pt x="2148198" y="2386674"/>
                    </a:lnTo>
                    <a:lnTo>
                      <a:pt x="2146289" y="2387314"/>
                    </a:lnTo>
                    <a:lnTo>
                      <a:pt x="2144062" y="2387634"/>
                    </a:lnTo>
                    <a:lnTo>
                      <a:pt x="2137700" y="2388595"/>
                    </a:lnTo>
                    <a:lnTo>
                      <a:pt x="2125929" y="2388915"/>
                    </a:lnTo>
                    <a:lnTo>
                      <a:pt x="2125611" y="2388915"/>
                    </a:lnTo>
                    <a:lnTo>
                      <a:pt x="2124975" y="2388595"/>
                    </a:lnTo>
                    <a:lnTo>
                      <a:pt x="2124021" y="2387314"/>
                    </a:lnTo>
                    <a:lnTo>
                      <a:pt x="2123702" y="2386354"/>
                    </a:lnTo>
                    <a:lnTo>
                      <a:pt x="2123066" y="2384752"/>
                    </a:lnTo>
                    <a:lnTo>
                      <a:pt x="2122112" y="2384432"/>
                    </a:lnTo>
                    <a:lnTo>
                      <a:pt x="2121794" y="2383792"/>
                    </a:lnTo>
                    <a:lnTo>
                      <a:pt x="2120521" y="2383792"/>
                    </a:lnTo>
                    <a:lnTo>
                      <a:pt x="2119885" y="2383792"/>
                    </a:lnTo>
                    <a:lnTo>
                      <a:pt x="2117022" y="2385073"/>
                    </a:lnTo>
                    <a:lnTo>
                      <a:pt x="2112250" y="2387955"/>
                    </a:lnTo>
                    <a:lnTo>
                      <a:pt x="2103025" y="2395000"/>
                    </a:lnTo>
                    <a:lnTo>
                      <a:pt x="2092845" y="2401724"/>
                    </a:lnTo>
                    <a:lnTo>
                      <a:pt x="2087437" y="2404927"/>
                    </a:lnTo>
                    <a:lnTo>
                      <a:pt x="2082347" y="2407489"/>
                    </a:lnTo>
                    <a:lnTo>
                      <a:pt x="2076621" y="2410371"/>
                    </a:lnTo>
                    <a:lnTo>
                      <a:pt x="2070895" y="2412612"/>
                    </a:lnTo>
                    <a:lnTo>
                      <a:pt x="2064850" y="2415174"/>
                    </a:lnTo>
                    <a:lnTo>
                      <a:pt x="2058806" y="2416775"/>
                    </a:lnTo>
                    <a:lnTo>
                      <a:pt x="2052444" y="2418376"/>
                    </a:lnTo>
                    <a:lnTo>
                      <a:pt x="2045763" y="2419657"/>
                    </a:lnTo>
                    <a:lnTo>
                      <a:pt x="2038447" y="2420618"/>
                    </a:lnTo>
                    <a:lnTo>
                      <a:pt x="2031448" y="2420938"/>
                    </a:lnTo>
                    <a:lnTo>
                      <a:pt x="2023495" y="2420938"/>
                    </a:lnTo>
                    <a:lnTo>
                      <a:pt x="2015542" y="2420618"/>
                    </a:lnTo>
                    <a:lnTo>
                      <a:pt x="2008862" y="2419977"/>
                    </a:lnTo>
                    <a:lnTo>
                      <a:pt x="2003454" y="2418697"/>
                    </a:lnTo>
                    <a:lnTo>
                      <a:pt x="1999000" y="2417736"/>
                    </a:lnTo>
                    <a:lnTo>
                      <a:pt x="1995501" y="2415814"/>
                    </a:lnTo>
                    <a:lnTo>
                      <a:pt x="1992638" y="2413893"/>
                    </a:lnTo>
                    <a:lnTo>
                      <a:pt x="1990729" y="2411652"/>
                    </a:lnTo>
                    <a:lnTo>
                      <a:pt x="1989456" y="2409410"/>
                    </a:lnTo>
                    <a:lnTo>
                      <a:pt x="1989138" y="2406528"/>
                    </a:lnTo>
                    <a:lnTo>
                      <a:pt x="1989456" y="2403966"/>
                    </a:lnTo>
                    <a:lnTo>
                      <a:pt x="1990411" y="2401084"/>
                    </a:lnTo>
                    <a:lnTo>
                      <a:pt x="1991683" y="2397882"/>
                    </a:lnTo>
                    <a:lnTo>
                      <a:pt x="1993592" y="2394679"/>
                    </a:lnTo>
                    <a:lnTo>
                      <a:pt x="1996137" y="2391477"/>
                    </a:lnTo>
                    <a:lnTo>
                      <a:pt x="1999000" y="2387955"/>
                    </a:lnTo>
                    <a:lnTo>
                      <a:pt x="2005362" y="2381230"/>
                    </a:lnTo>
                    <a:lnTo>
                      <a:pt x="2012679" y="2374825"/>
                    </a:lnTo>
                    <a:lnTo>
                      <a:pt x="2019996" y="2368421"/>
                    </a:lnTo>
                    <a:lnTo>
                      <a:pt x="2027949" y="2362336"/>
                    </a:lnTo>
                    <a:lnTo>
                      <a:pt x="2035265" y="2356893"/>
                    </a:lnTo>
                    <a:lnTo>
                      <a:pt x="2046718" y="2349527"/>
                    </a:lnTo>
                    <a:lnTo>
                      <a:pt x="2051490" y="2346325"/>
                    </a:lnTo>
                    <a:close/>
                    <a:moveTo>
                      <a:pt x="592138" y="2346325"/>
                    </a:moveTo>
                    <a:lnTo>
                      <a:pt x="693618" y="2346325"/>
                    </a:lnTo>
                    <a:lnTo>
                      <a:pt x="698072" y="2349527"/>
                    </a:lnTo>
                    <a:lnTo>
                      <a:pt x="709842" y="2356893"/>
                    </a:lnTo>
                    <a:lnTo>
                      <a:pt x="716841" y="2362336"/>
                    </a:lnTo>
                    <a:lnTo>
                      <a:pt x="724794" y="2368421"/>
                    </a:lnTo>
                    <a:lnTo>
                      <a:pt x="732428" y="2374825"/>
                    </a:lnTo>
                    <a:lnTo>
                      <a:pt x="739427" y="2381230"/>
                    </a:lnTo>
                    <a:lnTo>
                      <a:pt x="746108" y="2387955"/>
                    </a:lnTo>
                    <a:lnTo>
                      <a:pt x="748971" y="2391477"/>
                    </a:lnTo>
                    <a:lnTo>
                      <a:pt x="751197" y="2394679"/>
                    </a:lnTo>
                    <a:lnTo>
                      <a:pt x="753106" y="2397882"/>
                    </a:lnTo>
                    <a:lnTo>
                      <a:pt x="754697" y="2401084"/>
                    </a:lnTo>
                    <a:lnTo>
                      <a:pt x="755333" y="2403966"/>
                    </a:lnTo>
                    <a:lnTo>
                      <a:pt x="755651" y="2406528"/>
                    </a:lnTo>
                    <a:lnTo>
                      <a:pt x="755333" y="2409410"/>
                    </a:lnTo>
                    <a:lnTo>
                      <a:pt x="754379" y="2411652"/>
                    </a:lnTo>
                    <a:lnTo>
                      <a:pt x="752470" y="2413893"/>
                    </a:lnTo>
                    <a:lnTo>
                      <a:pt x="749607" y="2415814"/>
                    </a:lnTo>
                    <a:lnTo>
                      <a:pt x="746108" y="2417736"/>
                    </a:lnTo>
                    <a:lnTo>
                      <a:pt x="741336" y="2418697"/>
                    </a:lnTo>
                    <a:lnTo>
                      <a:pt x="736246" y="2419977"/>
                    </a:lnTo>
                    <a:lnTo>
                      <a:pt x="729565" y="2420618"/>
                    </a:lnTo>
                    <a:lnTo>
                      <a:pt x="721612" y="2420938"/>
                    </a:lnTo>
                    <a:lnTo>
                      <a:pt x="713659" y="2420938"/>
                    </a:lnTo>
                    <a:lnTo>
                      <a:pt x="706343" y="2420618"/>
                    </a:lnTo>
                    <a:lnTo>
                      <a:pt x="699344" y="2419657"/>
                    </a:lnTo>
                    <a:lnTo>
                      <a:pt x="692346" y="2418376"/>
                    </a:lnTo>
                    <a:lnTo>
                      <a:pt x="685983" y="2416775"/>
                    </a:lnTo>
                    <a:lnTo>
                      <a:pt x="679939" y="2415174"/>
                    </a:lnTo>
                    <a:lnTo>
                      <a:pt x="673895" y="2412612"/>
                    </a:lnTo>
                    <a:lnTo>
                      <a:pt x="668487" y="2410371"/>
                    </a:lnTo>
                    <a:lnTo>
                      <a:pt x="662760" y="2407489"/>
                    </a:lnTo>
                    <a:lnTo>
                      <a:pt x="657352" y="2404927"/>
                    </a:lnTo>
                    <a:lnTo>
                      <a:pt x="652263" y="2401724"/>
                    </a:lnTo>
                    <a:lnTo>
                      <a:pt x="642083" y="2395000"/>
                    </a:lnTo>
                    <a:lnTo>
                      <a:pt x="632539" y="2387955"/>
                    </a:lnTo>
                    <a:lnTo>
                      <a:pt x="628086" y="2385073"/>
                    </a:lnTo>
                    <a:lnTo>
                      <a:pt x="624904" y="2383792"/>
                    </a:lnTo>
                    <a:lnTo>
                      <a:pt x="624268" y="2383792"/>
                    </a:lnTo>
                    <a:lnTo>
                      <a:pt x="623314" y="2383792"/>
                    </a:lnTo>
                    <a:lnTo>
                      <a:pt x="622678" y="2384432"/>
                    </a:lnTo>
                    <a:lnTo>
                      <a:pt x="622041" y="2384752"/>
                    </a:lnTo>
                    <a:lnTo>
                      <a:pt x="621405" y="2386354"/>
                    </a:lnTo>
                    <a:lnTo>
                      <a:pt x="620769" y="2387314"/>
                    </a:lnTo>
                    <a:lnTo>
                      <a:pt x="620133" y="2388595"/>
                    </a:lnTo>
                    <a:lnTo>
                      <a:pt x="619496" y="2388915"/>
                    </a:lnTo>
                    <a:lnTo>
                      <a:pt x="619178" y="2388915"/>
                    </a:lnTo>
                    <a:lnTo>
                      <a:pt x="607408" y="2388595"/>
                    </a:lnTo>
                    <a:lnTo>
                      <a:pt x="601045" y="2387634"/>
                    </a:lnTo>
                    <a:lnTo>
                      <a:pt x="598819" y="2387314"/>
                    </a:lnTo>
                    <a:lnTo>
                      <a:pt x="596910" y="2386674"/>
                    </a:lnTo>
                    <a:lnTo>
                      <a:pt x="595001" y="2376747"/>
                    </a:lnTo>
                    <a:lnTo>
                      <a:pt x="593411" y="2368741"/>
                    </a:lnTo>
                    <a:lnTo>
                      <a:pt x="593092" y="2362336"/>
                    </a:lnTo>
                    <a:lnTo>
                      <a:pt x="592774" y="2357533"/>
                    </a:lnTo>
                    <a:lnTo>
                      <a:pt x="593092" y="2353690"/>
                    </a:lnTo>
                    <a:lnTo>
                      <a:pt x="593411" y="2351449"/>
                    </a:lnTo>
                    <a:lnTo>
                      <a:pt x="593729" y="2349527"/>
                    </a:lnTo>
                    <a:lnTo>
                      <a:pt x="592138" y="2346325"/>
                    </a:lnTo>
                    <a:close/>
                    <a:moveTo>
                      <a:pt x="1474788" y="2290762"/>
                    </a:moveTo>
                    <a:lnTo>
                      <a:pt x="1567135" y="2290762"/>
                    </a:lnTo>
                    <a:lnTo>
                      <a:pt x="1571609" y="2293338"/>
                    </a:lnTo>
                    <a:lnTo>
                      <a:pt x="1582473" y="2300422"/>
                    </a:lnTo>
                    <a:lnTo>
                      <a:pt x="1588864" y="2305252"/>
                    </a:lnTo>
                    <a:lnTo>
                      <a:pt x="1595894" y="2310404"/>
                    </a:lnTo>
                    <a:lnTo>
                      <a:pt x="1602924" y="2316522"/>
                    </a:lnTo>
                    <a:lnTo>
                      <a:pt x="1609634" y="2322640"/>
                    </a:lnTo>
                    <a:lnTo>
                      <a:pt x="1615386" y="2328758"/>
                    </a:lnTo>
                    <a:lnTo>
                      <a:pt x="1617942" y="2331978"/>
                    </a:lnTo>
                    <a:lnTo>
                      <a:pt x="1620179" y="2334875"/>
                    </a:lnTo>
                    <a:lnTo>
                      <a:pt x="1621776" y="2337451"/>
                    </a:lnTo>
                    <a:lnTo>
                      <a:pt x="1623374" y="2340671"/>
                    </a:lnTo>
                    <a:lnTo>
                      <a:pt x="1624013" y="2343247"/>
                    </a:lnTo>
                    <a:lnTo>
                      <a:pt x="1624013" y="2345501"/>
                    </a:lnTo>
                    <a:lnTo>
                      <a:pt x="1623694" y="2348399"/>
                    </a:lnTo>
                    <a:lnTo>
                      <a:pt x="1622735" y="2350009"/>
                    </a:lnTo>
                    <a:lnTo>
                      <a:pt x="1620818" y="2352585"/>
                    </a:lnTo>
                    <a:lnTo>
                      <a:pt x="1618581" y="2353873"/>
                    </a:lnTo>
                    <a:lnTo>
                      <a:pt x="1615386" y="2355483"/>
                    </a:lnTo>
                    <a:lnTo>
                      <a:pt x="1611232" y="2357093"/>
                    </a:lnTo>
                    <a:lnTo>
                      <a:pt x="1606119" y="2357737"/>
                    </a:lnTo>
                    <a:lnTo>
                      <a:pt x="1600048" y="2358703"/>
                    </a:lnTo>
                    <a:lnTo>
                      <a:pt x="1593018" y="2359025"/>
                    </a:lnTo>
                    <a:lnTo>
                      <a:pt x="1585668" y="2359025"/>
                    </a:lnTo>
                    <a:lnTo>
                      <a:pt x="1578958" y="2358703"/>
                    </a:lnTo>
                    <a:lnTo>
                      <a:pt x="1572567" y="2357415"/>
                    </a:lnTo>
                    <a:lnTo>
                      <a:pt x="1566496" y="2356127"/>
                    </a:lnTo>
                    <a:lnTo>
                      <a:pt x="1560744" y="2355161"/>
                    </a:lnTo>
                    <a:lnTo>
                      <a:pt x="1554993" y="2353229"/>
                    </a:lnTo>
                    <a:lnTo>
                      <a:pt x="1549560" y="2351297"/>
                    </a:lnTo>
                    <a:lnTo>
                      <a:pt x="1544128" y="2349043"/>
                    </a:lnTo>
                    <a:lnTo>
                      <a:pt x="1539335" y="2346467"/>
                    </a:lnTo>
                    <a:lnTo>
                      <a:pt x="1529749" y="2340993"/>
                    </a:lnTo>
                    <a:lnTo>
                      <a:pt x="1520802" y="2334875"/>
                    </a:lnTo>
                    <a:lnTo>
                      <a:pt x="1511535" y="2328758"/>
                    </a:lnTo>
                    <a:lnTo>
                      <a:pt x="1507701" y="2326182"/>
                    </a:lnTo>
                    <a:lnTo>
                      <a:pt x="1505144" y="2324894"/>
                    </a:lnTo>
                    <a:lnTo>
                      <a:pt x="1503866" y="2324572"/>
                    </a:lnTo>
                    <a:lnTo>
                      <a:pt x="1503227" y="2324894"/>
                    </a:lnTo>
                    <a:lnTo>
                      <a:pt x="1502269" y="2325860"/>
                    </a:lnTo>
                    <a:lnTo>
                      <a:pt x="1501629" y="2326826"/>
                    </a:lnTo>
                    <a:lnTo>
                      <a:pt x="1500990" y="2328114"/>
                    </a:lnTo>
                    <a:lnTo>
                      <a:pt x="1500351" y="2329080"/>
                    </a:lnTo>
                    <a:lnTo>
                      <a:pt x="1499712" y="2329080"/>
                    </a:lnTo>
                    <a:lnTo>
                      <a:pt x="1499073" y="2329080"/>
                    </a:lnTo>
                    <a:lnTo>
                      <a:pt x="1488528" y="2328758"/>
                    </a:lnTo>
                    <a:lnTo>
                      <a:pt x="1482777" y="2328436"/>
                    </a:lnTo>
                    <a:lnTo>
                      <a:pt x="1480540" y="2328114"/>
                    </a:lnTo>
                    <a:lnTo>
                      <a:pt x="1478942" y="2327148"/>
                    </a:lnTo>
                    <a:lnTo>
                      <a:pt x="1477025" y="2318132"/>
                    </a:lnTo>
                    <a:lnTo>
                      <a:pt x="1476066" y="2310726"/>
                    </a:lnTo>
                    <a:lnTo>
                      <a:pt x="1475747" y="2305252"/>
                    </a:lnTo>
                    <a:lnTo>
                      <a:pt x="1475108" y="2300422"/>
                    </a:lnTo>
                    <a:lnTo>
                      <a:pt x="1475747" y="2297202"/>
                    </a:lnTo>
                    <a:lnTo>
                      <a:pt x="1476066" y="2294948"/>
                    </a:lnTo>
                    <a:lnTo>
                      <a:pt x="1476386" y="2293338"/>
                    </a:lnTo>
                    <a:lnTo>
                      <a:pt x="1474788" y="2290762"/>
                    </a:lnTo>
                    <a:close/>
                    <a:moveTo>
                      <a:pt x="1243723" y="2290762"/>
                    </a:moveTo>
                    <a:lnTo>
                      <a:pt x="1335088" y="2290762"/>
                    </a:lnTo>
                    <a:lnTo>
                      <a:pt x="1333507" y="2293338"/>
                    </a:lnTo>
                    <a:lnTo>
                      <a:pt x="1334140" y="2294948"/>
                    </a:lnTo>
                    <a:lnTo>
                      <a:pt x="1334140" y="2297202"/>
                    </a:lnTo>
                    <a:lnTo>
                      <a:pt x="1334456" y="2300422"/>
                    </a:lnTo>
                    <a:lnTo>
                      <a:pt x="1334456" y="2305252"/>
                    </a:lnTo>
                    <a:lnTo>
                      <a:pt x="1333824" y="2310726"/>
                    </a:lnTo>
                    <a:lnTo>
                      <a:pt x="1332559" y="2318132"/>
                    </a:lnTo>
                    <a:lnTo>
                      <a:pt x="1330978" y="2327148"/>
                    </a:lnTo>
                    <a:lnTo>
                      <a:pt x="1329398" y="2328114"/>
                    </a:lnTo>
                    <a:lnTo>
                      <a:pt x="1327185" y="2328436"/>
                    </a:lnTo>
                    <a:lnTo>
                      <a:pt x="1321494" y="2328758"/>
                    </a:lnTo>
                    <a:lnTo>
                      <a:pt x="1311061" y="2329080"/>
                    </a:lnTo>
                    <a:lnTo>
                      <a:pt x="1310113" y="2329080"/>
                    </a:lnTo>
                    <a:lnTo>
                      <a:pt x="1309797" y="2329080"/>
                    </a:lnTo>
                    <a:lnTo>
                      <a:pt x="1309165" y="2328114"/>
                    </a:lnTo>
                    <a:lnTo>
                      <a:pt x="1308848" y="2326826"/>
                    </a:lnTo>
                    <a:lnTo>
                      <a:pt x="1307900" y="2325860"/>
                    </a:lnTo>
                    <a:lnTo>
                      <a:pt x="1306952" y="2324894"/>
                    </a:lnTo>
                    <a:lnTo>
                      <a:pt x="1306003" y="2324572"/>
                    </a:lnTo>
                    <a:lnTo>
                      <a:pt x="1305371" y="2324894"/>
                    </a:lnTo>
                    <a:lnTo>
                      <a:pt x="1302842" y="2326182"/>
                    </a:lnTo>
                    <a:lnTo>
                      <a:pt x="1298732" y="2328758"/>
                    </a:lnTo>
                    <a:lnTo>
                      <a:pt x="1289880" y="2334875"/>
                    </a:lnTo>
                    <a:lnTo>
                      <a:pt x="1281028" y="2340993"/>
                    </a:lnTo>
                    <a:lnTo>
                      <a:pt x="1271228" y="2346467"/>
                    </a:lnTo>
                    <a:lnTo>
                      <a:pt x="1266485" y="2349043"/>
                    </a:lnTo>
                    <a:lnTo>
                      <a:pt x="1261111" y="2351297"/>
                    </a:lnTo>
                    <a:lnTo>
                      <a:pt x="1256053" y="2353229"/>
                    </a:lnTo>
                    <a:lnTo>
                      <a:pt x="1250362" y="2355161"/>
                    </a:lnTo>
                    <a:lnTo>
                      <a:pt x="1244356" y="2356127"/>
                    </a:lnTo>
                    <a:lnTo>
                      <a:pt x="1238349" y="2357415"/>
                    </a:lnTo>
                    <a:lnTo>
                      <a:pt x="1232026" y="2358703"/>
                    </a:lnTo>
                    <a:lnTo>
                      <a:pt x="1225387" y="2359025"/>
                    </a:lnTo>
                    <a:lnTo>
                      <a:pt x="1218116" y="2359025"/>
                    </a:lnTo>
                    <a:lnTo>
                      <a:pt x="1211161" y="2358703"/>
                    </a:lnTo>
                    <a:lnTo>
                      <a:pt x="1205154" y="2357737"/>
                    </a:lnTo>
                    <a:lnTo>
                      <a:pt x="1200096" y="2357093"/>
                    </a:lnTo>
                    <a:lnTo>
                      <a:pt x="1195986" y="2355483"/>
                    </a:lnTo>
                    <a:lnTo>
                      <a:pt x="1193141" y="2353873"/>
                    </a:lnTo>
                    <a:lnTo>
                      <a:pt x="1190295" y="2352585"/>
                    </a:lnTo>
                    <a:lnTo>
                      <a:pt x="1189031" y="2350009"/>
                    </a:lnTo>
                    <a:lnTo>
                      <a:pt x="1187766" y="2348399"/>
                    </a:lnTo>
                    <a:lnTo>
                      <a:pt x="1187450" y="2345501"/>
                    </a:lnTo>
                    <a:lnTo>
                      <a:pt x="1187766" y="2343247"/>
                    </a:lnTo>
                    <a:lnTo>
                      <a:pt x="1188715" y="2340671"/>
                    </a:lnTo>
                    <a:lnTo>
                      <a:pt x="1189663" y="2337451"/>
                    </a:lnTo>
                    <a:lnTo>
                      <a:pt x="1191560" y="2334875"/>
                    </a:lnTo>
                    <a:lnTo>
                      <a:pt x="1193457" y="2331978"/>
                    </a:lnTo>
                    <a:lnTo>
                      <a:pt x="1195986" y="2328758"/>
                    </a:lnTo>
                    <a:lnTo>
                      <a:pt x="1201676" y="2322640"/>
                    </a:lnTo>
                    <a:lnTo>
                      <a:pt x="1208315" y="2316522"/>
                    </a:lnTo>
                    <a:lnTo>
                      <a:pt x="1215271" y="2310404"/>
                    </a:lnTo>
                    <a:lnTo>
                      <a:pt x="1222226" y="2305252"/>
                    </a:lnTo>
                    <a:lnTo>
                      <a:pt x="1228865" y="2300422"/>
                    </a:lnTo>
                    <a:lnTo>
                      <a:pt x="1239613" y="2293338"/>
                    </a:lnTo>
                    <a:lnTo>
                      <a:pt x="1243723" y="2290762"/>
                    </a:lnTo>
                    <a:close/>
                    <a:moveTo>
                      <a:pt x="1481543" y="1798637"/>
                    </a:moveTo>
                    <a:lnTo>
                      <a:pt x="1701801" y="1798637"/>
                    </a:lnTo>
                    <a:lnTo>
                      <a:pt x="1567093" y="2273300"/>
                    </a:lnTo>
                    <a:lnTo>
                      <a:pt x="1465263" y="2273300"/>
                    </a:lnTo>
                    <a:lnTo>
                      <a:pt x="1481543" y="1798637"/>
                    </a:lnTo>
                    <a:close/>
                    <a:moveTo>
                      <a:pt x="1119188" y="1798637"/>
                    </a:moveTo>
                    <a:lnTo>
                      <a:pt x="1336331" y="1798637"/>
                    </a:lnTo>
                    <a:lnTo>
                      <a:pt x="1346201" y="2272028"/>
                    </a:lnTo>
                    <a:lnTo>
                      <a:pt x="1240177" y="2273300"/>
                    </a:lnTo>
                    <a:lnTo>
                      <a:pt x="1119188" y="1798637"/>
                    </a:lnTo>
                    <a:close/>
                    <a:moveTo>
                      <a:pt x="2677270" y="1559805"/>
                    </a:moveTo>
                    <a:lnTo>
                      <a:pt x="2530833" y="1600780"/>
                    </a:lnTo>
                    <a:lnTo>
                      <a:pt x="2674417" y="1589663"/>
                    </a:lnTo>
                    <a:lnTo>
                      <a:pt x="2677270" y="1559805"/>
                    </a:lnTo>
                    <a:close/>
                    <a:moveTo>
                      <a:pt x="64561" y="1559805"/>
                    </a:moveTo>
                    <a:lnTo>
                      <a:pt x="67742" y="1589663"/>
                    </a:lnTo>
                    <a:lnTo>
                      <a:pt x="211812" y="1600780"/>
                    </a:lnTo>
                    <a:lnTo>
                      <a:pt x="64561" y="1559805"/>
                    </a:lnTo>
                    <a:close/>
                    <a:moveTo>
                      <a:pt x="1743293" y="1510232"/>
                    </a:moveTo>
                    <a:lnTo>
                      <a:pt x="1815377" y="1673934"/>
                    </a:lnTo>
                    <a:lnTo>
                      <a:pt x="2196121" y="1673934"/>
                    </a:lnTo>
                    <a:lnTo>
                      <a:pt x="2051635" y="1522922"/>
                    </a:lnTo>
                    <a:lnTo>
                      <a:pt x="1743293" y="1510232"/>
                    </a:lnTo>
                    <a:close/>
                    <a:moveTo>
                      <a:pt x="1093583" y="1510232"/>
                    </a:moveTo>
                    <a:lnTo>
                      <a:pt x="785241" y="1522922"/>
                    </a:lnTo>
                    <a:lnTo>
                      <a:pt x="641072" y="1673934"/>
                    </a:lnTo>
                    <a:lnTo>
                      <a:pt x="1021499" y="1673934"/>
                    </a:lnTo>
                    <a:lnTo>
                      <a:pt x="1093583" y="1510232"/>
                    </a:lnTo>
                    <a:close/>
                    <a:moveTo>
                      <a:pt x="840494" y="1363662"/>
                    </a:moveTo>
                    <a:lnTo>
                      <a:pt x="1955417" y="1363662"/>
                    </a:lnTo>
                    <a:lnTo>
                      <a:pt x="2368551" y="1768475"/>
                    </a:lnTo>
                    <a:lnTo>
                      <a:pt x="398463" y="1768475"/>
                    </a:lnTo>
                    <a:lnTo>
                      <a:pt x="840494" y="1363662"/>
                    </a:lnTo>
                    <a:close/>
                    <a:moveTo>
                      <a:pt x="1125700" y="1131888"/>
                    </a:moveTo>
                    <a:lnTo>
                      <a:pt x="1123793" y="1132523"/>
                    </a:lnTo>
                    <a:lnTo>
                      <a:pt x="1121569" y="1134110"/>
                    </a:lnTo>
                    <a:lnTo>
                      <a:pt x="1118710" y="1136650"/>
                    </a:lnTo>
                    <a:lnTo>
                      <a:pt x="1111084" y="1144270"/>
                    </a:lnTo>
                    <a:lnTo>
                      <a:pt x="1101553" y="1155065"/>
                    </a:lnTo>
                    <a:lnTo>
                      <a:pt x="1077405" y="1184275"/>
                    </a:lnTo>
                    <a:lnTo>
                      <a:pt x="1046268" y="1220153"/>
                    </a:lnTo>
                    <a:lnTo>
                      <a:pt x="1059613" y="1236028"/>
                    </a:lnTo>
                    <a:lnTo>
                      <a:pt x="1064696" y="1242378"/>
                    </a:lnTo>
                    <a:lnTo>
                      <a:pt x="1070098" y="1248093"/>
                    </a:lnTo>
                    <a:lnTo>
                      <a:pt x="1074546" y="1252538"/>
                    </a:lnTo>
                    <a:lnTo>
                      <a:pt x="1078994" y="1256665"/>
                    </a:lnTo>
                    <a:lnTo>
                      <a:pt x="1083124" y="1260158"/>
                    </a:lnTo>
                    <a:lnTo>
                      <a:pt x="1087890" y="1263333"/>
                    </a:lnTo>
                    <a:lnTo>
                      <a:pt x="1092656" y="1266508"/>
                    </a:lnTo>
                    <a:lnTo>
                      <a:pt x="1098375" y="1269365"/>
                    </a:lnTo>
                    <a:lnTo>
                      <a:pt x="1111084" y="1276350"/>
                    </a:lnTo>
                    <a:lnTo>
                      <a:pt x="1127606" y="1284605"/>
                    </a:lnTo>
                    <a:lnTo>
                      <a:pt x="1149529" y="1295400"/>
                    </a:lnTo>
                    <a:lnTo>
                      <a:pt x="1139362" y="1143953"/>
                    </a:lnTo>
                    <a:lnTo>
                      <a:pt x="1136185" y="1141413"/>
                    </a:lnTo>
                    <a:lnTo>
                      <a:pt x="1133325" y="1138238"/>
                    </a:lnTo>
                    <a:lnTo>
                      <a:pt x="1126971" y="1132205"/>
                    </a:lnTo>
                    <a:lnTo>
                      <a:pt x="1126017" y="1131888"/>
                    </a:lnTo>
                    <a:lnTo>
                      <a:pt x="1125700" y="1131888"/>
                    </a:lnTo>
                    <a:close/>
                    <a:moveTo>
                      <a:pt x="505679" y="1004887"/>
                    </a:moveTo>
                    <a:lnTo>
                      <a:pt x="511721" y="1004887"/>
                    </a:lnTo>
                    <a:lnTo>
                      <a:pt x="517446" y="1005205"/>
                    </a:lnTo>
                    <a:lnTo>
                      <a:pt x="522535" y="1006158"/>
                    </a:lnTo>
                    <a:lnTo>
                      <a:pt x="528259" y="1007746"/>
                    </a:lnTo>
                    <a:lnTo>
                      <a:pt x="533348" y="1009969"/>
                    </a:lnTo>
                    <a:lnTo>
                      <a:pt x="538436" y="1012828"/>
                    </a:lnTo>
                    <a:lnTo>
                      <a:pt x="543207" y="1015687"/>
                    </a:lnTo>
                    <a:lnTo>
                      <a:pt x="548296" y="1019498"/>
                    </a:lnTo>
                    <a:lnTo>
                      <a:pt x="552748" y="1023310"/>
                    </a:lnTo>
                    <a:lnTo>
                      <a:pt x="557201" y="1028075"/>
                    </a:lnTo>
                    <a:lnTo>
                      <a:pt x="561335" y="1033157"/>
                    </a:lnTo>
                    <a:lnTo>
                      <a:pt x="566106" y="1038239"/>
                    </a:lnTo>
                    <a:lnTo>
                      <a:pt x="570240" y="1044274"/>
                    </a:lnTo>
                    <a:lnTo>
                      <a:pt x="573738" y="1050309"/>
                    </a:lnTo>
                    <a:lnTo>
                      <a:pt x="577555" y="1056980"/>
                    </a:lnTo>
                    <a:lnTo>
                      <a:pt x="581371" y="1063968"/>
                    </a:lnTo>
                    <a:lnTo>
                      <a:pt x="585188" y="1071274"/>
                    </a:lnTo>
                    <a:lnTo>
                      <a:pt x="588686" y="1078897"/>
                    </a:lnTo>
                    <a:lnTo>
                      <a:pt x="591867" y="1086838"/>
                    </a:lnTo>
                    <a:lnTo>
                      <a:pt x="598227" y="1103673"/>
                    </a:lnTo>
                    <a:lnTo>
                      <a:pt x="603952" y="1121461"/>
                    </a:lnTo>
                    <a:lnTo>
                      <a:pt x="609677" y="1140202"/>
                    </a:lnTo>
                    <a:lnTo>
                      <a:pt x="614447" y="1159260"/>
                    </a:lnTo>
                    <a:lnTo>
                      <a:pt x="619218" y="1179589"/>
                    </a:lnTo>
                    <a:lnTo>
                      <a:pt x="623670" y="1200553"/>
                    </a:lnTo>
                    <a:lnTo>
                      <a:pt x="627487" y="1221518"/>
                    </a:lnTo>
                    <a:lnTo>
                      <a:pt x="630667" y="1242799"/>
                    </a:lnTo>
                    <a:lnTo>
                      <a:pt x="634165" y="1264399"/>
                    </a:lnTo>
                    <a:lnTo>
                      <a:pt x="636710" y="1285681"/>
                    </a:lnTo>
                    <a:lnTo>
                      <a:pt x="639254" y="1306963"/>
                    </a:lnTo>
                    <a:lnTo>
                      <a:pt x="641798" y="1327927"/>
                    </a:lnTo>
                    <a:lnTo>
                      <a:pt x="643389" y="1348574"/>
                    </a:lnTo>
                    <a:lnTo>
                      <a:pt x="644979" y="1368903"/>
                    </a:lnTo>
                    <a:lnTo>
                      <a:pt x="647841" y="1407337"/>
                    </a:lnTo>
                    <a:lnTo>
                      <a:pt x="649431" y="1441960"/>
                    </a:lnTo>
                    <a:lnTo>
                      <a:pt x="650703" y="1471501"/>
                    </a:lnTo>
                    <a:lnTo>
                      <a:pt x="651021" y="1495641"/>
                    </a:lnTo>
                    <a:lnTo>
                      <a:pt x="645933" y="1500088"/>
                    </a:lnTo>
                    <a:lnTo>
                      <a:pt x="640526" y="1461971"/>
                    </a:lnTo>
                    <a:lnTo>
                      <a:pt x="635120" y="1423219"/>
                    </a:lnTo>
                    <a:lnTo>
                      <a:pt x="629713" y="1515335"/>
                    </a:lnTo>
                    <a:lnTo>
                      <a:pt x="623988" y="1520417"/>
                    </a:lnTo>
                    <a:lnTo>
                      <a:pt x="225488" y="1414008"/>
                    </a:lnTo>
                    <a:lnTo>
                      <a:pt x="154884" y="1399079"/>
                    </a:lnTo>
                    <a:lnTo>
                      <a:pt x="603316" y="1539476"/>
                    </a:lnTo>
                    <a:lnTo>
                      <a:pt x="319945" y="1798670"/>
                    </a:lnTo>
                    <a:lnTo>
                      <a:pt x="585824" y="1798670"/>
                    </a:lnTo>
                    <a:lnTo>
                      <a:pt x="752475" y="1798670"/>
                    </a:lnTo>
                    <a:lnTo>
                      <a:pt x="687596" y="2326906"/>
                    </a:lnTo>
                    <a:lnTo>
                      <a:pt x="595365" y="2326906"/>
                    </a:lnTo>
                    <a:lnTo>
                      <a:pt x="586778" y="1847904"/>
                    </a:lnTo>
                    <a:lnTo>
                      <a:pt x="581371" y="1857433"/>
                    </a:lnTo>
                    <a:lnTo>
                      <a:pt x="578509" y="1862516"/>
                    </a:lnTo>
                    <a:lnTo>
                      <a:pt x="575329" y="1866963"/>
                    </a:lnTo>
                    <a:lnTo>
                      <a:pt x="531758" y="2443162"/>
                    </a:lnTo>
                    <a:lnTo>
                      <a:pt x="415356" y="2443162"/>
                    </a:lnTo>
                    <a:lnTo>
                      <a:pt x="356837" y="1985125"/>
                    </a:lnTo>
                    <a:lnTo>
                      <a:pt x="349840" y="1985760"/>
                    </a:lnTo>
                    <a:lnTo>
                      <a:pt x="346024" y="1986078"/>
                    </a:lnTo>
                    <a:lnTo>
                      <a:pt x="342207" y="1986078"/>
                    </a:lnTo>
                    <a:lnTo>
                      <a:pt x="337437" y="1985760"/>
                    </a:lnTo>
                    <a:lnTo>
                      <a:pt x="332348" y="1985443"/>
                    </a:lnTo>
                    <a:lnTo>
                      <a:pt x="145661" y="1959078"/>
                    </a:lnTo>
                    <a:lnTo>
                      <a:pt x="141208" y="1957490"/>
                    </a:lnTo>
                    <a:lnTo>
                      <a:pt x="137074" y="1955267"/>
                    </a:lnTo>
                    <a:lnTo>
                      <a:pt x="133257" y="1952726"/>
                    </a:lnTo>
                    <a:lnTo>
                      <a:pt x="129441" y="1949867"/>
                    </a:lnTo>
                    <a:lnTo>
                      <a:pt x="125624" y="1946055"/>
                    </a:lnTo>
                    <a:lnTo>
                      <a:pt x="122126" y="1941926"/>
                    </a:lnTo>
                    <a:lnTo>
                      <a:pt x="119264" y="1937479"/>
                    </a:lnTo>
                    <a:lnTo>
                      <a:pt x="116401" y="1932397"/>
                    </a:lnTo>
                    <a:lnTo>
                      <a:pt x="113539" y="1927632"/>
                    </a:lnTo>
                    <a:lnTo>
                      <a:pt x="110995" y="1921914"/>
                    </a:lnTo>
                    <a:lnTo>
                      <a:pt x="108768" y="1916197"/>
                    </a:lnTo>
                    <a:lnTo>
                      <a:pt x="106542" y="1910162"/>
                    </a:lnTo>
                    <a:lnTo>
                      <a:pt x="102408" y="1897774"/>
                    </a:lnTo>
                    <a:lnTo>
                      <a:pt x="98909" y="1885068"/>
                    </a:lnTo>
                    <a:lnTo>
                      <a:pt x="96365" y="1872363"/>
                    </a:lnTo>
                    <a:lnTo>
                      <a:pt x="93503" y="1859339"/>
                    </a:lnTo>
                    <a:lnTo>
                      <a:pt x="90004" y="1836152"/>
                    </a:lnTo>
                    <a:lnTo>
                      <a:pt x="86824" y="1817728"/>
                    </a:lnTo>
                    <a:lnTo>
                      <a:pt x="85234" y="1811058"/>
                    </a:lnTo>
                    <a:lnTo>
                      <a:pt x="84280" y="1806293"/>
                    </a:lnTo>
                    <a:lnTo>
                      <a:pt x="83962" y="1800894"/>
                    </a:lnTo>
                    <a:lnTo>
                      <a:pt x="76965" y="1730695"/>
                    </a:lnTo>
                    <a:lnTo>
                      <a:pt x="69968" y="1653826"/>
                    </a:lnTo>
                    <a:lnTo>
                      <a:pt x="62017" y="1556628"/>
                    </a:lnTo>
                    <a:lnTo>
                      <a:pt x="52158" y="1552499"/>
                    </a:lnTo>
                    <a:lnTo>
                      <a:pt x="43571" y="1548687"/>
                    </a:lnTo>
                    <a:lnTo>
                      <a:pt x="35938" y="1545511"/>
                    </a:lnTo>
                    <a:lnTo>
                      <a:pt x="29895" y="1542017"/>
                    </a:lnTo>
                    <a:lnTo>
                      <a:pt x="25443" y="1538523"/>
                    </a:lnTo>
                    <a:lnTo>
                      <a:pt x="23535" y="1536617"/>
                    </a:lnTo>
                    <a:lnTo>
                      <a:pt x="21944" y="1535346"/>
                    </a:lnTo>
                    <a:lnTo>
                      <a:pt x="20990" y="1533758"/>
                    </a:lnTo>
                    <a:lnTo>
                      <a:pt x="20354" y="1532170"/>
                    </a:lnTo>
                    <a:lnTo>
                      <a:pt x="19718" y="1530582"/>
                    </a:lnTo>
                    <a:lnTo>
                      <a:pt x="20354" y="1529311"/>
                    </a:lnTo>
                    <a:lnTo>
                      <a:pt x="17492" y="1522641"/>
                    </a:lnTo>
                    <a:lnTo>
                      <a:pt x="15266" y="1515017"/>
                    </a:lnTo>
                    <a:lnTo>
                      <a:pt x="12721" y="1504853"/>
                    </a:lnTo>
                    <a:lnTo>
                      <a:pt x="10495" y="1493100"/>
                    </a:lnTo>
                    <a:lnTo>
                      <a:pt x="8269" y="1479759"/>
                    </a:lnTo>
                    <a:lnTo>
                      <a:pt x="6043" y="1465148"/>
                    </a:lnTo>
                    <a:lnTo>
                      <a:pt x="4134" y="1449583"/>
                    </a:lnTo>
                    <a:lnTo>
                      <a:pt x="2544" y="1432431"/>
                    </a:lnTo>
                    <a:lnTo>
                      <a:pt x="954" y="1414325"/>
                    </a:lnTo>
                    <a:lnTo>
                      <a:pt x="318" y="1395267"/>
                    </a:lnTo>
                    <a:lnTo>
                      <a:pt x="0" y="1375256"/>
                    </a:lnTo>
                    <a:lnTo>
                      <a:pt x="318" y="1354926"/>
                    </a:lnTo>
                    <a:lnTo>
                      <a:pt x="954" y="1333962"/>
                    </a:lnTo>
                    <a:lnTo>
                      <a:pt x="2544" y="1312363"/>
                    </a:lnTo>
                    <a:lnTo>
                      <a:pt x="4452" y="1290763"/>
                    </a:lnTo>
                    <a:lnTo>
                      <a:pt x="7315" y="1268846"/>
                    </a:lnTo>
                    <a:lnTo>
                      <a:pt x="11131" y="1246929"/>
                    </a:lnTo>
                    <a:lnTo>
                      <a:pt x="13357" y="1236447"/>
                    </a:lnTo>
                    <a:lnTo>
                      <a:pt x="15584" y="1225647"/>
                    </a:lnTo>
                    <a:lnTo>
                      <a:pt x="18446" y="1214847"/>
                    </a:lnTo>
                    <a:lnTo>
                      <a:pt x="21308" y="1204047"/>
                    </a:lnTo>
                    <a:lnTo>
                      <a:pt x="24489" y="1193248"/>
                    </a:lnTo>
                    <a:lnTo>
                      <a:pt x="27669" y="1183083"/>
                    </a:lnTo>
                    <a:lnTo>
                      <a:pt x="31486" y="1172601"/>
                    </a:lnTo>
                    <a:lnTo>
                      <a:pt x="35302" y="1162436"/>
                    </a:lnTo>
                    <a:lnTo>
                      <a:pt x="39436" y="1152272"/>
                    </a:lnTo>
                    <a:lnTo>
                      <a:pt x="43889" y="1142425"/>
                    </a:lnTo>
                    <a:lnTo>
                      <a:pt x="48978" y="1132578"/>
                    </a:lnTo>
                    <a:lnTo>
                      <a:pt x="54066" y="1123367"/>
                    </a:lnTo>
                    <a:lnTo>
                      <a:pt x="59473" y="1113838"/>
                    </a:lnTo>
                    <a:lnTo>
                      <a:pt x="64879" y="1104944"/>
                    </a:lnTo>
                    <a:lnTo>
                      <a:pt x="70922" y="1096050"/>
                    </a:lnTo>
                    <a:lnTo>
                      <a:pt x="77601" y="1087473"/>
                    </a:lnTo>
                    <a:lnTo>
                      <a:pt x="84280" y="1079215"/>
                    </a:lnTo>
                    <a:lnTo>
                      <a:pt x="91276" y="1071274"/>
                    </a:lnTo>
                    <a:lnTo>
                      <a:pt x="98591" y="1063968"/>
                    </a:lnTo>
                    <a:lnTo>
                      <a:pt x="106542" y="1056662"/>
                    </a:lnTo>
                    <a:lnTo>
                      <a:pt x="114811" y="1049674"/>
                    </a:lnTo>
                    <a:lnTo>
                      <a:pt x="123080" y="1043321"/>
                    </a:lnTo>
                    <a:lnTo>
                      <a:pt x="131985" y="1036651"/>
                    </a:lnTo>
                    <a:lnTo>
                      <a:pt x="141526" y="1031251"/>
                    </a:lnTo>
                    <a:lnTo>
                      <a:pt x="150749" y="1025851"/>
                    </a:lnTo>
                    <a:lnTo>
                      <a:pt x="160926" y="1021087"/>
                    </a:lnTo>
                    <a:lnTo>
                      <a:pt x="171740" y="1016322"/>
                    </a:lnTo>
                    <a:lnTo>
                      <a:pt x="182553" y="1012193"/>
                    </a:lnTo>
                    <a:lnTo>
                      <a:pt x="193684" y="1009016"/>
                    </a:lnTo>
                    <a:lnTo>
                      <a:pt x="205452" y="1005522"/>
                    </a:lnTo>
                    <a:lnTo>
                      <a:pt x="209904" y="1005522"/>
                    </a:lnTo>
                    <a:lnTo>
                      <a:pt x="218809" y="1005840"/>
                    </a:lnTo>
                    <a:lnTo>
                      <a:pt x="243298" y="1007428"/>
                    </a:lnTo>
                    <a:lnTo>
                      <a:pt x="280508" y="1009969"/>
                    </a:lnTo>
                    <a:lnTo>
                      <a:pt x="409313" y="1420361"/>
                    </a:lnTo>
                    <a:lnTo>
                      <a:pt x="397228" y="1297751"/>
                    </a:lnTo>
                    <a:lnTo>
                      <a:pt x="390867" y="1077309"/>
                    </a:lnTo>
                    <a:lnTo>
                      <a:pt x="382598" y="1056345"/>
                    </a:lnTo>
                    <a:lnTo>
                      <a:pt x="399136" y="1028392"/>
                    </a:lnTo>
                    <a:lnTo>
                      <a:pt x="436029" y="1028392"/>
                    </a:lnTo>
                    <a:lnTo>
                      <a:pt x="450976" y="1056345"/>
                    </a:lnTo>
                    <a:lnTo>
                      <a:pt x="443979" y="1081438"/>
                    </a:lnTo>
                    <a:lnTo>
                      <a:pt x="489141" y="1401937"/>
                    </a:lnTo>
                    <a:lnTo>
                      <a:pt x="481508" y="1015369"/>
                    </a:lnTo>
                    <a:lnTo>
                      <a:pt x="489459" y="1011875"/>
                    </a:lnTo>
                    <a:lnTo>
                      <a:pt x="495501" y="1009016"/>
                    </a:lnTo>
                    <a:lnTo>
                      <a:pt x="499000" y="1006793"/>
                    </a:lnTo>
                    <a:lnTo>
                      <a:pt x="499636" y="1005840"/>
                    </a:lnTo>
                    <a:lnTo>
                      <a:pt x="499954" y="1005522"/>
                    </a:lnTo>
                    <a:lnTo>
                      <a:pt x="505679" y="1004887"/>
                    </a:lnTo>
                    <a:close/>
                    <a:moveTo>
                      <a:pt x="2233205" y="1004887"/>
                    </a:moveTo>
                    <a:lnTo>
                      <a:pt x="2238276" y="1005205"/>
                    </a:lnTo>
                    <a:lnTo>
                      <a:pt x="2243665" y="1005522"/>
                    </a:lnTo>
                    <a:lnTo>
                      <a:pt x="2243665" y="1005840"/>
                    </a:lnTo>
                    <a:lnTo>
                      <a:pt x="2244299" y="1006793"/>
                    </a:lnTo>
                    <a:lnTo>
                      <a:pt x="2248102" y="1009016"/>
                    </a:lnTo>
                    <a:lnTo>
                      <a:pt x="2253808" y="1011875"/>
                    </a:lnTo>
                    <a:lnTo>
                      <a:pt x="2261732" y="1015369"/>
                    </a:lnTo>
                    <a:lnTo>
                      <a:pt x="2254441" y="1401937"/>
                    </a:lnTo>
                    <a:lnTo>
                      <a:pt x="2299133" y="1081438"/>
                    </a:lnTo>
                    <a:lnTo>
                      <a:pt x="2292160" y="1056345"/>
                    </a:lnTo>
                    <a:lnTo>
                      <a:pt x="2307374" y="1028392"/>
                    </a:lnTo>
                    <a:lnTo>
                      <a:pt x="2344142" y="1028392"/>
                    </a:lnTo>
                    <a:lnTo>
                      <a:pt x="2360307" y="1056345"/>
                    </a:lnTo>
                    <a:lnTo>
                      <a:pt x="2352066" y="1077309"/>
                    </a:lnTo>
                    <a:lnTo>
                      <a:pt x="2346044" y="1297751"/>
                    </a:lnTo>
                    <a:lnTo>
                      <a:pt x="2333682" y="1420361"/>
                    </a:lnTo>
                    <a:lnTo>
                      <a:pt x="2462052" y="1009969"/>
                    </a:lnTo>
                    <a:lnTo>
                      <a:pt x="2499137" y="1007428"/>
                    </a:lnTo>
                    <a:lnTo>
                      <a:pt x="2523860" y="1005840"/>
                    </a:lnTo>
                    <a:lnTo>
                      <a:pt x="2532735" y="1005522"/>
                    </a:lnTo>
                    <a:lnTo>
                      <a:pt x="2536855" y="1005522"/>
                    </a:lnTo>
                    <a:lnTo>
                      <a:pt x="2548266" y="1009016"/>
                    </a:lnTo>
                    <a:lnTo>
                      <a:pt x="2559677" y="1012193"/>
                    </a:lnTo>
                    <a:lnTo>
                      <a:pt x="2570453" y="1016322"/>
                    </a:lnTo>
                    <a:lnTo>
                      <a:pt x="2580913" y="1021087"/>
                    </a:lnTo>
                    <a:lnTo>
                      <a:pt x="2591056" y="1025851"/>
                    </a:lnTo>
                    <a:lnTo>
                      <a:pt x="2600882" y="1031251"/>
                    </a:lnTo>
                    <a:lnTo>
                      <a:pt x="2610391" y="1036651"/>
                    </a:lnTo>
                    <a:lnTo>
                      <a:pt x="2618949" y="1043321"/>
                    </a:lnTo>
                    <a:lnTo>
                      <a:pt x="2627507" y="1049674"/>
                    </a:lnTo>
                    <a:lnTo>
                      <a:pt x="2635431" y="1056662"/>
                    </a:lnTo>
                    <a:lnTo>
                      <a:pt x="2643355" y="1063968"/>
                    </a:lnTo>
                    <a:lnTo>
                      <a:pt x="2650962" y="1071274"/>
                    </a:lnTo>
                    <a:lnTo>
                      <a:pt x="2657618" y="1079215"/>
                    </a:lnTo>
                    <a:lnTo>
                      <a:pt x="2664274" y="1087473"/>
                    </a:lnTo>
                    <a:lnTo>
                      <a:pt x="2670614" y="1096050"/>
                    </a:lnTo>
                    <a:lnTo>
                      <a:pt x="2676636" y="1104944"/>
                    </a:lnTo>
                    <a:lnTo>
                      <a:pt x="2682341" y="1113838"/>
                    </a:lnTo>
                    <a:lnTo>
                      <a:pt x="2688047" y="1123367"/>
                    </a:lnTo>
                    <a:lnTo>
                      <a:pt x="2692801" y="1132578"/>
                    </a:lnTo>
                    <a:lnTo>
                      <a:pt x="2697872" y="1142425"/>
                    </a:lnTo>
                    <a:lnTo>
                      <a:pt x="2702310" y="1152272"/>
                    </a:lnTo>
                    <a:lnTo>
                      <a:pt x="2706430" y="1162436"/>
                    </a:lnTo>
                    <a:lnTo>
                      <a:pt x="2710551" y="1172601"/>
                    </a:lnTo>
                    <a:lnTo>
                      <a:pt x="2714037" y="1183083"/>
                    </a:lnTo>
                    <a:lnTo>
                      <a:pt x="2717207" y="1193248"/>
                    </a:lnTo>
                    <a:lnTo>
                      <a:pt x="2720694" y="1204047"/>
                    </a:lnTo>
                    <a:lnTo>
                      <a:pt x="2723229" y="1214847"/>
                    </a:lnTo>
                    <a:lnTo>
                      <a:pt x="2726082" y="1225647"/>
                    </a:lnTo>
                    <a:lnTo>
                      <a:pt x="2728618" y="1236447"/>
                    </a:lnTo>
                    <a:lnTo>
                      <a:pt x="2730836" y="1246929"/>
                    </a:lnTo>
                    <a:lnTo>
                      <a:pt x="2734640" y="1268846"/>
                    </a:lnTo>
                    <a:lnTo>
                      <a:pt x="2737176" y="1290763"/>
                    </a:lnTo>
                    <a:lnTo>
                      <a:pt x="2739394" y="1312363"/>
                    </a:lnTo>
                    <a:lnTo>
                      <a:pt x="2740979" y="1333962"/>
                    </a:lnTo>
                    <a:lnTo>
                      <a:pt x="2741613" y="1354926"/>
                    </a:lnTo>
                    <a:lnTo>
                      <a:pt x="2741613" y="1375256"/>
                    </a:lnTo>
                    <a:lnTo>
                      <a:pt x="2741296" y="1395267"/>
                    </a:lnTo>
                    <a:lnTo>
                      <a:pt x="2740662" y="1414325"/>
                    </a:lnTo>
                    <a:lnTo>
                      <a:pt x="2739394" y="1432431"/>
                    </a:lnTo>
                    <a:lnTo>
                      <a:pt x="2737493" y="1449583"/>
                    </a:lnTo>
                    <a:lnTo>
                      <a:pt x="2735591" y="1465148"/>
                    </a:lnTo>
                    <a:lnTo>
                      <a:pt x="2733689" y="1479759"/>
                    </a:lnTo>
                    <a:lnTo>
                      <a:pt x="2731470" y="1493100"/>
                    </a:lnTo>
                    <a:lnTo>
                      <a:pt x="2728935" y="1504853"/>
                    </a:lnTo>
                    <a:lnTo>
                      <a:pt x="2726716" y="1515017"/>
                    </a:lnTo>
                    <a:lnTo>
                      <a:pt x="2724180" y="1522641"/>
                    </a:lnTo>
                    <a:lnTo>
                      <a:pt x="2721962" y="1529311"/>
                    </a:lnTo>
                    <a:lnTo>
                      <a:pt x="2721962" y="1530582"/>
                    </a:lnTo>
                    <a:lnTo>
                      <a:pt x="2721328" y="1532170"/>
                    </a:lnTo>
                    <a:lnTo>
                      <a:pt x="2720694" y="1533758"/>
                    </a:lnTo>
                    <a:lnTo>
                      <a:pt x="2719426" y="1535346"/>
                    </a:lnTo>
                    <a:lnTo>
                      <a:pt x="2718158" y="1536617"/>
                    </a:lnTo>
                    <a:lnTo>
                      <a:pt x="2716573" y="1538523"/>
                    </a:lnTo>
                    <a:lnTo>
                      <a:pt x="2711819" y="1542017"/>
                    </a:lnTo>
                    <a:lnTo>
                      <a:pt x="2705796" y="1545511"/>
                    </a:lnTo>
                    <a:lnTo>
                      <a:pt x="2698506" y="1548687"/>
                    </a:lnTo>
                    <a:lnTo>
                      <a:pt x="2689948" y="1552499"/>
                    </a:lnTo>
                    <a:lnTo>
                      <a:pt x="2680122" y="1556628"/>
                    </a:lnTo>
                    <a:lnTo>
                      <a:pt x="2671881" y="1653826"/>
                    </a:lnTo>
                    <a:lnTo>
                      <a:pt x="2664908" y="1730695"/>
                    </a:lnTo>
                    <a:lnTo>
                      <a:pt x="2657935" y="1800894"/>
                    </a:lnTo>
                    <a:lnTo>
                      <a:pt x="2657618" y="1806293"/>
                    </a:lnTo>
                    <a:lnTo>
                      <a:pt x="2656350" y="1811058"/>
                    </a:lnTo>
                    <a:lnTo>
                      <a:pt x="2655399" y="1817728"/>
                    </a:lnTo>
                    <a:lnTo>
                      <a:pt x="2652230" y="1836152"/>
                    </a:lnTo>
                    <a:lnTo>
                      <a:pt x="2648109" y="1859339"/>
                    </a:lnTo>
                    <a:lnTo>
                      <a:pt x="2645890" y="1872363"/>
                    </a:lnTo>
                    <a:lnTo>
                      <a:pt x="2643038" y="1885068"/>
                    </a:lnTo>
                    <a:lnTo>
                      <a:pt x="2639551" y="1897774"/>
                    </a:lnTo>
                    <a:lnTo>
                      <a:pt x="2635431" y="1910162"/>
                    </a:lnTo>
                    <a:lnTo>
                      <a:pt x="2633529" y="1916197"/>
                    </a:lnTo>
                    <a:lnTo>
                      <a:pt x="2630993" y="1921914"/>
                    </a:lnTo>
                    <a:lnTo>
                      <a:pt x="2628458" y="1927632"/>
                    </a:lnTo>
                    <a:lnTo>
                      <a:pt x="2625605" y="1932397"/>
                    </a:lnTo>
                    <a:lnTo>
                      <a:pt x="2622752" y="1937479"/>
                    </a:lnTo>
                    <a:lnTo>
                      <a:pt x="2619583" y="1941926"/>
                    </a:lnTo>
                    <a:lnTo>
                      <a:pt x="2616413" y="1946055"/>
                    </a:lnTo>
                    <a:lnTo>
                      <a:pt x="2612926" y="1949867"/>
                    </a:lnTo>
                    <a:lnTo>
                      <a:pt x="2609123" y="1952726"/>
                    </a:lnTo>
                    <a:lnTo>
                      <a:pt x="2605002" y="1955267"/>
                    </a:lnTo>
                    <a:lnTo>
                      <a:pt x="2600882" y="1957490"/>
                    </a:lnTo>
                    <a:lnTo>
                      <a:pt x="2596444" y="1959078"/>
                    </a:lnTo>
                    <a:lnTo>
                      <a:pt x="2410704" y="1985443"/>
                    </a:lnTo>
                    <a:lnTo>
                      <a:pt x="2405633" y="1985760"/>
                    </a:lnTo>
                    <a:lnTo>
                      <a:pt x="2400561" y="1986078"/>
                    </a:lnTo>
                    <a:lnTo>
                      <a:pt x="2397075" y="1986078"/>
                    </a:lnTo>
                    <a:lnTo>
                      <a:pt x="2393271" y="1985760"/>
                    </a:lnTo>
                    <a:lnTo>
                      <a:pt x="2385981" y="1985125"/>
                    </a:lnTo>
                    <a:lnTo>
                      <a:pt x="2327660" y="2443162"/>
                    </a:lnTo>
                    <a:lnTo>
                      <a:pt x="2211651" y="2443162"/>
                    </a:lnTo>
                    <a:lnTo>
                      <a:pt x="2168545" y="1866963"/>
                    </a:lnTo>
                    <a:lnTo>
                      <a:pt x="2165375" y="1862516"/>
                    </a:lnTo>
                    <a:lnTo>
                      <a:pt x="2162522" y="1857433"/>
                    </a:lnTo>
                    <a:lnTo>
                      <a:pt x="2156817" y="1847904"/>
                    </a:lnTo>
                    <a:lnTo>
                      <a:pt x="2148576" y="2326906"/>
                    </a:lnTo>
                    <a:lnTo>
                      <a:pt x="2063630" y="2320235"/>
                    </a:lnTo>
                    <a:lnTo>
                      <a:pt x="1992313" y="1798670"/>
                    </a:lnTo>
                    <a:lnTo>
                      <a:pt x="2157768" y="1798670"/>
                    </a:lnTo>
                    <a:lnTo>
                      <a:pt x="2443668" y="1798670"/>
                    </a:lnTo>
                    <a:lnTo>
                      <a:pt x="2170129" y="1529946"/>
                    </a:lnTo>
                    <a:lnTo>
                      <a:pt x="2587569" y="1399079"/>
                    </a:lnTo>
                    <a:lnTo>
                      <a:pt x="2517204" y="1414008"/>
                    </a:lnTo>
                    <a:lnTo>
                      <a:pt x="2151746" y="1511841"/>
                    </a:lnTo>
                    <a:lnTo>
                      <a:pt x="2111808" y="1472771"/>
                    </a:lnTo>
                    <a:lnTo>
                      <a:pt x="2108956" y="1423219"/>
                    </a:lnTo>
                    <a:lnTo>
                      <a:pt x="2103250" y="1464513"/>
                    </a:lnTo>
                    <a:lnTo>
                      <a:pt x="2093741" y="1455301"/>
                    </a:lnTo>
                    <a:lnTo>
                      <a:pt x="2095009" y="1426078"/>
                    </a:lnTo>
                    <a:lnTo>
                      <a:pt x="2096911" y="1393361"/>
                    </a:lnTo>
                    <a:lnTo>
                      <a:pt x="2099447" y="1358103"/>
                    </a:lnTo>
                    <a:lnTo>
                      <a:pt x="2103250" y="1320621"/>
                    </a:lnTo>
                    <a:lnTo>
                      <a:pt x="2105152" y="1301563"/>
                    </a:lnTo>
                    <a:lnTo>
                      <a:pt x="2107371" y="1282504"/>
                    </a:lnTo>
                    <a:lnTo>
                      <a:pt x="2109906" y="1262811"/>
                    </a:lnTo>
                    <a:lnTo>
                      <a:pt x="2113076" y="1243752"/>
                    </a:lnTo>
                    <a:lnTo>
                      <a:pt x="2115929" y="1224059"/>
                    </a:lnTo>
                    <a:lnTo>
                      <a:pt x="2119415" y="1205318"/>
                    </a:lnTo>
                    <a:lnTo>
                      <a:pt x="2123219" y="1186577"/>
                    </a:lnTo>
                    <a:lnTo>
                      <a:pt x="2127339" y="1168154"/>
                    </a:lnTo>
                    <a:lnTo>
                      <a:pt x="2131777" y="1150366"/>
                    </a:lnTo>
                    <a:lnTo>
                      <a:pt x="2136214" y="1133214"/>
                    </a:lnTo>
                    <a:lnTo>
                      <a:pt x="2140969" y="1116379"/>
                    </a:lnTo>
                    <a:lnTo>
                      <a:pt x="2146674" y="1100497"/>
                    </a:lnTo>
                    <a:lnTo>
                      <a:pt x="2152379" y="1085568"/>
                    </a:lnTo>
                    <a:lnTo>
                      <a:pt x="2158719" y="1071274"/>
                    </a:lnTo>
                    <a:lnTo>
                      <a:pt x="2165058" y="1058568"/>
                    </a:lnTo>
                    <a:lnTo>
                      <a:pt x="2168545" y="1052533"/>
                    </a:lnTo>
                    <a:lnTo>
                      <a:pt x="2172031" y="1046815"/>
                    </a:lnTo>
                    <a:lnTo>
                      <a:pt x="2175518" y="1041416"/>
                    </a:lnTo>
                    <a:lnTo>
                      <a:pt x="2179321" y="1036333"/>
                    </a:lnTo>
                    <a:lnTo>
                      <a:pt x="2183125" y="1031569"/>
                    </a:lnTo>
                    <a:lnTo>
                      <a:pt x="2187245" y="1027122"/>
                    </a:lnTo>
                    <a:lnTo>
                      <a:pt x="2191366" y="1023310"/>
                    </a:lnTo>
                    <a:lnTo>
                      <a:pt x="2195486" y="1019498"/>
                    </a:lnTo>
                    <a:lnTo>
                      <a:pt x="2199607" y="1016004"/>
                    </a:lnTo>
                    <a:lnTo>
                      <a:pt x="2204044" y="1013146"/>
                    </a:lnTo>
                    <a:lnTo>
                      <a:pt x="2208799" y="1010922"/>
                    </a:lnTo>
                    <a:lnTo>
                      <a:pt x="2213236" y="1008699"/>
                    </a:lnTo>
                    <a:lnTo>
                      <a:pt x="2217991" y="1007111"/>
                    </a:lnTo>
                    <a:lnTo>
                      <a:pt x="2223062" y="1005840"/>
                    </a:lnTo>
                    <a:lnTo>
                      <a:pt x="2227817" y="1005205"/>
                    </a:lnTo>
                    <a:lnTo>
                      <a:pt x="2233205" y="1004887"/>
                    </a:lnTo>
                    <a:close/>
                    <a:moveTo>
                      <a:pt x="1560668" y="914401"/>
                    </a:moveTo>
                    <a:lnTo>
                      <a:pt x="1571788" y="914401"/>
                    </a:lnTo>
                    <a:lnTo>
                      <a:pt x="1582591" y="915671"/>
                    </a:lnTo>
                    <a:lnTo>
                      <a:pt x="1594029" y="917258"/>
                    </a:lnTo>
                    <a:lnTo>
                      <a:pt x="1604514" y="919480"/>
                    </a:lnTo>
                    <a:lnTo>
                      <a:pt x="1615317" y="922021"/>
                    </a:lnTo>
                    <a:lnTo>
                      <a:pt x="1625802" y="925196"/>
                    </a:lnTo>
                    <a:lnTo>
                      <a:pt x="1636287" y="928688"/>
                    </a:lnTo>
                    <a:lnTo>
                      <a:pt x="1646772" y="933133"/>
                    </a:lnTo>
                    <a:lnTo>
                      <a:pt x="1656939" y="937261"/>
                    </a:lnTo>
                    <a:lnTo>
                      <a:pt x="1666788" y="942023"/>
                    </a:lnTo>
                    <a:lnTo>
                      <a:pt x="1676638" y="946786"/>
                    </a:lnTo>
                    <a:lnTo>
                      <a:pt x="1686487" y="952183"/>
                    </a:lnTo>
                    <a:lnTo>
                      <a:pt x="1695384" y="957263"/>
                    </a:lnTo>
                    <a:lnTo>
                      <a:pt x="1704598" y="962978"/>
                    </a:lnTo>
                    <a:lnTo>
                      <a:pt x="1712859" y="968693"/>
                    </a:lnTo>
                    <a:lnTo>
                      <a:pt x="1721120" y="974726"/>
                    </a:lnTo>
                    <a:lnTo>
                      <a:pt x="1729063" y="980441"/>
                    </a:lnTo>
                    <a:lnTo>
                      <a:pt x="1736371" y="986473"/>
                    </a:lnTo>
                    <a:lnTo>
                      <a:pt x="1750033" y="997586"/>
                    </a:lnTo>
                    <a:lnTo>
                      <a:pt x="1762106" y="1008698"/>
                    </a:lnTo>
                    <a:lnTo>
                      <a:pt x="1771956" y="1018858"/>
                    </a:lnTo>
                    <a:lnTo>
                      <a:pt x="1779264" y="1027748"/>
                    </a:lnTo>
                    <a:lnTo>
                      <a:pt x="1782441" y="1031558"/>
                    </a:lnTo>
                    <a:lnTo>
                      <a:pt x="1784665" y="1034733"/>
                    </a:lnTo>
                    <a:lnTo>
                      <a:pt x="1786254" y="1037908"/>
                    </a:lnTo>
                    <a:lnTo>
                      <a:pt x="1787207" y="1040448"/>
                    </a:lnTo>
                    <a:lnTo>
                      <a:pt x="1788160" y="1045845"/>
                    </a:lnTo>
                    <a:lnTo>
                      <a:pt x="1788478" y="1053783"/>
                    </a:lnTo>
                    <a:lnTo>
                      <a:pt x="1789113" y="1076643"/>
                    </a:lnTo>
                    <a:lnTo>
                      <a:pt x="1789113" y="1107440"/>
                    </a:lnTo>
                    <a:lnTo>
                      <a:pt x="1788478" y="1144588"/>
                    </a:lnTo>
                    <a:lnTo>
                      <a:pt x="1787525" y="1187133"/>
                    </a:lnTo>
                    <a:lnTo>
                      <a:pt x="1786254" y="1233488"/>
                    </a:lnTo>
                    <a:lnTo>
                      <a:pt x="1784347" y="1282383"/>
                    </a:lnTo>
                    <a:lnTo>
                      <a:pt x="1782123" y="1331913"/>
                    </a:lnTo>
                    <a:lnTo>
                      <a:pt x="1672507" y="1331913"/>
                    </a:lnTo>
                    <a:lnTo>
                      <a:pt x="1674096" y="1293813"/>
                    </a:lnTo>
                    <a:lnTo>
                      <a:pt x="1674732" y="1258253"/>
                    </a:lnTo>
                    <a:lnTo>
                      <a:pt x="1675685" y="1225550"/>
                    </a:lnTo>
                    <a:lnTo>
                      <a:pt x="1676002" y="1197293"/>
                    </a:lnTo>
                    <a:lnTo>
                      <a:pt x="1675685" y="1174115"/>
                    </a:lnTo>
                    <a:lnTo>
                      <a:pt x="1674732" y="1156970"/>
                    </a:lnTo>
                    <a:lnTo>
                      <a:pt x="1674096" y="1150938"/>
                    </a:lnTo>
                    <a:lnTo>
                      <a:pt x="1673143" y="1147445"/>
                    </a:lnTo>
                    <a:lnTo>
                      <a:pt x="1672825" y="1145858"/>
                    </a:lnTo>
                    <a:lnTo>
                      <a:pt x="1672507" y="1144905"/>
                    </a:lnTo>
                    <a:lnTo>
                      <a:pt x="1672190" y="1144905"/>
                    </a:lnTo>
                    <a:lnTo>
                      <a:pt x="1671237" y="1145540"/>
                    </a:lnTo>
                    <a:lnTo>
                      <a:pt x="1669648" y="1147445"/>
                    </a:lnTo>
                    <a:lnTo>
                      <a:pt x="1668059" y="1149668"/>
                    </a:lnTo>
                    <a:lnTo>
                      <a:pt x="1666471" y="1151890"/>
                    </a:lnTo>
                    <a:lnTo>
                      <a:pt x="1654079" y="1331913"/>
                    </a:lnTo>
                    <a:lnTo>
                      <a:pt x="1602608" y="1331913"/>
                    </a:lnTo>
                    <a:lnTo>
                      <a:pt x="1602290" y="1283335"/>
                    </a:lnTo>
                    <a:lnTo>
                      <a:pt x="1598477" y="1283653"/>
                    </a:lnTo>
                    <a:lnTo>
                      <a:pt x="1586721" y="1284605"/>
                    </a:lnTo>
                    <a:lnTo>
                      <a:pt x="1568293" y="1285240"/>
                    </a:lnTo>
                    <a:lnTo>
                      <a:pt x="1556537" y="1285558"/>
                    </a:lnTo>
                    <a:lnTo>
                      <a:pt x="1543828" y="1285558"/>
                    </a:lnTo>
                    <a:lnTo>
                      <a:pt x="1529213" y="1285240"/>
                    </a:lnTo>
                    <a:lnTo>
                      <a:pt x="1513009" y="1284605"/>
                    </a:lnTo>
                    <a:lnTo>
                      <a:pt x="1496169" y="1283653"/>
                    </a:lnTo>
                    <a:lnTo>
                      <a:pt x="1477741" y="1282383"/>
                    </a:lnTo>
                    <a:lnTo>
                      <a:pt x="1457724" y="1280478"/>
                    </a:lnTo>
                    <a:lnTo>
                      <a:pt x="1437390" y="1277620"/>
                    </a:lnTo>
                    <a:lnTo>
                      <a:pt x="1415467" y="1274763"/>
                    </a:lnTo>
                    <a:lnTo>
                      <a:pt x="1392908" y="1270953"/>
                    </a:lnTo>
                    <a:lnTo>
                      <a:pt x="1381787" y="1268730"/>
                    </a:lnTo>
                    <a:lnTo>
                      <a:pt x="1370349" y="1266508"/>
                    </a:lnTo>
                    <a:lnTo>
                      <a:pt x="1359547" y="1263968"/>
                    </a:lnTo>
                    <a:lnTo>
                      <a:pt x="1348426" y="1261110"/>
                    </a:lnTo>
                    <a:lnTo>
                      <a:pt x="1328092" y="1254760"/>
                    </a:lnTo>
                    <a:lnTo>
                      <a:pt x="1308710" y="1248410"/>
                    </a:lnTo>
                    <a:lnTo>
                      <a:pt x="1290282" y="1241743"/>
                    </a:lnTo>
                    <a:lnTo>
                      <a:pt x="1273443" y="1234440"/>
                    </a:lnTo>
                    <a:lnTo>
                      <a:pt x="1257556" y="1227455"/>
                    </a:lnTo>
                    <a:lnTo>
                      <a:pt x="1243259" y="1220153"/>
                    </a:lnTo>
                    <a:lnTo>
                      <a:pt x="1229914" y="1213485"/>
                    </a:lnTo>
                    <a:lnTo>
                      <a:pt x="1218794" y="1207135"/>
                    </a:lnTo>
                    <a:lnTo>
                      <a:pt x="1208626" y="1201103"/>
                    </a:lnTo>
                    <a:lnTo>
                      <a:pt x="1200366" y="1196340"/>
                    </a:lnTo>
                    <a:lnTo>
                      <a:pt x="1189245" y="1188720"/>
                    </a:lnTo>
                    <a:lnTo>
                      <a:pt x="1185115" y="1186180"/>
                    </a:lnTo>
                    <a:lnTo>
                      <a:pt x="1204814" y="1331913"/>
                    </a:lnTo>
                    <a:lnTo>
                      <a:pt x="1152071" y="1331913"/>
                    </a:lnTo>
                    <a:lnTo>
                      <a:pt x="1149529" y="1296670"/>
                    </a:lnTo>
                    <a:lnTo>
                      <a:pt x="1143810" y="1297305"/>
                    </a:lnTo>
                    <a:lnTo>
                      <a:pt x="1135549" y="1299210"/>
                    </a:lnTo>
                    <a:lnTo>
                      <a:pt x="1112355" y="1303655"/>
                    </a:lnTo>
                    <a:lnTo>
                      <a:pt x="1082489" y="1309688"/>
                    </a:lnTo>
                    <a:lnTo>
                      <a:pt x="1066285" y="1313180"/>
                    </a:lnTo>
                    <a:lnTo>
                      <a:pt x="1049445" y="1316038"/>
                    </a:lnTo>
                    <a:lnTo>
                      <a:pt x="1032606" y="1318895"/>
                    </a:lnTo>
                    <a:lnTo>
                      <a:pt x="1015766" y="1321118"/>
                    </a:lnTo>
                    <a:lnTo>
                      <a:pt x="999880" y="1322388"/>
                    </a:lnTo>
                    <a:lnTo>
                      <a:pt x="984629" y="1323658"/>
                    </a:lnTo>
                    <a:lnTo>
                      <a:pt x="977639" y="1323658"/>
                    </a:lnTo>
                    <a:lnTo>
                      <a:pt x="970649" y="1323658"/>
                    </a:lnTo>
                    <a:lnTo>
                      <a:pt x="964295" y="1323340"/>
                    </a:lnTo>
                    <a:lnTo>
                      <a:pt x="958575" y="1323023"/>
                    </a:lnTo>
                    <a:lnTo>
                      <a:pt x="953174" y="1322070"/>
                    </a:lnTo>
                    <a:lnTo>
                      <a:pt x="948090" y="1320483"/>
                    </a:lnTo>
                    <a:lnTo>
                      <a:pt x="943960" y="1319213"/>
                    </a:lnTo>
                    <a:lnTo>
                      <a:pt x="940783" y="1317625"/>
                    </a:lnTo>
                    <a:lnTo>
                      <a:pt x="934746" y="1305560"/>
                    </a:lnTo>
                    <a:lnTo>
                      <a:pt x="928709" y="1295083"/>
                    </a:lnTo>
                    <a:lnTo>
                      <a:pt x="917271" y="1275398"/>
                    </a:lnTo>
                    <a:lnTo>
                      <a:pt x="912505" y="1266508"/>
                    </a:lnTo>
                    <a:lnTo>
                      <a:pt x="908057" y="1257935"/>
                    </a:lnTo>
                    <a:lnTo>
                      <a:pt x="904244" y="1249680"/>
                    </a:lnTo>
                    <a:lnTo>
                      <a:pt x="902338" y="1244918"/>
                    </a:lnTo>
                    <a:lnTo>
                      <a:pt x="901067" y="1240790"/>
                    </a:lnTo>
                    <a:lnTo>
                      <a:pt x="900114" y="1236663"/>
                    </a:lnTo>
                    <a:lnTo>
                      <a:pt x="899161" y="1232535"/>
                    </a:lnTo>
                    <a:lnTo>
                      <a:pt x="898843" y="1228408"/>
                    </a:lnTo>
                    <a:lnTo>
                      <a:pt x="898525" y="1223963"/>
                    </a:lnTo>
                    <a:lnTo>
                      <a:pt x="898843" y="1219835"/>
                    </a:lnTo>
                    <a:lnTo>
                      <a:pt x="899161" y="1215390"/>
                    </a:lnTo>
                    <a:lnTo>
                      <a:pt x="900431" y="1210628"/>
                    </a:lnTo>
                    <a:lnTo>
                      <a:pt x="901385" y="1205865"/>
                    </a:lnTo>
                    <a:lnTo>
                      <a:pt x="903291" y="1201103"/>
                    </a:lnTo>
                    <a:lnTo>
                      <a:pt x="905197" y="1195705"/>
                    </a:lnTo>
                    <a:lnTo>
                      <a:pt x="908057" y="1190943"/>
                    </a:lnTo>
                    <a:lnTo>
                      <a:pt x="910916" y="1185228"/>
                    </a:lnTo>
                    <a:lnTo>
                      <a:pt x="914729" y="1179513"/>
                    </a:lnTo>
                    <a:lnTo>
                      <a:pt x="918542" y="1173480"/>
                    </a:lnTo>
                    <a:lnTo>
                      <a:pt x="922990" y="1167765"/>
                    </a:lnTo>
                    <a:lnTo>
                      <a:pt x="928391" y="1161098"/>
                    </a:lnTo>
                    <a:lnTo>
                      <a:pt x="939512" y="1146810"/>
                    </a:lnTo>
                    <a:lnTo>
                      <a:pt x="949361" y="1133793"/>
                    </a:lnTo>
                    <a:lnTo>
                      <a:pt x="967154" y="1109345"/>
                    </a:lnTo>
                    <a:lnTo>
                      <a:pt x="976050" y="1096963"/>
                    </a:lnTo>
                    <a:lnTo>
                      <a:pt x="985900" y="1084580"/>
                    </a:lnTo>
                    <a:lnTo>
                      <a:pt x="997338" y="1070928"/>
                    </a:lnTo>
                    <a:lnTo>
                      <a:pt x="1004328" y="1063943"/>
                    </a:lnTo>
                    <a:lnTo>
                      <a:pt x="1011318" y="1056323"/>
                    </a:lnTo>
                    <a:lnTo>
                      <a:pt x="1017673" y="1045528"/>
                    </a:lnTo>
                    <a:lnTo>
                      <a:pt x="1024663" y="1035368"/>
                    </a:lnTo>
                    <a:lnTo>
                      <a:pt x="1031335" y="1025525"/>
                    </a:lnTo>
                    <a:lnTo>
                      <a:pt x="1038007" y="1016318"/>
                    </a:lnTo>
                    <a:lnTo>
                      <a:pt x="1044997" y="1008063"/>
                    </a:lnTo>
                    <a:lnTo>
                      <a:pt x="1051669" y="1000443"/>
                    </a:lnTo>
                    <a:lnTo>
                      <a:pt x="1058659" y="993141"/>
                    </a:lnTo>
                    <a:lnTo>
                      <a:pt x="1065967" y="986473"/>
                    </a:lnTo>
                    <a:lnTo>
                      <a:pt x="1073593" y="980123"/>
                    </a:lnTo>
                    <a:lnTo>
                      <a:pt x="1080583" y="974091"/>
                    </a:lnTo>
                    <a:lnTo>
                      <a:pt x="1088208" y="968693"/>
                    </a:lnTo>
                    <a:lnTo>
                      <a:pt x="1096151" y="963931"/>
                    </a:lnTo>
                    <a:lnTo>
                      <a:pt x="1104094" y="959168"/>
                    </a:lnTo>
                    <a:lnTo>
                      <a:pt x="1111720" y="954723"/>
                    </a:lnTo>
                    <a:lnTo>
                      <a:pt x="1119663" y="950913"/>
                    </a:lnTo>
                    <a:lnTo>
                      <a:pt x="1127924" y="947738"/>
                    </a:lnTo>
                    <a:lnTo>
                      <a:pt x="1136185" y="944246"/>
                    </a:lnTo>
                    <a:lnTo>
                      <a:pt x="1145081" y="941388"/>
                    </a:lnTo>
                    <a:lnTo>
                      <a:pt x="1153660" y="938531"/>
                    </a:lnTo>
                    <a:lnTo>
                      <a:pt x="1162238" y="935991"/>
                    </a:lnTo>
                    <a:lnTo>
                      <a:pt x="1171452" y="933768"/>
                    </a:lnTo>
                    <a:lnTo>
                      <a:pt x="1180349" y="931863"/>
                    </a:lnTo>
                    <a:lnTo>
                      <a:pt x="1199412" y="928053"/>
                    </a:lnTo>
                    <a:lnTo>
                      <a:pt x="1218794" y="924561"/>
                    </a:lnTo>
                    <a:lnTo>
                      <a:pt x="1239128" y="921703"/>
                    </a:lnTo>
                    <a:lnTo>
                      <a:pt x="1282021" y="915988"/>
                    </a:lnTo>
                    <a:lnTo>
                      <a:pt x="1284881" y="915671"/>
                    </a:lnTo>
                    <a:lnTo>
                      <a:pt x="1287740" y="915671"/>
                    </a:lnTo>
                    <a:lnTo>
                      <a:pt x="1292824" y="915671"/>
                    </a:lnTo>
                    <a:lnTo>
                      <a:pt x="1366537" y="1187768"/>
                    </a:lnTo>
                    <a:lnTo>
                      <a:pt x="1368125" y="1176973"/>
                    </a:lnTo>
                    <a:lnTo>
                      <a:pt x="1393226" y="990283"/>
                    </a:lnTo>
                    <a:lnTo>
                      <a:pt x="1386236" y="972186"/>
                    </a:lnTo>
                    <a:lnTo>
                      <a:pt x="1400216" y="947738"/>
                    </a:lnTo>
                    <a:lnTo>
                      <a:pt x="1432306" y="947421"/>
                    </a:lnTo>
                    <a:lnTo>
                      <a:pt x="1445968" y="972186"/>
                    </a:lnTo>
                    <a:lnTo>
                      <a:pt x="1439614" y="993776"/>
                    </a:lnTo>
                    <a:lnTo>
                      <a:pt x="1462490" y="1190943"/>
                    </a:lnTo>
                    <a:lnTo>
                      <a:pt x="1522858" y="924243"/>
                    </a:lnTo>
                    <a:lnTo>
                      <a:pt x="1529530" y="921386"/>
                    </a:lnTo>
                    <a:lnTo>
                      <a:pt x="1534932" y="918846"/>
                    </a:lnTo>
                    <a:lnTo>
                      <a:pt x="1537791" y="916940"/>
                    </a:lnTo>
                    <a:lnTo>
                      <a:pt x="1538427" y="915988"/>
                    </a:lnTo>
                    <a:lnTo>
                      <a:pt x="1549865" y="915036"/>
                    </a:lnTo>
                    <a:lnTo>
                      <a:pt x="1560668" y="914401"/>
                    </a:lnTo>
                    <a:close/>
                    <a:moveTo>
                      <a:pt x="170497" y="661035"/>
                    </a:moveTo>
                    <a:lnTo>
                      <a:pt x="168576" y="681657"/>
                    </a:lnTo>
                    <a:lnTo>
                      <a:pt x="168275" y="683619"/>
                    </a:lnTo>
                    <a:lnTo>
                      <a:pt x="167640" y="691889"/>
                    </a:lnTo>
                    <a:lnTo>
                      <a:pt x="167640" y="695282"/>
                    </a:lnTo>
                    <a:lnTo>
                      <a:pt x="167322" y="700477"/>
                    </a:lnTo>
                    <a:lnTo>
                      <a:pt x="167640" y="700795"/>
                    </a:lnTo>
                    <a:lnTo>
                      <a:pt x="167640" y="695282"/>
                    </a:lnTo>
                    <a:lnTo>
                      <a:pt x="168275" y="684891"/>
                    </a:lnTo>
                    <a:lnTo>
                      <a:pt x="168576" y="681657"/>
                    </a:lnTo>
                    <a:lnTo>
                      <a:pt x="169545" y="675349"/>
                    </a:lnTo>
                    <a:lnTo>
                      <a:pt x="170497" y="668033"/>
                    </a:lnTo>
                    <a:lnTo>
                      <a:pt x="170497" y="664534"/>
                    </a:lnTo>
                    <a:lnTo>
                      <a:pt x="170497" y="661035"/>
                    </a:lnTo>
                    <a:close/>
                    <a:moveTo>
                      <a:pt x="2571454" y="661035"/>
                    </a:moveTo>
                    <a:lnTo>
                      <a:pt x="2571454" y="664534"/>
                    </a:lnTo>
                    <a:lnTo>
                      <a:pt x="2571137" y="668033"/>
                    </a:lnTo>
                    <a:lnTo>
                      <a:pt x="2572406" y="675349"/>
                    </a:lnTo>
                    <a:lnTo>
                      <a:pt x="2573358" y="683619"/>
                    </a:lnTo>
                    <a:lnTo>
                      <a:pt x="2573992" y="691889"/>
                    </a:lnTo>
                    <a:lnTo>
                      <a:pt x="2574310" y="700795"/>
                    </a:lnTo>
                    <a:lnTo>
                      <a:pt x="2574627" y="700477"/>
                    </a:lnTo>
                    <a:lnTo>
                      <a:pt x="2573675" y="684891"/>
                    </a:lnTo>
                    <a:lnTo>
                      <a:pt x="2571454" y="661035"/>
                    </a:lnTo>
                    <a:close/>
                    <a:moveTo>
                      <a:pt x="197485" y="574519"/>
                    </a:moveTo>
                    <a:lnTo>
                      <a:pt x="195897" y="575155"/>
                    </a:lnTo>
                    <a:lnTo>
                      <a:pt x="194310" y="576109"/>
                    </a:lnTo>
                    <a:lnTo>
                      <a:pt x="192405" y="577381"/>
                    </a:lnTo>
                    <a:lnTo>
                      <a:pt x="190817" y="579290"/>
                    </a:lnTo>
                    <a:lnTo>
                      <a:pt x="189230" y="581198"/>
                    </a:lnTo>
                    <a:lnTo>
                      <a:pt x="186690" y="585969"/>
                    </a:lnTo>
                    <a:lnTo>
                      <a:pt x="189865" y="582789"/>
                    </a:lnTo>
                    <a:lnTo>
                      <a:pt x="192722" y="579608"/>
                    </a:lnTo>
                    <a:lnTo>
                      <a:pt x="195897" y="576745"/>
                    </a:lnTo>
                    <a:lnTo>
                      <a:pt x="199390" y="574519"/>
                    </a:lnTo>
                    <a:lnTo>
                      <a:pt x="197485" y="574519"/>
                    </a:lnTo>
                    <a:close/>
                    <a:moveTo>
                      <a:pt x="2542584" y="574518"/>
                    </a:moveTo>
                    <a:lnTo>
                      <a:pt x="2545757" y="576745"/>
                    </a:lnTo>
                    <a:lnTo>
                      <a:pt x="2549247" y="579608"/>
                    </a:lnTo>
                    <a:lnTo>
                      <a:pt x="2552102" y="582788"/>
                    </a:lnTo>
                    <a:lnTo>
                      <a:pt x="2555274" y="585969"/>
                    </a:lnTo>
                    <a:lnTo>
                      <a:pt x="2552102" y="581198"/>
                    </a:lnTo>
                    <a:lnTo>
                      <a:pt x="2550833" y="579290"/>
                    </a:lnTo>
                    <a:lnTo>
                      <a:pt x="2549247" y="577381"/>
                    </a:lnTo>
                    <a:lnTo>
                      <a:pt x="2547660" y="576109"/>
                    </a:lnTo>
                    <a:lnTo>
                      <a:pt x="2545757" y="575155"/>
                    </a:lnTo>
                    <a:lnTo>
                      <a:pt x="2544488" y="574518"/>
                    </a:lnTo>
                    <a:lnTo>
                      <a:pt x="2542584" y="574518"/>
                    </a:lnTo>
                    <a:close/>
                    <a:moveTo>
                      <a:pt x="331470" y="485775"/>
                    </a:moveTo>
                    <a:lnTo>
                      <a:pt x="347662" y="485775"/>
                    </a:lnTo>
                    <a:lnTo>
                      <a:pt x="363537" y="486729"/>
                    </a:lnTo>
                    <a:lnTo>
                      <a:pt x="378460" y="488638"/>
                    </a:lnTo>
                    <a:lnTo>
                      <a:pt x="393700" y="490864"/>
                    </a:lnTo>
                    <a:lnTo>
                      <a:pt x="407988" y="493409"/>
                    </a:lnTo>
                    <a:lnTo>
                      <a:pt x="421323" y="497226"/>
                    </a:lnTo>
                    <a:lnTo>
                      <a:pt x="434658" y="501043"/>
                    </a:lnTo>
                    <a:lnTo>
                      <a:pt x="447040" y="505178"/>
                    </a:lnTo>
                    <a:lnTo>
                      <a:pt x="459105" y="509631"/>
                    </a:lnTo>
                    <a:lnTo>
                      <a:pt x="470535" y="514402"/>
                    </a:lnTo>
                    <a:lnTo>
                      <a:pt x="481013" y="519491"/>
                    </a:lnTo>
                    <a:lnTo>
                      <a:pt x="491173" y="524580"/>
                    </a:lnTo>
                    <a:lnTo>
                      <a:pt x="500698" y="529670"/>
                    </a:lnTo>
                    <a:lnTo>
                      <a:pt x="509270" y="534759"/>
                    </a:lnTo>
                    <a:lnTo>
                      <a:pt x="517208" y="539848"/>
                    </a:lnTo>
                    <a:lnTo>
                      <a:pt x="524510" y="544301"/>
                    </a:lnTo>
                    <a:lnTo>
                      <a:pt x="536575" y="552889"/>
                    </a:lnTo>
                    <a:lnTo>
                      <a:pt x="545465" y="559569"/>
                    </a:lnTo>
                    <a:lnTo>
                      <a:pt x="550863" y="564340"/>
                    </a:lnTo>
                    <a:lnTo>
                      <a:pt x="552450" y="565612"/>
                    </a:lnTo>
                    <a:lnTo>
                      <a:pt x="550863" y="569747"/>
                    </a:lnTo>
                    <a:lnTo>
                      <a:pt x="548005" y="574837"/>
                    </a:lnTo>
                    <a:lnTo>
                      <a:pt x="544195" y="581198"/>
                    </a:lnTo>
                    <a:lnTo>
                      <a:pt x="539750" y="587878"/>
                    </a:lnTo>
                    <a:lnTo>
                      <a:pt x="534035" y="595512"/>
                    </a:lnTo>
                    <a:lnTo>
                      <a:pt x="530860" y="599647"/>
                    </a:lnTo>
                    <a:lnTo>
                      <a:pt x="527050" y="603463"/>
                    </a:lnTo>
                    <a:lnTo>
                      <a:pt x="523240" y="607280"/>
                    </a:lnTo>
                    <a:lnTo>
                      <a:pt x="518795" y="610779"/>
                    </a:lnTo>
                    <a:lnTo>
                      <a:pt x="514350" y="614278"/>
                    </a:lnTo>
                    <a:lnTo>
                      <a:pt x="509588" y="617777"/>
                    </a:lnTo>
                    <a:lnTo>
                      <a:pt x="504508" y="620640"/>
                    </a:lnTo>
                    <a:lnTo>
                      <a:pt x="498793" y="623502"/>
                    </a:lnTo>
                    <a:lnTo>
                      <a:pt x="493078" y="626047"/>
                    </a:lnTo>
                    <a:lnTo>
                      <a:pt x="487045" y="627955"/>
                    </a:lnTo>
                    <a:lnTo>
                      <a:pt x="480695" y="629228"/>
                    </a:lnTo>
                    <a:lnTo>
                      <a:pt x="474028" y="630500"/>
                    </a:lnTo>
                    <a:lnTo>
                      <a:pt x="466725" y="630818"/>
                    </a:lnTo>
                    <a:lnTo>
                      <a:pt x="459423" y="630818"/>
                    </a:lnTo>
                    <a:lnTo>
                      <a:pt x="451803" y="630182"/>
                    </a:lnTo>
                    <a:lnTo>
                      <a:pt x="443548" y="628910"/>
                    </a:lnTo>
                    <a:lnTo>
                      <a:pt x="434975" y="626683"/>
                    </a:lnTo>
                    <a:lnTo>
                      <a:pt x="426403" y="624139"/>
                    </a:lnTo>
                    <a:lnTo>
                      <a:pt x="417195" y="620322"/>
                    </a:lnTo>
                    <a:lnTo>
                      <a:pt x="407353" y="615869"/>
                    </a:lnTo>
                    <a:lnTo>
                      <a:pt x="396557" y="610461"/>
                    </a:lnTo>
                    <a:lnTo>
                      <a:pt x="385127" y="605690"/>
                    </a:lnTo>
                    <a:lnTo>
                      <a:pt x="408305" y="616823"/>
                    </a:lnTo>
                    <a:lnTo>
                      <a:pt x="430848" y="627955"/>
                    </a:lnTo>
                    <a:lnTo>
                      <a:pt x="441643" y="632727"/>
                    </a:lnTo>
                    <a:lnTo>
                      <a:pt x="452120" y="637180"/>
                    </a:lnTo>
                    <a:lnTo>
                      <a:pt x="462280" y="641315"/>
                    </a:lnTo>
                    <a:lnTo>
                      <a:pt x="472440" y="645132"/>
                    </a:lnTo>
                    <a:lnTo>
                      <a:pt x="481965" y="648312"/>
                    </a:lnTo>
                    <a:lnTo>
                      <a:pt x="491173" y="650539"/>
                    </a:lnTo>
                    <a:lnTo>
                      <a:pt x="500063" y="652129"/>
                    </a:lnTo>
                    <a:lnTo>
                      <a:pt x="504190" y="652447"/>
                    </a:lnTo>
                    <a:lnTo>
                      <a:pt x="508318" y="652447"/>
                    </a:lnTo>
                    <a:lnTo>
                      <a:pt x="512128" y="652447"/>
                    </a:lnTo>
                    <a:lnTo>
                      <a:pt x="515620" y="652129"/>
                    </a:lnTo>
                    <a:lnTo>
                      <a:pt x="519430" y="651493"/>
                    </a:lnTo>
                    <a:lnTo>
                      <a:pt x="522923" y="650539"/>
                    </a:lnTo>
                    <a:lnTo>
                      <a:pt x="526415" y="649267"/>
                    </a:lnTo>
                    <a:lnTo>
                      <a:pt x="529590" y="647676"/>
                    </a:lnTo>
                    <a:lnTo>
                      <a:pt x="532765" y="646086"/>
                    </a:lnTo>
                    <a:lnTo>
                      <a:pt x="535623" y="643541"/>
                    </a:lnTo>
                    <a:lnTo>
                      <a:pt x="536893" y="651493"/>
                    </a:lnTo>
                    <a:lnTo>
                      <a:pt x="537210" y="659127"/>
                    </a:lnTo>
                    <a:lnTo>
                      <a:pt x="537845" y="673440"/>
                    </a:lnTo>
                    <a:lnTo>
                      <a:pt x="537845" y="687118"/>
                    </a:lnTo>
                    <a:lnTo>
                      <a:pt x="537210" y="700159"/>
                    </a:lnTo>
                    <a:lnTo>
                      <a:pt x="538163" y="699205"/>
                    </a:lnTo>
                    <a:lnTo>
                      <a:pt x="539433" y="697932"/>
                    </a:lnTo>
                    <a:lnTo>
                      <a:pt x="540703" y="697296"/>
                    </a:lnTo>
                    <a:lnTo>
                      <a:pt x="541973" y="696660"/>
                    </a:lnTo>
                    <a:lnTo>
                      <a:pt x="542925" y="697296"/>
                    </a:lnTo>
                    <a:lnTo>
                      <a:pt x="543243" y="698251"/>
                    </a:lnTo>
                    <a:lnTo>
                      <a:pt x="543878" y="699841"/>
                    </a:lnTo>
                    <a:lnTo>
                      <a:pt x="543878" y="702067"/>
                    </a:lnTo>
                    <a:lnTo>
                      <a:pt x="544195" y="708429"/>
                    </a:lnTo>
                    <a:lnTo>
                      <a:pt x="544195" y="716063"/>
                    </a:lnTo>
                    <a:lnTo>
                      <a:pt x="543878" y="725287"/>
                    </a:lnTo>
                    <a:lnTo>
                      <a:pt x="542925" y="735466"/>
                    </a:lnTo>
                    <a:lnTo>
                      <a:pt x="540703" y="757413"/>
                    </a:lnTo>
                    <a:lnTo>
                      <a:pt x="537528" y="779042"/>
                    </a:lnTo>
                    <a:lnTo>
                      <a:pt x="534670" y="796536"/>
                    </a:lnTo>
                    <a:lnTo>
                      <a:pt x="533083" y="802898"/>
                    </a:lnTo>
                    <a:lnTo>
                      <a:pt x="531813" y="807669"/>
                    </a:lnTo>
                    <a:lnTo>
                      <a:pt x="531178" y="808623"/>
                    </a:lnTo>
                    <a:lnTo>
                      <a:pt x="530860" y="809577"/>
                    </a:lnTo>
                    <a:lnTo>
                      <a:pt x="530543" y="809577"/>
                    </a:lnTo>
                    <a:lnTo>
                      <a:pt x="529908" y="808623"/>
                    </a:lnTo>
                    <a:lnTo>
                      <a:pt x="528638" y="820392"/>
                    </a:lnTo>
                    <a:lnTo>
                      <a:pt x="526733" y="831525"/>
                    </a:lnTo>
                    <a:lnTo>
                      <a:pt x="524510" y="842657"/>
                    </a:lnTo>
                    <a:lnTo>
                      <a:pt x="521335" y="853154"/>
                    </a:lnTo>
                    <a:lnTo>
                      <a:pt x="518478" y="863650"/>
                    </a:lnTo>
                    <a:lnTo>
                      <a:pt x="514985" y="873829"/>
                    </a:lnTo>
                    <a:lnTo>
                      <a:pt x="510858" y="883689"/>
                    </a:lnTo>
                    <a:lnTo>
                      <a:pt x="506730" y="892913"/>
                    </a:lnTo>
                    <a:lnTo>
                      <a:pt x="502285" y="902138"/>
                    </a:lnTo>
                    <a:lnTo>
                      <a:pt x="497205" y="911044"/>
                    </a:lnTo>
                    <a:lnTo>
                      <a:pt x="492443" y="919314"/>
                    </a:lnTo>
                    <a:lnTo>
                      <a:pt x="486728" y="927584"/>
                    </a:lnTo>
                    <a:lnTo>
                      <a:pt x="481013" y="935536"/>
                    </a:lnTo>
                    <a:lnTo>
                      <a:pt x="475615" y="943170"/>
                    </a:lnTo>
                    <a:lnTo>
                      <a:pt x="469583" y="950167"/>
                    </a:lnTo>
                    <a:lnTo>
                      <a:pt x="463550" y="957165"/>
                    </a:lnTo>
                    <a:lnTo>
                      <a:pt x="457200" y="963209"/>
                    </a:lnTo>
                    <a:lnTo>
                      <a:pt x="450850" y="969252"/>
                    </a:lnTo>
                    <a:lnTo>
                      <a:pt x="443865" y="974659"/>
                    </a:lnTo>
                    <a:lnTo>
                      <a:pt x="437198" y="980067"/>
                    </a:lnTo>
                    <a:lnTo>
                      <a:pt x="430530" y="984838"/>
                    </a:lnTo>
                    <a:lnTo>
                      <a:pt x="423545" y="989609"/>
                    </a:lnTo>
                    <a:lnTo>
                      <a:pt x="416878" y="993744"/>
                    </a:lnTo>
                    <a:lnTo>
                      <a:pt x="410210" y="997243"/>
                    </a:lnTo>
                    <a:lnTo>
                      <a:pt x="402908" y="1000742"/>
                    </a:lnTo>
                    <a:lnTo>
                      <a:pt x="396240" y="1003286"/>
                    </a:lnTo>
                    <a:lnTo>
                      <a:pt x="389255" y="1006149"/>
                    </a:lnTo>
                    <a:lnTo>
                      <a:pt x="382587" y="1008057"/>
                    </a:lnTo>
                    <a:lnTo>
                      <a:pt x="375920" y="1009330"/>
                    </a:lnTo>
                    <a:lnTo>
                      <a:pt x="369252" y="1010602"/>
                    </a:lnTo>
                    <a:lnTo>
                      <a:pt x="362585" y="1011238"/>
                    </a:lnTo>
                    <a:lnTo>
                      <a:pt x="356235" y="1011238"/>
                    </a:lnTo>
                    <a:lnTo>
                      <a:pt x="351155" y="1011238"/>
                    </a:lnTo>
                    <a:lnTo>
                      <a:pt x="345440" y="1010602"/>
                    </a:lnTo>
                    <a:lnTo>
                      <a:pt x="339725" y="1009330"/>
                    </a:lnTo>
                    <a:lnTo>
                      <a:pt x="334010" y="1007421"/>
                    </a:lnTo>
                    <a:lnTo>
                      <a:pt x="327977" y="1005831"/>
                    </a:lnTo>
                    <a:lnTo>
                      <a:pt x="321945" y="1002968"/>
                    </a:lnTo>
                    <a:lnTo>
                      <a:pt x="315595" y="1000105"/>
                    </a:lnTo>
                    <a:lnTo>
                      <a:pt x="309245" y="996607"/>
                    </a:lnTo>
                    <a:lnTo>
                      <a:pt x="302895" y="992790"/>
                    </a:lnTo>
                    <a:lnTo>
                      <a:pt x="296227" y="988655"/>
                    </a:lnTo>
                    <a:lnTo>
                      <a:pt x="289877" y="984202"/>
                    </a:lnTo>
                    <a:lnTo>
                      <a:pt x="282892" y="979430"/>
                    </a:lnTo>
                    <a:lnTo>
                      <a:pt x="276542" y="974023"/>
                    </a:lnTo>
                    <a:lnTo>
                      <a:pt x="269875" y="968298"/>
                    </a:lnTo>
                    <a:lnTo>
                      <a:pt x="263207" y="962254"/>
                    </a:lnTo>
                    <a:lnTo>
                      <a:pt x="256540" y="955893"/>
                    </a:lnTo>
                    <a:lnTo>
                      <a:pt x="250190" y="949213"/>
                    </a:lnTo>
                    <a:lnTo>
                      <a:pt x="243840" y="941897"/>
                    </a:lnTo>
                    <a:lnTo>
                      <a:pt x="237490" y="934900"/>
                    </a:lnTo>
                    <a:lnTo>
                      <a:pt x="231457" y="927266"/>
                    </a:lnTo>
                    <a:lnTo>
                      <a:pt x="225425" y="919314"/>
                    </a:lnTo>
                    <a:lnTo>
                      <a:pt x="219710" y="911044"/>
                    </a:lnTo>
                    <a:lnTo>
                      <a:pt x="214312" y="902774"/>
                    </a:lnTo>
                    <a:lnTo>
                      <a:pt x="208915" y="893868"/>
                    </a:lnTo>
                    <a:lnTo>
                      <a:pt x="203517" y="885280"/>
                    </a:lnTo>
                    <a:lnTo>
                      <a:pt x="198755" y="875737"/>
                    </a:lnTo>
                    <a:lnTo>
                      <a:pt x="194310" y="866195"/>
                    </a:lnTo>
                    <a:lnTo>
                      <a:pt x="190182" y="856971"/>
                    </a:lnTo>
                    <a:lnTo>
                      <a:pt x="186055" y="846792"/>
                    </a:lnTo>
                    <a:lnTo>
                      <a:pt x="182245" y="836932"/>
                    </a:lnTo>
                    <a:lnTo>
                      <a:pt x="179070" y="826754"/>
                    </a:lnTo>
                    <a:lnTo>
                      <a:pt x="176212" y="816257"/>
                    </a:lnTo>
                    <a:lnTo>
                      <a:pt x="173990" y="822937"/>
                    </a:lnTo>
                    <a:lnTo>
                      <a:pt x="172402" y="826117"/>
                    </a:lnTo>
                    <a:lnTo>
                      <a:pt x="171450" y="828344"/>
                    </a:lnTo>
                    <a:lnTo>
                      <a:pt x="169862" y="830252"/>
                    </a:lnTo>
                    <a:lnTo>
                      <a:pt x="168275" y="831525"/>
                    </a:lnTo>
                    <a:lnTo>
                      <a:pt x="167322" y="832479"/>
                    </a:lnTo>
                    <a:lnTo>
                      <a:pt x="165417" y="832797"/>
                    </a:lnTo>
                    <a:lnTo>
                      <a:pt x="163830" y="832479"/>
                    </a:lnTo>
                    <a:lnTo>
                      <a:pt x="162242" y="831207"/>
                    </a:lnTo>
                    <a:lnTo>
                      <a:pt x="160655" y="829616"/>
                    </a:lnTo>
                    <a:lnTo>
                      <a:pt x="159385" y="827390"/>
                    </a:lnTo>
                    <a:lnTo>
                      <a:pt x="157797" y="824845"/>
                    </a:lnTo>
                    <a:lnTo>
                      <a:pt x="156210" y="821346"/>
                    </a:lnTo>
                    <a:lnTo>
                      <a:pt x="153987" y="813076"/>
                    </a:lnTo>
                    <a:lnTo>
                      <a:pt x="152082" y="803534"/>
                    </a:lnTo>
                    <a:lnTo>
                      <a:pt x="150495" y="792083"/>
                    </a:lnTo>
                    <a:lnTo>
                      <a:pt x="149542" y="779678"/>
                    </a:lnTo>
                    <a:lnTo>
                      <a:pt x="149225" y="766637"/>
                    </a:lnTo>
                    <a:lnTo>
                      <a:pt x="149542" y="753914"/>
                    </a:lnTo>
                    <a:lnTo>
                      <a:pt x="150177" y="742781"/>
                    </a:lnTo>
                    <a:lnTo>
                      <a:pt x="151765" y="732285"/>
                    </a:lnTo>
                    <a:lnTo>
                      <a:pt x="153352" y="722742"/>
                    </a:lnTo>
                    <a:lnTo>
                      <a:pt x="155257" y="714790"/>
                    </a:lnTo>
                    <a:lnTo>
                      <a:pt x="157797" y="708429"/>
                    </a:lnTo>
                    <a:lnTo>
                      <a:pt x="159067" y="705884"/>
                    </a:lnTo>
                    <a:lnTo>
                      <a:pt x="160337" y="703976"/>
                    </a:lnTo>
                    <a:lnTo>
                      <a:pt x="161607" y="702067"/>
                    </a:lnTo>
                    <a:lnTo>
                      <a:pt x="163195" y="700795"/>
                    </a:lnTo>
                    <a:lnTo>
                      <a:pt x="158432" y="696024"/>
                    </a:lnTo>
                    <a:lnTo>
                      <a:pt x="154622" y="690617"/>
                    </a:lnTo>
                    <a:lnTo>
                      <a:pt x="151447" y="685209"/>
                    </a:lnTo>
                    <a:lnTo>
                      <a:pt x="148907" y="679166"/>
                    </a:lnTo>
                    <a:lnTo>
                      <a:pt x="147002" y="672804"/>
                    </a:lnTo>
                    <a:lnTo>
                      <a:pt x="145097" y="666443"/>
                    </a:lnTo>
                    <a:lnTo>
                      <a:pt x="143827" y="659763"/>
                    </a:lnTo>
                    <a:lnTo>
                      <a:pt x="143192" y="653083"/>
                    </a:lnTo>
                    <a:lnTo>
                      <a:pt x="142875" y="646086"/>
                    </a:lnTo>
                    <a:lnTo>
                      <a:pt x="142875" y="639088"/>
                    </a:lnTo>
                    <a:lnTo>
                      <a:pt x="143510" y="632090"/>
                    </a:lnTo>
                    <a:lnTo>
                      <a:pt x="144145" y="624775"/>
                    </a:lnTo>
                    <a:lnTo>
                      <a:pt x="145415" y="617777"/>
                    </a:lnTo>
                    <a:lnTo>
                      <a:pt x="146367" y="610461"/>
                    </a:lnTo>
                    <a:lnTo>
                      <a:pt x="148272" y="603782"/>
                    </a:lnTo>
                    <a:lnTo>
                      <a:pt x="149860" y="596466"/>
                    </a:lnTo>
                    <a:lnTo>
                      <a:pt x="154305" y="583425"/>
                    </a:lnTo>
                    <a:lnTo>
                      <a:pt x="159385" y="570702"/>
                    </a:lnTo>
                    <a:lnTo>
                      <a:pt x="164465" y="558933"/>
                    </a:lnTo>
                    <a:lnTo>
                      <a:pt x="169862" y="548436"/>
                    </a:lnTo>
                    <a:lnTo>
                      <a:pt x="174942" y="539212"/>
                    </a:lnTo>
                    <a:lnTo>
                      <a:pt x="180022" y="532214"/>
                    </a:lnTo>
                    <a:lnTo>
                      <a:pt x="182562" y="529034"/>
                    </a:lnTo>
                    <a:lnTo>
                      <a:pt x="184467" y="526807"/>
                    </a:lnTo>
                    <a:lnTo>
                      <a:pt x="186690" y="525535"/>
                    </a:lnTo>
                    <a:lnTo>
                      <a:pt x="188277" y="524262"/>
                    </a:lnTo>
                    <a:lnTo>
                      <a:pt x="198120" y="519491"/>
                    </a:lnTo>
                    <a:lnTo>
                      <a:pt x="207327" y="514720"/>
                    </a:lnTo>
                    <a:lnTo>
                      <a:pt x="216852" y="510585"/>
                    </a:lnTo>
                    <a:lnTo>
                      <a:pt x="226377" y="507086"/>
                    </a:lnTo>
                    <a:lnTo>
                      <a:pt x="235267" y="503587"/>
                    </a:lnTo>
                    <a:lnTo>
                      <a:pt x="244792" y="500407"/>
                    </a:lnTo>
                    <a:lnTo>
                      <a:pt x="253682" y="497862"/>
                    </a:lnTo>
                    <a:lnTo>
                      <a:pt x="262572" y="495317"/>
                    </a:lnTo>
                    <a:lnTo>
                      <a:pt x="271780" y="493409"/>
                    </a:lnTo>
                    <a:lnTo>
                      <a:pt x="280352" y="491501"/>
                    </a:lnTo>
                    <a:lnTo>
                      <a:pt x="288925" y="489910"/>
                    </a:lnTo>
                    <a:lnTo>
                      <a:pt x="298132" y="488638"/>
                    </a:lnTo>
                    <a:lnTo>
                      <a:pt x="306387" y="487365"/>
                    </a:lnTo>
                    <a:lnTo>
                      <a:pt x="314960" y="486729"/>
                    </a:lnTo>
                    <a:lnTo>
                      <a:pt x="323215" y="486093"/>
                    </a:lnTo>
                    <a:lnTo>
                      <a:pt x="331470" y="485775"/>
                    </a:lnTo>
                    <a:close/>
                    <a:moveTo>
                      <a:pt x="2394109" y="485775"/>
                    </a:moveTo>
                    <a:lnTo>
                      <a:pt x="2410607" y="485775"/>
                    </a:lnTo>
                    <a:lnTo>
                      <a:pt x="2418538" y="486093"/>
                    </a:lnTo>
                    <a:lnTo>
                      <a:pt x="2427104" y="486729"/>
                    </a:lnTo>
                    <a:lnTo>
                      <a:pt x="2435352" y="487365"/>
                    </a:lnTo>
                    <a:lnTo>
                      <a:pt x="2443918" y="488638"/>
                    </a:lnTo>
                    <a:lnTo>
                      <a:pt x="2452801" y="489910"/>
                    </a:lnTo>
                    <a:lnTo>
                      <a:pt x="2461367" y="491500"/>
                    </a:lnTo>
                    <a:lnTo>
                      <a:pt x="2470250" y="493409"/>
                    </a:lnTo>
                    <a:lnTo>
                      <a:pt x="2479451" y="495317"/>
                    </a:lnTo>
                    <a:lnTo>
                      <a:pt x="2488334" y="497862"/>
                    </a:lnTo>
                    <a:lnTo>
                      <a:pt x="2497534" y="500407"/>
                    </a:lnTo>
                    <a:lnTo>
                      <a:pt x="2506417" y="503587"/>
                    </a:lnTo>
                    <a:lnTo>
                      <a:pt x="2515935" y="507086"/>
                    </a:lnTo>
                    <a:lnTo>
                      <a:pt x="2525135" y="510585"/>
                    </a:lnTo>
                    <a:lnTo>
                      <a:pt x="2534653" y="514720"/>
                    </a:lnTo>
                    <a:lnTo>
                      <a:pt x="2543853" y="519491"/>
                    </a:lnTo>
                    <a:lnTo>
                      <a:pt x="2553371" y="524262"/>
                    </a:lnTo>
                    <a:lnTo>
                      <a:pt x="2555274" y="525535"/>
                    </a:lnTo>
                    <a:lnTo>
                      <a:pt x="2557178" y="526807"/>
                    </a:lnTo>
                    <a:lnTo>
                      <a:pt x="2559399" y="529033"/>
                    </a:lnTo>
                    <a:lnTo>
                      <a:pt x="2561620" y="532214"/>
                    </a:lnTo>
                    <a:lnTo>
                      <a:pt x="2566378" y="539212"/>
                    </a:lnTo>
                    <a:lnTo>
                      <a:pt x="2571772" y="548436"/>
                    </a:lnTo>
                    <a:lnTo>
                      <a:pt x="2577482" y="558933"/>
                    </a:lnTo>
                    <a:lnTo>
                      <a:pt x="2582558" y="570702"/>
                    </a:lnTo>
                    <a:lnTo>
                      <a:pt x="2587634" y="583425"/>
                    </a:lnTo>
                    <a:lnTo>
                      <a:pt x="2591759" y="596466"/>
                    </a:lnTo>
                    <a:lnTo>
                      <a:pt x="2593662" y="603782"/>
                    </a:lnTo>
                    <a:lnTo>
                      <a:pt x="2594931" y="610461"/>
                    </a:lnTo>
                    <a:lnTo>
                      <a:pt x="2596517" y="617777"/>
                    </a:lnTo>
                    <a:lnTo>
                      <a:pt x="2597786" y="624775"/>
                    </a:lnTo>
                    <a:lnTo>
                      <a:pt x="2598421" y="632090"/>
                    </a:lnTo>
                    <a:lnTo>
                      <a:pt x="2598738" y="639088"/>
                    </a:lnTo>
                    <a:lnTo>
                      <a:pt x="2598738" y="646086"/>
                    </a:lnTo>
                    <a:lnTo>
                      <a:pt x="2598421" y="653083"/>
                    </a:lnTo>
                    <a:lnTo>
                      <a:pt x="2598104" y="659763"/>
                    </a:lnTo>
                    <a:lnTo>
                      <a:pt x="2596517" y="666443"/>
                    </a:lnTo>
                    <a:lnTo>
                      <a:pt x="2594931" y="672804"/>
                    </a:lnTo>
                    <a:lnTo>
                      <a:pt x="2592710" y="679166"/>
                    </a:lnTo>
                    <a:lnTo>
                      <a:pt x="2590172" y="685209"/>
                    </a:lnTo>
                    <a:lnTo>
                      <a:pt x="2586683" y="690617"/>
                    </a:lnTo>
                    <a:lnTo>
                      <a:pt x="2583193" y="696024"/>
                    </a:lnTo>
                    <a:lnTo>
                      <a:pt x="2578434" y="700795"/>
                    </a:lnTo>
                    <a:lnTo>
                      <a:pt x="2580020" y="702067"/>
                    </a:lnTo>
                    <a:lnTo>
                      <a:pt x="2581607" y="703976"/>
                    </a:lnTo>
                    <a:lnTo>
                      <a:pt x="2582558" y="705884"/>
                    </a:lnTo>
                    <a:lnTo>
                      <a:pt x="2584145" y="708429"/>
                    </a:lnTo>
                    <a:lnTo>
                      <a:pt x="2586365" y="714790"/>
                    </a:lnTo>
                    <a:lnTo>
                      <a:pt x="2588269" y="722742"/>
                    </a:lnTo>
                    <a:lnTo>
                      <a:pt x="2590172" y="732285"/>
                    </a:lnTo>
                    <a:lnTo>
                      <a:pt x="2591441" y="742781"/>
                    </a:lnTo>
                    <a:lnTo>
                      <a:pt x="2592076" y="753914"/>
                    </a:lnTo>
                    <a:lnTo>
                      <a:pt x="2592393" y="766637"/>
                    </a:lnTo>
                    <a:lnTo>
                      <a:pt x="2592076" y="779678"/>
                    </a:lnTo>
                    <a:lnTo>
                      <a:pt x="2591441" y="792083"/>
                    </a:lnTo>
                    <a:lnTo>
                      <a:pt x="2589855" y="803534"/>
                    </a:lnTo>
                    <a:lnTo>
                      <a:pt x="2587634" y="813076"/>
                    </a:lnTo>
                    <a:lnTo>
                      <a:pt x="2585414" y="821346"/>
                    </a:lnTo>
                    <a:lnTo>
                      <a:pt x="2584145" y="824845"/>
                    </a:lnTo>
                    <a:lnTo>
                      <a:pt x="2582558" y="827390"/>
                    </a:lnTo>
                    <a:lnTo>
                      <a:pt x="2581289" y="829616"/>
                    </a:lnTo>
                    <a:lnTo>
                      <a:pt x="2579703" y="831207"/>
                    </a:lnTo>
                    <a:lnTo>
                      <a:pt x="2577799" y="832479"/>
                    </a:lnTo>
                    <a:lnTo>
                      <a:pt x="2576213" y="832797"/>
                    </a:lnTo>
                    <a:lnTo>
                      <a:pt x="2574627" y="832479"/>
                    </a:lnTo>
                    <a:lnTo>
                      <a:pt x="2573358" y="831525"/>
                    </a:lnTo>
                    <a:lnTo>
                      <a:pt x="2571772" y="830252"/>
                    </a:lnTo>
                    <a:lnTo>
                      <a:pt x="2570503" y="828344"/>
                    </a:lnTo>
                    <a:lnTo>
                      <a:pt x="2569234" y="826117"/>
                    </a:lnTo>
                    <a:lnTo>
                      <a:pt x="2567965" y="822936"/>
                    </a:lnTo>
                    <a:lnTo>
                      <a:pt x="2565744" y="816257"/>
                    </a:lnTo>
                    <a:lnTo>
                      <a:pt x="2562889" y="826753"/>
                    </a:lnTo>
                    <a:lnTo>
                      <a:pt x="2559399" y="836932"/>
                    </a:lnTo>
                    <a:lnTo>
                      <a:pt x="2555592" y="846792"/>
                    </a:lnTo>
                    <a:lnTo>
                      <a:pt x="2551785" y="856971"/>
                    </a:lnTo>
                    <a:lnTo>
                      <a:pt x="2547343" y="866195"/>
                    </a:lnTo>
                    <a:lnTo>
                      <a:pt x="2542902" y="875737"/>
                    </a:lnTo>
                    <a:lnTo>
                      <a:pt x="2537825" y="885280"/>
                    </a:lnTo>
                    <a:lnTo>
                      <a:pt x="2533067" y="893868"/>
                    </a:lnTo>
                    <a:lnTo>
                      <a:pt x="2527356" y="902774"/>
                    </a:lnTo>
                    <a:lnTo>
                      <a:pt x="2522280" y="911044"/>
                    </a:lnTo>
                    <a:lnTo>
                      <a:pt x="2516252" y="919314"/>
                    </a:lnTo>
                    <a:lnTo>
                      <a:pt x="2510224" y="927266"/>
                    </a:lnTo>
                    <a:lnTo>
                      <a:pt x="2504197" y="934900"/>
                    </a:lnTo>
                    <a:lnTo>
                      <a:pt x="2497851" y="941897"/>
                    </a:lnTo>
                    <a:lnTo>
                      <a:pt x="2491824" y="949213"/>
                    </a:lnTo>
                    <a:lnTo>
                      <a:pt x="2484844" y="955893"/>
                    </a:lnTo>
                    <a:lnTo>
                      <a:pt x="2478499" y="962254"/>
                    </a:lnTo>
                    <a:lnTo>
                      <a:pt x="2472154" y="968298"/>
                    </a:lnTo>
                    <a:lnTo>
                      <a:pt x="2465492" y="974023"/>
                    </a:lnTo>
                    <a:lnTo>
                      <a:pt x="2458829" y="979430"/>
                    </a:lnTo>
                    <a:lnTo>
                      <a:pt x="2452167" y="984202"/>
                    </a:lnTo>
                    <a:lnTo>
                      <a:pt x="2445505" y="988654"/>
                    </a:lnTo>
                    <a:lnTo>
                      <a:pt x="2439159" y="992789"/>
                    </a:lnTo>
                    <a:lnTo>
                      <a:pt x="2432814" y="996607"/>
                    </a:lnTo>
                    <a:lnTo>
                      <a:pt x="2426469" y="1000105"/>
                    </a:lnTo>
                    <a:lnTo>
                      <a:pt x="2420124" y="1002968"/>
                    </a:lnTo>
                    <a:lnTo>
                      <a:pt x="2413462" y="1005831"/>
                    </a:lnTo>
                    <a:lnTo>
                      <a:pt x="2408069" y="1007421"/>
                    </a:lnTo>
                    <a:lnTo>
                      <a:pt x="2402041" y="1009330"/>
                    </a:lnTo>
                    <a:lnTo>
                      <a:pt x="2396330" y="1010602"/>
                    </a:lnTo>
                    <a:lnTo>
                      <a:pt x="2390937" y="1011238"/>
                    </a:lnTo>
                    <a:lnTo>
                      <a:pt x="2385861" y="1011238"/>
                    </a:lnTo>
                    <a:lnTo>
                      <a:pt x="2379516" y="1011238"/>
                    </a:lnTo>
                    <a:lnTo>
                      <a:pt x="2372536" y="1010602"/>
                    </a:lnTo>
                    <a:lnTo>
                      <a:pt x="2366191" y="1009330"/>
                    </a:lnTo>
                    <a:lnTo>
                      <a:pt x="2359529" y="1008057"/>
                    </a:lnTo>
                    <a:lnTo>
                      <a:pt x="2352866" y="1006149"/>
                    </a:lnTo>
                    <a:lnTo>
                      <a:pt x="2345887" y="1003286"/>
                    </a:lnTo>
                    <a:lnTo>
                      <a:pt x="2338907" y="1000742"/>
                    </a:lnTo>
                    <a:lnTo>
                      <a:pt x="2331928" y="997243"/>
                    </a:lnTo>
                    <a:lnTo>
                      <a:pt x="2325265" y="993744"/>
                    </a:lnTo>
                    <a:lnTo>
                      <a:pt x="2318286" y="989609"/>
                    </a:lnTo>
                    <a:lnTo>
                      <a:pt x="2311306" y="984838"/>
                    </a:lnTo>
                    <a:lnTo>
                      <a:pt x="2304644" y="980067"/>
                    </a:lnTo>
                    <a:lnTo>
                      <a:pt x="2297981" y="974659"/>
                    </a:lnTo>
                    <a:lnTo>
                      <a:pt x="2291636" y="969252"/>
                    </a:lnTo>
                    <a:lnTo>
                      <a:pt x="2284974" y="963208"/>
                    </a:lnTo>
                    <a:lnTo>
                      <a:pt x="2278629" y="957165"/>
                    </a:lnTo>
                    <a:lnTo>
                      <a:pt x="2272284" y="950167"/>
                    </a:lnTo>
                    <a:lnTo>
                      <a:pt x="2266256" y="943170"/>
                    </a:lnTo>
                    <a:lnTo>
                      <a:pt x="2260545" y="935536"/>
                    </a:lnTo>
                    <a:lnTo>
                      <a:pt x="2255152" y="927584"/>
                    </a:lnTo>
                    <a:lnTo>
                      <a:pt x="2249759" y="919314"/>
                    </a:lnTo>
                    <a:lnTo>
                      <a:pt x="2244365" y="911044"/>
                    </a:lnTo>
                    <a:lnTo>
                      <a:pt x="2239924" y="902138"/>
                    </a:lnTo>
                    <a:lnTo>
                      <a:pt x="2235482" y="892913"/>
                    </a:lnTo>
                    <a:lnTo>
                      <a:pt x="2231041" y="883689"/>
                    </a:lnTo>
                    <a:lnTo>
                      <a:pt x="2227234" y="873829"/>
                    </a:lnTo>
                    <a:lnTo>
                      <a:pt x="2223744" y="863650"/>
                    </a:lnTo>
                    <a:lnTo>
                      <a:pt x="2220571" y="853154"/>
                    </a:lnTo>
                    <a:lnTo>
                      <a:pt x="2217716" y="842657"/>
                    </a:lnTo>
                    <a:lnTo>
                      <a:pt x="2215178" y="831525"/>
                    </a:lnTo>
                    <a:lnTo>
                      <a:pt x="2213275" y="820392"/>
                    </a:lnTo>
                    <a:lnTo>
                      <a:pt x="2211688" y="808623"/>
                    </a:lnTo>
                    <a:lnTo>
                      <a:pt x="2211371" y="809577"/>
                    </a:lnTo>
                    <a:lnTo>
                      <a:pt x="2211054" y="809577"/>
                    </a:lnTo>
                    <a:lnTo>
                      <a:pt x="2210737" y="808623"/>
                    </a:lnTo>
                    <a:lnTo>
                      <a:pt x="2210419" y="807669"/>
                    </a:lnTo>
                    <a:lnTo>
                      <a:pt x="2208833" y="802898"/>
                    </a:lnTo>
                    <a:lnTo>
                      <a:pt x="2207564" y="796536"/>
                    </a:lnTo>
                    <a:lnTo>
                      <a:pt x="2204391" y="779042"/>
                    </a:lnTo>
                    <a:lnTo>
                      <a:pt x="2201536" y="757413"/>
                    </a:lnTo>
                    <a:lnTo>
                      <a:pt x="2198998" y="735465"/>
                    </a:lnTo>
                    <a:lnTo>
                      <a:pt x="2198364" y="725287"/>
                    </a:lnTo>
                    <a:lnTo>
                      <a:pt x="2198046" y="716063"/>
                    </a:lnTo>
                    <a:lnTo>
                      <a:pt x="2197412" y="708429"/>
                    </a:lnTo>
                    <a:lnTo>
                      <a:pt x="2198046" y="702067"/>
                    </a:lnTo>
                    <a:lnTo>
                      <a:pt x="2198364" y="699841"/>
                    </a:lnTo>
                    <a:lnTo>
                      <a:pt x="2198681" y="698250"/>
                    </a:lnTo>
                    <a:lnTo>
                      <a:pt x="2199315" y="697296"/>
                    </a:lnTo>
                    <a:lnTo>
                      <a:pt x="2200267" y="696660"/>
                    </a:lnTo>
                    <a:lnTo>
                      <a:pt x="2201219" y="697296"/>
                    </a:lnTo>
                    <a:lnTo>
                      <a:pt x="2202488" y="697932"/>
                    </a:lnTo>
                    <a:lnTo>
                      <a:pt x="2204074" y="699205"/>
                    </a:lnTo>
                    <a:lnTo>
                      <a:pt x="2205026" y="700159"/>
                    </a:lnTo>
                    <a:lnTo>
                      <a:pt x="2204391" y="687118"/>
                    </a:lnTo>
                    <a:lnTo>
                      <a:pt x="2204074" y="673440"/>
                    </a:lnTo>
                    <a:lnTo>
                      <a:pt x="2204709" y="659127"/>
                    </a:lnTo>
                    <a:lnTo>
                      <a:pt x="2205343" y="651493"/>
                    </a:lnTo>
                    <a:lnTo>
                      <a:pt x="2206295" y="643541"/>
                    </a:lnTo>
                    <a:lnTo>
                      <a:pt x="2209150" y="646086"/>
                    </a:lnTo>
                    <a:lnTo>
                      <a:pt x="2212323" y="647676"/>
                    </a:lnTo>
                    <a:lnTo>
                      <a:pt x="2215495" y="649267"/>
                    </a:lnTo>
                    <a:lnTo>
                      <a:pt x="2218985" y="650539"/>
                    </a:lnTo>
                    <a:lnTo>
                      <a:pt x="2222475" y="651493"/>
                    </a:lnTo>
                    <a:lnTo>
                      <a:pt x="2225965" y="652129"/>
                    </a:lnTo>
                    <a:lnTo>
                      <a:pt x="2229772" y="652447"/>
                    </a:lnTo>
                    <a:lnTo>
                      <a:pt x="2233896" y="652447"/>
                    </a:lnTo>
                    <a:lnTo>
                      <a:pt x="2238020" y="652447"/>
                    </a:lnTo>
                    <a:lnTo>
                      <a:pt x="2242145" y="652129"/>
                    </a:lnTo>
                    <a:lnTo>
                      <a:pt x="2251028" y="650539"/>
                    </a:lnTo>
                    <a:lnTo>
                      <a:pt x="2259911" y="648312"/>
                    </a:lnTo>
                    <a:lnTo>
                      <a:pt x="2269746" y="645132"/>
                    </a:lnTo>
                    <a:lnTo>
                      <a:pt x="2279581" y="641315"/>
                    </a:lnTo>
                    <a:lnTo>
                      <a:pt x="2289733" y="637180"/>
                    </a:lnTo>
                    <a:lnTo>
                      <a:pt x="2300519" y="632726"/>
                    </a:lnTo>
                    <a:lnTo>
                      <a:pt x="2310989" y="627955"/>
                    </a:lnTo>
                    <a:lnTo>
                      <a:pt x="2333514" y="616823"/>
                    </a:lnTo>
                    <a:lnTo>
                      <a:pt x="2356991" y="605690"/>
                    </a:lnTo>
                    <a:lnTo>
                      <a:pt x="2345569" y="610461"/>
                    </a:lnTo>
                    <a:lnTo>
                      <a:pt x="2334466" y="615868"/>
                    </a:lnTo>
                    <a:lnTo>
                      <a:pt x="2324948" y="620322"/>
                    </a:lnTo>
                    <a:lnTo>
                      <a:pt x="2315430" y="624138"/>
                    </a:lnTo>
                    <a:lnTo>
                      <a:pt x="2306865" y="626683"/>
                    </a:lnTo>
                    <a:lnTo>
                      <a:pt x="2298616" y="628910"/>
                    </a:lnTo>
                    <a:lnTo>
                      <a:pt x="2290367" y="630182"/>
                    </a:lnTo>
                    <a:lnTo>
                      <a:pt x="2282436" y="630818"/>
                    </a:lnTo>
                    <a:lnTo>
                      <a:pt x="2275456" y="630818"/>
                    </a:lnTo>
                    <a:lnTo>
                      <a:pt x="2268160" y="630500"/>
                    </a:lnTo>
                    <a:lnTo>
                      <a:pt x="2261497" y="629228"/>
                    </a:lnTo>
                    <a:lnTo>
                      <a:pt x="2255152" y="627955"/>
                    </a:lnTo>
                    <a:lnTo>
                      <a:pt x="2248807" y="626047"/>
                    </a:lnTo>
                    <a:lnTo>
                      <a:pt x="2243096" y="623502"/>
                    </a:lnTo>
                    <a:lnTo>
                      <a:pt x="2237703" y="620640"/>
                    </a:lnTo>
                    <a:lnTo>
                      <a:pt x="2232627" y="617777"/>
                    </a:lnTo>
                    <a:lnTo>
                      <a:pt x="2227551" y="614278"/>
                    </a:lnTo>
                    <a:lnTo>
                      <a:pt x="2223109" y="610779"/>
                    </a:lnTo>
                    <a:lnTo>
                      <a:pt x="2218985" y="607280"/>
                    </a:lnTo>
                    <a:lnTo>
                      <a:pt x="2214861" y="603463"/>
                    </a:lnTo>
                    <a:lnTo>
                      <a:pt x="2211371" y="599647"/>
                    </a:lnTo>
                    <a:lnTo>
                      <a:pt x="2208198" y="595512"/>
                    </a:lnTo>
                    <a:lnTo>
                      <a:pt x="2202171" y="587878"/>
                    </a:lnTo>
                    <a:lnTo>
                      <a:pt x="2197412" y="581198"/>
                    </a:lnTo>
                    <a:lnTo>
                      <a:pt x="2193922" y="574837"/>
                    </a:lnTo>
                    <a:lnTo>
                      <a:pt x="2191701" y="569747"/>
                    </a:lnTo>
                    <a:lnTo>
                      <a:pt x="2189163" y="565612"/>
                    </a:lnTo>
                    <a:lnTo>
                      <a:pt x="2191067" y="564340"/>
                    </a:lnTo>
                    <a:lnTo>
                      <a:pt x="2196777" y="559569"/>
                    </a:lnTo>
                    <a:lnTo>
                      <a:pt x="2205343" y="552889"/>
                    </a:lnTo>
                    <a:lnTo>
                      <a:pt x="2217399" y="544301"/>
                    </a:lnTo>
                    <a:lnTo>
                      <a:pt x="2225013" y="539848"/>
                    </a:lnTo>
                    <a:lnTo>
                      <a:pt x="2232944" y="534759"/>
                    </a:lnTo>
                    <a:lnTo>
                      <a:pt x="2241510" y="529670"/>
                    </a:lnTo>
                    <a:lnTo>
                      <a:pt x="2251028" y="524580"/>
                    </a:lnTo>
                    <a:lnTo>
                      <a:pt x="2260545" y="519491"/>
                    </a:lnTo>
                    <a:lnTo>
                      <a:pt x="2271649" y="514402"/>
                    </a:lnTo>
                    <a:lnTo>
                      <a:pt x="2282753" y="509631"/>
                    </a:lnTo>
                    <a:lnTo>
                      <a:pt x="2294809" y="505178"/>
                    </a:lnTo>
                    <a:lnTo>
                      <a:pt x="2307182" y="501043"/>
                    </a:lnTo>
                    <a:lnTo>
                      <a:pt x="2320506" y="497226"/>
                    </a:lnTo>
                    <a:lnTo>
                      <a:pt x="2334466" y="493409"/>
                    </a:lnTo>
                    <a:lnTo>
                      <a:pt x="2348742" y="490864"/>
                    </a:lnTo>
                    <a:lnTo>
                      <a:pt x="2363336" y="488638"/>
                    </a:lnTo>
                    <a:lnTo>
                      <a:pt x="2378564" y="486729"/>
                    </a:lnTo>
                    <a:lnTo>
                      <a:pt x="2394109" y="485775"/>
                    </a:lnTo>
                    <a:close/>
                    <a:moveTo>
                      <a:pt x="1429386" y="468312"/>
                    </a:moveTo>
                    <a:lnTo>
                      <a:pt x="1442086" y="468630"/>
                    </a:lnTo>
                    <a:lnTo>
                      <a:pt x="1454151" y="469899"/>
                    </a:lnTo>
                    <a:lnTo>
                      <a:pt x="1465898" y="471802"/>
                    </a:lnTo>
                    <a:lnTo>
                      <a:pt x="1477011" y="474023"/>
                    </a:lnTo>
                    <a:lnTo>
                      <a:pt x="1487488" y="476562"/>
                    </a:lnTo>
                    <a:lnTo>
                      <a:pt x="1497649" y="479734"/>
                    </a:lnTo>
                    <a:lnTo>
                      <a:pt x="1507491" y="482907"/>
                    </a:lnTo>
                    <a:lnTo>
                      <a:pt x="1516699" y="486714"/>
                    </a:lnTo>
                    <a:lnTo>
                      <a:pt x="1525271" y="490522"/>
                    </a:lnTo>
                    <a:lnTo>
                      <a:pt x="1533526" y="494646"/>
                    </a:lnTo>
                    <a:lnTo>
                      <a:pt x="1541146" y="498771"/>
                    </a:lnTo>
                    <a:lnTo>
                      <a:pt x="1547814" y="502896"/>
                    </a:lnTo>
                    <a:lnTo>
                      <a:pt x="1554164" y="507020"/>
                    </a:lnTo>
                    <a:lnTo>
                      <a:pt x="1565594" y="514952"/>
                    </a:lnTo>
                    <a:lnTo>
                      <a:pt x="1574166" y="522250"/>
                    </a:lnTo>
                    <a:lnTo>
                      <a:pt x="1580516" y="527643"/>
                    </a:lnTo>
                    <a:lnTo>
                      <a:pt x="1585596" y="532720"/>
                    </a:lnTo>
                    <a:lnTo>
                      <a:pt x="1584009" y="536527"/>
                    </a:lnTo>
                    <a:lnTo>
                      <a:pt x="1581469" y="540652"/>
                    </a:lnTo>
                    <a:lnTo>
                      <a:pt x="1578611" y="546046"/>
                    </a:lnTo>
                    <a:lnTo>
                      <a:pt x="1574484" y="552074"/>
                    </a:lnTo>
                    <a:lnTo>
                      <a:pt x="1569721" y="558419"/>
                    </a:lnTo>
                    <a:lnTo>
                      <a:pt x="1563054" y="565399"/>
                    </a:lnTo>
                    <a:lnTo>
                      <a:pt x="1559879" y="568572"/>
                    </a:lnTo>
                    <a:lnTo>
                      <a:pt x="1556386" y="571745"/>
                    </a:lnTo>
                    <a:lnTo>
                      <a:pt x="1552259" y="575235"/>
                    </a:lnTo>
                    <a:lnTo>
                      <a:pt x="1548131" y="577773"/>
                    </a:lnTo>
                    <a:lnTo>
                      <a:pt x="1543686" y="580311"/>
                    </a:lnTo>
                    <a:lnTo>
                      <a:pt x="1538606" y="582850"/>
                    </a:lnTo>
                    <a:lnTo>
                      <a:pt x="1533844" y="584753"/>
                    </a:lnTo>
                    <a:lnTo>
                      <a:pt x="1528446" y="586657"/>
                    </a:lnTo>
                    <a:lnTo>
                      <a:pt x="1523049" y="588243"/>
                    </a:lnTo>
                    <a:lnTo>
                      <a:pt x="1517016" y="588878"/>
                    </a:lnTo>
                    <a:lnTo>
                      <a:pt x="1510984" y="589512"/>
                    </a:lnTo>
                    <a:lnTo>
                      <a:pt x="1503999" y="589512"/>
                    </a:lnTo>
                    <a:lnTo>
                      <a:pt x="1497331" y="588878"/>
                    </a:lnTo>
                    <a:lnTo>
                      <a:pt x="1490346" y="587926"/>
                    </a:lnTo>
                    <a:lnTo>
                      <a:pt x="1483043" y="586022"/>
                    </a:lnTo>
                    <a:lnTo>
                      <a:pt x="1475106" y="583484"/>
                    </a:lnTo>
                    <a:lnTo>
                      <a:pt x="1467168" y="580311"/>
                    </a:lnTo>
                    <a:lnTo>
                      <a:pt x="1458913" y="576187"/>
                    </a:lnTo>
                    <a:lnTo>
                      <a:pt x="1449388" y="571745"/>
                    </a:lnTo>
                    <a:lnTo>
                      <a:pt x="1439546" y="567620"/>
                    </a:lnTo>
                    <a:lnTo>
                      <a:pt x="1479233" y="586657"/>
                    </a:lnTo>
                    <a:lnTo>
                      <a:pt x="1498284" y="594906"/>
                    </a:lnTo>
                    <a:lnTo>
                      <a:pt x="1506856" y="598714"/>
                    </a:lnTo>
                    <a:lnTo>
                      <a:pt x="1515746" y="601886"/>
                    </a:lnTo>
                    <a:lnTo>
                      <a:pt x="1524001" y="604425"/>
                    </a:lnTo>
                    <a:lnTo>
                      <a:pt x="1531939" y="606646"/>
                    </a:lnTo>
                    <a:lnTo>
                      <a:pt x="1539559" y="607915"/>
                    </a:lnTo>
                    <a:lnTo>
                      <a:pt x="1546544" y="608232"/>
                    </a:lnTo>
                    <a:lnTo>
                      <a:pt x="1550036" y="608232"/>
                    </a:lnTo>
                    <a:lnTo>
                      <a:pt x="1553529" y="607915"/>
                    </a:lnTo>
                    <a:lnTo>
                      <a:pt x="1556704" y="607280"/>
                    </a:lnTo>
                    <a:lnTo>
                      <a:pt x="1559879" y="606646"/>
                    </a:lnTo>
                    <a:lnTo>
                      <a:pt x="1562736" y="605376"/>
                    </a:lnTo>
                    <a:lnTo>
                      <a:pt x="1565594" y="604107"/>
                    </a:lnTo>
                    <a:lnTo>
                      <a:pt x="1568451" y="602521"/>
                    </a:lnTo>
                    <a:lnTo>
                      <a:pt x="1570674" y="600617"/>
                    </a:lnTo>
                    <a:lnTo>
                      <a:pt x="1571944" y="607280"/>
                    </a:lnTo>
                    <a:lnTo>
                      <a:pt x="1572261" y="614260"/>
                    </a:lnTo>
                    <a:lnTo>
                      <a:pt x="1572896" y="626634"/>
                    </a:lnTo>
                    <a:lnTo>
                      <a:pt x="1572579" y="638691"/>
                    </a:lnTo>
                    <a:lnTo>
                      <a:pt x="1572261" y="649795"/>
                    </a:lnTo>
                    <a:lnTo>
                      <a:pt x="1574166" y="647574"/>
                    </a:lnTo>
                    <a:lnTo>
                      <a:pt x="1575119" y="647257"/>
                    </a:lnTo>
                    <a:lnTo>
                      <a:pt x="1576389" y="646940"/>
                    </a:lnTo>
                    <a:lnTo>
                      <a:pt x="1577976" y="647257"/>
                    </a:lnTo>
                    <a:lnTo>
                      <a:pt x="1578929" y="647892"/>
                    </a:lnTo>
                    <a:lnTo>
                      <a:pt x="1580516" y="649478"/>
                    </a:lnTo>
                    <a:lnTo>
                      <a:pt x="1582104" y="651382"/>
                    </a:lnTo>
                    <a:lnTo>
                      <a:pt x="1583056" y="653920"/>
                    </a:lnTo>
                    <a:lnTo>
                      <a:pt x="1584326" y="656775"/>
                    </a:lnTo>
                    <a:lnTo>
                      <a:pt x="1586549" y="663756"/>
                    </a:lnTo>
                    <a:lnTo>
                      <a:pt x="1588136" y="672322"/>
                    </a:lnTo>
                    <a:lnTo>
                      <a:pt x="1589406" y="682158"/>
                    </a:lnTo>
                    <a:lnTo>
                      <a:pt x="1590359" y="692945"/>
                    </a:lnTo>
                    <a:lnTo>
                      <a:pt x="1590676" y="704685"/>
                    </a:lnTo>
                    <a:lnTo>
                      <a:pt x="1590359" y="716424"/>
                    </a:lnTo>
                    <a:lnTo>
                      <a:pt x="1589406" y="727211"/>
                    </a:lnTo>
                    <a:lnTo>
                      <a:pt x="1588136" y="737047"/>
                    </a:lnTo>
                    <a:lnTo>
                      <a:pt x="1586549" y="745613"/>
                    </a:lnTo>
                    <a:lnTo>
                      <a:pt x="1584326" y="752911"/>
                    </a:lnTo>
                    <a:lnTo>
                      <a:pt x="1583056" y="755449"/>
                    </a:lnTo>
                    <a:lnTo>
                      <a:pt x="1582104" y="757987"/>
                    </a:lnTo>
                    <a:lnTo>
                      <a:pt x="1580516" y="759891"/>
                    </a:lnTo>
                    <a:lnTo>
                      <a:pt x="1578929" y="761477"/>
                    </a:lnTo>
                    <a:lnTo>
                      <a:pt x="1577976" y="762112"/>
                    </a:lnTo>
                    <a:lnTo>
                      <a:pt x="1576389" y="762429"/>
                    </a:lnTo>
                    <a:lnTo>
                      <a:pt x="1574801" y="762112"/>
                    </a:lnTo>
                    <a:lnTo>
                      <a:pt x="1573214" y="761160"/>
                    </a:lnTo>
                    <a:lnTo>
                      <a:pt x="1571944" y="759573"/>
                    </a:lnTo>
                    <a:lnTo>
                      <a:pt x="1570674" y="757670"/>
                    </a:lnTo>
                    <a:lnTo>
                      <a:pt x="1569086" y="755131"/>
                    </a:lnTo>
                    <a:lnTo>
                      <a:pt x="1568134" y="751641"/>
                    </a:lnTo>
                    <a:lnTo>
                      <a:pt x="1565911" y="744027"/>
                    </a:lnTo>
                    <a:lnTo>
                      <a:pt x="1564641" y="754180"/>
                    </a:lnTo>
                    <a:lnTo>
                      <a:pt x="1562736" y="764015"/>
                    </a:lnTo>
                    <a:lnTo>
                      <a:pt x="1560831" y="773851"/>
                    </a:lnTo>
                    <a:lnTo>
                      <a:pt x="1558291" y="782735"/>
                    </a:lnTo>
                    <a:lnTo>
                      <a:pt x="1555751" y="792253"/>
                    </a:lnTo>
                    <a:lnTo>
                      <a:pt x="1552576" y="800819"/>
                    </a:lnTo>
                    <a:lnTo>
                      <a:pt x="1549401" y="809703"/>
                    </a:lnTo>
                    <a:lnTo>
                      <a:pt x="1545591" y="817953"/>
                    </a:lnTo>
                    <a:lnTo>
                      <a:pt x="1541781" y="825567"/>
                    </a:lnTo>
                    <a:lnTo>
                      <a:pt x="1537336" y="833182"/>
                    </a:lnTo>
                    <a:lnTo>
                      <a:pt x="1532574" y="840797"/>
                    </a:lnTo>
                    <a:lnTo>
                      <a:pt x="1528129" y="847777"/>
                    </a:lnTo>
                    <a:lnTo>
                      <a:pt x="1523366" y="854757"/>
                    </a:lnTo>
                    <a:lnTo>
                      <a:pt x="1518286" y="861102"/>
                    </a:lnTo>
                    <a:lnTo>
                      <a:pt x="1513206" y="867448"/>
                    </a:lnTo>
                    <a:lnTo>
                      <a:pt x="1507491" y="873476"/>
                    </a:lnTo>
                    <a:lnTo>
                      <a:pt x="1502411" y="878553"/>
                    </a:lnTo>
                    <a:lnTo>
                      <a:pt x="1496696" y="883946"/>
                    </a:lnTo>
                    <a:lnTo>
                      <a:pt x="1490663" y="889340"/>
                    </a:lnTo>
                    <a:lnTo>
                      <a:pt x="1484948" y="893782"/>
                    </a:lnTo>
                    <a:lnTo>
                      <a:pt x="1478916" y="897907"/>
                    </a:lnTo>
                    <a:lnTo>
                      <a:pt x="1472883" y="901714"/>
                    </a:lnTo>
                    <a:lnTo>
                      <a:pt x="1466851" y="905521"/>
                    </a:lnTo>
                    <a:lnTo>
                      <a:pt x="1460818" y="908377"/>
                    </a:lnTo>
                    <a:lnTo>
                      <a:pt x="1454786" y="911232"/>
                    </a:lnTo>
                    <a:lnTo>
                      <a:pt x="1448753" y="914088"/>
                    </a:lnTo>
                    <a:lnTo>
                      <a:pt x="1442721" y="915991"/>
                    </a:lnTo>
                    <a:lnTo>
                      <a:pt x="1437323" y="917895"/>
                    </a:lnTo>
                    <a:lnTo>
                      <a:pt x="1431291" y="918847"/>
                    </a:lnTo>
                    <a:lnTo>
                      <a:pt x="1425576" y="920116"/>
                    </a:lnTo>
                    <a:lnTo>
                      <a:pt x="1419861" y="920751"/>
                    </a:lnTo>
                    <a:lnTo>
                      <a:pt x="1414146" y="920751"/>
                    </a:lnTo>
                    <a:lnTo>
                      <a:pt x="1409701" y="920751"/>
                    </a:lnTo>
                    <a:lnTo>
                      <a:pt x="1404938" y="920116"/>
                    </a:lnTo>
                    <a:lnTo>
                      <a:pt x="1399858" y="918847"/>
                    </a:lnTo>
                    <a:lnTo>
                      <a:pt x="1394778" y="917260"/>
                    </a:lnTo>
                    <a:lnTo>
                      <a:pt x="1389381" y="915357"/>
                    </a:lnTo>
                    <a:lnTo>
                      <a:pt x="1384301" y="913770"/>
                    </a:lnTo>
                    <a:lnTo>
                      <a:pt x="1378903" y="910915"/>
                    </a:lnTo>
                    <a:lnTo>
                      <a:pt x="1373188" y="908059"/>
                    </a:lnTo>
                    <a:lnTo>
                      <a:pt x="1367791" y="904569"/>
                    </a:lnTo>
                    <a:lnTo>
                      <a:pt x="1362076" y="900762"/>
                    </a:lnTo>
                    <a:lnTo>
                      <a:pt x="1356043" y="896955"/>
                    </a:lnTo>
                    <a:lnTo>
                      <a:pt x="1350328" y="892513"/>
                    </a:lnTo>
                    <a:lnTo>
                      <a:pt x="1344296" y="888071"/>
                    </a:lnTo>
                    <a:lnTo>
                      <a:pt x="1338581" y="883312"/>
                    </a:lnTo>
                    <a:lnTo>
                      <a:pt x="1333183" y="877918"/>
                    </a:lnTo>
                    <a:lnTo>
                      <a:pt x="1327468" y="872207"/>
                    </a:lnTo>
                    <a:lnTo>
                      <a:pt x="1321753" y="866813"/>
                    </a:lnTo>
                    <a:lnTo>
                      <a:pt x="1316038" y="860151"/>
                    </a:lnTo>
                    <a:lnTo>
                      <a:pt x="1310641" y="854122"/>
                    </a:lnTo>
                    <a:lnTo>
                      <a:pt x="1305243" y="847459"/>
                    </a:lnTo>
                    <a:lnTo>
                      <a:pt x="1299846" y="840797"/>
                    </a:lnTo>
                    <a:lnTo>
                      <a:pt x="1295083" y="833499"/>
                    </a:lnTo>
                    <a:lnTo>
                      <a:pt x="1290321" y="826202"/>
                    </a:lnTo>
                    <a:lnTo>
                      <a:pt x="1285558" y="818587"/>
                    </a:lnTo>
                    <a:lnTo>
                      <a:pt x="1281113" y="810655"/>
                    </a:lnTo>
                    <a:lnTo>
                      <a:pt x="1276668" y="802723"/>
                    </a:lnTo>
                    <a:lnTo>
                      <a:pt x="1272858" y="794474"/>
                    </a:lnTo>
                    <a:lnTo>
                      <a:pt x="1269048" y="786225"/>
                    </a:lnTo>
                    <a:lnTo>
                      <a:pt x="1265238" y="777658"/>
                    </a:lnTo>
                    <a:lnTo>
                      <a:pt x="1262381" y="768457"/>
                    </a:lnTo>
                    <a:lnTo>
                      <a:pt x="1259523" y="759891"/>
                    </a:lnTo>
                    <a:lnTo>
                      <a:pt x="1256983" y="751007"/>
                    </a:lnTo>
                    <a:lnTo>
                      <a:pt x="1254761" y="757035"/>
                    </a:lnTo>
                    <a:lnTo>
                      <a:pt x="1252538" y="761477"/>
                    </a:lnTo>
                    <a:lnTo>
                      <a:pt x="1251586" y="763063"/>
                    </a:lnTo>
                    <a:lnTo>
                      <a:pt x="1250316" y="764015"/>
                    </a:lnTo>
                    <a:lnTo>
                      <a:pt x="1248728" y="764967"/>
                    </a:lnTo>
                    <a:lnTo>
                      <a:pt x="1247776" y="765284"/>
                    </a:lnTo>
                    <a:lnTo>
                      <a:pt x="1246188" y="764967"/>
                    </a:lnTo>
                    <a:lnTo>
                      <a:pt x="1244601" y="764015"/>
                    </a:lnTo>
                    <a:lnTo>
                      <a:pt x="1243648" y="762429"/>
                    </a:lnTo>
                    <a:lnTo>
                      <a:pt x="1242061" y="760842"/>
                    </a:lnTo>
                    <a:lnTo>
                      <a:pt x="1240791" y="758304"/>
                    </a:lnTo>
                    <a:lnTo>
                      <a:pt x="1239838" y="755449"/>
                    </a:lnTo>
                    <a:lnTo>
                      <a:pt x="1237616" y="748151"/>
                    </a:lnTo>
                    <a:lnTo>
                      <a:pt x="1236028" y="739585"/>
                    </a:lnTo>
                    <a:lnTo>
                      <a:pt x="1234441" y="729749"/>
                    </a:lnTo>
                    <a:lnTo>
                      <a:pt x="1233806" y="718962"/>
                    </a:lnTo>
                    <a:lnTo>
                      <a:pt x="1233488" y="707223"/>
                    </a:lnTo>
                    <a:lnTo>
                      <a:pt x="1233806" y="695801"/>
                    </a:lnTo>
                    <a:lnTo>
                      <a:pt x="1234441" y="684696"/>
                    </a:lnTo>
                    <a:lnTo>
                      <a:pt x="1236028" y="675178"/>
                    </a:lnTo>
                    <a:lnTo>
                      <a:pt x="1237616" y="666294"/>
                    </a:lnTo>
                    <a:lnTo>
                      <a:pt x="1239838" y="659631"/>
                    </a:lnTo>
                    <a:lnTo>
                      <a:pt x="1240791" y="656775"/>
                    </a:lnTo>
                    <a:lnTo>
                      <a:pt x="1242061" y="653920"/>
                    </a:lnTo>
                    <a:lnTo>
                      <a:pt x="1243648" y="652016"/>
                    </a:lnTo>
                    <a:lnTo>
                      <a:pt x="1244601" y="651064"/>
                    </a:lnTo>
                    <a:lnTo>
                      <a:pt x="1246188" y="649795"/>
                    </a:lnTo>
                    <a:lnTo>
                      <a:pt x="1247776" y="649478"/>
                    </a:lnTo>
                    <a:lnTo>
                      <a:pt x="1248411" y="649795"/>
                    </a:lnTo>
                    <a:lnTo>
                      <a:pt x="1249363" y="650113"/>
                    </a:lnTo>
                    <a:lnTo>
                      <a:pt x="1249681" y="642815"/>
                    </a:lnTo>
                    <a:lnTo>
                      <a:pt x="1250316" y="635201"/>
                    </a:lnTo>
                    <a:lnTo>
                      <a:pt x="1250951" y="628220"/>
                    </a:lnTo>
                    <a:lnTo>
                      <a:pt x="1252221" y="622192"/>
                    </a:lnTo>
                    <a:lnTo>
                      <a:pt x="1251586" y="613943"/>
                    </a:lnTo>
                    <a:lnTo>
                      <a:pt x="1250951" y="606328"/>
                    </a:lnTo>
                    <a:lnTo>
                      <a:pt x="1250951" y="599031"/>
                    </a:lnTo>
                    <a:lnTo>
                      <a:pt x="1251586" y="592368"/>
                    </a:lnTo>
                    <a:lnTo>
                      <a:pt x="1251903" y="586022"/>
                    </a:lnTo>
                    <a:lnTo>
                      <a:pt x="1252856" y="579994"/>
                    </a:lnTo>
                    <a:lnTo>
                      <a:pt x="1254126" y="574283"/>
                    </a:lnTo>
                    <a:lnTo>
                      <a:pt x="1255713" y="569207"/>
                    </a:lnTo>
                    <a:lnTo>
                      <a:pt x="1257618" y="564130"/>
                    </a:lnTo>
                    <a:lnTo>
                      <a:pt x="1259841" y="559688"/>
                    </a:lnTo>
                    <a:lnTo>
                      <a:pt x="1262063" y="555564"/>
                    </a:lnTo>
                    <a:lnTo>
                      <a:pt x="1264603" y="551756"/>
                    </a:lnTo>
                    <a:lnTo>
                      <a:pt x="1267143" y="548266"/>
                    </a:lnTo>
                    <a:lnTo>
                      <a:pt x="1270636" y="545411"/>
                    </a:lnTo>
                    <a:lnTo>
                      <a:pt x="1273811" y="542873"/>
                    </a:lnTo>
                    <a:lnTo>
                      <a:pt x="1277303" y="540017"/>
                    </a:lnTo>
                    <a:lnTo>
                      <a:pt x="1261746" y="540017"/>
                    </a:lnTo>
                    <a:lnTo>
                      <a:pt x="1249363" y="540969"/>
                    </a:lnTo>
                    <a:lnTo>
                      <a:pt x="1239203" y="541286"/>
                    </a:lnTo>
                    <a:lnTo>
                      <a:pt x="1246188" y="537479"/>
                    </a:lnTo>
                    <a:lnTo>
                      <a:pt x="1253808" y="532720"/>
                    </a:lnTo>
                    <a:lnTo>
                      <a:pt x="1261111" y="527326"/>
                    </a:lnTo>
                    <a:lnTo>
                      <a:pt x="1268413" y="521615"/>
                    </a:lnTo>
                    <a:lnTo>
                      <a:pt x="1282701" y="511145"/>
                    </a:lnTo>
                    <a:lnTo>
                      <a:pt x="1289368" y="506703"/>
                    </a:lnTo>
                    <a:lnTo>
                      <a:pt x="1295401" y="502896"/>
                    </a:lnTo>
                    <a:lnTo>
                      <a:pt x="1303973" y="498771"/>
                    </a:lnTo>
                    <a:lnTo>
                      <a:pt x="1311911" y="494964"/>
                    </a:lnTo>
                    <a:lnTo>
                      <a:pt x="1320166" y="491156"/>
                    </a:lnTo>
                    <a:lnTo>
                      <a:pt x="1328103" y="487984"/>
                    </a:lnTo>
                    <a:lnTo>
                      <a:pt x="1336041" y="484811"/>
                    </a:lnTo>
                    <a:lnTo>
                      <a:pt x="1343978" y="482273"/>
                    </a:lnTo>
                    <a:lnTo>
                      <a:pt x="1359536" y="477831"/>
                    </a:lnTo>
                    <a:lnTo>
                      <a:pt x="1374141" y="474023"/>
                    </a:lnTo>
                    <a:lnTo>
                      <a:pt x="1388746" y="471485"/>
                    </a:lnTo>
                    <a:lnTo>
                      <a:pt x="1402716" y="469581"/>
                    </a:lnTo>
                    <a:lnTo>
                      <a:pt x="1416051" y="468630"/>
                    </a:lnTo>
                    <a:lnTo>
                      <a:pt x="1429386" y="468312"/>
                    </a:lnTo>
                    <a:close/>
                    <a:moveTo>
                      <a:pt x="750948" y="302529"/>
                    </a:moveTo>
                    <a:lnTo>
                      <a:pt x="748724" y="302846"/>
                    </a:lnTo>
                    <a:lnTo>
                      <a:pt x="746818" y="303797"/>
                    </a:lnTo>
                    <a:lnTo>
                      <a:pt x="744912" y="304431"/>
                    </a:lnTo>
                    <a:lnTo>
                      <a:pt x="743641" y="306017"/>
                    </a:lnTo>
                    <a:lnTo>
                      <a:pt x="742053" y="307602"/>
                    </a:lnTo>
                    <a:lnTo>
                      <a:pt x="741417" y="309188"/>
                    </a:lnTo>
                    <a:lnTo>
                      <a:pt x="740464" y="311725"/>
                    </a:lnTo>
                    <a:lnTo>
                      <a:pt x="740464" y="313310"/>
                    </a:lnTo>
                    <a:lnTo>
                      <a:pt x="740464" y="315847"/>
                    </a:lnTo>
                    <a:lnTo>
                      <a:pt x="741417" y="318067"/>
                    </a:lnTo>
                    <a:lnTo>
                      <a:pt x="742053" y="319970"/>
                    </a:lnTo>
                    <a:lnTo>
                      <a:pt x="743641" y="321238"/>
                    </a:lnTo>
                    <a:lnTo>
                      <a:pt x="744912" y="322507"/>
                    </a:lnTo>
                    <a:lnTo>
                      <a:pt x="746818" y="323458"/>
                    </a:lnTo>
                    <a:lnTo>
                      <a:pt x="748724" y="324410"/>
                    </a:lnTo>
                    <a:lnTo>
                      <a:pt x="750948" y="324410"/>
                    </a:lnTo>
                    <a:lnTo>
                      <a:pt x="988881" y="324410"/>
                    </a:lnTo>
                    <a:lnTo>
                      <a:pt x="991105" y="324410"/>
                    </a:lnTo>
                    <a:lnTo>
                      <a:pt x="993011" y="323458"/>
                    </a:lnTo>
                    <a:lnTo>
                      <a:pt x="994917" y="322507"/>
                    </a:lnTo>
                    <a:lnTo>
                      <a:pt x="996506" y="321238"/>
                    </a:lnTo>
                    <a:lnTo>
                      <a:pt x="997776" y="319970"/>
                    </a:lnTo>
                    <a:lnTo>
                      <a:pt x="998729" y="318067"/>
                    </a:lnTo>
                    <a:lnTo>
                      <a:pt x="999365" y="315847"/>
                    </a:lnTo>
                    <a:lnTo>
                      <a:pt x="999365" y="313310"/>
                    </a:lnTo>
                    <a:lnTo>
                      <a:pt x="999365" y="311725"/>
                    </a:lnTo>
                    <a:lnTo>
                      <a:pt x="998729" y="309188"/>
                    </a:lnTo>
                    <a:lnTo>
                      <a:pt x="997776" y="307602"/>
                    </a:lnTo>
                    <a:lnTo>
                      <a:pt x="996506" y="306017"/>
                    </a:lnTo>
                    <a:lnTo>
                      <a:pt x="994917" y="304431"/>
                    </a:lnTo>
                    <a:lnTo>
                      <a:pt x="993011" y="303797"/>
                    </a:lnTo>
                    <a:lnTo>
                      <a:pt x="991105" y="302846"/>
                    </a:lnTo>
                    <a:lnTo>
                      <a:pt x="988881" y="302529"/>
                    </a:lnTo>
                    <a:lnTo>
                      <a:pt x="750948" y="302529"/>
                    </a:lnTo>
                    <a:close/>
                    <a:moveTo>
                      <a:pt x="748724" y="219444"/>
                    </a:moveTo>
                    <a:lnTo>
                      <a:pt x="746818" y="220396"/>
                    </a:lnTo>
                    <a:lnTo>
                      <a:pt x="744912" y="221347"/>
                    </a:lnTo>
                    <a:lnTo>
                      <a:pt x="743641" y="222615"/>
                    </a:lnTo>
                    <a:lnTo>
                      <a:pt x="742053" y="224201"/>
                    </a:lnTo>
                    <a:lnTo>
                      <a:pt x="741417" y="226104"/>
                    </a:lnTo>
                    <a:lnTo>
                      <a:pt x="740464" y="228323"/>
                    </a:lnTo>
                    <a:lnTo>
                      <a:pt x="740464" y="230543"/>
                    </a:lnTo>
                    <a:lnTo>
                      <a:pt x="740464" y="232763"/>
                    </a:lnTo>
                    <a:lnTo>
                      <a:pt x="741417" y="234666"/>
                    </a:lnTo>
                    <a:lnTo>
                      <a:pt x="742053" y="236568"/>
                    </a:lnTo>
                    <a:lnTo>
                      <a:pt x="743641" y="237837"/>
                    </a:lnTo>
                    <a:lnTo>
                      <a:pt x="744912" y="239423"/>
                    </a:lnTo>
                    <a:lnTo>
                      <a:pt x="746818" y="240374"/>
                    </a:lnTo>
                    <a:lnTo>
                      <a:pt x="748724" y="241008"/>
                    </a:lnTo>
                    <a:lnTo>
                      <a:pt x="750948" y="241325"/>
                    </a:lnTo>
                    <a:lnTo>
                      <a:pt x="1133738" y="241325"/>
                    </a:lnTo>
                    <a:lnTo>
                      <a:pt x="1135644" y="241008"/>
                    </a:lnTo>
                    <a:lnTo>
                      <a:pt x="1137868" y="240374"/>
                    </a:lnTo>
                    <a:lnTo>
                      <a:pt x="1139456" y="239423"/>
                    </a:lnTo>
                    <a:lnTo>
                      <a:pt x="1141045" y="237837"/>
                    </a:lnTo>
                    <a:lnTo>
                      <a:pt x="1142316" y="236568"/>
                    </a:lnTo>
                    <a:lnTo>
                      <a:pt x="1143586" y="234666"/>
                    </a:lnTo>
                    <a:lnTo>
                      <a:pt x="1143904" y="232763"/>
                    </a:lnTo>
                    <a:lnTo>
                      <a:pt x="1144222" y="230543"/>
                    </a:lnTo>
                    <a:lnTo>
                      <a:pt x="1143904" y="228323"/>
                    </a:lnTo>
                    <a:lnTo>
                      <a:pt x="1143586" y="226104"/>
                    </a:lnTo>
                    <a:lnTo>
                      <a:pt x="1142316" y="224201"/>
                    </a:lnTo>
                    <a:lnTo>
                      <a:pt x="1141045" y="222615"/>
                    </a:lnTo>
                    <a:lnTo>
                      <a:pt x="1139456" y="221347"/>
                    </a:lnTo>
                    <a:lnTo>
                      <a:pt x="1137868" y="220396"/>
                    </a:lnTo>
                    <a:lnTo>
                      <a:pt x="1135644" y="219444"/>
                    </a:lnTo>
                    <a:lnTo>
                      <a:pt x="1133738" y="219444"/>
                    </a:lnTo>
                    <a:lnTo>
                      <a:pt x="750948" y="219444"/>
                    </a:lnTo>
                    <a:lnTo>
                      <a:pt x="748724" y="219444"/>
                    </a:lnTo>
                    <a:close/>
                    <a:moveTo>
                      <a:pt x="748724" y="141751"/>
                    </a:moveTo>
                    <a:lnTo>
                      <a:pt x="746818" y="142702"/>
                    </a:lnTo>
                    <a:lnTo>
                      <a:pt x="744912" y="143336"/>
                    </a:lnTo>
                    <a:lnTo>
                      <a:pt x="743641" y="144922"/>
                    </a:lnTo>
                    <a:lnTo>
                      <a:pt x="742053" y="146191"/>
                    </a:lnTo>
                    <a:lnTo>
                      <a:pt x="741417" y="148093"/>
                    </a:lnTo>
                    <a:lnTo>
                      <a:pt x="740464" y="150630"/>
                    </a:lnTo>
                    <a:lnTo>
                      <a:pt x="740464" y="152216"/>
                    </a:lnTo>
                    <a:lnTo>
                      <a:pt x="740464" y="154753"/>
                    </a:lnTo>
                    <a:lnTo>
                      <a:pt x="741417" y="156972"/>
                    </a:lnTo>
                    <a:lnTo>
                      <a:pt x="742053" y="158875"/>
                    </a:lnTo>
                    <a:lnTo>
                      <a:pt x="743641" y="160144"/>
                    </a:lnTo>
                    <a:lnTo>
                      <a:pt x="744912" y="161729"/>
                    </a:lnTo>
                    <a:lnTo>
                      <a:pt x="746818" y="162363"/>
                    </a:lnTo>
                    <a:lnTo>
                      <a:pt x="748724" y="163315"/>
                    </a:lnTo>
                    <a:lnTo>
                      <a:pt x="750948" y="163315"/>
                    </a:lnTo>
                    <a:lnTo>
                      <a:pt x="1133738" y="163315"/>
                    </a:lnTo>
                    <a:lnTo>
                      <a:pt x="1135644" y="163315"/>
                    </a:lnTo>
                    <a:lnTo>
                      <a:pt x="1137868" y="162363"/>
                    </a:lnTo>
                    <a:lnTo>
                      <a:pt x="1139456" y="161729"/>
                    </a:lnTo>
                    <a:lnTo>
                      <a:pt x="1141045" y="160144"/>
                    </a:lnTo>
                    <a:lnTo>
                      <a:pt x="1142316" y="158875"/>
                    </a:lnTo>
                    <a:lnTo>
                      <a:pt x="1143586" y="156972"/>
                    </a:lnTo>
                    <a:lnTo>
                      <a:pt x="1143904" y="154753"/>
                    </a:lnTo>
                    <a:lnTo>
                      <a:pt x="1144222" y="152216"/>
                    </a:lnTo>
                    <a:lnTo>
                      <a:pt x="1143904" y="150630"/>
                    </a:lnTo>
                    <a:lnTo>
                      <a:pt x="1143586" y="148093"/>
                    </a:lnTo>
                    <a:lnTo>
                      <a:pt x="1142316" y="146191"/>
                    </a:lnTo>
                    <a:lnTo>
                      <a:pt x="1141045" y="144922"/>
                    </a:lnTo>
                    <a:lnTo>
                      <a:pt x="1139456" y="143336"/>
                    </a:lnTo>
                    <a:lnTo>
                      <a:pt x="1137868" y="142702"/>
                    </a:lnTo>
                    <a:lnTo>
                      <a:pt x="1135644" y="141751"/>
                    </a:lnTo>
                    <a:lnTo>
                      <a:pt x="1133738" y="141751"/>
                    </a:lnTo>
                    <a:lnTo>
                      <a:pt x="750948" y="141751"/>
                    </a:lnTo>
                    <a:lnTo>
                      <a:pt x="748724" y="141751"/>
                    </a:lnTo>
                    <a:close/>
                    <a:moveTo>
                      <a:pt x="789068" y="0"/>
                    </a:moveTo>
                    <a:lnTo>
                      <a:pt x="1085770" y="0"/>
                    </a:lnTo>
                    <a:lnTo>
                      <a:pt x="1093712" y="317"/>
                    </a:lnTo>
                    <a:lnTo>
                      <a:pt x="1101336" y="635"/>
                    </a:lnTo>
                    <a:lnTo>
                      <a:pt x="1108960" y="1903"/>
                    </a:lnTo>
                    <a:lnTo>
                      <a:pt x="1116267" y="2854"/>
                    </a:lnTo>
                    <a:lnTo>
                      <a:pt x="1123573" y="4757"/>
                    </a:lnTo>
                    <a:lnTo>
                      <a:pt x="1130562" y="6660"/>
                    </a:lnTo>
                    <a:lnTo>
                      <a:pt x="1137868" y="8879"/>
                    </a:lnTo>
                    <a:lnTo>
                      <a:pt x="1144539" y="12051"/>
                    </a:lnTo>
                    <a:lnTo>
                      <a:pt x="1151210" y="14905"/>
                    </a:lnTo>
                    <a:lnTo>
                      <a:pt x="1157881" y="18393"/>
                    </a:lnTo>
                    <a:lnTo>
                      <a:pt x="1164235" y="21564"/>
                    </a:lnTo>
                    <a:lnTo>
                      <a:pt x="1170270" y="25687"/>
                    </a:lnTo>
                    <a:lnTo>
                      <a:pt x="1176306" y="29809"/>
                    </a:lnTo>
                    <a:lnTo>
                      <a:pt x="1181706" y="34566"/>
                    </a:lnTo>
                    <a:lnTo>
                      <a:pt x="1187424" y="39006"/>
                    </a:lnTo>
                    <a:lnTo>
                      <a:pt x="1192507" y="44079"/>
                    </a:lnTo>
                    <a:lnTo>
                      <a:pt x="1197590" y="49153"/>
                    </a:lnTo>
                    <a:lnTo>
                      <a:pt x="1202037" y="54861"/>
                    </a:lnTo>
                    <a:lnTo>
                      <a:pt x="1206802" y="60252"/>
                    </a:lnTo>
                    <a:lnTo>
                      <a:pt x="1210932" y="66277"/>
                    </a:lnTo>
                    <a:lnTo>
                      <a:pt x="1215062" y="72303"/>
                    </a:lnTo>
                    <a:lnTo>
                      <a:pt x="1218238" y="78645"/>
                    </a:lnTo>
                    <a:lnTo>
                      <a:pt x="1221733" y="84987"/>
                    </a:lnTo>
                    <a:lnTo>
                      <a:pt x="1224592" y="91964"/>
                    </a:lnTo>
                    <a:lnTo>
                      <a:pt x="1227768" y="98623"/>
                    </a:lnTo>
                    <a:lnTo>
                      <a:pt x="1229992" y="105917"/>
                    </a:lnTo>
                    <a:lnTo>
                      <a:pt x="1231898" y="112893"/>
                    </a:lnTo>
                    <a:lnTo>
                      <a:pt x="1233804" y="120187"/>
                    </a:lnTo>
                    <a:lnTo>
                      <a:pt x="1234757" y="127481"/>
                    </a:lnTo>
                    <a:lnTo>
                      <a:pt x="1236028" y="135092"/>
                    </a:lnTo>
                    <a:lnTo>
                      <a:pt x="1236345" y="143019"/>
                    </a:lnTo>
                    <a:lnTo>
                      <a:pt x="1236663" y="150630"/>
                    </a:lnTo>
                    <a:lnTo>
                      <a:pt x="1236663" y="296186"/>
                    </a:lnTo>
                    <a:lnTo>
                      <a:pt x="1236345" y="303797"/>
                    </a:lnTo>
                    <a:lnTo>
                      <a:pt x="1236028" y="311725"/>
                    </a:lnTo>
                    <a:lnTo>
                      <a:pt x="1234757" y="319019"/>
                    </a:lnTo>
                    <a:lnTo>
                      <a:pt x="1233804" y="326629"/>
                    </a:lnTo>
                    <a:lnTo>
                      <a:pt x="1231898" y="333606"/>
                    </a:lnTo>
                    <a:lnTo>
                      <a:pt x="1229992" y="340900"/>
                    </a:lnTo>
                    <a:lnTo>
                      <a:pt x="1227768" y="347876"/>
                    </a:lnTo>
                    <a:lnTo>
                      <a:pt x="1224592" y="354853"/>
                    </a:lnTo>
                    <a:lnTo>
                      <a:pt x="1221733" y="361512"/>
                    </a:lnTo>
                    <a:lnTo>
                      <a:pt x="1218238" y="367854"/>
                    </a:lnTo>
                    <a:lnTo>
                      <a:pt x="1215062" y="374197"/>
                    </a:lnTo>
                    <a:lnTo>
                      <a:pt x="1210932" y="380222"/>
                    </a:lnTo>
                    <a:lnTo>
                      <a:pt x="1206802" y="386247"/>
                    </a:lnTo>
                    <a:lnTo>
                      <a:pt x="1202037" y="391955"/>
                    </a:lnTo>
                    <a:lnTo>
                      <a:pt x="1197590" y="397346"/>
                    </a:lnTo>
                    <a:lnTo>
                      <a:pt x="1192507" y="402420"/>
                    </a:lnTo>
                    <a:lnTo>
                      <a:pt x="1187424" y="407811"/>
                    </a:lnTo>
                    <a:lnTo>
                      <a:pt x="1181706" y="412251"/>
                    </a:lnTo>
                    <a:lnTo>
                      <a:pt x="1176306" y="416690"/>
                    </a:lnTo>
                    <a:lnTo>
                      <a:pt x="1170270" y="420813"/>
                    </a:lnTo>
                    <a:lnTo>
                      <a:pt x="1164235" y="424935"/>
                    </a:lnTo>
                    <a:lnTo>
                      <a:pt x="1157881" y="428423"/>
                    </a:lnTo>
                    <a:lnTo>
                      <a:pt x="1151210" y="431912"/>
                    </a:lnTo>
                    <a:lnTo>
                      <a:pt x="1144539" y="434766"/>
                    </a:lnTo>
                    <a:lnTo>
                      <a:pt x="1137868" y="437303"/>
                    </a:lnTo>
                    <a:lnTo>
                      <a:pt x="1130562" y="440157"/>
                    </a:lnTo>
                    <a:lnTo>
                      <a:pt x="1123573" y="442059"/>
                    </a:lnTo>
                    <a:lnTo>
                      <a:pt x="1116267" y="443645"/>
                    </a:lnTo>
                    <a:lnTo>
                      <a:pt x="1108960" y="444914"/>
                    </a:lnTo>
                    <a:lnTo>
                      <a:pt x="1101336" y="446182"/>
                    </a:lnTo>
                    <a:lnTo>
                      <a:pt x="1093712" y="446499"/>
                    </a:lnTo>
                    <a:lnTo>
                      <a:pt x="1085770" y="446816"/>
                    </a:lnTo>
                    <a:lnTo>
                      <a:pt x="1060675" y="446816"/>
                    </a:lnTo>
                    <a:lnTo>
                      <a:pt x="1084500" y="523875"/>
                    </a:lnTo>
                    <a:lnTo>
                      <a:pt x="945996" y="446816"/>
                    </a:lnTo>
                    <a:lnTo>
                      <a:pt x="789068" y="446816"/>
                    </a:lnTo>
                    <a:lnTo>
                      <a:pt x="781444" y="446499"/>
                    </a:lnTo>
                    <a:lnTo>
                      <a:pt x="773502" y="446182"/>
                    </a:lnTo>
                    <a:lnTo>
                      <a:pt x="766196" y="444914"/>
                    </a:lnTo>
                    <a:lnTo>
                      <a:pt x="758889" y="443645"/>
                    </a:lnTo>
                    <a:lnTo>
                      <a:pt x="751583" y="442059"/>
                    </a:lnTo>
                    <a:lnTo>
                      <a:pt x="744277" y="440157"/>
                    </a:lnTo>
                    <a:lnTo>
                      <a:pt x="737288" y="437303"/>
                    </a:lnTo>
                    <a:lnTo>
                      <a:pt x="730299" y="434766"/>
                    </a:lnTo>
                    <a:lnTo>
                      <a:pt x="723946" y="431912"/>
                    </a:lnTo>
                    <a:lnTo>
                      <a:pt x="717275" y="428423"/>
                    </a:lnTo>
                    <a:lnTo>
                      <a:pt x="710921" y="424935"/>
                    </a:lnTo>
                    <a:lnTo>
                      <a:pt x="704886" y="420813"/>
                    </a:lnTo>
                    <a:lnTo>
                      <a:pt x="698850" y="416690"/>
                    </a:lnTo>
                    <a:lnTo>
                      <a:pt x="693132" y="412251"/>
                    </a:lnTo>
                    <a:lnTo>
                      <a:pt x="687731" y="407811"/>
                    </a:lnTo>
                    <a:lnTo>
                      <a:pt x="682649" y="402420"/>
                    </a:lnTo>
                    <a:lnTo>
                      <a:pt x="677566" y="397346"/>
                    </a:lnTo>
                    <a:lnTo>
                      <a:pt x="672801" y="391955"/>
                    </a:lnTo>
                    <a:lnTo>
                      <a:pt x="668354" y="386247"/>
                    </a:lnTo>
                    <a:lnTo>
                      <a:pt x="664224" y="380222"/>
                    </a:lnTo>
                    <a:lnTo>
                      <a:pt x="660094" y="374197"/>
                    </a:lnTo>
                    <a:lnTo>
                      <a:pt x="656600" y="367854"/>
                    </a:lnTo>
                    <a:lnTo>
                      <a:pt x="653106" y="361512"/>
                    </a:lnTo>
                    <a:lnTo>
                      <a:pt x="650247" y="354853"/>
                    </a:lnTo>
                    <a:lnTo>
                      <a:pt x="647705" y="347876"/>
                    </a:lnTo>
                    <a:lnTo>
                      <a:pt x="644846" y="340900"/>
                    </a:lnTo>
                    <a:lnTo>
                      <a:pt x="642940" y="333606"/>
                    </a:lnTo>
                    <a:lnTo>
                      <a:pt x="641669" y="326629"/>
                    </a:lnTo>
                    <a:lnTo>
                      <a:pt x="640081" y="319019"/>
                    </a:lnTo>
                    <a:lnTo>
                      <a:pt x="638810" y="311725"/>
                    </a:lnTo>
                    <a:lnTo>
                      <a:pt x="638493" y="303797"/>
                    </a:lnTo>
                    <a:lnTo>
                      <a:pt x="638175" y="296186"/>
                    </a:lnTo>
                    <a:lnTo>
                      <a:pt x="638175" y="150630"/>
                    </a:lnTo>
                    <a:lnTo>
                      <a:pt x="638493" y="143019"/>
                    </a:lnTo>
                    <a:lnTo>
                      <a:pt x="638810" y="135092"/>
                    </a:lnTo>
                    <a:lnTo>
                      <a:pt x="640081" y="127481"/>
                    </a:lnTo>
                    <a:lnTo>
                      <a:pt x="641669" y="120187"/>
                    </a:lnTo>
                    <a:lnTo>
                      <a:pt x="642940" y="112893"/>
                    </a:lnTo>
                    <a:lnTo>
                      <a:pt x="644846" y="105917"/>
                    </a:lnTo>
                    <a:lnTo>
                      <a:pt x="647705" y="98623"/>
                    </a:lnTo>
                    <a:lnTo>
                      <a:pt x="650247" y="91964"/>
                    </a:lnTo>
                    <a:lnTo>
                      <a:pt x="653106" y="84987"/>
                    </a:lnTo>
                    <a:lnTo>
                      <a:pt x="656600" y="78645"/>
                    </a:lnTo>
                    <a:lnTo>
                      <a:pt x="660094" y="72303"/>
                    </a:lnTo>
                    <a:lnTo>
                      <a:pt x="664224" y="66277"/>
                    </a:lnTo>
                    <a:lnTo>
                      <a:pt x="668354" y="60252"/>
                    </a:lnTo>
                    <a:lnTo>
                      <a:pt x="672801" y="54861"/>
                    </a:lnTo>
                    <a:lnTo>
                      <a:pt x="677566" y="49153"/>
                    </a:lnTo>
                    <a:lnTo>
                      <a:pt x="682649" y="44079"/>
                    </a:lnTo>
                    <a:lnTo>
                      <a:pt x="687731" y="39006"/>
                    </a:lnTo>
                    <a:lnTo>
                      <a:pt x="693132" y="34566"/>
                    </a:lnTo>
                    <a:lnTo>
                      <a:pt x="698850" y="29809"/>
                    </a:lnTo>
                    <a:lnTo>
                      <a:pt x="704886" y="25687"/>
                    </a:lnTo>
                    <a:lnTo>
                      <a:pt x="710921" y="21564"/>
                    </a:lnTo>
                    <a:lnTo>
                      <a:pt x="717275" y="18393"/>
                    </a:lnTo>
                    <a:lnTo>
                      <a:pt x="723946" y="14905"/>
                    </a:lnTo>
                    <a:lnTo>
                      <a:pt x="730299" y="12051"/>
                    </a:lnTo>
                    <a:lnTo>
                      <a:pt x="737288" y="8879"/>
                    </a:lnTo>
                    <a:lnTo>
                      <a:pt x="744277" y="6660"/>
                    </a:lnTo>
                    <a:lnTo>
                      <a:pt x="751583" y="4757"/>
                    </a:lnTo>
                    <a:lnTo>
                      <a:pt x="758889" y="2854"/>
                    </a:lnTo>
                    <a:lnTo>
                      <a:pt x="766196" y="1903"/>
                    </a:lnTo>
                    <a:lnTo>
                      <a:pt x="773502" y="635"/>
                    </a:lnTo>
                    <a:lnTo>
                      <a:pt x="781444" y="317"/>
                    </a:lnTo>
                    <a:lnTo>
                      <a:pt x="789068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2500298" y="928676"/>
            <a:ext cx="5436688" cy="1000132"/>
            <a:chOff x="5639314" y="948978"/>
            <a:chExt cx="3466293" cy="1046971"/>
          </a:xfrm>
        </p:grpSpPr>
        <p:sp>
          <p:nvSpPr>
            <p:cNvPr id="29" name="MH_Text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652120" y="1429607"/>
              <a:ext cx="3453487" cy="566342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10000"/>
                </a:lnSpc>
                <a:defRPr/>
              </a:pPr>
              <a:r>
                <a:rPr lang="zh-CN" altLang="en-US" sz="1800" b="1" dirty="0">
                  <a:latin typeface="华文宋体" panose="02010600040101010101" charset="-122"/>
                  <a:ea typeface="华文宋体" panose="02010600040101010101" charset="-122"/>
                  <a:sym typeface="+mn-ea"/>
                </a:rPr>
                <a:t>节省装配、维修时间，保证工作的连续性和持久性，</a:t>
              </a:r>
              <a:r>
                <a:rPr lang="zh-CN" altLang="en-US" sz="1800" b="1" dirty="0" smtClean="0">
                  <a:latin typeface="华文宋体" panose="02010600040101010101" charset="-122"/>
                  <a:ea typeface="华文宋体" panose="02010600040101010101" charset="-122"/>
                  <a:sym typeface="+mn-ea"/>
                </a:rPr>
                <a:t>提高机器</a:t>
              </a:r>
              <a:r>
                <a:rPr lang="zh-CN" altLang="en-US" sz="1800" b="1" dirty="0">
                  <a:latin typeface="华文宋体" panose="02010600040101010101" charset="-122"/>
                  <a:ea typeface="华文宋体" panose="02010600040101010101" charset="-122"/>
                  <a:sym typeface="+mn-ea"/>
                </a:rPr>
                <a:t>使用寿命。</a:t>
              </a:r>
              <a:endPara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宋体" panose="02010600040101010101" charset="-122"/>
                <a:ea typeface="华文宋体" panose="02010600040101010101" charset="-122"/>
                <a:cs typeface="+mn-ea"/>
                <a:sym typeface="+mn-lt"/>
              </a:endParaRPr>
            </a:p>
          </p:txBody>
        </p:sp>
        <p:sp>
          <p:nvSpPr>
            <p:cNvPr id="30" name="MH_SubTitle_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639314" y="948978"/>
              <a:ext cx="1294315" cy="3904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9989" tIns="0" rIns="119989" bIns="0" rtlCol="0" anchor="t">
              <a:noAutofit/>
            </a:bodyPr>
            <a:lstStyle>
              <a:defPPr>
                <a:defRPr lang="zh-CN"/>
              </a:defPPr>
              <a:lvl1pPr marL="285750" indent="-285750">
                <a:lnSpc>
                  <a:spcPct val="120000"/>
                </a:lnSpc>
                <a:buClr>
                  <a:schemeClr val="accent1"/>
                </a:buClr>
                <a:buFont typeface="Wingdings" panose="05000000000000000000" pitchFamily="2" charset="2"/>
                <a:buChar char="n"/>
                <a:defRPr sz="1400" b="1">
                  <a:solidFill>
                    <a:schemeClr val="bg1">
                      <a:lumMod val="50000"/>
                    </a:schemeClr>
                  </a:solidFill>
                  <a:cs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2400" dirty="0" smtClean="0">
                  <a:solidFill>
                    <a:schemeClr val="tx1"/>
                  </a:solidFill>
                  <a:latin typeface="华文宋体" panose="02010600040101010101" charset="-122"/>
                  <a:ea typeface="华文宋体" panose="02010600040101010101" charset="-122"/>
                  <a:sym typeface="+mn-ea"/>
                </a:rPr>
                <a:t>使用方面</a:t>
              </a:r>
            </a:p>
          </p:txBody>
        </p:sp>
      </p:grpSp>
      <p:cxnSp>
        <p:nvCxnSpPr>
          <p:cNvPr id="31" name="直接连接符 30"/>
          <p:cNvCxnSpPr/>
          <p:nvPr/>
        </p:nvCxnSpPr>
        <p:spPr>
          <a:xfrm>
            <a:off x="2061586" y="2071684"/>
            <a:ext cx="586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581842" y="2214560"/>
            <a:ext cx="5704934" cy="979001"/>
            <a:chOff x="5652120" y="2280843"/>
            <a:chExt cx="5704934" cy="1305334"/>
          </a:xfrm>
        </p:grpSpPr>
        <p:sp>
          <p:nvSpPr>
            <p:cNvPr id="33" name="MH_Text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652120" y="2804492"/>
              <a:ext cx="5704934" cy="781685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l">
                <a:lnSpc>
                  <a:spcPct val="110000"/>
                </a:lnSpc>
                <a:buClrTx/>
                <a:buSzTx/>
                <a:buFontTx/>
                <a:defRPr/>
              </a:pPr>
              <a:r>
                <a:rPr lang="zh-CN" altLang="en-US" sz="1800" b="1" dirty="0">
                  <a:latin typeface="华文宋体" panose="02010600040101010101" charset="-122"/>
                  <a:ea typeface="华文宋体" panose="02010600040101010101" charset="-122"/>
                  <a:sym typeface="+mn-ea"/>
                </a:rPr>
                <a:t>便于实现自动化流水线生产。装配时，可以减轻装配工的劳动量，缩短装配周期。</a:t>
              </a:r>
              <a:endParaRPr lang="zh-CN" altLang="en-US" sz="1800" b="1" dirty="0">
                <a:latin typeface="华文宋体" panose="02010600040101010101" charset="-122"/>
                <a:ea typeface="华文宋体" panose="02010600040101010101" charset="-122"/>
                <a:sym typeface="+mn-lt"/>
              </a:endParaRPr>
            </a:p>
          </p:txBody>
        </p:sp>
        <p:sp>
          <p:nvSpPr>
            <p:cNvPr id="34" name="MH_SubTitle_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652120" y="2280843"/>
              <a:ext cx="1797844" cy="3232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9989" tIns="0" rIns="119989" bIns="0" rtlCol="0" anchor="t">
              <a:noAutofit/>
            </a:bodyPr>
            <a:lstStyle>
              <a:defPPr>
                <a:defRPr lang="zh-CN"/>
              </a:defPPr>
              <a:lvl1pPr marL="285750" indent="-285750">
                <a:lnSpc>
                  <a:spcPct val="120000"/>
                </a:lnSpc>
                <a:buClr>
                  <a:schemeClr val="accent1"/>
                </a:buClr>
                <a:buFont typeface="Wingdings" panose="05000000000000000000" pitchFamily="2" charset="2"/>
                <a:buChar char="n"/>
                <a:defRPr sz="1400" b="1">
                  <a:solidFill>
                    <a:schemeClr val="bg1">
                      <a:lumMod val="50000"/>
                    </a:schemeClr>
                  </a:solidFill>
                  <a:cs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>
                <a:buSzTx/>
              </a:pPr>
              <a:r>
                <a:rPr lang="zh-CN" altLang="en-US" sz="2400" dirty="0" smtClean="0">
                  <a:solidFill>
                    <a:schemeClr val="tx1"/>
                  </a:solidFill>
                  <a:latin typeface="华文宋体" panose="02010600040101010101" charset="-122"/>
                  <a:ea typeface="华文宋体" panose="02010600040101010101" charset="-122"/>
                  <a:sym typeface="+mn-ea"/>
                </a:rPr>
                <a:t>制造方面</a:t>
              </a:r>
              <a:endParaRPr lang="zh-CN" altLang="en-US" sz="2400" dirty="0" smtClean="0">
                <a:solidFill>
                  <a:schemeClr val="tx1"/>
                </a:solidFill>
                <a:latin typeface="华文宋体" panose="02010600040101010101" charset="-122"/>
                <a:ea typeface="华文宋体" panose="02010600040101010101" charset="-122"/>
                <a:sym typeface="+mn-lt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590096" y="3576801"/>
            <a:ext cx="5553804" cy="816618"/>
            <a:chOff x="5652119" y="3540983"/>
            <a:chExt cx="5553804" cy="1088824"/>
          </a:xfrm>
        </p:grpSpPr>
        <p:sp>
          <p:nvSpPr>
            <p:cNvPr id="36" name="MH_Text_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652119" y="4063387"/>
              <a:ext cx="5553804" cy="56642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l">
                <a:lnSpc>
                  <a:spcPct val="110000"/>
                </a:lnSpc>
                <a:buClrTx/>
                <a:buSzTx/>
                <a:buFontTx/>
                <a:defRPr/>
              </a:pPr>
              <a:r>
                <a:rPr lang="zh-CN" altLang="en-US" sz="1800" b="1" dirty="0">
                  <a:latin typeface="华文宋体" panose="02010600040101010101" charset="-122"/>
                  <a:ea typeface="华文宋体" panose="02010600040101010101" charset="-122"/>
                  <a:sym typeface="+mn-ea"/>
                </a:rPr>
                <a:t>减轻设计人员的计算、绘图工作量，简化设计程序和缩短设计周期。</a:t>
              </a:r>
              <a:endParaRPr lang="zh-CN" altLang="en-US" sz="1800" b="1" dirty="0">
                <a:latin typeface="华文宋体" panose="02010600040101010101" charset="-122"/>
                <a:ea typeface="华文宋体" panose="02010600040101010101" charset="-122"/>
                <a:sym typeface="+mn-lt"/>
              </a:endParaRPr>
            </a:p>
          </p:txBody>
        </p:sp>
        <p:sp>
          <p:nvSpPr>
            <p:cNvPr id="37" name="MH_SubTitle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652120" y="3540983"/>
              <a:ext cx="1797844" cy="3232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9989" tIns="0" rIns="119989" bIns="0" rtlCol="0" anchor="t">
              <a:noAutofit/>
            </a:bodyPr>
            <a:lstStyle>
              <a:defPPr>
                <a:defRPr lang="zh-CN"/>
              </a:defPPr>
              <a:lvl1pPr marL="285750" indent="-285750">
                <a:lnSpc>
                  <a:spcPct val="120000"/>
                </a:lnSpc>
                <a:buClr>
                  <a:schemeClr val="accent1"/>
                </a:buClr>
                <a:buFont typeface="Wingdings" panose="05000000000000000000" pitchFamily="2" charset="2"/>
                <a:buChar char="n"/>
                <a:defRPr sz="1400" b="1">
                  <a:solidFill>
                    <a:schemeClr val="bg1">
                      <a:lumMod val="50000"/>
                    </a:schemeClr>
                  </a:solidFill>
                  <a:cs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>
                <a:buSzTx/>
              </a:pPr>
              <a:r>
                <a:rPr lang="zh-CN" altLang="en-US" sz="2400" dirty="0" smtClean="0">
                  <a:solidFill>
                    <a:schemeClr val="tx1"/>
                  </a:solidFill>
                  <a:latin typeface="华文宋体" panose="02010600040101010101" charset="-122"/>
                  <a:ea typeface="华文宋体" panose="02010600040101010101" charset="-122"/>
                  <a:sym typeface="+mn-ea"/>
                </a:rPr>
                <a:t>设计方面</a:t>
              </a:r>
              <a:endParaRPr lang="zh-CN" altLang="en-US" sz="2400" dirty="0" smtClean="0">
                <a:solidFill>
                  <a:schemeClr val="tx1"/>
                </a:solidFill>
                <a:latin typeface="华文宋体" panose="02010600040101010101" charset="-122"/>
                <a:ea typeface="华文宋体" panose="02010600040101010101" charset="-122"/>
                <a:sym typeface="+mn-lt"/>
              </a:endParaRPr>
            </a:p>
          </p:txBody>
        </p:sp>
      </p:grpSp>
      <p:cxnSp>
        <p:nvCxnSpPr>
          <p:cNvPr id="38" name="直接连接符 37"/>
          <p:cNvCxnSpPr/>
          <p:nvPr/>
        </p:nvCxnSpPr>
        <p:spPr>
          <a:xfrm>
            <a:off x="2061586" y="3384312"/>
            <a:ext cx="586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07621E-6 L -0.27952 0.22709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76" y="1135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3.33333E-6 4.06048E-6 L -0.27952 -0.02284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76" y="-1142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1.19716E-6 L -0.27952 -0.2727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76" y="-13638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2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20</a:t>
            </a:fld>
            <a:endParaRPr lang="en-US" altLang="ja-JP"/>
          </a:p>
        </p:txBody>
      </p:sp>
      <p:sp>
        <p:nvSpPr>
          <p:cNvPr id="6" name="Text Box 23"/>
          <p:cNvSpPr txBox="1">
            <a:spLocks noChangeArrowheads="1"/>
          </p:cNvSpPr>
          <p:nvPr/>
        </p:nvSpPr>
        <p:spPr bwMode="auto">
          <a:xfrm>
            <a:off x="2285948" y="1733833"/>
            <a:ext cx="45720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 b="1" dirty="0" smtClean="0">
                <a:solidFill>
                  <a:srgbClr val="FF3300"/>
                </a:solidFill>
              </a:rPr>
              <a:t>生产中如何实现互换性</a:t>
            </a:r>
            <a:r>
              <a:rPr lang="zh-CN" altLang="en-US" sz="3200" b="1" dirty="0">
                <a:solidFill>
                  <a:srgbClr val="FF3300"/>
                </a:solidFill>
              </a:rPr>
              <a:t>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0298" y="2625329"/>
            <a:ext cx="400052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标准化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21</a:t>
            </a:fld>
            <a:endParaRPr lang="en-US" altLang="ja-JP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55620" y="142858"/>
            <a:ext cx="52593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 smtClean="0"/>
              <a:t>2.  </a:t>
            </a:r>
            <a:r>
              <a:rPr lang="zh-CN" altLang="en-US" sz="2800" b="1" dirty="0"/>
              <a:t>标准化与优先数系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68313" y="832266"/>
            <a:ext cx="4025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 smtClean="0"/>
              <a:t>2.1 </a:t>
            </a:r>
            <a:r>
              <a:rPr lang="zh-CN" altLang="en-US" b="1" dirty="0"/>
              <a:t>标准化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67545" y="1324267"/>
            <a:ext cx="57006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dirty="0"/>
              <a:t>       </a:t>
            </a:r>
            <a:r>
              <a:rPr lang="zh-CN" altLang="en-US" b="1" dirty="0">
                <a:solidFill>
                  <a:srgbClr val="FF3300"/>
                </a:solidFill>
              </a:rPr>
              <a:t>标准化是互换性生产的</a:t>
            </a:r>
            <a:r>
              <a:rPr lang="zh-CN" altLang="en-US" b="1" dirty="0" smtClean="0">
                <a:solidFill>
                  <a:srgbClr val="FF3300"/>
                </a:solidFill>
              </a:rPr>
              <a:t>基础。</a:t>
            </a:r>
            <a:endParaRPr lang="zh-CN" altLang="en-US" b="1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39553" y="1824333"/>
            <a:ext cx="7345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 dirty="0" smtClean="0"/>
              <a:t>(1) </a:t>
            </a:r>
            <a:r>
              <a:rPr lang="zh-CN" altLang="en-US" b="1" dirty="0" smtClean="0"/>
              <a:t>标准化定义</a:t>
            </a:r>
            <a:endParaRPr lang="zh-CN" altLang="en-US" b="1" dirty="0"/>
          </a:p>
        </p:txBody>
      </p:sp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2123158" y="3543858"/>
            <a:ext cx="4537075" cy="813842"/>
          </a:xfrm>
          <a:prstGeom prst="triangle">
            <a:avLst>
              <a:gd name="adj" fmla="val 50000"/>
            </a:avLst>
          </a:prstGeom>
          <a:solidFill>
            <a:srgbClr val="CCFFFF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b="1" dirty="0">
                <a:solidFill>
                  <a:srgbClr val="FF3300"/>
                </a:solidFill>
              </a:rPr>
              <a:t>动态发展过程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827584" y="2452705"/>
            <a:ext cx="7416824" cy="904863"/>
          </a:xfrm>
          <a:prstGeom prst="rect">
            <a:avLst/>
          </a:prstGeom>
          <a:solidFill>
            <a:srgbClr val="FFFFCC"/>
          </a:solidFill>
          <a:ln w="38100">
            <a:solidFill>
              <a:srgbClr val="BFE33D"/>
            </a:solidFill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dirty="0"/>
              <a:t>     </a:t>
            </a:r>
            <a:r>
              <a:rPr lang="zh-CN" altLang="en-US" dirty="0" smtClean="0">
                <a:solidFill>
                  <a:srgbClr val="C00000"/>
                </a:solidFill>
              </a:rPr>
              <a:t>“</a:t>
            </a:r>
            <a:r>
              <a:rPr lang="zh-CN" altLang="en-US" b="1" dirty="0"/>
              <a:t>为在</a:t>
            </a:r>
            <a:r>
              <a:rPr lang="zh-CN" altLang="en-US" b="1" dirty="0">
                <a:solidFill>
                  <a:srgbClr val="0070C0"/>
                </a:solidFill>
              </a:rPr>
              <a:t>一定范围内</a:t>
            </a:r>
            <a:r>
              <a:rPr lang="zh-CN" altLang="en-US" b="1" dirty="0"/>
              <a:t>获得最佳秩序，对现实问题或潜在问题</a:t>
            </a:r>
            <a:r>
              <a:rPr lang="zh-CN" altLang="en-US" b="1" dirty="0">
                <a:solidFill>
                  <a:srgbClr val="FF0000"/>
                </a:solidFill>
              </a:rPr>
              <a:t>制定</a:t>
            </a:r>
            <a:r>
              <a:rPr lang="zh-CN" altLang="en-US" b="1" dirty="0"/>
              <a:t>共同使用和重复使用的条款的</a:t>
            </a:r>
            <a:r>
              <a:rPr lang="zh-CN" altLang="en-US" b="1" dirty="0">
                <a:solidFill>
                  <a:srgbClr val="FF0000"/>
                </a:solidFill>
              </a:rPr>
              <a:t>活动</a:t>
            </a:r>
            <a:r>
              <a:rPr lang="zh-CN" altLang="en-US" b="1" dirty="0">
                <a:solidFill>
                  <a:srgbClr val="C00000"/>
                </a:solidFill>
              </a:rPr>
              <a:t>”</a:t>
            </a:r>
            <a:r>
              <a:rPr lang="zh-CN" altLang="en-US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22</a:t>
            </a:fld>
            <a:endParaRPr lang="en-US" altLang="ja-JP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39553" y="142858"/>
            <a:ext cx="7343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 smtClean="0"/>
              <a:t>(2) </a:t>
            </a:r>
            <a:r>
              <a:rPr lang="zh-CN" altLang="en-US" sz="2800" b="1" dirty="0"/>
              <a:t>标准</a:t>
            </a:r>
            <a:r>
              <a:rPr lang="zh-CN" altLang="en-US" sz="2800" b="1" dirty="0" smtClean="0"/>
              <a:t>定义</a:t>
            </a:r>
            <a:endParaRPr lang="zh-CN" altLang="en-US" sz="2800" b="1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15616" y="1428742"/>
            <a:ext cx="7056784" cy="1514261"/>
          </a:xfrm>
          <a:prstGeom prst="rect">
            <a:avLst/>
          </a:prstGeom>
          <a:solidFill>
            <a:srgbClr val="FFFFCC"/>
          </a:solidFill>
          <a:ln w="38100">
            <a:solidFill>
              <a:srgbClr val="00FFFF"/>
            </a:solidFill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/>
              <a:t>        </a:t>
            </a:r>
            <a:r>
              <a:rPr lang="zh-CN" altLang="en-US" sz="2800" dirty="0"/>
              <a:t>“</a:t>
            </a:r>
            <a:r>
              <a:rPr lang="zh-CN" altLang="en-US" sz="2800" b="1" dirty="0"/>
              <a:t>为在</a:t>
            </a:r>
            <a:r>
              <a:rPr lang="zh-CN" altLang="en-US" sz="2800" b="1" dirty="0">
                <a:solidFill>
                  <a:srgbClr val="0070C0"/>
                </a:solidFill>
              </a:rPr>
              <a:t>一定范围内</a:t>
            </a:r>
            <a:r>
              <a:rPr lang="zh-CN" altLang="en-US" sz="2800" b="1" dirty="0"/>
              <a:t>获得最佳秩序，经协商一致制定，并由公认机构批准共同使用和重复使用的一种</a:t>
            </a:r>
            <a:r>
              <a:rPr lang="zh-CN" altLang="en-US" sz="2800" b="1" dirty="0">
                <a:solidFill>
                  <a:srgbClr val="FF0000"/>
                </a:solidFill>
              </a:rPr>
              <a:t>规范性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文件</a:t>
            </a:r>
            <a:r>
              <a:rPr lang="zh-CN" altLang="en-US" sz="2800" b="1" dirty="0" smtClean="0"/>
              <a:t>。”</a:t>
            </a:r>
            <a:endParaRPr lang="zh-CN" altLang="en-US" sz="2800" b="1" dirty="0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043608" y="3165816"/>
            <a:ext cx="7200800" cy="97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ct val="50000"/>
              </a:spcBef>
            </a:pPr>
            <a:r>
              <a:rPr lang="zh-CN" altLang="en-US" sz="2600" b="1" dirty="0">
                <a:solidFill>
                  <a:srgbClr val="0070C0"/>
                </a:solidFill>
              </a:rPr>
              <a:t>         在执行各项标准时，应以最新颁布的标准为准则。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23</a:t>
            </a:fld>
            <a:endParaRPr lang="en-US" altLang="ja-JP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39552" y="142858"/>
            <a:ext cx="41036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 smtClean="0"/>
              <a:t>(3) </a:t>
            </a:r>
            <a:r>
              <a:rPr lang="zh-CN" altLang="en-US" sz="2800" b="1" dirty="0"/>
              <a:t>标准分类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934817" y="1713968"/>
            <a:ext cx="22145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 algn="just" eaLnBrk="1" hangingPunct="1">
              <a:spcBef>
                <a:spcPct val="50000"/>
              </a:spcBef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按</a:t>
            </a:r>
            <a:r>
              <a:rPr lang="zh-CN" altLang="en-US" b="1" dirty="0">
                <a:solidFill>
                  <a:srgbClr val="CC0000"/>
                </a:solidFill>
              </a:rPr>
              <a:t>一般</a:t>
            </a:r>
            <a:r>
              <a:rPr lang="zh-CN" altLang="en-US" b="1" dirty="0" smtClean="0"/>
              <a:t>分</a:t>
            </a:r>
            <a:endParaRPr lang="zh-CN" altLang="en-US" b="1" dirty="0"/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714348" y="3024915"/>
            <a:ext cx="7776864" cy="1477328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600"/>
              </a:lnSpc>
            </a:pPr>
            <a:r>
              <a:rPr lang="en-US" altLang="zh-CN" b="1" dirty="0">
                <a:solidFill>
                  <a:srgbClr val="FF3300"/>
                </a:solidFill>
              </a:rPr>
              <a:t>      </a:t>
            </a:r>
            <a:r>
              <a:rPr lang="zh-CN" altLang="en-US" b="1" dirty="0">
                <a:solidFill>
                  <a:srgbClr val="FF3300"/>
                </a:solidFill>
              </a:rPr>
              <a:t>技术标准</a:t>
            </a:r>
            <a:r>
              <a:rPr lang="zh-CN" altLang="en-US" b="1" dirty="0"/>
              <a:t>是指以</a:t>
            </a:r>
            <a:r>
              <a:rPr lang="zh-CN" altLang="en-US" b="1" dirty="0">
                <a:solidFill>
                  <a:srgbClr val="0070C0"/>
                </a:solidFill>
              </a:rPr>
              <a:t>生产实践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0070C0"/>
                </a:solidFill>
              </a:rPr>
              <a:t>科学实验</a:t>
            </a:r>
            <a:r>
              <a:rPr lang="zh-CN" altLang="en-US" b="1" dirty="0"/>
              <a:t>为基础，由有关方面协调制定，并经一定程序批准后，在</a:t>
            </a:r>
            <a:r>
              <a:rPr lang="zh-CN" altLang="en-US" b="1" dirty="0">
                <a:solidFill>
                  <a:srgbClr val="0070C0"/>
                </a:solidFill>
              </a:rPr>
              <a:t>一定范围内</a:t>
            </a:r>
            <a:r>
              <a:rPr lang="zh-CN" altLang="en-US" b="1" dirty="0"/>
              <a:t>具有约束力的</a:t>
            </a:r>
            <a:r>
              <a:rPr lang="zh-CN" altLang="en-US" b="1" dirty="0">
                <a:solidFill>
                  <a:srgbClr val="FF3300"/>
                </a:solidFill>
              </a:rPr>
              <a:t>法规</a:t>
            </a:r>
            <a:r>
              <a:rPr lang="zh-CN" altLang="en-US" b="1" dirty="0"/>
              <a:t>。</a:t>
            </a:r>
          </a:p>
        </p:txBody>
      </p:sp>
      <p:sp>
        <p:nvSpPr>
          <p:cNvPr id="12" name="AutoShape 22"/>
          <p:cNvSpPr/>
          <p:nvPr/>
        </p:nvSpPr>
        <p:spPr bwMode="auto">
          <a:xfrm>
            <a:off x="4086835" y="1188889"/>
            <a:ext cx="459608" cy="1446620"/>
          </a:xfrm>
          <a:prstGeom prst="leftBrace">
            <a:avLst>
              <a:gd name="adj1" fmla="val 50967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56867" y="236858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技术标准</a:t>
            </a:r>
          </a:p>
        </p:txBody>
      </p:sp>
      <p:sp>
        <p:nvSpPr>
          <p:cNvPr id="14" name="矩形 13"/>
          <p:cNvSpPr/>
          <p:nvPr/>
        </p:nvSpPr>
        <p:spPr>
          <a:xfrm>
            <a:off x="4623516" y="171135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00"/>
                </a:solidFill>
              </a:rPr>
              <a:t>管理标准</a:t>
            </a:r>
          </a:p>
        </p:txBody>
      </p:sp>
      <p:sp>
        <p:nvSpPr>
          <p:cNvPr id="15" name="矩形 14"/>
          <p:cNvSpPr/>
          <p:nvPr/>
        </p:nvSpPr>
        <p:spPr>
          <a:xfrm>
            <a:off x="4666208" y="105797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00"/>
                </a:solidFill>
              </a:rPr>
              <a:t>工作标准</a:t>
            </a:r>
          </a:p>
        </p:txBody>
      </p:sp>
      <p:sp>
        <p:nvSpPr>
          <p:cNvPr id="16" name="右箭头 15"/>
          <p:cNvSpPr/>
          <p:nvPr/>
        </p:nvSpPr>
        <p:spPr>
          <a:xfrm flipH="1">
            <a:off x="6338584" y="2494795"/>
            <a:ext cx="357190" cy="160736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3CC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6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24</a:t>
            </a:fld>
            <a:endParaRPr lang="en-US" altLang="ja-JP"/>
          </a:p>
        </p:txBody>
      </p:sp>
      <p:grpSp>
        <p:nvGrpSpPr>
          <p:cNvPr id="7" name="Group 20"/>
          <p:cNvGrpSpPr/>
          <p:nvPr/>
        </p:nvGrpSpPr>
        <p:grpSpPr bwMode="auto">
          <a:xfrm>
            <a:off x="683611" y="1483618"/>
            <a:ext cx="1802414" cy="2397971"/>
            <a:chOff x="508" y="1751"/>
            <a:chExt cx="1251" cy="2220"/>
          </a:xfrm>
        </p:grpSpPr>
        <p:sp>
          <p:nvSpPr>
            <p:cNvPr id="8" name="Rectangle 21"/>
            <p:cNvSpPr>
              <a:spLocks noChangeArrowheads="1"/>
            </p:cNvSpPr>
            <p:nvPr/>
          </p:nvSpPr>
          <p:spPr bwMode="auto">
            <a:xfrm>
              <a:off x="508" y="2523"/>
              <a:ext cx="1000" cy="8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buClr>
                  <a:srgbClr val="00B050"/>
                </a:buClr>
              </a:pPr>
              <a:r>
                <a:rPr lang="zh-CN" altLang="en-US" sz="2800" b="1" dirty="0" smtClean="0">
                  <a:latin typeface="宋体" panose="02010600030101010101" pitchFamily="2" charset="-122"/>
                </a:rPr>
                <a:t>按</a:t>
              </a: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应用</a:t>
              </a:r>
            </a:p>
            <a:p>
              <a:pPr algn="l"/>
              <a:r>
                <a:rPr lang="zh-CN" altLang="en-US" sz="2800" b="1" dirty="0">
                  <a:solidFill>
                    <a:srgbClr val="FF3300"/>
                  </a:solidFill>
                  <a:latin typeface="宋体" panose="02010600030101010101" pitchFamily="2" charset="-122"/>
                </a:rPr>
                <a:t>范围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分</a:t>
              </a:r>
            </a:p>
          </p:txBody>
        </p:sp>
        <p:sp>
          <p:nvSpPr>
            <p:cNvPr id="9" name="AutoShape 22"/>
            <p:cNvSpPr/>
            <p:nvPr/>
          </p:nvSpPr>
          <p:spPr bwMode="auto">
            <a:xfrm>
              <a:off x="1440" y="1751"/>
              <a:ext cx="319" cy="2220"/>
            </a:xfrm>
            <a:prstGeom prst="leftBrace">
              <a:avLst>
                <a:gd name="adj1" fmla="val 50967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grpSp>
        <p:nvGrpSpPr>
          <p:cNvPr id="10" name="Group 23"/>
          <p:cNvGrpSpPr/>
          <p:nvPr/>
        </p:nvGrpSpPr>
        <p:grpSpPr bwMode="auto">
          <a:xfrm>
            <a:off x="2555777" y="1071568"/>
            <a:ext cx="2085977" cy="719138"/>
            <a:chOff x="2056" y="1483"/>
            <a:chExt cx="1459" cy="604"/>
          </a:xfrm>
        </p:grpSpPr>
        <p:sp>
          <p:nvSpPr>
            <p:cNvPr id="11" name="Text Box 24"/>
            <p:cNvSpPr txBox="1">
              <a:spLocks noChangeArrowheads="1"/>
            </p:cNvSpPr>
            <p:nvPr/>
          </p:nvSpPr>
          <p:spPr bwMode="auto">
            <a:xfrm>
              <a:off x="2056" y="1618"/>
              <a:ext cx="1459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663300"/>
                  </a:solidFill>
                </a:rPr>
                <a:t>国际标准</a:t>
              </a:r>
            </a:p>
          </p:txBody>
        </p:sp>
        <p:sp>
          <p:nvSpPr>
            <p:cNvPr id="12" name="AutoShape 25"/>
            <p:cNvSpPr/>
            <p:nvPr/>
          </p:nvSpPr>
          <p:spPr bwMode="auto">
            <a:xfrm>
              <a:off x="3180" y="1483"/>
              <a:ext cx="235" cy="604"/>
            </a:xfrm>
            <a:prstGeom prst="leftBrace">
              <a:avLst>
                <a:gd name="adj1" fmla="val 1442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4718014" y="1234666"/>
            <a:ext cx="3333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IEC</a:t>
            </a:r>
            <a:r>
              <a:rPr lang="zh-CN" altLang="en-US" b="1" dirty="0"/>
              <a:t>：电工委员会</a:t>
            </a:r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4713191" y="1558517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/>
              <a:t>ITU</a:t>
            </a:r>
            <a:r>
              <a:rPr lang="zh-CN" altLang="en-US" b="1" dirty="0">
                <a:latin typeface="宋体" panose="02010600030101010101" pitchFamily="2" charset="-122"/>
              </a:rPr>
              <a:t>：电信联盟</a:t>
            </a:r>
          </a:p>
        </p:txBody>
      </p:sp>
      <p:sp>
        <p:nvSpPr>
          <p:cNvPr id="15" name="Text Box 28"/>
          <p:cNvSpPr txBox="1">
            <a:spLocks noChangeArrowheads="1"/>
          </p:cNvSpPr>
          <p:nvPr/>
        </p:nvSpPr>
        <p:spPr bwMode="auto">
          <a:xfrm>
            <a:off x="4713191" y="910817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3300"/>
                </a:solidFill>
              </a:rPr>
              <a:t>ISO</a:t>
            </a: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: 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标准化组织</a:t>
            </a:r>
          </a:p>
        </p:txBody>
      </p:sp>
      <p:grpSp>
        <p:nvGrpSpPr>
          <p:cNvPr id="16" name="Group 29"/>
          <p:cNvGrpSpPr/>
          <p:nvPr/>
        </p:nvGrpSpPr>
        <p:grpSpPr bwMode="auto">
          <a:xfrm>
            <a:off x="2544316" y="2152952"/>
            <a:ext cx="2171700" cy="529828"/>
            <a:chOff x="2011" y="2519"/>
            <a:chExt cx="1368" cy="445"/>
          </a:xfrm>
        </p:grpSpPr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2011" y="2576"/>
              <a:ext cx="136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663300"/>
                  </a:solidFill>
                </a:rPr>
                <a:t>国家标准</a:t>
              </a:r>
            </a:p>
          </p:txBody>
        </p:sp>
        <p:sp>
          <p:nvSpPr>
            <p:cNvPr id="18" name="AutoShape 31"/>
            <p:cNvSpPr/>
            <p:nvPr/>
          </p:nvSpPr>
          <p:spPr bwMode="auto">
            <a:xfrm>
              <a:off x="3083" y="2519"/>
              <a:ext cx="160" cy="367"/>
            </a:xfrm>
            <a:prstGeom prst="leftBrace">
              <a:avLst>
                <a:gd name="adj1" fmla="val 19115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4675584" y="2054848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3300"/>
                </a:solidFill>
              </a:rPr>
              <a:t>GB</a:t>
            </a:r>
            <a:r>
              <a:rPr lang="zh-CN" altLang="en-US" b="1" dirty="0">
                <a:solidFill>
                  <a:srgbClr val="FF3300"/>
                </a:solidFill>
              </a:rPr>
              <a:t>，</a:t>
            </a:r>
            <a:r>
              <a:rPr lang="en-US" altLang="zh-CN" b="1" dirty="0">
                <a:solidFill>
                  <a:srgbClr val="FF3300"/>
                </a:solidFill>
              </a:rPr>
              <a:t>GB/T</a:t>
            </a:r>
            <a:r>
              <a:rPr lang="zh-CN" altLang="en-US" dirty="0"/>
              <a:t>，</a:t>
            </a:r>
            <a:r>
              <a:rPr lang="en-US" altLang="zh-CN" dirty="0"/>
              <a:t>GB/Z</a:t>
            </a:r>
          </a:p>
        </p:txBody>
      </p:sp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4685083" y="2392985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</a:rPr>
              <a:t>GJB</a:t>
            </a:r>
          </a:p>
        </p:txBody>
      </p:sp>
      <p:sp>
        <p:nvSpPr>
          <p:cNvPr id="24" name="Text Box 37"/>
          <p:cNvSpPr txBox="1">
            <a:spLocks noChangeArrowheads="1"/>
          </p:cNvSpPr>
          <p:nvPr/>
        </p:nvSpPr>
        <p:spPr bwMode="auto">
          <a:xfrm>
            <a:off x="2411760" y="2855033"/>
            <a:ext cx="230311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 </a:t>
            </a:r>
            <a:r>
              <a:rPr lang="zh-CN" altLang="en-US" b="1" dirty="0"/>
              <a:t>省市部标准</a:t>
            </a:r>
          </a:p>
          <a:p>
            <a:pPr algn="l" eaLnBrk="1" hangingPunct="1"/>
            <a:r>
              <a:rPr lang="zh-CN" altLang="en-US" b="1" dirty="0"/>
              <a:t>（专业标准）</a:t>
            </a:r>
          </a:p>
        </p:txBody>
      </p:sp>
      <p:sp>
        <p:nvSpPr>
          <p:cNvPr id="25" name="Text Box 38"/>
          <p:cNvSpPr txBox="1">
            <a:spLocks noChangeArrowheads="1"/>
          </p:cNvSpPr>
          <p:nvPr/>
        </p:nvSpPr>
        <p:spPr bwMode="auto">
          <a:xfrm>
            <a:off x="2555776" y="3704756"/>
            <a:ext cx="17304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企业标准</a:t>
            </a: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539552" y="142858"/>
            <a:ext cx="41036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 smtClean="0"/>
              <a:t>(3) </a:t>
            </a:r>
            <a:r>
              <a:rPr lang="zh-CN" altLang="en-US" sz="2800" b="1" dirty="0"/>
              <a:t>标准分类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683327" y="2754734"/>
            <a:ext cx="3699510" cy="1931673"/>
            <a:chOff x="7428" y="5550"/>
            <a:chExt cx="5826" cy="4056"/>
          </a:xfrm>
        </p:grpSpPr>
        <p:sp>
          <p:nvSpPr>
            <p:cNvPr id="28" name="椭圆 27"/>
            <p:cNvSpPr/>
            <p:nvPr/>
          </p:nvSpPr>
          <p:spPr>
            <a:xfrm>
              <a:off x="7428" y="5630"/>
              <a:ext cx="5826" cy="3934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7886" y="6256"/>
              <a:ext cx="4984" cy="330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8451" y="6964"/>
              <a:ext cx="3867" cy="2627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9015" y="7747"/>
              <a:ext cx="2790" cy="1859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21"/>
            <p:cNvSpPr txBox="1"/>
            <p:nvPr/>
          </p:nvSpPr>
          <p:spPr>
            <a:xfrm>
              <a:off x="9227" y="5550"/>
              <a:ext cx="2212" cy="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</a:rPr>
                <a:t>国际标准</a:t>
              </a:r>
            </a:p>
          </p:txBody>
        </p:sp>
        <p:sp>
          <p:nvSpPr>
            <p:cNvPr id="33" name="文本框 22"/>
            <p:cNvSpPr txBox="1"/>
            <p:nvPr/>
          </p:nvSpPr>
          <p:spPr>
            <a:xfrm>
              <a:off x="9237" y="6356"/>
              <a:ext cx="2212" cy="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</a:rPr>
                <a:t>国家标准</a:t>
              </a:r>
            </a:p>
          </p:txBody>
        </p:sp>
        <p:sp>
          <p:nvSpPr>
            <p:cNvPr id="34" name="文本框 26"/>
            <p:cNvSpPr txBox="1"/>
            <p:nvPr/>
          </p:nvSpPr>
          <p:spPr>
            <a:xfrm>
              <a:off x="9227" y="7125"/>
              <a:ext cx="2212" cy="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rgbClr val="002060"/>
                  </a:solidFill>
                </a:rPr>
                <a:t>专业标准</a:t>
              </a:r>
            </a:p>
          </p:txBody>
        </p:sp>
        <p:sp>
          <p:nvSpPr>
            <p:cNvPr id="35" name="文本框 27"/>
            <p:cNvSpPr txBox="1"/>
            <p:nvPr/>
          </p:nvSpPr>
          <p:spPr>
            <a:xfrm>
              <a:off x="9262" y="7884"/>
              <a:ext cx="2212" cy="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</a:rPr>
                <a:t>地方标准</a:t>
              </a:r>
            </a:p>
          </p:txBody>
        </p:sp>
        <p:sp>
          <p:nvSpPr>
            <p:cNvPr id="36" name="椭圆 35"/>
            <p:cNvSpPr/>
            <p:nvPr/>
          </p:nvSpPr>
          <p:spPr>
            <a:xfrm>
              <a:off x="9443" y="8510"/>
              <a:ext cx="1996" cy="1054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29"/>
            <p:cNvSpPr txBox="1"/>
            <p:nvPr/>
          </p:nvSpPr>
          <p:spPr>
            <a:xfrm>
              <a:off x="9340" y="8749"/>
              <a:ext cx="2212" cy="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</a:rPr>
                <a:t>企业标准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25</a:t>
            </a:fld>
            <a:endParaRPr lang="en-US" altLang="ja-JP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39552" y="214296"/>
            <a:ext cx="41036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 smtClean="0"/>
              <a:t>(3) </a:t>
            </a:r>
            <a:r>
              <a:rPr lang="zh-CN" altLang="en-US" sz="2800" b="1" dirty="0"/>
              <a:t>标准分类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143636" y="1500664"/>
            <a:ext cx="11207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00B050"/>
              </a:buClr>
            </a:pPr>
            <a:r>
              <a:rPr lang="zh-CN" altLang="en-US" b="1" dirty="0" smtClean="0"/>
              <a:t>按</a:t>
            </a:r>
            <a:r>
              <a:rPr lang="zh-CN" altLang="en-US" b="1" dirty="0" smtClean="0">
                <a:solidFill>
                  <a:srgbClr val="CC0000"/>
                </a:solidFill>
              </a:rPr>
              <a:t>法律</a:t>
            </a:r>
            <a:r>
              <a:rPr lang="zh-CN" altLang="en-US" b="1" dirty="0">
                <a:solidFill>
                  <a:srgbClr val="CC0000"/>
                </a:solidFill>
              </a:rPr>
              <a:t>属性</a:t>
            </a:r>
            <a:r>
              <a:rPr lang="zh-CN" altLang="en-US" b="1" dirty="0" smtClean="0"/>
              <a:t>分</a:t>
            </a:r>
            <a:endParaRPr lang="en-US" altLang="zh-CN" b="1" dirty="0" smtClean="0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857488" y="1199398"/>
            <a:ext cx="2071702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b="1" dirty="0" smtClean="0">
                <a:solidFill>
                  <a:srgbClr val="CC0000"/>
                </a:solidFill>
              </a:rPr>
              <a:t>强制性标准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706093" y="2989561"/>
            <a:ext cx="785818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b="1" dirty="0" smtClean="0"/>
              <a:t>    </a:t>
            </a:r>
            <a:r>
              <a:rPr lang="zh-CN" altLang="en-US" b="1" dirty="0" smtClean="0">
                <a:solidFill>
                  <a:srgbClr val="0070C0"/>
                </a:solidFill>
              </a:rPr>
              <a:t>推荐</a:t>
            </a:r>
            <a:r>
              <a:rPr lang="zh-CN" altLang="en-US" b="1" dirty="0">
                <a:solidFill>
                  <a:srgbClr val="0070C0"/>
                </a:solidFill>
              </a:rPr>
              <a:t>性标准不具有</a:t>
            </a:r>
            <a:r>
              <a:rPr lang="zh-CN" altLang="en-US" b="1" dirty="0" smtClean="0">
                <a:solidFill>
                  <a:srgbClr val="0070C0"/>
                </a:solidFill>
              </a:rPr>
              <a:t>法律约束力</a:t>
            </a:r>
            <a:r>
              <a:rPr lang="zh-CN" altLang="en-US" b="1" dirty="0"/>
              <a:t>，</a:t>
            </a:r>
            <a:r>
              <a:rPr lang="zh-CN" altLang="en-US" b="1" dirty="0" smtClean="0"/>
              <a:t>但一经</a:t>
            </a:r>
            <a:r>
              <a:rPr lang="zh-CN" altLang="en-US" b="1" dirty="0"/>
              <a:t>被采用</a:t>
            </a:r>
            <a:r>
              <a:rPr lang="zh-CN" altLang="en-US" b="1" dirty="0" smtClean="0"/>
              <a:t>，受</a:t>
            </a:r>
            <a:r>
              <a:rPr lang="zh-CN" altLang="en-US" b="1" dirty="0"/>
              <a:t>合同法或有关经济法的约束。国家推荐性标准用代号“</a:t>
            </a:r>
            <a:r>
              <a:rPr lang="en-US" altLang="zh-CN" b="1" dirty="0">
                <a:solidFill>
                  <a:srgbClr val="CC0000"/>
                </a:solidFill>
              </a:rPr>
              <a:t>GB/T</a:t>
            </a:r>
            <a:r>
              <a:rPr lang="en-US" altLang="zh-CN" b="1" dirty="0"/>
              <a:t>”</a:t>
            </a:r>
            <a:r>
              <a:rPr lang="zh-CN" altLang="en-US" b="1" dirty="0"/>
              <a:t>表示。</a:t>
            </a:r>
          </a:p>
        </p:txBody>
      </p:sp>
      <p:sp>
        <p:nvSpPr>
          <p:cNvPr id="11" name="AutoShape 22"/>
          <p:cNvSpPr/>
          <p:nvPr/>
        </p:nvSpPr>
        <p:spPr bwMode="auto">
          <a:xfrm>
            <a:off x="2428860" y="1286579"/>
            <a:ext cx="357190" cy="1125149"/>
          </a:xfrm>
          <a:prstGeom prst="leftBrace">
            <a:avLst>
              <a:gd name="adj1" fmla="val 50967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713979" y="2036679"/>
            <a:ext cx="20002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CC0000"/>
                </a:solidFill>
              </a:rPr>
              <a:t>推荐性标准</a:t>
            </a:r>
          </a:p>
        </p:txBody>
      </p:sp>
      <p:sp>
        <p:nvSpPr>
          <p:cNvPr id="13" name="矩形 12"/>
          <p:cNvSpPr/>
          <p:nvPr/>
        </p:nvSpPr>
        <p:spPr>
          <a:xfrm>
            <a:off x="5143500" y="1051560"/>
            <a:ext cx="2764155" cy="9787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国家强制性标准用代号</a:t>
            </a:r>
            <a:r>
              <a:rPr lang="en-US" altLang="zh-CN" b="1" dirty="0" smtClean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GB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表示。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43500" y="2071684"/>
            <a:ext cx="276352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除强制性标准外的标准。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236296" y="4937638"/>
            <a:ext cx="1450504" cy="205880"/>
          </a:xfrm>
        </p:spPr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26</a:t>
            </a:fld>
            <a:endParaRPr lang="en-US" altLang="ja-JP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78043" y="195486"/>
            <a:ext cx="7162056" cy="613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1000"/>
              </a:lnSpc>
            </a:pPr>
            <a:r>
              <a:rPr lang="en-US" altLang="zh-CN" sz="2800" b="1" dirty="0" smtClean="0"/>
              <a:t>3. </a:t>
            </a:r>
            <a:r>
              <a:rPr lang="zh-CN" altLang="en-US" sz="2800" b="1" dirty="0"/>
              <a:t>优先数系和优先</a:t>
            </a:r>
            <a:r>
              <a:rPr lang="zh-CN" altLang="en-US" sz="2800" b="1" dirty="0" smtClean="0"/>
              <a:t>数</a:t>
            </a:r>
            <a:endParaRPr lang="en-US" altLang="zh-CN" sz="2800" b="1" dirty="0"/>
          </a:p>
        </p:txBody>
      </p:sp>
      <p:sp>
        <p:nvSpPr>
          <p:cNvPr id="7" name="文本框 7"/>
          <p:cNvSpPr txBox="1"/>
          <p:nvPr/>
        </p:nvSpPr>
        <p:spPr>
          <a:xfrm>
            <a:off x="915670" y="2345033"/>
            <a:ext cx="2292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数值的传播性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251200" y="3278482"/>
            <a:ext cx="1257300" cy="913448"/>
            <a:chOff x="5120" y="6635"/>
            <a:chExt cx="1980" cy="1918"/>
          </a:xfrm>
        </p:grpSpPr>
        <p:grpSp>
          <p:nvGrpSpPr>
            <p:cNvPr id="9" name="组合 46"/>
            <p:cNvGrpSpPr/>
            <p:nvPr/>
          </p:nvGrpSpPr>
          <p:grpSpPr>
            <a:xfrm>
              <a:off x="5120" y="6635"/>
              <a:ext cx="1980" cy="1918"/>
              <a:chOff x="4427568" y="1080577"/>
              <a:chExt cx="936000" cy="936000"/>
            </a:xfrm>
          </p:grpSpPr>
          <p:sp>
            <p:nvSpPr>
              <p:cNvPr id="11" name="MH_Other_10"/>
              <p:cNvSpPr/>
              <p:nvPr>
                <p:custDataLst>
                  <p:tags r:id="rId11"/>
                </p:custDataLst>
              </p:nvPr>
            </p:nvSpPr>
            <p:spPr>
              <a:xfrm>
                <a:off x="4427568" y="1080577"/>
                <a:ext cx="936000" cy="936000"/>
              </a:xfrm>
              <a:prstGeom prst="donut">
                <a:avLst>
                  <a:gd name="adj" fmla="val 9894"/>
                </a:avLst>
              </a:prstGeom>
              <a:solidFill>
                <a:srgbClr val="FFC000"/>
              </a:solidFill>
              <a:ln w="12700"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</a:ln>
              <a:effectLst>
                <a:outerShdw blurRad="152400" dist="127000" dir="8100000" algn="tr" rotWithShape="0">
                  <a:prstClr val="black">
                    <a:alpha val="3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MH_Title_1"/>
              <p:cNvSpPr/>
              <p:nvPr>
                <p:custDataLst>
                  <p:tags r:id="rId12"/>
                </p:custDataLst>
              </p:nvPr>
            </p:nvSpPr>
            <p:spPr>
              <a:xfrm>
                <a:off x="4600269" y="1273948"/>
                <a:ext cx="590599" cy="5905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/>
                <a:endParaRPr lang="en-US" altLang="zh-CN" sz="27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" name="文本框 17"/>
            <p:cNvSpPr txBox="1"/>
            <p:nvPr/>
          </p:nvSpPr>
          <p:spPr>
            <a:xfrm>
              <a:off x="5399" y="6951"/>
              <a:ext cx="1388" cy="1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丝锥</a:t>
              </a:r>
            </a:p>
            <a:p>
              <a:r>
                <a:rPr lang="zh-CN" altLang="en-US" sz="2000" b="1" dirty="0"/>
                <a:t>板牙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252470" y="1114878"/>
            <a:ext cx="1257300" cy="913448"/>
            <a:chOff x="5122" y="2092"/>
            <a:chExt cx="1980" cy="1918"/>
          </a:xfrm>
        </p:grpSpPr>
        <p:grpSp>
          <p:nvGrpSpPr>
            <p:cNvPr id="14" name="组合 18"/>
            <p:cNvGrpSpPr/>
            <p:nvPr/>
          </p:nvGrpSpPr>
          <p:grpSpPr>
            <a:xfrm>
              <a:off x="5122" y="2092"/>
              <a:ext cx="1980" cy="1918"/>
              <a:chOff x="4427568" y="1087897"/>
              <a:chExt cx="936000" cy="936000"/>
            </a:xfrm>
          </p:grpSpPr>
          <p:sp>
            <p:nvSpPr>
              <p:cNvPr id="16" name="MH_Other_10"/>
              <p:cNvSpPr/>
              <p:nvPr>
                <p:custDataLst>
                  <p:tags r:id="rId9"/>
                </p:custDataLst>
              </p:nvPr>
            </p:nvSpPr>
            <p:spPr>
              <a:xfrm>
                <a:off x="4427568" y="1087897"/>
                <a:ext cx="936000" cy="936000"/>
              </a:xfrm>
              <a:prstGeom prst="donut">
                <a:avLst>
                  <a:gd name="adj" fmla="val 9894"/>
                </a:avLst>
              </a:prstGeom>
              <a:solidFill>
                <a:srgbClr val="FFC000"/>
              </a:solidFill>
              <a:ln w="12700"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</a:ln>
              <a:effectLst>
                <a:outerShdw blurRad="152400" dist="127000" dir="8100000" algn="tr" rotWithShape="0">
                  <a:prstClr val="black">
                    <a:alpha val="3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MH_Title_1"/>
              <p:cNvSpPr/>
              <p:nvPr>
                <p:custDataLst>
                  <p:tags r:id="rId10"/>
                </p:custDataLst>
              </p:nvPr>
            </p:nvSpPr>
            <p:spPr>
              <a:xfrm>
                <a:off x="4600269" y="1273948"/>
                <a:ext cx="590599" cy="5905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/>
                <a:endParaRPr lang="en-US" altLang="zh-CN" sz="27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5" name="文本框 24"/>
            <p:cNvSpPr txBox="1"/>
            <p:nvPr/>
          </p:nvSpPr>
          <p:spPr>
            <a:xfrm>
              <a:off x="5418" y="2764"/>
              <a:ext cx="1388" cy="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/>
                <a:t>钻头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259580" y="2202157"/>
            <a:ext cx="1257300" cy="913448"/>
            <a:chOff x="6708" y="4375"/>
            <a:chExt cx="1980" cy="1918"/>
          </a:xfrm>
        </p:grpSpPr>
        <p:grpSp>
          <p:nvGrpSpPr>
            <p:cNvPr id="19" name="组合 10"/>
            <p:cNvGrpSpPr/>
            <p:nvPr/>
          </p:nvGrpSpPr>
          <p:grpSpPr>
            <a:xfrm>
              <a:off x="6708" y="4375"/>
              <a:ext cx="1980" cy="1918"/>
              <a:chOff x="4427568" y="1080577"/>
              <a:chExt cx="936000" cy="936000"/>
            </a:xfrm>
          </p:grpSpPr>
          <p:sp>
            <p:nvSpPr>
              <p:cNvPr id="21" name="MH_Other_10"/>
              <p:cNvSpPr/>
              <p:nvPr>
                <p:custDataLst>
                  <p:tags r:id="rId7"/>
                </p:custDataLst>
              </p:nvPr>
            </p:nvSpPr>
            <p:spPr>
              <a:xfrm>
                <a:off x="4427568" y="1080577"/>
                <a:ext cx="936000" cy="936000"/>
              </a:xfrm>
              <a:prstGeom prst="donut">
                <a:avLst>
                  <a:gd name="adj" fmla="val 9894"/>
                </a:avLst>
              </a:prstGeom>
              <a:solidFill>
                <a:srgbClr val="FF0000"/>
              </a:solidFill>
              <a:ln w="12700"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</a:ln>
              <a:effectLst>
                <a:outerShdw blurRad="152400" dist="127000" dir="8100000" algn="tr" rotWithShape="0">
                  <a:prstClr val="black">
                    <a:alpha val="3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MH_Title_1"/>
              <p:cNvSpPr/>
              <p:nvPr>
                <p:custDataLst>
                  <p:tags r:id="rId8"/>
                </p:custDataLst>
              </p:nvPr>
            </p:nvSpPr>
            <p:spPr>
              <a:xfrm>
                <a:off x="4600269" y="1273948"/>
                <a:ext cx="590599" cy="5905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/>
                <a:endParaRPr lang="en-US" altLang="zh-CN" sz="2700" dirty="0">
                  <a:cs typeface="+mn-ea"/>
                  <a:sym typeface="+mn-lt"/>
                </a:endParaRPr>
              </a:p>
            </p:txBody>
          </p:sp>
        </p:grpSp>
        <p:sp>
          <p:nvSpPr>
            <p:cNvPr id="20" name="文本框 26"/>
            <p:cNvSpPr txBox="1"/>
            <p:nvPr/>
          </p:nvSpPr>
          <p:spPr>
            <a:xfrm>
              <a:off x="7026" y="5035"/>
              <a:ext cx="1388" cy="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/>
                <a:t>螺栓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332095" y="3272767"/>
            <a:ext cx="1257300" cy="913448"/>
            <a:chOff x="8397" y="6623"/>
            <a:chExt cx="1980" cy="1918"/>
          </a:xfrm>
        </p:grpSpPr>
        <p:grpSp>
          <p:nvGrpSpPr>
            <p:cNvPr id="24" name="组合 14"/>
            <p:cNvGrpSpPr/>
            <p:nvPr/>
          </p:nvGrpSpPr>
          <p:grpSpPr>
            <a:xfrm>
              <a:off x="8397" y="6623"/>
              <a:ext cx="1980" cy="1918"/>
              <a:chOff x="4427568" y="1080577"/>
              <a:chExt cx="936000" cy="936000"/>
            </a:xfrm>
          </p:grpSpPr>
          <p:sp>
            <p:nvSpPr>
              <p:cNvPr id="26" name="MH_Other_10"/>
              <p:cNvSpPr/>
              <p:nvPr>
                <p:custDataLst>
                  <p:tags r:id="rId5"/>
                </p:custDataLst>
              </p:nvPr>
            </p:nvSpPr>
            <p:spPr>
              <a:xfrm>
                <a:off x="4427568" y="1080577"/>
                <a:ext cx="936000" cy="936000"/>
              </a:xfrm>
              <a:prstGeom prst="donut">
                <a:avLst>
                  <a:gd name="adj" fmla="val 9894"/>
                </a:avLst>
              </a:prstGeom>
              <a:solidFill>
                <a:srgbClr val="0070C0"/>
              </a:solidFill>
              <a:ln w="12700"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</a:ln>
              <a:effectLst>
                <a:outerShdw blurRad="152400" dist="127000" dir="8100000" algn="tr" rotWithShape="0">
                  <a:prstClr val="black">
                    <a:alpha val="3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MH_Title_1"/>
              <p:cNvSpPr/>
              <p:nvPr>
                <p:custDataLst>
                  <p:tags r:id="rId6"/>
                </p:custDataLst>
              </p:nvPr>
            </p:nvSpPr>
            <p:spPr>
              <a:xfrm>
                <a:off x="4600269" y="1273948"/>
                <a:ext cx="590599" cy="5905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/>
                <a:endParaRPr lang="en-US" altLang="zh-CN" sz="2700" dirty="0">
                  <a:cs typeface="+mn-ea"/>
                  <a:sym typeface="+mn-lt"/>
                </a:endParaRPr>
              </a:p>
            </p:txBody>
          </p:sp>
        </p:grpSp>
        <p:sp>
          <p:nvSpPr>
            <p:cNvPr id="25" name="文本框 29"/>
            <p:cNvSpPr txBox="1"/>
            <p:nvPr/>
          </p:nvSpPr>
          <p:spPr>
            <a:xfrm>
              <a:off x="8695" y="7295"/>
              <a:ext cx="1388" cy="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/>
                <a:t>螺母</a:t>
              </a:r>
            </a:p>
          </p:txBody>
        </p:sp>
      </p:grpSp>
      <p:cxnSp>
        <p:nvCxnSpPr>
          <p:cNvPr id="28" name="直接箭头连接符 27"/>
          <p:cNvCxnSpPr/>
          <p:nvPr/>
        </p:nvCxnSpPr>
        <p:spPr>
          <a:xfrm>
            <a:off x="5264785" y="3081791"/>
            <a:ext cx="252000" cy="243000"/>
          </a:xfrm>
          <a:prstGeom prst="straightConnector1">
            <a:avLst/>
          </a:prstGeom>
          <a:ln w="76200">
            <a:solidFill>
              <a:srgbClr val="AFD24E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5282565" y="2016896"/>
            <a:ext cx="288000" cy="243000"/>
          </a:xfrm>
          <a:prstGeom prst="straightConnector1">
            <a:avLst/>
          </a:prstGeom>
          <a:ln w="76200">
            <a:solidFill>
              <a:srgbClr val="AFD24E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4643755" y="1605893"/>
            <a:ext cx="540000" cy="0"/>
          </a:xfrm>
          <a:prstGeom prst="straightConnector1">
            <a:avLst/>
          </a:prstGeom>
          <a:ln w="76200">
            <a:solidFill>
              <a:srgbClr val="33CCFF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4581526" y="3800929"/>
            <a:ext cx="546735" cy="0"/>
          </a:xfrm>
          <a:prstGeom prst="straightConnector1">
            <a:avLst/>
          </a:prstGeom>
          <a:ln w="76200">
            <a:solidFill>
              <a:srgbClr val="33CCFF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5680710" y="2690314"/>
            <a:ext cx="540000" cy="2381"/>
          </a:xfrm>
          <a:prstGeom prst="straightConnector1">
            <a:avLst/>
          </a:prstGeom>
          <a:ln w="76200">
            <a:solidFill>
              <a:srgbClr val="FFC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6380480" y="1986416"/>
            <a:ext cx="216000" cy="270000"/>
          </a:xfrm>
          <a:prstGeom prst="straightConnector1">
            <a:avLst/>
          </a:prstGeom>
          <a:ln w="76200">
            <a:solidFill>
              <a:srgbClr val="FFC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6447790" y="3111795"/>
            <a:ext cx="252000" cy="243000"/>
          </a:xfrm>
          <a:prstGeom prst="straightConnector1">
            <a:avLst/>
          </a:prstGeom>
          <a:ln w="76200">
            <a:solidFill>
              <a:srgbClr val="FFC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5387340" y="1107735"/>
            <a:ext cx="1257300" cy="913448"/>
            <a:chOff x="8484" y="2077"/>
            <a:chExt cx="1980" cy="1918"/>
          </a:xfrm>
        </p:grpSpPr>
        <p:grpSp>
          <p:nvGrpSpPr>
            <p:cNvPr id="36" name="组合 35"/>
            <p:cNvGrpSpPr/>
            <p:nvPr/>
          </p:nvGrpSpPr>
          <p:grpSpPr>
            <a:xfrm>
              <a:off x="8484" y="2077"/>
              <a:ext cx="1980" cy="1918"/>
              <a:chOff x="4427568" y="1080577"/>
              <a:chExt cx="936000" cy="936000"/>
            </a:xfrm>
          </p:grpSpPr>
          <p:sp>
            <p:nvSpPr>
              <p:cNvPr id="38" name="MH_Other_10"/>
              <p:cNvSpPr/>
              <p:nvPr>
                <p:custDataLst>
                  <p:tags r:id="rId3"/>
                </p:custDataLst>
              </p:nvPr>
            </p:nvSpPr>
            <p:spPr>
              <a:xfrm>
                <a:off x="4427568" y="1080577"/>
                <a:ext cx="936000" cy="936000"/>
              </a:xfrm>
              <a:prstGeom prst="donut">
                <a:avLst>
                  <a:gd name="adj" fmla="val 9894"/>
                </a:avLst>
              </a:prstGeom>
              <a:solidFill>
                <a:srgbClr val="0070C0"/>
              </a:solidFill>
              <a:ln w="12700"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</a:ln>
              <a:effectLst>
                <a:outerShdw blurRad="152400" dist="127000" dir="8100000" algn="tr" rotWithShape="0">
                  <a:prstClr val="black">
                    <a:alpha val="3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9" name="MH_Title_1"/>
              <p:cNvSpPr/>
              <p:nvPr>
                <p:custDataLst>
                  <p:tags r:id="rId4"/>
                </p:custDataLst>
              </p:nvPr>
            </p:nvSpPr>
            <p:spPr>
              <a:xfrm>
                <a:off x="4600269" y="1273948"/>
                <a:ext cx="590599" cy="5905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/>
                <a:endParaRPr lang="en-US" altLang="zh-CN" sz="2700" dirty="0"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40"/>
            <p:cNvSpPr txBox="1"/>
            <p:nvPr/>
          </p:nvSpPr>
          <p:spPr>
            <a:xfrm>
              <a:off x="8773" y="2767"/>
              <a:ext cx="1388" cy="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/>
                <a:t>螺孔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395720" y="2200728"/>
            <a:ext cx="1257300" cy="913448"/>
            <a:chOff x="10072" y="4372"/>
            <a:chExt cx="1980" cy="1918"/>
          </a:xfrm>
        </p:grpSpPr>
        <p:grpSp>
          <p:nvGrpSpPr>
            <p:cNvPr id="41" name="组合 40"/>
            <p:cNvGrpSpPr/>
            <p:nvPr/>
          </p:nvGrpSpPr>
          <p:grpSpPr>
            <a:xfrm>
              <a:off x="10072" y="4372"/>
              <a:ext cx="1980" cy="1918"/>
              <a:chOff x="4427568" y="1080577"/>
              <a:chExt cx="936000" cy="936000"/>
            </a:xfrm>
          </p:grpSpPr>
          <p:sp>
            <p:nvSpPr>
              <p:cNvPr id="43" name="MH_Other_10"/>
              <p:cNvSpPr/>
              <p:nvPr>
                <p:custDataLst>
                  <p:tags r:id="rId1"/>
                </p:custDataLst>
              </p:nvPr>
            </p:nvSpPr>
            <p:spPr>
              <a:xfrm>
                <a:off x="4427568" y="1080577"/>
                <a:ext cx="936000" cy="936000"/>
              </a:xfrm>
              <a:prstGeom prst="donut">
                <a:avLst>
                  <a:gd name="adj" fmla="val 9894"/>
                </a:avLst>
              </a:prstGeom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ang="5400000" scaled="0"/>
              </a:gradFill>
              <a:ln w="12700">
                <a:gradFill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</a:ln>
              <a:effectLst>
                <a:outerShdw blurRad="152400" dist="127000" dir="8100000" algn="tr" rotWithShape="0">
                  <a:prstClr val="black">
                    <a:alpha val="32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MH_Title_1"/>
              <p:cNvSpPr/>
              <p:nvPr>
                <p:custDataLst>
                  <p:tags r:id="rId2"/>
                </p:custDataLst>
              </p:nvPr>
            </p:nvSpPr>
            <p:spPr>
              <a:xfrm>
                <a:off x="4600269" y="1273948"/>
                <a:ext cx="590599" cy="5905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3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/>
                <a:endParaRPr lang="en-US" altLang="zh-CN" sz="2700" dirty="0">
                  <a:cs typeface="+mn-ea"/>
                  <a:sym typeface="+mn-lt"/>
                </a:endParaRPr>
              </a:p>
            </p:txBody>
          </p:sp>
        </p:grpSp>
        <p:sp>
          <p:nvSpPr>
            <p:cNvPr id="42" name="文本框 44"/>
            <p:cNvSpPr txBox="1"/>
            <p:nvPr/>
          </p:nvSpPr>
          <p:spPr>
            <a:xfrm>
              <a:off x="10346" y="4701"/>
              <a:ext cx="1388" cy="1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螺纹塞规</a:t>
              </a:r>
            </a:p>
          </p:txBody>
        </p:sp>
      </p:grpSp>
      <p:cxnSp>
        <p:nvCxnSpPr>
          <p:cNvPr id="45" name="直接箭头连接符 44"/>
          <p:cNvCxnSpPr/>
          <p:nvPr/>
        </p:nvCxnSpPr>
        <p:spPr>
          <a:xfrm flipH="1">
            <a:off x="4235450" y="3082744"/>
            <a:ext cx="324000" cy="243000"/>
          </a:xfrm>
          <a:prstGeom prst="straightConnector1">
            <a:avLst/>
          </a:prstGeom>
          <a:ln w="76200">
            <a:solidFill>
              <a:srgbClr val="33CCFF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27</a:t>
            </a:fld>
            <a:endParaRPr lang="en-US" altLang="ja-JP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06288" y="142858"/>
            <a:ext cx="7162056" cy="613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1000"/>
              </a:lnSpc>
            </a:pPr>
            <a:r>
              <a:rPr lang="en-US" altLang="zh-CN" sz="2800" b="1" dirty="0" smtClean="0"/>
              <a:t>3. </a:t>
            </a:r>
            <a:r>
              <a:rPr lang="zh-CN" altLang="en-US" sz="2800" b="1" dirty="0"/>
              <a:t>优先数系和优先</a:t>
            </a:r>
            <a:r>
              <a:rPr lang="zh-CN" altLang="en-US" sz="2800" b="1" dirty="0" smtClean="0"/>
              <a:t>数</a:t>
            </a:r>
            <a:endParaRPr lang="en-US" altLang="zh-CN" sz="2800" b="1" dirty="0"/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610420" y="2635535"/>
            <a:ext cx="7962108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/>
              <a:t>且项值中</a:t>
            </a:r>
            <a:r>
              <a:rPr lang="zh-CN" altLang="en-US" b="1" dirty="0">
                <a:solidFill>
                  <a:srgbClr val="FF3300"/>
                </a:solidFill>
              </a:rPr>
              <a:t>含有</a:t>
            </a:r>
            <a:r>
              <a:rPr lang="en-US" altLang="zh-CN" b="1" dirty="0">
                <a:solidFill>
                  <a:srgbClr val="FF3300"/>
                </a:solidFill>
              </a:rPr>
              <a:t>10</a:t>
            </a:r>
            <a:r>
              <a:rPr lang="zh-CN" altLang="en-US" b="1" dirty="0"/>
              <a:t>的整数幂的理论等比数列导出的一组</a:t>
            </a:r>
            <a:r>
              <a:rPr lang="zh-CN" altLang="en-US" b="1" dirty="0">
                <a:solidFill>
                  <a:srgbClr val="FF3300"/>
                </a:solidFill>
              </a:rPr>
              <a:t>近似等比数列</a:t>
            </a:r>
            <a:r>
              <a:rPr lang="zh-CN" altLang="en-US" b="1" dirty="0"/>
              <a:t>。</a:t>
            </a:r>
          </a:p>
        </p:txBody>
      </p:sp>
      <p:grpSp>
        <p:nvGrpSpPr>
          <p:cNvPr id="8" name="Group 29"/>
          <p:cNvGrpSpPr/>
          <p:nvPr/>
        </p:nvGrpSpPr>
        <p:grpSpPr bwMode="auto">
          <a:xfrm>
            <a:off x="466725" y="928676"/>
            <a:ext cx="5207000" cy="484584"/>
            <a:chOff x="528" y="672"/>
            <a:chExt cx="3280" cy="407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528" y="672"/>
              <a:ext cx="1717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dirty="0"/>
                <a:t> </a:t>
              </a:r>
              <a:r>
                <a:rPr lang="en-US" altLang="zh-CN" dirty="0" smtClean="0"/>
                <a:t>3.</a:t>
              </a:r>
              <a:r>
                <a:rPr lang="en-US" altLang="zh-CN" b="1" dirty="0" smtClean="0">
                  <a:latin typeface="宋体" panose="02010600030101010101" pitchFamily="2" charset="-122"/>
                </a:rPr>
                <a:t>1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优先</a:t>
              </a:r>
              <a:r>
                <a:rPr lang="zh-CN" altLang="en-US" b="1" dirty="0">
                  <a:latin typeface="宋体" panose="02010600030101010101" pitchFamily="2" charset="-122"/>
                </a:rPr>
                <a:t>数系</a:t>
              </a:r>
              <a:r>
                <a:rPr lang="en-US" altLang="zh-CN" dirty="0"/>
                <a:t>—</a:t>
              </a:r>
              <a:endParaRPr lang="en-US" altLang="zh-CN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23"/>
            <p:cNvSpPr txBox="1">
              <a:spLocks noChangeArrowheads="1"/>
            </p:cNvSpPr>
            <p:nvPr/>
          </p:nvSpPr>
          <p:spPr bwMode="auto">
            <a:xfrm>
              <a:off x="1944" y="691"/>
              <a:ext cx="186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3300"/>
                  </a:solidFill>
                  <a:latin typeface="宋体" panose="02010600030101010101" pitchFamily="2" charset="-122"/>
                </a:rPr>
                <a:t>十进几何级数</a:t>
              </a:r>
            </a:p>
          </p:txBody>
        </p:sp>
      </p:grp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323529" y="1500180"/>
            <a:ext cx="3941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en-US" b="1" dirty="0">
                <a:latin typeface="宋体" panose="02010600030101010101" pitchFamily="2" charset="-122"/>
              </a:rPr>
              <a:t>定义：</a:t>
            </a:r>
          </a:p>
        </p:txBody>
      </p:sp>
      <p:graphicFrame>
        <p:nvGraphicFramePr>
          <p:cNvPr id="12" name="Object 25"/>
          <p:cNvGraphicFramePr>
            <a:graphicFrameLocks noChangeAspect="1"/>
          </p:cNvGraphicFramePr>
          <p:nvPr/>
        </p:nvGraphicFramePr>
        <p:xfrm>
          <a:off x="1000100" y="2071684"/>
          <a:ext cx="7344816" cy="468622"/>
        </p:xfrm>
        <a:graphic>
          <a:graphicData uri="http://schemas.openxmlformats.org/presentationml/2006/ole">
            <p:oleObj spid="_x0000_s2054" name="公式" r:id="rId3" imgW="73152000" imgH="5486400" progId="">
              <p:embed/>
            </p:oleObj>
          </a:graphicData>
        </a:graphic>
      </p:graphicFrame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609850" y="3635667"/>
            <a:ext cx="781980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en-US" altLang="zh-CN" dirty="0"/>
              <a:t>      </a:t>
            </a:r>
            <a:r>
              <a:rPr lang="zh-CN" altLang="en-US" b="1" dirty="0"/>
              <a:t>各数列分别用符号 </a:t>
            </a:r>
            <a:r>
              <a:rPr lang="en-US" altLang="zh-CN" b="1" dirty="0">
                <a:solidFill>
                  <a:srgbClr val="FF3300"/>
                </a:solidFill>
              </a:rPr>
              <a:t>R5</a:t>
            </a:r>
            <a:r>
              <a:rPr lang="zh-CN" altLang="en-US" b="1" dirty="0">
                <a:solidFill>
                  <a:srgbClr val="FF3300"/>
                </a:solidFill>
              </a:rPr>
              <a:t>、</a:t>
            </a:r>
            <a:r>
              <a:rPr lang="en-US" altLang="zh-CN" b="1" dirty="0">
                <a:solidFill>
                  <a:srgbClr val="FF3300"/>
                </a:solidFill>
              </a:rPr>
              <a:t>R10</a:t>
            </a:r>
            <a:r>
              <a:rPr lang="zh-CN" altLang="en-US" b="1" dirty="0">
                <a:solidFill>
                  <a:srgbClr val="FF3300"/>
                </a:solidFill>
              </a:rPr>
              <a:t>、</a:t>
            </a:r>
            <a:r>
              <a:rPr lang="en-US" altLang="zh-CN" b="1" dirty="0">
                <a:solidFill>
                  <a:srgbClr val="FF3300"/>
                </a:solidFill>
              </a:rPr>
              <a:t>R20</a:t>
            </a:r>
            <a:r>
              <a:rPr lang="zh-CN" altLang="en-US" b="1" dirty="0">
                <a:solidFill>
                  <a:srgbClr val="FF3300"/>
                </a:solidFill>
              </a:rPr>
              <a:t>、</a:t>
            </a:r>
            <a:r>
              <a:rPr lang="en-US" altLang="zh-CN" b="1" dirty="0">
                <a:solidFill>
                  <a:srgbClr val="FF3300"/>
                </a:solidFill>
              </a:rPr>
              <a:t>R40</a:t>
            </a:r>
            <a:r>
              <a:rPr lang="zh-CN" altLang="en-US" b="1" dirty="0"/>
              <a:t>和</a:t>
            </a:r>
            <a:r>
              <a:rPr lang="en-US" altLang="zh-CN" b="1" dirty="0">
                <a:solidFill>
                  <a:srgbClr val="FF3300"/>
                </a:solidFill>
              </a:rPr>
              <a:t>R80</a:t>
            </a:r>
            <a:r>
              <a:rPr lang="zh-CN" altLang="en-US" b="1" dirty="0"/>
              <a:t>表示，称为</a:t>
            </a:r>
            <a:r>
              <a:rPr lang="en-US" altLang="zh-CN" b="1" dirty="0"/>
              <a:t>R5</a:t>
            </a:r>
            <a:r>
              <a:rPr lang="zh-CN" altLang="en-US" b="1" dirty="0"/>
              <a:t>系列、</a:t>
            </a:r>
            <a:r>
              <a:rPr lang="en-US" altLang="zh-CN" b="1" dirty="0"/>
              <a:t>R10</a:t>
            </a:r>
            <a:r>
              <a:rPr lang="zh-CN" altLang="en-US" b="1" dirty="0"/>
              <a:t>系列、</a:t>
            </a:r>
            <a:r>
              <a:rPr lang="en-US" altLang="zh-CN" b="1" dirty="0"/>
              <a:t>R20</a:t>
            </a:r>
            <a:r>
              <a:rPr lang="zh-CN" altLang="en-US" b="1" dirty="0"/>
              <a:t>系列、</a:t>
            </a:r>
            <a:r>
              <a:rPr lang="en-US" altLang="zh-CN" b="1" dirty="0"/>
              <a:t>R40</a:t>
            </a:r>
            <a:r>
              <a:rPr lang="zh-CN" altLang="en-US" b="1" dirty="0"/>
              <a:t>系列和</a:t>
            </a:r>
            <a:r>
              <a:rPr lang="en-US" altLang="zh-CN" b="1" dirty="0"/>
              <a:t>R80</a:t>
            </a:r>
            <a:r>
              <a:rPr lang="zh-CN" altLang="en-US" b="1" dirty="0"/>
              <a:t>系列。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28</a:t>
            </a:fld>
            <a:endParaRPr lang="en-US" altLang="ja-JP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714348" y="3357568"/>
            <a:ext cx="381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各公比之间关系为：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2488681" y="3737029"/>
          <a:ext cx="2016323" cy="550203"/>
        </p:xfrm>
        <a:graphic>
          <a:graphicData uri="http://schemas.openxmlformats.org/presentationml/2006/ole">
            <p:oleObj spid="_x0000_s3087" name="Equation" r:id="rId3" imgW="16764000" imgH="6096000" progId="">
              <p:embed/>
            </p:oleObj>
          </a:graphicData>
        </a:graphic>
      </p:graphicFrame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23392" y="843558"/>
            <a:ext cx="5684912" cy="2409818"/>
          </a:xfrm>
          <a:prstGeom prst="rect">
            <a:avLst/>
          </a:prstGeom>
          <a:solidFill>
            <a:srgbClr val="FFCCFF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6516217" y="1707654"/>
            <a:ext cx="719137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6461570" y="2221597"/>
            <a:ext cx="7921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 flipV="1">
            <a:off x="6467357" y="2696344"/>
            <a:ext cx="7778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6558880" y="3217069"/>
            <a:ext cx="648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4505004" y="3736488"/>
          <a:ext cx="2299245" cy="556448"/>
        </p:xfrm>
        <a:graphic>
          <a:graphicData uri="http://schemas.openxmlformats.org/presentationml/2006/ole">
            <p:oleObj spid="_x0000_s3088" name="Equation" r:id="rId5" imgW="18897600" imgH="6096000" progId="">
              <p:embed/>
            </p:oleObj>
          </a:graphicData>
        </a:graphic>
      </p:graphicFrame>
      <p:sp>
        <p:nvSpPr>
          <p:cNvPr id="14" name="Line 20"/>
          <p:cNvSpPr>
            <a:spLocks noChangeShapeType="1"/>
          </p:cNvSpPr>
          <p:nvPr/>
        </p:nvSpPr>
        <p:spPr bwMode="auto">
          <a:xfrm>
            <a:off x="6444208" y="1221600"/>
            <a:ext cx="828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" name="Object 23"/>
          <p:cNvGraphicFramePr>
            <a:graphicFrameLocks noChangeAspect="1"/>
          </p:cNvGraphicFramePr>
          <p:nvPr/>
        </p:nvGraphicFramePr>
        <p:xfrm>
          <a:off x="1778726" y="4332685"/>
          <a:ext cx="2848744" cy="554767"/>
        </p:xfrm>
        <a:graphic>
          <a:graphicData uri="http://schemas.openxmlformats.org/presentationml/2006/ole">
            <p:oleObj spid="_x0000_s3089" name="Equation" r:id="rId6" imgW="23469600" imgH="6096000" progId="">
              <p:embed/>
            </p:oleObj>
          </a:graphicData>
        </a:graphic>
      </p:graphicFrame>
      <p:graphicFrame>
        <p:nvGraphicFramePr>
          <p:cNvPr id="16" name="Object 24"/>
          <p:cNvGraphicFramePr>
            <a:graphicFrameLocks noChangeAspect="1"/>
          </p:cNvGraphicFramePr>
          <p:nvPr/>
        </p:nvGraphicFramePr>
        <p:xfrm>
          <a:off x="4699478" y="4245769"/>
          <a:ext cx="1888746" cy="648239"/>
        </p:xfrm>
        <a:graphic>
          <a:graphicData uri="http://schemas.openxmlformats.org/presentationml/2006/ole">
            <p:oleObj spid="_x0000_s3090" name="Equation" r:id="rId7" imgW="17983200" imgH="8229600" progId="">
              <p:embed/>
            </p:oleObj>
          </a:graphicData>
        </a:graphic>
      </p:graphicFrame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3059832" y="214296"/>
            <a:ext cx="4946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/>
              <a:t>各个系列的</a:t>
            </a:r>
            <a:r>
              <a:rPr lang="zh-CN" altLang="en-US" sz="2800" b="1" dirty="0" smtClean="0"/>
              <a:t>公比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nimBg="1"/>
      <p:bldP spid="10" grpId="0" animBg="1"/>
      <p:bldP spid="11" grpId="0" animBg="1"/>
      <p:bldP spid="12" grpId="0" animBg="1"/>
      <p:bldP spid="14" grpId="0" animBg="1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Text Box 1031"/>
          <p:cNvSpPr txBox="1">
            <a:spLocks noChangeArrowheads="1"/>
          </p:cNvSpPr>
          <p:nvPr/>
        </p:nvSpPr>
        <p:spPr bwMode="auto">
          <a:xfrm>
            <a:off x="836635" y="3967473"/>
            <a:ext cx="69500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由表可见</a:t>
            </a:r>
            <a:r>
              <a:rPr lang="zh-CN" altLang="en-US" dirty="0"/>
              <a:t>：</a:t>
            </a:r>
            <a:r>
              <a:rPr lang="en-US" altLang="zh-CN" b="1" dirty="0">
                <a:solidFill>
                  <a:srgbClr val="FF3300"/>
                </a:solidFill>
              </a:rPr>
              <a:t>R5</a:t>
            </a:r>
            <a:r>
              <a:rPr lang="zh-CN" altLang="en-US" b="1" dirty="0">
                <a:solidFill>
                  <a:srgbClr val="FF3300"/>
                </a:solidFill>
              </a:rPr>
              <a:t>中间插入一个数→</a:t>
            </a:r>
            <a:r>
              <a:rPr lang="en-US" altLang="zh-CN" b="1" dirty="0">
                <a:solidFill>
                  <a:srgbClr val="FF3300"/>
                </a:solidFill>
              </a:rPr>
              <a:t>R10······</a:t>
            </a: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480677" y="447246"/>
            <a:ext cx="8234728" cy="3420648"/>
            <a:chOff x="807687" y="428114"/>
            <a:chExt cx="7573379" cy="4753487"/>
          </a:xfrm>
        </p:grpSpPr>
        <p:pic>
          <p:nvPicPr>
            <p:cNvPr id="34822" name="Picture 1029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687" y="576263"/>
              <a:ext cx="7499857" cy="4605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4823" name="Rectangle 1030"/>
            <p:cNvSpPr>
              <a:spLocks noChangeArrowheads="1"/>
            </p:cNvSpPr>
            <p:nvPr/>
          </p:nvSpPr>
          <p:spPr bwMode="auto">
            <a:xfrm>
              <a:off x="7732336" y="517293"/>
              <a:ext cx="648730" cy="3048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dirty="0" smtClean="0"/>
                <a:t>2005</a:t>
              </a:r>
              <a:r>
                <a:rPr lang="en-US" altLang="zh-CN" sz="1400" dirty="0"/>
                <a:t>)</a:t>
              </a:r>
            </a:p>
          </p:txBody>
        </p:sp>
        <p:sp>
          <p:nvSpPr>
            <p:cNvPr id="34824" name="TextBox 1"/>
            <p:cNvSpPr txBox="1">
              <a:spLocks noChangeArrowheads="1"/>
            </p:cNvSpPr>
            <p:nvPr/>
          </p:nvSpPr>
          <p:spPr bwMode="auto">
            <a:xfrm>
              <a:off x="2073668" y="428114"/>
              <a:ext cx="1512168" cy="4704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/>
              <a:r>
                <a:rPr lang="zh-CN" altLang="en-US" sz="1600" b="1" dirty="0"/>
                <a:t>表</a:t>
              </a:r>
              <a:r>
                <a:rPr lang="en-US" altLang="zh-CN" sz="1600" b="1" dirty="0"/>
                <a:t>1.2</a:t>
              </a:r>
              <a:endParaRPr lang="zh-CN" altLang="en-US" sz="1600" b="1" dirty="0"/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785996"/>
            <a:ext cx="2133600" cy="357188"/>
          </a:xfrm>
        </p:spPr>
        <p:txBody>
          <a:bodyPr/>
          <a:lstStyle/>
          <a:p>
            <a:pPr>
              <a:defRPr/>
            </a:pPr>
            <a:fld id="{BF7C2E76-40DE-4CB5-8E92-87B7E8450BA8}" type="slidenum">
              <a:rPr lang="ja-JP" altLang="en-US" smtClean="0"/>
              <a:pPr>
                <a:defRPr/>
              </a:pPr>
              <a:t>29</a:t>
            </a:fld>
            <a:endParaRPr lang="en-US" altLang="ja-JP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30</a:t>
            </a:fld>
            <a:endParaRPr lang="en-US" altLang="ja-JP"/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395288" y="249492"/>
            <a:ext cx="464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zh-CN" altLang="en-US" b="1" dirty="0">
                <a:latin typeface="宋体" panose="02010600030101010101" pitchFamily="2" charset="-122"/>
              </a:rPr>
              <a:t>优先数系的种类</a:t>
            </a:r>
          </a:p>
        </p:txBody>
      </p:sp>
      <p:sp>
        <p:nvSpPr>
          <p:cNvPr id="7" name="AutoShape 21"/>
          <p:cNvSpPr/>
          <p:nvPr/>
        </p:nvSpPr>
        <p:spPr bwMode="auto">
          <a:xfrm>
            <a:off x="1527175" y="1002503"/>
            <a:ext cx="381000" cy="1028700"/>
          </a:xfrm>
          <a:prstGeom prst="leftBrace">
            <a:avLst>
              <a:gd name="adj1" fmla="val 3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1905000" y="835816"/>
            <a:ext cx="20907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基本系列</a:t>
            </a: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1907704" y="1323470"/>
            <a:ext cx="2519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补充系列</a:t>
            </a:r>
          </a:p>
        </p:txBody>
      </p:sp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1907705" y="1807366"/>
            <a:ext cx="2085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变形系列</a:t>
            </a:r>
          </a:p>
        </p:txBody>
      </p:sp>
      <p:sp>
        <p:nvSpPr>
          <p:cNvPr id="11" name="Text Box 35"/>
          <p:cNvSpPr txBox="1">
            <a:spLocks noChangeArrowheads="1"/>
          </p:cNvSpPr>
          <p:nvPr/>
        </p:nvSpPr>
        <p:spPr bwMode="auto">
          <a:xfrm>
            <a:off x="611189" y="2832380"/>
            <a:ext cx="8351837" cy="552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1080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/>
              <a:t> ①  </a:t>
            </a:r>
            <a:r>
              <a:rPr lang="zh-CN" altLang="en-US" b="1" dirty="0" smtClean="0"/>
              <a:t>在</a:t>
            </a:r>
            <a:r>
              <a:rPr lang="en-US" altLang="zh-CN" b="1" dirty="0" err="1"/>
              <a:t>Rr</a:t>
            </a:r>
            <a:r>
              <a:rPr lang="zh-CN" altLang="en-US" b="1" dirty="0"/>
              <a:t>系列中每隔</a:t>
            </a:r>
            <a:r>
              <a:rPr lang="en-US" altLang="zh-CN" b="1" i="1" dirty="0"/>
              <a:t>p</a:t>
            </a:r>
            <a:r>
              <a:rPr lang="zh-CN" altLang="en-US" b="1" dirty="0"/>
              <a:t>项值取一项值形成的等比系列。    </a:t>
            </a:r>
          </a:p>
        </p:txBody>
      </p:sp>
      <p:sp>
        <p:nvSpPr>
          <p:cNvPr id="12" name="Text Box 38"/>
          <p:cNvSpPr txBox="1">
            <a:spLocks noChangeArrowheads="1"/>
          </p:cNvSpPr>
          <p:nvPr/>
        </p:nvSpPr>
        <p:spPr bwMode="auto">
          <a:xfrm>
            <a:off x="669936" y="3725465"/>
            <a:ext cx="5473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/>
              <a:t>② </a:t>
            </a:r>
            <a:r>
              <a:rPr lang="zh-CN" altLang="en-US" b="1" dirty="0"/>
              <a:t>派生系列公比为：</a:t>
            </a:r>
          </a:p>
        </p:txBody>
      </p:sp>
      <p:graphicFrame>
        <p:nvGraphicFramePr>
          <p:cNvPr id="13" name="Object 41"/>
          <p:cNvGraphicFramePr>
            <a:graphicFrameLocks noChangeAspect="1"/>
          </p:cNvGraphicFramePr>
          <p:nvPr/>
        </p:nvGraphicFramePr>
        <p:xfrm>
          <a:off x="2483768" y="4129291"/>
          <a:ext cx="4248472" cy="548693"/>
        </p:xfrm>
        <a:graphic>
          <a:graphicData uri="http://schemas.openxmlformats.org/presentationml/2006/ole">
            <p:oleObj spid="_x0000_s4102" name="Equation" r:id="rId3" imgW="39928800" imgH="6400800" progId="">
              <p:embed/>
            </p:oleObj>
          </a:graphicData>
        </a:graphic>
      </p:graphicFrame>
      <p:sp>
        <p:nvSpPr>
          <p:cNvPr id="14" name="Text Box 46"/>
          <p:cNvSpPr txBox="1">
            <a:spLocks noChangeArrowheads="1"/>
          </p:cNvSpPr>
          <p:nvPr/>
        </p:nvSpPr>
        <p:spPr bwMode="auto">
          <a:xfrm>
            <a:off x="431800" y="2302190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）派生系列</a:t>
            </a: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3733800" y="842953"/>
            <a:ext cx="403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3300"/>
                </a:solidFill>
              </a:rPr>
              <a:t>R5</a:t>
            </a:r>
            <a:r>
              <a:rPr lang="zh-CN" altLang="en-US" b="1" dirty="0">
                <a:solidFill>
                  <a:srgbClr val="FF3300"/>
                </a:solidFill>
              </a:rPr>
              <a:t>、</a:t>
            </a:r>
            <a:r>
              <a:rPr lang="en-US" altLang="zh-CN" b="1" dirty="0">
                <a:solidFill>
                  <a:srgbClr val="FF3300"/>
                </a:solidFill>
              </a:rPr>
              <a:t>R10</a:t>
            </a:r>
            <a:r>
              <a:rPr lang="zh-CN" altLang="en-US" b="1" dirty="0">
                <a:solidFill>
                  <a:srgbClr val="FF3300"/>
                </a:solidFill>
              </a:rPr>
              <a:t>、</a:t>
            </a:r>
            <a:r>
              <a:rPr lang="en-US" altLang="zh-CN" b="1" dirty="0">
                <a:solidFill>
                  <a:srgbClr val="FF3300"/>
                </a:solidFill>
              </a:rPr>
              <a:t>R20</a:t>
            </a:r>
            <a:r>
              <a:rPr lang="zh-CN" altLang="en-US" b="1" dirty="0">
                <a:solidFill>
                  <a:srgbClr val="FF3300"/>
                </a:solidFill>
              </a:rPr>
              <a:t>、</a:t>
            </a:r>
            <a:r>
              <a:rPr lang="en-US" altLang="zh-CN" b="1" dirty="0">
                <a:solidFill>
                  <a:srgbClr val="FF3300"/>
                </a:solidFill>
              </a:rPr>
              <a:t>R40</a:t>
            </a:r>
          </a:p>
        </p:txBody>
      </p:sp>
      <p:sp>
        <p:nvSpPr>
          <p:cNvPr id="16" name="Text Box 50"/>
          <p:cNvSpPr txBox="1">
            <a:spLocks noChangeArrowheads="1"/>
          </p:cNvSpPr>
          <p:nvPr/>
        </p:nvSpPr>
        <p:spPr bwMode="auto">
          <a:xfrm>
            <a:off x="3746138" y="1339445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70C0"/>
                </a:solidFill>
              </a:rPr>
              <a:t>R80</a:t>
            </a:r>
          </a:p>
        </p:txBody>
      </p:sp>
      <p:sp>
        <p:nvSpPr>
          <p:cNvPr id="17" name="Text Box 51"/>
          <p:cNvSpPr txBox="1">
            <a:spLocks noChangeArrowheads="1"/>
          </p:cNvSpPr>
          <p:nvPr/>
        </p:nvSpPr>
        <p:spPr bwMode="auto">
          <a:xfrm>
            <a:off x="3712686" y="1807366"/>
            <a:ext cx="43576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例如派生系列 等</a:t>
            </a:r>
          </a:p>
        </p:txBody>
      </p:sp>
      <p:sp>
        <p:nvSpPr>
          <p:cNvPr id="18" name="Text Box 61"/>
          <p:cNvSpPr txBox="1">
            <a:spLocks noChangeArrowheads="1"/>
          </p:cNvSpPr>
          <p:nvPr/>
        </p:nvSpPr>
        <p:spPr bwMode="auto">
          <a:xfrm>
            <a:off x="1260574" y="3253093"/>
            <a:ext cx="5327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派生系列用代号“</a:t>
            </a:r>
            <a:r>
              <a:rPr lang="en-US" altLang="zh-CN" b="1" dirty="0" err="1">
                <a:solidFill>
                  <a:srgbClr val="FF3300"/>
                </a:solidFill>
              </a:rPr>
              <a:t>Rr</a:t>
            </a:r>
            <a:r>
              <a:rPr lang="en-US" altLang="zh-CN" b="1" dirty="0">
                <a:solidFill>
                  <a:srgbClr val="FF3300"/>
                </a:solidFill>
              </a:rPr>
              <a:t>/</a:t>
            </a:r>
            <a:r>
              <a:rPr lang="en-US" altLang="zh-CN" b="1" i="1" dirty="0">
                <a:solidFill>
                  <a:srgbClr val="FF3300"/>
                </a:solidFill>
              </a:rPr>
              <a:t>p</a:t>
            </a:r>
            <a:r>
              <a:rPr lang="en-US" altLang="zh-CN" b="1" dirty="0"/>
              <a:t>”</a:t>
            </a:r>
            <a:r>
              <a:rPr lang="zh-CN" altLang="en-US" b="1" dirty="0"/>
              <a:t>表示。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31</a:t>
            </a:fld>
            <a:endParaRPr lang="en-US" altLang="ja-JP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67544" y="214296"/>
            <a:ext cx="5018088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/>
              <a:t> </a:t>
            </a:r>
            <a:r>
              <a:rPr lang="en-US" altLang="zh-CN" b="1" dirty="0"/>
              <a:t>(4) </a:t>
            </a:r>
            <a:r>
              <a:rPr lang="zh-CN" altLang="en-US" b="1" dirty="0"/>
              <a:t>优先数系</a:t>
            </a:r>
            <a:r>
              <a:rPr lang="zh-CN" altLang="en-US" b="1" dirty="0" smtClean="0"/>
              <a:t>代号</a:t>
            </a:r>
            <a:endParaRPr lang="zh-CN" altLang="en-US" b="1" dirty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115617" y="897564"/>
            <a:ext cx="49323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系列</a:t>
            </a:r>
            <a:r>
              <a:rPr lang="zh-CN" altLang="en-US" b="1" dirty="0">
                <a:solidFill>
                  <a:srgbClr val="FF3300"/>
                </a:solidFill>
              </a:rPr>
              <a:t>无限定范围</a:t>
            </a:r>
            <a:r>
              <a:rPr lang="zh-CN" altLang="en-US" b="1" dirty="0"/>
              <a:t>时</a:t>
            </a:r>
            <a:r>
              <a:rPr lang="en-US" altLang="zh-CN" b="1" dirty="0"/>
              <a:t>: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219200" y="2452446"/>
            <a:ext cx="6248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系列</a:t>
            </a:r>
            <a:r>
              <a:rPr lang="zh-CN" altLang="en-US" b="1" dirty="0">
                <a:solidFill>
                  <a:srgbClr val="FF3300"/>
                </a:solidFill>
              </a:rPr>
              <a:t>有限定范围</a:t>
            </a:r>
            <a:r>
              <a:rPr lang="zh-CN" altLang="en-US" b="1" dirty="0"/>
              <a:t>时，应</a:t>
            </a:r>
            <a:r>
              <a:rPr lang="zh-CN" altLang="en-US" b="1" dirty="0">
                <a:solidFill>
                  <a:srgbClr val="FF0000"/>
                </a:solidFill>
              </a:rPr>
              <a:t>注明界限</a:t>
            </a:r>
            <a:r>
              <a:rPr lang="zh-CN" altLang="en-US" b="1" dirty="0"/>
              <a:t>值</a:t>
            </a:r>
            <a:r>
              <a:rPr lang="en-US" altLang="zh-CN" b="1" dirty="0"/>
              <a:t>: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908732" y="4181787"/>
            <a:ext cx="350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 dirty="0"/>
              <a:t> </a:t>
            </a:r>
            <a:r>
              <a:rPr lang="en-US" altLang="zh-CN" b="1" dirty="0" smtClean="0"/>
              <a:t>R10/3 (</a:t>
            </a:r>
            <a:r>
              <a:rPr lang="en-US" altLang="zh-CN" b="1" dirty="0"/>
              <a:t>16…) …</a:t>
            </a:r>
            <a:r>
              <a:rPr lang="zh-CN" altLang="en-US" b="1" dirty="0"/>
              <a:t>。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996430" y="3317691"/>
            <a:ext cx="3295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 dirty="0" smtClean="0"/>
              <a:t>R10 (</a:t>
            </a:r>
            <a:r>
              <a:rPr lang="en-US" altLang="zh-CN" b="1" dirty="0"/>
              <a:t>16…)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endParaRPr lang="zh-CN" altLang="en-US" b="1" dirty="0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993061" y="3749739"/>
            <a:ext cx="3119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 smtClean="0"/>
              <a:t>R10 (</a:t>
            </a:r>
            <a:r>
              <a:rPr lang="en-US" altLang="zh-CN" b="1" dirty="0"/>
              <a:t>16…40)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464264" y="2885643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如  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R10 (…</a:t>
            </a:r>
            <a:r>
              <a:rPr lang="en-US" altLang="zh-CN" b="1" dirty="0"/>
              <a:t>40)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</a:p>
        </p:txBody>
      </p:sp>
      <p:sp>
        <p:nvSpPr>
          <p:cNvPr id="13" name="AutoShape 12"/>
          <p:cNvSpPr/>
          <p:nvPr/>
        </p:nvSpPr>
        <p:spPr bwMode="auto">
          <a:xfrm>
            <a:off x="2035175" y="1553752"/>
            <a:ext cx="381000" cy="685800"/>
          </a:xfrm>
          <a:prstGeom prst="leftBrace">
            <a:avLst>
              <a:gd name="adj1" fmla="val 2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438400" y="1382302"/>
            <a:ext cx="37401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 err="1"/>
              <a:t>Rr</a:t>
            </a:r>
            <a:r>
              <a:rPr lang="en-US" altLang="zh-CN" b="1" dirty="0"/>
              <a:t>    </a:t>
            </a:r>
            <a:r>
              <a:rPr lang="en-US" altLang="zh-CN" b="1" dirty="0" smtClean="0"/>
              <a:t>  </a:t>
            </a:r>
            <a:r>
              <a:rPr lang="zh-CN" altLang="en-US" b="1" dirty="0" smtClean="0"/>
              <a:t>如 </a:t>
            </a:r>
            <a:r>
              <a:rPr lang="en-US" altLang="zh-CN" b="1" dirty="0"/>
              <a:t>R10</a:t>
            </a:r>
            <a:r>
              <a:rPr lang="zh-CN" altLang="en-US" b="1" dirty="0"/>
              <a:t>、</a:t>
            </a:r>
            <a:r>
              <a:rPr lang="en-US" altLang="zh-CN" b="1" dirty="0"/>
              <a:t>R20….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438400" y="1964517"/>
            <a:ext cx="403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 err="1"/>
              <a:t>Rr</a:t>
            </a:r>
            <a:r>
              <a:rPr lang="en-US" altLang="zh-CN" b="1" dirty="0"/>
              <a:t>/p   </a:t>
            </a:r>
            <a:r>
              <a:rPr lang="zh-CN" altLang="en-US" b="1" dirty="0" smtClean="0"/>
              <a:t>如 </a:t>
            </a:r>
            <a:r>
              <a:rPr lang="en-US" altLang="zh-CN" b="1" dirty="0" smtClean="0"/>
              <a:t>R10/3</a:t>
            </a:r>
            <a:r>
              <a:rPr lang="en-US" altLang="zh-CN" b="1" dirty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nimBg="1"/>
      <p:bldP spid="14" grpId="0" autoUpdateAnimBg="0"/>
      <p:bldP spid="1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500034" y="285734"/>
            <a:ext cx="3822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例如</a:t>
            </a:r>
            <a:r>
              <a:rPr lang="en-US" altLang="zh-CN" b="1" dirty="0"/>
              <a:t>R10/3</a:t>
            </a:r>
            <a:r>
              <a:rPr lang="zh-CN" altLang="en-US" b="1" dirty="0"/>
              <a:t>，</a:t>
            </a:r>
            <a:r>
              <a:rPr lang="zh-CN" altLang="en-US" b="1" dirty="0">
                <a:latin typeface="宋体" panose="02010600030101010101" pitchFamily="2" charset="-122"/>
              </a:rPr>
              <a:t>公比为</a:t>
            </a:r>
          </a:p>
        </p:txBody>
      </p:sp>
      <p:graphicFrame>
        <p:nvGraphicFramePr>
          <p:cNvPr id="21761" name="Group 257"/>
          <p:cNvGraphicFramePr>
            <a:graphicFrameLocks noGrp="1"/>
          </p:cNvGraphicFramePr>
          <p:nvPr/>
        </p:nvGraphicFramePr>
        <p:xfrm>
          <a:off x="500034" y="1000114"/>
          <a:ext cx="8348692" cy="2114551"/>
        </p:xfrm>
        <a:graphic>
          <a:graphicData uri="http://schemas.openxmlformats.org/drawingml/2006/table">
            <a:tbl>
              <a:tblPr/>
              <a:tblGrid>
                <a:gridCol w="15428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26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607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607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3274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077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6077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3124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3125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6227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6077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0172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559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R10</a:t>
                      </a:r>
                    </a:p>
                  </a:txBody>
                  <a:tcPr marT="34290" marB="3429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1.25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1.60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2.50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3.15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6.30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R10/3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1.00…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T="34290" marB="3429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79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R10/3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1.25…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T="34290" marB="3429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1.25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2.50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5.00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79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R10/3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1.60…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T="34290" marB="3429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1.60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3.15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6.30</a:t>
                      </a: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1740" name="Text Box 236"/>
          <p:cNvSpPr txBox="1">
            <a:spLocks noChangeArrowheads="1"/>
          </p:cNvSpPr>
          <p:nvPr/>
        </p:nvSpPr>
        <p:spPr bwMode="auto">
          <a:xfrm>
            <a:off x="3272768" y="259038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 i="1" dirty="0"/>
              <a:t>q</a:t>
            </a:r>
            <a:r>
              <a:rPr lang="en-US" altLang="zh-CN" b="1" baseline="-25000" dirty="0"/>
              <a:t>10/3</a:t>
            </a:r>
            <a:r>
              <a:rPr lang="en-US" altLang="zh-CN" b="1" dirty="0"/>
              <a:t>=10</a:t>
            </a:r>
            <a:r>
              <a:rPr lang="en-US" altLang="zh-CN" b="1" baseline="30000" dirty="0"/>
              <a:t>3/10</a:t>
            </a:r>
            <a:r>
              <a:rPr lang="en-US" altLang="zh-CN" dirty="0">
                <a:latin typeface="宋体" panose="02010600030101010101" pitchFamily="2" charset="-122"/>
              </a:rPr>
              <a:t>≈</a:t>
            </a:r>
            <a:r>
              <a:rPr lang="en-US" altLang="zh-CN" baseline="30000" dirty="0"/>
              <a:t> </a:t>
            </a:r>
            <a:r>
              <a:rPr lang="en-US" altLang="zh-CN" dirty="0"/>
              <a:t>2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</a:p>
        </p:txBody>
      </p:sp>
      <p:sp>
        <p:nvSpPr>
          <p:cNvPr id="21742" name="Text Box 238"/>
          <p:cNvSpPr txBox="1">
            <a:spLocks noChangeArrowheads="1"/>
          </p:cNvSpPr>
          <p:nvPr/>
        </p:nvSpPr>
        <p:spPr bwMode="auto">
          <a:xfrm>
            <a:off x="6322604" y="287710"/>
            <a:ext cx="2428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b="1" dirty="0"/>
              <a:t>由表</a:t>
            </a:r>
            <a:r>
              <a:rPr lang="en-US" altLang="zh-CN" b="1" dirty="0"/>
              <a:t>1.2</a:t>
            </a:r>
            <a:r>
              <a:rPr lang="zh-CN" altLang="en-US" b="1" dirty="0"/>
              <a:t>可得下表</a:t>
            </a:r>
          </a:p>
        </p:txBody>
      </p:sp>
      <p:sp>
        <p:nvSpPr>
          <p:cNvPr id="21766" name="Text Box 262"/>
          <p:cNvSpPr txBox="1">
            <a:spLocks noChangeArrowheads="1"/>
          </p:cNvSpPr>
          <p:nvPr/>
        </p:nvSpPr>
        <p:spPr bwMode="auto">
          <a:xfrm>
            <a:off x="5000628" y="261014"/>
            <a:ext cx="172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 </a:t>
            </a:r>
            <a:r>
              <a:rPr lang="en-US" altLang="zh-CN" i="1" dirty="0"/>
              <a:t>p</a:t>
            </a:r>
            <a:r>
              <a:rPr lang="en-US" altLang="zh-CN" dirty="0"/>
              <a:t> = 3 ,</a:t>
            </a: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642910" y="3286130"/>
            <a:ext cx="7853390" cy="1355340"/>
            <a:chOff x="457200" y="4538452"/>
            <a:chExt cx="8001000" cy="1808373"/>
          </a:xfrm>
        </p:grpSpPr>
        <p:pic>
          <p:nvPicPr>
            <p:cNvPr id="37965" name="Picture 26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4724400"/>
              <a:ext cx="7772400" cy="1622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966" name="Rectangle 264"/>
            <p:cNvSpPr>
              <a:spLocks noChangeArrowheads="1"/>
            </p:cNvSpPr>
            <p:nvPr/>
          </p:nvSpPr>
          <p:spPr bwMode="auto">
            <a:xfrm>
              <a:off x="7772400" y="4724400"/>
              <a:ext cx="6858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600" dirty="0"/>
                <a:t>2005)</a:t>
              </a:r>
            </a:p>
          </p:txBody>
        </p:sp>
        <p:sp>
          <p:nvSpPr>
            <p:cNvPr id="37967" name="TextBox 1"/>
            <p:cNvSpPr txBox="1">
              <a:spLocks noChangeArrowheads="1"/>
            </p:cNvSpPr>
            <p:nvPr/>
          </p:nvSpPr>
          <p:spPr bwMode="auto">
            <a:xfrm>
              <a:off x="2111234" y="4538452"/>
              <a:ext cx="1270000" cy="4517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/>
              <a:r>
                <a:rPr lang="zh-CN" altLang="en-US" sz="1600" b="1" dirty="0"/>
                <a:t>表</a:t>
              </a:r>
              <a:r>
                <a:rPr lang="en-US" altLang="zh-CN" sz="1600" b="1" dirty="0"/>
                <a:t>1.2</a:t>
              </a:r>
              <a:endParaRPr lang="zh-CN" altLang="en-US" sz="1600" b="1" dirty="0"/>
            </a:p>
          </p:txBody>
        </p:sp>
      </p:grpSp>
      <p:sp>
        <p:nvSpPr>
          <p:cNvPr id="15" name="Line 267"/>
          <p:cNvSpPr>
            <a:spLocks noChangeShapeType="1"/>
          </p:cNvSpPr>
          <p:nvPr/>
        </p:nvSpPr>
        <p:spPr bwMode="auto">
          <a:xfrm>
            <a:off x="900114" y="4286262"/>
            <a:ext cx="7329487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6553200" y="4860856"/>
            <a:ext cx="2133600" cy="282644"/>
          </a:xfrm>
        </p:spPr>
        <p:txBody>
          <a:bodyPr/>
          <a:lstStyle/>
          <a:p>
            <a:pPr>
              <a:defRPr/>
            </a:pPr>
            <a:fld id="{BF7C2E76-40DE-4CB5-8E92-87B7E8450BA8}" type="slidenum">
              <a:rPr lang="ja-JP" altLang="en-US" smtClean="0"/>
              <a:pPr>
                <a:defRPr/>
              </a:pPr>
              <a:t>32</a:t>
            </a:fld>
            <a:endParaRPr lang="en-US" altLang="ja-JP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33</a:t>
            </a:fld>
            <a:endParaRPr lang="en-US" altLang="ja-JP"/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67544" y="214296"/>
            <a:ext cx="2286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en-US" altLang="zh-CN" sz="2800" b="1" dirty="0" smtClean="0"/>
              <a:t>3.2 </a:t>
            </a:r>
            <a:r>
              <a:rPr lang="zh-CN" altLang="en-US" sz="2800" b="1" dirty="0" smtClean="0"/>
              <a:t>优先</a:t>
            </a:r>
            <a:r>
              <a:rPr lang="zh-CN" altLang="en-US" sz="2800" b="1" dirty="0"/>
              <a:t>数</a:t>
            </a:r>
          </a:p>
        </p:txBody>
      </p:sp>
      <p:grpSp>
        <p:nvGrpSpPr>
          <p:cNvPr id="18" name="Group 30"/>
          <p:cNvGrpSpPr/>
          <p:nvPr/>
        </p:nvGrpSpPr>
        <p:grpSpPr bwMode="auto">
          <a:xfrm>
            <a:off x="771554" y="926148"/>
            <a:ext cx="2603500" cy="973931"/>
            <a:chOff x="376" y="526"/>
            <a:chExt cx="1640" cy="818"/>
          </a:xfrm>
        </p:grpSpPr>
        <p:sp>
          <p:nvSpPr>
            <p:cNvPr id="19" name="Text Box 5"/>
            <p:cNvSpPr txBox="1">
              <a:spLocks noChangeArrowheads="1"/>
            </p:cNvSpPr>
            <p:nvPr/>
          </p:nvSpPr>
          <p:spPr bwMode="auto">
            <a:xfrm>
              <a:off x="376" y="773"/>
              <a:ext cx="1363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000" b="1" dirty="0"/>
                <a:t>按近似程度分</a:t>
              </a:r>
            </a:p>
          </p:txBody>
        </p:sp>
        <p:sp>
          <p:nvSpPr>
            <p:cNvPr id="20" name="AutoShape 6"/>
            <p:cNvSpPr/>
            <p:nvPr/>
          </p:nvSpPr>
          <p:spPr bwMode="auto">
            <a:xfrm>
              <a:off x="1680" y="526"/>
              <a:ext cx="336" cy="818"/>
            </a:xfrm>
            <a:prstGeom prst="leftBrace">
              <a:avLst>
                <a:gd name="adj1" fmla="val 2381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3431232" y="801745"/>
            <a:ext cx="5029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b="1" dirty="0"/>
              <a:t>理论</a:t>
            </a:r>
            <a:r>
              <a:rPr lang="zh-CN" altLang="en-US" sz="2000" b="1" dirty="0" smtClean="0"/>
              <a:t>值 </a:t>
            </a:r>
            <a:r>
              <a:rPr lang="en-US" altLang="zh-CN" sz="2000" b="1" dirty="0" smtClean="0"/>
              <a:t>(</a:t>
            </a:r>
            <a:r>
              <a:rPr lang="zh-CN" altLang="en-US" sz="2000" b="1" dirty="0" smtClean="0"/>
              <a:t>按理论</a:t>
            </a:r>
            <a:r>
              <a:rPr lang="zh-CN" altLang="en-US" sz="2000" b="1" dirty="0"/>
              <a:t>公比计算所得的项值</a:t>
            </a:r>
            <a:r>
              <a:rPr lang="en-US" altLang="zh-CN" sz="2000" b="1" dirty="0"/>
              <a:t>)</a:t>
            </a: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3431232" y="1080456"/>
            <a:ext cx="3962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b="1" dirty="0"/>
              <a:t>计算</a:t>
            </a:r>
            <a:r>
              <a:rPr lang="zh-CN" altLang="en-US" sz="2000" b="1" dirty="0" smtClean="0"/>
              <a:t>值 </a:t>
            </a:r>
            <a:r>
              <a:rPr lang="en-US" altLang="zh-CN" sz="2000" dirty="0" smtClean="0"/>
              <a:t>(</a:t>
            </a:r>
            <a:r>
              <a:rPr lang="zh-CN" altLang="en-US" sz="2000" b="1" dirty="0" smtClean="0">
                <a:solidFill>
                  <a:srgbClr val="FF3300"/>
                </a:solidFill>
              </a:rPr>
              <a:t>代替</a:t>
            </a:r>
            <a:r>
              <a:rPr lang="zh-CN" altLang="en-US" sz="2000" b="1" dirty="0">
                <a:solidFill>
                  <a:srgbClr val="FF3300"/>
                </a:solidFill>
              </a:rPr>
              <a:t>理论</a:t>
            </a:r>
            <a:r>
              <a:rPr lang="zh-CN" altLang="en-US" sz="2000" b="1" dirty="0" smtClean="0">
                <a:solidFill>
                  <a:srgbClr val="FF3300"/>
                </a:solidFill>
              </a:rPr>
              <a:t>值</a:t>
            </a:r>
            <a:r>
              <a:rPr lang="en-US" altLang="zh-CN" sz="2000" dirty="0" smtClean="0"/>
              <a:t>)</a:t>
            </a:r>
            <a:endParaRPr lang="zh-CN" altLang="en-US" sz="2000" dirty="0"/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3431232" y="1395811"/>
            <a:ext cx="3581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3300"/>
                </a:solidFill>
              </a:rPr>
              <a:t>常用值  </a:t>
            </a:r>
            <a:r>
              <a:rPr lang="en-US" altLang="zh-CN" sz="2000" b="1" dirty="0" smtClean="0"/>
              <a:t>(</a:t>
            </a:r>
            <a:r>
              <a:rPr lang="zh-CN" altLang="en-US" sz="2000" b="1" dirty="0" smtClean="0"/>
              <a:t>即</a:t>
            </a:r>
            <a:r>
              <a:rPr lang="zh-CN" altLang="en-US" sz="2000" b="1" dirty="0" smtClean="0">
                <a:solidFill>
                  <a:srgbClr val="FF3300"/>
                </a:solidFill>
              </a:rPr>
              <a:t>优先数</a:t>
            </a:r>
            <a:r>
              <a:rPr lang="en-US" altLang="zh-CN" sz="2000" b="1" dirty="0" smtClean="0"/>
              <a:t>)</a:t>
            </a:r>
            <a:endParaRPr lang="zh-CN" altLang="en-US" sz="2000" b="1" dirty="0"/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431232" y="1676761"/>
            <a:ext cx="1600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b="1"/>
              <a:t>化整值</a:t>
            </a:r>
          </a:p>
        </p:txBody>
      </p:sp>
      <p:grpSp>
        <p:nvGrpSpPr>
          <p:cNvPr id="25" name="组合 24"/>
          <p:cNvGrpSpPr/>
          <p:nvPr/>
        </p:nvGrpSpPr>
        <p:grpSpPr bwMode="auto">
          <a:xfrm>
            <a:off x="664907" y="2015729"/>
            <a:ext cx="7715305" cy="2877740"/>
            <a:chOff x="504825" y="2636912"/>
            <a:chExt cx="7848600" cy="3837458"/>
          </a:xfrm>
        </p:grpSpPr>
        <p:pic>
          <p:nvPicPr>
            <p:cNvPr id="26" name="Picture 2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825" y="2816770"/>
              <a:ext cx="7848600" cy="3657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" name="TextBox 1"/>
            <p:cNvSpPr txBox="1">
              <a:spLocks noChangeArrowheads="1"/>
            </p:cNvSpPr>
            <p:nvPr/>
          </p:nvSpPr>
          <p:spPr bwMode="auto">
            <a:xfrm>
              <a:off x="2522413" y="2636912"/>
              <a:ext cx="5590617" cy="451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1600" b="1" dirty="0"/>
                <a:t>表</a:t>
              </a:r>
              <a:r>
                <a:rPr lang="en-US" altLang="zh-CN" sz="1600" b="1" dirty="0"/>
                <a:t>1.2 </a:t>
              </a:r>
              <a:r>
                <a:rPr lang="zh-CN" altLang="en-US" sz="1600" b="1" dirty="0"/>
                <a:t>优先数的基本系列        </a:t>
              </a:r>
              <a:r>
                <a:rPr lang="en-US" altLang="zh-CN" sz="1600" b="1" dirty="0"/>
                <a:t>(</a:t>
              </a:r>
              <a:r>
                <a:rPr lang="zh-CN" altLang="en-US" sz="1600" b="1" dirty="0"/>
                <a:t>摘自</a:t>
              </a:r>
              <a:r>
                <a:rPr lang="en-US" altLang="zh-CN" sz="1600" b="1" dirty="0"/>
                <a:t>GB/T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―2005)</a:t>
              </a:r>
              <a:endParaRPr lang="zh-CN" altLang="en-US" sz="1600" b="1" dirty="0"/>
            </a:p>
          </p:txBody>
        </p:sp>
      </p:grp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661982" y="2895786"/>
            <a:ext cx="3124200" cy="2057400"/>
          </a:xfrm>
          <a:prstGeom prst="rect">
            <a:avLst/>
          </a:prstGeom>
          <a:noFill/>
          <a:ln w="38100">
            <a:solidFill>
              <a:srgbClr val="CC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6537099" y="3058716"/>
            <a:ext cx="0" cy="1828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>
            <a:off x="4522561" y="3121819"/>
            <a:ext cx="0" cy="17716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utoUpdateAnimBg="0"/>
      <p:bldP spid="21" grpId="0" autoUpdateAnimBg="0"/>
      <p:bldP spid="22" grpId="0" autoUpdateAnimBg="0"/>
      <p:bldP spid="23" grpId="0" autoUpdateAnimBg="0"/>
      <p:bldP spid="24" grpId="0" autoUpdateAnimBg="0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34</a:t>
            </a:fld>
            <a:endParaRPr lang="en-US" altLang="ja-JP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0034" y="249492"/>
            <a:ext cx="65468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/>
              <a:t> </a:t>
            </a:r>
            <a:r>
              <a:rPr lang="en-US" altLang="zh-CN" sz="2800" b="1" dirty="0" smtClean="0"/>
              <a:t>3.3 </a:t>
            </a:r>
            <a:r>
              <a:rPr lang="zh-CN" altLang="en-US" sz="2800" b="1" dirty="0" smtClean="0"/>
              <a:t>优先</a:t>
            </a:r>
            <a:r>
              <a:rPr lang="zh-CN" altLang="en-US" sz="2800" b="1" dirty="0"/>
              <a:t>数系的应用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23292" y="2139703"/>
            <a:ext cx="6326187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）</a:t>
            </a:r>
            <a:r>
              <a:rPr lang="zh-CN" altLang="en-US" b="1" dirty="0" smtClean="0">
                <a:latin typeface="宋体" panose="02010600030101010101" pitchFamily="2" charset="-122"/>
              </a:rPr>
              <a:t>优先</a:t>
            </a:r>
            <a:r>
              <a:rPr lang="zh-CN" altLang="en-US" b="1" dirty="0">
                <a:latin typeface="宋体" panose="02010600030101010101" pitchFamily="2" charset="-122"/>
              </a:rPr>
              <a:t>数系的应用顺序为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644008" y="3219822"/>
            <a:ext cx="32884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zh-CN" altLang="en-US" b="1" dirty="0">
                <a:latin typeface="宋体" panose="02010600030101010101" pitchFamily="2" charset="-122"/>
              </a:rPr>
              <a:t>尽量采用含有</a:t>
            </a:r>
            <a:r>
              <a:rPr lang="en-US" altLang="zh-CN" b="1" dirty="0"/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的）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131841" y="3140815"/>
            <a:ext cx="2455863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 dirty="0" err="1"/>
              <a:t>Rr</a:t>
            </a:r>
            <a:r>
              <a:rPr lang="en-US" altLang="zh-CN" dirty="0"/>
              <a:t>/p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1651596" y="2679762"/>
            <a:ext cx="11922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dirty="0"/>
              <a:t>R5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305747" y="2679762"/>
            <a:ext cx="2146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 dirty="0"/>
              <a:t>R10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753547" y="2679762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/>
              <a:t>R20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130703" y="2688443"/>
            <a:ext cx="27574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 dirty="0"/>
              <a:t>R40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1619672" y="3165816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 dirty="0"/>
              <a:t>R80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1691681" y="3759883"/>
            <a:ext cx="31848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rgbClr val="FF3300"/>
                </a:solidFill>
              </a:rPr>
              <a:t>先疏后密原则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525064" y="1064878"/>
            <a:ext cx="72482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）在一切标准化领域中应尽可能采用优先数系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521563" y="1604988"/>
            <a:ext cx="72251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）区别对待各个参数采用优先数系的要求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430244" y="1178710"/>
            <a:ext cx="86423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/>
              <a:t>    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build="p" autoUpdateAnimBg="0"/>
      <p:bldP spid="17" grpId="0" build="p" autoUpdateAnimBg="0"/>
      <p:bldP spid="18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35</a:t>
            </a:fld>
            <a:endParaRPr lang="en-US" altLang="ja-JP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09600" y="249492"/>
            <a:ext cx="56911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 smtClean="0"/>
              <a:t>4  </a:t>
            </a:r>
            <a:r>
              <a:rPr lang="zh-CN" altLang="en-US" sz="2800" b="1" dirty="0"/>
              <a:t>检测技术的发展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99592" y="1889038"/>
            <a:ext cx="748665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/>
              <a:t>      </a:t>
            </a:r>
            <a:r>
              <a:rPr lang="zh-CN" altLang="en-US" b="1" dirty="0"/>
              <a:t>根据国际计量大会的统计，机械零件加工的精度大约</a:t>
            </a:r>
            <a:r>
              <a:rPr lang="zh-CN" altLang="en-US" b="1" dirty="0">
                <a:solidFill>
                  <a:srgbClr val="FF3300"/>
                </a:solidFill>
              </a:rPr>
              <a:t>每十年提高一个数量级</a:t>
            </a:r>
            <a:r>
              <a:rPr lang="zh-CN" altLang="en-US" b="1" dirty="0"/>
              <a:t>，这是由于检测技术不断发展的缘故。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418456" y="3314031"/>
            <a:ext cx="27214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dirty="0"/>
              <a:t> </a:t>
            </a:r>
            <a:r>
              <a:rPr lang="en-US" altLang="zh-CN" b="1" dirty="0"/>
              <a:t>1940</a:t>
            </a:r>
            <a:r>
              <a:rPr lang="zh-CN" altLang="en-US" b="1" dirty="0"/>
              <a:t>年 </a:t>
            </a:r>
            <a:r>
              <a:rPr lang="en-US" altLang="zh-CN" b="1" dirty="0">
                <a:solidFill>
                  <a:srgbClr val="FF3300"/>
                </a:solidFill>
              </a:rPr>
              <a:t>1.5μm</a:t>
            </a: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829816" y="951570"/>
            <a:ext cx="741459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/>
              <a:t>       </a:t>
            </a:r>
            <a:r>
              <a:rPr lang="zh-CN" altLang="en-US" b="1" dirty="0"/>
              <a:t>检测技术是实现互换性生产的重要手段，它们是</a:t>
            </a:r>
            <a:r>
              <a:rPr lang="zh-CN" altLang="en-US" b="1" dirty="0">
                <a:solidFill>
                  <a:srgbClr val="FF3300"/>
                </a:solidFill>
              </a:rPr>
              <a:t>相互依存，又相互促进</a:t>
            </a:r>
            <a:r>
              <a:rPr lang="zh-CN" altLang="en-US" b="1" dirty="0"/>
              <a:t>。</a:t>
            </a:r>
          </a:p>
        </p:txBody>
      </p:sp>
      <p:sp>
        <p:nvSpPr>
          <p:cNvPr id="10" name="Text Box 43"/>
          <p:cNvSpPr txBox="1">
            <a:spLocks noChangeArrowheads="1"/>
          </p:cNvSpPr>
          <p:nvPr/>
        </p:nvSpPr>
        <p:spPr bwMode="auto">
          <a:xfrm>
            <a:off x="4038600" y="3273828"/>
            <a:ext cx="34857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b="1" dirty="0"/>
              <a:t>1950</a:t>
            </a:r>
            <a:r>
              <a:rPr lang="zh-CN" altLang="en-US" b="1" dirty="0"/>
              <a:t>年 </a:t>
            </a:r>
            <a:r>
              <a:rPr lang="en-US" altLang="zh-CN" b="1" dirty="0">
                <a:solidFill>
                  <a:srgbClr val="FF3300"/>
                </a:solidFill>
              </a:rPr>
              <a:t>0.2μm</a:t>
            </a:r>
          </a:p>
        </p:txBody>
      </p:sp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1089904" y="3823971"/>
            <a:ext cx="32404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b="1" dirty="0"/>
              <a:t>1960</a:t>
            </a:r>
            <a:r>
              <a:rPr lang="zh-CN" altLang="en-US" b="1" dirty="0"/>
              <a:t>年 </a:t>
            </a:r>
            <a:r>
              <a:rPr lang="en-US" altLang="zh-CN" b="1" dirty="0">
                <a:solidFill>
                  <a:srgbClr val="FF3300"/>
                </a:solidFill>
              </a:rPr>
              <a:t>0.1μm</a:t>
            </a:r>
          </a:p>
        </p:txBody>
      </p:sp>
      <p:sp>
        <p:nvSpPr>
          <p:cNvPr id="12" name="Text Box 45"/>
          <p:cNvSpPr txBox="1">
            <a:spLocks noChangeArrowheads="1"/>
          </p:cNvSpPr>
          <p:nvPr/>
        </p:nvSpPr>
        <p:spPr bwMode="auto">
          <a:xfrm>
            <a:off x="4068266" y="3872936"/>
            <a:ext cx="36720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b="1" dirty="0"/>
              <a:t>1969</a:t>
            </a:r>
            <a:r>
              <a:rPr lang="zh-CN" altLang="en-US" b="1" dirty="0"/>
              <a:t>年 </a:t>
            </a:r>
            <a:r>
              <a:rPr lang="en-US" altLang="zh-CN" b="1" dirty="0">
                <a:solidFill>
                  <a:srgbClr val="FF3300"/>
                </a:solidFill>
              </a:rPr>
              <a:t>0.01μm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36</a:t>
            </a:fld>
            <a:endParaRPr lang="en-US" altLang="ja-JP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143240" y="142858"/>
            <a:ext cx="25202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 smtClean="0"/>
              <a:t>本  章 小  结</a:t>
            </a:r>
            <a:endParaRPr lang="zh-CN" alt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983702" y="1599643"/>
            <a:ext cx="56601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zh-CN" altLang="en-US" sz="2800" b="1" dirty="0" smtClean="0"/>
              <a:t>互换性概念与分类</a:t>
            </a:r>
            <a:endParaRPr lang="en-US" altLang="zh-CN" sz="2800" b="1" dirty="0" smtClean="0"/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zh-CN" altLang="en-US" sz="2800" b="1" dirty="0" smtClean="0"/>
              <a:t>公差的概念</a:t>
            </a:r>
            <a:endParaRPr lang="en-US" altLang="zh-CN" sz="2800" b="1" dirty="0" smtClean="0"/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zh-CN" altLang="en-US" sz="2800" b="1" dirty="0" smtClean="0"/>
              <a:t>优先</a:t>
            </a:r>
            <a:r>
              <a:rPr lang="zh-CN" altLang="en-US" sz="2800" b="1" dirty="0" smtClean="0"/>
              <a:t>数</a:t>
            </a:r>
            <a:r>
              <a:rPr lang="zh-CN" altLang="en-US" sz="2800" b="1" dirty="0" smtClean="0"/>
              <a:t>系（</a:t>
            </a:r>
            <a:r>
              <a:rPr lang="en-US" altLang="zh-CN" sz="2800" b="1" dirty="0" err="1" smtClean="0"/>
              <a:t>Rr</a:t>
            </a:r>
            <a:r>
              <a:rPr lang="zh-CN" altLang="en-US" sz="2800" b="1" dirty="0" smtClean="0"/>
              <a:t>系列）与优先数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37</a:t>
            </a:fld>
            <a:endParaRPr lang="en-US" altLang="ja-JP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203848" y="142858"/>
            <a:ext cx="25922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 smtClean="0"/>
              <a:t>课  堂  测  试</a:t>
            </a:r>
            <a:endParaRPr lang="zh-CN" alt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619672" y="785801"/>
            <a:ext cx="66967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AutoNum type="arabicPeriod"/>
            </a:pPr>
            <a:r>
              <a:rPr lang="zh-CN" altLang="en-US" b="1" dirty="0" smtClean="0"/>
              <a:t>优先数系中</a:t>
            </a:r>
            <a:r>
              <a:rPr lang="en-US" altLang="zh-CN" b="1" dirty="0" smtClean="0"/>
              <a:t>R40</a:t>
            </a:r>
            <a:r>
              <a:rPr lang="zh-CN" altLang="en-US" b="1" dirty="0" smtClean="0"/>
              <a:t>数列是（     ）</a:t>
            </a:r>
            <a:endParaRPr lang="en-US" altLang="zh-CN" b="1" dirty="0" smtClean="0"/>
          </a:p>
          <a:p>
            <a:pPr marL="457200" indent="-457200" algn="l"/>
            <a:r>
              <a:rPr lang="en-US" altLang="zh-CN" b="1" dirty="0" smtClean="0"/>
              <a:t>      A </a:t>
            </a:r>
            <a:r>
              <a:rPr lang="zh-CN" altLang="en-US" b="1" dirty="0" smtClean="0"/>
              <a:t>等差数列</a:t>
            </a:r>
            <a:endParaRPr lang="en-US" altLang="zh-CN" b="1" dirty="0" smtClean="0"/>
          </a:p>
          <a:p>
            <a:pPr marL="457200" indent="-457200" algn="l"/>
            <a:r>
              <a:rPr lang="en-US" altLang="zh-CN" b="1" dirty="0" smtClean="0"/>
              <a:t>      B </a:t>
            </a:r>
            <a:r>
              <a:rPr lang="zh-CN" altLang="en-US" b="1" dirty="0" smtClean="0"/>
              <a:t>补充数列</a:t>
            </a:r>
            <a:endParaRPr lang="en-US" altLang="zh-CN" b="1" dirty="0" smtClean="0"/>
          </a:p>
          <a:p>
            <a:pPr marL="457200" indent="-457200" algn="l"/>
            <a:r>
              <a:rPr lang="en-US" altLang="zh-CN" b="1" dirty="0" smtClean="0"/>
              <a:t>      C </a:t>
            </a:r>
            <a:r>
              <a:rPr lang="zh-CN" altLang="en-US" b="1" dirty="0" smtClean="0"/>
              <a:t>派生数列</a:t>
            </a:r>
            <a:endParaRPr lang="en-US" altLang="zh-CN" b="1" dirty="0" smtClean="0"/>
          </a:p>
          <a:p>
            <a:pPr marL="457200" indent="-457200" algn="l"/>
            <a:r>
              <a:rPr lang="en-US" altLang="zh-CN" b="1" dirty="0" smtClean="0"/>
              <a:t>      D </a:t>
            </a:r>
            <a:r>
              <a:rPr lang="zh-CN" altLang="en-US" b="1" dirty="0" smtClean="0"/>
              <a:t>基本数列</a:t>
            </a:r>
            <a:endParaRPr lang="en-US" altLang="zh-CN" b="1" dirty="0" smtClean="0"/>
          </a:p>
          <a:p>
            <a:pPr algn="l"/>
            <a:endParaRPr lang="en-US" altLang="zh-CN" b="1" dirty="0" smtClean="0"/>
          </a:p>
          <a:p>
            <a:pPr algn="l"/>
            <a:r>
              <a:rPr lang="en-US" altLang="zh-CN" b="1" dirty="0" smtClean="0"/>
              <a:t>2. </a:t>
            </a:r>
            <a:r>
              <a:rPr lang="zh-CN" altLang="en-US" b="1" dirty="0" smtClean="0"/>
              <a:t>互换性生产的保证是（     ）</a:t>
            </a:r>
            <a:endParaRPr lang="en-US" altLang="zh-CN" b="1" dirty="0" smtClean="0"/>
          </a:p>
          <a:p>
            <a:pPr algn="l"/>
            <a:r>
              <a:rPr lang="en-US" altLang="zh-CN" b="1" dirty="0" smtClean="0"/>
              <a:t>      A </a:t>
            </a:r>
            <a:r>
              <a:rPr lang="zh-CN" altLang="en-US" b="1" dirty="0" smtClean="0"/>
              <a:t>检测</a:t>
            </a:r>
            <a:endParaRPr lang="en-US" altLang="zh-CN" b="1" dirty="0" smtClean="0"/>
          </a:p>
          <a:p>
            <a:pPr algn="l"/>
            <a:r>
              <a:rPr lang="en-US" altLang="zh-CN" b="1" dirty="0" smtClean="0"/>
              <a:t>      B </a:t>
            </a:r>
            <a:r>
              <a:rPr lang="zh-CN" altLang="en-US" b="1" dirty="0" smtClean="0"/>
              <a:t>标准化</a:t>
            </a:r>
            <a:endParaRPr lang="en-US" altLang="zh-CN" b="1" dirty="0" smtClean="0"/>
          </a:p>
          <a:p>
            <a:pPr algn="l"/>
            <a:r>
              <a:rPr lang="en-US" altLang="zh-CN" b="1" dirty="0" smtClean="0"/>
              <a:t>      C </a:t>
            </a:r>
            <a:r>
              <a:rPr lang="zh-CN" altLang="en-US" b="1" dirty="0" smtClean="0"/>
              <a:t>公差</a:t>
            </a:r>
            <a:endParaRPr lang="en-US" altLang="zh-CN" b="1" dirty="0" smtClean="0"/>
          </a:p>
          <a:p>
            <a:pPr algn="l"/>
            <a:r>
              <a:rPr lang="en-US" altLang="zh-CN" b="1" dirty="0" smtClean="0"/>
              <a:t>      D </a:t>
            </a:r>
            <a:r>
              <a:rPr lang="zh-CN" altLang="en-US" b="1" dirty="0" smtClean="0"/>
              <a:t>大量生产</a:t>
            </a:r>
            <a:endParaRPr lang="en-US" altLang="zh-CN" b="1" dirty="0" smtClean="0"/>
          </a:p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436096" y="1182999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D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6056" y="2850922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C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04D4AE-A134-4DA6-B440-67A3EF8E01F7}" type="slidenum">
              <a:rPr lang="ja-JP" altLang="en-US" smtClean="0"/>
              <a:pPr>
                <a:defRPr/>
              </a:pPr>
              <a:t>38</a:t>
            </a:fld>
            <a:endParaRPr lang="en-US" altLang="ja-JP"/>
          </a:p>
        </p:txBody>
      </p:sp>
      <p:sp>
        <p:nvSpPr>
          <p:cNvPr id="6" name="TextBox 5"/>
          <p:cNvSpPr txBox="1"/>
          <p:nvPr/>
        </p:nvSpPr>
        <p:spPr>
          <a:xfrm>
            <a:off x="1187624" y="1383618"/>
            <a:ext cx="71287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/>
            <a:r>
              <a:rPr lang="en-US" altLang="zh-CN" b="1" dirty="0" smtClean="0"/>
              <a:t>3.   </a:t>
            </a:r>
            <a:r>
              <a:rPr lang="zh-CN" altLang="en-US" b="1" dirty="0" smtClean="0"/>
              <a:t>完全互换性是指零部件装配或更换时不需要挑选或修配，装上即能满足性能要求。（     ）</a:t>
            </a:r>
            <a:endParaRPr lang="en-US" altLang="zh-CN" b="1" dirty="0" smtClean="0"/>
          </a:p>
          <a:p>
            <a:pPr marL="457200" indent="-457200" algn="l"/>
            <a:r>
              <a:rPr lang="en-US" altLang="zh-CN" b="1" dirty="0" smtClean="0"/>
              <a:t>      A √</a:t>
            </a:r>
          </a:p>
          <a:p>
            <a:pPr marL="457200" indent="-457200" algn="l"/>
            <a:r>
              <a:rPr lang="en-US" altLang="zh-CN" b="1" dirty="0" smtClean="0"/>
              <a:t>      B ×</a:t>
            </a:r>
          </a:p>
          <a:p>
            <a:pPr marL="457200" indent="-457200" algn="l"/>
            <a:r>
              <a:rPr lang="en-US" altLang="zh-CN" b="1" dirty="0" smtClean="0"/>
              <a:t>      </a:t>
            </a:r>
          </a:p>
          <a:p>
            <a:pPr algn="l"/>
            <a:r>
              <a:rPr lang="en-US" altLang="zh-CN" b="1" dirty="0" smtClean="0"/>
              <a:t>4.  </a:t>
            </a:r>
            <a:r>
              <a:rPr lang="zh-CN" altLang="en-US" b="1" dirty="0" smtClean="0"/>
              <a:t>优先数系中</a:t>
            </a:r>
            <a:r>
              <a:rPr lang="en-US" altLang="zh-CN" b="1" dirty="0" smtClean="0"/>
              <a:t>R10/3</a:t>
            </a:r>
            <a:r>
              <a:rPr lang="zh-CN" altLang="en-US" b="1" dirty="0" smtClean="0"/>
              <a:t>数列是补充数列。（     ）</a:t>
            </a:r>
            <a:endParaRPr lang="en-US" altLang="zh-CN" b="1" dirty="0" smtClean="0"/>
          </a:p>
          <a:p>
            <a:pPr marL="457200" indent="-457200" algn="l"/>
            <a:r>
              <a:rPr lang="en-US" altLang="zh-CN" b="1" dirty="0" smtClean="0"/>
              <a:t>      A √</a:t>
            </a:r>
          </a:p>
          <a:p>
            <a:pPr marL="457200" indent="-457200" algn="l"/>
            <a:r>
              <a:rPr lang="en-US" altLang="zh-CN" b="1" dirty="0" smtClean="0"/>
              <a:t>      B ×</a:t>
            </a:r>
          </a:p>
          <a:p>
            <a:endParaRPr lang="zh-CN" altLang="en-US" dirty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203848" y="249493"/>
            <a:ext cx="25922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 smtClean="0"/>
              <a:t>课  堂  测  试</a:t>
            </a:r>
            <a:endParaRPr lang="zh-CN" altLang="en-US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594011" y="1672932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A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60232" y="3181655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B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084,&quot;width&quot;:3301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705,&quot;width&quot;:999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Text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SubTitle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Text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Text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2082519"/>
  <p:tag name="MH_LIBRARY" val="GRAPHIC"/>
  <p:tag name="MH_TYPE" val="SubTitle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8211730"/>
  <p:tag name="MH_LIBRARY" val="GRAPHIC"/>
  <p:tag name="MH_TYPE" val="Other"/>
  <p:tag name="MH_ORDER" val="1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8211730"/>
  <p:tag name="MH_LIBRARY" val="GRAPHIC"/>
  <p:tag name="MH_TYPE" val="Other"/>
  <p:tag name="MH_ORDER" val="1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8211730"/>
  <p:tag name="MH_LIBRARY" val="GRAPHIC"/>
  <p:tag name="MH_TYPE" val="Other"/>
  <p:tag name="MH_ORDER" val="1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8211730"/>
  <p:tag name="MH_LIBRARY" val="GRAPHIC"/>
  <p:tag name="MH_TYPE" val="Other"/>
  <p:tag name="MH_ORDER" val="1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8211730"/>
  <p:tag name="MH_LIBRARY" val="GRAPHIC"/>
  <p:tag name="MH_TYPE" val="Other"/>
  <p:tag name="MH_ORDER" val="1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8211730"/>
  <p:tag name="MH_LIBRARY" val="GRAPHIC"/>
  <p:tag name="MH_TYPE" val="Other"/>
  <p:tag name="MH_ORDER" val="1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8211730"/>
  <p:tag name="MH_LIBRARY" val="GRAPHIC"/>
  <p:tag name="MH_TYPE" val="Other"/>
  <p:tag name="MH_ORDER" val="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8211730"/>
  <p:tag name="MH_LIBRARY" val="GRAPHIC"/>
  <p:tag name="MH_TYPE" val="Other"/>
  <p:tag name="MH_ORDER" val="1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8211730"/>
  <p:tag name="MH_LIBRARY" val="GRAPHIC"/>
  <p:tag name="MH_TYPE" val="Other"/>
  <p:tag name="MH_ORDER" val="1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第0章 绪论</Template>
  <TotalTime>1292</TotalTime>
  <Words>1795</Words>
  <Application>Microsoft Office PowerPoint</Application>
  <PresentationFormat>全屏显示(16:9)</PresentationFormat>
  <Paragraphs>351</Paragraphs>
  <Slides>38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41" baseType="lpstr">
      <vt:lpstr>Default Design</vt:lpstr>
      <vt:lpstr>公式</vt:lpstr>
      <vt:lpstr>Equation</vt:lpstr>
      <vt:lpstr>机械精度设计及检测技术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</vt:vector>
  </TitlesOfParts>
  <Company>lww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lww</dc:creator>
  <cp:lastModifiedBy>微软用户</cp:lastModifiedBy>
  <cp:revision>383</cp:revision>
  <dcterms:created xsi:type="dcterms:W3CDTF">2006-04-27T15:06:00Z</dcterms:created>
  <dcterms:modified xsi:type="dcterms:W3CDTF">2023-02-09T07:01:36Z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