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notesSlides/notesSlide16.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notesSlides/notesSlide14.xml" ContentType="application/vnd.openxmlformats-officedocument.presentationml.notesSlide+xml"/>
  <Override PartName="/docProps/custom.xml" ContentType="application/vnd.openxmlformats-officedocument.custom-properties+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Default Extension="jpeg" ContentType="image/jpeg"/>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notesSlides/notesSlide13.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31"/>
  </p:notesMasterIdLst>
  <p:sldIdLst>
    <p:sldId id="289" r:id="rId3"/>
    <p:sldId id="305" r:id="rId4"/>
    <p:sldId id="306" r:id="rId5"/>
    <p:sldId id="307" r:id="rId6"/>
    <p:sldId id="308" r:id="rId7"/>
    <p:sldId id="309" r:id="rId8"/>
    <p:sldId id="310" r:id="rId9"/>
    <p:sldId id="312" r:id="rId10"/>
    <p:sldId id="313" r:id="rId11"/>
    <p:sldId id="314" r:id="rId12"/>
    <p:sldId id="338" r:id="rId13"/>
    <p:sldId id="315" r:id="rId14"/>
    <p:sldId id="318" r:id="rId15"/>
    <p:sldId id="369" r:id="rId16"/>
    <p:sldId id="319" r:id="rId17"/>
    <p:sldId id="370" r:id="rId18"/>
    <p:sldId id="371" r:id="rId19"/>
    <p:sldId id="320" r:id="rId20"/>
    <p:sldId id="321" r:id="rId21"/>
    <p:sldId id="372" r:id="rId22"/>
    <p:sldId id="323" r:id="rId23"/>
    <p:sldId id="373" r:id="rId24"/>
    <p:sldId id="374" r:id="rId25"/>
    <p:sldId id="375" r:id="rId26"/>
    <p:sldId id="376" r:id="rId27"/>
    <p:sldId id="377" r:id="rId28"/>
    <p:sldId id="378" r:id="rId29"/>
    <p:sldId id="379" r:id="rId30"/>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xmlns="">
        <p15:guide id="1" orient="horz" pos="2166" userDrawn="1">
          <p15:clr>
            <a:srgbClr val="A4A3A4"/>
          </p15:clr>
        </p15:guide>
        <p15:guide id="2" pos="2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CC0099"/>
    <a:srgbClr val="0000FF"/>
    <a:srgbClr val="0066FF"/>
    <a:srgbClr val="008000"/>
    <a:srgbClr val="A7C4EF"/>
    <a:srgbClr val="A8CEEE"/>
    <a:srgbClr val="007FFE"/>
    <a:srgbClr val="1188FF"/>
    <a:srgbClr val="3399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2" autoAdjust="0"/>
    <p:restoredTop sz="84724" autoAdjust="0"/>
  </p:normalViewPr>
  <p:slideViewPr>
    <p:cSldViewPr>
      <p:cViewPr varScale="1">
        <p:scale>
          <a:sx n="96" d="100"/>
          <a:sy n="96" d="100"/>
        </p:scale>
        <p:origin x="-1596" y="-90"/>
      </p:cViewPr>
      <p:guideLst>
        <p:guide orient="horz" pos="2166"/>
        <p:guide pos="284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vl1pPr>
          </a:lstStyle>
          <a:p>
            <a:pPr>
              <a:defRPr/>
            </a:pPr>
            <a:endParaRPr lang="zh-CN" altLang="en-US"/>
          </a:p>
        </p:txBody>
      </p:sp>
      <p:sp>
        <p:nvSpPr>
          <p:cNvPr id="7270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vl1pPr>
          </a:lstStyle>
          <a:p>
            <a:pPr>
              <a:defRPr/>
            </a:pPr>
            <a:endParaRPr lang="en-US" altLang="zh-CN"/>
          </a:p>
        </p:txBody>
      </p:sp>
      <p:sp>
        <p:nvSpPr>
          <p:cNvPr id="4915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ln>
          <a:effectLst/>
          <a:extLst>
            <a:ext uri="{909E8E84-426E-40DD-AFC4-6F175D3DCCD1}">
              <a14:hiddenFill xmlns:a14="http://schemas.microsoft.com/office/drawing/2010/main" xmlns="">
                <a:solidFill>
                  <a:srgbClr val="FFFFFF"/>
                </a:solidFill>
              </a14:hiddenFill>
            </a:ext>
            <a:ext uri="{AF507438-7753-43E0-B8FC-AC1667EBCBE1}">
              <a14:hiddenEffects xmlns:a14="http://schemas.microsoft.com/office/drawing/2010/main" xmlns="">
                <a:effectLst>
                  <a:outerShdw dist="35921" dir="2700000" algn="ctr" rotWithShape="0">
                    <a:srgbClr val="808080"/>
                  </a:outerShdw>
                </a:effectLst>
              </a14:hiddenEffects>
            </a:ext>
          </a:extLst>
        </p:spPr>
      </p:sp>
      <p:sp>
        <p:nvSpPr>
          <p:cNvPr id="7270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7271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vl1pPr>
          </a:lstStyle>
          <a:p>
            <a:pPr>
              <a:defRPr/>
            </a:pPr>
            <a:endParaRPr lang="en-US" altLang="zh-CN"/>
          </a:p>
        </p:txBody>
      </p:sp>
      <p:sp>
        <p:nvSpPr>
          <p:cNvPr id="7271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vl1pPr>
          </a:lstStyle>
          <a:p>
            <a:pPr>
              <a:defRPr/>
            </a:pPr>
            <a:fld id="{406A6C5C-BA74-40F5-AC60-D3EAE6C0683D}"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2000" cy="3429000"/>
          </a:xfrm>
        </p:spPr>
      </p:sp>
      <p:sp>
        <p:nvSpPr>
          <p:cNvPr id="3" name="文本占位符 2"/>
          <p:cNvSpPr>
            <a:spLocks noGrp="1"/>
          </p:cNvSpPr>
          <p:nvPr>
            <p:ph type="body" idx="3"/>
          </p:nvPr>
        </p:nvSpPr>
        <p:spPr/>
        <p:txBody>
          <a:bodyPr/>
          <a:lstStyle/>
          <a:p>
            <a:r>
              <a:rPr lang="zh-CN" altLang="en-US" b="1" dirty="0">
                <a:sym typeface="+mn-ea"/>
              </a:rPr>
              <a:t>机器或仪器的零、部件加工后是否符合设计图样的技术要求，需要经过测量来判定。本节讲述内容为测量的基本概念及计量器具与测量方法</a:t>
            </a:r>
            <a:endParaRPr lang="zh-CN" altLang="en-US" b="1" dirty="0"/>
          </a:p>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2000" cy="3429000"/>
          </a:xfrm>
        </p:spPr>
      </p:sp>
      <p:sp>
        <p:nvSpPr>
          <p:cNvPr id="3" name="文本占位符 2"/>
          <p:cNvSpPr>
            <a:spLocks noGrp="1"/>
          </p:cNvSpPr>
          <p:nvPr>
            <p:ph type="body" idx="3"/>
          </p:nvPr>
        </p:nvSpPr>
        <p:spPr/>
        <p:txBody>
          <a:bodyPr/>
          <a:lstStyle/>
          <a:p>
            <a:r>
              <a:rPr lang="zh-CN" altLang="en-US"/>
              <a:t>确定被测量数值大小的过程称为测量，用公式表示为被测量与测量单位比值</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2000" cy="3429000"/>
          </a:xfrm>
        </p:spPr>
      </p:sp>
      <p:sp>
        <p:nvSpPr>
          <p:cNvPr id="3" name="文本占位符 2"/>
          <p:cNvSpPr>
            <a:spLocks noGrp="1"/>
          </p:cNvSpPr>
          <p:nvPr>
            <p:ph type="body" idx="3"/>
          </p:nvPr>
        </p:nvSpPr>
        <p:spPr/>
        <p:txBody>
          <a:bodyPr/>
          <a:lstStyle/>
          <a:p>
            <a:r>
              <a:rPr lang="zh-CN" altLang="en-US" b="1" dirty="0">
                <a:sym typeface="+mn-ea"/>
              </a:rPr>
              <a:t>完整的几何量测量</a:t>
            </a:r>
            <a:r>
              <a:rPr lang="zh-CN" altLang="en-US" b="1" dirty="0" smtClean="0">
                <a:sym typeface="+mn-ea"/>
              </a:rPr>
              <a:t>应包括以下</a:t>
            </a:r>
            <a:r>
              <a:rPr lang="zh-CN" altLang="en-US" b="1" dirty="0">
                <a:sym typeface="+mn-ea"/>
              </a:rPr>
              <a:t>四个要素。被测对象，计量单位，测量方法，测量精度。被测对象指的是需测量的几何参数，如长度、角度、误差、表面粗糙度等；计量单位指测量的量值所用的单位，如长度，角度等；测量方法即测量所采用的测量原理、计量器具和测量条件等；测量精度即测量结果与真值相一致的程度。</a:t>
            </a:r>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5</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smtClean="0"/>
              <a:t>保证零件在国际、国内具有互换性，必须保证量值的统一，因此，需要建立一套从长度的最高基准到被测零件的严密的尺寸传递系统。</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6</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b="1" dirty="0" smtClean="0"/>
              <a:t>量块按一定的尺寸系列成套生产。国家规定了17套量块。</a:t>
            </a:r>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8</a:t>
            </a:fld>
            <a:endParaRPr lang="en-US" altLang="zh-CN"/>
          </a:p>
        </p:txBody>
      </p:sp>
    </p:spTree>
    <p:extLst>
      <p:ext uri="{BB962C8B-B14F-4D97-AF65-F5344CB8AC3E}">
        <p14:creationId xmlns:p14="http://schemas.microsoft.com/office/powerpoint/2010/main" xmlns="" val="25621668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solidFill>
                  <a:srgbClr val="FF33CC"/>
                </a:solidFill>
              </a:rPr>
              <a:t>量块长度</a:t>
            </a:r>
            <a:r>
              <a:rPr lang="zh-CN" altLang="en-US" b="1" dirty="0" smtClean="0"/>
              <a:t>是指量块一个测量面上的任意点到与其相对的另一测量面相研合的辅助平板表面之间的垂直距离 </a:t>
            </a:r>
            <a:r>
              <a:rPr lang="en-US" altLang="zh-CN" b="1" i="1" dirty="0" smtClean="0"/>
              <a:t>l </a:t>
            </a:r>
            <a:r>
              <a:rPr lang="zh-CN" altLang="en-US" b="1" dirty="0" smtClean="0"/>
              <a:t>。</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solidFill>
                  <a:srgbClr val="FF33CC"/>
                </a:solidFill>
              </a:rPr>
              <a:t>量块中心长度</a:t>
            </a:r>
            <a:r>
              <a:rPr lang="zh-CN" altLang="en-US" b="1" dirty="0" smtClean="0"/>
              <a:t> 是指对应于量块未研合测量面中心点的长度</a:t>
            </a:r>
            <a:r>
              <a:rPr lang="en-US" altLang="zh-CN" b="1" i="1" dirty="0" err="1" smtClean="0"/>
              <a:t>l</a:t>
            </a:r>
            <a:r>
              <a:rPr lang="en-US" altLang="zh-CN" b="1" baseline="-25000" dirty="0" err="1" smtClean="0"/>
              <a:t>c</a:t>
            </a:r>
            <a:r>
              <a:rPr lang="zh-CN" altLang="en-US" b="1" dirty="0" smtClean="0"/>
              <a:t>。</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solidFill>
                  <a:srgbClr val="FF33CC"/>
                </a:solidFill>
              </a:rPr>
              <a:t>量块标称长度</a:t>
            </a:r>
            <a:r>
              <a:rPr lang="en-US" altLang="zh-CN" b="1" i="1" dirty="0" smtClean="0"/>
              <a:t>l</a:t>
            </a:r>
            <a:r>
              <a:rPr lang="en-US" altLang="zh-CN" b="1" baseline="-25000" dirty="0" smtClean="0"/>
              <a:t>n</a:t>
            </a:r>
            <a:r>
              <a:rPr lang="zh-CN" altLang="en-US" b="1" dirty="0" smtClean="0"/>
              <a:t>是指在量块上，用以表明其与主单位</a:t>
            </a:r>
            <a:r>
              <a:rPr lang="en-US" altLang="zh-CN" b="1" dirty="0" smtClean="0"/>
              <a:t>(m)</a:t>
            </a:r>
            <a:r>
              <a:rPr lang="zh-CN" altLang="en-US" b="1" dirty="0" smtClean="0"/>
              <a:t>之间关系的量值（量块长度的示值）</a:t>
            </a:r>
            <a:r>
              <a:rPr lang="zh-CN" altLang="en-US" dirty="0" smtClean="0"/>
              <a:t>。</a:t>
            </a:r>
            <a:endParaRPr lang="zh-CN" altLang="en-US" dirty="0" smtClean="0"/>
          </a:p>
          <a:p>
            <a:pPr marL="0" marR="0" indent="0" algn="l" defTabSz="914400" rtl="0" eaLnBrk="1" fontAlgn="base" latinLnBrk="0" hangingPunct="1">
              <a:lnSpc>
                <a:spcPct val="120000"/>
              </a:lnSpc>
              <a:spcBef>
                <a:spcPct val="30000"/>
              </a:spcBef>
              <a:spcAft>
                <a:spcPct val="0"/>
              </a:spcAft>
              <a:buClrTx/>
              <a:buSzTx/>
              <a:buFontTx/>
              <a:buNone/>
              <a:tabLst/>
              <a:defRPr/>
            </a:pPr>
            <a:r>
              <a:rPr lang="zh-CN" altLang="en-US" b="1" dirty="0" smtClean="0">
                <a:solidFill>
                  <a:srgbClr val="FF33CC"/>
                </a:solidFill>
              </a:rPr>
              <a:t>任意点的量块长度偏差</a:t>
            </a:r>
            <a:r>
              <a:rPr lang="zh-CN" altLang="en-US" b="1" dirty="0" smtClean="0"/>
              <a:t>是指任意点的量块长度与标称长度的代数差。即   </a:t>
            </a:r>
            <a:r>
              <a:rPr lang="en-US" altLang="zh-CN" b="1" i="1" dirty="0" smtClean="0"/>
              <a:t>e </a:t>
            </a:r>
            <a:r>
              <a:rPr lang="en-US" altLang="zh-CN" b="1" dirty="0" smtClean="0"/>
              <a:t>= </a:t>
            </a:r>
            <a:r>
              <a:rPr lang="en-US" altLang="zh-CN" b="1" i="1" dirty="0" smtClean="0"/>
              <a:t>l </a:t>
            </a:r>
            <a:r>
              <a:rPr lang="en-US" altLang="zh-CN" b="1" dirty="0" smtClean="0"/>
              <a:t>– </a:t>
            </a:r>
            <a:r>
              <a:rPr lang="en-US" altLang="zh-CN" b="1" i="1" dirty="0" smtClean="0"/>
              <a:t>l</a:t>
            </a:r>
            <a:r>
              <a:rPr lang="en-US" altLang="zh-CN" b="1" baseline="-25000" dirty="0" smtClean="0"/>
              <a:t>n</a:t>
            </a:r>
          </a:p>
          <a:p>
            <a:pPr eaLnBrk="1" hangingPunct="1">
              <a:lnSpc>
                <a:spcPct val="120000"/>
              </a:lnSpc>
            </a:pPr>
            <a:endParaRPr lang="zh-CN" altLang="en-US"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11</a:t>
            </a:fld>
            <a:endParaRPr lang="en-US" altLang="zh-CN"/>
          </a:p>
        </p:txBody>
      </p:sp>
    </p:spTree>
    <p:extLst>
      <p:ext uri="{BB962C8B-B14F-4D97-AF65-F5344CB8AC3E}">
        <p14:creationId xmlns:p14="http://schemas.microsoft.com/office/powerpoint/2010/main" xmlns="" val="24118796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a:xfrm>
            <a:off x="1143000" y="685800"/>
            <a:ext cx="4572000" cy="3429000"/>
          </a:xfrm>
        </p:spPr>
      </p:sp>
      <p:sp>
        <p:nvSpPr>
          <p:cNvPr id="3" name="文本占位符 2"/>
          <p:cNvSpPr>
            <a:spLocks noGrp="1"/>
          </p:cNvSpPr>
          <p:nvPr>
            <p:ph type="body" idx="3"/>
          </p:nvPr>
        </p:nvSpPr>
        <p:spPr/>
        <p:txBody>
          <a:bodyPr/>
          <a:lstStyle/>
          <a:p>
            <a:r>
              <a:rPr lang="zh-CN" altLang="en-US" b="1" dirty="0" smtClean="0">
                <a:sym typeface="+mn-ea"/>
              </a:rPr>
              <a:t>为了</a:t>
            </a:r>
            <a:r>
              <a:rPr lang="zh-CN" altLang="en-US" b="1" dirty="0">
                <a:sym typeface="+mn-ea"/>
              </a:rPr>
              <a:t>满足工程上的实际需要，国家标准对量块规定了</a:t>
            </a:r>
            <a:r>
              <a:rPr lang="en-US" altLang="zh-CN" b="1" dirty="0">
                <a:solidFill>
                  <a:srgbClr val="FF0000"/>
                </a:solidFill>
                <a:sym typeface="+mn-ea"/>
              </a:rPr>
              <a:t>5</a:t>
            </a:r>
            <a:r>
              <a:rPr lang="zh-CN" altLang="en-US" b="1" dirty="0">
                <a:solidFill>
                  <a:srgbClr val="FF0000"/>
                </a:solidFill>
                <a:sym typeface="+mn-ea"/>
              </a:rPr>
              <a:t>个精度等级</a:t>
            </a:r>
            <a:r>
              <a:rPr lang="zh-CN" altLang="en-US" b="1" dirty="0">
                <a:sym typeface="+mn-ea"/>
              </a:rPr>
              <a:t>。 </a:t>
            </a:r>
            <a:r>
              <a:rPr lang="zh-CN" altLang="en-US" b="1" dirty="0" smtClean="0">
                <a:sym typeface="+mn-ea"/>
              </a:rPr>
              <a:t>按</a:t>
            </a:r>
            <a:r>
              <a:rPr lang="zh-CN" altLang="en-US" b="1" dirty="0">
                <a:solidFill>
                  <a:srgbClr val="FF33CC"/>
                </a:solidFill>
                <a:sym typeface="+mn-ea"/>
              </a:rPr>
              <a:t>级</a:t>
            </a:r>
            <a:r>
              <a:rPr lang="zh-CN" altLang="en-US" b="1" dirty="0">
                <a:sym typeface="+mn-ea"/>
              </a:rPr>
              <a:t>使用时，是以量块的</a:t>
            </a:r>
            <a:r>
              <a:rPr lang="zh-CN" altLang="en-US" b="1" dirty="0">
                <a:solidFill>
                  <a:srgbClr val="FF33CC"/>
                </a:solidFill>
                <a:sym typeface="+mn-ea"/>
              </a:rPr>
              <a:t>标称长度</a:t>
            </a:r>
            <a:r>
              <a:rPr lang="en-US" altLang="zh-CN" b="1" i="1" dirty="0" err="1">
                <a:solidFill>
                  <a:srgbClr val="FF33CC"/>
                </a:solidFill>
                <a:sym typeface="+mn-ea"/>
              </a:rPr>
              <a:t>l</a:t>
            </a:r>
            <a:r>
              <a:rPr lang="en-US" altLang="zh-CN" b="1" baseline="-25000" dirty="0" err="1">
                <a:solidFill>
                  <a:srgbClr val="FF33CC"/>
                </a:solidFill>
                <a:sym typeface="+mn-ea"/>
              </a:rPr>
              <a:t>n</a:t>
            </a:r>
            <a:r>
              <a:rPr lang="zh-CN" altLang="en-US" b="1" dirty="0">
                <a:sym typeface="+mn-ea"/>
              </a:rPr>
              <a:t>为工作尺寸，不计量块的制造误差和磨损误差。按</a:t>
            </a:r>
            <a:r>
              <a:rPr lang="zh-CN" altLang="en-US" b="1" dirty="0">
                <a:solidFill>
                  <a:srgbClr val="FF33CC"/>
                </a:solidFill>
                <a:sym typeface="+mn-ea"/>
              </a:rPr>
              <a:t>等</a:t>
            </a:r>
            <a:r>
              <a:rPr lang="zh-CN" altLang="en-US" b="1" dirty="0">
                <a:sym typeface="+mn-ea"/>
              </a:rPr>
              <a:t>使用时，是以量块经检定后给出的</a:t>
            </a:r>
            <a:r>
              <a:rPr lang="zh-CN" altLang="en-US" b="1" dirty="0">
                <a:solidFill>
                  <a:srgbClr val="FF33CC"/>
                </a:solidFill>
                <a:sym typeface="+mn-ea"/>
              </a:rPr>
              <a:t>实际中心长度</a:t>
            </a:r>
            <a:r>
              <a:rPr lang="en-US" altLang="zh-CN" b="1" i="1" dirty="0" err="1" smtClean="0">
                <a:solidFill>
                  <a:srgbClr val="FF33CC"/>
                </a:solidFill>
                <a:sym typeface="+mn-ea"/>
              </a:rPr>
              <a:t>l</a:t>
            </a:r>
            <a:r>
              <a:rPr lang="en-US" altLang="zh-CN" b="1" baseline="-25000" dirty="0" err="1" smtClean="0">
                <a:solidFill>
                  <a:srgbClr val="FF33CC"/>
                </a:solidFill>
                <a:sym typeface="+mn-ea"/>
              </a:rPr>
              <a:t>c</a:t>
            </a:r>
            <a:r>
              <a:rPr lang="en-US" altLang="zh-CN" b="1" baseline="-25000" dirty="0" smtClean="0">
                <a:solidFill>
                  <a:srgbClr val="FF33CC"/>
                </a:solidFill>
                <a:sym typeface="+mn-ea"/>
              </a:rPr>
              <a:t> </a:t>
            </a:r>
            <a:r>
              <a:rPr lang="zh-CN" altLang="en-US" b="1" dirty="0" smtClean="0">
                <a:sym typeface="+mn-ea"/>
              </a:rPr>
              <a:t>尺寸</a:t>
            </a:r>
            <a:r>
              <a:rPr lang="zh-CN" altLang="en-US" b="1" dirty="0">
                <a:sym typeface="+mn-ea"/>
              </a:rPr>
              <a:t>为</a:t>
            </a:r>
            <a:r>
              <a:rPr lang="zh-CN" altLang="en-US" b="1" dirty="0">
                <a:solidFill>
                  <a:srgbClr val="FF33CC"/>
                </a:solidFill>
                <a:sym typeface="+mn-ea"/>
              </a:rPr>
              <a:t>工作尺寸</a:t>
            </a:r>
            <a:r>
              <a:rPr lang="zh-CN" altLang="en-US" b="1" dirty="0">
                <a:sym typeface="+mn-ea"/>
              </a:rPr>
              <a:t>。它排除了制造误差的影响，提高了测量精度。</a:t>
            </a:r>
            <a:endParaRPr lang="zh-CN" altLang="en-US" b="1" dirty="0"/>
          </a:p>
          <a:p>
            <a:endParaRPr lang="zh-CN" altLang="en-US" b="1" dirty="0"/>
          </a:p>
          <a:p>
            <a:endParaRPr lang="zh-CN" altLang="en-US" b="1" dirty="0"/>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1" dirty="0" smtClean="0"/>
              <a:t> 用来</a:t>
            </a:r>
            <a:r>
              <a:rPr lang="zh-CN" altLang="en-US" b="1" dirty="0" smtClean="0">
                <a:solidFill>
                  <a:srgbClr val="FF0000"/>
                </a:solidFill>
              </a:rPr>
              <a:t>校对</a:t>
            </a:r>
            <a:r>
              <a:rPr lang="zh-CN" altLang="en-US" b="1" dirty="0" smtClean="0"/>
              <a:t>或</a:t>
            </a:r>
            <a:r>
              <a:rPr lang="zh-CN" altLang="en-US" b="1" dirty="0" smtClean="0">
                <a:solidFill>
                  <a:srgbClr val="FF0000"/>
                </a:solidFill>
              </a:rPr>
              <a:t>调整</a:t>
            </a:r>
            <a:r>
              <a:rPr lang="zh-CN" altLang="en-US" b="1" dirty="0" smtClean="0"/>
              <a:t>计量器具，或者作为</a:t>
            </a:r>
            <a:r>
              <a:rPr lang="zh-CN" altLang="en-US" b="1" dirty="0" smtClean="0">
                <a:solidFill>
                  <a:srgbClr val="FF0000"/>
                </a:solidFill>
              </a:rPr>
              <a:t>标准尺寸</a:t>
            </a:r>
            <a:r>
              <a:rPr lang="zh-CN" altLang="en-US" b="1" dirty="0" smtClean="0"/>
              <a:t>进行校对测量的量具。</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14</a:t>
            </a:fld>
            <a:endParaRPr lang="en-US" altLang="zh-CN"/>
          </a:p>
        </p:txBody>
      </p:sp>
    </p:spTree>
    <p:extLst>
      <p:ext uri="{BB962C8B-B14F-4D97-AF65-F5344CB8AC3E}">
        <p14:creationId xmlns:p14="http://schemas.microsoft.com/office/powerpoint/2010/main" xmlns="" val="1004264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将被测量转换成可直接观测的示值或等效信息的测量工具。</a:t>
            </a:r>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15</a:t>
            </a:fld>
            <a:endParaRPr lang="en-US" altLang="zh-CN"/>
          </a:p>
        </p:txBody>
      </p:sp>
    </p:spTree>
    <p:extLst>
      <p:ext uri="{BB962C8B-B14F-4D97-AF65-F5344CB8AC3E}">
        <p14:creationId xmlns:p14="http://schemas.microsoft.com/office/powerpoint/2010/main" xmlns="" val="25256340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没有刻度（线）的用于检验被测量是否处于给定的极限偏差之内的专用量具。</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一种专用的检验工具，它与相应的计量器具配套使用时，可方便地检验出被测件的各项参数。</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1" dirty="0" smtClean="0"/>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18</a:t>
            </a:fld>
            <a:endParaRPr lang="en-US" altLang="zh-CN"/>
          </a:p>
        </p:txBody>
      </p:sp>
    </p:spTree>
    <p:extLst>
      <p:ext uri="{BB962C8B-B14F-4D97-AF65-F5344CB8AC3E}">
        <p14:creationId xmlns:p14="http://schemas.microsoft.com/office/powerpoint/2010/main" xmlns="" val="27438211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r>
              <a:rPr lang="zh-CN" altLang="en-US" dirty="0" smtClean="0"/>
              <a:t>分度值：指每一刻度间距代表的量值，是计量器具能指示的最小单位。</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19</a:t>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a:t>
            </a:r>
            <a:r>
              <a:rPr lang="en-US" altLang="zh-CN" b="1" dirty="0" smtClean="0"/>
              <a:t>2</a:t>
            </a:r>
            <a:r>
              <a:rPr lang="zh-CN" altLang="en-US" b="1" dirty="0" smtClean="0"/>
              <a:t>）刻度</a:t>
            </a:r>
            <a:r>
              <a:rPr lang="zh-CN" altLang="en-US" b="1" dirty="0" smtClean="0"/>
              <a:t>间距指相邻两刻线中心之间的距离和圆弧长。</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a:t>
            </a:r>
            <a:r>
              <a:rPr lang="en-US" altLang="zh-CN" b="1" dirty="0" smtClean="0"/>
              <a:t>3</a:t>
            </a:r>
            <a:r>
              <a:rPr lang="zh-CN" altLang="en-US" b="1" dirty="0" smtClean="0"/>
              <a:t>）示值</a:t>
            </a:r>
            <a:r>
              <a:rPr lang="zh-CN" altLang="en-US" b="1" dirty="0" smtClean="0"/>
              <a:t>范围指标尺所指示或显示的最低值到最高值的范围。</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b="1" dirty="0" smtClean="0"/>
              <a:t>（</a:t>
            </a:r>
            <a:r>
              <a:rPr lang="en-US" altLang="zh-CN" b="1" dirty="0" smtClean="0"/>
              <a:t>4</a:t>
            </a:r>
            <a:r>
              <a:rPr lang="zh-CN" altLang="en-US" b="1" dirty="0" smtClean="0"/>
              <a:t>）测量范围</a:t>
            </a:r>
            <a:r>
              <a:rPr lang="zh-CN" altLang="en-US" b="1" dirty="0" smtClean="0"/>
              <a:t>在允许误差范围内，测量器具所能测量零件的下限值到上限值的范围。</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a:t>
            </a:r>
            <a:r>
              <a:rPr lang="zh-CN" altLang="en-US" b="1" dirty="0" smtClean="0"/>
              <a:t>5</a:t>
            </a:r>
            <a:r>
              <a:rPr lang="en-US" altLang="zh-CN" b="1" dirty="0" smtClean="0"/>
              <a:t>) </a:t>
            </a:r>
            <a:r>
              <a:rPr lang="zh-CN" altLang="en-US" b="1" dirty="0" smtClean="0">
                <a:solidFill>
                  <a:srgbClr val="FF33CC"/>
                </a:solidFill>
              </a:rPr>
              <a:t>灵敏度 （</a:t>
            </a:r>
            <a:r>
              <a:rPr lang="en-US" altLang="zh-CN" b="1" dirty="0" smtClean="0">
                <a:solidFill>
                  <a:srgbClr val="FF33CC"/>
                </a:solidFill>
              </a:rPr>
              <a:t>k</a:t>
            </a:r>
            <a:r>
              <a:rPr lang="en-US" altLang="zh-CN" b="1" dirty="0" smtClean="0">
                <a:solidFill>
                  <a:srgbClr val="FF33CC"/>
                </a:solidFill>
              </a:rPr>
              <a:t>）</a:t>
            </a:r>
            <a:r>
              <a:rPr lang="zh-CN" altLang="en-US" b="1" dirty="0" smtClean="0"/>
              <a:t>计量</a:t>
            </a:r>
            <a:r>
              <a:rPr lang="zh-CN" altLang="en-US" b="1" dirty="0" smtClean="0"/>
              <a:t>器具示值装置对被测量变化的反应能力。</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a:t>
            </a:r>
            <a:r>
              <a:rPr lang="zh-CN" altLang="en-US" b="1" dirty="0" smtClean="0"/>
              <a:t>6</a:t>
            </a:r>
            <a:r>
              <a:rPr lang="en-US" altLang="zh-CN" b="1" dirty="0" smtClean="0"/>
              <a:t>)</a:t>
            </a:r>
            <a:r>
              <a:rPr lang="zh-CN" altLang="en-US" b="1" dirty="0" smtClean="0"/>
              <a:t> </a:t>
            </a:r>
            <a:r>
              <a:rPr lang="zh-CN" altLang="en-US" b="1" dirty="0" smtClean="0">
                <a:solidFill>
                  <a:srgbClr val="FF33CC"/>
                </a:solidFill>
              </a:rPr>
              <a:t>灵敏限</a:t>
            </a:r>
            <a:r>
              <a:rPr lang="zh-CN" altLang="en-US" b="1" dirty="0" smtClean="0"/>
              <a:t>（灵敏阈</a:t>
            </a:r>
            <a:r>
              <a:rPr lang="zh-CN" altLang="en-US" b="1" dirty="0" smtClean="0"/>
              <a:t>）能</a:t>
            </a:r>
            <a:r>
              <a:rPr lang="zh-CN" altLang="en-US" b="1" dirty="0" smtClean="0"/>
              <a:t>引起计量器具示值可能觉察变化的被测量的最小变化值。</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b="1" dirty="0" smtClean="0"/>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20</a:t>
            </a:fld>
            <a:endParaRPr lang="en-US" altLang="zh-CN"/>
          </a:p>
        </p:txBody>
      </p:sp>
    </p:spTree>
    <p:extLst>
      <p:ext uri="{BB962C8B-B14F-4D97-AF65-F5344CB8AC3E}">
        <p14:creationId xmlns:p14="http://schemas.microsoft.com/office/powerpoint/2010/main" xmlns="" val="1174376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(7)</a:t>
            </a:r>
            <a:r>
              <a:rPr lang="zh-CN" altLang="en-US" b="1" dirty="0" smtClean="0"/>
              <a:t>在测量过程中，计量器具与被测表面的接触力。</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(8)</a:t>
            </a:r>
            <a:r>
              <a:rPr lang="zh-CN" altLang="en-US" b="1" dirty="0" smtClean="0"/>
              <a:t>计量器具的示值与被测量真值之差。计量器具允许值可以从使用说明书或检定规程中查得，也可以用标准件检定出来。</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(9)</a:t>
            </a:r>
            <a:r>
              <a:rPr lang="zh-CN" altLang="en-US" b="1" dirty="0" smtClean="0"/>
              <a:t>示值变动性是指在测量条件不变的情况下，对同一被测量进行多次重复测量读数时（5~10次），其读数的最大变动量。</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(10)</a:t>
            </a:r>
            <a:r>
              <a:rPr lang="zh-CN" altLang="en-US" b="1" dirty="0" smtClean="0"/>
              <a:t>回程误差是指在相同测量条件下，对同一被测量进行往返两个方向测量时，测量器具的示值变化量。</a:t>
            </a:r>
            <a:endParaRPr lang="en-US" altLang="zh-CN" b="1"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solidFill>
                  <a:srgbClr val="FF33CC"/>
                </a:solidFill>
              </a:rPr>
              <a:t>(11)</a:t>
            </a:r>
            <a:r>
              <a:rPr lang="zh-CN" altLang="en-US" b="1" dirty="0" smtClean="0">
                <a:solidFill>
                  <a:srgbClr val="FF33CC"/>
                </a:solidFill>
              </a:rPr>
              <a:t>修正值</a:t>
            </a:r>
            <a:r>
              <a:rPr lang="zh-CN" altLang="en-US" b="1" dirty="0" smtClean="0"/>
              <a:t>是指为了消除或减少系统误差，用代数法加到测量结果上的值。如已知某千分尺的零位误差为</a:t>
            </a:r>
            <a:r>
              <a:rPr lang="en-US" altLang="zh-CN" b="1" dirty="0" smtClean="0">
                <a:solidFill>
                  <a:srgbClr val="FF33CC"/>
                </a:solidFill>
              </a:rPr>
              <a:t>+0.01mm</a:t>
            </a:r>
            <a:r>
              <a:rPr lang="en-US" altLang="zh-CN" b="1" dirty="0" smtClean="0"/>
              <a:t>, </a:t>
            </a:r>
            <a:r>
              <a:rPr lang="zh-CN" altLang="en-US" b="1" dirty="0" smtClean="0"/>
              <a:t>则其零位的修正值为</a:t>
            </a:r>
            <a:r>
              <a:rPr lang="en-US" altLang="zh-CN" b="1" dirty="0" smtClean="0">
                <a:solidFill>
                  <a:srgbClr val="FF33CC"/>
                </a:solidFill>
              </a:rPr>
              <a:t>-0.01mm</a:t>
            </a:r>
            <a:r>
              <a:rPr lang="zh-CN" altLang="en-US" b="1" dirty="0" smtClean="0"/>
              <a:t>。若测量时千分尺读数为</a:t>
            </a:r>
            <a:r>
              <a:rPr lang="en-US" altLang="zh-CN" b="1" dirty="0" smtClean="0"/>
              <a:t>20.04mm</a:t>
            </a:r>
            <a:r>
              <a:rPr lang="zh-CN" altLang="en-US" b="1" dirty="0" smtClean="0"/>
              <a:t>，则该被测件的测量结果为</a:t>
            </a:r>
            <a:r>
              <a:rPr lang="en-US" altLang="zh-CN" b="1" dirty="0" smtClean="0"/>
              <a:t>20.04+</a:t>
            </a:r>
            <a:r>
              <a:rPr lang="zh-CN" altLang="en-US" b="1" dirty="0" smtClean="0"/>
              <a:t>（</a:t>
            </a:r>
            <a:r>
              <a:rPr lang="en-US" altLang="zh-CN" b="1" dirty="0" smtClean="0"/>
              <a:t>-0.01</a:t>
            </a:r>
            <a:r>
              <a:rPr lang="zh-CN" altLang="en-US" b="1" dirty="0" smtClean="0"/>
              <a:t>）</a:t>
            </a:r>
            <a:r>
              <a:rPr lang="en-US" altLang="zh-CN" b="1" dirty="0" smtClean="0"/>
              <a:t>=20.03</a:t>
            </a: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b="1" dirty="0" smtClean="0"/>
              <a:t>(12)</a:t>
            </a:r>
            <a:r>
              <a:rPr lang="zh-CN" altLang="en-US" b="1" dirty="0" smtClean="0"/>
              <a:t>不确定度是指由于测量误差的存在而对被测量量值不能确定的程度。计量器具的不确定度是一项综合精度指标。它包括测量器具的示值误差、示值变动性、回程误差、灵敏限以及调整时用的标准件误差等。不确定度用误差界限表示。例如分度值为</a:t>
            </a:r>
            <a:r>
              <a:rPr lang="en-US" altLang="zh-CN" b="1" dirty="0" smtClean="0"/>
              <a:t>0.01</a:t>
            </a:r>
            <a:r>
              <a:rPr lang="zh-CN" altLang="en-US" b="1" dirty="0" smtClean="0"/>
              <a:t>的千分尺，在车间条件下，测量范围为</a:t>
            </a:r>
            <a:r>
              <a:rPr lang="en-US" altLang="zh-CN" b="1" dirty="0" smtClean="0"/>
              <a:t>0~50mm</a:t>
            </a:r>
            <a:r>
              <a:rPr lang="zh-CN" altLang="en-US" b="1" dirty="0" smtClean="0"/>
              <a:t>，其不确定度为</a:t>
            </a:r>
            <a:r>
              <a:rPr lang="en-US" altLang="zh-CN" b="1" dirty="0" smtClean="0">
                <a:latin typeface="宋体" panose="02010600030101010101" pitchFamily="2" charset="-122"/>
              </a:rPr>
              <a:t>±</a:t>
            </a:r>
            <a:r>
              <a:rPr lang="en-US" altLang="zh-CN" b="1" dirty="0" smtClean="0"/>
              <a:t>0.004mm</a:t>
            </a:r>
            <a:r>
              <a:rPr lang="zh-CN" altLang="en-US" b="1" dirty="0" smtClean="0">
                <a:latin typeface="宋体" panose="02010600030101010101" pitchFamily="2" charset="-122"/>
              </a:rPr>
              <a:t>。</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b="1" dirty="0" smtClean="0"/>
          </a:p>
          <a:p>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21</a:t>
            </a:fld>
            <a:endParaRPr lang="en-US" altLang="zh-CN"/>
          </a:p>
        </p:txBody>
      </p:sp>
    </p:spTree>
    <p:extLst>
      <p:ext uri="{BB962C8B-B14F-4D97-AF65-F5344CB8AC3E}">
        <p14:creationId xmlns:p14="http://schemas.microsoft.com/office/powerpoint/2010/main" xmlns="" val="27812275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b="1" dirty="0" smtClean="0"/>
              <a:t>在计量器具的示数装置上可表示出</a:t>
            </a:r>
            <a:r>
              <a:rPr lang="zh-CN" altLang="en-US" b="1" dirty="0" smtClean="0">
                <a:solidFill>
                  <a:srgbClr val="FF33CC"/>
                </a:solidFill>
              </a:rPr>
              <a:t>被测量的全值</a:t>
            </a:r>
            <a:r>
              <a:rPr lang="zh-CN" altLang="en-US" b="1" dirty="0" smtClean="0"/>
              <a:t>。例如用测长仪测量零件</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22</a:t>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r>
              <a:rPr lang="zh-CN" altLang="en-US" sz="1200" b="1" dirty="0" smtClean="0"/>
              <a:t>图为机械比较仪测量轴径。先用与轴径公称尺寸相等的量块（或标准件）调整比较仪的零位，然后再换上被测件，指示表的示值为被测件相对标准件的偏差值。</a:t>
            </a:r>
            <a:r>
              <a:rPr lang="zh-CN" altLang="en-US" b="1" dirty="0" smtClean="0"/>
              <a:t>在计量器具的示数装置上只表示出被测量相对已知标准量的</a:t>
            </a:r>
            <a:r>
              <a:rPr lang="zh-CN" altLang="en-US" b="1" dirty="0" smtClean="0">
                <a:solidFill>
                  <a:srgbClr val="FF33CC"/>
                </a:solidFill>
              </a:rPr>
              <a:t>偏差值，</a:t>
            </a:r>
            <a:r>
              <a:rPr lang="zh-CN" altLang="en-US" b="1" dirty="0" smtClean="0"/>
              <a:t>即测出的值为尺寸实际的偏差。</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23</a:t>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3000" y="685800"/>
            <a:ext cx="4572000" cy="3429000"/>
          </a:xfrm>
        </p:spPr>
      </p:sp>
      <p:sp>
        <p:nvSpPr>
          <p:cNvPr id="3" name="备注占位符 2"/>
          <p:cNvSpPr>
            <a:spLocks noGrp="1"/>
          </p:cNvSpPr>
          <p:nvPr>
            <p:ph type="body" idx="1"/>
          </p:nvPr>
        </p:nvSpPr>
        <p:spPr/>
        <p:txBody>
          <a:bodyPr>
            <a:normAutofit/>
          </a:bodyPr>
          <a:lstStyle/>
          <a:p>
            <a:r>
              <a:rPr lang="zh-CN" altLang="en-US" b="1" dirty="0" smtClean="0">
                <a:solidFill>
                  <a:srgbClr val="FF33CC"/>
                </a:solidFill>
              </a:rPr>
              <a:t>直接测量法</a:t>
            </a:r>
            <a:r>
              <a:rPr lang="en-US" altLang="zh-CN" b="1" dirty="0" smtClean="0"/>
              <a:t>——</a:t>
            </a:r>
            <a:r>
              <a:rPr lang="zh-CN" altLang="en-US" b="1" dirty="0" smtClean="0"/>
              <a:t>用计量器具直接测量被测量的</a:t>
            </a:r>
            <a:r>
              <a:rPr lang="zh-CN" altLang="en-US" b="1" dirty="0" smtClean="0">
                <a:solidFill>
                  <a:srgbClr val="FF33CC"/>
                </a:solidFill>
              </a:rPr>
              <a:t>整个数值或相当于标准量的偏差</a:t>
            </a:r>
            <a:r>
              <a:rPr lang="zh-CN" altLang="en-US" b="1" dirty="0" smtClean="0"/>
              <a:t>。</a:t>
            </a:r>
            <a:endParaRPr lang="zh-CN" altLang="en-US" dirty="0"/>
          </a:p>
        </p:txBody>
      </p:sp>
      <p:sp>
        <p:nvSpPr>
          <p:cNvPr id="4" name="灯片编号占位符 3"/>
          <p:cNvSpPr>
            <a:spLocks noGrp="1"/>
          </p:cNvSpPr>
          <p:nvPr>
            <p:ph type="sldNum" sz="quarter" idx="10"/>
          </p:nvPr>
        </p:nvSpPr>
        <p:spPr/>
        <p:txBody>
          <a:bodyPr/>
          <a:lstStyle/>
          <a:p>
            <a:pPr>
              <a:defRPr/>
            </a:pPr>
            <a:fld id="{406A6C5C-BA74-40F5-AC60-D3EAE6C0683D}" type="slidenum">
              <a:rPr lang="zh-CN" altLang="en-US" smtClean="0"/>
              <a:pPr>
                <a:defRPr/>
              </a:pPr>
              <a:t>24</a:t>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755576" y="1484788"/>
            <a:ext cx="7772400" cy="1470025"/>
          </a:xfrm>
        </p:spPr>
        <p:txBody>
          <a:bodyPr/>
          <a:lstStyle/>
          <a:p>
            <a:r>
              <a:rPr lang="zh-CN" altLang="en-US" smtClean="0"/>
              <a:t>单击此处编辑母版标题样式</a:t>
            </a:r>
            <a:endParaRPr lang="zh-CN" altLang="en-US" dirty="0"/>
          </a:p>
        </p:txBody>
      </p:sp>
      <p:sp>
        <p:nvSpPr>
          <p:cNvPr id="3" name="副标题 2"/>
          <p:cNvSpPr>
            <a:spLocks noGrp="1"/>
          </p:cNvSpPr>
          <p:nvPr>
            <p:ph type="subTitle" idx="1"/>
          </p:nvPr>
        </p:nvSpPr>
        <p:spPr>
          <a:xfrm>
            <a:off x="1371600" y="3573016"/>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dirty="0"/>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D580A70C-EF36-4770-8479-1EDD819BB7C4}" type="slidenum">
              <a:rPr lang="zh-CN" altLang="en-US" smtClean="0"/>
              <a:pPr>
                <a:defRPr/>
              </a:pPr>
              <a:t>‹#›</a:t>
            </a:fld>
            <a:endParaRPr lang="en-US" altLang="zh-CN"/>
          </a:p>
        </p:txBody>
      </p:sp>
      <p:sp>
        <p:nvSpPr>
          <p:cNvPr id="8" name="圆角矩形 7"/>
          <p:cNvSpPr/>
          <p:nvPr/>
        </p:nvSpPr>
        <p:spPr>
          <a:xfrm>
            <a:off x="755576" y="3140968"/>
            <a:ext cx="7776000" cy="144016"/>
          </a:xfrm>
          <a:prstGeom prst="roundRect">
            <a:avLst/>
          </a:prstGeom>
          <a:solidFill>
            <a:srgbClr val="FF3300"/>
          </a:solidFill>
          <a:ln>
            <a:solidFill>
              <a:srgbClr val="FFFF00"/>
            </a:solidFill>
          </a:ln>
          <a:effectLst>
            <a:glow rad="139700">
              <a:schemeClr val="accent5">
                <a:satMod val="175000"/>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cap="none" spc="100" dirty="0">
              <a:ln w="18000">
                <a:solidFill>
                  <a:schemeClr val="accent1">
                    <a:satMod val="200000"/>
                    <a:tint val="72000"/>
                  </a:schemeClr>
                </a:solidFill>
                <a:prstDash val="solid"/>
              </a:ln>
              <a:solidFill>
                <a:schemeClr val="accent1">
                  <a:satMod val="280000"/>
                  <a:tint val="100000"/>
                  <a:alpha val="5700"/>
                </a:schemeClr>
              </a:solidFill>
              <a:effectLst>
                <a:outerShdw blurRad="25000" dist="20000" dir="16020000" algn="tl">
                  <a:schemeClr val="accent1">
                    <a:satMod val="200000"/>
                    <a:shade val="1000"/>
                    <a:alpha val="60000"/>
                  </a:schemeClr>
                </a:outerShdw>
              </a:effectLst>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323529" y="188640"/>
            <a:ext cx="7283152" cy="706090"/>
          </a:xfrm>
        </p:spPr>
        <p:txBody>
          <a:bodyPr/>
          <a:lstStyle/>
          <a:p>
            <a:r>
              <a:rPr lang="zh-CN" altLang="en-US"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xfrm>
            <a:off x="251520" y="6565289"/>
            <a:ext cx="1224136" cy="258999"/>
          </a:xfrm>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xfrm>
            <a:off x="3124200" y="6580365"/>
            <a:ext cx="2895600" cy="260226"/>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7236297" y="6583497"/>
            <a:ext cx="1450504" cy="274507"/>
          </a:xfrm>
        </p:spPr>
        <p:txBody>
          <a:bodyPr/>
          <a:lstStyle>
            <a:lvl1pPr>
              <a:defRPr/>
            </a:lvl1pPr>
          </a:lstStyle>
          <a:p>
            <a:pPr>
              <a:defRPr/>
            </a:pPr>
            <a:fld id="{C4DA59DA-DD33-4C87-A40E-512419E8D132}" type="slidenum">
              <a:rPr lang="zh-CN" altLang="en-US" smtClean="0"/>
              <a:pPr>
                <a:defRPr/>
              </a:pPr>
              <a:t>‹#›</a:t>
            </a:fld>
            <a:endParaRPr lang="en-US" altLang="zh-CN"/>
          </a:p>
        </p:txBody>
      </p:sp>
      <p:cxnSp>
        <p:nvCxnSpPr>
          <p:cNvPr id="7" name="直接连接符 6"/>
          <p:cNvCxnSpPr/>
          <p:nvPr/>
        </p:nvCxnSpPr>
        <p:spPr>
          <a:xfrm>
            <a:off x="467544" y="980728"/>
            <a:ext cx="8280000" cy="0"/>
          </a:xfrm>
          <a:prstGeom prst="line">
            <a:avLst/>
          </a:prstGeom>
          <a:ln w="76200">
            <a:solidFill>
              <a:srgbClr val="AFD24E"/>
            </a:solidFill>
          </a:ln>
          <a:effectLst>
            <a:glow rad="228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467544" y="6597352"/>
            <a:ext cx="8280000" cy="0"/>
          </a:xfrm>
          <a:prstGeom prst="line">
            <a:avLst/>
          </a:prstGeom>
          <a:ln w="38100">
            <a:solidFill>
              <a:srgbClr val="AFD24E"/>
            </a:solidFill>
          </a:ln>
          <a:effectLst>
            <a:glow rad="228600">
              <a:schemeClr val="accent1">
                <a:satMod val="175000"/>
                <a:alpha val="40000"/>
              </a:schemeClr>
            </a:glow>
          </a:effectLst>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4"/>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2FCB3172-B9CB-4F9C-A8B9-E62F65274503}" type="slidenum">
              <a:rPr lang="zh-CN" altLang="en-US" smtClean="0"/>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4"/>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90638284-39F4-4EC5-8936-93BB1CD50F98}" type="slidenum">
              <a:rPr lang="zh-CN" altLang="en-US" smtClean="0"/>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090AB96C-023C-4E82-9F1F-EDEBBDECEBBC}" type="slidenum">
              <a:rPr lang="zh-CN" altLang="en-US" smtClean="0"/>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2C2EA1FE-6EE2-4351-A35A-7B6B47853BC5}" type="slidenum">
              <a:rPr lang="zh-CN" altLang="en-US" smtClean="0"/>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8872C8D1-49FA-4997-9BAD-77997CC34449}" type="slidenum">
              <a:rPr lang="zh-CN" altLang="en-US" smtClean="0"/>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B08DD288-6AA8-42BF-B0DB-F988DD0EF20A}" type="slidenum">
              <a:rPr lang="zh-CN" altLang="en-US" smtClean="0"/>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385D2F44-9B7C-46D1-B293-C3966665A51D}" type="slidenum">
              <a:rPr lang="zh-CN" altLang="en-US" smtClean="0"/>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9F0C151-142C-4D75-8456-52A1F09FB9A8}" type="slidenum">
              <a:rPr lang="zh-CN" altLang="en-US" smtClean="0"/>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42"/>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42"/>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F80C7CB3-060B-4FBC-8088-C6D452232B6A}" type="slidenum">
              <a:rPr lang="zh-CN" altLang="en-US" smtClean="0"/>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42"/>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42B8622F-45B4-4D61-88BA-1F5AA52908CA}" type="slidenum">
              <a:rPr lang="zh-CN" altLang="en-US" smtClean="0"/>
              <a:pPr>
                <a:defRPr/>
              </a:pPr>
              <a:t>‹#›</a:t>
            </a:fld>
            <a:endParaRPr lang="en-US" altLang="zh-CN"/>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78"/>
          <p:cNvSpPr>
            <a:spLocks noChangeArrowheads="1"/>
          </p:cNvSpPr>
          <p:nvPr/>
        </p:nvSpPr>
        <p:spPr bwMode="ltGray">
          <a:xfrm flipV="1">
            <a:off x="0" y="6448429"/>
            <a:ext cx="9144000" cy="142875"/>
          </a:xfrm>
          <a:prstGeom prst="rect">
            <a:avLst/>
          </a:prstGeom>
          <a:gradFill rotWithShape="1">
            <a:gsLst>
              <a:gs pos="0">
                <a:schemeClr val="tx1"/>
              </a:gs>
              <a:gs pos="50000">
                <a:schemeClr val="tx1">
                  <a:gamma/>
                  <a:tint val="1529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5" name="Rectangle 79"/>
          <p:cNvSpPr>
            <a:spLocks noChangeArrowheads="1"/>
          </p:cNvSpPr>
          <p:nvPr/>
        </p:nvSpPr>
        <p:spPr bwMode="ltGray">
          <a:xfrm flipV="1">
            <a:off x="0" y="6591300"/>
            <a:ext cx="9144000" cy="139700"/>
          </a:xfrm>
          <a:prstGeom prst="rect">
            <a:avLst/>
          </a:prstGeom>
          <a:gradFill rotWithShape="1">
            <a:gsLst>
              <a:gs pos="0">
                <a:schemeClr val="tx1"/>
              </a:gs>
              <a:gs pos="50000">
                <a:schemeClr val="tx1">
                  <a:gamma/>
                  <a:tint val="1529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6" name="Rectangle 80"/>
          <p:cNvSpPr>
            <a:spLocks noChangeArrowheads="1"/>
          </p:cNvSpPr>
          <p:nvPr/>
        </p:nvSpPr>
        <p:spPr bwMode="ltGray">
          <a:xfrm flipV="1">
            <a:off x="0" y="6729417"/>
            <a:ext cx="9144000" cy="142875"/>
          </a:xfrm>
          <a:prstGeom prst="rect">
            <a:avLst/>
          </a:prstGeom>
          <a:gradFill rotWithShape="1">
            <a:gsLst>
              <a:gs pos="0">
                <a:schemeClr val="tx1"/>
              </a:gs>
              <a:gs pos="50000">
                <a:schemeClr val="tx1">
                  <a:gamma/>
                  <a:tint val="1529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3074" name="Rectangle 2"/>
          <p:cNvSpPr>
            <a:spLocks noGrp="1" noChangeArrowheads="1"/>
          </p:cNvSpPr>
          <p:nvPr>
            <p:ph type="ctrTitle"/>
          </p:nvPr>
        </p:nvSpPr>
        <p:spPr>
          <a:xfrm>
            <a:off x="609600" y="990600"/>
            <a:ext cx="7467600" cy="2133600"/>
          </a:xfrm>
          <a:effectLst>
            <a:outerShdw dist="71842" dir="2700000" algn="ctr" rotWithShape="0">
              <a:schemeClr val="tx1"/>
            </a:outerShdw>
          </a:effectLst>
        </p:spPr>
        <p:txBody>
          <a:bodyPr/>
          <a:lstStyle>
            <a:lvl1pPr algn="l">
              <a:defRPr sz="6000"/>
            </a:lvl1pPr>
          </a:lstStyle>
          <a:p>
            <a:r>
              <a:rPr lang="zh-CN" altLang="en-US" smtClean="0"/>
              <a:t>单击此处编辑母版标题样式</a:t>
            </a:r>
            <a:endParaRPr lang="en-US" altLang="ja-JP"/>
          </a:p>
        </p:txBody>
      </p:sp>
      <p:sp>
        <p:nvSpPr>
          <p:cNvPr id="3075" name="Rectangle 3"/>
          <p:cNvSpPr>
            <a:spLocks noGrp="1" noChangeArrowheads="1"/>
          </p:cNvSpPr>
          <p:nvPr>
            <p:ph type="subTitle" idx="1"/>
          </p:nvPr>
        </p:nvSpPr>
        <p:spPr bwMode="white">
          <a:xfrm>
            <a:off x="609600" y="3505200"/>
            <a:ext cx="7467600" cy="533400"/>
          </a:xfrm>
        </p:spPr>
        <p:txBody>
          <a:bodyPr/>
          <a:lstStyle>
            <a:lvl1pPr marL="0" indent="0">
              <a:buFont typeface="Wingdings" panose="05000000000000000000" pitchFamily="2" charset="2"/>
              <a:buNone/>
              <a:defRPr sz="2400">
                <a:solidFill>
                  <a:schemeClr val="bg2"/>
                </a:solidFill>
              </a:defRPr>
            </a:lvl1pPr>
          </a:lstStyle>
          <a:p>
            <a:r>
              <a:rPr lang="zh-CN" altLang="en-US" smtClean="0"/>
              <a:t>单击此处编辑母版副标题样式</a:t>
            </a:r>
            <a:endParaRPr lang="en-US" altLang="ja-JP"/>
          </a:p>
        </p:txBody>
      </p:sp>
      <p:sp>
        <p:nvSpPr>
          <p:cNvPr id="7" name="Rectangle 74"/>
          <p:cNvSpPr>
            <a:spLocks noGrp="1" noChangeArrowheads="1"/>
          </p:cNvSpPr>
          <p:nvPr>
            <p:ph type="dt" sz="half" idx="10"/>
          </p:nvPr>
        </p:nvSpPr>
        <p:spPr>
          <a:xfrm>
            <a:off x="457200" y="6564313"/>
            <a:ext cx="2133600" cy="157162"/>
          </a:xfrm>
        </p:spPr>
        <p:txBody>
          <a:bodyPr/>
          <a:lstStyle>
            <a:lvl1pPr>
              <a:defRPr sz="1400" b="0" smtClean="0">
                <a:solidFill>
                  <a:schemeClr val="bg1"/>
                </a:solidFill>
                <a:latin typeface="Times New Roman" panose="02020603050405020304" pitchFamily="18" charset="0"/>
              </a:defRPr>
            </a:lvl1pPr>
          </a:lstStyle>
          <a:p>
            <a:pPr>
              <a:defRPr/>
            </a:pPr>
            <a:fld id="{DA644B2D-E693-42A6-9EFB-EFE7489D79D1}" type="datetime1">
              <a:rPr lang="zh-CN" altLang="en-US" smtClean="0"/>
              <a:pPr>
                <a:defRPr/>
              </a:pPr>
              <a:t>2023/2/17 Friday</a:t>
            </a:fld>
            <a:endParaRPr lang="en-US" altLang="zh-CN"/>
          </a:p>
        </p:txBody>
      </p:sp>
      <p:sp>
        <p:nvSpPr>
          <p:cNvPr id="8" name="Rectangle 75"/>
          <p:cNvSpPr>
            <a:spLocks noGrp="1" noChangeArrowheads="1"/>
          </p:cNvSpPr>
          <p:nvPr>
            <p:ph type="ftr" sz="quarter" idx="11"/>
          </p:nvPr>
        </p:nvSpPr>
        <p:spPr>
          <a:xfrm>
            <a:off x="3124200" y="6550025"/>
            <a:ext cx="2895600" cy="171450"/>
          </a:xfrm>
        </p:spPr>
        <p:txBody>
          <a:bodyPr/>
          <a:lstStyle>
            <a:lvl1pPr algn="ctr">
              <a:defRPr sz="1400" smtClean="0">
                <a:solidFill>
                  <a:schemeClr val="bg1"/>
                </a:solidFill>
                <a:latin typeface="Times New Roman" panose="02020603050405020304" pitchFamily="18" charset="0"/>
              </a:defRPr>
            </a:lvl1pPr>
          </a:lstStyle>
          <a:p>
            <a:pPr>
              <a:defRPr/>
            </a:pPr>
            <a:endParaRPr lang="en-US" altLang="zh-CN"/>
          </a:p>
        </p:txBody>
      </p:sp>
      <p:sp>
        <p:nvSpPr>
          <p:cNvPr id="9" name="Rectangle 76"/>
          <p:cNvSpPr>
            <a:spLocks noGrp="1" noChangeArrowheads="1"/>
          </p:cNvSpPr>
          <p:nvPr>
            <p:ph type="sldNum" sz="quarter" idx="12"/>
          </p:nvPr>
        </p:nvSpPr>
        <p:spPr>
          <a:xfrm>
            <a:off x="6553200" y="6535742"/>
            <a:ext cx="2133600" cy="185737"/>
          </a:xfrm>
        </p:spPr>
        <p:txBody>
          <a:bodyPr/>
          <a:lstStyle>
            <a:lvl1pPr algn="r">
              <a:defRPr smtClean="0">
                <a:solidFill>
                  <a:schemeClr val="bg1"/>
                </a:solidFill>
                <a:latin typeface="Times New Roman" panose="02020603050405020304" pitchFamily="18" charset="0"/>
              </a:defRPr>
            </a:lvl1pPr>
          </a:lstStyle>
          <a:p>
            <a:pPr>
              <a:defRPr/>
            </a:pPr>
            <a:fld id="{F5220310-E762-4EEF-A91A-400D257CBBD1}" type="slidenum">
              <a:rPr lang="en-US" altLang="zh-CN" smtClean="0"/>
              <a:pPr>
                <a:defRPr/>
              </a:pPr>
              <a:t>‹#›</a:t>
            </a:fld>
            <a:endParaRPr lang="en-US" altLang="zh-C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257E59D7-CB7C-40DF-9ECE-211C377F1E2F}" type="slidenum">
              <a:rPr lang="en-US" altLang="zh-CN" smtClean="0"/>
              <a:pPr>
                <a:defRPr/>
              </a:pPr>
              <a:t>‹#›</a:t>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fld id="{D14B95E3-0C04-4EC6-AC3C-CF8786E72A26}" type="datetime1">
              <a:rPr lang="zh-CN" altLang="en-US" smtClean="0"/>
              <a:pPr>
                <a:defRPr/>
              </a:pPr>
              <a:t>2023/2/17 Friday</a:t>
            </a:fld>
            <a:endParaRPr lang="en-US" altLang="zh-C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4"/>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03C94F31-775C-4A61-858A-266ADEF2B777}" type="slidenum">
              <a:rPr lang="en-US" altLang="zh-CN" smtClean="0"/>
              <a:pPr>
                <a:defRPr/>
              </a:pPr>
              <a:t>‹#›</a:t>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fld id="{A62CFA60-F77C-4DB1-967C-68B7CE2DCAF3}" type="datetime1">
              <a:rPr lang="zh-CN" altLang="en-US" smtClean="0"/>
              <a:pPr>
                <a:defRPr/>
              </a:pPr>
              <a:t>2023/2/17 Friday</a:t>
            </a:fld>
            <a:endParaRPr lang="en-US" altLang="zh-C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228600" y="1066800"/>
            <a:ext cx="4267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066800"/>
            <a:ext cx="4267200" cy="51054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A5B0412E-A496-4008-9B16-1498D6F18637}" type="slidenum">
              <a:rPr lang="en-US" altLang="zh-CN" smtClean="0"/>
              <a:pPr>
                <a:defRPr/>
              </a:pPr>
              <a:t>‹#›</a:t>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fld id="{F50CAB4D-CEFE-423A-B5DA-D509A03BCD09}" type="datetime1">
              <a:rPr lang="zh-CN" altLang="en-US" smtClean="0"/>
              <a:pPr>
                <a:defRPr/>
              </a:pPr>
              <a:t>2023/2/17 Friday</a:t>
            </a:fld>
            <a:endParaRPr lang="en-US" altLang="zh-C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7"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7"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5"/>
          <p:cNvSpPr>
            <a:spLocks noGrp="1" noChangeArrowheads="1"/>
          </p:cNvSpPr>
          <p:nvPr>
            <p:ph type="ftr" sz="quarter" idx="10"/>
          </p:nvPr>
        </p:nvSpPr>
        <p:spPr/>
        <p:txBody>
          <a:bodyPr/>
          <a:lstStyle>
            <a:lvl1pPr>
              <a:defRPr/>
            </a:lvl1pPr>
          </a:lstStyle>
          <a:p>
            <a:pPr>
              <a:defRPr/>
            </a:pPr>
            <a:endParaRPr lang="en-US" altLang="zh-CN"/>
          </a:p>
        </p:txBody>
      </p:sp>
      <p:sp>
        <p:nvSpPr>
          <p:cNvPr id="8" name="Rectangle 6"/>
          <p:cNvSpPr>
            <a:spLocks noGrp="1" noChangeArrowheads="1"/>
          </p:cNvSpPr>
          <p:nvPr>
            <p:ph type="sldNum" sz="quarter" idx="11"/>
          </p:nvPr>
        </p:nvSpPr>
        <p:spPr/>
        <p:txBody>
          <a:bodyPr/>
          <a:lstStyle>
            <a:lvl1pPr>
              <a:defRPr/>
            </a:lvl1pPr>
          </a:lstStyle>
          <a:p>
            <a:pPr>
              <a:defRPr/>
            </a:pPr>
            <a:fld id="{78F41E30-6E77-4467-8B6D-56B8A6AE3E93}" type="slidenum">
              <a:rPr lang="en-US" altLang="zh-CN" smtClean="0"/>
              <a:pPr>
                <a:defRPr/>
              </a:pPr>
              <a:t>‹#›</a:t>
            </a:fld>
            <a:endParaRPr lang="en-US" altLang="zh-CN"/>
          </a:p>
        </p:txBody>
      </p:sp>
      <p:sp>
        <p:nvSpPr>
          <p:cNvPr id="9" name="Rectangle 4"/>
          <p:cNvSpPr>
            <a:spLocks noGrp="1" noChangeArrowheads="1"/>
          </p:cNvSpPr>
          <p:nvPr>
            <p:ph type="dt" sz="half" idx="12"/>
          </p:nvPr>
        </p:nvSpPr>
        <p:spPr/>
        <p:txBody>
          <a:bodyPr/>
          <a:lstStyle>
            <a:lvl1pPr>
              <a:defRPr/>
            </a:lvl1pPr>
          </a:lstStyle>
          <a:p>
            <a:pPr>
              <a:defRPr/>
            </a:pPr>
            <a:fld id="{6F1F378B-8A41-4E78-AE4B-B3309C32A307}" type="datetime1">
              <a:rPr lang="zh-CN" altLang="en-US" smtClean="0"/>
              <a:pPr>
                <a:defRPr/>
              </a:pPr>
              <a:t>2023/2/17 Friday</a:t>
            </a:fld>
            <a:endParaRPr lang="en-US" altLang="zh-CN"/>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5"/>
          <p:cNvSpPr>
            <a:spLocks noGrp="1" noChangeArrowheads="1"/>
          </p:cNvSpPr>
          <p:nvPr>
            <p:ph type="ftr" sz="quarter" idx="10"/>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1"/>
          </p:nvPr>
        </p:nvSpPr>
        <p:spPr/>
        <p:txBody>
          <a:bodyPr/>
          <a:lstStyle>
            <a:lvl1pPr>
              <a:defRPr/>
            </a:lvl1pPr>
          </a:lstStyle>
          <a:p>
            <a:pPr>
              <a:defRPr/>
            </a:pPr>
            <a:fld id="{1C0AAD88-7902-4DA8-A58E-D2F6B3C1827F}" type="slidenum">
              <a:rPr lang="en-US" altLang="zh-CN" smtClean="0"/>
              <a:pPr>
                <a:defRPr/>
              </a:pPr>
              <a:t>‹#›</a:t>
            </a:fld>
            <a:endParaRPr lang="en-US" altLang="zh-CN"/>
          </a:p>
        </p:txBody>
      </p:sp>
      <p:sp>
        <p:nvSpPr>
          <p:cNvPr id="5" name="Rectangle 4"/>
          <p:cNvSpPr>
            <a:spLocks noGrp="1" noChangeArrowheads="1"/>
          </p:cNvSpPr>
          <p:nvPr>
            <p:ph type="dt" sz="half" idx="12"/>
          </p:nvPr>
        </p:nvSpPr>
        <p:spPr/>
        <p:txBody>
          <a:bodyPr/>
          <a:lstStyle>
            <a:lvl1pPr>
              <a:defRPr/>
            </a:lvl1pPr>
          </a:lstStyle>
          <a:p>
            <a:pPr>
              <a:defRPr/>
            </a:pPr>
            <a:fld id="{C6D0B967-A90D-47CE-B4BB-E53E5DB5B4F5}" type="datetime1">
              <a:rPr lang="zh-CN" altLang="en-US" smtClean="0"/>
              <a:pPr>
                <a:defRPr/>
              </a:pPr>
              <a:t>2023/2/17 Friday</a:t>
            </a:fld>
            <a:endParaRPr lang="en-US" altLang="zh-CN"/>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p:txBody>
          <a:bodyPr/>
          <a:lstStyle>
            <a:lvl1pPr>
              <a:defRPr/>
            </a:lvl1pPr>
          </a:lstStyle>
          <a:p>
            <a:pPr>
              <a:defRPr/>
            </a:pPr>
            <a:endParaRPr lang="en-US" altLang="zh-CN"/>
          </a:p>
        </p:txBody>
      </p:sp>
      <p:sp>
        <p:nvSpPr>
          <p:cNvPr id="3" name="Rectangle 6"/>
          <p:cNvSpPr>
            <a:spLocks noGrp="1" noChangeArrowheads="1"/>
          </p:cNvSpPr>
          <p:nvPr>
            <p:ph type="sldNum" sz="quarter" idx="11"/>
          </p:nvPr>
        </p:nvSpPr>
        <p:spPr/>
        <p:txBody>
          <a:bodyPr/>
          <a:lstStyle>
            <a:lvl1pPr>
              <a:defRPr/>
            </a:lvl1pPr>
          </a:lstStyle>
          <a:p>
            <a:pPr>
              <a:defRPr/>
            </a:pPr>
            <a:fld id="{47B08A4C-88E3-4517-9527-951409196DFE}" type="slidenum">
              <a:rPr lang="en-US" altLang="zh-CN" smtClean="0"/>
              <a:pPr>
                <a:defRPr/>
              </a:pPr>
              <a:t>‹#›</a:t>
            </a:fld>
            <a:endParaRPr lang="en-US" altLang="zh-CN"/>
          </a:p>
        </p:txBody>
      </p:sp>
      <p:sp>
        <p:nvSpPr>
          <p:cNvPr id="4" name="Rectangle 4"/>
          <p:cNvSpPr>
            <a:spLocks noGrp="1" noChangeArrowheads="1"/>
          </p:cNvSpPr>
          <p:nvPr>
            <p:ph type="dt" sz="half" idx="12"/>
          </p:nvPr>
        </p:nvSpPr>
        <p:spPr/>
        <p:txBody>
          <a:bodyPr/>
          <a:lstStyle>
            <a:lvl1pPr>
              <a:defRPr/>
            </a:lvl1pPr>
          </a:lstStyle>
          <a:p>
            <a:pPr>
              <a:defRPr/>
            </a:pPr>
            <a:fld id="{5914D049-8147-4F0D-8D30-09CD12CA34B6}" type="datetime1">
              <a:rPr lang="zh-CN" altLang="en-US" smtClean="0"/>
              <a:pPr>
                <a:defRPr/>
              </a:pPr>
              <a:t>2023/2/17 Friday</a:t>
            </a:fld>
            <a:endParaRPr lang="en-US" altLang="zh-C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2"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4"/>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2" y="1435103"/>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9BCC4F80-DBFB-48EB-8E80-EFE397B2FCAA}" type="slidenum">
              <a:rPr lang="en-US" altLang="zh-CN" smtClean="0"/>
              <a:pPr>
                <a:defRPr/>
              </a:pPr>
              <a:t>‹#›</a:t>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fld id="{B7022E4C-4BA5-4C26-8E8C-25585E263D8E}" type="datetime1">
              <a:rPr lang="zh-CN" altLang="en-US" smtClean="0"/>
              <a:pPr>
                <a:defRPr/>
              </a:pPr>
              <a:t>2023/2/17 Friday</a:t>
            </a:fld>
            <a:endParaRPr lang="en-US" altLang="zh-CN"/>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smtClean="0"/>
              <a:t>单击图标添加图片</a:t>
            </a: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5"/>
          <p:cNvSpPr>
            <a:spLocks noGrp="1" noChangeArrowheads="1"/>
          </p:cNvSpPr>
          <p:nvPr>
            <p:ph type="ftr" sz="quarter" idx="10"/>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1"/>
          </p:nvPr>
        </p:nvSpPr>
        <p:spPr/>
        <p:txBody>
          <a:bodyPr/>
          <a:lstStyle>
            <a:lvl1pPr>
              <a:defRPr/>
            </a:lvl1pPr>
          </a:lstStyle>
          <a:p>
            <a:pPr>
              <a:defRPr/>
            </a:pPr>
            <a:fld id="{9B7DB612-5453-437E-A102-FF03C3A33E7E}" type="slidenum">
              <a:rPr lang="en-US" altLang="zh-CN" smtClean="0"/>
              <a:pPr>
                <a:defRPr/>
              </a:pPr>
              <a:t>‹#›</a:t>
            </a:fld>
            <a:endParaRPr lang="en-US" altLang="zh-CN"/>
          </a:p>
        </p:txBody>
      </p:sp>
      <p:sp>
        <p:nvSpPr>
          <p:cNvPr id="7" name="Rectangle 4"/>
          <p:cNvSpPr>
            <a:spLocks noGrp="1" noChangeArrowheads="1"/>
          </p:cNvSpPr>
          <p:nvPr>
            <p:ph type="dt" sz="half" idx="12"/>
          </p:nvPr>
        </p:nvSpPr>
        <p:spPr/>
        <p:txBody>
          <a:bodyPr/>
          <a:lstStyle>
            <a:lvl1pPr>
              <a:defRPr/>
            </a:lvl1pPr>
          </a:lstStyle>
          <a:p>
            <a:pPr>
              <a:defRPr/>
            </a:pPr>
            <a:fld id="{CD7AF7C6-88EF-4010-9A45-607CDB340DB8}" type="datetime1">
              <a:rPr lang="zh-CN" altLang="en-US" smtClean="0"/>
              <a:pPr>
                <a:defRPr/>
              </a:pPr>
              <a:t>2023/2/17 Friday</a:t>
            </a:fld>
            <a:endParaRPr lang="en-US" altLang="zh-CN"/>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D8B246F0-EF7F-465A-8CD2-2590CD7E1BC7}" type="slidenum">
              <a:rPr lang="en-US" altLang="zh-CN" smtClean="0"/>
              <a:pPr>
                <a:defRPr/>
              </a:pPr>
              <a:t>‹#›</a:t>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fld id="{E8A5F3D3-C0D2-40BC-A6F3-8BE7ED31085E}" type="datetime1">
              <a:rPr lang="zh-CN" altLang="en-US" smtClean="0"/>
              <a:pPr>
                <a:defRPr/>
              </a:pPr>
              <a:t>2023/2/17 Friday</a:t>
            </a:fld>
            <a:endParaRPr lang="en-US" altLang="zh-C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43700" y="46038"/>
            <a:ext cx="2171700" cy="61261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228600" y="46038"/>
            <a:ext cx="6362700" cy="6126162"/>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5"/>
          <p:cNvSpPr>
            <a:spLocks noGrp="1" noChangeArrowheads="1"/>
          </p:cNvSpPr>
          <p:nvPr>
            <p:ph type="ftr" sz="quarter" idx="10"/>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1"/>
          </p:nvPr>
        </p:nvSpPr>
        <p:spPr/>
        <p:txBody>
          <a:bodyPr/>
          <a:lstStyle>
            <a:lvl1pPr>
              <a:defRPr/>
            </a:lvl1pPr>
          </a:lstStyle>
          <a:p>
            <a:pPr>
              <a:defRPr/>
            </a:pPr>
            <a:fld id="{BDC7ACDD-5999-4911-8D3A-2DDA65436951}" type="slidenum">
              <a:rPr lang="en-US" altLang="zh-CN" smtClean="0"/>
              <a:pPr>
                <a:defRPr/>
              </a:pPr>
              <a:t>‹#›</a:t>
            </a:fld>
            <a:endParaRPr lang="en-US" altLang="zh-CN"/>
          </a:p>
        </p:txBody>
      </p:sp>
      <p:sp>
        <p:nvSpPr>
          <p:cNvPr id="6" name="Rectangle 4"/>
          <p:cNvSpPr>
            <a:spLocks noGrp="1" noChangeArrowheads="1"/>
          </p:cNvSpPr>
          <p:nvPr>
            <p:ph type="dt" sz="half" idx="12"/>
          </p:nvPr>
        </p:nvSpPr>
        <p:spPr/>
        <p:txBody>
          <a:bodyPr/>
          <a:lstStyle>
            <a:lvl1pPr>
              <a:defRPr/>
            </a:lvl1pPr>
          </a:lstStyle>
          <a:p>
            <a:pPr>
              <a:defRPr/>
            </a:pPr>
            <a:fld id="{F7BA2029-3988-48DA-9F34-0F1C9D9B565D}" type="datetime1">
              <a:rPr lang="zh-CN" altLang="en-US" smtClean="0"/>
              <a:pPr>
                <a:defRPr/>
              </a:pPr>
              <a:t>2023/2/17 Friday</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bwMode="auto">
          <a:xfrm>
            <a:off x="457200" y="274638"/>
            <a:ext cx="8229600" cy="1143000"/>
          </a:xfrm>
          <a:prstGeom prst="rect">
            <a:avLst/>
          </a:prstGeom>
          <a:noFill/>
          <a:ln w="9525">
            <a:noFill/>
            <a:miter lim="800000"/>
          </a:ln>
        </p:spPr>
        <p:txBody>
          <a:bodyPr vert="horz" wrap="square" lIns="91440" tIns="45720" rIns="91440" bIns="45720" numCol="1" anchor="ctr" anchorCtr="0" compatLnSpc="1"/>
          <a:lstStyle/>
          <a:p>
            <a:pPr lvl="0"/>
            <a:r>
              <a:rPr lang="zh-CN" altLang="en-US" smtClean="0"/>
              <a:t>单击此处编辑母版标题样式</a:t>
            </a:r>
            <a:endParaRPr lang="en-US" altLang="ja-JP" smtClean="0"/>
          </a:p>
        </p:txBody>
      </p:sp>
      <p:sp>
        <p:nvSpPr>
          <p:cNvPr id="7171" name="Rectangle 3"/>
          <p:cNvSpPr>
            <a:spLocks noGrp="1" noChangeArrowheads="1"/>
          </p:cNvSpPr>
          <p:nvPr>
            <p:ph type="body" idx="1"/>
          </p:nvPr>
        </p:nvSpPr>
        <p:spPr bwMode="auto">
          <a:xfrm>
            <a:off x="457200" y="1600204"/>
            <a:ext cx="8229600" cy="4525963"/>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ja-JP" smtClean="0"/>
          </a:p>
        </p:txBody>
      </p:sp>
      <p:sp>
        <p:nvSpPr>
          <p:cNvPr id="129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kumimoji="1" sz="1400" smtClean="0">
                <a:ea typeface="+mn-ea"/>
              </a:defRPr>
            </a:lvl1pPr>
          </a:lstStyle>
          <a:p>
            <a:pPr>
              <a:defRPr/>
            </a:pPr>
            <a:endParaRPr lang="en-US" altLang="zh-CN"/>
          </a:p>
        </p:txBody>
      </p:sp>
      <p:sp>
        <p:nvSpPr>
          <p:cNvPr id="129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kumimoji="1" sz="1400" smtClean="0">
                <a:ea typeface="+mn-ea"/>
              </a:defRPr>
            </a:lvl1pPr>
          </a:lstStyle>
          <a:p>
            <a:pPr>
              <a:defRPr/>
            </a:pPr>
            <a:endParaRPr lang="en-US" altLang="zh-CN"/>
          </a:p>
        </p:txBody>
      </p:sp>
      <p:sp>
        <p:nvSpPr>
          <p:cNvPr id="129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kumimoji="1" sz="1400" smtClean="0">
                <a:ea typeface="+mn-ea"/>
              </a:defRPr>
            </a:lvl1pPr>
          </a:lstStyle>
          <a:p>
            <a:pPr>
              <a:defRPr/>
            </a:pPr>
            <a:fld id="{42B8622F-45B4-4D61-88BA-1F5AA52908CA}" type="slidenum">
              <a:rPr lang="zh-CN" altLang="en-US" smtClean="0"/>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rtl="0" eaLnBrk="1" fontAlgn="base" hangingPunct="1">
        <a:spcBef>
          <a:spcPct val="0"/>
        </a:spcBef>
        <a:spcAft>
          <a:spcPct val="0"/>
        </a:spcAft>
        <a:defRPr kumimoji="1" sz="4400">
          <a:solidFill>
            <a:schemeClr val="tx2"/>
          </a:solidFill>
          <a:latin typeface="+mj-lt"/>
          <a:ea typeface="+mj-ea"/>
          <a:cs typeface="+mj-cs"/>
        </a:defRPr>
      </a:lvl1pPr>
      <a:lvl2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2pPr>
      <a:lvl3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3pPr>
      <a:lvl4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4pPr>
      <a:lvl5pPr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5pPr>
      <a:lvl6pPr marL="4572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6pPr>
      <a:lvl7pPr marL="9144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7pPr>
      <a:lvl8pPr marL="13716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8pPr>
      <a:lvl9pPr marL="1828800" algn="ctr" rtl="0" eaLnBrk="1" fontAlgn="base" hangingPunct="1">
        <a:spcBef>
          <a:spcPct val="0"/>
        </a:spcBef>
        <a:spcAft>
          <a:spcPct val="0"/>
        </a:spcAft>
        <a:defRPr kumimoji="1" sz="4400">
          <a:solidFill>
            <a:schemeClr val="tx2"/>
          </a:solidFill>
          <a:latin typeface="Arial" panose="020B0604020202020204" pitchFamily="34" charset="0"/>
          <a:ea typeface="MS PGothic" panose="020B0600070205080204" charset="-128"/>
        </a:defRPr>
      </a:lvl9pPr>
    </p:titleStyle>
    <p:bodyStyle>
      <a:lvl1pPr marL="342900" indent="-342900" algn="l" rtl="0" eaLnBrk="1" fontAlgn="base" hangingPunct="1">
        <a:spcBef>
          <a:spcPct val="20000"/>
        </a:spcBef>
        <a:spcAft>
          <a:spcPct val="0"/>
        </a:spcAft>
        <a:buChar char="•"/>
        <a:defRPr kumimoji="1" sz="3200">
          <a:solidFill>
            <a:schemeClr val="tx1"/>
          </a:solidFill>
          <a:latin typeface="+mn-lt"/>
          <a:ea typeface="+mn-ea"/>
          <a:cs typeface="+mn-cs"/>
        </a:defRPr>
      </a:lvl1pPr>
      <a:lvl2pPr marL="742950" indent="-285750" algn="l" rtl="0" eaLnBrk="1" fontAlgn="base" hangingPunct="1">
        <a:spcBef>
          <a:spcPct val="20000"/>
        </a:spcBef>
        <a:spcAft>
          <a:spcPct val="0"/>
        </a:spcAft>
        <a:buChar char="–"/>
        <a:defRPr kumimoji="1" sz="2800">
          <a:solidFill>
            <a:schemeClr val="tx1"/>
          </a:solidFill>
          <a:latin typeface="+mn-lt"/>
          <a:ea typeface="+mn-ea"/>
        </a:defRPr>
      </a:lvl2pPr>
      <a:lvl3pPr marL="1143000" indent="-228600" algn="l" rtl="0" eaLnBrk="1" fontAlgn="base" hangingPunct="1">
        <a:spcBef>
          <a:spcPct val="20000"/>
        </a:spcBef>
        <a:spcAft>
          <a:spcPct val="0"/>
        </a:spcAft>
        <a:buChar char="•"/>
        <a:defRPr kumimoji="1" sz="2400">
          <a:solidFill>
            <a:schemeClr val="tx1"/>
          </a:solidFill>
          <a:latin typeface="+mn-lt"/>
          <a:ea typeface="+mn-ea"/>
        </a:defRPr>
      </a:lvl3pPr>
      <a:lvl4pPr marL="1600200" indent="-228600" algn="l" rtl="0" eaLnBrk="1" fontAlgn="base" hangingPunct="1">
        <a:spcBef>
          <a:spcPct val="20000"/>
        </a:spcBef>
        <a:spcAft>
          <a:spcPct val="0"/>
        </a:spcAft>
        <a:buChar char="–"/>
        <a:defRPr kumimoji="1" sz="2000">
          <a:solidFill>
            <a:schemeClr val="tx1"/>
          </a:solidFill>
          <a:latin typeface="+mn-lt"/>
          <a:ea typeface="+mn-ea"/>
        </a:defRPr>
      </a:lvl4pPr>
      <a:lvl5pPr marL="2057400" indent="-228600" algn="l" rtl="0" eaLnBrk="1" fontAlgn="base" hangingPunct="1">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101" name="Rectangle 77"/>
          <p:cNvSpPr>
            <a:spLocks noChangeArrowheads="1"/>
          </p:cNvSpPr>
          <p:nvPr/>
        </p:nvSpPr>
        <p:spPr bwMode="gray">
          <a:xfrm>
            <a:off x="0" y="4"/>
            <a:ext cx="9144000" cy="792163"/>
          </a:xfrm>
          <a:prstGeom prst="rect">
            <a:avLst/>
          </a:prstGeom>
          <a:gradFill rotWithShape="1">
            <a:gsLst>
              <a:gs pos="0">
                <a:schemeClr val="accent2"/>
              </a:gs>
              <a:gs pos="100000">
                <a:schemeClr val="accent1"/>
              </a:gs>
            </a:gsLst>
            <a:lin ang="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1102" name="Rectangle 78"/>
          <p:cNvSpPr>
            <a:spLocks noChangeArrowheads="1"/>
          </p:cNvSpPr>
          <p:nvPr/>
        </p:nvSpPr>
        <p:spPr bwMode="ltGray">
          <a:xfrm flipV="1">
            <a:off x="0" y="788992"/>
            <a:ext cx="9144000" cy="71437"/>
          </a:xfrm>
          <a:prstGeom prst="rect">
            <a:avLst/>
          </a:prstGeom>
          <a:gradFill rotWithShape="1">
            <a:gsLst>
              <a:gs pos="0">
                <a:schemeClr val="tx1"/>
              </a:gs>
              <a:gs pos="50000">
                <a:schemeClr val="tx1">
                  <a:gamma/>
                  <a:tint val="2431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1103" name="Rectangle 79"/>
          <p:cNvSpPr>
            <a:spLocks noChangeArrowheads="1"/>
          </p:cNvSpPr>
          <p:nvPr/>
        </p:nvSpPr>
        <p:spPr bwMode="ltGray">
          <a:xfrm flipV="1">
            <a:off x="0" y="858841"/>
            <a:ext cx="9144000" cy="73025"/>
          </a:xfrm>
          <a:prstGeom prst="rect">
            <a:avLst/>
          </a:prstGeom>
          <a:gradFill rotWithShape="1">
            <a:gsLst>
              <a:gs pos="0">
                <a:schemeClr val="tx1"/>
              </a:gs>
              <a:gs pos="50000">
                <a:schemeClr val="tx1">
                  <a:gamma/>
                  <a:tint val="2431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1104" name="Rectangle 80"/>
          <p:cNvSpPr>
            <a:spLocks noChangeArrowheads="1"/>
          </p:cNvSpPr>
          <p:nvPr/>
        </p:nvSpPr>
        <p:spPr bwMode="ltGray">
          <a:xfrm flipV="1">
            <a:off x="0" y="6731000"/>
            <a:ext cx="9144000" cy="71438"/>
          </a:xfrm>
          <a:prstGeom prst="rect">
            <a:avLst/>
          </a:prstGeom>
          <a:gradFill rotWithShape="1">
            <a:gsLst>
              <a:gs pos="0">
                <a:schemeClr val="tx1"/>
              </a:gs>
              <a:gs pos="50000">
                <a:schemeClr val="tx1">
                  <a:gamma/>
                  <a:tint val="2431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1105" name="Rectangle 81"/>
          <p:cNvSpPr>
            <a:spLocks noChangeArrowheads="1"/>
          </p:cNvSpPr>
          <p:nvPr/>
        </p:nvSpPr>
        <p:spPr bwMode="ltGray">
          <a:xfrm flipV="1">
            <a:off x="0" y="6799267"/>
            <a:ext cx="9144000" cy="73025"/>
          </a:xfrm>
          <a:prstGeom prst="rect">
            <a:avLst/>
          </a:prstGeom>
          <a:gradFill rotWithShape="1">
            <a:gsLst>
              <a:gs pos="0">
                <a:schemeClr val="tx1"/>
              </a:gs>
              <a:gs pos="50000">
                <a:schemeClr val="tx1">
                  <a:gamma/>
                  <a:tint val="24314"/>
                  <a:invGamma/>
                </a:schemeClr>
              </a:gs>
              <a:gs pos="100000">
                <a:schemeClr val="tx1"/>
              </a:gs>
            </a:gsLst>
            <a:lin ang="5400000" scaled="1"/>
          </a:gradFill>
          <a:ln w="9525">
            <a:noFill/>
            <a:miter lim="800000"/>
          </a:ln>
          <a:effectLst/>
        </p:spPr>
        <p:txBody>
          <a:bodyPr wrap="none" anchor="ctr"/>
          <a:lstStyle/>
          <a:p>
            <a:endParaRPr lang="zh-CN" altLang="en-US" sz="2400">
              <a:ea typeface="宋体" panose="02010600030101010101" pitchFamily="2" charset="-122"/>
            </a:endParaRPr>
          </a:p>
        </p:txBody>
      </p:sp>
      <p:sp>
        <p:nvSpPr>
          <p:cNvPr id="6151" name="Rectangle 3"/>
          <p:cNvSpPr>
            <a:spLocks noGrp="1" noChangeArrowheads="1"/>
          </p:cNvSpPr>
          <p:nvPr>
            <p:ph type="body" idx="1"/>
          </p:nvPr>
        </p:nvSpPr>
        <p:spPr bwMode="auto">
          <a:xfrm>
            <a:off x="228600" y="1066800"/>
            <a:ext cx="8686800" cy="5105400"/>
          </a:xfrm>
          <a:prstGeom prst="rect">
            <a:avLst/>
          </a:prstGeom>
          <a:noFill/>
          <a:ln w="9525">
            <a:noFill/>
            <a:miter lim="800000"/>
          </a:ln>
        </p:spPr>
        <p:txBody>
          <a:bodyPr vert="horz" wrap="square" lIns="91440" tIns="45720" rIns="91440" bIns="45720" numCol="1" anchor="t" anchorCtr="0" compatLnSpc="1"/>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ltLang="ja-JP" smtClean="0"/>
          </a:p>
        </p:txBody>
      </p:sp>
      <p:sp>
        <p:nvSpPr>
          <p:cNvPr id="1029" name="Rectangle 5"/>
          <p:cNvSpPr>
            <a:spLocks noGrp="1" noChangeArrowheads="1"/>
          </p:cNvSpPr>
          <p:nvPr>
            <p:ph type="ftr" sz="quarter" idx="3"/>
          </p:nvPr>
        </p:nvSpPr>
        <p:spPr bwMode="auto">
          <a:xfrm>
            <a:off x="6096000" y="6400800"/>
            <a:ext cx="2743200" cy="304800"/>
          </a:xfrm>
          <a:prstGeom prst="rect">
            <a:avLst/>
          </a:prstGeom>
          <a:noFill/>
          <a:ln w="9525">
            <a:noFill/>
            <a:miter lim="800000"/>
          </a:ln>
          <a:effectLst/>
        </p:spPr>
        <p:txBody>
          <a:bodyPr vert="horz" wrap="square" lIns="91440" tIns="45720" rIns="91440" bIns="45720" numCol="1" anchor="t" anchorCtr="0" compatLnSpc="1"/>
          <a:lstStyle>
            <a:lvl1pPr algn="r">
              <a:defRPr sz="1200" smtClean="0">
                <a:latin typeface="+mn-lt"/>
                <a:ea typeface="MS PGothic" panose="020B0600070205080204" charset="-128"/>
              </a:defRPr>
            </a:lvl1pPr>
          </a:lstStyle>
          <a:p>
            <a:pPr>
              <a:defRPr/>
            </a:pPr>
            <a:endParaRPr lang="en-US" altLang="zh-CN"/>
          </a:p>
        </p:txBody>
      </p:sp>
      <p:sp>
        <p:nvSpPr>
          <p:cNvPr id="1030" name="Rectangle 6"/>
          <p:cNvSpPr>
            <a:spLocks noGrp="1" noChangeArrowheads="1"/>
          </p:cNvSpPr>
          <p:nvPr>
            <p:ph type="sldNum" sz="quarter" idx="4"/>
          </p:nvPr>
        </p:nvSpPr>
        <p:spPr bwMode="auto">
          <a:xfrm>
            <a:off x="3429000" y="6400804"/>
            <a:ext cx="2133600" cy="307975"/>
          </a:xfrm>
          <a:prstGeom prst="rect">
            <a:avLst/>
          </a:prstGeom>
          <a:noFill/>
          <a:ln w="9525">
            <a:noFill/>
            <a:miter lim="800000"/>
          </a:ln>
          <a:effectLst/>
        </p:spPr>
        <p:txBody>
          <a:bodyPr vert="horz" wrap="square" lIns="91440" tIns="45720" rIns="91440" bIns="45720" numCol="1" anchor="t" anchorCtr="0" compatLnSpc="1"/>
          <a:lstStyle>
            <a:lvl1pPr algn="ctr">
              <a:defRPr sz="1400" smtClean="0">
                <a:ea typeface="MS PGothic" panose="020B0600070205080204" charset="-128"/>
              </a:defRPr>
            </a:lvl1pPr>
          </a:lstStyle>
          <a:p>
            <a:pPr>
              <a:defRPr/>
            </a:pPr>
            <a:fld id="{8266D9D5-AAA8-4498-B493-A814BB01EE82}" type="slidenum">
              <a:rPr lang="en-US" altLang="zh-CN" smtClean="0"/>
              <a:pPr>
                <a:defRPr/>
              </a:pPr>
              <a:t>‹#›</a:t>
            </a:fld>
            <a:endParaRPr lang="en-US" altLang="zh-CN"/>
          </a:p>
        </p:txBody>
      </p:sp>
      <p:sp>
        <p:nvSpPr>
          <p:cNvPr id="1026" name="Rectangle 2"/>
          <p:cNvSpPr>
            <a:spLocks noGrp="1" noChangeArrowheads="1"/>
          </p:cNvSpPr>
          <p:nvPr>
            <p:ph type="title"/>
          </p:nvPr>
        </p:nvSpPr>
        <p:spPr bwMode="white">
          <a:xfrm>
            <a:off x="304800" y="46038"/>
            <a:ext cx="8534400" cy="715962"/>
          </a:xfrm>
          <a:prstGeom prst="rect">
            <a:avLst/>
          </a:prstGeom>
          <a:noFill/>
          <a:ln w="9525">
            <a:noFill/>
            <a:miter lim="800000"/>
          </a:ln>
          <a:effectLst>
            <a:outerShdw dist="45791" dir="2021404" algn="ctr" rotWithShape="0">
              <a:schemeClr val="tx1"/>
            </a:outerShdw>
          </a:effectLst>
        </p:spPr>
        <p:txBody>
          <a:bodyPr vert="horz" wrap="square" lIns="91440" tIns="45720" rIns="91440" bIns="45720" numCol="1" anchor="ctr" anchorCtr="0" compatLnSpc="1"/>
          <a:lstStyle/>
          <a:p>
            <a:pPr lvl="0"/>
            <a:r>
              <a:rPr lang="zh-CN" altLang="en-US" smtClean="0"/>
              <a:t>单击此处编辑母版标题样式</a:t>
            </a:r>
            <a:endParaRPr lang="en-US" altLang="ja-JP" smtClean="0"/>
          </a:p>
        </p:txBody>
      </p:sp>
      <p:sp>
        <p:nvSpPr>
          <p:cNvPr id="1028" name="Rectangle 4"/>
          <p:cNvSpPr>
            <a:spLocks noGrp="1" noChangeArrowheads="1"/>
          </p:cNvSpPr>
          <p:nvPr>
            <p:ph type="dt" sz="half" idx="2"/>
          </p:nvPr>
        </p:nvSpPr>
        <p:spPr bwMode="auto">
          <a:xfrm>
            <a:off x="228600" y="6384929"/>
            <a:ext cx="2286000" cy="320675"/>
          </a:xfrm>
          <a:prstGeom prst="rect">
            <a:avLst/>
          </a:prstGeom>
          <a:noFill/>
          <a:ln w="9525">
            <a:noFill/>
            <a:miter lim="800000"/>
          </a:ln>
          <a:effectLst/>
        </p:spPr>
        <p:txBody>
          <a:bodyPr vert="horz" wrap="square" lIns="91440" tIns="45720" rIns="91440" bIns="45720" numCol="1" anchor="t" anchorCtr="0" compatLnSpc="1"/>
          <a:lstStyle>
            <a:lvl1pPr>
              <a:defRPr sz="1000" b="1" smtClean="0">
                <a:latin typeface="+mn-lt"/>
                <a:ea typeface="MS PGothic" panose="020B0600070205080204" charset="-128"/>
              </a:defRPr>
            </a:lvl1pPr>
          </a:lstStyle>
          <a:p>
            <a:pPr>
              <a:defRPr/>
            </a:pPr>
            <a:fld id="{ABCE7D97-302B-40FE-9533-9DC7209FD245}" type="datetime1">
              <a:rPr lang="zh-CN" altLang="en-US" smtClean="0"/>
              <a:pPr>
                <a:defRPr/>
              </a:pPr>
              <a:t>2023/2/17 Friday</a:t>
            </a:fld>
            <a:endParaRPr lang="en-US" altLang="zh-CN"/>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iming>
    <p:tnLst>
      <p:par>
        <p:cTn id="1" dur="indefinite" restart="never" nodeType="tmRoot"/>
      </p:par>
    </p:tnLst>
  </p:timing>
  <p:hf hdr="0" ftr="0"/>
  <p:txStyles>
    <p:titleStyle>
      <a:lvl1pPr algn="ctr" rtl="0" eaLnBrk="1" fontAlgn="base" hangingPunct="1">
        <a:spcBef>
          <a:spcPct val="0"/>
        </a:spcBef>
        <a:spcAft>
          <a:spcPct val="0"/>
        </a:spcAft>
        <a:defRPr sz="3600" b="1" i="1">
          <a:solidFill>
            <a:schemeClr val="bg1"/>
          </a:solidFill>
          <a:latin typeface="+mj-lt"/>
          <a:ea typeface="+mj-ea"/>
          <a:cs typeface="+mj-cs"/>
        </a:defRPr>
      </a:lvl1pPr>
      <a:lvl2pPr algn="ctr" rtl="0" eaLnBrk="1" fontAlgn="base" hangingPunct="1">
        <a:spcBef>
          <a:spcPct val="0"/>
        </a:spcBef>
        <a:spcAft>
          <a:spcPct val="0"/>
        </a:spcAft>
        <a:defRPr sz="3600" b="1" i="1">
          <a:solidFill>
            <a:schemeClr val="bg1"/>
          </a:solidFill>
          <a:latin typeface="Verdana" panose="020B0604030504040204" pitchFamily="34" charset="0"/>
        </a:defRPr>
      </a:lvl2pPr>
      <a:lvl3pPr algn="ctr" rtl="0" eaLnBrk="1" fontAlgn="base" hangingPunct="1">
        <a:spcBef>
          <a:spcPct val="0"/>
        </a:spcBef>
        <a:spcAft>
          <a:spcPct val="0"/>
        </a:spcAft>
        <a:defRPr sz="3600" b="1" i="1">
          <a:solidFill>
            <a:schemeClr val="bg1"/>
          </a:solidFill>
          <a:latin typeface="Verdana" panose="020B0604030504040204" pitchFamily="34" charset="0"/>
        </a:defRPr>
      </a:lvl3pPr>
      <a:lvl4pPr algn="ctr" rtl="0" eaLnBrk="1" fontAlgn="base" hangingPunct="1">
        <a:spcBef>
          <a:spcPct val="0"/>
        </a:spcBef>
        <a:spcAft>
          <a:spcPct val="0"/>
        </a:spcAft>
        <a:defRPr sz="3600" b="1" i="1">
          <a:solidFill>
            <a:schemeClr val="bg1"/>
          </a:solidFill>
          <a:latin typeface="Verdana" panose="020B0604030504040204" pitchFamily="34" charset="0"/>
        </a:defRPr>
      </a:lvl4pPr>
      <a:lvl5pPr algn="ctr" rtl="0" eaLnBrk="1" fontAlgn="base" hangingPunct="1">
        <a:spcBef>
          <a:spcPct val="0"/>
        </a:spcBef>
        <a:spcAft>
          <a:spcPct val="0"/>
        </a:spcAft>
        <a:defRPr sz="3600" b="1" i="1">
          <a:solidFill>
            <a:schemeClr val="bg1"/>
          </a:solidFill>
          <a:latin typeface="Verdana" panose="020B0604030504040204" pitchFamily="34" charset="0"/>
        </a:defRPr>
      </a:lvl5pPr>
      <a:lvl6pPr marL="457200" algn="ctr" rtl="0" eaLnBrk="1" fontAlgn="base" hangingPunct="1">
        <a:spcBef>
          <a:spcPct val="0"/>
        </a:spcBef>
        <a:spcAft>
          <a:spcPct val="0"/>
        </a:spcAft>
        <a:defRPr sz="3600" b="1" i="1">
          <a:solidFill>
            <a:schemeClr val="bg1"/>
          </a:solidFill>
          <a:latin typeface="Verdana" panose="020B0604030504040204" pitchFamily="34" charset="0"/>
        </a:defRPr>
      </a:lvl6pPr>
      <a:lvl7pPr marL="914400" algn="ctr" rtl="0" eaLnBrk="1" fontAlgn="base" hangingPunct="1">
        <a:spcBef>
          <a:spcPct val="0"/>
        </a:spcBef>
        <a:spcAft>
          <a:spcPct val="0"/>
        </a:spcAft>
        <a:defRPr sz="3600" b="1" i="1">
          <a:solidFill>
            <a:schemeClr val="bg1"/>
          </a:solidFill>
          <a:latin typeface="Verdana" panose="020B0604030504040204" pitchFamily="34" charset="0"/>
        </a:defRPr>
      </a:lvl7pPr>
      <a:lvl8pPr marL="1371600" algn="ctr" rtl="0" eaLnBrk="1" fontAlgn="base" hangingPunct="1">
        <a:spcBef>
          <a:spcPct val="0"/>
        </a:spcBef>
        <a:spcAft>
          <a:spcPct val="0"/>
        </a:spcAft>
        <a:defRPr sz="3600" b="1" i="1">
          <a:solidFill>
            <a:schemeClr val="bg1"/>
          </a:solidFill>
          <a:latin typeface="Verdana" panose="020B0604030504040204" pitchFamily="34" charset="0"/>
        </a:defRPr>
      </a:lvl8pPr>
      <a:lvl9pPr marL="1828800" algn="ctr" rtl="0" eaLnBrk="1" fontAlgn="base" hangingPunct="1">
        <a:spcBef>
          <a:spcPct val="0"/>
        </a:spcBef>
        <a:spcAft>
          <a:spcPct val="0"/>
        </a:spcAft>
        <a:defRPr sz="3600" b="1" i="1">
          <a:solidFill>
            <a:schemeClr val="bg1"/>
          </a:solidFill>
          <a:latin typeface="Verdana" panose="020B0604030504040204" pitchFamily="34" charset="0"/>
        </a:defRPr>
      </a:lvl9pPr>
    </p:titleStyle>
    <p:body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a:solidFill>
            <a:schemeClr val="tx1"/>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400">
          <a:solidFill>
            <a:schemeClr val="tx1"/>
          </a:solidFill>
          <a:latin typeface="Arial" panose="020B0604020202020204" pitchFamily="34" charset="0"/>
        </a:defRPr>
      </a:lvl2pPr>
      <a:lvl3pPr marL="1143000" indent="-228600" algn="l" rtl="0" eaLnBrk="1" fontAlgn="base" hangingPunct="1">
        <a:spcBef>
          <a:spcPct val="20000"/>
        </a:spcBef>
        <a:spcAft>
          <a:spcPct val="0"/>
        </a:spcAft>
        <a:buClr>
          <a:schemeClr val="tx1"/>
        </a:buClr>
        <a:buChar char="•"/>
        <a:defRPr sz="2200">
          <a:solidFill>
            <a:schemeClr val="tx1"/>
          </a:solidFill>
          <a:latin typeface="Arial" panose="020B0604020202020204" pitchFamily="34" charset="0"/>
        </a:defRPr>
      </a:lvl3pPr>
      <a:lvl4pPr marL="1600200" indent="-228600" algn="l" rtl="0" eaLnBrk="1" fontAlgn="base" hangingPunct="1">
        <a:spcBef>
          <a:spcPct val="20000"/>
        </a:spcBef>
        <a:spcAft>
          <a:spcPct val="0"/>
        </a:spcAft>
        <a:buChar char="–"/>
        <a:defRPr sz="2000">
          <a:solidFill>
            <a:schemeClr val="tx1"/>
          </a:solidFill>
          <a:latin typeface="Arial" panose="020B0604020202020204" pitchFamily="34" charset="0"/>
        </a:defRPr>
      </a:lvl4pPr>
      <a:lvl5pPr marL="2057400" indent="-228600" algn="l" rtl="0" eaLnBrk="1" fontAlgn="base" hangingPunct="1">
        <a:spcBef>
          <a:spcPct val="20000"/>
        </a:spcBef>
        <a:spcAft>
          <a:spcPct val="0"/>
        </a:spcAft>
        <a:buChar char="»"/>
        <a:defRPr sz="2000">
          <a:solidFill>
            <a:schemeClr val="tx1"/>
          </a:solidFill>
          <a:latin typeface="Arial" panose="020B0604020202020204" pitchFamily="34" charset="0"/>
        </a:defRPr>
      </a:lvl5pPr>
      <a:lvl6pPr marL="2514600" indent="-228600" algn="l" rtl="0" eaLnBrk="1" fontAlgn="base" hangingPunct="1">
        <a:spcBef>
          <a:spcPct val="20000"/>
        </a:spcBef>
        <a:spcAft>
          <a:spcPct val="0"/>
        </a:spcAft>
        <a:buChar char="»"/>
        <a:defRPr sz="2000">
          <a:solidFill>
            <a:schemeClr val="tx1"/>
          </a:solidFill>
          <a:latin typeface="Arial" panose="020B0604020202020204" pitchFamily="34" charset="0"/>
        </a:defRPr>
      </a:lvl6pPr>
      <a:lvl7pPr marL="2971800" indent="-228600" algn="l" rtl="0" eaLnBrk="1" fontAlgn="base" hangingPunct="1">
        <a:spcBef>
          <a:spcPct val="20000"/>
        </a:spcBef>
        <a:spcAft>
          <a:spcPct val="0"/>
        </a:spcAft>
        <a:buChar char="»"/>
        <a:defRPr sz="2000">
          <a:solidFill>
            <a:schemeClr val="tx1"/>
          </a:solidFill>
          <a:latin typeface="Arial" panose="020B0604020202020204" pitchFamily="34" charset="0"/>
        </a:defRPr>
      </a:lvl7pPr>
      <a:lvl8pPr marL="3429000" indent="-228600" algn="l" rtl="0" eaLnBrk="1" fontAlgn="base" hangingPunct="1">
        <a:spcBef>
          <a:spcPct val="20000"/>
        </a:spcBef>
        <a:spcAft>
          <a:spcPct val="0"/>
        </a:spcAft>
        <a:buChar char="»"/>
        <a:defRPr sz="2000">
          <a:solidFill>
            <a:schemeClr val="tx1"/>
          </a:solidFill>
          <a:latin typeface="Arial" panose="020B0604020202020204" pitchFamily="34" charset="0"/>
        </a:defRPr>
      </a:lvl8pPr>
      <a:lvl9pPr marL="3886200" indent="-228600" algn="l" rtl="0" eaLnBrk="1" fontAlgn="base" hangingPunct="1">
        <a:spcBef>
          <a:spcPct val="20000"/>
        </a:spcBef>
        <a:spcAft>
          <a:spcPct val="0"/>
        </a:spcAft>
        <a:buChar char="»"/>
        <a:defRPr sz="2000">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7.xml"/><Relationship Id="rId7" Type="http://schemas.openxmlformats.org/officeDocument/2006/relationships/image" Target="../media/image32.wmf"/><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oleObject" Target="../embeddings/oleObject9.bin"/><Relationship Id="rId5" Type="http://schemas.openxmlformats.org/officeDocument/2006/relationships/oleObject" Target="../embeddings/oleObject8.bin"/><Relationship Id="rId4" Type="http://schemas.openxmlformats.org/officeDocument/2006/relationships/oleObject" Target="../embeddings/oleObject7.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60" name="Text Box 3076"/>
          <p:cNvSpPr txBox="1">
            <a:spLocks noChangeArrowheads="1"/>
          </p:cNvSpPr>
          <p:nvPr/>
        </p:nvSpPr>
        <p:spPr bwMode="auto">
          <a:xfrm>
            <a:off x="2209056" y="329287"/>
            <a:ext cx="5675312" cy="5794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第 2 章   测 量 技 术 基 础</a:t>
            </a:r>
          </a:p>
        </p:txBody>
      </p:sp>
      <p:sp>
        <p:nvSpPr>
          <p:cNvPr id="13" name="Text Box 3084"/>
          <p:cNvSpPr txBox="1">
            <a:spLocks noChangeArrowheads="1"/>
          </p:cNvSpPr>
          <p:nvPr/>
        </p:nvSpPr>
        <p:spPr bwMode="auto">
          <a:xfrm>
            <a:off x="2285984" y="2285996"/>
            <a:ext cx="4104456" cy="2677656"/>
          </a:xfrm>
          <a:prstGeom prst="rect">
            <a:avLst/>
          </a:prstGeom>
          <a:solidFill>
            <a:srgbClr val="FFFFCC"/>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sz="2800" b="1" dirty="0"/>
              <a:t>  本节内容：</a:t>
            </a:r>
            <a:endParaRPr lang="en-US" altLang="zh-CN" sz="2800" b="1" dirty="0"/>
          </a:p>
          <a:p>
            <a:pPr eaLnBrk="1" hangingPunct="1">
              <a:lnSpc>
                <a:spcPct val="150000"/>
              </a:lnSpc>
            </a:pPr>
            <a:r>
              <a:rPr lang="en-US" altLang="zh-CN" sz="2800" b="1" dirty="0"/>
              <a:t>  1. </a:t>
            </a:r>
            <a:r>
              <a:rPr lang="zh-CN" altLang="en-US" sz="2800" b="1" dirty="0"/>
              <a:t>测量的基本概念</a:t>
            </a:r>
            <a:endParaRPr lang="en-US" altLang="zh-CN" sz="2800" b="1" dirty="0"/>
          </a:p>
          <a:p>
            <a:pPr eaLnBrk="1" hangingPunct="1">
              <a:lnSpc>
                <a:spcPct val="150000"/>
              </a:lnSpc>
            </a:pPr>
            <a:r>
              <a:rPr lang="en-US" altLang="zh-CN" sz="2800" b="1" dirty="0"/>
              <a:t>  2. </a:t>
            </a:r>
            <a:r>
              <a:rPr lang="zh-CN" altLang="en-US" sz="2800" b="1" dirty="0"/>
              <a:t>计量器具与测量方法</a:t>
            </a:r>
            <a:endParaRPr lang="en-US" altLang="zh-CN" sz="2800" b="1" dirty="0"/>
          </a:p>
          <a:p>
            <a:pPr eaLnBrk="1" hangingPunct="1">
              <a:lnSpc>
                <a:spcPct val="150000"/>
              </a:lnSpc>
            </a:pPr>
            <a:r>
              <a:rPr lang="en-US" altLang="zh-CN" sz="2800" b="1" dirty="0"/>
              <a:t>       </a:t>
            </a:r>
            <a:r>
              <a:rPr lang="zh-CN" altLang="en-US" sz="2800" b="1" dirty="0">
                <a:solidFill>
                  <a:srgbClr val="FF0000"/>
                </a:solidFill>
              </a:rPr>
              <a:t>量块（重点掌握）</a:t>
            </a:r>
            <a:endParaRPr lang="en-US" altLang="zh-CN" sz="28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a:t>
            </a:fld>
            <a:endParaRPr lang="en-US" altLang="zh-CN"/>
          </a:p>
        </p:txBody>
      </p:sp>
      <p:sp>
        <p:nvSpPr>
          <p:cNvPr id="5" name="Text Box 3077"/>
          <p:cNvSpPr txBox="1">
            <a:spLocks noChangeArrowheads="1"/>
          </p:cNvSpPr>
          <p:nvPr/>
        </p:nvSpPr>
        <p:spPr bwMode="auto">
          <a:xfrm>
            <a:off x="539552" y="332656"/>
            <a:ext cx="47244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2.1 测量的基本概念</a:t>
            </a:r>
          </a:p>
        </p:txBody>
      </p:sp>
      <p:sp>
        <p:nvSpPr>
          <p:cNvPr id="6" name="Text Box 3078"/>
          <p:cNvSpPr txBox="1">
            <a:spLocks noChangeArrowheads="1"/>
          </p:cNvSpPr>
          <p:nvPr/>
        </p:nvSpPr>
        <p:spPr bwMode="auto">
          <a:xfrm>
            <a:off x="827584" y="1268764"/>
            <a:ext cx="45720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2.1.1 测量、检验与检定</a:t>
            </a:r>
          </a:p>
        </p:txBody>
      </p:sp>
      <p:sp>
        <p:nvSpPr>
          <p:cNvPr id="7" name="Text Box 3079"/>
          <p:cNvSpPr txBox="1">
            <a:spLocks noChangeArrowheads="1"/>
          </p:cNvSpPr>
          <p:nvPr/>
        </p:nvSpPr>
        <p:spPr bwMode="auto">
          <a:xfrm>
            <a:off x="971600" y="1844828"/>
            <a:ext cx="3005138" cy="523220"/>
          </a:xfrm>
          <a:prstGeom prst="rect">
            <a:avLst/>
          </a:prstGeom>
          <a:noFill/>
          <a:ln>
            <a:noFill/>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1. 测量</a:t>
            </a:r>
          </a:p>
        </p:txBody>
      </p:sp>
      <p:sp>
        <p:nvSpPr>
          <p:cNvPr id="8" name="Text Box 3080"/>
          <p:cNvSpPr txBox="1">
            <a:spLocks noChangeArrowheads="1"/>
          </p:cNvSpPr>
          <p:nvPr/>
        </p:nvSpPr>
        <p:spPr bwMode="auto">
          <a:xfrm>
            <a:off x="1298367" y="2545740"/>
            <a:ext cx="550588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确定被测量</a:t>
            </a:r>
            <a:r>
              <a:rPr lang="zh-CN" altLang="en-US" sz="2800" b="1" i="1" dirty="0"/>
              <a:t> </a:t>
            </a:r>
            <a:r>
              <a:rPr lang="en-US" altLang="zh-CN" sz="2800" b="1" i="1" dirty="0">
                <a:solidFill>
                  <a:srgbClr val="FF33CC"/>
                </a:solidFill>
              </a:rPr>
              <a:t>x </a:t>
            </a:r>
            <a:r>
              <a:rPr lang="zh-CN" altLang="en-US" sz="2800" b="1" dirty="0"/>
              <a:t>数值大小的过程</a:t>
            </a:r>
            <a:r>
              <a:rPr lang="zh-CN" altLang="en-US" sz="2800" b="1" dirty="0" smtClean="0"/>
              <a:t>。</a:t>
            </a:r>
            <a:endParaRPr lang="en-US" altLang="zh-CN" sz="2800" b="1" dirty="0"/>
          </a:p>
        </p:txBody>
      </p:sp>
      <p:graphicFrame>
        <p:nvGraphicFramePr>
          <p:cNvPr id="9" name="Object 3082"/>
          <p:cNvGraphicFramePr>
            <a:graphicFrameLocks noChangeAspect="1"/>
          </p:cNvGraphicFramePr>
          <p:nvPr>
            <p:extLst>
              <p:ext uri="{D42A27DB-BD31-4B8C-83A1-F6EECF244321}">
                <p14:modId xmlns:p14="http://schemas.microsoft.com/office/powerpoint/2010/main" xmlns="" val="2492017222"/>
              </p:ext>
            </p:extLst>
          </p:nvPr>
        </p:nvGraphicFramePr>
        <p:xfrm>
          <a:off x="2339752" y="4712624"/>
          <a:ext cx="4021856" cy="1020632"/>
        </p:xfrm>
        <a:graphic>
          <a:graphicData uri="http://schemas.openxmlformats.org/presentationml/2006/ole">
            <p:oleObj spid="_x0000_s1067" name="Equation" r:id="rId4" imgW="18288000" imgH="9448800" progId="">
              <p:embed/>
            </p:oleObj>
          </a:graphicData>
        </a:graphic>
      </p:graphicFrame>
      <p:graphicFrame>
        <p:nvGraphicFramePr>
          <p:cNvPr id="10" name="Object 3083"/>
          <p:cNvGraphicFramePr>
            <a:graphicFrameLocks noChangeAspect="1"/>
          </p:cNvGraphicFramePr>
          <p:nvPr>
            <p:extLst>
              <p:ext uri="{D42A27DB-BD31-4B8C-83A1-F6EECF244321}">
                <p14:modId xmlns:p14="http://schemas.microsoft.com/office/powerpoint/2010/main" xmlns="" val="2671548499"/>
              </p:ext>
            </p:extLst>
          </p:nvPr>
        </p:nvGraphicFramePr>
        <p:xfrm>
          <a:off x="1835696" y="3356992"/>
          <a:ext cx="5681941" cy="1067600"/>
        </p:xfrm>
        <a:graphic>
          <a:graphicData uri="http://schemas.openxmlformats.org/presentationml/2006/ole">
            <p:oleObj spid="_x0000_s1068" name="公式" r:id="rId5" imgW="41148000" imgH="10363200" progId="">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3</a:t>
            </a:fld>
            <a:endParaRPr lang="en-US" altLang="zh-CN"/>
          </a:p>
        </p:txBody>
      </p:sp>
      <p:sp>
        <p:nvSpPr>
          <p:cNvPr id="5" name="Text Box 4"/>
          <p:cNvSpPr txBox="1">
            <a:spLocks noChangeArrowheads="1"/>
          </p:cNvSpPr>
          <p:nvPr/>
        </p:nvSpPr>
        <p:spPr bwMode="auto">
          <a:xfrm>
            <a:off x="539552" y="332656"/>
            <a:ext cx="728345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2.  </a:t>
            </a:r>
            <a:r>
              <a:rPr lang="zh-CN" altLang="en-US" sz="3200" b="1" dirty="0"/>
              <a:t>测量的四要素</a:t>
            </a:r>
          </a:p>
        </p:txBody>
      </p:sp>
      <p:sp>
        <p:nvSpPr>
          <p:cNvPr id="6" name="Text Box 5"/>
          <p:cNvSpPr txBox="1">
            <a:spLocks noChangeArrowheads="1"/>
          </p:cNvSpPr>
          <p:nvPr/>
        </p:nvSpPr>
        <p:spPr bwMode="auto">
          <a:xfrm>
            <a:off x="470535" y="1772816"/>
            <a:ext cx="7813040"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   （1） </a:t>
            </a:r>
            <a:r>
              <a:rPr lang="zh-CN" altLang="en-US" b="1" dirty="0">
                <a:solidFill>
                  <a:srgbClr val="FF0000"/>
                </a:solidFill>
              </a:rPr>
              <a:t>被测对象 </a:t>
            </a:r>
            <a:r>
              <a:rPr lang="en-US" altLang="zh-CN" b="1" i="1" dirty="0"/>
              <a:t>x</a:t>
            </a:r>
            <a:r>
              <a:rPr lang="en-US" altLang="zh-CN" b="1" dirty="0"/>
              <a:t> —</a:t>
            </a:r>
            <a:r>
              <a:rPr lang="zh-CN" altLang="en-US" b="1" dirty="0"/>
              <a:t>几何参数（长度、角度、几何误差、表面粗糙度轮廓、键、螺纹、齿轮等典型零件的各个几何参数）</a:t>
            </a:r>
          </a:p>
        </p:txBody>
      </p:sp>
      <p:sp>
        <p:nvSpPr>
          <p:cNvPr id="7" name="Text Box 6"/>
          <p:cNvSpPr txBox="1">
            <a:spLocks noChangeArrowheads="1"/>
          </p:cNvSpPr>
          <p:nvPr/>
        </p:nvSpPr>
        <p:spPr bwMode="auto">
          <a:xfrm>
            <a:off x="466729" y="2954327"/>
            <a:ext cx="7872095"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（2）</a:t>
            </a:r>
            <a:r>
              <a:rPr lang="zh-CN" altLang="en-US" b="1" dirty="0">
                <a:solidFill>
                  <a:srgbClr val="FF0000"/>
                </a:solidFill>
              </a:rPr>
              <a:t>计量单位</a:t>
            </a:r>
            <a:r>
              <a:rPr lang="zh-CN" altLang="en-US" b="1" dirty="0"/>
              <a:t> — 长度</a:t>
            </a:r>
            <a:r>
              <a:rPr lang="en-US" altLang="zh-CN" b="1" dirty="0"/>
              <a:t>(m, mm, </a:t>
            </a:r>
            <a:r>
              <a:rPr lang="en-US" altLang="zh-CN" b="1" dirty="0" err="1"/>
              <a:t>μm</a:t>
            </a:r>
            <a:r>
              <a:rPr lang="en-US" altLang="zh-CN" b="1" dirty="0"/>
              <a:t>, nm)</a:t>
            </a:r>
            <a:r>
              <a:rPr lang="zh-CN" altLang="en-US" b="1" dirty="0"/>
              <a:t>；角度 </a:t>
            </a:r>
            <a:r>
              <a:rPr lang="en-US" altLang="zh-CN" b="1" dirty="0"/>
              <a:t>[</a:t>
            </a:r>
            <a:r>
              <a:rPr lang="en-US" altLang="zh-CN" b="1" dirty="0" err="1"/>
              <a:t>rad</a:t>
            </a:r>
            <a:r>
              <a:rPr lang="en-US" altLang="zh-CN" b="1" dirty="0"/>
              <a:t>, </a:t>
            </a:r>
            <a:r>
              <a:rPr lang="en-US" altLang="zh-CN" b="1" dirty="0" err="1"/>
              <a:t>μrad</a:t>
            </a:r>
            <a:r>
              <a:rPr lang="en-US" altLang="zh-CN" b="1" dirty="0"/>
              <a:t>, (</a:t>
            </a:r>
            <a:r>
              <a:rPr lang="en-US" altLang="zh-CN" b="1" dirty="0">
                <a:cs typeface="Times New Roman" panose="02020603050405020304" pitchFamily="18" charset="0"/>
              </a:rPr>
              <a:t>°)</a:t>
            </a:r>
            <a:r>
              <a:rPr lang="zh-CN" altLang="en-US" b="1" dirty="0"/>
              <a:t>，</a:t>
            </a:r>
            <a:r>
              <a:rPr lang="en-US" altLang="zh-CN" b="1" dirty="0"/>
              <a:t>(')</a:t>
            </a:r>
            <a:r>
              <a:rPr lang="zh-CN" altLang="en-US" b="1" dirty="0"/>
              <a:t>，</a:t>
            </a:r>
            <a:r>
              <a:rPr lang="en-US" altLang="zh-CN" b="1" dirty="0"/>
              <a:t>(</a:t>
            </a:r>
            <a:r>
              <a:rPr lang="en-US" altLang="zh-CN" b="1" dirty="0">
                <a:cs typeface="Times New Roman" panose="02020603050405020304" pitchFamily="18" charset="0"/>
              </a:rPr>
              <a:t>")</a:t>
            </a:r>
            <a:r>
              <a:rPr lang="en-US" altLang="zh-CN" b="1" dirty="0"/>
              <a:t>]</a:t>
            </a:r>
          </a:p>
        </p:txBody>
      </p:sp>
      <p:sp>
        <p:nvSpPr>
          <p:cNvPr id="8" name="Text Box 7"/>
          <p:cNvSpPr txBox="1">
            <a:spLocks noChangeArrowheads="1"/>
          </p:cNvSpPr>
          <p:nvPr/>
        </p:nvSpPr>
        <p:spPr bwMode="auto">
          <a:xfrm>
            <a:off x="538484" y="3890431"/>
            <a:ext cx="7868285"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（3）</a:t>
            </a:r>
            <a:r>
              <a:rPr lang="zh-CN" altLang="en-US" b="1" dirty="0">
                <a:solidFill>
                  <a:srgbClr val="FF0000"/>
                </a:solidFill>
              </a:rPr>
              <a:t>测量方法</a:t>
            </a:r>
            <a:r>
              <a:rPr lang="zh-CN" altLang="en-US" b="1" dirty="0"/>
              <a:t> — 测量时所采用的测量原理、计量器具和测量条件的综合，即获得测量结果的方式。</a:t>
            </a:r>
          </a:p>
        </p:txBody>
      </p:sp>
      <p:sp>
        <p:nvSpPr>
          <p:cNvPr id="9" name="Text Box 8"/>
          <p:cNvSpPr txBox="1">
            <a:spLocks noChangeArrowheads="1"/>
          </p:cNvSpPr>
          <p:nvPr/>
        </p:nvSpPr>
        <p:spPr bwMode="auto">
          <a:xfrm>
            <a:off x="563245" y="4870450"/>
            <a:ext cx="7857490" cy="14219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（4）</a:t>
            </a:r>
            <a:r>
              <a:rPr lang="zh-CN" altLang="en-US" b="1" dirty="0">
                <a:solidFill>
                  <a:srgbClr val="FF0000"/>
                </a:solidFill>
              </a:rPr>
              <a:t>测量精度</a:t>
            </a:r>
            <a:r>
              <a:rPr lang="zh-CN" altLang="en-US" b="1" dirty="0"/>
              <a:t> — 测量结果与真值相一致的程度。</a:t>
            </a:r>
            <a:r>
              <a:rPr lang="zh-CN" altLang="en-US" b="1" dirty="0">
                <a:solidFill>
                  <a:srgbClr val="CC0000"/>
                </a:solidFill>
              </a:rPr>
              <a:t>测量精度</a:t>
            </a:r>
            <a:r>
              <a:rPr lang="zh-CN" altLang="en-US" b="1" dirty="0"/>
              <a:t>的高低用测量极限误差或测量不确定度表示。</a:t>
            </a:r>
            <a:r>
              <a:rPr lang="zh-CN" altLang="en-US" b="1" dirty="0">
                <a:solidFill>
                  <a:srgbClr val="CC0000"/>
                </a:solidFill>
              </a:rPr>
              <a:t>测量结果</a:t>
            </a:r>
            <a:r>
              <a:rPr lang="zh-CN" altLang="en-US" b="1" dirty="0"/>
              <a:t>应包括</a:t>
            </a:r>
            <a:r>
              <a:rPr lang="zh-CN" altLang="en-US" b="1" dirty="0">
                <a:solidFill>
                  <a:srgbClr val="0070C0"/>
                </a:solidFill>
              </a:rPr>
              <a:t>测量值</a:t>
            </a:r>
            <a:r>
              <a:rPr lang="zh-CN" altLang="en-US" b="1" dirty="0"/>
              <a:t>和</a:t>
            </a:r>
            <a:r>
              <a:rPr lang="zh-CN" altLang="en-US" b="1" dirty="0">
                <a:solidFill>
                  <a:srgbClr val="0070C0"/>
                </a:solidFill>
              </a:rPr>
              <a:t>测量极限误差</a:t>
            </a:r>
            <a:r>
              <a:rPr lang="zh-CN" altLang="en-US" b="1" dirty="0"/>
              <a:t>。</a:t>
            </a:r>
          </a:p>
        </p:txBody>
      </p:sp>
      <p:sp>
        <p:nvSpPr>
          <p:cNvPr id="10" name="Text Box 10"/>
          <p:cNvSpPr txBox="1">
            <a:spLocks noChangeArrowheads="1"/>
          </p:cNvSpPr>
          <p:nvPr/>
        </p:nvSpPr>
        <p:spPr bwMode="auto">
          <a:xfrm>
            <a:off x="683573" y="1268254"/>
            <a:ext cx="6840756"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完整的几何量测量应包括以下</a:t>
            </a:r>
            <a:r>
              <a:rPr lang="zh-CN" altLang="en-US" b="1" dirty="0">
                <a:solidFill>
                  <a:srgbClr val="FF0000"/>
                </a:solidFill>
              </a:rPr>
              <a:t>四个要素</a:t>
            </a:r>
            <a:r>
              <a:rPr lang="zh-CN" altLang="en-US"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blinds(horizontal)">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7" grpId="0" bldLvl="0" animBg="1"/>
      <p:bldP spid="8" grpId="0" bldLvl="0" animBg="1"/>
      <p:bldP spid="9" grpId="0" bldLvl="0" animBg="1"/>
      <p:bldP spid="10" grpId="0" bldLvl="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4</a:t>
            </a:fld>
            <a:endParaRPr lang="en-US" altLang="zh-CN"/>
          </a:p>
        </p:txBody>
      </p:sp>
      <p:sp>
        <p:nvSpPr>
          <p:cNvPr id="5" name="Text Box 4"/>
          <p:cNvSpPr txBox="1">
            <a:spLocks noChangeArrowheads="1"/>
          </p:cNvSpPr>
          <p:nvPr/>
        </p:nvSpPr>
        <p:spPr bwMode="auto">
          <a:xfrm>
            <a:off x="539552" y="332656"/>
            <a:ext cx="3741738" cy="584775"/>
          </a:xfrm>
          <a:prstGeom prst="rect">
            <a:avLst/>
          </a:prstGeom>
          <a:noFill/>
          <a:ln w="9525">
            <a:noFill/>
            <a:miter lim="800000"/>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3200" b="1" dirty="0"/>
              <a:t>3.  </a:t>
            </a:r>
            <a:r>
              <a:rPr lang="zh-CN" altLang="en-US" sz="3200" b="1" dirty="0"/>
              <a:t>检验和检定</a:t>
            </a:r>
          </a:p>
        </p:txBody>
      </p:sp>
      <p:sp>
        <p:nvSpPr>
          <p:cNvPr id="6" name="Text Box 5"/>
          <p:cNvSpPr txBox="1">
            <a:spLocks noChangeArrowheads="1"/>
          </p:cNvSpPr>
          <p:nvPr/>
        </p:nvSpPr>
        <p:spPr bwMode="auto">
          <a:xfrm>
            <a:off x="826774" y="1484433"/>
            <a:ext cx="7571105" cy="21605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       </a:t>
            </a:r>
            <a:r>
              <a:rPr lang="zh-CN" altLang="en-US" sz="2800" b="1" dirty="0">
                <a:solidFill>
                  <a:srgbClr val="CC0000"/>
                </a:solidFill>
              </a:rPr>
              <a:t>检验</a:t>
            </a:r>
            <a:r>
              <a:rPr lang="zh-CN" altLang="en-US" sz="2800" b="1" dirty="0"/>
              <a:t>是判断被检对象是否合格的过程。不要求出实际测量值。一般用量规、样板等专用定值量具来判断被检对象的合格性。例如用光滑极限量规来检验孔和轴。</a:t>
            </a:r>
          </a:p>
        </p:txBody>
      </p:sp>
      <p:sp>
        <p:nvSpPr>
          <p:cNvPr id="7" name="Text Box 7"/>
          <p:cNvSpPr txBox="1">
            <a:spLocks noChangeArrowheads="1"/>
          </p:cNvSpPr>
          <p:nvPr/>
        </p:nvSpPr>
        <p:spPr bwMode="auto">
          <a:xfrm>
            <a:off x="815344" y="4017721"/>
            <a:ext cx="7409815" cy="16435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solidFill>
                  <a:srgbClr val="CC0000"/>
                </a:solidFill>
              </a:rPr>
              <a:t>        检定</a:t>
            </a:r>
            <a:r>
              <a:rPr lang="zh-CN" altLang="en-US" sz="2800" b="1" dirty="0"/>
              <a:t>是指为评定计量器具的精度指标是否合乎该计量器具的检定规程的全部过程。</a:t>
            </a:r>
          </a:p>
          <a:p>
            <a:pPr eaLnBrk="1" hangingPunct="1">
              <a:lnSpc>
                <a:spcPct val="120000"/>
              </a:lnSpc>
            </a:pPr>
            <a:r>
              <a:rPr lang="zh-CN" altLang="en-US" sz="2800" b="1" dirty="0"/>
              <a:t>        例如用量块来检定千分尺的精度指标。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autoUpdateAnimBg="0"/>
      <p:bldP spid="7" grpId="0" bldLvl="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5</a:t>
            </a:fld>
            <a:endParaRPr lang="en-US" altLang="zh-CN"/>
          </a:p>
        </p:txBody>
      </p:sp>
      <p:sp>
        <p:nvSpPr>
          <p:cNvPr id="5" name="Text Box 4"/>
          <p:cNvSpPr txBox="1">
            <a:spLocks noChangeArrowheads="1"/>
          </p:cNvSpPr>
          <p:nvPr/>
        </p:nvSpPr>
        <p:spPr bwMode="auto">
          <a:xfrm>
            <a:off x="442073" y="332656"/>
            <a:ext cx="600213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2.1.2  测量基准和尺寸传递系统</a:t>
            </a:r>
          </a:p>
        </p:txBody>
      </p:sp>
      <p:sp>
        <p:nvSpPr>
          <p:cNvPr id="6" name="Text Box 5"/>
          <p:cNvSpPr txBox="1">
            <a:spLocks noChangeArrowheads="1"/>
          </p:cNvSpPr>
          <p:nvPr/>
        </p:nvSpPr>
        <p:spPr bwMode="auto">
          <a:xfrm>
            <a:off x="824869" y="1969676"/>
            <a:ext cx="626741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1</a:t>
            </a:r>
            <a:r>
              <a:rPr lang="en-US" altLang="zh-CN" sz="2800" b="1" dirty="0"/>
              <a:t>)</a:t>
            </a:r>
            <a:r>
              <a:rPr lang="zh-CN" altLang="en-US" sz="2800" b="1" dirty="0"/>
              <a:t> 长度单位 — </a:t>
            </a:r>
            <a:r>
              <a:rPr lang="en-US" altLang="zh-CN" sz="2800" b="1" dirty="0"/>
              <a:t>m, mm</a:t>
            </a:r>
            <a:r>
              <a:rPr lang="zh-CN" altLang="en-US" sz="2800" b="1" dirty="0"/>
              <a:t>，</a:t>
            </a:r>
            <a:r>
              <a:rPr lang="en-US" altLang="zh-CN" sz="2800" b="1" dirty="0" err="1"/>
              <a:t>μm</a:t>
            </a:r>
            <a:r>
              <a:rPr lang="zh-CN" altLang="en-US" sz="2800" b="1" dirty="0"/>
              <a:t>，</a:t>
            </a:r>
            <a:r>
              <a:rPr lang="en-US" altLang="zh-CN" sz="2800" b="1" dirty="0"/>
              <a:t>nm</a:t>
            </a:r>
          </a:p>
        </p:txBody>
      </p:sp>
      <p:sp>
        <p:nvSpPr>
          <p:cNvPr id="7" name="Text Box 6"/>
          <p:cNvSpPr txBox="1">
            <a:spLocks noChangeArrowheads="1"/>
          </p:cNvSpPr>
          <p:nvPr/>
        </p:nvSpPr>
        <p:spPr bwMode="auto">
          <a:xfrm>
            <a:off x="818967" y="2685484"/>
            <a:ext cx="375126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2</a:t>
            </a:r>
            <a:r>
              <a:rPr lang="en-US" altLang="zh-CN" sz="2800" b="1" dirty="0"/>
              <a:t>)</a:t>
            </a:r>
            <a:r>
              <a:rPr lang="zh-CN" altLang="en-US" sz="2800" b="1" dirty="0"/>
              <a:t> 长度基准 — </a:t>
            </a:r>
          </a:p>
        </p:txBody>
      </p:sp>
      <p:sp>
        <p:nvSpPr>
          <p:cNvPr id="8" name="Text Box 7"/>
          <p:cNvSpPr txBox="1">
            <a:spLocks noChangeArrowheads="1"/>
          </p:cNvSpPr>
          <p:nvPr/>
        </p:nvSpPr>
        <p:spPr bwMode="auto">
          <a:xfrm>
            <a:off x="3203341" y="2685801"/>
            <a:ext cx="1728699"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实物基准</a:t>
            </a:r>
          </a:p>
        </p:txBody>
      </p:sp>
      <p:sp>
        <p:nvSpPr>
          <p:cNvPr id="9" name="Text Box 10"/>
          <p:cNvSpPr txBox="1">
            <a:spLocks noChangeArrowheads="1"/>
          </p:cNvSpPr>
          <p:nvPr/>
        </p:nvSpPr>
        <p:spPr bwMode="auto">
          <a:xfrm>
            <a:off x="6175885" y="2685801"/>
            <a:ext cx="1780491"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自然基准</a:t>
            </a:r>
          </a:p>
        </p:txBody>
      </p:sp>
      <p:sp>
        <p:nvSpPr>
          <p:cNvPr id="10" name="Text Box 11"/>
          <p:cNvSpPr txBox="1">
            <a:spLocks noChangeArrowheads="1"/>
          </p:cNvSpPr>
          <p:nvPr/>
        </p:nvSpPr>
        <p:spPr bwMode="auto">
          <a:xfrm>
            <a:off x="2339752" y="3933566"/>
            <a:ext cx="143522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600" dirty="0"/>
              <a:t>1 </a:t>
            </a:r>
            <a:r>
              <a:rPr lang="en-US" altLang="zh-CN" sz="3600" dirty="0"/>
              <a:t>m =</a:t>
            </a:r>
          </a:p>
        </p:txBody>
      </p:sp>
      <p:graphicFrame>
        <p:nvGraphicFramePr>
          <p:cNvPr id="16" name="Object 18"/>
          <p:cNvGraphicFramePr>
            <a:graphicFrameLocks noChangeAspect="1"/>
          </p:cNvGraphicFramePr>
          <p:nvPr>
            <p:extLst>
              <p:ext uri="{D42A27DB-BD31-4B8C-83A1-F6EECF244321}">
                <p14:modId xmlns:p14="http://schemas.microsoft.com/office/powerpoint/2010/main" xmlns="" val="3506643132"/>
              </p:ext>
            </p:extLst>
          </p:nvPr>
        </p:nvGraphicFramePr>
        <p:xfrm>
          <a:off x="3774976" y="3684555"/>
          <a:ext cx="2453208" cy="1041099"/>
        </p:xfrm>
        <a:graphic>
          <a:graphicData uri="http://schemas.openxmlformats.org/presentationml/2006/ole">
            <p:oleObj spid="_x0000_s30742" name="Equation" r:id="rId4" imgW="22250400" imgH="9448800" progId="">
              <p:embed/>
            </p:oleObj>
          </a:graphicData>
        </a:graphic>
      </p:graphicFrame>
      <p:sp>
        <p:nvSpPr>
          <p:cNvPr id="17" name="Text Box 20"/>
          <p:cNvSpPr txBox="1">
            <a:spLocks noChangeArrowheads="1"/>
          </p:cNvSpPr>
          <p:nvPr/>
        </p:nvSpPr>
        <p:spPr bwMode="auto">
          <a:xfrm>
            <a:off x="1979712" y="5343603"/>
            <a:ext cx="54006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1983年（光在真空行程的长度）</a:t>
            </a:r>
            <a:endParaRPr lang="en-US" altLang="zh-CN" sz="2800" b="1" dirty="0"/>
          </a:p>
        </p:txBody>
      </p:sp>
      <p:sp>
        <p:nvSpPr>
          <p:cNvPr id="19" name="AutoShape 23"/>
          <p:cNvSpPr>
            <a:spLocks noChangeArrowheads="1"/>
          </p:cNvSpPr>
          <p:nvPr/>
        </p:nvSpPr>
        <p:spPr bwMode="auto">
          <a:xfrm>
            <a:off x="4860776" y="2518792"/>
            <a:ext cx="1295400" cy="838200"/>
          </a:xfrm>
          <a:prstGeom prst="rightArrow">
            <a:avLst>
              <a:gd name="adj1" fmla="val 50000"/>
              <a:gd name="adj2" fmla="val 38636"/>
            </a:avLst>
          </a:prstGeom>
          <a:solidFill>
            <a:srgbClr val="FFFFCC"/>
          </a:solidFill>
          <a:ln w="38100">
            <a:solidFill>
              <a:schemeClr val="accent1"/>
            </a:solidFill>
            <a:miter lim="800000"/>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sz="2800" b="1" dirty="0">
                <a:solidFill>
                  <a:srgbClr val="FF33CC"/>
                </a:solidFill>
                <a:effectLst>
                  <a:outerShdw blurRad="38100" dist="38100" dir="2700000" algn="tl">
                    <a:srgbClr val="000000">
                      <a:alpha val="43137"/>
                    </a:srgbClr>
                  </a:outerShdw>
                </a:effectLst>
              </a:rPr>
              <a:t>过渡到</a:t>
            </a:r>
          </a:p>
        </p:txBody>
      </p:sp>
      <p:sp>
        <p:nvSpPr>
          <p:cNvPr id="20" name="Text Box 24"/>
          <p:cNvSpPr txBox="1">
            <a:spLocks noChangeArrowheads="1"/>
          </p:cNvSpPr>
          <p:nvPr/>
        </p:nvSpPr>
        <p:spPr bwMode="auto">
          <a:xfrm>
            <a:off x="683260" y="1258956"/>
            <a:ext cx="460121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长度尺寸基准和传递系统</a:t>
            </a:r>
          </a:p>
        </p:txBody>
      </p:sp>
      <p:sp>
        <p:nvSpPr>
          <p:cNvPr id="21" name="矩形 20"/>
          <p:cNvSpPr/>
          <p:nvPr/>
        </p:nvSpPr>
        <p:spPr>
          <a:xfrm>
            <a:off x="2195830" y="3644904"/>
            <a:ext cx="4146550" cy="122491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6</a:t>
            </a:fld>
            <a:endParaRPr lang="en-US" altLang="zh-CN"/>
          </a:p>
        </p:txBody>
      </p:sp>
      <p:sp>
        <p:nvSpPr>
          <p:cNvPr id="5" name="Text Box 4"/>
          <p:cNvSpPr txBox="1">
            <a:spLocks noChangeArrowheads="1"/>
          </p:cNvSpPr>
          <p:nvPr/>
        </p:nvSpPr>
        <p:spPr bwMode="auto">
          <a:xfrm>
            <a:off x="755327" y="1218819"/>
            <a:ext cx="547846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(3) </a:t>
            </a:r>
            <a:r>
              <a:rPr lang="zh-CN" altLang="en-US" sz="2800" b="1" dirty="0"/>
              <a:t>长度尺寸传递系统</a:t>
            </a:r>
          </a:p>
        </p:txBody>
      </p:sp>
      <p:sp>
        <p:nvSpPr>
          <p:cNvPr id="6" name="Text Box 6"/>
          <p:cNvSpPr txBox="1">
            <a:spLocks noChangeArrowheads="1"/>
          </p:cNvSpPr>
          <p:nvPr/>
        </p:nvSpPr>
        <p:spPr bwMode="auto">
          <a:xfrm>
            <a:off x="1538213" y="1861920"/>
            <a:ext cx="3070071" cy="523220"/>
          </a:xfrm>
          <a:prstGeom prst="rect">
            <a:avLst/>
          </a:prstGeom>
          <a:noFill/>
          <a:ln w="38100">
            <a:solidFill>
              <a:srgbClr val="FF33CC"/>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主基准（副基准）</a:t>
            </a:r>
          </a:p>
        </p:txBody>
      </p:sp>
      <p:sp>
        <p:nvSpPr>
          <p:cNvPr id="7" name="Line 7"/>
          <p:cNvSpPr>
            <a:spLocks noChangeShapeType="1"/>
          </p:cNvSpPr>
          <p:nvPr/>
        </p:nvSpPr>
        <p:spPr bwMode="auto">
          <a:xfrm>
            <a:off x="4750296" y="2125504"/>
            <a:ext cx="6858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800"/>
          </a:p>
        </p:txBody>
      </p:sp>
      <p:sp>
        <p:nvSpPr>
          <p:cNvPr id="8" name="Text Box 8"/>
          <p:cNvSpPr txBox="1">
            <a:spLocks noChangeArrowheads="1"/>
          </p:cNvSpPr>
          <p:nvPr/>
        </p:nvSpPr>
        <p:spPr bwMode="auto">
          <a:xfrm>
            <a:off x="5504695" y="1870810"/>
            <a:ext cx="1821011" cy="523220"/>
          </a:xfrm>
          <a:prstGeom prst="rect">
            <a:avLst/>
          </a:prstGeom>
          <a:noFill/>
          <a:ln w="38100">
            <a:solidFill>
              <a:srgbClr val="FF33CC"/>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工作基准</a:t>
            </a:r>
          </a:p>
        </p:txBody>
      </p:sp>
      <p:sp>
        <p:nvSpPr>
          <p:cNvPr id="9" name="Line 9"/>
          <p:cNvSpPr>
            <a:spLocks noChangeShapeType="1"/>
          </p:cNvSpPr>
          <p:nvPr/>
        </p:nvSpPr>
        <p:spPr bwMode="auto">
          <a:xfrm>
            <a:off x="1754237" y="2915618"/>
            <a:ext cx="914400" cy="0"/>
          </a:xfrm>
          <a:prstGeom prst="line">
            <a:avLst/>
          </a:prstGeom>
          <a:noFill/>
          <a:ln w="38100">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800"/>
          </a:p>
        </p:txBody>
      </p:sp>
      <p:grpSp>
        <p:nvGrpSpPr>
          <p:cNvPr id="10" name="Group 16"/>
          <p:cNvGrpSpPr/>
          <p:nvPr/>
        </p:nvGrpSpPr>
        <p:grpSpPr bwMode="auto">
          <a:xfrm>
            <a:off x="2762349" y="2659406"/>
            <a:ext cx="2496642" cy="523876"/>
            <a:chOff x="1526" y="1243"/>
            <a:chExt cx="1514" cy="330"/>
          </a:xfrm>
        </p:grpSpPr>
        <p:sp>
          <p:nvSpPr>
            <p:cNvPr id="11" name="Text Box 10"/>
            <p:cNvSpPr txBox="1">
              <a:spLocks noChangeArrowheads="1"/>
            </p:cNvSpPr>
            <p:nvPr/>
          </p:nvSpPr>
          <p:spPr bwMode="auto">
            <a:xfrm>
              <a:off x="1526" y="1243"/>
              <a:ext cx="987" cy="330"/>
            </a:xfrm>
            <a:prstGeom prst="rect">
              <a:avLst/>
            </a:prstGeom>
            <a:noFill/>
            <a:ln w="38100">
              <a:solidFill>
                <a:srgbClr val="FF33CC"/>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工作器具</a:t>
              </a:r>
            </a:p>
          </p:txBody>
        </p:sp>
        <p:sp>
          <p:nvSpPr>
            <p:cNvPr id="12" name="Line 11"/>
            <p:cNvSpPr>
              <a:spLocks noChangeShapeType="1"/>
            </p:cNvSpPr>
            <p:nvPr/>
          </p:nvSpPr>
          <p:spPr bwMode="auto">
            <a:xfrm>
              <a:off x="2603" y="1386"/>
              <a:ext cx="437" cy="0"/>
            </a:xfrm>
            <a:prstGeom prst="line">
              <a:avLst/>
            </a:prstGeom>
            <a:noFill/>
            <a:ln w="38100">
              <a:solidFill>
                <a:schemeClr val="tx1"/>
              </a:solidFill>
              <a:rou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sz="2800"/>
            </a:p>
          </p:txBody>
        </p:sp>
      </p:grpSp>
      <p:sp>
        <p:nvSpPr>
          <p:cNvPr id="13" name="Text Box 12"/>
          <p:cNvSpPr txBox="1">
            <a:spLocks noChangeArrowheads="1"/>
          </p:cNvSpPr>
          <p:nvPr/>
        </p:nvSpPr>
        <p:spPr bwMode="auto">
          <a:xfrm>
            <a:off x="5498653" y="2654514"/>
            <a:ext cx="1872208" cy="523220"/>
          </a:xfrm>
          <a:prstGeom prst="rect">
            <a:avLst/>
          </a:prstGeom>
          <a:noFill/>
          <a:ln w="38100">
            <a:solidFill>
              <a:srgbClr val="FF33CC"/>
            </a:solidFill>
            <a:miter lim="800000"/>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被测对象</a:t>
            </a:r>
          </a:p>
        </p:txBody>
      </p:sp>
      <p:sp>
        <p:nvSpPr>
          <p:cNvPr id="14" name="Text Box 13"/>
          <p:cNvSpPr txBox="1">
            <a:spLocks noChangeArrowheads="1"/>
          </p:cNvSpPr>
          <p:nvPr/>
        </p:nvSpPr>
        <p:spPr bwMode="auto">
          <a:xfrm>
            <a:off x="3872957" y="3352466"/>
            <a:ext cx="1779163"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1800" b="1" dirty="0"/>
              <a:t>尺寸传递系统</a:t>
            </a:r>
          </a:p>
        </p:txBody>
      </p:sp>
      <p:sp>
        <p:nvSpPr>
          <p:cNvPr id="15" name="Text Box 17"/>
          <p:cNvSpPr txBox="1">
            <a:spLocks noChangeArrowheads="1"/>
          </p:cNvSpPr>
          <p:nvPr/>
        </p:nvSpPr>
        <p:spPr bwMode="auto">
          <a:xfrm>
            <a:off x="1497583" y="4341733"/>
            <a:ext cx="422528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国际基准、国家基准。</a:t>
            </a:r>
          </a:p>
        </p:txBody>
      </p:sp>
      <p:sp>
        <p:nvSpPr>
          <p:cNvPr id="16" name="Text Box 18"/>
          <p:cNvSpPr txBox="1">
            <a:spLocks noChangeArrowheads="1"/>
          </p:cNvSpPr>
          <p:nvPr/>
        </p:nvSpPr>
        <p:spPr bwMode="auto">
          <a:xfrm>
            <a:off x="1483853" y="5498068"/>
            <a:ext cx="588550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为了复现“</a:t>
            </a:r>
            <a:r>
              <a:rPr lang="en-US" altLang="zh-CN" sz="2800" b="1" dirty="0"/>
              <a:t>m” , </a:t>
            </a:r>
            <a:r>
              <a:rPr lang="zh-CN" altLang="en-US" sz="2800" b="1" dirty="0"/>
              <a:t>需建立的副基准。</a:t>
            </a:r>
          </a:p>
        </p:txBody>
      </p:sp>
      <p:sp>
        <p:nvSpPr>
          <p:cNvPr id="17" name="Text Box 21"/>
          <p:cNvSpPr txBox="1">
            <a:spLocks noChangeArrowheads="1"/>
          </p:cNvSpPr>
          <p:nvPr/>
        </p:nvSpPr>
        <p:spPr bwMode="auto">
          <a:xfrm>
            <a:off x="1445968" y="4902756"/>
            <a:ext cx="305276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CC"/>
                </a:solidFill>
              </a:rPr>
              <a:t>副基准</a:t>
            </a:r>
            <a:r>
              <a:rPr lang="zh-CN" altLang="en-US" sz="2800" b="1" dirty="0"/>
              <a:t> ——</a:t>
            </a:r>
          </a:p>
        </p:txBody>
      </p:sp>
      <p:sp>
        <p:nvSpPr>
          <p:cNvPr id="18" name="Text Box 22"/>
          <p:cNvSpPr txBox="1">
            <a:spLocks noChangeArrowheads="1"/>
          </p:cNvSpPr>
          <p:nvPr/>
        </p:nvSpPr>
        <p:spPr bwMode="auto">
          <a:xfrm>
            <a:off x="1421387" y="3784423"/>
            <a:ext cx="305276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CC"/>
                </a:solidFill>
              </a:rPr>
              <a:t>主基准</a:t>
            </a:r>
            <a:r>
              <a:rPr lang="zh-CN" altLang="en-US" sz="2800" b="1" dirty="0"/>
              <a:t> ——</a:t>
            </a:r>
          </a:p>
        </p:txBody>
      </p:sp>
      <p:sp>
        <p:nvSpPr>
          <p:cNvPr id="2" name="Text Box 4"/>
          <p:cNvSpPr txBox="1">
            <a:spLocks noChangeArrowheads="1"/>
          </p:cNvSpPr>
          <p:nvPr/>
        </p:nvSpPr>
        <p:spPr bwMode="auto">
          <a:xfrm>
            <a:off x="442073" y="332656"/>
            <a:ext cx="600213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2.1.2  测量基准和尺寸传递系统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8"/>
                                        </p:tgtEl>
                                        <p:attrNameLst>
                                          <p:attrName>style.visibility</p:attrName>
                                        </p:attrNameLst>
                                      </p:cBhvr>
                                      <p:to>
                                        <p:strVal val="visible"/>
                                      </p:to>
                                    </p:set>
                                    <p:animEffect transition="in" filter="wipe(left)">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wipe(left)">
                                      <p:cBhvr>
                                        <p:cTn id="52" dur="500"/>
                                        <p:tgtEl>
                                          <p:spTgt spid="1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wipe(left)">
                                      <p:cBhvr>
                                        <p:cTn id="57" dur="500"/>
                                        <p:tgtEl>
                                          <p:spTgt spid="17"/>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p:bldP spid="8" grpId="0" bldLvl="0" animBg="1" autoUpdateAnimBg="0"/>
      <p:bldP spid="9" grpId="0" bldLvl="0" animBg="1"/>
      <p:bldP spid="13" grpId="0" bldLvl="0" animBg="1" autoUpdateAnimBg="0"/>
      <p:bldP spid="14" grpId="0" bldLvl="0" animBg="1" autoUpdateAnimBg="0"/>
      <p:bldP spid="15" grpId="0" bldLvl="0" animBg="1" autoUpdateAnimBg="0"/>
      <p:bldP spid="16" grpId="0" bldLvl="0" animBg="1" autoUpdateAnimBg="0"/>
      <p:bldP spid="17" grpId="0" bldLvl="0" animBg="1" autoUpdateAnimBg="0"/>
      <p:bldP spid="18" grpId="0" bldLvl="0" animBg="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7</a:t>
            </a:fld>
            <a:endParaRPr lang="en-US" altLang="zh-CN"/>
          </a:p>
        </p:txBody>
      </p:sp>
      <p:sp>
        <p:nvSpPr>
          <p:cNvPr id="5" name="Text Box 4"/>
          <p:cNvSpPr txBox="1">
            <a:spLocks noChangeArrowheads="1"/>
          </p:cNvSpPr>
          <p:nvPr/>
        </p:nvSpPr>
        <p:spPr bwMode="auto">
          <a:xfrm>
            <a:off x="979984" y="4434422"/>
            <a:ext cx="6858000"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a:t>       </a:t>
            </a:r>
            <a:r>
              <a:rPr lang="zh-CN" altLang="en-US" sz="2800" b="1"/>
              <a:t>测量零件所用的计量器具。</a:t>
            </a:r>
          </a:p>
        </p:txBody>
      </p:sp>
      <p:sp>
        <p:nvSpPr>
          <p:cNvPr id="6" name="Text Box 5"/>
          <p:cNvSpPr txBox="1">
            <a:spLocks noChangeArrowheads="1"/>
          </p:cNvSpPr>
          <p:nvPr/>
        </p:nvSpPr>
        <p:spPr bwMode="auto">
          <a:xfrm>
            <a:off x="978024" y="5661248"/>
            <a:ext cx="38100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33CC"/>
                </a:solidFill>
              </a:rPr>
              <a:t>被测对象 —— </a:t>
            </a:r>
          </a:p>
        </p:txBody>
      </p:sp>
      <p:sp>
        <p:nvSpPr>
          <p:cNvPr id="7" name="Text Box 6"/>
          <p:cNvSpPr txBox="1">
            <a:spLocks noChangeArrowheads="1"/>
          </p:cNvSpPr>
          <p:nvPr/>
        </p:nvSpPr>
        <p:spPr bwMode="auto">
          <a:xfrm>
            <a:off x="903784" y="2217521"/>
            <a:ext cx="7556648" cy="16435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dirty="0"/>
              <a:t>         </a:t>
            </a:r>
            <a:r>
              <a:rPr lang="zh-CN" altLang="en-US" sz="2800" b="1" dirty="0"/>
              <a:t>经过与国家基准或副基准比对，用来检定较低准确度的基准，或检定工作器具用的计量器具。</a:t>
            </a:r>
          </a:p>
        </p:txBody>
      </p:sp>
      <p:sp>
        <p:nvSpPr>
          <p:cNvPr id="8" name="Text Box 7"/>
          <p:cNvSpPr txBox="1">
            <a:spLocks noChangeArrowheads="1"/>
          </p:cNvSpPr>
          <p:nvPr/>
        </p:nvSpPr>
        <p:spPr bwMode="auto">
          <a:xfrm>
            <a:off x="899339" y="1781276"/>
            <a:ext cx="29718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CC"/>
                </a:solidFill>
              </a:rPr>
              <a:t>工作基准——</a:t>
            </a:r>
          </a:p>
        </p:txBody>
      </p:sp>
      <p:sp>
        <p:nvSpPr>
          <p:cNvPr id="9" name="Text Box 8"/>
          <p:cNvSpPr txBox="1">
            <a:spLocks noChangeArrowheads="1"/>
          </p:cNvSpPr>
          <p:nvPr/>
        </p:nvSpPr>
        <p:spPr bwMode="auto">
          <a:xfrm>
            <a:off x="899339" y="3926422"/>
            <a:ext cx="31242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solidFill>
                  <a:srgbClr val="FF33CC"/>
                </a:solidFill>
              </a:rPr>
              <a:t>工作器具——</a:t>
            </a:r>
          </a:p>
        </p:txBody>
      </p:sp>
      <p:sp>
        <p:nvSpPr>
          <p:cNvPr id="10" name="Rectangle 9"/>
          <p:cNvSpPr>
            <a:spLocks noChangeArrowheads="1"/>
          </p:cNvSpPr>
          <p:nvPr/>
        </p:nvSpPr>
        <p:spPr bwMode="auto">
          <a:xfrm>
            <a:off x="3039442" y="3239308"/>
            <a:ext cx="5060950"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zh-CN" altLang="en-US" sz="2800" b="1" dirty="0"/>
              <a:t>例如</a:t>
            </a:r>
            <a:r>
              <a:rPr lang="zh-CN" altLang="en-US" sz="2800" b="1" dirty="0">
                <a:solidFill>
                  <a:srgbClr val="0070C0"/>
                </a:solidFill>
              </a:rPr>
              <a:t>量块</a:t>
            </a:r>
            <a:r>
              <a:rPr lang="zh-CN" altLang="en-US" sz="2800" b="1" dirty="0"/>
              <a:t>、</a:t>
            </a:r>
            <a:r>
              <a:rPr lang="zh-CN" altLang="en-US" sz="2800" b="1" dirty="0">
                <a:solidFill>
                  <a:srgbClr val="0070C0"/>
                </a:solidFill>
              </a:rPr>
              <a:t>标准线纹尺</a:t>
            </a:r>
            <a:r>
              <a:rPr lang="zh-CN" altLang="en-US" sz="2800" b="1" dirty="0"/>
              <a:t>等。</a:t>
            </a:r>
          </a:p>
        </p:txBody>
      </p:sp>
      <p:sp>
        <p:nvSpPr>
          <p:cNvPr id="11" name="Rectangle 10"/>
          <p:cNvSpPr>
            <a:spLocks noChangeArrowheads="1"/>
          </p:cNvSpPr>
          <p:nvPr/>
        </p:nvSpPr>
        <p:spPr bwMode="auto">
          <a:xfrm>
            <a:off x="1591270" y="5018622"/>
            <a:ext cx="5861050"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zh-CN" altLang="en-US" sz="2800" b="1" dirty="0"/>
              <a:t>如千分尺 、比较仪、测长仪等。                              </a:t>
            </a:r>
          </a:p>
        </p:txBody>
      </p:sp>
      <p:sp>
        <p:nvSpPr>
          <p:cNvPr id="2" name="Text Box 4"/>
          <p:cNvSpPr txBox="1">
            <a:spLocks noChangeArrowheads="1"/>
          </p:cNvSpPr>
          <p:nvPr/>
        </p:nvSpPr>
        <p:spPr bwMode="auto">
          <a:xfrm>
            <a:off x="683572" y="1151428"/>
            <a:ext cx="547846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(3) </a:t>
            </a:r>
            <a:r>
              <a:rPr lang="zh-CN" altLang="en-US" sz="2800" b="1" dirty="0"/>
              <a:t>长度尺寸传递系统</a:t>
            </a:r>
          </a:p>
        </p:txBody>
      </p:sp>
      <p:sp>
        <p:nvSpPr>
          <p:cNvPr id="3" name="Text Box 4"/>
          <p:cNvSpPr txBox="1">
            <a:spLocks noChangeArrowheads="1"/>
          </p:cNvSpPr>
          <p:nvPr/>
        </p:nvSpPr>
        <p:spPr bwMode="auto">
          <a:xfrm>
            <a:off x="442073" y="332656"/>
            <a:ext cx="6002139"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2.1.2  测量基准和尺寸传递系统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8"/>
                                        </p:tgtEl>
                                        <p:attrNameLst>
                                          <p:attrName>style.visibility</p:attrName>
                                        </p:attrNameLst>
                                      </p:cBhvr>
                                      <p:to>
                                        <p:strVal val="visible"/>
                                      </p:to>
                                    </p:set>
                                    <p:animEffect transition="in" filter="wipe(left)">
                                      <p:cBhvr>
                                        <p:cTn id="7" dur="3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7"/>
                                        </p:tgtEl>
                                        <p:attrNameLst>
                                          <p:attrName>style.visibility</p:attrName>
                                        </p:attrNameLst>
                                      </p:cBhvr>
                                      <p:to>
                                        <p:strVal val="visible"/>
                                      </p:to>
                                    </p:set>
                                    <p:animEffect transition="in" filter="wipe(left)">
                                      <p:cBhvr>
                                        <p:cTn id="12" dur="3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9"/>
                                        </p:tgtEl>
                                        <p:attrNameLst>
                                          <p:attrName>style.visibility</p:attrName>
                                        </p:attrNameLst>
                                      </p:cBhvr>
                                      <p:to>
                                        <p:strVal val="visible"/>
                                      </p:to>
                                    </p:set>
                                    <p:animEffect transition="in" filter="wipe(left)">
                                      <p:cBhvr>
                                        <p:cTn id="22" dur="3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5"/>
                                        </p:tgtEl>
                                        <p:attrNameLst>
                                          <p:attrName>style.visibility</p:attrName>
                                        </p:attrNameLst>
                                      </p:cBhvr>
                                      <p:to>
                                        <p:strVal val="visible"/>
                                      </p:to>
                                    </p:set>
                                    <p:animEffect transition="in" filter="wipe(left)">
                                      <p:cBhvr>
                                        <p:cTn id="27" dur="3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wd">
                                    <p:tmPct val="100000"/>
                                  </p:iterate>
                                  <p:childTnLst>
                                    <p:set>
                                      <p:cBhvr>
                                        <p:cTn id="36" dur="1" fill="hold">
                                          <p:stCondLst>
                                            <p:cond delay="0"/>
                                          </p:stCondLst>
                                        </p:cTn>
                                        <p:tgtEl>
                                          <p:spTgt spid="6"/>
                                        </p:tgtEl>
                                        <p:attrNameLst>
                                          <p:attrName>style.visibility</p:attrName>
                                        </p:attrNameLst>
                                      </p:cBhvr>
                                      <p:to>
                                        <p:strVal val="visible"/>
                                      </p:to>
                                    </p:set>
                                    <p:animEffect transition="in" filter="wipe(left)">
                                      <p:cBhvr>
                                        <p:cTn id="37" dur="300"/>
                                        <p:tgtEl>
                                          <p:spTgt spid="6"/>
                                        </p:tgtEl>
                                      </p:cBhvr>
                                    </p:animEffect>
                                  </p:childTnLst>
                                </p:cTn>
                              </p:par>
                            </p:childTnLst>
                          </p:cTn>
                        </p:par>
                        <p:par>
                          <p:cTn id="38" fill="hold">
                            <p:stCondLst>
                              <p:cond delay="2400"/>
                            </p:stCondLst>
                            <p:childTnLst>
                              <p:par>
                                <p:cTn id="39" presetID="22" presetClass="entr" presetSubtype="8" fill="hold" grpId="0" nodeType="after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wipe(left)">
                                      <p:cBhvr>
                                        <p:cTn id="41"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autoUpdateAnimBg="0"/>
      <p:bldP spid="8" grpId="0" bldLvl="0" animBg="1" autoUpdateAnimBg="0"/>
      <p:bldP spid="9" grpId="0" bldLvl="0" animBg="1" autoUpdateAnimBg="0"/>
      <p:bldP spid="10" grpId="0" bldLvl="0" animBg="1" autoUpdateAnimBg="0"/>
      <p:bldP spid="11" grpId="0" bldLvl="0" animBg="1" autoUpdateAnimBg="0"/>
      <p:bldP spid="2" grpId="0" bldLvl="0" animBg="1"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8</a:t>
            </a:fld>
            <a:endParaRPr lang="en-US" altLang="zh-CN"/>
          </a:p>
        </p:txBody>
      </p:sp>
      <p:sp>
        <p:nvSpPr>
          <p:cNvPr id="5" name="Text Box 4"/>
          <p:cNvSpPr txBox="1">
            <a:spLocks noChangeArrowheads="1"/>
          </p:cNvSpPr>
          <p:nvPr/>
        </p:nvSpPr>
        <p:spPr bwMode="auto">
          <a:xfrm>
            <a:off x="457200" y="355376"/>
            <a:ext cx="67818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2.1.3  定值长度的基准</a:t>
            </a:r>
          </a:p>
        </p:txBody>
      </p:sp>
      <p:sp>
        <p:nvSpPr>
          <p:cNvPr id="6" name="Text Box 5"/>
          <p:cNvSpPr txBox="1">
            <a:spLocks noChangeArrowheads="1"/>
          </p:cNvSpPr>
          <p:nvPr/>
        </p:nvSpPr>
        <p:spPr bwMode="auto">
          <a:xfrm>
            <a:off x="609604" y="1177588"/>
            <a:ext cx="44354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量块——</a:t>
            </a:r>
            <a:r>
              <a:rPr lang="zh-CN" altLang="en-US" sz="2800" b="1" dirty="0">
                <a:solidFill>
                  <a:srgbClr val="0070C0"/>
                </a:solidFill>
              </a:rPr>
              <a:t>长度基准</a:t>
            </a:r>
          </a:p>
        </p:txBody>
      </p:sp>
      <p:sp>
        <p:nvSpPr>
          <p:cNvPr id="7" name="Text Box 6"/>
          <p:cNvSpPr txBox="1">
            <a:spLocks noChangeArrowheads="1"/>
          </p:cNvSpPr>
          <p:nvPr/>
        </p:nvSpPr>
        <p:spPr bwMode="auto">
          <a:xfrm>
            <a:off x="539621" y="1825660"/>
            <a:ext cx="626462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(1) </a:t>
            </a:r>
            <a:r>
              <a:rPr lang="zh-CN" altLang="en-US" sz="2800" b="1" dirty="0">
                <a:solidFill>
                  <a:srgbClr val="FF0000"/>
                </a:solidFill>
              </a:rPr>
              <a:t>量块是一种无刻度的标准端面量具</a:t>
            </a:r>
            <a:endParaRPr lang="zh-CN" altLang="en-US" sz="2800" b="1" dirty="0"/>
          </a:p>
        </p:txBody>
      </p:sp>
      <p:grpSp>
        <p:nvGrpSpPr>
          <p:cNvPr id="9" name="Group 185"/>
          <p:cNvGrpSpPr/>
          <p:nvPr/>
        </p:nvGrpSpPr>
        <p:grpSpPr bwMode="auto">
          <a:xfrm>
            <a:off x="446088" y="2492896"/>
            <a:ext cx="8229600" cy="3624263"/>
            <a:chOff x="281" y="1810"/>
            <a:chExt cx="5184" cy="2283"/>
          </a:xfrm>
        </p:grpSpPr>
        <p:sp>
          <p:nvSpPr>
            <p:cNvPr id="10" name="Text Box 48"/>
            <p:cNvSpPr txBox="1">
              <a:spLocks noChangeArrowheads="1"/>
            </p:cNvSpPr>
            <p:nvPr/>
          </p:nvSpPr>
          <p:spPr bwMode="auto">
            <a:xfrm>
              <a:off x="1023" y="1810"/>
              <a:ext cx="389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 </a:t>
              </a:r>
              <a:r>
                <a:rPr lang="zh-CN" altLang="en-US" sz="2000" b="1" dirty="0"/>
                <a:t>成套量块的尺寸（</a:t>
              </a:r>
              <a:r>
                <a:rPr lang="zh-CN" altLang="en-US" sz="2000" b="1" dirty="0" smtClean="0"/>
                <a:t>摘自</a:t>
              </a:r>
              <a:r>
                <a:rPr lang="en-US" altLang="zh-CN" sz="2000" b="1" dirty="0" smtClean="0"/>
                <a:t>GB/T6093—2001</a:t>
              </a:r>
              <a:r>
                <a:rPr lang="zh-CN" altLang="en-US" sz="2000" b="1" dirty="0"/>
                <a:t>中：第</a:t>
              </a:r>
              <a:r>
                <a:rPr lang="en-US" altLang="zh-CN" sz="2000" b="1" dirty="0"/>
                <a:t>1</a:t>
              </a:r>
              <a:r>
                <a:rPr lang="zh-CN" altLang="en-US" sz="2000" b="1" dirty="0"/>
                <a:t>套）</a:t>
              </a:r>
            </a:p>
          </p:txBody>
        </p:sp>
        <p:sp>
          <p:nvSpPr>
            <p:cNvPr id="11" name="Rectangle 160"/>
            <p:cNvSpPr>
              <a:spLocks noChangeArrowheads="1"/>
            </p:cNvSpPr>
            <p:nvPr/>
          </p:nvSpPr>
          <p:spPr bwMode="auto">
            <a:xfrm>
              <a:off x="4937" y="2464"/>
              <a:ext cx="528"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1</a:t>
              </a:r>
            </a:p>
            <a:p>
              <a:pPr algn="ctr">
                <a:spcBef>
                  <a:spcPct val="20000"/>
                </a:spcBef>
              </a:pPr>
              <a:r>
                <a:rPr lang="zh-CN" altLang="en-US" sz="2000" b="1"/>
                <a:t>1</a:t>
              </a:r>
            </a:p>
            <a:p>
              <a:pPr algn="ctr">
                <a:spcBef>
                  <a:spcPct val="20000"/>
                </a:spcBef>
              </a:pPr>
              <a:r>
                <a:rPr lang="zh-CN" altLang="en-US" sz="2000" b="1"/>
                <a:t>9</a:t>
              </a:r>
            </a:p>
            <a:p>
              <a:pPr algn="ctr">
                <a:spcBef>
                  <a:spcPct val="20000"/>
                </a:spcBef>
              </a:pPr>
              <a:r>
                <a:rPr lang="zh-CN" altLang="en-US" sz="2000" b="1"/>
                <a:t>49</a:t>
              </a:r>
            </a:p>
            <a:p>
              <a:pPr algn="ctr">
                <a:spcBef>
                  <a:spcPct val="20000"/>
                </a:spcBef>
              </a:pPr>
              <a:r>
                <a:rPr lang="zh-CN" altLang="en-US" sz="2000" b="1"/>
                <a:t>5</a:t>
              </a:r>
            </a:p>
            <a:p>
              <a:pPr algn="ctr">
                <a:spcBef>
                  <a:spcPct val="20000"/>
                </a:spcBef>
              </a:pPr>
              <a:r>
                <a:rPr lang="zh-CN" altLang="en-US" sz="2000" b="1"/>
                <a:t>16</a:t>
              </a:r>
            </a:p>
            <a:p>
              <a:pPr algn="ctr">
                <a:spcBef>
                  <a:spcPct val="20000"/>
                </a:spcBef>
              </a:pPr>
              <a:r>
                <a:rPr lang="zh-CN" altLang="en-US" sz="2000" b="1"/>
                <a:t>10</a:t>
              </a:r>
            </a:p>
          </p:txBody>
        </p:sp>
        <p:sp>
          <p:nvSpPr>
            <p:cNvPr id="12" name="Rectangle 161"/>
            <p:cNvSpPr>
              <a:spLocks noChangeArrowheads="1"/>
            </p:cNvSpPr>
            <p:nvPr/>
          </p:nvSpPr>
          <p:spPr bwMode="auto">
            <a:xfrm>
              <a:off x="4025" y="2464"/>
              <a:ext cx="912"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a:t>
              </a:r>
            </a:p>
            <a:p>
              <a:pPr algn="ctr">
                <a:spcBef>
                  <a:spcPct val="20000"/>
                </a:spcBef>
              </a:pPr>
              <a:r>
                <a:rPr lang="zh-CN" altLang="en-US" sz="2000" b="1"/>
                <a:t>——</a:t>
              </a:r>
            </a:p>
            <a:p>
              <a:pPr algn="ctr">
                <a:spcBef>
                  <a:spcPct val="20000"/>
                </a:spcBef>
              </a:pPr>
              <a:r>
                <a:rPr lang="zh-CN" altLang="en-US" sz="2000" b="1"/>
                <a:t>0.001</a:t>
              </a:r>
            </a:p>
            <a:p>
              <a:pPr algn="ctr">
                <a:spcBef>
                  <a:spcPct val="20000"/>
                </a:spcBef>
              </a:pPr>
              <a:r>
                <a:rPr lang="zh-CN" altLang="en-US" sz="2000" b="1"/>
                <a:t>0.01</a:t>
              </a:r>
            </a:p>
            <a:p>
              <a:pPr algn="ctr">
                <a:spcBef>
                  <a:spcPct val="20000"/>
                </a:spcBef>
              </a:pPr>
              <a:r>
                <a:rPr lang="zh-CN" altLang="en-US" sz="2000" b="1"/>
                <a:t>0.1</a:t>
              </a:r>
            </a:p>
            <a:p>
              <a:pPr algn="ctr">
                <a:spcBef>
                  <a:spcPct val="20000"/>
                </a:spcBef>
              </a:pPr>
              <a:r>
                <a:rPr lang="zh-CN" altLang="en-US" sz="2000" b="1"/>
                <a:t>0.5</a:t>
              </a:r>
            </a:p>
            <a:p>
              <a:pPr algn="ctr">
                <a:spcBef>
                  <a:spcPct val="20000"/>
                </a:spcBef>
              </a:pPr>
              <a:r>
                <a:rPr lang="zh-CN" altLang="en-US" sz="2000" b="1"/>
                <a:t>10</a:t>
              </a:r>
            </a:p>
          </p:txBody>
        </p:sp>
        <p:sp>
          <p:nvSpPr>
            <p:cNvPr id="13" name="Rectangle 162"/>
            <p:cNvSpPr>
              <a:spLocks noChangeArrowheads="1"/>
            </p:cNvSpPr>
            <p:nvPr/>
          </p:nvSpPr>
          <p:spPr bwMode="auto">
            <a:xfrm>
              <a:off x="1961" y="2464"/>
              <a:ext cx="2064"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spcBef>
                  <a:spcPct val="20000"/>
                </a:spcBef>
              </a:pPr>
              <a:r>
                <a:rPr lang="zh-CN" altLang="en-US" sz="2000" b="1" dirty="0"/>
                <a:t>0.5</a:t>
              </a:r>
            </a:p>
            <a:p>
              <a:pPr>
                <a:spcBef>
                  <a:spcPct val="20000"/>
                </a:spcBef>
              </a:pPr>
              <a:r>
                <a:rPr lang="zh-CN" altLang="en-US" sz="2000" b="1" dirty="0"/>
                <a:t>1</a:t>
              </a:r>
            </a:p>
            <a:p>
              <a:pPr>
                <a:spcBef>
                  <a:spcPct val="20000"/>
                </a:spcBef>
              </a:pPr>
              <a:r>
                <a:rPr lang="zh-CN" altLang="en-US" sz="2000" b="1" dirty="0"/>
                <a:t>1.001，1.002，…，1.009</a:t>
              </a:r>
            </a:p>
            <a:p>
              <a:pPr>
                <a:spcBef>
                  <a:spcPct val="20000"/>
                </a:spcBef>
              </a:pPr>
              <a:r>
                <a:rPr lang="zh-CN" altLang="en-US" sz="2000" b="1" dirty="0"/>
                <a:t>1.01，1.02，…，1.49</a:t>
              </a:r>
            </a:p>
            <a:p>
              <a:pPr>
                <a:spcBef>
                  <a:spcPct val="20000"/>
                </a:spcBef>
              </a:pPr>
              <a:r>
                <a:rPr lang="zh-CN" altLang="en-US" sz="2000" b="1" dirty="0"/>
                <a:t>1.5，1.6，…，1.9</a:t>
              </a:r>
            </a:p>
            <a:p>
              <a:pPr>
                <a:spcBef>
                  <a:spcPct val="20000"/>
                </a:spcBef>
              </a:pPr>
              <a:r>
                <a:rPr lang="zh-CN" altLang="en-US" sz="2000" b="1" dirty="0"/>
                <a:t>2.0，2.5，…，9.5</a:t>
              </a:r>
            </a:p>
            <a:p>
              <a:pPr>
                <a:spcBef>
                  <a:spcPct val="20000"/>
                </a:spcBef>
              </a:pPr>
              <a:r>
                <a:rPr lang="zh-CN" altLang="en-US" sz="2000" b="1" dirty="0"/>
                <a:t>10，20，…，100</a:t>
              </a:r>
            </a:p>
          </p:txBody>
        </p:sp>
        <p:sp>
          <p:nvSpPr>
            <p:cNvPr id="14" name="Rectangle 163"/>
            <p:cNvSpPr>
              <a:spLocks noChangeArrowheads="1"/>
            </p:cNvSpPr>
            <p:nvPr/>
          </p:nvSpPr>
          <p:spPr bwMode="auto">
            <a:xfrm>
              <a:off x="1433" y="2464"/>
              <a:ext cx="528"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0，1</a:t>
              </a:r>
            </a:p>
          </p:txBody>
        </p:sp>
        <p:sp>
          <p:nvSpPr>
            <p:cNvPr id="15" name="Rectangle 164"/>
            <p:cNvSpPr>
              <a:spLocks noChangeArrowheads="1"/>
            </p:cNvSpPr>
            <p:nvPr/>
          </p:nvSpPr>
          <p:spPr bwMode="auto">
            <a:xfrm>
              <a:off x="761" y="2464"/>
              <a:ext cx="672"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91</a:t>
              </a:r>
            </a:p>
          </p:txBody>
        </p:sp>
        <p:sp>
          <p:nvSpPr>
            <p:cNvPr id="16" name="Rectangle 165"/>
            <p:cNvSpPr>
              <a:spLocks noChangeArrowheads="1"/>
            </p:cNvSpPr>
            <p:nvPr/>
          </p:nvSpPr>
          <p:spPr bwMode="auto">
            <a:xfrm>
              <a:off x="281" y="2464"/>
              <a:ext cx="480" cy="16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1</a:t>
              </a:r>
            </a:p>
          </p:txBody>
        </p:sp>
        <p:sp>
          <p:nvSpPr>
            <p:cNvPr id="17" name="Rectangle 166"/>
            <p:cNvSpPr>
              <a:spLocks noChangeArrowheads="1"/>
            </p:cNvSpPr>
            <p:nvPr/>
          </p:nvSpPr>
          <p:spPr bwMode="auto">
            <a:xfrm>
              <a:off x="4937" y="2160"/>
              <a:ext cx="528"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块数</a:t>
              </a:r>
            </a:p>
          </p:txBody>
        </p:sp>
        <p:sp>
          <p:nvSpPr>
            <p:cNvPr id="18" name="Rectangle 167"/>
            <p:cNvSpPr>
              <a:spLocks noChangeArrowheads="1"/>
            </p:cNvSpPr>
            <p:nvPr/>
          </p:nvSpPr>
          <p:spPr bwMode="auto">
            <a:xfrm>
              <a:off x="4025" y="2160"/>
              <a:ext cx="912"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间隔</a:t>
              </a:r>
              <a:r>
                <a:rPr lang="en-US" altLang="zh-CN" sz="2000" b="1"/>
                <a:t>/mm</a:t>
              </a:r>
            </a:p>
          </p:txBody>
        </p:sp>
        <p:sp>
          <p:nvSpPr>
            <p:cNvPr id="19" name="Rectangle 168"/>
            <p:cNvSpPr>
              <a:spLocks noChangeArrowheads="1"/>
            </p:cNvSpPr>
            <p:nvPr/>
          </p:nvSpPr>
          <p:spPr bwMode="auto">
            <a:xfrm>
              <a:off x="1961" y="2160"/>
              <a:ext cx="2064"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尺寸系列</a:t>
              </a:r>
              <a:r>
                <a:rPr lang="en-US" altLang="zh-CN" sz="2000" b="1"/>
                <a:t>/mm</a:t>
              </a:r>
            </a:p>
          </p:txBody>
        </p:sp>
        <p:sp>
          <p:nvSpPr>
            <p:cNvPr id="20" name="Rectangle 169"/>
            <p:cNvSpPr>
              <a:spLocks noChangeArrowheads="1"/>
            </p:cNvSpPr>
            <p:nvPr/>
          </p:nvSpPr>
          <p:spPr bwMode="auto">
            <a:xfrm>
              <a:off x="1433" y="2160"/>
              <a:ext cx="528"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级别</a:t>
              </a:r>
            </a:p>
          </p:txBody>
        </p:sp>
        <p:sp>
          <p:nvSpPr>
            <p:cNvPr id="21" name="Rectangle 170"/>
            <p:cNvSpPr>
              <a:spLocks noChangeArrowheads="1"/>
            </p:cNvSpPr>
            <p:nvPr/>
          </p:nvSpPr>
          <p:spPr bwMode="auto">
            <a:xfrm>
              <a:off x="761" y="2160"/>
              <a:ext cx="672"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总块数</a:t>
              </a:r>
            </a:p>
          </p:txBody>
        </p:sp>
        <p:sp>
          <p:nvSpPr>
            <p:cNvPr id="22" name="Rectangle 171"/>
            <p:cNvSpPr>
              <a:spLocks noChangeArrowheads="1"/>
            </p:cNvSpPr>
            <p:nvPr/>
          </p:nvSpPr>
          <p:spPr bwMode="auto">
            <a:xfrm>
              <a:off x="281" y="2160"/>
              <a:ext cx="480" cy="30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spcBef>
                  <a:spcPct val="20000"/>
                </a:spcBef>
              </a:pPr>
              <a:r>
                <a:rPr lang="zh-CN" altLang="en-US" sz="2000" b="1"/>
                <a:t>套别</a:t>
              </a:r>
            </a:p>
          </p:txBody>
        </p:sp>
        <p:sp>
          <p:nvSpPr>
            <p:cNvPr id="23" name="Line 172"/>
            <p:cNvSpPr>
              <a:spLocks noChangeShapeType="1"/>
            </p:cNvSpPr>
            <p:nvPr/>
          </p:nvSpPr>
          <p:spPr bwMode="auto">
            <a:xfrm>
              <a:off x="281" y="2160"/>
              <a:ext cx="5184" cy="0"/>
            </a:xfrm>
            <a:prstGeom prst="line">
              <a:avLst/>
            </a:prstGeom>
            <a:noFill/>
            <a:ln w="28575" cap="sq">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Line 173"/>
            <p:cNvSpPr>
              <a:spLocks noChangeShapeType="1"/>
            </p:cNvSpPr>
            <p:nvPr/>
          </p:nvSpPr>
          <p:spPr bwMode="auto">
            <a:xfrm>
              <a:off x="281" y="2464"/>
              <a:ext cx="5184" cy="0"/>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5" name="Line 174"/>
            <p:cNvSpPr>
              <a:spLocks noChangeShapeType="1"/>
            </p:cNvSpPr>
            <p:nvPr/>
          </p:nvSpPr>
          <p:spPr bwMode="auto">
            <a:xfrm>
              <a:off x="281" y="2160"/>
              <a:ext cx="0" cy="1933"/>
            </a:xfrm>
            <a:prstGeom prst="line">
              <a:avLst/>
            </a:prstGeom>
            <a:noFill/>
            <a:ln w="28575" cap="sq">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6" name="Line 175"/>
            <p:cNvSpPr>
              <a:spLocks noChangeShapeType="1"/>
            </p:cNvSpPr>
            <p:nvPr/>
          </p:nvSpPr>
          <p:spPr bwMode="auto">
            <a:xfrm>
              <a:off x="761" y="2160"/>
              <a:ext cx="0" cy="1933"/>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7" name="Line 176"/>
            <p:cNvSpPr>
              <a:spLocks noChangeShapeType="1"/>
            </p:cNvSpPr>
            <p:nvPr/>
          </p:nvSpPr>
          <p:spPr bwMode="auto">
            <a:xfrm>
              <a:off x="1433" y="2160"/>
              <a:ext cx="0" cy="1933"/>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8" name="Line 177"/>
            <p:cNvSpPr>
              <a:spLocks noChangeShapeType="1"/>
            </p:cNvSpPr>
            <p:nvPr/>
          </p:nvSpPr>
          <p:spPr bwMode="auto">
            <a:xfrm>
              <a:off x="1961" y="2160"/>
              <a:ext cx="0" cy="1933"/>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9" name="Line 178"/>
            <p:cNvSpPr>
              <a:spLocks noChangeShapeType="1"/>
            </p:cNvSpPr>
            <p:nvPr/>
          </p:nvSpPr>
          <p:spPr bwMode="auto">
            <a:xfrm>
              <a:off x="4025" y="2160"/>
              <a:ext cx="0" cy="1933"/>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0" name="Line 179"/>
            <p:cNvSpPr>
              <a:spLocks noChangeShapeType="1"/>
            </p:cNvSpPr>
            <p:nvPr/>
          </p:nvSpPr>
          <p:spPr bwMode="auto">
            <a:xfrm>
              <a:off x="4937" y="2160"/>
              <a:ext cx="0" cy="1933"/>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1" name="Line 180"/>
            <p:cNvSpPr>
              <a:spLocks noChangeShapeType="1"/>
            </p:cNvSpPr>
            <p:nvPr/>
          </p:nvSpPr>
          <p:spPr bwMode="auto">
            <a:xfrm>
              <a:off x="5465" y="2160"/>
              <a:ext cx="0" cy="1933"/>
            </a:xfrm>
            <a:prstGeom prst="line">
              <a:avLst/>
            </a:prstGeom>
            <a:noFill/>
            <a:ln w="28575" cap="sq">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2" name="Line 181"/>
            <p:cNvSpPr>
              <a:spLocks noChangeShapeType="1"/>
            </p:cNvSpPr>
            <p:nvPr/>
          </p:nvSpPr>
          <p:spPr bwMode="auto">
            <a:xfrm>
              <a:off x="1961" y="4093"/>
              <a:ext cx="2064" cy="0"/>
            </a:xfrm>
            <a:prstGeom prst="line">
              <a:avLst/>
            </a:prstGeom>
            <a:noFill/>
            <a:ln w="12700">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3" name="Line 182"/>
            <p:cNvSpPr>
              <a:spLocks noChangeShapeType="1"/>
            </p:cNvSpPr>
            <p:nvPr/>
          </p:nvSpPr>
          <p:spPr bwMode="auto">
            <a:xfrm>
              <a:off x="281" y="4093"/>
              <a:ext cx="1680" cy="0"/>
            </a:xfrm>
            <a:prstGeom prst="line">
              <a:avLst/>
            </a:prstGeom>
            <a:noFill/>
            <a:ln w="28575" cap="sq">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4" name="Line 183"/>
            <p:cNvSpPr>
              <a:spLocks noChangeShapeType="1"/>
            </p:cNvSpPr>
            <p:nvPr/>
          </p:nvSpPr>
          <p:spPr bwMode="auto">
            <a:xfrm>
              <a:off x="4025" y="4093"/>
              <a:ext cx="1440" cy="0"/>
            </a:xfrm>
            <a:prstGeom prst="line">
              <a:avLst/>
            </a:prstGeom>
            <a:noFill/>
            <a:ln w="28575" cap="sq">
              <a:solidFill>
                <a:schemeClr val="tx1"/>
              </a:solidFill>
              <a:rou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5" name="矩形 34"/>
          <p:cNvSpPr/>
          <p:nvPr/>
        </p:nvSpPr>
        <p:spPr>
          <a:xfrm>
            <a:off x="7000892" y="1857364"/>
            <a:ext cx="904415" cy="523220"/>
          </a:xfrm>
          <a:prstGeom prst="rect">
            <a:avLst/>
          </a:prstGeom>
        </p:spPr>
        <p:txBody>
          <a:bodyPr wrap="none">
            <a:spAutoFit/>
          </a:bodyPr>
          <a:lstStyle/>
          <a:p>
            <a:r>
              <a:rPr lang="zh-CN" altLang="en-US" sz="2800" b="1" dirty="0" smtClean="0">
                <a:solidFill>
                  <a:srgbClr val="0070C0"/>
                </a:solidFill>
              </a:rPr>
              <a:t>17套</a:t>
            </a:r>
            <a:endParaRPr lang="zh-CN" altLang="en-US" sz="2800" dirty="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3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left)">
                                      <p:cBhvr>
                                        <p:cTn id="26"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autoUpdateAnimBg="0"/>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9</a:t>
            </a:fld>
            <a:endParaRPr lang="en-US" altLang="zh-CN"/>
          </a:p>
        </p:txBody>
      </p:sp>
      <p:pic>
        <p:nvPicPr>
          <p:cNvPr id="5" name="Picture 1286"/>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251520" y="1196752"/>
            <a:ext cx="8748712" cy="48085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6" name="Text Box 4"/>
          <p:cNvSpPr txBox="1">
            <a:spLocks noChangeArrowheads="1"/>
          </p:cNvSpPr>
          <p:nvPr/>
        </p:nvSpPr>
        <p:spPr bwMode="auto">
          <a:xfrm>
            <a:off x="1259632" y="355380"/>
            <a:ext cx="6781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r>
              <a:rPr lang="zh-CN" altLang="en-US" sz="2800" b="1" dirty="0"/>
              <a:t>成套量块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10</a:t>
            </a:fld>
            <a:endParaRPr lang="en-US" altLang="zh-CN"/>
          </a:p>
        </p:txBody>
      </p:sp>
      <p:sp>
        <p:nvSpPr>
          <p:cNvPr id="5" name="Text Box 4"/>
          <p:cNvSpPr txBox="1">
            <a:spLocks noChangeArrowheads="1"/>
          </p:cNvSpPr>
          <p:nvPr/>
        </p:nvSpPr>
        <p:spPr bwMode="auto">
          <a:xfrm>
            <a:off x="634823" y="1171579"/>
            <a:ext cx="660147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rPr>
              <a:t>应用时</a:t>
            </a:r>
            <a:r>
              <a:rPr lang="zh-CN" altLang="en-US" sz="2800" b="1" dirty="0" smtClean="0">
                <a:solidFill>
                  <a:srgbClr val="FF0000"/>
                </a:solidFill>
              </a:rPr>
              <a:t>，用</a:t>
            </a:r>
            <a:r>
              <a:rPr lang="zh-CN" altLang="en-US" sz="2800" b="1" dirty="0">
                <a:solidFill>
                  <a:srgbClr val="FF0000"/>
                </a:solidFill>
              </a:rPr>
              <a:t>最少的块数组合所需的尺寸。</a:t>
            </a:r>
          </a:p>
        </p:txBody>
      </p:sp>
      <p:sp>
        <p:nvSpPr>
          <p:cNvPr id="6" name="Text Box 5"/>
          <p:cNvSpPr txBox="1">
            <a:spLocks noChangeArrowheads="1"/>
          </p:cNvSpPr>
          <p:nvPr/>
        </p:nvSpPr>
        <p:spPr bwMode="auto">
          <a:xfrm>
            <a:off x="601340" y="1744489"/>
            <a:ext cx="6634956"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如需组合</a:t>
            </a:r>
            <a:r>
              <a:rPr lang="en-US" altLang="zh-CN" b="1" dirty="0"/>
              <a:t>51.995</a:t>
            </a:r>
            <a:r>
              <a:rPr lang="zh-CN" altLang="en-US" b="1" dirty="0"/>
              <a:t>的尺寸, 参照组合如下</a:t>
            </a:r>
          </a:p>
        </p:txBody>
      </p:sp>
      <p:sp>
        <p:nvSpPr>
          <p:cNvPr id="7" name="Text Box 7"/>
          <p:cNvSpPr txBox="1">
            <a:spLocks noChangeArrowheads="1"/>
          </p:cNvSpPr>
          <p:nvPr/>
        </p:nvSpPr>
        <p:spPr bwMode="auto">
          <a:xfrm>
            <a:off x="619296" y="2343789"/>
            <a:ext cx="400558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51.995     </a:t>
            </a:r>
            <a:r>
              <a:rPr lang="zh-CN" altLang="en-US" sz="2200" b="1" dirty="0" smtClean="0"/>
              <a:t>需要</a:t>
            </a:r>
            <a:r>
              <a:rPr lang="zh-CN" altLang="en-US" sz="2200" b="1" dirty="0"/>
              <a:t>的量块尺寸</a:t>
            </a:r>
          </a:p>
        </p:txBody>
      </p:sp>
      <p:graphicFrame>
        <p:nvGraphicFramePr>
          <p:cNvPr id="8" name="Object 8"/>
          <p:cNvGraphicFramePr>
            <a:graphicFrameLocks noChangeAspect="1"/>
          </p:cNvGraphicFramePr>
          <p:nvPr>
            <p:extLst>
              <p:ext uri="{D42A27DB-BD31-4B8C-83A1-F6EECF244321}">
                <p14:modId xmlns:p14="http://schemas.microsoft.com/office/powerpoint/2010/main" xmlns="" val="875697709"/>
              </p:ext>
            </p:extLst>
          </p:nvPr>
        </p:nvGraphicFramePr>
        <p:xfrm>
          <a:off x="583478" y="2733253"/>
          <a:ext cx="3067050" cy="825500"/>
        </p:xfrm>
        <a:graphic>
          <a:graphicData uri="http://schemas.openxmlformats.org/presentationml/2006/ole">
            <p:oleObj spid="_x0000_s35910" name="Equation" r:id="rId3" imgW="35052000" imgH="9448800" progId="">
              <p:embed/>
            </p:oleObj>
          </a:graphicData>
        </a:graphic>
      </p:graphicFrame>
      <p:graphicFrame>
        <p:nvGraphicFramePr>
          <p:cNvPr id="9" name="Object 9"/>
          <p:cNvGraphicFramePr>
            <a:graphicFrameLocks noChangeAspect="1"/>
          </p:cNvGraphicFramePr>
          <p:nvPr>
            <p:extLst>
              <p:ext uri="{D42A27DB-BD31-4B8C-83A1-F6EECF244321}">
                <p14:modId xmlns:p14="http://schemas.microsoft.com/office/powerpoint/2010/main" xmlns="" val="994660963"/>
              </p:ext>
            </p:extLst>
          </p:nvPr>
        </p:nvGraphicFramePr>
        <p:xfrm>
          <a:off x="650415" y="3647440"/>
          <a:ext cx="2724785" cy="881380"/>
        </p:xfrm>
        <a:graphic>
          <a:graphicData uri="http://schemas.openxmlformats.org/presentationml/2006/ole">
            <p:oleObj spid="_x0000_s35911" name="Equation" r:id="rId4" imgW="33223200" imgH="9448800" progId="">
              <p:embed/>
            </p:oleObj>
          </a:graphicData>
        </a:graphic>
      </p:graphicFrame>
      <p:graphicFrame>
        <p:nvGraphicFramePr>
          <p:cNvPr id="10" name="Object 10"/>
          <p:cNvGraphicFramePr>
            <a:graphicFrameLocks noChangeAspect="1"/>
          </p:cNvGraphicFramePr>
          <p:nvPr>
            <p:extLst>
              <p:ext uri="{D42A27DB-BD31-4B8C-83A1-F6EECF244321}">
                <p14:modId xmlns:p14="http://schemas.microsoft.com/office/powerpoint/2010/main" xmlns="" val="228671777"/>
              </p:ext>
            </p:extLst>
          </p:nvPr>
        </p:nvGraphicFramePr>
        <p:xfrm>
          <a:off x="777415" y="4510409"/>
          <a:ext cx="2110105" cy="851535"/>
        </p:xfrm>
        <a:graphic>
          <a:graphicData uri="http://schemas.openxmlformats.org/presentationml/2006/ole">
            <p:oleObj spid="_x0000_s35912" name="Equation" r:id="rId5" imgW="32613600" imgH="9448800" progId="">
              <p:embed/>
            </p:oleObj>
          </a:graphicData>
        </a:graphic>
      </p:graphicFrame>
      <p:sp>
        <p:nvSpPr>
          <p:cNvPr id="11" name="Text Box 11"/>
          <p:cNvSpPr txBox="1">
            <a:spLocks noChangeArrowheads="1"/>
          </p:cNvSpPr>
          <p:nvPr/>
        </p:nvSpPr>
        <p:spPr bwMode="auto">
          <a:xfrm>
            <a:off x="3051740" y="5674577"/>
            <a:ext cx="302344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0000"/>
                </a:solidFill>
              </a:rPr>
              <a:t>一般不超过四块。</a:t>
            </a:r>
          </a:p>
        </p:txBody>
      </p:sp>
      <p:sp>
        <p:nvSpPr>
          <p:cNvPr id="12" name="Text Box 13"/>
          <p:cNvSpPr txBox="1">
            <a:spLocks noChangeArrowheads="1"/>
          </p:cNvSpPr>
          <p:nvPr/>
        </p:nvSpPr>
        <p:spPr bwMode="auto">
          <a:xfrm>
            <a:off x="1871556" y="2809244"/>
            <a:ext cx="25908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a:t>
            </a:r>
            <a:r>
              <a:rPr lang="zh-CN" altLang="en-US" sz="2000" b="1" dirty="0"/>
              <a:t>第一块</a:t>
            </a:r>
          </a:p>
        </p:txBody>
      </p:sp>
      <p:sp>
        <p:nvSpPr>
          <p:cNvPr id="13" name="Text Box 15"/>
          <p:cNvSpPr txBox="1">
            <a:spLocks noChangeArrowheads="1"/>
          </p:cNvSpPr>
          <p:nvPr/>
        </p:nvSpPr>
        <p:spPr bwMode="auto">
          <a:xfrm>
            <a:off x="1871556" y="3571244"/>
            <a:ext cx="251333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a:t>
            </a:r>
            <a:r>
              <a:rPr lang="zh-CN" altLang="en-US" dirty="0" smtClean="0"/>
              <a:t>……</a:t>
            </a:r>
            <a:r>
              <a:rPr lang="zh-CN" altLang="en-US" sz="2000" b="1" dirty="0" smtClean="0"/>
              <a:t>第二</a:t>
            </a:r>
            <a:r>
              <a:rPr lang="zh-CN" altLang="en-US" sz="2000" b="1" dirty="0"/>
              <a:t>块</a:t>
            </a:r>
          </a:p>
        </p:txBody>
      </p:sp>
      <p:sp>
        <p:nvSpPr>
          <p:cNvPr id="14" name="Text Box 16"/>
          <p:cNvSpPr txBox="1">
            <a:spLocks noChangeArrowheads="1"/>
          </p:cNvSpPr>
          <p:nvPr/>
        </p:nvSpPr>
        <p:spPr bwMode="auto">
          <a:xfrm>
            <a:off x="1871556" y="4409444"/>
            <a:ext cx="251269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a:t>
            </a:r>
            <a:r>
              <a:rPr lang="zh-CN" altLang="en-US" dirty="0" smtClean="0"/>
              <a:t>……</a:t>
            </a:r>
            <a:r>
              <a:rPr lang="zh-CN" altLang="en-US" sz="2000" b="1" dirty="0" smtClean="0"/>
              <a:t>第三</a:t>
            </a:r>
            <a:r>
              <a:rPr lang="zh-CN" altLang="en-US" sz="2000" b="1" dirty="0"/>
              <a:t>块</a:t>
            </a:r>
          </a:p>
        </p:txBody>
      </p:sp>
      <p:sp>
        <p:nvSpPr>
          <p:cNvPr id="15" name="Text Box 17"/>
          <p:cNvSpPr txBox="1">
            <a:spLocks noChangeArrowheads="1"/>
          </p:cNvSpPr>
          <p:nvPr/>
        </p:nvSpPr>
        <p:spPr bwMode="auto">
          <a:xfrm>
            <a:off x="1871556" y="4942844"/>
            <a:ext cx="25908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dirty="0"/>
              <a:t>……</a:t>
            </a:r>
            <a:r>
              <a:rPr lang="zh-CN" altLang="en-US" dirty="0" smtClean="0"/>
              <a:t>……</a:t>
            </a:r>
            <a:r>
              <a:rPr lang="zh-CN" altLang="en-US" sz="2000" b="1" dirty="0" smtClean="0"/>
              <a:t>第四</a:t>
            </a:r>
            <a:r>
              <a:rPr lang="zh-CN" altLang="en-US" sz="2000" b="1" dirty="0"/>
              <a:t>块</a:t>
            </a:r>
          </a:p>
        </p:txBody>
      </p:sp>
      <p:sp>
        <p:nvSpPr>
          <p:cNvPr id="21" name="Text Box 27"/>
          <p:cNvSpPr txBox="1">
            <a:spLocks noChangeArrowheads="1"/>
          </p:cNvSpPr>
          <p:nvPr/>
        </p:nvSpPr>
        <p:spPr bwMode="auto">
          <a:xfrm>
            <a:off x="395034" y="332660"/>
            <a:ext cx="56292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(2) </a:t>
            </a:r>
            <a:r>
              <a:rPr lang="zh-CN" altLang="en-US" sz="2800" b="1" dirty="0"/>
              <a:t>量块的组合方法</a:t>
            </a:r>
          </a:p>
        </p:txBody>
      </p:sp>
      <p:grpSp>
        <p:nvGrpSpPr>
          <p:cNvPr id="52" name="组合 51"/>
          <p:cNvGrpSpPr/>
          <p:nvPr/>
        </p:nvGrpSpPr>
        <p:grpSpPr>
          <a:xfrm>
            <a:off x="4493013" y="4392930"/>
            <a:ext cx="1728000" cy="368300"/>
            <a:chOff x="4511675" y="4392930"/>
            <a:chExt cx="1728000" cy="368300"/>
          </a:xfrm>
        </p:grpSpPr>
        <p:cxnSp>
          <p:nvCxnSpPr>
            <p:cNvPr id="40" name="直接箭头连接符 39"/>
            <p:cNvCxnSpPr/>
            <p:nvPr/>
          </p:nvCxnSpPr>
          <p:spPr>
            <a:xfrm>
              <a:off x="4511675" y="4418330"/>
              <a:ext cx="1728000" cy="0"/>
            </a:xfrm>
            <a:prstGeom prst="straightConnector1">
              <a:avLst/>
            </a:prstGeom>
            <a:ln>
              <a:solidFill>
                <a:schemeClr val="bg2"/>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4933315" y="4392930"/>
              <a:ext cx="828675" cy="368300"/>
            </a:xfrm>
            <a:prstGeom prst="rect">
              <a:avLst/>
            </a:prstGeom>
            <a:noFill/>
          </p:spPr>
          <p:txBody>
            <a:bodyPr wrap="square" rtlCol="0">
              <a:spAutoFit/>
            </a:bodyPr>
            <a:lstStyle/>
            <a:p>
              <a:r>
                <a:rPr lang="en-US" altLang="zh-CN" sz="1800" dirty="0"/>
                <a:t>51.995</a:t>
              </a:r>
            </a:p>
          </p:txBody>
        </p:sp>
      </p:grpSp>
      <p:grpSp>
        <p:nvGrpSpPr>
          <p:cNvPr id="51" name="组合 50"/>
          <p:cNvGrpSpPr/>
          <p:nvPr/>
        </p:nvGrpSpPr>
        <p:grpSpPr>
          <a:xfrm>
            <a:off x="4411984" y="2708914"/>
            <a:ext cx="2825325" cy="1802245"/>
            <a:chOff x="4411980" y="2708910"/>
            <a:chExt cx="2825325" cy="1802245"/>
          </a:xfrm>
        </p:grpSpPr>
        <p:sp>
          <p:nvSpPr>
            <p:cNvPr id="25" name="立方体 24"/>
            <p:cNvSpPr/>
            <p:nvPr/>
          </p:nvSpPr>
          <p:spPr>
            <a:xfrm>
              <a:off x="4940300" y="3284220"/>
              <a:ext cx="2063115" cy="1007745"/>
            </a:xfrm>
            <a:prstGeom prst="cube">
              <a:avLst>
                <a:gd name="adj" fmla="val 7006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3" name="直接连接符 32"/>
            <p:cNvCxnSpPr/>
            <p:nvPr/>
          </p:nvCxnSpPr>
          <p:spPr>
            <a:xfrm flipV="1">
              <a:off x="4411980" y="2891155"/>
              <a:ext cx="1620000" cy="162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5869305" y="3039745"/>
              <a:ext cx="1368000" cy="0"/>
            </a:xfrm>
            <a:prstGeom prst="straightConnector1">
              <a:avLst/>
            </a:prstGeom>
            <a:ln>
              <a:solidFill>
                <a:schemeClr val="bg2"/>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6371590" y="2708910"/>
              <a:ext cx="457835" cy="368300"/>
            </a:xfrm>
            <a:prstGeom prst="rect">
              <a:avLst/>
            </a:prstGeom>
            <a:noFill/>
          </p:spPr>
          <p:txBody>
            <a:bodyPr wrap="square" rtlCol="0">
              <a:spAutoFit/>
            </a:bodyPr>
            <a:lstStyle/>
            <a:p>
              <a:r>
                <a:rPr lang="en-US" altLang="zh-CN" sz="1800" dirty="0"/>
                <a:t>40</a:t>
              </a:r>
            </a:p>
          </p:txBody>
        </p:sp>
      </p:grpSp>
      <p:grpSp>
        <p:nvGrpSpPr>
          <p:cNvPr id="49" name="组合 48"/>
          <p:cNvGrpSpPr/>
          <p:nvPr/>
        </p:nvGrpSpPr>
        <p:grpSpPr>
          <a:xfrm>
            <a:off x="6286512" y="2653665"/>
            <a:ext cx="1408430" cy="1630300"/>
            <a:chOff x="6309360" y="2653665"/>
            <a:chExt cx="1408430" cy="1630300"/>
          </a:xfrm>
        </p:grpSpPr>
        <p:sp>
          <p:nvSpPr>
            <p:cNvPr id="26" name="立方体 25"/>
            <p:cNvSpPr/>
            <p:nvPr/>
          </p:nvSpPr>
          <p:spPr>
            <a:xfrm>
              <a:off x="6311265" y="3275965"/>
              <a:ext cx="944880" cy="1008000"/>
            </a:xfrm>
            <a:prstGeom prst="cube">
              <a:avLst>
                <a:gd name="adj" fmla="val 75000"/>
              </a:avLst>
            </a:prstGeom>
            <a:solidFill>
              <a:srgbClr val="00B0F0"/>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5" name="直接连接符 34"/>
            <p:cNvCxnSpPr/>
            <p:nvPr/>
          </p:nvCxnSpPr>
          <p:spPr>
            <a:xfrm flipV="1">
              <a:off x="6309360" y="2899410"/>
              <a:ext cx="1080000" cy="10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7240270" y="3042920"/>
              <a:ext cx="252000" cy="0"/>
            </a:xfrm>
            <a:prstGeom prst="straightConnector1">
              <a:avLst/>
            </a:prstGeom>
            <a:ln>
              <a:solidFill>
                <a:schemeClr val="bg2"/>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45" name="文本框 44"/>
            <p:cNvSpPr txBox="1"/>
            <p:nvPr/>
          </p:nvSpPr>
          <p:spPr>
            <a:xfrm>
              <a:off x="7198360" y="2653665"/>
              <a:ext cx="519430" cy="368300"/>
            </a:xfrm>
            <a:prstGeom prst="rect">
              <a:avLst/>
            </a:prstGeom>
            <a:noFill/>
          </p:spPr>
          <p:txBody>
            <a:bodyPr wrap="square" rtlCol="0">
              <a:spAutoFit/>
            </a:bodyPr>
            <a:lstStyle/>
            <a:p>
              <a:r>
                <a:rPr lang="en-US" altLang="zh-CN" sz="1800"/>
                <a:t>9.5</a:t>
              </a:r>
            </a:p>
          </p:txBody>
        </p:sp>
      </p:grpSp>
      <p:grpSp>
        <p:nvGrpSpPr>
          <p:cNvPr id="37" name="组合 36"/>
          <p:cNvGrpSpPr/>
          <p:nvPr/>
        </p:nvGrpSpPr>
        <p:grpSpPr>
          <a:xfrm>
            <a:off x="6532633" y="2293544"/>
            <a:ext cx="1440398" cy="1985280"/>
            <a:chOff x="6551295" y="2302875"/>
            <a:chExt cx="1440398" cy="1985280"/>
          </a:xfrm>
        </p:grpSpPr>
        <p:sp>
          <p:nvSpPr>
            <p:cNvPr id="30" name="立方体 29"/>
            <p:cNvSpPr/>
            <p:nvPr/>
          </p:nvSpPr>
          <p:spPr>
            <a:xfrm>
              <a:off x="6560185" y="3275965"/>
              <a:ext cx="741045" cy="1012190"/>
            </a:xfrm>
            <a:prstGeom prst="cube">
              <a:avLst>
                <a:gd name="adj" fmla="val 96486"/>
              </a:avLst>
            </a:prstGeom>
            <a:solidFill>
              <a:srgbClr val="92D050"/>
            </a:solid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8" name="直接连接符 37"/>
            <p:cNvCxnSpPr/>
            <p:nvPr/>
          </p:nvCxnSpPr>
          <p:spPr>
            <a:xfrm flipV="1">
              <a:off x="6551295" y="2540635"/>
              <a:ext cx="1440000" cy="14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a:off x="7520305" y="2689225"/>
              <a:ext cx="310515" cy="0"/>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55" name="文本框 54"/>
            <p:cNvSpPr txBox="1"/>
            <p:nvPr/>
          </p:nvSpPr>
          <p:spPr>
            <a:xfrm>
              <a:off x="7340818" y="2302875"/>
              <a:ext cx="650875" cy="368300"/>
            </a:xfrm>
            <a:prstGeom prst="rect">
              <a:avLst/>
            </a:prstGeom>
            <a:noFill/>
          </p:spPr>
          <p:txBody>
            <a:bodyPr wrap="square" rtlCol="0">
              <a:spAutoFit/>
            </a:bodyPr>
            <a:lstStyle/>
            <a:p>
              <a:r>
                <a:rPr lang="en-US" altLang="zh-CN" sz="1800" dirty="0"/>
                <a:t>1.49</a:t>
              </a:r>
            </a:p>
          </p:txBody>
        </p:sp>
      </p:grpSp>
      <p:grpSp>
        <p:nvGrpSpPr>
          <p:cNvPr id="54" name="组合 53"/>
          <p:cNvGrpSpPr/>
          <p:nvPr/>
        </p:nvGrpSpPr>
        <p:grpSpPr>
          <a:xfrm>
            <a:off x="6109241" y="2490975"/>
            <a:ext cx="2668270" cy="2038420"/>
            <a:chOff x="6404324" y="2493010"/>
            <a:chExt cx="2668270" cy="2038420"/>
          </a:xfrm>
        </p:grpSpPr>
        <p:sp>
          <p:nvSpPr>
            <p:cNvPr id="56" name="立方体 55"/>
            <p:cNvSpPr/>
            <p:nvPr/>
          </p:nvSpPr>
          <p:spPr>
            <a:xfrm>
              <a:off x="6893274" y="3275330"/>
              <a:ext cx="741045" cy="1012190"/>
            </a:xfrm>
            <a:prstGeom prst="cube">
              <a:avLst>
                <a:gd name="adj" fmla="val 96486"/>
              </a:avLst>
            </a:prstGeom>
            <a:solidFill>
              <a:schemeClr val="accent1">
                <a:lumMod val="75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p:cNvCxnSpPr/>
            <p:nvPr/>
          </p:nvCxnSpPr>
          <p:spPr>
            <a:xfrm flipV="1">
              <a:off x="6404324" y="2551430"/>
              <a:ext cx="1980000" cy="198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8069452" y="2686879"/>
              <a:ext cx="180000" cy="0"/>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flipV="1">
              <a:off x="8249634" y="2691130"/>
              <a:ext cx="203200" cy="0"/>
            </a:xfrm>
            <a:prstGeom prst="straightConnector1">
              <a:avLst/>
            </a:prstGeom>
            <a:ln>
              <a:solidFill>
                <a:schemeClr val="bg2"/>
              </a:solidFill>
              <a:tailEnd type="arrow"/>
            </a:ln>
          </p:spPr>
          <p:style>
            <a:lnRef idx="1">
              <a:schemeClr val="accent1"/>
            </a:lnRef>
            <a:fillRef idx="0">
              <a:schemeClr val="accent1"/>
            </a:fillRef>
            <a:effectRef idx="0">
              <a:schemeClr val="accent1"/>
            </a:effectRef>
            <a:fontRef idx="minor">
              <a:schemeClr val="tx1"/>
            </a:fontRef>
          </p:style>
        </p:cxnSp>
        <p:sp>
          <p:nvSpPr>
            <p:cNvPr id="60" name="文本框 49"/>
            <p:cNvSpPr txBox="1"/>
            <p:nvPr/>
          </p:nvSpPr>
          <p:spPr>
            <a:xfrm>
              <a:off x="8356949" y="2493010"/>
              <a:ext cx="715645" cy="368300"/>
            </a:xfrm>
            <a:prstGeom prst="rect">
              <a:avLst/>
            </a:prstGeom>
            <a:noFill/>
          </p:spPr>
          <p:txBody>
            <a:bodyPr wrap="square" rtlCol="0">
              <a:spAutoFit/>
            </a:bodyPr>
            <a:lstStyle/>
            <a:p>
              <a:r>
                <a:rPr lang="en-US" altLang="zh-CN" sz="1800" dirty="0"/>
                <a:t>1.005</a:t>
              </a:r>
            </a:p>
          </p:txBody>
        </p:sp>
        <p:cxnSp>
          <p:nvCxnSpPr>
            <p:cNvPr id="61" name="直接连接符 60"/>
            <p:cNvCxnSpPr/>
            <p:nvPr/>
          </p:nvCxnSpPr>
          <p:spPr>
            <a:xfrm flipV="1">
              <a:off x="6893274" y="2540635"/>
              <a:ext cx="1440000" cy="1440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
                                        </p:tgtEl>
                                        <p:attrNameLst>
                                          <p:attrName>style.visibility</p:attrName>
                                        </p:attrNameLst>
                                      </p:cBhvr>
                                      <p:to>
                                        <p:strVal val="visible"/>
                                      </p:to>
                                    </p:set>
                                    <p:animEffect transition="in" filter="wipe(left)">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
                                        </p:tgtEl>
                                        <p:attrNameLst>
                                          <p:attrName>style.visibility</p:attrName>
                                        </p:attrNameLst>
                                      </p:cBhvr>
                                      <p:to>
                                        <p:strVal val="visible"/>
                                      </p:to>
                                    </p:set>
                                    <p:animEffect transition="in" filter="wipe(left)">
                                      <p:cBhvr>
                                        <p:cTn id="22" dur="3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iterate type="wd">
                                    <p:tmPct val="100000"/>
                                  </p:iterate>
                                  <p:childTnLst>
                                    <p:set>
                                      <p:cBhvr>
                                        <p:cTn id="31" dur="1" fill="hold">
                                          <p:stCondLst>
                                            <p:cond delay="0"/>
                                          </p:stCondLst>
                                        </p:cTn>
                                        <p:tgtEl>
                                          <p:spTgt spid="12"/>
                                        </p:tgtEl>
                                        <p:attrNameLst>
                                          <p:attrName>style.visibility</p:attrName>
                                        </p:attrNameLst>
                                      </p:cBhvr>
                                      <p:to>
                                        <p:strVal val="visible"/>
                                      </p:to>
                                    </p:set>
                                    <p:animEffect transition="in" filter="wipe(left)">
                                      <p:cBhvr>
                                        <p:cTn id="32" dur="3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54"/>
                                        </p:tgtEl>
                                        <p:attrNameLst>
                                          <p:attrName>style.visibility</p:attrName>
                                        </p:attrNameLst>
                                      </p:cBhvr>
                                      <p:to>
                                        <p:strVal val="visible"/>
                                      </p:to>
                                    </p:set>
                                    <p:animEffect transition="in" filter="wipe(down)">
                                      <p:cBhvr>
                                        <p:cTn id="37" dur="500"/>
                                        <p:tgtEl>
                                          <p:spTgt spid="5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iterate type="wd">
                                    <p:tmPct val="100000"/>
                                  </p:iterate>
                                  <p:childTnLst>
                                    <p:set>
                                      <p:cBhvr>
                                        <p:cTn id="46" dur="1" fill="hold">
                                          <p:stCondLst>
                                            <p:cond delay="0"/>
                                          </p:stCondLst>
                                        </p:cTn>
                                        <p:tgtEl>
                                          <p:spTgt spid="13"/>
                                        </p:tgtEl>
                                        <p:attrNameLst>
                                          <p:attrName>style.visibility</p:attrName>
                                        </p:attrNameLst>
                                      </p:cBhvr>
                                      <p:to>
                                        <p:strVal val="visible"/>
                                      </p:to>
                                    </p:set>
                                    <p:animEffect transition="in" filter="wipe(left)">
                                      <p:cBhvr>
                                        <p:cTn id="47" dur="300"/>
                                        <p:tgtEl>
                                          <p:spTgt spid="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down)">
                                      <p:cBhvr>
                                        <p:cTn id="52" dur="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0"/>
                                        </p:tgtEl>
                                        <p:attrNameLst>
                                          <p:attrName>style.visibility</p:attrName>
                                        </p:attrNameLst>
                                      </p:cBhvr>
                                      <p:to>
                                        <p:strVal val="visible"/>
                                      </p:to>
                                    </p:set>
                                    <p:animEffect transition="in" filter="wipe(left)">
                                      <p:cBhvr>
                                        <p:cTn id="57" dur="500"/>
                                        <p:tgtEl>
                                          <p:spTgt spid="10"/>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iterate type="wd">
                                    <p:tmPct val="100000"/>
                                  </p:iterate>
                                  <p:childTnLst>
                                    <p:set>
                                      <p:cBhvr>
                                        <p:cTn id="61" dur="1" fill="hold">
                                          <p:stCondLst>
                                            <p:cond delay="0"/>
                                          </p:stCondLst>
                                        </p:cTn>
                                        <p:tgtEl>
                                          <p:spTgt spid="14"/>
                                        </p:tgtEl>
                                        <p:attrNameLst>
                                          <p:attrName>style.visibility</p:attrName>
                                        </p:attrNameLst>
                                      </p:cBhvr>
                                      <p:to>
                                        <p:strVal val="visible"/>
                                      </p:to>
                                    </p:set>
                                    <p:animEffect transition="in" filter="wipe(left)">
                                      <p:cBhvr>
                                        <p:cTn id="62" dur="3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nodeType="clickEffect">
                                  <p:stCondLst>
                                    <p:cond delay="0"/>
                                  </p:stCondLst>
                                  <p:childTnLst>
                                    <p:set>
                                      <p:cBhvr>
                                        <p:cTn id="66" dur="1" fill="hold">
                                          <p:stCondLst>
                                            <p:cond delay="0"/>
                                          </p:stCondLst>
                                        </p:cTn>
                                        <p:tgtEl>
                                          <p:spTgt spid="49"/>
                                        </p:tgtEl>
                                        <p:attrNameLst>
                                          <p:attrName>style.visibility</p:attrName>
                                        </p:attrNameLst>
                                      </p:cBhvr>
                                      <p:to>
                                        <p:strVal val="visible"/>
                                      </p:to>
                                    </p:set>
                                    <p:animEffect transition="in" filter="wipe(down)">
                                      <p:cBhvr>
                                        <p:cTn id="67" dur="500"/>
                                        <p:tgtEl>
                                          <p:spTgt spid="49"/>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iterate type="wd">
                                    <p:tmPct val="100000"/>
                                  </p:iterate>
                                  <p:childTnLst>
                                    <p:set>
                                      <p:cBhvr>
                                        <p:cTn id="71" dur="1" fill="hold">
                                          <p:stCondLst>
                                            <p:cond delay="0"/>
                                          </p:stCondLst>
                                        </p:cTn>
                                        <p:tgtEl>
                                          <p:spTgt spid="15"/>
                                        </p:tgtEl>
                                        <p:attrNameLst>
                                          <p:attrName>style.visibility</p:attrName>
                                        </p:attrNameLst>
                                      </p:cBhvr>
                                      <p:to>
                                        <p:strVal val="visible"/>
                                      </p:to>
                                    </p:set>
                                    <p:animEffect transition="in" filter="wipe(left)">
                                      <p:cBhvr>
                                        <p:cTn id="72" dur="300"/>
                                        <p:tgtEl>
                                          <p:spTgt spid="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nodeType="click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wipe(down)">
                                      <p:cBhvr>
                                        <p:cTn id="77" dur="500"/>
                                        <p:tgtEl>
                                          <p:spTgt spid="5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52"/>
                                        </p:tgtEl>
                                        <p:attrNameLst>
                                          <p:attrName>style.visibility</p:attrName>
                                        </p:attrNameLst>
                                      </p:cBhvr>
                                      <p:to>
                                        <p:strVal val="visible"/>
                                      </p:to>
                                    </p:set>
                                    <p:animEffect transition="in" filter="wipe(left)">
                                      <p:cBhvr>
                                        <p:cTn id="82" dur="500"/>
                                        <p:tgtEl>
                                          <p:spTgt spid="52"/>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iterate type="wd">
                                    <p:tmPct val="100000"/>
                                  </p:iterate>
                                  <p:childTnLst>
                                    <p:set>
                                      <p:cBhvr>
                                        <p:cTn id="86" dur="1" fill="hold">
                                          <p:stCondLst>
                                            <p:cond delay="0"/>
                                          </p:stCondLst>
                                        </p:cTn>
                                        <p:tgtEl>
                                          <p:spTgt spid="11"/>
                                        </p:tgtEl>
                                        <p:attrNameLst>
                                          <p:attrName>style.visibility</p:attrName>
                                        </p:attrNameLst>
                                      </p:cBhvr>
                                      <p:to>
                                        <p:strVal val="visible"/>
                                      </p:to>
                                    </p:set>
                                    <p:animEffect transition="in" filter="wipe(left)">
                                      <p:cBhvr>
                                        <p:cTn id="87" dur="3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autoUpdateAnimBg="0"/>
      <p:bldP spid="11" grpId="0" bldLvl="0" animBg="1" autoUpdateAnimBg="0"/>
      <p:bldP spid="12" grpId="0" bldLvl="0" animBg="1" autoUpdateAnimBg="0"/>
      <p:bldP spid="13" grpId="0" bldLvl="0" animBg="1" autoUpdateAnimBg="0"/>
      <p:bldP spid="14" grpId="0" bldLvl="0" animBg="1" autoUpdateAnimBg="0"/>
      <p:bldP spid="15" grpId="0" bldLvl="0" animBg="1" autoUpdateAnimBg="0"/>
      <p:bldP spid="21" grpId="0" bldLvl="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11</a:t>
            </a:fld>
            <a:endParaRPr lang="en-US" altLang="zh-CN"/>
          </a:p>
        </p:txBody>
      </p:sp>
      <p:sp>
        <p:nvSpPr>
          <p:cNvPr id="5" name="Text Box 4"/>
          <p:cNvSpPr txBox="1">
            <a:spLocks noChangeArrowheads="1"/>
          </p:cNvSpPr>
          <p:nvPr/>
        </p:nvSpPr>
        <p:spPr bwMode="auto">
          <a:xfrm>
            <a:off x="444890" y="361211"/>
            <a:ext cx="50450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(3)</a:t>
            </a:r>
            <a:r>
              <a:rPr lang="zh-CN" altLang="en-US" sz="2800" b="1" dirty="0"/>
              <a:t> 有关量块的精度术语</a:t>
            </a:r>
          </a:p>
        </p:txBody>
      </p:sp>
      <p:sp>
        <p:nvSpPr>
          <p:cNvPr id="6" name="Text Box 5"/>
          <p:cNvSpPr txBox="1">
            <a:spLocks noChangeArrowheads="1"/>
          </p:cNvSpPr>
          <p:nvPr/>
        </p:nvSpPr>
        <p:spPr bwMode="auto">
          <a:xfrm>
            <a:off x="892531" y="1236349"/>
            <a:ext cx="327723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①  量块长度 </a:t>
            </a:r>
            <a:r>
              <a:rPr lang="en-US" altLang="zh-CN" sz="2800" b="1" i="1" dirty="0"/>
              <a:t>l</a:t>
            </a:r>
            <a:endParaRPr lang="zh-CN" altLang="en-US" sz="2800" b="1" dirty="0"/>
          </a:p>
        </p:txBody>
      </p:sp>
      <p:sp>
        <p:nvSpPr>
          <p:cNvPr id="8" name="Text Box 16"/>
          <p:cNvSpPr txBox="1">
            <a:spLocks noChangeArrowheads="1"/>
          </p:cNvSpPr>
          <p:nvPr/>
        </p:nvSpPr>
        <p:spPr bwMode="auto">
          <a:xfrm>
            <a:off x="892278" y="1817929"/>
            <a:ext cx="37338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②  量块的中心长度 </a:t>
            </a:r>
            <a:r>
              <a:rPr lang="en-US" altLang="zh-CN" sz="2800" b="1" i="1" dirty="0" err="1"/>
              <a:t>l</a:t>
            </a:r>
            <a:r>
              <a:rPr lang="en-US" altLang="zh-CN" sz="2800" b="1" baseline="-25000" dirty="0" err="1"/>
              <a:t>c</a:t>
            </a:r>
            <a:endParaRPr lang="en-US" altLang="zh-CN" sz="2800" b="1" baseline="-25000" dirty="0"/>
          </a:p>
        </p:txBody>
      </p:sp>
      <p:pic>
        <p:nvPicPr>
          <p:cNvPr id="10" name="Picture 13"/>
          <p:cNvPicPr>
            <a:picLocks noChangeAspect="1" noChangeArrowheads="1"/>
          </p:cNvPicPr>
          <p:nvPr/>
        </p:nvPicPr>
        <p:blipFill>
          <a:blip r:embed="rId3" cstate="print">
            <a:lum contrast="20000"/>
            <a:extLst>
              <a:ext uri="{28A0092B-C50C-407E-A947-70E740481C1C}">
                <a14:useLocalDpi xmlns:a14="http://schemas.microsoft.com/office/drawing/2010/main" xmlns="" val="0"/>
              </a:ext>
            </a:extLst>
          </a:blip>
          <a:srcRect b="10367"/>
          <a:stretch>
            <a:fillRect/>
          </a:stretch>
        </p:blipFill>
        <p:spPr bwMode="auto">
          <a:xfrm>
            <a:off x="5489654" y="1556792"/>
            <a:ext cx="2754754" cy="3600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1" name="Line 18"/>
          <p:cNvSpPr>
            <a:spLocks noChangeShapeType="1"/>
          </p:cNvSpPr>
          <p:nvPr/>
        </p:nvSpPr>
        <p:spPr bwMode="auto">
          <a:xfrm>
            <a:off x="7040264" y="2738236"/>
            <a:ext cx="0" cy="1548000"/>
          </a:xfrm>
          <a:prstGeom prst="line">
            <a:avLst/>
          </a:prstGeom>
          <a:noFill/>
          <a:ln w="38100">
            <a:solidFill>
              <a:srgbClr val="FF33CC"/>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2" name="Line 21"/>
          <p:cNvSpPr>
            <a:spLocks noChangeShapeType="1"/>
          </p:cNvSpPr>
          <p:nvPr/>
        </p:nvSpPr>
        <p:spPr bwMode="auto">
          <a:xfrm>
            <a:off x="6430120" y="2486171"/>
            <a:ext cx="0" cy="1548000"/>
          </a:xfrm>
          <a:prstGeom prst="line">
            <a:avLst/>
          </a:prstGeom>
          <a:noFill/>
          <a:ln w="38100">
            <a:solidFill>
              <a:srgbClr val="FF33CC"/>
            </a:solidFill>
            <a:round/>
            <a:headEnd type="triangle" w="med" len="me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cxnSp>
        <p:nvCxnSpPr>
          <p:cNvPr id="2" name="直接连接符 1"/>
          <p:cNvCxnSpPr/>
          <p:nvPr/>
        </p:nvCxnSpPr>
        <p:spPr>
          <a:xfrm flipH="1">
            <a:off x="6861816" y="2764170"/>
            <a:ext cx="379730" cy="0"/>
          </a:xfrm>
          <a:prstGeom prst="line">
            <a:avLst/>
          </a:prstGeom>
          <a:ln w="19050">
            <a:solidFill>
              <a:srgbClr val="FF33CC"/>
            </a:solidFill>
          </a:ln>
        </p:spPr>
        <p:style>
          <a:lnRef idx="1">
            <a:schemeClr val="accent1"/>
          </a:lnRef>
          <a:fillRef idx="0">
            <a:schemeClr val="accent1"/>
          </a:fillRef>
          <a:effectRef idx="0">
            <a:schemeClr val="accent1"/>
          </a:effectRef>
          <a:fontRef idx="minor">
            <a:schemeClr val="tx1"/>
          </a:fontRef>
        </p:style>
      </p:cxnSp>
      <p:cxnSp>
        <p:nvCxnSpPr>
          <p:cNvPr id="3" name="直接连接符 2"/>
          <p:cNvCxnSpPr/>
          <p:nvPr/>
        </p:nvCxnSpPr>
        <p:spPr>
          <a:xfrm flipH="1">
            <a:off x="6853561" y="4275470"/>
            <a:ext cx="379730" cy="0"/>
          </a:xfrm>
          <a:prstGeom prst="line">
            <a:avLst/>
          </a:prstGeom>
          <a:ln w="19050">
            <a:solidFill>
              <a:srgbClr val="FF33CC"/>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6330321" y="2501915"/>
            <a:ext cx="612000" cy="0"/>
          </a:xfrm>
          <a:prstGeom prst="line">
            <a:avLst/>
          </a:prstGeom>
          <a:ln w="19050">
            <a:solidFill>
              <a:srgbClr val="FF33CC"/>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6313176" y="4034170"/>
            <a:ext cx="648000" cy="0"/>
          </a:xfrm>
          <a:prstGeom prst="line">
            <a:avLst/>
          </a:prstGeom>
          <a:ln w="19050">
            <a:solidFill>
              <a:srgbClr val="FF33CC"/>
            </a:solidFill>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6600125" y="1675690"/>
            <a:ext cx="752129" cy="430887"/>
          </a:xfrm>
          <a:prstGeom prst="rect">
            <a:avLst/>
          </a:prstGeom>
          <a:solidFill>
            <a:schemeClr val="bg1"/>
          </a:solidFill>
        </p:spPr>
        <p:txBody>
          <a:bodyPr wrap="none">
            <a:spAutoFit/>
          </a:bodyPr>
          <a:lstStyle/>
          <a:p>
            <a:r>
              <a:rPr lang="zh-CN" altLang="en-US" sz="2200" b="1" dirty="0"/>
              <a:t>量块</a:t>
            </a:r>
            <a:endParaRPr lang="zh-CN" altLang="en-US" sz="2200" dirty="0"/>
          </a:p>
        </p:txBody>
      </p:sp>
      <p:sp>
        <p:nvSpPr>
          <p:cNvPr id="20" name="TextBox 19"/>
          <p:cNvSpPr txBox="1"/>
          <p:nvPr/>
        </p:nvSpPr>
        <p:spPr>
          <a:xfrm>
            <a:off x="6398348" y="4582124"/>
            <a:ext cx="1071570" cy="307777"/>
          </a:xfrm>
          <a:prstGeom prst="rect">
            <a:avLst/>
          </a:prstGeom>
          <a:solidFill>
            <a:schemeClr val="bg1"/>
          </a:solidFill>
        </p:spPr>
        <p:txBody>
          <a:bodyPr wrap="square" rtlCol="0">
            <a:spAutoFit/>
          </a:bodyPr>
          <a:lstStyle/>
          <a:p>
            <a:endParaRPr lang="zh-CN" altLang="en-US" sz="1400" dirty="0"/>
          </a:p>
        </p:txBody>
      </p:sp>
      <p:sp>
        <p:nvSpPr>
          <p:cNvPr id="21" name="矩形 20"/>
          <p:cNvSpPr/>
          <p:nvPr/>
        </p:nvSpPr>
        <p:spPr>
          <a:xfrm>
            <a:off x="6148842" y="3063260"/>
            <a:ext cx="240690" cy="2143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p:cNvSpPr/>
          <p:nvPr/>
        </p:nvSpPr>
        <p:spPr>
          <a:xfrm>
            <a:off x="6720346" y="3394074"/>
            <a:ext cx="240690" cy="2143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rot="16439494">
            <a:off x="6664730" y="3268737"/>
            <a:ext cx="269626" cy="461665"/>
          </a:xfrm>
          <a:prstGeom prst="rect">
            <a:avLst/>
          </a:prstGeom>
        </p:spPr>
        <p:txBody>
          <a:bodyPr wrap="none">
            <a:spAutoFit/>
          </a:bodyPr>
          <a:lstStyle/>
          <a:p>
            <a:pPr eaLnBrk="1" hangingPunct="1"/>
            <a:r>
              <a:rPr lang="en-US" altLang="zh-CN" b="1" i="1" dirty="0"/>
              <a:t>l</a:t>
            </a:r>
            <a:endParaRPr lang="zh-CN" altLang="en-US" b="1" dirty="0"/>
          </a:p>
        </p:txBody>
      </p:sp>
      <p:sp>
        <p:nvSpPr>
          <p:cNvPr id="24" name="矩形 23"/>
          <p:cNvSpPr/>
          <p:nvPr/>
        </p:nvSpPr>
        <p:spPr>
          <a:xfrm rot="16200000">
            <a:off x="6005679" y="2870054"/>
            <a:ext cx="360996" cy="461665"/>
          </a:xfrm>
          <a:prstGeom prst="rect">
            <a:avLst/>
          </a:prstGeom>
        </p:spPr>
        <p:txBody>
          <a:bodyPr wrap="none">
            <a:spAutoFit/>
          </a:bodyPr>
          <a:lstStyle/>
          <a:p>
            <a:pPr eaLnBrk="1" hangingPunct="1"/>
            <a:r>
              <a:rPr lang="en-US" altLang="zh-CN" b="1" i="1" dirty="0" err="1"/>
              <a:t>l</a:t>
            </a:r>
            <a:r>
              <a:rPr lang="en-US" altLang="zh-CN" b="1" baseline="-25000" dirty="0" err="1"/>
              <a:t>c</a:t>
            </a:r>
            <a:endParaRPr lang="en-US" altLang="zh-CN" b="1" baseline="-25000" dirty="0"/>
          </a:p>
        </p:txBody>
      </p:sp>
      <p:sp>
        <p:nvSpPr>
          <p:cNvPr id="25" name="矩形 24"/>
          <p:cNvSpPr/>
          <p:nvPr/>
        </p:nvSpPr>
        <p:spPr>
          <a:xfrm>
            <a:off x="6274134" y="4518400"/>
            <a:ext cx="1319592" cy="430887"/>
          </a:xfrm>
          <a:prstGeom prst="rect">
            <a:avLst/>
          </a:prstGeom>
        </p:spPr>
        <p:txBody>
          <a:bodyPr wrap="none">
            <a:spAutoFit/>
          </a:bodyPr>
          <a:lstStyle/>
          <a:p>
            <a:r>
              <a:rPr lang="zh-CN" altLang="en-US" sz="2200" b="1" dirty="0"/>
              <a:t>辅助平板</a:t>
            </a:r>
            <a:endParaRPr lang="zh-CN" altLang="en-US" sz="2200" dirty="0"/>
          </a:p>
        </p:txBody>
      </p:sp>
      <p:sp>
        <p:nvSpPr>
          <p:cNvPr id="26" name="Text Box 5"/>
          <p:cNvSpPr txBox="1">
            <a:spLocks noChangeArrowheads="1"/>
          </p:cNvSpPr>
          <p:nvPr/>
        </p:nvSpPr>
        <p:spPr bwMode="auto">
          <a:xfrm>
            <a:off x="899593" y="2420888"/>
            <a:ext cx="411353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③  量块标称长度 </a:t>
            </a:r>
            <a:r>
              <a:rPr lang="en-US" altLang="zh-CN" sz="2800" b="1" i="1" dirty="0" err="1"/>
              <a:t>l</a:t>
            </a:r>
            <a:r>
              <a:rPr lang="en-US" altLang="zh-CN" sz="2800" b="1" baseline="-25000" dirty="0" err="1"/>
              <a:t>n</a:t>
            </a:r>
            <a:endParaRPr lang="zh-CN" altLang="en-US" sz="2800" b="1" dirty="0"/>
          </a:p>
        </p:txBody>
      </p:sp>
      <p:sp>
        <p:nvSpPr>
          <p:cNvPr id="27" name="Text Box 11"/>
          <p:cNvSpPr txBox="1">
            <a:spLocks noChangeArrowheads="1"/>
          </p:cNvSpPr>
          <p:nvPr/>
        </p:nvSpPr>
        <p:spPr bwMode="auto">
          <a:xfrm>
            <a:off x="899592" y="2996952"/>
            <a:ext cx="4503691"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④ 任意点的量块长度偏差 </a:t>
            </a:r>
            <a:r>
              <a:rPr lang="en-US" altLang="zh-CN" sz="2800" b="1" i="1" dirty="0"/>
              <a:t>e</a:t>
            </a:r>
          </a:p>
        </p:txBody>
      </p:sp>
      <p:pic>
        <p:nvPicPr>
          <p:cNvPr id="28" name="Picture 12"/>
          <p:cNvPicPr>
            <a:picLocks noChangeAspect="1" noChangeArrowheads="1"/>
          </p:cNvPicPr>
          <p:nvPr/>
        </p:nvPicPr>
        <p:blipFill>
          <a:blip r:embed="rId4" cstate="print">
            <a:lum bright="-10000" contrast="40000"/>
            <a:extLst>
              <a:ext uri="{28A0092B-C50C-407E-A947-70E740481C1C}">
                <a14:useLocalDpi xmlns:a14="http://schemas.microsoft.com/office/drawing/2010/main" xmlns="" val="0"/>
              </a:ext>
            </a:extLst>
          </a:blip>
          <a:srcRect t="7105" b="19667"/>
          <a:stretch>
            <a:fillRect/>
          </a:stretch>
        </p:blipFill>
        <p:spPr bwMode="auto">
          <a:xfrm>
            <a:off x="1331640" y="3756873"/>
            <a:ext cx="3695700" cy="262445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9" name="Rectangle 18"/>
          <p:cNvSpPr>
            <a:spLocks noChangeArrowheads="1"/>
          </p:cNvSpPr>
          <p:nvPr/>
        </p:nvSpPr>
        <p:spPr bwMode="auto">
          <a:xfrm>
            <a:off x="1332275" y="4905588"/>
            <a:ext cx="430530" cy="541655"/>
          </a:xfrm>
          <a:prstGeom prst="rect">
            <a:avLst/>
          </a:prstGeom>
          <a:noFill/>
          <a:ln w="38100">
            <a:solidFill>
              <a:srgbClr val="FF33CC"/>
            </a:solidFill>
            <a:miter lim="800000"/>
          </a:ln>
          <a:effectLst/>
          <a:extLst>
            <a:ext uri="{909E8E84-426E-40DD-AFC4-6F175D3DCCD1}">
              <a14:hiddenFill xmlns:a14="http://schemas.microsoft.com/office/drawing/2010/main" xmlns="">
                <a:solidFill>
                  <a:srgbClr val="FFFFCC"/>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wipe(down)">
                                      <p:cBhvr>
                                        <p:cTn id="17" dur="500"/>
                                        <p:tgtEl>
                                          <p:spTgt spid="23"/>
                                        </p:tgtEl>
                                      </p:cBhvr>
                                    </p:animEffect>
                                  </p:childTnLst>
                                </p:cTn>
                              </p:par>
                              <p:par>
                                <p:cTn id="18" presetID="22" presetClass="entr" presetSubtype="4" fill="hold" grpId="0"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ipe(down)">
                                      <p:cBhvr>
                                        <p:cTn id="20" dur="500"/>
                                        <p:tgtEl>
                                          <p:spTgt spid="11"/>
                                        </p:tgtEl>
                                      </p:cBhvr>
                                    </p:animEffect>
                                  </p:childTnLst>
                                </p:cTn>
                              </p:par>
                              <p:par>
                                <p:cTn id="21" presetID="22" presetClass="entr" presetSubtype="4"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down)">
                                      <p:cBhvr>
                                        <p:cTn id="23" dur="500"/>
                                        <p:tgtEl>
                                          <p:spTgt spid="2"/>
                                        </p:tgtEl>
                                      </p:cBhvr>
                                    </p:animEffect>
                                  </p:childTnLst>
                                </p:cTn>
                              </p:par>
                              <p:par>
                                <p:cTn id="24" presetID="22" presetClass="entr" presetSubtype="4" fill="hold" nodeType="withEffect">
                                  <p:stCondLst>
                                    <p:cond delay="0"/>
                                  </p:stCondLst>
                                  <p:childTnLst>
                                    <p:set>
                                      <p:cBhvr>
                                        <p:cTn id="25" dur="1" fill="hold">
                                          <p:stCondLst>
                                            <p:cond delay="0"/>
                                          </p:stCondLst>
                                        </p:cTn>
                                        <p:tgtEl>
                                          <p:spTgt spid="3"/>
                                        </p:tgtEl>
                                        <p:attrNameLst>
                                          <p:attrName>style.visibility</p:attrName>
                                        </p:attrNameLst>
                                      </p:cBhvr>
                                      <p:to>
                                        <p:strVal val="visible"/>
                                      </p:to>
                                    </p:set>
                                    <p:animEffect transition="in" filter="wipe(down)">
                                      <p:cBhvr>
                                        <p:cTn id="26" dur="500"/>
                                        <p:tgtEl>
                                          <p:spTgt spid="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8"/>
                                        </p:tgtEl>
                                        <p:attrNameLst>
                                          <p:attrName>style.visibility</p:attrName>
                                        </p:attrNameLst>
                                      </p:cBhvr>
                                      <p:to>
                                        <p:strVal val="visible"/>
                                      </p:to>
                                    </p:set>
                                    <p:animEffect transition="in" filter="wipe(left)">
                                      <p:cBhvr>
                                        <p:cTn id="31" dur="300"/>
                                        <p:tgtEl>
                                          <p:spTgt spid="8"/>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down)">
                                      <p:cBhvr>
                                        <p:cTn id="36" dur="500"/>
                                        <p:tgtEl>
                                          <p:spTgt spid="24"/>
                                        </p:tgtEl>
                                      </p:cBhvr>
                                    </p:animEffect>
                                  </p:childTnLst>
                                </p:cTn>
                              </p:par>
                              <p:par>
                                <p:cTn id="37" presetID="2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wipe(down)">
                                      <p:cBhvr>
                                        <p:cTn id="39" dur="500"/>
                                        <p:tgtEl>
                                          <p:spTgt spid="12"/>
                                        </p:tgtEl>
                                      </p:cBhvr>
                                    </p:animEffect>
                                  </p:childTnLst>
                                </p:cTn>
                              </p:par>
                              <p:par>
                                <p:cTn id="40" presetID="22" presetClass="entr" presetSubtype="4" fill="hold"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par>
                                <p:cTn id="43" presetID="22" presetClass="entr" presetSubtype="4" fill="hold"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wipe(down)">
                                      <p:cBhvr>
                                        <p:cTn id="45" dur="500"/>
                                        <p:tgtEl>
                                          <p:spTgt spid="14"/>
                                        </p:tgtEl>
                                      </p:cBhvr>
                                    </p:animEffect>
                                  </p:childTnLst>
                                </p:cTn>
                              </p:par>
                            </p:childTnLst>
                          </p:cTn>
                        </p:par>
                        <p:par>
                          <p:cTn id="46" fill="hold">
                            <p:stCondLst>
                              <p:cond delay="500"/>
                            </p:stCondLst>
                            <p:childTnLst>
                              <p:par>
                                <p:cTn id="47" presetID="22" presetClass="entr" presetSubtype="8" fill="hold" grpId="0" nodeType="afterEffect">
                                  <p:stCondLst>
                                    <p:cond delay="0"/>
                                  </p:stCondLst>
                                  <p:iterate type="wd">
                                    <p:tmPct val="100000"/>
                                  </p:iterate>
                                  <p:childTnLst>
                                    <p:set>
                                      <p:cBhvr>
                                        <p:cTn id="48" dur="1" fill="hold">
                                          <p:stCondLst>
                                            <p:cond delay="0"/>
                                          </p:stCondLst>
                                        </p:cTn>
                                        <p:tgtEl>
                                          <p:spTgt spid="26"/>
                                        </p:tgtEl>
                                        <p:attrNameLst>
                                          <p:attrName>style.visibility</p:attrName>
                                        </p:attrNameLst>
                                      </p:cBhvr>
                                      <p:to>
                                        <p:strVal val="visible"/>
                                      </p:to>
                                    </p:set>
                                    <p:animEffect transition="in" filter="wipe(left)">
                                      <p:cBhvr>
                                        <p:cTn id="49" dur="300"/>
                                        <p:tgtEl>
                                          <p:spTgt spid="26"/>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iterate type="wd">
                                    <p:tmPct val="100000"/>
                                  </p:iterate>
                                  <p:childTnLst>
                                    <p:set>
                                      <p:cBhvr>
                                        <p:cTn id="53" dur="1" fill="hold">
                                          <p:stCondLst>
                                            <p:cond delay="0"/>
                                          </p:stCondLst>
                                        </p:cTn>
                                        <p:tgtEl>
                                          <p:spTgt spid="27"/>
                                        </p:tgtEl>
                                        <p:attrNameLst>
                                          <p:attrName>style.visibility</p:attrName>
                                        </p:attrNameLst>
                                      </p:cBhvr>
                                      <p:to>
                                        <p:strVal val="visible"/>
                                      </p:to>
                                    </p:set>
                                    <p:animEffect transition="in" filter="wipe(left)">
                                      <p:cBhvr>
                                        <p:cTn id="54" dur="3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2" presetClass="entr" presetSubtype="2" fill="hold" nodeType="click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additive="base">
                                        <p:cTn id="59" dur="500" fill="hold"/>
                                        <p:tgtEl>
                                          <p:spTgt spid="28"/>
                                        </p:tgtEl>
                                        <p:attrNameLst>
                                          <p:attrName>ppt_x</p:attrName>
                                        </p:attrNameLst>
                                      </p:cBhvr>
                                      <p:tavLst>
                                        <p:tav tm="0">
                                          <p:val>
                                            <p:strVal val="1+#ppt_w/2"/>
                                          </p:val>
                                        </p:tav>
                                        <p:tav tm="100000">
                                          <p:val>
                                            <p:strVal val="#ppt_x"/>
                                          </p:val>
                                        </p:tav>
                                      </p:tavLst>
                                    </p:anim>
                                    <p:anim calcmode="lin" valueType="num">
                                      <p:cBhvr additive="base">
                                        <p:cTn id="60"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16" presetClass="entr" presetSubtype="42" fill="hold" grpId="0" nodeType="clickEffect">
                                  <p:stCondLst>
                                    <p:cond delay="0"/>
                                  </p:stCondLst>
                                  <p:childTnLst>
                                    <p:set>
                                      <p:cBhvr>
                                        <p:cTn id="64" dur="1" fill="hold">
                                          <p:stCondLst>
                                            <p:cond delay="0"/>
                                          </p:stCondLst>
                                        </p:cTn>
                                        <p:tgtEl>
                                          <p:spTgt spid="29"/>
                                        </p:tgtEl>
                                        <p:attrNameLst>
                                          <p:attrName>style.visibility</p:attrName>
                                        </p:attrNameLst>
                                      </p:cBhvr>
                                      <p:to>
                                        <p:strVal val="visible"/>
                                      </p:to>
                                    </p:set>
                                    <p:animEffect transition="in" filter="barn(outHorizontal)">
                                      <p:cBhvr>
                                        <p:cTn id="65"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8" grpId="0" bldLvl="0" animBg="1" autoUpdateAnimBg="0"/>
      <p:bldP spid="11" grpId="0" animBg="1"/>
      <p:bldP spid="12" grpId="0" animBg="1"/>
      <p:bldP spid="23" grpId="0"/>
      <p:bldP spid="24" grpId="0"/>
      <p:bldP spid="26" grpId="0" bldLvl="0" animBg="1" autoUpdateAnimBg="0"/>
      <p:bldP spid="27" grpId="0" bldLvl="0" animBg="1" autoUpdateAnimBg="0"/>
      <p:bldP spid="29"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12</a:t>
            </a:fld>
            <a:endParaRPr lang="en-US" altLang="zh-CN"/>
          </a:p>
        </p:txBody>
      </p:sp>
      <p:sp>
        <p:nvSpPr>
          <p:cNvPr id="5" name="Text Box 4"/>
          <p:cNvSpPr txBox="1">
            <a:spLocks noChangeArrowheads="1"/>
          </p:cNvSpPr>
          <p:nvPr/>
        </p:nvSpPr>
        <p:spPr bwMode="auto">
          <a:xfrm>
            <a:off x="556906" y="332656"/>
            <a:ext cx="57912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(4) </a:t>
            </a:r>
            <a:r>
              <a:rPr lang="zh-CN" altLang="en-US" sz="2800" b="1" dirty="0"/>
              <a:t>量块的精度等级</a:t>
            </a:r>
          </a:p>
        </p:txBody>
      </p:sp>
      <p:sp>
        <p:nvSpPr>
          <p:cNvPr id="6" name="Text Box 5"/>
          <p:cNvSpPr txBox="1">
            <a:spLocks noChangeArrowheads="1"/>
          </p:cNvSpPr>
          <p:nvPr/>
        </p:nvSpPr>
        <p:spPr bwMode="auto">
          <a:xfrm>
            <a:off x="762004" y="1298244"/>
            <a:ext cx="2690495"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①  量块分</a:t>
            </a:r>
            <a:r>
              <a:rPr lang="zh-CN" altLang="en-US" b="1" dirty="0">
                <a:solidFill>
                  <a:srgbClr val="FF0000"/>
                </a:solidFill>
              </a:rPr>
              <a:t>级</a:t>
            </a:r>
            <a:r>
              <a:rPr lang="zh-CN" altLang="en-US" b="1" dirty="0"/>
              <a:t> </a:t>
            </a:r>
          </a:p>
        </p:txBody>
      </p:sp>
      <p:sp>
        <p:nvSpPr>
          <p:cNvPr id="7" name="Text Box 6"/>
          <p:cNvSpPr txBox="1">
            <a:spLocks noChangeArrowheads="1"/>
          </p:cNvSpPr>
          <p:nvPr/>
        </p:nvSpPr>
        <p:spPr bwMode="auto">
          <a:xfrm>
            <a:off x="643255" y="1783384"/>
            <a:ext cx="6969760" cy="6076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      </a:t>
            </a:r>
            <a:r>
              <a:rPr lang="zh-CN" altLang="en-US" b="1" dirty="0"/>
              <a:t>按量块的</a:t>
            </a:r>
            <a:r>
              <a:rPr lang="zh-CN" altLang="en-US" b="1" dirty="0">
                <a:solidFill>
                  <a:srgbClr val="0070C0"/>
                </a:solidFill>
              </a:rPr>
              <a:t>制造精度</a:t>
            </a:r>
            <a:r>
              <a:rPr lang="zh-CN" altLang="en-US" b="1" dirty="0"/>
              <a:t>分</a:t>
            </a:r>
            <a:r>
              <a:rPr lang="zh-CN" altLang="en-US" b="1" dirty="0">
                <a:solidFill>
                  <a:srgbClr val="00B050"/>
                </a:solidFill>
              </a:rPr>
              <a:t>五级</a:t>
            </a:r>
            <a:r>
              <a:rPr lang="zh-CN" altLang="en-US" b="1" dirty="0"/>
              <a:t>：</a:t>
            </a:r>
            <a:r>
              <a:rPr lang="en-US" altLang="zh-CN" b="1" dirty="0">
                <a:solidFill>
                  <a:srgbClr val="FF0000"/>
                </a:solidFill>
              </a:rPr>
              <a:t>K、0、1、2、3</a:t>
            </a:r>
            <a:r>
              <a:rPr lang="zh-CN" altLang="en-US" b="1" dirty="0"/>
              <a:t>级</a:t>
            </a:r>
          </a:p>
        </p:txBody>
      </p:sp>
      <p:sp>
        <p:nvSpPr>
          <p:cNvPr id="2" name="右箭头 1"/>
          <p:cNvSpPr/>
          <p:nvPr/>
        </p:nvSpPr>
        <p:spPr>
          <a:xfrm>
            <a:off x="5149215" y="1482394"/>
            <a:ext cx="1728470" cy="144145"/>
          </a:xfrm>
          <a:prstGeom prs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p:cNvSpPr txBox="1"/>
          <p:nvPr/>
        </p:nvSpPr>
        <p:spPr>
          <a:xfrm>
            <a:off x="4644394" y="1324914"/>
            <a:ext cx="478155" cy="460375"/>
          </a:xfrm>
          <a:prstGeom prst="rect">
            <a:avLst/>
          </a:prstGeom>
          <a:noFill/>
        </p:spPr>
        <p:txBody>
          <a:bodyPr wrap="square" rtlCol="0">
            <a:spAutoFit/>
          </a:bodyPr>
          <a:lstStyle/>
          <a:p>
            <a:r>
              <a:rPr lang="zh-CN" altLang="en-US" dirty="0"/>
              <a:t>高</a:t>
            </a:r>
          </a:p>
        </p:txBody>
      </p:sp>
      <p:sp>
        <p:nvSpPr>
          <p:cNvPr id="10" name="文本框 9"/>
          <p:cNvSpPr txBox="1"/>
          <p:nvPr/>
        </p:nvSpPr>
        <p:spPr>
          <a:xfrm>
            <a:off x="6920869" y="1347774"/>
            <a:ext cx="478155" cy="460375"/>
          </a:xfrm>
          <a:prstGeom prst="rect">
            <a:avLst/>
          </a:prstGeom>
          <a:noFill/>
        </p:spPr>
        <p:txBody>
          <a:bodyPr wrap="square" rtlCol="0">
            <a:spAutoFit/>
          </a:bodyPr>
          <a:lstStyle/>
          <a:p>
            <a:r>
              <a:rPr lang="zh-CN" altLang="en-US"/>
              <a:t>低</a:t>
            </a:r>
          </a:p>
        </p:txBody>
      </p:sp>
      <p:sp>
        <p:nvSpPr>
          <p:cNvPr id="11" name="Text Box 4"/>
          <p:cNvSpPr txBox="1">
            <a:spLocks noChangeArrowheads="1"/>
          </p:cNvSpPr>
          <p:nvPr/>
        </p:nvSpPr>
        <p:spPr bwMode="auto">
          <a:xfrm>
            <a:off x="771150" y="2577432"/>
            <a:ext cx="54006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②  量块分</a:t>
            </a:r>
            <a:r>
              <a:rPr lang="zh-CN" altLang="en-US" b="1" dirty="0">
                <a:solidFill>
                  <a:srgbClr val="FF0000"/>
                </a:solidFill>
              </a:rPr>
              <a:t>等</a:t>
            </a:r>
            <a:r>
              <a:rPr lang="zh-CN" altLang="en-US" b="1" dirty="0"/>
              <a:t>  </a:t>
            </a:r>
          </a:p>
        </p:txBody>
      </p:sp>
      <p:sp>
        <p:nvSpPr>
          <p:cNvPr id="12" name="Text Box 5"/>
          <p:cNvSpPr txBox="1">
            <a:spLocks noChangeArrowheads="1"/>
          </p:cNvSpPr>
          <p:nvPr/>
        </p:nvSpPr>
        <p:spPr bwMode="auto">
          <a:xfrm>
            <a:off x="628650" y="3100374"/>
            <a:ext cx="6930390" cy="53403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按量块的</a:t>
            </a:r>
            <a:r>
              <a:rPr lang="zh-CN" altLang="en-US" b="1" dirty="0">
                <a:solidFill>
                  <a:srgbClr val="0070C0"/>
                </a:solidFill>
              </a:rPr>
              <a:t>检定精度</a:t>
            </a:r>
            <a:r>
              <a:rPr lang="zh-CN" altLang="en-US" b="1" dirty="0"/>
              <a:t>分</a:t>
            </a:r>
            <a:r>
              <a:rPr lang="zh-CN" altLang="en-US" b="1" dirty="0">
                <a:solidFill>
                  <a:srgbClr val="00B050"/>
                </a:solidFill>
              </a:rPr>
              <a:t>五等</a:t>
            </a:r>
            <a:r>
              <a:rPr lang="zh-CN" altLang="en-US" b="1" dirty="0"/>
              <a:t>：</a:t>
            </a:r>
            <a:r>
              <a:rPr lang="zh-CN" altLang="en-US" b="1" dirty="0">
                <a:solidFill>
                  <a:srgbClr val="FF0000"/>
                </a:solidFill>
              </a:rPr>
              <a:t>1、2、3、4、5</a:t>
            </a:r>
            <a:r>
              <a:rPr lang="zh-CN" altLang="en-US" b="1" dirty="0"/>
              <a:t>等</a:t>
            </a:r>
          </a:p>
        </p:txBody>
      </p:sp>
      <p:sp>
        <p:nvSpPr>
          <p:cNvPr id="13" name="Text Box 5"/>
          <p:cNvSpPr txBox="1">
            <a:spLocks noChangeArrowheads="1"/>
          </p:cNvSpPr>
          <p:nvPr/>
        </p:nvSpPr>
        <p:spPr bwMode="auto">
          <a:xfrm>
            <a:off x="1107440" y="4233435"/>
            <a:ext cx="2464428"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量块的使用可分</a:t>
            </a:r>
          </a:p>
        </p:txBody>
      </p:sp>
      <p:sp>
        <p:nvSpPr>
          <p:cNvPr id="14" name="Text Box 9"/>
          <p:cNvSpPr txBox="1">
            <a:spLocks noChangeArrowheads="1"/>
          </p:cNvSpPr>
          <p:nvPr/>
        </p:nvSpPr>
        <p:spPr bwMode="auto">
          <a:xfrm>
            <a:off x="3949065" y="3852549"/>
            <a:ext cx="165608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按</a:t>
            </a:r>
            <a:r>
              <a:rPr lang="zh-CN" altLang="en-US" b="1" dirty="0">
                <a:solidFill>
                  <a:srgbClr val="FF33CC"/>
                </a:solidFill>
              </a:rPr>
              <a:t>级</a:t>
            </a:r>
            <a:r>
              <a:rPr lang="zh-CN" altLang="en-US" b="1" dirty="0"/>
              <a:t>使用</a:t>
            </a:r>
          </a:p>
        </p:txBody>
      </p:sp>
      <p:sp>
        <p:nvSpPr>
          <p:cNvPr id="15" name="Text Box 12"/>
          <p:cNvSpPr txBox="1">
            <a:spLocks noChangeArrowheads="1"/>
          </p:cNvSpPr>
          <p:nvPr/>
        </p:nvSpPr>
        <p:spPr bwMode="auto">
          <a:xfrm>
            <a:off x="3949065" y="4610943"/>
            <a:ext cx="2057400" cy="460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按</a:t>
            </a:r>
            <a:r>
              <a:rPr lang="zh-CN" altLang="en-US" b="1" dirty="0">
                <a:solidFill>
                  <a:srgbClr val="FF33CC"/>
                </a:solidFill>
              </a:rPr>
              <a:t>等</a:t>
            </a:r>
            <a:r>
              <a:rPr lang="zh-CN" altLang="en-US" b="1" dirty="0"/>
              <a:t>使用</a:t>
            </a:r>
          </a:p>
        </p:txBody>
      </p:sp>
      <p:sp>
        <p:nvSpPr>
          <p:cNvPr id="16" name="AutoShape 13"/>
          <p:cNvSpPr/>
          <p:nvPr/>
        </p:nvSpPr>
        <p:spPr bwMode="auto">
          <a:xfrm>
            <a:off x="3491865" y="4009276"/>
            <a:ext cx="381000" cy="914400"/>
          </a:xfrm>
          <a:prstGeom prst="leftBrace">
            <a:avLst>
              <a:gd name="adj1" fmla="val 20000"/>
              <a:gd name="adj2" fmla="val 50000"/>
            </a:avLst>
          </a:prstGeom>
          <a:noFill/>
          <a:ln w="28575">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7" name="文本框 16"/>
          <p:cNvSpPr txBox="1"/>
          <p:nvPr/>
        </p:nvSpPr>
        <p:spPr>
          <a:xfrm>
            <a:off x="5694684" y="3852549"/>
            <a:ext cx="1620957" cy="461665"/>
          </a:xfrm>
          <a:prstGeom prst="rect">
            <a:avLst/>
          </a:prstGeom>
          <a:noFill/>
        </p:spPr>
        <p:txBody>
          <a:bodyPr wrap="none" rtlCol="0" anchor="t">
            <a:spAutoFit/>
          </a:bodyPr>
          <a:lstStyle/>
          <a:p>
            <a:r>
              <a:rPr lang="zh-CN" altLang="en-US" b="1" dirty="0">
                <a:sym typeface="+mn-ea"/>
              </a:rPr>
              <a:t>标称长度</a:t>
            </a:r>
            <a:r>
              <a:rPr lang="en-US" altLang="zh-CN" b="1" i="1" dirty="0" err="1">
                <a:sym typeface="+mn-ea"/>
              </a:rPr>
              <a:t>l</a:t>
            </a:r>
            <a:r>
              <a:rPr lang="en-US" altLang="zh-CN" b="1" baseline="-25000" dirty="0" err="1">
                <a:sym typeface="+mn-ea"/>
              </a:rPr>
              <a:t>n</a:t>
            </a:r>
          </a:p>
        </p:txBody>
      </p:sp>
      <p:sp>
        <p:nvSpPr>
          <p:cNvPr id="18" name="文本框 17"/>
          <p:cNvSpPr txBox="1"/>
          <p:nvPr/>
        </p:nvSpPr>
        <p:spPr>
          <a:xfrm>
            <a:off x="5697855" y="4601849"/>
            <a:ext cx="2268570" cy="461665"/>
          </a:xfrm>
          <a:prstGeom prst="rect">
            <a:avLst/>
          </a:prstGeom>
          <a:noFill/>
        </p:spPr>
        <p:txBody>
          <a:bodyPr wrap="none" rtlCol="0" anchor="t">
            <a:spAutoFit/>
          </a:bodyPr>
          <a:lstStyle/>
          <a:p>
            <a:r>
              <a:rPr lang="zh-CN" altLang="en-US" b="1" dirty="0">
                <a:sym typeface="+mn-ea"/>
              </a:rPr>
              <a:t>实际中心长度</a:t>
            </a:r>
            <a:r>
              <a:rPr lang="en-US" altLang="zh-CN" b="1" i="1" dirty="0" err="1">
                <a:sym typeface="+mn-ea"/>
              </a:rPr>
              <a:t>l</a:t>
            </a:r>
            <a:r>
              <a:rPr lang="en-US" altLang="zh-CN" b="1" baseline="-25000" dirty="0" err="1">
                <a:sym typeface="+mn-ea"/>
              </a:rPr>
              <a:t>c</a:t>
            </a:r>
            <a:r>
              <a:rPr lang="en-US" altLang="zh-CN" b="1" baseline="-25000" dirty="0">
                <a:solidFill>
                  <a:srgbClr val="FF33CC"/>
                </a:solidFill>
                <a:sym typeface="+mn-ea"/>
              </a:rPr>
              <a:t> </a:t>
            </a:r>
            <a:endParaRPr lang="zh-CN" altLang="en-US"/>
          </a:p>
        </p:txBody>
      </p:sp>
      <p:sp>
        <p:nvSpPr>
          <p:cNvPr id="19" name="左箭头 18"/>
          <p:cNvSpPr/>
          <p:nvPr/>
        </p:nvSpPr>
        <p:spPr>
          <a:xfrm>
            <a:off x="5410204" y="3974465"/>
            <a:ext cx="287655" cy="215900"/>
          </a:xfrm>
          <a:prstGeom prst="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左箭头 19"/>
          <p:cNvSpPr/>
          <p:nvPr/>
        </p:nvSpPr>
        <p:spPr>
          <a:xfrm>
            <a:off x="5410204" y="4707890"/>
            <a:ext cx="287655" cy="215900"/>
          </a:xfrm>
          <a:prstGeom prst="lef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1214414" y="5346069"/>
            <a:ext cx="6288901" cy="523220"/>
          </a:xfrm>
          <a:prstGeom prst="rect">
            <a:avLst/>
          </a:prstGeom>
        </p:spPr>
        <p:style>
          <a:lnRef idx="2">
            <a:schemeClr val="accent2"/>
          </a:lnRef>
          <a:fillRef idx="1">
            <a:schemeClr val="lt1"/>
          </a:fillRef>
          <a:effectRef idx="0">
            <a:schemeClr val="accent2"/>
          </a:effectRef>
          <a:fontRef idx="minor">
            <a:schemeClr val="dk1"/>
          </a:fontRef>
        </p:style>
        <p:txBody>
          <a:bodyPr wrap="none" rtlCol="0" anchor="t">
            <a:spAutoFit/>
          </a:bodyPr>
          <a:lstStyle/>
          <a:p>
            <a:r>
              <a:rPr lang="zh-CN" altLang="en-US" sz="2800" b="1" dirty="0">
                <a:solidFill>
                  <a:srgbClr val="FF0000"/>
                </a:solidFill>
                <a:latin typeface="华文宋体" panose="02010600040101010101" charset="-122"/>
                <a:ea typeface="华文宋体" panose="02010600040101010101" charset="-122"/>
                <a:sym typeface="+mn-ea"/>
              </a:rPr>
              <a:t>量块按等使用比按级使用的测量精度高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par>
                          <p:cTn id="18" fill="hold">
                            <p:stCondLst>
                              <p:cond delay="84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1"/>
                                        </p:tgtEl>
                                        <p:attrNameLst>
                                          <p:attrName>style.visibility</p:attrName>
                                        </p:attrNameLst>
                                      </p:cBhvr>
                                      <p:to>
                                        <p:strVal val="visible"/>
                                      </p:to>
                                    </p:set>
                                    <p:animEffect transition="in" filter="wipe(left)">
                                      <p:cBhvr>
                                        <p:cTn id="21" dur="300"/>
                                        <p:tgtEl>
                                          <p:spTgt spid="1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12"/>
                                        </p:tgtEl>
                                        <p:attrNameLst>
                                          <p:attrName>style.visibility</p:attrName>
                                        </p:attrNameLst>
                                      </p:cBhvr>
                                      <p:to>
                                        <p:strVal val="visible"/>
                                      </p:to>
                                    </p:set>
                                    <p:animEffect transition="in" filter="wipe(left)">
                                      <p:cBhvr>
                                        <p:cTn id="26" dur="3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wipe(left)">
                                      <p:cBhvr>
                                        <p:cTn id="31" dur="500"/>
                                        <p:tgtEl>
                                          <p:spTgt spid="3"/>
                                        </p:tgtEl>
                                      </p:cBhvr>
                                    </p:animEffect>
                                  </p:childTnLst>
                                </p:cTn>
                              </p:par>
                              <p:par>
                                <p:cTn id="32" presetID="22" presetClass="entr" presetSubtype="8" fill="hold" grpId="0"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wipe(left)">
                                      <p:cBhvr>
                                        <p:cTn id="34" dur="500"/>
                                        <p:tgtEl>
                                          <p:spTgt spid="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grpId="0"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wipe(left)">
                                      <p:cBhvr>
                                        <p:cTn id="50" dur="500"/>
                                        <p:tgtEl>
                                          <p:spTgt spid="14"/>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wipe(left)">
                                      <p:cBhvr>
                                        <p:cTn id="53" dur="500"/>
                                        <p:tgtEl>
                                          <p:spTgt spid="19"/>
                                        </p:tgtEl>
                                      </p:cBhvr>
                                    </p:animEffect>
                                  </p:childTnLst>
                                </p:cTn>
                              </p:par>
                              <p:par>
                                <p:cTn id="54" presetID="22" presetClass="entr" presetSubtype="8"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animEffect transition="in" filter="wipe(left)">
                                      <p:cBhvr>
                                        <p:cTn id="56" dur="500"/>
                                        <p:tgtEl>
                                          <p:spTgt spid="17"/>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wipe(left)">
                                      <p:cBhvr>
                                        <p:cTn id="61" dur="500"/>
                                        <p:tgtEl>
                                          <p:spTgt spid="15"/>
                                        </p:tgtEl>
                                      </p:cBhvr>
                                    </p:animEffect>
                                  </p:childTnLst>
                                </p:cTn>
                              </p:par>
                              <p:par>
                                <p:cTn id="62" presetID="22" presetClass="entr" presetSubtype="8" fill="hold" grpId="0" nodeType="withEffect">
                                  <p:stCondLst>
                                    <p:cond delay="0"/>
                                  </p:stCondLst>
                                  <p:childTnLst>
                                    <p:set>
                                      <p:cBhvr>
                                        <p:cTn id="63" dur="1" fill="hold">
                                          <p:stCondLst>
                                            <p:cond delay="0"/>
                                          </p:stCondLst>
                                        </p:cTn>
                                        <p:tgtEl>
                                          <p:spTgt spid="20"/>
                                        </p:tgtEl>
                                        <p:attrNameLst>
                                          <p:attrName>style.visibility</p:attrName>
                                        </p:attrNameLst>
                                      </p:cBhvr>
                                      <p:to>
                                        <p:strVal val="visible"/>
                                      </p:to>
                                    </p:set>
                                    <p:animEffect transition="in" filter="wipe(left)">
                                      <p:cBhvr>
                                        <p:cTn id="64" dur="500"/>
                                        <p:tgtEl>
                                          <p:spTgt spid="20"/>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wipe(left)">
                                      <p:cBhvr>
                                        <p:cTn id="67" dur="500"/>
                                        <p:tgtEl>
                                          <p:spTgt spid="18"/>
                                        </p:tgtEl>
                                      </p:cBhvr>
                                    </p:animEffect>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1"/>
                                        </p:tgtEl>
                                        <p:attrNameLst>
                                          <p:attrName>style.visibility</p:attrName>
                                        </p:attrNameLst>
                                      </p:cBhvr>
                                      <p:to>
                                        <p:strVal val="visible"/>
                                      </p:to>
                                    </p:set>
                                    <p:animEffect transition="in" filter="blinds(horizontal)">
                                      <p:cBhvr>
                                        <p:cTn id="7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autoUpdateAnimBg="0"/>
      <p:bldP spid="2" grpId="0" bldLvl="0" animBg="1"/>
      <p:bldP spid="3" grpId="0"/>
      <p:bldP spid="10" grpId="0"/>
      <p:bldP spid="11" grpId="0" bldLvl="0" animBg="1" autoUpdateAnimBg="0"/>
      <p:bldP spid="12" grpId="0" bldLvl="0" animBg="1" autoUpdateAnimBg="0"/>
      <p:bldP spid="13" grpId="0" bldLvl="0" animBg="1"/>
      <p:bldP spid="14" grpId="0" bldLvl="0" animBg="1"/>
      <p:bldP spid="15" grpId="0" bldLvl="0" animBg="1"/>
      <p:bldP spid="16" grpId="0" bldLvl="0" animBg="1"/>
      <p:bldP spid="17" grpId="0"/>
      <p:bldP spid="18" grpId="0"/>
      <p:bldP spid="19" grpId="0" bldLvl="0" animBg="1"/>
      <p:bldP spid="20" grpId="0" bldLvl="0" animBg="1"/>
      <p:bldP spid="21"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13</a:t>
            </a:fld>
            <a:endParaRPr lang="en-US" altLang="zh-CN"/>
          </a:p>
        </p:txBody>
      </p:sp>
      <p:sp>
        <p:nvSpPr>
          <p:cNvPr id="5" name="Text Box 6"/>
          <p:cNvSpPr txBox="1">
            <a:spLocks noChangeArrowheads="1"/>
          </p:cNvSpPr>
          <p:nvPr/>
        </p:nvSpPr>
        <p:spPr bwMode="auto">
          <a:xfrm>
            <a:off x="685804" y="1181695"/>
            <a:ext cx="5205413"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2.2.1  计量器具及其分类</a:t>
            </a:r>
          </a:p>
        </p:txBody>
      </p:sp>
      <p:sp>
        <p:nvSpPr>
          <p:cNvPr id="6" name="Text Box 7"/>
          <p:cNvSpPr txBox="1">
            <a:spLocks noChangeArrowheads="1"/>
          </p:cNvSpPr>
          <p:nvPr/>
        </p:nvSpPr>
        <p:spPr bwMode="auto">
          <a:xfrm>
            <a:off x="1187628" y="1753652"/>
            <a:ext cx="710723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计量器具为</a:t>
            </a:r>
            <a:r>
              <a:rPr lang="zh-CN" altLang="en-US" sz="2800" b="1" dirty="0">
                <a:solidFill>
                  <a:srgbClr val="FF0000"/>
                </a:solidFill>
              </a:rPr>
              <a:t>测量仪器</a:t>
            </a:r>
            <a:r>
              <a:rPr lang="zh-CN" altLang="en-US" sz="2800" b="1" dirty="0"/>
              <a:t>和</a:t>
            </a:r>
            <a:r>
              <a:rPr lang="zh-CN" altLang="en-US" sz="2800" b="1" dirty="0">
                <a:solidFill>
                  <a:srgbClr val="FF0000"/>
                </a:solidFill>
              </a:rPr>
              <a:t>测量工具</a:t>
            </a:r>
            <a:r>
              <a:rPr lang="zh-CN" altLang="en-US" sz="2800" b="1" dirty="0"/>
              <a:t>的统称。</a:t>
            </a:r>
          </a:p>
        </p:txBody>
      </p:sp>
      <p:sp>
        <p:nvSpPr>
          <p:cNvPr id="7" name="Text Box 8"/>
          <p:cNvSpPr txBox="1">
            <a:spLocks noChangeArrowheads="1"/>
          </p:cNvSpPr>
          <p:nvPr/>
        </p:nvSpPr>
        <p:spPr bwMode="auto">
          <a:xfrm>
            <a:off x="786103" y="2329716"/>
            <a:ext cx="34290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1. 计量器具分类</a:t>
            </a:r>
          </a:p>
        </p:txBody>
      </p:sp>
      <p:sp>
        <p:nvSpPr>
          <p:cNvPr id="8" name="Text Box 9"/>
          <p:cNvSpPr txBox="1">
            <a:spLocks noChangeArrowheads="1"/>
          </p:cNvSpPr>
          <p:nvPr/>
        </p:nvSpPr>
        <p:spPr bwMode="auto">
          <a:xfrm>
            <a:off x="1259632" y="3933056"/>
            <a:ext cx="2880320" cy="9541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按其原理、结构和用途分为</a:t>
            </a:r>
            <a:r>
              <a:rPr lang="en-US" altLang="zh-CN" sz="2800" b="1" dirty="0"/>
              <a:t>:</a:t>
            </a:r>
          </a:p>
        </p:txBody>
      </p:sp>
      <p:sp>
        <p:nvSpPr>
          <p:cNvPr id="12" name="Rectangle 15"/>
          <p:cNvSpPr>
            <a:spLocks noChangeArrowheads="1"/>
          </p:cNvSpPr>
          <p:nvPr/>
        </p:nvSpPr>
        <p:spPr bwMode="auto">
          <a:xfrm>
            <a:off x="642914" y="329282"/>
            <a:ext cx="6977063" cy="5794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zh-CN" altLang="en-US" sz="3200" b="1" dirty="0">
                <a:solidFill>
                  <a:schemeClr val="tx2"/>
                </a:solidFill>
              </a:rPr>
              <a:t>2.2  计量器具和测量方法</a:t>
            </a:r>
          </a:p>
        </p:txBody>
      </p:sp>
      <p:sp>
        <p:nvSpPr>
          <p:cNvPr id="18" name="矩形 17"/>
          <p:cNvSpPr/>
          <p:nvPr/>
        </p:nvSpPr>
        <p:spPr>
          <a:xfrm>
            <a:off x="4772919" y="3068960"/>
            <a:ext cx="1620957" cy="523220"/>
          </a:xfrm>
          <a:prstGeom prst="rect">
            <a:avLst/>
          </a:prstGeom>
        </p:spPr>
        <p:txBody>
          <a:bodyPr wrap="none">
            <a:spAutoFit/>
          </a:bodyPr>
          <a:lstStyle/>
          <a:p>
            <a:r>
              <a:rPr lang="zh-CN" altLang="en-US" sz="2800" b="1" dirty="0">
                <a:latin typeface="华文楷体" panose="02010600040101010101" pitchFamily="2" charset="-122"/>
                <a:ea typeface="华文楷体" panose="02010600040101010101" pitchFamily="2" charset="-122"/>
              </a:rPr>
              <a:t>基准量具</a:t>
            </a:r>
            <a:endParaRPr lang="zh-CN" altLang="en-US" sz="2800" dirty="0">
              <a:latin typeface="华文楷体" panose="02010600040101010101" pitchFamily="2" charset="-122"/>
              <a:ea typeface="华文楷体" panose="02010600040101010101" pitchFamily="2" charset="-122"/>
            </a:endParaRPr>
          </a:p>
        </p:txBody>
      </p:sp>
      <p:sp>
        <p:nvSpPr>
          <p:cNvPr id="19" name="矩形 18"/>
          <p:cNvSpPr/>
          <p:nvPr/>
        </p:nvSpPr>
        <p:spPr>
          <a:xfrm>
            <a:off x="4772923" y="3785471"/>
            <a:ext cx="2339102" cy="523220"/>
          </a:xfrm>
          <a:prstGeom prst="rect">
            <a:avLst/>
          </a:prstGeom>
        </p:spPr>
        <p:txBody>
          <a:bodyPr wrap="none">
            <a:spAutoFit/>
          </a:bodyPr>
          <a:lstStyle/>
          <a:p>
            <a:r>
              <a:rPr lang="zh-CN" altLang="en-US" sz="2800" b="1" dirty="0">
                <a:latin typeface="华文楷体" panose="02010600040101010101" pitchFamily="2" charset="-122"/>
                <a:ea typeface="华文楷体" panose="02010600040101010101" pitchFamily="2" charset="-122"/>
              </a:rPr>
              <a:t>通用计量器具</a:t>
            </a:r>
          </a:p>
        </p:txBody>
      </p:sp>
      <p:sp>
        <p:nvSpPr>
          <p:cNvPr id="20" name="矩形 19"/>
          <p:cNvSpPr/>
          <p:nvPr/>
        </p:nvSpPr>
        <p:spPr>
          <a:xfrm>
            <a:off x="4772923" y="4569158"/>
            <a:ext cx="1980029" cy="523220"/>
          </a:xfrm>
          <a:prstGeom prst="rect">
            <a:avLst/>
          </a:prstGeom>
        </p:spPr>
        <p:txBody>
          <a:bodyPr wrap="none">
            <a:spAutoFit/>
          </a:bodyPr>
          <a:lstStyle/>
          <a:p>
            <a:r>
              <a:rPr lang="zh-CN" altLang="en-US" sz="2800" b="1" dirty="0">
                <a:latin typeface="华文楷体" panose="02010600040101010101" pitchFamily="2" charset="-122"/>
                <a:ea typeface="华文楷体" panose="02010600040101010101" pitchFamily="2" charset="-122"/>
              </a:rPr>
              <a:t>极限量规类</a:t>
            </a:r>
          </a:p>
        </p:txBody>
      </p:sp>
      <p:sp>
        <p:nvSpPr>
          <p:cNvPr id="21" name="矩形 20"/>
          <p:cNvSpPr/>
          <p:nvPr/>
        </p:nvSpPr>
        <p:spPr>
          <a:xfrm>
            <a:off x="4772919" y="5354976"/>
            <a:ext cx="1620957" cy="523220"/>
          </a:xfrm>
          <a:prstGeom prst="rect">
            <a:avLst/>
          </a:prstGeom>
        </p:spPr>
        <p:txBody>
          <a:bodyPr wrap="none">
            <a:spAutoFit/>
          </a:bodyPr>
          <a:lstStyle/>
          <a:p>
            <a:r>
              <a:rPr lang="zh-CN" altLang="en-US" sz="2800" b="1" dirty="0">
                <a:latin typeface="华文楷体" panose="02010600040101010101" pitchFamily="2" charset="-122"/>
                <a:ea typeface="华文楷体" panose="02010600040101010101" pitchFamily="2" charset="-122"/>
              </a:rPr>
              <a:t>检验夹具</a:t>
            </a:r>
          </a:p>
        </p:txBody>
      </p:sp>
      <p:sp>
        <p:nvSpPr>
          <p:cNvPr id="22" name="AutoShape 11"/>
          <p:cNvSpPr/>
          <p:nvPr/>
        </p:nvSpPr>
        <p:spPr bwMode="auto">
          <a:xfrm>
            <a:off x="4344291" y="3195350"/>
            <a:ext cx="381000" cy="2500330"/>
          </a:xfrm>
          <a:prstGeom prst="leftBrace">
            <a:avLst>
              <a:gd name="adj1" fmla="val 35000"/>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8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12"/>
                                        </p:tgtEl>
                                        <p:attrNameLst>
                                          <p:attrName>style.visibility</p:attrName>
                                        </p:attrNameLst>
                                      </p:cBhvr>
                                      <p:to>
                                        <p:strVal val="visible"/>
                                      </p:to>
                                    </p:set>
                                    <p:animEffect transition="in" filter="wipe(left)">
                                      <p:cBhvr>
                                        <p:cTn id="7" dur="3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
                                        </p:tgtEl>
                                        <p:attrNameLst>
                                          <p:attrName>style.visibility</p:attrName>
                                        </p:attrNameLst>
                                      </p:cBhvr>
                                      <p:to>
                                        <p:strVal val="visible"/>
                                      </p:to>
                                    </p:set>
                                    <p:animEffect transition="in" filter="wipe(left)">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
                                        </p:tgtEl>
                                        <p:attrNameLst>
                                          <p:attrName>style.visibility</p:attrName>
                                        </p:attrNameLst>
                                      </p:cBhvr>
                                      <p:to>
                                        <p:strVal val="visible"/>
                                      </p:to>
                                    </p:set>
                                    <p:animEffect transition="in" filter="wipe(left)">
                                      <p:cBhvr>
                                        <p:cTn id="22" dur="3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8"/>
                                        </p:tgtEl>
                                        <p:attrNameLst>
                                          <p:attrName>style.visibility</p:attrName>
                                        </p:attrNameLst>
                                      </p:cBhvr>
                                      <p:to>
                                        <p:strVal val="visible"/>
                                      </p:to>
                                    </p:set>
                                    <p:animEffect transition="in" filter="wipe(left)">
                                      <p:cBhvr>
                                        <p:cTn id="27" dur="300"/>
                                        <p:tgtEl>
                                          <p:spTgt spid="8"/>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wipe(left)">
                                      <p:cBhvr>
                                        <p:cTn id="30" dur="500"/>
                                        <p:tgtEl>
                                          <p:spTgt spid="18"/>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wipe(left)">
                                      <p:cBhvr>
                                        <p:cTn id="33" dur="500"/>
                                        <p:tgtEl>
                                          <p:spTgt spid="19"/>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wipe(left)">
                                      <p:cBhvr>
                                        <p:cTn id="36" dur="500"/>
                                        <p:tgtEl>
                                          <p:spTgt spid="20"/>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ipe(left)">
                                      <p:cBhvr>
                                        <p:cTn id="39"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bldLvl="0" animBg="1" autoUpdateAnimBg="0"/>
      <p:bldP spid="8" grpId="0" autoUpdateAnimBg="0"/>
      <p:bldP spid="12" grpId="0" autoUpdateAnimBg="0"/>
      <p:bldP spid="18" grpId="0"/>
      <p:bldP spid="19" grpId="0"/>
      <p:bldP spid="20" grpId="0"/>
      <p:bldP spid="2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14</a:t>
            </a:fld>
            <a:endParaRPr lang="en-US" altLang="zh-CN"/>
          </a:p>
        </p:txBody>
      </p:sp>
      <p:sp>
        <p:nvSpPr>
          <p:cNvPr id="5" name="Text Box 10"/>
          <p:cNvSpPr txBox="1">
            <a:spLocks noChangeArrowheads="1"/>
          </p:cNvSpPr>
          <p:nvPr/>
        </p:nvSpPr>
        <p:spPr bwMode="auto">
          <a:xfrm>
            <a:off x="558750" y="1249596"/>
            <a:ext cx="300513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33CC"/>
                </a:solidFill>
              </a:rPr>
              <a:t>(</a:t>
            </a:r>
            <a:r>
              <a:rPr lang="zh-CN" altLang="en-US" sz="2800" b="1" dirty="0">
                <a:solidFill>
                  <a:srgbClr val="FF33CC"/>
                </a:solidFill>
              </a:rPr>
              <a:t>1</a:t>
            </a:r>
            <a:r>
              <a:rPr lang="en-US" altLang="zh-CN" sz="2800" b="1" dirty="0">
                <a:solidFill>
                  <a:srgbClr val="FF33CC"/>
                </a:solidFill>
              </a:rPr>
              <a:t>)</a:t>
            </a:r>
            <a:r>
              <a:rPr lang="zh-CN" altLang="en-US" sz="2800" b="1" dirty="0">
                <a:solidFill>
                  <a:srgbClr val="FF33CC"/>
                </a:solidFill>
              </a:rPr>
              <a:t> 基准量具</a:t>
            </a:r>
          </a:p>
        </p:txBody>
      </p:sp>
      <p:sp>
        <p:nvSpPr>
          <p:cNvPr id="6" name="Text Box 12"/>
          <p:cNvSpPr txBox="1">
            <a:spLocks noChangeArrowheads="1"/>
          </p:cNvSpPr>
          <p:nvPr/>
        </p:nvSpPr>
        <p:spPr bwMode="auto">
          <a:xfrm>
            <a:off x="2814667" y="2060848"/>
            <a:ext cx="5400675" cy="6048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FF33CC"/>
                </a:solidFill>
              </a:rPr>
              <a:t>定值基准量具</a:t>
            </a:r>
            <a:r>
              <a:rPr lang="zh-CN" altLang="en-US" b="1" dirty="0"/>
              <a:t>，如量块、</a:t>
            </a:r>
            <a:r>
              <a:rPr lang="en-US" altLang="zh-CN" b="1" dirty="0"/>
              <a:t> </a:t>
            </a:r>
            <a:r>
              <a:rPr lang="zh-CN" altLang="en-US" b="1" dirty="0"/>
              <a:t>角度块。</a:t>
            </a:r>
            <a:r>
              <a:rPr lang="zh-CN" altLang="en-US" sz="2800" b="1" dirty="0"/>
              <a:t>                                  </a:t>
            </a:r>
          </a:p>
        </p:txBody>
      </p:sp>
      <p:sp>
        <p:nvSpPr>
          <p:cNvPr id="7" name="Text Box 14"/>
          <p:cNvSpPr txBox="1">
            <a:spLocks noChangeArrowheads="1"/>
          </p:cNvSpPr>
          <p:nvPr/>
        </p:nvSpPr>
        <p:spPr bwMode="auto">
          <a:xfrm>
            <a:off x="2822589" y="2967838"/>
            <a:ext cx="5400675" cy="5355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solidFill>
                  <a:srgbClr val="FF33CC"/>
                </a:solidFill>
              </a:rPr>
              <a:t>变值基准量具</a:t>
            </a:r>
            <a:r>
              <a:rPr lang="zh-CN" altLang="en-US" b="1" dirty="0"/>
              <a:t>，如线纹刻线尺等。      </a:t>
            </a:r>
          </a:p>
        </p:txBody>
      </p:sp>
      <p:grpSp>
        <p:nvGrpSpPr>
          <p:cNvPr id="9" name="Group 20"/>
          <p:cNvGrpSpPr/>
          <p:nvPr/>
        </p:nvGrpSpPr>
        <p:grpSpPr bwMode="auto">
          <a:xfrm>
            <a:off x="922655" y="2271015"/>
            <a:ext cx="1892300" cy="1199215"/>
            <a:chOff x="100" y="2884"/>
            <a:chExt cx="1192" cy="961"/>
          </a:xfrm>
        </p:grpSpPr>
        <p:sp>
          <p:nvSpPr>
            <p:cNvPr id="10" name="AutoShape 11"/>
            <p:cNvSpPr/>
            <p:nvPr/>
          </p:nvSpPr>
          <p:spPr bwMode="auto">
            <a:xfrm>
              <a:off x="1052" y="2921"/>
              <a:ext cx="240" cy="860"/>
            </a:xfrm>
            <a:prstGeom prst="leftBrace">
              <a:avLst>
                <a:gd name="adj1" fmla="val 35000"/>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 name="Text Box 19"/>
            <p:cNvSpPr txBox="1">
              <a:spLocks noChangeArrowheads="1"/>
            </p:cNvSpPr>
            <p:nvPr/>
          </p:nvSpPr>
          <p:spPr bwMode="auto">
            <a:xfrm>
              <a:off x="100" y="2884"/>
              <a:ext cx="1022" cy="96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基 准</a:t>
              </a:r>
            </a:p>
            <a:p>
              <a:pPr eaLnBrk="1" hangingPunct="1"/>
              <a:r>
                <a:rPr lang="zh-CN" altLang="en-US" b="1" dirty="0"/>
                <a:t>  </a:t>
              </a:r>
              <a:r>
                <a:rPr lang="zh-CN" altLang="en-US" b="1" dirty="0" smtClean="0"/>
                <a:t>         </a:t>
              </a:r>
              <a:r>
                <a:rPr lang="zh-CN" altLang="en-US" b="1" dirty="0"/>
                <a:t>分：</a:t>
              </a:r>
            </a:p>
            <a:p>
              <a:pPr eaLnBrk="1" hangingPunct="1"/>
              <a:r>
                <a:rPr lang="zh-CN" altLang="en-US" b="1" dirty="0"/>
                <a:t>量 具</a:t>
              </a:r>
            </a:p>
          </p:txBody>
        </p:sp>
      </p:grpSp>
      <p:grpSp>
        <p:nvGrpSpPr>
          <p:cNvPr id="14" name="组合 13"/>
          <p:cNvGrpSpPr/>
          <p:nvPr/>
        </p:nvGrpSpPr>
        <p:grpSpPr>
          <a:xfrm>
            <a:off x="767080" y="4071942"/>
            <a:ext cx="2487930" cy="1698625"/>
            <a:chOff x="928662" y="1392344"/>
            <a:chExt cx="5786478" cy="4913046"/>
          </a:xfrm>
        </p:grpSpPr>
        <p:pic>
          <p:nvPicPr>
            <p:cNvPr id="12" name="图片 11"/>
            <p:cNvPicPr>
              <a:picLocks noChangeAspect="1"/>
            </p:cNvPicPr>
            <p:nvPr/>
          </p:nvPicPr>
          <p:blipFill>
            <a:blip r:embed="rId3"/>
            <a:srcRect l="25238" t="19776" r="48683" b="34692"/>
            <a:stretch>
              <a:fillRect/>
            </a:stretch>
          </p:blipFill>
          <p:spPr>
            <a:xfrm>
              <a:off x="928662" y="1392344"/>
              <a:ext cx="5786478" cy="4913046"/>
            </a:xfrm>
            <a:prstGeom prst="rect">
              <a:avLst/>
            </a:prstGeom>
          </p:spPr>
        </p:pic>
        <p:sp>
          <p:nvSpPr>
            <p:cNvPr id="13" name="矩形 12"/>
            <p:cNvSpPr/>
            <p:nvPr/>
          </p:nvSpPr>
          <p:spPr>
            <a:xfrm>
              <a:off x="5338838" y="5786455"/>
              <a:ext cx="1312200" cy="47605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5" name="TextBox 14"/>
          <p:cNvSpPr txBox="1"/>
          <p:nvPr/>
        </p:nvSpPr>
        <p:spPr>
          <a:xfrm>
            <a:off x="1733166" y="5778462"/>
            <a:ext cx="928694" cy="368300"/>
          </a:xfrm>
          <a:prstGeom prst="rect">
            <a:avLst/>
          </a:prstGeom>
          <a:solidFill>
            <a:schemeClr val="bg1"/>
          </a:solidFill>
        </p:spPr>
        <p:txBody>
          <a:bodyPr wrap="square" rtlCol="0">
            <a:spAutoFit/>
          </a:bodyPr>
          <a:lstStyle/>
          <a:p>
            <a:r>
              <a:rPr lang="zh-CN" altLang="en-US" sz="1800" b="1" dirty="0"/>
              <a:t>量块</a:t>
            </a:r>
          </a:p>
        </p:txBody>
      </p:sp>
      <p:pic>
        <p:nvPicPr>
          <p:cNvPr id="17" name="Picture 6" descr="https://gd1.alicdn.com/imgextra/i2/13724280/TB2qYvRoPnD8KJjSspbXXbbEXXa-13724280.jpg"/>
          <p:cNvPicPr>
            <a:picLocks noChangeAspect="1" noChangeArrowheads="1"/>
          </p:cNvPicPr>
          <p:nvPr/>
        </p:nvPicPr>
        <p:blipFill>
          <a:blip r:embed="rId4"/>
          <a:srcRect l="15854" t="6676" r="6097" b="16548"/>
          <a:stretch>
            <a:fillRect/>
          </a:stretch>
        </p:blipFill>
        <p:spPr bwMode="auto">
          <a:xfrm>
            <a:off x="3392170" y="4084007"/>
            <a:ext cx="2618740" cy="1703705"/>
          </a:xfrm>
          <a:prstGeom prst="rect">
            <a:avLst/>
          </a:prstGeom>
          <a:noFill/>
        </p:spPr>
      </p:pic>
      <p:sp>
        <p:nvSpPr>
          <p:cNvPr id="18" name="TextBox 17"/>
          <p:cNvSpPr txBox="1"/>
          <p:nvPr/>
        </p:nvSpPr>
        <p:spPr>
          <a:xfrm>
            <a:off x="4313726" y="5778462"/>
            <a:ext cx="1071570" cy="368300"/>
          </a:xfrm>
          <a:prstGeom prst="rect">
            <a:avLst/>
          </a:prstGeom>
          <a:solidFill>
            <a:schemeClr val="bg1"/>
          </a:solidFill>
        </p:spPr>
        <p:txBody>
          <a:bodyPr wrap="square" rtlCol="0">
            <a:spAutoFit/>
          </a:bodyPr>
          <a:lstStyle/>
          <a:p>
            <a:r>
              <a:rPr lang="zh-CN" altLang="en-US" sz="1800" b="1" dirty="0"/>
              <a:t>角度块</a:t>
            </a:r>
          </a:p>
        </p:txBody>
      </p:sp>
      <p:pic>
        <p:nvPicPr>
          <p:cNvPr id="53252" name="Picture 4" descr="https://gimg2.baidu.com/image_search/src=http%3A%2F%2Fhimg.china.cn%2F0%2F5_1_1570100_800_800.jpg&amp;refer=http%3A%2F%2Fhimg.china.cn&amp;app=2002&amp;size=f9999,10000&amp;q=a80&amp;n=0&amp;g=0n&amp;fmt=jpeg?sec=1636772183&amp;t=c427a8e2da2b23a2179aa72f79054b26"/>
          <p:cNvPicPr>
            <a:picLocks noChangeAspect="1" noChangeArrowheads="1"/>
          </p:cNvPicPr>
          <p:nvPr/>
        </p:nvPicPr>
        <p:blipFill>
          <a:blip r:embed="rId5"/>
          <a:srcRect t="18907" b="20588"/>
          <a:stretch>
            <a:fillRect/>
          </a:stretch>
        </p:blipFill>
        <p:spPr bwMode="auto">
          <a:xfrm>
            <a:off x="6150614" y="4259902"/>
            <a:ext cx="2395855" cy="1500505"/>
          </a:xfrm>
          <a:prstGeom prst="rect">
            <a:avLst/>
          </a:prstGeom>
          <a:noFill/>
        </p:spPr>
      </p:pic>
      <p:sp>
        <p:nvSpPr>
          <p:cNvPr id="20" name="矩形 19"/>
          <p:cNvSpPr/>
          <p:nvPr/>
        </p:nvSpPr>
        <p:spPr>
          <a:xfrm>
            <a:off x="6695977" y="5778462"/>
            <a:ext cx="1346844" cy="369332"/>
          </a:xfrm>
          <a:prstGeom prst="rect">
            <a:avLst/>
          </a:prstGeom>
        </p:spPr>
        <p:txBody>
          <a:bodyPr wrap="none">
            <a:spAutoFit/>
          </a:bodyPr>
          <a:lstStyle/>
          <a:p>
            <a:r>
              <a:rPr lang="zh-CN" altLang="en-US" sz="1800" b="1" dirty="0">
                <a:solidFill>
                  <a:srgbClr val="000000"/>
                </a:solidFill>
              </a:rPr>
              <a:t>线纹刻线尺</a:t>
            </a:r>
          </a:p>
        </p:txBody>
      </p:sp>
      <p:sp>
        <p:nvSpPr>
          <p:cNvPr id="2" name="Text Box 8"/>
          <p:cNvSpPr txBox="1">
            <a:spLocks noChangeArrowheads="1"/>
          </p:cNvSpPr>
          <p:nvPr/>
        </p:nvSpPr>
        <p:spPr bwMode="auto">
          <a:xfrm>
            <a:off x="539723" y="332656"/>
            <a:ext cx="3429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1. 计量器具分类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2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6"/>
                                        </p:tgtEl>
                                        <p:attrNameLst>
                                          <p:attrName>style.visibility</p:attrName>
                                        </p:attrNameLst>
                                      </p:cBhvr>
                                      <p:to>
                                        <p:strVal val="visible"/>
                                      </p:to>
                                    </p:set>
                                    <p:animEffect transition="in" filter="wipe(left)">
                                      <p:cBhvr>
                                        <p:cTn id="22" dur="3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7"/>
                                        </p:tgtEl>
                                        <p:attrNameLst>
                                          <p:attrName>style.visibility</p:attrName>
                                        </p:attrNameLst>
                                      </p:cBhvr>
                                      <p:to>
                                        <p:strVal val="visible"/>
                                      </p:to>
                                    </p:set>
                                    <p:animEffect transition="in" filter="wipe(left)">
                                      <p:cBhvr>
                                        <p:cTn id="27" dur="3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ox(in)">
                                      <p:cBhvr>
                                        <p:cTn id="32" dur="500"/>
                                        <p:tgtEl>
                                          <p:spTgt spid="14"/>
                                        </p:tgtEl>
                                      </p:cBhvr>
                                    </p:animEffect>
                                  </p:childTnLst>
                                </p:cTn>
                              </p:par>
                              <p:par>
                                <p:cTn id="33" presetID="4" presetClass="entr" presetSubtype="16"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ox(in)">
                                      <p:cBhvr>
                                        <p:cTn id="35" dur="500"/>
                                        <p:tgtEl>
                                          <p:spTgt spid="15"/>
                                        </p:tgtEl>
                                      </p:cBhvr>
                                    </p:animEffect>
                                  </p:childTnLst>
                                </p:cTn>
                              </p:par>
                              <p:par>
                                <p:cTn id="36" presetID="4" presetClass="entr" presetSubtype="16" fill="hold" nodeType="with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box(in)">
                                      <p:cBhvr>
                                        <p:cTn id="38" dur="500"/>
                                        <p:tgtEl>
                                          <p:spTgt spid="17"/>
                                        </p:tgtEl>
                                      </p:cBhvr>
                                    </p:animEffect>
                                  </p:childTnLst>
                                </p:cTn>
                              </p:par>
                              <p:par>
                                <p:cTn id="39" presetID="4" presetClass="entr" presetSubtype="16"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ox(in)">
                                      <p:cBhvr>
                                        <p:cTn id="41" dur="500"/>
                                        <p:tgtEl>
                                          <p:spTgt spid="18"/>
                                        </p:tgtEl>
                                      </p:cBhvr>
                                    </p:animEffect>
                                  </p:childTnLst>
                                </p:cTn>
                              </p:par>
                              <p:par>
                                <p:cTn id="42" presetID="4" presetClass="entr" presetSubtype="16" fill="hold" nodeType="withEffect">
                                  <p:stCondLst>
                                    <p:cond delay="0"/>
                                  </p:stCondLst>
                                  <p:childTnLst>
                                    <p:set>
                                      <p:cBhvr>
                                        <p:cTn id="43" dur="1" fill="hold">
                                          <p:stCondLst>
                                            <p:cond delay="0"/>
                                          </p:stCondLst>
                                        </p:cTn>
                                        <p:tgtEl>
                                          <p:spTgt spid="53252"/>
                                        </p:tgtEl>
                                        <p:attrNameLst>
                                          <p:attrName>style.visibility</p:attrName>
                                        </p:attrNameLst>
                                      </p:cBhvr>
                                      <p:to>
                                        <p:strVal val="visible"/>
                                      </p:to>
                                    </p:set>
                                    <p:animEffect transition="in" filter="box(in)">
                                      <p:cBhvr>
                                        <p:cTn id="44" dur="500"/>
                                        <p:tgtEl>
                                          <p:spTgt spid="53252"/>
                                        </p:tgtEl>
                                      </p:cBhvr>
                                    </p:animEffect>
                                  </p:childTnLst>
                                </p:cTn>
                              </p:par>
                              <p:par>
                                <p:cTn id="45" presetID="4" presetClass="entr" presetSubtype="16"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ox(in)">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autoUpdateAnimBg="0"/>
      <p:bldP spid="7" grpId="0" bldLvl="0" animBg="1" autoUpdateAnimBg="0"/>
      <p:bldP spid="15" grpId="0" bldLvl="0" animBg="1"/>
      <p:bldP spid="18" grpId="0" bldLvl="0" animBg="1"/>
      <p:bldP spid="20" grpId="0"/>
      <p:bldP spid="2" grpId="0" bldLvl="0" animBg="1"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15</a:t>
            </a:fld>
            <a:endParaRPr lang="en-US" altLang="zh-CN"/>
          </a:p>
        </p:txBody>
      </p:sp>
      <p:sp>
        <p:nvSpPr>
          <p:cNvPr id="5" name="Text Box 4"/>
          <p:cNvSpPr txBox="1">
            <a:spLocks noChangeArrowheads="1"/>
          </p:cNvSpPr>
          <p:nvPr/>
        </p:nvSpPr>
        <p:spPr bwMode="auto">
          <a:xfrm>
            <a:off x="539556" y="1124744"/>
            <a:ext cx="35210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solidFill>
                  <a:srgbClr val="FF33CC"/>
                </a:solidFill>
              </a:rPr>
              <a:t>(2) 通用计量器具</a:t>
            </a:r>
            <a:endParaRPr lang="en-US" altLang="zh-CN" sz="2800" b="1" dirty="0">
              <a:solidFill>
                <a:srgbClr val="FF33CC"/>
              </a:solidFill>
            </a:endParaRPr>
          </a:p>
        </p:txBody>
      </p:sp>
      <p:grpSp>
        <p:nvGrpSpPr>
          <p:cNvPr id="7" name="Group 16"/>
          <p:cNvGrpSpPr/>
          <p:nvPr/>
        </p:nvGrpSpPr>
        <p:grpSpPr bwMode="auto">
          <a:xfrm>
            <a:off x="755576" y="1925216"/>
            <a:ext cx="1544638" cy="4038600"/>
            <a:chOff x="383" y="1440"/>
            <a:chExt cx="973" cy="2544"/>
          </a:xfrm>
        </p:grpSpPr>
        <p:sp>
          <p:nvSpPr>
            <p:cNvPr id="8" name="Text Box 6"/>
            <p:cNvSpPr txBox="1">
              <a:spLocks noChangeArrowheads="1"/>
            </p:cNvSpPr>
            <p:nvPr/>
          </p:nvSpPr>
          <p:spPr bwMode="auto">
            <a:xfrm>
              <a:off x="383" y="2476"/>
              <a:ext cx="704" cy="4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按其原</a:t>
              </a:r>
            </a:p>
            <a:p>
              <a:pPr eaLnBrk="1" hangingPunct="1"/>
              <a:r>
                <a:rPr lang="zh-CN" altLang="en-US" sz="2000" b="1" dirty="0"/>
                <a:t>理可分：</a:t>
              </a:r>
            </a:p>
          </p:txBody>
        </p:sp>
        <p:sp>
          <p:nvSpPr>
            <p:cNvPr id="9" name="AutoShape 7"/>
            <p:cNvSpPr/>
            <p:nvPr/>
          </p:nvSpPr>
          <p:spPr bwMode="auto">
            <a:xfrm>
              <a:off x="1020" y="1440"/>
              <a:ext cx="336" cy="2544"/>
            </a:xfrm>
            <a:prstGeom prst="leftBrace">
              <a:avLst>
                <a:gd name="adj1" fmla="val 63095"/>
                <a:gd name="adj2" fmla="val 50000"/>
              </a:avLst>
            </a:prstGeom>
            <a:noFill/>
            <a:ln w="38100">
              <a:solidFill>
                <a:schemeClr val="tx1"/>
              </a:solidFill>
              <a:rou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sz="2000"/>
            </a:p>
          </p:txBody>
        </p:sp>
      </p:grpSp>
      <p:sp>
        <p:nvSpPr>
          <p:cNvPr id="10" name="Text Box 8"/>
          <p:cNvSpPr txBox="1">
            <a:spLocks noChangeArrowheads="1"/>
          </p:cNvSpPr>
          <p:nvPr/>
        </p:nvSpPr>
        <p:spPr bwMode="auto">
          <a:xfrm>
            <a:off x="2265292" y="1772816"/>
            <a:ext cx="57308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①   游标类量具——如游标卡尺等。</a:t>
            </a:r>
          </a:p>
        </p:txBody>
      </p:sp>
      <p:sp>
        <p:nvSpPr>
          <p:cNvPr id="11" name="Text Box 9"/>
          <p:cNvSpPr txBox="1">
            <a:spLocks noChangeArrowheads="1"/>
          </p:cNvSpPr>
          <p:nvPr/>
        </p:nvSpPr>
        <p:spPr bwMode="auto">
          <a:xfrm>
            <a:off x="2265292" y="2306216"/>
            <a:ext cx="605472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a:t>②  微动螺旋类量具——如千分尺等。</a:t>
            </a:r>
          </a:p>
        </p:txBody>
      </p:sp>
      <p:sp>
        <p:nvSpPr>
          <p:cNvPr id="12" name="Text Box 10"/>
          <p:cNvSpPr txBox="1">
            <a:spLocks noChangeArrowheads="1"/>
          </p:cNvSpPr>
          <p:nvPr/>
        </p:nvSpPr>
        <p:spPr bwMode="auto">
          <a:xfrm>
            <a:off x="2265288" y="2781346"/>
            <a:ext cx="5115024"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③  机械比较仪——如齿轮杠杆比较仪等。</a:t>
            </a:r>
          </a:p>
        </p:txBody>
      </p:sp>
      <p:sp>
        <p:nvSpPr>
          <p:cNvPr id="13" name="Text Box 11"/>
          <p:cNvSpPr txBox="1">
            <a:spLocks noChangeArrowheads="1"/>
          </p:cNvSpPr>
          <p:nvPr/>
        </p:nvSpPr>
        <p:spPr bwMode="auto">
          <a:xfrm>
            <a:off x="2265292" y="3296816"/>
            <a:ext cx="6557963"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④  光学量仪——如光学计、光学测角仪等。</a:t>
            </a:r>
          </a:p>
        </p:txBody>
      </p:sp>
      <p:sp>
        <p:nvSpPr>
          <p:cNvPr id="14" name="Text Box 12"/>
          <p:cNvSpPr txBox="1">
            <a:spLocks noChangeArrowheads="1"/>
          </p:cNvSpPr>
          <p:nvPr/>
        </p:nvSpPr>
        <p:spPr bwMode="auto">
          <a:xfrm>
            <a:off x="2265288" y="3830216"/>
            <a:ext cx="641508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⑤  气动量仪——如浮标式气动量仪的。</a:t>
            </a:r>
          </a:p>
        </p:txBody>
      </p:sp>
      <p:sp>
        <p:nvSpPr>
          <p:cNvPr id="15" name="Text Box 13"/>
          <p:cNvSpPr txBox="1">
            <a:spLocks noChangeArrowheads="1"/>
          </p:cNvSpPr>
          <p:nvPr/>
        </p:nvSpPr>
        <p:spPr bwMode="auto">
          <a:xfrm>
            <a:off x="2265292" y="4363616"/>
            <a:ext cx="53498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⑥  电动量仪——如电动轮廓仪等。</a:t>
            </a:r>
          </a:p>
        </p:txBody>
      </p:sp>
      <p:sp>
        <p:nvSpPr>
          <p:cNvPr id="16" name="Text Box 14"/>
          <p:cNvSpPr txBox="1">
            <a:spLocks noChangeArrowheads="1"/>
          </p:cNvSpPr>
          <p:nvPr/>
        </p:nvSpPr>
        <p:spPr bwMode="auto">
          <a:xfrm>
            <a:off x="2265288" y="4897016"/>
            <a:ext cx="6172200"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⑦  微机化量仪（机电一体化量仪）——</a:t>
            </a:r>
          </a:p>
        </p:txBody>
      </p:sp>
      <p:sp>
        <p:nvSpPr>
          <p:cNvPr id="17" name="Text Box 15"/>
          <p:cNvSpPr txBox="1">
            <a:spLocks noChangeArrowheads="1"/>
          </p:cNvSpPr>
          <p:nvPr/>
        </p:nvSpPr>
        <p:spPr bwMode="auto">
          <a:xfrm>
            <a:off x="2738363" y="5430416"/>
            <a:ext cx="5653088"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如微机控制的数显测量仪:数显光学计、数显测长仪、三坐标测量机等。</a:t>
            </a:r>
          </a:p>
        </p:txBody>
      </p:sp>
      <p:sp>
        <p:nvSpPr>
          <p:cNvPr id="2" name="Text Box 8"/>
          <p:cNvSpPr txBox="1">
            <a:spLocks noChangeArrowheads="1"/>
          </p:cNvSpPr>
          <p:nvPr/>
        </p:nvSpPr>
        <p:spPr bwMode="auto">
          <a:xfrm>
            <a:off x="539723" y="332626"/>
            <a:ext cx="3429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1. 计量器具分类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par>
                          <p:cTn id="8" fill="hold">
                            <p:stCondLst>
                              <p:cond delay="1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5"/>
                                        </p:tgtEl>
                                        <p:attrNameLst>
                                          <p:attrName>style.visibility</p:attrName>
                                        </p:attrNameLst>
                                      </p:cBhvr>
                                      <p:to>
                                        <p:strVal val="visible"/>
                                      </p:to>
                                    </p:set>
                                    <p:animEffect transition="in" filter="wipe(left)">
                                      <p:cBhvr>
                                        <p:cTn id="11" dur="3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left)">
                                      <p:cBhvr>
                                        <p:cTn id="16" dur="20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iterate type="wd">
                                    <p:tmPct val="100000"/>
                                  </p:iterate>
                                  <p:childTnLst>
                                    <p:set>
                                      <p:cBhvr>
                                        <p:cTn id="20" dur="1" fill="hold">
                                          <p:stCondLst>
                                            <p:cond delay="0"/>
                                          </p:stCondLst>
                                        </p:cTn>
                                        <p:tgtEl>
                                          <p:spTgt spid="10"/>
                                        </p:tgtEl>
                                        <p:attrNameLst>
                                          <p:attrName>style.visibility</p:attrName>
                                        </p:attrNameLst>
                                      </p:cBhvr>
                                      <p:to>
                                        <p:strVal val="visible"/>
                                      </p:to>
                                    </p:set>
                                    <p:animEffect transition="in" filter="wipe(left)">
                                      <p:cBhvr>
                                        <p:cTn id="21" dur="300"/>
                                        <p:tgtEl>
                                          <p:spTgt spid="10"/>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11"/>
                                        </p:tgtEl>
                                        <p:attrNameLst>
                                          <p:attrName>style.visibility</p:attrName>
                                        </p:attrNameLst>
                                      </p:cBhvr>
                                      <p:to>
                                        <p:strVal val="visible"/>
                                      </p:to>
                                    </p:set>
                                    <p:animEffect transition="in" filter="wipe(left)">
                                      <p:cBhvr>
                                        <p:cTn id="26" dur="3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2"/>
                                        </p:tgtEl>
                                        <p:attrNameLst>
                                          <p:attrName>style.visibility</p:attrName>
                                        </p:attrNameLst>
                                      </p:cBhvr>
                                      <p:to>
                                        <p:strVal val="visible"/>
                                      </p:to>
                                    </p:set>
                                    <p:animEffect transition="in" filter="wipe(left)">
                                      <p:cBhvr>
                                        <p:cTn id="31" dur="3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3"/>
                                        </p:tgtEl>
                                        <p:attrNameLst>
                                          <p:attrName>style.visibility</p:attrName>
                                        </p:attrNameLst>
                                      </p:cBhvr>
                                      <p:to>
                                        <p:strVal val="visible"/>
                                      </p:to>
                                    </p:set>
                                    <p:animEffect transition="in" filter="wipe(left)">
                                      <p:cBhvr>
                                        <p:cTn id="36" dur="3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14"/>
                                        </p:tgtEl>
                                        <p:attrNameLst>
                                          <p:attrName>style.visibility</p:attrName>
                                        </p:attrNameLst>
                                      </p:cBhvr>
                                      <p:to>
                                        <p:strVal val="visible"/>
                                      </p:to>
                                    </p:set>
                                    <p:animEffect transition="in" filter="wipe(left)">
                                      <p:cBhvr>
                                        <p:cTn id="41" dur="300"/>
                                        <p:tgtEl>
                                          <p:spTgt spid="14"/>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wd">
                                    <p:tmPct val="100000"/>
                                  </p:iterate>
                                  <p:childTnLst>
                                    <p:set>
                                      <p:cBhvr>
                                        <p:cTn id="45" dur="1" fill="hold">
                                          <p:stCondLst>
                                            <p:cond delay="0"/>
                                          </p:stCondLst>
                                        </p:cTn>
                                        <p:tgtEl>
                                          <p:spTgt spid="15"/>
                                        </p:tgtEl>
                                        <p:attrNameLst>
                                          <p:attrName>style.visibility</p:attrName>
                                        </p:attrNameLst>
                                      </p:cBhvr>
                                      <p:to>
                                        <p:strVal val="visible"/>
                                      </p:to>
                                    </p:set>
                                    <p:animEffect transition="in" filter="wipe(left)">
                                      <p:cBhvr>
                                        <p:cTn id="46" dur="3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iterate type="wd">
                                    <p:tmPct val="100000"/>
                                  </p:iterate>
                                  <p:childTnLst>
                                    <p:set>
                                      <p:cBhvr>
                                        <p:cTn id="50" dur="1" fill="hold">
                                          <p:stCondLst>
                                            <p:cond delay="0"/>
                                          </p:stCondLst>
                                        </p:cTn>
                                        <p:tgtEl>
                                          <p:spTgt spid="16"/>
                                        </p:tgtEl>
                                        <p:attrNameLst>
                                          <p:attrName>style.visibility</p:attrName>
                                        </p:attrNameLst>
                                      </p:cBhvr>
                                      <p:to>
                                        <p:strVal val="visible"/>
                                      </p:to>
                                    </p:set>
                                    <p:animEffect transition="in" filter="wipe(left)">
                                      <p:cBhvr>
                                        <p:cTn id="51" dur="300"/>
                                        <p:tgtEl>
                                          <p:spTgt spid="16"/>
                                        </p:tgtEl>
                                      </p:cBhvr>
                                    </p:animEffect>
                                  </p:childTnLst>
                                </p:cTn>
                              </p:par>
                            </p:childTnLst>
                          </p:cTn>
                        </p:par>
                      </p:childTnLst>
                    </p:cTn>
                  </p:par>
                  <p:par>
                    <p:cTn id="52" fill="hold">
                      <p:stCondLst>
                        <p:cond delay="indefinite"/>
                      </p:stCondLst>
                      <p:childTnLst>
                        <p:par>
                          <p:cTn id="53" fill="hold">
                            <p:stCondLst>
                              <p:cond delay="0"/>
                            </p:stCondLst>
                            <p:childTnLst>
                              <p:par>
                                <p:cTn id="54" presetID="22" presetClass="entr" presetSubtype="8" fill="hold" grpId="0" nodeType="clickEffect">
                                  <p:stCondLst>
                                    <p:cond delay="0"/>
                                  </p:stCondLst>
                                  <p:iterate type="wd">
                                    <p:tmPct val="100000"/>
                                  </p:iterate>
                                  <p:childTnLst>
                                    <p:set>
                                      <p:cBhvr>
                                        <p:cTn id="55" dur="1" fill="hold">
                                          <p:stCondLst>
                                            <p:cond delay="0"/>
                                          </p:stCondLst>
                                        </p:cTn>
                                        <p:tgtEl>
                                          <p:spTgt spid="17"/>
                                        </p:tgtEl>
                                        <p:attrNameLst>
                                          <p:attrName>style.visibility</p:attrName>
                                        </p:attrNameLst>
                                      </p:cBhvr>
                                      <p:to>
                                        <p:strVal val="visible"/>
                                      </p:to>
                                    </p:set>
                                    <p:animEffect transition="in" filter="wipe(left)">
                                      <p:cBhvr>
                                        <p:cTn id="56" dur="3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10" grpId="0" bldLvl="0" animBg="1" autoUpdateAnimBg="0"/>
      <p:bldP spid="11" grpId="0" bldLvl="0" animBg="1" autoUpdateAnimBg="0"/>
      <p:bldP spid="12" grpId="0" bldLvl="0" animBg="1" autoUpdateAnimBg="0"/>
      <p:bldP spid="13" grpId="0" bldLvl="0" animBg="1" autoUpdateAnimBg="0"/>
      <p:bldP spid="14" grpId="0" bldLvl="0" animBg="1" autoUpdateAnimBg="0"/>
      <p:bldP spid="15" grpId="0" bldLvl="0" animBg="1" autoUpdateAnimBg="0"/>
      <p:bldP spid="16" grpId="0" bldLvl="0" animBg="1" autoUpdateAnimBg="0"/>
      <p:bldP spid="17" grpId="0" bldLvl="0" animBg="1" autoUpdateAnimBg="0"/>
      <p:bldP spid="2" grpId="0" bldLvl="0" animBg="1"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16</a:t>
            </a:fld>
            <a:endParaRPr lang="en-US" altLang="zh-CN"/>
          </a:p>
        </p:txBody>
      </p:sp>
      <p:grpSp>
        <p:nvGrpSpPr>
          <p:cNvPr id="12" name="组合 11"/>
          <p:cNvGrpSpPr/>
          <p:nvPr/>
        </p:nvGrpSpPr>
        <p:grpSpPr>
          <a:xfrm>
            <a:off x="5016954" y="4714884"/>
            <a:ext cx="2786082" cy="1302428"/>
            <a:chOff x="5572132" y="4643446"/>
            <a:chExt cx="2786082" cy="1302428"/>
          </a:xfrm>
        </p:grpSpPr>
        <p:pic>
          <p:nvPicPr>
            <p:cNvPr id="5" name="图片 4"/>
            <p:cNvPicPr>
              <a:picLocks noChangeAspect="1"/>
            </p:cNvPicPr>
            <p:nvPr/>
          </p:nvPicPr>
          <p:blipFill>
            <a:blip r:embed="rId2"/>
            <a:srcRect l="53565" t="58599" r="23858" b="22876"/>
            <a:stretch>
              <a:fillRect/>
            </a:stretch>
          </p:blipFill>
          <p:spPr>
            <a:xfrm>
              <a:off x="5572132" y="4643446"/>
              <a:ext cx="2786082" cy="1285884"/>
            </a:xfrm>
            <a:prstGeom prst="rect">
              <a:avLst/>
            </a:prstGeom>
          </p:spPr>
        </p:pic>
        <p:sp>
          <p:nvSpPr>
            <p:cNvPr id="9" name="TextBox 8"/>
            <p:cNvSpPr txBox="1"/>
            <p:nvPr/>
          </p:nvSpPr>
          <p:spPr>
            <a:xfrm>
              <a:off x="6348056" y="5545764"/>
              <a:ext cx="2000264" cy="400110"/>
            </a:xfrm>
            <a:prstGeom prst="rect">
              <a:avLst/>
            </a:prstGeom>
            <a:no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数显内径千分尺</a:t>
              </a:r>
            </a:p>
          </p:txBody>
        </p:sp>
      </p:grpSp>
      <p:grpSp>
        <p:nvGrpSpPr>
          <p:cNvPr id="13" name="组合 12"/>
          <p:cNvGrpSpPr/>
          <p:nvPr/>
        </p:nvGrpSpPr>
        <p:grpSpPr>
          <a:xfrm>
            <a:off x="1087864" y="1556792"/>
            <a:ext cx="3571900" cy="1143008"/>
            <a:chOff x="785786" y="1214422"/>
            <a:chExt cx="3571900" cy="1143008"/>
          </a:xfrm>
        </p:grpSpPr>
        <p:pic>
          <p:nvPicPr>
            <p:cNvPr id="6" name="图片 5"/>
            <p:cNvPicPr>
              <a:picLocks noChangeAspect="1"/>
            </p:cNvPicPr>
            <p:nvPr/>
          </p:nvPicPr>
          <p:blipFill>
            <a:blip r:embed="rId2"/>
            <a:srcRect l="39093" t="21548" r="31962" b="61985"/>
            <a:stretch>
              <a:fillRect/>
            </a:stretch>
          </p:blipFill>
          <p:spPr>
            <a:xfrm>
              <a:off x="785786" y="1214422"/>
              <a:ext cx="3571900" cy="1143008"/>
            </a:xfrm>
            <a:prstGeom prst="rect">
              <a:avLst/>
            </a:prstGeom>
          </p:spPr>
        </p:pic>
        <p:sp>
          <p:nvSpPr>
            <p:cNvPr id="11" name="TextBox 10"/>
            <p:cNvSpPr txBox="1"/>
            <p:nvPr/>
          </p:nvSpPr>
          <p:spPr>
            <a:xfrm>
              <a:off x="3106970" y="1957320"/>
              <a:ext cx="1234234" cy="400110"/>
            </a:xfrm>
            <a:prstGeom prst="rect">
              <a:avLst/>
            </a:prstGeom>
            <a:solidFill>
              <a:srgbClr val="A7C4EF"/>
            </a:solidFill>
            <a:ln>
              <a:noFill/>
            </a:ln>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游标卡尺</a:t>
              </a:r>
            </a:p>
          </p:txBody>
        </p:sp>
      </p:grpSp>
      <p:grpSp>
        <p:nvGrpSpPr>
          <p:cNvPr id="16" name="组合 15"/>
          <p:cNvGrpSpPr/>
          <p:nvPr/>
        </p:nvGrpSpPr>
        <p:grpSpPr>
          <a:xfrm>
            <a:off x="1158668" y="4644399"/>
            <a:ext cx="3383962" cy="1372765"/>
            <a:chOff x="500034" y="4500570"/>
            <a:chExt cx="3565846" cy="1503505"/>
          </a:xfrm>
        </p:grpSpPr>
        <p:pic>
          <p:nvPicPr>
            <p:cNvPr id="8" name="图片 7"/>
            <p:cNvPicPr>
              <a:picLocks noChangeAspect="1"/>
            </p:cNvPicPr>
            <p:nvPr/>
          </p:nvPicPr>
          <p:blipFill>
            <a:blip r:embed="rId2"/>
            <a:srcRect l="24834" t="60657" r="47379" b="18760"/>
            <a:stretch>
              <a:fillRect/>
            </a:stretch>
          </p:blipFill>
          <p:spPr>
            <a:xfrm>
              <a:off x="500034" y="4572008"/>
              <a:ext cx="3429024" cy="1428760"/>
            </a:xfrm>
            <a:prstGeom prst="rect">
              <a:avLst/>
            </a:prstGeom>
          </p:spPr>
        </p:pic>
        <p:sp>
          <p:nvSpPr>
            <p:cNvPr id="14" name="TextBox 13"/>
            <p:cNvSpPr txBox="1"/>
            <p:nvPr/>
          </p:nvSpPr>
          <p:spPr>
            <a:xfrm>
              <a:off x="2472820" y="5565859"/>
              <a:ext cx="1593060" cy="438216"/>
            </a:xfrm>
            <a:prstGeom prst="rect">
              <a:avLst/>
            </a:prstGeom>
            <a:solidFill>
              <a:schemeClr val="bg1"/>
            </a:solid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外径千分尺</a:t>
              </a:r>
              <a:endParaRPr lang="en-US" altLang="zh-CN" sz="2000" b="1" dirty="0">
                <a:solidFill>
                  <a:srgbClr val="FF0000"/>
                </a:solidFill>
                <a:latin typeface="华文楷体" panose="02010600040101010101" pitchFamily="2" charset="-122"/>
                <a:ea typeface="华文楷体" panose="02010600040101010101" pitchFamily="2" charset="-122"/>
              </a:endParaRPr>
            </a:p>
          </p:txBody>
        </p:sp>
        <p:sp>
          <p:nvSpPr>
            <p:cNvPr id="15" name="矩形 14"/>
            <p:cNvSpPr/>
            <p:nvPr/>
          </p:nvSpPr>
          <p:spPr>
            <a:xfrm>
              <a:off x="3143240" y="4500570"/>
              <a:ext cx="500066" cy="7143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087864" y="3068960"/>
            <a:ext cx="3429024" cy="1148080"/>
            <a:chOff x="571472" y="2857496"/>
            <a:chExt cx="4071966" cy="1363345"/>
          </a:xfrm>
        </p:grpSpPr>
        <p:pic>
          <p:nvPicPr>
            <p:cNvPr id="7" name="图片 6"/>
            <p:cNvPicPr>
              <a:picLocks noChangeAspect="1"/>
            </p:cNvPicPr>
            <p:nvPr/>
          </p:nvPicPr>
          <p:blipFill>
            <a:blip r:embed="rId2"/>
            <a:srcRect l="26358" t="39044" r="40646" b="41402"/>
            <a:stretch>
              <a:fillRect/>
            </a:stretch>
          </p:blipFill>
          <p:spPr>
            <a:xfrm>
              <a:off x="571472" y="2857496"/>
              <a:ext cx="4071966" cy="1357322"/>
            </a:xfrm>
            <a:prstGeom prst="rect">
              <a:avLst/>
            </a:prstGeom>
          </p:spPr>
        </p:pic>
        <p:sp>
          <p:nvSpPr>
            <p:cNvPr id="17" name="TextBox 16"/>
            <p:cNvSpPr txBox="1"/>
            <p:nvPr/>
          </p:nvSpPr>
          <p:spPr>
            <a:xfrm>
              <a:off x="2462661" y="3747290"/>
              <a:ext cx="2171700" cy="473551"/>
            </a:xfrm>
            <a:prstGeom prst="rect">
              <a:avLst/>
            </a:prstGeom>
            <a:solidFill>
              <a:srgbClr val="007FFE"/>
            </a:solid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数显游标卡尺</a:t>
              </a:r>
            </a:p>
          </p:txBody>
        </p:sp>
      </p:grpSp>
      <p:pic>
        <p:nvPicPr>
          <p:cNvPr id="19" name="图片 18"/>
          <p:cNvPicPr>
            <a:picLocks noChangeAspect="1"/>
          </p:cNvPicPr>
          <p:nvPr/>
        </p:nvPicPr>
        <p:blipFill>
          <a:blip r:embed="rId3"/>
          <a:srcRect l="54289" t="23808" r="26878" b="23605"/>
          <a:stretch>
            <a:fillRect/>
          </a:stretch>
        </p:blipFill>
        <p:spPr>
          <a:xfrm>
            <a:off x="5302706" y="1428736"/>
            <a:ext cx="2357454" cy="2928958"/>
          </a:xfrm>
          <a:prstGeom prst="rect">
            <a:avLst/>
          </a:prstGeom>
        </p:spPr>
      </p:pic>
      <p:sp>
        <p:nvSpPr>
          <p:cNvPr id="20" name="TextBox 19"/>
          <p:cNvSpPr txBox="1"/>
          <p:nvPr/>
        </p:nvSpPr>
        <p:spPr>
          <a:xfrm>
            <a:off x="6588590" y="2143116"/>
            <a:ext cx="1511802" cy="707886"/>
          </a:xfrm>
          <a:prstGeom prst="rect">
            <a:avLst/>
          </a:prstGeom>
          <a:solidFill>
            <a:schemeClr val="bg1"/>
          </a:solid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浮标式气动量仪</a:t>
            </a:r>
            <a:endParaRPr lang="en-US" altLang="zh-CN" sz="2000" b="1" dirty="0">
              <a:solidFill>
                <a:srgbClr val="FF0000"/>
              </a:solidFill>
              <a:latin typeface="华文楷体" panose="02010600040101010101" pitchFamily="2" charset="-122"/>
              <a:ea typeface="华文楷体" panose="02010600040101010101" pitchFamily="2" charset="-122"/>
            </a:endParaRPr>
          </a:p>
        </p:txBody>
      </p:sp>
      <p:sp>
        <p:nvSpPr>
          <p:cNvPr id="2" name="Text Box 8"/>
          <p:cNvSpPr txBox="1">
            <a:spLocks noChangeArrowheads="1"/>
          </p:cNvSpPr>
          <p:nvPr/>
        </p:nvSpPr>
        <p:spPr bwMode="auto">
          <a:xfrm>
            <a:off x="539723" y="332626"/>
            <a:ext cx="3429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1. 计量器具分类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17</a:t>
            </a:fld>
            <a:endParaRPr lang="en-US" altLang="zh-CN"/>
          </a:p>
        </p:txBody>
      </p:sp>
      <p:sp>
        <p:nvSpPr>
          <p:cNvPr id="6" name="TextBox 5"/>
          <p:cNvSpPr txBox="1"/>
          <p:nvPr/>
        </p:nvSpPr>
        <p:spPr>
          <a:xfrm>
            <a:off x="928662" y="5430532"/>
            <a:ext cx="2000264" cy="400110"/>
          </a:xfrm>
          <a:prstGeom prst="rect">
            <a:avLst/>
          </a:prstGeom>
          <a:no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杠杆齿轮比较仪</a:t>
            </a:r>
          </a:p>
        </p:txBody>
      </p:sp>
      <p:pic>
        <p:nvPicPr>
          <p:cNvPr id="7" name="Picture 6" descr="https://gimg2.baidu.com/image_search/src=http%3A%2F%2Fwww.shxwjc.com%2FimageRepository%2F2a57dbbd-2ba7-4cbf-8e5a-078486d0a833.jpg&amp;refer=http%3A%2F%2Fwww.shxwjc.com&amp;app=2002&amp;size=f9999,10000&amp;q=a80&amp;n=0&amp;g=0n&amp;fmt=jpeg?sec=1636796504&amp;t=6d3e9a8e2d0b3da95a1a88fadc272c90"/>
          <p:cNvPicPr>
            <a:picLocks noChangeAspect="1" noChangeArrowheads="1"/>
          </p:cNvPicPr>
          <p:nvPr/>
        </p:nvPicPr>
        <p:blipFill>
          <a:blip r:embed="rId2"/>
          <a:srcRect l="2083" t="862" r="3124"/>
          <a:stretch>
            <a:fillRect/>
          </a:stretch>
        </p:blipFill>
        <p:spPr bwMode="auto">
          <a:xfrm>
            <a:off x="3428992" y="1818321"/>
            <a:ext cx="1928826" cy="3397901"/>
          </a:xfrm>
          <a:prstGeom prst="rect">
            <a:avLst/>
          </a:prstGeom>
          <a:noFill/>
        </p:spPr>
      </p:pic>
      <p:sp>
        <p:nvSpPr>
          <p:cNvPr id="8" name="TextBox 7"/>
          <p:cNvSpPr txBox="1"/>
          <p:nvPr/>
        </p:nvSpPr>
        <p:spPr>
          <a:xfrm>
            <a:off x="3714744" y="5459050"/>
            <a:ext cx="1643074" cy="400110"/>
          </a:xfrm>
          <a:prstGeom prst="rect">
            <a:avLst/>
          </a:prstGeom>
          <a:no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数显光学计</a:t>
            </a:r>
          </a:p>
        </p:txBody>
      </p:sp>
      <p:pic>
        <p:nvPicPr>
          <p:cNvPr id="10" name="Picture 2" descr="https://gimg2.baidu.com/image_search/src=http%3A%2F%2Fimg.zhaosw.com%2Fuploadpic%2F952%2F795%2F2809837003_357173219.jpg&amp;refer=http%3A%2F%2Fimg.zhaosw.com&amp;app=2002&amp;size=f9999,10000&amp;q=a80&amp;n=0&amp;g=0n&amp;fmt=jpeg?sec=1636794751&amp;t=6efa43719d6703040e4f6477cc944da8"/>
          <p:cNvPicPr>
            <a:picLocks noChangeAspect="1" noChangeArrowheads="1"/>
          </p:cNvPicPr>
          <p:nvPr/>
        </p:nvPicPr>
        <p:blipFill>
          <a:blip r:embed="rId3"/>
          <a:srcRect l="14529" t="5556" r="19051" b="5556"/>
          <a:stretch>
            <a:fillRect/>
          </a:stretch>
        </p:blipFill>
        <p:spPr bwMode="auto">
          <a:xfrm>
            <a:off x="785786" y="1787194"/>
            <a:ext cx="2143140" cy="3488770"/>
          </a:xfrm>
          <a:prstGeom prst="rect">
            <a:avLst/>
          </a:prstGeom>
          <a:noFill/>
        </p:spPr>
      </p:pic>
      <p:pic>
        <p:nvPicPr>
          <p:cNvPr id="77830" name="Picture 6" descr="https://gimg2.baidu.com/image_search/src=http%3A%2F%2Fad.yunliyun.com%2F2017%2F07%2F20170705023407.jpg&amp;refer=http%3A%2F%2Fad.yunliyun.com&amp;app=2002&amp;size=f9999,10000&amp;q=a80&amp;n=0&amp;g=0n&amp;fmt=jpeg?sec=1636798246&amp;t=2cdf5c585b5e4d8f154d0aa35e8bce78"/>
          <p:cNvPicPr>
            <a:picLocks noChangeAspect="1" noChangeArrowheads="1"/>
          </p:cNvPicPr>
          <p:nvPr/>
        </p:nvPicPr>
        <p:blipFill>
          <a:blip r:embed="rId4" cstate="print"/>
          <a:srcRect l="20168" r="19328"/>
          <a:stretch>
            <a:fillRect/>
          </a:stretch>
        </p:blipFill>
        <p:spPr bwMode="auto">
          <a:xfrm>
            <a:off x="5786446" y="1572880"/>
            <a:ext cx="2334036" cy="3857652"/>
          </a:xfrm>
          <a:prstGeom prst="rect">
            <a:avLst/>
          </a:prstGeom>
          <a:noFill/>
        </p:spPr>
      </p:pic>
      <p:sp>
        <p:nvSpPr>
          <p:cNvPr id="12" name="TextBox 11"/>
          <p:cNvSpPr txBox="1"/>
          <p:nvPr/>
        </p:nvSpPr>
        <p:spPr>
          <a:xfrm>
            <a:off x="6143636" y="5501970"/>
            <a:ext cx="1785950" cy="400110"/>
          </a:xfrm>
          <a:prstGeom prst="rect">
            <a:avLst/>
          </a:prstGeom>
          <a:noFill/>
        </p:spPr>
        <p:txBody>
          <a:bodyPr wrap="square" rtlCol="0">
            <a:spAutoFit/>
          </a:bodyPr>
          <a:lstStyle/>
          <a:p>
            <a:r>
              <a:rPr lang="zh-CN" altLang="en-US" sz="2000" b="1" dirty="0">
                <a:solidFill>
                  <a:srgbClr val="FF0000"/>
                </a:solidFill>
                <a:latin typeface="华文楷体" panose="02010600040101010101" pitchFamily="2" charset="-122"/>
                <a:ea typeface="华文楷体" panose="02010600040101010101" pitchFamily="2" charset="-122"/>
              </a:rPr>
              <a:t>三坐标测量机</a:t>
            </a:r>
          </a:p>
        </p:txBody>
      </p:sp>
      <p:sp>
        <p:nvSpPr>
          <p:cNvPr id="2" name="Text Box 8"/>
          <p:cNvSpPr txBox="1">
            <a:spLocks noChangeArrowheads="1"/>
          </p:cNvSpPr>
          <p:nvPr/>
        </p:nvSpPr>
        <p:spPr bwMode="auto">
          <a:xfrm>
            <a:off x="539723" y="332626"/>
            <a:ext cx="3429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1. 计量器具分类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18</a:t>
            </a:fld>
            <a:endParaRPr lang="en-US" altLang="zh-CN"/>
          </a:p>
        </p:txBody>
      </p:sp>
      <p:sp>
        <p:nvSpPr>
          <p:cNvPr id="5" name="Text Box 4"/>
          <p:cNvSpPr txBox="1">
            <a:spLocks noChangeArrowheads="1"/>
          </p:cNvSpPr>
          <p:nvPr/>
        </p:nvSpPr>
        <p:spPr bwMode="auto">
          <a:xfrm>
            <a:off x="536252" y="1268760"/>
            <a:ext cx="439578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33CC"/>
                </a:solidFill>
              </a:rPr>
              <a:t>(</a:t>
            </a:r>
            <a:r>
              <a:rPr lang="zh-CN" altLang="en-US" sz="2800" b="1" dirty="0">
                <a:solidFill>
                  <a:srgbClr val="FF33CC"/>
                </a:solidFill>
              </a:rPr>
              <a:t>3</a:t>
            </a:r>
            <a:r>
              <a:rPr lang="en-US" altLang="zh-CN" sz="2800" b="1" dirty="0">
                <a:solidFill>
                  <a:srgbClr val="FF33CC"/>
                </a:solidFill>
              </a:rPr>
              <a:t>) </a:t>
            </a:r>
            <a:r>
              <a:rPr lang="zh-CN" altLang="en-US" sz="2800" b="1" dirty="0">
                <a:solidFill>
                  <a:srgbClr val="FF33CC"/>
                </a:solidFill>
              </a:rPr>
              <a:t>极限量规类</a:t>
            </a:r>
          </a:p>
        </p:txBody>
      </p:sp>
      <p:sp>
        <p:nvSpPr>
          <p:cNvPr id="6" name="Text Box 5"/>
          <p:cNvSpPr txBox="1">
            <a:spLocks noChangeArrowheads="1"/>
          </p:cNvSpPr>
          <p:nvPr/>
        </p:nvSpPr>
        <p:spPr bwMode="auto">
          <a:xfrm>
            <a:off x="971600" y="1899769"/>
            <a:ext cx="2376264" cy="1430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3600"/>
              </a:lnSpc>
            </a:pPr>
            <a:r>
              <a:rPr lang="zh-CN" altLang="en-US" b="1" dirty="0" smtClean="0"/>
              <a:t>光滑</a:t>
            </a:r>
            <a:r>
              <a:rPr lang="zh-CN" altLang="en-US" b="1" dirty="0"/>
              <a:t>极限量规、螺纹量规、</a:t>
            </a:r>
            <a:endParaRPr lang="en-US" altLang="zh-CN" b="1" dirty="0"/>
          </a:p>
          <a:p>
            <a:pPr eaLnBrk="1" hangingPunct="1">
              <a:lnSpc>
                <a:spcPts val="3600"/>
              </a:lnSpc>
            </a:pPr>
            <a:r>
              <a:rPr lang="zh-CN" altLang="en-US" b="1" dirty="0" smtClean="0"/>
              <a:t>功能</a:t>
            </a:r>
            <a:r>
              <a:rPr lang="zh-CN" altLang="en-US" b="1" dirty="0"/>
              <a:t>量规等。</a:t>
            </a:r>
          </a:p>
        </p:txBody>
      </p:sp>
      <p:sp>
        <p:nvSpPr>
          <p:cNvPr id="7" name="Text Box 6"/>
          <p:cNvSpPr txBox="1">
            <a:spLocks noChangeArrowheads="1"/>
          </p:cNvSpPr>
          <p:nvPr/>
        </p:nvSpPr>
        <p:spPr bwMode="auto">
          <a:xfrm>
            <a:off x="619674" y="4194420"/>
            <a:ext cx="386238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solidFill>
                  <a:srgbClr val="FF33CC"/>
                </a:solidFill>
              </a:rPr>
              <a:t>(</a:t>
            </a:r>
            <a:r>
              <a:rPr lang="zh-CN" altLang="en-US" sz="2800" b="1" dirty="0">
                <a:solidFill>
                  <a:srgbClr val="FF33CC"/>
                </a:solidFill>
              </a:rPr>
              <a:t>4</a:t>
            </a:r>
            <a:r>
              <a:rPr lang="en-US" altLang="zh-CN" sz="2800" b="1" dirty="0">
                <a:solidFill>
                  <a:srgbClr val="FF33CC"/>
                </a:solidFill>
              </a:rPr>
              <a:t>) </a:t>
            </a:r>
            <a:r>
              <a:rPr lang="zh-CN" altLang="en-US" sz="2800" b="1" dirty="0">
                <a:solidFill>
                  <a:srgbClr val="FF33CC"/>
                </a:solidFill>
              </a:rPr>
              <a:t>检验夹具</a:t>
            </a:r>
          </a:p>
        </p:txBody>
      </p:sp>
      <p:sp>
        <p:nvSpPr>
          <p:cNvPr id="8" name="Text Box 7"/>
          <p:cNvSpPr txBox="1">
            <a:spLocks noChangeArrowheads="1"/>
          </p:cNvSpPr>
          <p:nvPr/>
        </p:nvSpPr>
        <p:spPr bwMode="auto">
          <a:xfrm>
            <a:off x="467544" y="4726885"/>
            <a:ext cx="3783934" cy="6463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t>      一种专用的检验</a:t>
            </a:r>
            <a:r>
              <a:rPr lang="zh-CN" altLang="en-US" b="1" dirty="0" smtClean="0"/>
              <a:t>工具</a:t>
            </a:r>
            <a:endParaRPr lang="zh-CN" altLang="en-US" b="1" dirty="0"/>
          </a:p>
        </p:txBody>
      </p:sp>
      <p:pic>
        <p:nvPicPr>
          <p:cNvPr id="46084" name="Picture 4" descr="https://gimg2.baidu.com/image_search/src=http%3A%2F%2Fi00.c.aliimg.com%2Fimg%2Fibank%2F2011%2F475%2F527%2F446725574_1379083227.jpg&amp;refer=http%3A%2F%2Fi00.c.aliimg.com&amp;app=2002&amp;size=f9999,10000&amp;q=a80&amp;n=0&amp;g=0n&amp;fmt=jpeg?sec=1636799598&amp;t=d14fe27c44dce83ad44699c64355e61e"/>
          <p:cNvPicPr>
            <a:picLocks noChangeAspect="1" noChangeArrowheads="1"/>
          </p:cNvPicPr>
          <p:nvPr/>
        </p:nvPicPr>
        <p:blipFill>
          <a:blip r:embed="rId3"/>
          <a:srcRect r="2273"/>
          <a:stretch>
            <a:fillRect/>
          </a:stretch>
        </p:blipFill>
        <p:spPr bwMode="auto">
          <a:xfrm>
            <a:off x="3347864" y="1404839"/>
            <a:ext cx="4098678" cy="2850945"/>
          </a:xfrm>
          <a:prstGeom prst="rect">
            <a:avLst/>
          </a:prstGeom>
          <a:noFill/>
        </p:spPr>
      </p:pic>
      <p:pic>
        <p:nvPicPr>
          <p:cNvPr id="46090" name="Picture 10" descr="https://gimg2.baidu.com/image_search/src=http%3A%2F%2Fwww.chemm.cn%2FCpImage%2F2011-5%2F201105111115070020.JPG&amp;refer=http%3A%2F%2Fwww.chemm.cn&amp;app=2002&amp;size=f9999,10000&amp;q=a80&amp;n=0&amp;g=0n&amp;fmt=jpeg?sec=1636861357&amp;t=a33ef01b8751a110f717e0ac6ed9b186"/>
          <p:cNvPicPr>
            <a:picLocks noChangeAspect="1" noChangeArrowheads="1"/>
          </p:cNvPicPr>
          <p:nvPr/>
        </p:nvPicPr>
        <p:blipFill>
          <a:blip r:embed="rId4"/>
          <a:srcRect/>
          <a:stretch>
            <a:fillRect/>
          </a:stretch>
        </p:blipFill>
        <p:spPr bwMode="auto">
          <a:xfrm>
            <a:off x="4837490" y="1175894"/>
            <a:ext cx="3777367" cy="2824533"/>
          </a:xfrm>
          <a:prstGeom prst="rect">
            <a:avLst/>
          </a:prstGeom>
          <a:noFill/>
        </p:spPr>
      </p:pic>
      <p:pic>
        <p:nvPicPr>
          <p:cNvPr id="46082" name="Picture 2" descr="https://gimg2.baidu.com/image_search/src=http%3A%2F%2Fimg006.hc360.cn%2Fm2%2FM02%2F5A%2F12%2FwKhQcVQwVJiEJrwYAAAAAF86fFc212.jpg&amp;refer=http%3A%2F%2Fimg006.hc360.cn&amp;app=2002&amp;size=f9999,10000&amp;q=a80&amp;n=0&amp;g=0n&amp;fmt=jpeg?sec=1637369620&amp;t=767ba4b28f88e04219ca3b5be0066117"/>
          <p:cNvPicPr>
            <a:picLocks noChangeAspect="1" noChangeArrowheads="1"/>
          </p:cNvPicPr>
          <p:nvPr/>
        </p:nvPicPr>
        <p:blipFill>
          <a:blip r:embed="rId5" cstate="print"/>
          <a:srcRect/>
          <a:stretch>
            <a:fillRect/>
          </a:stretch>
        </p:blipFill>
        <p:spPr bwMode="auto">
          <a:xfrm>
            <a:off x="3779912" y="4653136"/>
            <a:ext cx="2151558" cy="1625611"/>
          </a:xfrm>
          <a:prstGeom prst="rect">
            <a:avLst/>
          </a:prstGeom>
          <a:noFill/>
        </p:spPr>
      </p:pic>
      <p:pic>
        <p:nvPicPr>
          <p:cNvPr id="2" name="Picture 4" descr="https://gimg2.baidu.com/image_search/src=http%3A%2F%2Fphoto.16pic.com%2F00%2F16%2F10%2F16pic_1610473_b.jpg&amp;refer=http%3A%2F%2Fphoto.16pic.com&amp;app=2002&amp;size=f9999,10000&amp;q=a80&amp;n=0&amp;g=0n&amp;fmt=jpeg?sec=1637369984&amp;t=0057459efb30a9394cfe6f8d476bfb42"/>
          <p:cNvPicPr>
            <a:picLocks noChangeAspect="1" noChangeArrowheads="1"/>
          </p:cNvPicPr>
          <p:nvPr/>
        </p:nvPicPr>
        <p:blipFill>
          <a:blip r:embed="rId6"/>
          <a:srcRect l="18750" r="19531"/>
          <a:stretch>
            <a:fillRect/>
          </a:stretch>
        </p:blipFill>
        <p:spPr bwMode="auto">
          <a:xfrm>
            <a:off x="5893168" y="4346613"/>
            <a:ext cx="2793633" cy="1890699"/>
          </a:xfrm>
          <a:prstGeom prst="rect">
            <a:avLst/>
          </a:prstGeom>
          <a:noFill/>
        </p:spPr>
      </p:pic>
      <p:sp>
        <p:nvSpPr>
          <p:cNvPr id="3" name="Text Box 8"/>
          <p:cNvSpPr txBox="1">
            <a:spLocks noChangeArrowheads="1"/>
          </p:cNvSpPr>
          <p:nvPr/>
        </p:nvSpPr>
        <p:spPr bwMode="auto">
          <a:xfrm>
            <a:off x="539723" y="332626"/>
            <a:ext cx="34290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1. 计量器具分类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3"/>
                                        </p:tgtEl>
                                        <p:attrNameLst>
                                          <p:attrName>style.visibility</p:attrName>
                                        </p:attrNameLst>
                                      </p:cBhvr>
                                      <p:to>
                                        <p:strVal val="visible"/>
                                      </p:to>
                                    </p:set>
                                    <p:animEffect transition="in" filter="wipe(left)">
                                      <p:cBhvr>
                                        <p:cTn id="7" dur="300"/>
                                        <p:tgtEl>
                                          <p:spTgt spid="3"/>
                                        </p:tgtEl>
                                      </p:cBhvr>
                                    </p:animEffect>
                                  </p:childTnLst>
                                </p:cTn>
                              </p:par>
                            </p:childTnLst>
                          </p:cTn>
                        </p:par>
                        <p:par>
                          <p:cTn id="8" fill="hold">
                            <p:stCondLst>
                              <p:cond delay="1500"/>
                            </p:stCondLst>
                            <p:childTnLst>
                              <p:par>
                                <p:cTn id="9" presetID="22" presetClass="entr" presetSubtype="8" fill="hold" grpId="0" nodeType="afterEffect">
                                  <p:stCondLst>
                                    <p:cond delay="0"/>
                                  </p:stCondLst>
                                  <p:iterate type="wd">
                                    <p:tmPct val="100000"/>
                                  </p:iterate>
                                  <p:childTnLst>
                                    <p:set>
                                      <p:cBhvr>
                                        <p:cTn id="10" dur="1" fill="hold">
                                          <p:stCondLst>
                                            <p:cond delay="0"/>
                                          </p:stCondLst>
                                        </p:cTn>
                                        <p:tgtEl>
                                          <p:spTgt spid="5"/>
                                        </p:tgtEl>
                                        <p:attrNameLst>
                                          <p:attrName>style.visibility</p:attrName>
                                        </p:attrNameLst>
                                      </p:cBhvr>
                                      <p:to>
                                        <p:strVal val="visible"/>
                                      </p:to>
                                    </p:set>
                                    <p:animEffect transition="in" filter="wipe(left)">
                                      <p:cBhvr>
                                        <p:cTn id="11" dur="3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iterate type="wd">
                                    <p:tmPct val="100000"/>
                                  </p:iterate>
                                  <p:childTnLst>
                                    <p:set>
                                      <p:cBhvr>
                                        <p:cTn id="15" dur="1" fill="hold">
                                          <p:stCondLst>
                                            <p:cond delay="0"/>
                                          </p:stCondLst>
                                        </p:cTn>
                                        <p:tgtEl>
                                          <p:spTgt spid="6"/>
                                        </p:tgtEl>
                                        <p:attrNameLst>
                                          <p:attrName>style.visibility</p:attrName>
                                        </p:attrNameLst>
                                      </p:cBhvr>
                                      <p:to>
                                        <p:strVal val="visible"/>
                                      </p:to>
                                    </p:set>
                                    <p:animEffect transition="in" filter="wipe(left)">
                                      <p:cBhvr>
                                        <p:cTn id="16" dur="3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6084"/>
                                        </p:tgtEl>
                                        <p:attrNameLst>
                                          <p:attrName>style.visibility</p:attrName>
                                        </p:attrNameLst>
                                      </p:cBhvr>
                                      <p:to>
                                        <p:strVal val="visible"/>
                                      </p:to>
                                    </p:set>
                                    <p:animEffect transition="in" filter="wipe(left)">
                                      <p:cBhvr>
                                        <p:cTn id="21" dur="500"/>
                                        <p:tgtEl>
                                          <p:spTgt spid="46084"/>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46090"/>
                                        </p:tgtEl>
                                        <p:attrNameLst>
                                          <p:attrName>style.visibility</p:attrName>
                                        </p:attrNameLst>
                                      </p:cBhvr>
                                      <p:to>
                                        <p:strVal val="visible"/>
                                      </p:to>
                                    </p:set>
                                    <p:animEffect transition="in" filter="blinds(horizontal)">
                                      <p:cBhvr>
                                        <p:cTn id="26" dur="500"/>
                                        <p:tgtEl>
                                          <p:spTgt spid="46090"/>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7"/>
                                        </p:tgtEl>
                                        <p:attrNameLst>
                                          <p:attrName>style.visibility</p:attrName>
                                        </p:attrNameLst>
                                      </p:cBhvr>
                                      <p:to>
                                        <p:strVal val="visible"/>
                                      </p:to>
                                    </p:set>
                                    <p:animEffect transition="in" filter="wipe(left)">
                                      <p:cBhvr>
                                        <p:cTn id="31" dur="300"/>
                                        <p:tgtEl>
                                          <p:spTgt spid="7"/>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8"/>
                                        </p:tgtEl>
                                        <p:attrNameLst>
                                          <p:attrName>style.visibility</p:attrName>
                                        </p:attrNameLst>
                                      </p:cBhvr>
                                      <p:to>
                                        <p:strVal val="visible"/>
                                      </p:to>
                                    </p:set>
                                    <p:animEffect transition="in" filter="wipe(left)">
                                      <p:cBhvr>
                                        <p:cTn id="36" dur="300"/>
                                        <p:tgtEl>
                                          <p:spTgt spid="8"/>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46082"/>
                                        </p:tgtEl>
                                        <p:attrNameLst>
                                          <p:attrName>style.visibility</p:attrName>
                                        </p:attrNameLst>
                                      </p:cBhvr>
                                      <p:to>
                                        <p:strVal val="visible"/>
                                      </p:to>
                                    </p:set>
                                    <p:animEffect transition="in" filter="wipe(left)">
                                      <p:cBhvr>
                                        <p:cTn id="41" dur="500"/>
                                        <p:tgtEl>
                                          <p:spTgt spid="46082"/>
                                        </p:tgtEl>
                                      </p:cBhvr>
                                    </p:animEffect>
                                  </p:childTnLst>
                                </p:cTn>
                              </p:par>
                            </p:childTnLst>
                          </p:cTn>
                        </p:par>
                      </p:childTnLst>
                    </p:cTn>
                  </p:par>
                  <p:par>
                    <p:cTn id="42" fill="hold">
                      <p:stCondLst>
                        <p:cond delay="indefinite"/>
                      </p:stCondLst>
                      <p:childTnLst>
                        <p:par>
                          <p:cTn id="43" fill="hold">
                            <p:stCondLst>
                              <p:cond delay="0"/>
                            </p:stCondLst>
                            <p:childTnLst>
                              <p:par>
                                <p:cTn id="44" presetID="4" presetClass="entr" presetSubtype="16"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box(in)">
                                      <p:cBhvr>
                                        <p:cTn id="4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7" grpId="0" bldLvl="0" animBg="1" autoUpdateAnimBg="0"/>
      <p:bldP spid="8" grpId="0" autoUpdateAnimBg="0"/>
      <p:bldP spid="3" grpId="0" bldLvl="0" animBg="1"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19</a:t>
            </a:fld>
            <a:endParaRPr lang="en-US" altLang="zh-CN"/>
          </a:p>
        </p:txBody>
      </p:sp>
      <p:sp>
        <p:nvSpPr>
          <p:cNvPr id="5" name="Text Box 8"/>
          <p:cNvSpPr txBox="1">
            <a:spLocks noChangeArrowheads="1"/>
          </p:cNvSpPr>
          <p:nvPr/>
        </p:nvSpPr>
        <p:spPr bwMode="auto">
          <a:xfrm>
            <a:off x="611237" y="332656"/>
            <a:ext cx="4968875"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  计量器具的度量指标</a:t>
            </a:r>
          </a:p>
        </p:txBody>
      </p:sp>
      <p:sp>
        <p:nvSpPr>
          <p:cNvPr id="6" name="Text Box 9"/>
          <p:cNvSpPr txBox="1">
            <a:spLocks noChangeArrowheads="1"/>
          </p:cNvSpPr>
          <p:nvPr/>
        </p:nvSpPr>
        <p:spPr bwMode="auto">
          <a:xfrm>
            <a:off x="611188" y="1214426"/>
            <a:ext cx="54737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1</a:t>
            </a:r>
            <a:r>
              <a:rPr lang="en-US" altLang="zh-CN" sz="2800" b="1" dirty="0"/>
              <a:t>) </a:t>
            </a:r>
            <a:r>
              <a:rPr lang="zh-CN" altLang="en-US" sz="2800" b="1" dirty="0">
                <a:solidFill>
                  <a:srgbClr val="FF33CC"/>
                </a:solidFill>
              </a:rPr>
              <a:t>分度值</a:t>
            </a:r>
            <a:r>
              <a:rPr lang="en-US" altLang="zh-CN" sz="2800" b="1" dirty="0">
                <a:solidFill>
                  <a:srgbClr val="FF33CC"/>
                </a:solidFill>
              </a:rPr>
              <a:t>(</a:t>
            </a:r>
            <a:r>
              <a:rPr lang="en-US" altLang="zh-CN" sz="2800" b="1" dirty="0" err="1">
                <a:solidFill>
                  <a:srgbClr val="FF33CC"/>
                </a:solidFill>
              </a:rPr>
              <a:t>i</a:t>
            </a:r>
            <a:r>
              <a:rPr lang="en-US" altLang="zh-CN" sz="2800" b="1" dirty="0">
                <a:solidFill>
                  <a:srgbClr val="FF33CC"/>
                </a:solidFill>
              </a:rPr>
              <a:t>)</a:t>
            </a:r>
            <a:r>
              <a:rPr lang="zh-CN" altLang="en-US" sz="2800" b="1" dirty="0"/>
              <a:t>与</a:t>
            </a:r>
            <a:r>
              <a:rPr lang="zh-CN" altLang="en-US" sz="2800" b="1" dirty="0">
                <a:solidFill>
                  <a:srgbClr val="FF33CC"/>
                </a:solidFill>
              </a:rPr>
              <a:t>分辨率</a:t>
            </a:r>
            <a:endParaRPr lang="en-US" altLang="zh-CN" sz="2800" b="1" dirty="0">
              <a:solidFill>
                <a:srgbClr val="FF33CC"/>
              </a:solidFill>
            </a:endParaRPr>
          </a:p>
        </p:txBody>
      </p:sp>
      <p:sp>
        <p:nvSpPr>
          <p:cNvPr id="7" name="Text Box 10"/>
          <p:cNvSpPr txBox="1">
            <a:spLocks noChangeArrowheads="1"/>
          </p:cNvSpPr>
          <p:nvPr/>
        </p:nvSpPr>
        <p:spPr bwMode="auto">
          <a:xfrm>
            <a:off x="456074" y="1785930"/>
            <a:ext cx="8259618" cy="10669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3800"/>
              </a:lnSpc>
            </a:pPr>
            <a:r>
              <a:rPr lang="zh-CN" altLang="en-US" sz="2800" b="1" dirty="0"/>
              <a:t>       </a:t>
            </a:r>
            <a:r>
              <a:rPr lang="zh-CN" altLang="en-US" sz="2800" b="1" dirty="0">
                <a:solidFill>
                  <a:srgbClr val="FF33CC"/>
                </a:solidFill>
              </a:rPr>
              <a:t>分度值</a:t>
            </a:r>
            <a:r>
              <a:rPr lang="en-US" altLang="zh-CN" sz="2800" b="1" dirty="0" smtClean="0"/>
              <a:t>: </a:t>
            </a:r>
            <a:r>
              <a:rPr lang="zh-CN" altLang="en-US" sz="2800" b="1" dirty="0" smtClean="0"/>
              <a:t>计量</a:t>
            </a:r>
            <a:r>
              <a:rPr lang="zh-CN" altLang="en-US" sz="2800" b="1" dirty="0"/>
              <a:t>器具的刻尺或度盘上相邻两刻线所代表的量值之差。</a:t>
            </a:r>
          </a:p>
        </p:txBody>
      </p:sp>
      <p:sp>
        <p:nvSpPr>
          <p:cNvPr id="10" name="矩形 1"/>
          <p:cNvSpPr>
            <a:spLocks noChangeArrowheads="1"/>
          </p:cNvSpPr>
          <p:nvPr/>
        </p:nvSpPr>
        <p:spPr bwMode="auto">
          <a:xfrm>
            <a:off x="642910" y="4635133"/>
            <a:ext cx="8072782" cy="10248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a:spAutoFit/>
          </a:bodyPr>
          <a:lstStyle/>
          <a:p>
            <a:pPr>
              <a:lnSpc>
                <a:spcPts val="3800"/>
              </a:lnSpc>
            </a:pPr>
            <a:r>
              <a:rPr lang="zh-CN" altLang="en-US" sz="2800" b="1" dirty="0">
                <a:solidFill>
                  <a:srgbClr val="FF0000"/>
                </a:solidFill>
              </a:rPr>
              <a:t>       </a:t>
            </a:r>
            <a:r>
              <a:rPr lang="zh-CN" altLang="en-US" sz="2800" b="1" dirty="0">
                <a:solidFill>
                  <a:srgbClr val="FF33CC"/>
                </a:solidFill>
              </a:rPr>
              <a:t>分辨率</a:t>
            </a:r>
            <a:r>
              <a:rPr lang="zh-CN" altLang="en-US" sz="2800" b="1" dirty="0"/>
              <a:t>：对于</a:t>
            </a:r>
            <a:r>
              <a:rPr lang="zh-CN" altLang="en-US" sz="2800" b="1" dirty="0">
                <a:solidFill>
                  <a:srgbClr val="0000FF"/>
                </a:solidFill>
              </a:rPr>
              <a:t>数字显示</a:t>
            </a:r>
            <a:r>
              <a:rPr lang="zh-CN" altLang="en-US" sz="2800" b="1" dirty="0"/>
              <a:t>的仪器，表示最末一位数字间隔所代表的量值之差。</a:t>
            </a:r>
          </a:p>
        </p:txBody>
      </p:sp>
      <p:pic>
        <p:nvPicPr>
          <p:cNvPr id="45058" name="Picture 2" descr="https://gimg2.baidu.com/image_search/src=http%3A%2F%2Fwww.wendangwang.com%2Fpic%2F37e960aed681037a3303c333%2F2-810-jpg_6-1080-0-0-1080.jpg&amp;refer=http%3A%2F%2Fwww.wendangwang.com&amp;app=2002&amp;size=f9999,10000&amp;q=a80&amp;n=0&amp;g=0n&amp;fmt=jpeg?sec=1637373224&amp;t=cc108465183ec78434de6bec843b5e93"/>
          <p:cNvPicPr>
            <a:picLocks noChangeAspect="1" noChangeArrowheads="1"/>
          </p:cNvPicPr>
          <p:nvPr/>
        </p:nvPicPr>
        <p:blipFill>
          <a:blip r:embed="rId3">
            <a:lum contrast="30000"/>
          </a:blip>
          <a:srcRect l="37499" t="57028" r="14773" b="15973"/>
          <a:stretch>
            <a:fillRect/>
          </a:stretch>
        </p:blipFill>
        <p:spPr bwMode="auto">
          <a:xfrm>
            <a:off x="928662" y="2928938"/>
            <a:ext cx="3286148" cy="1330107"/>
          </a:xfrm>
          <a:prstGeom prst="rect">
            <a:avLst/>
          </a:prstGeom>
          <a:noFill/>
        </p:spPr>
      </p:pic>
      <p:sp>
        <p:nvSpPr>
          <p:cNvPr id="13" name="矩形 12"/>
          <p:cNvSpPr/>
          <p:nvPr/>
        </p:nvSpPr>
        <p:spPr>
          <a:xfrm>
            <a:off x="1143546" y="5715020"/>
            <a:ext cx="6884838" cy="523220"/>
          </a:xfrm>
          <a:prstGeom prst="rect">
            <a:avLst/>
          </a:prstGeom>
        </p:spPr>
        <p:txBody>
          <a:bodyPr wrap="square">
            <a:spAutoFit/>
          </a:bodyPr>
          <a:lstStyle/>
          <a:p>
            <a:r>
              <a:rPr lang="zh-CN" altLang="en-US" sz="2800" b="1" dirty="0" smtClean="0">
                <a:solidFill>
                  <a:srgbClr val="FF0000"/>
                </a:solidFill>
              </a:rPr>
              <a:t>量</a:t>
            </a:r>
            <a:r>
              <a:rPr lang="zh-CN" altLang="en-US" sz="2800" b="1" dirty="0">
                <a:solidFill>
                  <a:srgbClr val="FF0000"/>
                </a:solidFill>
              </a:rPr>
              <a:t>仪的分度值和分辨率越小，其精度越高。</a:t>
            </a:r>
          </a:p>
        </p:txBody>
      </p:sp>
      <p:cxnSp>
        <p:nvCxnSpPr>
          <p:cNvPr id="15" name="直接连接符 14"/>
          <p:cNvCxnSpPr/>
          <p:nvPr/>
        </p:nvCxnSpPr>
        <p:spPr>
          <a:xfrm rot="5400000">
            <a:off x="2451670" y="3333164"/>
            <a:ext cx="64800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rot="5400000">
            <a:off x="2532694" y="3332370"/>
            <a:ext cx="648000" cy="1588"/>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椭圆 16"/>
          <p:cNvSpPr/>
          <p:nvPr/>
        </p:nvSpPr>
        <p:spPr>
          <a:xfrm>
            <a:off x="2294776" y="3777398"/>
            <a:ext cx="1071570" cy="419836"/>
          </a:xfrm>
          <a:prstGeom prst="ellipse">
            <a:avLst/>
          </a:prstGeom>
          <a:noFill/>
          <a:ln>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5060" name="Picture 4" descr="https://gimg2.baidu.com/image_search/src=http%3A%2F%2Fimg49.chem17.com%2F9%2F20180430%2F636607005560498262824.jpg&amp;refer=http%3A%2F%2Fimg49.chem17.com&amp;app=2002&amp;size=f9999,10000&amp;q=a80&amp;n=0&amp;g=0n&amp;fmt=jpeg?sec=1637393522&amp;t=79dde6ac8aa47eb7391b9bbc62f2000d"/>
          <p:cNvPicPr>
            <a:picLocks noChangeAspect="1" noChangeArrowheads="1"/>
          </p:cNvPicPr>
          <p:nvPr/>
        </p:nvPicPr>
        <p:blipFill>
          <a:blip r:embed="rId4"/>
          <a:srcRect l="13000" t="15000" r="3999" b="17499"/>
          <a:stretch>
            <a:fillRect/>
          </a:stretch>
        </p:blipFill>
        <p:spPr bwMode="auto">
          <a:xfrm>
            <a:off x="4857756" y="2571744"/>
            <a:ext cx="3294085" cy="1785950"/>
          </a:xfrm>
          <a:prstGeom prst="rect">
            <a:avLst/>
          </a:prstGeom>
          <a:noFill/>
        </p:spPr>
      </p:pic>
      <p:sp>
        <p:nvSpPr>
          <p:cNvPr id="18" name="TextBox 17"/>
          <p:cNvSpPr txBox="1"/>
          <p:nvPr/>
        </p:nvSpPr>
        <p:spPr>
          <a:xfrm>
            <a:off x="6849224" y="3509230"/>
            <a:ext cx="1214446" cy="707886"/>
          </a:xfrm>
          <a:prstGeom prst="rect">
            <a:avLst/>
          </a:prstGeom>
          <a:solidFill>
            <a:schemeClr val="bg1"/>
          </a:solidFill>
        </p:spPr>
        <p:txBody>
          <a:bodyPr wrap="square" rtlCol="0">
            <a:spAutoFit/>
          </a:bodyPr>
          <a:lstStyle/>
          <a:p>
            <a:r>
              <a:rPr lang="zh-CN" altLang="en-US" sz="2000" b="1" dirty="0">
                <a:solidFill>
                  <a:srgbClr val="FF0000"/>
                </a:solidFill>
                <a:effectLst>
                  <a:outerShdw blurRad="38100" dist="38100" dir="2700000" algn="tl">
                    <a:srgbClr val="000000">
                      <a:alpha val="43137"/>
                    </a:srgbClr>
                  </a:outerShdw>
                </a:effectLst>
              </a:rPr>
              <a:t>分辨率</a:t>
            </a:r>
            <a:r>
              <a:rPr lang="en-US" altLang="zh-CN" sz="2000" b="1" dirty="0">
                <a:solidFill>
                  <a:srgbClr val="FF0000"/>
                </a:solidFill>
                <a:effectLst>
                  <a:outerShdw blurRad="38100" dist="38100" dir="2700000" algn="tl">
                    <a:srgbClr val="000000">
                      <a:alpha val="43137"/>
                    </a:srgbClr>
                  </a:outerShdw>
                </a:effectLst>
              </a:rPr>
              <a:t>0.001mm</a:t>
            </a:r>
            <a:endParaRPr lang="zh-CN" altLang="en-US" sz="2000" b="1" dirty="0">
              <a:solidFill>
                <a:srgbClr val="FF0000"/>
              </a:solidFill>
              <a:effectLst>
                <a:outerShdw blurRad="38100" dist="38100" dir="2700000" algn="tl">
                  <a:srgbClr val="000000">
                    <a:alpha val="43137"/>
                  </a:srgbClr>
                </a:outerShdw>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5058"/>
                                        </p:tgtEl>
                                        <p:attrNameLst>
                                          <p:attrName>style.visibility</p:attrName>
                                        </p:attrNameLst>
                                      </p:cBhvr>
                                      <p:to>
                                        <p:strVal val="visible"/>
                                      </p:to>
                                    </p:set>
                                    <p:animEffect transition="in" filter="wipe(left)">
                                      <p:cBhvr>
                                        <p:cTn id="22" dur="500"/>
                                        <p:tgtEl>
                                          <p:spTgt spid="4505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wipe(up)">
                                      <p:cBhvr>
                                        <p:cTn id="27" dur="500"/>
                                        <p:tgtEl>
                                          <p:spTgt spid="15"/>
                                        </p:tgtEl>
                                      </p:cBhvr>
                                    </p:animEffect>
                                  </p:childTnLst>
                                </p:cTn>
                              </p:par>
                              <p:par>
                                <p:cTn id="28" presetID="22" presetClass="entr" presetSubtype="1" fill="hold"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4" presetClass="entr" presetSubtype="16"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box(in)">
                                      <p:cBhvr>
                                        <p:cTn id="35" dur="500"/>
                                        <p:tgtEl>
                                          <p:spTgt spid="17"/>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ppt_x</p:attrName>
                                        </p:attrNameLst>
                                      </p:cBhvr>
                                      <p:tavLst>
                                        <p:tav tm="0">
                                          <p:val>
                                            <p:strVal val="#ppt_x"/>
                                          </p:val>
                                        </p:tav>
                                        <p:tav tm="100000">
                                          <p:val>
                                            <p:strVal val="#ppt_x"/>
                                          </p:val>
                                        </p:tav>
                                      </p:tavLst>
                                    </p:anim>
                                    <p:anim calcmode="lin" valueType="num">
                                      <p:cBhvr additive="base">
                                        <p:cTn id="4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blinds(horizontal)">
                                      <p:cBhvr>
                                        <p:cTn id="46" dur="500"/>
                                        <p:tgtEl>
                                          <p:spTgt spid="18"/>
                                        </p:tgtEl>
                                      </p:cBhvr>
                                    </p:animEffect>
                                  </p:childTnLst>
                                </p:cTn>
                              </p:par>
                              <p:par>
                                <p:cTn id="47" presetID="3" presetClass="entr" presetSubtype="10" fill="hold" nodeType="withEffect">
                                  <p:stCondLst>
                                    <p:cond delay="0"/>
                                  </p:stCondLst>
                                  <p:childTnLst>
                                    <p:set>
                                      <p:cBhvr>
                                        <p:cTn id="48" dur="1" fill="hold">
                                          <p:stCondLst>
                                            <p:cond delay="0"/>
                                          </p:stCondLst>
                                        </p:cTn>
                                        <p:tgtEl>
                                          <p:spTgt spid="45060"/>
                                        </p:tgtEl>
                                        <p:attrNameLst>
                                          <p:attrName>style.visibility</p:attrName>
                                        </p:attrNameLst>
                                      </p:cBhvr>
                                      <p:to>
                                        <p:strVal val="visible"/>
                                      </p:to>
                                    </p:set>
                                    <p:animEffect transition="in" filter="blinds(horizontal)">
                                      <p:cBhvr>
                                        <p:cTn id="49" dur="500"/>
                                        <p:tgtEl>
                                          <p:spTgt spid="45060"/>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bldLvl="0" animBg="1" autoUpdateAnimBg="0"/>
      <p:bldP spid="7" grpId="0" bldLvl="0" animBg="1" autoUpdateAnimBg="0"/>
      <p:bldP spid="10" grpId="0"/>
      <p:bldP spid="13" grpId="0"/>
      <p:bldP spid="17" grpId="0" animBg="1"/>
      <p:bldP spid="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20</a:t>
            </a:fld>
            <a:endParaRPr lang="en-US" altLang="zh-CN"/>
          </a:p>
        </p:txBody>
      </p:sp>
      <p:sp>
        <p:nvSpPr>
          <p:cNvPr id="5" name="Text Box 11"/>
          <p:cNvSpPr txBox="1">
            <a:spLocks noChangeArrowheads="1"/>
          </p:cNvSpPr>
          <p:nvPr/>
        </p:nvSpPr>
        <p:spPr bwMode="auto">
          <a:xfrm>
            <a:off x="593605" y="1168425"/>
            <a:ext cx="37623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  (2) </a:t>
            </a:r>
            <a:r>
              <a:rPr lang="zh-CN" altLang="en-US" sz="2800" b="1" dirty="0">
                <a:solidFill>
                  <a:srgbClr val="FF33CC"/>
                </a:solidFill>
              </a:rPr>
              <a:t>刻度间距</a:t>
            </a:r>
            <a:r>
              <a:rPr lang="zh-CN" altLang="en-US" sz="2800" b="1" dirty="0"/>
              <a:t>（</a:t>
            </a:r>
            <a:r>
              <a:rPr lang="en-US" altLang="zh-CN" sz="2800" b="1" i="1" dirty="0"/>
              <a:t>a</a:t>
            </a:r>
            <a:r>
              <a:rPr lang="en-US" altLang="zh-CN" sz="2800" b="1" dirty="0"/>
              <a:t>）</a:t>
            </a:r>
          </a:p>
        </p:txBody>
      </p:sp>
      <p:sp>
        <p:nvSpPr>
          <p:cNvPr id="6" name="Text Box 12"/>
          <p:cNvSpPr txBox="1">
            <a:spLocks noChangeArrowheads="1"/>
          </p:cNvSpPr>
          <p:nvPr/>
        </p:nvSpPr>
        <p:spPr bwMode="auto">
          <a:xfrm>
            <a:off x="624624" y="1735698"/>
            <a:ext cx="5357850" cy="5411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3500"/>
              </a:lnSpc>
            </a:pPr>
            <a:r>
              <a:rPr lang="zh-CN" altLang="en-US" b="1" dirty="0" smtClean="0"/>
              <a:t>为</a:t>
            </a:r>
            <a:r>
              <a:rPr lang="zh-CN" altLang="en-US" b="1" dirty="0"/>
              <a:t>便于估读，其值为</a:t>
            </a:r>
            <a:r>
              <a:rPr lang="en-US" altLang="zh-CN" b="1" dirty="0">
                <a:solidFill>
                  <a:srgbClr val="0066FF"/>
                </a:solidFill>
              </a:rPr>
              <a:t>0.75</a:t>
            </a:r>
            <a:r>
              <a:rPr lang="zh-CN" altLang="en-US" b="1" dirty="0">
                <a:solidFill>
                  <a:srgbClr val="0066FF"/>
                </a:solidFill>
              </a:rPr>
              <a:t>~2.5</a:t>
            </a:r>
            <a:r>
              <a:rPr lang="en-US" altLang="zh-CN" b="1" dirty="0">
                <a:solidFill>
                  <a:srgbClr val="0066FF"/>
                </a:solidFill>
              </a:rPr>
              <a:t>mm</a:t>
            </a:r>
            <a:r>
              <a:rPr lang="en-US" altLang="zh-CN" b="1" dirty="0"/>
              <a:t>。</a:t>
            </a:r>
          </a:p>
        </p:txBody>
      </p:sp>
      <p:grpSp>
        <p:nvGrpSpPr>
          <p:cNvPr id="9" name="组合 8"/>
          <p:cNvGrpSpPr/>
          <p:nvPr/>
        </p:nvGrpSpPr>
        <p:grpSpPr>
          <a:xfrm>
            <a:off x="6098637" y="1162934"/>
            <a:ext cx="2505815" cy="4786346"/>
            <a:chOff x="5780961" y="1214422"/>
            <a:chExt cx="2505815" cy="4786346"/>
          </a:xfrm>
        </p:grpSpPr>
        <p:pic>
          <p:nvPicPr>
            <p:cNvPr id="7" name="图片 6"/>
            <p:cNvPicPr>
              <a:picLocks noChangeAspect="1"/>
            </p:cNvPicPr>
            <p:nvPr/>
          </p:nvPicPr>
          <p:blipFill>
            <a:blip r:embed="rId3"/>
            <a:srcRect l="57415" t="25330" r="24174" b="14018"/>
            <a:stretch>
              <a:fillRect/>
            </a:stretch>
          </p:blipFill>
          <p:spPr>
            <a:xfrm>
              <a:off x="5780961" y="1214422"/>
              <a:ext cx="2505815" cy="4786346"/>
            </a:xfrm>
            <a:prstGeom prst="rect">
              <a:avLst/>
            </a:prstGeom>
          </p:spPr>
        </p:pic>
        <p:sp>
          <p:nvSpPr>
            <p:cNvPr id="8" name="TextBox 7"/>
            <p:cNvSpPr txBox="1"/>
            <p:nvPr/>
          </p:nvSpPr>
          <p:spPr>
            <a:xfrm>
              <a:off x="6357950" y="4082938"/>
              <a:ext cx="1143008" cy="400110"/>
            </a:xfrm>
            <a:prstGeom prst="rect">
              <a:avLst/>
            </a:prstGeom>
            <a:noFill/>
          </p:spPr>
          <p:txBody>
            <a:bodyPr wrap="square" rtlCol="0">
              <a:spAutoFit/>
            </a:bodyPr>
            <a:lstStyle/>
            <a:p>
              <a:r>
                <a:rPr lang="en-US" altLang="zh-CN" sz="2000" b="1" u="sng" dirty="0">
                  <a:solidFill>
                    <a:srgbClr val="FF0000"/>
                  </a:solidFill>
                  <a:effectLst>
                    <a:outerShdw blurRad="38100" dist="38100" dir="2700000" algn="tl">
                      <a:srgbClr val="000000">
                        <a:alpha val="43137"/>
                      </a:srgbClr>
                    </a:outerShdw>
                  </a:effectLst>
                </a:rPr>
                <a:t>0.75 -2.5</a:t>
              </a:r>
              <a:endParaRPr lang="zh-CN" altLang="en-US" sz="2000" b="1" u="sng" dirty="0">
                <a:solidFill>
                  <a:srgbClr val="FF0000"/>
                </a:solidFill>
                <a:effectLst>
                  <a:outerShdw blurRad="38100" dist="38100" dir="2700000" algn="tl">
                    <a:srgbClr val="000000">
                      <a:alpha val="43137"/>
                    </a:srgbClr>
                  </a:outerShdw>
                </a:effectLst>
              </a:endParaRPr>
            </a:p>
          </p:txBody>
        </p:sp>
      </p:grpSp>
      <p:sp>
        <p:nvSpPr>
          <p:cNvPr id="10" name="椭圆 9"/>
          <p:cNvSpPr/>
          <p:nvPr/>
        </p:nvSpPr>
        <p:spPr>
          <a:xfrm>
            <a:off x="6703100" y="4008484"/>
            <a:ext cx="1071570" cy="428628"/>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 Box 4"/>
          <p:cNvSpPr txBox="1">
            <a:spLocks noChangeArrowheads="1"/>
          </p:cNvSpPr>
          <p:nvPr/>
        </p:nvSpPr>
        <p:spPr bwMode="auto">
          <a:xfrm>
            <a:off x="777364" y="2358117"/>
            <a:ext cx="222721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3</a:t>
            </a:r>
            <a:r>
              <a:rPr lang="en-US" altLang="zh-CN" sz="2800" b="1" dirty="0"/>
              <a:t>) </a:t>
            </a:r>
            <a:r>
              <a:rPr lang="zh-CN" altLang="en-US" sz="2800" b="1" dirty="0">
                <a:solidFill>
                  <a:srgbClr val="FF33CC"/>
                </a:solidFill>
              </a:rPr>
              <a:t>示值范围</a:t>
            </a:r>
          </a:p>
        </p:txBody>
      </p:sp>
      <p:sp>
        <p:nvSpPr>
          <p:cNvPr id="12" name="Text Box 5"/>
          <p:cNvSpPr txBox="1">
            <a:spLocks noChangeArrowheads="1"/>
          </p:cNvSpPr>
          <p:nvPr/>
        </p:nvSpPr>
        <p:spPr bwMode="auto">
          <a:xfrm>
            <a:off x="738954" y="3140729"/>
            <a:ext cx="5129190" cy="496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endParaRPr lang="en-US" altLang="zh-CN" b="1" dirty="0"/>
          </a:p>
        </p:txBody>
      </p:sp>
      <p:sp>
        <p:nvSpPr>
          <p:cNvPr id="15" name="Text Box 6"/>
          <p:cNvSpPr txBox="1">
            <a:spLocks noChangeArrowheads="1"/>
          </p:cNvSpPr>
          <p:nvPr/>
        </p:nvSpPr>
        <p:spPr bwMode="auto">
          <a:xfrm>
            <a:off x="777364" y="2996952"/>
            <a:ext cx="31400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4</a:t>
            </a:r>
            <a:r>
              <a:rPr lang="en-US" altLang="zh-CN" sz="2800" b="1" dirty="0"/>
              <a:t>)</a:t>
            </a:r>
            <a:r>
              <a:rPr lang="zh-CN" altLang="en-US" sz="2800" b="1" dirty="0"/>
              <a:t> </a:t>
            </a:r>
            <a:r>
              <a:rPr lang="zh-CN" altLang="en-US" sz="2800" b="1" dirty="0">
                <a:solidFill>
                  <a:srgbClr val="FF33CC"/>
                </a:solidFill>
              </a:rPr>
              <a:t>测量范围</a:t>
            </a:r>
          </a:p>
        </p:txBody>
      </p:sp>
      <p:sp>
        <p:nvSpPr>
          <p:cNvPr id="16" name="Text Box 7"/>
          <p:cNvSpPr txBox="1">
            <a:spLocks noChangeArrowheads="1"/>
          </p:cNvSpPr>
          <p:nvPr/>
        </p:nvSpPr>
        <p:spPr bwMode="auto">
          <a:xfrm>
            <a:off x="624624" y="3682492"/>
            <a:ext cx="6140435" cy="4931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smtClean="0"/>
              <a:t>例如</a:t>
            </a:r>
            <a:r>
              <a:rPr lang="zh-CN" altLang="en-US" b="1" dirty="0"/>
              <a:t>某一千分尺的测量范围为</a:t>
            </a:r>
            <a:r>
              <a:rPr lang="en-US" altLang="zh-CN" b="1" dirty="0"/>
              <a:t>25~50mm</a:t>
            </a:r>
            <a:r>
              <a:rPr lang="zh-CN" altLang="en-US" b="1" dirty="0"/>
              <a:t>。</a:t>
            </a:r>
            <a:endParaRPr lang="en-US" altLang="zh-CN" b="1" dirty="0"/>
          </a:p>
        </p:txBody>
      </p:sp>
      <p:sp>
        <p:nvSpPr>
          <p:cNvPr id="2" name="Text Box 8"/>
          <p:cNvSpPr txBox="1">
            <a:spLocks noChangeArrowheads="1"/>
          </p:cNvSpPr>
          <p:nvPr/>
        </p:nvSpPr>
        <p:spPr bwMode="auto">
          <a:xfrm>
            <a:off x="683245" y="332656"/>
            <a:ext cx="4968875"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  计量器具的度量指标</a:t>
            </a:r>
          </a:p>
        </p:txBody>
      </p:sp>
      <p:sp>
        <p:nvSpPr>
          <p:cNvPr id="14" name="Text Box 14"/>
          <p:cNvSpPr txBox="1">
            <a:spLocks noChangeArrowheads="1"/>
          </p:cNvSpPr>
          <p:nvPr/>
        </p:nvSpPr>
        <p:spPr bwMode="auto">
          <a:xfrm>
            <a:off x="783569" y="4253536"/>
            <a:ext cx="367347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5</a:t>
            </a:r>
            <a:r>
              <a:rPr lang="en-US" altLang="zh-CN" sz="2800" b="1" dirty="0"/>
              <a:t>) </a:t>
            </a:r>
            <a:r>
              <a:rPr lang="zh-CN" altLang="en-US" sz="2800" b="1" dirty="0">
                <a:solidFill>
                  <a:srgbClr val="FF33CC"/>
                </a:solidFill>
              </a:rPr>
              <a:t>灵敏度 （</a:t>
            </a:r>
            <a:r>
              <a:rPr lang="en-US" altLang="zh-CN" sz="2800" b="1" dirty="0">
                <a:solidFill>
                  <a:srgbClr val="FF33CC"/>
                </a:solidFill>
              </a:rPr>
              <a:t>k）</a:t>
            </a:r>
          </a:p>
        </p:txBody>
      </p:sp>
      <p:sp>
        <p:nvSpPr>
          <p:cNvPr id="17" name="Text Box 4"/>
          <p:cNvSpPr txBox="1">
            <a:spLocks noChangeArrowheads="1"/>
          </p:cNvSpPr>
          <p:nvPr/>
        </p:nvSpPr>
        <p:spPr bwMode="auto">
          <a:xfrm>
            <a:off x="777364" y="4887818"/>
            <a:ext cx="44196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6</a:t>
            </a:r>
            <a:r>
              <a:rPr lang="en-US" altLang="zh-CN" sz="2800" b="1" dirty="0"/>
              <a:t>)</a:t>
            </a:r>
            <a:r>
              <a:rPr lang="zh-CN" altLang="en-US" sz="2800" b="1" dirty="0"/>
              <a:t> </a:t>
            </a:r>
            <a:r>
              <a:rPr lang="zh-CN" altLang="en-US" sz="2800" b="1" dirty="0">
                <a:solidFill>
                  <a:srgbClr val="FF33CC"/>
                </a:solidFill>
              </a:rPr>
              <a:t>灵敏限</a:t>
            </a:r>
            <a:r>
              <a:rPr lang="zh-CN" altLang="en-US" sz="2800" b="1" dirty="0"/>
              <a:t>（灵敏阈）</a:t>
            </a:r>
            <a:endParaRPr lang="en-US" altLang="zh-CN" sz="2800" b="1" dirty="0"/>
          </a:p>
        </p:txBody>
      </p:sp>
      <p:sp>
        <p:nvSpPr>
          <p:cNvPr id="3" name="矩形 2"/>
          <p:cNvSpPr/>
          <p:nvPr/>
        </p:nvSpPr>
        <p:spPr>
          <a:xfrm>
            <a:off x="1259632" y="5564546"/>
            <a:ext cx="4825360" cy="461665"/>
          </a:xfrm>
          <a:prstGeom prst="rect">
            <a:avLst/>
          </a:prstGeom>
        </p:spPr>
        <p:txBody>
          <a:bodyPr wrap="none">
            <a:spAutoFit/>
          </a:bodyPr>
          <a:lstStyle/>
          <a:p>
            <a:pPr eaLnBrk="1" hangingPunct="1"/>
            <a:r>
              <a:rPr lang="zh-CN" altLang="en-US" b="1" dirty="0"/>
              <a:t>灵敏限越小，计量器具精度越高。</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2"/>
                                        </p:tgtEl>
                                        <p:attrNameLst>
                                          <p:attrName>style.visibility</p:attrName>
                                        </p:attrNameLst>
                                      </p:cBhvr>
                                      <p:to>
                                        <p:strVal val="visible"/>
                                      </p:to>
                                    </p:set>
                                    <p:animEffect transition="in" filter="wipe(left)">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5"/>
                                        </p:tgtEl>
                                        <p:attrNameLst>
                                          <p:attrName>style.visibility</p:attrName>
                                        </p:attrNameLst>
                                      </p:cBhvr>
                                      <p:to>
                                        <p:strVal val="visible"/>
                                      </p:to>
                                    </p:set>
                                    <p:animEffect transition="in" filter="wipe(left)">
                                      <p:cBhvr>
                                        <p:cTn id="12" dur="3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
                                        </p:tgtEl>
                                        <p:attrNameLst>
                                          <p:attrName>style.visibility</p:attrName>
                                        </p:attrNameLst>
                                      </p:cBhvr>
                                      <p:to>
                                        <p:strVal val="visible"/>
                                      </p:to>
                                    </p:set>
                                    <p:animEffect transition="in" filter="wipe(left)">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up)">
                                      <p:cBhvr>
                                        <p:cTn id="27" dur="500"/>
                                        <p:tgtEl>
                                          <p:spTgt spid="10"/>
                                        </p:tgtEl>
                                      </p:cBhvr>
                                    </p:animEffect>
                                  </p:childTnLst>
                                </p:cTn>
                              </p:par>
                            </p:childTnLst>
                          </p:cTn>
                        </p:par>
                        <p:par>
                          <p:cTn id="28" fill="hold">
                            <p:stCondLst>
                              <p:cond delay="500"/>
                            </p:stCondLst>
                            <p:childTnLst>
                              <p:par>
                                <p:cTn id="29" presetID="22" presetClass="entr" presetSubtype="8" fill="hold" grpId="0" nodeType="afterEffect">
                                  <p:stCondLst>
                                    <p:cond delay="0"/>
                                  </p:stCondLst>
                                  <p:iterate type="wd">
                                    <p:tmPct val="100000"/>
                                  </p:iterate>
                                  <p:childTnLst>
                                    <p:set>
                                      <p:cBhvr>
                                        <p:cTn id="30" dur="1" fill="hold">
                                          <p:stCondLst>
                                            <p:cond delay="0"/>
                                          </p:stCondLst>
                                        </p:cTn>
                                        <p:tgtEl>
                                          <p:spTgt spid="11"/>
                                        </p:tgtEl>
                                        <p:attrNameLst>
                                          <p:attrName>style.visibility</p:attrName>
                                        </p:attrNameLst>
                                      </p:cBhvr>
                                      <p:to>
                                        <p:strVal val="visible"/>
                                      </p:to>
                                    </p:set>
                                    <p:animEffect transition="in" filter="wipe(left)">
                                      <p:cBhvr>
                                        <p:cTn id="31" dur="300"/>
                                        <p:tgtEl>
                                          <p:spTgt spid="11"/>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iterate type="wd">
                                    <p:tmPct val="100000"/>
                                  </p:iterate>
                                  <p:childTnLst>
                                    <p:set>
                                      <p:cBhvr>
                                        <p:cTn id="35" dur="1" fill="hold">
                                          <p:stCondLst>
                                            <p:cond delay="0"/>
                                          </p:stCondLst>
                                        </p:cTn>
                                        <p:tgtEl>
                                          <p:spTgt spid="12"/>
                                        </p:tgtEl>
                                        <p:attrNameLst>
                                          <p:attrName>style.visibility</p:attrName>
                                        </p:attrNameLst>
                                      </p:cBhvr>
                                      <p:to>
                                        <p:strVal val="visible"/>
                                      </p:to>
                                    </p:set>
                                    <p:animEffect transition="in" filter="wipe(left)">
                                      <p:cBhvr>
                                        <p:cTn id="36" dur="300"/>
                                        <p:tgtEl>
                                          <p:spTgt spid="12"/>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iterate type="wd">
                                    <p:tmPct val="100000"/>
                                  </p:iterate>
                                  <p:childTnLst>
                                    <p:set>
                                      <p:cBhvr>
                                        <p:cTn id="40" dur="1" fill="hold">
                                          <p:stCondLst>
                                            <p:cond delay="0"/>
                                          </p:stCondLst>
                                        </p:cTn>
                                        <p:tgtEl>
                                          <p:spTgt spid="15"/>
                                        </p:tgtEl>
                                        <p:attrNameLst>
                                          <p:attrName>style.visibility</p:attrName>
                                        </p:attrNameLst>
                                      </p:cBhvr>
                                      <p:to>
                                        <p:strVal val="visible"/>
                                      </p:to>
                                    </p:set>
                                    <p:animEffect transition="in" filter="wipe(left)">
                                      <p:cBhvr>
                                        <p:cTn id="41" dur="300"/>
                                        <p:tgtEl>
                                          <p:spTgt spid="15"/>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iterate type="wd">
                                    <p:tmPct val="100000"/>
                                  </p:iterate>
                                  <p:childTnLst>
                                    <p:set>
                                      <p:cBhvr>
                                        <p:cTn id="45" dur="1" fill="hold">
                                          <p:stCondLst>
                                            <p:cond delay="0"/>
                                          </p:stCondLst>
                                        </p:cTn>
                                        <p:tgtEl>
                                          <p:spTgt spid="16"/>
                                        </p:tgtEl>
                                        <p:attrNameLst>
                                          <p:attrName>style.visibility</p:attrName>
                                        </p:attrNameLst>
                                      </p:cBhvr>
                                      <p:to>
                                        <p:strVal val="visible"/>
                                      </p:to>
                                    </p:set>
                                    <p:animEffect transition="in" filter="wipe(left)">
                                      <p:cBhvr>
                                        <p:cTn id="46" dur="300"/>
                                        <p:tgtEl>
                                          <p:spTgt spid="1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iterate type="wd">
                                    <p:tmPct val="100000"/>
                                  </p:iterate>
                                  <p:childTnLst>
                                    <p:set>
                                      <p:cBhvr>
                                        <p:cTn id="50" dur="1" fill="hold">
                                          <p:stCondLst>
                                            <p:cond delay="0"/>
                                          </p:stCondLst>
                                        </p:cTn>
                                        <p:tgtEl>
                                          <p:spTgt spid="14"/>
                                        </p:tgtEl>
                                        <p:attrNameLst>
                                          <p:attrName>style.visibility</p:attrName>
                                        </p:attrNameLst>
                                      </p:cBhvr>
                                      <p:to>
                                        <p:strVal val="visible"/>
                                      </p:to>
                                    </p:set>
                                    <p:animEffect transition="in" filter="wipe(left)">
                                      <p:cBhvr>
                                        <p:cTn id="51" dur="300"/>
                                        <p:tgtEl>
                                          <p:spTgt spid="14"/>
                                        </p:tgtEl>
                                      </p:cBhvr>
                                    </p:animEffect>
                                  </p:childTnLst>
                                </p:cTn>
                              </p:par>
                            </p:childTnLst>
                          </p:cTn>
                        </p:par>
                        <p:par>
                          <p:cTn id="52" fill="hold">
                            <p:stCondLst>
                              <p:cond delay="2100"/>
                            </p:stCondLst>
                            <p:childTnLst>
                              <p:par>
                                <p:cTn id="53" presetID="22" presetClass="entr" presetSubtype="8" fill="hold" grpId="0" nodeType="afterEffect">
                                  <p:stCondLst>
                                    <p:cond delay="0"/>
                                  </p:stCondLst>
                                  <p:iterate type="wd">
                                    <p:tmPct val="100000"/>
                                  </p:iterate>
                                  <p:childTnLst>
                                    <p:set>
                                      <p:cBhvr>
                                        <p:cTn id="54" dur="1" fill="hold">
                                          <p:stCondLst>
                                            <p:cond delay="0"/>
                                          </p:stCondLst>
                                        </p:cTn>
                                        <p:tgtEl>
                                          <p:spTgt spid="17"/>
                                        </p:tgtEl>
                                        <p:attrNameLst>
                                          <p:attrName>style.visibility</p:attrName>
                                        </p:attrNameLst>
                                      </p:cBhvr>
                                      <p:to>
                                        <p:strVal val="visible"/>
                                      </p:to>
                                    </p:set>
                                    <p:animEffect transition="in" filter="wipe(left)">
                                      <p:cBhvr>
                                        <p:cTn id="55" dur="300"/>
                                        <p:tgtEl>
                                          <p:spTgt spid="17"/>
                                        </p:tgtEl>
                                      </p:cBhvr>
                                    </p:animEffec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grpId="0" nodeType="clickEffect">
                                  <p:stCondLst>
                                    <p:cond delay="0"/>
                                  </p:stCondLst>
                                  <p:childTnLst>
                                    <p:set>
                                      <p:cBhvr>
                                        <p:cTn id="5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autoUpdateAnimBg="0"/>
      <p:bldP spid="6" grpId="0" bldLvl="0" animBg="1" autoUpdateAnimBg="0"/>
      <p:bldP spid="10" grpId="0" animBg="1"/>
      <p:bldP spid="11" grpId="0" autoUpdateAnimBg="0"/>
      <p:bldP spid="12" grpId="0" autoUpdateAnimBg="0"/>
      <p:bldP spid="15" grpId="0" autoUpdateAnimBg="0"/>
      <p:bldP spid="16" grpId="0" autoUpdateAnimBg="0"/>
      <p:bldP spid="2" grpId="0" bldLvl="0" animBg="1" autoUpdateAnimBg="0"/>
      <p:bldP spid="14" grpId="0" autoUpdateAnimBg="0"/>
      <p:bldP spid="17" grpId="0" autoUpdateAnimBg="0"/>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21</a:t>
            </a:fld>
            <a:endParaRPr lang="en-US" altLang="zh-CN"/>
          </a:p>
        </p:txBody>
      </p:sp>
      <p:sp>
        <p:nvSpPr>
          <p:cNvPr id="8" name="Text Box 18"/>
          <p:cNvSpPr txBox="1">
            <a:spLocks noChangeArrowheads="1"/>
          </p:cNvSpPr>
          <p:nvPr/>
        </p:nvSpPr>
        <p:spPr bwMode="auto">
          <a:xfrm>
            <a:off x="928576" y="1340768"/>
            <a:ext cx="65134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7</a:t>
            </a:r>
            <a:r>
              <a:rPr lang="en-US" altLang="zh-CN" sz="2800" b="1" dirty="0"/>
              <a:t>) </a:t>
            </a:r>
            <a:r>
              <a:rPr lang="zh-CN" altLang="en-US" sz="2800" b="1" dirty="0">
                <a:solidFill>
                  <a:srgbClr val="FF33CC"/>
                </a:solidFill>
              </a:rPr>
              <a:t>测量</a:t>
            </a:r>
            <a:r>
              <a:rPr lang="zh-CN" altLang="en-US" sz="2800" b="1" dirty="0" smtClean="0">
                <a:solidFill>
                  <a:srgbClr val="FF33CC"/>
                </a:solidFill>
              </a:rPr>
              <a:t>力    </a:t>
            </a:r>
            <a:r>
              <a:rPr lang="zh-CN" altLang="en-US" b="1" dirty="0" smtClean="0"/>
              <a:t>计量</a:t>
            </a:r>
            <a:r>
              <a:rPr lang="zh-CN" altLang="en-US" b="1" dirty="0"/>
              <a:t>器具与被测表面的</a:t>
            </a:r>
            <a:r>
              <a:rPr lang="zh-CN" altLang="en-US" b="1" dirty="0" smtClean="0"/>
              <a:t>接触力</a:t>
            </a:r>
            <a:r>
              <a:rPr lang="zh-CN" altLang="en-US" b="1" dirty="0"/>
              <a:t>。</a:t>
            </a:r>
          </a:p>
        </p:txBody>
      </p:sp>
      <p:sp>
        <p:nvSpPr>
          <p:cNvPr id="10" name="Text Box 20"/>
          <p:cNvSpPr txBox="1">
            <a:spLocks noChangeArrowheads="1"/>
          </p:cNvSpPr>
          <p:nvPr/>
        </p:nvSpPr>
        <p:spPr bwMode="auto">
          <a:xfrm>
            <a:off x="928575" y="2060848"/>
            <a:ext cx="7675873"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8</a:t>
            </a:r>
            <a:r>
              <a:rPr lang="en-US" altLang="zh-CN" sz="2800" b="1" dirty="0"/>
              <a:t>) </a:t>
            </a:r>
            <a:r>
              <a:rPr lang="zh-CN" altLang="en-US" sz="2800" b="1" dirty="0">
                <a:solidFill>
                  <a:srgbClr val="FF33CC"/>
                </a:solidFill>
              </a:rPr>
              <a:t>示值</a:t>
            </a:r>
            <a:r>
              <a:rPr lang="zh-CN" altLang="en-US" sz="2800" b="1" dirty="0" smtClean="0">
                <a:solidFill>
                  <a:srgbClr val="FF33CC"/>
                </a:solidFill>
              </a:rPr>
              <a:t>误差  </a:t>
            </a:r>
            <a:r>
              <a:rPr lang="zh-CN" altLang="en-US" b="1" dirty="0"/>
              <a:t>计量器具的示值与被测量真值之差。  </a:t>
            </a:r>
          </a:p>
        </p:txBody>
      </p:sp>
      <p:sp>
        <p:nvSpPr>
          <p:cNvPr id="5" name="Text Box 8"/>
          <p:cNvSpPr txBox="1">
            <a:spLocks noChangeArrowheads="1"/>
          </p:cNvSpPr>
          <p:nvPr/>
        </p:nvSpPr>
        <p:spPr bwMode="auto">
          <a:xfrm>
            <a:off x="755253" y="332656"/>
            <a:ext cx="4968875"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  计量器具的度量指标</a:t>
            </a:r>
          </a:p>
        </p:txBody>
      </p:sp>
      <p:sp>
        <p:nvSpPr>
          <p:cNvPr id="12" name="Text Box 4"/>
          <p:cNvSpPr txBox="1">
            <a:spLocks noChangeArrowheads="1"/>
          </p:cNvSpPr>
          <p:nvPr/>
        </p:nvSpPr>
        <p:spPr bwMode="auto">
          <a:xfrm>
            <a:off x="920633" y="2770493"/>
            <a:ext cx="7457447"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9</a:t>
            </a:r>
            <a:r>
              <a:rPr lang="en-US" altLang="zh-CN" sz="2800" b="1" dirty="0"/>
              <a:t>) </a:t>
            </a:r>
            <a:r>
              <a:rPr lang="zh-CN" altLang="en-US" sz="2800" b="1" dirty="0">
                <a:solidFill>
                  <a:srgbClr val="FF33CC"/>
                </a:solidFill>
              </a:rPr>
              <a:t>示值变动</a:t>
            </a:r>
            <a:r>
              <a:rPr lang="zh-CN" altLang="en-US" sz="2800" b="1" dirty="0" smtClean="0">
                <a:solidFill>
                  <a:srgbClr val="FF33CC"/>
                </a:solidFill>
              </a:rPr>
              <a:t>性    </a:t>
            </a:r>
            <a:r>
              <a:rPr lang="zh-CN" altLang="en-US" b="1" dirty="0" smtClean="0"/>
              <a:t>多次</a:t>
            </a:r>
            <a:r>
              <a:rPr lang="zh-CN" altLang="en-US" b="1" dirty="0"/>
              <a:t>重复测量</a:t>
            </a:r>
            <a:r>
              <a:rPr lang="zh-CN" altLang="en-US" b="1" dirty="0" smtClean="0"/>
              <a:t>读数的</a:t>
            </a:r>
            <a:r>
              <a:rPr lang="zh-CN" altLang="en-US" b="1" dirty="0"/>
              <a:t>最大变动</a:t>
            </a:r>
            <a:r>
              <a:rPr lang="zh-CN" altLang="en-US" b="1" dirty="0" smtClean="0"/>
              <a:t>量</a:t>
            </a:r>
            <a:r>
              <a:rPr lang="zh-CN" altLang="en-US" b="1" dirty="0"/>
              <a:t>。</a:t>
            </a:r>
            <a:endParaRPr lang="zh-CN" altLang="en-US" b="1" dirty="0">
              <a:solidFill>
                <a:srgbClr val="FF33CC"/>
              </a:solidFill>
            </a:endParaRPr>
          </a:p>
        </p:txBody>
      </p:sp>
      <p:sp>
        <p:nvSpPr>
          <p:cNvPr id="13" name="Text Box 15"/>
          <p:cNvSpPr txBox="1">
            <a:spLocks noChangeArrowheads="1"/>
          </p:cNvSpPr>
          <p:nvPr/>
        </p:nvSpPr>
        <p:spPr bwMode="auto">
          <a:xfrm>
            <a:off x="910764" y="3479230"/>
            <a:ext cx="7405652" cy="10135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ts val="3800"/>
              </a:lnSpc>
            </a:pPr>
            <a:r>
              <a:rPr lang="en-US" altLang="zh-CN" sz="2800" b="1" dirty="0"/>
              <a:t>(</a:t>
            </a:r>
            <a:r>
              <a:rPr lang="zh-CN" altLang="en-US" sz="2800" b="1" dirty="0"/>
              <a:t>10</a:t>
            </a:r>
            <a:r>
              <a:rPr lang="en-US" altLang="zh-CN" sz="2800" b="1" dirty="0"/>
              <a:t>) </a:t>
            </a:r>
            <a:r>
              <a:rPr lang="zh-CN" altLang="en-US" sz="2800" b="1" dirty="0">
                <a:solidFill>
                  <a:srgbClr val="FF33CC"/>
                </a:solidFill>
              </a:rPr>
              <a:t>回程误差（滞后误差</a:t>
            </a:r>
            <a:r>
              <a:rPr lang="zh-CN" altLang="en-US" sz="2800" b="1" dirty="0" smtClean="0">
                <a:solidFill>
                  <a:srgbClr val="FF33CC"/>
                </a:solidFill>
              </a:rPr>
              <a:t>）</a:t>
            </a:r>
            <a:r>
              <a:rPr lang="zh-CN" altLang="en-US" b="1" dirty="0"/>
              <a:t>往返两个方向</a:t>
            </a:r>
            <a:r>
              <a:rPr lang="zh-CN" altLang="en-US" b="1" dirty="0" smtClean="0"/>
              <a:t>测量的</a:t>
            </a:r>
            <a:r>
              <a:rPr lang="zh-CN" altLang="en-US" b="1" dirty="0"/>
              <a:t>示值变化</a:t>
            </a:r>
            <a:r>
              <a:rPr lang="zh-CN" altLang="en-US" b="1" dirty="0" smtClean="0"/>
              <a:t>量。</a:t>
            </a:r>
            <a:endParaRPr lang="zh-CN" altLang="en-US" b="1" dirty="0"/>
          </a:p>
        </p:txBody>
      </p:sp>
      <p:sp>
        <p:nvSpPr>
          <p:cNvPr id="14" name="Text Box 17"/>
          <p:cNvSpPr txBox="1">
            <a:spLocks noChangeArrowheads="1"/>
          </p:cNvSpPr>
          <p:nvPr/>
        </p:nvSpPr>
        <p:spPr bwMode="auto">
          <a:xfrm>
            <a:off x="910765" y="4561964"/>
            <a:ext cx="6901596"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smtClean="0"/>
              <a:t>(</a:t>
            </a:r>
            <a:r>
              <a:rPr lang="zh-CN" altLang="en-US" sz="2800" b="1" dirty="0" smtClean="0"/>
              <a:t>11</a:t>
            </a:r>
            <a:r>
              <a:rPr lang="en-US" altLang="zh-CN" sz="2800" b="1" dirty="0" smtClean="0"/>
              <a:t>) </a:t>
            </a:r>
            <a:r>
              <a:rPr lang="zh-CN" altLang="en-US" sz="2800" b="1" dirty="0" smtClean="0">
                <a:solidFill>
                  <a:srgbClr val="FF33CC"/>
                </a:solidFill>
              </a:rPr>
              <a:t>修正值    </a:t>
            </a:r>
            <a:r>
              <a:rPr lang="zh-CN" altLang="en-US" b="1" dirty="0"/>
              <a:t>用代数法加到测量结果上的</a:t>
            </a:r>
            <a:r>
              <a:rPr lang="zh-CN" altLang="en-US" b="1" dirty="0" smtClean="0"/>
              <a:t>值。</a:t>
            </a:r>
            <a:endParaRPr lang="zh-CN" altLang="en-US" b="1" dirty="0"/>
          </a:p>
        </p:txBody>
      </p:sp>
      <p:sp>
        <p:nvSpPr>
          <p:cNvPr id="2" name="矩形 1"/>
          <p:cNvSpPr/>
          <p:nvPr/>
        </p:nvSpPr>
        <p:spPr>
          <a:xfrm>
            <a:off x="889248" y="4889773"/>
            <a:ext cx="7620593" cy="491481"/>
          </a:xfrm>
          <a:prstGeom prst="rect">
            <a:avLst/>
          </a:prstGeom>
        </p:spPr>
        <p:txBody>
          <a:bodyPr wrap="square">
            <a:spAutoFit/>
          </a:bodyPr>
          <a:lstStyle/>
          <a:p>
            <a:pPr eaLnBrk="1" hangingPunct="1">
              <a:lnSpc>
                <a:spcPts val="3400"/>
              </a:lnSpc>
            </a:pPr>
            <a:r>
              <a:rPr lang="zh-CN" altLang="en-US" b="1" dirty="0" smtClean="0"/>
              <a:t>      </a:t>
            </a:r>
            <a:endParaRPr lang="zh-CN" altLang="en-US" b="1" dirty="0"/>
          </a:p>
        </p:txBody>
      </p:sp>
      <p:sp>
        <p:nvSpPr>
          <p:cNvPr id="18" name="Text Box 4"/>
          <p:cNvSpPr txBox="1">
            <a:spLocks noChangeArrowheads="1"/>
          </p:cNvSpPr>
          <p:nvPr/>
        </p:nvSpPr>
        <p:spPr bwMode="auto">
          <a:xfrm>
            <a:off x="899591" y="5210036"/>
            <a:ext cx="7610249" cy="95410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a:t>
            </a:r>
            <a:r>
              <a:rPr lang="zh-CN" altLang="en-US" sz="2800" b="1" dirty="0"/>
              <a:t>12</a:t>
            </a:r>
            <a:r>
              <a:rPr lang="en-US" altLang="zh-CN" sz="2800" b="1" dirty="0"/>
              <a:t>) </a:t>
            </a:r>
            <a:r>
              <a:rPr lang="zh-CN" altLang="en-US" sz="2800" b="1" dirty="0" smtClean="0">
                <a:solidFill>
                  <a:srgbClr val="FF33CC"/>
                </a:solidFill>
              </a:rPr>
              <a:t>不确定度  </a:t>
            </a:r>
            <a:r>
              <a:rPr lang="zh-CN" altLang="en-US" b="1" dirty="0" smtClean="0"/>
              <a:t>对</a:t>
            </a:r>
            <a:r>
              <a:rPr lang="zh-CN" altLang="en-US" b="1" dirty="0"/>
              <a:t>被测量量值不能确定的</a:t>
            </a:r>
            <a:r>
              <a:rPr lang="zh-CN" altLang="en-US" b="1" dirty="0" smtClean="0"/>
              <a:t>程度</a:t>
            </a:r>
            <a:r>
              <a:rPr lang="zh-CN" altLang="en-US" b="1" dirty="0"/>
              <a:t>。</a:t>
            </a:r>
          </a:p>
          <a:p>
            <a:pPr eaLnBrk="1" hangingPunct="1"/>
            <a:endParaRPr lang="zh-CN" altLang="en-US" sz="2800" b="1" dirty="0">
              <a:solidFill>
                <a:srgbClr val="FF33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8"/>
                                        </p:tgtEl>
                                        <p:attrNameLst>
                                          <p:attrName>style.visibility</p:attrName>
                                        </p:attrNameLst>
                                      </p:cBhvr>
                                      <p:to>
                                        <p:strVal val="visible"/>
                                      </p:to>
                                    </p:set>
                                    <p:animEffect transition="in" filter="wipe(left)">
                                      <p:cBhvr>
                                        <p:cTn id="12" dur="3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10"/>
                                        </p:tgtEl>
                                        <p:attrNameLst>
                                          <p:attrName>style.visibility</p:attrName>
                                        </p:attrNameLst>
                                      </p:cBhvr>
                                      <p:to>
                                        <p:strVal val="visible"/>
                                      </p:to>
                                    </p:set>
                                    <p:animEffect transition="in" filter="wipe(left)">
                                      <p:cBhvr>
                                        <p:cTn id="17" dur="300"/>
                                        <p:tgtEl>
                                          <p:spTgt spid="10"/>
                                        </p:tgtEl>
                                      </p:cBhvr>
                                    </p:animEffect>
                                  </p:childTnLst>
                                </p:cTn>
                              </p:par>
                            </p:childTnLst>
                          </p:cTn>
                        </p:par>
                        <p:par>
                          <p:cTn id="18" fill="hold">
                            <p:stCondLst>
                              <p:cond delay="4800"/>
                            </p:stCondLst>
                            <p:childTnLst>
                              <p:par>
                                <p:cTn id="19" presetID="22" presetClass="entr" presetSubtype="8" fill="hold" grpId="0" nodeType="afterEffect">
                                  <p:stCondLst>
                                    <p:cond delay="0"/>
                                  </p:stCondLst>
                                  <p:iterate type="wd">
                                    <p:tmPct val="100000"/>
                                  </p:iterate>
                                  <p:childTnLst>
                                    <p:set>
                                      <p:cBhvr>
                                        <p:cTn id="20" dur="1" fill="hold">
                                          <p:stCondLst>
                                            <p:cond delay="0"/>
                                          </p:stCondLst>
                                        </p:cTn>
                                        <p:tgtEl>
                                          <p:spTgt spid="12"/>
                                        </p:tgtEl>
                                        <p:attrNameLst>
                                          <p:attrName>style.visibility</p:attrName>
                                        </p:attrNameLst>
                                      </p:cBhvr>
                                      <p:to>
                                        <p:strVal val="visible"/>
                                      </p:to>
                                    </p:set>
                                    <p:animEffect transition="in" filter="wipe(left)">
                                      <p:cBhvr>
                                        <p:cTn id="21" dur="300"/>
                                        <p:tgtEl>
                                          <p:spTgt spid="1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iterate type="wd">
                                    <p:tmPct val="100000"/>
                                  </p:iterate>
                                  <p:childTnLst>
                                    <p:set>
                                      <p:cBhvr>
                                        <p:cTn id="25" dur="1" fill="hold">
                                          <p:stCondLst>
                                            <p:cond delay="0"/>
                                          </p:stCondLst>
                                        </p:cTn>
                                        <p:tgtEl>
                                          <p:spTgt spid="13"/>
                                        </p:tgtEl>
                                        <p:attrNameLst>
                                          <p:attrName>style.visibility</p:attrName>
                                        </p:attrNameLst>
                                      </p:cBhvr>
                                      <p:to>
                                        <p:strVal val="visible"/>
                                      </p:to>
                                    </p:set>
                                    <p:animEffect transition="in" filter="wipe(left)">
                                      <p:cBhvr>
                                        <p:cTn id="26" dur="300"/>
                                        <p:tgtEl>
                                          <p:spTgt spid="1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iterate type="wd">
                                    <p:tmPct val="100000"/>
                                  </p:iterate>
                                  <p:childTnLst>
                                    <p:set>
                                      <p:cBhvr>
                                        <p:cTn id="30" dur="1" fill="hold">
                                          <p:stCondLst>
                                            <p:cond delay="0"/>
                                          </p:stCondLst>
                                        </p:cTn>
                                        <p:tgtEl>
                                          <p:spTgt spid="14"/>
                                        </p:tgtEl>
                                        <p:attrNameLst>
                                          <p:attrName>style.visibility</p:attrName>
                                        </p:attrNameLst>
                                      </p:cBhvr>
                                      <p:to>
                                        <p:strVal val="visible"/>
                                      </p:to>
                                    </p:set>
                                    <p:animEffect transition="in" filter="wipe(left)">
                                      <p:cBhvr>
                                        <p:cTn id="31" dur="300"/>
                                        <p:tgtEl>
                                          <p:spTgt spid="14"/>
                                        </p:tgtEl>
                                      </p:cBhvr>
                                    </p:animEffect>
                                  </p:childTnLst>
                                </p:cTn>
                              </p:par>
                            </p:childTnLst>
                          </p:cTn>
                        </p:par>
                        <p:par>
                          <p:cTn id="32" fill="hold">
                            <p:stCondLst>
                              <p:cond delay="4800"/>
                            </p:stCondLst>
                            <p:childTnLst>
                              <p:par>
                                <p:cTn id="33" presetID="22" presetClass="entr" presetSubtype="8" fill="hold" grpId="0" nodeType="afterEffect">
                                  <p:stCondLst>
                                    <p:cond delay="0"/>
                                  </p:stCondLst>
                                  <p:iterate type="wd">
                                    <p:tmPct val="100000"/>
                                  </p:iterate>
                                  <p:childTnLst>
                                    <p:set>
                                      <p:cBhvr>
                                        <p:cTn id="34" dur="1" fill="hold">
                                          <p:stCondLst>
                                            <p:cond delay="0"/>
                                          </p:stCondLst>
                                        </p:cTn>
                                        <p:tgtEl>
                                          <p:spTgt spid="18"/>
                                        </p:tgtEl>
                                        <p:attrNameLst>
                                          <p:attrName>style.visibility</p:attrName>
                                        </p:attrNameLst>
                                      </p:cBhvr>
                                      <p:to>
                                        <p:strVal val="visible"/>
                                      </p:to>
                                    </p:set>
                                    <p:animEffect transition="in" filter="wipe(left)">
                                      <p:cBhvr>
                                        <p:cTn id="35" dur="3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utoUpdateAnimBg="0"/>
      <p:bldP spid="10" grpId="0" autoUpdateAnimBg="0"/>
      <p:bldP spid="5" grpId="0" bldLvl="0" animBg="1" autoUpdateAnimBg="0"/>
      <p:bldP spid="12" grpId="0" autoUpdateAnimBg="0"/>
      <p:bldP spid="13" grpId="0" autoUpdateAnimBg="0"/>
      <p:bldP spid="14" grpId="0" autoUpdateAnimBg="0"/>
      <p:bldP spid="1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22</a:t>
            </a:fld>
            <a:endParaRPr lang="en-US" altLang="zh-CN"/>
          </a:p>
        </p:txBody>
      </p:sp>
      <p:sp>
        <p:nvSpPr>
          <p:cNvPr id="5" name="Text Box 4"/>
          <p:cNvSpPr txBox="1">
            <a:spLocks noChangeArrowheads="1"/>
          </p:cNvSpPr>
          <p:nvPr/>
        </p:nvSpPr>
        <p:spPr bwMode="auto">
          <a:xfrm>
            <a:off x="649288" y="317599"/>
            <a:ext cx="5867400"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2.2.</a:t>
            </a:r>
            <a:r>
              <a:rPr lang="en-US" altLang="zh-CN" sz="3200" b="1" dirty="0"/>
              <a:t>3  </a:t>
            </a:r>
            <a:r>
              <a:rPr lang="zh-CN" altLang="en-US" sz="3200" b="1" dirty="0"/>
              <a:t>测量方法分类及其特点</a:t>
            </a:r>
          </a:p>
        </p:txBody>
      </p:sp>
      <p:sp>
        <p:nvSpPr>
          <p:cNvPr id="6" name="Text Box 5"/>
          <p:cNvSpPr txBox="1">
            <a:spLocks noChangeArrowheads="1"/>
          </p:cNvSpPr>
          <p:nvPr/>
        </p:nvSpPr>
        <p:spPr bwMode="auto">
          <a:xfrm>
            <a:off x="611564" y="1091410"/>
            <a:ext cx="7526337"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按测量值获得方式的不同，测量方法可分为：</a:t>
            </a:r>
          </a:p>
        </p:txBody>
      </p:sp>
      <p:sp>
        <p:nvSpPr>
          <p:cNvPr id="7" name="Text Box 6"/>
          <p:cNvSpPr txBox="1">
            <a:spLocks noChangeArrowheads="1"/>
          </p:cNvSpPr>
          <p:nvPr/>
        </p:nvSpPr>
        <p:spPr bwMode="auto">
          <a:xfrm>
            <a:off x="467544" y="1988840"/>
            <a:ext cx="522466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1. 绝对测量和相对</a:t>
            </a:r>
            <a:r>
              <a:rPr lang="en-US" altLang="zh-CN" sz="2800" b="1" dirty="0"/>
              <a:t>(</a:t>
            </a:r>
            <a:r>
              <a:rPr lang="zh-CN" altLang="en-US" sz="2800" b="1" dirty="0"/>
              <a:t>比较</a:t>
            </a:r>
            <a:r>
              <a:rPr lang="en-US" altLang="zh-CN" sz="2800" b="1" dirty="0"/>
              <a:t>)</a:t>
            </a:r>
            <a:r>
              <a:rPr lang="zh-CN" altLang="en-US" sz="2800" b="1" dirty="0"/>
              <a:t>测量法</a:t>
            </a:r>
          </a:p>
        </p:txBody>
      </p:sp>
      <p:sp>
        <p:nvSpPr>
          <p:cNvPr id="8" name="Text Box 7"/>
          <p:cNvSpPr txBox="1">
            <a:spLocks noChangeArrowheads="1"/>
          </p:cNvSpPr>
          <p:nvPr/>
        </p:nvSpPr>
        <p:spPr bwMode="auto">
          <a:xfrm>
            <a:off x="590671" y="2800092"/>
            <a:ext cx="3071834"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（1）</a:t>
            </a:r>
            <a:r>
              <a:rPr lang="zh-CN" altLang="en-US" sz="2800" b="1" dirty="0">
                <a:solidFill>
                  <a:srgbClr val="FF33CC"/>
                </a:solidFill>
              </a:rPr>
              <a:t>绝对测量法</a:t>
            </a:r>
            <a:endParaRPr lang="zh-CN" altLang="en-US" sz="2800" b="1" dirty="0"/>
          </a:p>
        </p:txBody>
      </p:sp>
      <p:grpSp>
        <p:nvGrpSpPr>
          <p:cNvPr id="2" name="Group 16"/>
          <p:cNvGrpSpPr/>
          <p:nvPr/>
        </p:nvGrpSpPr>
        <p:grpSpPr bwMode="auto">
          <a:xfrm>
            <a:off x="4916488" y="1215012"/>
            <a:ext cx="3543944" cy="5166316"/>
            <a:chOff x="2688" y="720"/>
            <a:chExt cx="2459" cy="3418"/>
          </a:xfrm>
        </p:grpSpPr>
        <p:pic>
          <p:nvPicPr>
            <p:cNvPr id="11" name="Picture 9"/>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688" y="720"/>
              <a:ext cx="2459" cy="3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2" name="Text Box 12"/>
            <p:cNvSpPr txBox="1">
              <a:spLocks noChangeArrowheads="1"/>
            </p:cNvSpPr>
            <p:nvPr/>
          </p:nvSpPr>
          <p:spPr bwMode="auto">
            <a:xfrm>
              <a:off x="3382" y="3888"/>
              <a:ext cx="1175"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绝对测量法</a:t>
              </a:r>
              <a:endParaRPr lang="en-US" altLang="zh-CN" sz="2000" b="1"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8"/>
                                        </p:tgtEl>
                                        <p:attrNameLst>
                                          <p:attrName>style.visibility</p:attrName>
                                        </p:attrNameLst>
                                      </p:cBhvr>
                                      <p:to>
                                        <p:strVal val="visible"/>
                                      </p:to>
                                    </p:set>
                                    <p:animEffect transition="in" filter="wipe(left)">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23</a:t>
            </a:fld>
            <a:endParaRPr lang="en-US" altLang="zh-CN"/>
          </a:p>
        </p:txBody>
      </p:sp>
      <p:sp>
        <p:nvSpPr>
          <p:cNvPr id="5" name="Text Box 4"/>
          <p:cNvSpPr txBox="1">
            <a:spLocks noChangeArrowheads="1"/>
          </p:cNvSpPr>
          <p:nvPr/>
        </p:nvSpPr>
        <p:spPr bwMode="auto">
          <a:xfrm>
            <a:off x="683572" y="315881"/>
            <a:ext cx="3292475"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(2) </a:t>
            </a:r>
            <a:r>
              <a:rPr lang="zh-CN" altLang="en-US" sz="2800" b="1" dirty="0">
                <a:solidFill>
                  <a:srgbClr val="FF33CC"/>
                </a:solidFill>
              </a:rPr>
              <a:t>相对测量法</a:t>
            </a:r>
            <a:endParaRPr lang="en-US" altLang="zh-CN" sz="2800" b="1" dirty="0"/>
          </a:p>
        </p:txBody>
      </p:sp>
      <p:sp>
        <p:nvSpPr>
          <p:cNvPr id="6" name="Text Box 5"/>
          <p:cNvSpPr txBox="1">
            <a:spLocks noChangeArrowheads="1"/>
          </p:cNvSpPr>
          <p:nvPr/>
        </p:nvSpPr>
        <p:spPr bwMode="auto">
          <a:xfrm>
            <a:off x="467544" y="1534819"/>
            <a:ext cx="4032448" cy="49686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p>
        </p:txBody>
      </p:sp>
      <p:grpSp>
        <p:nvGrpSpPr>
          <p:cNvPr id="2" name="Group 9"/>
          <p:cNvGrpSpPr/>
          <p:nvPr/>
        </p:nvGrpSpPr>
        <p:grpSpPr bwMode="auto">
          <a:xfrm>
            <a:off x="4640910" y="1057988"/>
            <a:ext cx="3819522" cy="5251332"/>
            <a:chOff x="3024" y="418"/>
            <a:chExt cx="2392" cy="3451"/>
          </a:xfrm>
        </p:grpSpPr>
        <p:pic>
          <p:nvPicPr>
            <p:cNvPr id="8" name="Picture 7"/>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024" y="418"/>
              <a:ext cx="2392" cy="31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Text Box 8"/>
            <p:cNvSpPr txBox="1">
              <a:spLocks noChangeArrowheads="1"/>
            </p:cNvSpPr>
            <p:nvPr/>
          </p:nvSpPr>
          <p:spPr bwMode="auto">
            <a:xfrm>
              <a:off x="3719" y="3566"/>
              <a:ext cx="1084" cy="30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相对测量法</a:t>
              </a:r>
            </a:p>
          </p:txBody>
        </p:sp>
      </p:grpSp>
      <p:sp>
        <p:nvSpPr>
          <p:cNvPr id="10" name="Text Box 12"/>
          <p:cNvSpPr txBox="1">
            <a:spLocks noChangeArrowheads="1"/>
          </p:cNvSpPr>
          <p:nvPr/>
        </p:nvSpPr>
        <p:spPr bwMode="auto">
          <a:xfrm>
            <a:off x="539556" y="3717036"/>
            <a:ext cx="38893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000" b="1" dirty="0"/>
              <a:t>      </a:t>
            </a:r>
          </a:p>
        </p:txBody>
      </p:sp>
      <p:sp>
        <p:nvSpPr>
          <p:cNvPr id="11" name="Text Box 13"/>
          <p:cNvSpPr txBox="1">
            <a:spLocks noChangeArrowheads="1"/>
          </p:cNvSpPr>
          <p:nvPr/>
        </p:nvSpPr>
        <p:spPr bwMode="auto">
          <a:xfrm>
            <a:off x="571472" y="3214686"/>
            <a:ext cx="4392488" cy="16842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pPr>
            <a:r>
              <a:rPr lang="zh-CN" altLang="en-US" b="1" dirty="0">
                <a:solidFill>
                  <a:srgbClr val="CC0000"/>
                </a:solidFill>
              </a:rPr>
              <a:t>被测件的</a:t>
            </a:r>
            <a:r>
              <a:rPr lang="zh-CN" altLang="en-US" b="1" dirty="0" smtClean="0">
                <a:solidFill>
                  <a:srgbClr val="CC0000"/>
                </a:solidFill>
              </a:rPr>
              <a:t>尺寸</a:t>
            </a:r>
            <a:endParaRPr lang="en-US" altLang="zh-CN" b="1" dirty="0" smtClean="0">
              <a:solidFill>
                <a:srgbClr val="CC0000"/>
              </a:solidFill>
            </a:endParaRPr>
          </a:p>
          <a:p>
            <a:pPr eaLnBrk="1" hangingPunct="1">
              <a:lnSpc>
                <a:spcPct val="150000"/>
              </a:lnSpc>
            </a:pPr>
            <a:r>
              <a:rPr lang="en-US" altLang="zh-CN" b="1" dirty="0" smtClean="0">
                <a:solidFill>
                  <a:srgbClr val="CC0000"/>
                </a:solidFill>
              </a:rPr>
              <a:t>= </a:t>
            </a:r>
            <a:r>
              <a:rPr lang="zh-CN" altLang="en-US" b="1" dirty="0" smtClean="0">
                <a:solidFill>
                  <a:srgbClr val="CC0000"/>
                </a:solidFill>
              </a:rPr>
              <a:t>标准件</a:t>
            </a:r>
            <a:r>
              <a:rPr lang="zh-CN" altLang="en-US" b="1" dirty="0">
                <a:solidFill>
                  <a:srgbClr val="CC0000"/>
                </a:solidFill>
              </a:rPr>
              <a:t>的尺寸</a:t>
            </a:r>
            <a:r>
              <a:rPr lang="en-US" altLang="zh-CN" b="1" dirty="0">
                <a:solidFill>
                  <a:srgbClr val="CC0000"/>
                </a:solidFill>
              </a:rPr>
              <a:t>+</a:t>
            </a:r>
            <a:r>
              <a:rPr lang="zh-CN" altLang="en-US" b="1" dirty="0">
                <a:solidFill>
                  <a:srgbClr val="CC0000"/>
                </a:solidFill>
              </a:rPr>
              <a:t>指示表的示值</a:t>
            </a:r>
            <a:r>
              <a:rPr lang="zh-CN" altLang="en-US" b="1" dirty="0"/>
              <a:t>（代数和）</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iterate type="wd">
                                    <p:tmPct val="100000"/>
                                  </p:iterate>
                                  <p:childTnLst>
                                    <p:set>
                                      <p:cBhvr>
                                        <p:cTn id="17" dur="1" fill="hold">
                                          <p:stCondLst>
                                            <p:cond delay="0"/>
                                          </p:stCondLst>
                                        </p:cTn>
                                        <p:tgtEl>
                                          <p:spTgt spid="6"/>
                                        </p:tgtEl>
                                        <p:attrNameLst>
                                          <p:attrName>style.visibility</p:attrName>
                                        </p:attrNameLst>
                                      </p:cBhvr>
                                      <p:to>
                                        <p:strVal val="visible"/>
                                      </p:to>
                                    </p:set>
                                    <p:animEffect transition="in" filter="wipe(left)">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24</a:t>
            </a:fld>
            <a:endParaRPr lang="en-US" altLang="zh-CN"/>
          </a:p>
        </p:txBody>
      </p:sp>
      <p:sp>
        <p:nvSpPr>
          <p:cNvPr id="5" name="Text Box 6"/>
          <p:cNvSpPr txBox="1">
            <a:spLocks noChangeArrowheads="1"/>
          </p:cNvSpPr>
          <p:nvPr/>
        </p:nvSpPr>
        <p:spPr bwMode="auto">
          <a:xfrm>
            <a:off x="669925" y="313492"/>
            <a:ext cx="5126038"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2. 直接测量和间接测量法</a:t>
            </a:r>
            <a:endParaRPr lang="en-US" altLang="zh-CN" sz="2800" b="1" dirty="0"/>
          </a:p>
        </p:txBody>
      </p:sp>
      <p:sp>
        <p:nvSpPr>
          <p:cNvPr id="6" name="Text Box 8"/>
          <p:cNvSpPr txBox="1">
            <a:spLocks noChangeArrowheads="1"/>
          </p:cNvSpPr>
          <p:nvPr/>
        </p:nvSpPr>
        <p:spPr bwMode="auto">
          <a:xfrm>
            <a:off x="452438" y="1628804"/>
            <a:ext cx="8191528" cy="1052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（2）</a:t>
            </a:r>
            <a:r>
              <a:rPr lang="zh-CN" altLang="en-US" sz="2800" b="1" dirty="0">
                <a:solidFill>
                  <a:srgbClr val="FF33CC"/>
                </a:solidFill>
              </a:rPr>
              <a:t>间接测量法</a:t>
            </a:r>
            <a:r>
              <a:rPr lang="zh-CN" altLang="en-US" b="1" dirty="0"/>
              <a:t>——测得的量与被测量有函数关系的其他量，再</a:t>
            </a:r>
            <a:r>
              <a:rPr lang="zh-CN" altLang="en-US" b="1" dirty="0">
                <a:solidFill>
                  <a:srgbClr val="FF33CC"/>
                </a:solidFill>
              </a:rPr>
              <a:t>通过函数关系式求出被测量</a:t>
            </a:r>
            <a:r>
              <a:rPr lang="zh-CN" altLang="en-US" b="1" dirty="0"/>
              <a:t>。</a:t>
            </a:r>
          </a:p>
        </p:txBody>
      </p:sp>
      <p:sp>
        <p:nvSpPr>
          <p:cNvPr id="7" name="Text Box 10"/>
          <p:cNvSpPr txBox="1">
            <a:spLocks noChangeArrowheads="1"/>
          </p:cNvSpPr>
          <p:nvPr/>
        </p:nvSpPr>
        <p:spPr bwMode="auto">
          <a:xfrm>
            <a:off x="1127170" y="2708920"/>
            <a:ext cx="28018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如图所示测</a:t>
            </a:r>
            <a:r>
              <a:rPr lang="zh-CN" altLang="en-US" b="1" dirty="0">
                <a:solidFill>
                  <a:srgbClr val="FF33CC"/>
                </a:solidFill>
              </a:rPr>
              <a:t> </a:t>
            </a:r>
            <a:r>
              <a:rPr lang="en-US" altLang="zh-CN" b="1" i="1" dirty="0">
                <a:solidFill>
                  <a:srgbClr val="FF33CC"/>
                </a:solidFill>
              </a:rPr>
              <a:t>R</a:t>
            </a:r>
            <a:r>
              <a:rPr lang="en-US" altLang="zh-CN" b="1" dirty="0"/>
              <a:t>:</a:t>
            </a:r>
          </a:p>
        </p:txBody>
      </p:sp>
      <p:graphicFrame>
        <p:nvGraphicFramePr>
          <p:cNvPr id="8" name="Object 13"/>
          <p:cNvGraphicFramePr>
            <a:graphicFrameLocks noChangeAspect="1"/>
          </p:cNvGraphicFramePr>
          <p:nvPr/>
        </p:nvGraphicFramePr>
        <p:xfrm>
          <a:off x="1590248" y="5000636"/>
          <a:ext cx="2081234" cy="1226248"/>
        </p:xfrm>
        <a:graphic>
          <a:graphicData uri="http://schemas.openxmlformats.org/presentationml/2006/ole">
            <p:oleObj spid="_x0000_s58415" name="Equation" r:id="rId4" imgW="17068800" imgH="10058400" progId="">
              <p:embed/>
            </p:oleObj>
          </a:graphicData>
        </a:graphic>
      </p:graphicFrame>
      <p:sp>
        <p:nvSpPr>
          <p:cNvPr id="9" name="Text Box 14"/>
          <p:cNvSpPr txBox="1">
            <a:spLocks noChangeArrowheads="1"/>
          </p:cNvSpPr>
          <p:nvPr/>
        </p:nvSpPr>
        <p:spPr bwMode="auto">
          <a:xfrm>
            <a:off x="1101072" y="3212976"/>
            <a:ext cx="255232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b="1" dirty="0"/>
              <a:t>通过测量 </a:t>
            </a:r>
            <a:r>
              <a:rPr lang="en-US" altLang="zh-CN" b="1" i="1" dirty="0" err="1">
                <a:solidFill>
                  <a:srgbClr val="FF33CC"/>
                </a:solidFill>
              </a:rPr>
              <a:t>s、h</a:t>
            </a:r>
            <a:endParaRPr lang="en-US" altLang="zh-CN" b="1" i="1" dirty="0">
              <a:solidFill>
                <a:srgbClr val="FF33CC"/>
              </a:solidFill>
            </a:endParaRPr>
          </a:p>
        </p:txBody>
      </p:sp>
      <p:graphicFrame>
        <p:nvGraphicFramePr>
          <p:cNvPr id="10" name="Object 15"/>
          <p:cNvGraphicFramePr>
            <a:graphicFrameLocks noChangeAspect="1"/>
          </p:cNvGraphicFramePr>
          <p:nvPr/>
        </p:nvGraphicFramePr>
        <p:xfrm>
          <a:off x="762736" y="3789044"/>
          <a:ext cx="2667000" cy="547687"/>
        </p:xfrm>
        <a:graphic>
          <a:graphicData uri="http://schemas.openxmlformats.org/presentationml/2006/ole">
            <p:oleObj spid="_x0000_s58416" name="Equation" r:id="rId5" imgW="23774400" imgH="4876800" progId="">
              <p:embed/>
            </p:oleObj>
          </a:graphicData>
        </a:graphic>
      </p:graphicFrame>
      <p:graphicFrame>
        <p:nvGraphicFramePr>
          <p:cNvPr id="11" name="Object 16"/>
          <p:cNvGraphicFramePr>
            <a:graphicFrameLocks noChangeAspect="1"/>
          </p:cNvGraphicFramePr>
          <p:nvPr/>
        </p:nvGraphicFramePr>
        <p:xfrm>
          <a:off x="1638883" y="4357698"/>
          <a:ext cx="951498" cy="511897"/>
        </p:xfrm>
        <a:graphic>
          <a:graphicData uri="http://schemas.openxmlformats.org/presentationml/2006/ole">
            <p:oleObj spid="_x0000_s58417" name="Equation" r:id="rId6" imgW="7924800" imgH="4267200" progId="">
              <p:embed/>
            </p:oleObj>
          </a:graphicData>
        </a:graphic>
      </p:graphicFrame>
      <p:grpSp>
        <p:nvGrpSpPr>
          <p:cNvPr id="2" name="Group 19"/>
          <p:cNvGrpSpPr/>
          <p:nvPr/>
        </p:nvGrpSpPr>
        <p:grpSpPr bwMode="auto">
          <a:xfrm>
            <a:off x="3957638" y="2500306"/>
            <a:ext cx="4472014" cy="3810129"/>
            <a:chOff x="2448" y="1776"/>
            <a:chExt cx="2640" cy="2288"/>
          </a:xfrm>
        </p:grpSpPr>
        <p:grpSp>
          <p:nvGrpSpPr>
            <p:cNvPr id="3" name="Group 17"/>
            <p:cNvGrpSpPr/>
            <p:nvPr/>
          </p:nvGrpSpPr>
          <p:grpSpPr bwMode="auto">
            <a:xfrm>
              <a:off x="2448" y="1776"/>
              <a:ext cx="2640" cy="2288"/>
              <a:chOff x="2448" y="1776"/>
              <a:chExt cx="2640" cy="2288"/>
            </a:xfrm>
          </p:grpSpPr>
          <p:pic>
            <p:nvPicPr>
              <p:cNvPr id="15" name="Picture 9"/>
              <p:cNvPicPr>
                <a:picLocks noChangeAspect="1" noChangeArrowheads="1"/>
              </p:cNvPicPr>
              <p:nvPr/>
            </p:nvPicPr>
            <p:blipFill>
              <a:blip r:embed="rId7" cstate="print">
                <a:extLst>
                  <a:ext uri="{28A0092B-C50C-407E-A947-70E740481C1C}">
                    <a14:useLocalDpi xmlns:a14="http://schemas.microsoft.com/office/drawing/2010/main" xmlns="" val="0"/>
                  </a:ext>
                </a:extLst>
              </a:blip>
              <a:srcRect/>
              <a:stretch>
                <a:fillRect/>
              </a:stretch>
            </p:blipFill>
            <p:spPr bwMode="auto">
              <a:xfrm>
                <a:off x="2448" y="1776"/>
                <a:ext cx="2640" cy="2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6" name="Text Box 11"/>
              <p:cNvSpPr txBox="1">
                <a:spLocks noChangeArrowheads="1"/>
              </p:cNvSpPr>
              <p:nvPr/>
            </p:nvSpPr>
            <p:spPr bwMode="auto">
              <a:xfrm>
                <a:off x="3141" y="3824"/>
                <a:ext cx="945" cy="2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000" b="1" dirty="0"/>
                  <a:t>间接测量法</a:t>
                </a:r>
              </a:p>
            </p:txBody>
          </p:sp>
        </p:grpSp>
        <p:sp>
          <p:nvSpPr>
            <p:cNvPr id="14" name="Line 18"/>
            <p:cNvSpPr>
              <a:spLocks noChangeShapeType="1"/>
            </p:cNvSpPr>
            <p:nvPr/>
          </p:nvSpPr>
          <p:spPr bwMode="auto">
            <a:xfrm>
              <a:off x="3120" y="2208"/>
              <a:ext cx="432" cy="1440"/>
            </a:xfrm>
            <a:prstGeom prst="line">
              <a:avLst/>
            </a:prstGeom>
            <a:noFill/>
            <a:ln w="38100">
              <a:solidFill>
                <a:srgbClr val="FF33CC"/>
              </a:solidFill>
              <a:round/>
              <a:head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17" name="Text Box 7"/>
          <p:cNvSpPr txBox="1">
            <a:spLocks noChangeArrowheads="1"/>
          </p:cNvSpPr>
          <p:nvPr/>
        </p:nvSpPr>
        <p:spPr bwMode="auto">
          <a:xfrm>
            <a:off x="184396" y="1095699"/>
            <a:ext cx="7570632"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   （1）</a:t>
            </a:r>
            <a:r>
              <a:rPr lang="zh-CN" altLang="en-US" sz="2800" b="1" dirty="0">
                <a:solidFill>
                  <a:srgbClr val="FF33CC"/>
                </a:solidFill>
              </a:rPr>
              <a:t>直接测量法</a:t>
            </a:r>
            <a:endParaRPr lang="zh-CN" altLang="en-US" sz="2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17"/>
                                        </p:tgtEl>
                                        <p:attrNameLst>
                                          <p:attrName>style.visibility</p:attrName>
                                        </p:attrNameLst>
                                      </p:cBhvr>
                                      <p:to>
                                        <p:strVal val="visible"/>
                                      </p:to>
                                    </p:set>
                                    <p:animEffect transition="in" filter="wipe(left)">
                                      <p:cBhvr>
                                        <p:cTn id="12" dur="3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6"/>
                                        </p:tgtEl>
                                        <p:attrNameLst>
                                          <p:attrName>style.visibility</p:attrName>
                                        </p:attrNameLst>
                                      </p:cBhvr>
                                      <p:to>
                                        <p:strVal val="visible"/>
                                      </p:to>
                                    </p:set>
                                    <p:animEffect transition="in" filter="wipe(left)">
                                      <p:cBhvr>
                                        <p:cTn id="17" dur="3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7"/>
                                        </p:tgtEl>
                                        <p:attrNameLst>
                                          <p:attrName>style.visibility</p:attrName>
                                        </p:attrNameLst>
                                      </p:cBhvr>
                                      <p:to>
                                        <p:strVal val="visible"/>
                                      </p:to>
                                    </p:set>
                                    <p:animEffect transition="in" filter="wipe(left)">
                                      <p:cBhvr>
                                        <p:cTn id="22" dur="3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2"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1+#ppt_w/2"/>
                                          </p:val>
                                        </p:tav>
                                        <p:tav tm="100000">
                                          <p:val>
                                            <p:strVal val="#ppt_x"/>
                                          </p:val>
                                        </p:tav>
                                      </p:tavLst>
                                    </p:anim>
                                    <p:anim calcmode="lin" valueType="num">
                                      <p:cBhvr additive="base">
                                        <p:cTn id="2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iterate type="wd">
                                    <p:tmPct val="100000"/>
                                  </p:iterate>
                                  <p:childTnLst>
                                    <p:set>
                                      <p:cBhvr>
                                        <p:cTn id="32" dur="1" fill="hold">
                                          <p:stCondLst>
                                            <p:cond delay="0"/>
                                          </p:stCondLst>
                                        </p:cTn>
                                        <p:tgtEl>
                                          <p:spTgt spid="9"/>
                                        </p:tgtEl>
                                        <p:attrNameLst>
                                          <p:attrName>style.visibility</p:attrName>
                                        </p:attrNameLst>
                                      </p:cBhvr>
                                      <p:to>
                                        <p:strVal val="visible"/>
                                      </p:to>
                                    </p:set>
                                    <p:animEffect transition="in" filter="wipe(left)">
                                      <p:cBhvr>
                                        <p:cTn id="33" dur="3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wipe(left)">
                                      <p:cBhvr>
                                        <p:cTn id="38" dur="500"/>
                                        <p:tgtEl>
                                          <p:spTgt spid="10"/>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1"/>
                                        </p:tgtEl>
                                        <p:attrNameLst>
                                          <p:attrName>style.visibility</p:attrName>
                                        </p:attrNameLst>
                                      </p:cBhvr>
                                      <p:to>
                                        <p:strVal val="visible"/>
                                      </p:to>
                                    </p:set>
                                    <p:animEffect transition="in" filter="wipe(left)">
                                      <p:cBhvr>
                                        <p:cTn id="43" dur="500"/>
                                        <p:tgtEl>
                                          <p:spTgt spid="11"/>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wipe(left)">
                                      <p:cBhvr>
                                        <p:cTn id="4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9" grpId="0" autoUpdateAnimBg="0"/>
      <p:bldP spid="17"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25</a:t>
            </a:fld>
            <a:endParaRPr lang="en-US" altLang="zh-CN"/>
          </a:p>
        </p:txBody>
      </p:sp>
      <p:sp>
        <p:nvSpPr>
          <p:cNvPr id="5" name="Text Box 4"/>
          <p:cNvSpPr txBox="1">
            <a:spLocks noChangeArrowheads="1"/>
          </p:cNvSpPr>
          <p:nvPr/>
        </p:nvSpPr>
        <p:spPr bwMode="auto">
          <a:xfrm>
            <a:off x="457204" y="332656"/>
            <a:ext cx="505142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3. 单项测量和综合测量法</a:t>
            </a:r>
            <a:endParaRPr lang="en-US" altLang="zh-CN" sz="2800" b="1" dirty="0"/>
          </a:p>
        </p:txBody>
      </p:sp>
      <p:sp>
        <p:nvSpPr>
          <p:cNvPr id="6" name="Text Box 5"/>
          <p:cNvSpPr txBox="1">
            <a:spLocks noChangeArrowheads="1"/>
          </p:cNvSpPr>
          <p:nvPr/>
        </p:nvSpPr>
        <p:spPr bwMode="auto">
          <a:xfrm>
            <a:off x="304800" y="1399173"/>
            <a:ext cx="8515350" cy="6093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（1）</a:t>
            </a:r>
            <a:r>
              <a:rPr lang="zh-CN" altLang="en-US" sz="2800" b="1" dirty="0">
                <a:solidFill>
                  <a:srgbClr val="FF33CC"/>
                </a:solidFill>
              </a:rPr>
              <a:t>单项测量法</a:t>
            </a:r>
            <a:r>
              <a:rPr lang="zh-CN" altLang="en-US" b="1" dirty="0"/>
              <a:t>——对被测件的个别参数分别进行测量。</a:t>
            </a:r>
          </a:p>
        </p:txBody>
      </p:sp>
      <p:sp>
        <p:nvSpPr>
          <p:cNvPr id="7" name="Text Box 6"/>
          <p:cNvSpPr txBox="1">
            <a:spLocks noChangeArrowheads="1"/>
          </p:cNvSpPr>
          <p:nvPr/>
        </p:nvSpPr>
        <p:spPr bwMode="auto">
          <a:xfrm>
            <a:off x="457204" y="2072252"/>
            <a:ext cx="8075613" cy="9787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例如，用工具显微镜对外螺纹(量规</a:t>
            </a:r>
            <a:r>
              <a:rPr lang="en-US" altLang="zh-CN" b="1" dirty="0"/>
              <a:t>)</a:t>
            </a:r>
            <a:r>
              <a:rPr lang="zh-CN" altLang="en-US" b="1" dirty="0"/>
              <a:t>的单一中经、螺距和牙侧角分别进行测量。</a:t>
            </a:r>
          </a:p>
        </p:txBody>
      </p:sp>
      <p:sp>
        <p:nvSpPr>
          <p:cNvPr id="8" name="Text Box 7"/>
          <p:cNvSpPr txBox="1">
            <a:spLocks noChangeArrowheads="1"/>
          </p:cNvSpPr>
          <p:nvPr/>
        </p:nvSpPr>
        <p:spPr bwMode="auto">
          <a:xfrm>
            <a:off x="304800" y="3175579"/>
            <a:ext cx="8154988" cy="1052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（2）</a:t>
            </a:r>
            <a:r>
              <a:rPr lang="zh-CN" altLang="en-US" sz="2800" b="1" dirty="0">
                <a:solidFill>
                  <a:srgbClr val="FF33CC"/>
                </a:solidFill>
              </a:rPr>
              <a:t>综合测量法</a:t>
            </a:r>
            <a:r>
              <a:rPr lang="en-US" altLang="zh-CN" b="1" dirty="0"/>
              <a:t>——</a:t>
            </a:r>
            <a:r>
              <a:rPr lang="zh-CN" altLang="en-US" b="1" dirty="0"/>
              <a:t>对被测件某些相关联参数的综合效果进行检验，以判断综合结果是否合格。</a:t>
            </a:r>
          </a:p>
        </p:txBody>
      </p:sp>
      <p:sp>
        <p:nvSpPr>
          <p:cNvPr id="9" name="Text Box 8"/>
          <p:cNvSpPr txBox="1">
            <a:spLocks noChangeArrowheads="1"/>
          </p:cNvSpPr>
          <p:nvPr/>
        </p:nvSpPr>
        <p:spPr bwMode="auto">
          <a:xfrm>
            <a:off x="323850" y="4222514"/>
            <a:ext cx="8153400" cy="10066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例如，用螺纹量规通规检验普通螺纹的单一中经、螺距和牙侧角实际值的综合结果是否合格。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iterate type="wd">
                                    <p:tmPct val="100000"/>
                                  </p:iterate>
                                  <p:childTnLst>
                                    <p:set>
                                      <p:cBhvr>
                                        <p:cTn id="21" dur="1" fill="hold">
                                          <p:stCondLst>
                                            <p:cond delay="0"/>
                                          </p:stCondLst>
                                        </p:cTn>
                                        <p:tgtEl>
                                          <p:spTgt spid="8"/>
                                        </p:tgtEl>
                                        <p:attrNameLst>
                                          <p:attrName>style.visibility</p:attrName>
                                        </p:attrNameLst>
                                      </p:cBhvr>
                                      <p:to>
                                        <p:strVal val="visible"/>
                                      </p:to>
                                    </p:set>
                                    <p:animEffect transition="in" filter="wipe(left)">
                                      <p:cBhvr>
                                        <p:cTn id="22" dur="3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iterate type="wd">
                                    <p:tmPct val="100000"/>
                                  </p:iterate>
                                  <p:childTnLst>
                                    <p:set>
                                      <p:cBhvr>
                                        <p:cTn id="26" dur="1" fill="hold">
                                          <p:stCondLst>
                                            <p:cond delay="0"/>
                                          </p:stCondLst>
                                        </p:cTn>
                                        <p:tgtEl>
                                          <p:spTgt spid="9"/>
                                        </p:tgtEl>
                                        <p:attrNameLst>
                                          <p:attrName>style.visibility</p:attrName>
                                        </p:attrNameLst>
                                      </p:cBhvr>
                                      <p:to>
                                        <p:strVal val="visible"/>
                                      </p:to>
                                    </p:set>
                                    <p:animEffect transition="in" filter="wipe(left)">
                                      <p:cBhvr>
                                        <p:cTn id="27"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P spid="8" grpId="0" autoUpdateAnimBg="0"/>
      <p:bldP spid="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26</a:t>
            </a:fld>
            <a:endParaRPr lang="en-US" altLang="zh-CN"/>
          </a:p>
        </p:txBody>
      </p:sp>
      <p:sp>
        <p:nvSpPr>
          <p:cNvPr id="5" name="Text Box 4"/>
          <p:cNvSpPr txBox="1">
            <a:spLocks noChangeArrowheads="1"/>
          </p:cNvSpPr>
          <p:nvPr/>
        </p:nvSpPr>
        <p:spPr bwMode="auto">
          <a:xfrm>
            <a:off x="611560" y="332656"/>
            <a:ext cx="5153764"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4. 静态测量和动态测量法</a:t>
            </a:r>
          </a:p>
        </p:txBody>
      </p:sp>
      <p:sp>
        <p:nvSpPr>
          <p:cNvPr id="6" name="Text Box 5"/>
          <p:cNvSpPr txBox="1">
            <a:spLocks noChangeArrowheads="1"/>
          </p:cNvSpPr>
          <p:nvPr/>
        </p:nvSpPr>
        <p:spPr bwMode="auto">
          <a:xfrm>
            <a:off x="538733" y="1484784"/>
            <a:ext cx="8281739" cy="149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r>
              <a:rPr lang="zh-CN" altLang="en-US" sz="2800" b="1" dirty="0"/>
              <a:t>（1）</a:t>
            </a:r>
            <a:r>
              <a:rPr lang="zh-CN" altLang="en-US" sz="2800" b="1" dirty="0">
                <a:solidFill>
                  <a:srgbClr val="FF33CC"/>
                </a:solidFill>
              </a:rPr>
              <a:t>静态测量法</a:t>
            </a:r>
            <a:endParaRPr lang="en-US" altLang="zh-CN" sz="2800" b="1" dirty="0"/>
          </a:p>
          <a:p>
            <a:pPr eaLnBrk="1" hangingPunct="1">
              <a:lnSpc>
                <a:spcPct val="120000"/>
              </a:lnSpc>
            </a:pPr>
            <a:r>
              <a:rPr lang="en-US" altLang="zh-CN" b="1" dirty="0"/>
              <a:t>    </a:t>
            </a:r>
            <a:r>
              <a:rPr lang="zh-CN" altLang="en-US" b="1" dirty="0"/>
              <a:t>对被测件在静止状态下进行的测量，被测件与测量头相对静止。例如用齿距仪测量齿轮的齿距偏差。</a:t>
            </a:r>
          </a:p>
        </p:txBody>
      </p:sp>
      <p:sp>
        <p:nvSpPr>
          <p:cNvPr id="7" name="Text Box 6"/>
          <p:cNvSpPr txBox="1">
            <a:spLocks noChangeArrowheads="1"/>
          </p:cNvSpPr>
          <p:nvPr/>
        </p:nvSpPr>
        <p:spPr bwMode="auto">
          <a:xfrm>
            <a:off x="539552" y="3429000"/>
            <a:ext cx="8064896" cy="19389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    （2）</a:t>
            </a:r>
            <a:r>
              <a:rPr lang="zh-CN" altLang="en-US" sz="2800" b="1" dirty="0">
                <a:solidFill>
                  <a:srgbClr val="FF33CC"/>
                </a:solidFill>
              </a:rPr>
              <a:t>动态测量法</a:t>
            </a:r>
            <a:endParaRPr lang="en-US" altLang="zh-CN" sz="2800" b="1" dirty="0">
              <a:solidFill>
                <a:srgbClr val="FF33CC"/>
              </a:solidFill>
            </a:endParaRPr>
          </a:p>
          <a:p>
            <a:pPr eaLnBrk="1" hangingPunct="1">
              <a:lnSpc>
                <a:spcPct val="120000"/>
              </a:lnSpc>
            </a:pPr>
            <a:r>
              <a:rPr lang="zh-CN" altLang="en-US" b="1" dirty="0"/>
              <a:t>    对被测件在其运动状态下进行测量，被测件与测量头有相对运动。例如用齿轮双面啮合测量仪测量齿轮的径向综合偏差。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27</a:t>
            </a:fld>
            <a:endParaRPr lang="en-US" altLang="zh-CN"/>
          </a:p>
        </p:txBody>
      </p:sp>
      <p:sp>
        <p:nvSpPr>
          <p:cNvPr id="5" name="Text Box 7"/>
          <p:cNvSpPr txBox="1">
            <a:spLocks noChangeArrowheads="1"/>
          </p:cNvSpPr>
          <p:nvPr/>
        </p:nvSpPr>
        <p:spPr bwMode="auto">
          <a:xfrm>
            <a:off x="539552" y="332656"/>
            <a:ext cx="5256584"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5. 接触测量和非接触测量法</a:t>
            </a:r>
            <a:endParaRPr lang="en-US" altLang="zh-CN" sz="2800" b="1" dirty="0"/>
          </a:p>
        </p:txBody>
      </p:sp>
      <p:sp>
        <p:nvSpPr>
          <p:cNvPr id="6" name="Text Box 8"/>
          <p:cNvSpPr txBox="1">
            <a:spLocks noChangeArrowheads="1"/>
          </p:cNvSpPr>
          <p:nvPr/>
        </p:nvSpPr>
        <p:spPr bwMode="auto">
          <a:xfrm>
            <a:off x="467544" y="1785477"/>
            <a:ext cx="8064896" cy="1052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r>
              <a:rPr lang="zh-CN" altLang="en-US" sz="2800" b="1" dirty="0"/>
              <a:t>（1）</a:t>
            </a:r>
            <a:r>
              <a:rPr lang="zh-CN" altLang="en-US" sz="2800" b="1" dirty="0">
                <a:solidFill>
                  <a:srgbClr val="FF33CC"/>
                </a:solidFill>
              </a:rPr>
              <a:t>接触测量法</a:t>
            </a:r>
            <a:r>
              <a:rPr lang="zh-CN" altLang="en-US" b="1" dirty="0"/>
              <a:t>——计量器具的测头与被测件表面相接触的测量。例如用电动轮廓仪测量表面粗糙度轮廓。</a:t>
            </a:r>
            <a:endParaRPr lang="zh-CN" altLang="en-US" b="1" dirty="0">
              <a:latin typeface="Batang" pitchFamily="18" charset="-127"/>
              <a:ea typeface="Batang" pitchFamily="18" charset="-127"/>
            </a:endParaRPr>
          </a:p>
        </p:txBody>
      </p:sp>
      <p:sp>
        <p:nvSpPr>
          <p:cNvPr id="7" name="Text Box 9"/>
          <p:cNvSpPr txBox="1">
            <a:spLocks noChangeArrowheads="1"/>
          </p:cNvSpPr>
          <p:nvPr/>
        </p:nvSpPr>
        <p:spPr bwMode="auto">
          <a:xfrm>
            <a:off x="467544" y="3657681"/>
            <a:ext cx="8064896" cy="149579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sz="2800" b="1" dirty="0"/>
              <a:t>    （2）</a:t>
            </a:r>
            <a:r>
              <a:rPr lang="zh-CN" altLang="en-US" sz="2800" b="1" dirty="0">
                <a:solidFill>
                  <a:srgbClr val="FF33CC"/>
                </a:solidFill>
              </a:rPr>
              <a:t>非接触测量法</a:t>
            </a:r>
            <a:r>
              <a:rPr lang="zh-CN" altLang="en-US" b="1" dirty="0"/>
              <a:t>——计量器具的测头与被测表面不接触的测量。例如与双管显微镜测量表面粗糙度轮廓最大高度</a:t>
            </a:r>
            <a:r>
              <a:rPr lang="en-US" altLang="zh-CN" b="1" i="1" dirty="0" err="1"/>
              <a:t>Rz</a:t>
            </a:r>
            <a:r>
              <a:rPr lang="zh-CN" altLang="en-US" b="1" dirty="0"/>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4DA59DA-DD33-4C87-A40E-512419E8D132}" type="slidenum">
              <a:rPr lang="zh-CN" altLang="en-US" smtClean="0"/>
              <a:pPr>
                <a:defRPr/>
              </a:pPr>
              <a:t>28</a:t>
            </a:fld>
            <a:endParaRPr lang="en-US" altLang="zh-CN"/>
          </a:p>
        </p:txBody>
      </p:sp>
      <p:sp>
        <p:nvSpPr>
          <p:cNvPr id="5" name="Text Box 4"/>
          <p:cNvSpPr txBox="1">
            <a:spLocks noChangeArrowheads="1"/>
          </p:cNvSpPr>
          <p:nvPr/>
        </p:nvSpPr>
        <p:spPr bwMode="auto">
          <a:xfrm>
            <a:off x="525243" y="323945"/>
            <a:ext cx="6423025"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6. 等精度测量和不等精度测量法</a:t>
            </a:r>
          </a:p>
        </p:txBody>
      </p:sp>
      <p:sp>
        <p:nvSpPr>
          <p:cNvPr id="6" name="Text Box 5"/>
          <p:cNvSpPr txBox="1">
            <a:spLocks noChangeArrowheads="1"/>
          </p:cNvSpPr>
          <p:nvPr/>
        </p:nvSpPr>
        <p:spPr bwMode="auto">
          <a:xfrm>
            <a:off x="611565" y="1412776"/>
            <a:ext cx="7992887" cy="19389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r>
              <a:rPr lang="zh-CN" altLang="en-US" sz="2800" b="1" dirty="0"/>
              <a:t>（1）</a:t>
            </a:r>
            <a:r>
              <a:rPr lang="zh-CN" altLang="en-US" sz="2800" b="1" dirty="0">
                <a:solidFill>
                  <a:srgbClr val="FF33CC"/>
                </a:solidFill>
              </a:rPr>
              <a:t>等精度测量法</a:t>
            </a:r>
            <a:endParaRPr lang="en-US" altLang="zh-CN" sz="2800" b="1" dirty="0">
              <a:solidFill>
                <a:srgbClr val="FF33CC"/>
              </a:solidFill>
            </a:endParaRPr>
          </a:p>
          <a:p>
            <a:pPr eaLnBrk="1" hangingPunct="1">
              <a:lnSpc>
                <a:spcPct val="120000"/>
              </a:lnSpc>
            </a:pPr>
            <a:r>
              <a:rPr lang="en-US" altLang="zh-CN" b="1" dirty="0"/>
              <a:t>    </a:t>
            </a:r>
            <a:r>
              <a:rPr lang="zh-CN" altLang="en-US" b="1" dirty="0"/>
              <a:t>在测量过程中，影响测量精度的各因素不改变。</a:t>
            </a:r>
            <a:endParaRPr lang="en-US" altLang="zh-CN" b="1" dirty="0"/>
          </a:p>
          <a:p>
            <a:pPr eaLnBrk="1" hangingPunct="1">
              <a:lnSpc>
                <a:spcPct val="120000"/>
              </a:lnSpc>
            </a:pPr>
            <a:r>
              <a:rPr lang="en-US" altLang="zh-CN" b="1" dirty="0"/>
              <a:t>    </a:t>
            </a:r>
            <a:r>
              <a:rPr lang="zh-CN" altLang="en-US" b="1" dirty="0"/>
              <a:t>例如测量环境、人员、仪器及测量方法等都不变的情况下，对同一被测量进行次数相等的重复测量。</a:t>
            </a:r>
          </a:p>
        </p:txBody>
      </p:sp>
      <p:sp>
        <p:nvSpPr>
          <p:cNvPr id="7" name="Text Box 7"/>
          <p:cNvSpPr txBox="1">
            <a:spLocks noChangeArrowheads="1"/>
          </p:cNvSpPr>
          <p:nvPr/>
        </p:nvSpPr>
        <p:spPr bwMode="auto">
          <a:xfrm>
            <a:off x="539428" y="3573016"/>
            <a:ext cx="8137028" cy="19389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zh-CN" altLang="en-US" b="1" dirty="0"/>
              <a:t>    </a:t>
            </a:r>
            <a:r>
              <a:rPr lang="zh-CN" altLang="en-US" sz="2800" b="1" dirty="0"/>
              <a:t>（2）</a:t>
            </a:r>
            <a:r>
              <a:rPr lang="zh-CN" altLang="en-US" sz="2800" b="1" dirty="0">
                <a:solidFill>
                  <a:srgbClr val="FF33CC"/>
                </a:solidFill>
              </a:rPr>
              <a:t>不等精度测量</a:t>
            </a:r>
            <a:endParaRPr lang="en-US" altLang="zh-CN" sz="2800" b="1" dirty="0">
              <a:solidFill>
                <a:srgbClr val="FF33CC"/>
              </a:solidFill>
            </a:endParaRPr>
          </a:p>
          <a:p>
            <a:pPr eaLnBrk="1" hangingPunct="1">
              <a:lnSpc>
                <a:spcPct val="120000"/>
              </a:lnSpc>
            </a:pPr>
            <a:r>
              <a:rPr lang="zh-CN" altLang="en-US" b="1" dirty="0"/>
              <a:t>    在测量过程中，影响测量精度的各因素全部或部分改变。</a:t>
            </a:r>
            <a:endParaRPr lang="en-US" altLang="zh-CN" b="1" dirty="0"/>
          </a:p>
          <a:p>
            <a:pPr eaLnBrk="1" hangingPunct="1">
              <a:lnSpc>
                <a:spcPct val="120000"/>
              </a:lnSpc>
            </a:pPr>
            <a:r>
              <a:rPr lang="en-US" altLang="zh-CN" b="1" dirty="0"/>
              <a:t>    </a:t>
            </a:r>
            <a:r>
              <a:rPr lang="zh-CN" altLang="en-US" b="1" dirty="0"/>
              <a:t>例如在其他条件不变的情况下，改变重复测量的次数，使取得的算术平均值的精度有所不同。</a:t>
            </a:r>
            <a:endParaRPr lang="en-US" altLang="zh-CN"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iterate type="wd">
                                    <p:tmPct val="100000"/>
                                  </p:iterate>
                                  <p:childTnLst>
                                    <p:set>
                                      <p:cBhvr>
                                        <p:cTn id="6" dur="1" fill="hold">
                                          <p:stCondLst>
                                            <p:cond delay="0"/>
                                          </p:stCondLst>
                                        </p:cTn>
                                        <p:tgtEl>
                                          <p:spTgt spid="5"/>
                                        </p:tgtEl>
                                        <p:attrNameLst>
                                          <p:attrName>style.visibility</p:attrName>
                                        </p:attrNameLst>
                                      </p:cBhvr>
                                      <p:to>
                                        <p:strVal val="visible"/>
                                      </p:to>
                                    </p:set>
                                    <p:animEffect transition="in" filter="wipe(left)">
                                      <p:cBhvr>
                                        <p:cTn id="7" dur="3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6"/>
                                        </p:tgtEl>
                                        <p:attrNameLst>
                                          <p:attrName>style.visibility</p:attrName>
                                        </p:attrNameLst>
                                      </p:cBhvr>
                                      <p:to>
                                        <p:strVal val="visible"/>
                                      </p:to>
                                    </p:set>
                                    <p:animEffect transition="in" filter="wipe(left)">
                                      <p:cBhvr>
                                        <p:cTn id="12" dur="3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wd">
                                    <p:tmPct val="100000"/>
                                  </p:iterate>
                                  <p:childTnLst>
                                    <p:set>
                                      <p:cBhvr>
                                        <p:cTn id="16" dur="1" fill="hold">
                                          <p:stCondLst>
                                            <p:cond delay="0"/>
                                          </p:stCondLst>
                                        </p:cTn>
                                        <p:tgtEl>
                                          <p:spTgt spid="7"/>
                                        </p:tgtEl>
                                        <p:attrNameLst>
                                          <p:attrName>style.visibility</p:attrName>
                                        </p:attrNameLst>
                                      </p:cBhvr>
                                      <p:to>
                                        <p:strVal val="visible"/>
                                      </p:to>
                                    </p:set>
                                    <p:animEffect transition="in" filter="wipe(left)">
                                      <p:cBhvr>
                                        <p:cTn id="17" dur="3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6" grpId="0" autoUpdateAnimBg="0"/>
      <p:bldP spid="7" grpId="0" autoUpdateAnimBg="0"/>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090TGp_Industry_v3">
  <a:themeElements>
    <a:clrScheme name="090TGp_Industry_v3 1">
      <a:dk1>
        <a:srgbClr val="000000"/>
      </a:dk1>
      <a:lt1>
        <a:srgbClr val="FFFFFF"/>
      </a:lt1>
      <a:dk2>
        <a:srgbClr val="663300"/>
      </a:dk2>
      <a:lt2>
        <a:srgbClr val="B2B2B2"/>
      </a:lt2>
      <a:accent1>
        <a:srgbClr val="014082"/>
      </a:accent1>
      <a:accent2>
        <a:srgbClr val="BE9112"/>
      </a:accent2>
      <a:accent3>
        <a:srgbClr val="FFFFFF"/>
      </a:accent3>
      <a:accent4>
        <a:srgbClr val="000000"/>
      </a:accent4>
      <a:accent5>
        <a:srgbClr val="AAAFC1"/>
      </a:accent5>
      <a:accent6>
        <a:srgbClr val="AC830F"/>
      </a:accent6>
      <a:hlink>
        <a:srgbClr val="949248"/>
      </a:hlink>
      <a:folHlink>
        <a:srgbClr val="669900"/>
      </a:folHlink>
    </a:clrScheme>
    <a:fontScheme name="090TGp_Industry_v3">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90TGp_Industry_v3 1">
        <a:dk1>
          <a:srgbClr val="000000"/>
        </a:dk1>
        <a:lt1>
          <a:srgbClr val="FFFFFF"/>
        </a:lt1>
        <a:dk2>
          <a:srgbClr val="663300"/>
        </a:dk2>
        <a:lt2>
          <a:srgbClr val="B2B2B2"/>
        </a:lt2>
        <a:accent1>
          <a:srgbClr val="014082"/>
        </a:accent1>
        <a:accent2>
          <a:srgbClr val="BE9112"/>
        </a:accent2>
        <a:accent3>
          <a:srgbClr val="FFFFFF"/>
        </a:accent3>
        <a:accent4>
          <a:srgbClr val="000000"/>
        </a:accent4>
        <a:accent5>
          <a:srgbClr val="AAAFC1"/>
        </a:accent5>
        <a:accent6>
          <a:srgbClr val="AC830F"/>
        </a:accent6>
        <a:hlink>
          <a:srgbClr val="949248"/>
        </a:hlink>
        <a:folHlink>
          <a:srgbClr val="669900"/>
        </a:folHlink>
      </a:clrScheme>
      <a:clrMap bg1="lt1" tx1="dk1" bg2="lt2" tx2="dk2" accent1="accent1" accent2="accent2" accent3="accent3" accent4="accent4" accent5="accent5" accent6="accent6" hlink="hlink" folHlink="folHlink"/>
    </a:extraClrScheme>
    <a:extraClrScheme>
      <a:clrScheme name="090TGp_Industry_v3 2">
        <a:dk1>
          <a:srgbClr val="000000"/>
        </a:dk1>
        <a:lt1>
          <a:srgbClr val="FFFFFF"/>
        </a:lt1>
        <a:dk2>
          <a:srgbClr val="336699"/>
        </a:dk2>
        <a:lt2>
          <a:srgbClr val="B2B2B2"/>
        </a:lt2>
        <a:accent1>
          <a:srgbClr val="2C4258"/>
        </a:accent1>
        <a:accent2>
          <a:srgbClr val="7A9F31"/>
        </a:accent2>
        <a:accent3>
          <a:srgbClr val="FFFFFF"/>
        </a:accent3>
        <a:accent4>
          <a:srgbClr val="000000"/>
        </a:accent4>
        <a:accent5>
          <a:srgbClr val="ACB0B4"/>
        </a:accent5>
        <a:accent6>
          <a:srgbClr val="6E902B"/>
        </a:accent6>
        <a:hlink>
          <a:srgbClr val="AE622E"/>
        </a:hlink>
        <a:folHlink>
          <a:srgbClr val="666699"/>
        </a:folHlink>
      </a:clrScheme>
      <a:clrMap bg1="lt1" tx1="dk1" bg2="lt2" tx2="dk2" accent1="accent1" accent2="accent2" accent3="accent3" accent4="accent4" accent5="accent5" accent6="accent6" hlink="hlink" folHlink="folHlink"/>
    </a:extraClrScheme>
    <a:extraClrScheme>
      <a:clrScheme name="090TGp_Industry_v3 3">
        <a:dk1>
          <a:srgbClr val="000000"/>
        </a:dk1>
        <a:lt1>
          <a:srgbClr val="FFFFFF"/>
        </a:lt1>
        <a:dk2>
          <a:srgbClr val="666633"/>
        </a:dk2>
        <a:lt2>
          <a:srgbClr val="B2B2B2"/>
        </a:lt2>
        <a:accent1>
          <a:srgbClr val="5F3E25"/>
        </a:accent1>
        <a:accent2>
          <a:srgbClr val="A09B30"/>
        </a:accent2>
        <a:accent3>
          <a:srgbClr val="FFFFFF"/>
        </a:accent3>
        <a:accent4>
          <a:srgbClr val="000000"/>
        </a:accent4>
        <a:accent5>
          <a:srgbClr val="B6AFAC"/>
        </a:accent5>
        <a:accent6>
          <a:srgbClr val="918C2A"/>
        </a:accent6>
        <a:hlink>
          <a:srgbClr val="559646"/>
        </a:hlink>
        <a:folHlink>
          <a:srgbClr val="CC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01第1章  绪论（2学时）</Template>
  <TotalTime>211</TotalTime>
  <Words>2932</Words>
  <Application>Microsoft Office PowerPoint</Application>
  <PresentationFormat>全屏显示(4:3)</PresentationFormat>
  <Paragraphs>305</Paragraphs>
  <Slides>28</Slides>
  <Notes>17</Notes>
  <HiddenSlides>0</HiddenSlides>
  <MMClips>0</MMClips>
  <ScaleCrop>false</ScaleCrop>
  <HeadingPairs>
    <vt:vector size="6" baseType="variant">
      <vt:variant>
        <vt:lpstr>主题</vt:lpstr>
      </vt:variant>
      <vt:variant>
        <vt:i4>2</vt:i4>
      </vt:variant>
      <vt:variant>
        <vt:lpstr>嵌入 OLE 服务器</vt:lpstr>
      </vt:variant>
      <vt:variant>
        <vt:i4>2</vt:i4>
      </vt:variant>
      <vt:variant>
        <vt:lpstr>幻灯片标题</vt:lpstr>
      </vt:variant>
      <vt:variant>
        <vt:i4>28</vt:i4>
      </vt:variant>
    </vt:vector>
  </HeadingPairs>
  <TitlesOfParts>
    <vt:vector size="32" baseType="lpstr">
      <vt:lpstr>Default Design</vt:lpstr>
      <vt:lpstr>090TGp_Industry_v3</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微软用户</cp:lastModifiedBy>
  <cp:revision>299</cp:revision>
  <dcterms:created xsi:type="dcterms:W3CDTF">2113-01-01T00:00:00Z</dcterms:created>
  <dcterms:modified xsi:type="dcterms:W3CDTF">2023-02-17T00:54:57Z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2052-11.1.0.10700</vt:lpwstr>
  </property>
  <property fmtid="{D5CDD505-2E9C-101B-9397-08002B2CF9AE}" pid="3" name="ICV">
    <vt:lpwstr>AF0C79F043404AFC96D9992ECCEB2FD5</vt:lpwstr>
  </property>
</Properties>
</file>