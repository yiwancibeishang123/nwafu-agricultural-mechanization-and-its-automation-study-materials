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3" r:id="rId20"/>
    <p:sldId id="288" r:id="rId21"/>
    <p:sldId id="274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0" r:id="rId34"/>
    <p:sldId id="291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FFFF"/>
    <a:srgbClr val="009900"/>
    <a:srgbClr val="00CC00"/>
    <a:srgbClr val="66FF66"/>
    <a:srgbClr val="00FFFF"/>
    <a:srgbClr val="FF0000"/>
    <a:srgbClr val="FFFF00"/>
    <a:srgbClr val="FF66FF"/>
    <a:srgbClr val="069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7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00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89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32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99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18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01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7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20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831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504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8CB25-D7A9-43CC-99A7-4CD0FEF94EDF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7C3A0-13D7-449F-BFAE-AADBBE2E1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81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3.wmf"/><Relationship Id="rId10" Type="http://schemas.openxmlformats.org/officeDocument/2006/relationships/image" Target="../media/image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7.wmf"/><Relationship Id="rId10" Type="http://schemas.openxmlformats.org/officeDocument/2006/relationships/image" Target="../media/image1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1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3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B9A02-4BFD-459B-9153-C31F57906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0111" y="1870745"/>
            <a:ext cx="6858000" cy="1155993"/>
          </a:xfrm>
        </p:spPr>
        <p:txBody>
          <a:bodyPr>
            <a:normAutofit/>
          </a:bodyPr>
          <a:lstStyle/>
          <a:p>
            <a:r>
              <a:rPr lang="en-US" altLang="zh-CN" sz="4950" b="1" dirty="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4950" b="1" dirty="0">
                <a:latin typeface="黑体" panose="02010609060101010101" pitchFamily="49" charset="-122"/>
                <a:ea typeface="黑体" panose="02010609060101010101" pitchFamily="49" charset="-122"/>
              </a:rPr>
              <a:t>机械原理</a:t>
            </a:r>
            <a:r>
              <a:rPr lang="en-US" altLang="zh-CN" sz="4950" b="1" dirty="0"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4950" b="1" dirty="0">
                <a:latin typeface="黑体" panose="02010609060101010101" pitchFamily="49" charset="-122"/>
                <a:ea typeface="黑体" panose="02010609060101010101" pitchFamily="49" charset="-122"/>
              </a:rPr>
              <a:t>样题讲解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3AA97F-3926-435F-8631-468C46D7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0595" y="4745161"/>
            <a:ext cx="2262809" cy="594432"/>
          </a:xfrm>
        </p:spPr>
        <p:txBody>
          <a:bodyPr>
            <a:normAutofit/>
          </a:bodyPr>
          <a:lstStyle/>
          <a:p>
            <a:r>
              <a:rPr lang="en-US" altLang="zh-CN" sz="3000" b="1" dirty="0"/>
              <a:t>2023.12.15</a:t>
            </a:r>
            <a:endParaRPr lang="zh-CN" alt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397040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一、填空题（每空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．机器或机构中，零件与构件的区别在于构件是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的单元体，而零件是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的单元体。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．当两构件组成转动副时，其瞬心在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处；组成移动副时，其瞬心在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_________________________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处；组成纯滚动的高副时，其瞬心在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处。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．从效率的观点来看，机械的自锁条件是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7551254" y="1553916"/>
            <a:ext cx="9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3F0152-15A7-4637-903C-38EEA5A06B48}"/>
              </a:ext>
            </a:extLst>
          </p:cNvPr>
          <p:cNvSpPr txBox="1"/>
          <p:nvPr/>
        </p:nvSpPr>
        <p:spPr>
          <a:xfrm>
            <a:off x="3703568" y="2281619"/>
            <a:ext cx="9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C157BD-117A-40B2-B4FD-037DB0B1153F}"/>
              </a:ext>
            </a:extLst>
          </p:cNvPr>
          <p:cNvSpPr txBox="1"/>
          <p:nvPr/>
        </p:nvSpPr>
        <p:spPr>
          <a:xfrm>
            <a:off x="5879824" y="3240484"/>
            <a:ext cx="238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转动副回转中心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B80DE4-63C9-41EC-AFDA-8C3A6A2EB4A7}"/>
              </a:ext>
            </a:extLst>
          </p:cNvPr>
          <p:cNvSpPr txBox="1"/>
          <p:nvPr/>
        </p:nvSpPr>
        <p:spPr>
          <a:xfrm>
            <a:off x="4667664" y="3954340"/>
            <a:ext cx="4123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垂直于移动副导路的无穷远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8E5DE9-8A56-4DF2-B294-A78F284248F0}"/>
              </a:ext>
            </a:extLst>
          </p:cNvPr>
          <p:cNvSpPr txBox="1"/>
          <p:nvPr/>
        </p:nvSpPr>
        <p:spPr>
          <a:xfrm>
            <a:off x="5672553" y="4689553"/>
            <a:ext cx="2087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其接触点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696638-0A49-4F30-9B38-FBD98C009755}"/>
              </a:ext>
            </a:extLst>
          </p:cNvPr>
          <p:cNvSpPr txBox="1"/>
          <p:nvPr/>
        </p:nvSpPr>
        <p:spPr>
          <a:xfrm>
            <a:off x="6317144" y="5655600"/>
            <a:ext cx="2349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机械效率小于零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12A201-F894-4A88-AC2E-5AA5F9E6B84D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EDC3495F-01FF-4B5B-A387-9AD29A73E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D09F481-C41C-6347-7A00-757ADCCA7CA2}"/>
              </a:ext>
            </a:extLst>
          </p:cNvPr>
          <p:cNvSpPr txBox="1"/>
          <p:nvPr/>
        </p:nvSpPr>
        <p:spPr>
          <a:xfrm>
            <a:off x="1030822" y="2857305"/>
            <a:ext cx="776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机器、机构、机械、零件、构件的定义及其相互关系（内燃机的组成）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E1C0F7-70CA-4CD2-5B84-A90855D525FE}"/>
              </a:ext>
            </a:extLst>
          </p:cNvPr>
          <p:cNvSpPr txBox="1"/>
          <p:nvPr/>
        </p:nvSpPr>
        <p:spPr>
          <a:xfrm>
            <a:off x="1106274" y="5311948"/>
            <a:ext cx="776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低副、高副，转动副、移动副，约束、自由度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D4E6EB-AD80-8BF1-F12E-A781B38EAA79}"/>
              </a:ext>
            </a:extLst>
          </p:cNvPr>
          <p:cNvSpPr txBox="1"/>
          <p:nvPr/>
        </p:nvSpPr>
        <p:spPr>
          <a:xfrm>
            <a:off x="1106273" y="6230598"/>
            <a:ext cx="77603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移动副、转动副中摩擦力的确定，移动副、转动副自锁的条件，机械自锁的条件。机组的效率（串联、并联），螺纹的效率与自锁。</a:t>
            </a:r>
          </a:p>
        </p:txBody>
      </p:sp>
    </p:spTree>
    <p:extLst>
      <p:ext uri="{BB962C8B-B14F-4D97-AF65-F5344CB8AC3E}">
        <p14:creationId xmlns:p14="http://schemas.microsoft.com/office/powerpoint/2010/main" val="386860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4" grpId="0"/>
      <p:bldP spid="4" grpId="1"/>
      <p:bldP spid="13" grpId="0"/>
      <p:bldP spid="13" grpId="1"/>
      <p:bldP spid="14" grpId="0" animBg="1"/>
      <p:bldP spid="1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一、填空题（每空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静平衡的刚性转子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是动平衡的，动平衡的刚性转子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是静平衡的。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．机械中安装飞轮的目的是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_________________________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，为了减少飞轮的重量和尺寸，应将飞轮装在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上。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机器周期性速度波动采用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调节。若机械的原动机为柴油机时，非周期性速度波动采用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__________________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调节。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3783080" y="1398802"/>
            <a:ext cx="1167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不一定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3F0152-15A7-4637-903C-38EEA5A06B48}"/>
              </a:ext>
            </a:extLst>
          </p:cNvPr>
          <p:cNvSpPr txBox="1"/>
          <p:nvPr/>
        </p:nvSpPr>
        <p:spPr>
          <a:xfrm>
            <a:off x="1994036" y="1953231"/>
            <a:ext cx="9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1961E9-0A6C-4A94-A30F-0AACCF4437C1}"/>
              </a:ext>
            </a:extLst>
          </p:cNvPr>
          <p:cNvSpPr txBox="1"/>
          <p:nvPr/>
        </p:nvSpPr>
        <p:spPr>
          <a:xfrm>
            <a:off x="4518992" y="2805239"/>
            <a:ext cx="4701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为了减少机械的周期性速度波动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A784D2-1FE2-4C2C-9D90-569CC81E7058}"/>
              </a:ext>
            </a:extLst>
          </p:cNvPr>
          <p:cNvSpPr txBox="1"/>
          <p:nvPr/>
        </p:nvSpPr>
        <p:spPr>
          <a:xfrm>
            <a:off x="6718437" y="3356489"/>
            <a:ext cx="1167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高速轴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E7A38B-2189-4969-BB2B-F36570D30988}"/>
              </a:ext>
            </a:extLst>
          </p:cNvPr>
          <p:cNvSpPr txBox="1"/>
          <p:nvPr/>
        </p:nvSpPr>
        <p:spPr>
          <a:xfrm>
            <a:off x="4518992" y="4211676"/>
            <a:ext cx="2448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安装飞轮的方法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AB982B-6E87-4750-AC97-1CC0B13CFC4B}"/>
              </a:ext>
            </a:extLst>
          </p:cNvPr>
          <p:cNvSpPr txBox="1"/>
          <p:nvPr/>
        </p:nvSpPr>
        <p:spPr>
          <a:xfrm>
            <a:off x="796163" y="5294517"/>
            <a:ext cx="3026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安装调速器的方法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1CDB2B5-27C0-47F2-9542-ECA4C58F0782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CBB3324C-6C13-4261-9D66-A4DA076B7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68BF0FD-938A-8313-634D-D5835E50B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4" t="12764" r="20833"/>
          <a:stretch>
            <a:fillRect/>
          </a:stretch>
        </p:blipFill>
        <p:spPr bwMode="auto">
          <a:xfrm>
            <a:off x="1277306" y="2716690"/>
            <a:ext cx="3361651" cy="312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264399-3FB1-03C9-B018-4A41C719A9E5}"/>
              </a:ext>
            </a:extLst>
          </p:cNvPr>
          <p:cNvSpPr txBox="1"/>
          <p:nvPr/>
        </p:nvSpPr>
        <p:spPr>
          <a:xfrm>
            <a:off x="1702965" y="6090407"/>
            <a:ext cx="239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∑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F=0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5F18532-0E2D-F113-2935-8ED7AAEEC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698" y="2114034"/>
            <a:ext cx="3361652" cy="235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394191-15B6-A51C-2E10-C8D7959487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83" b="17740"/>
          <a:stretch/>
        </p:blipFill>
        <p:spPr bwMode="auto">
          <a:xfrm>
            <a:off x="5605106" y="4316240"/>
            <a:ext cx="2825829" cy="143994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39426A4-E155-7B74-3970-9861F7A67B72}"/>
              </a:ext>
            </a:extLst>
          </p:cNvPr>
          <p:cNvSpPr txBox="1"/>
          <p:nvPr/>
        </p:nvSpPr>
        <p:spPr>
          <a:xfrm>
            <a:off x="5932414" y="5839153"/>
            <a:ext cx="239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∑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F=0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∑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M=0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3ED5C1F-7333-BBD7-D5FE-9609A59AC4C2}"/>
              </a:ext>
            </a:extLst>
          </p:cNvPr>
          <p:cNvSpPr txBox="1"/>
          <p:nvPr/>
        </p:nvSpPr>
        <p:spPr>
          <a:xfrm>
            <a:off x="946337" y="2479273"/>
            <a:ext cx="776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单面平衡，双面平衡；静平衡、动平衡的条件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784BE81-2DB4-4160-DA18-AC7588239587}"/>
              </a:ext>
            </a:extLst>
          </p:cNvPr>
          <p:cNvSpPr txBox="1"/>
          <p:nvPr/>
        </p:nvSpPr>
        <p:spPr>
          <a:xfrm>
            <a:off x="946336" y="3842650"/>
            <a:ext cx="776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飞轮的作用，飞轮转动惯量的计算公式，最大盈亏功的计算</a:t>
            </a:r>
          </a:p>
        </p:txBody>
      </p:sp>
    </p:spTree>
    <p:extLst>
      <p:ext uri="{BB962C8B-B14F-4D97-AF65-F5344CB8AC3E}">
        <p14:creationId xmlns:p14="http://schemas.microsoft.com/office/powerpoint/2010/main" val="10994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2" grpId="0"/>
      <p:bldP spid="13" grpId="0"/>
      <p:bldP spid="14" grpId="0"/>
      <p:bldP spid="7" grpId="0"/>
      <p:bldP spid="7" grpId="1"/>
      <p:bldP spid="16" grpId="0"/>
      <p:bldP spid="16" grpId="1"/>
      <p:bldP spid="17" grpId="0"/>
      <p:bldP spid="17" grpId="1"/>
      <p:bldP spid="18" grpId="0"/>
      <p:bldP spid="1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一、填空题（每空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．如图所示的铰链四杆机构中，若以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杆为机架时，则为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______________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杆为机架时，则为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____________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；而以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杆为机架时，则为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____________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824324" y="2281813"/>
            <a:ext cx="2127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曲柄摇杆机构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3F0152-15A7-4637-903C-38EEA5A06B48}"/>
              </a:ext>
            </a:extLst>
          </p:cNvPr>
          <p:cNvSpPr txBox="1"/>
          <p:nvPr/>
        </p:nvSpPr>
        <p:spPr>
          <a:xfrm>
            <a:off x="6324808" y="2288656"/>
            <a:ext cx="1994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双曲柄机构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49C788-D809-409E-A2B1-0D30348AD647}"/>
              </a:ext>
            </a:extLst>
          </p:cNvPr>
          <p:cNvSpPr txBox="1"/>
          <p:nvPr/>
        </p:nvSpPr>
        <p:spPr>
          <a:xfrm>
            <a:off x="4184166" y="2988582"/>
            <a:ext cx="1994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双摇杆机构</a:t>
            </a:r>
          </a:p>
        </p:txBody>
      </p:sp>
      <p:pic>
        <p:nvPicPr>
          <p:cNvPr id="1026" name="图片 1" descr="C:\Users\Administrator\AppData\Roaming\Tencent\Users\416771486\TIM\WinTemp\RichOle\3RVJIN}FAZ4H6ID2`8OZ}AN.png">
            <a:extLst>
              <a:ext uri="{FF2B5EF4-FFF2-40B4-BE49-F238E27FC236}">
                <a16:creationId xmlns:a16="http://schemas.microsoft.com/office/drawing/2014/main" id="{7A785506-3286-46B3-984F-F73FACC6F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" t="2519" r="1363" b="-581"/>
          <a:stretch>
            <a:fillRect/>
          </a:stretch>
        </p:blipFill>
        <p:spPr bwMode="auto">
          <a:xfrm>
            <a:off x="3527131" y="3570507"/>
            <a:ext cx="2281066" cy="2001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665470D-DD92-4651-BFE2-B802B80BEC05}"/>
              </a:ext>
            </a:extLst>
          </p:cNvPr>
          <p:cNvSpPr txBox="1"/>
          <p:nvPr/>
        </p:nvSpPr>
        <p:spPr>
          <a:xfrm>
            <a:off x="3813329" y="5501170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图一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0E77A6A-6A51-468E-94C9-992BB223757E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839A8E5E-3F42-4A34-83F1-DDA70EDFF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4C87A99-AC93-7141-FFE1-C57DD4DB2BCD}"/>
              </a:ext>
            </a:extLst>
          </p:cNvPr>
          <p:cNvSpPr txBox="1"/>
          <p:nvPr/>
        </p:nvSpPr>
        <p:spPr>
          <a:xfrm>
            <a:off x="6437766" y="4371061"/>
            <a:ext cx="2508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∵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40+100&lt;70+80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520D92-F3AD-1264-B65B-8B10D639753E}"/>
              </a:ext>
            </a:extLst>
          </p:cNvPr>
          <p:cNvSpPr txBox="1"/>
          <p:nvPr/>
        </p:nvSpPr>
        <p:spPr>
          <a:xfrm>
            <a:off x="6421512" y="5030594"/>
            <a:ext cx="2508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∴存在曲柄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2CD405-D65D-A094-0874-04FD00BD44F2}"/>
              </a:ext>
            </a:extLst>
          </p:cNvPr>
          <p:cNvSpPr txBox="1"/>
          <p:nvPr/>
        </p:nvSpPr>
        <p:spPr>
          <a:xfrm>
            <a:off x="628650" y="5924332"/>
            <a:ext cx="7760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铰链四杆机构类型的判断，急回特性、行程速比系数，哪些机构具有急回特性？压力角、传动角，死点，最小传动角、死点出现的位置</a:t>
            </a:r>
            <a:endParaRPr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摆动导杆机构的极位夹角和导杆摆角之间的关系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63999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4" grpId="0"/>
      <p:bldP spid="7" grpId="0"/>
      <p:bldP spid="12" grpId="0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一、填空题（每空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凸轮机构运动过程中，从动件不产生冲击的运动规律有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运动规律。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．渐开线的形状取决于</a:t>
            </a:r>
            <a:r>
              <a:rPr lang="en-US" altLang="zh-CN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．斜齿轮在</a:t>
            </a:r>
            <a:r>
              <a:rPr lang="en-US" altLang="zh-CN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上具有标准模数和标准压力角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11.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周转轮系中，差动轮系与行星轮系的主要区别在于其具有的自由度数目为</a:t>
            </a:r>
            <a:r>
              <a:rPr lang="en-US" altLang="zh-CN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628650" y="2283863"/>
            <a:ext cx="3465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正弦加速度运动规律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3F0152-15A7-4637-903C-38EEA5A06B48}"/>
              </a:ext>
            </a:extLst>
          </p:cNvPr>
          <p:cNvSpPr txBox="1"/>
          <p:nvPr/>
        </p:nvSpPr>
        <p:spPr>
          <a:xfrm>
            <a:off x="4094301" y="2283863"/>
            <a:ext cx="238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五次多项式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C157BD-117A-40B2-B4FD-037DB0B1153F}"/>
              </a:ext>
            </a:extLst>
          </p:cNvPr>
          <p:cNvSpPr txBox="1"/>
          <p:nvPr/>
        </p:nvSpPr>
        <p:spPr>
          <a:xfrm>
            <a:off x="4027189" y="3240671"/>
            <a:ext cx="238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基圆的大小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B80DE4-63C9-41EC-AFDA-8C3A6A2EB4A7}"/>
              </a:ext>
            </a:extLst>
          </p:cNvPr>
          <p:cNvSpPr txBox="1"/>
          <p:nvPr/>
        </p:nvSpPr>
        <p:spPr>
          <a:xfrm>
            <a:off x="2632419" y="4193278"/>
            <a:ext cx="87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法面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8E5DE9-8A56-4DF2-B294-A78F284248F0}"/>
              </a:ext>
            </a:extLst>
          </p:cNvPr>
          <p:cNvSpPr txBox="1"/>
          <p:nvPr/>
        </p:nvSpPr>
        <p:spPr>
          <a:xfrm>
            <a:off x="3313666" y="5871860"/>
            <a:ext cx="648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1375DC3-245F-45D4-8190-3FC1CC664FC9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3E9F0722-6580-4A27-92AB-7904F437D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9CAABCB-A0D1-A318-CEDD-5F790F7F3411}"/>
              </a:ext>
            </a:extLst>
          </p:cNvPr>
          <p:cNvSpPr txBox="1"/>
          <p:nvPr/>
        </p:nvSpPr>
        <p:spPr>
          <a:xfrm>
            <a:off x="1055392" y="2792459"/>
            <a:ext cx="791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相关概念（基圆、推程、远休、回程等），常用运动规律的运动特点，分类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D0EFDC-1849-66A6-4247-60CCCEF66CF8}"/>
              </a:ext>
            </a:extLst>
          </p:cNvPr>
          <p:cNvSpPr txBox="1"/>
          <p:nvPr/>
        </p:nvSpPr>
        <p:spPr>
          <a:xfrm>
            <a:off x="1055393" y="3782000"/>
            <a:ext cx="791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渐开线的特性，齿轮的基本参数，不发生根切的最少齿数，变位齿轮的特点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B81088-1769-F8AB-6919-12038AA2D2B5}"/>
              </a:ext>
            </a:extLst>
          </p:cNvPr>
          <p:cNvSpPr txBox="1"/>
          <p:nvPr/>
        </p:nvSpPr>
        <p:spPr>
          <a:xfrm>
            <a:off x="1055392" y="4818472"/>
            <a:ext cx="776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齿轮正确啮合的条件（内、外啮合时），连续传动的条件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9D63E6-5B9C-DCD4-2C3D-3CDA28AA0A8A}"/>
              </a:ext>
            </a:extLst>
          </p:cNvPr>
          <p:cNvSpPr txBox="1"/>
          <p:nvPr/>
        </p:nvSpPr>
        <p:spPr>
          <a:xfrm>
            <a:off x="1055392" y="6391279"/>
            <a:ext cx="776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周转轮系的组成，差动轮系和行星轮系的区别（太阳轮）</a:t>
            </a:r>
          </a:p>
        </p:txBody>
      </p:sp>
    </p:spTree>
    <p:extLst>
      <p:ext uri="{BB962C8B-B14F-4D97-AF65-F5344CB8AC3E}">
        <p14:creationId xmlns:p14="http://schemas.microsoft.com/office/powerpoint/2010/main" val="74244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4" grpId="0"/>
      <p:bldP spid="4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机器与机构的本质区别是什么？（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．是否能完成有用的机械功或转换机械能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．是否由许多构件组合而成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．各构件间能否产生相对运动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D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．两者没有区别</a:t>
            </a:r>
          </a:p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5956025" y="1568245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A5797B2-0109-41E4-9A3E-2801425D1C26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664DBAED-1BC2-457D-A6AF-826923C49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6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．机构具有确定运动的条件是（     ）。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．机构的自由度大于零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．机构的自由度大于零且自由度数等于原动件数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．机构的自由度大于零且自由度数大于原动件数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D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．前面的答案都不对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5372929" y="1568245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EF64C64-E458-4DDD-AD5A-128D85AAB966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D3370707-8D8F-41B5-807F-A35AD0B2C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B511515-8030-434C-8282-D482AEA79516}"/>
              </a:ext>
            </a:extLst>
          </p:cNvPr>
          <p:cNvSpPr txBox="1"/>
          <p:nvPr/>
        </p:nvSpPr>
        <p:spPr>
          <a:xfrm>
            <a:off x="1556157" y="5551108"/>
            <a:ext cx="55325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机构的组成：构件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运动副</a:t>
            </a:r>
            <a:endParaRPr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机构的组成：原动件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从动件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机架</a:t>
            </a:r>
            <a:endParaRPr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机构的组成：原动件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基本杆组（基本杆组的定义，</a:t>
            </a:r>
            <a:endParaRPr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类别和特点）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880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/>
      <p:bldP spid="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个构件以复合铰链相联接时，其构成的转动副数应等于（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）个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m+1    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m+2    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m-1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1834598" y="2323618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6527C94-FD98-49D5-926F-E8B86E3EC445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22F08EEC-DFC4-408F-8D36-F2C2ACF9D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ABB4B40-1DB8-59BF-2090-80C4E1B0C8F2}"/>
              </a:ext>
            </a:extLst>
          </p:cNvPr>
          <p:cNvSpPr txBox="1"/>
          <p:nvPr/>
        </p:nvSpPr>
        <p:spPr>
          <a:xfrm>
            <a:off x="1051109" y="5769288"/>
            <a:ext cx="776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复合铰链、局部自由度、虚约束</a:t>
            </a:r>
          </a:p>
        </p:txBody>
      </p:sp>
    </p:spTree>
    <p:extLst>
      <p:ext uri="{BB962C8B-B14F-4D97-AF65-F5344CB8AC3E}">
        <p14:creationId xmlns:p14="http://schemas.microsoft.com/office/powerpoint/2010/main" val="6527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作图示凸轮机构的速度分析时，凸轮与推杆的速度瞬心位于（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点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点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点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D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点</a:t>
            </a:r>
          </a:p>
          <a:p>
            <a:pPr marL="0" indent="0">
              <a:lnSpc>
                <a:spcPct val="200000"/>
              </a:lnSpc>
              <a:buNone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1834598" y="2323618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B96D24-A68C-4586-B836-5CDEE46B6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360" y="2785282"/>
            <a:ext cx="4200463" cy="271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A18FE06-92AF-4184-83F8-219B0B6AE47B}"/>
              </a:ext>
            </a:extLst>
          </p:cNvPr>
          <p:cNvSpPr txBox="1"/>
          <p:nvPr/>
        </p:nvSpPr>
        <p:spPr>
          <a:xfrm>
            <a:off x="5610157" y="5817953"/>
            <a:ext cx="1994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图二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7EC29E0-39B5-41AA-9E24-5BA55B5EA759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06FE3164-51AD-47A6-A8F3-4DD0240C8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D61690D-3DBD-1872-3F8D-EB22AD62B8B5}"/>
              </a:ext>
            </a:extLst>
          </p:cNvPr>
          <p:cNvSpPr txBox="1"/>
          <p:nvPr/>
        </p:nvSpPr>
        <p:spPr>
          <a:xfrm>
            <a:off x="1034331" y="5775557"/>
            <a:ext cx="4796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速度瞬心特点（瞬时、瞬心、等速、重合点）、种类、个数以及位置的确定。</a:t>
            </a:r>
            <a:endParaRPr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速度影像原理、加速度影像原理的应用条件。</a:t>
            </a:r>
          </a:p>
        </p:txBody>
      </p:sp>
    </p:spTree>
    <p:extLst>
      <p:ext uri="{BB962C8B-B14F-4D97-AF65-F5344CB8AC3E}">
        <p14:creationId xmlns:p14="http://schemas.microsoft.com/office/powerpoint/2010/main" val="281858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凡是驱使机械运动的力称为驱动力，其特征是力与作用点速度方向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或成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 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．相同；锐角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．相反；锐角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．相同；钝角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D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．相反；钝角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5677729" y="2323619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C880CCB-EC9B-4EB0-878E-710E1F1BA8B2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0EDFC2E7-F29F-45ED-83A9-9B96ACE02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254F80D-551B-DA7E-1BE1-F4DB0BE9D101}"/>
              </a:ext>
            </a:extLst>
          </p:cNvPr>
          <p:cNvSpPr txBox="1"/>
          <p:nvPr/>
        </p:nvSpPr>
        <p:spPr>
          <a:xfrm>
            <a:off x="1067888" y="5783946"/>
            <a:ext cx="4124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阻抗力的特点</a:t>
            </a:r>
          </a:p>
        </p:txBody>
      </p:sp>
    </p:spTree>
    <p:extLst>
      <p:ext uri="{BB962C8B-B14F-4D97-AF65-F5344CB8AC3E}">
        <p14:creationId xmlns:p14="http://schemas.microsoft.com/office/powerpoint/2010/main" val="368175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运动副反力对整个机械来说是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力，而对于一个构件来说是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力。 （     ）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外力；外力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内力；外力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内力；内力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D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外力；内力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4193484" y="2323619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ECEC00C-7BD3-4EF1-80E0-709DB0CEA511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FC9B9FC3-952D-46EB-AC9E-F3DE681E4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D5D52B4-A761-93F1-9976-A96A64B0CFC6}"/>
              </a:ext>
            </a:extLst>
          </p:cNvPr>
          <p:cNvSpPr txBox="1"/>
          <p:nvPr/>
        </p:nvSpPr>
        <p:spPr>
          <a:xfrm>
            <a:off x="1118222" y="5783946"/>
            <a:ext cx="4124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运动副反力的确定（转动副和移动副）</a:t>
            </a:r>
          </a:p>
        </p:txBody>
      </p:sp>
    </p:spTree>
    <p:extLst>
      <p:ext uri="{BB962C8B-B14F-4D97-AF65-F5344CB8AC3E}">
        <p14:creationId xmlns:p14="http://schemas.microsoft.com/office/powerpoint/2010/main" val="330588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在以转动件作为等效构件建立机器动力学模型时，其主要工作是计算等效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和等效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_______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。（     ）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力矩；质量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力；质量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力；转动惯量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D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力矩；转动惯量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6883675" y="2310367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25FFBA-D6A5-4F1F-950F-441BAB9266E5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F4BAA277-AF7F-4DB8-997C-7ADA95D2C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37FA3FD-2CE5-D83A-AA1A-D5BAC298CA28}"/>
              </a:ext>
            </a:extLst>
          </p:cNvPr>
          <p:cNvSpPr txBox="1"/>
          <p:nvPr/>
        </p:nvSpPr>
        <p:spPr>
          <a:xfrm>
            <a:off x="1118222" y="5783946"/>
            <a:ext cx="7397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取移动的构件作为等效构件时，其主要工作是计算等效力和等效质量</a:t>
            </a:r>
          </a:p>
        </p:txBody>
      </p:sp>
    </p:spTree>
    <p:extLst>
      <p:ext uri="{BB962C8B-B14F-4D97-AF65-F5344CB8AC3E}">
        <p14:creationId xmlns:p14="http://schemas.microsoft.com/office/powerpoint/2010/main" val="123570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4" grpId="0"/>
      <p:bldP spid="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曲柄摇杆机构当从动件处于两极限位置时，原动件所处位置方向线之间所夹的锐角称为（     ）。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压力角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传动角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极位夹角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5531953" y="2297115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9898A21-39AA-4A85-8BCB-81921079F5E5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184420A2-B057-4030-A79A-CDC551926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685445D-3746-94EC-C87A-464E1347207E}"/>
              </a:ext>
            </a:extLst>
          </p:cNvPr>
          <p:cNvSpPr txBox="1"/>
          <p:nvPr/>
        </p:nvSpPr>
        <p:spPr>
          <a:xfrm>
            <a:off x="1118222" y="5783946"/>
            <a:ext cx="7397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压力角、传动角、极位的定义及出现的位置</a:t>
            </a:r>
          </a:p>
        </p:txBody>
      </p:sp>
    </p:spTree>
    <p:extLst>
      <p:ext uri="{BB962C8B-B14F-4D97-AF65-F5344CB8AC3E}">
        <p14:creationId xmlns:p14="http://schemas.microsoft.com/office/powerpoint/2010/main" val="200192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078028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9.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凸轮基圆半径是指（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．理论廓线的最小向径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．实际廓线的最小向径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．理论廓线的最大向径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D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．实际廓线的最大向径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3994701" y="1581498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7B047CB-C36C-4503-A39E-F73B0A777180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E4A392AE-CC85-480F-9036-68BBEFEC8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0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132"/>
            <a:ext cx="7886700" cy="710130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二、选择题（每小题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分，共</a:t>
            </a: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分）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277C1-C443-42AA-B81C-6A9B7E46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6830"/>
            <a:ext cx="8515350" cy="326350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10.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下列机构中不能实现从动件作单向间歇运动要求的是（     ）。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．棘轮机构  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．蜗杆凸轮机构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C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．槽轮机构 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．摆动直线导杆机构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661D3C-F3B9-4DDF-89DC-8E37EE1D6C18}"/>
              </a:ext>
            </a:extLst>
          </p:cNvPr>
          <p:cNvSpPr txBox="1"/>
          <p:nvPr/>
        </p:nvSpPr>
        <p:spPr>
          <a:xfrm>
            <a:off x="1211745" y="2310367"/>
            <a:ext cx="948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277199E-EBDC-45BA-B66F-E59B039869FF}"/>
              </a:ext>
            </a:extLst>
          </p:cNvPr>
          <p:cNvCxnSpPr/>
          <p:nvPr/>
        </p:nvCxnSpPr>
        <p:spPr>
          <a:xfrm>
            <a:off x="0" y="1306892"/>
            <a:ext cx="9144000" cy="0"/>
          </a:xfrm>
          <a:prstGeom prst="line">
            <a:avLst/>
          </a:prstGeom>
          <a:ln w="635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FFD0E6EA-2A41-4FFE-B37D-A7A79167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EC2E21A-96D0-B62C-5C21-1DC788626E8F}"/>
              </a:ext>
            </a:extLst>
          </p:cNvPr>
          <p:cNvSpPr txBox="1"/>
          <p:nvPr/>
        </p:nvSpPr>
        <p:spPr>
          <a:xfrm>
            <a:off x="5291833" y="2825179"/>
            <a:ext cx="3583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什么是间歇运动？</a:t>
            </a:r>
            <a:endParaRPr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常见的间歇运动机构有哪些？</a:t>
            </a:r>
          </a:p>
        </p:txBody>
      </p:sp>
    </p:spTree>
    <p:extLst>
      <p:ext uri="{BB962C8B-B14F-4D97-AF65-F5344CB8AC3E}">
        <p14:creationId xmlns:p14="http://schemas.microsoft.com/office/powerpoint/2010/main" val="80011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4" grpId="0"/>
      <p:bldP spid="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26" y="823840"/>
            <a:ext cx="8255291" cy="7101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三、试计算图示机构的自由度，指明机构中出现的复合铰链、局部自由度和虚约束，并说明需要几个原动件才有确定运动。（本题共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1540322" y="6071698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D883F3-9071-E0B3-04C4-08A3167CC6DE}"/>
              </a:ext>
            </a:extLst>
          </p:cNvPr>
          <p:cNvSpPr txBox="1"/>
          <p:nvPr/>
        </p:nvSpPr>
        <p:spPr>
          <a:xfrm>
            <a:off x="5066950" y="1975724"/>
            <a:ext cx="3816991" cy="1405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图中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处存在局部自由度，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）处为虚约束，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处存在复合铰链。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6C329A-095E-DC47-BEF6-9D7ABD26515D}"/>
              </a:ext>
            </a:extLst>
          </p:cNvPr>
          <p:cNvSpPr txBox="1"/>
          <p:nvPr/>
        </p:nvSpPr>
        <p:spPr>
          <a:xfrm>
            <a:off x="5159229" y="3406104"/>
            <a:ext cx="3665988" cy="1405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去掉虚约束，将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处的滚子固化，计算机构的自由度。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 = 6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en-US" altLang="zh-CN" sz="2000" b="1" kern="100" baseline="-250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8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Ph=1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5E8151C-E65E-36C9-AFED-7813A62CBB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208588"/>
              </p:ext>
            </p:extLst>
          </p:nvPr>
        </p:nvGraphicFramePr>
        <p:xfrm>
          <a:off x="5680919" y="4910502"/>
          <a:ext cx="21669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406080" progId="Equation.DSMT4">
                  <p:embed/>
                </p:oleObj>
              </mc:Choice>
              <mc:Fallback>
                <p:oleObj name="Equation" r:id="rId2" imgW="1282680" imgH="4060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919" y="4910502"/>
                        <a:ext cx="2166938" cy="685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1D40A4CB-1769-A306-5BBE-289075EBC0F6}"/>
              </a:ext>
            </a:extLst>
          </p:cNvPr>
          <p:cNvSpPr txBox="1"/>
          <p:nvPr/>
        </p:nvSpPr>
        <p:spPr>
          <a:xfrm>
            <a:off x="5159229" y="5696125"/>
            <a:ext cx="3665988" cy="943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由于自由度为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，因此需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个原动件机构具有确定的相对运动。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65C7ED1-010E-0E68-8002-05E2F1A971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18" y="2331449"/>
            <a:ext cx="4109234" cy="351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0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55" y="1065854"/>
            <a:ext cx="8255291" cy="7101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四、在图示的双滑块机构中，转动副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处的细线小圆表示摩擦圆，在滑块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上施加有力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驱动滑块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向上运动。试画出图示位置时构件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所受的作用力的方位（不考虑构件的重量及惯性力，移动副处摩擦角为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φ=10°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）。（本题共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447702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图四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06BC5B-6BE8-08FA-5B1E-19C72A0B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501" y="478000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D3E61D-70FE-43C7-E419-260CF8E59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683" y="2448200"/>
            <a:ext cx="3476190" cy="40095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6E588D-9857-4E8D-AA50-BECE215E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5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55" y="1065854"/>
            <a:ext cx="8255291" cy="7101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四、在图示的双滑块机构中，转动副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处的细线小圆表示摩擦圆，在滑块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上施加有力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驱动滑块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向上运动。试画出图示位置时构件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所受的作用力的方位（不考虑构件的重量及惯性力，移动副处摩擦角为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φ=10°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）。（本题共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457724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图四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D3E61D-70FE-43C7-E419-260CF8E59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405" y="2433690"/>
            <a:ext cx="3476190" cy="4009524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C11B194-9044-2F69-781C-2085BDDD6A36}"/>
              </a:ext>
            </a:extLst>
          </p:cNvPr>
          <p:cNvCxnSpPr>
            <a:cxnSpLocks/>
          </p:cNvCxnSpPr>
          <p:nvPr/>
        </p:nvCxnSpPr>
        <p:spPr>
          <a:xfrm flipH="1">
            <a:off x="4557705" y="3429000"/>
            <a:ext cx="593135" cy="7166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15671E4-8697-DC9D-2A73-1FB15035C038}"/>
              </a:ext>
            </a:extLst>
          </p:cNvPr>
          <p:cNvCxnSpPr>
            <a:cxnSpLocks/>
          </p:cNvCxnSpPr>
          <p:nvPr/>
        </p:nvCxnSpPr>
        <p:spPr>
          <a:xfrm flipV="1">
            <a:off x="3586294" y="4863687"/>
            <a:ext cx="536895" cy="7551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15">
            <a:extLst>
              <a:ext uri="{FF2B5EF4-FFF2-40B4-BE49-F238E27FC236}">
                <a16:creationId xmlns:a16="http://schemas.microsoft.com/office/drawing/2014/main" id="{F428113C-FA74-F060-F60B-D6B67E80AC47}"/>
              </a:ext>
            </a:extLst>
          </p:cNvPr>
          <p:cNvSpPr/>
          <p:nvPr/>
        </p:nvSpPr>
        <p:spPr>
          <a:xfrm>
            <a:off x="3665989" y="5452844"/>
            <a:ext cx="914400" cy="914400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B4D9BF02-704B-1D7E-86BA-194396552016}"/>
              </a:ext>
            </a:extLst>
          </p:cNvPr>
          <p:cNvSpPr/>
          <p:nvPr/>
        </p:nvSpPr>
        <p:spPr>
          <a:xfrm rot="10800000">
            <a:off x="4890012" y="3665100"/>
            <a:ext cx="914400" cy="914400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1534D73-58A3-3D05-23DE-37D02E7F9A71}"/>
              </a:ext>
            </a:extLst>
          </p:cNvPr>
          <p:cNvCxnSpPr>
            <a:cxnSpLocks/>
          </p:cNvCxnSpPr>
          <p:nvPr/>
        </p:nvCxnSpPr>
        <p:spPr>
          <a:xfrm flipV="1">
            <a:off x="3890000" y="5174874"/>
            <a:ext cx="478960" cy="7551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4CB1ECC-4D7C-DB34-F4AD-6FC7AD359C32}"/>
              </a:ext>
            </a:extLst>
          </p:cNvPr>
          <p:cNvCxnSpPr>
            <a:cxnSpLocks/>
          </p:cNvCxnSpPr>
          <p:nvPr/>
        </p:nvCxnSpPr>
        <p:spPr>
          <a:xfrm flipH="1">
            <a:off x="5150840" y="3909581"/>
            <a:ext cx="554462" cy="8134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277030A4-F770-4DF8-BD17-CBEF14298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1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55" y="1065854"/>
            <a:ext cx="8255291" cy="7101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四、在图示的双滑块机构中，转动副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处的细线小圆表示摩擦圆，在滑块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上施加有力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驱动滑块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向上运动。试画出图示位置时构件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所受的作用力的方位（不考虑构件的重量及惯性力，移动副处摩擦角为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φ=10°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）。（本题共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457724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图四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D3E61D-70FE-43C7-E419-260CF8E59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405" y="2433690"/>
            <a:ext cx="3476190" cy="4009524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1534D73-58A3-3D05-23DE-37D02E7F9A71}"/>
              </a:ext>
            </a:extLst>
          </p:cNvPr>
          <p:cNvCxnSpPr>
            <a:cxnSpLocks/>
          </p:cNvCxnSpPr>
          <p:nvPr/>
        </p:nvCxnSpPr>
        <p:spPr>
          <a:xfrm flipV="1">
            <a:off x="3868898" y="5251508"/>
            <a:ext cx="602434" cy="7130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4CB1ECC-4D7C-DB34-F4AD-6FC7AD359C32}"/>
              </a:ext>
            </a:extLst>
          </p:cNvPr>
          <p:cNvCxnSpPr>
            <a:cxnSpLocks/>
          </p:cNvCxnSpPr>
          <p:nvPr/>
        </p:nvCxnSpPr>
        <p:spPr>
          <a:xfrm flipH="1">
            <a:off x="5136185" y="3948683"/>
            <a:ext cx="531980" cy="6123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D183BF1-EDE8-EB74-7D6A-78FD47BBD351}"/>
              </a:ext>
            </a:extLst>
          </p:cNvPr>
          <p:cNvGrpSpPr/>
          <p:nvPr/>
        </p:nvGrpSpPr>
        <p:grpSpPr>
          <a:xfrm>
            <a:off x="3640822" y="4999839"/>
            <a:ext cx="377505" cy="1031845"/>
            <a:chOff x="3640822" y="4999839"/>
            <a:chExt cx="377505" cy="1031845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C8176368-F4B4-09D1-6AB2-FB3C84B40FEF}"/>
                </a:ext>
              </a:extLst>
            </p:cNvPr>
            <p:cNvCxnSpPr/>
            <p:nvPr/>
          </p:nvCxnSpPr>
          <p:spPr>
            <a:xfrm flipH="1" flipV="1">
              <a:off x="3640822" y="4999839"/>
              <a:ext cx="377505" cy="103184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A03E0B0-92A4-D6CB-10DF-8CC75F4446CD}"/>
                </a:ext>
              </a:extLst>
            </p:cNvPr>
            <p:cNvCxnSpPr/>
            <p:nvPr/>
          </p:nvCxnSpPr>
          <p:spPr>
            <a:xfrm flipV="1">
              <a:off x="4018327" y="4999839"/>
              <a:ext cx="0" cy="10318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A4F71BF-41F1-707E-665F-B7AA462CD639}"/>
              </a:ext>
            </a:extLst>
          </p:cNvPr>
          <p:cNvCxnSpPr/>
          <p:nvPr/>
        </p:nvCxnSpPr>
        <p:spPr>
          <a:xfrm>
            <a:off x="2818701" y="6031684"/>
            <a:ext cx="14680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86C515A-98A5-5EDD-6033-50EDD053F44D}"/>
              </a:ext>
            </a:extLst>
          </p:cNvPr>
          <p:cNvGrpSpPr/>
          <p:nvPr/>
        </p:nvGrpSpPr>
        <p:grpSpPr>
          <a:xfrm>
            <a:off x="3422707" y="5007094"/>
            <a:ext cx="377505" cy="1031845"/>
            <a:chOff x="3640822" y="4999839"/>
            <a:chExt cx="377505" cy="1031845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5EAB3D90-31F7-E609-47C4-D3509FAFD2EC}"/>
                </a:ext>
              </a:extLst>
            </p:cNvPr>
            <p:cNvCxnSpPr/>
            <p:nvPr/>
          </p:nvCxnSpPr>
          <p:spPr>
            <a:xfrm flipH="1" flipV="1">
              <a:off x="3640822" y="4999839"/>
              <a:ext cx="377505" cy="103184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0DA1E6A-B97A-CB8D-5D00-D27F6988BFF0}"/>
                </a:ext>
              </a:extLst>
            </p:cNvPr>
            <p:cNvCxnSpPr/>
            <p:nvPr/>
          </p:nvCxnSpPr>
          <p:spPr>
            <a:xfrm flipV="1">
              <a:off x="4018327" y="4999839"/>
              <a:ext cx="0" cy="10318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BA0BD9CF-6F4A-B37E-9CAB-D366E969568A}"/>
              </a:ext>
            </a:extLst>
          </p:cNvPr>
          <p:cNvGrpSpPr/>
          <p:nvPr/>
        </p:nvGrpSpPr>
        <p:grpSpPr>
          <a:xfrm>
            <a:off x="4647500" y="3816991"/>
            <a:ext cx="872456" cy="270185"/>
            <a:chOff x="4647500" y="3816991"/>
            <a:chExt cx="872456" cy="270185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94DC6ABF-7D95-C0A5-1CAD-8955D6A953FE}"/>
                </a:ext>
              </a:extLst>
            </p:cNvPr>
            <p:cNvCxnSpPr/>
            <p:nvPr/>
          </p:nvCxnSpPr>
          <p:spPr>
            <a:xfrm flipH="1">
              <a:off x="4647500" y="3825380"/>
              <a:ext cx="872456" cy="2617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0484A79-D443-2643-EA2F-4A8BFB0586A5}"/>
                </a:ext>
              </a:extLst>
            </p:cNvPr>
            <p:cNvCxnSpPr/>
            <p:nvPr/>
          </p:nvCxnSpPr>
          <p:spPr>
            <a:xfrm flipH="1">
              <a:off x="4647500" y="3816991"/>
              <a:ext cx="85567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134A774-E0C7-1D7A-7CA0-2D9638A144C7}"/>
              </a:ext>
            </a:extLst>
          </p:cNvPr>
          <p:cNvCxnSpPr>
            <a:cxnSpLocks/>
          </p:cNvCxnSpPr>
          <p:nvPr/>
        </p:nvCxnSpPr>
        <p:spPr>
          <a:xfrm>
            <a:off x="5519956" y="2433690"/>
            <a:ext cx="0" cy="16534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C9219CC-A8FD-2D50-6A88-8EF649C3D6E8}"/>
              </a:ext>
            </a:extLst>
          </p:cNvPr>
          <p:cNvGrpSpPr/>
          <p:nvPr/>
        </p:nvGrpSpPr>
        <p:grpSpPr>
          <a:xfrm>
            <a:off x="4649623" y="4093923"/>
            <a:ext cx="872456" cy="270185"/>
            <a:chOff x="4647500" y="3816991"/>
            <a:chExt cx="872456" cy="270185"/>
          </a:xfrm>
        </p:grpSpPr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E93F4207-6B6E-F6A2-63C9-33CED22C9421}"/>
                </a:ext>
              </a:extLst>
            </p:cNvPr>
            <p:cNvCxnSpPr/>
            <p:nvPr/>
          </p:nvCxnSpPr>
          <p:spPr>
            <a:xfrm flipH="1">
              <a:off x="4647500" y="3825380"/>
              <a:ext cx="872456" cy="26179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AD98EED-A99B-C119-167A-08059DD55D91}"/>
                </a:ext>
              </a:extLst>
            </p:cNvPr>
            <p:cNvCxnSpPr/>
            <p:nvPr/>
          </p:nvCxnSpPr>
          <p:spPr>
            <a:xfrm flipH="1">
              <a:off x="4647500" y="3816991"/>
              <a:ext cx="85567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D83302B-3629-0260-3FDF-360FAE638562}"/>
              </a:ext>
            </a:extLst>
          </p:cNvPr>
          <p:cNvCxnSpPr>
            <a:cxnSpLocks/>
          </p:cNvCxnSpPr>
          <p:nvPr/>
        </p:nvCxnSpPr>
        <p:spPr>
          <a:xfrm flipH="1">
            <a:off x="3489820" y="5792146"/>
            <a:ext cx="528507" cy="66557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EDBB5800-323B-1E05-AFE0-89B71BC0C686}"/>
              </a:ext>
            </a:extLst>
          </p:cNvPr>
          <p:cNvCxnSpPr>
            <a:cxnSpLocks/>
          </p:cNvCxnSpPr>
          <p:nvPr/>
        </p:nvCxnSpPr>
        <p:spPr>
          <a:xfrm flipV="1">
            <a:off x="5668165" y="3242934"/>
            <a:ext cx="525704" cy="6933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F9EF1A29-69A6-4BF7-91BD-DC8EEA221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D66BB0FB-537C-F12C-BD62-8149486AF0E8}"/>
              </a:ext>
            </a:extLst>
          </p:cNvPr>
          <p:cNvGrpSpPr/>
          <p:nvPr/>
        </p:nvGrpSpPr>
        <p:grpSpPr>
          <a:xfrm>
            <a:off x="3187261" y="3060378"/>
            <a:ext cx="3884665" cy="3711999"/>
            <a:chOff x="3187261" y="3060378"/>
            <a:chExt cx="3884665" cy="3711999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E598D1B-FC84-F958-6045-DD038C51CB78}"/>
                </a:ext>
              </a:extLst>
            </p:cNvPr>
            <p:cNvSpPr txBox="1"/>
            <p:nvPr/>
          </p:nvSpPr>
          <p:spPr>
            <a:xfrm>
              <a:off x="6164805" y="3060378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R23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FAB7375-E695-E2EE-27F8-3BABC5299155}"/>
                </a:ext>
              </a:extLst>
            </p:cNvPr>
            <p:cNvSpPr txBox="1"/>
            <p:nvPr/>
          </p:nvSpPr>
          <p:spPr>
            <a:xfrm>
              <a:off x="4948614" y="4474698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R32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D26CBB5-B7E4-FB7C-CE98-983A36EFB305}"/>
                </a:ext>
              </a:extLst>
            </p:cNvPr>
            <p:cNvSpPr txBox="1"/>
            <p:nvPr/>
          </p:nvSpPr>
          <p:spPr>
            <a:xfrm>
              <a:off x="4135278" y="4178563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R43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35673E7-93CE-5E1C-7E48-DDA31E830BAB}"/>
                </a:ext>
              </a:extLst>
            </p:cNvPr>
            <p:cNvSpPr txBox="1"/>
            <p:nvPr/>
          </p:nvSpPr>
          <p:spPr>
            <a:xfrm>
              <a:off x="3599168" y="4578673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R41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A615C77-F14B-C708-46FC-D5EC6A14B9F3}"/>
                </a:ext>
              </a:extLst>
            </p:cNvPr>
            <p:cNvSpPr txBox="1"/>
            <p:nvPr/>
          </p:nvSpPr>
          <p:spPr>
            <a:xfrm>
              <a:off x="3187261" y="6372267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R21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8847A6B6-FC32-8C6F-A2A2-BA7F5E8F753D}"/>
                </a:ext>
              </a:extLst>
            </p:cNvPr>
            <p:cNvSpPr txBox="1"/>
            <p:nvPr/>
          </p:nvSpPr>
          <p:spPr>
            <a:xfrm>
              <a:off x="4471332" y="5161755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R12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186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55" y="1065854"/>
            <a:ext cx="8255291" cy="7101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四、在图示的双滑块机构中，转动副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处的细线小圆表示摩擦圆，在滑块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上施加有力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驱动滑块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向上运动。试画出图示位置时构件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所受的作用力的方位（不考虑构件的重量及惯性力，移动副处摩擦角为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φ=10°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）。（本题共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457724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图四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06BC5B-6BE8-08FA-5B1E-19C72A0B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501" y="478000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D3E61D-70FE-43C7-E419-260CF8E59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405" y="2433690"/>
            <a:ext cx="3476190" cy="400952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9EF1A29-69A6-4BF7-91BD-DC8EEA221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grpSp>
        <p:nvGrpSpPr>
          <p:cNvPr id="65" name="组合 64">
            <a:extLst>
              <a:ext uri="{FF2B5EF4-FFF2-40B4-BE49-F238E27FC236}">
                <a16:creationId xmlns:a16="http://schemas.microsoft.com/office/drawing/2014/main" id="{78499D6C-5414-E0D2-8AEE-F0C9957095D9}"/>
              </a:ext>
            </a:extLst>
          </p:cNvPr>
          <p:cNvGrpSpPr/>
          <p:nvPr/>
        </p:nvGrpSpPr>
        <p:grpSpPr>
          <a:xfrm>
            <a:off x="3740379" y="3918207"/>
            <a:ext cx="2099818" cy="1954087"/>
            <a:chOff x="3740379" y="3918207"/>
            <a:chExt cx="2099818" cy="1954087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1534D73-58A3-3D05-23DE-37D02E7F9A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9270" y="5259897"/>
              <a:ext cx="520117" cy="61239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14CB1ECC-4D7C-DB34-F4AD-6FC7AD359C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42451" y="3918207"/>
              <a:ext cx="553674" cy="67783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E9B2B0D-DE1F-1615-D4AE-B06A91D26585}"/>
                </a:ext>
              </a:extLst>
            </p:cNvPr>
            <p:cNvSpPr txBox="1"/>
            <p:nvPr/>
          </p:nvSpPr>
          <p:spPr>
            <a:xfrm>
              <a:off x="4933076" y="4550747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R32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87D733C-BC15-7714-ECAF-7E8D70E4A2AA}"/>
                </a:ext>
              </a:extLst>
            </p:cNvPr>
            <p:cNvSpPr txBox="1"/>
            <p:nvPr/>
          </p:nvSpPr>
          <p:spPr>
            <a:xfrm>
              <a:off x="3740379" y="4957894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R12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9F1D08D8-742A-D80D-9264-6F9CDC434AFF}"/>
              </a:ext>
            </a:extLst>
          </p:cNvPr>
          <p:cNvGrpSpPr/>
          <p:nvPr/>
        </p:nvGrpSpPr>
        <p:grpSpPr>
          <a:xfrm>
            <a:off x="6613433" y="2270700"/>
            <a:ext cx="2169942" cy="2295150"/>
            <a:chOff x="6613433" y="2270700"/>
            <a:chExt cx="2169942" cy="2295150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C9219CC-A8FD-2D50-6A88-8EF649C3D6E8}"/>
                </a:ext>
              </a:extLst>
            </p:cNvPr>
            <p:cNvGrpSpPr/>
            <p:nvPr/>
          </p:nvGrpSpPr>
          <p:grpSpPr>
            <a:xfrm>
              <a:off x="6829439" y="3648022"/>
              <a:ext cx="872456" cy="270185"/>
              <a:chOff x="4647500" y="3816991"/>
              <a:chExt cx="872456" cy="270185"/>
            </a:xfrm>
          </p:grpSpPr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E93F4207-6B6E-F6A2-63C9-33CED22C9421}"/>
                  </a:ext>
                </a:extLst>
              </p:cNvPr>
              <p:cNvCxnSpPr/>
              <p:nvPr/>
            </p:nvCxnSpPr>
            <p:spPr>
              <a:xfrm flipH="1">
                <a:off x="4647500" y="3825380"/>
                <a:ext cx="872456" cy="261796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AD98EED-A99B-C119-167A-08059DD55D91}"/>
                  </a:ext>
                </a:extLst>
              </p:cNvPr>
              <p:cNvCxnSpPr/>
              <p:nvPr/>
            </p:nvCxnSpPr>
            <p:spPr>
              <a:xfrm flipH="1">
                <a:off x="4647500" y="3816991"/>
                <a:ext cx="855678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EDBB5800-323B-1E05-AFE0-89B71BC0C6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8229" y="2654786"/>
              <a:ext cx="609770" cy="100162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BA5C291-1D20-1D55-FC5F-62E9B93C2FAC}"/>
                </a:ext>
              </a:extLst>
            </p:cNvPr>
            <p:cNvGrpSpPr/>
            <p:nvPr/>
          </p:nvGrpSpPr>
          <p:grpSpPr>
            <a:xfrm rot="5400000">
              <a:off x="7212836" y="3150743"/>
              <a:ext cx="957144" cy="511729"/>
              <a:chOff x="1349828" y="4169328"/>
              <a:chExt cx="957144" cy="511729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51B679C7-AECF-84A2-ACA1-D0DC921A52B8}"/>
                  </a:ext>
                </a:extLst>
              </p:cNvPr>
              <p:cNvSpPr/>
              <p:nvPr/>
            </p:nvSpPr>
            <p:spPr>
              <a:xfrm>
                <a:off x="1349828" y="4169328"/>
                <a:ext cx="957144" cy="51172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DE209AEC-E6E7-351C-C88E-5DB858C9B21E}"/>
                  </a:ext>
                </a:extLst>
              </p:cNvPr>
              <p:cNvSpPr/>
              <p:nvPr/>
            </p:nvSpPr>
            <p:spPr>
              <a:xfrm>
                <a:off x="1644784" y="4240696"/>
                <a:ext cx="335559" cy="3553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E2A493CD-DCD1-AB1C-5A7E-A2D13C88EA7C}"/>
                  </a:ext>
                </a:extLst>
              </p:cNvPr>
              <p:cNvSpPr/>
              <p:nvPr/>
            </p:nvSpPr>
            <p:spPr>
              <a:xfrm>
                <a:off x="1764462" y="4353194"/>
                <a:ext cx="99004" cy="12018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D24FA73E-AB3A-35F2-4656-268676A84E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85116" y="3425728"/>
              <a:ext cx="19568" cy="108120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AE13E9D-169B-72D3-643C-1F70CAA80350}"/>
                </a:ext>
              </a:extLst>
            </p:cNvPr>
            <p:cNvSpPr txBox="1"/>
            <p:nvPr/>
          </p:nvSpPr>
          <p:spPr>
            <a:xfrm>
              <a:off x="7876254" y="2270700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R23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3F83B78-B80F-9287-AF5D-D24CC48ECBF0}"/>
                </a:ext>
              </a:extLst>
            </p:cNvPr>
            <p:cNvSpPr txBox="1"/>
            <p:nvPr/>
          </p:nvSpPr>
          <p:spPr>
            <a:xfrm>
              <a:off x="6613433" y="3875476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R43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B5C992EB-54E8-8C1B-30BD-D059839B2897}"/>
                </a:ext>
              </a:extLst>
            </p:cNvPr>
            <p:cNvSpPr txBox="1"/>
            <p:nvPr/>
          </p:nvSpPr>
          <p:spPr>
            <a:xfrm>
              <a:off x="7685116" y="4165740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F2B06A2-C549-0348-D3CB-3D6BCE951CF6}"/>
              </a:ext>
            </a:extLst>
          </p:cNvPr>
          <p:cNvGrpSpPr/>
          <p:nvPr/>
        </p:nvGrpSpPr>
        <p:grpSpPr>
          <a:xfrm>
            <a:off x="382868" y="3030747"/>
            <a:ext cx="1924104" cy="2299463"/>
            <a:chOff x="382868" y="3030747"/>
            <a:chExt cx="1924104" cy="2299463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486C515A-98A5-5EDD-6033-50EDD053F44D}"/>
                </a:ext>
              </a:extLst>
            </p:cNvPr>
            <p:cNvGrpSpPr/>
            <p:nvPr/>
          </p:nvGrpSpPr>
          <p:grpSpPr>
            <a:xfrm>
              <a:off x="1267279" y="3406607"/>
              <a:ext cx="377505" cy="1031845"/>
              <a:chOff x="3640822" y="4999839"/>
              <a:chExt cx="377505" cy="1031845"/>
            </a:xfrm>
          </p:grpSpPr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5EAB3D90-31F7-E609-47C4-D3509FAFD2EC}"/>
                  </a:ext>
                </a:extLst>
              </p:cNvPr>
              <p:cNvCxnSpPr/>
              <p:nvPr/>
            </p:nvCxnSpPr>
            <p:spPr>
              <a:xfrm flipH="1" flipV="1">
                <a:off x="3640822" y="4999839"/>
                <a:ext cx="377505" cy="1031845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80DA1E6A-B97A-CB8D-5D00-D27F6988BFF0}"/>
                  </a:ext>
                </a:extLst>
              </p:cNvPr>
              <p:cNvCxnSpPr/>
              <p:nvPr/>
            </p:nvCxnSpPr>
            <p:spPr>
              <a:xfrm flipV="1">
                <a:off x="4018327" y="4999839"/>
                <a:ext cx="0" cy="103184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0EE8C3DF-F47F-5B1F-9F6C-8E582B8A3CD2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flipV="1">
              <a:off x="427839" y="4425193"/>
              <a:ext cx="921989" cy="1325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248A3AF-5EC9-7AFA-ED75-599A4E3D75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0402" y="4418371"/>
              <a:ext cx="494381" cy="53952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B104759-BE1A-F157-98CD-8318021D50DA}"/>
                </a:ext>
              </a:extLst>
            </p:cNvPr>
            <p:cNvGrpSpPr/>
            <p:nvPr/>
          </p:nvGrpSpPr>
          <p:grpSpPr>
            <a:xfrm>
              <a:off x="1349828" y="4169328"/>
              <a:ext cx="957144" cy="511729"/>
              <a:chOff x="1349828" y="4169328"/>
              <a:chExt cx="957144" cy="511729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5565140-11D0-411E-C0E9-D14C9901A47B}"/>
                  </a:ext>
                </a:extLst>
              </p:cNvPr>
              <p:cNvSpPr/>
              <p:nvPr/>
            </p:nvSpPr>
            <p:spPr>
              <a:xfrm>
                <a:off x="1349828" y="4169328"/>
                <a:ext cx="957144" cy="51172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19CC9B8-0AA2-C7A0-7BB6-E19B6A328733}"/>
                  </a:ext>
                </a:extLst>
              </p:cNvPr>
              <p:cNvSpPr/>
              <p:nvPr/>
            </p:nvSpPr>
            <p:spPr>
              <a:xfrm>
                <a:off x="1644784" y="4240696"/>
                <a:ext cx="335559" cy="35535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EED6F99D-4A1D-8B58-3CF7-48AD8321E706}"/>
                  </a:ext>
                </a:extLst>
              </p:cNvPr>
              <p:cNvSpPr/>
              <p:nvPr/>
            </p:nvSpPr>
            <p:spPr>
              <a:xfrm>
                <a:off x="1764462" y="4353194"/>
                <a:ext cx="99004" cy="12018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E9C881C-F31B-512F-271A-0AD52BF2EECC}"/>
                </a:ext>
              </a:extLst>
            </p:cNvPr>
            <p:cNvSpPr txBox="1"/>
            <p:nvPr/>
          </p:nvSpPr>
          <p:spPr>
            <a:xfrm>
              <a:off x="987206" y="3030747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R41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2AB5344-816B-38BD-3122-C7590C0AA23C}"/>
                </a:ext>
              </a:extLst>
            </p:cNvPr>
            <p:cNvSpPr txBox="1"/>
            <p:nvPr/>
          </p:nvSpPr>
          <p:spPr>
            <a:xfrm>
              <a:off x="888433" y="4930100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R21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90E3946-981B-964C-5290-DF1CA79AD74F}"/>
                </a:ext>
              </a:extLst>
            </p:cNvPr>
            <p:cNvSpPr txBox="1"/>
            <p:nvPr/>
          </p:nvSpPr>
          <p:spPr>
            <a:xfrm>
              <a:off x="382868" y="4104559"/>
              <a:ext cx="9071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8B30B218-D750-8F86-79A8-A31F264CEB61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1289989" y="4418371"/>
              <a:ext cx="354795" cy="68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890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55" y="1065854"/>
            <a:ext cx="8255291" cy="7101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四、在图示的双滑块机构中，转动副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处的细线小圆表示摩擦圆，在滑块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上施加有力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驱动滑块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向上运动。试画出图示位置时构件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所受的作用力的方位（不考虑构件的重量及惯性力，移动副处摩擦角为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φ=10°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）。（本题共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457724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图四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06BC5B-6BE8-08FA-5B1E-19C72A0B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501" y="478000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E7C57F-4ADC-5464-46B6-6576B9B64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616" y="2516365"/>
            <a:ext cx="3839767" cy="37786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A97C4C0-763C-49BC-93D7-B64534247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0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20" y="1468525"/>
            <a:ext cx="9630824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五、图示凸轮机构中，滚子推杆与凸轮在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点接触，试用图解法确定： 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、图示位置时凸轮机构的位移和压力角的大小；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、当凸轮从图示位置逆时针转过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90˚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时，推杆在凸轮上的接触点；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、当凸轮从图示位置逆时针转过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90˚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时，推杆位移和压力角的大小。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（注意：直接在图中完成，保留必要的作图线条）。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457724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图五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A2D5A3E-8E64-AB28-8924-F6EEA2679B9F}"/>
              </a:ext>
            </a:extLst>
          </p:cNvPr>
          <p:cNvGrpSpPr>
            <a:grpSpLocks/>
          </p:cNvGrpSpPr>
          <p:nvPr/>
        </p:nvGrpSpPr>
        <p:grpSpPr bwMode="auto">
          <a:xfrm>
            <a:off x="3222653" y="2968021"/>
            <a:ext cx="2254250" cy="3422650"/>
            <a:chOff x="4304" y="8413"/>
            <a:chExt cx="3549" cy="5389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DD5F34E6-94F9-0CA6-AFCD-2270E6732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4" y="12062"/>
              <a:ext cx="3549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A0406EFC-F5D9-0B3B-9409-E03FFD3EA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" y="10522"/>
              <a:ext cx="3" cy="3280"/>
            </a:xfrm>
            <a:custGeom>
              <a:avLst/>
              <a:gdLst>
                <a:gd name="T0" fmla="*/ 0 w 3"/>
                <a:gd name="T1" fmla="*/ 0 h 3280"/>
                <a:gd name="T2" fmla="*/ 3 w 3"/>
                <a:gd name="T3" fmla="*/ 3280 h 3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280">
                  <a:moveTo>
                    <a:pt x="0" y="0"/>
                  </a:moveTo>
                  <a:lnTo>
                    <a:pt x="3" y="3280"/>
                  </a:lnTo>
                </a:path>
              </a:pathLst>
            </a:custGeom>
            <a:solidFill>
              <a:srgbClr val="FFFFFF"/>
            </a:solidFill>
            <a:ln w="15875" cap="flat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947A9261-3CDF-BD95-E444-DA57AFFF0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088"/>
              <a:ext cx="143" cy="14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74710413-0938-07DB-BEF9-8DA7C50E1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229"/>
              <a:ext cx="199" cy="1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96D55E2B-E1C3-B18F-0D18-AF5512CF76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423"/>
              <a:ext cx="199" cy="19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1F726DDD-08A8-E75D-9DB1-C4806F7D4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3" y="11618"/>
              <a:ext cx="95" cy="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1EE08A0-2E50-7E58-E76B-BFDA3908C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0533"/>
              <a:ext cx="3119" cy="3059"/>
            </a:xfrm>
            <a:custGeom>
              <a:avLst/>
              <a:gdLst>
                <a:gd name="T0" fmla="*/ 9351 w 9357"/>
                <a:gd name="T1" fmla="*/ 4355 h 9176"/>
                <a:gd name="T2" fmla="*/ 9303 w 9357"/>
                <a:gd name="T3" fmla="*/ 3892 h 9176"/>
                <a:gd name="T4" fmla="*/ 9208 w 9357"/>
                <a:gd name="T5" fmla="*/ 3437 h 9176"/>
                <a:gd name="T6" fmla="*/ 9066 w 9357"/>
                <a:gd name="T7" fmla="*/ 2995 h 9176"/>
                <a:gd name="T8" fmla="*/ 8879 w 9357"/>
                <a:gd name="T9" fmla="*/ 2567 h 9176"/>
                <a:gd name="T10" fmla="*/ 8649 w 9357"/>
                <a:gd name="T11" fmla="*/ 2161 h 9176"/>
                <a:gd name="T12" fmla="*/ 8378 w 9357"/>
                <a:gd name="T13" fmla="*/ 1779 h 9176"/>
                <a:gd name="T14" fmla="*/ 8070 w 9357"/>
                <a:gd name="T15" fmla="*/ 1427 h 9176"/>
                <a:gd name="T16" fmla="*/ 7725 w 9357"/>
                <a:gd name="T17" fmla="*/ 1106 h 9176"/>
                <a:gd name="T18" fmla="*/ 7352 w 9357"/>
                <a:gd name="T19" fmla="*/ 821 h 9176"/>
                <a:gd name="T20" fmla="*/ 6949 w 9357"/>
                <a:gd name="T21" fmla="*/ 576 h 9176"/>
                <a:gd name="T22" fmla="*/ 6523 w 9357"/>
                <a:gd name="T23" fmla="*/ 370 h 9176"/>
                <a:gd name="T24" fmla="*/ 6079 w 9357"/>
                <a:gd name="T25" fmla="*/ 210 h 9176"/>
                <a:gd name="T26" fmla="*/ 5621 w 9357"/>
                <a:gd name="T27" fmla="*/ 93 h 9176"/>
                <a:gd name="T28" fmla="*/ 5151 w 9357"/>
                <a:gd name="T29" fmla="*/ 23 h 9176"/>
                <a:gd name="T30" fmla="*/ 4678 w 9357"/>
                <a:gd name="T31" fmla="*/ 0 h 9176"/>
                <a:gd name="T32" fmla="*/ 4205 w 9357"/>
                <a:gd name="T33" fmla="*/ 23 h 9176"/>
                <a:gd name="T34" fmla="*/ 3736 w 9357"/>
                <a:gd name="T35" fmla="*/ 93 h 9176"/>
                <a:gd name="T36" fmla="*/ 3277 w 9357"/>
                <a:gd name="T37" fmla="*/ 210 h 9176"/>
                <a:gd name="T38" fmla="*/ 2833 w 9357"/>
                <a:gd name="T39" fmla="*/ 370 h 9176"/>
                <a:gd name="T40" fmla="*/ 2407 w 9357"/>
                <a:gd name="T41" fmla="*/ 576 h 9176"/>
                <a:gd name="T42" fmla="*/ 2005 w 9357"/>
                <a:gd name="T43" fmla="*/ 821 h 9176"/>
                <a:gd name="T44" fmla="*/ 1631 w 9357"/>
                <a:gd name="T45" fmla="*/ 1106 h 9176"/>
                <a:gd name="T46" fmla="*/ 1287 w 9357"/>
                <a:gd name="T47" fmla="*/ 1427 h 9176"/>
                <a:gd name="T48" fmla="*/ 979 w 9357"/>
                <a:gd name="T49" fmla="*/ 1779 h 9176"/>
                <a:gd name="T50" fmla="*/ 708 w 9357"/>
                <a:gd name="T51" fmla="*/ 2161 h 9176"/>
                <a:gd name="T52" fmla="*/ 478 w 9357"/>
                <a:gd name="T53" fmla="*/ 2567 h 9176"/>
                <a:gd name="T54" fmla="*/ 290 w 9357"/>
                <a:gd name="T55" fmla="*/ 2995 h 9176"/>
                <a:gd name="T56" fmla="*/ 149 w 9357"/>
                <a:gd name="T57" fmla="*/ 3437 h 9176"/>
                <a:gd name="T58" fmla="*/ 54 w 9357"/>
                <a:gd name="T59" fmla="*/ 3892 h 9176"/>
                <a:gd name="T60" fmla="*/ 6 w 9357"/>
                <a:gd name="T61" fmla="*/ 4355 h 9176"/>
                <a:gd name="T62" fmla="*/ 6 w 9357"/>
                <a:gd name="T63" fmla="*/ 4821 h 9176"/>
                <a:gd name="T64" fmla="*/ 54 w 9357"/>
                <a:gd name="T65" fmla="*/ 5282 h 9176"/>
                <a:gd name="T66" fmla="*/ 149 w 9357"/>
                <a:gd name="T67" fmla="*/ 5737 h 9176"/>
                <a:gd name="T68" fmla="*/ 290 w 9357"/>
                <a:gd name="T69" fmla="*/ 6181 h 9176"/>
                <a:gd name="T70" fmla="*/ 478 w 9357"/>
                <a:gd name="T71" fmla="*/ 6609 h 9176"/>
                <a:gd name="T72" fmla="*/ 708 w 9357"/>
                <a:gd name="T73" fmla="*/ 7014 h 9176"/>
                <a:gd name="T74" fmla="*/ 979 w 9357"/>
                <a:gd name="T75" fmla="*/ 7397 h 9176"/>
                <a:gd name="T76" fmla="*/ 1287 w 9357"/>
                <a:gd name="T77" fmla="*/ 7749 h 9176"/>
                <a:gd name="T78" fmla="*/ 1631 w 9357"/>
                <a:gd name="T79" fmla="*/ 8070 h 9176"/>
                <a:gd name="T80" fmla="*/ 2005 w 9357"/>
                <a:gd name="T81" fmla="*/ 8354 h 9176"/>
                <a:gd name="T82" fmla="*/ 2407 w 9357"/>
                <a:gd name="T83" fmla="*/ 8600 h 9176"/>
                <a:gd name="T84" fmla="*/ 2833 w 9357"/>
                <a:gd name="T85" fmla="*/ 8804 h 9176"/>
                <a:gd name="T86" fmla="*/ 3277 w 9357"/>
                <a:gd name="T87" fmla="*/ 8966 h 9176"/>
                <a:gd name="T88" fmla="*/ 3736 w 9357"/>
                <a:gd name="T89" fmla="*/ 9083 h 9176"/>
                <a:gd name="T90" fmla="*/ 4205 w 9357"/>
                <a:gd name="T91" fmla="*/ 9153 h 9176"/>
                <a:gd name="T92" fmla="*/ 4678 w 9357"/>
                <a:gd name="T93" fmla="*/ 9176 h 9176"/>
                <a:gd name="T94" fmla="*/ 5151 w 9357"/>
                <a:gd name="T95" fmla="*/ 9153 h 9176"/>
                <a:gd name="T96" fmla="*/ 5621 w 9357"/>
                <a:gd name="T97" fmla="*/ 9083 h 9176"/>
                <a:gd name="T98" fmla="*/ 6079 w 9357"/>
                <a:gd name="T99" fmla="*/ 8966 h 9176"/>
                <a:gd name="T100" fmla="*/ 6523 w 9357"/>
                <a:gd name="T101" fmla="*/ 8804 h 9176"/>
                <a:gd name="T102" fmla="*/ 6949 w 9357"/>
                <a:gd name="T103" fmla="*/ 8600 h 9176"/>
                <a:gd name="T104" fmla="*/ 7352 w 9357"/>
                <a:gd name="T105" fmla="*/ 8354 h 9176"/>
                <a:gd name="T106" fmla="*/ 7725 w 9357"/>
                <a:gd name="T107" fmla="*/ 8070 h 9176"/>
                <a:gd name="T108" fmla="*/ 8070 w 9357"/>
                <a:gd name="T109" fmla="*/ 7749 h 9176"/>
                <a:gd name="T110" fmla="*/ 8378 w 9357"/>
                <a:gd name="T111" fmla="*/ 7397 h 9176"/>
                <a:gd name="T112" fmla="*/ 8649 w 9357"/>
                <a:gd name="T113" fmla="*/ 7014 h 9176"/>
                <a:gd name="T114" fmla="*/ 8879 w 9357"/>
                <a:gd name="T115" fmla="*/ 6609 h 9176"/>
                <a:gd name="T116" fmla="*/ 9066 w 9357"/>
                <a:gd name="T117" fmla="*/ 6181 h 9176"/>
                <a:gd name="T118" fmla="*/ 9208 w 9357"/>
                <a:gd name="T119" fmla="*/ 5737 h 9176"/>
                <a:gd name="T120" fmla="*/ 9303 w 9357"/>
                <a:gd name="T121" fmla="*/ 5282 h 9176"/>
                <a:gd name="T122" fmla="*/ 9351 w 9357"/>
                <a:gd name="T123" fmla="*/ 4821 h 9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357" h="9176">
                  <a:moveTo>
                    <a:pt x="9357" y="4587"/>
                  </a:moveTo>
                  <a:lnTo>
                    <a:pt x="9351" y="4355"/>
                  </a:lnTo>
                  <a:lnTo>
                    <a:pt x="9333" y="4123"/>
                  </a:lnTo>
                  <a:lnTo>
                    <a:pt x="9303" y="3892"/>
                  </a:lnTo>
                  <a:lnTo>
                    <a:pt x="9261" y="3665"/>
                  </a:lnTo>
                  <a:lnTo>
                    <a:pt x="9208" y="3437"/>
                  </a:lnTo>
                  <a:lnTo>
                    <a:pt x="9142" y="3214"/>
                  </a:lnTo>
                  <a:lnTo>
                    <a:pt x="9066" y="2995"/>
                  </a:lnTo>
                  <a:lnTo>
                    <a:pt x="8978" y="2779"/>
                  </a:lnTo>
                  <a:lnTo>
                    <a:pt x="8879" y="2567"/>
                  </a:lnTo>
                  <a:lnTo>
                    <a:pt x="8770" y="2361"/>
                  </a:lnTo>
                  <a:lnTo>
                    <a:pt x="8649" y="2161"/>
                  </a:lnTo>
                  <a:lnTo>
                    <a:pt x="8518" y="1967"/>
                  </a:lnTo>
                  <a:lnTo>
                    <a:pt x="8378" y="1779"/>
                  </a:lnTo>
                  <a:lnTo>
                    <a:pt x="8228" y="1599"/>
                  </a:lnTo>
                  <a:lnTo>
                    <a:pt x="8070" y="1427"/>
                  </a:lnTo>
                  <a:lnTo>
                    <a:pt x="7901" y="1262"/>
                  </a:lnTo>
                  <a:lnTo>
                    <a:pt x="7725" y="1106"/>
                  </a:lnTo>
                  <a:lnTo>
                    <a:pt x="7542" y="958"/>
                  </a:lnTo>
                  <a:lnTo>
                    <a:pt x="7352" y="821"/>
                  </a:lnTo>
                  <a:lnTo>
                    <a:pt x="7153" y="694"/>
                  </a:lnTo>
                  <a:lnTo>
                    <a:pt x="6949" y="576"/>
                  </a:lnTo>
                  <a:lnTo>
                    <a:pt x="6739" y="468"/>
                  </a:lnTo>
                  <a:lnTo>
                    <a:pt x="6523" y="370"/>
                  </a:lnTo>
                  <a:lnTo>
                    <a:pt x="6303" y="284"/>
                  </a:lnTo>
                  <a:lnTo>
                    <a:pt x="6079" y="210"/>
                  </a:lnTo>
                  <a:lnTo>
                    <a:pt x="5851" y="145"/>
                  </a:lnTo>
                  <a:lnTo>
                    <a:pt x="5621" y="93"/>
                  </a:lnTo>
                  <a:lnTo>
                    <a:pt x="5387" y="52"/>
                  </a:lnTo>
                  <a:lnTo>
                    <a:pt x="5151" y="23"/>
                  </a:lnTo>
                  <a:lnTo>
                    <a:pt x="4914" y="5"/>
                  </a:lnTo>
                  <a:lnTo>
                    <a:pt x="4678" y="0"/>
                  </a:lnTo>
                  <a:lnTo>
                    <a:pt x="4441" y="5"/>
                  </a:lnTo>
                  <a:lnTo>
                    <a:pt x="4205" y="23"/>
                  </a:lnTo>
                  <a:lnTo>
                    <a:pt x="3970" y="52"/>
                  </a:lnTo>
                  <a:lnTo>
                    <a:pt x="3736" y="93"/>
                  </a:lnTo>
                  <a:lnTo>
                    <a:pt x="3505" y="145"/>
                  </a:lnTo>
                  <a:lnTo>
                    <a:pt x="3277" y="210"/>
                  </a:lnTo>
                  <a:lnTo>
                    <a:pt x="3054" y="284"/>
                  </a:lnTo>
                  <a:lnTo>
                    <a:pt x="2833" y="370"/>
                  </a:lnTo>
                  <a:lnTo>
                    <a:pt x="2617" y="468"/>
                  </a:lnTo>
                  <a:lnTo>
                    <a:pt x="2407" y="576"/>
                  </a:lnTo>
                  <a:lnTo>
                    <a:pt x="2203" y="694"/>
                  </a:lnTo>
                  <a:lnTo>
                    <a:pt x="2005" y="821"/>
                  </a:lnTo>
                  <a:lnTo>
                    <a:pt x="1814" y="958"/>
                  </a:lnTo>
                  <a:lnTo>
                    <a:pt x="1631" y="1106"/>
                  </a:lnTo>
                  <a:lnTo>
                    <a:pt x="1455" y="1262"/>
                  </a:lnTo>
                  <a:lnTo>
                    <a:pt x="1287" y="1427"/>
                  </a:lnTo>
                  <a:lnTo>
                    <a:pt x="1128" y="1599"/>
                  </a:lnTo>
                  <a:lnTo>
                    <a:pt x="979" y="1779"/>
                  </a:lnTo>
                  <a:lnTo>
                    <a:pt x="839" y="1967"/>
                  </a:lnTo>
                  <a:lnTo>
                    <a:pt x="708" y="2161"/>
                  </a:lnTo>
                  <a:lnTo>
                    <a:pt x="587" y="2361"/>
                  </a:lnTo>
                  <a:lnTo>
                    <a:pt x="478" y="2567"/>
                  </a:lnTo>
                  <a:lnTo>
                    <a:pt x="378" y="2779"/>
                  </a:lnTo>
                  <a:lnTo>
                    <a:pt x="290" y="2995"/>
                  </a:lnTo>
                  <a:lnTo>
                    <a:pt x="214" y="3214"/>
                  </a:lnTo>
                  <a:lnTo>
                    <a:pt x="149" y="3437"/>
                  </a:lnTo>
                  <a:lnTo>
                    <a:pt x="95" y="3665"/>
                  </a:lnTo>
                  <a:lnTo>
                    <a:pt x="54" y="3892"/>
                  </a:lnTo>
                  <a:lnTo>
                    <a:pt x="24" y="4123"/>
                  </a:lnTo>
                  <a:lnTo>
                    <a:pt x="6" y="4355"/>
                  </a:lnTo>
                  <a:lnTo>
                    <a:pt x="0" y="4587"/>
                  </a:lnTo>
                  <a:lnTo>
                    <a:pt x="6" y="4821"/>
                  </a:lnTo>
                  <a:lnTo>
                    <a:pt x="24" y="5051"/>
                  </a:lnTo>
                  <a:lnTo>
                    <a:pt x="54" y="5282"/>
                  </a:lnTo>
                  <a:lnTo>
                    <a:pt x="95" y="5511"/>
                  </a:lnTo>
                  <a:lnTo>
                    <a:pt x="149" y="5737"/>
                  </a:lnTo>
                  <a:lnTo>
                    <a:pt x="214" y="5962"/>
                  </a:lnTo>
                  <a:lnTo>
                    <a:pt x="290" y="6181"/>
                  </a:lnTo>
                  <a:lnTo>
                    <a:pt x="378" y="6397"/>
                  </a:lnTo>
                  <a:lnTo>
                    <a:pt x="478" y="6609"/>
                  </a:lnTo>
                  <a:lnTo>
                    <a:pt x="587" y="6814"/>
                  </a:lnTo>
                  <a:lnTo>
                    <a:pt x="708" y="7014"/>
                  </a:lnTo>
                  <a:lnTo>
                    <a:pt x="839" y="7209"/>
                  </a:lnTo>
                  <a:lnTo>
                    <a:pt x="979" y="7397"/>
                  </a:lnTo>
                  <a:lnTo>
                    <a:pt x="1128" y="7576"/>
                  </a:lnTo>
                  <a:lnTo>
                    <a:pt x="1287" y="7749"/>
                  </a:lnTo>
                  <a:lnTo>
                    <a:pt x="1455" y="7913"/>
                  </a:lnTo>
                  <a:lnTo>
                    <a:pt x="1631" y="8070"/>
                  </a:lnTo>
                  <a:lnTo>
                    <a:pt x="1814" y="8216"/>
                  </a:lnTo>
                  <a:lnTo>
                    <a:pt x="2005" y="8354"/>
                  </a:lnTo>
                  <a:lnTo>
                    <a:pt x="2203" y="8481"/>
                  </a:lnTo>
                  <a:lnTo>
                    <a:pt x="2407" y="8600"/>
                  </a:lnTo>
                  <a:lnTo>
                    <a:pt x="2617" y="8708"/>
                  </a:lnTo>
                  <a:lnTo>
                    <a:pt x="2833" y="8804"/>
                  </a:lnTo>
                  <a:lnTo>
                    <a:pt x="3054" y="8890"/>
                  </a:lnTo>
                  <a:lnTo>
                    <a:pt x="3277" y="8966"/>
                  </a:lnTo>
                  <a:lnTo>
                    <a:pt x="3505" y="9030"/>
                  </a:lnTo>
                  <a:lnTo>
                    <a:pt x="3736" y="9083"/>
                  </a:lnTo>
                  <a:lnTo>
                    <a:pt x="3970" y="9124"/>
                  </a:lnTo>
                  <a:lnTo>
                    <a:pt x="4205" y="9153"/>
                  </a:lnTo>
                  <a:lnTo>
                    <a:pt x="4441" y="9170"/>
                  </a:lnTo>
                  <a:lnTo>
                    <a:pt x="4678" y="9176"/>
                  </a:lnTo>
                  <a:lnTo>
                    <a:pt x="4914" y="9170"/>
                  </a:lnTo>
                  <a:lnTo>
                    <a:pt x="5151" y="9153"/>
                  </a:lnTo>
                  <a:lnTo>
                    <a:pt x="5387" y="9124"/>
                  </a:lnTo>
                  <a:lnTo>
                    <a:pt x="5621" y="9083"/>
                  </a:lnTo>
                  <a:lnTo>
                    <a:pt x="5851" y="9030"/>
                  </a:lnTo>
                  <a:lnTo>
                    <a:pt x="6079" y="8966"/>
                  </a:lnTo>
                  <a:lnTo>
                    <a:pt x="6303" y="8890"/>
                  </a:lnTo>
                  <a:lnTo>
                    <a:pt x="6523" y="8804"/>
                  </a:lnTo>
                  <a:lnTo>
                    <a:pt x="6739" y="8708"/>
                  </a:lnTo>
                  <a:lnTo>
                    <a:pt x="6949" y="8600"/>
                  </a:lnTo>
                  <a:lnTo>
                    <a:pt x="7153" y="8481"/>
                  </a:lnTo>
                  <a:lnTo>
                    <a:pt x="7352" y="8354"/>
                  </a:lnTo>
                  <a:lnTo>
                    <a:pt x="7542" y="8216"/>
                  </a:lnTo>
                  <a:lnTo>
                    <a:pt x="7725" y="8070"/>
                  </a:lnTo>
                  <a:lnTo>
                    <a:pt x="7901" y="7913"/>
                  </a:lnTo>
                  <a:lnTo>
                    <a:pt x="8070" y="7749"/>
                  </a:lnTo>
                  <a:lnTo>
                    <a:pt x="8228" y="7576"/>
                  </a:lnTo>
                  <a:lnTo>
                    <a:pt x="8378" y="7397"/>
                  </a:lnTo>
                  <a:lnTo>
                    <a:pt x="8518" y="7209"/>
                  </a:lnTo>
                  <a:lnTo>
                    <a:pt x="8649" y="7014"/>
                  </a:lnTo>
                  <a:lnTo>
                    <a:pt x="8770" y="6814"/>
                  </a:lnTo>
                  <a:lnTo>
                    <a:pt x="8879" y="6609"/>
                  </a:lnTo>
                  <a:lnTo>
                    <a:pt x="8978" y="6397"/>
                  </a:lnTo>
                  <a:lnTo>
                    <a:pt x="9066" y="6181"/>
                  </a:lnTo>
                  <a:lnTo>
                    <a:pt x="9142" y="5962"/>
                  </a:lnTo>
                  <a:lnTo>
                    <a:pt x="9208" y="5737"/>
                  </a:lnTo>
                  <a:lnTo>
                    <a:pt x="9261" y="5511"/>
                  </a:lnTo>
                  <a:lnTo>
                    <a:pt x="9303" y="5282"/>
                  </a:lnTo>
                  <a:lnTo>
                    <a:pt x="9333" y="5051"/>
                  </a:lnTo>
                  <a:lnTo>
                    <a:pt x="9351" y="4821"/>
                  </a:lnTo>
                  <a:lnTo>
                    <a:pt x="9357" y="4587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3F0DF24-CD04-6EEE-BCFB-5AB37D218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" y="11302"/>
              <a:ext cx="198" cy="195"/>
            </a:xfrm>
            <a:custGeom>
              <a:avLst/>
              <a:gdLst>
                <a:gd name="T0" fmla="*/ 596 w 596"/>
                <a:gd name="T1" fmla="*/ 292 h 584"/>
                <a:gd name="T2" fmla="*/ 590 w 596"/>
                <a:gd name="T3" fmla="*/ 235 h 584"/>
                <a:gd name="T4" fmla="*/ 572 w 596"/>
                <a:gd name="T5" fmla="*/ 181 h 584"/>
                <a:gd name="T6" fmla="*/ 545 w 596"/>
                <a:gd name="T7" fmla="*/ 130 h 584"/>
                <a:gd name="T8" fmla="*/ 508 w 596"/>
                <a:gd name="T9" fmla="*/ 86 h 584"/>
                <a:gd name="T10" fmla="*/ 463 w 596"/>
                <a:gd name="T11" fmla="*/ 50 h 584"/>
                <a:gd name="T12" fmla="*/ 411 w 596"/>
                <a:gd name="T13" fmla="*/ 23 h 584"/>
                <a:gd name="T14" fmla="*/ 356 w 596"/>
                <a:gd name="T15" fmla="*/ 6 h 584"/>
                <a:gd name="T16" fmla="*/ 298 w 596"/>
                <a:gd name="T17" fmla="*/ 0 h 584"/>
                <a:gd name="T18" fmla="*/ 240 w 596"/>
                <a:gd name="T19" fmla="*/ 6 h 584"/>
                <a:gd name="T20" fmla="*/ 183 w 596"/>
                <a:gd name="T21" fmla="*/ 23 h 584"/>
                <a:gd name="T22" fmla="*/ 133 w 596"/>
                <a:gd name="T23" fmla="*/ 50 h 584"/>
                <a:gd name="T24" fmla="*/ 88 w 596"/>
                <a:gd name="T25" fmla="*/ 86 h 584"/>
                <a:gd name="T26" fmla="*/ 51 w 596"/>
                <a:gd name="T27" fmla="*/ 130 h 584"/>
                <a:gd name="T28" fmla="*/ 22 w 596"/>
                <a:gd name="T29" fmla="*/ 181 h 584"/>
                <a:gd name="T30" fmla="*/ 6 w 596"/>
                <a:gd name="T31" fmla="*/ 235 h 584"/>
                <a:gd name="T32" fmla="*/ 0 w 596"/>
                <a:gd name="T33" fmla="*/ 292 h 584"/>
                <a:gd name="T34" fmla="*/ 6 w 596"/>
                <a:gd name="T35" fmla="*/ 349 h 584"/>
                <a:gd name="T36" fmla="*/ 22 w 596"/>
                <a:gd name="T37" fmla="*/ 404 h 584"/>
                <a:gd name="T38" fmla="*/ 51 w 596"/>
                <a:gd name="T39" fmla="*/ 454 h 584"/>
                <a:gd name="T40" fmla="*/ 88 w 596"/>
                <a:gd name="T41" fmla="*/ 499 h 584"/>
                <a:gd name="T42" fmla="*/ 133 w 596"/>
                <a:gd name="T43" fmla="*/ 534 h 584"/>
                <a:gd name="T44" fmla="*/ 183 w 596"/>
                <a:gd name="T45" fmla="*/ 562 h 584"/>
                <a:gd name="T46" fmla="*/ 240 w 596"/>
                <a:gd name="T47" fmla="*/ 578 h 584"/>
                <a:gd name="T48" fmla="*/ 298 w 596"/>
                <a:gd name="T49" fmla="*/ 584 h 584"/>
                <a:gd name="T50" fmla="*/ 356 w 596"/>
                <a:gd name="T51" fmla="*/ 578 h 584"/>
                <a:gd name="T52" fmla="*/ 411 w 596"/>
                <a:gd name="T53" fmla="*/ 562 h 584"/>
                <a:gd name="T54" fmla="*/ 463 w 596"/>
                <a:gd name="T55" fmla="*/ 534 h 584"/>
                <a:gd name="T56" fmla="*/ 508 w 596"/>
                <a:gd name="T57" fmla="*/ 499 h 584"/>
                <a:gd name="T58" fmla="*/ 545 w 596"/>
                <a:gd name="T59" fmla="*/ 454 h 584"/>
                <a:gd name="T60" fmla="*/ 572 w 596"/>
                <a:gd name="T61" fmla="*/ 404 h 584"/>
                <a:gd name="T62" fmla="*/ 590 w 596"/>
                <a:gd name="T63" fmla="*/ 349 h 584"/>
                <a:gd name="T64" fmla="*/ 596 w 596"/>
                <a:gd name="T65" fmla="*/ 29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6" h="584">
                  <a:moveTo>
                    <a:pt x="596" y="292"/>
                  </a:moveTo>
                  <a:lnTo>
                    <a:pt x="590" y="235"/>
                  </a:lnTo>
                  <a:lnTo>
                    <a:pt x="572" y="181"/>
                  </a:lnTo>
                  <a:lnTo>
                    <a:pt x="545" y="130"/>
                  </a:lnTo>
                  <a:lnTo>
                    <a:pt x="508" y="86"/>
                  </a:lnTo>
                  <a:lnTo>
                    <a:pt x="463" y="50"/>
                  </a:lnTo>
                  <a:lnTo>
                    <a:pt x="411" y="23"/>
                  </a:lnTo>
                  <a:lnTo>
                    <a:pt x="356" y="6"/>
                  </a:lnTo>
                  <a:lnTo>
                    <a:pt x="298" y="0"/>
                  </a:lnTo>
                  <a:lnTo>
                    <a:pt x="240" y="6"/>
                  </a:lnTo>
                  <a:lnTo>
                    <a:pt x="183" y="23"/>
                  </a:lnTo>
                  <a:lnTo>
                    <a:pt x="133" y="50"/>
                  </a:lnTo>
                  <a:lnTo>
                    <a:pt x="88" y="86"/>
                  </a:lnTo>
                  <a:lnTo>
                    <a:pt x="51" y="130"/>
                  </a:lnTo>
                  <a:lnTo>
                    <a:pt x="22" y="181"/>
                  </a:lnTo>
                  <a:lnTo>
                    <a:pt x="6" y="235"/>
                  </a:lnTo>
                  <a:lnTo>
                    <a:pt x="0" y="292"/>
                  </a:lnTo>
                  <a:lnTo>
                    <a:pt x="6" y="349"/>
                  </a:lnTo>
                  <a:lnTo>
                    <a:pt x="22" y="404"/>
                  </a:lnTo>
                  <a:lnTo>
                    <a:pt x="51" y="454"/>
                  </a:lnTo>
                  <a:lnTo>
                    <a:pt x="88" y="499"/>
                  </a:lnTo>
                  <a:lnTo>
                    <a:pt x="133" y="534"/>
                  </a:lnTo>
                  <a:lnTo>
                    <a:pt x="183" y="562"/>
                  </a:lnTo>
                  <a:lnTo>
                    <a:pt x="240" y="578"/>
                  </a:lnTo>
                  <a:lnTo>
                    <a:pt x="298" y="584"/>
                  </a:lnTo>
                  <a:lnTo>
                    <a:pt x="356" y="578"/>
                  </a:lnTo>
                  <a:lnTo>
                    <a:pt x="411" y="562"/>
                  </a:lnTo>
                  <a:lnTo>
                    <a:pt x="463" y="534"/>
                  </a:lnTo>
                  <a:lnTo>
                    <a:pt x="508" y="499"/>
                  </a:lnTo>
                  <a:lnTo>
                    <a:pt x="545" y="454"/>
                  </a:lnTo>
                  <a:lnTo>
                    <a:pt x="572" y="404"/>
                  </a:lnTo>
                  <a:lnTo>
                    <a:pt x="590" y="349"/>
                  </a:lnTo>
                  <a:lnTo>
                    <a:pt x="596" y="292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23F1ABEB-5E09-9494-06C1-E65551FF72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38" y="11136"/>
              <a:ext cx="241" cy="2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12B8B198-4CBD-44ED-734F-B76A5D6B9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8" y="11088"/>
              <a:ext cx="0" cy="62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1751EDCB-0563-2595-A5D6-8EFA9BB25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8" y="11462"/>
              <a:ext cx="241" cy="2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BAAB195-65DF-6F7A-CE90-D5BBDBA61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5" y="9735"/>
              <a:ext cx="793" cy="777"/>
            </a:xfrm>
            <a:custGeom>
              <a:avLst/>
              <a:gdLst>
                <a:gd name="T0" fmla="*/ 2371 w 2377"/>
                <a:gd name="T1" fmla="*/ 1052 h 2332"/>
                <a:gd name="T2" fmla="*/ 2327 w 2377"/>
                <a:gd name="T3" fmla="*/ 828 h 2332"/>
                <a:gd name="T4" fmla="*/ 2237 w 2377"/>
                <a:gd name="T5" fmla="*/ 616 h 2332"/>
                <a:gd name="T6" fmla="*/ 2108 w 2377"/>
                <a:gd name="T7" fmla="*/ 426 h 2332"/>
                <a:gd name="T8" fmla="*/ 1942 w 2377"/>
                <a:gd name="T9" fmla="*/ 266 h 2332"/>
                <a:gd name="T10" fmla="*/ 1749 w 2377"/>
                <a:gd name="T11" fmla="*/ 139 h 2332"/>
                <a:gd name="T12" fmla="*/ 1534 w 2377"/>
                <a:gd name="T13" fmla="*/ 51 h 2332"/>
                <a:gd name="T14" fmla="*/ 1305 w 2377"/>
                <a:gd name="T15" fmla="*/ 6 h 2332"/>
                <a:gd name="T16" fmla="*/ 1072 w 2377"/>
                <a:gd name="T17" fmla="*/ 6 h 2332"/>
                <a:gd name="T18" fmla="*/ 844 w 2377"/>
                <a:gd name="T19" fmla="*/ 51 h 2332"/>
                <a:gd name="T20" fmla="*/ 628 w 2377"/>
                <a:gd name="T21" fmla="*/ 139 h 2332"/>
                <a:gd name="T22" fmla="*/ 435 w 2377"/>
                <a:gd name="T23" fmla="*/ 266 h 2332"/>
                <a:gd name="T24" fmla="*/ 269 w 2377"/>
                <a:gd name="T25" fmla="*/ 426 h 2332"/>
                <a:gd name="T26" fmla="*/ 140 w 2377"/>
                <a:gd name="T27" fmla="*/ 616 h 2332"/>
                <a:gd name="T28" fmla="*/ 52 w 2377"/>
                <a:gd name="T29" fmla="*/ 828 h 2332"/>
                <a:gd name="T30" fmla="*/ 6 w 2377"/>
                <a:gd name="T31" fmla="*/ 1052 h 2332"/>
                <a:gd name="T32" fmla="*/ 6 w 2377"/>
                <a:gd name="T33" fmla="*/ 1280 h 2332"/>
                <a:gd name="T34" fmla="*/ 52 w 2377"/>
                <a:gd name="T35" fmla="*/ 1505 h 2332"/>
                <a:gd name="T36" fmla="*/ 140 w 2377"/>
                <a:gd name="T37" fmla="*/ 1717 h 2332"/>
                <a:gd name="T38" fmla="*/ 269 w 2377"/>
                <a:gd name="T39" fmla="*/ 1906 h 2332"/>
                <a:gd name="T40" fmla="*/ 435 w 2377"/>
                <a:gd name="T41" fmla="*/ 2068 h 2332"/>
                <a:gd name="T42" fmla="*/ 628 w 2377"/>
                <a:gd name="T43" fmla="*/ 2195 h 2332"/>
                <a:gd name="T44" fmla="*/ 844 w 2377"/>
                <a:gd name="T45" fmla="*/ 2281 h 2332"/>
                <a:gd name="T46" fmla="*/ 1072 w 2377"/>
                <a:gd name="T47" fmla="*/ 2327 h 2332"/>
                <a:gd name="T48" fmla="*/ 1305 w 2377"/>
                <a:gd name="T49" fmla="*/ 2327 h 2332"/>
                <a:gd name="T50" fmla="*/ 1534 w 2377"/>
                <a:gd name="T51" fmla="*/ 2281 h 2332"/>
                <a:gd name="T52" fmla="*/ 1749 w 2377"/>
                <a:gd name="T53" fmla="*/ 2195 h 2332"/>
                <a:gd name="T54" fmla="*/ 1942 w 2377"/>
                <a:gd name="T55" fmla="*/ 2068 h 2332"/>
                <a:gd name="T56" fmla="*/ 2108 w 2377"/>
                <a:gd name="T57" fmla="*/ 1906 h 2332"/>
                <a:gd name="T58" fmla="*/ 2237 w 2377"/>
                <a:gd name="T59" fmla="*/ 1717 h 2332"/>
                <a:gd name="T60" fmla="*/ 2327 w 2377"/>
                <a:gd name="T61" fmla="*/ 1505 h 2332"/>
                <a:gd name="T62" fmla="*/ 2371 w 2377"/>
                <a:gd name="T63" fmla="*/ 1280 h 2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7" h="2332">
                  <a:moveTo>
                    <a:pt x="2377" y="1166"/>
                  </a:moveTo>
                  <a:lnTo>
                    <a:pt x="2371" y="1052"/>
                  </a:lnTo>
                  <a:lnTo>
                    <a:pt x="2355" y="939"/>
                  </a:lnTo>
                  <a:lnTo>
                    <a:pt x="2327" y="828"/>
                  </a:lnTo>
                  <a:lnTo>
                    <a:pt x="2286" y="720"/>
                  </a:lnTo>
                  <a:lnTo>
                    <a:pt x="2237" y="616"/>
                  </a:lnTo>
                  <a:lnTo>
                    <a:pt x="2178" y="518"/>
                  </a:lnTo>
                  <a:lnTo>
                    <a:pt x="2108" y="426"/>
                  </a:lnTo>
                  <a:lnTo>
                    <a:pt x="2029" y="342"/>
                  </a:lnTo>
                  <a:lnTo>
                    <a:pt x="1942" y="266"/>
                  </a:lnTo>
                  <a:lnTo>
                    <a:pt x="1850" y="197"/>
                  </a:lnTo>
                  <a:lnTo>
                    <a:pt x="1749" y="139"/>
                  </a:lnTo>
                  <a:lnTo>
                    <a:pt x="1644" y="89"/>
                  </a:lnTo>
                  <a:lnTo>
                    <a:pt x="1534" y="51"/>
                  </a:lnTo>
                  <a:lnTo>
                    <a:pt x="1421" y="23"/>
                  </a:lnTo>
                  <a:lnTo>
                    <a:pt x="1305" y="6"/>
                  </a:lnTo>
                  <a:lnTo>
                    <a:pt x="1189" y="0"/>
                  </a:lnTo>
                  <a:lnTo>
                    <a:pt x="1072" y="6"/>
                  </a:lnTo>
                  <a:lnTo>
                    <a:pt x="956" y="23"/>
                  </a:lnTo>
                  <a:lnTo>
                    <a:pt x="844" y="51"/>
                  </a:lnTo>
                  <a:lnTo>
                    <a:pt x="734" y="89"/>
                  </a:lnTo>
                  <a:lnTo>
                    <a:pt x="628" y="139"/>
                  </a:lnTo>
                  <a:lnTo>
                    <a:pt x="529" y="197"/>
                  </a:lnTo>
                  <a:lnTo>
                    <a:pt x="435" y="266"/>
                  </a:lnTo>
                  <a:lnTo>
                    <a:pt x="348" y="342"/>
                  </a:lnTo>
                  <a:lnTo>
                    <a:pt x="269" y="426"/>
                  </a:lnTo>
                  <a:lnTo>
                    <a:pt x="201" y="518"/>
                  </a:lnTo>
                  <a:lnTo>
                    <a:pt x="140" y="616"/>
                  </a:lnTo>
                  <a:lnTo>
                    <a:pt x="91" y="720"/>
                  </a:lnTo>
                  <a:lnTo>
                    <a:pt x="52" y="828"/>
                  </a:lnTo>
                  <a:lnTo>
                    <a:pt x="22" y="939"/>
                  </a:lnTo>
                  <a:lnTo>
                    <a:pt x="6" y="1052"/>
                  </a:lnTo>
                  <a:lnTo>
                    <a:pt x="0" y="1166"/>
                  </a:lnTo>
                  <a:lnTo>
                    <a:pt x="6" y="1280"/>
                  </a:lnTo>
                  <a:lnTo>
                    <a:pt x="22" y="1394"/>
                  </a:lnTo>
                  <a:lnTo>
                    <a:pt x="52" y="1505"/>
                  </a:lnTo>
                  <a:lnTo>
                    <a:pt x="91" y="1613"/>
                  </a:lnTo>
                  <a:lnTo>
                    <a:pt x="140" y="1717"/>
                  </a:lnTo>
                  <a:lnTo>
                    <a:pt x="201" y="1814"/>
                  </a:lnTo>
                  <a:lnTo>
                    <a:pt x="269" y="1906"/>
                  </a:lnTo>
                  <a:lnTo>
                    <a:pt x="348" y="1991"/>
                  </a:lnTo>
                  <a:lnTo>
                    <a:pt x="435" y="2068"/>
                  </a:lnTo>
                  <a:lnTo>
                    <a:pt x="529" y="2135"/>
                  </a:lnTo>
                  <a:lnTo>
                    <a:pt x="628" y="2195"/>
                  </a:lnTo>
                  <a:lnTo>
                    <a:pt x="734" y="2243"/>
                  </a:lnTo>
                  <a:lnTo>
                    <a:pt x="844" y="2281"/>
                  </a:lnTo>
                  <a:lnTo>
                    <a:pt x="956" y="2309"/>
                  </a:lnTo>
                  <a:lnTo>
                    <a:pt x="1072" y="2327"/>
                  </a:lnTo>
                  <a:lnTo>
                    <a:pt x="1189" y="2332"/>
                  </a:lnTo>
                  <a:lnTo>
                    <a:pt x="1305" y="2327"/>
                  </a:lnTo>
                  <a:lnTo>
                    <a:pt x="1421" y="2309"/>
                  </a:lnTo>
                  <a:lnTo>
                    <a:pt x="1534" y="2281"/>
                  </a:lnTo>
                  <a:lnTo>
                    <a:pt x="1644" y="2243"/>
                  </a:lnTo>
                  <a:lnTo>
                    <a:pt x="1749" y="2195"/>
                  </a:lnTo>
                  <a:lnTo>
                    <a:pt x="1850" y="2135"/>
                  </a:lnTo>
                  <a:lnTo>
                    <a:pt x="1942" y="2068"/>
                  </a:lnTo>
                  <a:lnTo>
                    <a:pt x="2029" y="1991"/>
                  </a:lnTo>
                  <a:lnTo>
                    <a:pt x="2108" y="1906"/>
                  </a:lnTo>
                  <a:lnTo>
                    <a:pt x="2178" y="1814"/>
                  </a:lnTo>
                  <a:lnTo>
                    <a:pt x="2237" y="1717"/>
                  </a:lnTo>
                  <a:lnTo>
                    <a:pt x="2286" y="1613"/>
                  </a:lnTo>
                  <a:lnTo>
                    <a:pt x="2327" y="1505"/>
                  </a:lnTo>
                  <a:lnTo>
                    <a:pt x="2355" y="1394"/>
                  </a:lnTo>
                  <a:lnTo>
                    <a:pt x="2371" y="1280"/>
                  </a:lnTo>
                  <a:lnTo>
                    <a:pt x="2377" y="1166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71845CDD-CC53-2ADE-076A-83E7DFA13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" y="10026"/>
              <a:ext cx="199" cy="195"/>
            </a:xfrm>
            <a:custGeom>
              <a:avLst/>
              <a:gdLst>
                <a:gd name="T0" fmla="*/ 595 w 595"/>
                <a:gd name="T1" fmla="*/ 292 h 584"/>
                <a:gd name="T2" fmla="*/ 589 w 595"/>
                <a:gd name="T3" fmla="*/ 235 h 584"/>
                <a:gd name="T4" fmla="*/ 573 w 595"/>
                <a:gd name="T5" fmla="*/ 181 h 584"/>
                <a:gd name="T6" fmla="*/ 545 w 595"/>
                <a:gd name="T7" fmla="*/ 130 h 584"/>
                <a:gd name="T8" fmla="*/ 508 w 595"/>
                <a:gd name="T9" fmla="*/ 86 h 584"/>
                <a:gd name="T10" fmla="*/ 463 w 595"/>
                <a:gd name="T11" fmla="*/ 50 h 584"/>
                <a:gd name="T12" fmla="*/ 412 w 595"/>
                <a:gd name="T13" fmla="*/ 22 h 584"/>
                <a:gd name="T14" fmla="*/ 356 w 595"/>
                <a:gd name="T15" fmla="*/ 6 h 584"/>
                <a:gd name="T16" fmla="*/ 298 w 595"/>
                <a:gd name="T17" fmla="*/ 0 h 584"/>
                <a:gd name="T18" fmla="*/ 239 w 595"/>
                <a:gd name="T19" fmla="*/ 6 h 584"/>
                <a:gd name="T20" fmla="*/ 184 w 595"/>
                <a:gd name="T21" fmla="*/ 22 h 584"/>
                <a:gd name="T22" fmla="*/ 132 w 595"/>
                <a:gd name="T23" fmla="*/ 50 h 584"/>
                <a:gd name="T24" fmla="*/ 87 w 595"/>
                <a:gd name="T25" fmla="*/ 86 h 584"/>
                <a:gd name="T26" fmla="*/ 50 w 595"/>
                <a:gd name="T27" fmla="*/ 130 h 584"/>
                <a:gd name="T28" fmla="*/ 23 w 595"/>
                <a:gd name="T29" fmla="*/ 181 h 584"/>
                <a:gd name="T30" fmla="*/ 6 w 595"/>
                <a:gd name="T31" fmla="*/ 235 h 584"/>
                <a:gd name="T32" fmla="*/ 0 w 595"/>
                <a:gd name="T33" fmla="*/ 292 h 584"/>
                <a:gd name="T34" fmla="*/ 6 w 595"/>
                <a:gd name="T35" fmla="*/ 349 h 584"/>
                <a:gd name="T36" fmla="*/ 23 w 595"/>
                <a:gd name="T37" fmla="*/ 405 h 584"/>
                <a:gd name="T38" fmla="*/ 50 w 595"/>
                <a:gd name="T39" fmla="*/ 454 h 584"/>
                <a:gd name="T40" fmla="*/ 87 w 595"/>
                <a:gd name="T41" fmla="*/ 498 h 584"/>
                <a:gd name="T42" fmla="*/ 132 w 595"/>
                <a:gd name="T43" fmla="*/ 535 h 584"/>
                <a:gd name="T44" fmla="*/ 184 w 595"/>
                <a:gd name="T45" fmla="*/ 562 h 584"/>
                <a:gd name="T46" fmla="*/ 239 w 595"/>
                <a:gd name="T47" fmla="*/ 578 h 584"/>
                <a:gd name="T48" fmla="*/ 298 w 595"/>
                <a:gd name="T49" fmla="*/ 584 h 584"/>
                <a:gd name="T50" fmla="*/ 356 w 595"/>
                <a:gd name="T51" fmla="*/ 578 h 584"/>
                <a:gd name="T52" fmla="*/ 412 w 595"/>
                <a:gd name="T53" fmla="*/ 562 h 584"/>
                <a:gd name="T54" fmla="*/ 463 w 595"/>
                <a:gd name="T55" fmla="*/ 535 h 584"/>
                <a:gd name="T56" fmla="*/ 508 w 595"/>
                <a:gd name="T57" fmla="*/ 498 h 584"/>
                <a:gd name="T58" fmla="*/ 545 w 595"/>
                <a:gd name="T59" fmla="*/ 454 h 584"/>
                <a:gd name="T60" fmla="*/ 573 w 595"/>
                <a:gd name="T61" fmla="*/ 405 h 584"/>
                <a:gd name="T62" fmla="*/ 589 w 595"/>
                <a:gd name="T63" fmla="*/ 349 h 584"/>
                <a:gd name="T64" fmla="*/ 595 w 595"/>
                <a:gd name="T65" fmla="*/ 29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5" h="584">
                  <a:moveTo>
                    <a:pt x="595" y="292"/>
                  </a:moveTo>
                  <a:lnTo>
                    <a:pt x="589" y="235"/>
                  </a:lnTo>
                  <a:lnTo>
                    <a:pt x="573" y="181"/>
                  </a:lnTo>
                  <a:lnTo>
                    <a:pt x="545" y="130"/>
                  </a:lnTo>
                  <a:lnTo>
                    <a:pt x="508" y="86"/>
                  </a:lnTo>
                  <a:lnTo>
                    <a:pt x="463" y="50"/>
                  </a:lnTo>
                  <a:lnTo>
                    <a:pt x="412" y="22"/>
                  </a:lnTo>
                  <a:lnTo>
                    <a:pt x="356" y="6"/>
                  </a:lnTo>
                  <a:lnTo>
                    <a:pt x="298" y="0"/>
                  </a:lnTo>
                  <a:lnTo>
                    <a:pt x="239" y="6"/>
                  </a:lnTo>
                  <a:lnTo>
                    <a:pt x="184" y="22"/>
                  </a:lnTo>
                  <a:lnTo>
                    <a:pt x="132" y="50"/>
                  </a:lnTo>
                  <a:lnTo>
                    <a:pt x="87" y="86"/>
                  </a:lnTo>
                  <a:lnTo>
                    <a:pt x="50" y="130"/>
                  </a:lnTo>
                  <a:lnTo>
                    <a:pt x="23" y="181"/>
                  </a:lnTo>
                  <a:lnTo>
                    <a:pt x="6" y="235"/>
                  </a:lnTo>
                  <a:lnTo>
                    <a:pt x="0" y="292"/>
                  </a:lnTo>
                  <a:lnTo>
                    <a:pt x="6" y="349"/>
                  </a:lnTo>
                  <a:lnTo>
                    <a:pt x="23" y="405"/>
                  </a:lnTo>
                  <a:lnTo>
                    <a:pt x="50" y="454"/>
                  </a:lnTo>
                  <a:lnTo>
                    <a:pt x="87" y="498"/>
                  </a:lnTo>
                  <a:lnTo>
                    <a:pt x="132" y="535"/>
                  </a:lnTo>
                  <a:lnTo>
                    <a:pt x="184" y="562"/>
                  </a:lnTo>
                  <a:lnTo>
                    <a:pt x="239" y="578"/>
                  </a:lnTo>
                  <a:lnTo>
                    <a:pt x="298" y="584"/>
                  </a:lnTo>
                  <a:lnTo>
                    <a:pt x="356" y="578"/>
                  </a:lnTo>
                  <a:lnTo>
                    <a:pt x="412" y="562"/>
                  </a:lnTo>
                  <a:lnTo>
                    <a:pt x="463" y="535"/>
                  </a:lnTo>
                  <a:lnTo>
                    <a:pt x="508" y="498"/>
                  </a:lnTo>
                  <a:lnTo>
                    <a:pt x="545" y="454"/>
                  </a:lnTo>
                  <a:lnTo>
                    <a:pt x="573" y="405"/>
                  </a:lnTo>
                  <a:lnTo>
                    <a:pt x="589" y="349"/>
                  </a:lnTo>
                  <a:lnTo>
                    <a:pt x="595" y="292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BF8E9379-7E11-DE94-3C93-4A6814102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82" y="8413"/>
              <a:ext cx="1" cy="16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B624E3DD-B6A5-6181-8231-BF0041CCD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793"/>
              <a:ext cx="76" cy="7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C20791D2-7A6B-E7FC-4FF2-16C1AB24A1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797"/>
              <a:ext cx="171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BBCAC7EE-0F3D-E537-6847-136B5254D1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894"/>
              <a:ext cx="171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1F808050-7388-7340-C84F-A9CA682D6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9" y="8992"/>
              <a:ext cx="165" cy="16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0DB291BC-A8FB-C3F7-B4AA-14BE62634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793"/>
              <a:ext cx="81" cy="7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31E9AD79-4A5F-3462-706B-B63A9D953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58" y="9089"/>
              <a:ext cx="66" cy="6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956E7D53-50C1-0897-498D-ED337072D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802"/>
              <a:ext cx="170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75946C34-F598-EAA9-694E-D3B06258C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08" y="9138"/>
              <a:ext cx="16" cy="1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141EF396-13E8-9AA1-1A36-797F90A73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900"/>
              <a:ext cx="170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C98FCC2C-3BE5-5789-1CFD-4DC7C07E1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57" y="8997"/>
              <a:ext cx="159" cy="15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E15A5D00-071C-D9F6-6FB5-E90FDB3A7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56" y="9094"/>
              <a:ext cx="60" cy="5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227A97D4-3809-DF56-E03B-D5B20B2C3C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6" y="9153"/>
              <a:ext cx="17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F052FA37-9F89-2F15-61D2-E7FBDBE46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6" y="8793"/>
              <a:ext cx="1" cy="3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47545B46-98D4-39ED-C8CE-E15662792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6" y="8793"/>
              <a:ext cx="17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EA66BC96-728C-023F-C96B-DA2A95E77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" y="9153"/>
              <a:ext cx="17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Line 32">
              <a:extLst>
                <a:ext uri="{FF2B5EF4-FFF2-40B4-BE49-F238E27FC236}">
                  <a16:creationId xmlns:a16="http://schemas.microsoft.com/office/drawing/2014/main" id="{B5FC2D13-727E-97E1-2B1A-D56BCC5E4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4" y="8793"/>
              <a:ext cx="1" cy="3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Line 33">
              <a:extLst>
                <a:ext uri="{FF2B5EF4-FFF2-40B4-BE49-F238E27FC236}">
                  <a16:creationId xmlns:a16="http://schemas.microsoft.com/office/drawing/2014/main" id="{0A5BF3F4-4BEC-4F30-AD58-44F202D68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" y="8793"/>
              <a:ext cx="17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A1366D6A-CA58-9FDB-F9AD-C5566D649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4"/>
              <a:ext cx="795" cy="1057"/>
            </a:xfrm>
            <a:custGeom>
              <a:avLst/>
              <a:gdLst>
                <a:gd name="T0" fmla="*/ 2147 w 2385"/>
                <a:gd name="T1" fmla="*/ 3171 h 3171"/>
                <a:gd name="T2" fmla="*/ 2217 w 2385"/>
                <a:gd name="T3" fmla="*/ 3020 h 3171"/>
                <a:gd name="T4" fmla="*/ 2275 w 2385"/>
                <a:gd name="T5" fmla="*/ 2867 h 3171"/>
                <a:gd name="T6" fmla="*/ 2321 w 2385"/>
                <a:gd name="T7" fmla="*/ 2708 h 3171"/>
                <a:gd name="T8" fmla="*/ 2355 w 2385"/>
                <a:gd name="T9" fmla="*/ 2548 h 3171"/>
                <a:gd name="T10" fmla="*/ 2376 w 2385"/>
                <a:gd name="T11" fmla="*/ 2384 h 3171"/>
                <a:gd name="T12" fmla="*/ 2385 w 2385"/>
                <a:gd name="T13" fmla="*/ 2221 h 3171"/>
                <a:gd name="T14" fmla="*/ 2382 w 2385"/>
                <a:gd name="T15" fmla="*/ 2056 h 3171"/>
                <a:gd name="T16" fmla="*/ 2366 w 2385"/>
                <a:gd name="T17" fmla="*/ 1892 h 3171"/>
                <a:gd name="T18" fmla="*/ 2336 w 2385"/>
                <a:gd name="T19" fmla="*/ 1730 h 3171"/>
                <a:gd name="T20" fmla="*/ 2296 w 2385"/>
                <a:gd name="T21" fmla="*/ 1570 h 3171"/>
                <a:gd name="T22" fmla="*/ 2242 w 2385"/>
                <a:gd name="T23" fmla="*/ 1415 h 3171"/>
                <a:gd name="T24" fmla="*/ 2177 w 2385"/>
                <a:gd name="T25" fmla="*/ 1263 h 3171"/>
                <a:gd name="T26" fmla="*/ 2101 w 2385"/>
                <a:gd name="T27" fmla="*/ 1116 h 3171"/>
                <a:gd name="T28" fmla="*/ 2013 w 2385"/>
                <a:gd name="T29" fmla="*/ 976 h 3171"/>
                <a:gd name="T30" fmla="*/ 1914 w 2385"/>
                <a:gd name="T31" fmla="*/ 843 h 3171"/>
                <a:gd name="T32" fmla="*/ 1807 w 2385"/>
                <a:gd name="T33" fmla="*/ 717 h 3171"/>
                <a:gd name="T34" fmla="*/ 1689 w 2385"/>
                <a:gd name="T35" fmla="*/ 599 h 3171"/>
                <a:gd name="T36" fmla="*/ 1563 w 2385"/>
                <a:gd name="T37" fmla="*/ 491 h 3171"/>
                <a:gd name="T38" fmla="*/ 1429 w 2385"/>
                <a:gd name="T39" fmla="*/ 392 h 3171"/>
                <a:gd name="T40" fmla="*/ 1287 w 2385"/>
                <a:gd name="T41" fmla="*/ 303 h 3171"/>
                <a:gd name="T42" fmla="*/ 1140 w 2385"/>
                <a:gd name="T43" fmla="*/ 225 h 3171"/>
                <a:gd name="T44" fmla="*/ 986 w 2385"/>
                <a:gd name="T45" fmla="*/ 158 h 3171"/>
                <a:gd name="T46" fmla="*/ 828 w 2385"/>
                <a:gd name="T47" fmla="*/ 103 h 3171"/>
                <a:gd name="T48" fmla="*/ 667 w 2385"/>
                <a:gd name="T49" fmla="*/ 59 h 3171"/>
                <a:gd name="T50" fmla="*/ 502 w 2385"/>
                <a:gd name="T51" fmla="*/ 27 h 3171"/>
                <a:gd name="T52" fmla="*/ 335 w 2385"/>
                <a:gd name="T53" fmla="*/ 8 h 3171"/>
                <a:gd name="T54" fmla="*/ 168 w 2385"/>
                <a:gd name="T55" fmla="*/ 0 h 3171"/>
                <a:gd name="T56" fmla="*/ 0 w 2385"/>
                <a:gd name="T57" fmla="*/ 6 h 3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85" h="3171">
                  <a:moveTo>
                    <a:pt x="2147" y="3171"/>
                  </a:moveTo>
                  <a:lnTo>
                    <a:pt x="2217" y="3020"/>
                  </a:lnTo>
                  <a:lnTo>
                    <a:pt x="2275" y="2867"/>
                  </a:lnTo>
                  <a:lnTo>
                    <a:pt x="2321" y="2708"/>
                  </a:lnTo>
                  <a:lnTo>
                    <a:pt x="2355" y="2548"/>
                  </a:lnTo>
                  <a:lnTo>
                    <a:pt x="2376" y="2384"/>
                  </a:lnTo>
                  <a:lnTo>
                    <a:pt x="2385" y="2221"/>
                  </a:lnTo>
                  <a:lnTo>
                    <a:pt x="2382" y="2056"/>
                  </a:lnTo>
                  <a:lnTo>
                    <a:pt x="2366" y="1892"/>
                  </a:lnTo>
                  <a:lnTo>
                    <a:pt x="2336" y="1730"/>
                  </a:lnTo>
                  <a:lnTo>
                    <a:pt x="2296" y="1570"/>
                  </a:lnTo>
                  <a:lnTo>
                    <a:pt x="2242" y="1415"/>
                  </a:lnTo>
                  <a:lnTo>
                    <a:pt x="2177" y="1263"/>
                  </a:lnTo>
                  <a:lnTo>
                    <a:pt x="2101" y="1116"/>
                  </a:lnTo>
                  <a:lnTo>
                    <a:pt x="2013" y="976"/>
                  </a:lnTo>
                  <a:lnTo>
                    <a:pt x="1914" y="843"/>
                  </a:lnTo>
                  <a:lnTo>
                    <a:pt x="1807" y="717"/>
                  </a:lnTo>
                  <a:lnTo>
                    <a:pt x="1689" y="599"/>
                  </a:lnTo>
                  <a:lnTo>
                    <a:pt x="1563" y="491"/>
                  </a:lnTo>
                  <a:lnTo>
                    <a:pt x="1429" y="392"/>
                  </a:lnTo>
                  <a:lnTo>
                    <a:pt x="1287" y="303"/>
                  </a:lnTo>
                  <a:lnTo>
                    <a:pt x="1140" y="225"/>
                  </a:lnTo>
                  <a:lnTo>
                    <a:pt x="986" y="158"/>
                  </a:lnTo>
                  <a:lnTo>
                    <a:pt x="828" y="103"/>
                  </a:lnTo>
                  <a:lnTo>
                    <a:pt x="667" y="59"/>
                  </a:lnTo>
                  <a:lnTo>
                    <a:pt x="502" y="27"/>
                  </a:lnTo>
                  <a:lnTo>
                    <a:pt x="335" y="8"/>
                  </a:lnTo>
                  <a:lnTo>
                    <a:pt x="168" y="0"/>
                  </a:lnTo>
                  <a:lnTo>
                    <a:pt x="0" y="6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91165C42-D185-BB9C-301A-19416AAEA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6"/>
              <a:ext cx="448" cy="146"/>
            </a:xfrm>
            <a:custGeom>
              <a:avLst/>
              <a:gdLst>
                <a:gd name="T0" fmla="*/ 0 w 1344"/>
                <a:gd name="T1" fmla="*/ 0 h 438"/>
                <a:gd name="T2" fmla="*/ 1344 w 1344"/>
                <a:gd name="T3" fmla="*/ 31 h 438"/>
                <a:gd name="T4" fmla="*/ 1269 w 1344"/>
                <a:gd name="T5" fmla="*/ 438 h 438"/>
                <a:gd name="T6" fmla="*/ 0 w 1344"/>
                <a:gd name="T7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438">
                  <a:moveTo>
                    <a:pt x="0" y="0"/>
                  </a:moveTo>
                  <a:lnTo>
                    <a:pt x="1344" y="31"/>
                  </a:lnTo>
                  <a:lnTo>
                    <a:pt x="1269" y="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868E438D-CA3B-AA7E-2A67-0D0E3A40E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6"/>
              <a:ext cx="448" cy="146"/>
            </a:xfrm>
            <a:custGeom>
              <a:avLst/>
              <a:gdLst>
                <a:gd name="T0" fmla="*/ 0 w 1344"/>
                <a:gd name="T1" fmla="*/ 0 h 438"/>
                <a:gd name="T2" fmla="*/ 1344 w 1344"/>
                <a:gd name="T3" fmla="*/ 31 h 438"/>
                <a:gd name="T4" fmla="*/ 1269 w 1344"/>
                <a:gd name="T5" fmla="*/ 438 h 438"/>
                <a:gd name="T6" fmla="*/ 0 w 1344"/>
                <a:gd name="T7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438">
                  <a:moveTo>
                    <a:pt x="0" y="0"/>
                  </a:moveTo>
                  <a:lnTo>
                    <a:pt x="1344" y="31"/>
                  </a:lnTo>
                  <a:lnTo>
                    <a:pt x="1269" y="4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41" name="图片 40">
            <a:extLst>
              <a:ext uri="{FF2B5EF4-FFF2-40B4-BE49-F238E27FC236}">
                <a16:creationId xmlns:a16="http://schemas.microsoft.com/office/drawing/2014/main" id="{2D5A32C8-7B82-4AAD-9654-4E025B14E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27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32" y="778413"/>
            <a:ext cx="9630824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五、图示凸轮机构中，滚子推杆与凸轮在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点接触，试用图解法确定： 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、图示位置时凸轮机构的位移和压力角的大小；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231221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图五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A2D5A3E-8E64-AB28-8924-F6EEA2679B9F}"/>
              </a:ext>
            </a:extLst>
          </p:cNvPr>
          <p:cNvGrpSpPr>
            <a:grpSpLocks/>
          </p:cNvGrpSpPr>
          <p:nvPr/>
        </p:nvGrpSpPr>
        <p:grpSpPr bwMode="auto">
          <a:xfrm>
            <a:off x="2907512" y="1767601"/>
            <a:ext cx="2884532" cy="4312677"/>
            <a:chOff x="4304" y="8413"/>
            <a:chExt cx="3549" cy="5389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DD5F34E6-94F9-0CA6-AFCD-2270E6732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4" y="12062"/>
              <a:ext cx="3549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A0406EFC-F5D9-0B3B-9409-E03FFD3EA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" y="10522"/>
              <a:ext cx="3" cy="3280"/>
            </a:xfrm>
            <a:custGeom>
              <a:avLst/>
              <a:gdLst>
                <a:gd name="T0" fmla="*/ 0 w 3"/>
                <a:gd name="T1" fmla="*/ 0 h 3280"/>
                <a:gd name="T2" fmla="*/ 3 w 3"/>
                <a:gd name="T3" fmla="*/ 3280 h 3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280">
                  <a:moveTo>
                    <a:pt x="0" y="0"/>
                  </a:moveTo>
                  <a:lnTo>
                    <a:pt x="3" y="3280"/>
                  </a:lnTo>
                </a:path>
              </a:pathLst>
            </a:custGeom>
            <a:solidFill>
              <a:srgbClr val="FFFFFF"/>
            </a:solidFill>
            <a:ln w="15875" cap="flat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947A9261-3CDF-BD95-E444-DA57AFFF0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088"/>
              <a:ext cx="143" cy="14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74710413-0938-07DB-BEF9-8DA7C50E1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229"/>
              <a:ext cx="199" cy="1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96D55E2B-E1C3-B18F-0D18-AF5512CF76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423"/>
              <a:ext cx="199" cy="19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1F726DDD-08A8-E75D-9DB1-C4806F7D4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3" y="11618"/>
              <a:ext cx="95" cy="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1EE08A0-2E50-7E58-E76B-BFDA3908C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0533"/>
              <a:ext cx="3119" cy="3059"/>
            </a:xfrm>
            <a:custGeom>
              <a:avLst/>
              <a:gdLst>
                <a:gd name="T0" fmla="*/ 9351 w 9357"/>
                <a:gd name="T1" fmla="*/ 4355 h 9176"/>
                <a:gd name="T2" fmla="*/ 9303 w 9357"/>
                <a:gd name="T3" fmla="*/ 3892 h 9176"/>
                <a:gd name="T4" fmla="*/ 9208 w 9357"/>
                <a:gd name="T5" fmla="*/ 3437 h 9176"/>
                <a:gd name="T6" fmla="*/ 9066 w 9357"/>
                <a:gd name="T7" fmla="*/ 2995 h 9176"/>
                <a:gd name="T8" fmla="*/ 8879 w 9357"/>
                <a:gd name="T9" fmla="*/ 2567 h 9176"/>
                <a:gd name="T10" fmla="*/ 8649 w 9357"/>
                <a:gd name="T11" fmla="*/ 2161 h 9176"/>
                <a:gd name="T12" fmla="*/ 8378 w 9357"/>
                <a:gd name="T13" fmla="*/ 1779 h 9176"/>
                <a:gd name="T14" fmla="*/ 8070 w 9357"/>
                <a:gd name="T15" fmla="*/ 1427 h 9176"/>
                <a:gd name="T16" fmla="*/ 7725 w 9357"/>
                <a:gd name="T17" fmla="*/ 1106 h 9176"/>
                <a:gd name="T18" fmla="*/ 7352 w 9357"/>
                <a:gd name="T19" fmla="*/ 821 h 9176"/>
                <a:gd name="T20" fmla="*/ 6949 w 9357"/>
                <a:gd name="T21" fmla="*/ 576 h 9176"/>
                <a:gd name="T22" fmla="*/ 6523 w 9357"/>
                <a:gd name="T23" fmla="*/ 370 h 9176"/>
                <a:gd name="T24" fmla="*/ 6079 w 9357"/>
                <a:gd name="T25" fmla="*/ 210 h 9176"/>
                <a:gd name="T26" fmla="*/ 5621 w 9357"/>
                <a:gd name="T27" fmla="*/ 93 h 9176"/>
                <a:gd name="T28" fmla="*/ 5151 w 9357"/>
                <a:gd name="T29" fmla="*/ 23 h 9176"/>
                <a:gd name="T30" fmla="*/ 4678 w 9357"/>
                <a:gd name="T31" fmla="*/ 0 h 9176"/>
                <a:gd name="T32" fmla="*/ 4205 w 9357"/>
                <a:gd name="T33" fmla="*/ 23 h 9176"/>
                <a:gd name="T34" fmla="*/ 3736 w 9357"/>
                <a:gd name="T35" fmla="*/ 93 h 9176"/>
                <a:gd name="T36" fmla="*/ 3277 w 9357"/>
                <a:gd name="T37" fmla="*/ 210 h 9176"/>
                <a:gd name="T38" fmla="*/ 2833 w 9357"/>
                <a:gd name="T39" fmla="*/ 370 h 9176"/>
                <a:gd name="T40" fmla="*/ 2407 w 9357"/>
                <a:gd name="T41" fmla="*/ 576 h 9176"/>
                <a:gd name="T42" fmla="*/ 2005 w 9357"/>
                <a:gd name="T43" fmla="*/ 821 h 9176"/>
                <a:gd name="T44" fmla="*/ 1631 w 9357"/>
                <a:gd name="T45" fmla="*/ 1106 h 9176"/>
                <a:gd name="T46" fmla="*/ 1287 w 9357"/>
                <a:gd name="T47" fmla="*/ 1427 h 9176"/>
                <a:gd name="T48" fmla="*/ 979 w 9357"/>
                <a:gd name="T49" fmla="*/ 1779 h 9176"/>
                <a:gd name="T50" fmla="*/ 708 w 9357"/>
                <a:gd name="T51" fmla="*/ 2161 h 9176"/>
                <a:gd name="T52" fmla="*/ 478 w 9357"/>
                <a:gd name="T53" fmla="*/ 2567 h 9176"/>
                <a:gd name="T54" fmla="*/ 290 w 9357"/>
                <a:gd name="T55" fmla="*/ 2995 h 9176"/>
                <a:gd name="T56" fmla="*/ 149 w 9357"/>
                <a:gd name="T57" fmla="*/ 3437 h 9176"/>
                <a:gd name="T58" fmla="*/ 54 w 9357"/>
                <a:gd name="T59" fmla="*/ 3892 h 9176"/>
                <a:gd name="T60" fmla="*/ 6 w 9357"/>
                <a:gd name="T61" fmla="*/ 4355 h 9176"/>
                <a:gd name="T62" fmla="*/ 6 w 9357"/>
                <a:gd name="T63" fmla="*/ 4821 h 9176"/>
                <a:gd name="T64" fmla="*/ 54 w 9357"/>
                <a:gd name="T65" fmla="*/ 5282 h 9176"/>
                <a:gd name="T66" fmla="*/ 149 w 9357"/>
                <a:gd name="T67" fmla="*/ 5737 h 9176"/>
                <a:gd name="T68" fmla="*/ 290 w 9357"/>
                <a:gd name="T69" fmla="*/ 6181 h 9176"/>
                <a:gd name="T70" fmla="*/ 478 w 9357"/>
                <a:gd name="T71" fmla="*/ 6609 h 9176"/>
                <a:gd name="T72" fmla="*/ 708 w 9357"/>
                <a:gd name="T73" fmla="*/ 7014 h 9176"/>
                <a:gd name="T74" fmla="*/ 979 w 9357"/>
                <a:gd name="T75" fmla="*/ 7397 h 9176"/>
                <a:gd name="T76" fmla="*/ 1287 w 9357"/>
                <a:gd name="T77" fmla="*/ 7749 h 9176"/>
                <a:gd name="T78" fmla="*/ 1631 w 9357"/>
                <a:gd name="T79" fmla="*/ 8070 h 9176"/>
                <a:gd name="T80" fmla="*/ 2005 w 9357"/>
                <a:gd name="T81" fmla="*/ 8354 h 9176"/>
                <a:gd name="T82" fmla="*/ 2407 w 9357"/>
                <a:gd name="T83" fmla="*/ 8600 h 9176"/>
                <a:gd name="T84" fmla="*/ 2833 w 9357"/>
                <a:gd name="T85" fmla="*/ 8804 h 9176"/>
                <a:gd name="T86" fmla="*/ 3277 w 9357"/>
                <a:gd name="T87" fmla="*/ 8966 h 9176"/>
                <a:gd name="T88" fmla="*/ 3736 w 9357"/>
                <a:gd name="T89" fmla="*/ 9083 h 9176"/>
                <a:gd name="T90" fmla="*/ 4205 w 9357"/>
                <a:gd name="T91" fmla="*/ 9153 h 9176"/>
                <a:gd name="T92" fmla="*/ 4678 w 9357"/>
                <a:gd name="T93" fmla="*/ 9176 h 9176"/>
                <a:gd name="T94" fmla="*/ 5151 w 9357"/>
                <a:gd name="T95" fmla="*/ 9153 h 9176"/>
                <a:gd name="T96" fmla="*/ 5621 w 9357"/>
                <a:gd name="T97" fmla="*/ 9083 h 9176"/>
                <a:gd name="T98" fmla="*/ 6079 w 9357"/>
                <a:gd name="T99" fmla="*/ 8966 h 9176"/>
                <a:gd name="T100" fmla="*/ 6523 w 9357"/>
                <a:gd name="T101" fmla="*/ 8804 h 9176"/>
                <a:gd name="T102" fmla="*/ 6949 w 9357"/>
                <a:gd name="T103" fmla="*/ 8600 h 9176"/>
                <a:gd name="T104" fmla="*/ 7352 w 9357"/>
                <a:gd name="T105" fmla="*/ 8354 h 9176"/>
                <a:gd name="T106" fmla="*/ 7725 w 9357"/>
                <a:gd name="T107" fmla="*/ 8070 h 9176"/>
                <a:gd name="T108" fmla="*/ 8070 w 9357"/>
                <a:gd name="T109" fmla="*/ 7749 h 9176"/>
                <a:gd name="T110" fmla="*/ 8378 w 9357"/>
                <a:gd name="T111" fmla="*/ 7397 h 9176"/>
                <a:gd name="T112" fmla="*/ 8649 w 9357"/>
                <a:gd name="T113" fmla="*/ 7014 h 9176"/>
                <a:gd name="T114" fmla="*/ 8879 w 9357"/>
                <a:gd name="T115" fmla="*/ 6609 h 9176"/>
                <a:gd name="T116" fmla="*/ 9066 w 9357"/>
                <a:gd name="T117" fmla="*/ 6181 h 9176"/>
                <a:gd name="T118" fmla="*/ 9208 w 9357"/>
                <a:gd name="T119" fmla="*/ 5737 h 9176"/>
                <a:gd name="T120" fmla="*/ 9303 w 9357"/>
                <a:gd name="T121" fmla="*/ 5282 h 9176"/>
                <a:gd name="T122" fmla="*/ 9351 w 9357"/>
                <a:gd name="T123" fmla="*/ 4821 h 9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357" h="9176">
                  <a:moveTo>
                    <a:pt x="9357" y="4587"/>
                  </a:moveTo>
                  <a:lnTo>
                    <a:pt x="9351" y="4355"/>
                  </a:lnTo>
                  <a:lnTo>
                    <a:pt x="9333" y="4123"/>
                  </a:lnTo>
                  <a:lnTo>
                    <a:pt x="9303" y="3892"/>
                  </a:lnTo>
                  <a:lnTo>
                    <a:pt x="9261" y="3665"/>
                  </a:lnTo>
                  <a:lnTo>
                    <a:pt x="9208" y="3437"/>
                  </a:lnTo>
                  <a:lnTo>
                    <a:pt x="9142" y="3214"/>
                  </a:lnTo>
                  <a:lnTo>
                    <a:pt x="9066" y="2995"/>
                  </a:lnTo>
                  <a:lnTo>
                    <a:pt x="8978" y="2779"/>
                  </a:lnTo>
                  <a:lnTo>
                    <a:pt x="8879" y="2567"/>
                  </a:lnTo>
                  <a:lnTo>
                    <a:pt x="8770" y="2361"/>
                  </a:lnTo>
                  <a:lnTo>
                    <a:pt x="8649" y="2161"/>
                  </a:lnTo>
                  <a:lnTo>
                    <a:pt x="8518" y="1967"/>
                  </a:lnTo>
                  <a:lnTo>
                    <a:pt x="8378" y="1779"/>
                  </a:lnTo>
                  <a:lnTo>
                    <a:pt x="8228" y="1599"/>
                  </a:lnTo>
                  <a:lnTo>
                    <a:pt x="8070" y="1427"/>
                  </a:lnTo>
                  <a:lnTo>
                    <a:pt x="7901" y="1262"/>
                  </a:lnTo>
                  <a:lnTo>
                    <a:pt x="7725" y="1106"/>
                  </a:lnTo>
                  <a:lnTo>
                    <a:pt x="7542" y="958"/>
                  </a:lnTo>
                  <a:lnTo>
                    <a:pt x="7352" y="821"/>
                  </a:lnTo>
                  <a:lnTo>
                    <a:pt x="7153" y="694"/>
                  </a:lnTo>
                  <a:lnTo>
                    <a:pt x="6949" y="576"/>
                  </a:lnTo>
                  <a:lnTo>
                    <a:pt x="6739" y="468"/>
                  </a:lnTo>
                  <a:lnTo>
                    <a:pt x="6523" y="370"/>
                  </a:lnTo>
                  <a:lnTo>
                    <a:pt x="6303" y="284"/>
                  </a:lnTo>
                  <a:lnTo>
                    <a:pt x="6079" y="210"/>
                  </a:lnTo>
                  <a:lnTo>
                    <a:pt x="5851" y="145"/>
                  </a:lnTo>
                  <a:lnTo>
                    <a:pt x="5621" y="93"/>
                  </a:lnTo>
                  <a:lnTo>
                    <a:pt x="5387" y="52"/>
                  </a:lnTo>
                  <a:lnTo>
                    <a:pt x="5151" y="23"/>
                  </a:lnTo>
                  <a:lnTo>
                    <a:pt x="4914" y="5"/>
                  </a:lnTo>
                  <a:lnTo>
                    <a:pt x="4678" y="0"/>
                  </a:lnTo>
                  <a:lnTo>
                    <a:pt x="4441" y="5"/>
                  </a:lnTo>
                  <a:lnTo>
                    <a:pt x="4205" y="23"/>
                  </a:lnTo>
                  <a:lnTo>
                    <a:pt x="3970" y="52"/>
                  </a:lnTo>
                  <a:lnTo>
                    <a:pt x="3736" y="93"/>
                  </a:lnTo>
                  <a:lnTo>
                    <a:pt x="3505" y="145"/>
                  </a:lnTo>
                  <a:lnTo>
                    <a:pt x="3277" y="210"/>
                  </a:lnTo>
                  <a:lnTo>
                    <a:pt x="3054" y="284"/>
                  </a:lnTo>
                  <a:lnTo>
                    <a:pt x="2833" y="370"/>
                  </a:lnTo>
                  <a:lnTo>
                    <a:pt x="2617" y="468"/>
                  </a:lnTo>
                  <a:lnTo>
                    <a:pt x="2407" y="576"/>
                  </a:lnTo>
                  <a:lnTo>
                    <a:pt x="2203" y="694"/>
                  </a:lnTo>
                  <a:lnTo>
                    <a:pt x="2005" y="821"/>
                  </a:lnTo>
                  <a:lnTo>
                    <a:pt x="1814" y="958"/>
                  </a:lnTo>
                  <a:lnTo>
                    <a:pt x="1631" y="1106"/>
                  </a:lnTo>
                  <a:lnTo>
                    <a:pt x="1455" y="1262"/>
                  </a:lnTo>
                  <a:lnTo>
                    <a:pt x="1287" y="1427"/>
                  </a:lnTo>
                  <a:lnTo>
                    <a:pt x="1128" y="1599"/>
                  </a:lnTo>
                  <a:lnTo>
                    <a:pt x="979" y="1779"/>
                  </a:lnTo>
                  <a:lnTo>
                    <a:pt x="839" y="1967"/>
                  </a:lnTo>
                  <a:lnTo>
                    <a:pt x="708" y="2161"/>
                  </a:lnTo>
                  <a:lnTo>
                    <a:pt x="587" y="2361"/>
                  </a:lnTo>
                  <a:lnTo>
                    <a:pt x="478" y="2567"/>
                  </a:lnTo>
                  <a:lnTo>
                    <a:pt x="378" y="2779"/>
                  </a:lnTo>
                  <a:lnTo>
                    <a:pt x="290" y="2995"/>
                  </a:lnTo>
                  <a:lnTo>
                    <a:pt x="214" y="3214"/>
                  </a:lnTo>
                  <a:lnTo>
                    <a:pt x="149" y="3437"/>
                  </a:lnTo>
                  <a:lnTo>
                    <a:pt x="95" y="3665"/>
                  </a:lnTo>
                  <a:lnTo>
                    <a:pt x="54" y="3892"/>
                  </a:lnTo>
                  <a:lnTo>
                    <a:pt x="24" y="4123"/>
                  </a:lnTo>
                  <a:lnTo>
                    <a:pt x="6" y="4355"/>
                  </a:lnTo>
                  <a:lnTo>
                    <a:pt x="0" y="4587"/>
                  </a:lnTo>
                  <a:lnTo>
                    <a:pt x="6" y="4821"/>
                  </a:lnTo>
                  <a:lnTo>
                    <a:pt x="24" y="5051"/>
                  </a:lnTo>
                  <a:lnTo>
                    <a:pt x="54" y="5282"/>
                  </a:lnTo>
                  <a:lnTo>
                    <a:pt x="95" y="5511"/>
                  </a:lnTo>
                  <a:lnTo>
                    <a:pt x="149" y="5737"/>
                  </a:lnTo>
                  <a:lnTo>
                    <a:pt x="214" y="5962"/>
                  </a:lnTo>
                  <a:lnTo>
                    <a:pt x="290" y="6181"/>
                  </a:lnTo>
                  <a:lnTo>
                    <a:pt x="378" y="6397"/>
                  </a:lnTo>
                  <a:lnTo>
                    <a:pt x="478" y="6609"/>
                  </a:lnTo>
                  <a:lnTo>
                    <a:pt x="587" y="6814"/>
                  </a:lnTo>
                  <a:lnTo>
                    <a:pt x="708" y="7014"/>
                  </a:lnTo>
                  <a:lnTo>
                    <a:pt x="839" y="7209"/>
                  </a:lnTo>
                  <a:lnTo>
                    <a:pt x="979" y="7397"/>
                  </a:lnTo>
                  <a:lnTo>
                    <a:pt x="1128" y="7576"/>
                  </a:lnTo>
                  <a:lnTo>
                    <a:pt x="1287" y="7749"/>
                  </a:lnTo>
                  <a:lnTo>
                    <a:pt x="1455" y="7913"/>
                  </a:lnTo>
                  <a:lnTo>
                    <a:pt x="1631" y="8070"/>
                  </a:lnTo>
                  <a:lnTo>
                    <a:pt x="1814" y="8216"/>
                  </a:lnTo>
                  <a:lnTo>
                    <a:pt x="2005" y="8354"/>
                  </a:lnTo>
                  <a:lnTo>
                    <a:pt x="2203" y="8481"/>
                  </a:lnTo>
                  <a:lnTo>
                    <a:pt x="2407" y="8600"/>
                  </a:lnTo>
                  <a:lnTo>
                    <a:pt x="2617" y="8708"/>
                  </a:lnTo>
                  <a:lnTo>
                    <a:pt x="2833" y="8804"/>
                  </a:lnTo>
                  <a:lnTo>
                    <a:pt x="3054" y="8890"/>
                  </a:lnTo>
                  <a:lnTo>
                    <a:pt x="3277" y="8966"/>
                  </a:lnTo>
                  <a:lnTo>
                    <a:pt x="3505" y="9030"/>
                  </a:lnTo>
                  <a:lnTo>
                    <a:pt x="3736" y="9083"/>
                  </a:lnTo>
                  <a:lnTo>
                    <a:pt x="3970" y="9124"/>
                  </a:lnTo>
                  <a:lnTo>
                    <a:pt x="4205" y="9153"/>
                  </a:lnTo>
                  <a:lnTo>
                    <a:pt x="4441" y="9170"/>
                  </a:lnTo>
                  <a:lnTo>
                    <a:pt x="4678" y="9176"/>
                  </a:lnTo>
                  <a:lnTo>
                    <a:pt x="4914" y="9170"/>
                  </a:lnTo>
                  <a:lnTo>
                    <a:pt x="5151" y="9153"/>
                  </a:lnTo>
                  <a:lnTo>
                    <a:pt x="5387" y="9124"/>
                  </a:lnTo>
                  <a:lnTo>
                    <a:pt x="5621" y="9083"/>
                  </a:lnTo>
                  <a:lnTo>
                    <a:pt x="5851" y="9030"/>
                  </a:lnTo>
                  <a:lnTo>
                    <a:pt x="6079" y="8966"/>
                  </a:lnTo>
                  <a:lnTo>
                    <a:pt x="6303" y="8890"/>
                  </a:lnTo>
                  <a:lnTo>
                    <a:pt x="6523" y="8804"/>
                  </a:lnTo>
                  <a:lnTo>
                    <a:pt x="6739" y="8708"/>
                  </a:lnTo>
                  <a:lnTo>
                    <a:pt x="6949" y="8600"/>
                  </a:lnTo>
                  <a:lnTo>
                    <a:pt x="7153" y="8481"/>
                  </a:lnTo>
                  <a:lnTo>
                    <a:pt x="7352" y="8354"/>
                  </a:lnTo>
                  <a:lnTo>
                    <a:pt x="7542" y="8216"/>
                  </a:lnTo>
                  <a:lnTo>
                    <a:pt x="7725" y="8070"/>
                  </a:lnTo>
                  <a:lnTo>
                    <a:pt x="7901" y="7913"/>
                  </a:lnTo>
                  <a:lnTo>
                    <a:pt x="8070" y="7749"/>
                  </a:lnTo>
                  <a:lnTo>
                    <a:pt x="8228" y="7576"/>
                  </a:lnTo>
                  <a:lnTo>
                    <a:pt x="8378" y="7397"/>
                  </a:lnTo>
                  <a:lnTo>
                    <a:pt x="8518" y="7209"/>
                  </a:lnTo>
                  <a:lnTo>
                    <a:pt x="8649" y="7014"/>
                  </a:lnTo>
                  <a:lnTo>
                    <a:pt x="8770" y="6814"/>
                  </a:lnTo>
                  <a:lnTo>
                    <a:pt x="8879" y="6609"/>
                  </a:lnTo>
                  <a:lnTo>
                    <a:pt x="8978" y="6397"/>
                  </a:lnTo>
                  <a:lnTo>
                    <a:pt x="9066" y="6181"/>
                  </a:lnTo>
                  <a:lnTo>
                    <a:pt x="9142" y="5962"/>
                  </a:lnTo>
                  <a:lnTo>
                    <a:pt x="9208" y="5737"/>
                  </a:lnTo>
                  <a:lnTo>
                    <a:pt x="9261" y="5511"/>
                  </a:lnTo>
                  <a:lnTo>
                    <a:pt x="9303" y="5282"/>
                  </a:lnTo>
                  <a:lnTo>
                    <a:pt x="9333" y="5051"/>
                  </a:lnTo>
                  <a:lnTo>
                    <a:pt x="9351" y="4821"/>
                  </a:lnTo>
                  <a:lnTo>
                    <a:pt x="9357" y="4587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3F0DF24-CD04-6EEE-BCFB-5AB37D218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" y="11302"/>
              <a:ext cx="198" cy="195"/>
            </a:xfrm>
            <a:custGeom>
              <a:avLst/>
              <a:gdLst>
                <a:gd name="T0" fmla="*/ 596 w 596"/>
                <a:gd name="T1" fmla="*/ 292 h 584"/>
                <a:gd name="T2" fmla="*/ 590 w 596"/>
                <a:gd name="T3" fmla="*/ 235 h 584"/>
                <a:gd name="T4" fmla="*/ 572 w 596"/>
                <a:gd name="T5" fmla="*/ 181 h 584"/>
                <a:gd name="T6" fmla="*/ 545 w 596"/>
                <a:gd name="T7" fmla="*/ 130 h 584"/>
                <a:gd name="T8" fmla="*/ 508 w 596"/>
                <a:gd name="T9" fmla="*/ 86 h 584"/>
                <a:gd name="T10" fmla="*/ 463 w 596"/>
                <a:gd name="T11" fmla="*/ 50 h 584"/>
                <a:gd name="T12" fmla="*/ 411 w 596"/>
                <a:gd name="T13" fmla="*/ 23 h 584"/>
                <a:gd name="T14" fmla="*/ 356 w 596"/>
                <a:gd name="T15" fmla="*/ 6 h 584"/>
                <a:gd name="T16" fmla="*/ 298 w 596"/>
                <a:gd name="T17" fmla="*/ 0 h 584"/>
                <a:gd name="T18" fmla="*/ 240 w 596"/>
                <a:gd name="T19" fmla="*/ 6 h 584"/>
                <a:gd name="T20" fmla="*/ 183 w 596"/>
                <a:gd name="T21" fmla="*/ 23 h 584"/>
                <a:gd name="T22" fmla="*/ 133 w 596"/>
                <a:gd name="T23" fmla="*/ 50 h 584"/>
                <a:gd name="T24" fmla="*/ 88 w 596"/>
                <a:gd name="T25" fmla="*/ 86 h 584"/>
                <a:gd name="T26" fmla="*/ 51 w 596"/>
                <a:gd name="T27" fmla="*/ 130 h 584"/>
                <a:gd name="T28" fmla="*/ 22 w 596"/>
                <a:gd name="T29" fmla="*/ 181 h 584"/>
                <a:gd name="T30" fmla="*/ 6 w 596"/>
                <a:gd name="T31" fmla="*/ 235 h 584"/>
                <a:gd name="T32" fmla="*/ 0 w 596"/>
                <a:gd name="T33" fmla="*/ 292 h 584"/>
                <a:gd name="T34" fmla="*/ 6 w 596"/>
                <a:gd name="T35" fmla="*/ 349 h 584"/>
                <a:gd name="T36" fmla="*/ 22 w 596"/>
                <a:gd name="T37" fmla="*/ 404 h 584"/>
                <a:gd name="T38" fmla="*/ 51 w 596"/>
                <a:gd name="T39" fmla="*/ 454 h 584"/>
                <a:gd name="T40" fmla="*/ 88 w 596"/>
                <a:gd name="T41" fmla="*/ 499 h 584"/>
                <a:gd name="T42" fmla="*/ 133 w 596"/>
                <a:gd name="T43" fmla="*/ 534 h 584"/>
                <a:gd name="T44" fmla="*/ 183 w 596"/>
                <a:gd name="T45" fmla="*/ 562 h 584"/>
                <a:gd name="T46" fmla="*/ 240 w 596"/>
                <a:gd name="T47" fmla="*/ 578 h 584"/>
                <a:gd name="T48" fmla="*/ 298 w 596"/>
                <a:gd name="T49" fmla="*/ 584 h 584"/>
                <a:gd name="T50" fmla="*/ 356 w 596"/>
                <a:gd name="T51" fmla="*/ 578 h 584"/>
                <a:gd name="T52" fmla="*/ 411 w 596"/>
                <a:gd name="T53" fmla="*/ 562 h 584"/>
                <a:gd name="T54" fmla="*/ 463 w 596"/>
                <a:gd name="T55" fmla="*/ 534 h 584"/>
                <a:gd name="T56" fmla="*/ 508 w 596"/>
                <a:gd name="T57" fmla="*/ 499 h 584"/>
                <a:gd name="T58" fmla="*/ 545 w 596"/>
                <a:gd name="T59" fmla="*/ 454 h 584"/>
                <a:gd name="T60" fmla="*/ 572 w 596"/>
                <a:gd name="T61" fmla="*/ 404 h 584"/>
                <a:gd name="T62" fmla="*/ 590 w 596"/>
                <a:gd name="T63" fmla="*/ 349 h 584"/>
                <a:gd name="T64" fmla="*/ 596 w 596"/>
                <a:gd name="T65" fmla="*/ 29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6" h="584">
                  <a:moveTo>
                    <a:pt x="596" y="292"/>
                  </a:moveTo>
                  <a:lnTo>
                    <a:pt x="590" y="235"/>
                  </a:lnTo>
                  <a:lnTo>
                    <a:pt x="572" y="181"/>
                  </a:lnTo>
                  <a:lnTo>
                    <a:pt x="545" y="130"/>
                  </a:lnTo>
                  <a:lnTo>
                    <a:pt x="508" y="86"/>
                  </a:lnTo>
                  <a:lnTo>
                    <a:pt x="463" y="50"/>
                  </a:lnTo>
                  <a:lnTo>
                    <a:pt x="411" y="23"/>
                  </a:lnTo>
                  <a:lnTo>
                    <a:pt x="356" y="6"/>
                  </a:lnTo>
                  <a:lnTo>
                    <a:pt x="298" y="0"/>
                  </a:lnTo>
                  <a:lnTo>
                    <a:pt x="240" y="6"/>
                  </a:lnTo>
                  <a:lnTo>
                    <a:pt x="183" y="23"/>
                  </a:lnTo>
                  <a:lnTo>
                    <a:pt x="133" y="50"/>
                  </a:lnTo>
                  <a:lnTo>
                    <a:pt x="88" y="86"/>
                  </a:lnTo>
                  <a:lnTo>
                    <a:pt x="51" y="130"/>
                  </a:lnTo>
                  <a:lnTo>
                    <a:pt x="22" y="181"/>
                  </a:lnTo>
                  <a:lnTo>
                    <a:pt x="6" y="235"/>
                  </a:lnTo>
                  <a:lnTo>
                    <a:pt x="0" y="292"/>
                  </a:lnTo>
                  <a:lnTo>
                    <a:pt x="6" y="349"/>
                  </a:lnTo>
                  <a:lnTo>
                    <a:pt x="22" y="404"/>
                  </a:lnTo>
                  <a:lnTo>
                    <a:pt x="51" y="454"/>
                  </a:lnTo>
                  <a:lnTo>
                    <a:pt x="88" y="499"/>
                  </a:lnTo>
                  <a:lnTo>
                    <a:pt x="133" y="534"/>
                  </a:lnTo>
                  <a:lnTo>
                    <a:pt x="183" y="562"/>
                  </a:lnTo>
                  <a:lnTo>
                    <a:pt x="240" y="578"/>
                  </a:lnTo>
                  <a:lnTo>
                    <a:pt x="298" y="584"/>
                  </a:lnTo>
                  <a:lnTo>
                    <a:pt x="356" y="578"/>
                  </a:lnTo>
                  <a:lnTo>
                    <a:pt x="411" y="562"/>
                  </a:lnTo>
                  <a:lnTo>
                    <a:pt x="463" y="534"/>
                  </a:lnTo>
                  <a:lnTo>
                    <a:pt x="508" y="499"/>
                  </a:lnTo>
                  <a:lnTo>
                    <a:pt x="545" y="454"/>
                  </a:lnTo>
                  <a:lnTo>
                    <a:pt x="572" y="404"/>
                  </a:lnTo>
                  <a:lnTo>
                    <a:pt x="590" y="349"/>
                  </a:lnTo>
                  <a:lnTo>
                    <a:pt x="596" y="292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23F1ABEB-5E09-9494-06C1-E65551FF72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38" y="11136"/>
              <a:ext cx="241" cy="2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12B8B198-4CBD-44ED-734F-B76A5D6B9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8" y="11088"/>
              <a:ext cx="0" cy="62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1751EDCB-0563-2595-A5D6-8EFA9BB25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8" y="11462"/>
              <a:ext cx="241" cy="2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BAAB195-65DF-6F7A-CE90-D5BBDBA61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5" y="9735"/>
              <a:ext cx="793" cy="777"/>
            </a:xfrm>
            <a:custGeom>
              <a:avLst/>
              <a:gdLst>
                <a:gd name="T0" fmla="*/ 2371 w 2377"/>
                <a:gd name="T1" fmla="*/ 1052 h 2332"/>
                <a:gd name="T2" fmla="*/ 2327 w 2377"/>
                <a:gd name="T3" fmla="*/ 828 h 2332"/>
                <a:gd name="T4" fmla="*/ 2237 w 2377"/>
                <a:gd name="T5" fmla="*/ 616 h 2332"/>
                <a:gd name="T6" fmla="*/ 2108 w 2377"/>
                <a:gd name="T7" fmla="*/ 426 h 2332"/>
                <a:gd name="T8" fmla="*/ 1942 w 2377"/>
                <a:gd name="T9" fmla="*/ 266 h 2332"/>
                <a:gd name="T10" fmla="*/ 1749 w 2377"/>
                <a:gd name="T11" fmla="*/ 139 h 2332"/>
                <a:gd name="T12" fmla="*/ 1534 w 2377"/>
                <a:gd name="T13" fmla="*/ 51 h 2332"/>
                <a:gd name="T14" fmla="*/ 1305 w 2377"/>
                <a:gd name="T15" fmla="*/ 6 h 2332"/>
                <a:gd name="T16" fmla="*/ 1072 w 2377"/>
                <a:gd name="T17" fmla="*/ 6 h 2332"/>
                <a:gd name="T18" fmla="*/ 844 w 2377"/>
                <a:gd name="T19" fmla="*/ 51 h 2332"/>
                <a:gd name="T20" fmla="*/ 628 w 2377"/>
                <a:gd name="T21" fmla="*/ 139 h 2332"/>
                <a:gd name="T22" fmla="*/ 435 w 2377"/>
                <a:gd name="T23" fmla="*/ 266 h 2332"/>
                <a:gd name="T24" fmla="*/ 269 w 2377"/>
                <a:gd name="T25" fmla="*/ 426 h 2332"/>
                <a:gd name="T26" fmla="*/ 140 w 2377"/>
                <a:gd name="T27" fmla="*/ 616 h 2332"/>
                <a:gd name="T28" fmla="*/ 52 w 2377"/>
                <a:gd name="T29" fmla="*/ 828 h 2332"/>
                <a:gd name="T30" fmla="*/ 6 w 2377"/>
                <a:gd name="T31" fmla="*/ 1052 h 2332"/>
                <a:gd name="T32" fmla="*/ 6 w 2377"/>
                <a:gd name="T33" fmla="*/ 1280 h 2332"/>
                <a:gd name="T34" fmla="*/ 52 w 2377"/>
                <a:gd name="T35" fmla="*/ 1505 h 2332"/>
                <a:gd name="T36" fmla="*/ 140 w 2377"/>
                <a:gd name="T37" fmla="*/ 1717 h 2332"/>
                <a:gd name="T38" fmla="*/ 269 w 2377"/>
                <a:gd name="T39" fmla="*/ 1906 h 2332"/>
                <a:gd name="T40" fmla="*/ 435 w 2377"/>
                <a:gd name="T41" fmla="*/ 2068 h 2332"/>
                <a:gd name="T42" fmla="*/ 628 w 2377"/>
                <a:gd name="T43" fmla="*/ 2195 h 2332"/>
                <a:gd name="T44" fmla="*/ 844 w 2377"/>
                <a:gd name="T45" fmla="*/ 2281 h 2332"/>
                <a:gd name="T46" fmla="*/ 1072 w 2377"/>
                <a:gd name="T47" fmla="*/ 2327 h 2332"/>
                <a:gd name="T48" fmla="*/ 1305 w 2377"/>
                <a:gd name="T49" fmla="*/ 2327 h 2332"/>
                <a:gd name="T50" fmla="*/ 1534 w 2377"/>
                <a:gd name="T51" fmla="*/ 2281 h 2332"/>
                <a:gd name="T52" fmla="*/ 1749 w 2377"/>
                <a:gd name="T53" fmla="*/ 2195 h 2332"/>
                <a:gd name="T54" fmla="*/ 1942 w 2377"/>
                <a:gd name="T55" fmla="*/ 2068 h 2332"/>
                <a:gd name="T56" fmla="*/ 2108 w 2377"/>
                <a:gd name="T57" fmla="*/ 1906 h 2332"/>
                <a:gd name="T58" fmla="*/ 2237 w 2377"/>
                <a:gd name="T59" fmla="*/ 1717 h 2332"/>
                <a:gd name="T60" fmla="*/ 2327 w 2377"/>
                <a:gd name="T61" fmla="*/ 1505 h 2332"/>
                <a:gd name="T62" fmla="*/ 2371 w 2377"/>
                <a:gd name="T63" fmla="*/ 1280 h 2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7" h="2332">
                  <a:moveTo>
                    <a:pt x="2377" y="1166"/>
                  </a:moveTo>
                  <a:lnTo>
                    <a:pt x="2371" y="1052"/>
                  </a:lnTo>
                  <a:lnTo>
                    <a:pt x="2355" y="939"/>
                  </a:lnTo>
                  <a:lnTo>
                    <a:pt x="2327" y="828"/>
                  </a:lnTo>
                  <a:lnTo>
                    <a:pt x="2286" y="720"/>
                  </a:lnTo>
                  <a:lnTo>
                    <a:pt x="2237" y="616"/>
                  </a:lnTo>
                  <a:lnTo>
                    <a:pt x="2178" y="518"/>
                  </a:lnTo>
                  <a:lnTo>
                    <a:pt x="2108" y="426"/>
                  </a:lnTo>
                  <a:lnTo>
                    <a:pt x="2029" y="342"/>
                  </a:lnTo>
                  <a:lnTo>
                    <a:pt x="1942" y="266"/>
                  </a:lnTo>
                  <a:lnTo>
                    <a:pt x="1850" y="197"/>
                  </a:lnTo>
                  <a:lnTo>
                    <a:pt x="1749" y="139"/>
                  </a:lnTo>
                  <a:lnTo>
                    <a:pt x="1644" y="89"/>
                  </a:lnTo>
                  <a:lnTo>
                    <a:pt x="1534" y="51"/>
                  </a:lnTo>
                  <a:lnTo>
                    <a:pt x="1421" y="23"/>
                  </a:lnTo>
                  <a:lnTo>
                    <a:pt x="1305" y="6"/>
                  </a:lnTo>
                  <a:lnTo>
                    <a:pt x="1189" y="0"/>
                  </a:lnTo>
                  <a:lnTo>
                    <a:pt x="1072" y="6"/>
                  </a:lnTo>
                  <a:lnTo>
                    <a:pt x="956" y="23"/>
                  </a:lnTo>
                  <a:lnTo>
                    <a:pt x="844" y="51"/>
                  </a:lnTo>
                  <a:lnTo>
                    <a:pt x="734" y="89"/>
                  </a:lnTo>
                  <a:lnTo>
                    <a:pt x="628" y="139"/>
                  </a:lnTo>
                  <a:lnTo>
                    <a:pt x="529" y="197"/>
                  </a:lnTo>
                  <a:lnTo>
                    <a:pt x="435" y="266"/>
                  </a:lnTo>
                  <a:lnTo>
                    <a:pt x="348" y="342"/>
                  </a:lnTo>
                  <a:lnTo>
                    <a:pt x="269" y="426"/>
                  </a:lnTo>
                  <a:lnTo>
                    <a:pt x="201" y="518"/>
                  </a:lnTo>
                  <a:lnTo>
                    <a:pt x="140" y="616"/>
                  </a:lnTo>
                  <a:lnTo>
                    <a:pt x="91" y="720"/>
                  </a:lnTo>
                  <a:lnTo>
                    <a:pt x="52" y="828"/>
                  </a:lnTo>
                  <a:lnTo>
                    <a:pt x="22" y="939"/>
                  </a:lnTo>
                  <a:lnTo>
                    <a:pt x="6" y="1052"/>
                  </a:lnTo>
                  <a:lnTo>
                    <a:pt x="0" y="1166"/>
                  </a:lnTo>
                  <a:lnTo>
                    <a:pt x="6" y="1280"/>
                  </a:lnTo>
                  <a:lnTo>
                    <a:pt x="22" y="1394"/>
                  </a:lnTo>
                  <a:lnTo>
                    <a:pt x="52" y="1505"/>
                  </a:lnTo>
                  <a:lnTo>
                    <a:pt x="91" y="1613"/>
                  </a:lnTo>
                  <a:lnTo>
                    <a:pt x="140" y="1717"/>
                  </a:lnTo>
                  <a:lnTo>
                    <a:pt x="201" y="1814"/>
                  </a:lnTo>
                  <a:lnTo>
                    <a:pt x="269" y="1906"/>
                  </a:lnTo>
                  <a:lnTo>
                    <a:pt x="348" y="1991"/>
                  </a:lnTo>
                  <a:lnTo>
                    <a:pt x="435" y="2068"/>
                  </a:lnTo>
                  <a:lnTo>
                    <a:pt x="529" y="2135"/>
                  </a:lnTo>
                  <a:lnTo>
                    <a:pt x="628" y="2195"/>
                  </a:lnTo>
                  <a:lnTo>
                    <a:pt x="734" y="2243"/>
                  </a:lnTo>
                  <a:lnTo>
                    <a:pt x="844" y="2281"/>
                  </a:lnTo>
                  <a:lnTo>
                    <a:pt x="956" y="2309"/>
                  </a:lnTo>
                  <a:lnTo>
                    <a:pt x="1072" y="2327"/>
                  </a:lnTo>
                  <a:lnTo>
                    <a:pt x="1189" y="2332"/>
                  </a:lnTo>
                  <a:lnTo>
                    <a:pt x="1305" y="2327"/>
                  </a:lnTo>
                  <a:lnTo>
                    <a:pt x="1421" y="2309"/>
                  </a:lnTo>
                  <a:lnTo>
                    <a:pt x="1534" y="2281"/>
                  </a:lnTo>
                  <a:lnTo>
                    <a:pt x="1644" y="2243"/>
                  </a:lnTo>
                  <a:lnTo>
                    <a:pt x="1749" y="2195"/>
                  </a:lnTo>
                  <a:lnTo>
                    <a:pt x="1850" y="2135"/>
                  </a:lnTo>
                  <a:lnTo>
                    <a:pt x="1942" y="2068"/>
                  </a:lnTo>
                  <a:lnTo>
                    <a:pt x="2029" y="1991"/>
                  </a:lnTo>
                  <a:lnTo>
                    <a:pt x="2108" y="1906"/>
                  </a:lnTo>
                  <a:lnTo>
                    <a:pt x="2178" y="1814"/>
                  </a:lnTo>
                  <a:lnTo>
                    <a:pt x="2237" y="1717"/>
                  </a:lnTo>
                  <a:lnTo>
                    <a:pt x="2286" y="1613"/>
                  </a:lnTo>
                  <a:lnTo>
                    <a:pt x="2327" y="1505"/>
                  </a:lnTo>
                  <a:lnTo>
                    <a:pt x="2355" y="1394"/>
                  </a:lnTo>
                  <a:lnTo>
                    <a:pt x="2371" y="1280"/>
                  </a:lnTo>
                  <a:lnTo>
                    <a:pt x="2377" y="1166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71845CDD-CC53-2ADE-076A-83E7DFA13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" y="10026"/>
              <a:ext cx="199" cy="195"/>
            </a:xfrm>
            <a:custGeom>
              <a:avLst/>
              <a:gdLst>
                <a:gd name="T0" fmla="*/ 595 w 595"/>
                <a:gd name="T1" fmla="*/ 292 h 584"/>
                <a:gd name="T2" fmla="*/ 589 w 595"/>
                <a:gd name="T3" fmla="*/ 235 h 584"/>
                <a:gd name="T4" fmla="*/ 573 w 595"/>
                <a:gd name="T5" fmla="*/ 181 h 584"/>
                <a:gd name="T6" fmla="*/ 545 w 595"/>
                <a:gd name="T7" fmla="*/ 130 h 584"/>
                <a:gd name="T8" fmla="*/ 508 w 595"/>
                <a:gd name="T9" fmla="*/ 86 h 584"/>
                <a:gd name="T10" fmla="*/ 463 w 595"/>
                <a:gd name="T11" fmla="*/ 50 h 584"/>
                <a:gd name="T12" fmla="*/ 412 w 595"/>
                <a:gd name="T13" fmla="*/ 22 h 584"/>
                <a:gd name="T14" fmla="*/ 356 w 595"/>
                <a:gd name="T15" fmla="*/ 6 h 584"/>
                <a:gd name="T16" fmla="*/ 298 w 595"/>
                <a:gd name="T17" fmla="*/ 0 h 584"/>
                <a:gd name="T18" fmla="*/ 239 w 595"/>
                <a:gd name="T19" fmla="*/ 6 h 584"/>
                <a:gd name="T20" fmla="*/ 184 w 595"/>
                <a:gd name="T21" fmla="*/ 22 h 584"/>
                <a:gd name="T22" fmla="*/ 132 w 595"/>
                <a:gd name="T23" fmla="*/ 50 h 584"/>
                <a:gd name="T24" fmla="*/ 87 w 595"/>
                <a:gd name="T25" fmla="*/ 86 h 584"/>
                <a:gd name="T26" fmla="*/ 50 w 595"/>
                <a:gd name="T27" fmla="*/ 130 h 584"/>
                <a:gd name="T28" fmla="*/ 23 w 595"/>
                <a:gd name="T29" fmla="*/ 181 h 584"/>
                <a:gd name="T30" fmla="*/ 6 w 595"/>
                <a:gd name="T31" fmla="*/ 235 h 584"/>
                <a:gd name="T32" fmla="*/ 0 w 595"/>
                <a:gd name="T33" fmla="*/ 292 h 584"/>
                <a:gd name="T34" fmla="*/ 6 w 595"/>
                <a:gd name="T35" fmla="*/ 349 h 584"/>
                <a:gd name="T36" fmla="*/ 23 w 595"/>
                <a:gd name="T37" fmla="*/ 405 h 584"/>
                <a:gd name="T38" fmla="*/ 50 w 595"/>
                <a:gd name="T39" fmla="*/ 454 h 584"/>
                <a:gd name="T40" fmla="*/ 87 w 595"/>
                <a:gd name="T41" fmla="*/ 498 h 584"/>
                <a:gd name="T42" fmla="*/ 132 w 595"/>
                <a:gd name="T43" fmla="*/ 535 h 584"/>
                <a:gd name="T44" fmla="*/ 184 w 595"/>
                <a:gd name="T45" fmla="*/ 562 h 584"/>
                <a:gd name="T46" fmla="*/ 239 w 595"/>
                <a:gd name="T47" fmla="*/ 578 h 584"/>
                <a:gd name="T48" fmla="*/ 298 w 595"/>
                <a:gd name="T49" fmla="*/ 584 h 584"/>
                <a:gd name="T50" fmla="*/ 356 w 595"/>
                <a:gd name="T51" fmla="*/ 578 h 584"/>
                <a:gd name="T52" fmla="*/ 412 w 595"/>
                <a:gd name="T53" fmla="*/ 562 h 584"/>
                <a:gd name="T54" fmla="*/ 463 w 595"/>
                <a:gd name="T55" fmla="*/ 535 h 584"/>
                <a:gd name="T56" fmla="*/ 508 w 595"/>
                <a:gd name="T57" fmla="*/ 498 h 584"/>
                <a:gd name="T58" fmla="*/ 545 w 595"/>
                <a:gd name="T59" fmla="*/ 454 h 584"/>
                <a:gd name="T60" fmla="*/ 573 w 595"/>
                <a:gd name="T61" fmla="*/ 405 h 584"/>
                <a:gd name="T62" fmla="*/ 589 w 595"/>
                <a:gd name="T63" fmla="*/ 349 h 584"/>
                <a:gd name="T64" fmla="*/ 595 w 595"/>
                <a:gd name="T65" fmla="*/ 29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5" h="584">
                  <a:moveTo>
                    <a:pt x="595" y="292"/>
                  </a:moveTo>
                  <a:lnTo>
                    <a:pt x="589" y="235"/>
                  </a:lnTo>
                  <a:lnTo>
                    <a:pt x="573" y="181"/>
                  </a:lnTo>
                  <a:lnTo>
                    <a:pt x="545" y="130"/>
                  </a:lnTo>
                  <a:lnTo>
                    <a:pt x="508" y="86"/>
                  </a:lnTo>
                  <a:lnTo>
                    <a:pt x="463" y="50"/>
                  </a:lnTo>
                  <a:lnTo>
                    <a:pt x="412" y="22"/>
                  </a:lnTo>
                  <a:lnTo>
                    <a:pt x="356" y="6"/>
                  </a:lnTo>
                  <a:lnTo>
                    <a:pt x="298" y="0"/>
                  </a:lnTo>
                  <a:lnTo>
                    <a:pt x="239" y="6"/>
                  </a:lnTo>
                  <a:lnTo>
                    <a:pt x="184" y="22"/>
                  </a:lnTo>
                  <a:lnTo>
                    <a:pt x="132" y="50"/>
                  </a:lnTo>
                  <a:lnTo>
                    <a:pt x="87" y="86"/>
                  </a:lnTo>
                  <a:lnTo>
                    <a:pt x="50" y="130"/>
                  </a:lnTo>
                  <a:lnTo>
                    <a:pt x="23" y="181"/>
                  </a:lnTo>
                  <a:lnTo>
                    <a:pt x="6" y="235"/>
                  </a:lnTo>
                  <a:lnTo>
                    <a:pt x="0" y="292"/>
                  </a:lnTo>
                  <a:lnTo>
                    <a:pt x="6" y="349"/>
                  </a:lnTo>
                  <a:lnTo>
                    <a:pt x="23" y="405"/>
                  </a:lnTo>
                  <a:lnTo>
                    <a:pt x="50" y="454"/>
                  </a:lnTo>
                  <a:lnTo>
                    <a:pt x="87" y="498"/>
                  </a:lnTo>
                  <a:lnTo>
                    <a:pt x="132" y="535"/>
                  </a:lnTo>
                  <a:lnTo>
                    <a:pt x="184" y="562"/>
                  </a:lnTo>
                  <a:lnTo>
                    <a:pt x="239" y="578"/>
                  </a:lnTo>
                  <a:lnTo>
                    <a:pt x="298" y="584"/>
                  </a:lnTo>
                  <a:lnTo>
                    <a:pt x="356" y="578"/>
                  </a:lnTo>
                  <a:lnTo>
                    <a:pt x="412" y="562"/>
                  </a:lnTo>
                  <a:lnTo>
                    <a:pt x="463" y="535"/>
                  </a:lnTo>
                  <a:lnTo>
                    <a:pt x="508" y="498"/>
                  </a:lnTo>
                  <a:lnTo>
                    <a:pt x="545" y="454"/>
                  </a:lnTo>
                  <a:lnTo>
                    <a:pt x="573" y="405"/>
                  </a:lnTo>
                  <a:lnTo>
                    <a:pt x="589" y="349"/>
                  </a:lnTo>
                  <a:lnTo>
                    <a:pt x="595" y="292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BF8E9379-7E11-DE94-3C93-4A6814102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82" y="8413"/>
              <a:ext cx="1" cy="16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B624E3DD-B6A5-6181-8231-BF0041CCD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793"/>
              <a:ext cx="76" cy="7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C20791D2-7A6B-E7FC-4FF2-16C1AB24A1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797"/>
              <a:ext cx="171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BBCAC7EE-0F3D-E537-6847-136B5254D1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894"/>
              <a:ext cx="171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1F808050-7388-7340-C84F-A9CA682D6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9" y="8992"/>
              <a:ext cx="165" cy="16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0DB291BC-A8FB-C3F7-B4AA-14BE62634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793"/>
              <a:ext cx="81" cy="7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31E9AD79-4A5F-3462-706B-B63A9D953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58" y="9089"/>
              <a:ext cx="66" cy="6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956E7D53-50C1-0897-498D-ED337072D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802"/>
              <a:ext cx="170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75946C34-F598-EAA9-694E-D3B06258C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08" y="9138"/>
              <a:ext cx="16" cy="1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141EF396-13E8-9AA1-1A36-797F90A73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900"/>
              <a:ext cx="170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C98FCC2C-3BE5-5789-1CFD-4DC7C07E1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57" y="8997"/>
              <a:ext cx="159" cy="15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E15A5D00-071C-D9F6-6FB5-E90FDB3A7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56" y="9094"/>
              <a:ext cx="60" cy="5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227A97D4-3809-DF56-E03B-D5B20B2C3C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6" y="9153"/>
              <a:ext cx="17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F052FA37-9F89-2F15-61D2-E7FBDBE46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6" y="8793"/>
              <a:ext cx="1" cy="3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47545B46-98D4-39ED-C8CE-E15662792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6" y="8793"/>
              <a:ext cx="17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EA66BC96-728C-023F-C96B-DA2A95E77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" y="9153"/>
              <a:ext cx="17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Line 32">
              <a:extLst>
                <a:ext uri="{FF2B5EF4-FFF2-40B4-BE49-F238E27FC236}">
                  <a16:creationId xmlns:a16="http://schemas.microsoft.com/office/drawing/2014/main" id="{B5FC2D13-727E-97E1-2B1A-D56BCC5E4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4" y="8793"/>
              <a:ext cx="1" cy="3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Line 33">
              <a:extLst>
                <a:ext uri="{FF2B5EF4-FFF2-40B4-BE49-F238E27FC236}">
                  <a16:creationId xmlns:a16="http://schemas.microsoft.com/office/drawing/2014/main" id="{0A5BF3F4-4BEC-4F30-AD58-44F202D68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" y="8793"/>
              <a:ext cx="17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A1366D6A-CA58-9FDB-F9AD-C5566D649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4"/>
              <a:ext cx="795" cy="1057"/>
            </a:xfrm>
            <a:custGeom>
              <a:avLst/>
              <a:gdLst>
                <a:gd name="T0" fmla="*/ 2147 w 2385"/>
                <a:gd name="T1" fmla="*/ 3171 h 3171"/>
                <a:gd name="T2" fmla="*/ 2217 w 2385"/>
                <a:gd name="T3" fmla="*/ 3020 h 3171"/>
                <a:gd name="T4" fmla="*/ 2275 w 2385"/>
                <a:gd name="T5" fmla="*/ 2867 h 3171"/>
                <a:gd name="T6" fmla="*/ 2321 w 2385"/>
                <a:gd name="T7" fmla="*/ 2708 h 3171"/>
                <a:gd name="T8" fmla="*/ 2355 w 2385"/>
                <a:gd name="T9" fmla="*/ 2548 h 3171"/>
                <a:gd name="T10" fmla="*/ 2376 w 2385"/>
                <a:gd name="T11" fmla="*/ 2384 h 3171"/>
                <a:gd name="T12" fmla="*/ 2385 w 2385"/>
                <a:gd name="T13" fmla="*/ 2221 h 3171"/>
                <a:gd name="T14" fmla="*/ 2382 w 2385"/>
                <a:gd name="T15" fmla="*/ 2056 h 3171"/>
                <a:gd name="T16" fmla="*/ 2366 w 2385"/>
                <a:gd name="T17" fmla="*/ 1892 h 3171"/>
                <a:gd name="T18" fmla="*/ 2336 w 2385"/>
                <a:gd name="T19" fmla="*/ 1730 h 3171"/>
                <a:gd name="T20" fmla="*/ 2296 w 2385"/>
                <a:gd name="T21" fmla="*/ 1570 h 3171"/>
                <a:gd name="T22" fmla="*/ 2242 w 2385"/>
                <a:gd name="T23" fmla="*/ 1415 h 3171"/>
                <a:gd name="T24" fmla="*/ 2177 w 2385"/>
                <a:gd name="T25" fmla="*/ 1263 h 3171"/>
                <a:gd name="T26" fmla="*/ 2101 w 2385"/>
                <a:gd name="T27" fmla="*/ 1116 h 3171"/>
                <a:gd name="T28" fmla="*/ 2013 w 2385"/>
                <a:gd name="T29" fmla="*/ 976 h 3171"/>
                <a:gd name="T30" fmla="*/ 1914 w 2385"/>
                <a:gd name="T31" fmla="*/ 843 h 3171"/>
                <a:gd name="T32" fmla="*/ 1807 w 2385"/>
                <a:gd name="T33" fmla="*/ 717 h 3171"/>
                <a:gd name="T34" fmla="*/ 1689 w 2385"/>
                <a:gd name="T35" fmla="*/ 599 h 3171"/>
                <a:gd name="T36" fmla="*/ 1563 w 2385"/>
                <a:gd name="T37" fmla="*/ 491 h 3171"/>
                <a:gd name="T38" fmla="*/ 1429 w 2385"/>
                <a:gd name="T39" fmla="*/ 392 h 3171"/>
                <a:gd name="T40" fmla="*/ 1287 w 2385"/>
                <a:gd name="T41" fmla="*/ 303 h 3171"/>
                <a:gd name="T42" fmla="*/ 1140 w 2385"/>
                <a:gd name="T43" fmla="*/ 225 h 3171"/>
                <a:gd name="T44" fmla="*/ 986 w 2385"/>
                <a:gd name="T45" fmla="*/ 158 h 3171"/>
                <a:gd name="T46" fmla="*/ 828 w 2385"/>
                <a:gd name="T47" fmla="*/ 103 h 3171"/>
                <a:gd name="T48" fmla="*/ 667 w 2385"/>
                <a:gd name="T49" fmla="*/ 59 h 3171"/>
                <a:gd name="T50" fmla="*/ 502 w 2385"/>
                <a:gd name="T51" fmla="*/ 27 h 3171"/>
                <a:gd name="T52" fmla="*/ 335 w 2385"/>
                <a:gd name="T53" fmla="*/ 8 h 3171"/>
                <a:gd name="T54" fmla="*/ 168 w 2385"/>
                <a:gd name="T55" fmla="*/ 0 h 3171"/>
                <a:gd name="T56" fmla="*/ 0 w 2385"/>
                <a:gd name="T57" fmla="*/ 6 h 3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85" h="3171">
                  <a:moveTo>
                    <a:pt x="2147" y="3171"/>
                  </a:moveTo>
                  <a:lnTo>
                    <a:pt x="2217" y="3020"/>
                  </a:lnTo>
                  <a:lnTo>
                    <a:pt x="2275" y="2867"/>
                  </a:lnTo>
                  <a:lnTo>
                    <a:pt x="2321" y="2708"/>
                  </a:lnTo>
                  <a:lnTo>
                    <a:pt x="2355" y="2548"/>
                  </a:lnTo>
                  <a:lnTo>
                    <a:pt x="2376" y="2384"/>
                  </a:lnTo>
                  <a:lnTo>
                    <a:pt x="2385" y="2221"/>
                  </a:lnTo>
                  <a:lnTo>
                    <a:pt x="2382" y="2056"/>
                  </a:lnTo>
                  <a:lnTo>
                    <a:pt x="2366" y="1892"/>
                  </a:lnTo>
                  <a:lnTo>
                    <a:pt x="2336" y="1730"/>
                  </a:lnTo>
                  <a:lnTo>
                    <a:pt x="2296" y="1570"/>
                  </a:lnTo>
                  <a:lnTo>
                    <a:pt x="2242" y="1415"/>
                  </a:lnTo>
                  <a:lnTo>
                    <a:pt x="2177" y="1263"/>
                  </a:lnTo>
                  <a:lnTo>
                    <a:pt x="2101" y="1116"/>
                  </a:lnTo>
                  <a:lnTo>
                    <a:pt x="2013" y="976"/>
                  </a:lnTo>
                  <a:lnTo>
                    <a:pt x="1914" y="843"/>
                  </a:lnTo>
                  <a:lnTo>
                    <a:pt x="1807" y="717"/>
                  </a:lnTo>
                  <a:lnTo>
                    <a:pt x="1689" y="599"/>
                  </a:lnTo>
                  <a:lnTo>
                    <a:pt x="1563" y="491"/>
                  </a:lnTo>
                  <a:lnTo>
                    <a:pt x="1429" y="392"/>
                  </a:lnTo>
                  <a:lnTo>
                    <a:pt x="1287" y="303"/>
                  </a:lnTo>
                  <a:lnTo>
                    <a:pt x="1140" y="225"/>
                  </a:lnTo>
                  <a:lnTo>
                    <a:pt x="986" y="158"/>
                  </a:lnTo>
                  <a:lnTo>
                    <a:pt x="828" y="103"/>
                  </a:lnTo>
                  <a:lnTo>
                    <a:pt x="667" y="59"/>
                  </a:lnTo>
                  <a:lnTo>
                    <a:pt x="502" y="27"/>
                  </a:lnTo>
                  <a:lnTo>
                    <a:pt x="335" y="8"/>
                  </a:lnTo>
                  <a:lnTo>
                    <a:pt x="168" y="0"/>
                  </a:lnTo>
                  <a:lnTo>
                    <a:pt x="0" y="6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91165C42-D185-BB9C-301A-19416AAEA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6"/>
              <a:ext cx="448" cy="146"/>
            </a:xfrm>
            <a:custGeom>
              <a:avLst/>
              <a:gdLst>
                <a:gd name="T0" fmla="*/ 0 w 1344"/>
                <a:gd name="T1" fmla="*/ 0 h 438"/>
                <a:gd name="T2" fmla="*/ 1344 w 1344"/>
                <a:gd name="T3" fmla="*/ 31 h 438"/>
                <a:gd name="T4" fmla="*/ 1269 w 1344"/>
                <a:gd name="T5" fmla="*/ 438 h 438"/>
                <a:gd name="T6" fmla="*/ 0 w 1344"/>
                <a:gd name="T7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438">
                  <a:moveTo>
                    <a:pt x="0" y="0"/>
                  </a:moveTo>
                  <a:lnTo>
                    <a:pt x="1344" y="31"/>
                  </a:lnTo>
                  <a:lnTo>
                    <a:pt x="1269" y="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868E438D-CA3B-AA7E-2A67-0D0E3A40E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6"/>
              <a:ext cx="448" cy="146"/>
            </a:xfrm>
            <a:custGeom>
              <a:avLst/>
              <a:gdLst>
                <a:gd name="T0" fmla="*/ 0 w 1344"/>
                <a:gd name="T1" fmla="*/ 0 h 438"/>
                <a:gd name="T2" fmla="*/ 1344 w 1344"/>
                <a:gd name="T3" fmla="*/ 31 h 438"/>
                <a:gd name="T4" fmla="*/ 1269 w 1344"/>
                <a:gd name="T5" fmla="*/ 438 h 438"/>
                <a:gd name="T6" fmla="*/ 0 w 1344"/>
                <a:gd name="T7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438">
                  <a:moveTo>
                    <a:pt x="0" y="0"/>
                  </a:moveTo>
                  <a:lnTo>
                    <a:pt x="1344" y="31"/>
                  </a:lnTo>
                  <a:lnTo>
                    <a:pt x="1269" y="4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F0B44201-627D-CC6A-669B-F2B033E08054}"/>
              </a:ext>
            </a:extLst>
          </p:cNvPr>
          <p:cNvSpPr/>
          <p:nvPr/>
        </p:nvSpPr>
        <p:spPr>
          <a:xfrm>
            <a:off x="2789848" y="3126280"/>
            <a:ext cx="3106800" cy="310494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EBD7C56-52A6-82A6-5BBC-3E43C3824D89}"/>
              </a:ext>
            </a:extLst>
          </p:cNvPr>
          <p:cNvSpPr/>
          <p:nvPr/>
        </p:nvSpPr>
        <p:spPr>
          <a:xfrm>
            <a:off x="3411066" y="3655330"/>
            <a:ext cx="939600" cy="939708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2E0AA85-2A99-7B15-B801-B715380B6078}"/>
              </a:ext>
            </a:extLst>
          </p:cNvPr>
          <p:cNvCxnSpPr>
            <a:cxnSpLocks/>
          </p:cNvCxnSpPr>
          <p:nvPr/>
        </p:nvCxnSpPr>
        <p:spPr>
          <a:xfrm>
            <a:off x="3340763" y="3498235"/>
            <a:ext cx="2006449" cy="2354849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0E449686-72AC-038F-7CDB-823245DC86A0}"/>
              </a:ext>
            </a:extLst>
          </p:cNvPr>
          <p:cNvSpPr/>
          <p:nvPr/>
        </p:nvSpPr>
        <p:spPr>
          <a:xfrm>
            <a:off x="3006669" y="3295172"/>
            <a:ext cx="1835244" cy="18455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9BCB70E-E32A-4D64-222D-3BDF459E231F}"/>
              </a:ext>
            </a:extLst>
          </p:cNvPr>
          <p:cNvCxnSpPr>
            <a:stCxn id="41" idx="6"/>
            <a:endCxn id="8" idx="0"/>
          </p:cNvCxnSpPr>
          <p:nvPr/>
        </p:nvCxnSpPr>
        <p:spPr>
          <a:xfrm flipH="1" flipV="1">
            <a:off x="4343248" y="3126280"/>
            <a:ext cx="7418" cy="99890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3A411A3-C92C-4A30-B28E-B2BBED3E9985}"/>
              </a:ext>
            </a:extLst>
          </p:cNvPr>
          <p:cNvGrpSpPr/>
          <p:nvPr/>
        </p:nvGrpSpPr>
        <p:grpSpPr>
          <a:xfrm>
            <a:off x="4343248" y="3086447"/>
            <a:ext cx="1836723" cy="369332"/>
            <a:chOff x="4343248" y="3086447"/>
            <a:chExt cx="1836723" cy="369332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4F059F1-8429-4A13-ADCE-D4AD63C5320D}"/>
                </a:ext>
              </a:extLst>
            </p:cNvPr>
            <p:cNvCxnSpPr>
              <a:stCxn id="8" idx="0"/>
            </p:cNvCxnSpPr>
            <p:nvPr/>
          </p:nvCxnSpPr>
          <p:spPr>
            <a:xfrm>
              <a:off x="4343248" y="3126280"/>
              <a:ext cx="167323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0229BCD-EE48-4912-9653-8D91972A71BF}"/>
                </a:ext>
              </a:extLst>
            </p:cNvPr>
            <p:cNvCxnSpPr/>
            <p:nvPr/>
          </p:nvCxnSpPr>
          <p:spPr>
            <a:xfrm>
              <a:off x="4350184" y="3421141"/>
              <a:ext cx="167323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280DF420-8049-42AC-8639-2DF9B5ECD83E}"/>
                </a:ext>
              </a:extLst>
            </p:cNvPr>
            <p:cNvCxnSpPr>
              <a:cxnSpLocks/>
            </p:cNvCxnSpPr>
            <p:nvPr/>
          </p:nvCxnSpPr>
          <p:spPr>
            <a:xfrm>
              <a:off x="5792044" y="3113028"/>
              <a:ext cx="0" cy="329728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D7E36CA-DB34-4E0B-B784-2B580F501481}"/>
                </a:ext>
              </a:extLst>
            </p:cNvPr>
            <p:cNvSpPr txBox="1"/>
            <p:nvPr/>
          </p:nvSpPr>
          <p:spPr>
            <a:xfrm>
              <a:off x="5498868" y="3086447"/>
              <a:ext cx="681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AB6C16A9-4A24-42B5-B9F7-BD403A8D8B7A}"/>
              </a:ext>
            </a:extLst>
          </p:cNvPr>
          <p:cNvSpPr txBox="1"/>
          <p:nvPr/>
        </p:nvSpPr>
        <p:spPr>
          <a:xfrm>
            <a:off x="4452346" y="2426743"/>
            <a:ext cx="2044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α=0°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34DE6949-533C-4256-841F-E6B96ACCB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grpSp>
        <p:nvGrpSpPr>
          <p:cNvPr id="57" name="组合 56">
            <a:extLst>
              <a:ext uri="{FF2B5EF4-FFF2-40B4-BE49-F238E27FC236}">
                <a16:creationId xmlns:a16="http://schemas.microsoft.com/office/drawing/2014/main" id="{75ED2F40-FE2F-C011-8C7D-CF82F1080E23}"/>
              </a:ext>
            </a:extLst>
          </p:cNvPr>
          <p:cNvGrpSpPr/>
          <p:nvPr/>
        </p:nvGrpSpPr>
        <p:grpSpPr>
          <a:xfrm>
            <a:off x="1875351" y="3197195"/>
            <a:ext cx="1583802" cy="727209"/>
            <a:chOff x="1875351" y="3197195"/>
            <a:chExt cx="1583802" cy="727209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31F7B5B-CB5C-FC5B-3AA2-C97907CF2288}"/>
                </a:ext>
              </a:extLst>
            </p:cNvPr>
            <p:cNvSpPr txBox="1"/>
            <p:nvPr/>
          </p:nvSpPr>
          <p:spPr>
            <a:xfrm>
              <a:off x="1875351" y="3197195"/>
              <a:ext cx="12820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偏距圆</a:t>
              </a: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E2CF61D-0C27-9F93-25A5-6EE7EF94BE92}"/>
                </a:ext>
              </a:extLst>
            </p:cNvPr>
            <p:cNvCxnSpPr>
              <a:cxnSpLocks/>
            </p:cNvCxnSpPr>
            <p:nvPr/>
          </p:nvCxnSpPr>
          <p:spPr>
            <a:xfrm>
              <a:off x="2789848" y="3397250"/>
              <a:ext cx="669305" cy="527154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B1B22D9-943B-CBAA-AA9E-8E8F303A0D20}"/>
              </a:ext>
            </a:extLst>
          </p:cNvPr>
          <p:cNvGrpSpPr/>
          <p:nvPr/>
        </p:nvGrpSpPr>
        <p:grpSpPr>
          <a:xfrm>
            <a:off x="1834114" y="3667492"/>
            <a:ext cx="1282049" cy="738612"/>
            <a:chOff x="1834114" y="3667492"/>
            <a:chExt cx="1282049" cy="738612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8B3FA209-742F-DA86-D37C-4C857FF1F2E1}"/>
                </a:ext>
              </a:extLst>
            </p:cNvPr>
            <p:cNvSpPr txBox="1"/>
            <p:nvPr/>
          </p:nvSpPr>
          <p:spPr>
            <a:xfrm>
              <a:off x="1834114" y="3667492"/>
              <a:ext cx="12820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基圆</a:t>
              </a:r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DE9C1AD5-8B48-C6AF-3A61-98B3641D6884}"/>
                </a:ext>
              </a:extLst>
            </p:cNvPr>
            <p:cNvCxnSpPr/>
            <p:nvPr/>
          </p:nvCxnSpPr>
          <p:spPr>
            <a:xfrm>
              <a:off x="2475138" y="3908334"/>
              <a:ext cx="531531" cy="49777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FE877DDA-805D-9CE3-3AF2-3A2D57D69FF4}"/>
              </a:ext>
            </a:extLst>
          </p:cNvPr>
          <p:cNvGrpSpPr/>
          <p:nvPr/>
        </p:nvGrpSpPr>
        <p:grpSpPr>
          <a:xfrm>
            <a:off x="1724620" y="5654180"/>
            <a:ext cx="1896507" cy="400110"/>
            <a:chOff x="1724620" y="5654180"/>
            <a:chExt cx="1896507" cy="40011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781B420-F02B-0343-A2AF-D5F2C2BB9756}"/>
                </a:ext>
              </a:extLst>
            </p:cNvPr>
            <p:cNvSpPr txBox="1"/>
            <p:nvPr/>
          </p:nvSpPr>
          <p:spPr>
            <a:xfrm>
              <a:off x="1724620" y="5654180"/>
              <a:ext cx="12820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理论廓线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56996957-6782-3F18-63EF-935E14A7079D}"/>
                </a:ext>
              </a:extLst>
            </p:cNvPr>
            <p:cNvCxnSpPr>
              <a:cxnSpLocks/>
            </p:cNvCxnSpPr>
            <p:nvPr/>
          </p:nvCxnSpPr>
          <p:spPr>
            <a:xfrm>
              <a:off x="2887329" y="5919057"/>
              <a:ext cx="733798" cy="135233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239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8" grpId="0" animBg="1"/>
      <p:bldP spid="41" grpId="0" animBg="1"/>
      <p:bldP spid="47" grpId="0" animBg="1"/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32" y="778413"/>
            <a:ext cx="9630824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>
                <a:latin typeface="宋体" panose="02010600030101010101" pitchFamily="2" charset="-122"/>
                <a:ea typeface="宋体" panose="02010600030101010101" pitchFamily="2" charset="-122"/>
              </a:rPr>
              <a:t>五、图示凸轮机构中，滚子推杆与凸轮在</a:t>
            </a:r>
            <a:r>
              <a:rPr lang="en-US" altLang="zh-CN" sz="2200" b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200" b="1">
                <a:latin typeface="宋体" panose="02010600030101010101" pitchFamily="2" charset="-122"/>
                <a:ea typeface="宋体" panose="02010600030101010101" pitchFamily="2" charset="-122"/>
              </a:rPr>
              <a:t>点接触，试用图解法确定： </a:t>
            </a:r>
            <a:br>
              <a:rPr lang="zh-CN" altLang="en-US" sz="2200" b="1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2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2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>
                <a:latin typeface="宋体" panose="02010600030101010101" pitchFamily="2" charset="-122"/>
                <a:ea typeface="宋体" panose="02010600030101010101" pitchFamily="2" charset="-122"/>
              </a:rPr>
              <a:t>、当凸轮从图示位置逆时针转过</a:t>
            </a:r>
            <a:r>
              <a:rPr lang="en-US" altLang="zh-CN" sz="2200" b="1">
                <a:latin typeface="宋体" panose="02010600030101010101" pitchFamily="2" charset="-122"/>
                <a:ea typeface="宋体" panose="02010600030101010101" pitchFamily="2" charset="-122"/>
              </a:rPr>
              <a:t>90˚</a:t>
            </a:r>
            <a:r>
              <a:rPr lang="zh-CN" altLang="en-US" sz="2200" b="1">
                <a:latin typeface="宋体" panose="02010600030101010101" pitchFamily="2" charset="-122"/>
                <a:ea typeface="宋体" panose="02010600030101010101" pitchFamily="2" charset="-122"/>
              </a:rPr>
              <a:t>时，推杆在凸轮上的接触点；</a:t>
            </a:r>
            <a:br>
              <a:rPr lang="zh-CN" altLang="en-US" sz="2200" b="1"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231221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图五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A2D5A3E-8E64-AB28-8924-F6EEA2679B9F}"/>
              </a:ext>
            </a:extLst>
          </p:cNvPr>
          <p:cNvGrpSpPr>
            <a:grpSpLocks/>
          </p:cNvGrpSpPr>
          <p:nvPr/>
        </p:nvGrpSpPr>
        <p:grpSpPr bwMode="auto">
          <a:xfrm>
            <a:off x="2907512" y="1767601"/>
            <a:ext cx="2884532" cy="4312677"/>
            <a:chOff x="4304" y="8413"/>
            <a:chExt cx="3549" cy="5389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DD5F34E6-94F9-0CA6-AFCD-2270E6732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4" y="12062"/>
              <a:ext cx="3549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A0406EFC-F5D9-0B3B-9409-E03FFD3EA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" y="10522"/>
              <a:ext cx="3" cy="3280"/>
            </a:xfrm>
            <a:custGeom>
              <a:avLst/>
              <a:gdLst>
                <a:gd name="T0" fmla="*/ 0 w 3"/>
                <a:gd name="T1" fmla="*/ 0 h 3280"/>
                <a:gd name="T2" fmla="*/ 3 w 3"/>
                <a:gd name="T3" fmla="*/ 3280 h 3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280">
                  <a:moveTo>
                    <a:pt x="0" y="0"/>
                  </a:moveTo>
                  <a:lnTo>
                    <a:pt x="3" y="3280"/>
                  </a:lnTo>
                </a:path>
              </a:pathLst>
            </a:custGeom>
            <a:solidFill>
              <a:srgbClr val="FFFFFF"/>
            </a:solidFill>
            <a:ln w="15875" cap="flat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947A9261-3CDF-BD95-E444-DA57AFFF0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088"/>
              <a:ext cx="143" cy="14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74710413-0938-07DB-BEF9-8DA7C50E1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229"/>
              <a:ext cx="199" cy="1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96D55E2B-E1C3-B18F-0D18-AF5512CF76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423"/>
              <a:ext cx="199" cy="19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1F726DDD-08A8-E75D-9DB1-C4806F7D4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3" y="11618"/>
              <a:ext cx="95" cy="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1EE08A0-2E50-7E58-E76B-BFDA3908C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0533"/>
              <a:ext cx="3119" cy="3059"/>
            </a:xfrm>
            <a:custGeom>
              <a:avLst/>
              <a:gdLst>
                <a:gd name="T0" fmla="*/ 9351 w 9357"/>
                <a:gd name="T1" fmla="*/ 4355 h 9176"/>
                <a:gd name="T2" fmla="*/ 9303 w 9357"/>
                <a:gd name="T3" fmla="*/ 3892 h 9176"/>
                <a:gd name="T4" fmla="*/ 9208 w 9357"/>
                <a:gd name="T5" fmla="*/ 3437 h 9176"/>
                <a:gd name="T6" fmla="*/ 9066 w 9357"/>
                <a:gd name="T7" fmla="*/ 2995 h 9176"/>
                <a:gd name="T8" fmla="*/ 8879 w 9357"/>
                <a:gd name="T9" fmla="*/ 2567 h 9176"/>
                <a:gd name="T10" fmla="*/ 8649 w 9357"/>
                <a:gd name="T11" fmla="*/ 2161 h 9176"/>
                <a:gd name="T12" fmla="*/ 8378 w 9357"/>
                <a:gd name="T13" fmla="*/ 1779 h 9176"/>
                <a:gd name="T14" fmla="*/ 8070 w 9357"/>
                <a:gd name="T15" fmla="*/ 1427 h 9176"/>
                <a:gd name="T16" fmla="*/ 7725 w 9357"/>
                <a:gd name="T17" fmla="*/ 1106 h 9176"/>
                <a:gd name="T18" fmla="*/ 7352 w 9357"/>
                <a:gd name="T19" fmla="*/ 821 h 9176"/>
                <a:gd name="T20" fmla="*/ 6949 w 9357"/>
                <a:gd name="T21" fmla="*/ 576 h 9176"/>
                <a:gd name="T22" fmla="*/ 6523 w 9357"/>
                <a:gd name="T23" fmla="*/ 370 h 9176"/>
                <a:gd name="T24" fmla="*/ 6079 w 9357"/>
                <a:gd name="T25" fmla="*/ 210 h 9176"/>
                <a:gd name="T26" fmla="*/ 5621 w 9357"/>
                <a:gd name="T27" fmla="*/ 93 h 9176"/>
                <a:gd name="T28" fmla="*/ 5151 w 9357"/>
                <a:gd name="T29" fmla="*/ 23 h 9176"/>
                <a:gd name="T30" fmla="*/ 4678 w 9357"/>
                <a:gd name="T31" fmla="*/ 0 h 9176"/>
                <a:gd name="T32" fmla="*/ 4205 w 9357"/>
                <a:gd name="T33" fmla="*/ 23 h 9176"/>
                <a:gd name="T34" fmla="*/ 3736 w 9357"/>
                <a:gd name="T35" fmla="*/ 93 h 9176"/>
                <a:gd name="T36" fmla="*/ 3277 w 9357"/>
                <a:gd name="T37" fmla="*/ 210 h 9176"/>
                <a:gd name="T38" fmla="*/ 2833 w 9357"/>
                <a:gd name="T39" fmla="*/ 370 h 9176"/>
                <a:gd name="T40" fmla="*/ 2407 w 9357"/>
                <a:gd name="T41" fmla="*/ 576 h 9176"/>
                <a:gd name="T42" fmla="*/ 2005 w 9357"/>
                <a:gd name="T43" fmla="*/ 821 h 9176"/>
                <a:gd name="T44" fmla="*/ 1631 w 9357"/>
                <a:gd name="T45" fmla="*/ 1106 h 9176"/>
                <a:gd name="T46" fmla="*/ 1287 w 9357"/>
                <a:gd name="T47" fmla="*/ 1427 h 9176"/>
                <a:gd name="T48" fmla="*/ 979 w 9357"/>
                <a:gd name="T49" fmla="*/ 1779 h 9176"/>
                <a:gd name="T50" fmla="*/ 708 w 9357"/>
                <a:gd name="T51" fmla="*/ 2161 h 9176"/>
                <a:gd name="T52" fmla="*/ 478 w 9357"/>
                <a:gd name="T53" fmla="*/ 2567 h 9176"/>
                <a:gd name="T54" fmla="*/ 290 w 9357"/>
                <a:gd name="T55" fmla="*/ 2995 h 9176"/>
                <a:gd name="T56" fmla="*/ 149 w 9357"/>
                <a:gd name="T57" fmla="*/ 3437 h 9176"/>
                <a:gd name="T58" fmla="*/ 54 w 9357"/>
                <a:gd name="T59" fmla="*/ 3892 h 9176"/>
                <a:gd name="T60" fmla="*/ 6 w 9357"/>
                <a:gd name="T61" fmla="*/ 4355 h 9176"/>
                <a:gd name="T62" fmla="*/ 6 w 9357"/>
                <a:gd name="T63" fmla="*/ 4821 h 9176"/>
                <a:gd name="T64" fmla="*/ 54 w 9357"/>
                <a:gd name="T65" fmla="*/ 5282 h 9176"/>
                <a:gd name="T66" fmla="*/ 149 w 9357"/>
                <a:gd name="T67" fmla="*/ 5737 h 9176"/>
                <a:gd name="T68" fmla="*/ 290 w 9357"/>
                <a:gd name="T69" fmla="*/ 6181 h 9176"/>
                <a:gd name="T70" fmla="*/ 478 w 9357"/>
                <a:gd name="T71" fmla="*/ 6609 h 9176"/>
                <a:gd name="T72" fmla="*/ 708 w 9357"/>
                <a:gd name="T73" fmla="*/ 7014 h 9176"/>
                <a:gd name="T74" fmla="*/ 979 w 9357"/>
                <a:gd name="T75" fmla="*/ 7397 h 9176"/>
                <a:gd name="T76" fmla="*/ 1287 w 9357"/>
                <a:gd name="T77" fmla="*/ 7749 h 9176"/>
                <a:gd name="T78" fmla="*/ 1631 w 9357"/>
                <a:gd name="T79" fmla="*/ 8070 h 9176"/>
                <a:gd name="T80" fmla="*/ 2005 w 9357"/>
                <a:gd name="T81" fmla="*/ 8354 h 9176"/>
                <a:gd name="T82" fmla="*/ 2407 w 9357"/>
                <a:gd name="T83" fmla="*/ 8600 h 9176"/>
                <a:gd name="T84" fmla="*/ 2833 w 9357"/>
                <a:gd name="T85" fmla="*/ 8804 h 9176"/>
                <a:gd name="T86" fmla="*/ 3277 w 9357"/>
                <a:gd name="T87" fmla="*/ 8966 h 9176"/>
                <a:gd name="T88" fmla="*/ 3736 w 9357"/>
                <a:gd name="T89" fmla="*/ 9083 h 9176"/>
                <a:gd name="T90" fmla="*/ 4205 w 9357"/>
                <a:gd name="T91" fmla="*/ 9153 h 9176"/>
                <a:gd name="T92" fmla="*/ 4678 w 9357"/>
                <a:gd name="T93" fmla="*/ 9176 h 9176"/>
                <a:gd name="T94" fmla="*/ 5151 w 9357"/>
                <a:gd name="T95" fmla="*/ 9153 h 9176"/>
                <a:gd name="T96" fmla="*/ 5621 w 9357"/>
                <a:gd name="T97" fmla="*/ 9083 h 9176"/>
                <a:gd name="T98" fmla="*/ 6079 w 9357"/>
                <a:gd name="T99" fmla="*/ 8966 h 9176"/>
                <a:gd name="T100" fmla="*/ 6523 w 9357"/>
                <a:gd name="T101" fmla="*/ 8804 h 9176"/>
                <a:gd name="T102" fmla="*/ 6949 w 9357"/>
                <a:gd name="T103" fmla="*/ 8600 h 9176"/>
                <a:gd name="T104" fmla="*/ 7352 w 9357"/>
                <a:gd name="T105" fmla="*/ 8354 h 9176"/>
                <a:gd name="T106" fmla="*/ 7725 w 9357"/>
                <a:gd name="T107" fmla="*/ 8070 h 9176"/>
                <a:gd name="T108" fmla="*/ 8070 w 9357"/>
                <a:gd name="T109" fmla="*/ 7749 h 9176"/>
                <a:gd name="T110" fmla="*/ 8378 w 9357"/>
                <a:gd name="T111" fmla="*/ 7397 h 9176"/>
                <a:gd name="T112" fmla="*/ 8649 w 9357"/>
                <a:gd name="T113" fmla="*/ 7014 h 9176"/>
                <a:gd name="T114" fmla="*/ 8879 w 9357"/>
                <a:gd name="T115" fmla="*/ 6609 h 9176"/>
                <a:gd name="T116" fmla="*/ 9066 w 9357"/>
                <a:gd name="T117" fmla="*/ 6181 h 9176"/>
                <a:gd name="T118" fmla="*/ 9208 w 9357"/>
                <a:gd name="T119" fmla="*/ 5737 h 9176"/>
                <a:gd name="T120" fmla="*/ 9303 w 9357"/>
                <a:gd name="T121" fmla="*/ 5282 h 9176"/>
                <a:gd name="T122" fmla="*/ 9351 w 9357"/>
                <a:gd name="T123" fmla="*/ 4821 h 9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357" h="9176">
                  <a:moveTo>
                    <a:pt x="9357" y="4587"/>
                  </a:moveTo>
                  <a:lnTo>
                    <a:pt x="9351" y="4355"/>
                  </a:lnTo>
                  <a:lnTo>
                    <a:pt x="9333" y="4123"/>
                  </a:lnTo>
                  <a:lnTo>
                    <a:pt x="9303" y="3892"/>
                  </a:lnTo>
                  <a:lnTo>
                    <a:pt x="9261" y="3665"/>
                  </a:lnTo>
                  <a:lnTo>
                    <a:pt x="9208" y="3437"/>
                  </a:lnTo>
                  <a:lnTo>
                    <a:pt x="9142" y="3214"/>
                  </a:lnTo>
                  <a:lnTo>
                    <a:pt x="9066" y="2995"/>
                  </a:lnTo>
                  <a:lnTo>
                    <a:pt x="8978" y="2779"/>
                  </a:lnTo>
                  <a:lnTo>
                    <a:pt x="8879" y="2567"/>
                  </a:lnTo>
                  <a:lnTo>
                    <a:pt x="8770" y="2361"/>
                  </a:lnTo>
                  <a:lnTo>
                    <a:pt x="8649" y="2161"/>
                  </a:lnTo>
                  <a:lnTo>
                    <a:pt x="8518" y="1967"/>
                  </a:lnTo>
                  <a:lnTo>
                    <a:pt x="8378" y="1779"/>
                  </a:lnTo>
                  <a:lnTo>
                    <a:pt x="8228" y="1599"/>
                  </a:lnTo>
                  <a:lnTo>
                    <a:pt x="8070" y="1427"/>
                  </a:lnTo>
                  <a:lnTo>
                    <a:pt x="7901" y="1262"/>
                  </a:lnTo>
                  <a:lnTo>
                    <a:pt x="7725" y="1106"/>
                  </a:lnTo>
                  <a:lnTo>
                    <a:pt x="7542" y="958"/>
                  </a:lnTo>
                  <a:lnTo>
                    <a:pt x="7352" y="821"/>
                  </a:lnTo>
                  <a:lnTo>
                    <a:pt x="7153" y="694"/>
                  </a:lnTo>
                  <a:lnTo>
                    <a:pt x="6949" y="576"/>
                  </a:lnTo>
                  <a:lnTo>
                    <a:pt x="6739" y="468"/>
                  </a:lnTo>
                  <a:lnTo>
                    <a:pt x="6523" y="370"/>
                  </a:lnTo>
                  <a:lnTo>
                    <a:pt x="6303" y="284"/>
                  </a:lnTo>
                  <a:lnTo>
                    <a:pt x="6079" y="210"/>
                  </a:lnTo>
                  <a:lnTo>
                    <a:pt x="5851" y="145"/>
                  </a:lnTo>
                  <a:lnTo>
                    <a:pt x="5621" y="93"/>
                  </a:lnTo>
                  <a:lnTo>
                    <a:pt x="5387" y="52"/>
                  </a:lnTo>
                  <a:lnTo>
                    <a:pt x="5151" y="23"/>
                  </a:lnTo>
                  <a:lnTo>
                    <a:pt x="4914" y="5"/>
                  </a:lnTo>
                  <a:lnTo>
                    <a:pt x="4678" y="0"/>
                  </a:lnTo>
                  <a:lnTo>
                    <a:pt x="4441" y="5"/>
                  </a:lnTo>
                  <a:lnTo>
                    <a:pt x="4205" y="23"/>
                  </a:lnTo>
                  <a:lnTo>
                    <a:pt x="3970" y="52"/>
                  </a:lnTo>
                  <a:lnTo>
                    <a:pt x="3736" y="93"/>
                  </a:lnTo>
                  <a:lnTo>
                    <a:pt x="3505" y="145"/>
                  </a:lnTo>
                  <a:lnTo>
                    <a:pt x="3277" y="210"/>
                  </a:lnTo>
                  <a:lnTo>
                    <a:pt x="3054" y="284"/>
                  </a:lnTo>
                  <a:lnTo>
                    <a:pt x="2833" y="370"/>
                  </a:lnTo>
                  <a:lnTo>
                    <a:pt x="2617" y="468"/>
                  </a:lnTo>
                  <a:lnTo>
                    <a:pt x="2407" y="576"/>
                  </a:lnTo>
                  <a:lnTo>
                    <a:pt x="2203" y="694"/>
                  </a:lnTo>
                  <a:lnTo>
                    <a:pt x="2005" y="821"/>
                  </a:lnTo>
                  <a:lnTo>
                    <a:pt x="1814" y="958"/>
                  </a:lnTo>
                  <a:lnTo>
                    <a:pt x="1631" y="1106"/>
                  </a:lnTo>
                  <a:lnTo>
                    <a:pt x="1455" y="1262"/>
                  </a:lnTo>
                  <a:lnTo>
                    <a:pt x="1287" y="1427"/>
                  </a:lnTo>
                  <a:lnTo>
                    <a:pt x="1128" y="1599"/>
                  </a:lnTo>
                  <a:lnTo>
                    <a:pt x="979" y="1779"/>
                  </a:lnTo>
                  <a:lnTo>
                    <a:pt x="839" y="1967"/>
                  </a:lnTo>
                  <a:lnTo>
                    <a:pt x="708" y="2161"/>
                  </a:lnTo>
                  <a:lnTo>
                    <a:pt x="587" y="2361"/>
                  </a:lnTo>
                  <a:lnTo>
                    <a:pt x="478" y="2567"/>
                  </a:lnTo>
                  <a:lnTo>
                    <a:pt x="378" y="2779"/>
                  </a:lnTo>
                  <a:lnTo>
                    <a:pt x="290" y="2995"/>
                  </a:lnTo>
                  <a:lnTo>
                    <a:pt x="214" y="3214"/>
                  </a:lnTo>
                  <a:lnTo>
                    <a:pt x="149" y="3437"/>
                  </a:lnTo>
                  <a:lnTo>
                    <a:pt x="95" y="3665"/>
                  </a:lnTo>
                  <a:lnTo>
                    <a:pt x="54" y="3892"/>
                  </a:lnTo>
                  <a:lnTo>
                    <a:pt x="24" y="4123"/>
                  </a:lnTo>
                  <a:lnTo>
                    <a:pt x="6" y="4355"/>
                  </a:lnTo>
                  <a:lnTo>
                    <a:pt x="0" y="4587"/>
                  </a:lnTo>
                  <a:lnTo>
                    <a:pt x="6" y="4821"/>
                  </a:lnTo>
                  <a:lnTo>
                    <a:pt x="24" y="5051"/>
                  </a:lnTo>
                  <a:lnTo>
                    <a:pt x="54" y="5282"/>
                  </a:lnTo>
                  <a:lnTo>
                    <a:pt x="95" y="5511"/>
                  </a:lnTo>
                  <a:lnTo>
                    <a:pt x="149" y="5737"/>
                  </a:lnTo>
                  <a:lnTo>
                    <a:pt x="214" y="5962"/>
                  </a:lnTo>
                  <a:lnTo>
                    <a:pt x="290" y="6181"/>
                  </a:lnTo>
                  <a:lnTo>
                    <a:pt x="378" y="6397"/>
                  </a:lnTo>
                  <a:lnTo>
                    <a:pt x="478" y="6609"/>
                  </a:lnTo>
                  <a:lnTo>
                    <a:pt x="587" y="6814"/>
                  </a:lnTo>
                  <a:lnTo>
                    <a:pt x="708" y="7014"/>
                  </a:lnTo>
                  <a:lnTo>
                    <a:pt x="839" y="7209"/>
                  </a:lnTo>
                  <a:lnTo>
                    <a:pt x="979" y="7397"/>
                  </a:lnTo>
                  <a:lnTo>
                    <a:pt x="1128" y="7576"/>
                  </a:lnTo>
                  <a:lnTo>
                    <a:pt x="1287" y="7749"/>
                  </a:lnTo>
                  <a:lnTo>
                    <a:pt x="1455" y="7913"/>
                  </a:lnTo>
                  <a:lnTo>
                    <a:pt x="1631" y="8070"/>
                  </a:lnTo>
                  <a:lnTo>
                    <a:pt x="1814" y="8216"/>
                  </a:lnTo>
                  <a:lnTo>
                    <a:pt x="2005" y="8354"/>
                  </a:lnTo>
                  <a:lnTo>
                    <a:pt x="2203" y="8481"/>
                  </a:lnTo>
                  <a:lnTo>
                    <a:pt x="2407" y="8600"/>
                  </a:lnTo>
                  <a:lnTo>
                    <a:pt x="2617" y="8708"/>
                  </a:lnTo>
                  <a:lnTo>
                    <a:pt x="2833" y="8804"/>
                  </a:lnTo>
                  <a:lnTo>
                    <a:pt x="3054" y="8890"/>
                  </a:lnTo>
                  <a:lnTo>
                    <a:pt x="3277" y="8966"/>
                  </a:lnTo>
                  <a:lnTo>
                    <a:pt x="3505" y="9030"/>
                  </a:lnTo>
                  <a:lnTo>
                    <a:pt x="3736" y="9083"/>
                  </a:lnTo>
                  <a:lnTo>
                    <a:pt x="3970" y="9124"/>
                  </a:lnTo>
                  <a:lnTo>
                    <a:pt x="4205" y="9153"/>
                  </a:lnTo>
                  <a:lnTo>
                    <a:pt x="4441" y="9170"/>
                  </a:lnTo>
                  <a:lnTo>
                    <a:pt x="4678" y="9176"/>
                  </a:lnTo>
                  <a:lnTo>
                    <a:pt x="4914" y="9170"/>
                  </a:lnTo>
                  <a:lnTo>
                    <a:pt x="5151" y="9153"/>
                  </a:lnTo>
                  <a:lnTo>
                    <a:pt x="5387" y="9124"/>
                  </a:lnTo>
                  <a:lnTo>
                    <a:pt x="5621" y="9083"/>
                  </a:lnTo>
                  <a:lnTo>
                    <a:pt x="5851" y="9030"/>
                  </a:lnTo>
                  <a:lnTo>
                    <a:pt x="6079" y="8966"/>
                  </a:lnTo>
                  <a:lnTo>
                    <a:pt x="6303" y="8890"/>
                  </a:lnTo>
                  <a:lnTo>
                    <a:pt x="6523" y="8804"/>
                  </a:lnTo>
                  <a:lnTo>
                    <a:pt x="6739" y="8708"/>
                  </a:lnTo>
                  <a:lnTo>
                    <a:pt x="6949" y="8600"/>
                  </a:lnTo>
                  <a:lnTo>
                    <a:pt x="7153" y="8481"/>
                  </a:lnTo>
                  <a:lnTo>
                    <a:pt x="7352" y="8354"/>
                  </a:lnTo>
                  <a:lnTo>
                    <a:pt x="7542" y="8216"/>
                  </a:lnTo>
                  <a:lnTo>
                    <a:pt x="7725" y="8070"/>
                  </a:lnTo>
                  <a:lnTo>
                    <a:pt x="7901" y="7913"/>
                  </a:lnTo>
                  <a:lnTo>
                    <a:pt x="8070" y="7749"/>
                  </a:lnTo>
                  <a:lnTo>
                    <a:pt x="8228" y="7576"/>
                  </a:lnTo>
                  <a:lnTo>
                    <a:pt x="8378" y="7397"/>
                  </a:lnTo>
                  <a:lnTo>
                    <a:pt x="8518" y="7209"/>
                  </a:lnTo>
                  <a:lnTo>
                    <a:pt x="8649" y="7014"/>
                  </a:lnTo>
                  <a:lnTo>
                    <a:pt x="8770" y="6814"/>
                  </a:lnTo>
                  <a:lnTo>
                    <a:pt x="8879" y="6609"/>
                  </a:lnTo>
                  <a:lnTo>
                    <a:pt x="8978" y="6397"/>
                  </a:lnTo>
                  <a:lnTo>
                    <a:pt x="9066" y="6181"/>
                  </a:lnTo>
                  <a:lnTo>
                    <a:pt x="9142" y="5962"/>
                  </a:lnTo>
                  <a:lnTo>
                    <a:pt x="9208" y="5737"/>
                  </a:lnTo>
                  <a:lnTo>
                    <a:pt x="9261" y="5511"/>
                  </a:lnTo>
                  <a:lnTo>
                    <a:pt x="9303" y="5282"/>
                  </a:lnTo>
                  <a:lnTo>
                    <a:pt x="9333" y="5051"/>
                  </a:lnTo>
                  <a:lnTo>
                    <a:pt x="9351" y="4821"/>
                  </a:lnTo>
                  <a:lnTo>
                    <a:pt x="9357" y="4587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3F0DF24-CD04-6EEE-BCFB-5AB37D218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" y="11302"/>
              <a:ext cx="198" cy="195"/>
            </a:xfrm>
            <a:custGeom>
              <a:avLst/>
              <a:gdLst>
                <a:gd name="T0" fmla="*/ 596 w 596"/>
                <a:gd name="T1" fmla="*/ 292 h 584"/>
                <a:gd name="T2" fmla="*/ 590 w 596"/>
                <a:gd name="T3" fmla="*/ 235 h 584"/>
                <a:gd name="T4" fmla="*/ 572 w 596"/>
                <a:gd name="T5" fmla="*/ 181 h 584"/>
                <a:gd name="T6" fmla="*/ 545 w 596"/>
                <a:gd name="T7" fmla="*/ 130 h 584"/>
                <a:gd name="T8" fmla="*/ 508 w 596"/>
                <a:gd name="T9" fmla="*/ 86 h 584"/>
                <a:gd name="T10" fmla="*/ 463 w 596"/>
                <a:gd name="T11" fmla="*/ 50 h 584"/>
                <a:gd name="T12" fmla="*/ 411 w 596"/>
                <a:gd name="T13" fmla="*/ 23 h 584"/>
                <a:gd name="T14" fmla="*/ 356 w 596"/>
                <a:gd name="T15" fmla="*/ 6 h 584"/>
                <a:gd name="T16" fmla="*/ 298 w 596"/>
                <a:gd name="T17" fmla="*/ 0 h 584"/>
                <a:gd name="T18" fmla="*/ 240 w 596"/>
                <a:gd name="T19" fmla="*/ 6 h 584"/>
                <a:gd name="T20" fmla="*/ 183 w 596"/>
                <a:gd name="T21" fmla="*/ 23 h 584"/>
                <a:gd name="T22" fmla="*/ 133 w 596"/>
                <a:gd name="T23" fmla="*/ 50 h 584"/>
                <a:gd name="T24" fmla="*/ 88 w 596"/>
                <a:gd name="T25" fmla="*/ 86 h 584"/>
                <a:gd name="T26" fmla="*/ 51 w 596"/>
                <a:gd name="T27" fmla="*/ 130 h 584"/>
                <a:gd name="T28" fmla="*/ 22 w 596"/>
                <a:gd name="T29" fmla="*/ 181 h 584"/>
                <a:gd name="T30" fmla="*/ 6 w 596"/>
                <a:gd name="T31" fmla="*/ 235 h 584"/>
                <a:gd name="T32" fmla="*/ 0 w 596"/>
                <a:gd name="T33" fmla="*/ 292 h 584"/>
                <a:gd name="T34" fmla="*/ 6 w 596"/>
                <a:gd name="T35" fmla="*/ 349 h 584"/>
                <a:gd name="T36" fmla="*/ 22 w 596"/>
                <a:gd name="T37" fmla="*/ 404 h 584"/>
                <a:gd name="T38" fmla="*/ 51 w 596"/>
                <a:gd name="T39" fmla="*/ 454 h 584"/>
                <a:gd name="T40" fmla="*/ 88 w 596"/>
                <a:gd name="T41" fmla="*/ 499 h 584"/>
                <a:gd name="T42" fmla="*/ 133 w 596"/>
                <a:gd name="T43" fmla="*/ 534 h 584"/>
                <a:gd name="T44" fmla="*/ 183 w 596"/>
                <a:gd name="T45" fmla="*/ 562 h 584"/>
                <a:gd name="T46" fmla="*/ 240 w 596"/>
                <a:gd name="T47" fmla="*/ 578 h 584"/>
                <a:gd name="T48" fmla="*/ 298 w 596"/>
                <a:gd name="T49" fmla="*/ 584 h 584"/>
                <a:gd name="T50" fmla="*/ 356 w 596"/>
                <a:gd name="T51" fmla="*/ 578 h 584"/>
                <a:gd name="T52" fmla="*/ 411 w 596"/>
                <a:gd name="T53" fmla="*/ 562 h 584"/>
                <a:gd name="T54" fmla="*/ 463 w 596"/>
                <a:gd name="T55" fmla="*/ 534 h 584"/>
                <a:gd name="T56" fmla="*/ 508 w 596"/>
                <a:gd name="T57" fmla="*/ 499 h 584"/>
                <a:gd name="T58" fmla="*/ 545 w 596"/>
                <a:gd name="T59" fmla="*/ 454 h 584"/>
                <a:gd name="T60" fmla="*/ 572 w 596"/>
                <a:gd name="T61" fmla="*/ 404 h 584"/>
                <a:gd name="T62" fmla="*/ 590 w 596"/>
                <a:gd name="T63" fmla="*/ 349 h 584"/>
                <a:gd name="T64" fmla="*/ 596 w 596"/>
                <a:gd name="T65" fmla="*/ 29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6" h="584">
                  <a:moveTo>
                    <a:pt x="596" y="292"/>
                  </a:moveTo>
                  <a:lnTo>
                    <a:pt x="590" y="235"/>
                  </a:lnTo>
                  <a:lnTo>
                    <a:pt x="572" y="181"/>
                  </a:lnTo>
                  <a:lnTo>
                    <a:pt x="545" y="130"/>
                  </a:lnTo>
                  <a:lnTo>
                    <a:pt x="508" y="86"/>
                  </a:lnTo>
                  <a:lnTo>
                    <a:pt x="463" y="50"/>
                  </a:lnTo>
                  <a:lnTo>
                    <a:pt x="411" y="23"/>
                  </a:lnTo>
                  <a:lnTo>
                    <a:pt x="356" y="6"/>
                  </a:lnTo>
                  <a:lnTo>
                    <a:pt x="298" y="0"/>
                  </a:lnTo>
                  <a:lnTo>
                    <a:pt x="240" y="6"/>
                  </a:lnTo>
                  <a:lnTo>
                    <a:pt x="183" y="23"/>
                  </a:lnTo>
                  <a:lnTo>
                    <a:pt x="133" y="50"/>
                  </a:lnTo>
                  <a:lnTo>
                    <a:pt x="88" y="86"/>
                  </a:lnTo>
                  <a:lnTo>
                    <a:pt x="51" y="130"/>
                  </a:lnTo>
                  <a:lnTo>
                    <a:pt x="22" y="181"/>
                  </a:lnTo>
                  <a:lnTo>
                    <a:pt x="6" y="235"/>
                  </a:lnTo>
                  <a:lnTo>
                    <a:pt x="0" y="292"/>
                  </a:lnTo>
                  <a:lnTo>
                    <a:pt x="6" y="349"/>
                  </a:lnTo>
                  <a:lnTo>
                    <a:pt x="22" y="404"/>
                  </a:lnTo>
                  <a:lnTo>
                    <a:pt x="51" y="454"/>
                  </a:lnTo>
                  <a:lnTo>
                    <a:pt x="88" y="499"/>
                  </a:lnTo>
                  <a:lnTo>
                    <a:pt x="133" y="534"/>
                  </a:lnTo>
                  <a:lnTo>
                    <a:pt x="183" y="562"/>
                  </a:lnTo>
                  <a:lnTo>
                    <a:pt x="240" y="578"/>
                  </a:lnTo>
                  <a:lnTo>
                    <a:pt x="298" y="584"/>
                  </a:lnTo>
                  <a:lnTo>
                    <a:pt x="356" y="578"/>
                  </a:lnTo>
                  <a:lnTo>
                    <a:pt x="411" y="562"/>
                  </a:lnTo>
                  <a:lnTo>
                    <a:pt x="463" y="534"/>
                  </a:lnTo>
                  <a:lnTo>
                    <a:pt x="508" y="499"/>
                  </a:lnTo>
                  <a:lnTo>
                    <a:pt x="545" y="454"/>
                  </a:lnTo>
                  <a:lnTo>
                    <a:pt x="572" y="404"/>
                  </a:lnTo>
                  <a:lnTo>
                    <a:pt x="590" y="349"/>
                  </a:lnTo>
                  <a:lnTo>
                    <a:pt x="596" y="292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23F1ABEB-5E09-9494-06C1-E65551FF72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38" y="11136"/>
              <a:ext cx="241" cy="2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12B8B198-4CBD-44ED-734F-B76A5D6B9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8" y="11088"/>
              <a:ext cx="0" cy="62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1751EDCB-0563-2595-A5D6-8EFA9BB25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8" y="11462"/>
              <a:ext cx="241" cy="2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BAAB195-65DF-6F7A-CE90-D5BBDBA61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5" y="9735"/>
              <a:ext cx="793" cy="777"/>
            </a:xfrm>
            <a:custGeom>
              <a:avLst/>
              <a:gdLst>
                <a:gd name="T0" fmla="*/ 2371 w 2377"/>
                <a:gd name="T1" fmla="*/ 1052 h 2332"/>
                <a:gd name="T2" fmla="*/ 2327 w 2377"/>
                <a:gd name="T3" fmla="*/ 828 h 2332"/>
                <a:gd name="T4" fmla="*/ 2237 w 2377"/>
                <a:gd name="T5" fmla="*/ 616 h 2332"/>
                <a:gd name="T6" fmla="*/ 2108 w 2377"/>
                <a:gd name="T7" fmla="*/ 426 h 2332"/>
                <a:gd name="T8" fmla="*/ 1942 w 2377"/>
                <a:gd name="T9" fmla="*/ 266 h 2332"/>
                <a:gd name="T10" fmla="*/ 1749 w 2377"/>
                <a:gd name="T11" fmla="*/ 139 h 2332"/>
                <a:gd name="T12" fmla="*/ 1534 w 2377"/>
                <a:gd name="T13" fmla="*/ 51 h 2332"/>
                <a:gd name="T14" fmla="*/ 1305 w 2377"/>
                <a:gd name="T15" fmla="*/ 6 h 2332"/>
                <a:gd name="T16" fmla="*/ 1072 w 2377"/>
                <a:gd name="T17" fmla="*/ 6 h 2332"/>
                <a:gd name="T18" fmla="*/ 844 w 2377"/>
                <a:gd name="T19" fmla="*/ 51 h 2332"/>
                <a:gd name="T20" fmla="*/ 628 w 2377"/>
                <a:gd name="T21" fmla="*/ 139 h 2332"/>
                <a:gd name="T22" fmla="*/ 435 w 2377"/>
                <a:gd name="T23" fmla="*/ 266 h 2332"/>
                <a:gd name="T24" fmla="*/ 269 w 2377"/>
                <a:gd name="T25" fmla="*/ 426 h 2332"/>
                <a:gd name="T26" fmla="*/ 140 w 2377"/>
                <a:gd name="T27" fmla="*/ 616 h 2332"/>
                <a:gd name="T28" fmla="*/ 52 w 2377"/>
                <a:gd name="T29" fmla="*/ 828 h 2332"/>
                <a:gd name="T30" fmla="*/ 6 w 2377"/>
                <a:gd name="T31" fmla="*/ 1052 h 2332"/>
                <a:gd name="T32" fmla="*/ 6 w 2377"/>
                <a:gd name="T33" fmla="*/ 1280 h 2332"/>
                <a:gd name="T34" fmla="*/ 52 w 2377"/>
                <a:gd name="T35" fmla="*/ 1505 h 2332"/>
                <a:gd name="T36" fmla="*/ 140 w 2377"/>
                <a:gd name="T37" fmla="*/ 1717 h 2332"/>
                <a:gd name="T38" fmla="*/ 269 w 2377"/>
                <a:gd name="T39" fmla="*/ 1906 h 2332"/>
                <a:gd name="T40" fmla="*/ 435 w 2377"/>
                <a:gd name="T41" fmla="*/ 2068 h 2332"/>
                <a:gd name="T42" fmla="*/ 628 w 2377"/>
                <a:gd name="T43" fmla="*/ 2195 h 2332"/>
                <a:gd name="T44" fmla="*/ 844 w 2377"/>
                <a:gd name="T45" fmla="*/ 2281 h 2332"/>
                <a:gd name="T46" fmla="*/ 1072 w 2377"/>
                <a:gd name="T47" fmla="*/ 2327 h 2332"/>
                <a:gd name="T48" fmla="*/ 1305 w 2377"/>
                <a:gd name="T49" fmla="*/ 2327 h 2332"/>
                <a:gd name="T50" fmla="*/ 1534 w 2377"/>
                <a:gd name="T51" fmla="*/ 2281 h 2332"/>
                <a:gd name="T52" fmla="*/ 1749 w 2377"/>
                <a:gd name="T53" fmla="*/ 2195 h 2332"/>
                <a:gd name="T54" fmla="*/ 1942 w 2377"/>
                <a:gd name="T55" fmla="*/ 2068 h 2332"/>
                <a:gd name="T56" fmla="*/ 2108 w 2377"/>
                <a:gd name="T57" fmla="*/ 1906 h 2332"/>
                <a:gd name="T58" fmla="*/ 2237 w 2377"/>
                <a:gd name="T59" fmla="*/ 1717 h 2332"/>
                <a:gd name="T60" fmla="*/ 2327 w 2377"/>
                <a:gd name="T61" fmla="*/ 1505 h 2332"/>
                <a:gd name="T62" fmla="*/ 2371 w 2377"/>
                <a:gd name="T63" fmla="*/ 1280 h 2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7" h="2332">
                  <a:moveTo>
                    <a:pt x="2377" y="1166"/>
                  </a:moveTo>
                  <a:lnTo>
                    <a:pt x="2371" y="1052"/>
                  </a:lnTo>
                  <a:lnTo>
                    <a:pt x="2355" y="939"/>
                  </a:lnTo>
                  <a:lnTo>
                    <a:pt x="2327" y="828"/>
                  </a:lnTo>
                  <a:lnTo>
                    <a:pt x="2286" y="720"/>
                  </a:lnTo>
                  <a:lnTo>
                    <a:pt x="2237" y="616"/>
                  </a:lnTo>
                  <a:lnTo>
                    <a:pt x="2178" y="518"/>
                  </a:lnTo>
                  <a:lnTo>
                    <a:pt x="2108" y="426"/>
                  </a:lnTo>
                  <a:lnTo>
                    <a:pt x="2029" y="342"/>
                  </a:lnTo>
                  <a:lnTo>
                    <a:pt x="1942" y="266"/>
                  </a:lnTo>
                  <a:lnTo>
                    <a:pt x="1850" y="197"/>
                  </a:lnTo>
                  <a:lnTo>
                    <a:pt x="1749" y="139"/>
                  </a:lnTo>
                  <a:lnTo>
                    <a:pt x="1644" y="89"/>
                  </a:lnTo>
                  <a:lnTo>
                    <a:pt x="1534" y="51"/>
                  </a:lnTo>
                  <a:lnTo>
                    <a:pt x="1421" y="23"/>
                  </a:lnTo>
                  <a:lnTo>
                    <a:pt x="1305" y="6"/>
                  </a:lnTo>
                  <a:lnTo>
                    <a:pt x="1189" y="0"/>
                  </a:lnTo>
                  <a:lnTo>
                    <a:pt x="1072" y="6"/>
                  </a:lnTo>
                  <a:lnTo>
                    <a:pt x="956" y="23"/>
                  </a:lnTo>
                  <a:lnTo>
                    <a:pt x="844" y="51"/>
                  </a:lnTo>
                  <a:lnTo>
                    <a:pt x="734" y="89"/>
                  </a:lnTo>
                  <a:lnTo>
                    <a:pt x="628" y="139"/>
                  </a:lnTo>
                  <a:lnTo>
                    <a:pt x="529" y="197"/>
                  </a:lnTo>
                  <a:lnTo>
                    <a:pt x="435" y="266"/>
                  </a:lnTo>
                  <a:lnTo>
                    <a:pt x="348" y="342"/>
                  </a:lnTo>
                  <a:lnTo>
                    <a:pt x="269" y="426"/>
                  </a:lnTo>
                  <a:lnTo>
                    <a:pt x="201" y="518"/>
                  </a:lnTo>
                  <a:lnTo>
                    <a:pt x="140" y="616"/>
                  </a:lnTo>
                  <a:lnTo>
                    <a:pt x="91" y="720"/>
                  </a:lnTo>
                  <a:lnTo>
                    <a:pt x="52" y="828"/>
                  </a:lnTo>
                  <a:lnTo>
                    <a:pt x="22" y="939"/>
                  </a:lnTo>
                  <a:lnTo>
                    <a:pt x="6" y="1052"/>
                  </a:lnTo>
                  <a:lnTo>
                    <a:pt x="0" y="1166"/>
                  </a:lnTo>
                  <a:lnTo>
                    <a:pt x="6" y="1280"/>
                  </a:lnTo>
                  <a:lnTo>
                    <a:pt x="22" y="1394"/>
                  </a:lnTo>
                  <a:lnTo>
                    <a:pt x="52" y="1505"/>
                  </a:lnTo>
                  <a:lnTo>
                    <a:pt x="91" y="1613"/>
                  </a:lnTo>
                  <a:lnTo>
                    <a:pt x="140" y="1717"/>
                  </a:lnTo>
                  <a:lnTo>
                    <a:pt x="201" y="1814"/>
                  </a:lnTo>
                  <a:lnTo>
                    <a:pt x="269" y="1906"/>
                  </a:lnTo>
                  <a:lnTo>
                    <a:pt x="348" y="1991"/>
                  </a:lnTo>
                  <a:lnTo>
                    <a:pt x="435" y="2068"/>
                  </a:lnTo>
                  <a:lnTo>
                    <a:pt x="529" y="2135"/>
                  </a:lnTo>
                  <a:lnTo>
                    <a:pt x="628" y="2195"/>
                  </a:lnTo>
                  <a:lnTo>
                    <a:pt x="734" y="2243"/>
                  </a:lnTo>
                  <a:lnTo>
                    <a:pt x="844" y="2281"/>
                  </a:lnTo>
                  <a:lnTo>
                    <a:pt x="956" y="2309"/>
                  </a:lnTo>
                  <a:lnTo>
                    <a:pt x="1072" y="2327"/>
                  </a:lnTo>
                  <a:lnTo>
                    <a:pt x="1189" y="2332"/>
                  </a:lnTo>
                  <a:lnTo>
                    <a:pt x="1305" y="2327"/>
                  </a:lnTo>
                  <a:lnTo>
                    <a:pt x="1421" y="2309"/>
                  </a:lnTo>
                  <a:lnTo>
                    <a:pt x="1534" y="2281"/>
                  </a:lnTo>
                  <a:lnTo>
                    <a:pt x="1644" y="2243"/>
                  </a:lnTo>
                  <a:lnTo>
                    <a:pt x="1749" y="2195"/>
                  </a:lnTo>
                  <a:lnTo>
                    <a:pt x="1850" y="2135"/>
                  </a:lnTo>
                  <a:lnTo>
                    <a:pt x="1942" y="2068"/>
                  </a:lnTo>
                  <a:lnTo>
                    <a:pt x="2029" y="1991"/>
                  </a:lnTo>
                  <a:lnTo>
                    <a:pt x="2108" y="1906"/>
                  </a:lnTo>
                  <a:lnTo>
                    <a:pt x="2178" y="1814"/>
                  </a:lnTo>
                  <a:lnTo>
                    <a:pt x="2237" y="1717"/>
                  </a:lnTo>
                  <a:lnTo>
                    <a:pt x="2286" y="1613"/>
                  </a:lnTo>
                  <a:lnTo>
                    <a:pt x="2327" y="1505"/>
                  </a:lnTo>
                  <a:lnTo>
                    <a:pt x="2355" y="1394"/>
                  </a:lnTo>
                  <a:lnTo>
                    <a:pt x="2371" y="1280"/>
                  </a:lnTo>
                  <a:lnTo>
                    <a:pt x="2377" y="1166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71845CDD-CC53-2ADE-076A-83E7DFA13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" y="10026"/>
              <a:ext cx="199" cy="195"/>
            </a:xfrm>
            <a:custGeom>
              <a:avLst/>
              <a:gdLst>
                <a:gd name="T0" fmla="*/ 595 w 595"/>
                <a:gd name="T1" fmla="*/ 292 h 584"/>
                <a:gd name="T2" fmla="*/ 589 w 595"/>
                <a:gd name="T3" fmla="*/ 235 h 584"/>
                <a:gd name="T4" fmla="*/ 573 w 595"/>
                <a:gd name="T5" fmla="*/ 181 h 584"/>
                <a:gd name="T6" fmla="*/ 545 w 595"/>
                <a:gd name="T7" fmla="*/ 130 h 584"/>
                <a:gd name="T8" fmla="*/ 508 w 595"/>
                <a:gd name="T9" fmla="*/ 86 h 584"/>
                <a:gd name="T10" fmla="*/ 463 w 595"/>
                <a:gd name="T11" fmla="*/ 50 h 584"/>
                <a:gd name="T12" fmla="*/ 412 w 595"/>
                <a:gd name="T13" fmla="*/ 22 h 584"/>
                <a:gd name="T14" fmla="*/ 356 w 595"/>
                <a:gd name="T15" fmla="*/ 6 h 584"/>
                <a:gd name="T16" fmla="*/ 298 w 595"/>
                <a:gd name="T17" fmla="*/ 0 h 584"/>
                <a:gd name="T18" fmla="*/ 239 w 595"/>
                <a:gd name="T19" fmla="*/ 6 h 584"/>
                <a:gd name="T20" fmla="*/ 184 w 595"/>
                <a:gd name="T21" fmla="*/ 22 h 584"/>
                <a:gd name="T22" fmla="*/ 132 w 595"/>
                <a:gd name="T23" fmla="*/ 50 h 584"/>
                <a:gd name="T24" fmla="*/ 87 w 595"/>
                <a:gd name="T25" fmla="*/ 86 h 584"/>
                <a:gd name="T26" fmla="*/ 50 w 595"/>
                <a:gd name="T27" fmla="*/ 130 h 584"/>
                <a:gd name="T28" fmla="*/ 23 w 595"/>
                <a:gd name="T29" fmla="*/ 181 h 584"/>
                <a:gd name="T30" fmla="*/ 6 w 595"/>
                <a:gd name="T31" fmla="*/ 235 h 584"/>
                <a:gd name="T32" fmla="*/ 0 w 595"/>
                <a:gd name="T33" fmla="*/ 292 h 584"/>
                <a:gd name="T34" fmla="*/ 6 w 595"/>
                <a:gd name="T35" fmla="*/ 349 h 584"/>
                <a:gd name="T36" fmla="*/ 23 w 595"/>
                <a:gd name="T37" fmla="*/ 405 h 584"/>
                <a:gd name="T38" fmla="*/ 50 w 595"/>
                <a:gd name="T39" fmla="*/ 454 h 584"/>
                <a:gd name="T40" fmla="*/ 87 w 595"/>
                <a:gd name="T41" fmla="*/ 498 h 584"/>
                <a:gd name="T42" fmla="*/ 132 w 595"/>
                <a:gd name="T43" fmla="*/ 535 h 584"/>
                <a:gd name="T44" fmla="*/ 184 w 595"/>
                <a:gd name="T45" fmla="*/ 562 h 584"/>
                <a:gd name="T46" fmla="*/ 239 w 595"/>
                <a:gd name="T47" fmla="*/ 578 h 584"/>
                <a:gd name="T48" fmla="*/ 298 w 595"/>
                <a:gd name="T49" fmla="*/ 584 h 584"/>
                <a:gd name="T50" fmla="*/ 356 w 595"/>
                <a:gd name="T51" fmla="*/ 578 h 584"/>
                <a:gd name="T52" fmla="*/ 412 w 595"/>
                <a:gd name="T53" fmla="*/ 562 h 584"/>
                <a:gd name="T54" fmla="*/ 463 w 595"/>
                <a:gd name="T55" fmla="*/ 535 h 584"/>
                <a:gd name="T56" fmla="*/ 508 w 595"/>
                <a:gd name="T57" fmla="*/ 498 h 584"/>
                <a:gd name="T58" fmla="*/ 545 w 595"/>
                <a:gd name="T59" fmla="*/ 454 h 584"/>
                <a:gd name="T60" fmla="*/ 573 w 595"/>
                <a:gd name="T61" fmla="*/ 405 h 584"/>
                <a:gd name="T62" fmla="*/ 589 w 595"/>
                <a:gd name="T63" fmla="*/ 349 h 584"/>
                <a:gd name="T64" fmla="*/ 595 w 595"/>
                <a:gd name="T65" fmla="*/ 29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5" h="584">
                  <a:moveTo>
                    <a:pt x="595" y="292"/>
                  </a:moveTo>
                  <a:lnTo>
                    <a:pt x="589" y="235"/>
                  </a:lnTo>
                  <a:lnTo>
                    <a:pt x="573" y="181"/>
                  </a:lnTo>
                  <a:lnTo>
                    <a:pt x="545" y="130"/>
                  </a:lnTo>
                  <a:lnTo>
                    <a:pt x="508" y="86"/>
                  </a:lnTo>
                  <a:lnTo>
                    <a:pt x="463" y="50"/>
                  </a:lnTo>
                  <a:lnTo>
                    <a:pt x="412" y="22"/>
                  </a:lnTo>
                  <a:lnTo>
                    <a:pt x="356" y="6"/>
                  </a:lnTo>
                  <a:lnTo>
                    <a:pt x="298" y="0"/>
                  </a:lnTo>
                  <a:lnTo>
                    <a:pt x="239" y="6"/>
                  </a:lnTo>
                  <a:lnTo>
                    <a:pt x="184" y="22"/>
                  </a:lnTo>
                  <a:lnTo>
                    <a:pt x="132" y="50"/>
                  </a:lnTo>
                  <a:lnTo>
                    <a:pt x="87" y="86"/>
                  </a:lnTo>
                  <a:lnTo>
                    <a:pt x="50" y="130"/>
                  </a:lnTo>
                  <a:lnTo>
                    <a:pt x="23" y="181"/>
                  </a:lnTo>
                  <a:lnTo>
                    <a:pt x="6" y="235"/>
                  </a:lnTo>
                  <a:lnTo>
                    <a:pt x="0" y="292"/>
                  </a:lnTo>
                  <a:lnTo>
                    <a:pt x="6" y="349"/>
                  </a:lnTo>
                  <a:lnTo>
                    <a:pt x="23" y="405"/>
                  </a:lnTo>
                  <a:lnTo>
                    <a:pt x="50" y="454"/>
                  </a:lnTo>
                  <a:lnTo>
                    <a:pt x="87" y="498"/>
                  </a:lnTo>
                  <a:lnTo>
                    <a:pt x="132" y="535"/>
                  </a:lnTo>
                  <a:lnTo>
                    <a:pt x="184" y="562"/>
                  </a:lnTo>
                  <a:lnTo>
                    <a:pt x="239" y="578"/>
                  </a:lnTo>
                  <a:lnTo>
                    <a:pt x="298" y="584"/>
                  </a:lnTo>
                  <a:lnTo>
                    <a:pt x="356" y="578"/>
                  </a:lnTo>
                  <a:lnTo>
                    <a:pt x="412" y="562"/>
                  </a:lnTo>
                  <a:lnTo>
                    <a:pt x="463" y="535"/>
                  </a:lnTo>
                  <a:lnTo>
                    <a:pt x="508" y="498"/>
                  </a:lnTo>
                  <a:lnTo>
                    <a:pt x="545" y="454"/>
                  </a:lnTo>
                  <a:lnTo>
                    <a:pt x="573" y="405"/>
                  </a:lnTo>
                  <a:lnTo>
                    <a:pt x="589" y="349"/>
                  </a:lnTo>
                  <a:lnTo>
                    <a:pt x="595" y="292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BF8E9379-7E11-DE94-3C93-4A6814102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82" y="8413"/>
              <a:ext cx="1" cy="16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B624E3DD-B6A5-6181-8231-BF0041CCD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793"/>
              <a:ext cx="76" cy="7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C20791D2-7A6B-E7FC-4FF2-16C1AB24A1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797"/>
              <a:ext cx="171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BBCAC7EE-0F3D-E537-6847-136B5254D1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894"/>
              <a:ext cx="171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1F808050-7388-7340-C84F-A9CA682D6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9" y="8992"/>
              <a:ext cx="165" cy="16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0DB291BC-A8FB-C3F7-B4AA-14BE62634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793"/>
              <a:ext cx="81" cy="7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31E9AD79-4A5F-3462-706B-B63A9D953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58" y="9089"/>
              <a:ext cx="66" cy="6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956E7D53-50C1-0897-498D-ED337072D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802"/>
              <a:ext cx="170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75946C34-F598-EAA9-694E-D3B06258C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08" y="9138"/>
              <a:ext cx="16" cy="1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141EF396-13E8-9AA1-1A36-797F90A73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900"/>
              <a:ext cx="170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C98FCC2C-3BE5-5789-1CFD-4DC7C07E1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57" y="8997"/>
              <a:ext cx="159" cy="15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E15A5D00-071C-D9F6-6FB5-E90FDB3A7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56" y="9094"/>
              <a:ext cx="60" cy="5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227A97D4-3809-DF56-E03B-D5B20B2C3C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6" y="9153"/>
              <a:ext cx="17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F052FA37-9F89-2F15-61D2-E7FBDBE46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6" y="8793"/>
              <a:ext cx="1" cy="3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47545B46-98D4-39ED-C8CE-E15662792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6" y="8793"/>
              <a:ext cx="17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EA66BC96-728C-023F-C96B-DA2A95E77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" y="9153"/>
              <a:ext cx="17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Line 32">
              <a:extLst>
                <a:ext uri="{FF2B5EF4-FFF2-40B4-BE49-F238E27FC236}">
                  <a16:creationId xmlns:a16="http://schemas.microsoft.com/office/drawing/2014/main" id="{B5FC2D13-727E-97E1-2B1A-D56BCC5E4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4" y="8793"/>
              <a:ext cx="1" cy="3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Line 33">
              <a:extLst>
                <a:ext uri="{FF2B5EF4-FFF2-40B4-BE49-F238E27FC236}">
                  <a16:creationId xmlns:a16="http://schemas.microsoft.com/office/drawing/2014/main" id="{0A5BF3F4-4BEC-4F30-AD58-44F202D68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" y="8793"/>
              <a:ext cx="17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A1366D6A-CA58-9FDB-F9AD-C5566D649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4"/>
              <a:ext cx="795" cy="1057"/>
            </a:xfrm>
            <a:custGeom>
              <a:avLst/>
              <a:gdLst>
                <a:gd name="T0" fmla="*/ 2147 w 2385"/>
                <a:gd name="T1" fmla="*/ 3171 h 3171"/>
                <a:gd name="T2" fmla="*/ 2217 w 2385"/>
                <a:gd name="T3" fmla="*/ 3020 h 3171"/>
                <a:gd name="T4" fmla="*/ 2275 w 2385"/>
                <a:gd name="T5" fmla="*/ 2867 h 3171"/>
                <a:gd name="T6" fmla="*/ 2321 w 2385"/>
                <a:gd name="T7" fmla="*/ 2708 h 3171"/>
                <a:gd name="T8" fmla="*/ 2355 w 2385"/>
                <a:gd name="T9" fmla="*/ 2548 h 3171"/>
                <a:gd name="T10" fmla="*/ 2376 w 2385"/>
                <a:gd name="T11" fmla="*/ 2384 h 3171"/>
                <a:gd name="T12" fmla="*/ 2385 w 2385"/>
                <a:gd name="T13" fmla="*/ 2221 h 3171"/>
                <a:gd name="T14" fmla="*/ 2382 w 2385"/>
                <a:gd name="T15" fmla="*/ 2056 h 3171"/>
                <a:gd name="T16" fmla="*/ 2366 w 2385"/>
                <a:gd name="T17" fmla="*/ 1892 h 3171"/>
                <a:gd name="T18" fmla="*/ 2336 w 2385"/>
                <a:gd name="T19" fmla="*/ 1730 h 3171"/>
                <a:gd name="T20" fmla="*/ 2296 w 2385"/>
                <a:gd name="T21" fmla="*/ 1570 h 3171"/>
                <a:gd name="T22" fmla="*/ 2242 w 2385"/>
                <a:gd name="T23" fmla="*/ 1415 h 3171"/>
                <a:gd name="T24" fmla="*/ 2177 w 2385"/>
                <a:gd name="T25" fmla="*/ 1263 h 3171"/>
                <a:gd name="T26" fmla="*/ 2101 w 2385"/>
                <a:gd name="T27" fmla="*/ 1116 h 3171"/>
                <a:gd name="T28" fmla="*/ 2013 w 2385"/>
                <a:gd name="T29" fmla="*/ 976 h 3171"/>
                <a:gd name="T30" fmla="*/ 1914 w 2385"/>
                <a:gd name="T31" fmla="*/ 843 h 3171"/>
                <a:gd name="T32" fmla="*/ 1807 w 2385"/>
                <a:gd name="T33" fmla="*/ 717 h 3171"/>
                <a:gd name="T34" fmla="*/ 1689 w 2385"/>
                <a:gd name="T35" fmla="*/ 599 h 3171"/>
                <a:gd name="T36" fmla="*/ 1563 w 2385"/>
                <a:gd name="T37" fmla="*/ 491 h 3171"/>
                <a:gd name="T38" fmla="*/ 1429 w 2385"/>
                <a:gd name="T39" fmla="*/ 392 h 3171"/>
                <a:gd name="T40" fmla="*/ 1287 w 2385"/>
                <a:gd name="T41" fmla="*/ 303 h 3171"/>
                <a:gd name="T42" fmla="*/ 1140 w 2385"/>
                <a:gd name="T43" fmla="*/ 225 h 3171"/>
                <a:gd name="T44" fmla="*/ 986 w 2385"/>
                <a:gd name="T45" fmla="*/ 158 h 3171"/>
                <a:gd name="T46" fmla="*/ 828 w 2385"/>
                <a:gd name="T47" fmla="*/ 103 h 3171"/>
                <a:gd name="T48" fmla="*/ 667 w 2385"/>
                <a:gd name="T49" fmla="*/ 59 h 3171"/>
                <a:gd name="T50" fmla="*/ 502 w 2385"/>
                <a:gd name="T51" fmla="*/ 27 h 3171"/>
                <a:gd name="T52" fmla="*/ 335 w 2385"/>
                <a:gd name="T53" fmla="*/ 8 h 3171"/>
                <a:gd name="T54" fmla="*/ 168 w 2385"/>
                <a:gd name="T55" fmla="*/ 0 h 3171"/>
                <a:gd name="T56" fmla="*/ 0 w 2385"/>
                <a:gd name="T57" fmla="*/ 6 h 3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85" h="3171">
                  <a:moveTo>
                    <a:pt x="2147" y="3171"/>
                  </a:moveTo>
                  <a:lnTo>
                    <a:pt x="2217" y="3020"/>
                  </a:lnTo>
                  <a:lnTo>
                    <a:pt x="2275" y="2867"/>
                  </a:lnTo>
                  <a:lnTo>
                    <a:pt x="2321" y="2708"/>
                  </a:lnTo>
                  <a:lnTo>
                    <a:pt x="2355" y="2548"/>
                  </a:lnTo>
                  <a:lnTo>
                    <a:pt x="2376" y="2384"/>
                  </a:lnTo>
                  <a:lnTo>
                    <a:pt x="2385" y="2221"/>
                  </a:lnTo>
                  <a:lnTo>
                    <a:pt x="2382" y="2056"/>
                  </a:lnTo>
                  <a:lnTo>
                    <a:pt x="2366" y="1892"/>
                  </a:lnTo>
                  <a:lnTo>
                    <a:pt x="2336" y="1730"/>
                  </a:lnTo>
                  <a:lnTo>
                    <a:pt x="2296" y="1570"/>
                  </a:lnTo>
                  <a:lnTo>
                    <a:pt x="2242" y="1415"/>
                  </a:lnTo>
                  <a:lnTo>
                    <a:pt x="2177" y="1263"/>
                  </a:lnTo>
                  <a:lnTo>
                    <a:pt x="2101" y="1116"/>
                  </a:lnTo>
                  <a:lnTo>
                    <a:pt x="2013" y="976"/>
                  </a:lnTo>
                  <a:lnTo>
                    <a:pt x="1914" y="843"/>
                  </a:lnTo>
                  <a:lnTo>
                    <a:pt x="1807" y="717"/>
                  </a:lnTo>
                  <a:lnTo>
                    <a:pt x="1689" y="599"/>
                  </a:lnTo>
                  <a:lnTo>
                    <a:pt x="1563" y="491"/>
                  </a:lnTo>
                  <a:lnTo>
                    <a:pt x="1429" y="392"/>
                  </a:lnTo>
                  <a:lnTo>
                    <a:pt x="1287" y="303"/>
                  </a:lnTo>
                  <a:lnTo>
                    <a:pt x="1140" y="225"/>
                  </a:lnTo>
                  <a:lnTo>
                    <a:pt x="986" y="158"/>
                  </a:lnTo>
                  <a:lnTo>
                    <a:pt x="828" y="103"/>
                  </a:lnTo>
                  <a:lnTo>
                    <a:pt x="667" y="59"/>
                  </a:lnTo>
                  <a:lnTo>
                    <a:pt x="502" y="27"/>
                  </a:lnTo>
                  <a:lnTo>
                    <a:pt x="335" y="8"/>
                  </a:lnTo>
                  <a:lnTo>
                    <a:pt x="168" y="0"/>
                  </a:lnTo>
                  <a:lnTo>
                    <a:pt x="0" y="6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91165C42-D185-BB9C-301A-19416AAEA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6"/>
              <a:ext cx="448" cy="146"/>
            </a:xfrm>
            <a:custGeom>
              <a:avLst/>
              <a:gdLst>
                <a:gd name="T0" fmla="*/ 0 w 1344"/>
                <a:gd name="T1" fmla="*/ 0 h 438"/>
                <a:gd name="T2" fmla="*/ 1344 w 1344"/>
                <a:gd name="T3" fmla="*/ 31 h 438"/>
                <a:gd name="T4" fmla="*/ 1269 w 1344"/>
                <a:gd name="T5" fmla="*/ 438 h 438"/>
                <a:gd name="T6" fmla="*/ 0 w 1344"/>
                <a:gd name="T7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438">
                  <a:moveTo>
                    <a:pt x="0" y="0"/>
                  </a:moveTo>
                  <a:lnTo>
                    <a:pt x="1344" y="31"/>
                  </a:lnTo>
                  <a:lnTo>
                    <a:pt x="1269" y="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868E438D-CA3B-AA7E-2A67-0D0E3A40E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6"/>
              <a:ext cx="448" cy="146"/>
            </a:xfrm>
            <a:custGeom>
              <a:avLst/>
              <a:gdLst>
                <a:gd name="T0" fmla="*/ 0 w 1344"/>
                <a:gd name="T1" fmla="*/ 0 h 438"/>
                <a:gd name="T2" fmla="*/ 1344 w 1344"/>
                <a:gd name="T3" fmla="*/ 31 h 438"/>
                <a:gd name="T4" fmla="*/ 1269 w 1344"/>
                <a:gd name="T5" fmla="*/ 438 h 438"/>
                <a:gd name="T6" fmla="*/ 0 w 1344"/>
                <a:gd name="T7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438">
                  <a:moveTo>
                    <a:pt x="0" y="0"/>
                  </a:moveTo>
                  <a:lnTo>
                    <a:pt x="1344" y="31"/>
                  </a:lnTo>
                  <a:lnTo>
                    <a:pt x="1269" y="4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F0B44201-627D-CC6A-669B-F2B033E08054}"/>
              </a:ext>
            </a:extLst>
          </p:cNvPr>
          <p:cNvSpPr/>
          <p:nvPr/>
        </p:nvSpPr>
        <p:spPr>
          <a:xfrm>
            <a:off x="2789848" y="3126280"/>
            <a:ext cx="3106800" cy="310494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EBD7C56-52A6-82A6-5BBC-3E43C3824D89}"/>
              </a:ext>
            </a:extLst>
          </p:cNvPr>
          <p:cNvSpPr/>
          <p:nvPr/>
        </p:nvSpPr>
        <p:spPr>
          <a:xfrm>
            <a:off x="3411066" y="3655330"/>
            <a:ext cx="939600" cy="939708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2E0AA85-2A99-7B15-B801-B715380B6078}"/>
              </a:ext>
            </a:extLst>
          </p:cNvPr>
          <p:cNvCxnSpPr>
            <a:cxnSpLocks/>
          </p:cNvCxnSpPr>
          <p:nvPr/>
        </p:nvCxnSpPr>
        <p:spPr>
          <a:xfrm>
            <a:off x="3340763" y="3498235"/>
            <a:ext cx="2006449" cy="2354849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0E449686-72AC-038F-7CDB-823245DC86A0}"/>
              </a:ext>
            </a:extLst>
          </p:cNvPr>
          <p:cNvSpPr/>
          <p:nvPr/>
        </p:nvSpPr>
        <p:spPr>
          <a:xfrm>
            <a:off x="3006669" y="3295172"/>
            <a:ext cx="1835244" cy="18455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9BCB70E-E32A-4D64-222D-3BDF459E231F}"/>
              </a:ext>
            </a:extLst>
          </p:cNvPr>
          <p:cNvCxnSpPr>
            <a:stCxn id="41" idx="6"/>
            <a:endCxn id="8" idx="0"/>
          </p:cNvCxnSpPr>
          <p:nvPr/>
        </p:nvCxnSpPr>
        <p:spPr>
          <a:xfrm flipH="1" flipV="1">
            <a:off x="4343248" y="3126280"/>
            <a:ext cx="7418" cy="99890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3A411A3-C92C-4A30-B28E-B2BBED3E9985}"/>
              </a:ext>
            </a:extLst>
          </p:cNvPr>
          <p:cNvGrpSpPr/>
          <p:nvPr/>
        </p:nvGrpSpPr>
        <p:grpSpPr>
          <a:xfrm>
            <a:off x="4343248" y="3086047"/>
            <a:ext cx="1794793" cy="369332"/>
            <a:chOff x="4343248" y="3086047"/>
            <a:chExt cx="1794793" cy="369332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4F059F1-8429-4A13-ADCE-D4AD63C5320D}"/>
                </a:ext>
              </a:extLst>
            </p:cNvPr>
            <p:cNvCxnSpPr>
              <a:stCxn id="8" idx="0"/>
            </p:cNvCxnSpPr>
            <p:nvPr/>
          </p:nvCxnSpPr>
          <p:spPr>
            <a:xfrm>
              <a:off x="4343248" y="3126280"/>
              <a:ext cx="167323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0229BCD-EE48-4912-9653-8D91972A71BF}"/>
                </a:ext>
              </a:extLst>
            </p:cNvPr>
            <p:cNvCxnSpPr/>
            <p:nvPr/>
          </p:nvCxnSpPr>
          <p:spPr>
            <a:xfrm>
              <a:off x="4350184" y="3421141"/>
              <a:ext cx="167323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280DF420-8049-42AC-8639-2DF9B5ECD83E}"/>
                </a:ext>
              </a:extLst>
            </p:cNvPr>
            <p:cNvCxnSpPr>
              <a:cxnSpLocks/>
            </p:cNvCxnSpPr>
            <p:nvPr/>
          </p:nvCxnSpPr>
          <p:spPr>
            <a:xfrm>
              <a:off x="5792044" y="3113028"/>
              <a:ext cx="0" cy="32972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D7E36CA-DB34-4E0B-B784-2B580F501481}"/>
                </a:ext>
              </a:extLst>
            </p:cNvPr>
            <p:cNvSpPr txBox="1"/>
            <p:nvPr/>
          </p:nvSpPr>
          <p:spPr>
            <a:xfrm>
              <a:off x="5456938" y="3086047"/>
              <a:ext cx="681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AB6C16A9-4A24-42B5-B9F7-BD403A8D8B7A}"/>
              </a:ext>
            </a:extLst>
          </p:cNvPr>
          <p:cNvSpPr txBox="1"/>
          <p:nvPr/>
        </p:nvSpPr>
        <p:spPr>
          <a:xfrm>
            <a:off x="4452346" y="2426743"/>
            <a:ext cx="204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α=0°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776F8C0-7861-4ED7-87F8-F1D79C319C86}"/>
              </a:ext>
            </a:extLst>
          </p:cNvPr>
          <p:cNvCxnSpPr>
            <a:stCxn id="41" idx="4"/>
          </p:cNvCxnSpPr>
          <p:nvPr/>
        </p:nvCxnSpPr>
        <p:spPr>
          <a:xfrm flipV="1">
            <a:off x="3880866" y="4574963"/>
            <a:ext cx="2784977" cy="200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C8DE869C-4B94-47CF-821C-68E30FF7D616}"/>
              </a:ext>
            </a:extLst>
          </p:cNvPr>
          <p:cNvSpPr/>
          <p:nvPr/>
        </p:nvSpPr>
        <p:spPr>
          <a:xfrm>
            <a:off x="5605717" y="4212260"/>
            <a:ext cx="667425" cy="632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E71BA6F-0898-4992-AE62-F9FB7785543F}"/>
              </a:ext>
            </a:extLst>
          </p:cNvPr>
          <p:cNvSpPr txBox="1"/>
          <p:nvPr/>
        </p:nvSpPr>
        <p:spPr>
          <a:xfrm>
            <a:off x="5266316" y="4254364"/>
            <a:ext cx="566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86E1D51B-1B28-485C-AE0A-CAD11AE96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4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4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32" y="778413"/>
            <a:ext cx="9630824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五、图示凸轮机构中，滚子推杆与凸轮在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点接触，试用图解法确定： 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、当凸轮从图示位置逆时针转过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90˚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时，推杆位移和压力角的大小。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231221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图五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A2D5A3E-8E64-AB28-8924-F6EEA2679B9F}"/>
              </a:ext>
            </a:extLst>
          </p:cNvPr>
          <p:cNvGrpSpPr>
            <a:grpSpLocks/>
          </p:cNvGrpSpPr>
          <p:nvPr/>
        </p:nvGrpSpPr>
        <p:grpSpPr bwMode="auto">
          <a:xfrm>
            <a:off x="2907512" y="1767601"/>
            <a:ext cx="2884532" cy="4312677"/>
            <a:chOff x="4304" y="8413"/>
            <a:chExt cx="3549" cy="5389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DD5F34E6-94F9-0CA6-AFCD-2270E6732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4" y="12062"/>
              <a:ext cx="3549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A0406EFC-F5D9-0B3B-9409-E03FFD3EA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" y="10522"/>
              <a:ext cx="3" cy="3280"/>
            </a:xfrm>
            <a:custGeom>
              <a:avLst/>
              <a:gdLst>
                <a:gd name="T0" fmla="*/ 0 w 3"/>
                <a:gd name="T1" fmla="*/ 0 h 3280"/>
                <a:gd name="T2" fmla="*/ 3 w 3"/>
                <a:gd name="T3" fmla="*/ 3280 h 3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280">
                  <a:moveTo>
                    <a:pt x="0" y="0"/>
                  </a:moveTo>
                  <a:lnTo>
                    <a:pt x="3" y="3280"/>
                  </a:lnTo>
                </a:path>
              </a:pathLst>
            </a:custGeom>
            <a:solidFill>
              <a:srgbClr val="FFFFFF"/>
            </a:solidFill>
            <a:ln w="15875" cap="flat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947A9261-3CDF-BD95-E444-DA57AFFF0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088"/>
              <a:ext cx="143" cy="14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74710413-0938-07DB-BEF9-8DA7C50E1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229"/>
              <a:ext cx="199" cy="1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96D55E2B-E1C3-B18F-0D18-AF5512CF76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9" y="11423"/>
              <a:ext cx="199" cy="19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1F726DDD-08A8-E75D-9DB1-C4806F7D4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3" y="11618"/>
              <a:ext cx="95" cy="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1EE08A0-2E50-7E58-E76B-BFDA3908C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0533"/>
              <a:ext cx="3119" cy="3059"/>
            </a:xfrm>
            <a:custGeom>
              <a:avLst/>
              <a:gdLst>
                <a:gd name="T0" fmla="*/ 9351 w 9357"/>
                <a:gd name="T1" fmla="*/ 4355 h 9176"/>
                <a:gd name="T2" fmla="*/ 9303 w 9357"/>
                <a:gd name="T3" fmla="*/ 3892 h 9176"/>
                <a:gd name="T4" fmla="*/ 9208 w 9357"/>
                <a:gd name="T5" fmla="*/ 3437 h 9176"/>
                <a:gd name="T6" fmla="*/ 9066 w 9357"/>
                <a:gd name="T7" fmla="*/ 2995 h 9176"/>
                <a:gd name="T8" fmla="*/ 8879 w 9357"/>
                <a:gd name="T9" fmla="*/ 2567 h 9176"/>
                <a:gd name="T10" fmla="*/ 8649 w 9357"/>
                <a:gd name="T11" fmla="*/ 2161 h 9176"/>
                <a:gd name="T12" fmla="*/ 8378 w 9357"/>
                <a:gd name="T13" fmla="*/ 1779 h 9176"/>
                <a:gd name="T14" fmla="*/ 8070 w 9357"/>
                <a:gd name="T15" fmla="*/ 1427 h 9176"/>
                <a:gd name="T16" fmla="*/ 7725 w 9357"/>
                <a:gd name="T17" fmla="*/ 1106 h 9176"/>
                <a:gd name="T18" fmla="*/ 7352 w 9357"/>
                <a:gd name="T19" fmla="*/ 821 h 9176"/>
                <a:gd name="T20" fmla="*/ 6949 w 9357"/>
                <a:gd name="T21" fmla="*/ 576 h 9176"/>
                <a:gd name="T22" fmla="*/ 6523 w 9357"/>
                <a:gd name="T23" fmla="*/ 370 h 9176"/>
                <a:gd name="T24" fmla="*/ 6079 w 9357"/>
                <a:gd name="T25" fmla="*/ 210 h 9176"/>
                <a:gd name="T26" fmla="*/ 5621 w 9357"/>
                <a:gd name="T27" fmla="*/ 93 h 9176"/>
                <a:gd name="T28" fmla="*/ 5151 w 9357"/>
                <a:gd name="T29" fmla="*/ 23 h 9176"/>
                <a:gd name="T30" fmla="*/ 4678 w 9357"/>
                <a:gd name="T31" fmla="*/ 0 h 9176"/>
                <a:gd name="T32" fmla="*/ 4205 w 9357"/>
                <a:gd name="T33" fmla="*/ 23 h 9176"/>
                <a:gd name="T34" fmla="*/ 3736 w 9357"/>
                <a:gd name="T35" fmla="*/ 93 h 9176"/>
                <a:gd name="T36" fmla="*/ 3277 w 9357"/>
                <a:gd name="T37" fmla="*/ 210 h 9176"/>
                <a:gd name="T38" fmla="*/ 2833 w 9357"/>
                <a:gd name="T39" fmla="*/ 370 h 9176"/>
                <a:gd name="T40" fmla="*/ 2407 w 9357"/>
                <a:gd name="T41" fmla="*/ 576 h 9176"/>
                <a:gd name="T42" fmla="*/ 2005 w 9357"/>
                <a:gd name="T43" fmla="*/ 821 h 9176"/>
                <a:gd name="T44" fmla="*/ 1631 w 9357"/>
                <a:gd name="T45" fmla="*/ 1106 h 9176"/>
                <a:gd name="T46" fmla="*/ 1287 w 9357"/>
                <a:gd name="T47" fmla="*/ 1427 h 9176"/>
                <a:gd name="T48" fmla="*/ 979 w 9357"/>
                <a:gd name="T49" fmla="*/ 1779 h 9176"/>
                <a:gd name="T50" fmla="*/ 708 w 9357"/>
                <a:gd name="T51" fmla="*/ 2161 h 9176"/>
                <a:gd name="T52" fmla="*/ 478 w 9357"/>
                <a:gd name="T53" fmla="*/ 2567 h 9176"/>
                <a:gd name="T54" fmla="*/ 290 w 9357"/>
                <a:gd name="T55" fmla="*/ 2995 h 9176"/>
                <a:gd name="T56" fmla="*/ 149 w 9357"/>
                <a:gd name="T57" fmla="*/ 3437 h 9176"/>
                <a:gd name="T58" fmla="*/ 54 w 9357"/>
                <a:gd name="T59" fmla="*/ 3892 h 9176"/>
                <a:gd name="T60" fmla="*/ 6 w 9357"/>
                <a:gd name="T61" fmla="*/ 4355 h 9176"/>
                <a:gd name="T62" fmla="*/ 6 w 9357"/>
                <a:gd name="T63" fmla="*/ 4821 h 9176"/>
                <a:gd name="T64" fmla="*/ 54 w 9357"/>
                <a:gd name="T65" fmla="*/ 5282 h 9176"/>
                <a:gd name="T66" fmla="*/ 149 w 9357"/>
                <a:gd name="T67" fmla="*/ 5737 h 9176"/>
                <a:gd name="T68" fmla="*/ 290 w 9357"/>
                <a:gd name="T69" fmla="*/ 6181 h 9176"/>
                <a:gd name="T70" fmla="*/ 478 w 9357"/>
                <a:gd name="T71" fmla="*/ 6609 h 9176"/>
                <a:gd name="T72" fmla="*/ 708 w 9357"/>
                <a:gd name="T73" fmla="*/ 7014 h 9176"/>
                <a:gd name="T74" fmla="*/ 979 w 9357"/>
                <a:gd name="T75" fmla="*/ 7397 h 9176"/>
                <a:gd name="T76" fmla="*/ 1287 w 9357"/>
                <a:gd name="T77" fmla="*/ 7749 h 9176"/>
                <a:gd name="T78" fmla="*/ 1631 w 9357"/>
                <a:gd name="T79" fmla="*/ 8070 h 9176"/>
                <a:gd name="T80" fmla="*/ 2005 w 9357"/>
                <a:gd name="T81" fmla="*/ 8354 h 9176"/>
                <a:gd name="T82" fmla="*/ 2407 w 9357"/>
                <a:gd name="T83" fmla="*/ 8600 h 9176"/>
                <a:gd name="T84" fmla="*/ 2833 w 9357"/>
                <a:gd name="T85" fmla="*/ 8804 h 9176"/>
                <a:gd name="T86" fmla="*/ 3277 w 9357"/>
                <a:gd name="T87" fmla="*/ 8966 h 9176"/>
                <a:gd name="T88" fmla="*/ 3736 w 9357"/>
                <a:gd name="T89" fmla="*/ 9083 h 9176"/>
                <a:gd name="T90" fmla="*/ 4205 w 9357"/>
                <a:gd name="T91" fmla="*/ 9153 h 9176"/>
                <a:gd name="T92" fmla="*/ 4678 w 9357"/>
                <a:gd name="T93" fmla="*/ 9176 h 9176"/>
                <a:gd name="T94" fmla="*/ 5151 w 9357"/>
                <a:gd name="T95" fmla="*/ 9153 h 9176"/>
                <a:gd name="T96" fmla="*/ 5621 w 9357"/>
                <a:gd name="T97" fmla="*/ 9083 h 9176"/>
                <a:gd name="T98" fmla="*/ 6079 w 9357"/>
                <a:gd name="T99" fmla="*/ 8966 h 9176"/>
                <a:gd name="T100" fmla="*/ 6523 w 9357"/>
                <a:gd name="T101" fmla="*/ 8804 h 9176"/>
                <a:gd name="T102" fmla="*/ 6949 w 9357"/>
                <a:gd name="T103" fmla="*/ 8600 h 9176"/>
                <a:gd name="T104" fmla="*/ 7352 w 9357"/>
                <a:gd name="T105" fmla="*/ 8354 h 9176"/>
                <a:gd name="T106" fmla="*/ 7725 w 9357"/>
                <a:gd name="T107" fmla="*/ 8070 h 9176"/>
                <a:gd name="T108" fmla="*/ 8070 w 9357"/>
                <a:gd name="T109" fmla="*/ 7749 h 9176"/>
                <a:gd name="T110" fmla="*/ 8378 w 9357"/>
                <a:gd name="T111" fmla="*/ 7397 h 9176"/>
                <a:gd name="T112" fmla="*/ 8649 w 9357"/>
                <a:gd name="T113" fmla="*/ 7014 h 9176"/>
                <a:gd name="T114" fmla="*/ 8879 w 9357"/>
                <a:gd name="T115" fmla="*/ 6609 h 9176"/>
                <a:gd name="T116" fmla="*/ 9066 w 9357"/>
                <a:gd name="T117" fmla="*/ 6181 h 9176"/>
                <a:gd name="T118" fmla="*/ 9208 w 9357"/>
                <a:gd name="T119" fmla="*/ 5737 h 9176"/>
                <a:gd name="T120" fmla="*/ 9303 w 9357"/>
                <a:gd name="T121" fmla="*/ 5282 h 9176"/>
                <a:gd name="T122" fmla="*/ 9351 w 9357"/>
                <a:gd name="T123" fmla="*/ 4821 h 9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357" h="9176">
                  <a:moveTo>
                    <a:pt x="9357" y="4587"/>
                  </a:moveTo>
                  <a:lnTo>
                    <a:pt x="9351" y="4355"/>
                  </a:lnTo>
                  <a:lnTo>
                    <a:pt x="9333" y="4123"/>
                  </a:lnTo>
                  <a:lnTo>
                    <a:pt x="9303" y="3892"/>
                  </a:lnTo>
                  <a:lnTo>
                    <a:pt x="9261" y="3665"/>
                  </a:lnTo>
                  <a:lnTo>
                    <a:pt x="9208" y="3437"/>
                  </a:lnTo>
                  <a:lnTo>
                    <a:pt x="9142" y="3214"/>
                  </a:lnTo>
                  <a:lnTo>
                    <a:pt x="9066" y="2995"/>
                  </a:lnTo>
                  <a:lnTo>
                    <a:pt x="8978" y="2779"/>
                  </a:lnTo>
                  <a:lnTo>
                    <a:pt x="8879" y="2567"/>
                  </a:lnTo>
                  <a:lnTo>
                    <a:pt x="8770" y="2361"/>
                  </a:lnTo>
                  <a:lnTo>
                    <a:pt x="8649" y="2161"/>
                  </a:lnTo>
                  <a:lnTo>
                    <a:pt x="8518" y="1967"/>
                  </a:lnTo>
                  <a:lnTo>
                    <a:pt x="8378" y="1779"/>
                  </a:lnTo>
                  <a:lnTo>
                    <a:pt x="8228" y="1599"/>
                  </a:lnTo>
                  <a:lnTo>
                    <a:pt x="8070" y="1427"/>
                  </a:lnTo>
                  <a:lnTo>
                    <a:pt x="7901" y="1262"/>
                  </a:lnTo>
                  <a:lnTo>
                    <a:pt x="7725" y="1106"/>
                  </a:lnTo>
                  <a:lnTo>
                    <a:pt x="7542" y="958"/>
                  </a:lnTo>
                  <a:lnTo>
                    <a:pt x="7352" y="821"/>
                  </a:lnTo>
                  <a:lnTo>
                    <a:pt x="7153" y="694"/>
                  </a:lnTo>
                  <a:lnTo>
                    <a:pt x="6949" y="576"/>
                  </a:lnTo>
                  <a:lnTo>
                    <a:pt x="6739" y="468"/>
                  </a:lnTo>
                  <a:lnTo>
                    <a:pt x="6523" y="370"/>
                  </a:lnTo>
                  <a:lnTo>
                    <a:pt x="6303" y="284"/>
                  </a:lnTo>
                  <a:lnTo>
                    <a:pt x="6079" y="210"/>
                  </a:lnTo>
                  <a:lnTo>
                    <a:pt x="5851" y="145"/>
                  </a:lnTo>
                  <a:lnTo>
                    <a:pt x="5621" y="93"/>
                  </a:lnTo>
                  <a:lnTo>
                    <a:pt x="5387" y="52"/>
                  </a:lnTo>
                  <a:lnTo>
                    <a:pt x="5151" y="23"/>
                  </a:lnTo>
                  <a:lnTo>
                    <a:pt x="4914" y="5"/>
                  </a:lnTo>
                  <a:lnTo>
                    <a:pt x="4678" y="0"/>
                  </a:lnTo>
                  <a:lnTo>
                    <a:pt x="4441" y="5"/>
                  </a:lnTo>
                  <a:lnTo>
                    <a:pt x="4205" y="23"/>
                  </a:lnTo>
                  <a:lnTo>
                    <a:pt x="3970" y="52"/>
                  </a:lnTo>
                  <a:lnTo>
                    <a:pt x="3736" y="93"/>
                  </a:lnTo>
                  <a:lnTo>
                    <a:pt x="3505" y="145"/>
                  </a:lnTo>
                  <a:lnTo>
                    <a:pt x="3277" y="210"/>
                  </a:lnTo>
                  <a:lnTo>
                    <a:pt x="3054" y="284"/>
                  </a:lnTo>
                  <a:lnTo>
                    <a:pt x="2833" y="370"/>
                  </a:lnTo>
                  <a:lnTo>
                    <a:pt x="2617" y="468"/>
                  </a:lnTo>
                  <a:lnTo>
                    <a:pt x="2407" y="576"/>
                  </a:lnTo>
                  <a:lnTo>
                    <a:pt x="2203" y="694"/>
                  </a:lnTo>
                  <a:lnTo>
                    <a:pt x="2005" y="821"/>
                  </a:lnTo>
                  <a:lnTo>
                    <a:pt x="1814" y="958"/>
                  </a:lnTo>
                  <a:lnTo>
                    <a:pt x="1631" y="1106"/>
                  </a:lnTo>
                  <a:lnTo>
                    <a:pt x="1455" y="1262"/>
                  </a:lnTo>
                  <a:lnTo>
                    <a:pt x="1287" y="1427"/>
                  </a:lnTo>
                  <a:lnTo>
                    <a:pt x="1128" y="1599"/>
                  </a:lnTo>
                  <a:lnTo>
                    <a:pt x="979" y="1779"/>
                  </a:lnTo>
                  <a:lnTo>
                    <a:pt x="839" y="1967"/>
                  </a:lnTo>
                  <a:lnTo>
                    <a:pt x="708" y="2161"/>
                  </a:lnTo>
                  <a:lnTo>
                    <a:pt x="587" y="2361"/>
                  </a:lnTo>
                  <a:lnTo>
                    <a:pt x="478" y="2567"/>
                  </a:lnTo>
                  <a:lnTo>
                    <a:pt x="378" y="2779"/>
                  </a:lnTo>
                  <a:lnTo>
                    <a:pt x="290" y="2995"/>
                  </a:lnTo>
                  <a:lnTo>
                    <a:pt x="214" y="3214"/>
                  </a:lnTo>
                  <a:lnTo>
                    <a:pt x="149" y="3437"/>
                  </a:lnTo>
                  <a:lnTo>
                    <a:pt x="95" y="3665"/>
                  </a:lnTo>
                  <a:lnTo>
                    <a:pt x="54" y="3892"/>
                  </a:lnTo>
                  <a:lnTo>
                    <a:pt x="24" y="4123"/>
                  </a:lnTo>
                  <a:lnTo>
                    <a:pt x="6" y="4355"/>
                  </a:lnTo>
                  <a:lnTo>
                    <a:pt x="0" y="4587"/>
                  </a:lnTo>
                  <a:lnTo>
                    <a:pt x="6" y="4821"/>
                  </a:lnTo>
                  <a:lnTo>
                    <a:pt x="24" y="5051"/>
                  </a:lnTo>
                  <a:lnTo>
                    <a:pt x="54" y="5282"/>
                  </a:lnTo>
                  <a:lnTo>
                    <a:pt x="95" y="5511"/>
                  </a:lnTo>
                  <a:lnTo>
                    <a:pt x="149" y="5737"/>
                  </a:lnTo>
                  <a:lnTo>
                    <a:pt x="214" y="5962"/>
                  </a:lnTo>
                  <a:lnTo>
                    <a:pt x="290" y="6181"/>
                  </a:lnTo>
                  <a:lnTo>
                    <a:pt x="378" y="6397"/>
                  </a:lnTo>
                  <a:lnTo>
                    <a:pt x="478" y="6609"/>
                  </a:lnTo>
                  <a:lnTo>
                    <a:pt x="587" y="6814"/>
                  </a:lnTo>
                  <a:lnTo>
                    <a:pt x="708" y="7014"/>
                  </a:lnTo>
                  <a:lnTo>
                    <a:pt x="839" y="7209"/>
                  </a:lnTo>
                  <a:lnTo>
                    <a:pt x="979" y="7397"/>
                  </a:lnTo>
                  <a:lnTo>
                    <a:pt x="1128" y="7576"/>
                  </a:lnTo>
                  <a:lnTo>
                    <a:pt x="1287" y="7749"/>
                  </a:lnTo>
                  <a:lnTo>
                    <a:pt x="1455" y="7913"/>
                  </a:lnTo>
                  <a:lnTo>
                    <a:pt x="1631" y="8070"/>
                  </a:lnTo>
                  <a:lnTo>
                    <a:pt x="1814" y="8216"/>
                  </a:lnTo>
                  <a:lnTo>
                    <a:pt x="2005" y="8354"/>
                  </a:lnTo>
                  <a:lnTo>
                    <a:pt x="2203" y="8481"/>
                  </a:lnTo>
                  <a:lnTo>
                    <a:pt x="2407" y="8600"/>
                  </a:lnTo>
                  <a:lnTo>
                    <a:pt x="2617" y="8708"/>
                  </a:lnTo>
                  <a:lnTo>
                    <a:pt x="2833" y="8804"/>
                  </a:lnTo>
                  <a:lnTo>
                    <a:pt x="3054" y="8890"/>
                  </a:lnTo>
                  <a:lnTo>
                    <a:pt x="3277" y="8966"/>
                  </a:lnTo>
                  <a:lnTo>
                    <a:pt x="3505" y="9030"/>
                  </a:lnTo>
                  <a:lnTo>
                    <a:pt x="3736" y="9083"/>
                  </a:lnTo>
                  <a:lnTo>
                    <a:pt x="3970" y="9124"/>
                  </a:lnTo>
                  <a:lnTo>
                    <a:pt x="4205" y="9153"/>
                  </a:lnTo>
                  <a:lnTo>
                    <a:pt x="4441" y="9170"/>
                  </a:lnTo>
                  <a:lnTo>
                    <a:pt x="4678" y="9176"/>
                  </a:lnTo>
                  <a:lnTo>
                    <a:pt x="4914" y="9170"/>
                  </a:lnTo>
                  <a:lnTo>
                    <a:pt x="5151" y="9153"/>
                  </a:lnTo>
                  <a:lnTo>
                    <a:pt x="5387" y="9124"/>
                  </a:lnTo>
                  <a:lnTo>
                    <a:pt x="5621" y="9083"/>
                  </a:lnTo>
                  <a:lnTo>
                    <a:pt x="5851" y="9030"/>
                  </a:lnTo>
                  <a:lnTo>
                    <a:pt x="6079" y="8966"/>
                  </a:lnTo>
                  <a:lnTo>
                    <a:pt x="6303" y="8890"/>
                  </a:lnTo>
                  <a:lnTo>
                    <a:pt x="6523" y="8804"/>
                  </a:lnTo>
                  <a:lnTo>
                    <a:pt x="6739" y="8708"/>
                  </a:lnTo>
                  <a:lnTo>
                    <a:pt x="6949" y="8600"/>
                  </a:lnTo>
                  <a:lnTo>
                    <a:pt x="7153" y="8481"/>
                  </a:lnTo>
                  <a:lnTo>
                    <a:pt x="7352" y="8354"/>
                  </a:lnTo>
                  <a:lnTo>
                    <a:pt x="7542" y="8216"/>
                  </a:lnTo>
                  <a:lnTo>
                    <a:pt x="7725" y="8070"/>
                  </a:lnTo>
                  <a:lnTo>
                    <a:pt x="7901" y="7913"/>
                  </a:lnTo>
                  <a:lnTo>
                    <a:pt x="8070" y="7749"/>
                  </a:lnTo>
                  <a:lnTo>
                    <a:pt x="8228" y="7576"/>
                  </a:lnTo>
                  <a:lnTo>
                    <a:pt x="8378" y="7397"/>
                  </a:lnTo>
                  <a:lnTo>
                    <a:pt x="8518" y="7209"/>
                  </a:lnTo>
                  <a:lnTo>
                    <a:pt x="8649" y="7014"/>
                  </a:lnTo>
                  <a:lnTo>
                    <a:pt x="8770" y="6814"/>
                  </a:lnTo>
                  <a:lnTo>
                    <a:pt x="8879" y="6609"/>
                  </a:lnTo>
                  <a:lnTo>
                    <a:pt x="8978" y="6397"/>
                  </a:lnTo>
                  <a:lnTo>
                    <a:pt x="9066" y="6181"/>
                  </a:lnTo>
                  <a:lnTo>
                    <a:pt x="9142" y="5962"/>
                  </a:lnTo>
                  <a:lnTo>
                    <a:pt x="9208" y="5737"/>
                  </a:lnTo>
                  <a:lnTo>
                    <a:pt x="9261" y="5511"/>
                  </a:lnTo>
                  <a:lnTo>
                    <a:pt x="9303" y="5282"/>
                  </a:lnTo>
                  <a:lnTo>
                    <a:pt x="9333" y="5051"/>
                  </a:lnTo>
                  <a:lnTo>
                    <a:pt x="9351" y="4821"/>
                  </a:lnTo>
                  <a:lnTo>
                    <a:pt x="9357" y="4587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3F0DF24-CD04-6EEE-BCFB-5AB37D218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" y="11302"/>
              <a:ext cx="198" cy="195"/>
            </a:xfrm>
            <a:custGeom>
              <a:avLst/>
              <a:gdLst>
                <a:gd name="T0" fmla="*/ 596 w 596"/>
                <a:gd name="T1" fmla="*/ 292 h 584"/>
                <a:gd name="T2" fmla="*/ 590 w 596"/>
                <a:gd name="T3" fmla="*/ 235 h 584"/>
                <a:gd name="T4" fmla="*/ 572 w 596"/>
                <a:gd name="T5" fmla="*/ 181 h 584"/>
                <a:gd name="T6" fmla="*/ 545 w 596"/>
                <a:gd name="T7" fmla="*/ 130 h 584"/>
                <a:gd name="T8" fmla="*/ 508 w 596"/>
                <a:gd name="T9" fmla="*/ 86 h 584"/>
                <a:gd name="T10" fmla="*/ 463 w 596"/>
                <a:gd name="T11" fmla="*/ 50 h 584"/>
                <a:gd name="T12" fmla="*/ 411 w 596"/>
                <a:gd name="T13" fmla="*/ 23 h 584"/>
                <a:gd name="T14" fmla="*/ 356 w 596"/>
                <a:gd name="T15" fmla="*/ 6 h 584"/>
                <a:gd name="T16" fmla="*/ 298 w 596"/>
                <a:gd name="T17" fmla="*/ 0 h 584"/>
                <a:gd name="T18" fmla="*/ 240 w 596"/>
                <a:gd name="T19" fmla="*/ 6 h 584"/>
                <a:gd name="T20" fmla="*/ 183 w 596"/>
                <a:gd name="T21" fmla="*/ 23 h 584"/>
                <a:gd name="T22" fmla="*/ 133 w 596"/>
                <a:gd name="T23" fmla="*/ 50 h 584"/>
                <a:gd name="T24" fmla="*/ 88 w 596"/>
                <a:gd name="T25" fmla="*/ 86 h 584"/>
                <a:gd name="T26" fmla="*/ 51 w 596"/>
                <a:gd name="T27" fmla="*/ 130 h 584"/>
                <a:gd name="T28" fmla="*/ 22 w 596"/>
                <a:gd name="T29" fmla="*/ 181 h 584"/>
                <a:gd name="T30" fmla="*/ 6 w 596"/>
                <a:gd name="T31" fmla="*/ 235 h 584"/>
                <a:gd name="T32" fmla="*/ 0 w 596"/>
                <a:gd name="T33" fmla="*/ 292 h 584"/>
                <a:gd name="T34" fmla="*/ 6 w 596"/>
                <a:gd name="T35" fmla="*/ 349 h 584"/>
                <a:gd name="T36" fmla="*/ 22 w 596"/>
                <a:gd name="T37" fmla="*/ 404 h 584"/>
                <a:gd name="T38" fmla="*/ 51 w 596"/>
                <a:gd name="T39" fmla="*/ 454 h 584"/>
                <a:gd name="T40" fmla="*/ 88 w 596"/>
                <a:gd name="T41" fmla="*/ 499 h 584"/>
                <a:gd name="T42" fmla="*/ 133 w 596"/>
                <a:gd name="T43" fmla="*/ 534 h 584"/>
                <a:gd name="T44" fmla="*/ 183 w 596"/>
                <a:gd name="T45" fmla="*/ 562 h 584"/>
                <a:gd name="T46" fmla="*/ 240 w 596"/>
                <a:gd name="T47" fmla="*/ 578 h 584"/>
                <a:gd name="T48" fmla="*/ 298 w 596"/>
                <a:gd name="T49" fmla="*/ 584 h 584"/>
                <a:gd name="T50" fmla="*/ 356 w 596"/>
                <a:gd name="T51" fmla="*/ 578 h 584"/>
                <a:gd name="T52" fmla="*/ 411 w 596"/>
                <a:gd name="T53" fmla="*/ 562 h 584"/>
                <a:gd name="T54" fmla="*/ 463 w 596"/>
                <a:gd name="T55" fmla="*/ 534 h 584"/>
                <a:gd name="T56" fmla="*/ 508 w 596"/>
                <a:gd name="T57" fmla="*/ 499 h 584"/>
                <a:gd name="T58" fmla="*/ 545 w 596"/>
                <a:gd name="T59" fmla="*/ 454 h 584"/>
                <a:gd name="T60" fmla="*/ 572 w 596"/>
                <a:gd name="T61" fmla="*/ 404 h 584"/>
                <a:gd name="T62" fmla="*/ 590 w 596"/>
                <a:gd name="T63" fmla="*/ 349 h 584"/>
                <a:gd name="T64" fmla="*/ 596 w 596"/>
                <a:gd name="T65" fmla="*/ 29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6" h="584">
                  <a:moveTo>
                    <a:pt x="596" y="292"/>
                  </a:moveTo>
                  <a:lnTo>
                    <a:pt x="590" y="235"/>
                  </a:lnTo>
                  <a:lnTo>
                    <a:pt x="572" y="181"/>
                  </a:lnTo>
                  <a:lnTo>
                    <a:pt x="545" y="130"/>
                  </a:lnTo>
                  <a:lnTo>
                    <a:pt x="508" y="86"/>
                  </a:lnTo>
                  <a:lnTo>
                    <a:pt x="463" y="50"/>
                  </a:lnTo>
                  <a:lnTo>
                    <a:pt x="411" y="23"/>
                  </a:lnTo>
                  <a:lnTo>
                    <a:pt x="356" y="6"/>
                  </a:lnTo>
                  <a:lnTo>
                    <a:pt x="298" y="0"/>
                  </a:lnTo>
                  <a:lnTo>
                    <a:pt x="240" y="6"/>
                  </a:lnTo>
                  <a:lnTo>
                    <a:pt x="183" y="23"/>
                  </a:lnTo>
                  <a:lnTo>
                    <a:pt x="133" y="50"/>
                  </a:lnTo>
                  <a:lnTo>
                    <a:pt x="88" y="86"/>
                  </a:lnTo>
                  <a:lnTo>
                    <a:pt x="51" y="130"/>
                  </a:lnTo>
                  <a:lnTo>
                    <a:pt x="22" y="181"/>
                  </a:lnTo>
                  <a:lnTo>
                    <a:pt x="6" y="235"/>
                  </a:lnTo>
                  <a:lnTo>
                    <a:pt x="0" y="292"/>
                  </a:lnTo>
                  <a:lnTo>
                    <a:pt x="6" y="349"/>
                  </a:lnTo>
                  <a:lnTo>
                    <a:pt x="22" y="404"/>
                  </a:lnTo>
                  <a:lnTo>
                    <a:pt x="51" y="454"/>
                  </a:lnTo>
                  <a:lnTo>
                    <a:pt x="88" y="499"/>
                  </a:lnTo>
                  <a:lnTo>
                    <a:pt x="133" y="534"/>
                  </a:lnTo>
                  <a:lnTo>
                    <a:pt x="183" y="562"/>
                  </a:lnTo>
                  <a:lnTo>
                    <a:pt x="240" y="578"/>
                  </a:lnTo>
                  <a:lnTo>
                    <a:pt x="298" y="584"/>
                  </a:lnTo>
                  <a:lnTo>
                    <a:pt x="356" y="578"/>
                  </a:lnTo>
                  <a:lnTo>
                    <a:pt x="411" y="562"/>
                  </a:lnTo>
                  <a:lnTo>
                    <a:pt x="463" y="534"/>
                  </a:lnTo>
                  <a:lnTo>
                    <a:pt x="508" y="499"/>
                  </a:lnTo>
                  <a:lnTo>
                    <a:pt x="545" y="454"/>
                  </a:lnTo>
                  <a:lnTo>
                    <a:pt x="572" y="404"/>
                  </a:lnTo>
                  <a:lnTo>
                    <a:pt x="590" y="349"/>
                  </a:lnTo>
                  <a:lnTo>
                    <a:pt x="596" y="292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23F1ABEB-5E09-9494-06C1-E65551FF72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38" y="11136"/>
              <a:ext cx="241" cy="2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12B8B198-4CBD-44ED-734F-B76A5D6B9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8" y="11088"/>
              <a:ext cx="0" cy="62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1751EDCB-0563-2595-A5D6-8EFA9BB25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8" y="11462"/>
              <a:ext cx="241" cy="2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BAAB195-65DF-6F7A-CE90-D5BBDBA61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5" y="9735"/>
              <a:ext cx="793" cy="777"/>
            </a:xfrm>
            <a:custGeom>
              <a:avLst/>
              <a:gdLst>
                <a:gd name="T0" fmla="*/ 2371 w 2377"/>
                <a:gd name="T1" fmla="*/ 1052 h 2332"/>
                <a:gd name="T2" fmla="*/ 2327 w 2377"/>
                <a:gd name="T3" fmla="*/ 828 h 2332"/>
                <a:gd name="T4" fmla="*/ 2237 w 2377"/>
                <a:gd name="T5" fmla="*/ 616 h 2332"/>
                <a:gd name="T6" fmla="*/ 2108 w 2377"/>
                <a:gd name="T7" fmla="*/ 426 h 2332"/>
                <a:gd name="T8" fmla="*/ 1942 w 2377"/>
                <a:gd name="T9" fmla="*/ 266 h 2332"/>
                <a:gd name="T10" fmla="*/ 1749 w 2377"/>
                <a:gd name="T11" fmla="*/ 139 h 2332"/>
                <a:gd name="T12" fmla="*/ 1534 w 2377"/>
                <a:gd name="T13" fmla="*/ 51 h 2332"/>
                <a:gd name="T14" fmla="*/ 1305 w 2377"/>
                <a:gd name="T15" fmla="*/ 6 h 2332"/>
                <a:gd name="T16" fmla="*/ 1072 w 2377"/>
                <a:gd name="T17" fmla="*/ 6 h 2332"/>
                <a:gd name="T18" fmla="*/ 844 w 2377"/>
                <a:gd name="T19" fmla="*/ 51 h 2332"/>
                <a:gd name="T20" fmla="*/ 628 w 2377"/>
                <a:gd name="T21" fmla="*/ 139 h 2332"/>
                <a:gd name="T22" fmla="*/ 435 w 2377"/>
                <a:gd name="T23" fmla="*/ 266 h 2332"/>
                <a:gd name="T24" fmla="*/ 269 w 2377"/>
                <a:gd name="T25" fmla="*/ 426 h 2332"/>
                <a:gd name="T26" fmla="*/ 140 w 2377"/>
                <a:gd name="T27" fmla="*/ 616 h 2332"/>
                <a:gd name="T28" fmla="*/ 52 w 2377"/>
                <a:gd name="T29" fmla="*/ 828 h 2332"/>
                <a:gd name="T30" fmla="*/ 6 w 2377"/>
                <a:gd name="T31" fmla="*/ 1052 h 2332"/>
                <a:gd name="T32" fmla="*/ 6 w 2377"/>
                <a:gd name="T33" fmla="*/ 1280 h 2332"/>
                <a:gd name="T34" fmla="*/ 52 w 2377"/>
                <a:gd name="T35" fmla="*/ 1505 h 2332"/>
                <a:gd name="T36" fmla="*/ 140 w 2377"/>
                <a:gd name="T37" fmla="*/ 1717 h 2332"/>
                <a:gd name="T38" fmla="*/ 269 w 2377"/>
                <a:gd name="T39" fmla="*/ 1906 h 2332"/>
                <a:gd name="T40" fmla="*/ 435 w 2377"/>
                <a:gd name="T41" fmla="*/ 2068 h 2332"/>
                <a:gd name="T42" fmla="*/ 628 w 2377"/>
                <a:gd name="T43" fmla="*/ 2195 h 2332"/>
                <a:gd name="T44" fmla="*/ 844 w 2377"/>
                <a:gd name="T45" fmla="*/ 2281 h 2332"/>
                <a:gd name="T46" fmla="*/ 1072 w 2377"/>
                <a:gd name="T47" fmla="*/ 2327 h 2332"/>
                <a:gd name="T48" fmla="*/ 1305 w 2377"/>
                <a:gd name="T49" fmla="*/ 2327 h 2332"/>
                <a:gd name="T50" fmla="*/ 1534 w 2377"/>
                <a:gd name="T51" fmla="*/ 2281 h 2332"/>
                <a:gd name="T52" fmla="*/ 1749 w 2377"/>
                <a:gd name="T53" fmla="*/ 2195 h 2332"/>
                <a:gd name="T54" fmla="*/ 1942 w 2377"/>
                <a:gd name="T55" fmla="*/ 2068 h 2332"/>
                <a:gd name="T56" fmla="*/ 2108 w 2377"/>
                <a:gd name="T57" fmla="*/ 1906 h 2332"/>
                <a:gd name="T58" fmla="*/ 2237 w 2377"/>
                <a:gd name="T59" fmla="*/ 1717 h 2332"/>
                <a:gd name="T60" fmla="*/ 2327 w 2377"/>
                <a:gd name="T61" fmla="*/ 1505 h 2332"/>
                <a:gd name="T62" fmla="*/ 2371 w 2377"/>
                <a:gd name="T63" fmla="*/ 1280 h 2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7" h="2332">
                  <a:moveTo>
                    <a:pt x="2377" y="1166"/>
                  </a:moveTo>
                  <a:lnTo>
                    <a:pt x="2371" y="1052"/>
                  </a:lnTo>
                  <a:lnTo>
                    <a:pt x="2355" y="939"/>
                  </a:lnTo>
                  <a:lnTo>
                    <a:pt x="2327" y="828"/>
                  </a:lnTo>
                  <a:lnTo>
                    <a:pt x="2286" y="720"/>
                  </a:lnTo>
                  <a:lnTo>
                    <a:pt x="2237" y="616"/>
                  </a:lnTo>
                  <a:lnTo>
                    <a:pt x="2178" y="518"/>
                  </a:lnTo>
                  <a:lnTo>
                    <a:pt x="2108" y="426"/>
                  </a:lnTo>
                  <a:lnTo>
                    <a:pt x="2029" y="342"/>
                  </a:lnTo>
                  <a:lnTo>
                    <a:pt x="1942" y="266"/>
                  </a:lnTo>
                  <a:lnTo>
                    <a:pt x="1850" y="197"/>
                  </a:lnTo>
                  <a:lnTo>
                    <a:pt x="1749" y="139"/>
                  </a:lnTo>
                  <a:lnTo>
                    <a:pt x="1644" y="89"/>
                  </a:lnTo>
                  <a:lnTo>
                    <a:pt x="1534" y="51"/>
                  </a:lnTo>
                  <a:lnTo>
                    <a:pt x="1421" y="23"/>
                  </a:lnTo>
                  <a:lnTo>
                    <a:pt x="1305" y="6"/>
                  </a:lnTo>
                  <a:lnTo>
                    <a:pt x="1189" y="0"/>
                  </a:lnTo>
                  <a:lnTo>
                    <a:pt x="1072" y="6"/>
                  </a:lnTo>
                  <a:lnTo>
                    <a:pt x="956" y="23"/>
                  </a:lnTo>
                  <a:lnTo>
                    <a:pt x="844" y="51"/>
                  </a:lnTo>
                  <a:lnTo>
                    <a:pt x="734" y="89"/>
                  </a:lnTo>
                  <a:lnTo>
                    <a:pt x="628" y="139"/>
                  </a:lnTo>
                  <a:lnTo>
                    <a:pt x="529" y="197"/>
                  </a:lnTo>
                  <a:lnTo>
                    <a:pt x="435" y="266"/>
                  </a:lnTo>
                  <a:lnTo>
                    <a:pt x="348" y="342"/>
                  </a:lnTo>
                  <a:lnTo>
                    <a:pt x="269" y="426"/>
                  </a:lnTo>
                  <a:lnTo>
                    <a:pt x="201" y="518"/>
                  </a:lnTo>
                  <a:lnTo>
                    <a:pt x="140" y="616"/>
                  </a:lnTo>
                  <a:lnTo>
                    <a:pt x="91" y="720"/>
                  </a:lnTo>
                  <a:lnTo>
                    <a:pt x="52" y="828"/>
                  </a:lnTo>
                  <a:lnTo>
                    <a:pt x="22" y="939"/>
                  </a:lnTo>
                  <a:lnTo>
                    <a:pt x="6" y="1052"/>
                  </a:lnTo>
                  <a:lnTo>
                    <a:pt x="0" y="1166"/>
                  </a:lnTo>
                  <a:lnTo>
                    <a:pt x="6" y="1280"/>
                  </a:lnTo>
                  <a:lnTo>
                    <a:pt x="22" y="1394"/>
                  </a:lnTo>
                  <a:lnTo>
                    <a:pt x="52" y="1505"/>
                  </a:lnTo>
                  <a:lnTo>
                    <a:pt x="91" y="1613"/>
                  </a:lnTo>
                  <a:lnTo>
                    <a:pt x="140" y="1717"/>
                  </a:lnTo>
                  <a:lnTo>
                    <a:pt x="201" y="1814"/>
                  </a:lnTo>
                  <a:lnTo>
                    <a:pt x="269" y="1906"/>
                  </a:lnTo>
                  <a:lnTo>
                    <a:pt x="348" y="1991"/>
                  </a:lnTo>
                  <a:lnTo>
                    <a:pt x="435" y="2068"/>
                  </a:lnTo>
                  <a:lnTo>
                    <a:pt x="529" y="2135"/>
                  </a:lnTo>
                  <a:lnTo>
                    <a:pt x="628" y="2195"/>
                  </a:lnTo>
                  <a:lnTo>
                    <a:pt x="734" y="2243"/>
                  </a:lnTo>
                  <a:lnTo>
                    <a:pt x="844" y="2281"/>
                  </a:lnTo>
                  <a:lnTo>
                    <a:pt x="956" y="2309"/>
                  </a:lnTo>
                  <a:lnTo>
                    <a:pt x="1072" y="2327"/>
                  </a:lnTo>
                  <a:lnTo>
                    <a:pt x="1189" y="2332"/>
                  </a:lnTo>
                  <a:lnTo>
                    <a:pt x="1305" y="2327"/>
                  </a:lnTo>
                  <a:lnTo>
                    <a:pt x="1421" y="2309"/>
                  </a:lnTo>
                  <a:lnTo>
                    <a:pt x="1534" y="2281"/>
                  </a:lnTo>
                  <a:lnTo>
                    <a:pt x="1644" y="2243"/>
                  </a:lnTo>
                  <a:lnTo>
                    <a:pt x="1749" y="2195"/>
                  </a:lnTo>
                  <a:lnTo>
                    <a:pt x="1850" y="2135"/>
                  </a:lnTo>
                  <a:lnTo>
                    <a:pt x="1942" y="2068"/>
                  </a:lnTo>
                  <a:lnTo>
                    <a:pt x="2029" y="1991"/>
                  </a:lnTo>
                  <a:lnTo>
                    <a:pt x="2108" y="1906"/>
                  </a:lnTo>
                  <a:lnTo>
                    <a:pt x="2178" y="1814"/>
                  </a:lnTo>
                  <a:lnTo>
                    <a:pt x="2237" y="1717"/>
                  </a:lnTo>
                  <a:lnTo>
                    <a:pt x="2286" y="1613"/>
                  </a:lnTo>
                  <a:lnTo>
                    <a:pt x="2327" y="1505"/>
                  </a:lnTo>
                  <a:lnTo>
                    <a:pt x="2355" y="1394"/>
                  </a:lnTo>
                  <a:lnTo>
                    <a:pt x="2371" y="1280"/>
                  </a:lnTo>
                  <a:lnTo>
                    <a:pt x="2377" y="1166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71845CDD-CC53-2ADE-076A-83E7DFA13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" y="10026"/>
              <a:ext cx="199" cy="195"/>
            </a:xfrm>
            <a:custGeom>
              <a:avLst/>
              <a:gdLst>
                <a:gd name="T0" fmla="*/ 595 w 595"/>
                <a:gd name="T1" fmla="*/ 292 h 584"/>
                <a:gd name="T2" fmla="*/ 589 w 595"/>
                <a:gd name="T3" fmla="*/ 235 h 584"/>
                <a:gd name="T4" fmla="*/ 573 w 595"/>
                <a:gd name="T5" fmla="*/ 181 h 584"/>
                <a:gd name="T6" fmla="*/ 545 w 595"/>
                <a:gd name="T7" fmla="*/ 130 h 584"/>
                <a:gd name="T8" fmla="*/ 508 w 595"/>
                <a:gd name="T9" fmla="*/ 86 h 584"/>
                <a:gd name="T10" fmla="*/ 463 w 595"/>
                <a:gd name="T11" fmla="*/ 50 h 584"/>
                <a:gd name="T12" fmla="*/ 412 w 595"/>
                <a:gd name="T13" fmla="*/ 22 h 584"/>
                <a:gd name="T14" fmla="*/ 356 w 595"/>
                <a:gd name="T15" fmla="*/ 6 h 584"/>
                <a:gd name="T16" fmla="*/ 298 w 595"/>
                <a:gd name="T17" fmla="*/ 0 h 584"/>
                <a:gd name="T18" fmla="*/ 239 w 595"/>
                <a:gd name="T19" fmla="*/ 6 h 584"/>
                <a:gd name="T20" fmla="*/ 184 w 595"/>
                <a:gd name="T21" fmla="*/ 22 h 584"/>
                <a:gd name="T22" fmla="*/ 132 w 595"/>
                <a:gd name="T23" fmla="*/ 50 h 584"/>
                <a:gd name="T24" fmla="*/ 87 w 595"/>
                <a:gd name="T25" fmla="*/ 86 h 584"/>
                <a:gd name="T26" fmla="*/ 50 w 595"/>
                <a:gd name="T27" fmla="*/ 130 h 584"/>
                <a:gd name="T28" fmla="*/ 23 w 595"/>
                <a:gd name="T29" fmla="*/ 181 h 584"/>
                <a:gd name="T30" fmla="*/ 6 w 595"/>
                <a:gd name="T31" fmla="*/ 235 h 584"/>
                <a:gd name="T32" fmla="*/ 0 w 595"/>
                <a:gd name="T33" fmla="*/ 292 h 584"/>
                <a:gd name="T34" fmla="*/ 6 w 595"/>
                <a:gd name="T35" fmla="*/ 349 h 584"/>
                <a:gd name="T36" fmla="*/ 23 w 595"/>
                <a:gd name="T37" fmla="*/ 405 h 584"/>
                <a:gd name="T38" fmla="*/ 50 w 595"/>
                <a:gd name="T39" fmla="*/ 454 h 584"/>
                <a:gd name="T40" fmla="*/ 87 w 595"/>
                <a:gd name="T41" fmla="*/ 498 h 584"/>
                <a:gd name="T42" fmla="*/ 132 w 595"/>
                <a:gd name="T43" fmla="*/ 535 h 584"/>
                <a:gd name="T44" fmla="*/ 184 w 595"/>
                <a:gd name="T45" fmla="*/ 562 h 584"/>
                <a:gd name="T46" fmla="*/ 239 w 595"/>
                <a:gd name="T47" fmla="*/ 578 h 584"/>
                <a:gd name="T48" fmla="*/ 298 w 595"/>
                <a:gd name="T49" fmla="*/ 584 h 584"/>
                <a:gd name="T50" fmla="*/ 356 w 595"/>
                <a:gd name="T51" fmla="*/ 578 h 584"/>
                <a:gd name="T52" fmla="*/ 412 w 595"/>
                <a:gd name="T53" fmla="*/ 562 h 584"/>
                <a:gd name="T54" fmla="*/ 463 w 595"/>
                <a:gd name="T55" fmla="*/ 535 h 584"/>
                <a:gd name="T56" fmla="*/ 508 w 595"/>
                <a:gd name="T57" fmla="*/ 498 h 584"/>
                <a:gd name="T58" fmla="*/ 545 w 595"/>
                <a:gd name="T59" fmla="*/ 454 h 584"/>
                <a:gd name="T60" fmla="*/ 573 w 595"/>
                <a:gd name="T61" fmla="*/ 405 h 584"/>
                <a:gd name="T62" fmla="*/ 589 w 595"/>
                <a:gd name="T63" fmla="*/ 349 h 584"/>
                <a:gd name="T64" fmla="*/ 595 w 595"/>
                <a:gd name="T65" fmla="*/ 292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5" h="584">
                  <a:moveTo>
                    <a:pt x="595" y="292"/>
                  </a:moveTo>
                  <a:lnTo>
                    <a:pt x="589" y="235"/>
                  </a:lnTo>
                  <a:lnTo>
                    <a:pt x="573" y="181"/>
                  </a:lnTo>
                  <a:lnTo>
                    <a:pt x="545" y="130"/>
                  </a:lnTo>
                  <a:lnTo>
                    <a:pt x="508" y="86"/>
                  </a:lnTo>
                  <a:lnTo>
                    <a:pt x="463" y="50"/>
                  </a:lnTo>
                  <a:lnTo>
                    <a:pt x="412" y="22"/>
                  </a:lnTo>
                  <a:lnTo>
                    <a:pt x="356" y="6"/>
                  </a:lnTo>
                  <a:lnTo>
                    <a:pt x="298" y="0"/>
                  </a:lnTo>
                  <a:lnTo>
                    <a:pt x="239" y="6"/>
                  </a:lnTo>
                  <a:lnTo>
                    <a:pt x="184" y="22"/>
                  </a:lnTo>
                  <a:lnTo>
                    <a:pt x="132" y="50"/>
                  </a:lnTo>
                  <a:lnTo>
                    <a:pt x="87" y="86"/>
                  </a:lnTo>
                  <a:lnTo>
                    <a:pt x="50" y="130"/>
                  </a:lnTo>
                  <a:lnTo>
                    <a:pt x="23" y="181"/>
                  </a:lnTo>
                  <a:lnTo>
                    <a:pt x="6" y="235"/>
                  </a:lnTo>
                  <a:lnTo>
                    <a:pt x="0" y="292"/>
                  </a:lnTo>
                  <a:lnTo>
                    <a:pt x="6" y="349"/>
                  </a:lnTo>
                  <a:lnTo>
                    <a:pt x="23" y="405"/>
                  </a:lnTo>
                  <a:lnTo>
                    <a:pt x="50" y="454"/>
                  </a:lnTo>
                  <a:lnTo>
                    <a:pt x="87" y="498"/>
                  </a:lnTo>
                  <a:lnTo>
                    <a:pt x="132" y="535"/>
                  </a:lnTo>
                  <a:lnTo>
                    <a:pt x="184" y="562"/>
                  </a:lnTo>
                  <a:lnTo>
                    <a:pt x="239" y="578"/>
                  </a:lnTo>
                  <a:lnTo>
                    <a:pt x="298" y="584"/>
                  </a:lnTo>
                  <a:lnTo>
                    <a:pt x="356" y="578"/>
                  </a:lnTo>
                  <a:lnTo>
                    <a:pt x="412" y="562"/>
                  </a:lnTo>
                  <a:lnTo>
                    <a:pt x="463" y="535"/>
                  </a:lnTo>
                  <a:lnTo>
                    <a:pt x="508" y="498"/>
                  </a:lnTo>
                  <a:lnTo>
                    <a:pt x="545" y="454"/>
                  </a:lnTo>
                  <a:lnTo>
                    <a:pt x="573" y="405"/>
                  </a:lnTo>
                  <a:lnTo>
                    <a:pt x="589" y="349"/>
                  </a:lnTo>
                  <a:lnTo>
                    <a:pt x="595" y="292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BF8E9379-7E11-DE94-3C93-4A6814102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82" y="8413"/>
              <a:ext cx="1" cy="16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B624E3DD-B6A5-6181-8231-BF0041CCD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793"/>
              <a:ext cx="76" cy="7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C20791D2-7A6B-E7FC-4FF2-16C1AB24A1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797"/>
              <a:ext cx="171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BBCAC7EE-0F3D-E537-6847-136B5254D1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3" y="8894"/>
              <a:ext cx="171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1F808050-7388-7340-C84F-A9CA682D6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59" y="8992"/>
              <a:ext cx="165" cy="16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0DB291BC-A8FB-C3F7-B4AA-14BE62634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793"/>
              <a:ext cx="81" cy="7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31E9AD79-4A5F-3462-706B-B63A9D953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58" y="9089"/>
              <a:ext cx="66" cy="6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956E7D53-50C1-0897-498D-ED337072DA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802"/>
              <a:ext cx="170" cy="1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75946C34-F598-EAA9-694E-D3B06258C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08" y="9138"/>
              <a:ext cx="16" cy="1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141EF396-13E8-9AA1-1A36-797F90A73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46" y="8900"/>
              <a:ext cx="170" cy="16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C98FCC2C-3BE5-5789-1CFD-4DC7C07E1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57" y="8997"/>
              <a:ext cx="159" cy="15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E15A5D00-071C-D9F6-6FB5-E90FDB3A7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56" y="9094"/>
              <a:ext cx="60" cy="5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227A97D4-3809-DF56-E03B-D5B20B2C3C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6" y="9153"/>
              <a:ext cx="17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F052FA37-9F89-2F15-61D2-E7FBDBE46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6" y="8793"/>
              <a:ext cx="1" cy="3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47545B46-98D4-39ED-C8CE-E15662792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6" y="8793"/>
              <a:ext cx="17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EA66BC96-728C-023F-C96B-DA2A95E77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" y="9153"/>
              <a:ext cx="17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Line 32">
              <a:extLst>
                <a:ext uri="{FF2B5EF4-FFF2-40B4-BE49-F238E27FC236}">
                  <a16:creationId xmlns:a16="http://schemas.microsoft.com/office/drawing/2014/main" id="{B5FC2D13-727E-97E1-2B1A-D56BCC5E4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4" y="8793"/>
              <a:ext cx="1" cy="3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Line 33">
              <a:extLst>
                <a:ext uri="{FF2B5EF4-FFF2-40B4-BE49-F238E27FC236}">
                  <a16:creationId xmlns:a16="http://schemas.microsoft.com/office/drawing/2014/main" id="{0A5BF3F4-4BEC-4F30-AD58-44F202D68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" y="8793"/>
              <a:ext cx="171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A1366D6A-CA58-9FDB-F9AD-C5566D649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4"/>
              <a:ext cx="795" cy="1057"/>
            </a:xfrm>
            <a:custGeom>
              <a:avLst/>
              <a:gdLst>
                <a:gd name="T0" fmla="*/ 2147 w 2385"/>
                <a:gd name="T1" fmla="*/ 3171 h 3171"/>
                <a:gd name="T2" fmla="*/ 2217 w 2385"/>
                <a:gd name="T3" fmla="*/ 3020 h 3171"/>
                <a:gd name="T4" fmla="*/ 2275 w 2385"/>
                <a:gd name="T5" fmla="*/ 2867 h 3171"/>
                <a:gd name="T6" fmla="*/ 2321 w 2385"/>
                <a:gd name="T7" fmla="*/ 2708 h 3171"/>
                <a:gd name="T8" fmla="*/ 2355 w 2385"/>
                <a:gd name="T9" fmla="*/ 2548 h 3171"/>
                <a:gd name="T10" fmla="*/ 2376 w 2385"/>
                <a:gd name="T11" fmla="*/ 2384 h 3171"/>
                <a:gd name="T12" fmla="*/ 2385 w 2385"/>
                <a:gd name="T13" fmla="*/ 2221 h 3171"/>
                <a:gd name="T14" fmla="*/ 2382 w 2385"/>
                <a:gd name="T15" fmla="*/ 2056 h 3171"/>
                <a:gd name="T16" fmla="*/ 2366 w 2385"/>
                <a:gd name="T17" fmla="*/ 1892 h 3171"/>
                <a:gd name="T18" fmla="*/ 2336 w 2385"/>
                <a:gd name="T19" fmla="*/ 1730 h 3171"/>
                <a:gd name="T20" fmla="*/ 2296 w 2385"/>
                <a:gd name="T21" fmla="*/ 1570 h 3171"/>
                <a:gd name="T22" fmla="*/ 2242 w 2385"/>
                <a:gd name="T23" fmla="*/ 1415 h 3171"/>
                <a:gd name="T24" fmla="*/ 2177 w 2385"/>
                <a:gd name="T25" fmla="*/ 1263 h 3171"/>
                <a:gd name="T26" fmla="*/ 2101 w 2385"/>
                <a:gd name="T27" fmla="*/ 1116 h 3171"/>
                <a:gd name="T28" fmla="*/ 2013 w 2385"/>
                <a:gd name="T29" fmla="*/ 976 h 3171"/>
                <a:gd name="T30" fmla="*/ 1914 w 2385"/>
                <a:gd name="T31" fmla="*/ 843 h 3171"/>
                <a:gd name="T32" fmla="*/ 1807 w 2385"/>
                <a:gd name="T33" fmla="*/ 717 h 3171"/>
                <a:gd name="T34" fmla="*/ 1689 w 2385"/>
                <a:gd name="T35" fmla="*/ 599 h 3171"/>
                <a:gd name="T36" fmla="*/ 1563 w 2385"/>
                <a:gd name="T37" fmla="*/ 491 h 3171"/>
                <a:gd name="T38" fmla="*/ 1429 w 2385"/>
                <a:gd name="T39" fmla="*/ 392 h 3171"/>
                <a:gd name="T40" fmla="*/ 1287 w 2385"/>
                <a:gd name="T41" fmla="*/ 303 h 3171"/>
                <a:gd name="T42" fmla="*/ 1140 w 2385"/>
                <a:gd name="T43" fmla="*/ 225 h 3171"/>
                <a:gd name="T44" fmla="*/ 986 w 2385"/>
                <a:gd name="T45" fmla="*/ 158 h 3171"/>
                <a:gd name="T46" fmla="*/ 828 w 2385"/>
                <a:gd name="T47" fmla="*/ 103 h 3171"/>
                <a:gd name="T48" fmla="*/ 667 w 2385"/>
                <a:gd name="T49" fmla="*/ 59 h 3171"/>
                <a:gd name="T50" fmla="*/ 502 w 2385"/>
                <a:gd name="T51" fmla="*/ 27 h 3171"/>
                <a:gd name="T52" fmla="*/ 335 w 2385"/>
                <a:gd name="T53" fmla="*/ 8 h 3171"/>
                <a:gd name="T54" fmla="*/ 168 w 2385"/>
                <a:gd name="T55" fmla="*/ 0 h 3171"/>
                <a:gd name="T56" fmla="*/ 0 w 2385"/>
                <a:gd name="T57" fmla="*/ 6 h 3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85" h="3171">
                  <a:moveTo>
                    <a:pt x="2147" y="3171"/>
                  </a:moveTo>
                  <a:lnTo>
                    <a:pt x="2217" y="3020"/>
                  </a:lnTo>
                  <a:lnTo>
                    <a:pt x="2275" y="2867"/>
                  </a:lnTo>
                  <a:lnTo>
                    <a:pt x="2321" y="2708"/>
                  </a:lnTo>
                  <a:lnTo>
                    <a:pt x="2355" y="2548"/>
                  </a:lnTo>
                  <a:lnTo>
                    <a:pt x="2376" y="2384"/>
                  </a:lnTo>
                  <a:lnTo>
                    <a:pt x="2385" y="2221"/>
                  </a:lnTo>
                  <a:lnTo>
                    <a:pt x="2382" y="2056"/>
                  </a:lnTo>
                  <a:lnTo>
                    <a:pt x="2366" y="1892"/>
                  </a:lnTo>
                  <a:lnTo>
                    <a:pt x="2336" y="1730"/>
                  </a:lnTo>
                  <a:lnTo>
                    <a:pt x="2296" y="1570"/>
                  </a:lnTo>
                  <a:lnTo>
                    <a:pt x="2242" y="1415"/>
                  </a:lnTo>
                  <a:lnTo>
                    <a:pt x="2177" y="1263"/>
                  </a:lnTo>
                  <a:lnTo>
                    <a:pt x="2101" y="1116"/>
                  </a:lnTo>
                  <a:lnTo>
                    <a:pt x="2013" y="976"/>
                  </a:lnTo>
                  <a:lnTo>
                    <a:pt x="1914" y="843"/>
                  </a:lnTo>
                  <a:lnTo>
                    <a:pt x="1807" y="717"/>
                  </a:lnTo>
                  <a:lnTo>
                    <a:pt x="1689" y="599"/>
                  </a:lnTo>
                  <a:lnTo>
                    <a:pt x="1563" y="491"/>
                  </a:lnTo>
                  <a:lnTo>
                    <a:pt x="1429" y="392"/>
                  </a:lnTo>
                  <a:lnTo>
                    <a:pt x="1287" y="303"/>
                  </a:lnTo>
                  <a:lnTo>
                    <a:pt x="1140" y="225"/>
                  </a:lnTo>
                  <a:lnTo>
                    <a:pt x="986" y="158"/>
                  </a:lnTo>
                  <a:lnTo>
                    <a:pt x="828" y="103"/>
                  </a:lnTo>
                  <a:lnTo>
                    <a:pt x="667" y="59"/>
                  </a:lnTo>
                  <a:lnTo>
                    <a:pt x="502" y="27"/>
                  </a:lnTo>
                  <a:lnTo>
                    <a:pt x="335" y="8"/>
                  </a:lnTo>
                  <a:lnTo>
                    <a:pt x="168" y="0"/>
                  </a:lnTo>
                  <a:lnTo>
                    <a:pt x="0" y="6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91165C42-D185-BB9C-301A-19416AAEA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6"/>
              <a:ext cx="448" cy="146"/>
            </a:xfrm>
            <a:custGeom>
              <a:avLst/>
              <a:gdLst>
                <a:gd name="T0" fmla="*/ 0 w 1344"/>
                <a:gd name="T1" fmla="*/ 0 h 438"/>
                <a:gd name="T2" fmla="*/ 1344 w 1344"/>
                <a:gd name="T3" fmla="*/ 31 h 438"/>
                <a:gd name="T4" fmla="*/ 1269 w 1344"/>
                <a:gd name="T5" fmla="*/ 438 h 438"/>
                <a:gd name="T6" fmla="*/ 0 w 1344"/>
                <a:gd name="T7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438">
                  <a:moveTo>
                    <a:pt x="0" y="0"/>
                  </a:moveTo>
                  <a:lnTo>
                    <a:pt x="1344" y="31"/>
                  </a:lnTo>
                  <a:lnTo>
                    <a:pt x="1269" y="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868E438D-CA3B-AA7E-2A67-0D0E3A40E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" y="10866"/>
              <a:ext cx="448" cy="146"/>
            </a:xfrm>
            <a:custGeom>
              <a:avLst/>
              <a:gdLst>
                <a:gd name="T0" fmla="*/ 0 w 1344"/>
                <a:gd name="T1" fmla="*/ 0 h 438"/>
                <a:gd name="T2" fmla="*/ 1344 w 1344"/>
                <a:gd name="T3" fmla="*/ 31 h 438"/>
                <a:gd name="T4" fmla="*/ 1269 w 1344"/>
                <a:gd name="T5" fmla="*/ 438 h 438"/>
                <a:gd name="T6" fmla="*/ 0 w 1344"/>
                <a:gd name="T7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438">
                  <a:moveTo>
                    <a:pt x="0" y="0"/>
                  </a:moveTo>
                  <a:lnTo>
                    <a:pt x="1344" y="31"/>
                  </a:lnTo>
                  <a:lnTo>
                    <a:pt x="1269" y="4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F0B44201-627D-CC6A-669B-F2B033E08054}"/>
              </a:ext>
            </a:extLst>
          </p:cNvPr>
          <p:cNvSpPr/>
          <p:nvPr/>
        </p:nvSpPr>
        <p:spPr>
          <a:xfrm>
            <a:off x="2789848" y="3126280"/>
            <a:ext cx="3106800" cy="310494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EBD7C56-52A6-82A6-5BBC-3E43C3824D89}"/>
              </a:ext>
            </a:extLst>
          </p:cNvPr>
          <p:cNvSpPr/>
          <p:nvPr/>
        </p:nvSpPr>
        <p:spPr>
          <a:xfrm>
            <a:off x="3411066" y="3655330"/>
            <a:ext cx="939600" cy="939708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2E0AA85-2A99-7B15-B801-B715380B6078}"/>
              </a:ext>
            </a:extLst>
          </p:cNvPr>
          <p:cNvCxnSpPr>
            <a:cxnSpLocks/>
          </p:cNvCxnSpPr>
          <p:nvPr/>
        </p:nvCxnSpPr>
        <p:spPr>
          <a:xfrm>
            <a:off x="3340763" y="3498235"/>
            <a:ext cx="2006449" cy="2354849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0E449686-72AC-038F-7CDB-823245DC86A0}"/>
              </a:ext>
            </a:extLst>
          </p:cNvPr>
          <p:cNvSpPr/>
          <p:nvPr/>
        </p:nvSpPr>
        <p:spPr>
          <a:xfrm>
            <a:off x="3006669" y="3295172"/>
            <a:ext cx="1835244" cy="18455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9BCB70E-E32A-4D64-222D-3BDF459E231F}"/>
              </a:ext>
            </a:extLst>
          </p:cNvPr>
          <p:cNvCxnSpPr>
            <a:stCxn id="41" idx="6"/>
            <a:endCxn id="8" idx="0"/>
          </p:cNvCxnSpPr>
          <p:nvPr/>
        </p:nvCxnSpPr>
        <p:spPr>
          <a:xfrm flipH="1" flipV="1">
            <a:off x="4343248" y="3126280"/>
            <a:ext cx="7418" cy="99890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3A411A3-C92C-4A30-B28E-B2BBED3E9985}"/>
              </a:ext>
            </a:extLst>
          </p:cNvPr>
          <p:cNvGrpSpPr/>
          <p:nvPr/>
        </p:nvGrpSpPr>
        <p:grpSpPr>
          <a:xfrm>
            <a:off x="4343248" y="3086047"/>
            <a:ext cx="1794793" cy="369332"/>
            <a:chOff x="4343248" y="3086047"/>
            <a:chExt cx="1794793" cy="369332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4F059F1-8429-4A13-ADCE-D4AD63C5320D}"/>
                </a:ext>
              </a:extLst>
            </p:cNvPr>
            <p:cNvCxnSpPr>
              <a:stCxn id="8" idx="0"/>
            </p:cNvCxnSpPr>
            <p:nvPr/>
          </p:nvCxnSpPr>
          <p:spPr>
            <a:xfrm>
              <a:off x="4343248" y="3126280"/>
              <a:ext cx="167323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0229BCD-EE48-4912-9653-8D91972A71BF}"/>
                </a:ext>
              </a:extLst>
            </p:cNvPr>
            <p:cNvCxnSpPr/>
            <p:nvPr/>
          </p:nvCxnSpPr>
          <p:spPr>
            <a:xfrm>
              <a:off x="4350184" y="3421141"/>
              <a:ext cx="1673239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280DF420-8049-42AC-8639-2DF9B5ECD83E}"/>
                </a:ext>
              </a:extLst>
            </p:cNvPr>
            <p:cNvCxnSpPr>
              <a:cxnSpLocks/>
            </p:cNvCxnSpPr>
            <p:nvPr/>
          </p:nvCxnSpPr>
          <p:spPr>
            <a:xfrm>
              <a:off x="5792044" y="3113028"/>
              <a:ext cx="0" cy="32972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D7E36CA-DB34-4E0B-B784-2B580F501481}"/>
                </a:ext>
              </a:extLst>
            </p:cNvPr>
            <p:cNvSpPr txBox="1"/>
            <p:nvPr/>
          </p:nvSpPr>
          <p:spPr>
            <a:xfrm>
              <a:off x="5456938" y="3086047"/>
              <a:ext cx="681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AB6C16A9-4A24-42B5-B9F7-BD403A8D8B7A}"/>
              </a:ext>
            </a:extLst>
          </p:cNvPr>
          <p:cNvSpPr txBox="1"/>
          <p:nvPr/>
        </p:nvSpPr>
        <p:spPr>
          <a:xfrm>
            <a:off x="4452346" y="2426743"/>
            <a:ext cx="204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α=0°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776F8C0-7861-4ED7-87F8-F1D79C319C86}"/>
              </a:ext>
            </a:extLst>
          </p:cNvPr>
          <p:cNvCxnSpPr>
            <a:stCxn id="41" idx="4"/>
          </p:cNvCxnSpPr>
          <p:nvPr/>
        </p:nvCxnSpPr>
        <p:spPr>
          <a:xfrm flipV="1">
            <a:off x="3880866" y="4574963"/>
            <a:ext cx="2784977" cy="200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C8DE869C-4B94-47CF-821C-68E30FF7D616}"/>
              </a:ext>
            </a:extLst>
          </p:cNvPr>
          <p:cNvSpPr/>
          <p:nvPr/>
        </p:nvSpPr>
        <p:spPr>
          <a:xfrm>
            <a:off x="5605717" y="4212260"/>
            <a:ext cx="667425" cy="6329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E71BA6F-0898-4992-AE62-F9FB7785543F}"/>
              </a:ext>
            </a:extLst>
          </p:cNvPr>
          <p:cNvSpPr txBox="1"/>
          <p:nvPr/>
        </p:nvSpPr>
        <p:spPr>
          <a:xfrm>
            <a:off x="5266316" y="4254364"/>
            <a:ext cx="566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A93C59B-B8FE-447B-8EAA-F29B2F323D8E}"/>
              </a:ext>
            </a:extLst>
          </p:cNvPr>
          <p:cNvGrpSpPr/>
          <p:nvPr/>
        </p:nvGrpSpPr>
        <p:grpSpPr>
          <a:xfrm>
            <a:off x="4763460" y="4595038"/>
            <a:ext cx="1133188" cy="545686"/>
            <a:chOff x="4763460" y="4595038"/>
            <a:chExt cx="1133188" cy="545686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BD9DE84-8E13-4D8D-AB9C-34EC16F2E42F}"/>
                </a:ext>
              </a:extLst>
            </p:cNvPr>
            <p:cNvCxnSpPr/>
            <p:nvPr/>
          </p:nvCxnSpPr>
          <p:spPr>
            <a:xfrm>
              <a:off x="4763460" y="4595038"/>
              <a:ext cx="0" cy="5456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B4360C3-E3A9-4478-A7AD-AF40FBC22DE2}"/>
                </a:ext>
              </a:extLst>
            </p:cNvPr>
            <p:cNvCxnSpPr/>
            <p:nvPr/>
          </p:nvCxnSpPr>
          <p:spPr>
            <a:xfrm>
              <a:off x="5896648" y="4595038"/>
              <a:ext cx="0" cy="5456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ADC35675-0112-48F1-88DA-E1958FEF5F38}"/>
                </a:ext>
              </a:extLst>
            </p:cNvPr>
            <p:cNvCxnSpPr/>
            <p:nvPr/>
          </p:nvCxnSpPr>
          <p:spPr>
            <a:xfrm>
              <a:off x="4763460" y="4982817"/>
              <a:ext cx="1133188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BF3527F-03BD-41C3-BD2C-0ECBD821B75B}"/>
                </a:ext>
              </a:extLst>
            </p:cNvPr>
            <p:cNvSpPr txBox="1"/>
            <p:nvPr/>
          </p:nvSpPr>
          <p:spPr>
            <a:xfrm>
              <a:off x="5168109" y="4634352"/>
              <a:ext cx="5661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S’</a:t>
              </a:r>
              <a:endPara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E87CA4E-BFFF-4E4F-89C8-53417B0D5430}"/>
              </a:ext>
            </a:extLst>
          </p:cNvPr>
          <p:cNvCxnSpPr/>
          <p:nvPr/>
        </p:nvCxnSpPr>
        <p:spPr>
          <a:xfrm flipV="1">
            <a:off x="4343248" y="4528725"/>
            <a:ext cx="2322595" cy="1590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4F1CA98C-532F-4212-A662-E5602F043E93}"/>
              </a:ext>
            </a:extLst>
          </p:cNvPr>
          <p:cNvSpPr/>
          <p:nvPr/>
        </p:nvSpPr>
        <p:spPr>
          <a:xfrm>
            <a:off x="6636849" y="4368492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α’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C291D5E7-5992-45F0-9BF8-47241D854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31" y="778413"/>
            <a:ext cx="8412183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六、如图所示偏置曲柄滑块机构，已知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a=20mm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b=40 mm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e=10 mm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，试用作图法求出此机构的极位夹角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θ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、行程速比系数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和行程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，并标出图示位置的传动角。（本题共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231221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图六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03B79B-EFB2-4CAC-907B-E658B4D0D4C5}"/>
              </a:ext>
            </a:extLst>
          </p:cNvPr>
          <p:cNvGrpSpPr>
            <a:grpSpLocks/>
          </p:cNvGrpSpPr>
          <p:nvPr/>
        </p:nvGrpSpPr>
        <p:grpSpPr bwMode="auto">
          <a:xfrm>
            <a:off x="1925493" y="2973188"/>
            <a:ext cx="5681255" cy="3106399"/>
            <a:chOff x="3060" y="-312"/>
            <a:chExt cx="7091" cy="3744"/>
          </a:xfrm>
        </p:grpSpPr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C52B18D0-585B-47D9-9F72-6D9571DDF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1353"/>
              <a:ext cx="151" cy="160"/>
            </a:xfrm>
            <a:custGeom>
              <a:avLst/>
              <a:gdLst>
                <a:gd name="T0" fmla="*/ 431 w 431"/>
                <a:gd name="T1" fmla="*/ 197 h 393"/>
                <a:gd name="T2" fmla="*/ 426 w 431"/>
                <a:gd name="T3" fmla="*/ 159 h 393"/>
                <a:gd name="T4" fmla="*/ 415 w 431"/>
                <a:gd name="T5" fmla="*/ 122 h 393"/>
                <a:gd name="T6" fmla="*/ 395 w 431"/>
                <a:gd name="T7" fmla="*/ 87 h 393"/>
                <a:gd name="T8" fmla="*/ 367 w 431"/>
                <a:gd name="T9" fmla="*/ 58 h 393"/>
                <a:gd name="T10" fmla="*/ 335 w 431"/>
                <a:gd name="T11" fmla="*/ 33 h 393"/>
                <a:gd name="T12" fmla="*/ 298 w 431"/>
                <a:gd name="T13" fmla="*/ 16 h 393"/>
                <a:gd name="T14" fmla="*/ 258 w 431"/>
                <a:gd name="T15" fmla="*/ 4 h 393"/>
                <a:gd name="T16" fmla="*/ 216 w 431"/>
                <a:gd name="T17" fmla="*/ 0 h 393"/>
                <a:gd name="T18" fmla="*/ 173 w 431"/>
                <a:gd name="T19" fmla="*/ 4 h 393"/>
                <a:gd name="T20" fmla="*/ 133 w 431"/>
                <a:gd name="T21" fmla="*/ 16 h 393"/>
                <a:gd name="T22" fmla="*/ 96 w 431"/>
                <a:gd name="T23" fmla="*/ 33 h 393"/>
                <a:gd name="T24" fmla="*/ 63 w 431"/>
                <a:gd name="T25" fmla="*/ 58 h 393"/>
                <a:gd name="T26" fmla="*/ 37 w 431"/>
                <a:gd name="T27" fmla="*/ 87 h 393"/>
                <a:gd name="T28" fmla="*/ 17 w 431"/>
                <a:gd name="T29" fmla="*/ 122 h 393"/>
                <a:gd name="T30" fmla="*/ 5 w 431"/>
                <a:gd name="T31" fmla="*/ 159 h 393"/>
                <a:gd name="T32" fmla="*/ 0 w 431"/>
                <a:gd name="T33" fmla="*/ 197 h 393"/>
                <a:gd name="T34" fmla="*/ 5 w 431"/>
                <a:gd name="T35" fmla="*/ 235 h 393"/>
                <a:gd name="T36" fmla="*/ 17 w 431"/>
                <a:gd name="T37" fmla="*/ 272 h 393"/>
                <a:gd name="T38" fmla="*/ 37 w 431"/>
                <a:gd name="T39" fmla="*/ 306 h 393"/>
                <a:gd name="T40" fmla="*/ 63 w 431"/>
                <a:gd name="T41" fmla="*/ 336 h 393"/>
                <a:gd name="T42" fmla="*/ 96 w 431"/>
                <a:gd name="T43" fmla="*/ 360 h 393"/>
                <a:gd name="T44" fmla="*/ 133 w 431"/>
                <a:gd name="T45" fmla="*/ 378 h 393"/>
                <a:gd name="T46" fmla="*/ 173 w 431"/>
                <a:gd name="T47" fmla="*/ 390 h 393"/>
                <a:gd name="T48" fmla="*/ 216 w 431"/>
                <a:gd name="T49" fmla="*/ 393 h 393"/>
                <a:gd name="T50" fmla="*/ 258 w 431"/>
                <a:gd name="T51" fmla="*/ 390 h 393"/>
                <a:gd name="T52" fmla="*/ 298 w 431"/>
                <a:gd name="T53" fmla="*/ 378 h 393"/>
                <a:gd name="T54" fmla="*/ 335 w 431"/>
                <a:gd name="T55" fmla="*/ 360 h 393"/>
                <a:gd name="T56" fmla="*/ 367 w 431"/>
                <a:gd name="T57" fmla="*/ 336 h 393"/>
                <a:gd name="T58" fmla="*/ 395 w 431"/>
                <a:gd name="T59" fmla="*/ 306 h 393"/>
                <a:gd name="T60" fmla="*/ 415 w 431"/>
                <a:gd name="T61" fmla="*/ 272 h 393"/>
                <a:gd name="T62" fmla="*/ 426 w 431"/>
                <a:gd name="T63" fmla="*/ 235 h 393"/>
                <a:gd name="T64" fmla="*/ 431 w 431"/>
                <a:gd name="T65" fmla="*/ 197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1" h="393">
                  <a:moveTo>
                    <a:pt x="431" y="197"/>
                  </a:moveTo>
                  <a:lnTo>
                    <a:pt x="426" y="159"/>
                  </a:lnTo>
                  <a:lnTo>
                    <a:pt x="415" y="122"/>
                  </a:lnTo>
                  <a:lnTo>
                    <a:pt x="395" y="87"/>
                  </a:lnTo>
                  <a:lnTo>
                    <a:pt x="367" y="58"/>
                  </a:lnTo>
                  <a:lnTo>
                    <a:pt x="335" y="33"/>
                  </a:lnTo>
                  <a:lnTo>
                    <a:pt x="298" y="16"/>
                  </a:lnTo>
                  <a:lnTo>
                    <a:pt x="258" y="4"/>
                  </a:lnTo>
                  <a:lnTo>
                    <a:pt x="216" y="0"/>
                  </a:lnTo>
                  <a:lnTo>
                    <a:pt x="173" y="4"/>
                  </a:lnTo>
                  <a:lnTo>
                    <a:pt x="133" y="16"/>
                  </a:lnTo>
                  <a:lnTo>
                    <a:pt x="96" y="33"/>
                  </a:lnTo>
                  <a:lnTo>
                    <a:pt x="63" y="58"/>
                  </a:lnTo>
                  <a:lnTo>
                    <a:pt x="37" y="87"/>
                  </a:lnTo>
                  <a:lnTo>
                    <a:pt x="17" y="122"/>
                  </a:lnTo>
                  <a:lnTo>
                    <a:pt x="5" y="159"/>
                  </a:lnTo>
                  <a:lnTo>
                    <a:pt x="0" y="197"/>
                  </a:lnTo>
                  <a:lnTo>
                    <a:pt x="5" y="235"/>
                  </a:lnTo>
                  <a:lnTo>
                    <a:pt x="17" y="272"/>
                  </a:lnTo>
                  <a:lnTo>
                    <a:pt x="37" y="306"/>
                  </a:lnTo>
                  <a:lnTo>
                    <a:pt x="63" y="336"/>
                  </a:lnTo>
                  <a:lnTo>
                    <a:pt x="96" y="360"/>
                  </a:lnTo>
                  <a:lnTo>
                    <a:pt x="133" y="378"/>
                  </a:lnTo>
                  <a:lnTo>
                    <a:pt x="173" y="390"/>
                  </a:lnTo>
                  <a:lnTo>
                    <a:pt x="216" y="393"/>
                  </a:lnTo>
                  <a:lnTo>
                    <a:pt x="258" y="390"/>
                  </a:lnTo>
                  <a:lnTo>
                    <a:pt x="298" y="378"/>
                  </a:lnTo>
                  <a:lnTo>
                    <a:pt x="335" y="360"/>
                  </a:lnTo>
                  <a:lnTo>
                    <a:pt x="367" y="336"/>
                  </a:lnTo>
                  <a:lnTo>
                    <a:pt x="395" y="306"/>
                  </a:lnTo>
                  <a:lnTo>
                    <a:pt x="415" y="272"/>
                  </a:lnTo>
                  <a:lnTo>
                    <a:pt x="426" y="235"/>
                  </a:lnTo>
                  <a:lnTo>
                    <a:pt x="431" y="197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4">
              <a:extLst>
                <a:ext uri="{FF2B5EF4-FFF2-40B4-BE49-F238E27FC236}">
                  <a16:creationId xmlns:a16="http://schemas.microsoft.com/office/drawing/2014/main" id="{F9F1281A-A369-4C12-84CA-14F7A65C0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" y="-312"/>
              <a:ext cx="152" cy="159"/>
            </a:xfrm>
            <a:custGeom>
              <a:avLst/>
              <a:gdLst>
                <a:gd name="T0" fmla="*/ 431 w 431"/>
                <a:gd name="T1" fmla="*/ 197 h 393"/>
                <a:gd name="T2" fmla="*/ 427 w 431"/>
                <a:gd name="T3" fmla="*/ 158 h 393"/>
                <a:gd name="T4" fmla="*/ 415 w 431"/>
                <a:gd name="T5" fmla="*/ 121 h 393"/>
                <a:gd name="T6" fmla="*/ 395 w 431"/>
                <a:gd name="T7" fmla="*/ 87 h 393"/>
                <a:gd name="T8" fmla="*/ 368 w 431"/>
                <a:gd name="T9" fmla="*/ 58 h 393"/>
                <a:gd name="T10" fmla="*/ 335 w 431"/>
                <a:gd name="T11" fmla="*/ 33 h 393"/>
                <a:gd name="T12" fmla="*/ 298 w 431"/>
                <a:gd name="T13" fmla="*/ 15 h 393"/>
                <a:gd name="T14" fmla="*/ 258 w 431"/>
                <a:gd name="T15" fmla="*/ 4 h 393"/>
                <a:gd name="T16" fmla="*/ 216 w 431"/>
                <a:gd name="T17" fmla="*/ 0 h 393"/>
                <a:gd name="T18" fmla="*/ 174 w 431"/>
                <a:gd name="T19" fmla="*/ 4 h 393"/>
                <a:gd name="T20" fmla="*/ 133 w 431"/>
                <a:gd name="T21" fmla="*/ 15 h 393"/>
                <a:gd name="T22" fmla="*/ 96 w 431"/>
                <a:gd name="T23" fmla="*/ 33 h 393"/>
                <a:gd name="T24" fmla="*/ 64 w 431"/>
                <a:gd name="T25" fmla="*/ 58 h 393"/>
                <a:gd name="T26" fmla="*/ 37 w 431"/>
                <a:gd name="T27" fmla="*/ 87 h 393"/>
                <a:gd name="T28" fmla="*/ 18 w 431"/>
                <a:gd name="T29" fmla="*/ 121 h 393"/>
                <a:gd name="T30" fmla="*/ 5 w 431"/>
                <a:gd name="T31" fmla="*/ 158 h 393"/>
                <a:gd name="T32" fmla="*/ 0 w 431"/>
                <a:gd name="T33" fmla="*/ 197 h 393"/>
                <a:gd name="T34" fmla="*/ 5 w 431"/>
                <a:gd name="T35" fmla="*/ 235 h 393"/>
                <a:gd name="T36" fmla="*/ 18 w 431"/>
                <a:gd name="T37" fmla="*/ 272 h 393"/>
                <a:gd name="T38" fmla="*/ 37 w 431"/>
                <a:gd name="T39" fmla="*/ 305 h 393"/>
                <a:gd name="T40" fmla="*/ 64 w 431"/>
                <a:gd name="T41" fmla="*/ 336 h 393"/>
                <a:gd name="T42" fmla="*/ 96 w 431"/>
                <a:gd name="T43" fmla="*/ 360 h 393"/>
                <a:gd name="T44" fmla="*/ 133 w 431"/>
                <a:gd name="T45" fmla="*/ 378 h 393"/>
                <a:gd name="T46" fmla="*/ 174 w 431"/>
                <a:gd name="T47" fmla="*/ 390 h 393"/>
                <a:gd name="T48" fmla="*/ 216 w 431"/>
                <a:gd name="T49" fmla="*/ 393 h 393"/>
                <a:gd name="T50" fmla="*/ 258 w 431"/>
                <a:gd name="T51" fmla="*/ 390 h 393"/>
                <a:gd name="T52" fmla="*/ 298 w 431"/>
                <a:gd name="T53" fmla="*/ 378 h 393"/>
                <a:gd name="T54" fmla="*/ 335 w 431"/>
                <a:gd name="T55" fmla="*/ 360 h 393"/>
                <a:gd name="T56" fmla="*/ 368 w 431"/>
                <a:gd name="T57" fmla="*/ 336 h 393"/>
                <a:gd name="T58" fmla="*/ 395 w 431"/>
                <a:gd name="T59" fmla="*/ 305 h 393"/>
                <a:gd name="T60" fmla="*/ 415 w 431"/>
                <a:gd name="T61" fmla="*/ 272 h 393"/>
                <a:gd name="T62" fmla="*/ 427 w 431"/>
                <a:gd name="T63" fmla="*/ 235 h 393"/>
                <a:gd name="T64" fmla="*/ 431 w 431"/>
                <a:gd name="T65" fmla="*/ 197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1" h="393">
                  <a:moveTo>
                    <a:pt x="431" y="197"/>
                  </a:moveTo>
                  <a:lnTo>
                    <a:pt x="427" y="158"/>
                  </a:lnTo>
                  <a:lnTo>
                    <a:pt x="415" y="121"/>
                  </a:lnTo>
                  <a:lnTo>
                    <a:pt x="395" y="87"/>
                  </a:lnTo>
                  <a:lnTo>
                    <a:pt x="368" y="58"/>
                  </a:lnTo>
                  <a:lnTo>
                    <a:pt x="335" y="33"/>
                  </a:lnTo>
                  <a:lnTo>
                    <a:pt x="298" y="15"/>
                  </a:lnTo>
                  <a:lnTo>
                    <a:pt x="258" y="4"/>
                  </a:lnTo>
                  <a:lnTo>
                    <a:pt x="216" y="0"/>
                  </a:lnTo>
                  <a:lnTo>
                    <a:pt x="174" y="4"/>
                  </a:lnTo>
                  <a:lnTo>
                    <a:pt x="133" y="15"/>
                  </a:lnTo>
                  <a:lnTo>
                    <a:pt x="96" y="33"/>
                  </a:lnTo>
                  <a:lnTo>
                    <a:pt x="64" y="58"/>
                  </a:lnTo>
                  <a:lnTo>
                    <a:pt x="37" y="87"/>
                  </a:lnTo>
                  <a:lnTo>
                    <a:pt x="18" y="121"/>
                  </a:lnTo>
                  <a:lnTo>
                    <a:pt x="5" y="158"/>
                  </a:lnTo>
                  <a:lnTo>
                    <a:pt x="0" y="197"/>
                  </a:lnTo>
                  <a:lnTo>
                    <a:pt x="5" y="235"/>
                  </a:lnTo>
                  <a:lnTo>
                    <a:pt x="18" y="272"/>
                  </a:lnTo>
                  <a:lnTo>
                    <a:pt x="37" y="305"/>
                  </a:lnTo>
                  <a:lnTo>
                    <a:pt x="64" y="336"/>
                  </a:lnTo>
                  <a:lnTo>
                    <a:pt x="96" y="360"/>
                  </a:lnTo>
                  <a:lnTo>
                    <a:pt x="133" y="378"/>
                  </a:lnTo>
                  <a:lnTo>
                    <a:pt x="174" y="390"/>
                  </a:lnTo>
                  <a:lnTo>
                    <a:pt x="216" y="393"/>
                  </a:lnTo>
                  <a:lnTo>
                    <a:pt x="258" y="390"/>
                  </a:lnTo>
                  <a:lnTo>
                    <a:pt x="298" y="378"/>
                  </a:lnTo>
                  <a:lnTo>
                    <a:pt x="335" y="360"/>
                  </a:lnTo>
                  <a:lnTo>
                    <a:pt x="368" y="336"/>
                  </a:lnTo>
                  <a:lnTo>
                    <a:pt x="395" y="305"/>
                  </a:lnTo>
                  <a:lnTo>
                    <a:pt x="415" y="272"/>
                  </a:lnTo>
                  <a:lnTo>
                    <a:pt x="427" y="235"/>
                  </a:lnTo>
                  <a:lnTo>
                    <a:pt x="431" y="197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5">
              <a:extLst>
                <a:ext uri="{FF2B5EF4-FFF2-40B4-BE49-F238E27FC236}">
                  <a16:creationId xmlns:a16="http://schemas.microsoft.com/office/drawing/2014/main" id="{D25BEC3F-0006-491E-879C-ED7CF1D92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8" y="2566"/>
              <a:ext cx="252" cy="266"/>
            </a:xfrm>
            <a:custGeom>
              <a:avLst/>
              <a:gdLst>
                <a:gd name="T0" fmla="*/ 718 w 718"/>
                <a:gd name="T1" fmla="*/ 328 h 656"/>
                <a:gd name="T2" fmla="*/ 713 w 718"/>
                <a:gd name="T3" fmla="*/ 277 h 656"/>
                <a:gd name="T4" fmla="*/ 700 w 718"/>
                <a:gd name="T5" fmla="*/ 227 h 656"/>
                <a:gd name="T6" fmla="*/ 679 w 718"/>
                <a:gd name="T7" fmla="*/ 180 h 656"/>
                <a:gd name="T8" fmla="*/ 649 w 718"/>
                <a:gd name="T9" fmla="*/ 135 h 656"/>
                <a:gd name="T10" fmla="*/ 613 w 718"/>
                <a:gd name="T11" fmla="*/ 96 h 656"/>
                <a:gd name="T12" fmla="*/ 570 w 718"/>
                <a:gd name="T13" fmla="*/ 64 h 656"/>
                <a:gd name="T14" fmla="*/ 522 w 718"/>
                <a:gd name="T15" fmla="*/ 36 h 656"/>
                <a:gd name="T16" fmla="*/ 470 w 718"/>
                <a:gd name="T17" fmla="*/ 16 h 656"/>
                <a:gd name="T18" fmla="*/ 415 w 718"/>
                <a:gd name="T19" fmla="*/ 5 h 656"/>
                <a:gd name="T20" fmla="*/ 359 w 718"/>
                <a:gd name="T21" fmla="*/ 0 h 656"/>
                <a:gd name="T22" fmla="*/ 303 w 718"/>
                <a:gd name="T23" fmla="*/ 5 h 656"/>
                <a:gd name="T24" fmla="*/ 248 w 718"/>
                <a:gd name="T25" fmla="*/ 16 h 656"/>
                <a:gd name="T26" fmla="*/ 196 w 718"/>
                <a:gd name="T27" fmla="*/ 36 h 656"/>
                <a:gd name="T28" fmla="*/ 148 w 718"/>
                <a:gd name="T29" fmla="*/ 64 h 656"/>
                <a:gd name="T30" fmla="*/ 106 w 718"/>
                <a:gd name="T31" fmla="*/ 96 h 656"/>
                <a:gd name="T32" fmla="*/ 69 w 718"/>
                <a:gd name="T33" fmla="*/ 135 h 656"/>
                <a:gd name="T34" fmla="*/ 40 w 718"/>
                <a:gd name="T35" fmla="*/ 180 h 656"/>
                <a:gd name="T36" fmla="*/ 18 w 718"/>
                <a:gd name="T37" fmla="*/ 227 h 656"/>
                <a:gd name="T38" fmla="*/ 5 w 718"/>
                <a:gd name="T39" fmla="*/ 277 h 656"/>
                <a:gd name="T40" fmla="*/ 0 w 718"/>
                <a:gd name="T41" fmla="*/ 328 h 656"/>
                <a:gd name="T42" fmla="*/ 5 w 718"/>
                <a:gd name="T43" fmla="*/ 379 h 656"/>
                <a:gd name="T44" fmla="*/ 18 w 718"/>
                <a:gd name="T45" fmla="*/ 430 h 656"/>
                <a:gd name="T46" fmla="*/ 40 w 718"/>
                <a:gd name="T47" fmla="*/ 477 h 656"/>
                <a:gd name="T48" fmla="*/ 69 w 718"/>
                <a:gd name="T49" fmla="*/ 521 h 656"/>
                <a:gd name="T50" fmla="*/ 106 w 718"/>
                <a:gd name="T51" fmla="*/ 560 h 656"/>
                <a:gd name="T52" fmla="*/ 148 w 718"/>
                <a:gd name="T53" fmla="*/ 593 h 656"/>
                <a:gd name="T54" fmla="*/ 196 w 718"/>
                <a:gd name="T55" fmla="*/ 620 h 656"/>
                <a:gd name="T56" fmla="*/ 248 w 718"/>
                <a:gd name="T57" fmla="*/ 639 h 656"/>
                <a:gd name="T58" fmla="*/ 303 w 718"/>
                <a:gd name="T59" fmla="*/ 652 h 656"/>
                <a:gd name="T60" fmla="*/ 359 w 718"/>
                <a:gd name="T61" fmla="*/ 656 h 656"/>
                <a:gd name="T62" fmla="*/ 415 w 718"/>
                <a:gd name="T63" fmla="*/ 652 h 656"/>
                <a:gd name="T64" fmla="*/ 470 w 718"/>
                <a:gd name="T65" fmla="*/ 639 h 656"/>
                <a:gd name="T66" fmla="*/ 522 w 718"/>
                <a:gd name="T67" fmla="*/ 620 h 656"/>
                <a:gd name="T68" fmla="*/ 570 w 718"/>
                <a:gd name="T69" fmla="*/ 593 h 656"/>
                <a:gd name="T70" fmla="*/ 613 w 718"/>
                <a:gd name="T71" fmla="*/ 560 h 656"/>
                <a:gd name="T72" fmla="*/ 649 w 718"/>
                <a:gd name="T73" fmla="*/ 521 h 656"/>
                <a:gd name="T74" fmla="*/ 679 w 718"/>
                <a:gd name="T75" fmla="*/ 477 h 656"/>
                <a:gd name="T76" fmla="*/ 700 w 718"/>
                <a:gd name="T77" fmla="*/ 430 h 656"/>
                <a:gd name="T78" fmla="*/ 713 w 718"/>
                <a:gd name="T79" fmla="*/ 379 h 656"/>
                <a:gd name="T80" fmla="*/ 718 w 718"/>
                <a:gd name="T81" fmla="*/ 328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18" h="656">
                  <a:moveTo>
                    <a:pt x="718" y="328"/>
                  </a:moveTo>
                  <a:lnTo>
                    <a:pt x="713" y="277"/>
                  </a:lnTo>
                  <a:lnTo>
                    <a:pt x="700" y="227"/>
                  </a:lnTo>
                  <a:lnTo>
                    <a:pt x="679" y="180"/>
                  </a:lnTo>
                  <a:lnTo>
                    <a:pt x="649" y="135"/>
                  </a:lnTo>
                  <a:lnTo>
                    <a:pt x="613" y="96"/>
                  </a:lnTo>
                  <a:lnTo>
                    <a:pt x="570" y="64"/>
                  </a:lnTo>
                  <a:lnTo>
                    <a:pt x="522" y="36"/>
                  </a:lnTo>
                  <a:lnTo>
                    <a:pt x="470" y="16"/>
                  </a:lnTo>
                  <a:lnTo>
                    <a:pt x="415" y="5"/>
                  </a:lnTo>
                  <a:lnTo>
                    <a:pt x="359" y="0"/>
                  </a:lnTo>
                  <a:lnTo>
                    <a:pt x="303" y="5"/>
                  </a:lnTo>
                  <a:lnTo>
                    <a:pt x="248" y="16"/>
                  </a:lnTo>
                  <a:lnTo>
                    <a:pt x="196" y="36"/>
                  </a:lnTo>
                  <a:lnTo>
                    <a:pt x="148" y="64"/>
                  </a:lnTo>
                  <a:lnTo>
                    <a:pt x="106" y="96"/>
                  </a:lnTo>
                  <a:lnTo>
                    <a:pt x="69" y="135"/>
                  </a:lnTo>
                  <a:lnTo>
                    <a:pt x="40" y="180"/>
                  </a:lnTo>
                  <a:lnTo>
                    <a:pt x="18" y="227"/>
                  </a:lnTo>
                  <a:lnTo>
                    <a:pt x="5" y="277"/>
                  </a:lnTo>
                  <a:lnTo>
                    <a:pt x="0" y="328"/>
                  </a:lnTo>
                  <a:lnTo>
                    <a:pt x="5" y="379"/>
                  </a:lnTo>
                  <a:lnTo>
                    <a:pt x="18" y="430"/>
                  </a:lnTo>
                  <a:lnTo>
                    <a:pt x="40" y="477"/>
                  </a:lnTo>
                  <a:lnTo>
                    <a:pt x="69" y="521"/>
                  </a:lnTo>
                  <a:lnTo>
                    <a:pt x="106" y="560"/>
                  </a:lnTo>
                  <a:lnTo>
                    <a:pt x="148" y="593"/>
                  </a:lnTo>
                  <a:lnTo>
                    <a:pt x="196" y="620"/>
                  </a:lnTo>
                  <a:lnTo>
                    <a:pt x="248" y="639"/>
                  </a:lnTo>
                  <a:lnTo>
                    <a:pt x="303" y="652"/>
                  </a:lnTo>
                  <a:lnTo>
                    <a:pt x="359" y="656"/>
                  </a:lnTo>
                  <a:lnTo>
                    <a:pt x="415" y="652"/>
                  </a:lnTo>
                  <a:lnTo>
                    <a:pt x="470" y="639"/>
                  </a:lnTo>
                  <a:lnTo>
                    <a:pt x="522" y="620"/>
                  </a:lnTo>
                  <a:lnTo>
                    <a:pt x="570" y="593"/>
                  </a:lnTo>
                  <a:lnTo>
                    <a:pt x="613" y="560"/>
                  </a:lnTo>
                  <a:lnTo>
                    <a:pt x="649" y="521"/>
                  </a:lnTo>
                  <a:lnTo>
                    <a:pt x="679" y="477"/>
                  </a:lnTo>
                  <a:lnTo>
                    <a:pt x="700" y="430"/>
                  </a:lnTo>
                  <a:lnTo>
                    <a:pt x="713" y="379"/>
                  </a:lnTo>
                  <a:lnTo>
                    <a:pt x="718" y="328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Line 6">
              <a:extLst>
                <a:ext uri="{FF2B5EF4-FFF2-40B4-BE49-F238E27FC236}">
                  <a16:creationId xmlns:a16="http://schemas.microsoft.com/office/drawing/2014/main" id="{C5548251-7A95-4CA4-92E8-0D2D780527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1" y="-175"/>
              <a:ext cx="1420" cy="1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Line 7">
              <a:extLst>
                <a:ext uri="{FF2B5EF4-FFF2-40B4-BE49-F238E27FC236}">
                  <a16:creationId xmlns:a16="http://schemas.microsoft.com/office/drawing/2014/main" id="{D090DE37-41EA-4C81-89B3-342F2ED53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3" y="-184"/>
              <a:ext cx="3491" cy="28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8">
              <a:extLst>
                <a:ext uri="{FF2B5EF4-FFF2-40B4-BE49-F238E27FC236}">
                  <a16:creationId xmlns:a16="http://schemas.microsoft.com/office/drawing/2014/main" id="{CB850C86-70B1-4923-A3AD-56BA9ADB7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693"/>
              <a:ext cx="7091" cy="7"/>
            </a:xfrm>
            <a:custGeom>
              <a:avLst/>
              <a:gdLst>
                <a:gd name="T0" fmla="*/ 7091 w 7091"/>
                <a:gd name="T1" fmla="*/ 0 h 7"/>
                <a:gd name="T2" fmla="*/ 0 w 7091"/>
                <a:gd name="T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091" h="7">
                  <a:moveTo>
                    <a:pt x="7091" y="0"/>
                  </a:moveTo>
                  <a:lnTo>
                    <a:pt x="0" y="7"/>
                  </a:lnTo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Line 9">
              <a:extLst>
                <a:ext uri="{FF2B5EF4-FFF2-40B4-BE49-F238E27FC236}">
                  <a16:creationId xmlns:a16="http://schemas.microsoft.com/office/drawing/2014/main" id="{C74264E6-9A45-4DC8-8968-E33B5487B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0" y="1432"/>
              <a:ext cx="78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Line 10">
              <a:extLst>
                <a:ext uri="{FF2B5EF4-FFF2-40B4-BE49-F238E27FC236}">
                  <a16:creationId xmlns:a16="http://schemas.microsoft.com/office/drawing/2014/main" id="{7CC52BC0-1C6A-4AA5-A5C7-B49E72125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8" y="2336"/>
              <a:ext cx="13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Line 11">
              <a:extLst>
                <a:ext uri="{FF2B5EF4-FFF2-40B4-BE49-F238E27FC236}">
                  <a16:creationId xmlns:a16="http://schemas.microsoft.com/office/drawing/2014/main" id="{016EE8FF-E2F8-482E-8DDF-93DE97C43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8" y="2336"/>
              <a:ext cx="0" cy="72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Line 12">
              <a:extLst>
                <a:ext uri="{FF2B5EF4-FFF2-40B4-BE49-F238E27FC236}">
                  <a16:creationId xmlns:a16="http://schemas.microsoft.com/office/drawing/2014/main" id="{AF57E89E-2C61-4811-B0F9-185857663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9" y="2336"/>
              <a:ext cx="0" cy="72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Line 13">
              <a:extLst>
                <a:ext uri="{FF2B5EF4-FFF2-40B4-BE49-F238E27FC236}">
                  <a16:creationId xmlns:a16="http://schemas.microsoft.com/office/drawing/2014/main" id="{9E3E4D1C-DD7F-4F5A-9D2B-4D90C35B0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1735"/>
              <a:ext cx="152" cy="16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Line 14">
              <a:extLst>
                <a:ext uri="{FF2B5EF4-FFF2-40B4-BE49-F238E27FC236}">
                  <a16:creationId xmlns:a16="http://schemas.microsoft.com/office/drawing/2014/main" id="{B5465CBD-4635-4ABF-B724-C00DB9C2D1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5" y="1735"/>
              <a:ext cx="187" cy="19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Line 15">
              <a:extLst>
                <a:ext uri="{FF2B5EF4-FFF2-40B4-BE49-F238E27FC236}">
                  <a16:creationId xmlns:a16="http://schemas.microsoft.com/office/drawing/2014/main" id="{FF468627-3643-4A10-88F6-AF069E753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5" y="1735"/>
              <a:ext cx="187" cy="19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Line 16">
              <a:extLst>
                <a:ext uri="{FF2B5EF4-FFF2-40B4-BE49-F238E27FC236}">
                  <a16:creationId xmlns:a16="http://schemas.microsoft.com/office/drawing/2014/main" id="{1D4FDBBE-F13A-4C77-8C11-935923D9C2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4" y="1755"/>
              <a:ext cx="170" cy="17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Line 17">
              <a:extLst>
                <a:ext uri="{FF2B5EF4-FFF2-40B4-BE49-F238E27FC236}">
                  <a16:creationId xmlns:a16="http://schemas.microsoft.com/office/drawing/2014/main" id="{2B61E6CD-EF79-4952-9850-7CFC9E0DF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95" y="3062"/>
              <a:ext cx="162" cy="17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Line 18">
              <a:extLst>
                <a:ext uri="{FF2B5EF4-FFF2-40B4-BE49-F238E27FC236}">
                  <a16:creationId xmlns:a16="http://schemas.microsoft.com/office/drawing/2014/main" id="{5E3348AB-D913-4C31-9C2A-F98C9A7E9A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98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Line 19">
              <a:extLst>
                <a:ext uri="{FF2B5EF4-FFF2-40B4-BE49-F238E27FC236}">
                  <a16:creationId xmlns:a16="http://schemas.microsoft.com/office/drawing/2014/main" id="{324F89CC-8467-4227-84FC-847B5FC21E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87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Line 20">
              <a:extLst>
                <a:ext uri="{FF2B5EF4-FFF2-40B4-BE49-F238E27FC236}">
                  <a16:creationId xmlns:a16="http://schemas.microsoft.com/office/drawing/2014/main" id="{BDF2E9AA-2183-4318-974C-9BEC6305E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8" y="3062"/>
              <a:ext cx="349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Line 21">
              <a:extLst>
                <a:ext uri="{FF2B5EF4-FFF2-40B4-BE49-F238E27FC236}">
                  <a16:creationId xmlns:a16="http://schemas.microsoft.com/office/drawing/2014/main" id="{72EB34BF-3233-4D95-904C-B1726606AA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8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Line 22">
              <a:extLst>
                <a:ext uri="{FF2B5EF4-FFF2-40B4-BE49-F238E27FC236}">
                  <a16:creationId xmlns:a16="http://schemas.microsoft.com/office/drawing/2014/main" id="{438E8EFA-3313-4B34-975D-22A922EB80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7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Line 23">
              <a:extLst>
                <a:ext uri="{FF2B5EF4-FFF2-40B4-BE49-F238E27FC236}">
                  <a16:creationId xmlns:a16="http://schemas.microsoft.com/office/drawing/2014/main" id="{1E632C57-2358-4949-86D3-EBEEBAC92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48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Line 24">
              <a:extLst>
                <a:ext uri="{FF2B5EF4-FFF2-40B4-BE49-F238E27FC236}">
                  <a16:creationId xmlns:a16="http://schemas.microsoft.com/office/drawing/2014/main" id="{CF180093-BA8E-4288-AB48-BB71A1609F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38" y="3062"/>
              <a:ext cx="349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Line 25">
              <a:extLst>
                <a:ext uri="{FF2B5EF4-FFF2-40B4-BE49-F238E27FC236}">
                  <a16:creationId xmlns:a16="http://schemas.microsoft.com/office/drawing/2014/main" id="{944C3B05-B51A-4979-BE4C-7AA32509F8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27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Line 26">
              <a:extLst>
                <a:ext uri="{FF2B5EF4-FFF2-40B4-BE49-F238E27FC236}">
                  <a16:creationId xmlns:a16="http://schemas.microsoft.com/office/drawing/2014/main" id="{CDF22474-BBC4-48B9-A2EF-FBD9E0E08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18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Line 27">
              <a:extLst>
                <a:ext uri="{FF2B5EF4-FFF2-40B4-BE49-F238E27FC236}">
                  <a16:creationId xmlns:a16="http://schemas.microsoft.com/office/drawing/2014/main" id="{F262394E-83C8-481E-99E8-570791EB1B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07" y="3251"/>
              <a:ext cx="173" cy="18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Line 28">
              <a:extLst>
                <a:ext uri="{FF2B5EF4-FFF2-40B4-BE49-F238E27FC236}">
                  <a16:creationId xmlns:a16="http://schemas.microsoft.com/office/drawing/2014/main" id="{B5F1E51A-F521-43BA-A478-625D1B675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5" y="3062"/>
              <a:ext cx="18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Line 29">
              <a:extLst>
                <a:ext uri="{FF2B5EF4-FFF2-40B4-BE49-F238E27FC236}">
                  <a16:creationId xmlns:a16="http://schemas.microsoft.com/office/drawing/2014/main" id="{41687AC6-E692-4903-B926-D2F34C3BA9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3" y="1494"/>
              <a:ext cx="188" cy="24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Line 30">
              <a:extLst>
                <a:ext uri="{FF2B5EF4-FFF2-40B4-BE49-F238E27FC236}">
                  <a16:creationId xmlns:a16="http://schemas.microsoft.com/office/drawing/2014/main" id="{9F7BFC79-B24F-49E4-A794-DF355DA5F6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492"/>
              <a:ext cx="207" cy="24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Line 31">
              <a:extLst>
                <a:ext uri="{FF2B5EF4-FFF2-40B4-BE49-F238E27FC236}">
                  <a16:creationId xmlns:a16="http://schemas.microsoft.com/office/drawing/2014/main" id="{BB111729-6F55-4295-B110-1DF8FE068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3" y="1735"/>
              <a:ext cx="81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Line 32">
              <a:extLst>
                <a:ext uri="{FF2B5EF4-FFF2-40B4-BE49-F238E27FC236}">
                  <a16:creationId xmlns:a16="http://schemas.microsoft.com/office/drawing/2014/main" id="{684C5F2E-628B-420A-B639-CB2B3B7C2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5" y="1432"/>
              <a:ext cx="0" cy="12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33">
              <a:extLst>
                <a:ext uri="{FF2B5EF4-FFF2-40B4-BE49-F238E27FC236}">
                  <a16:creationId xmlns:a16="http://schemas.microsoft.com/office/drawing/2014/main" id="{704D595F-C4AC-48F6-AAE3-449CAB8CC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173"/>
              <a:ext cx="1002" cy="1070"/>
            </a:xfrm>
            <a:custGeom>
              <a:avLst/>
              <a:gdLst>
                <a:gd name="T0" fmla="*/ 2865 w 2865"/>
                <a:gd name="T1" fmla="*/ 2639 h 2639"/>
                <a:gd name="T2" fmla="*/ 2851 w 2865"/>
                <a:gd name="T3" fmla="*/ 2483 h 2639"/>
                <a:gd name="T4" fmla="*/ 2828 w 2865"/>
                <a:gd name="T5" fmla="*/ 2328 h 2639"/>
                <a:gd name="T6" fmla="*/ 2796 w 2865"/>
                <a:gd name="T7" fmla="*/ 2174 h 2639"/>
                <a:gd name="T8" fmla="*/ 2754 w 2865"/>
                <a:gd name="T9" fmla="*/ 2023 h 2639"/>
                <a:gd name="T10" fmla="*/ 2702 w 2865"/>
                <a:gd name="T11" fmla="*/ 1873 h 2639"/>
                <a:gd name="T12" fmla="*/ 2642 w 2865"/>
                <a:gd name="T13" fmla="*/ 1727 h 2639"/>
                <a:gd name="T14" fmla="*/ 2573 w 2865"/>
                <a:gd name="T15" fmla="*/ 1583 h 2639"/>
                <a:gd name="T16" fmla="*/ 2496 w 2865"/>
                <a:gd name="T17" fmla="*/ 1444 h 2639"/>
                <a:gd name="T18" fmla="*/ 2409 w 2865"/>
                <a:gd name="T19" fmla="*/ 1309 h 2639"/>
                <a:gd name="T20" fmla="*/ 2314 w 2865"/>
                <a:gd name="T21" fmla="*/ 1179 h 2639"/>
                <a:gd name="T22" fmla="*/ 2211 w 2865"/>
                <a:gd name="T23" fmla="*/ 1054 h 2639"/>
                <a:gd name="T24" fmla="*/ 2102 w 2865"/>
                <a:gd name="T25" fmla="*/ 934 h 2639"/>
                <a:gd name="T26" fmla="*/ 1985 w 2865"/>
                <a:gd name="T27" fmla="*/ 820 h 2639"/>
                <a:gd name="T28" fmla="*/ 1861 w 2865"/>
                <a:gd name="T29" fmla="*/ 711 h 2639"/>
                <a:gd name="T30" fmla="*/ 1731 w 2865"/>
                <a:gd name="T31" fmla="*/ 610 h 2639"/>
                <a:gd name="T32" fmla="*/ 1594 w 2865"/>
                <a:gd name="T33" fmla="*/ 515 h 2639"/>
                <a:gd name="T34" fmla="*/ 1452 w 2865"/>
                <a:gd name="T35" fmla="*/ 429 h 2639"/>
                <a:gd name="T36" fmla="*/ 1304 w 2865"/>
                <a:gd name="T37" fmla="*/ 348 h 2639"/>
                <a:gd name="T38" fmla="*/ 1153 w 2865"/>
                <a:gd name="T39" fmla="*/ 276 h 2639"/>
                <a:gd name="T40" fmla="*/ 997 w 2865"/>
                <a:gd name="T41" fmla="*/ 211 h 2639"/>
                <a:gd name="T42" fmla="*/ 836 w 2865"/>
                <a:gd name="T43" fmla="*/ 155 h 2639"/>
                <a:gd name="T44" fmla="*/ 673 w 2865"/>
                <a:gd name="T45" fmla="*/ 107 h 2639"/>
                <a:gd name="T46" fmla="*/ 508 w 2865"/>
                <a:gd name="T47" fmla="*/ 67 h 2639"/>
                <a:gd name="T48" fmla="*/ 341 w 2865"/>
                <a:gd name="T49" fmla="*/ 36 h 2639"/>
                <a:gd name="T50" fmla="*/ 171 w 2865"/>
                <a:gd name="T51" fmla="*/ 14 h 2639"/>
                <a:gd name="T52" fmla="*/ 0 w 2865"/>
                <a:gd name="T53" fmla="*/ 0 h 2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865" h="2639">
                  <a:moveTo>
                    <a:pt x="2865" y="2639"/>
                  </a:moveTo>
                  <a:lnTo>
                    <a:pt x="2851" y="2483"/>
                  </a:lnTo>
                  <a:lnTo>
                    <a:pt x="2828" y="2328"/>
                  </a:lnTo>
                  <a:lnTo>
                    <a:pt x="2796" y="2174"/>
                  </a:lnTo>
                  <a:lnTo>
                    <a:pt x="2754" y="2023"/>
                  </a:lnTo>
                  <a:lnTo>
                    <a:pt x="2702" y="1873"/>
                  </a:lnTo>
                  <a:lnTo>
                    <a:pt x="2642" y="1727"/>
                  </a:lnTo>
                  <a:lnTo>
                    <a:pt x="2573" y="1583"/>
                  </a:lnTo>
                  <a:lnTo>
                    <a:pt x="2496" y="1444"/>
                  </a:lnTo>
                  <a:lnTo>
                    <a:pt x="2409" y="1309"/>
                  </a:lnTo>
                  <a:lnTo>
                    <a:pt x="2314" y="1179"/>
                  </a:lnTo>
                  <a:lnTo>
                    <a:pt x="2211" y="1054"/>
                  </a:lnTo>
                  <a:lnTo>
                    <a:pt x="2102" y="934"/>
                  </a:lnTo>
                  <a:lnTo>
                    <a:pt x="1985" y="820"/>
                  </a:lnTo>
                  <a:lnTo>
                    <a:pt x="1861" y="711"/>
                  </a:lnTo>
                  <a:lnTo>
                    <a:pt x="1731" y="610"/>
                  </a:lnTo>
                  <a:lnTo>
                    <a:pt x="1594" y="515"/>
                  </a:lnTo>
                  <a:lnTo>
                    <a:pt x="1452" y="429"/>
                  </a:lnTo>
                  <a:lnTo>
                    <a:pt x="1304" y="348"/>
                  </a:lnTo>
                  <a:lnTo>
                    <a:pt x="1153" y="276"/>
                  </a:lnTo>
                  <a:lnTo>
                    <a:pt x="997" y="211"/>
                  </a:lnTo>
                  <a:lnTo>
                    <a:pt x="836" y="155"/>
                  </a:lnTo>
                  <a:lnTo>
                    <a:pt x="673" y="107"/>
                  </a:lnTo>
                  <a:lnTo>
                    <a:pt x="508" y="67"/>
                  </a:lnTo>
                  <a:lnTo>
                    <a:pt x="341" y="36"/>
                  </a:lnTo>
                  <a:lnTo>
                    <a:pt x="171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34">
              <a:extLst>
                <a:ext uri="{FF2B5EF4-FFF2-40B4-BE49-F238E27FC236}">
                  <a16:creationId xmlns:a16="http://schemas.microsoft.com/office/drawing/2014/main" id="{17AD0A3C-CD6B-4155-B0AB-32207CDA2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168"/>
              <a:ext cx="384" cy="42"/>
            </a:xfrm>
            <a:custGeom>
              <a:avLst/>
              <a:gdLst>
                <a:gd name="T0" fmla="*/ 6 w 1103"/>
                <a:gd name="T1" fmla="*/ 0 h 102"/>
                <a:gd name="T2" fmla="*/ 0 w 1103"/>
                <a:gd name="T3" fmla="*/ 21 h 102"/>
                <a:gd name="T4" fmla="*/ 1103 w 1103"/>
                <a:gd name="T5" fmla="*/ 102 h 102"/>
                <a:gd name="T6" fmla="*/ 6 w 1103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3" h="102">
                  <a:moveTo>
                    <a:pt x="6" y="0"/>
                  </a:moveTo>
                  <a:lnTo>
                    <a:pt x="0" y="21"/>
                  </a:lnTo>
                  <a:lnTo>
                    <a:pt x="1103" y="10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35">
              <a:extLst>
                <a:ext uri="{FF2B5EF4-FFF2-40B4-BE49-F238E27FC236}">
                  <a16:creationId xmlns:a16="http://schemas.microsoft.com/office/drawing/2014/main" id="{CCE3CE15-C222-4D86-B508-F62909E2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177"/>
              <a:ext cx="384" cy="147"/>
            </a:xfrm>
            <a:custGeom>
              <a:avLst/>
              <a:gdLst>
                <a:gd name="T0" fmla="*/ 0 w 1103"/>
                <a:gd name="T1" fmla="*/ 0 h 363"/>
                <a:gd name="T2" fmla="*/ 1103 w 1103"/>
                <a:gd name="T3" fmla="*/ 81 h 363"/>
                <a:gd name="T4" fmla="*/ 1028 w 1103"/>
                <a:gd name="T5" fmla="*/ 363 h 363"/>
                <a:gd name="T6" fmla="*/ 0 w 1103"/>
                <a:gd name="T7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3" h="363">
                  <a:moveTo>
                    <a:pt x="0" y="0"/>
                  </a:moveTo>
                  <a:lnTo>
                    <a:pt x="1103" y="81"/>
                  </a:lnTo>
                  <a:lnTo>
                    <a:pt x="1028" y="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36">
              <a:extLst>
                <a:ext uri="{FF2B5EF4-FFF2-40B4-BE49-F238E27FC236}">
                  <a16:creationId xmlns:a16="http://schemas.microsoft.com/office/drawing/2014/main" id="{DB2E008F-63C3-4135-A73D-BC2CB683B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168"/>
              <a:ext cx="384" cy="156"/>
            </a:xfrm>
            <a:custGeom>
              <a:avLst/>
              <a:gdLst>
                <a:gd name="T0" fmla="*/ 6 w 1103"/>
                <a:gd name="T1" fmla="*/ 0 h 384"/>
                <a:gd name="T2" fmla="*/ 0 w 1103"/>
                <a:gd name="T3" fmla="*/ 21 h 384"/>
                <a:gd name="T4" fmla="*/ 1028 w 1103"/>
                <a:gd name="T5" fmla="*/ 384 h 384"/>
                <a:gd name="T6" fmla="*/ 1103 w 1103"/>
                <a:gd name="T7" fmla="*/ 102 h 384"/>
                <a:gd name="T8" fmla="*/ 6 w 1103"/>
                <a:gd name="T9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3" h="384">
                  <a:moveTo>
                    <a:pt x="6" y="0"/>
                  </a:moveTo>
                  <a:lnTo>
                    <a:pt x="0" y="21"/>
                  </a:lnTo>
                  <a:lnTo>
                    <a:pt x="1028" y="384"/>
                  </a:lnTo>
                  <a:lnTo>
                    <a:pt x="1103" y="102"/>
                  </a:lnTo>
                  <a:lnTo>
                    <a:pt x="6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37">
              <a:extLst>
                <a:ext uri="{FF2B5EF4-FFF2-40B4-BE49-F238E27FC236}">
                  <a16:creationId xmlns:a16="http://schemas.microsoft.com/office/drawing/2014/main" id="{8B785C31-7F0E-4CAB-8282-DE0425619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93"/>
              <a:ext cx="55" cy="406"/>
            </a:xfrm>
            <a:custGeom>
              <a:avLst/>
              <a:gdLst>
                <a:gd name="T0" fmla="*/ 129 w 154"/>
                <a:gd name="T1" fmla="*/ 999 h 999"/>
                <a:gd name="T2" fmla="*/ 154 w 154"/>
                <a:gd name="T3" fmla="*/ 999 h 999"/>
                <a:gd name="T4" fmla="*/ 0 w 154"/>
                <a:gd name="T5" fmla="*/ 0 h 999"/>
                <a:gd name="T6" fmla="*/ 129 w 154"/>
                <a:gd name="T7" fmla="*/ 999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999">
                  <a:moveTo>
                    <a:pt x="129" y="999"/>
                  </a:moveTo>
                  <a:lnTo>
                    <a:pt x="154" y="999"/>
                  </a:lnTo>
                  <a:lnTo>
                    <a:pt x="0" y="0"/>
                  </a:lnTo>
                  <a:lnTo>
                    <a:pt x="129" y="9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38">
              <a:extLst>
                <a:ext uri="{FF2B5EF4-FFF2-40B4-BE49-F238E27FC236}">
                  <a16:creationId xmlns:a16="http://schemas.microsoft.com/office/drawing/2014/main" id="{5E30A8BB-0AB9-4172-AD51-95D6D55CD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93"/>
              <a:ext cx="112" cy="406"/>
            </a:xfrm>
            <a:custGeom>
              <a:avLst/>
              <a:gdLst>
                <a:gd name="T0" fmla="*/ 154 w 318"/>
                <a:gd name="T1" fmla="*/ 999 h 999"/>
                <a:gd name="T2" fmla="*/ 0 w 318"/>
                <a:gd name="T3" fmla="*/ 0 h 999"/>
                <a:gd name="T4" fmla="*/ 318 w 318"/>
                <a:gd name="T5" fmla="*/ 4 h 999"/>
                <a:gd name="T6" fmla="*/ 154 w 318"/>
                <a:gd name="T7" fmla="*/ 999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999">
                  <a:moveTo>
                    <a:pt x="154" y="999"/>
                  </a:moveTo>
                  <a:lnTo>
                    <a:pt x="0" y="0"/>
                  </a:lnTo>
                  <a:lnTo>
                    <a:pt x="318" y="4"/>
                  </a:lnTo>
                  <a:lnTo>
                    <a:pt x="154" y="9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39">
              <a:extLst>
                <a:ext uri="{FF2B5EF4-FFF2-40B4-BE49-F238E27FC236}">
                  <a16:creationId xmlns:a16="http://schemas.microsoft.com/office/drawing/2014/main" id="{A0F94136-EBC1-476B-A7A4-9E2C090B2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93"/>
              <a:ext cx="112" cy="406"/>
            </a:xfrm>
            <a:custGeom>
              <a:avLst/>
              <a:gdLst>
                <a:gd name="T0" fmla="*/ 129 w 318"/>
                <a:gd name="T1" fmla="*/ 999 h 999"/>
                <a:gd name="T2" fmla="*/ 154 w 318"/>
                <a:gd name="T3" fmla="*/ 999 h 999"/>
                <a:gd name="T4" fmla="*/ 318 w 318"/>
                <a:gd name="T5" fmla="*/ 4 h 999"/>
                <a:gd name="T6" fmla="*/ 0 w 318"/>
                <a:gd name="T7" fmla="*/ 0 h 999"/>
                <a:gd name="T8" fmla="*/ 129 w 318"/>
                <a:gd name="T9" fmla="*/ 999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999">
                  <a:moveTo>
                    <a:pt x="129" y="999"/>
                  </a:moveTo>
                  <a:lnTo>
                    <a:pt x="154" y="999"/>
                  </a:lnTo>
                  <a:lnTo>
                    <a:pt x="318" y="4"/>
                  </a:lnTo>
                  <a:lnTo>
                    <a:pt x="0" y="0"/>
                  </a:lnTo>
                  <a:lnTo>
                    <a:pt x="129" y="999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40">
              <a:extLst>
                <a:ext uri="{FF2B5EF4-FFF2-40B4-BE49-F238E27FC236}">
                  <a16:creationId xmlns:a16="http://schemas.microsoft.com/office/drawing/2014/main" id="{47038BBB-040B-436B-A26F-0A7FA56B6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1432"/>
              <a:ext cx="54" cy="407"/>
            </a:xfrm>
            <a:custGeom>
              <a:avLst/>
              <a:gdLst>
                <a:gd name="T0" fmla="*/ 25 w 154"/>
                <a:gd name="T1" fmla="*/ 0 h 1000"/>
                <a:gd name="T2" fmla="*/ 0 w 154"/>
                <a:gd name="T3" fmla="*/ 0 h 1000"/>
                <a:gd name="T4" fmla="*/ 154 w 154"/>
                <a:gd name="T5" fmla="*/ 1000 h 1000"/>
                <a:gd name="T6" fmla="*/ 25 w 154"/>
                <a:gd name="T7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1000">
                  <a:moveTo>
                    <a:pt x="25" y="0"/>
                  </a:moveTo>
                  <a:lnTo>
                    <a:pt x="0" y="0"/>
                  </a:lnTo>
                  <a:lnTo>
                    <a:pt x="154" y="100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41">
              <a:extLst>
                <a:ext uri="{FF2B5EF4-FFF2-40B4-BE49-F238E27FC236}">
                  <a16:creationId xmlns:a16="http://schemas.microsoft.com/office/drawing/2014/main" id="{B488CE80-7442-4E21-94F6-6C72A05C7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1432"/>
              <a:ext cx="112" cy="407"/>
            </a:xfrm>
            <a:custGeom>
              <a:avLst/>
              <a:gdLst>
                <a:gd name="T0" fmla="*/ 164 w 318"/>
                <a:gd name="T1" fmla="*/ 0 h 1000"/>
                <a:gd name="T2" fmla="*/ 318 w 318"/>
                <a:gd name="T3" fmla="*/ 1000 h 1000"/>
                <a:gd name="T4" fmla="*/ 0 w 318"/>
                <a:gd name="T5" fmla="*/ 995 h 1000"/>
                <a:gd name="T6" fmla="*/ 164 w 318"/>
                <a:gd name="T7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000">
                  <a:moveTo>
                    <a:pt x="164" y="0"/>
                  </a:moveTo>
                  <a:lnTo>
                    <a:pt x="318" y="1000"/>
                  </a:lnTo>
                  <a:lnTo>
                    <a:pt x="0" y="995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42">
              <a:extLst>
                <a:ext uri="{FF2B5EF4-FFF2-40B4-BE49-F238E27FC236}">
                  <a16:creationId xmlns:a16="http://schemas.microsoft.com/office/drawing/2014/main" id="{5AC1A096-2BEF-444D-8D33-303CAFFBF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1432"/>
              <a:ext cx="112" cy="407"/>
            </a:xfrm>
            <a:custGeom>
              <a:avLst/>
              <a:gdLst>
                <a:gd name="T0" fmla="*/ 189 w 318"/>
                <a:gd name="T1" fmla="*/ 0 h 1000"/>
                <a:gd name="T2" fmla="*/ 164 w 318"/>
                <a:gd name="T3" fmla="*/ 0 h 1000"/>
                <a:gd name="T4" fmla="*/ 0 w 318"/>
                <a:gd name="T5" fmla="*/ 995 h 1000"/>
                <a:gd name="T6" fmla="*/ 318 w 318"/>
                <a:gd name="T7" fmla="*/ 1000 h 1000"/>
                <a:gd name="T8" fmla="*/ 189 w 318"/>
                <a:gd name="T9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1000">
                  <a:moveTo>
                    <a:pt x="189" y="0"/>
                  </a:moveTo>
                  <a:lnTo>
                    <a:pt x="164" y="0"/>
                  </a:lnTo>
                  <a:lnTo>
                    <a:pt x="0" y="995"/>
                  </a:lnTo>
                  <a:lnTo>
                    <a:pt x="318" y="1000"/>
                  </a:lnTo>
                  <a:lnTo>
                    <a:pt x="189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100" name="图片 99">
            <a:extLst>
              <a:ext uri="{FF2B5EF4-FFF2-40B4-BE49-F238E27FC236}">
                <a16:creationId xmlns:a16="http://schemas.microsoft.com/office/drawing/2014/main" id="{F83576D3-01CE-4980-BA96-A1EB43047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8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31" y="778413"/>
            <a:ext cx="8412183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六、如图所示偏置曲柄滑块机构，已知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a=20mm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b=40 mm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e=10 mm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，试用作图法求出此机构的极位夹角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θ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、行程速比系数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和行程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，并标出图示位置的传动角。（本题共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77E547-F0F5-CCCD-D7BD-D0B5C18AC5E0}"/>
              </a:ext>
            </a:extLst>
          </p:cNvPr>
          <p:cNvSpPr txBox="1"/>
          <p:nvPr/>
        </p:nvSpPr>
        <p:spPr>
          <a:xfrm>
            <a:off x="3352344" y="6231221"/>
            <a:ext cx="1994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图六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03B79B-EFB2-4CAC-907B-E658B4D0D4C5}"/>
              </a:ext>
            </a:extLst>
          </p:cNvPr>
          <p:cNvGrpSpPr>
            <a:grpSpLocks/>
          </p:cNvGrpSpPr>
          <p:nvPr/>
        </p:nvGrpSpPr>
        <p:grpSpPr bwMode="auto">
          <a:xfrm>
            <a:off x="1925493" y="2973188"/>
            <a:ext cx="5681255" cy="3106399"/>
            <a:chOff x="3060" y="-312"/>
            <a:chExt cx="7091" cy="3744"/>
          </a:xfrm>
        </p:grpSpPr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C52B18D0-585B-47D9-9F72-6D9571DDF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1353"/>
              <a:ext cx="151" cy="160"/>
            </a:xfrm>
            <a:custGeom>
              <a:avLst/>
              <a:gdLst>
                <a:gd name="T0" fmla="*/ 431 w 431"/>
                <a:gd name="T1" fmla="*/ 197 h 393"/>
                <a:gd name="T2" fmla="*/ 426 w 431"/>
                <a:gd name="T3" fmla="*/ 159 h 393"/>
                <a:gd name="T4" fmla="*/ 415 w 431"/>
                <a:gd name="T5" fmla="*/ 122 h 393"/>
                <a:gd name="T6" fmla="*/ 395 w 431"/>
                <a:gd name="T7" fmla="*/ 87 h 393"/>
                <a:gd name="T8" fmla="*/ 367 w 431"/>
                <a:gd name="T9" fmla="*/ 58 h 393"/>
                <a:gd name="T10" fmla="*/ 335 w 431"/>
                <a:gd name="T11" fmla="*/ 33 h 393"/>
                <a:gd name="T12" fmla="*/ 298 w 431"/>
                <a:gd name="T13" fmla="*/ 16 h 393"/>
                <a:gd name="T14" fmla="*/ 258 w 431"/>
                <a:gd name="T15" fmla="*/ 4 h 393"/>
                <a:gd name="T16" fmla="*/ 216 w 431"/>
                <a:gd name="T17" fmla="*/ 0 h 393"/>
                <a:gd name="T18" fmla="*/ 173 w 431"/>
                <a:gd name="T19" fmla="*/ 4 h 393"/>
                <a:gd name="T20" fmla="*/ 133 w 431"/>
                <a:gd name="T21" fmla="*/ 16 h 393"/>
                <a:gd name="T22" fmla="*/ 96 w 431"/>
                <a:gd name="T23" fmla="*/ 33 h 393"/>
                <a:gd name="T24" fmla="*/ 63 w 431"/>
                <a:gd name="T25" fmla="*/ 58 h 393"/>
                <a:gd name="T26" fmla="*/ 37 w 431"/>
                <a:gd name="T27" fmla="*/ 87 h 393"/>
                <a:gd name="T28" fmla="*/ 17 w 431"/>
                <a:gd name="T29" fmla="*/ 122 h 393"/>
                <a:gd name="T30" fmla="*/ 5 w 431"/>
                <a:gd name="T31" fmla="*/ 159 h 393"/>
                <a:gd name="T32" fmla="*/ 0 w 431"/>
                <a:gd name="T33" fmla="*/ 197 h 393"/>
                <a:gd name="T34" fmla="*/ 5 w 431"/>
                <a:gd name="T35" fmla="*/ 235 h 393"/>
                <a:gd name="T36" fmla="*/ 17 w 431"/>
                <a:gd name="T37" fmla="*/ 272 h 393"/>
                <a:gd name="T38" fmla="*/ 37 w 431"/>
                <a:gd name="T39" fmla="*/ 306 h 393"/>
                <a:gd name="T40" fmla="*/ 63 w 431"/>
                <a:gd name="T41" fmla="*/ 336 h 393"/>
                <a:gd name="T42" fmla="*/ 96 w 431"/>
                <a:gd name="T43" fmla="*/ 360 h 393"/>
                <a:gd name="T44" fmla="*/ 133 w 431"/>
                <a:gd name="T45" fmla="*/ 378 h 393"/>
                <a:gd name="T46" fmla="*/ 173 w 431"/>
                <a:gd name="T47" fmla="*/ 390 h 393"/>
                <a:gd name="T48" fmla="*/ 216 w 431"/>
                <a:gd name="T49" fmla="*/ 393 h 393"/>
                <a:gd name="T50" fmla="*/ 258 w 431"/>
                <a:gd name="T51" fmla="*/ 390 h 393"/>
                <a:gd name="T52" fmla="*/ 298 w 431"/>
                <a:gd name="T53" fmla="*/ 378 h 393"/>
                <a:gd name="T54" fmla="*/ 335 w 431"/>
                <a:gd name="T55" fmla="*/ 360 h 393"/>
                <a:gd name="T56" fmla="*/ 367 w 431"/>
                <a:gd name="T57" fmla="*/ 336 h 393"/>
                <a:gd name="T58" fmla="*/ 395 w 431"/>
                <a:gd name="T59" fmla="*/ 306 h 393"/>
                <a:gd name="T60" fmla="*/ 415 w 431"/>
                <a:gd name="T61" fmla="*/ 272 h 393"/>
                <a:gd name="T62" fmla="*/ 426 w 431"/>
                <a:gd name="T63" fmla="*/ 235 h 393"/>
                <a:gd name="T64" fmla="*/ 431 w 431"/>
                <a:gd name="T65" fmla="*/ 197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1" h="393">
                  <a:moveTo>
                    <a:pt x="431" y="197"/>
                  </a:moveTo>
                  <a:lnTo>
                    <a:pt x="426" y="159"/>
                  </a:lnTo>
                  <a:lnTo>
                    <a:pt x="415" y="122"/>
                  </a:lnTo>
                  <a:lnTo>
                    <a:pt x="395" y="87"/>
                  </a:lnTo>
                  <a:lnTo>
                    <a:pt x="367" y="58"/>
                  </a:lnTo>
                  <a:lnTo>
                    <a:pt x="335" y="33"/>
                  </a:lnTo>
                  <a:lnTo>
                    <a:pt x="298" y="16"/>
                  </a:lnTo>
                  <a:lnTo>
                    <a:pt x="258" y="4"/>
                  </a:lnTo>
                  <a:lnTo>
                    <a:pt x="216" y="0"/>
                  </a:lnTo>
                  <a:lnTo>
                    <a:pt x="173" y="4"/>
                  </a:lnTo>
                  <a:lnTo>
                    <a:pt x="133" y="16"/>
                  </a:lnTo>
                  <a:lnTo>
                    <a:pt x="96" y="33"/>
                  </a:lnTo>
                  <a:lnTo>
                    <a:pt x="63" y="58"/>
                  </a:lnTo>
                  <a:lnTo>
                    <a:pt x="37" y="87"/>
                  </a:lnTo>
                  <a:lnTo>
                    <a:pt x="17" y="122"/>
                  </a:lnTo>
                  <a:lnTo>
                    <a:pt x="5" y="159"/>
                  </a:lnTo>
                  <a:lnTo>
                    <a:pt x="0" y="197"/>
                  </a:lnTo>
                  <a:lnTo>
                    <a:pt x="5" y="235"/>
                  </a:lnTo>
                  <a:lnTo>
                    <a:pt x="17" y="272"/>
                  </a:lnTo>
                  <a:lnTo>
                    <a:pt x="37" y="306"/>
                  </a:lnTo>
                  <a:lnTo>
                    <a:pt x="63" y="336"/>
                  </a:lnTo>
                  <a:lnTo>
                    <a:pt x="96" y="360"/>
                  </a:lnTo>
                  <a:lnTo>
                    <a:pt x="133" y="378"/>
                  </a:lnTo>
                  <a:lnTo>
                    <a:pt x="173" y="390"/>
                  </a:lnTo>
                  <a:lnTo>
                    <a:pt x="216" y="393"/>
                  </a:lnTo>
                  <a:lnTo>
                    <a:pt x="258" y="390"/>
                  </a:lnTo>
                  <a:lnTo>
                    <a:pt x="298" y="378"/>
                  </a:lnTo>
                  <a:lnTo>
                    <a:pt x="335" y="360"/>
                  </a:lnTo>
                  <a:lnTo>
                    <a:pt x="367" y="336"/>
                  </a:lnTo>
                  <a:lnTo>
                    <a:pt x="395" y="306"/>
                  </a:lnTo>
                  <a:lnTo>
                    <a:pt x="415" y="272"/>
                  </a:lnTo>
                  <a:lnTo>
                    <a:pt x="426" y="235"/>
                  </a:lnTo>
                  <a:lnTo>
                    <a:pt x="431" y="197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4">
              <a:extLst>
                <a:ext uri="{FF2B5EF4-FFF2-40B4-BE49-F238E27FC236}">
                  <a16:creationId xmlns:a16="http://schemas.microsoft.com/office/drawing/2014/main" id="{F9F1281A-A369-4C12-84CA-14F7A65C0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" y="-312"/>
              <a:ext cx="152" cy="159"/>
            </a:xfrm>
            <a:custGeom>
              <a:avLst/>
              <a:gdLst>
                <a:gd name="T0" fmla="*/ 431 w 431"/>
                <a:gd name="T1" fmla="*/ 197 h 393"/>
                <a:gd name="T2" fmla="*/ 427 w 431"/>
                <a:gd name="T3" fmla="*/ 158 h 393"/>
                <a:gd name="T4" fmla="*/ 415 w 431"/>
                <a:gd name="T5" fmla="*/ 121 h 393"/>
                <a:gd name="T6" fmla="*/ 395 w 431"/>
                <a:gd name="T7" fmla="*/ 87 h 393"/>
                <a:gd name="T8" fmla="*/ 368 w 431"/>
                <a:gd name="T9" fmla="*/ 58 h 393"/>
                <a:gd name="T10" fmla="*/ 335 w 431"/>
                <a:gd name="T11" fmla="*/ 33 h 393"/>
                <a:gd name="T12" fmla="*/ 298 w 431"/>
                <a:gd name="T13" fmla="*/ 15 h 393"/>
                <a:gd name="T14" fmla="*/ 258 w 431"/>
                <a:gd name="T15" fmla="*/ 4 h 393"/>
                <a:gd name="T16" fmla="*/ 216 w 431"/>
                <a:gd name="T17" fmla="*/ 0 h 393"/>
                <a:gd name="T18" fmla="*/ 174 w 431"/>
                <a:gd name="T19" fmla="*/ 4 h 393"/>
                <a:gd name="T20" fmla="*/ 133 w 431"/>
                <a:gd name="T21" fmla="*/ 15 h 393"/>
                <a:gd name="T22" fmla="*/ 96 w 431"/>
                <a:gd name="T23" fmla="*/ 33 h 393"/>
                <a:gd name="T24" fmla="*/ 64 w 431"/>
                <a:gd name="T25" fmla="*/ 58 h 393"/>
                <a:gd name="T26" fmla="*/ 37 w 431"/>
                <a:gd name="T27" fmla="*/ 87 h 393"/>
                <a:gd name="T28" fmla="*/ 18 w 431"/>
                <a:gd name="T29" fmla="*/ 121 h 393"/>
                <a:gd name="T30" fmla="*/ 5 w 431"/>
                <a:gd name="T31" fmla="*/ 158 h 393"/>
                <a:gd name="T32" fmla="*/ 0 w 431"/>
                <a:gd name="T33" fmla="*/ 197 h 393"/>
                <a:gd name="T34" fmla="*/ 5 w 431"/>
                <a:gd name="T35" fmla="*/ 235 h 393"/>
                <a:gd name="T36" fmla="*/ 18 w 431"/>
                <a:gd name="T37" fmla="*/ 272 h 393"/>
                <a:gd name="T38" fmla="*/ 37 w 431"/>
                <a:gd name="T39" fmla="*/ 305 h 393"/>
                <a:gd name="T40" fmla="*/ 64 w 431"/>
                <a:gd name="T41" fmla="*/ 336 h 393"/>
                <a:gd name="T42" fmla="*/ 96 w 431"/>
                <a:gd name="T43" fmla="*/ 360 h 393"/>
                <a:gd name="T44" fmla="*/ 133 w 431"/>
                <a:gd name="T45" fmla="*/ 378 h 393"/>
                <a:gd name="T46" fmla="*/ 174 w 431"/>
                <a:gd name="T47" fmla="*/ 390 h 393"/>
                <a:gd name="T48" fmla="*/ 216 w 431"/>
                <a:gd name="T49" fmla="*/ 393 h 393"/>
                <a:gd name="T50" fmla="*/ 258 w 431"/>
                <a:gd name="T51" fmla="*/ 390 h 393"/>
                <a:gd name="T52" fmla="*/ 298 w 431"/>
                <a:gd name="T53" fmla="*/ 378 h 393"/>
                <a:gd name="T54" fmla="*/ 335 w 431"/>
                <a:gd name="T55" fmla="*/ 360 h 393"/>
                <a:gd name="T56" fmla="*/ 368 w 431"/>
                <a:gd name="T57" fmla="*/ 336 h 393"/>
                <a:gd name="T58" fmla="*/ 395 w 431"/>
                <a:gd name="T59" fmla="*/ 305 h 393"/>
                <a:gd name="T60" fmla="*/ 415 w 431"/>
                <a:gd name="T61" fmla="*/ 272 h 393"/>
                <a:gd name="T62" fmla="*/ 427 w 431"/>
                <a:gd name="T63" fmla="*/ 235 h 393"/>
                <a:gd name="T64" fmla="*/ 431 w 431"/>
                <a:gd name="T65" fmla="*/ 197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1" h="393">
                  <a:moveTo>
                    <a:pt x="431" y="197"/>
                  </a:moveTo>
                  <a:lnTo>
                    <a:pt x="427" y="158"/>
                  </a:lnTo>
                  <a:lnTo>
                    <a:pt x="415" y="121"/>
                  </a:lnTo>
                  <a:lnTo>
                    <a:pt x="395" y="87"/>
                  </a:lnTo>
                  <a:lnTo>
                    <a:pt x="368" y="58"/>
                  </a:lnTo>
                  <a:lnTo>
                    <a:pt x="335" y="33"/>
                  </a:lnTo>
                  <a:lnTo>
                    <a:pt x="298" y="15"/>
                  </a:lnTo>
                  <a:lnTo>
                    <a:pt x="258" y="4"/>
                  </a:lnTo>
                  <a:lnTo>
                    <a:pt x="216" y="0"/>
                  </a:lnTo>
                  <a:lnTo>
                    <a:pt x="174" y="4"/>
                  </a:lnTo>
                  <a:lnTo>
                    <a:pt x="133" y="15"/>
                  </a:lnTo>
                  <a:lnTo>
                    <a:pt x="96" y="33"/>
                  </a:lnTo>
                  <a:lnTo>
                    <a:pt x="64" y="58"/>
                  </a:lnTo>
                  <a:lnTo>
                    <a:pt x="37" y="87"/>
                  </a:lnTo>
                  <a:lnTo>
                    <a:pt x="18" y="121"/>
                  </a:lnTo>
                  <a:lnTo>
                    <a:pt x="5" y="158"/>
                  </a:lnTo>
                  <a:lnTo>
                    <a:pt x="0" y="197"/>
                  </a:lnTo>
                  <a:lnTo>
                    <a:pt x="5" y="235"/>
                  </a:lnTo>
                  <a:lnTo>
                    <a:pt x="18" y="272"/>
                  </a:lnTo>
                  <a:lnTo>
                    <a:pt x="37" y="305"/>
                  </a:lnTo>
                  <a:lnTo>
                    <a:pt x="64" y="336"/>
                  </a:lnTo>
                  <a:lnTo>
                    <a:pt x="96" y="360"/>
                  </a:lnTo>
                  <a:lnTo>
                    <a:pt x="133" y="378"/>
                  </a:lnTo>
                  <a:lnTo>
                    <a:pt x="174" y="390"/>
                  </a:lnTo>
                  <a:lnTo>
                    <a:pt x="216" y="393"/>
                  </a:lnTo>
                  <a:lnTo>
                    <a:pt x="258" y="390"/>
                  </a:lnTo>
                  <a:lnTo>
                    <a:pt x="298" y="378"/>
                  </a:lnTo>
                  <a:lnTo>
                    <a:pt x="335" y="360"/>
                  </a:lnTo>
                  <a:lnTo>
                    <a:pt x="368" y="336"/>
                  </a:lnTo>
                  <a:lnTo>
                    <a:pt x="395" y="305"/>
                  </a:lnTo>
                  <a:lnTo>
                    <a:pt x="415" y="272"/>
                  </a:lnTo>
                  <a:lnTo>
                    <a:pt x="427" y="235"/>
                  </a:lnTo>
                  <a:lnTo>
                    <a:pt x="431" y="197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5">
              <a:extLst>
                <a:ext uri="{FF2B5EF4-FFF2-40B4-BE49-F238E27FC236}">
                  <a16:creationId xmlns:a16="http://schemas.microsoft.com/office/drawing/2014/main" id="{D25BEC3F-0006-491E-879C-ED7CF1D92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8" y="2566"/>
              <a:ext cx="252" cy="266"/>
            </a:xfrm>
            <a:custGeom>
              <a:avLst/>
              <a:gdLst>
                <a:gd name="T0" fmla="*/ 718 w 718"/>
                <a:gd name="T1" fmla="*/ 328 h 656"/>
                <a:gd name="T2" fmla="*/ 713 w 718"/>
                <a:gd name="T3" fmla="*/ 277 h 656"/>
                <a:gd name="T4" fmla="*/ 700 w 718"/>
                <a:gd name="T5" fmla="*/ 227 h 656"/>
                <a:gd name="T6" fmla="*/ 679 w 718"/>
                <a:gd name="T7" fmla="*/ 180 h 656"/>
                <a:gd name="T8" fmla="*/ 649 w 718"/>
                <a:gd name="T9" fmla="*/ 135 h 656"/>
                <a:gd name="T10" fmla="*/ 613 w 718"/>
                <a:gd name="T11" fmla="*/ 96 h 656"/>
                <a:gd name="T12" fmla="*/ 570 w 718"/>
                <a:gd name="T13" fmla="*/ 64 h 656"/>
                <a:gd name="T14" fmla="*/ 522 w 718"/>
                <a:gd name="T15" fmla="*/ 36 h 656"/>
                <a:gd name="T16" fmla="*/ 470 w 718"/>
                <a:gd name="T17" fmla="*/ 16 h 656"/>
                <a:gd name="T18" fmla="*/ 415 w 718"/>
                <a:gd name="T19" fmla="*/ 5 h 656"/>
                <a:gd name="T20" fmla="*/ 359 w 718"/>
                <a:gd name="T21" fmla="*/ 0 h 656"/>
                <a:gd name="T22" fmla="*/ 303 w 718"/>
                <a:gd name="T23" fmla="*/ 5 h 656"/>
                <a:gd name="T24" fmla="*/ 248 w 718"/>
                <a:gd name="T25" fmla="*/ 16 h 656"/>
                <a:gd name="T26" fmla="*/ 196 w 718"/>
                <a:gd name="T27" fmla="*/ 36 h 656"/>
                <a:gd name="T28" fmla="*/ 148 w 718"/>
                <a:gd name="T29" fmla="*/ 64 h 656"/>
                <a:gd name="T30" fmla="*/ 106 w 718"/>
                <a:gd name="T31" fmla="*/ 96 h 656"/>
                <a:gd name="T32" fmla="*/ 69 w 718"/>
                <a:gd name="T33" fmla="*/ 135 h 656"/>
                <a:gd name="T34" fmla="*/ 40 w 718"/>
                <a:gd name="T35" fmla="*/ 180 h 656"/>
                <a:gd name="T36" fmla="*/ 18 w 718"/>
                <a:gd name="T37" fmla="*/ 227 h 656"/>
                <a:gd name="T38" fmla="*/ 5 w 718"/>
                <a:gd name="T39" fmla="*/ 277 h 656"/>
                <a:gd name="T40" fmla="*/ 0 w 718"/>
                <a:gd name="T41" fmla="*/ 328 h 656"/>
                <a:gd name="T42" fmla="*/ 5 w 718"/>
                <a:gd name="T43" fmla="*/ 379 h 656"/>
                <a:gd name="T44" fmla="*/ 18 w 718"/>
                <a:gd name="T45" fmla="*/ 430 h 656"/>
                <a:gd name="T46" fmla="*/ 40 w 718"/>
                <a:gd name="T47" fmla="*/ 477 h 656"/>
                <a:gd name="T48" fmla="*/ 69 w 718"/>
                <a:gd name="T49" fmla="*/ 521 h 656"/>
                <a:gd name="T50" fmla="*/ 106 w 718"/>
                <a:gd name="T51" fmla="*/ 560 h 656"/>
                <a:gd name="T52" fmla="*/ 148 w 718"/>
                <a:gd name="T53" fmla="*/ 593 h 656"/>
                <a:gd name="T54" fmla="*/ 196 w 718"/>
                <a:gd name="T55" fmla="*/ 620 h 656"/>
                <a:gd name="T56" fmla="*/ 248 w 718"/>
                <a:gd name="T57" fmla="*/ 639 h 656"/>
                <a:gd name="T58" fmla="*/ 303 w 718"/>
                <a:gd name="T59" fmla="*/ 652 h 656"/>
                <a:gd name="T60" fmla="*/ 359 w 718"/>
                <a:gd name="T61" fmla="*/ 656 h 656"/>
                <a:gd name="T62" fmla="*/ 415 w 718"/>
                <a:gd name="T63" fmla="*/ 652 h 656"/>
                <a:gd name="T64" fmla="*/ 470 w 718"/>
                <a:gd name="T65" fmla="*/ 639 h 656"/>
                <a:gd name="T66" fmla="*/ 522 w 718"/>
                <a:gd name="T67" fmla="*/ 620 h 656"/>
                <a:gd name="T68" fmla="*/ 570 w 718"/>
                <a:gd name="T69" fmla="*/ 593 h 656"/>
                <a:gd name="T70" fmla="*/ 613 w 718"/>
                <a:gd name="T71" fmla="*/ 560 h 656"/>
                <a:gd name="T72" fmla="*/ 649 w 718"/>
                <a:gd name="T73" fmla="*/ 521 h 656"/>
                <a:gd name="T74" fmla="*/ 679 w 718"/>
                <a:gd name="T75" fmla="*/ 477 h 656"/>
                <a:gd name="T76" fmla="*/ 700 w 718"/>
                <a:gd name="T77" fmla="*/ 430 h 656"/>
                <a:gd name="T78" fmla="*/ 713 w 718"/>
                <a:gd name="T79" fmla="*/ 379 h 656"/>
                <a:gd name="T80" fmla="*/ 718 w 718"/>
                <a:gd name="T81" fmla="*/ 328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18" h="656">
                  <a:moveTo>
                    <a:pt x="718" y="328"/>
                  </a:moveTo>
                  <a:lnTo>
                    <a:pt x="713" y="277"/>
                  </a:lnTo>
                  <a:lnTo>
                    <a:pt x="700" y="227"/>
                  </a:lnTo>
                  <a:lnTo>
                    <a:pt x="679" y="180"/>
                  </a:lnTo>
                  <a:lnTo>
                    <a:pt x="649" y="135"/>
                  </a:lnTo>
                  <a:lnTo>
                    <a:pt x="613" y="96"/>
                  </a:lnTo>
                  <a:lnTo>
                    <a:pt x="570" y="64"/>
                  </a:lnTo>
                  <a:lnTo>
                    <a:pt x="522" y="36"/>
                  </a:lnTo>
                  <a:lnTo>
                    <a:pt x="470" y="16"/>
                  </a:lnTo>
                  <a:lnTo>
                    <a:pt x="415" y="5"/>
                  </a:lnTo>
                  <a:lnTo>
                    <a:pt x="359" y="0"/>
                  </a:lnTo>
                  <a:lnTo>
                    <a:pt x="303" y="5"/>
                  </a:lnTo>
                  <a:lnTo>
                    <a:pt x="248" y="16"/>
                  </a:lnTo>
                  <a:lnTo>
                    <a:pt x="196" y="36"/>
                  </a:lnTo>
                  <a:lnTo>
                    <a:pt x="148" y="64"/>
                  </a:lnTo>
                  <a:lnTo>
                    <a:pt x="106" y="96"/>
                  </a:lnTo>
                  <a:lnTo>
                    <a:pt x="69" y="135"/>
                  </a:lnTo>
                  <a:lnTo>
                    <a:pt x="40" y="180"/>
                  </a:lnTo>
                  <a:lnTo>
                    <a:pt x="18" y="227"/>
                  </a:lnTo>
                  <a:lnTo>
                    <a:pt x="5" y="277"/>
                  </a:lnTo>
                  <a:lnTo>
                    <a:pt x="0" y="328"/>
                  </a:lnTo>
                  <a:lnTo>
                    <a:pt x="5" y="379"/>
                  </a:lnTo>
                  <a:lnTo>
                    <a:pt x="18" y="430"/>
                  </a:lnTo>
                  <a:lnTo>
                    <a:pt x="40" y="477"/>
                  </a:lnTo>
                  <a:lnTo>
                    <a:pt x="69" y="521"/>
                  </a:lnTo>
                  <a:lnTo>
                    <a:pt x="106" y="560"/>
                  </a:lnTo>
                  <a:lnTo>
                    <a:pt x="148" y="593"/>
                  </a:lnTo>
                  <a:lnTo>
                    <a:pt x="196" y="620"/>
                  </a:lnTo>
                  <a:lnTo>
                    <a:pt x="248" y="639"/>
                  </a:lnTo>
                  <a:lnTo>
                    <a:pt x="303" y="652"/>
                  </a:lnTo>
                  <a:lnTo>
                    <a:pt x="359" y="656"/>
                  </a:lnTo>
                  <a:lnTo>
                    <a:pt x="415" y="652"/>
                  </a:lnTo>
                  <a:lnTo>
                    <a:pt x="470" y="639"/>
                  </a:lnTo>
                  <a:lnTo>
                    <a:pt x="522" y="620"/>
                  </a:lnTo>
                  <a:lnTo>
                    <a:pt x="570" y="593"/>
                  </a:lnTo>
                  <a:lnTo>
                    <a:pt x="613" y="560"/>
                  </a:lnTo>
                  <a:lnTo>
                    <a:pt x="649" y="521"/>
                  </a:lnTo>
                  <a:lnTo>
                    <a:pt x="679" y="477"/>
                  </a:lnTo>
                  <a:lnTo>
                    <a:pt x="700" y="430"/>
                  </a:lnTo>
                  <a:lnTo>
                    <a:pt x="713" y="379"/>
                  </a:lnTo>
                  <a:lnTo>
                    <a:pt x="718" y="328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Line 6">
              <a:extLst>
                <a:ext uri="{FF2B5EF4-FFF2-40B4-BE49-F238E27FC236}">
                  <a16:creationId xmlns:a16="http://schemas.microsoft.com/office/drawing/2014/main" id="{C5548251-7A95-4CA4-92E8-0D2D780527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1" y="-175"/>
              <a:ext cx="1420" cy="1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Line 7">
              <a:extLst>
                <a:ext uri="{FF2B5EF4-FFF2-40B4-BE49-F238E27FC236}">
                  <a16:creationId xmlns:a16="http://schemas.microsoft.com/office/drawing/2014/main" id="{D090DE37-41EA-4C81-89B3-342F2ED53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3" y="-184"/>
              <a:ext cx="3491" cy="28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8">
              <a:extLst>
                <a:ext uri="{FF2B5EF4-FFF2-40B4-BE49-F238E27FC236}">
                  <a16:creationId xmlns:a16="http://schemas.microsoft.com/office/drawing/2014/main" id="{CB850C86-70B1-4923-A3AD-56BA9ADB7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693"/>
              <a:ext cx="7091" cy="7"/>
            </a:xfrm>
            <a:custGeom>
              <a:avLst/>
              <a:gdLst>
                <a:gd name="T0" fmla="*/ 7091 w 7091"/>
                <a:gd name="T1" fmla="*/ 0 h 7"/>
                <a:gd name="T2" fmla="*/ 0 w 7091"/>
                <a:gd name="T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091" h="7">
                  <a:moveTo>
                    <a:pt x="7091" y="0"/>
                  </a:moveTo>
                  <a:lnTo>
                    <a:pt x="0" y="7"/>
                  </a:lnTo>
                </a:path>
              </a:pathLst>
            </a:custGeom>
            <a:solidFill>
              <a:srgbClr val="FFFFFF"/>
            </a:solidFill>
            <a:ln w="12700" cap="flat">
              <a:solidFill>
                <a:srgbClr val="000000"/>
              </a:solidFill>
              <a:prstDash val="lgDash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Line 9">
              <a:extLst>
                <a:ext uri="{FF2B5EF4-FFF2-40B4-BE49-F238E27FC236}">
                  <a16:creationId xmlns:a16="http://schemas.microsoft.com/office/drawing/2014/main" id="{C74264E6-9A45-4DC8-8968-E33B5487B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0" y="1432"/>
              <a:ext cx="78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Line 10">
              <a:extLst>
                <a:ext uri="{FF2B5EF4-FFF2-40B4-BE49-F238E27FC236}">
                  <a16:creationId xmlns:a16="http://schemas.microsoft.com/office/drawing/2014/main" id="{7CC52BC0-1C6A-4AA5-A5C7-B49E72125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8" y="2336"/>
              <a:ext cx="13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Line 11">
              <a:extLst>
                <a:ext uri="{FF2B5EF4-FFF2-40B4-BE49-F238E27FC236}">
                  <a16:creationId xmlns:a16="http://schemas.microsoft.com/office/drawing/2014/main" id="{016EE8FF-E2F8-482E-8DDF-93DE97C43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8" y="2336"/>
              <a:ext cx="0" cy="72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Line 12">
              <a:extLst>
                <a:ext uri="{FF2B5EF4-FFF2-40B4-BE49-F238E27FC236}">
                  <a16:creationId xmlns:a16="http://schemas.microsoft.com/office/drawing/2014/main" id="{AF57E89E-2C61-4811-B0F9-185857663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9" y="2336"/>
              <a:ext cx="0" cy="72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Line 13">
              <a:extLst>
                <a:ext uri="{FF2B5EF4-FFF2-40B4-BE49-F238E27FC236}">
                  <a16:creationId xmlns:a16="http://schemas.microsoft.com/office/drawing/2014/main" id="{9E3E4D1C-DD7F-4F5A-9D2B-4D90C35B0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1735"/>
              <a:ext cx="152" cy="16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Line 14">
              <a:extLst>
                <a:ext uri="{FF2B5EF4-FFF2-40B4-BE49-F238E27FC236}">
                  <a16:creationId xmlns:a16="http://schemas.microsoft.com/office/drawing/2014/main" id="{B5465CBD-4635-4ABF-B724-C00DB9C2D1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5" y="1735"/>
              <a:ext cx="187" cy="19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Line 15">
              <a:extLst>
                <a:ext uri="{FF2B5EF4-FFF2-40B4-BE49-F238E27FC236}">
                  <a16:creationId xmlns:a16="http://schemas.microsoft.com/office/drawing/2014/main" id="{FF468627-3643-4A10-88F6-AF069E753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5" y="1735"/>
              <a:ext cx="187" cy="19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Line 16">
              <a:extLst>
                <a:ext uri="{FF2B5EF4-FFF2-40B4-BE49-F238E27FC236}">
                  <a16:creationId xmlns:a16="http://schemas.microsoft.com/office/drawing/2014/main" id="{1D4FDBBE-F13A-4C77-8C11-935923D9C2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4" y="1755"/>
              <a:ext cx="170" cy="17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Line 17">
              <a:extLst>
                <a:ext uri="{FF2B5EF4-FFF2-40B4-BE49-F238E27FC236}">
                  <a16:creationId xmlns:a16="http://schemas.microsoft.com/office/drawing/2014/main" id="{2B61E6CD-EF79-4952-9850-7CFC9E0DF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95" y="3062"/>
              <a:ext cx="162" cy="17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Line 18">
              <a:extLst>
                <a:ext uri="{FF2B5EF4-FFF2-40B4-BE49-F238E27FC236}">
                  <a16:creationId xmlns:a16="http://schemas.microsoft.com/office/drawing/2014/main" id="{5E3348AB-D913-4C31-9C2A-F98C9A7E9A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98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Line 19">
              <a:extLst>
                <a:ext uri="{FF2B5EF4-FFF2-40B4-BE49-F238E27FC236}">
                  <a16:creationId xmlns:a16="http://schemas.microsoft.com/office/drawing/2014/main" id="{324F89CC-8467-4227-84FC-847B5FC21E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87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Line 20">
              <a:extLst>
                <a:ext uri="{FF2B5EF4-FFF2-40B4-BE49-F238E27FC236}">
                  <a16:creationId xmlns:a16="http://schemas.microsoft.com/office/drawing/2014/main" id="{BDF2E9AA-2183-4318-974C-9BEC6305E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8" y="3062"/>
              <a:ext cx="349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Line 21">
              <a:extLst>
                <a:ext uri="{FF2B5EF4-FFF2-40B4-BE49-F238E27FC236}">
                  <a16:creationId xmlns:a16="http://schemas.microsoft.com/office/drawing/2014/main" id="{72EB34BF-3233-4D95-904C-B1726606AA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8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Line 22">
              <a:extLst>
                <a:ext uri="{FF2B5EF4-FFF2-40B4-BE49-F238E27FC236}">
                  <a16:creationId xmlns:a16="http://schemas.microsoft.com/office/drawing/2014/main" id="{438E8EFA-3313-4B34-975D-22A922EB80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7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Line 23">
              <a:extLst>
                <a:ext uri="{FF2B5EF4-FFF2-40B4-BE49-F238E27FC236}">
                  <a16:creationId xmlns:a16="http://schemas.microsoft.com/office/drawing/2014/main" id="{1E632C57-2358-4949-86D3-EBEEBAC92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48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Line 24">
              <a:extLst>
                <a:ext uri="{FF2B5EF4-FFF2-40B4-BE49-F238E27FC236}">
                  <a16:creationId xmlns:a16="http://schemas.microsoft.com/office/drawing/2014/main" id="{CF180093-BA8E-4288-AB48-BB71A1609F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38" y="3062"/>
              <a:ext cx="349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Line 25">
              <a:extLst>
                <a:ext uri="{FF2B5EF4-FFF2-40B4-BE49-F238E27FC236}">
                  <a16:creationId xmlns:a16="http://schemas.microsoft.com/office/drawing/2014/main" id="{944C3B05-B51A-4979-BE4C-7AA32509F8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27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Line 26">
              <a:extLst>
                <a:ext uri="{FF2B5EF4-FFF2-40B4-BE49-F238E27FC236}">
                  <a16:creationId xmlns:a16="http://schemas.microsoft.com/office/drawing/2014/main" id="{CDF22474-BBC4-48B9-A2EF-FBD9E0E08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18" y="3062"/>
              <a:ext cx="350" cy="37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Line 27">
              <a:extLst>
                <a:ext uri="{FF2B5EF4-FFF2-40B4-BE49-F238E27FC236}">
                  <a16:creationId xmlns:a16="http://schemas.microsoft.com/office/drawing/2014/main" id="{F262394E-83C8-481E-99E8-570791EB1B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07" y="3251"/>
              <a:ext cx="173" cy="18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Line 28">
              <a:extLst>
                <a:ext uri="{FF2B5EF4-FFF2-40B4-BE49-F238E27FC236}">
                  <a16:creationId xmlns:a16="http://schemas.microsoft.com/office/drawing/2014/main" id="{B5F1E51A-F521-43BA-A478-625D1B675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5" y="3062"/>
              <a:ext cx="18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Line 29">
              <a:extLst>
                <a:ext uri="{FF2B5EF4-FFF2-40B4-BE49-F238E27FC236}">
                  <a16:creationId xmlns:a16="http://schemas.microsoft.com/office/drawing/2014/main" id="{41687AC6-E692-4903-B926-D2F34C3BA9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3" y="1494"/>
              <a:ext cx="188" cy="24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Line 30">
              <a:extLst>
                <a:ext uri="{FF2B5EF4-FFF2-40B4-BE49-F238E27FC236}">
                  <a16:creationId xmlns:a16="http://schemas.microsoft.com/office/drawing/2014/main" id="{9F7BFC79-B24F-49E4-A794-DF355DA5F6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492"/>
              <a:ext cx="207" cy="24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Line 31">
              <a:extLst>
                <a:ext uri="{FF2B5EF4-FFF2-40B4-BE49-F238E27FC236}">
                  <a16:creationId xmlns:a16="http://schemas.microsoft.com/office/drawing/2014/main" id="{BB111729-6F55-4295-B110-1DF8FE068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3" y="1735"/>
              <a:ext cx="81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Line 32">
              <a:extLst>
                <a:ext uri="{FF2B5EF4-FFF2-40B4-BE49-F238E27FC236}">
                  <a16:creationId xmlns:a16="http://schemas.microsoft.com/office/drawing/2014/main" id="{684C5F2E-628B-420A-B639-CB2B3B7C2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5" y="1432"/>
              <a:ext cx="0" cy="12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33">
              <a:extLst>
                <a:ext uri="{FF2B5EF4-FFF2-40B4-BE49-F238E27FC236}">
                  <a16:creationId xmlns:a16="http://schemas.microsoft.com/office/drawing/2014/main" id="{704D595F-C4AC-48F6-AAE3-449CAB8CC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173"/>
              <a:ext cx="1002" cy="1070"/>
            </a:xfrm>
            <a:custGeom>
              <a:avLst/>
              <a:gdLst>
                <a:gd name="T0" fmla="*/ 2865 w 2865"/>
                <a:gd name="T1" fmla="*/ 2639 h 2639"/>
                <a:gd name="T2" fmla="*/ 2851 w 2865"/>
                <a:gd name="T3" fmla="*/ 2483 h 2639"/>
                <a:gd name="T4" fmla="*/ 2828 w 2865"/>
                <a:gd name="T5" fmla="*/ 2328 h 2639"/>
                <a:gd name="T6" fmla="*/ 2796 w 2865"/>
                <a:gd name="T7" fmla="*/ 2174 h 2639"/>
                <a:gd name="T8" fmla="*/ 2754 w 2865"/>
                <a:gd name="T9" fmla="*/ 2023 h 2639"/>
                <a:gd name="T10" fmla="*/ 2702 w 2865"/>
                <a:gd name="T11" fmla="*/ 1873 h 2639"/>
                <a:gd name="T12" fmla="*/ 2642 w 2865"/>
                <a:gd name="T13" fmla="*/ 1727 h 2639"/>
                <a:gd name="T14" fmla="*/ 2573 w 2865"/>
                <a:gd name="T15" fmla="*/ 1583 h 2639"/>
                <a:gd name="T16" fmla="*/ 2496 w 2865"/>
                <a:gd name="T17" fmla="*/ 1444 h 2639"/>
                <a:gd name="T18" fmla="*/ 2409 w 2865"/>
                <a:gd name="T19" fmla="*/ 1309 h 2639"/>
                <a:gd name="T20" fmla="*/ 2314 w 2865"/>
                <a:gd name="T21" fmla="*/ 1179 h 2639"/>
                <a:gd name="T22" fmla="*/ 2211 w 2865"/>
                <a:gd name="T23" fmla="*/ 1054 h 2639"/>
                <a:gd name="T24" fmla="*/ 2102 w 2865"/>
                <a:gd name="T25" fmla="*/ 934 h 2639"/>
                <a:gd name="T26" fmla="*/ 1985 w 2865"/>
                <a:gd name="T27" fmla="*/ 820 h 2639"/>
                <a:gd name="T28" fmla="*/ 1861 w 2865"/>
                <a:gd name="T29" fmla="*/ 711 h 2639"/>
                <a:gd name="T30" fmla="*/ 1731 w 2865"/>
                <a:gd name="T31" fmla="*/ 610 h 2639"/>
                <a:gd name="T32" fmla="*/ 1594 w 2865"/>
                <a:gd name="T33" fmla="*/ 515 h 2639"/>
                <a:gd name="T34" fmla="*/ 1452 w 2865"/>
                <a:gd name="T35" fmla="*/ 429 h 2639"/>
                <a:gd name="T36" fmla="*/ 1304 w 2865"/>
                <a:gd name="T37" fmla="*/ 348 h 2639"/>
                <a:gd name="T38" fmla="*/ 1153 w 2865"/>
                <a:gd name="T39" fmla="*/ 276 h 2639"/>
                <a:gd name="T40" fmla="*/ 997 w 2865"/>
                <a:gd name="T41" fmla="*/ 211 h 2639"/>
                <a:gd name="T42" fmla="*/ 836 w 2865"/>
                <a:gd name="T43" fmla="*/ 155 h 2639"/>
                <a:gd name="T44" fmla="*/ 673 w 2865"/>
                <a:gd name="T45" fmla="*/ 107 h 2639"/>
                <a:gd name="T46" fmla="*/ 508 w 2865"/>
                <a:gd name="T47" fmla="*/ 67 h 2639"/>
                <a:gd name="T48" fmla="*/ 341 w 2865"/>
                <a:gd name="T49" fmla="*/ 36 h 2639"/>
                <a:gd name="T50" fmla="*/ 171 w 2865"/>
                <a:gd name="T51" fmla="*/ 14 h 2639"/>
                <a:gd name="T52" fmla="*/ 0 w 2865"/>
                <a:gd name="T53" fmla="*/ 0 h 2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865" h="2639">
                  <a:moveTo>
                    <a:pt x="2865" y="2639"/>
                  </a:moveTo>
                  <a:lnTo>
                    <a:pt x="2851" y="2483"/>
                  </a:lnTo>
                  <a:lnTo>
                    <a:pt x="2828" y="2328"/>
                  </a:lnTo>
                  <a:lnTo>
                    <a:pt x="2796" y="2174"/>
                  </a:lnTo>
                  <a:lnTo>
                    <a:pt x="2754" y="2023"/>
                  </a:lnTo>
                  <a:lnTo>
                    <a:pt x="2702" y="1873"/>
                  </a:lnTo>
                  <a:lnTo>
                    <a:pt x="2642" y="1727"/>
                  </a:lnTo>
                  <a:lnTo>
                    <a:pt x="2573" y="1583"/>
                  </a:lnTo>
                  <a:lnTo>
                    <a:pt x="2496" y="1444"/>
                  </a:lnTo>
                  <a:lnTo>
                    <a:pt x="2409" y="1309"/>
                  </a:lnTo>
                  <a:lnTo>
                    <a:pt x="2314" y="1179"/>
                  </a:lnTo>
                  <a:lnTo>
                    <a:pt x="2211" y="1054"/>
                  </a:lnTo>
                  <a:lnTo>
                    <a:pt x="2102" y="934"/>
                  </a:lnTo>
                  <a:lnTo>
                    <a:pt x="1985" y="820"/>
                  </a:lnTo>
                  <a:lnTo>
                    <a:pt x="1861" y="711"/>
                  </a:lnTo>
                  <a:lnTo>
                    <a:pt x="1731" y="610"/>
                  </a:lnTo>
                  <a:lnTo>
                    <a:pt x="1594" y="515"/>
                  </a:lnTo>
                  <a:lnTo>
                    <a:pt x="1452" y="429"/>
                  </a:lnTo>
                  <a:lnTo>
                    <a:pt x="1304" y="348"/>
                  </a:lnTo>
                  <a:lnTo>
                    <a:pt x="1153" y="276"/>
                  </a:lnTo>
                  <a:lnTo>
                    <a:pt x="997" y="211"/>
                  </a:lnTo>
                  <a:lnTo>
                    <a:pt x="836" y="155"/>
                  </a:lnTo>
                  <a:lnTo>
                    <a:pt x="673" y="107"/>
                  </a:lnTo>
                  <a:lnTo>
                    <a:pt x="508" y="67"/>
                  </a:lnTo>
                  <a:lnTo>
                    <a:pt x="341" y="36"/>
                  </a:lnTo>
                  <a:lnTo>
                    <a:pt x="171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34">
              <a:extLst>
                <a:ext uri="{FF2B5EF4-FFF2-40B4-BE49-F238E27FC236}">
                  <a16:creationId xmlns:a16="http://schemas.microsoft.com/office/drawing/2014/main" id="{17AD0A3C-CD6B-4155-B0AB-32207CDA2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168"/>
              <a:ext cx="384" cy="42"/>
            </a:xfrm>
            <a:custGeom>
              <a:avLst/>
              <a:gdLst>
                <a:gd name="T0" fmla="*/ 6 w 1103"/>
                <a:gd name="T1" fmla="*/ 0 h 102"/>
                <a:gd name="T2" fmla="*/ 0 w 1103"/>
                <a:gd name="T3" fmla="*/ 21 h 102"/>
                <a:gd name="T4" fmla="*/ 1103 w 1103"/>
                <a:gd name="T5" fmla="*/ 102 h 102"/>
                <a:gd name="T6" fmla="*/ 6 w 1103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3" h="102">
                  <a:moveTo>
                    <a:pt x="6" y="0"/>
                  </a:moveTo>
                  <a:lnTo>
                    <a:pt x="0" y="21"/>
                  </a:lnTo>
                  <a:lnTo>
                    <a:pt x="1103" y="10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35">
              <a:extLst>
                <a:ext uri="{FF2B5EF4-FFF2-40B4-BE49-F238E27FC236}">
                  <a16:creationId xmlns:a16="http://schemas.microsoft.com/office/drawing/2014/main" id="{CCE3CE15-C222-4D86-B508-F62909E2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177"/>
              <a:ext cx="384" cy="147"/>
            </a:xfrm>
            <a:custGeom>
              <a:avLst/>
              <a:gdLst>
                <a:gd name="T0" fmla="*/ 0 w 1103"/>
                <a:gd name="T1" fmla="*/ 0 h 363"/>
                <a:gd name="T2" fmla="*/ 1103 w 1103"/>
                <a:gd name="T3" fmla="*/ 81 h 363"/>
                <a:gd name="T4" fmla="*/ 1028 w 1103"/>
                <a:gd name="T5" fmla="*/ 363 h 363"/>
                <a:gd name="T6" fmla="*/ 0 w 1103"/>
                <a:gd name="T7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3" h="363">
                  <a:moveTo>
                    <a:pt x="0" y="0"/>
                  </a:moveTo>
                  <a:lnTo>
                    <a:pt x="1103" y="81"/>
                  </a:lnTo>
                  <a:lnTo>
                    <a:pt x="1028" y="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36">
              <a:extLst>
                <a:ext uri="{FF2B5EF4-FFF2-40B4-BE49-F238E27FC236}">
                  <a16:creationId xmlns:a16="http://schemas.microsoft.com/office/drawing/2014/main" id="{DB2E008F-63C3-4135-A73D-BC2CB683B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168"/>
              <a:ext cx="384" cy="156"/>
            </a:xfrm>
            <a:custGeom>
              <a:avLst/>
              <a:gdLst>
                <a:gd name="T0" fmla="*/ 6 w 1103"/>
                <a:gd name="T1" fmla="*/ 0 h 384"/>
                <a:gd name="T2" fmla="*/ 0 w 1103"/>
                <a:gd name="T3" fmla="*/ 21 h 384"/>
                <a:gd name="T4" fmla="*/ 1028 w 1103"/>
                <a:gd name="T5" fmla="*/ 384 h 384"/>
                <a:gd name="T6" fmla="*/ 1103 w 1103"/>
                <a:gd name="T7" fmla="*/ 102 h 384"/>
                <a:gd name="T8" fmla="*/ 6 w 1103"/>
                <a:gd name="T9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3" h="384">
                  <a:moveTo>
                    <a:pt x="6" y="0"/>
                  </a:moveTo>
                  <a:lnTo>
                    <a:pt x="0" y="21"/>
                  </a:lnTo>
                  <a:lnTo>
                    <a:pt x="1028" y="384"/>
                  </a:lnTo>
                  <a:lnTo>
                    <a:pt x="1103" y="102"/>
                  </a:lnTo>
                  <a:lnTo>
                    <a:pt x="6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37">
              <a:extLst>
                <a:ext uri="{FF2B5EF4-FFF2-40B4-BE49-F238E27FC236}">
                  <a16:creationId xmlns:a16="http://schemas.microsoft.com/office/drawing/2014/main" id="{8B785C31-7F0E-4CAB-8282-DE0425619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93"/>
              <a:ext cx="55" cy="406"/>
            </a:xfrm>
            <a:custGeom>
              <a:avLst/>
              <a:gdLst>
                <a:gd name="T0" fmla="*/ 129 w 154"/>
                <a:gd name="T1" fmla="*/ 999 h 999"/>
                <a:gd name="T2" fmla="*/ 154 w 154"/>
                <a:gd name="T3" fmla="*/ 999 h 999"/>
                <a:gd name="T4" fmla="*/ 0 w 154"/>
                <a:gd name="T5" fmla="*/ 0 h 999"/>
                <a:gd name="T6" fmla="*/ 129 w 154"/>
                <a:gd name="T7" fmla="*/ 999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999">
                  <a:moveTo>
                    <a:pt x="129" y="999"/>
                  </a:moveTo>
                  <a:lnTo>
                    <a:pt x="154" y="999"/>
                  </a:lnTo>
                  <a:lnTo>
                    <a:pt x="0" y="0"/>
                  </a:lnTo>
                  <a:lnTo>
                    <a:pt x="129" y="9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38">
              <a:extLst>
                <a:ext uri="{FF2B5EF4-FFF2-40B4-BE49-F238E27FC236}">
                  <a16:creationId xmlns:a16="http://schemas.microsoft.com/office/drawing/2014/main" id="{5E30A8BB-0AB9-4172-AD51-95D6D55CD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93"/>
              <a:ext cx="112" cy="406"/>
            </a:xfrm>
            <a:custGeom>
              <a:avLst/>
              <a:gdLst>
                <a:gd name="T0" fmla="*/ 154 w 318"/>
                <a:gd name="T1" fmla="*/ 999 h 999"/>
                <a:gd name="T2" fmla="*/ 0 w 318"/>
                <a:gd name="T3" fmla="*/ 0 h 999"/>
                <a:gd name="T4" fmla="*/ 318 w 318"/>
                <a:gd name="T5" fmla="*/ 4 h 999"/>
                <a:gd name="T6" fmla="*/ 154 w 318"/>
                <a:gd name="T7" fmla="*/ 999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999">
                  <a:moveTo>
                    <a:pt x="154" y="999"/>
                  </a:moveTo>
                  <a:lnTo>
                    <a:pt x="0" y="0"/>
                  </a:lnTo>
                  <a:lnTo>
                    <a:pt x="318" y="4"/>
                  </a:lnTo>
                  <a:lnTo>
                    <a:pt x="154" y="9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39">
              <a:extLst>
                <a:ext uri="{FF2B5EF4-FFF2-40B4-BE49-F238E27FC236}">
                  <a16:creationId xmlns:a16="http://schemas.microsoft.com/office/drawing/2014/main" id="{A0F94136-EBC1-476B-A7A4-9E2C090B2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93"/>
              <a:ext cx="112" cy="406"/>
            </a:xfrm>
            <a:custGeom>
              <a:avLst/>
              <a:gdLst>
                <a:gd name="T0" fmla="*/ 129 w 318"/>
                <a:gd name="T1" fmla="*/ 999 h 999"/>
                <a:gd name="T2" fmla="*/ 154 w 318"/>
                <a:gd name="T3" fmla="*/ 999 h 999"/>
                <a:gd name="T4" fmla="*/ 318 w 318"/>
                <a:gd name="T5" fmla="*/ 4 h 999"/>
                <a:gd name="T6" fmla="*/ 0 w 318"/>
                <a:gd name="T7" fmla="*/ 0 h 999"/>
                <a:gd name="T8" fmla="*/ 129 w 318"/>
                <a:gd name="T9" fmla="*/ 999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999">
                  <a:moveTo>
                    <a:pt x="129" y="999"/>
                  </a:moveTo>
                  <a:lnTo>
                    <a:pt x="154" y="999"/>
                  </a:lnTo>
                  <a:lnTo>
                    <a:pt x="318" y="4"/>
                  </a:lnTo>
                  <a:lnTo>
                    <a:pt x="0" y="0"/>
                  </a:lnTo>
                  <a:lnTo>
                    <a:pt x="129" y="999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40">
              <a:extLst>
                <a:ext uri="{FF2B5EF4-FFF2-40B4-BE49-F238E27FC236}">
                  <a16:creationId xmlns:a16="http://schemas.microsoft.com/office/drawing/2014/main" id="{47038BBB-040B-436B-A26F-0A7FA56B6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1432"/>
              <a:ext cx="54" cy="407"/>
            </a:xfrm>
            <a:custGeom>
              <a:avLst/>
              <a:gdLst>
                <a:gd name="T0" fmla="*/ 25 w 154"/>
                <a:gd name="T1" fmla="*/ 0 h 1000"/>
                <a:gd name="T2" fmla="*/ 0 w 154"/>
                <a:gd name="T3" fmla="*/ 0 h 1000"/>
                <a:gd name="T4" fmla="*/ 154 w 154"/>
                <a:gd name="T5" fmla="*/ 1000 h 1000"/>
                <a:gd name="T6" fmla="*/ 25 w 154"/>
                <a:gd name="T7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1000">
                  <a:moveTo>
                    <a:pt x="25" y="0"/>
                  </a:moveTo>
                  <a:lnTo>
                    <a:pt x="0" y="0"/>
                  </a:lnTo>
                  <a:lnTo>
                    <a:pt x="154" y="100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41">
              <a:extLst>
                <a:ext uri="{FF2B5EF4-FFF2-40B4-BE49-F238E27FC236}">
                  <a16:creationId xmlns:a16="http://schemas.microsoft.com/office/drawing/2014/main" id="{B488CE80-7442-4E21-94F6-6C72A05C7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1432"/>
              <a:ext cx="112" cy="407"/>
            </a:xfrm>
            <a:custGeom>
              <a:avLst/>
              <a:gdLst>
                <a:gd name="T0" fmla="*/ 164 w 318"/>
                <a:gd name="T1" fmla="*/ 0 h 1000"/>
                <a:gd name="T2" fmla="*/ 318 w 318"/>
                <a:gd name="T3" fmla="*/ 1000 h 1000"/>
                <a:gd name="T4" fmla="*/ 0 w 318"/>
                <a:gd name="T5" fmla="*/ 995 h 1000"/>
                <a:gd name="T6" fmla="*/ 164 w 318"/>
                <a:gd name="T7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000">
                  <a:moveTo>
                    <a:pt x="164" y="0"/>
                  </a:moveTo>
                  <a:lnTo>
                    <a:pt x="318" y="1000"/>
                  </a:lnTo>
                  <a:lnTo>
                    <a:pt x="0" y="995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42">
              <a:extLst>
                <a:ext uri="{FF2B5EF4-FFF2-40B4-BE49-F238E27FC236}">
                  <a16:creationId xmlns:a16="http://schemas.microsoft.com/office/drawing/2014/main" id="{5AC1A096-2BEF-444D-8D33-303CAFFBF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1432"/>
              <a:ext cx="112" cy="407"/>
            </a:xfrm>
            <a:custGeom>
              <a:avLst/>
              <a:gdLst>
                <a:gd name="T0" fmla="*/ 189 w 318"/>
                <a:gd name="T1" fmla="*/ 0 h 1000"/>
                <a:gd name="T2" fmla="*/ 164 w 318"/>
                <a:gd name="T3" fmla="*/ 0 h 1000"/>
                <a:gd name="T4" fmla="*/ 0 w 318"/>
                <a:gd name="T5" fmla="*/ 995 h 1000"/>
                <a:gd name="T6" fmla="*/ 318 w 318"/>
                <a:gd name="T7" fmla="*/ 1000 h 1000"/>
                <a:gd name="T8" fmla="*/ 189 w 318"/>
                <a:gd name="T9" fmla="*/ 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1000">
                  <a:moveTo>
                    <a:pt x="189" y="0"/>
                  </a:moveTo>
                  <a:lnTo>
                    <a:pt x="164" y="0"/>
                  </a:lnTo>
                  <a:lnTo>
                    <a:pt x="0" y="995"/>
                  </a:lnTo>
                  <a:lnTo>
                    <a:pt x="318" y="1000"/>
                  </a:lnTo>
                  <a:lnTo>
                    <a:pt x="189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B32A206E-6FFC-4E31-BAF0-90F058C42A67}"/>
              </a:ext>
            </a:extLst>
          </p:cNvPr>
          <p:cNvSpPr/>
          <p:nvPr/>
        </p:nvSpPr>
        <p:spPr>
          <a:xfrm>
            <a:off x="863077" y="2659262"/>
            <a:ext cx="3686400" cy="36866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98AA611-D2FB-4050-B971-6C0BFEFFCAA1}"/>
              </a:ext>
            </a:extLst>
          </p:cNvPr>
          <p:cNvCxnSpPr/>
          <p:nvPr/>
        </p:nvCxnSpPr>
        <p:spPr>
          <a:xfrm flipH="1" flipV="1">
            <a:off x="1925493" y="1709530"/>
            <a:ext cx="1909241" cy="13296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弧形 6">
            <a:extLst>
              <a:ext uri="{FF2B5EF4-FFF2-40B4-BE49-F238E27FC236}">
                <a16:creationId xmlns:a16="http://schemas.microsoft.com/office/drawing/2014/main" id="{33817217-D0A0-4011-8AA0-D20B6F93D16B}"/>
              </a:ext>
            </a:extLst>
          </p:cNvPr>
          <p:cNvSpPr/>
          <p:nvPr/>
        </p:nvSpPr>
        <p:spPr>
          <a:xfrm rot="-5400000">
            <a:off x="2032062" y="1855491"/>
            <a:ext cx="964669" cy="866107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BB94B59-BBED-456F-A0DE-B4F3EA5D1226}"/>
              </a:ext>
            </a:extLst>
          </p:cNvPr>
          <p:cNvCxnSpPr>
            <a:cxnSpLocks/>
          </p:cNvCxnSpPr>
          <p:nvPr/>
        </p:nvCxnSpPr>
        <p:spPr>
          <a:xfrm>
            <a:off x="1139687" y="3500877"/>
            <a:ext cx="3128401" cy="1971369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536AAF4-BF00-491A-98F5-C6AA675FBCF6}"/>
              </a:ext>
            </a:extLst>
          </p:cNvPr>
          <p:cNvCxnSpPr>
            <a:cxnSpLocks/>
          </p:cNvCxnSpPr>
          <p:nvPr/>
        </p:nvCxnSpPr>
        <p:spPr>
          <a:xfrm>
            <a:off x="2619087" y="4407932"/>
            <a:ext cx="6034582" cy="1045254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D2BB5A5-F42B-4CD4-966B-7631010400EC}"/>
              </a:ext>
            </a:extLst>
          </p:cNvPr>
          <p:cNvCxnSpPr/>
          <p:nvPr/>
        </p:nvCxnSpPr>
        <p:spPr>
          <a:xfrm flipV="1">
            <a:off x="4268088" y="5453186"/>
            <a:ext cx="4716886" cy="1325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DDAD1BDE-2CC8-4DD2-ABD0-5E815E55DC2E}"/>
              </a:ext>
            </a:extLst>
          </p:cNvPr>
          <p:cNvSpPr/>
          <p:nvPr/>
        </p:nvSpPr>
        <p:spPr>
          <a:xfrm rot="5400000">
            <a:off x="2925603" y="4396572"/>
            <a:ext cx="474304" cy="284324"/>
          </a:xfrm>
          <a:prstGeom prst="arc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0" name="Object 91">
            <a:extLst>
              <a:ext uri="{FF2B5EF4-FFF2-40B4-BE49-F238E27FC236}">
                <a16:creationId xmlns:a16="http://schemas.microsoft.com/office/drawing/2014/main" id="{1515D33E-43B9-40AF-9B84-7D51E40B96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25391"/>
              </p:ext>
            </p:extLst>
          </p:nvPr>
        </p:nvGraphicFramePr>
        <p:xfrm>
          <a:off x="3346801" y="4585450"/>
          <a:ext cx="25876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77480" progId="Equation.3">
                  <p:embed/>
                </p:oleObj>
              </mc:Choice>
              <mc:Fallback>
                <p:oleObj name="Equation" r:id="rId2" imgW="139680" imgH="177480" progId="Equation.3">
                  <p:embed/>
                  <p:pic>
                    <p:nvPicPr>
                      <p:cNvPr id="451675" name="Object 91">
                        <a:extLst>
                          <a:ext uri="{FF2B5EF4-FFF2-40B4-BE49-F238E27FC236}">
                            <a16:creationId xmlns:a16="http://schemas.microsoft.com/office/drawing/2014/main" id="{B4E3B2D2-74E9-44C3-BF8A-C537D4CE51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801" y="4585450"/>
                        <a:ext cx="25876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Object 17">
                <a:extLst>
                  <a:ext uri="{FF2B5EF4-FFF2-40B4-BE49-F238E27FC236}">
                    <a16:creationId xmlns:a16="http://schemas.microsoft.com/office/drawing/2014/main" id="{2C518FC7-596A-48BD-A261-3BB363BA13AF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5743976" y="2826866"/>
                <a:ext cx="2796963" cy="833897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180°+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180°−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=1.25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Object 17">
                <a:extLst>
                  <a:ext uri="{FF2B5EF4-FFF2-40B4-BE49-F238E27FC236}">
                    <a16:creationId xmlns:a16="http://schemas.microsoft.com/office/drawing/2014/main" id="{2C518FC7-596A-48BD-A261-3BB363BA1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743976" y="2826866"/>
                <a:ext cx="2796963" cy="833897"/>
              </a:xfrm>
              <a:prstGeom prst="rect">
                <a:avLst/>
              </a:prstGeom>
              <a:blipFill>
                <a:blip r:embed="rId5"/>
                <a:stretch>
                  <a:fillRect t="-1460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262082AC-EA11-4244-A1E0-A65BE2723706}"/>
              </a:ext>
            </a:extLst>
          </p:cNvPr>
          <p:cNvGrpSpPr/>
          <p:nvPr/>
        </p:nvGrpSpPr>
        <p:grpSpPr>
          <a:xfrm>
            <a:off x="4268088" y="5466438"/>
            <a:ext cx="4366591" cy="793545"/>
            <a:chOff x="4268088" y="5466438"/>
            <a:chExt cx="4366591" cy="793545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75F37DBA-D0D1-4184-81FA-F8CCC27132CD}"/>
                </a:ext>
              </a:extLst>
            </p:cNvPr>
            <p:cNvCxnSpPr/>
            <p:nvPr/>
          </p:nvCxnSpPr>
          <p:spPr>
            <a:xfrm>
              <a:off x="4268088" y="5466438"/>
              <a:ext cx="0" cy="613149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850FFC8E-A5FB-471B-B1E9-543CF8528233}"/>
                </a:ext>
              </a:extLst>
            </p:cNvPr>
            <p:cNvCxnSpPr/>
            <p:nvPr/>
          </p:nvCxnSpPr>
          <p:spPr>
            <a:xfrm>
              <a:off x="8634679" y="5466438"/>
              <a:ext cx="0" cy="613149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BB682449-24E6-475D-9A0C-EA107E9B07F5}"/>
                </a:ext>
              </a:extLst>
            </p:cNvPr>
            <p:cNvCxnSpPr/>
            <p:nvPr/>
          </p:nvCxnSpPr>
          <p:spPr>
            <a:xfrm>
              <a:off x="4268088" y="5915307"/>
              <a:ext cx="4366591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ACC37B3-F1F1-4591-ADD2-445C8D7F2011}"/>
                </a:ext>
              </a:extLst>
            </p:cNvPr>
            <p:cNvSpPr txBox="1"/>
            <p:nvPr/>
          </p:nvSpPr>
          <p:spPr>
            <a:xfrm>
              <a:off x="6272678" y="5859873"/>
              <a:ext cx="8965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621F12CD-BD70-432B-84ED-93205C47DE1C}"/>
              </a:ext>
            </a:extLst>
          </p:cNvPr>
          <p:cNvSpPr txBox="1"/>
          <p:nvPr/>
        </p:nvSpPr>
        <p:spPr>
          <a:xfrm>
            <a:off x="727718" y="3188812"/>
            <a:ext cx="825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EEBA0F0-ADBD-413C-95FB-24A7DC237679}"/>
              </a:ext>
            </a:extLst>
          </p:cNvPr>
          <p:cNvSpPr txBox="1"/>
          <p:nvPr/>
        </p:nvSpPr>
        <p:spPr>
          <a:xfrm>
            <a:off x="4298685" y="5072385"/>
            <a:ext cx="825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B58F51C-195F-42BC-9DF3-348D2AFCAA4D}"/>
              </a:ext>
            </a:extLst>
          </p:cNvPr>
          <p:cNvSpPr txBox="1"/>
          <p:nvPr/>
        </p:nvSpPr>
        <p:spPr>
          <a:xfrm>
            <a:off x="4551080" y="4361912"/>
            <a:ext cx="825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F950B26-F9E5-4B18-A580-1D58DAD14A9A}"/>
              </a:ext>
            </a:extLst>
          </p:cNvPr>
          <p:cNvSpPr txBox="1"/>
          <p:nvPr/>
        </p:nvSpPr>
        <p:spPr>
          <a:xfrm>
            <a:off x="8537550" y="5018304"/>
            <a:ext cx="825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" name="图片 105">
            <a:extLst>
              <a:ext uri="{FF2B5EF4-FFF2-40B4-BE49-F238E27FC236}">
                <a16:creationId xmlns:a16="http://schemas.microsoft.com/office/drawing/2014/main" id="{48C22435-A723-49C7-AF4C-AB25F1D0B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28C0E764-D4EB-4648-58F7-848566C41CD8}"/>
              </a:ext>
            </a:extLst>
          </p:cNvPr>
          <p:cNvGrpSpPr/>
          <p:nvPr/>
        </p:nvGrpSpPr>
        <p:grpSpPr>
          <a:xfrm>
            <a:off x="6640565" y="5453186"/>
            <a:ext cx="1270253" cy="892728"/>
            <a:chOff x="6640565" y="5453186"/>
            <a:chExt cx="1270253" cy="892728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7AE7C4A-28AC-5B2C-52B0-479F6336E19C}"/>
                </a:ext>
              </a:extLst>
            </p:cNvPr>
            <p:cNvCxnSpPr/>
            <p:nvPr/>
          </p:nvCxnSpPr>
          <p:spPr>
            <a:xfrm>
              <a:off x="6762338" y="5453186"/>
              <a:ext cx="24036" cy="89272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CCB8E56-5F8D-2BD7-D149-04521F7649B1}"/>
                </a:ext>
              </a:extLst>
            </p:cNvPr>
            <p:cNvCxnSpPr/>
            <p:nvPr/>
          </p:nvCxnSpPr>
          <p:spPr>
            <a:xfrm>
              <a:off x="6762338" y="5453186"/>
              <a:ext cx="1148480" cy="89272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弧形 12">
              <a:extLst>
                <a:ext uri="{FF2B5EF4-FFF2-40B4-BE49-F238E27FC236}">
                  <a16:creationId xmlns:a16="http://schemas.microsoft.com/office/drawing/2014/main" id="{1C2D2F9C-0268-E544-C21E-741BD4A0BBCD}"/>
                </a:ext>
              </a:extLst>
            </p:cNvPr>
            <p:cNvSpPr/>
            <p:nvPr/>
          </p:nvSpPr>
          <p:spPr>
            <a:xfrm rot="5400000">
              <a:off x="6666974" y="5459788"/>
              <a:ext cx="224282" cy="277099"/>
            </a:xfrm>
            <a:prstGeom prst="arc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B4C304A-CD56-745B-B505-A30FB87A91F8}"/>
                </a:ext>
              </a:extLst>
            </p:cNvPr>
            <p:cNvSpPr txBox="1"/>
            <p:nvPr/>
          </p:nvSpPr>
          <p:spPr>
            <a:xfrm>
              <a:off x="6805056" y="5542599"/>
              <a:ext cx="4566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γ</a:t>
              </a:r>
              <a:endPara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651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21" grpId="0" animBg="1"/>
      <p:bldP spid="101" grpId="0" build="p" animBg="1"/>
      <p:bldP spid="30" grpId="0"/>
      <p:bldP spid="103" grpId="0"/>
      <p:bldP spid="104" grpId="0"/>
      <p:bldP spid="10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49" y="2183143"/>
            <a:ext cx="8412183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七、一对标准安装的渐开线标准直齿圆柱齿轮外啮合传动，已知：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m=4mm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z1=20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z2=30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α=20°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，试计算下列几何尺寸：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、两轮的分度圆直径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d1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d2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、两轮的齿根圆直径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df1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df2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、两轮的基圆直径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db1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db2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、顶隙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、若安装中心距增至 ，试问上述各值有无变化？</a:t>
            </a:r>
            <a:b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6" name="图片 105">
            <a:extLst>
              <a:ext uri="{FF2B5EF4-FFF2-40B4-BE49-F238E27FC236}">
                <a16:creationId xmlns:a16="http://schemas.microsoft.com/office/drawing/2014/main" id="{930492FF-1157-45A0-8E5F-AEF06C805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0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52" y="725404"/>
            <a:ext cx="8412183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七、解：针对于该标准安装的渐开线标准直齿圆柱齿轮外啮合传动，由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m=4mm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z1=20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z2=30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α=20°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可得：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DB42EC8-9562-4E46-9AF7-F0E84943D1CF}"/>
              </a:ext>
            </a:extLst>
          </p:cNvPr>
          <p:cNvSpPr txBox="1">
            <a:spLocks/>
          </p:cNvSpPr>
          <p:nvPr/>
        </p:nvSpPr>
        <p:spPr>
          <a:xfrm>
            <a:off x="518152" y="1619925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、两轮的分度圆直径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d1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d2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1AF9117-A035-4968-9A25-7050E7DFA2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1450766"/>
              </p:ext>
            </p:extLst>
          </p:nvPr>
        </p:nvGraphicFramePr>
        <p:xfrm>
          <a:off x="960123" y="2407292"/>
          <a:ext cx="2924811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24895" imgH="215806" progId="Equation.3">
                  <p:embed/>
                </p:oleObj>
              </mc:Choice>
              <mc:Fallback>
                <p:oleObj r:id="rId2" imgW="1624895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3" y="2407292"/>
                        <a:ext cx="2924811" cy="388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>
            <a:extLst>
              <a:ext uri="{FF2B5EF4-FFF2-40B4-BE49-F238E27FC236}">
                <a16:creationId xmlns:a16="http://schemas.microsoft.com/office/drawing/2014/main" id="{04F70853-2D7A-4CE5-BBF6-86143EF97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181" y="31611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DC6C45B-BA23-4F9A-B464-690B7F7E40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410715"/>
              </p:ext>
            </p:extLst>
          </p:nvPr>
        </p:nvGraphicFramePr>
        <p:xfrm>
          <a:off x="960120" y="3082052"/>
          <a:ext cx="3107612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26451" imgH="215806" progId="Equation.3">
                  <p:embed/>
                </p:oleObj>
              </mc:Choice>
              <mc:Fallback>
                <p:oleObj r:id="rId4" imgW="1726451" imgH="2158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" y="3082052"/>
                        <a:ext cx="3107612" cy="3884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标题 1">
            <a:extLst>
              <a:ext uri="{FF2B5EF4-FFF2-40B4-BE49-F238E27FC236}">
                <a16:creationId xmlns:a16="http://schemas.microsoft.com/office/drawing/2014/main" id="{779A75A7-5A42-46F5-9270-F719365A697A}"/>
              </a:ext>
            </a:extLst>
          </p:cNvPr>
          <p:cNvSpPr txBox="1">
            <a:spLocks/>
          </p:cNvSpPr>
          <p:nvPr/>
        </p:nvSpPr>
        <p:spPr>
          <a:xfrm>
            <a:off x="518152" y="3493529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两轮的齿根圆直径</a:t>
            </a:r>
            <a:r>
              <a:rPr lang="en-US" altLang="zh-CN" sz="2200" b="1" i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2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f1</a:t>
            </a:r>
            <a:r>
              <a:rPr lang="zh-CN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i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2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f2</a:t>
            </a:r>
            <a:r>
              <a:rPr lang="zh-CN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94C8B1D-4873-46CD-9F09-CDE8811170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124319"/>
              </p:ext>
            </p:extLst>
          </p:nvPr>
        </p:nvGraphicFramePr>
        <p:xfrm>
          <a:off x="960121" y="4307420"/>
          <a:ext cx="793242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406900" imgH="254000" progId="Equation.3">
                  <p:embed/>
                </p:oleObj>
              </mc:Choice>
              <mc:Fallback>
                <p:oleObj r:id="rId6" imgW="4406900" imgH="254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1" y="4307420"/>
                        <a:ext cx="7932420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95B8AE2-13E9-4D4F-8B82-68D03E2B88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743191"/>
              </p:ext>
            </p:extLst>
          </p:nvPr>
        </p:nvGraphicFramePr>
        <p:xfrm>
          <a:off x="960120" y="4972164"/>
          <a:ext cx="81838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546600" imgH="254000" progId="Equation.3">
                  <p:embed/>
                </p:oleObj>
              </mc:Choice>
              <mc:Fallback>
                <p:oleObj r:id="rId8" imgW="4546600" imgH="254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" y="4972164"/>
                        <a:ext cx="818388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>
            <a:extLst>
              <a:ext uri="{FF2B5EF4-FFF2-40B4-BE49-F238E27FC236}">
                <a16:creationId xmlns:a16="http://schemas.microsoft.com/office/drawing/2014/main" id="{D5A453BF-FC5D-4CB8-A4CF-299B766FB9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8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6DB42EC8-9562-4E46-9AF7-F0E84943D1CF}"/>
              </a:ext>
            </a:extLst>
          </p:cNvPr>
          <p:cNvSpPr txBox="1">
            <a:spLocks/>
          </p:cNvSpPr>
          <p:nvPr/>
        </p:nvSpPr>
        <p:spPr>
          <a:xfrm>
            <a:off x="518152" y="427225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两轮的基圆直径</a:t>
            </a:r>
            <a:r>
              <a:rPr lang="en-US" altLang="zh-CN" sz="2200" b="1" i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2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b1</a:t>
            </a:r>
            <a:r>
              <a:rPr lang="zh-CN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b="1" i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2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b2</a:t>
            </a:r>
            <a:r>
              <a:rPr lang="zh-CN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79A75A7-5A42-46F5-9270-F719365A697A}"/>
              </a:ext>
            </a:extLst>
          </p:cNvPr>
          <p:cNvSpPr txBox="1">
            <a:spLocks/>
          </p:cNvSpPr>
          <p:nvPr/>
        </p:nvSpPr>
        <p:spPr>
          <a:xfrm>
            <a:off x="518152" y="2300829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、顶隙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E9E7ACA-4AAE-4545-B276-6829E76EE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" y="1344899"/>
            <a:ext cx="16459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E7284E9-0BBF-4FB5-B4A0-A12048C54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571556"/>
              </p:ext>
            </p:extLst>
          </p:nvPr>
        </p:nvGraphicFramePr>
        <p:xfrm>
          <a:off x="960120" y="1344899"/>
          <a:ext cx="75895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16400" imgH="228600" progId="Equation.3">
                  <p:embed/>
                </p:oleObj>
              </mc:Choice>
              <mc:Fallback>
                <p:oleObj r:id="rId2" imgW="42164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" y="1344899"/>
                        <a:ext cx="75895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9F4D61C-BDD9-46C7-A3F9-60B3F061FC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554450"/>
              </p:ext>
            </p:extLst>
          </p:nvPr>
        </p:nvGraphicFramePr>
        <p:xfrm>
          <a:off x="960119" y="1932225"/>
          <a:ext cx="78638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368800" imgH="228600" progId="Equation.3">
                  <p:embed/>
                </p:oleObj>
              </mc:Choice>
              <mc:Fallback>
                <p:oleObj r:id="rId4" imgW="43688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19" y="1932225"/>
                        <a:ext cx="78638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1E2FBDE-F938-4798-90C8-1F2621425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113043"/>
              </p:ext>
            </p:extLst>
          </p:nvPr>
        </p:nvGraphicFramePr>
        <p:xfrm>
          <a:off x="960119" y="3118659"/>
          <a:ext cx="3084761" cy="319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13756" imgH="177723" progId="Equation.3">
                  <p:embed/>
                </p:oleObj>
              </mc:Choice>
              <mc:Fallback>
                <p:oleObj r:id="rId6" imgW="1713756" imgH="17772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19" y="3118659"/>
                        <a:ext cx="3084761" cy="319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标题 1">
            <a:extLst>
              <a:ext uri="{FF2B5EF4-FFF2-40B4-BE49-F238E27FC236}">
                <a16:creationId xmlns:a16="http://schemas.microsoft.com/office/drawing/2014/main" id="{4C57EFA5-A100-4D0D-AFD8-9564D4F5428D}"/>
              </a:ext>
            </a:extLst>
          </p:cNvPr>
          <p:cNvSpPr txBox="1">
            <a:spLocks/>
          </p:cNvSpPr>
          <p:nvPr/>
        </p:nvSpPr>
        <p:spPr>
          <a:xfrm>
            <a:off x="518151" y="3507179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12A86136-059F-4B2C-AAA9-F2B3291BF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19" y="3695316"/>
            <a:ext cx="24416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若安装中心距增至</a:t>
            </a:r>
            <a:endParaRPr kumimoji="0" lang="zh-CN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780FD99C-26ED-4428-BFCC-E6D71A6E0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317927"/>
              </p:ext>
            </p:extLst>
          </p:nvPr>
        </p:nvGraphicFramePr>
        <p:xfrm>
          <a:off x="3362056" y="3725785"/>
          <a:ext cx="1419669" cy="396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36280" imgH="177723" progId="Equation.3">
                  <p:embed/>
                </p:oleObj>
              </mc:Choice>
              <mc:Fallback>
                <p:oleObj r:id="rId8" imgW="736280" imgH="177723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056" y="3725785"/>
                        <a:ext cx="1419669" cy="3968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3">
            <a:extLst>
              <a:ext uri="{FF2B5EF4-FFF2-40B4-BE49-F238E27FC236}">
                <a16:creationId xmlns:a16="http://schemas.microsoft.com/office/drawing/2014/main" id="{5F3B169F-5E99-4C34-B2B7-EB85ED02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039" y="3688273"/>
            <a:ext cx="444224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，上述各值中顶隙</a:t>
            </a: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发生了变化。 </a:t>
            </a:r>
            <a:endParaRPr kumimoji="0" lang="zh-CN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B39516B-F829-44BC-B4B9-FCBB4527D9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7144" y="6276251"/>
            <a:ext cx="2749319" cy="5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0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8" grpId="0"/>
      <p:bldP spid="25" grpId="0"/>
      <p:bldP spid="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48" y="1255492"/>
            <a:ext cx="8412183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八、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在图示的轮系中，已知各轮的齿数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=60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=50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=40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，且各轮均为正确安装的标准齿轮，各齿轮的模数相同。当齿轮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900r/min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按图示方向转动时，确定齿轮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转速的大小和方向。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A6FF63-8A09-4129-BE83-864FE9B12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209" y="2372140"/>
            <a:ext cx="2034664" cy="4238883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7934C1F9-8D8F-4335-A2C9-78EF0CA3DD25}"/>
              </a:ext>
            </a:extLst>
          </p:cNvPr>
          <p:cNvSpPr txBox="1">
            <a:spLocks/>
          </p:cNvSpPr>
          <p:nvPr/>
        </p:nvSpPr>
        <p:spPr>
          <a:xfrm>
            <a:off x="491648" y="2600586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：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1.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划分基本轮系：</a:t>
            </a: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0B2D16D-C6AF-453D-B05C-0735B97F47FE}"/>
              </a:ext>
            </a:extLst>
          </p:cNvPr>
          <p:cNvSpPr txBox="1">
            <a:spLocks/>
          </p:cNvSpPr>
          <p:nvPr/>
        </p:nvSpPr>
        <p:spPr>
          <a:xfrm>
            <a:off x="1326534" y="3135843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齿轮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组成定轴轮系；</a:t>
            </a: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F7AE8292-81DA-43C4-A889-81996CBF990C}"/>
              </a:ext>
            </a:extLst>
          </p:cNvPr>
          <p:cNvSpPr txBox="1">
            <a:spLocks/>
          </p:cNvSpPr>
          <p:nvPr/>
        </p:nvSpPr>
        <p:spPr>
          <a:xfrm>
            <a:off x="1326534" y="3671924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齿轮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4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5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6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组成周转轮系；</a:t>
            </a: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ADF4AA7-38EC-49B1-8CA5-341C97191AF8}"/>
              </a:ext>
            </a:extLst>
          </p:cNvPr>
          <p:cNvSpPr txBox="1">
            <a:spLocks/>
          </p:cNvSpPr>
          <p:nvPr/>
        </p:nvSpPr>
        <p:spPr>
          <a:xfrm>
            <a:off x="491648" y="4226541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2.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分别列方程式：</a:t>
            </a: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23882F1-1F3F-435D-B449-E15EA4248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684626"/>
              </p:ext>
            </p:extLst>
          </p:nvPr>
        </p:nvGraphicFramePr>
        <p:xfrm>
          <a:off x="1510748" y="4793066"/>
          <a:ext cx="3086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14500" imgH="444500" progId="Equation.3">
                  <p:embed/>
                </p:oleObj>
              </mc:Choice>
              <mc:Fallback>
                <p:oleObj r:id="rId3" imgW="1714500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748" y="4793066"/>
                        <a:ext cx="30861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F53B2DA-FB1B-465C-AF6E-45AD4E257A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87759"/>
              </p:ext>
            </p:extLst>
          </p:nvPr>
        </p:nvGraphicFramePr>
        <p:xfrm>
          <a:off x="1510748" y="5721519"/>
          <a:ext cx="523398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08300" imgH="431800" progId="Equation.3">
                  <p:embed/>
                </p:oleObj>
              </mc:Choice>
              <mc:Fallback>
                <p:oleObj r:id="rId5" imgW="29083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748" y="5721519"/>
                        <a:ext cx="5233988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5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48" y="1255492"/>
            <a:ext cx="8412183" cy="710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八、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在图示的轮系中，已知各轮的齿数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=60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=50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=40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=20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，且各轮均为正确安装的标准齿轮，各齿轮的模数相同。当齿轮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900r/min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按图示方向转动时，确定齿轮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转速的大小和方向。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A6FF63-8A09-4129-BE83-864FE9B12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209" y="2372140"/>
            <a:ext cx="2034664" cy="4238883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7934C1F9-8D8F-4335-A2C9-78EF0CA3DD25}"/>
              </a:ext>
            </a:extLst>
          </p:cNvPr>
          <p:cNvSpPr txBox="1">
            <a:spLocks/>
          </p:cNvSpPr>
          <p:nvPr/>
        </p:nvSpPr>
        <p:spPr>
          <a:xfrm>
            <a:off x="491648" y="2852377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：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3.</a:t>
            </a: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342D8CB-A15F-4697-9E4B-D1E55A832D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868476"/>
              </p:ext>
            </p:extLst>
          </p:nvPr>
        </p:nvGraphicFramePr>
        <p:xfrm>
          <a:off x="1683026" y="3078400"/>
          <a:ext cx="7543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19100" imgH="228600" progId="Equation.3">
                  <p:embed/>
                </p:oleObj>
              </mc:Choice>
              <mc:Fallback>
                <p:oleObj r:id="rId3" imgW="4191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026" y="3078400"/>
                        <a:ext cx="75438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标题 1">
            <a:extLst>
              <a:ext uri="{FF2B5EF4-FFF2-40B4-BE49-F238E27FC236}">
                <a16:creationId xmlns:a16="http://schemas.microsoft.com/office/drawing/2014/main" id="{5C4103D2-C44F-4393-B182-A999CB3C39CB}"/>
              </a:ext>
            </a:extLst>
          </p:cNvPr>
          <p:cNvSpPr txBox="1">
            <a:spLocks/>
          </p:cNvSpPr>
          <p:nvPr/>
        </p:nvSpPr>
        <p:spPr>
          <a:xfrm>
            <a:off x="1016648" y="3562507"/>
            <a:ext cx="8412183" cy="710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联立求解：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9AD5F12-CFD5-4267-ABF4-82095D546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424545"/>
              </p:ext>
            </p:extLst>
          </p:nvPr>
        </p:nvGraphicFramePr>
        <p:xfrm>
          <a:off x="1378226" y="4588825"/>
          <a:ext cx="21031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68400" imgH="228600" progId="Equation.3">
                  <p:embed/>
                </p:oleObj>
              </mc:Choice>
              <mc:Fallback>
                <p:oleObj r:id="rId5" imgW="11684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226" y="4588825"/>
                        <a:ext cx="21031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797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74CD0-A164-4CC2-9AD6-4C7F0B9D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57" y="1725275"/>
            <a:ext cx="8412183" cy="710130"/>
          </a:xfrm>
        </p:spPr>
        <p:txBody>
          <a:bodyPr>
            <a:noAutofit/>
          </a:bodyPr>
          <a:lstStyle/>
          <a:p>
            <a:pPr>
              <a:lnSpc>
                <a:spcPts val="35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九、已知某机器主轴转动一周为一个稳定运动循环，取主轴为等效构件，其等效驱动矩的变化规律如图所示。设等效阻抗力矩及等效转动惯量均为常数。试求：</a:t>
            </a:r>
            <a:b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．阻抗力矩 ，并在图中画出；</a:t>
            </a:r>
            <a:b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．最大盈亏功 ；</a:t>
            </a:r>
            <a:b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．主轴的平均角速度为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 rad/s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，速度不均匀系数为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0.02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，试求需要安装的飞轮的转动惯量。</a:t>
            </a:r>
            <a:b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1">
            <a:extLst>
              <a:ext uri="{FF2B5EF4-FFF2-40B4-BE49-F238E27FC236}">
                <a16:creationId xmlns:a16="http://schemas.microsoft.com/office/drawing/2014/main" id="{F8CBC154-A200-7C72-BDB8-2C6BD0D9B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414" y="3784866"/>
            <a:ext cx="4445670" cy="289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2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EFE9099-BED2-8792-DC33-FD8DA47D7E4A}"/>
              </a:ext>
            </a:extLst>
          </p:cNvPr>
          <p:cNvSpPr txBox="1"/>
          <p:nvPr/>
        </p:nvSpPr>
        <p:spPr>
          <a:xfrm>
            <a:off x="587229" y="453006"/>
            <a:ext cx="811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由于在一个运动周期内，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lang="en-US" altLang="zh-CN" sz="2400" b="1" baseline="-25000" dirty="0" err="1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endParaRPr lang="zh-CN" altLang="en-US" sz="2400" b="1" baseline="-25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613A8C-5AD2-205D-C08E-483052F31238}"/>
              </a:ext>
            </a:extLst>
          </p:cNvPr>
          <p:cNvSpPr txBox="1"/>
          <p:nvPr/>
        </p:nvSpPr>
        <p:spPr>
          <a:xfrm>
            <a:off x="1484851" y="1029595"/>
            <a:ext cx="4152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100×(2π/3+ π/3)=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 2π</a:t>
            </a:r>
            <a:endParaRPr lang="zh-CN" altLang="en-US" sz="2400" b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60BB24-3556-1635-F9E7-3A55DF2F5A4C}"/>
              </a:ext>
            </a:extLst>
          </p:cNvPr>
          <p:cNvSpPr txBox="1"/>
          <p:nvPr/>
        </p:nvSpPr>
        <p:spPr>
          <a:xfrm>
            <a:off x="1484851" y="1593201"/>
            <a:ext cx="4152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=50(Nm)</a:t>
            </a:r>
            <a:endParaRPr lang="zh-CN" altLang="en-US" sz="2400" b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74E88B74-C8A2-CCFC-8275-307442EDD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16272"/>
            <a:ext cx="4445670" cy="289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B33131E3-55B1-75B9-2997-8B01502D5A89}"/>
              </a:ext>
            </a:extLst>
          </p:cNvPr>
          <p:cNvGrpSpPr/>
          <p:nvPr/>
        </p:nvGrpSpPr>
        <p:grpSpPr>
          <a:xfrm>
            <a:off x="4890287" y="5121970"/>
            <a:ext cx="3003259" cy="1322153"/>
            <a:chOff x="4731391" y="4734698"/>
            <a:chExt cx="3003259" cy="1322153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C18C0E0-98B0-494E-C655-AFA9F20988E9}"/>
                </a:ext>
              </a:extLst>
            </p:cNvPr>
            <p:cNvCxnSpPr/>
            <p:nvPr/>
          </p:nvCxnSpPr>
          <p:spPr>
            <a:xfrm>
              <a:off x="4731391" y="5083728"/>
              <a:ext cx="300325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271FB20-BC4C-6604-1B78-13E95EAAC35A}"/>
                </a:ext>
              </a:extLst>
            </p:cNvPr>
            <p:cNvCxnSpPr/>
            <p:nvPr/>
          </p:nvCxnSpPr>
          <p:spPr>
            <a:xfrm>
              <a:off x="7734650" y="5083728"/>
              <a:ext cx="0" cy="9731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A17E50A-4BFD-B174-2A44-51EA39871864}"/>
                </a:ext>
              </a:extLst>
            </p:cNvPr>
            <p:cNvSpPr txBox="1"/>
            <p:nvPr/>
          </p:nvSpPr>
          <p:spPr>
            <a:xfrm>
              <a:off x="7055142" y="4734698"/>
              <a:ext cx="528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1BBE94D-DBCE-5A5A-FD28-06F78F1C39F9}"/>
              </a:ext>
            </a:extLst>
          </p:cNvPr>
          <p:cNvSpPr txBox="1"/>
          <p:nvPr/>
        </p:nvSpPr>
        <p:spPr>
          <a:xfrm>
            <a:off x="1161875" y="2172896"/>
            <a:ext cx="811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2.E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△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ab= E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+50 ×2π/3=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+ 100π/3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F1C92CA-317C-E026-49E5-444D2052102F}"/>
              </a:ext>
            </a:extLst>
          </p:cNvPr>
          <p:cNvGrpSpPr/>
          <p:nvPr/>
        </p:nvGrpSpPr>
        <p:grpSpPr>
          <a:xfrm>
            <a:off x="4600866" y="5111385"/>
            <a:ext cx="3494015" cy="430888"/>
            <a:chOff x="4433581" y="5069397"/>
            <a:chExt cx="3494015" cy="430888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5D581D9-0182-C224-7D11-36EE62DEAD4A}"/>
                </a:ext>
              </a:extLst>
            </p:cNvPr>
            <p:cNvSpPr txBox="1"/>
            <p:nvPr/>
          </p:nvSpPr>
          <p:spPr>
            <a:xfrm>
              <a:off x="4433581" y="5079982"/>
              <a:ext cx="4026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2D5A901-E6BA-4C90-3DBC-1498BDC9C4E3}"/>
                </a:ext>
              </a:extLst>
            </p:cNvPr>
            <p:cNvSpPr txBox="1"/>
            <p:nvPr/>
          </p:nvSpPr>
          <p:spPr>
            <a:xfrm>
              <a:off x="5469871" y="5079982"/>
              <a:ext cx="4026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43EE203-57CA-DA72-72D2-60F8AEDEE113}"/>
                </a:ext>
              </a:extLst>
            </p:cNvPr>
            <p:cNvSpPr txBox="1"/>
            <p:nvPr/>
          </p:nvSpPr>
          <p:spPr>
            <a:xfrm>
              <a:off x="5981350" y="5069397"/>
              <a:ext cx="4026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4100FA6-3680-F938-3999-4FA8782DF39E}"/>
                </a:ext>
              </a:extLst>
            </p:cNvPr>
            <p:cNvSpPr txBox="1"/>
            <p:nvPr/>
          </p:nvSpPr>
          <p:spPr>
            <a:xfrm>
              <a:off x="6488635" y="5100175"/>
              <a:ext cx="4026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2238654-8FCC-2B65-2648-66706B39BEDD}"/>
                </a:ext>
              </a:extLst>
            </p:cNvPr>
            <p:cNvSpPr txBox="1"/>
            <p:nvPr/>
          </p:nvSpPr>
          <p:spPr>
            <a:xfrm>
              <a:off x="7524925" y="5100175"/>
              <a:ext cx="4026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08A652AD-46C3-12C7-7C6E-57A8B088EAC6}"/>
              </a:ext>
            </a:extLst>
          </p:cNvPr>
          <p:cNvSpPr txBox="1"/>
          <p:nvPr/>
        </p:nvSpPr>
        <p:spPr>
          <a:xfrm>
            <a:off x="1312876" y="2738586"/>
            <a:ext cx="811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E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△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E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-50 ×π/3=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+ 50π/3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032D65F-BDB1-2CB2-B716-E02C828B2AD6}"/>
              </a:ext>
            </a:extLst>
          </p:cNvPr>
          <p:cNvSpPr txBox="1"/>
          <p:nvPr/>
        </p:nvSpPr>
        <p:spPr>
          <a:xfrm>
            <a:off x="1312876" y="3312619"/>
            <a:ext cx="811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E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△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cd= E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+50 ×π/3=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+ 100π/3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97C4467-C83F-958D-19E5-8822795B3324}"/>
              </a:ext>
            </a:extLst>
          </p:cNvPr>
          <p:cNvSpPr txBox="1"/>
          <p:nvPr/>
        </p:nvSpPr>
        <p:spPr>
          <a:xfrm>
            <a:off x="1312876" y="3903066"/>
            <a:ext cx="811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E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E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△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de= 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8CAD83-B858-7D21-2243-428B7D0F4825}"/>
              </a:ext>
            </a:extLst>
          </p:cNvPr>
          <p:cNvSpPr txBox="1"/>
          <p:nvPr/>
        </p:nvSpPr>
        <p:spPr>
          <a:xfrm>
            <a:off x="1312876" y="4454999"/>
            <a:ext cx="811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△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Wmax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100π/3=104.66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B83793E-118E-DD16-0F91-773F082D86B0}"/>
              </a:ext>
            </a:extLst>
          </p:cNvPr>
          <p:cNvSpPr txBox="1"/>
          <p:nvPr/>
        </p:nvSpPr>
        <p:spPr>
          <a:xfrm>
            <a:off x="1230385" y="4916664"/>
            <a:ext cx="811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000ED281-267F-3228-37EF-D8B9D4ED0A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193092"/>
              </p:ext>
            </p:extLst>
          </p:nvPr>
        </p:nvGraphicFramePr>
        <p:xfrm>
          <a:off x="1778000" y="5076825"/>
          <a:ext cx="2817813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800" imgH="685800" progId="Equation.DSMT4">
                  <p:embed/>
                </p:oleObj>
              </mc:Choice>
              <mc:Fallback>
                <p:oleObj name="Equation" r:id="rId3" imgW="1612800" imgH="685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5076825"/>
                        <a:ext cx="2817813" cy="1192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557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6" grpId="0"/>
      <p:bldP spid="23" grpId="0"/>
      <p:bldP spid="24" grpId="0"/>
      <p:bldP spid="25" grpId="0"/>
      <p:bldP spid="27" grpId="0"/>
      <p:bldP spid="2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774</TotalTime>
  <Words>2815</Words>
  <Application>Microsoft Office PowerPoint</Application>
  <PresentationFormat>全屏显示(4:3)</PresentationFormat>
  <Paragraphs>230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黑体</vt:lpstr>
      <vt:lpstr>宋体</vt:lpstr>
      <vt:lpstr>Arial</vt:lpstr>
      <vt:lpstr>Calibri</vt:lpstr>
      <vt:lpstr>Calibri Light</vt:lpstr>
      <vt:lpstr>Cambria Math</vt:lpstr>
      <vt:lpstr>Times New Roman</vt:lpstr>
      <vt:lpstr>Office 主题​​</vt:lpstr>
      <vt:lpstr>Equation</vt:lpstr>
      <vt:lpstr>Microsoft Equation 3.0</vt:lpstr>
      <vt:lpstr>《机械原理》样题讲解</vt:lpstr>
      <vt:lpstr>一、填空题（每空1分，共20分）</vt:lpstr>
      <vt:lpstr>一、填空题（每空1分，共20分）</vt:lpstr>
      <vt:lpstr>一、填空题（每空1分，共20分）</vt:lpstr>
      <vt:lpstr>一、填空题（每空1分，共20分）</vt:lpstr>
      <vt:lpstr>二、选择题（每小题2分，共20分） </vt:lpstr>
      <vt:lpstr>二、选择题（每小题2分，共20分） </vt:lpstr>
      <vt:lpstr>二、选择题（每小题2分，共20分） </vt:lpstr>
      <vt:lpstr>二、选择题（每小题2分，共20分） </vt:lpstr>
      <vt:lpstr>二、选择题（每小题2分，共20分） </vt:lpstr>
      <vt:lpstr>二、选择题（每小题2分，共20分） </vt:lpstr>
      <vt:lpstr>二、选择题（每小题2分，共20分） </vt:lpstr>
      <vt:lpstr>二、选择题（每小题2分，共20分） </vt:lpstr>
      <vt:lpstr>二、选择题（每小题2分，共20分） </vt:lpstr>
      <vt:lpstr>二、选择题（每小题2分，共20分） </vt:lpstr>
      <vt:lpstr>三、试计算图示机构的自由度，指明机构中出现的复合铰链、局部自由度和虚约束，并说明需要几个原动件才有确定运动。（本题共10分）</vt:lpstr>
      <vt:lpstr>四、在图示的双滑块机构中，转动副A和B处的细线小圆表示摩擦圆，在滑块1上施加有力P驱动滑块3向上运动。试画出图示位置时构件1、2和3所受的作用力的方位（不考虑构件的重量及惯性力，移动副处摩擦角为φ=10°）。（本题共10分）</vt:lpstr>
      <vt:lpstr>四、在图示的双滑块机构中，转动副A和B处的细线小圆表示摩擦圆，在滑块1上施加有力P驱动滑块3向上运动。试画出图示位置时构件1、2和3所受的作用力的方位（不考虑构件的重量及惯性力，移动副处摩擦角为φ=10°）。（本题共10分）</vt:lpstr>
      <vt:lpstr>四、在图示的双滑块机构中，转动副A和B处的细线小圆表示摩擦圆，在滑块1上施加有力P驱动滑块3向上运动。试画出图示位置时构件1、2和3所受的作用力的方位（不考虑构件的重量及惯性力，移动副处摩擦角为φ=10°）。（本题共10分）</vt:lpstr>
      <vt:lpstr>四、在图示的双滑块机构中，转动副A和B处的细线小圆表示摩擦圆，在滑块1上施加有力P驱动滑块3向上运动。试画出图示位置时构件1、2和3所受的作用力的方位（不考虑构件的重量及惯性力，移动副处摩擦角为φ=10°）。（本题共10分）</vt:lpstr>
      <vt:lpstr>四、在图示的双滑块机构中，转动副A和B处的细线小圆表示摩擦圆，在滑块1上施加有力P驱动滑块3向上运动。试画出图示位置时构件1、2和3所受的作用力的方位（不考虑构件的重量及惯性力，移动副处摩擦角为φ=10°）。（本题共10分）</vt:lpstr>
      <vt:lpstr>五、图示凸轮机构中，滚子推杆与凸轮在A点接触，试用图解法确定：  1、图示位置时凸轮机构的位移和压力角的大小； 2、当凸轮从图示位置逆时针转过90˚时，推杆在凸轮上的接触点； 3、当凸轮从图示位置逆时针转过90˚时，推杆位移和压力角的大小。 （注意：直接在图中完成，保留必要的作图线条）。 </vt:lpstr>
      <vt:lpstr>五、图示凸轮机构中，滚子推杆与凸轮在A点接触，试用图解法确定：   1、图示位置时凸轮机构的位移和压力角的大小； </vt:lpstr>
      <vt:lpstr>五、图示凸轮机构中，滚子推杆与凸轮在A点接触，试用图解法确定：   2、当凸轮从图示位置逆时针转过90˚时，推杆在凸轮上的接触点； </vt:lpstr>
      <vt:lpstr>五、图示凸轮机构中，滚子推杆与凸轮在A点接触，试用图解法确定：   3、当凸轮从图示位置逆时针转过90˚时，推杆位移和压力角的大小。</vt:lpstr>
      <vt:lpstr>六、如图所示偏置曲柄滑块机构，已知a=20mm，b=40 mm，e=10 mm，试用作图法求出此机构的极位夹角θ、行程速比系数K和行程S，并标出图示位置的传动角。（本题共10分）</vt:lpstr>
      <vt:lpstr>六、如图所示偏置曲柄滑块机构，已知a=20mm，b=40 mm，e=10 mm，试用作图法求出此机构的极位夹角θ、行程速比系数K和行程S，并标出图示位置的传动角。（本题共10分）</vt:lpstr>
      <vt:lpstr>七、一对标准安装的渐开线标准直齿圆柱齿轮外啮合传动，已知：m=4mm， z1=20，z2=30，α=20°，试计算下列几何尺寸： 1、两轮的分度圆直径d1，d2； 2、两轮的齿根圆直径df1，df2； 3、两轮的基圆直径db1，db2； 4、顶隙C； 5、若安装中心距增至 ，试问上述各值有无变化？ </vt:lpstr>
      <vt:lpstr>七、解：针对于该标准安装的渐开线标准直齿圆柱齿轮外啮合传动，由m=4mm， z1=20，z2=30，α=20°可得：</vt:lpstr>
      <vt:lpstr>PowerPoint 演示文稿</vt:lpstr>
      <vt:lpstr>八、在图示的轮系中，已知各轮的齿数z1=20，z2=60， z3=50， z4=z6=40，z5=20，且各轮均为正确安装的标准齿轮，各齿轮的模数相同。当齿轮1以900r/min按图示方向转动时，确定齿轮6转速的大小和方向。</vt:lpstr>
      <vt:lpstr>八、在图示的轮系中，已知各轮的齿数z1=20，z2=60， z3=50， z4=z6=40，z5=20，且各轮均为正确安装的标准齿轮，各齿轮的模数相同。当齿轮1以900r/min按图示方向转动时，确定齿轮6转速的大小和方向。</vt:lpstr>
      <vt:lpstr>九、已知某机器主轴转动一周为一个稳定运动循环，取主轴为等效构件，其等效驱动矩的变化规律如图所示。设等效阻抗力矩及等效转动惯量均为常数。试求：     1．阻抗力矩 ，并在图中画出；     2．最大盈亏功 ；     3．主轴的平均角速度为100 rad/s，速度不均匀系数为0.02，试求需要安装的飞轮的转动惯量。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《机械原理》样题讲解</dc:title>
  <dc:creator>HOU</dc:creator>
  <cp:lastModifiedBy>莉侠 侯</cp:lastModifiedBy>
  <cp:revision>60</cp:revision>
  <dcterms:created xsi:type="dcterms:W3CDTF">2022-12-04T08:19:28Z</dcterms:created>
  <dcterms:modified xsi:type="dcterms:W3CDTF">2023-12-15T09:31:15Z</dcterms:modified>
</cp:coreProperties>
</file>